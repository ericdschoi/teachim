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3" r:id="rId2"/>
    <p:sldId id="274" r:id="rId3"/>
    <p:sldId id="275" r:id="rId4"/>
    <p:sldId id="276" r:id="rId5"/>
    <p:sldId id="279" r:id="rId6"/>
    <p:sldId id="280" r:id="rId7"/>
    <p:sldId id="281" r:id="rId8"/>
    <p:sldId id="282" r:id="rId9"/>
    <p:sldId id="283" r:id="rId10"/>
    <p:sldId id="284" r:id="rId11"/>
    <p:sldId id="285" r:id="rId18"/>
    <p:sldId id="28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ilin Zhang" initials="YZ" lastIdx="2" clrIdx="0">
    <p:extLst>
      <p:ext uri="{19B8F6BF-5375-455C-9EA6-DF929625EA0E}">
        <p15:presenceInfo xmlns:p15="http://schemas.microsoft.com/office/powerpoint/2012/main" userId="8f8df916e9767cd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9E00"/>
    <a:srgbClr val="E2A8A8"/>
    <a:srgbClr val="C37D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640" autoAdjust="0"/>
    <p:restoredTop sz="82491" autoAdjust="0"/>
  </p:normalViewPr>
  <p:slideViewPr>
    <p:cSldViewPr snapToGrid="0">
      <p:cViewPr varScale="1">
        <p:scale>
          <a:sx n="56" d="100"/>
          <a:sy n="56" d="100"/>
        </p:scale>
        <p:origin x="13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9BAEFB-191A-4607-BD46-C1FB21E8E1DA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F734F-F66C-481E-A5A1-879FB35E9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866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212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92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25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F734F-F66C-481E-A5A1-879FB35E954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4615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C64B-F1CA-41A2-8A58-78C283A897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0CE39E-7576-467B-976F-75440467CE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0329E9-C6ED-497D-8A3C-1D2F89B9D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ABD56-9223-46E3-8D00-87EDA6D19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F90EA1-BB91-4275-B73B-2F73327B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145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49840-9BE6-4B88-AFC8-4B93BD6AB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B6352C-314D-48E3-8A01-3011B5078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D656FD-4B8E-451A-8370-6EB4DA46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C9423E-13FC-4C80-A5E5-5B6FD7E2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373B3-20BB-4F38-A982-B4C4B5A8A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54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895C6-79A5-417D-80DC-D63D73E14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5A725-CE0D-4B3C-A8A4-E9F88C368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1EB03-8761-4CD8-9A79-76AF21B4B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E7810-FFF1-4C4B-84A3-EE8EB4F2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B2FD5-AB03-42B0-8462-F9ADA8AEC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182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59957-3BDD-4B94-9A96-EEC2C6767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9EC8D-808F-4764-9967-EB1606C7F2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12CDC-5EC8-43FA-8AB0-0B7AF75A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BBB91-C02A-4159-A150-F3D1A741C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42ED1-DA1D-49AD-AF89-F0C83000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BBB6CF-96F8-48DB-BECC-428E62089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2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99568-14F1-445B-84F2-67ADE22D3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3A37F1-6767-48CF-894B-24FDD291C0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AEEFDC-2DBE-4B76-8543-55FC20975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1AE8C-9F39-4859-9C30-A14D89F372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A9DF27-E56C-4D63-8DB6-9BAF26F4833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213C15-4448-4E95-9AF9-A7B0C91D8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C6CF35-8EED-455A-BCD5-EBAECA55F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5A7D9C-97B8-436A-BC34-DB9F580AC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38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DFBC1-A2AC-4361-85E5-87953C636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927F35-2644-47F9-ACA9-6588AA589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29F45-0F7B-426E-83DA-B4E05D94E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CA0879-A56C-486D-8525-BCEC0F3CE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0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C32495-712F-4A6E-B339-F7F76546A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D8B56D-6F3B-46D3-A513-060727C0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DD4FE9-4668-4FF4-8A71-097328338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22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241A7-CB2A-49DA-B3E9-1693029BF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748A1-47E5-4A5F-A733-AEDDF03690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DA4D91-FE34-4F44-9E1F-B3514FDAD3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4B8F8-F5D3-4ECC-9955-55D7D23A8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24CD4-1F3B-4BCC-A9FC-5D5A3CC84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8F430-B9FA-4EC3-9981-FFA859F6D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176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8B864-A025-43E0-8449-0825484B0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4B7EB2D-98D0-4E0B-B336-58872B3A77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36BB0-7515-4538-8BAC-F401DCEE8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8E1B01-3D92-4892-9A9D-7B36F8DA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A799DD-427E-42A4-B56B-1132716B4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942D9-2CCC-4A7C-8EFF-0D7976A68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6253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CACE3-7C83-4C93-92D6-6EE70B2E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8BD7E-C24F-4FC6-A800-AC0EA8206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8ED91-9483-47DA-8693-4D2DEF529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1A577-4FAD-4731-8B60-B6D39FBAB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79303-F593-4668-B22E-4AE715A8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54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F0DF14-FE3B-40B9-A1DB-48145D92D78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47D3E-3D39-4890-A88B-5E354AE9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C047C-420D-46C1-8236-520B300D5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44010-385B-458B-8556-321630DD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189AA-352F-430F-B371-450279E1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0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04B4E2-6B1B-453C-B600-93603610D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2645D-BD2B-4661-BC3F-A1F14F7F1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F47E1-11CB-492B-B589-3AD701E88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ACD6EB-8031-4774-B1E3-A0BF4E802934}" type="datetimeFigureOut">
              <a:rPr lang="en-US" smtClean="0"/>
              <a:t>3/17/2021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58A301-2CC2-4515-B683-6B16C9897A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AD9C9-20CB-485C-9686-14402C6CA4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B85BAB-B70B-4D22-BE3A-192FF993A5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403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5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4.xml"/><Relationship Id="rId5" Type="http://schemas.openxmlformats.org/officeDocument/2006/relationships/slide" Target="slide6.xml"/><Relationship Id="rId6" Type="http://schemas.openxmlformats.org/officeDocument/2006/relationships/slide" Target="slide5.xml"/><Relationship Id="rId7" Type="http://schemas.openxmlformats.org/officeDocument/2006/relationships/image" Target="../media/image2.png"/><Relationship Id="rId8" Type="http://schemas.openxmlformats.org/officeDocument/2006/relationships/image" Target="../media/image3.svg"/><Relationship Id="rId9" Type="http://schemas.openxmlformats.org/officeDocument/2006/relationships/slide" Target="slide7.xml"/><Relationship Id="rId10" Type="http://schemas.openxmlformats.org/officeDocument/2006/relationships/image" Target="../media/image1.png"/><Relationship Id="rId11" Type="http://schemas.openxmlformats.org/officeDocument/2006/relationships/hyperlink" Target="https://teachim.org/teaching_material/inpatient-evaluation-of-hypoxia/" TargetMode="External"/><Relationship Id="rId12" Type="http://schemas.openxmlformats.org/officeDocument/2006/relationships/slide" Target="slide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7.xml"/><Relationship Id="rId9" Type="http://schemas.openxmlformats.org/officeDocument/2006/relationships/image" Target="../media/image1.png"/><Relationship Id="rId10" Type="http://schemas.openxmlformats.org/officeDocument/2006/relationships/slide" Target="slide2.xml"/><Relationship Id="rId11" Type="http://schemas.openxmlformats.org/officeDocument/2006/relationships/slide" Target="slide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slide" Target="slide6.xml"/><Relationship Id="rId4" Type="http://schemas.openxmlformats.org/officeDocument/2006/relationships/image" Target="../media/image2.png"/><Relationship Id="rId5" Type="http://schemas.openxmlformats.org/officeDocument/2006/relationships/image" Target="../media/image3.svg"/><Relationship Id="rId6" Type="http://schemas.openxmlformats.org/officeDocument/2006/relationships/slide" Target="slide3.xml"/><Relationship Id="rId7" Type="http://schemas.openxmlformats.org/officeDocument/2006/relationships/slide" Target="slide5.xml"/><Relationship Id="rId8" Type="http://schemas.openxmlformats.org/officeDocument/2006/relationships/slide" Target="slide7.xml"/><Relationship Id="rId9" Type="http://schemas.openxmlformats.org/officeDocument/2006/relationships/slide" Target="slide2.xml"/><Relationship Id="rId10" Type="http://schemas.openxmlformats.org/officeDocument/2006/relationships/slide" Target="slide8.xml"/><Relationship Id="rId11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7.xml"/><Relationship Id="rId9" Type="http://schemas.openxmlformats.org/officeDocument/2006/relationships/slide" Target="slide2.xml"/><Relationship Id="rId10" Type="http://schemas.openxmlformats.org/officeDocument/2006/relationships/slide" Target="slide8.xml"/><Relationship Id="rId11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" Target="slide4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5.xml"/><Relationship Id="rId6" Type="http://schemas.openxmlformats.org/officeDocument/2006/relationships/image" Target="../media/image2.png"/><Relationship Id="rId7" Type="http://schemas.openxmlformats.org/officeDocument/2006/relationships/image" Target="../media/image3.svg"/><Relationship Id="rId8" Type="http://schemas.openxmlformats.org/officeDocument/2006/relationships/slide" Target="slide7.xml"/><Relationship Id="rId9" Type="http://schemas.openxmlformats.org/officeDocument/2006/relationships/slide" Target="slide2.xml"/><Relationship Id="rId10" Type="http://schemas.openxmlformats.org/officeDocument/2006/relationships/slide" Target="slide8.xml"/><Relationship Id="rId11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microsoft.com/office/2007/relationships/hdphoto" Target="../media/hdphoto1.wdp"/><Relationship Id="rId5" Type="http://schemas.openxmlformats.org/officeDocument/2006/relationships/image" Target="../media/image2.png"/><Relationship Id="rId6" Type="http://schemas.openxmlformats.org/officeDocument/2006/relationships/image" Target="../media/image3.svg"/><Relationship Id="rId7" Type="http://schemas.openxmlformats.org/officeDocument/2006/relationships/slide" Target="slide3.xml"/><Relationship Id="rId8" Type="http://schemas.openxmlformats.org/officeDocument/2006/relationships/slide" Target="slide4.xml"/><Relationship Id="rId9" Type="http://schemas.openxmlformats.org/officeDocument/2006/relationships/slide" Target="slide6.xml"/><Relationship Id="rId10" Type="http://schemas.openxmlformats.org/officeDocument/2006/relationships/slide" Target="slide5.xml"/><Relationship Id="rId11" Type="http://schemas.openxmlformats.org/officeDocument/2006/relationships/slide" Target="slide7.xml"/><Relationship Id="rId12" Type="http://schemas.openxmlformats.org/officeDocument/2006/relationships/slide" Target="slide2.xml"/><Relationship Id="rId13" Type="http://schemas.openxmlformats.org/officeDocument/2006/relationships/slide" Target="slide8.xml"/><Relationship Id="rId1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5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7.xml"/><Relationship Id="rId12" Type="http://schemas.openxmlformats.org/officeDocument/2006/relationships/slide" Target="slide9.xml"/><Relationship Id="rId13" Type="http://schemas.openxmlformats.org/officeDocument/2006/relationships/slide" Target="slide10.xml"/><Relationship Id="rId1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5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7.xml"/><Relationship Id="rId12" Type="http://schemas.openxmlformats.org/officeDocument/2006/relationships/slide" Target="slide9.xml"/><Relationship Id="rId13" Type="http://schemas.openxmlformats.org/officeDocument/2006/relationships/slide" Target="slide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4.xml"/><Relationship Id="rId6" Type="http://schemas.openxmlformats.org/officeDocument/2006/relationships/slide" Target="slide6.xml"/><Relationship Id="rId7" Type="http://schemas.openxmlformats.org/officeDocument/2006/relationships/slide" Target="slide8.xml"/><Relationship Id="rId8" Type="http://schemas.openxmlformats.org/officeDocument/2006/relationships/slide" Target="slide5.xml"/><Relationship Id="rId9" Type="http://schemas.openxmlformats.org/officeDocument/2006/relationships/image" Target="../media/image2.png"/><Relationship Id="rId10" Type="http://schemas.openxmlformats.org/officeDocument/2006/relationships/image" Target="../media/image3.svg"/><Relationship Id="rId11" Type="http://schemas.openxmlformats.org/officeDocument/2006/relationships/slide" Target="slide7.xml"/><Relationship Id="rId12" Type="http://schemas.openxmlformats.org/officeDocument/2006/relationships/slide" Target="slide9.xml"/><Relationship Id="rId13" Type="http://schemas.openxmlformats.org/officeDocument/2006/relationships/slide" Target="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reveal and hide">
            <a:extLst>
              <a:ext uri="{FF2B5EF4-FFF2-40B4-BE49-F238E27FC236}">
                <a16:creationId xmlns:a16="http://schemas.microsoft.com/office/drawing/2014/main" id="{79D67867-2424-49D8-8E71-5AE5F7E645D6}"/>
              </a:ext>
            </a:extLst>
          </p:cNvPr>
          <p:cNvGrpSpPr/>
          <p:nvPr/>
        </p:nvGrpSpPr>
        <p:grpSpPr>
          <a:xfrm>
            <a:off x="1508005" y="48835"/>
            <a:ext cx="3149616" cy="738664"/>
            <a:chOff x="1952890" y="100404"/>
            <a:chExt cx="3149616" cy="738664"/>
          </a:xfrm>
        </p:grpSpPr>
        <p:sp>
          <p:nvSpPr>
            <p:cNvPr id="3" name="reveal and hide">
              <a:extLst>
                <a:ext uri="{FF2B5EF4-FFF2-40B4-BE49-F238E27FC236}">
                  <a16:creationId xmlns:a16="http://schemas.microsoft.com/office/drawing/2014/main" id="{0535AAD1-3955-46DE-A435-10A841999B19}"/>
                </a:ext>
              </a:extLst>
            </p:cNvPr>
            <p:cNvSpPr txBox="1"/>
            <p:nvPr/>
          </p:nvSpPr>
          <p:spPr>
            <a:xfrm>
              <a:off x="3164583" y="100404"/>
              <a:ext cx="1937923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Click these buttons to </a:t>
              </a:r>
              <a:r>
                <a:rPr lang="en-US" sz="1400" b="1" u="sng" dirty="0"/>
                <a:t>REVEAL &amp; HIDE </a:t>
              </a:r>
              <a:r>
                <a:rPr lang="en-US" sz="1400" dirty="0"/>
                <a:t>answers and graphics</a:t>
              </a: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A6EDB7E6-8C39-4F1E-BC63-ABE709DECB51}"/>
                </a:ext>
              </a:extLst>
            </p:cNvPr>
            <p:cNvCxnSpPr>
              <a:cxnSpLocks/>
              <a:stCxn id="3" idx="1"/>
            </p:cNvCxnSpPr>
            <p:nvPr/>
          </p:nvCxnSpPr>
          <p:spPr>
            <a:xfrm flipH="1">
              <a:off x="1952890" y="469736"/>
              <a:ext cx="121169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teachIM logo" descr="Icon&#10;&#10;Description automatically generated">
            <a:extLst>
              <a:ext uri="{FF2B5EF4-FFF2-40B4-BE49-F238E27FC236}">
                <a16:creationId xmlns:a16="http://schemas.microsoft.com/office/drawing/2014/main" id="{B4ED1BDE-9395-4570-A5B1-0FA419B534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21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13C7145C-FE18-43A6-85EC-0B0672B52A91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22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A8DC9FF0-5655-4896-BC54-2C8C406FA6ED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23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D4A8F860-7EE3-4764-B622-DEC25160BB3D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24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63922788-C140-46D1-AB9E-A7AFD62115DD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25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B3245445-ED4D-47AF-83D9-473C04867C7D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sp>
        <p:nvSpPr>
          <p:cNvPr id="26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C66F0902-4064-4B46-96FA-FF625DAA8309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27" name="Graphic 26" descr="Cursor with solid fill">
            <a:extLst>
              <a:ext uri="{FF2B5EF4-FFF2-40B4-BE49-F238E27FC236}">
                <a16:creationId xmlns:a16="http://schemas.microsoft.com/office/drawing/2014/main" id="{4C82A307-C956-4641-B60A-A97796724E3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28" name="Graphic 27" descr="Cursor with solid fill">
            <a:extLst>
              <a:ext uri="{FF2B5EF4-FFF2-40B4-BE49-F238E27FC236}">
                <a16:creationId xmlns:a16="http://schemas.microsoft.com/office/drawing/2014/main" id="{A3D21E03-715A-4C43-B434-2B87FA4299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29" name="Graphic 28" descr="Cursor with solid fill">
            <a:extLst>
              <a:ext uri="{FF2B5EF4-FFF2-40B4-BE49-F238E27FC236}">
                <a16:creationId xmlns:a16="http://schemas.microsoft.com/office/drawing/2014/main" id="{04978915-ACEA-4AD7-99B3-CDAA19B8C4A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30" name="Graphic 29" descr="Cursor with solid fill">
            <a:extLst>
              <a:ext uri="{FF2B5EF4-FFF2-40B4-BE49-F238E27FC236}">
                <a16:creationId xmlns:a16="http://schemas.microsoft.com/office/drawing/2014/main" id="{413C8582-0C73-4988-B17E-3B59A6CA0FC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pic>
        <p:nvPicPr>
          <p:cNvPr id="31" name="Graphic 30" descr="Cursor with solid fill">
            <a:extLst>
              <a:ext uri="{FF2B5EF4-FFF2-40B4-BE49-F238E27FC236}">
                <a16:creationId xmlns:a16="http://schemas.microsoft.com/office/drawing/2014/main" id="{935E10A6-42C2-4A88-A83E-30510BC2C70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sp>
        <p:nvSpPr>
          <p:cNvPr id="32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D74540FB-6AA1-4EE0-88BA-B2B717997ECE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33" name="Graphic 32" descr="Cursor with solid fill">
            <a:extLst>
              <a:ext uri="{FF2B5EF4-FFF2-40B4-BE49-F238E27FC236}">
                <a16:creationId xmlns:a16="http://schemas.microsoft.com/office/drawing/2014/main" id="{35E48D6D-A421-47AB-8AAC-6EFB4D64CB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34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CBA2335D-8C37-453C-A13D-0E494D58160E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35" name="Graphic 34" descr="Cursor with solid fill">
            <a:extLst>
              <a:ext uri="{FF2B5EF4-FFF2-40B4-BE49-F238E27FC236}">
                <a16:creationId xmlns:a16="http://schemas.microsoft.com/office/drawing/2014/main" id="{1E58DFC7-1385-453A-9F15-2B781AB5DD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16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question 1">
            <a:hlinkClick r:id="rId2" action="ppaction://hlinksldjump"/>
            <a:extLst>
              <a:ext uri="{FF2B5EF4-FFF2-40B4-BE49-F238E27FC236}">
                <a16:creationId xmlns:a16="http://schemas.microsoft.com/office/drawing/2014/main" id="{E432379E-237F-4FEA-A89A-E3DA3D54A4F0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Ranges and Definitions</a:t>
            </a:r>
          </a:p>
        </p:txBody>
      </p:sp>
      <p:sp>
        <p:nvSpPr>
          <p:cNvPr id="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63EF4987-7D65-4F41-AF6C-867A29AB2FC8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7" name="question 4">
            <a:hlinkClick r:id="rId4" action="ppaction://hlinksldjump"/>
            <a:extLst>
              <a:ext uri="{FF2B5EF4-FFF2-40B4-BE49-F238E27FC236}">
                <a16:creationId xmlns:a16="http://schemas.microsoft.com/office/drawing/2014/main" id="{05E8C414-36E9-4238-BFF8-0D781D464882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8" name="sub-q 2">
            <a:hlinkClick r:id="rId5" action="ppaction://hlinksldjump"/>
            <a:extLst>
              <a:ext uri="{FF2B5EF4-FFF2-40B4-BE49-F238E27FC236}">
                <a16:creationId xmlns:a16="http://schemas.microsoft.com/office/drawing/2014/main" id="{62A08DB7-EB0E-44BC-9A87-4B93013393FC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0" name="sub-q 1 button">
            <a:hlinkClick r:id="rId6" action="ppaction://hlinksldjump"/>
            <a:extLst>
              <a:ext uri="{FF2B5EF4-FFF2-40B4-BE49-F238E27FC236}">
                <a16:creationId xmlns:a16="http://schemas.microsoft.com/office/drawing/2014/main" id="{DD2AA152-832E-413C-8D27-43C248037B79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F2CDD5E-E333-4D07-BFE3-26DE2B7952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0852FDEE-7FB1-4443-89C9-E72B09DD515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E1970567-FA06-4A0D-B05D-0F56FA2090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03026" y="2913936"/>
            <a:ext cx="274320" cy="274320"/>
          </a:xfrm>
          <a:prstGeom prst="rect">
            <a:avLst/>
          </a:prstGeom>
        </p:spPr>
      </p:pic>
      <p:sp>
        <p:nvSpPr>
          <p:cNvPr id="16" name="Question 2">
            <a:hlinkClick r:id="rId9" action="ppaction://hlinksldjump"/>
            <a:extLst>
              <a:ext uri="{FF2B5EF4-FFF2-40B4-BE49-F238E27FC236}">
                <a16:creationId xmlns:a16="http://schemas.microsoft.com/office/drawing/2014/main" id="{50E38070-82B0-400A-B307-5DA3CD10B150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D0620F82-4003-4527-B1E1-899089A889B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8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EE0A4872-2B1A-4464-8C40-DE9E11389621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19" name="Graphic 18" descr="Cursor with solid fill">
            <a:extLst>
              <a:ext uri="{FF2B5EF4-FFF2-40B4-BE49-F238E27FC236}">
                <a16:creationId xmlns:a16="http://schemas.microsoft.com/office/drawing/2014/main" id="{43E3FC49-3912-4E77-AE98-46AD335A223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20" name="teachIM logo" descr="Icon&#10;&#10;Description automatically generated">
            <a:extLst>
              <a:ext uri="{FF2B5EF4-FFF2-40B4-BE49-F238E27FC236}">
                <a16:creationId xmlns:a16="http://schemas.microsoft.com/office/drawing/2014/main" id="{B4ED1BDE-9395-4570-A5B1-0FA419B534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21" name="pH">
            <a:extLst>
              <a:ext uri="{FF2B5EF4-FFF2-40B4-BE49-F238E27FC236}">
                <a16:creationId xmlns:a16="http://schemas.microsoft.com/office/drawing/2014/main" id="{BA33641E-AB2F-4BF6-A089-BF2ADC14C9B6}"/>
              </a:ext>
            </a:extLst>
          </p:cNvPr>
          <p:cNvSpPr/>
          <p:nvPr/>
        </p:nvSpPr>
        <p:spPr>
          <a:xfrm>
            <a:off x="3336603" y="2012043"/>
            <a:ext cx="631445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pH</a:t>
            </a:r>
          </a:p>
        </p:txBody>
      </p:sp>
      <p:sp>
        <p:nvSpPr>
          <p:cNvPr id="22" name="pCO2">
            <a:extLst>
              <a:ext uri="{FF2B5EF4-FFF2-40B4-BE49-F238E27FC236}">
                <a16:creationId xmlns:a16="http://schemas.microsoft.com/office/drawing/2014/main" id="{6973FB82-8B8E-4835-BFDD-359EBDA3FEF1}"/>
              </a:ext>
            </a:extLst>
          </p:cNvPr>
          <p:cNvSpPr/>
          <p:nvPr/>
        </p:nvSpPr>
        <p:spPr>
          <a:xfrm>
            <a:off x="4309187" y="2012042"/>
            <a:ext cx="944102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PCO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23" name="pO2">
            <a:extLst>
              <a:ext uri="{FF2B5EF4-FFF2-40B4-BE49-F238E27FC236}">
                <a16:creationId xmlns:a16="http://schemas.microsoft.com/office/drawing/2014/main" id="{57F2B378-F5C5-4A7C-AD2E-4EB2CAAF248E}"/>
              </a:ext>
            </a:extLst>
          </p:cNvPr>
          <p:cNvSpPr/>
          <p:nvPr/>
        </p:nvSpPr>
        <p:spPr>
          <a:xfrm>
            <a:off x="5586384" y="2012041"/>
            <a:ext cx="778578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PO</a:t>
            </a:r>
            <a:r>
              <a:rPr lang="en-US" sz="2000" baseline="-25000" dirty="0"/>
              <a:t>2</a:t>
            </a:r>
            <a:endParaRPr lang="en-US" sz="2000" dirty="0"/>
          </a:p>
        </p:txBody>
      </p:sp>
      <p:sp>
        <p:nvSpPr>
          <p:cNvPr id="24" name="HCO3">
            <a:extLst>
              <a:ext uri="{FF2B5EF4-FFF2-40B4-BE49-F238E27FC236}">
                <a16:creationId xmlns:a16="http://schemas.microsoft.com/office/drawing/2014/main" id="{8D11CE00-0F49-42E0-AE7B-54276C6F09C7}"/>
              </a:ext>
            </a:extLst>
          </p:cNvPr>
          <p:cNvSpPr/>
          <p:nvPr/>
        </p:nvSpPr>
        <p:spPr>
          <a:xfrm>
            <a:off x="6707684" y="2012041"/>
            <a:ext cx="885791" cy="56526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HCO</a:t>
            </a:r>
            <a:r>
              <a:rPr lang="en-US" sz="2000" baseline="-25000" dirty="0"/>
              <a:t>3</a:t>
            </a:r>
            <a:endParaRPr lang="en-US" sz="2000" dirty="0"/>
          </a:p>
        </p:txBody>
      </p:sp>
      <p:sp>
        <p:nvSpPr>
          <p:cNvPr id="25" name="/">
            <a:extLst>
              <a:ext uri="{FF2B5EF4-FFF2-40B4-BE49-F238E27FC236}">
                <a16:creationId xmlns:a16="http://schemas.microsoft.com/office/drawing/2014/main" id="{93ECD864-023E-4CB1-84BD-D52ABF1DEC77}"/>
              </a:ext>
            </a:extLst>
          </p:cNvPr>
          <p:cNvSpPr txBox="1"/>
          <p:nvPr/>
        </p:nvSpPr>
        <p:spPr>
          <a:xfrm>
            <a:off x="4014616" y="211564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</a:p>
        </p:txBody>
      </p:sp>
      <p:sp>
        <p:nvSpPr>
          <p:cNvPr id="26" name="/">
            <a:extLst>
              <a:ext uri="{FF2B5EF4-FFF2-40B4-BE49-F238E27FC236}">
                <a16:creationId xmlns:a16="http://schemas.microsoft.com/office/drawing/2014/main" id="{E82F7808-1F02-46EE-AE7D-4DB66284D14D}"/>
              </a:ext>
            </a:extLst>
          </p:cNvPr>
          <p:cNvSpPr txBox="1"/>
          <p:nvPr/>
        </p:nvSpPr>
        <p:spPr>
          <a:xfrm>
            <a:off x="5275968" y="211564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</a:p>
        </p:txBody>
      </p:sp>
      <p:sp>
        <p:nvSpPr>
          <p:cNvPr id="27" name="/">
            <a:extLst>
              <a:ext uri="{FF2B5EF4-FFF2-40B4-BE49-F238E27FC236}">
                <a16:creationId xmlns:a16="http://schemas.microsoft.com/office/drawing/2014/main" id="{0A20FF35-8478-4D99-95FD-8CEF359A7B0D}"/>
              </a:ext>
            </a:extLst>
          </p:cNvPr>
          <p:cNvSpPr txBox="1"/>
          <p:nvPr/>
        </p:nvSpPr>
        <p:spPr>
          <a:xfrm>
            <a:off x="6387641" y="2115641"/>
            <a:ext cx="3032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/</a:t>
            </a:r>
          </a:p>
        </p:txBody>
      </p:sp>
      <p:sp>
        <p:nvSpPr>
          <p:cNvPr id="28" name="pH explanation">
            <a:extLst>
              <a:ext uri="{FF2B5EF4-FFF2-40B4-BE49-F238E27FC236}">
                <a16:creationId xmlns:a16="http://schemas.microsoft.com/office/drawing/2014/main" id="{B96B3A5C-0631-4A88-9A42-C6A258AA8EC1}"/>
              </a:ext>
            </a:extLst>
          </p:cNvPr>
          <p:cNvSpPr txBox="1"/>
          <p:nvPr/>
        </p:nvSpPr>
        <p:spPr>
          <a:xfrm>
            <a:off x="1905678" y="2760843"/>
            <a:ext cx="2259883" cy="86177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Normal pH is 7.40 ± 0.05</a:t>
            </a:r>
          </a:p>
          <a:p>
            <a:r>
              <a:rPr lang="en-US" sz="1600" dirty="0"/>
              <a:t>Alkalemia – pH &gt; 7.45</a:t>
            </a:r>
          </a:p>
          <a:p>
            <a:r>
              <a:rPr lang="en-US" sz="1600" dirty="0"/>
              <a:t>Acidemia – pH &lt; 7.35</a:t>
            </a:r>
          </a:p>
        </p:txBody>
      </p:sp>
      <p:sp>
        <p:nvSpPr>
          <p:cNvPr id="29" name="PCO2 explanation">
            <a:extLst>
              <a:ext uri="{FF2B5EF4-FFF2-40B4-BE49-F238E27FC236}">
                <a16:creationId xmlns:a16="http://schemas.microsoft.com/office/drawing/2014/main" id="{6E7CC097-4375-40A3-AEDA-B89A5E79A999}"/>
              </a:ext>
            </a:extLst>
          </p:cNvPr>
          <p:cNvSpPr txBox="1"/>
          <p:nvPr/>
        </p:nvSpPr>
        <p:spPr>
          <a:xfrm>
            <a:off x="3164933" y="1087168"/>
            <a:ext cx="3221938" cy="83099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PCO</a:t>
            </a:r>
            <a:r>
              <a:rPr lang="en-US" sz="1600" baseline="-25000" dirty="0"/>
              <a:t>2</a:t>
            </a:r>
            <a:r>
              <a:rPr lang="en-US" sz="1600" dirty="0"/>
              <a:t> is 40 ± 4</a:t>
            </a:r>
          </a:p>
          <a:p>
            <a:pPr algn="ctr"/>
            <a:r>
              <a:rPr lang="en-US" sz="1600" dirty="0"/>
              <a:t>Respiratory acidosis - pCO</a:t>
            </a:r>
            <a:r>
              <a:rPr lang="en-US" sz="1600" baseline="-25000" dirty="0"/>
              <a:t>2</a:t>
            </a:r>
            <a:r>
              <a:rPr lang="en-US" sz="1600" dirty="0"/>
              <a:t> &gt; 44</a:t>
            </a:r>
          </a:p>
          <a:p>
            <a:pPr algn="ctr"/>
            <a:r>
              <a:rPr lang="en-US" sz="1600" dirty="0"/>
              <a:t>Respiratory alkalosis - pCO</a:t>
            </a:r>
            <a:r>
              <a:rPr lang="en-US" sz="1600" baseline="-25000" dirty="0"/>
              <a:t>2</a:t>
            </a:r>
            <a:r>
              <a:rPr lang="en-US" sz="1600" dirty="0"/>
              <a:t> &lt; 36</a:t>
            </a:r>
          </a:p>
        </p:txBody>
      </p:sp>
      <p:sp>
        <p:nvSpPr>
          <p:cNvPr id="30" name="HCO3 explanation">
            <a:extLst>
              <a:ext uri="{FF2B5EF4-FFF2-40B4-BE49-F238E27FC236}">
                <a16:creationId xmlns:a16="http://schemas.microsoft.com/office/drawing/2014/main" id="{54B1D2DB-A431-4F2A-A792-A73612577127}"/>
              </a:ext>
            </a:extLst>
          </p:cNvPr>
          <p:cNvSpPr txBox="1"/>
          <p:nvPr/>
        </p:nvSpPr>
        <p:spPr>
          <a:xfrm>
            <a:off x="6635400" y="1092313"/>
            <a:ext cx="3150195" cy="8309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HCO</a:t>
            </a:r>
            <a:r>
              <a:rPr lang="en-US" sz="1600" baseline="-25000" dirty="0"/>
              <a:t>3</a:t>
            </a:r>
            <a:r>
              <a:rPr lang="en-US" sz="1600" dirty="0"/>
              <a:t> is 24 ± 2 </a:t>
            </a:r>
          </a:p>
          <a:p>
            <a:pPr algn="ctr"/>
            <a:r>
              <a:rPr lang="en-US" sz="1600" dirty="0"/>
              <a:t>Metabolic acidosis - HCO</a:t>
            </a:r>
            <a:r>
              <a:rPr lang="en-US" sz="1600" baseline="-25000" dirty="0"/>
              <a:t>3</a:t>
            </a:r>
            <a:r>
              <a:rPr lang="en-US" sz="1600" dirty="0"/>
              <a:t> &lt; 22</a:t>
            </a:r>
          </a:p>
          <a:p>
            <a:pPr algn="ctr"/>
            <a:r>
              <a:rPr lang="en-US" sz="1600" dirty="0"/>
              <a:t>Metabolic alkalosis - HCO</a:t>
            </a:r>
            <a:r>
              <a:rPr lang="en-US" sz="1600" baseline="-25000" dirty="0"/>
              <a:t>3</a:t>
            </a:r>
            <a:r>
              <a:rPr lang="en-US" sz="1600" dirty="0"/>
              <a:t> &gt; 26</a:t>
            </a:r>
          </a:p>
        </p:txBody>
      </p:sp>
      <p:sp>
        <p:nvSpPr>
          <p:cNvPr id="31" name="PO2 explanation">
            <a:extLst>
              <a:ext uri="{FF2B5EF4-FFF2-40B4-BE49-F238E27FC236}">
                <a16:creationId xmlns:a16="http://schemas.microsoft.com/office/drawing/2014/main" id="{8CCF939D-1D47-4211-A557-07A48A9FCF72}"/>
              </a:ext>
            </a:extLst>
          </p:cNvPr>
          <p:cNvSpPr txBox="1"/>
          <p:nvPr/>
        </p:nvSpPr>
        <p:spPr>
          <a:xfrm>
            <a:off x="5078632" y="2826486"/>
            <a:ext cx="2830565" cy="5078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PO</a:t>
            </a:r>
            <a:r>
              <a:rPr lang="en-US" sz="1600" baseline="-25000" dirty="0"/>
              <a:t>2</a:t>
            </a:r>
            <a:r>
              <a:rPr lang="en-US" sz="1600" dirty="0"/>
              <a:t> on an ABG is &gt; 80. </a:t>
            </a:r>
          </a:p>
          <a:p>
            <a:pPr algn="ctr"/>
            <a:r>
              <a:rPr lang="en-US" sz="1100" dirty="0"/>
              <a:t>Check out or talk on hypoxemia </a:t>
            </a:r>
            <a:r>
              <a:rPr lang="en-US" sz="1100" dirty="0">
                <a:hlinkClick r:id="rId11"/>
              </a:rPr>
              <a:t>here</a:t>
            </a:r>
            <a:r>
              <a:rPr lang="en-US" sz="1100" dirty="0"/>
              <a:t>. </a:t>
            </a:r>
            <a:r>
              <a:rPr lang="en-US" sz="1100" baseline="-25000" dirty="0"/>
              <a:t> </a:t>
            </a:r>
            <a:endParaRPr lang="en-US" sz="1600" dirty="0"/>
          </a:p>
        </p:txBody>
      </p:sp>
      <p:sp>
        <p:nvSpPr>
          <p:cNvPr id="32" name="Emia vs. Osis">
            <a:extLst>
              <a:ext uri="{FF2B5EF4-FFF2-40B4-BE49-F238E27FC236}">
                <a16:creationId xmlns:a16="http://schemas.microsoft.com/office/drawing/2014/main" id="{C21F21BA-F8B0-49F9-92E7-232392CC351D}"/>
              </a:ext>
            </a:extLst>
          </p:cNvPr>
          <p:cNvSpPr/>
          <p:nvPr/>
        </p:nvSpPr>
        <p:spPr>
          <a:xfrm>
            <a:off x="4552858" y="4811478"/>
            <a:ext cx="4550611" cy="52838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“-</a:t>
            </a:r>
            <a:r>
              <a:rPr lang="en-US" sz="2000" dirty="0" err="1"/>
              <a:t>emia</a:t>
            </a:r>
            <a:r>
              <a:rPr lang="en-US" sz="2000" dirty="0"/>
              <a:t>” vs. “-</a:t>
            </a:r>
            <a:r>
              <a:rPr lang="en-US" sz="2000" dirty="0" err="1"/>
              <a:t>osis</a:t>
            </a:r>
            <a:r>
              <a:rPr lang="en-US" sz="2000" dirty="0"/>
              <a:t>?”</a:t>
            </a:r>
          </a:p>
        </p:txBody>
      </p:sp>
      <p:pic>
        <p:nvPicPr>
          <p:cNvPr id="33" name="Mouse emia vs osis" descr="Cursor with solid fill">
            <a:extLst>
              <a:ext uri="{FF2B5EF4-FFF2-40B4-BE49-F238E27FC236}">
                <a16:creationId xmlns:a16="http://schemas.microsoft.com/office/drawing/2014/main" id="{A4BF9944-07B5-4CDB-9CED-7171FBED574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8964767" y="5190949"/>
            <a:ext cx="277403" cy="277403"/>
          </a:xfrm>
          <a:prstGeom prst="rect">
            <a:avLst/>
          </a:prstGeom>
        </p:spPr>
      </p:pic>
      <p:sp>
        <p:nvSpPr>
          <p:cNvPr id="34" name="Emia vs Osis answer">
            <a:extLst>
              <a:ext uri="{FF2B5EF4-FFF2-40B4-BE49-F238E27FC236}">
                <a16:creationId xmlns:a16="http://schemas.microsoft.com/office/drawing/2014/main" id="{8B48437B-AFB1-453B-AE13-0E2416A92F66}"/>
              </a:ext>
            </a:extLst>
          </p:cNvPr>
          <p:cNvSpPr/>
          <p:nvPr/>
        </p:nvSpPr>
        <p:spPr>
          <a:xfrm>
            <a:off x="4552857" y="4801992"/>
            <a:ext cx="4550611" cy="827353"/>
          </a:xfrm>
          <a:prstGeom prst="roundRect">
            <a:avLst>
              <a:gd name="adj" fmla="val 573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“-</a:t>
            </a:r>
            <a:r>
              <a:rPr lang="en-US" sz="1400" dirty="0" err="1"/>
              <a:t>emia</a:t>
            </a:r>
            <a:r>
              <a:rPr lang="en-US" sz="1400" dirty="0"/>
              <a:t>” refers to the 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400" dirty="0"/>
              <a:t>“-</a:t>
            </a:r>
            <a:r>
              <a:rPr lang="en-US" sz="1400" dirty="0" err="1"/>
              <a:t>osis</a:t>
            </a:r>
            <a:r>
              <a:rPr lang="en-US" sz="1400" dirty="0"/>
              <a:t>” refers to a metabolic or respiratory process that would lead to a derangement in pH if unchecked</a:t>
            </a:r>
          </a:p>
        </p:txBody>
      </p:sp>
      <p:sp>
        <p:nvSpPr>
          <p:cNvPr id="35" name="Base excess">
            <a:extLst>
              <a:ext uri="{FF2B5EF4-FFF2-40B4-BE49-F238E27FC236}">
                <a16:creationId xmlns:a16="http://schemas.microsoft.com/office/drawing/2014/main" id="{60435B24-78AF-404D-B1BC-B5BC81E8AE4C}"/>
              </a:ext>
            </a:extLst>
          </p:cNvPr>
          <p:cNvSpPr/>
          <p:nvPr/>
        </p:nvSpPr>
        <p:spPr>
          <a:xfrm>
            <a:off x="8454987" y="2012040"/>
            <a:ext cx="2267345" cy="537710"/>
          </a:xfrm>
          <a:prstGeom prst="roundRect">
            <a:avLst/>
          </a:prstGeom>
          <a:ln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/>
              <a:t>Base excess</a:t>
            </a:r>
          </a:p>
        </p:txBody>
      </p:sp>
      <p:grpSp>
        <p:nvGrpSpPr>
          <p:cNvPr id="36" name="Base excess explanation">
            <a:extLst>
              <a:ext uri="{FF2B5EF4-FFF2-40B4-BE49-F238E27FC236}">
                <a16:creationId xmlns:a16="http://schemas.microsoft.com/office/drawing/2014/main" id="{ABB995A8-7E89-48E6-B63E-F8E30F99D5FB}"/>
              </a:ext>
            </a:extLst>
          </p:cNvPr>
          <p:cNvGrpSpPr/>
          <p:nvPr/>
        </p:nvGrpSpPr>
        <p:grpSpPr>
          <a:xfrm>
            <a:off x="8074873" y="2674099"/>
            <a:ext cx="3540746" cy="1600438"/>
            <a:chOff x="8606736" y="3920320"/>
            <a:chExt cx="3421443" cy="1600438"/>
          </a:xfrm>
        </p:grpSpPr>
        <p:sp>
          <p:nvSpPr>
            <p:cNvPr id="37" name="PO2 explanation">
              <a:extLst>
                <a:ext uri="{FF2B5EF4-FFF2-40B4-BE49-F238E27FC236}">
                  <a16:creationId xmlns:a16="http://schemas.microsoft.com/office/drawing/2014/main" id="{65D11271-63D1-4D29-85E4-CD4BC05254F2}"/>
                </a:ext>
              </a:extLst>
            </p:cNvPr>
            <p:cNvSpPr txBox="1"/>
            <p:nvPr/>
          </p:nvSpPr>
          <p:spPr>
            <a:xfrm>
              <a:off x="8606736" y="3920320"/>
              <a:ext cx="3365784" cy="1600438"/>
            </a:xfrm>
            <a:prstGeom prst="rect">
              <a:avLst/>
            </a:prstGeom>
            <a:ln>
              <a:prstDash val="dash"/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Some labs will report a “base excess”. This is the # of H</a:t>
              </a:r>
              <a:r>
                <a:rPr lang="en-US" sz="1400" baseline="30000" dirty="0"/>
                <a:t>+</a:t>
              </a:r>
              <a:r>
                <a:rPr lang="en-US" sz="1400" dirty="0"/>
                <a:t> ions required to restore normal pH if PCO</a:t>
              </a:r>
              <a:r>
                <a:rPr lang="en-US" sz="1400" baseline="-25000" dirty="0"/>
                <a:t>2</a:t>
              </a:r>
              <a:r>
                <a:rPr lang="en-US" sz="1400" dirty="0"/>
                <a:t> is normal. </a:t>
              </a:r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</p:txBody>
        </p:sp>
        <p:sp>
          <p:nvSpPr>
            <p:cNvPr id="38" name="Arrow: Left-Right 37">
              <a:extLst>
                <a:ext uri="{FF2B5EF4-FFF2-40B4-BE49-F238E27FC236}">
                  <a16:creationId xmlns:a16="http://schemas.microsoft.com/office/drawing/2014/main" id="{2E888473-5D26-46C2-80BF-E770CED1122B}"/>
                </a:ext>
              </a:extLst>
            </p:cNvPr>
            <p:cNvSpPr/>
            <p:nvPr/>
          </p:nvSpPr>
          <p:spPr>
            <a:xfrm>
              <a:off x="8935386" y="4626883"/>
              <a:ext cx="2807368" cy="267369"/>
            </a:xfrm>
            <a:prstGeom prst="leftRightArrow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09A1EC3-5C65-4BBE-9A06-A00B93F2979A}"/>
                </a:ext>
              </a:extLst>
            </p:cNvPr>
            <p:cNvSpPr txBox="1"/>
            <p:nvPr/>
          </p:nvSpPr>
          <p:spPr>
            <a:xfrm>
              <a:off x="10138819" y="4777732"/>
              <a:ext cx="28886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0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0E1C3E3A-1780-42A2-A47E-863076281CBA}"/>
                </a:ext>
              </a:extLst>
            </p:cNvPr>
            <p:cNvSpPr txBox="1"/>
            <p:nvPr/>
          </p:nvSpPr>
          <p:spPr>
            <a:xfrm>
              <a:off x="10753012" y="4791705"/>
              <a:ext cx="3914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+2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2C145EA-890A-4D7F-8715-192EE5DEFC1A}"/>
                </a:ext>
              </a:extLst>
            </p:cNvPr>
            <p:cNvSpPr txBox="1"/>
            <p:nvPr/>
          </p:nvSpPr>
          <p:spPr>
            <a:xfrm>
              <a:off x="9409674" y="4803792"/>
              <a:ext cx="4171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/>
                <a:t>-2</a:t>
              </a:r>
            </a:p>
          </p:txBody>
        </p:sp>
        <p:sp>
          <p:nvSpPr>
            <p:cNvPr id="42" name="Left Brace 41">
              <a:extLst>
                <a:ext uri="{FF2B5EF4-FFF2-40B4-BE49-F238E27FC236}">
                  <a16:creationId xmlns:a16="http://schemas.microsoft.com/office/drawing/2014/main" id="{A944CC86-BD02-4220-BBC2-BAB3B6FD71A9}"/>
                </a:ext>
              </a:extLst>
            </p:cNvPr>
            <p:cNvSpPr/>
            <p:nvPr/>
          </p:nvSpPr>
          <p:spPr>
            <a:xfrm rot="16200000">
              <a:off x="11274886" y="4771071"/>
              <a:ext cx="100910" cy="70732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9AFCFE83-B45A-4437-BE0C-D62F9AE60D44}"/>
                </a:ext>
              </a:extLst>
            </p:cNvPr>
            <p:cNvSpPr txBox="1"/>
            <p:nvPr/>
          </p:nvSpPr>
          <p:spPr>
            <a:xfrm>
              <a:off x="10414901" y="5173410"/>
              <a:ext cx="16132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Metabolic alkalosis</a:t>
              </a:r>
            </a:p>
          </p:txBody>
        </p:sp>
        <p:sp>
          <p:nvSpPr>
            <p:cNvPr id="44" name="Left Brace 43">
              <a:extLst>
                <a:ext uri="{FF2B5EF4-FFF2-40B4-BE49-F238E27FC236}">
                  <a16:creationId xmlns:a16="http://schemas.microsoft.com/office/drawing/2014/main" id="{11D4226B-46CE-424C-8D59-68AC18585370}"/>
                </a:ext>
              </a:extLst>
            </p:cNvPr>
            <p:cNvSpPr/>
            <p:nvPr/>
          </p:nvSpPr>
          <p:spPr>
            <a:xfrm rot="16200000">
              <a:off x="9196554" y="4771072"/>
              <a:ext cx="100910" cy="707329"/>
            </a:xfrm>
            <a:prstGeom prst="leftBrac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AA36B31-CD2E-487D-B3F0-70E99A189440}"/>
                </a:ext>
              </a:extLst>
            </p:cNvPr>
            <p:cNvSpPr txBox="1"/>
            <p:nvPr/>
          </p:nvSpPr>
          <p:spPr>
            <a:xfrm>
              <a:off x="8606736" y="5182298"/>
              <a:ext cx="16132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Metabolic acidosis</a:t>
              </a:r>
            </a:p>
          </p:txBody>
        </p:sp>
      </p:grpSp>
      <p:pic>
        <p:nvPicPr>
          <p:cNvPr id="46" name="Mouse pH" descr="Cursor with solid fill">
            <a:extLst>
              <a:ext uri="{FF2B5EF4-FFF2-40B4-BE49-F238E27FC236}">
                <a16:creationId xmlns:a16="http://schemas.microsoft.com/office/drawing/2014/main" id="{00682092-B4B4-4F3F-88D3-C95D8E085B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3807272" y="2421262"/>
            <a:ext cx="274320" cy="274320"/>
          </a:xfrm>
          <a:prstGeom prst="rect">
            <a:avLst/>
          </a:prstGeom>
        </p:spPr>
      </p:pic>
      <p:pic>
        <p:nvPicPr>
          <p:cNvPr id="47" name="Mouse PCO2" descr="Cursor with solid fill">
            <a:extLst>
              <a:ext uri="{FF2B5EF4-FFF2-40B4-BE49-F238E27FC236}">
                <a16:creationId xmlns:a16="http://schemas.microsoft.com/office/drawing/2014/main" id="{54AC1A49-3FC4-4F82-96B5-20B9CE57598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095786" y="2421262"/>
            <a:ext cx="274320" cy="274320"/>
          </a:xfrm>
          <a:prstGeom prst="rect">
            <a:avLst/>
          </a:prstGeom>
        </p:spPr>
      </p:pic>
      <p:pic>
        <p:nvPicPr>
          <p:cNvPr id="48" name="Mouse PO2" descr="Cursor with solid fill">
            <a:extLst>
              <a:ext uri="{FF2B5EF4-FFF2-40B4-BE49-F238E27FC236}">
                <a16:creationId xmlns:a16="http://schemas.microsoft.com/office/drawing/2014/main" id="{F3BF116C-3ED7-4295-8E08-F1B8FCD616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214494" y="2398545"/>
            <a:ext cx="274320" cy="274320"/>
          </a:xfrm>
          <a:prstGeom prst="rect">
            <a:avLst/>
          </a:prstGeom>
        </p:spPr>
      </p:pic>
      <p:pic>
        <p:nvPicPr>
          <p:cNvPr id="49" name="Mouse HCO3" descr="Cursor with solid fill">
            <a:extLst>
              <a:ext uri="{FF2B5EF4-FFF2-40B4-BE49-F238E27FC236}">
                <a16:creationId xmlns:a16="http://schemas.microsoft.com/office/drawing/2014/main" id="{1B6013C6-1B61-4E85-BC7C-1B8470C8400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7448497" y="2421262"/>
            <a:ext cx="274320" cy="274320"/>
          </a:xfrm>
          <a:prstGeom prst="rect">
            <a:avLst/>
          </a:prstGeom>
        </p:spPr>
      </p:pic>
      <p:pic>
        <p:nvPicPr>
          <p:cNvPr id="50" name="Mouse Base excess" descr="Cursor with solid fill">
            <a:extLst>
              <a:ext uri="{FF2B5EF4-FFF2-40B4-BE49-F238E27FC236}">
                <a16:creationId xmlns:a16="http://schemas.microsoft.com/office/drawing/2014/main" id="{6B0A7752-FB2E-4BAB-811F-33AF20D843F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0572771" y="2402043"/>
            <a:ext cx="274320" cy="274320"/>
          </a:xfrm>
          <a:prstGeom prst="rect">
            <a:avLst/>
          </a:prstGeom>
        </p:spPr>
      </p:pic>
      <p:cxnSp>
        <p:nvCxnSpPr>
          <p:cNvPr id="51" name="Connector pH">
            <a:extLst>
              <a:ext uri="{FF2B5EF4-FFF2-40B4-BE49-F238E27FC236}">
                <a16:creationId xmlns:a16="http://schemas.microsoft.com/office/drawing/2014/main" id="{95010129-A7F3-4354-B23B-3FE43CB09BB2}"/>
              </a:ext>
            </a:extLst>
          </p:cNvPr>
          <p:cNvCxnSpPr>
            <a:cxnSpLocks/>
            <a:endCxn id="21" idx="2"/>
          </p:cNvCxnSpPr>
          <p:nvPr/>
        </p:nvCxnSpPr>
        <p:spPr>
          <a:xfrm flipV="1">
            <a:off x="3652326" y="2577306"/>
            <a:ext cx="0" cy="18353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PCO2">
            <a:extLst>
              <a:ext uri="{FF2B5EF4-FFF2-40B4-BE49-F238E27FC236}">
                <a16:creationId xmlns:a16="http://schemas.microsoft.com/office/drawing/2014/main" id="{099429A7-BA9B-42C3-ABA2-0F541EA572C5}"/>
              </a:ext>
            </a:extLst>
          </p:cNvPr>
          <p:cNvCxnSpPr>
            <a:cxnSpLocks/>
          </p:cNvCxnSpPr>
          <p:nvPr/>
        </p:nvCxnSpPr>
        <p:spPr>
          <a:xfrm>
            <a:off x="4674817" y="1918165"/>
            <a:ext cx="1" cy="90762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Connector O2">
            <a:extLst>
              <a:ext uri="{FF2B5EF4-FFF2-40B4-BE49-F238E27FC236}">
                <a16:creationId xmlns:a16="http://schemas.microsoft.com/office/drawing/2014/main" id="{FBE6DA3C-76C1-4A87-83E2-92CB4DABE022}"/>
              </a:ext>
            </a:extLst>
          </p:cNvPr>
          <p:cNvCxnSpPr>
            <a:stCxn id="23" idx="2"/>
          </p:cNvCxnSpPr>
          <p:nvPr/>
        </p:nvCxnSpPr>
        <p:spPr>
          <a:xfrm>
            <a:off x="5975673" y="2577304"/>
            <a:ext cx="0" cy="235497"/>
          </a:xfrm>
          <a:prstGeom prst="line">
            <a:avLst/>
          </a:prstGeom>
          <a:ln w="12700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54" name="Connector HCO3">
            <a:extLst>
              <a:ext uri="{FF2B5EF4-FFF2-40B4-BE49-F238E27FC236}">
                <a16:creationId xmlns:a16="http://schemas.microsoft.com/office/drawing/2014/main" id="{7908AAD7-FE81-4F94-B7FD-C4478505BE2C}"/>
              </a:ext>
            </a:extLst>
          </p:cNvPr>
          <p:cNvCxnSpPr>
            <a:cxnSpLocks/>
          </p:cNvCxnSpPr>
          <p:nvPr/>
        </p:nvCxnSpPr>
        <p:spPr>
          <a:xfrm>
            <a:off x="6997899" y="1918165"/>
            <a:ext cx="0" cy="90762"/>
          </a:xfrm>
          <a:prstGeom prst="line">
            <a:avLst/>
          </a:prstGeom>
          <a:ln w="127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Connector Base excess">
            <a:extLst>
              <a:ext uri="{FF2B5EF4-FFF2-40B4-BE49-F238E27FC236}">
                <a16:creationId xmlns:a16="http://schemas.microsoft.com/office/drawing/2014/main" id="{21C6A4AC-D5BA-4CAE-A64C-5082241B7991}"/>
              </a:ext>
            </a:extLst>
          </p:cNvPr>
          <p:cNvCxnSpPr>
            <a:cxnSpLocks/>
          </p:cNvCxnSpPr>
          <p:nvPr/>
        </p:nvCxnSpPr>
        <p:spPr>
          <a:xfrm>
            <a:off x="9895818" y="2549750"/>
            <a:ext cx="0" cy="94851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56" name="Cases">
            <a:hlinkClick r:id="rId12" action="ppaction://hlinksldjump"/>
            <a:extLst>
              <a:ext uri="{FF2B5EF4-FFF2-40B4-BE49-F238E27FC236}">
                <a16:creationId xmlns:a16="http://schemas.microsoft.com/office/drawing/2014/main" id="{DA18E034-FA3B-4644-97C9-3FFB41BAAB74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57" name="Graphic 56" descr="Cursor with solid fill">
            <a:extLst>
              <a:ext uri="{FF2B5EF4-FFF2-40B4-BE49-F238E27FC236}">
                <a16:creationId xmlns:a16="http://schemas.microsoft.com/office/drawing/2014/main" id="{F92EDD75-F41D-48D3-851E-1341DAE327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680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0" grpId="0" animBg="1"/>
      <p:bldP spid="31" grpId="0" animBg="1"/>
      <p:bldP spid="32" grpId="0" animBg="1"/>
      <p:bldP spid="3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602EE6E4-1AF3-4DC6-B0EE-7B09A3674A25}"/>
              </a:ext>
            </a:extLst>
          </p:cNvPr>
          <p:cNvGrpSpPr/>
          <p:nvPr/>
        </p:nvGrpSpPr>
        <p:grpSpPr>
          <a:xfrm>
            <a:off x="6762536" y="3227371"/>
            <a:ext cx="4832970" cy="1143227"/>
            <a:chOff x="5415561" y="2702361"/>
            <a:chExt cx="5798847" cy="1796468"/>
          </a:xfrm>
        </p:grpSpPr>
        <p:sp>
          <p:nvSpPr>
            <p:cNvPr id="80" name="Anion gap">
              <a:extLst>
                <a:ext uri="{FF2B5EF4-FFF2-40B4-BE49-F238E27FC236}">
                  <a16:creationId xmlns:a16="http://schemas.microsoft.com/office/drawing/2014/main" id="{00AD07A8-C655-44F7-884F-D8BA388F9F5F}"/>
                </a:ext>
              </a:extLst>
            </p:cNvPr>
            <p:cNvSpPr/>
            <p:nvPr/>
          </p:nvSpPr>
          <p:spPr>
            <a:xfrm>
              <a:off x="5997976" y="2702361"/>
              <a:ext cx="5216432" cy="1796468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An anion gap metabolic acidosis can be present even with a primary respiratory process or primary metabolic alkalosis. </a:t>
              </a:r>
            </a:p>
          </p:txBody>
        </p: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88661BD-FFEC-4585-9E1E-9136B9FAE8E2}"/>
                </a:ext>
              </a:extLst>
            </p:cNvPr>
            <p:cNvCxnSpPr>
              <a:cxnSpLocks/>
              <a:endCxn id="80" idx="1"/>
            </p:cNvCxnSpPr>
            <p:nvPr/>
          </p:nvCxnSpPr>
          <p:spPr>
            <a:xfrm>
              <a:off x="5415561" y="3600539"/>
              <a:ext cx="582415" cy="57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cxnSp>
        <p:nvCxnSpPr>
          <p:cNvPr id="83" name="Connector: Elbow 82">
            <a:extLst>
              <a:ext uri="{FF2B5EF4-FFF2-40B4-BE49-F238E27FC236}">
                <a16:creationId xmlns:a16="http://schemas.microsoft.com/office/drawing/2014/main" id="{4C5E8659-FC88-44DE-B2EB-E4A8C6A2CB70}"/>
              </a:ext>
            </a:extLst>
          </p:cNvPr>
          <p:cNvCxnSpPr>
            <a:cxnSpLocks/>
            <a:endCxn id="75" idx="1"/>
          </p:cNvCxnSpPr>
          <p:nvPr/>
        </p:nvCxnSpPr>
        <p:spPr>
          <a:xfrm rot="16200000" flipH="1">
            <a:off x="2826185" y="1674597"/>
            <a:ext cx="629294" cy="61857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question 3">
            <a:hlinkClick r:id="rId2" action="ppaction://hlinksldjump"/>
            <a:extLst>
              <a:ext uri="{FF2B5EF4-FFF2-40B4-BE49-F238E27FC236}">
                <a16:creationId xmlns:a16="http://schemas.microsoft.com/office/drawing/2014/main" id="{63EF4987-7D65-4F41-AF6C-867A29AB2FC8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7" name="question 4">
            <a:hlinkClick r:id="rId3" action="ppaction://hlinksldjump"/>
            <a:extLst>
              <a:ext uri="{FF2B5EF4-FFF2-40B4-BE49-F238E27FC236}">
                <a16:creationId xmlns:a16="http://schemas.microsoft.com/office/drawing/2014/main" id="{05E8C414-36E9-4238-BFF8-0D781D464882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8" name="sub-q 2">
            <a:hlinkClick r:id="rId4" action="ppaction://hlinksldjump"/>
            <a:extLst>
              <a:ext uri="{FF2B5EF4-FFF2-40B4-BE49-F238E27FC236}">
                <a16:creationId xmlns:a16="http://schemas.microsoft.com/office/drawing/2014/main" id="{62A08DB7-EB0E-44BC-9A87-4B93013393FC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0" name="sub-q 1 button">
            <a:hlinkClick r:id="rId5" action="ppaction://hlinksldjump"/>
            <a:extLst>
              <a:ext uri="{FF2B5EF4-FFF2-40B4-BE49-F238E27FC236}">
                <a16:creationId xmlns:a16="http://schemas.microsoft.com/office/drawing/2014/main" id="{DD2AA152-832E-413C-8D27-43C248037B79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2" name="Graphic 11" descr="Cursor with solid fill">
            <a:extLst>
              <a:ext uri="{FF2B5EF4-FFF2-40B4-BE49-F238E27FC236}">
                <a16:creationId xmlns:a16="http://schemas.microsoft.com/office/drawing/2014/main" id="{DF2CDD5E-E333-4D07-BFE3-26DE2B7952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13" name="Graphic 12" descr="Cursor with solid fill">
            <a:extLst>
              <a:ext uri="{FF2B5EF4-FFF2-40B4-BE49-F238E27FC236}">
                <a16:creationId xmlns:a16="http://schemas.microsoft.com/office/drawing/2014/main" id="{0852FDEE-7FB1-4443-89C9-E72B09DD51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4" name="Graphic 13" descr="Cursor with solid fill">
            <a:extLst>
              <a:ext uri="{FF2B5EF4-FFF2-40B4-BE49-F238E27FC236}">
                <a16:creationId xmlns:a16="http://schemas.microsoft.com/office/drawing/2014/main" id="{E1970567-FA06-4A0D-B05D-0F56FA209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6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50E38070-82B0-400A-B307-5DA3CD10B150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7" name="Graphic 16" descr="Cursor with solid fill">
            <a:extLst>
              <a:ext uri="{FF2B5EF4-FFF2-40B4-BE49-F238E27FC236}">
                <a16:creationId xmlns:a16="http://schemas.microsoft.com/office/drawing/2014/main" id="{D0620F82-4003-4527-B1E1-899089A889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8" name="Question 2">
            <a:hlinkClick r:id="rId2" action="ppaction://hlinksldjump"/>
            <a:extLst>
              <a:ext uri="{FF2B5EF4-FFF2-40B4-BE49-F238E27FC236}">
                <a16:creationId xmlns:a16="http://schemas.microsoft.com/office/drawing/2014/main" id="{EE0A4872-2B1A-4464-8C40-DE9E11389621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accent4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3 Steps to ABG Interpretation</a:t>
            </a:r>
          </a:p>
        </p:txBody>
      </p:sp>
      <p:pic>
        <p:nvPicPr>
          <p:cNvPr id="20" name="teachIM logo" descr="Icon&#10;&#10;Description automatically generated">
            <a:extLst>
              <a:ext uri="{FF2B5EF4-FFF2-40B4-BE49-F238E27FC236}">
                <a16:creationId xmlns:a16="http://schemas.microsoft.com/office/drawing/2014/main" id="{B4ED1BDE-9395-4570-A5B1-0FA419B534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74" name="Step 1">
            <a:extLst>
              <a:ext uri="{FF2B5EF4-FFF2-40B4-BE49-F238E27FC236}">
                <a16:creationId xmlns:a16="http://schemas.microsoft.com/office/drawing/2014/main" id="{554AA3AF-2D33-471F-B907-235CCD568F86}"/>
              </a:ext>
            </a:extLst>
          </p:cNvPr>
          <p:cNvSpPr/>
          <p:nvPr/>
        </p:nvSpPr>
        <p:spPr>
          <a:xfrm>
            <a:off x="2340451" y="914399"/>
            <a:ext cx="3297340" cy="77533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Step 1: Acid-Base status?</a:t>
            </a:r>
          </a:p>
        </p:txBody>
      </p:sp>
      <p:sp>
        <p:nvSpPr>
          <p:cNvPr id="75" name="Step 2: Primary process">
            <a:extLst>
              <a:ext uri="{FF2B5EF4-FFF2-40B4-BE49-F238E27FC236}">
                <a16:creationId xmlns:a16="http://schemas.microsoft.com/office/drawing/2014/main" id="{4094F25C-8C0C-41B8-8C8F-466D56D54824}"/>
              </a:ext>
            </a:extLst>
          </p:cNvPr>
          <p:cNvSpPr/>
          <p:nvPr/>
        </p:nvSpPr>
        <p:spPr>
          <a:xfrm>
            <a:off x="3450117" y="2077192"/>
            <a:ext cx="2571206" cy="44267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Primary process?</a:t>
            </a:r>
          </a:p>
        </p:txBody>
      </p:sp>
      <p:sp>
        <p:nvSpPr>
          <p:cNvPr id="76" name="Step 4: Compensation">
            <a:hlinkClick r:id="rId5" action="ppaction://hlinksldjump"/>
            <a:extLst>
              <a:ext uri="{FF2B5EF4-FFF2-40B4-BE49-F238E27FC236}">
                <a16:creationId xmlns:a16="http://schemas.microsoft.com/office/drawing/2014/main" id="{5898526B-5C38-4ADE-B2F5-25970C70994C}"/>
              </a:ext>
            </a:extLst>
          </p:cNvPr>
          <p:cNvSpPr/>
          <p:nvPr/>
        </p:nvSpPr>
        <p:spPr>
          <a:xfrm>
            <a:off x="2340451" y="5605810"/>
            <a:ext cx="3755549" cy="775335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 Step 3: Assess for compensation</a:t>
            </a:r>
          </a:p>
        </p:txBody>
      </p:sp>
      <p:sp>
        <p:nvSpPr>
          <p:cNvPr id="77" name="Step 3: anion gap">
            <a:extLst>
              <a:ext uri="{FF2B5EF4-FFF2-40B4-BE49-F238E27FC236}">
                <a16:creationId xmlns:a16="http://schemas.microsoft.com/office/drawing/2014/main" id="{15DE8C3B-586C-4C5B-A731-13C623707BBB}"/>
              </a:ext>
            </a:extLst>
          </p:cNvPr>
          <p:cNvSpPr/>
          <p:nvPr/>
        </p:nvSpPr>
        <p:spPr>
          <a:xfrm>
            <a:off x="2309421" y="3411281"/>
            <a:ext cx="4453115" cy="775335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 Step 2: Anion gap metabolic acidosis?</a:t>
            </a:r>
          </a:p>
        </p:txBody>
      </p:sp>
      <p:sp>
        <p:nvSpPr>
          <p:cNvPr id="78" name="Delta-delta">
            <a:extLst>
              <a:ext uri="{FF2B5EF4-FFF2-40B4-BE49-F238E27FC236}">
                <a16:creationId xmlns:a16="http://schemas.microsoft.com/office/drawing/2014/main" id="{F90C4BE8-668D-4443-B118-88A9229F8F29}"/>
              </a:ext>
            </a:extLst>
          </p:cNvPr>
          <p:cNvSpPr/>
          <p:nvPr/>
        </p:nvSpPr>
        <p:spPr>
          <a:xfrm>
            <a:off x="3464344" y="4632501"/>
            <a:ext cx="6870703" cy="4383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If yes, is there a concurrent metabolic process? (Delta-delta)</a:t>
            </a:r>
          </a:p>
        </p:txBody>
      </p:sp>
      <p:pic>
        <p:nvPicPr>
          <p:cNvPr id="82" name="Mouse step 3" descr="Cursor with solid fill">
            <a:extLst>
              <a:ext uri="{FF2B5EF4-FFF2-40B4-BE49-F238E27FC236}">
                <a16:creationId xmlns:a16="http://schemas.microsoft.com/office/drawing/2014/main" id="{D771856D-A6BF-4722-9EC9-E8D08D98AC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606587" y="4024404"/>
            <a:ext cx="274320" cy="274320"/>
          </a:xfrm>
          <a:prstGeom prst="rect">
            <a:avLst/>
          </a:prstGeom>
        </p:spPr>
      </p:pic>
      <p:cxnSp>
        <p:nvCxnSpPr>
          <p:cNvPr id="84" name="Connector: Elbow 83">
            <a:extLst>
              <a:ext uri="{FF2B5EF4-FFF2-40B4-BE49-F238E27FC236}">
                <a16:creationId xmlns:a16="http://schemas.microsoft.com/office/drawing/2014/main" id="{24702732-6D0D-48C6-B78F-814C44A785AA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2761369" y="4186616"/>
            <a:ext cx="702975" cy="665037"/>
          </a:xfrm>
          <a:prstGeom prst="bentConnector3">
            <a:avLst>
              <a:gd name="adj1" fmla="val 2951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1" name="Mouse step 3" descr="Cursor with solid fill">
            <a:extLst>
              <a:ext uri="{FF2B5EF4-FFF2-40B4-BE49-F238E27FC236}">
                <a16:creationId xmlns:a16="http://schemas.microsoft.com/office/drawing/2014/main" id="{4B2A3DD7-691B-43F5-9CB0-ABF857D35E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75579" y="1541952"/>
            <a:ext cx="274320" cy="27432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893922E-7FE6-4E9D-BCC7-90F7AF2D136D}"/>
              </a:ext>
            </a:extLst>
          </p:cNvPr>
          <p:cNvGrpSpPr/>
          <p:nvPr/>
        </p:nvGrpSpPr>
        <p:grpSpPr>
          <a:xfrm>
            <a:off x="5636390" y="1001967"/>
            <a:ext cx="5422363" cy="653283"/>
            <a:chOff x="5636390" y="1001967"/>
            <a:chExt cx="5422363" cy="653283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9CC95A0C-3D90-4FEF-B3B6-39E92DADF5CD}"/>
                </a:ext>
              </a:extLst>
            </p:cNvPr>
            <p:cNvCxnSpPr>
              <a:cxnSpLocks/>
              <a:endCxn id="113" idx="1"/>
            </p:cNvCxnSpPr>
            <p:nvPr/>
          </p:nvCxnSpPr>
          <p:spPr>
            <a:xfrm>
              <a:off x="5636390" y="1324396"/>
              <a:ext cx="3983135" cy="737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12" name="question 4">
              <a:extLst>
                <a:ext uri="{FF2B5EF4-FFF2-40B4-BE49-F238E27FC236}">
                  <a16:creationId xmlns:a16="http://schemas.microsoft.com/office/drawing/2014/main" id="{804D1E78-C7F9-4A6B-AC40-DA038DD224F9}"/>
                </a:ext>
              </a:extLst>
            </p:cNvPr>
            <p:cNvSpPr txBox="1"/>
            <p:nvPr/>
          </p:nvSpPr>
          <p:spPr>
            <a:xfrm>
              <a:off x="6096000" y="1004989"/>
              <a:ext cx="1439228" cy="6463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Acidemia pH &lt;7.35</a:t>
              </a:r>
            </a:p>
          </p:txBody>
        </p:sp>
        <p:sp>
          <p:nvSpPr>
            <p:cNvPr id="113" name="sub-q 2">
              <a:extLst>
                <a:ext uri="{FF2B5EF4-FFF2-40B4-BE49-F238E27FC236}">
                  <a16:creationId xmlns:a16="http://schemas.microsoft.com/office/drawing/2014/main" id="{399E627D-9BB6-4A49-B2AE-062B7BBE013B}"/>
                </a:ext>
              </a:extLst>
            </p:cNvPr>
            <p:cNvSpPr txBox="1"/>
            <p:nvPr/>
          </p:nvSpPr>
          <p:spPr>
            <a:xfrm>
              <a:off x="9619525" y="1001967"/>
              <a:ext cx="1439228" cy="6463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Alkalemia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pH &gt; 7.45</a:t>
              </a:r>
            </a:p>
          </p:txBody>
        </p:sp>
        <p:sp>
          <p:nvSpPr>
            <p:cNvPr id="114" name="sub-q 1 button">
              <a:extLst>
                <a:ext uri="{FF2B5EF4-FFF2-40B4-BE49-F238E27FC236}">
                  <a16:creationId xmlns:a16="http://schemas.microsoft.com/office/drawing/2014/main" id="{EA53F61D-D463-4974-8932-B2768CA255A4}"/>
                </a:ext>
              </a:extLst>
            </p:cNvPr>
            <p:cNvSpPr txBox="1"/>
            <p:nvPr/>
          </p:nvSpPr>
          <p:spPr>
            <a:xfrm>
              <a:off x="7805543" y="1008919"/>
              <a:ext cx="1543667" cy="64633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Normal pH</a:t>
              </a:r>
            </a:p>
            <a:p>
              <a:pPr algn="ctr"/>
              <a:r>
                <a:rPr lang="en-US" dirty="0">
                  <a:solidFill>
                    <a:sysClr val="windowText" lastClr="000000"/>
                  </a:solidFill>
                </a:rPr>
                <a:t>7.35 – 7.45</a:t>
              </a:r>
            </a:p>
          </p:txBody>
        </p:sp>
      </p:grpSp>
      <p:sp>
        <p:nvSpPr>
          <p:cNvPr id="118" name="question 1">
            <a:hlinkClick r:id="rId10" action="ppaction://hlinksldjump"/>
            <a:extLst>
              <a:ext uri="{FF2B5EF4-FFF2-40B4-BE49-F238E27FC236}">
                <a16:creationId xmlns:a16="http://schemas.microsoft.com/office/drawing/2014/main" id="{A130A13E-B6ED-4844-8E30-0E40836E788C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119" name="Graphic 118" descr="Cursor with solid fill">
            <a:extLst>
              <a:ext uri="{FF2B5EF4-FFF2-40B4-BE49-F238E27FC236}">
                <a16:creationId xmlns:a16="http://schemas.microsoft.com/office/drawing/2014/main" id="{4C2AD03B-9718-41DC-9ECD-F2E46623D51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sp>
        <p:nvSpPr>
          <p:cNvPr id="131" name="TextBox 130">
            <a:extLst>
              <a:ext uri="{FF2B5EF4-FFF2-40B4-BE49-F238E27FC236}">
                <a16:creationId xmlns:a16="http://schemas.microsoft.com/office/drawing/2014/main" id="{947AF0AD-8CC9-42DB-BE40-048F4CC4F471}"/>
              </a:ext>
            </a:extLst>
          </p:cNvPr>
          <p:cNvSpPr txBox="1"/>
          <p:nvPr/>
        </p:nvSpPr>
        <p:spPr>
          <a:xfrm>
            <a:off x="6344485" y="646192"/>
            <a:ext cx="434756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i="1" dirty="0"/>
              <a:t>Use the menu on the left-hand side of the page to navigate to each page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263E6AD-9EE3-4AF4-A50D-C3194C85E96F}"/>
              </a:ext>
            </a:extLst>
          </p:cNvPr>
          <p:cNvGrpSpPr/>
          <p:nvPr/>
        </p:nvGrpSpPr>
        <p:grpSpPr>
          <a:xfrm>
            <a:off x="6021323" y="2070831"/>
            <a:ext cx="4260780" cy="454263"/>
            <a:chOff x="5197787" y="3239407"/>
            <a:chExt cx="5112304" cy="713830"/>
          </a:xfrm>
        </p:grpSpPr>
        <p:sp>
          <p:nvSpPr>
            <p:cNvPr id="38" name="Anion gap">
              <a:extLst>
                <a:ext uri="{FF2B5EF4-FFF2-40B4-BE49-F238E27FC236}">
                  <a16:creationId xmlns:a16="http://schemas.microsoft.com/office/drawing/2014/main" id="{05927B78-B78C-4E02-A46C-DC14A47A5D93}"/>
                </a:ext>
              </a:extLst>
            </p:cNvPr>
            <p:cNvSpPr/>
            <p:nvPr/>
          </p:nvSpPr>
          <p:spPr>
            <a:xfrm>
              <a:off x="5973281" y="3239407"/>
              <a:ext cx="4336810" cy="713830"/>
            </a:xfrm>
            <a:prstGeom prst="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Metabolic? Respiratory? Or both?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2709E45-1B96-46BE-8B08-74E85ACD2029}"/>
                </a:ext>
              </a:extLst>
            </p:cNvPr>
            <p:cNvCxnSpPr>
              <a:cxnSpLocks/>
              <a:stCxn id="75" idx="3"/>
              <a:endCxn id="38" idx="1"/>
            </p:cNvCxnSpPr>
            <p:nvPr/>
          </p:nvCxnSpPr>
          <p:spPr>
            <a:xfrm>
              <a:off x="5197787" y="3594010"/>
              <a:ext cx="775494" cy="2313"/>
            </a:xfrm>
            <a:prstGeom prst="lin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</p:grpSp>
      <p:sp>
        <p:nvSpPr>
          <p:cNvPr id="47" name="Cases">
            <a:hlinkClick r:id="rId11" action="ppaction://hlinksldjump"/>
            <a:extLst>
              <a:ext uri="{FF2B5EF4-FFF2-40B4-BE49-F238E27FC236}">
                <a16:creationId xmlns:a16="http://schemas.microsoft.com/office/drawing/2014/main" id="{794D7D53-F759-4F26-B2FC-25A2315D6111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48" name="Graphic 47" descr="Cursor with solid fill">
            <a:extLst>
              <a:ext uri="{FF2B5EF4-FFF2-40B4-BE49-F238E27FC236}">
                <a16:creationId xmlns:a16="http://schemas.microsoft.com/office/drawing/2014/main" id="{620C5681-C597-42B0-ACBE-7C78E60A534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69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7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4"/>
                  </p:tgtEl>
                </p:cond>
              </p:nextCondLst>
            </p:seq>
          </p:childTnLst>
        </p:cTn>
      </p:par>
    </p:tnLst>
    <p:bldLst>
      <p:bldP spid="75" grpId="0" animBg="1"/>
      <p:bldP spid="78" grpId="0" animBg="1"/>
      <p:bldP spid="78" grpId="1" animBg="1"/>
      <p:bldP spid="13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4C2F76F9-B2DB-4C82-9053-D7E142ABD13F}"/>
              </a:ext>
            </a:extLst>
          </p:cNvPr>
          <p:cNvCxnSpPr>
            <a:stCxn id="255" idx="2"/>
            <a:endCxn id="218" idx="0"/>
          </p:cNvCxnSpPr>
          <p:nvPr/>
        </p:nvCxnSpPr>
        <p:spPr>
          <a:xfrm>
            <a:off x="5873287" y="3478889"/>
            <a:ext cx="2079" cy="67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211" name="Acidemia">
            <a:extLst>
              <a:ext uri="{FF2B5EF4-FFF2-40B4-BE49-F238E27FC236}">
                <a16:creationId xmlns:a16="http://schemas.microsoft.com/office/drawing/2014/main" id="{C71A1E86-3A18-484A-A063-8C348A6CF7CB}"/>
              </a:ext>
            </a:extLst>
          </p:cNvPr>
          <p:cNvSpPr txBox="1"/>
          <p:nvPr/>
        </p:nvSpPr>
        <p:spPr>
          <a:xfrm>
            <a:off x="5903634" y="62432"/>
            <a:ext cx="2318589" cy="3693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Acidemia pH &lt; 7.35</a:t>
            </a:r>
          </a:p>
        </p:txBody>
      </p:sp>
      <p:sp>
        <p:nvSpPr>
          <p:cNvPr id="212" name="Metabolic HCO3 &lt;22">
            <a:extLst>
              <a:ext uri="{FF2B5EF4-FFF2-40B4-BE49-F238E27FC236}">
                <a16:creationId xmlns:a16="http://schemas.microsoft.com/office/drawing/2014/main" id="{1FC11383-CD22-459D-B447-D4730C54DB14}"/>
              </a:ext>
            </a:extLst>
          </p:cNvPr>
          <p:cNvSpPr txBox="1"/>
          <p:nvPr/>
        </p:nvSpPr>
        <p:spPr>
          <a:xfrm>
            <a:off x="3175912" y="563419"/>
            <a:ext cx="1634353" cy="646986"/>
          </a:xfrm>
          <a:prstGeom prst="roundRect">
            <a:avLst>
              <a:gd name="adj" fmla="val 12530"/>
            </a:avLst>
          </a:prstGeom>
          <a:ln cap="sq">
            <a:beve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Metabolic</a:t>
            </a:r>
          </a:p>
          <a:p>
            <a:pPr algn="ctr"/>
            <a:r>
              <a:rPr lang="en-US" sz="1600" dirty="0"/>
              <a:t>HCO</a:t>
            </a:r>
            <a:r>
              <a:rPr lang="en-US" sz="1600" baseline="-25000" dirty="0"/>
              <a:t>3</a:t>
            </a:r>
            <a:r>
              <a:rPr lang="en-US" sz="1600" dirty="0"/>
              <a:t> &lt; 22</a:t>
            </a:r>
          </a:p>
        </p:txBody>
      </p:sp>
      <p:sp>
        <p:nvSpPr>
          <p:cNvPr id="213" name="Respiratory pCO2 &gt; 44">
            <a:hlinkClick r:id="rId3" action="ppaction://hlinksldjump"/>
            <a:extLst>
              <a:ext uri="{FF2B5EF4-FFF2-40B4-BE49-F238E27FC236}">
                <a16:creationId xmlns:a16="http://schemas.microsoft.com/office/drawing/2014/main" id="{E6EAA948-B9A7-4070-A566-2BD1ED1BA1D5}"/>
              </a:ext>
            </a:extLst>
          </p:cNvPr>
          <p:cNvSpPr txBox="1"/>
          <p:nvPr/>
        </p:nvSpPr>
        <p:spPr>
          <a:xfrm>
            <a:off x="9243197" y="555430"/>
            <a:ext cx="1634353" cy="646986"/>
          </a:xfrm>
          <a:prstGeom prst="roundRect">
            <a:avLst>
              <a:gd name="adj" fmla="val 12530"/>
            </a:avLst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Respiratory</a:t>
            </a:r>
          </a:p>
          <a:p>
            <a:pPr algn="ctr"/>
            <a:r>
              <a:rPr lang="en-US" sz="1600" dirty="0"/>
              <a:t>pCO</a:t>
            </a:r>
            <a:r>
              <a:rPr lang="en-US" sz="1600" baseline="-25000" dirty="0"/>
              <a:t>2</a:t>
            </a:r>
            <a:r>
              <a:rPr lang="en-US" sz="1600" dirty="0"/>
              <a:t> &gt; 44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02A9105-3E42-440C-AF1F-BDEA51D657F1}"/>
              </a:ext>
            </a:extLst>
          </p:cNvPr>
          <p:cNvSpPr txBox="1"/>
          <p:nvPr/>
        </p:nvSpPr>
        <p:spPr>
          <a:xfrm>
            <a:off x="5450906" y="4150760"/>
            <a:ext cx="848919" cy="5856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18288" rIns="45720" bIns="18288" rtlCol="0">
            <a:spAutoFit/>
          </a:bodyPr>
          <a:lstStyle/>
          <a:p>
            <a:pPr algn="ctr"/>
            <a:r>
              <a:rPr lang="en-US" sz="1600" dirty="0"/>
              <a:t>Pure AGMA</a:t>
            </a:r>
          </a:p>
        </p:txBody>
      </p:sp>
      <p:sp>
        <p:nvSpPr>
          <p:cNvPr id="219" name="AGMA examples">
            <a:extLst>
              <a:ext uri="{FF2B5EF4-FFF2-40B4-BE49-F238E27FC236}">
                <a16:creationId xmlns:a16="http://schemas.microsoft.com/office/drawing/2014/main" id="{A1047A57-CF33-4241-AA36-4375AA43B59A}"/>
              </a:ext>
            </a:extLst>
          </p:cNvPr>
          <p:cNvSpPr txBox="1"/>
          <p:nvPr/>
        </p:nvSpPr>
        <p:spPr>
          <a:xfrm>
            <a:off x="4830073" y="4757249"/>
            <a:ext cx="2207525" cy="18158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</a:t>
            </a:r>
            <a:r>
              <a:rPr lang="en-US" sz="1400" dirty="0"/>
              <a:t>ethanol</a:t>
            </a:r>
          </a:p>
          <a:p>
            <a:pPr algn="ctr"/>
            <a:r>
              <a:rPr lang="en-US" sz="1400" b="1" dirty="0"/>
              <a:t>U</a:t>
            </a:r>
            <a:r>
              <a:rPr lang="en-US" sz="1400" dirty="0"/>
              <a:t>remia</a:t>
            </a:r>
          </a:p>
          <a:p>
            <a:pPr algn="ctr"/>
            <a:r>
              <a:rPr lang="en-US" sz="1400" b="1" dirty="0"/>
              <a:t>D</a:t>
            </a:r>
            <a:r>
              <a:rPr lang="en-US" sz="1400" dirty="0"/>
              <a:t>KA (or any ketoacidosis)</a:t>
            </a:r>
          </a:p>
          <a:p>
            <a:pPr algn="ctr"/>
            <a:r>
              <a:rPr lang="en-US" sz="1400" b="1" dirty="0"/>
              <a:t>P</a:t>
            </a:r>
            <a:r>
              <a:rPr lang="en-US" sz="1400" dirty="0"/>
              <a:t>araldehyde</a:t>
            </a:r>
          </a:p>
          <a:p>
            <a:pPr algn="ctr"/>
            <a:r>
              <a:rPr lang="en-US" sz="1400" b="1" dirty="0"/>
              <a:t>I</a:t>
            </a:r>
            <a:r>
              <a:rPr lang="en-US" sz="1400" dirty="0"/>
              <a:t>NH (isoniazid), </a:t>
            </a:r>
            <a:r>
              <a:rPr lang="en-US" sz="1400" b="1" dirty="0"/>
              <a:t>I</a:t>
            </a:r>
            <a:r>
              <a:rPr lang="en-US" sz="1400" dirty="0"/>
              <a:t>ron</a:t>
            </a:r>
          </a:p>
          <a:p>
            <a:pPr algn="ctr"/>
            <a:r>
              <a:rPr lang="en-US" sz="1400" b="1" dirty="0"/>
              <a:t>L</a:t>
            </a:r>
            <a:r>
              <a:rPr lang="en-US" sz="1400" dirty="0"/>
              <a:t>actic acidosis</a:t>
            </a:r>
          </a:p>
          <a:p>
            <a:pPr algn="ctr"/>
            <a:r>
              <a:rPr lang="en-US" sz="1400" b="1" dirty="0"/>
              <a:t>E</a:t>
            </a:r>
            <a:r>
              <a:rPr lang="en-US" sz="1400" dirty="0"/>
              <a:t>thylene glycol and </a:t>
            </a:r>
            <a:r>
              <a:rPr lang="en-US" sz="1400" b="1" dirty="0"/>
              <a:t>E</a:t>
            </a:r>
            <a:r>
              <a:rPr lang="en-US" sz="1400" dirty="0"/>
              <a:t>tOH</a:t>
            </a:r>
          </a:p>
          <a:p>
            <a:pPr algn="ctr"/>
            <a:r>
              <a:rPr lang="en-US" sz="1400" b="1" dirty="0"/>
              <a:t>S</a:t>
            </a:r>
            <a:r>
              <a:rPr lang="en-US" sz="1400" dirty="0"/>
              <a:t>alicylates</a:t>
            </a:r>
          </a:p>
        </p:txBody>
      </p:sp>
      <p:grpSp>
        <p:nvGrpSpPr>
          <p:cNvPr id="220" name="Mixed AGMA + metabolic alklosis">
            <a:extLst>
              <a:ext uri="{FF2B5EF4-FFF2-40B4-BE49-F238E27FC236}">
                <a16:creationId xmlns:a16="http://schemas.microsoft.com/office/drawing/2014/main" id="{988A50BB-EB0F-46D1-AC92-9A8AA07F6832}"/>
              </a:ext>
            </a:extLst>
          </p:cNvPr>
          <p:cNvGrpSpPr/>
          <p:nvPr/>
        </p:nvGrpSpPr>
        <p:grpSpPr>
          <a:xfrm>
            <a:off x="6439575" y="3811939"/>
            <a:ext cx="1011921" cy="1082551"/>
            <a:chOff x="4590943" y="3385251"/>
            <a:chExt cx="1011921" cy="1082551"/>
          </a:xfrm>
        </p:grpSpPr>
        <p:cxnSp>
          <p:nvCxnSpPr>
            <p:cNvPr id="221" name="Straight Arrow Connector 220">
              <a:extLst>
                <a:ext uri="{FF2B5EF4-FFF2-40B4-BE49-F238E27FC236}">
                  <a16:creationId xmlns:a16="http://schemas.microsoft.com/office/drawing/2014/main" id="{D8851F75-055F-4A41-8002-E8A9C7E21521}"/>
                </a:ext>
              </a:extLst>
            </p:cNvPr>
            <p:cNvCxnSpPr>
              <a:cxnSpLocks/>
            </p:cNvCxnSpPr>
            <p:nvPr/>
          </p:nvCxnSpPr>
          <p:spPr>
            <a:xfrm>
              <a:off x="5045905" y="3385251"/>
              <a:ext cx="612" cy="34388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58DE89E7-E08C-420E-8567-4A2D3F4592C2}"/>
                </a:ext>
              </a:extLst>
            </p:cNvPr>
            <p:cNvSpPr txBox="1"/>
            <p:nvPr/>
          </p:nvSpPr>
          <p:spPr>
            <a:xfrm>
              <a:off x="4590943" y="3729138"/>
              <a:ext cx="1011921" cy="738664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AGMA + metabolic alkalosis </a:t>
              </a:r>
            </a:p>
          </p:txBody>
        </p:sp>
      </p:grpSp>
      <p:grpSp>
        <p:nvGrpSpPr>
          <p:cNvPr id="223" name="Mixed AGMA + NAGMA">
            <a:extLst>
              <a:ext uri="{FF2B5EF4-FFF2-40B4-BE49-F238E27FC236}">
                <a16:creationId xmlns:a16="http://schemas.microsoft.com/office/drawing/2014/main" id="{A9A113F9-826D-4819-9157-13C6BE1E3667}"/>
              </a:ext>
            </a:extLst>
          </p:cNvPr>
          <p:cNvGrpSpPr/>
          <p:nvPr/>
        </p:nvGrpSpPr>
        <p:grpSpPr>
          <a:xfrm>
            <a:off x="4435854" y="3852736"/>
            <a:ext cx="828858" cy="828132"/>
            <a:chOff x="3457656" y="3447568"/>
            <a:chExt cx="828858" cy="828132"/>
          </a:xfrm>
        </p:grpSpPr>
        <p:cxnSp>
          <p:nvCxnSpPr>
            <p:cNvPr id="224" name="Straight Arrow Connector 223">
              <a:extLst>
                <a:ext uri="{FF2B5EF4-FFF2-40B4-BE49-F238E27FC236}">
                  <a16:creationId xmlns:a16="http://schemas.microsoft.com/office/drawing/2014/main" id="{B7503085-92DD-42E5-BC6A-788FC6787D3E}"/>
                </a:ext>
              </a:extLst>
            </p:cNvPr>
            <p:cNvCxnSpPr>
              <a:cxnSpLocks/>
              <a:endCxn id="225" idx="0"/>
            </p:cNvCxnSpPr>
            <p:nvPr/>
          </p:nvCxnSpPr>
          <p:spPr>
            <a:xfrm>
              <a:off x="3872085" y="3447568"/>
              <a:ext cx="0" cy="3049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TextBox 224">
              <a:extLst>
                <a:ext uri="{FF2B5EF4-FFF2-40B4-BE49-F238E27FC236}">
                  <a16:creationId xmlns:a16="http://schemas.microsoft.com/office/drawing/2014/main" id="{D050755A-7AE0-493B-B3D5-E6B3797F4503}"/>
                </a:ext>
              </a:extLst>
            </p:cNvPr>
            <p:cNvSpPr txBox="1"/>
            <p:nvPr/>
          </p:nvSpPr>
          <p:spPr>
            <a:xfrm>
              <a:off x="3457656" y="3752480"/>
              <a:ext cx="828858" cy="523220"/>
            </a:xfrm>
            <a:prstGeom prst="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AGMA + NAGMA</a:t>
              </a:r>
            </a:p>
          </p:txBody>
        </p:sp>
      </p:grpSp>
      <p:sp>
        <p:nvSpPr>
          <p:cNvPr id="227" name="Anion gap">
            <a:extLst>
              <a:ext uri="{FF2B5EF4-FFF2-40B4-BE49-F238E27FC236}">
                <a16:creationId xmlns:a16="http://schemas.microsoft.com/office/drawing/2014/main" id="{272020F0-A756-44C4-8AC6-DCE68262F78D}"/>
              </a:ext>
            </a:extLst>
          </p:cNvPr>
          <p:cNvSpPr txBox="1"/>
          <p:nvPr/>
        </p:nvSpPr>
        <p:spPr>
          <a:xfrm>
            <a:off x="3085664" y="1447000"/>
            <a:ext cx="1814848" cy="358200"/>
          </a:xfrm>
          <a:prstGeom prst="roundRect">
            <a:avLst>
              <a:gd name="adj" fmla="val 10903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ym typeface="Wingdings" panose="05000000000000000000" pitchFamily="2" charset="2"/>
              </a:rPr>
              <a:t> </a:t>
            </a:r>
            <a:r>
              <a:rPr lang="en-US" sz="1600" dirty="0"/>
              <a:t>Anion gap (AG)?</a:t>
            </a:r>
          </a:p>
        </p:txBody>
      </p: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FC876A30-ECF5-4F0D-9664-CE06DEEE5ED9}"/>
              </a:ext>
            </a:extLst>
          </p:cNvPr>
          <p:cNvCxnSpPr>
            <a:cxnSpLocks/>
            <a:stCxn id="212" idx="2"/>
            <a:endCxn id="227" idx="0"/>
          </p:cNvCxnSpPr>
          <p:nvPr/>
        </p:nvCxnSpPr>
        <p:spPr>
          <a:xfrm flipH="1">
            <a:off x="3993088" y="1210405"/>
            <a:ext cx="1" cy="236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1" name="TextBox 230">
            <a:extLst>
              <a:ext uri="{FF2B5EF4-FFF2-40B4-BE49-F238E27FC236}">
                <a16:creationId xmlns:a16="http://schemas.microsoft.com/office/drawing/2014/main" id="{1A1F873D-358E-4EC0-8085-1CBD4F6A1883}"/>
              </a:ext>
            </a:extLst>
          </p:cNvPr>
          <p:cNvSpPr txBox="1"/>
          <p:nvPr/>
        </p:nvSpPr>
        <p:spPr>
          <a:xfrm>
            <a:off x="4212044" y="2144554"/>
            <a:ext cx="731012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Yes</a:t>
            </a:r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22F41E30-1D80-4FB0-BA27-7AB7B6E8A8E5}"/>
              </a:ext>
            </a:extLst>
          </p:cNvPr>
          <p:cNvSpPr txBox="1"/>
          <p:nvPr/>
        </p:nvSpPr>
        <p:spPr>
          <a:xfrm>
            <a:off x="2931122" y="2151429"/>
            <a:ext cx="731012" cy="3745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</a:t>
            </a:r>
          </a:p>
        </p:txBody>
      </p:sp>
      <p:sp>
        <p:nvSpPr>
          <p:cNvPr id="236" name="TextBox 235">
            <a:extLst>
              <a:ext uri="{FF2B5EF4-FFF2-40B4-BE49-F238E27FC236}">
                <a16:creationId xmlns:a16="http://schemas.microsoft.com/office/drawing/2014/main" id="{F981CA42-01AD-49C0-AFA1-4CDF3552450C}"/>
              </a:ext>
            </a:extLst>
          </p:cNvPr>
          <p:cNvSpPr txBox="1"/>
          <p:nvPr/>
        </p:nvSpPr>
        <p:spPr>
          <a:xfrm>
            <a:off x="2221590" y="3060067"/>
            <a:ext cx="1070830" cy="340519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Urinary AG</a:t>
            </a:r>
          </a:p>
        </p:txBody>
      </p:sp>
      <p:sp>
        <p:nvSpPr>
          <p:cNvPr id="238" name="NAGMA - GI loss">
            <a:extLst>
              <a:ext uri="{FF2B5EF4-FFF2-40B4-BE49-F238E27FC236}">
                <a16:creationId xmlns:a16="http://schemas.microsoft.com/office/drawing/2014/main" id="{B0CB0045-D328-4727-BF91-326D666C2D48}"/>
              </a:ext>
            </a:extLst>
          </p:cNvPr>
          <p:cNvSpPr txBox="1"/>
          <p:nvPr/>
        </p:nvSpPr>
        <p:spPr>
          <a:xfrm>
            <a:off x="1489582" y="4911768"/>
            <a:ext cx="1281330" cy="5232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Diarrhea</a:t>
            </a:r>
          </a:p>
          <a:p>
            <a:pPr algn="ctr"/>
            <a:r>
              <a:rPr lang="en-US" sz="1400" dirty="0"/>
              <a:t>Ileostomy</a:t>
            </a:r>
          </a:p>
        </p:txBody>
      </p:sp>
      <p:grpSp>
        <p:nvGrpSpPr>
          <p:cNvPr id="243" name="NeGUTive">
            <a:extLst>
              <a:ext uri="{FF2B5EF4-FFF2-40B4-BE49-F238E27FC236}">
                <a16:creationId xmlns:a16="http://schemas.microsoft.com/office/drawing/2014/main" id="{170B6876-4EC1-48C3-8D90-7CBA393A9E25}"/>
              </a:ext>
            </a:extLst>
          </p:cNvPr>
          <p:cNvGrpSpPr/>
          <p:nvPr/>
        </p:nvGrpSpPr>
        <p:grpSpPr>
          <a:xfrm>
            <a:off x="1622857" y="3627027"/>
            <a:ext cx="1053005" cy="1268039"/>
            <a:chOff x="427500" y="3600314"/>
            <a:chExt cx="1053005" cy="1268039"/>
          </a:xfrm>
        </p:grpSpPr>
        <p:sp>
          <p:nvSpPr>
            <p:cNvPr id="244" name="TextBox 243">
              <a:extLst>
                <a:ext uri="{FF2B5EF4-FFF2-40B4-BE49-F238E27FC236}">
                  <a16:creationId xmlns:a16="http://schemas.microsoft.com/office/drawing/2014/main" id="{91378A83-87F9-4DFC-A3EC-9C5EB3A72703}"/>
                </a:ext>
              </a:extLst>
            </p:cNvPr>
            <p:cNvSpPr txBox="1"/>
            <p:nvPr/>
          </p:nvSpPr>
          <p:spPr>
            <a:xfrm>
              <a:off x="427500" y="3600314"/>
              <a:ext cx="1053005" cy="1268039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400" dirty="0" err="1"/>
                <a:t>Ne</a:t>
              </a:r>
              <a:r>
                <a:rPr lang="en-US" sz="1400" i="1" dirty="0" err="1"/>
                <a:t>GUT</a:t>
              </a:r>
              <a:r>
                <a:rPr lang="en-US" sz="1400" dirty="0" err="1"/>
                <a:t>ive</a:t>
              </a:r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endParaRPr lang="en-US" sz="1400" dirty="0"/>
            </a:p>
            <a:p>
              <a:pPr algn="ctr"/>
              <a:r>
                <a:rPr lang="en-US" sz="1200" dirty="0"/>
                <a:t>GI loss of HCO</a:t>
              </a:r>
              <a:r>
                <a:rPr lang="en-US" sz="1200" baseline="-25000" dirty="0"/>
                <a:t>3</a:t>
              </a:r>
              <a:r>
                <a:rPr lang="en-US" sz="1200" baseline="30000" dirty="0"/>
                <a:t>-</a:t>
              </a:r>
              <a:endParaRPr lang="en-US" sz="1200" dirty="0"/>
            </a:p>
          </p:txBody>
        </p:sp>
        <p:sp>
          <p:nvSpPr>
            <p:cNvPr id="245" name="GI tract">
              <a:extLst>
                <a:ext uri="{FF2B5EF4-FFF2-40B4-BE49-F238E27FC236}">
                  <a16:creationId xmlns:a16="http://schemas.microsoft.com/office/drawing/2014/main" id="{4D2D1218-A5C8-4C95-BD94-B678AD151021}"/>
                </a:ext>
              </a:extLst>
            </p:cNvPr>
            <p:cNvSpPr/>
            <p:nvPr/>
          </p:nvSpPr>
          <p:spPr>
            <a:xfrm>
              <a:off x="587059" y="3907490"/>
              <a:ext cx="726441" cy="568763"/>
            </a:xfrm>
            <a:custGeom>
              <a:avLst/>
              <a:gdLst>
                <a:gd name="connsiteX0" fmla="*/ 206496 w 1299828"/>
                <a:gd name="connsiteY0" fmla="*/ 1068475 h 1276136"/>
                <a:gd name="connsiteX1" fmla="*/ 103626 w 1299828"/>
                <a:gd name="connsiteY1" fmla="*/ 1037995 h 1276136"/>
                <a:gd name="connsiteX2" fmla="*/ 8457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206496 w 1299828"/>
                <a:gd name="connsiteY79" fmla="*/ 1068475 h 1276136"/>
                <a:gd name="connsiteX0" fmla="*/ 145536 w 1299828"/>
                <a:gd name="connsiteY0" fmla="*/ 1121815 h 1276136"/>
                <a:gd name="connsiteX1" fmla="*/ 103626 w 1299828"/>
                <a:gd name="connsiteY1" fmla="*/ 1037995 h 1276136"/>
                <a:gd name="connsiteX2" fmla="*/ 8457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8457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107436 w 1299828"/>
                <a:gd name="connsiteY3" fmla="*/ 89321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48406 w 1299828"/>
                <a:gd name="connsiteY75" fmla="*/ 86654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6745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4096 w 1299828"/>
                <a:gd name="connsiteY5" fmla="*/ 72557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07536 w 1299828"/>
                <a:gd name="connsiteY52" fmla="*/ 87416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50386 w 1299828"/>
                <a:gd name="connsiteY51" fmla="*/ 961795 h 1276136"/>
                <a:gd name="connsiteX52" fmla="*/ 945636 w 1299828"/>
                <a:gd name="connsiteY52" fmla="*/ 85130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45636 w 1299828"/>
                <a:gd name="connsiteY52" fmla="*/ 851305 h 1276136"/>
                <a:gd name="connsiteX53" fmla="*/ 1067556 w 1299828"/>
                <a:gd name="connsiteY53" fmla="*/ 900835 h 1276136"/>
                <a:gd name="connsiteX54" fmla="*/ 1075176 w 1299828"/>
                <a:gd name="connsiteY54" fmla="*/ 855115 h 1276136"/>
                <a:gd name="connsiteX55" fmla="*/ 1056126 w 1299828"/>
                <a:gd name="connsiteY55" fmla="*/ 748435 h 1276136"/>
                <a:gd name="connsiteX56" fmla="*/ 1101846 w 1299828"/>
                <a:gd name="connsiteY56" fmla="*/ 676045 h 1276136"/>
                <a:gd name="connsiteX57" fmla="*/ 1052316 w 1299828"/>
                <a:gd name="connsiteY57" fmla="*/ 607465 h 1276136"/>
                <a:gd name="connsiteX58" fmla="*/ 1086606 w 1299828"/>
                <a:gd name="connsiteY58" fmla="*/ 466495 h 1276136"/>
                <a:gd name="connsiteX59" fmla="*/ 1056126 w 1299828"/>
                <a:gd name="connsiteY59" fmla="*/ 394105 h 1276136"/>
                <a:gd name="connsiteX60" fmla="*/ 1082796 w 1299828"/>
                <a:gd name="connsiteY60" fmla="*/ 283615 h 1276136"/>
                <a:gd name="connsiteX61" fmla="*/ 1067556 w 1299828"/>
                <a:gd name="connsiteY61" fmla="*/ 211225 h 1276136"/>
                <a:gd name="connsiteX62" fmla="*/ 960876 w 1299828"/>
                <a:gd name="connsiteY62" fmla="*/ 230275 h 1276136"/>
                <a:gd name="connsiteX63" fmla="*/ 842766 w 1299828"/>
                <a:gd name="connsiteY63" fmla="*/ 207415 h 1276136"/>
                <a:gd name="connsiteX64" fmla="*/ 720846 w 1299828"/>
                <a:gd name="connsiteY64" fmla="*/ 230275 h 1276136"/>
                <a:gd name="connsiteX65" fmla="*/ 614166 w 1299828"/>
                <a:gd name="connsiteY65" fmla="*/ 207415 h 1276136"/>
                <a:gd name="connsiteX66" fmla="*/ 435096 w 1299828"/>
                <a:gd name="connsiteY66" fmla="*/ 249325 h 1276136"/>
                <a:gd name="connsiteX67" fmla="*/ 358896 w 1299828"/>
                <a:gd name="connsiteY67" fmla="*/ 218845 h 1276136"/>
                <a:gd name="connsiteX68" fmla="*/ 290316 w 1299828"/>
                <a:gd name="connsiteY68" fmla="*/ 279805 h 1276136"/>
                <a:gd name="connsiteX69" fmla="*/ 210306 w 1299828"/>
                <a:gd name="connsiteY69" fmla="*/ 260755 h 1276136"/>
                <a:gd name="connsiteX70" fmla="*/ 252216 w 1299828"/>
                <a:gd name="connsiteY70" fmla="*/ 333145 h 1276136"/>
                <a:gd name="connsiteX71" fmla="*/ 195066 w 1299828"/>
                <a:gd name="connsiteY71" fmla="*/ 451255 h 1276136"/>
                <a:gd name="connsiteX72" fmla="*/ 240786 w 1299828"/>
                <a:gd name="connsiteY72" fmla="*/ 542695 h 1276136"/>
                <a:gd name="connsiteX73" fmla="*/ 233166 w 1299828"/>
                <a:gd name="connsiteY73" fmla="*/ 656995 h 1276136"/>
                <a:gd name="connsiteX74" fmla="*/ 290316 w 1299828"/>
                <a:gd name="connsiteY74" fmla="*/ 771295 h 1276136"/>
                <a:gd name="connsiteX75" fmla="*/ 282696 w 1299828"/>
                <a:gd name="connsiteY75" fmla="*/ 858925 h 1276136"/>
                <a:gd name="connsiteX76" fmla="*/ 351276 w 1299828"/>
                <a:gd name="connsiteY76" fmla="*/ 897025 h 1276136"/>
                <a:gd name="connsiteX77" fmla="*/ 393186 w 1299828"/>
                <a:gd name="connsiteY77" fmla="*/ 1007515 h 1276136"/>
                <a:gd name="connsiteX78" fmla="*/ 259836 w 1299828"/>
                <a:gd name="connsiteY78" fmla="*/ 1121815 h 1276136"/>
                <a:gd name="connsiteX79" fmla="*/ 145536 w 1299828"/>
                <a:gd name="connsiteY79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45636 w 1299828"/>
                <a:gd name="connsiteY52" fmla="*/ 851305 h 1276136"/>
                <a:gd name="connsiteX53" fmla="*/ 968496 w 1299828"/>
                <a:gd name="connsiteY53" fmla="*/ 87797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68496 w 1299828"/>
                <a:gd name="connsiteY53" fmla="*/ 87797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9926 w 1299828"/>
                <a:gd name="connsiteY44" fmla="*/ 105704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72285 h 1276136"/>
                <a:gd name="connsiteX44" fmla="*/ 976116 w 1299828"/>
                <a:gd name="connsiteY44" fmla="*/ 109133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41805 h 1276136"/>
                <a:gd name="connsiteX44" fmla="*/ 976116 w 1299828"/>
                <a:gd name="connsiteY44" fmla="*/ 109133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05656 w 1299828"/>
                <a:gd name="connsiteY43" fmla="*/ 104180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08526 w 1299828"/>
                <a:gd name="connsiteY41" fmla="*/ 88940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10184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52316 w 1299828"/>
                <a:gd name="connsiteY58" fmla="*/ 60746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3326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3509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614166 w 1299828"/>
                <a:gd name="connsiteY66" fmla="*/ 20741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720846 w 1299828"/>
                <a:gd name="connsiteY65" fmla="*/ 23027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42766 w 1299828"/>
                <a:gd name="connsiteY64" fmla="*/ 20741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60876 w 1299828"/>
                <a:gd name="connsiteY63" fmla="*/ 23027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21122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290316 w 1299828"/>
                <a:gd name="connsiteY69" fmla="*/ 27980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54146 w 1299828"/>
                <a:gd name="connsiteY67" fmla="*/ 24932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6066 w 1299828"/>
                <a:gd name="connsiteY66" fmla="*/ 195985 h 1276136"/>
                <a:gd name="connsiteX67" fmla="*/ 480816 w 1299828"/>
                <a:gd name="connsiteY67" fmla="*/ 20741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2256 w 1299828"/>
                <a:gd name="connsiteY66" fmla="*/ 173125 h 1276136"/>
                <a:gd name="connsiteX67" fmla="*/ 480816 w 1299828"/>
                <a:gd name="connsiteY67" fmla="*/ 20741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34156 w 1299828"/>
                <a:gd name="connsiteY21" fmla="*/ 5501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2256 w 1299828"/>
                <a:gd name="connsiteY66" fmla="*/ 173125 h 1276136"/>
                <a:gd name="connsiteX67" fmla="*/ 465576 w 1299828"/>
                <a:gd name="connsiteY67" fmla="*/ 21503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1815 h 1276136"/>
                <a:gd name="connsiteX1" fmla="*/ 57906 w 1299828"/>
                <a:gd name="connsiteY1" fmla="*/ 1034185 h 1276136"/>
                <a:gd name="connsiteX2" fmla="*/ 69336 w 1299828"/>
                <a:gd name="connsiteY2" fmla="*/ 938935 h 1276136"/>
                <a:gd name="connsiteX3" fmla="*/ 84576 w 1299828"/>
                <a:gd name="connsiteY3" fmla="*/ 885595 h 1276136"/>
                <a:gd name="connsiteX4" fmla="*/ 54096 w 1299828"/>
                <a:gd name="connsiteY4" fmla="*/ 836065 h 1276136"/>
                <a:gd name="connsiteX5" fmla="*/ 50286 w 1299828"/>
                <a:gd name="connsiteY5" fmla="*/ 714145 h 1276136"/>
                <a:gd name="connsiteX6" fmla="*/ 73146 w 1299828"/>
                <a:gd name="connsiteY6" fmla="*/ 687475 h 1276136"/>
                <a:gd name="connsiteX7" fmla="*/ 46476 w 1299828"/>
                <a:gd name="connsiteY7" fmla="*/ 668425 h 1276136"/>
                <a:gd name="connsiteX8" fmla="*/ 15996 w 1299828"/>
                <a:gd name="connsiteY8" fmla="*/ 596035 h 1276136"/>
                <a:gd name="connsiteX9" fmla="*/ 27426 w 1299828"/>
                <a:gd name="connsiteY9" fmla="*/ 527455 h 1276136"/>
                <a:gd name="connsiteX10" fmla="*/ 38856 w 1299828"/>
                <a:gd name="connsiteY10" fmla="*/ 485545 h 1276136"/>
                <a:gd name="connsiteX11" fmla="*/ 756 w 1299828"/>
                <a:gd name="connsiteY11" fmla="*/ 409345 h 1276136"/>
                <a:gd name="connsiteX12" fmla="*/ 15996 w 1299828"/>
                <a:gd name="connsiteY12" fmla="*/ 336955 h 1276136"/>
                <a:gd name="connsiteX13" fmla="*/ 46476 w 1299828"/>
                <a:gd name="connsiteY13" fmla="*/ 275995 h 1276136"/>
                <a:gd name="connsiteX14" fmla="*/ 35046 w 1299828"/>
                <a:gd name="connsiteY14" fmla="*/ 188365 h 1276136"/>
                <a:gd name="connsiteX15" fmla="*/ 76956 w 1299828"/>
                <a:gd name="connsiteY15" fmla="*/ 89305 h 1276136"/>
                <a:gd name="connsiteX16" fmla="*/ 153156 w 1299828"/>
                <a:gd name="connsiteY16" fmla="*/ 66445 h 1276136"/>
                <a:gd name="connsiteX17" fmla="*/ 240786 w 1299828"/>
                <a:gd name="connsiteY17" fmla="*/ 100735 h 1276136"/>
                <a:gd name="connsiteX18" fmla="*/ 309366 w 1299828"/>
                <a:gd name="connsiteY18" fmla="*/ 35965 h 1276136"/>
                <a:gd name="connsiteX19" fmla="*/ 438906 w 1299828"/>
                <a:gd name="connsiteY19" fmla="*/ 20725 h 1276136"/>
                <a:gd name="connsiteX20" fmla="*/ 480816 w 1299828"/>
                <a:gd name="connsiteY20" fmla="*/ 47395 h 1276136"/>
                <a:gd name="connsiteX21" fmla="*/ 545586 w 1299828"/>
                <a:gd name="connsiteY21" fmla="*/ 24535 h 1276136"/>
                <a:gd name="connsiteX22" fmla="*/ 663696 w 1299828"/>
                <a:gd name="connsiteY22" fmla="*/ 13105 h 1276136"/>
                <a:gd name="connsiteX23" fmla="*/ 785616 w 1299828"/>
                <a:gd name="connsiteY23" fmla="*/ 43585 h 1276136"/>
                <a:gd name="connsiteX24" fmla="*/ 819906 w 1299828"/>
                <a:gd name="connsiteY24" fmla="*/ 39775 h 1276136"/>
                <a:gd name="connsiteX25" fmla="*/ 938016 w 1299828"/>
                <a:gd name="connsiteY25" fmla="*/ 1675 h 1276136"/>
                <a:gd name="connsiteX26" fmla="*/ 987546 w 1299828"/>
                <a:gd name="connsiteY26" fmla="*/ 9295 h 1276136"/>
                <a:gd name="connsiteX27" fmla="*/ 1052316 w 1299828"/>
                <a:gd name="connsiteY27" fmla="*/ 32155 h 1276136"/>
                <a:gd name="connsiteX28" fmla="*/ 1124706 w 1299828"/>
                <a:gd name="connsiteY28" fmla="*/ 5485 h 1276136"/>
                <a:gd name="connsiteX29" fmla="*/ 1181856 w 1299828"/>
                <a:gd name="connsiteY29" fmla="*/ 16915 h 1276136"/>
                <a:gd name="connsiteX30" fmla="*/ 1273296 w 1299828"/>
                <a:gd name="connsiteY30" fmla="*/ 81685 h 1276136"/>
                <a:gd name="connsiteX31" fmla="*/ 1265676 w 1299828"/>
                <a:gd name="connsiteY31" fmla="*/ 207415 h 1276136"/>
                <a:gd name="connsiteX32" fmla="*/ 1246626 w 1299828"/>
                <a:gd name="connsiteY32" fmla="*/ 237895 h 1276136"/>
                <a:gd name="connsiteX33" fmla="*/ 1296156 w 1299828"/>
                <a:gd name="connsiteY33" fmla="*/ 317905 h 1276136"/>
                <a:gd name="connsiteX34" fmla="*/ 1292346 w 1299828"/>
                <a:gd name="connsiteY34" fmla="*/ 424585 h 1276136"/>
                <a:gd name="connsiteX35" fmla="*/ 1261866 w 1299828"/>
                <a:gd name="connsiteY35" fmla="*/ 447445 h 1276136"/>
                <a:gd name="connsiteX36" fmla="*/ 1277106 w 1299828"/>
                <a:gd name="connsiteY36" fmla="*/ 527455 h 1276136"/>
                <a:gd name="connsiteX37" fmla="*/ 1284726 w 1299828"/>
                <a:gd name="connsiteY37" fmla="*/ 596035 h 1276136"/>
                <a:gd name="connsiteX38" fmla="*/ 1235196 w 1299828"/>
                <a:gd name="connsiteY38" fmla="*/ 668425 h 1276136"/>
                <a:gd name="connsiteX39" fmla="*/ 1261866 w 1299828"/>
                <a:gd name="connsiteY39" fmla="*/ 775105 h 1276136"/>
                <a:gd name="connsiteX40" fmla="*/ 1258056 w 1299828"/>
                <a:gd name="connsiteY40" fmla="*/ 847495 h 1276136"/>
                <a:gd name="connsiteX41" fmla="*/ 1227576 w 1299828"/>
                <a:gd name="connsiteY41" fmla="*/ 916075 h 1276136"/>
                <a:gd name="connsiteX42" fmla="*/ 1250436 w 1299828"/>
                <a:gd name="connsiteY42" fmla="*/ 1003705 h 1276136"/>
                <a:gd name="connsiteX43" fmla="*/ 1124706 w 1299828"/>
                <a:gd name="connsiteY43" fmla="*/ 1083715 h 1276136"/>
                <a:gd name="connsiteX44" fmla="*/ 998976 w 1299828"/>
                <a:gd name="connsiteY44" fmla="*/ 1102765 h 1276136"/>
                <a:gd name="connsiteX45" fmla="*/ 888486 w 1299828"/>
                <a:gd name="connsiteY45" fmla="*/ 1083715 h 1276136"/>
                <a:gd name="connsiteX46" fmla="*/ 892296 w 1299828"/>
                <a:gd name="connsiteY46" fmla="*/ 1182775 h 1276136"/>
                <a:gd name="connsiteX47" fmla="*/ 835146 w 1299828"/>
                <a:gd name="connsiteY47" fmla="*/ 1247545 h 1276136"/>
                <a:gd name="connsiteX48" fmla="*/ 697986 w 1299828"/>
                <a:gd name="connsiteY48" fmla="*/ 1270405 h 1276136"/>
                <a:gd name="connsiteX49" fmla="*/ 637026 w 1299828"/>
                <a:gd name="connsiteY49" fmla="*/ 1144675 h 1276136"/>
                <a:gd name="connsiteX50" fmla="*/ 682746 w 1299828"/>
                <a:gd name="connsiteY50" fmla="*/ 988465 h 1276136"/>
                <a:gd name="connsiteX51" fmla="*/ 816096 w 1299828"/>
                <a:gd name="connsiteY51" fmla="*/ 942745 h 1276136"/>
                <a:gd name="connsiteX52" fmla="*/ 922776 w 1299828"/>
                <a:gd name="connsiteY52" fmla="*/ 870355 h 1276136"/>
                <a:gd name="connsiteX53" fmla="*/ 972306 w 1299828"/>
                <a:gd name="connsiteY53" fmla="*/ 858925 h 1276136"/>
                <a:gd name="connsiteX54" fmla="*/ 1067556 w 1299828"/>
                <a:gd name="connsiteY54" fmla="*/ 900835 h 1276136"/>
                <a:gd name="connsiteX55" fmla="*/ 1075176 w 1299828"/>
                <a:gd name="connsiteY55" fmla="*/ 855115 h 1276136"/>
                <a:gd name="connsiteX56" fmla="*/ 1056126 w 1299828"/>
                <a:gd name="connsiteY56" fmla="*/ 748435 h 1276136"/>
                <a:gd name="connsiteX57" fmla="*/ 1075176 w 1299828"/>
                <a:gd name="connsiteY57" fmla="*/ 676045 h 1276136"/>
                <a:gd name="connsiteX58" fmla="*/ 1048506 w 1299828"/>
                <a:gd name="connsiteY58" fmla="*/ 554125 h 1276136"/>
                <a:gd name="connsiteX59" fmla="*/ 1086606 w 1299828"/>
                <a:gd name="connsiteY59" fmla="*/ 466495 h 1276136"/>
                <a:gd name="connsiteX60" fmla="*/ 1056126 w 1299828"/>
                <a:gd name="connsiteY60" fmla="*/ 394105 h 1276136"/>
                <a:gd name="connsiteX61" fmla="*/ 1082796 w 1299828"/>
                <a:gd name="connsiteY61" fmla="*/ 283615 h 1276136"/>
                <a:gd name="connsiteX62" fmla="*/ 1067556 w 1299828"/>
                <a:gd name="connsiteY62" fmla="*/ 195985 h 1276136"/>
                <a:gd name="connsiteX63" fmla="*/ 953256 w 1299828"/>
                <a:gd name="connsiteY63" fmla="*/ 207415 h 1276136"/>
                <a:gd name="connsiteX64" fmla="*/ 827526 w 1299828"/>
                <a:gd name="connsiteY64" fmla="*/ 195985 h 1276136"/>
                <a:gd name="connsiteX65" fmla="*/ 690366 w 1299828"/>
                <a:gd name="connsiteY65" fmla="*/ 211225 h 1276136"/>
                <a:gd name="connsiteX66" fmla="*/ 572256 w 1299828"/>
                <a:gd name="connsiteY66" fmla="*/ 173125 h 1276136"/>
                <a:gd name="connsiteX67" fmla="*/ 465576 w 1299828"/>
                <a:gd name="connsiteY67" fmla="*/ 215035 h 1276136"/>
                <a:gd name="connsiteX68" fmla="*/ 358896 w 1299828"/>
                <a:gd name="connsiteY68" fmla="*/ 218845 h 1276136"/>
                <a:gd name="connsiteX69" fmla="*/ 305556 w 1299828"/>
                <a:gd name="connsiteY69" fmla="*/ 260755 h 1276136"/>
                <a:gd name="connsiteX70" fmla="*/ 210306 w 1299828"/>
                <a:gd name="connsiteY70" fmla="*/ 260755 h 1276136"/>
                <a:gd name="connsiteX71" fmla="*/ 252216 w 1299828"/>
                <a:gd name="connsiteY71" fmla="*/ 333145 h 1276136"/>
                <a:gd name="connsiteX72" fmla="*/ 195066 w 1299828"/>
                <a:gd name="connsiteY72" fmla="*/ 451255 h 1276136"/>
                <a:gd name="connsiteX73" fmla="*/ 240786 w 1299828"/>
                <a:gd name="connsiteY73" fmla="*/ 542695 h 1276136"/>
                <a:gd name="connsiteX74" fmla="*/ 233166 w 1299828"/>
                <a:gd name="connsiteY74" fmla="*/ 656995 h 1276136"/>
                <a:gd name="connsiteX75" fmla="*/ 290316 w 1299828"/>
                <a:gd name="connsiteY75" fmla="*/ 771295 h 1276136"/>
                <a:gd name="connsiteX76" fmla="*/ 282696 w 1299828"/>
                <a:gd name="connsiteY76" fmla="*/ 858925 h 1276136"/>
                <a:gd name="connsiteX77" fmla="*/ 351276 w 1299828"/>
                <a:gd name="connsiteY77" fmla="*/ 897025 h 1276136"/>
                <a:gd name="connsiteX78" fmla="*/ 393186 w 1299828"/>
                <a:gd name="connsiteY78" fmla="*/ 1007515 h 1276136"/>
                <a:gd name="connsiteX79" fmla="*/ 259836 w 1299828"/>
                <a:gd name="connsiteY79" fmla="*/ 1121815 h 1276136"/>
                <a:gd name="connsiteX80" fmla="*/ 145536 w 1299828"/>
                <a:gd name="connsiteY80" fmla="*/ 1121815 h 1276136"/>
                <a:gd name="connsiteX0" fmla="*/ 145536 w 1299828"/>
                <a:gd name="connsiteY0" fmla="*/ 1124266 h 1278587"/>
                <a:gd name="connsiteX1" fmla="*/ 57906 w 1299828"/>
                <a:gd name="connsiteY1" fmla="*/ 1036636 h 1278587"/>
                <a:gd name="connsiteX2" fmla="*/ 69336 w 1299828"/>
                <a:gd name="connsiteY2" fmla="*/ 941386 h 1278587"/>
                <a:gd name="connsiteX3" fmla="*/ 84576 w 1299828"/>
                <a:gd name="connsiteY3" fmla="*/ 888046 h 1278587"/>
                <a:gd name="connsiteX4" fmla="*/ 54096 w 1299828"/>
                <a:gd name="connsiteY4" fmla="*/ 838516 h 1278587"/>
                <a:gd name="connsiteX5" fmla="*/ 50286 w 1299828"/>
                <a:gd name="connsiteY5" fmla="*/ 716596 h 1278587"/>
                <a:gd name="connsiteX6" fmla="*/ 73146 w 1299828"/>
                <a:gd name="connsiteY6" fmla="*/ 689926 h 1278587"/>
                <a:gd name="connsiteX7" fmla="*/ 46476 w 1299828"/>
                <a:gd name="connsiteY7" fmla="*/ 670876 h 1278587"/>
                <a:gd name="connsiteX8" fmla="*/ 15996 w 1299828"/>
                <a:gd name="connsiteY8" fmla="*/ 598486 h 1278587"/>
                <a:gd name="connsiteX9" fmla="*/ 27426 w 1299828"/>
                <a:gd name="connsiteY9" fmla="*/ 529906 h 1278587"/>
                <a:gd name="connsiteX10" fmla="*/ 38856 w 1299828"/>
                <a:gd name="connsiteY10" fmla="*/ 487996 h 1278587"/>
                <a:gd name="connsiteX11" fmla="*/ 756 w 1299828"/>
                <a:gd name="connsiteY11" fmla="*/ 411796 h 1278587"/>
                <a:gd name="connsiteX12" fmla="*/ 15996 w 1299828"/>
                <a:gd name="connsiteY12" fmla="*/ 339406 h 1278587"/>
                <a:gd name="connsiteX13" fmla="*/ 46476 w 1299828"/>
                <a:gd name="connsiteY13" fmla="*/ 278446 h 1278587"/>
                <a:gd name="connsiteX14" fmla="*/ 35046 w 1299828"/>
                <a:gd name="connsiteY14" fmla="*/ 190816 h 1278587"/>
                <a:gd name="connsiteX15" fmla="*/ 76956 w 1299828"/>
                <a:gd name="connsiteY15" fmla="*/ 91756 h 1278587"/>
                <a:gd name="connsiteX16" fmla="*/ 153156 w 1299828"/>
                <a:gd name="connsiteY16" fmla="*/ 68896 h 1278587"/>
                <a:gd name="connsiteX17" fmla="*/ 240786 w 1299828"/>
                <a:gd name="connsiteY17" fmla="*/ 103186 h 1278587"/>
                <a:gd name="connsiteX18" fmla="*/ 309366 w 1299828"/>
                <a:gd name="connsiteY18" fmla="*/ 38416 h 1278587"/>
                <a:gd name="connsiteX19" fmla="*/ 438906 w 1299828"/>
                <a:gd name="connsiteY19" fmla="*/ 23176 h 1278587"/>
                <a:gd name="connsiteX20" fmla="*/ 480816 w 1299828"/>
                <a:gd name="connsiteY20" fmla="*/ 49846 h 1278587"/>
                <a:gd name="connsiteX21" fmla="*/ 545586 w 1299828"/>
                <a:gd name="connsiteY21" fmla="*/ 26986 h 1278587"/>
                <a:gd name="connsiteX22" fmla="*/ 690366 w 1299828"/>
                <a:gd name="connsiteY22" fmla="*/ 316 h 1278587"/>
                <a:gd name="connsiteX23" fmla="*/ 785616 w 1299828"/>
                <a:gd name="connsiteY23" fmla="*/ 46036 h 1278587"/>
                <a:gd name="connsiteX24" fmla="*/ 819906 w 1299828"/>
                <a:gd name="connsiteY24" fmla="*/ 42226 h 1278587"/>
                <a:gd name="connsiteX25" fmla="*/ 938016 w 1299828"/>
                <a:gd name="connsiteY25" fmla="*/ 4126 h 1278587"/>
                <a:gd name="connsiteX26" fmla="*/ 987546 w 1299828"/>
                <a:gd name="connsiteY26" fmla="*/ 11746 h 1278587"/>
                <a:gd name="connsiteX27" fmla="*/ 1052316 w 1299828"/>
                <a:gd name="connsiteY27" fmla="*/ 34606 h 1278587"/>
                <a:gd name="connsiteX28" fmla="*/ 1124706 w 1299828"/>
                <a:gd name="connsiteY28" fmla="*/ 7936 h 1278587"/>
                <a:gd name="connsiteX29" fmla="*/ 1181856 w 1299828"/>
                <a:gd name="connsiteY29" fmla="*/ 19366 h 1278587"/>
                <a:gd name="connsiteX30" fmla="*/ 1273296 w 1299828"/>
                <a:gd name="connsiteY30" fmla="*/ 84136 h 1278587"/>
                <a:gd name="connsiteX31" fmla="*/ 1265676 w 1299828"/>
                <a:gd name="connsiteY31" fmla="*/ 209866 h 1278587"/>
                <a:gd name="connsiteX32" fmla="*/ 1246626 w 1299828"/>
                <a:gd name="connsiteY32" fmla="*/ 240346 h 1278587"/>
                <a:gd name="connsiteX33" fmla="*/ 1296156 w 1299828"/>
                <a:gd name="connsiteY33" fmla="*/ 320356 h 1278587"/>
                <a:gd name="connsiteX34" fmla="*/ 1292346 w 1299828"/>
                <a:gd name="connsiteY34" fmla="*/ 427036 h 1278587"/>
                <a:gd name="connsiteX35" fmla="*/ 1261866 w 1299828"/>
                <a:gd name="connsiteY35" fmla="*/ 449896 h 1278587"/>
                <a:gd name="connsiteX36" fmla="*/ 1277106 w 1299828"/>
                <a:gd name="connsiteY36" fmla="*/ 529906 h 1278587"/>
                <a:gd name="connsiteX37" fmla="*/ 1284726 w 1299828"/>
                <a:gd name="connsiteY37" fmla="*/ 598486 h 1278587"/>
                <a:gd name="connsiteX38" fmla="*/ 1235196 w 1299828"/>
                <a:gd name="connsiteY38" fmla="*/ 670876 h 1278587"/>
                <a:gd name="connsiteX39" fmla="*/ 1261866 w 1299828"/>
                <a:gd name="connsiteY39" fmla="*/ 777556 h 1278587"/>
                <a:gd name="connsiteX40" fmla="*/ 1258056 w 1299828"/>
                <a:gd name="connsiteY40" fmla="*/ 849946 h 1278587"/>
                <a:gd name="connsiteX41" fmla="*/ 1227576 w 1299828"/>
                <a:gd name="connsiteY41" fmla="*/ 918526 h 1278587"/>
                <a:gd name="connsiteX42" fmla="*/ 1250436 w 1299828"/>
                <a:gd name="connsiteY42" fmla="*/ 1006156 h 1278587"/>
                <a:gd name="connsiteX43" fmla="*/ 1124706 w 1299828"/>
                <a:gd name="connsiteY43" fmla="*/ 1086166 h 1278587"/>
                <a:gd name="connsiteX44" fmla="*/ 998976 w 1299828"/>
                <a:gd name="connsiteY44" fmla="*/ 1105216 h 1278587"/>
                <a:gd name="connsiteX45" fmla="*/ 888486 w 1299828"/>
                <a:gd name="connsiteY45" fmla="*/ 1086166 h 1278587"/>
                <a:gd name="connsiteX46" fmla="*/ 892296 w 1299828"/>
                <a:gd name="connsiteY46" fmla="*/ 1185226 h 1278587"/>
                <a:gd name="connsiteX47" fmla="*/ 835146 w 1299828"/>
                <a:gd name="connsiteY47" fmla="*/ 1249996 h 1278587"/>
                <a:gd name="connsiteX48" fmla="*/ 697986 w 1299828"/>
                <a:gd name="connsiteY48" fmla="*/ 1272856 h 1278587"/>
                <a:gd name="connsiteX49" fmla="*/ 637026 w 1299828"/>
                <a:gd name="connsiteY49" fmla="*/ 1147126 h 1278587"/>
                <a:gd name="connsiteX50" fmla="*/ 682746 w 1299828"/>
                <a:gd name="connsiteY50" fmla="*/ 990916 h 1278587"/>
                <a:gd name="connsiteX51" fmla="*/ 816096 w 1299828"/>
                <a:gd name="connsiteY51" fmla="*/ 945196 h 1278587"/>
                <a:gd name="connsiteX52" fmla="*/ 922776 w 1299828"/>
                <a:gd name="connsiteY52" fmla="*/ 872806 h 1278587"/>
                <a:gd name="connsiteX53" fmla="*/ 972306 w 1299828"/>
                <a:gd name="connsiteY53" fmla="*/ 861376 h 1278587"/>
                <a:gd name="connsiteX54" fmla="*/ 1067556 w 1299828"/>
                <a:gd name="connsiteY54" fmla="*/ 903286 h 1278587"/>
                <a:gd name="connsiteX55" fmla="*/ 1075176 w 1299828"/>
                <a:gd name="connsiteY55" fmla="*/ 857566 h 1278587"/>
                <a:gd name="connsiteX56" fmla="*/ 1056126 w 1299828"/>
                <a:gd name="connsiteY56" fmla="*/ 750886 h 1278587"/>
                <a:gd name="connsiteX57" fmla="*/ 1075176 w 1299828"/>
                <a:gd name="connsiteY57" fmla="*/ 678496 h 1278587"/>
                <a:gd name="connsiteX58" fmla="*/ 1048506 w 1299828"/>
                <a:gd name="connsiteY58" fmla="*/ 556576 h 1278587"/>
                <a:gd name="connsiteX59" fmla="*/ 1086606 w 1299828"/>
                <a:gd name="connsiteY59" fmla="*/ 468946 h 1278587"/>
                <a:gd name="connsiteX60" fmla="*/ 1056126 w 1299828"/>
                <a:gd name="connsiteY60" fmla="*/ 396556 h 1278587"/>
                <a:gd name="connsiteX61" fmla="*/ 1082796 w 1299828"/>
                <a:gd name="connsiteY61" fmla="*/ 286066 h 1278587"/>
                <a:gd name="connsiteX62" fmla="*/ 1067556 w 1299828"/>
                <a:gd name="connsiteY62" fmla="*/ 198436 h 1278587"/>
                <a:gd name="connsiteX63" fmla="*/ 953256 w 1299828"/>
                <a:gd name="connsiteY63" fmla="*/ 209866 h 1278587"/>
                <a:gd name="connsiteX64" fmla="*/ 827526 w 1299828"/>
                <a:gd name="connsiteY64" fmla="*/ 198436 h 1278587"/>
                <a:gd name="connsiteX65" fmla="*/ 690366 w 1299828"/>
                <a:gd name="connsiteY65" fmla="*/ 213676 h 1278587"/>
                <a:gd name="connsiteX66" fmla="*/ 572256 w 1299828"/>
                <a:gd name="connsiteY66" fmla="*/ 175576 h 1278587"/>
                <a:gd name="connsiteX67" fmla="*/ 465576 w 1299828"/>
                <a:gd name="connsiteY67" fmla="*/ 217486 h 1278587"/>
                <a:gd name="connsiteX68" fmla="*/ 358896 w 1299828"/>
                <a:gd name="connsiteY68" fmla="*/ 221296 h 1278587"/>
                <a:gd name="connsiteX69" fmla="*/ 305556 w 1299828"/>
                <a:gd name="connsiteY69" fmla="*/ 263206 h 1278587"/>
                <a:gd name="connsiteX70" fmla="*/ 210306 w 1299828"/>
                <a:gd name="connsiteY70" fmla="*/ 263206 h 1278587"/>
                <a:gd name="connsiteX71" fmla="*/ 252216 w 1299828"/>
                <a:gd name="connsiteY71" fmla="*/ 335596 h 1278587"/>
                <a:gd name="connsiteX72" fmla="*/ 195066 w 1299828"/>
                <a:gd name="connsiteY72" fmla="*/ 453706 h 1278587"/>
                <a:gd name="connsiteX73" fmla="*/ 240786 w 1299828"/>
                <a:gd name="connsiteY73" fmla="*/ 545146 h 1278587"/>
                <a:gd name="connsiteX74" fmla="*/ 233166 w 1299828"/>
                <a:gd name="connsiteY74" fmla="*/ 659446 h 1278587"/>
                <a:gd name="connsiteX75" fmla="*/ 290316 w 1299828"/>
                <a:gd name="connsiteY75" fmla="*/ 773746 h 1278587"/>
                <a:gd name="connsiteX76" fmla="*/ 282696 w 1299828"/>
                <a:gd name="connsiteY76" fmla="*/ 861376 h 1278587"/>
                <a:gd name="connsiteX77" fmla="*/ 351276 w 1299828"/>
                <a:gd name="connsiteY77" fmla="*/ 899476 h 1278587"/>
                <a:gd name="connsiteX78" fmla="*/ 393186 w 1299828"/>
                <a:gd name="connsiteY78" fmla="*/ 1009966 h 1278587"/>
                <a:gd name="connsiteX79" fmla="*/ 259836 w 1299828"/>
                <a:gd name="connsiteY79" fmla="*/ 1124266 h 1278587"/>
                <a:gd name="connsiteX80" fmla="*/ 145536 w 1299828"/>
                <a:gd name="connsiteY80" fmla="*/ 1124266 h 1278587"/>
                <a:gd name="connsiteX0" fmla="*/ 145536 w 1299828"/>
                <a:gd name="connsiteY0" fmla="*/ 1124266 h 1278587"/>
                <a:gd name="connsiteX1" fmla="*/ 57906 w 1299828"/>
                <a:gd name="connsiteY1" fmla="*/ 1036636 h 1278587"/>
                <a:gd name="connsiteX2" fmla="*/ 69336 w 1299828"/>
                <a:gd name="connsiteY2" fmla="*/ 941386 h 1278587"/>
                <a:gd name="connsiteX3" fmla="*/ 84576 w 1299828"/>
                <a:gd name="connsiteY3" fmla="*/ 888046 h 1278587"/>
                <a:gd name="connsiteX4" fmla="*/ 54096 w 1299828"/>
                <a:gd name="connsiteY4" fmla="*/ 838516 h 1278587"/>
                <a:gd name="connsiteX5" fmla="*/ 50286 w 1299828"/>
                <a:gd name="connsiteY5" fmla="*/ 716596 h 1278587"/>
                <a:gd name="connsiteX6" fmla="*/ 73146 w 1299828"/>
                <a:gd name="connsiteY6" fmla="*/ 689926 h 1278587"/>
                <a:gd name="connsiteX7" fmla="*/ 46476 w 1299828"/>
                <a:gd name="connsiteY7" fmla="*/ 670876 h 1278587"/>
                <a:gd name="connsiteX8" fmla="*/ 15996 w 1299828"/>
                <a:gd name="connsiteY8" fmla="*/ 598486 h 1278587"/>
                <a:gd name="connsiteX9" fmla="*/ 27426 w 1299828"/>
                <a:gd name="connsiteY9" fmla="*/ 529906 h 1278587"/>
                <a:gd name="connsiteX10" fmla="*/ 38856 w 1299828"/>
                <a:gd name="connsiteY10" fmla="*/ 487996 h 1278587"/>
                <a:gd name="connsiteX11" fmla="*/ 756 w 1299828"/>
                <a:gd name="connsiteY11" fmla="*/ 411796 h 1278587"/>
                <a:gd name="connsiteX12" fmla="*/ 15996 w 1299828"/>
                <a:gd name="connsiteY12" fmla="*/ 339406 h 1278587"/>
                <a:gd name="connsiteX13" fmla="*/ 46476 w 1299828"/>
                <a:gd name="connsiteY13" fmla="*/ 278446 h 1278587"/>
                <a:gd name="connsiteX14" fmla="*/ 35046 w 1299828"/>
                <a:gd name="connsiteY14" fmla="*/ 190816 h 1278587"/>
                <a:gd name="connsiteX15" fmla="*/ 76956 w 1299828"/>
                <a:gd name="connsiteY15" fmla="*/ 91756 h 1278587"/>
                <a:gd name="connsiteX16" fmla="*/ 153156 w 1299828"/>
                <a:gd name="connsiteY16" fmla="*/ 68896 h 1278587"/>
                <a:gd name="connsiteX17" fmla="*/ 240786 w 1299828"/>
                <a:gd name="connsiteY17" fmla="*/ 103186 h 1278587"/>
                <a:gd name="connsiteX18" fmla="*/ 309366 w 1299828"/>
                <a:gd name="connsiteY18" fmla="*/ 38416 h 1278587"/>
                <a:gd name="connsiteX19" fmla="*/ 438906 w 1299828"/>
                <a:gd name="connsiteY19" fmla="*/ 23176 h 1278587"/>
                <a:gd name="connsiteX20" fmla="*/ 480816 w 1299828"/>
                <a:gd name="connsiteY20" fmla="*/ 49846 h 1278587"/>
                <a:gd name="connsiteX21" fmla="*/ 545586 w 1299828"/>
                <a:gd name="connsiteY21" fmla="*/ 26986 h 1278587"/>
                <a:gd name="connsiteX22" fmla="*/ 690366 w 1299828"/>
                <a:gd name="connsiteY22" fmla="*/ 316 h 1278587"/>
                <a:gd name="connsiteX23" fmla="*/ 785616 w 1299828"/>
                <a:gd name="connsiteY23" fmla="*/ 46036 h 1278587"/>
                <a:gd name="connsiteX24" fmla="*/ 819906 w 1299828"/>
                <a:gd name="connsiteY24" fmla="*/ 30796 h 1278587"/>
                <a:gd name="connsiteX25" fmla="*/ 938016 w 1299828"/>
                <a:gd name="connsiteY25" fmla="*/ 4126 h 1278587"/>
                <a:gd name="connsiteX26" fmla="*/ 987546 w 1299828"/>
                <a:gd name="connsiteY26" fmla="*/ 11746 h 1278587"/>
                <a:gd name="connsiteX27" fmla="*/ 1052316 w 1299828"/>
                <a:gd name="connsiteY27" fmla="*/ 34606 h 1278587"/>
                <a:gd name="connsiteX28" fmla="*/ 1124706 w 1299828"/>
                <a:gd name="connsiteY28" fmla="*/ 7936 h 1278587"/>
                <a:gd name="connsiteX29" fmla="*/ 1181856 w 1299828"/>
                <a:gd name="connsiteY29" fmla="*/ 19366 h 1278587"/>
                <a:gd name="connsiteX30" fmla="*/ 1273296 w 1299828"/>
                <a:gd name="connsiteY30" fmla="*/ 84136 h 1278587"/>
                <a:gd name="connsiteX31" fmla="*/ 1265676 w 1299828"/>
                <a:gd name="connsiteY31" fmla="*/ 209866 h 1278587"/>
                <a:gd name="connsiteX32" fmla="*/ 1246626 w 1299828"/>
                <a:gd name="connsiteY32" fmla="*/ 240346 h 1278587"/>
                <a:gd name="connsiteX33" fmla="*/ 1296156 w 1299828"/>
                <a:gd name="connsiteY33" fmla="*/ 320356 h 1278587"/>
                <a:gd name="connsiteX34" fmla="*/ 1292346 w 1299828"/>
                <a:gd name="connsiteY34" fmla="*/ 427036 h 1278587"/>
                <a:gd name="connsiteX35" fmla="*/ 1261866 w 1299828"/>
                <a:gd name="connsiteY35" fmla="*/ 449896 h 1278587"/>
                <a:gd name="connsiteX36" fmla="*/ 1277106 w 1299828"/>
                <a:gd name="connsiteY36" fmla="*/ 529906 h 1278587"/>
                <a:gd name="connsiteX37" fmla="*/ 1284726 w 1299828"/>
                <a:gd name="connsiteY37" fmla="*/ 598486 h 1278587"/>
                <a:gd name="connsiteX38" fmla="*/ 1235196 w 1299828"/>
                <a:gd name="connsiteY38" fmla="*/ 670876 h 1278587"/>
                <a:gd name="connsiteX39" fmla="*/ 1261866 w 1299828"/>
                <a:gd name="connsiteY39" fmla="*/ 777556 h 1278587"/>
                <a:gd name="connsiteX40" fmla="*/ 1258056 w 1299828"/>
                <a:gd name="connsiteY40" fmla="*/ 849946 h 1278587"/>
                <a:gd name="connsiteX41" fmla="*/ 1227576 w 1299828"/>
                <a:gd name="connsiteY41" fmla="*/ 918526 h 1278587"/>
                <a:gd name="connsiteX42" fmla="*/ 1250436 w 1299828"/>
                <a:gd name="connsiteY42" fmla="*/ 1006156 h 1278587"/>
                <a:gd name="connsiteX43" fmla="*/ 1124706 w 1299828"/>
                <a:gd name="connsiteY43" fmla="*/ 1086166 h 1278587"/>
                <a:gd name="connsiteX44" fmla="*/ 998976 w 1299828"/>
                <a:gd name="connsiteY44" fmla="*/ 1105216 h 1278587"/>
                <a:gd name="connsiteX45" fmla="*/ 888486 w 1299828"/>
                <a:gd name="connsiteY45" fmla="*/ 1086166 h 1278587"/>
                <a:gd name="connsiteX46" fmla="*/ 892296 w 1299828"/>
                <a:gd name="connsiteY46" fmla="*/ 1185226 h 1278587"/>
                <a:gd name="connsiteX47" fmla="*/ 835146 w 1299828"/>
                <a:gd name="connsiteY47" fmla="*/ 1249996 h 1278587"/>
                <a:gd name="connsiteX48" fmla="*/ 697986 w 1299828"/>
                <a:gd name="connsiteY48" fmla="*/ 1272856 h 1278587"/>
                <a:gd name="connsiteX49" fmla="*/ 637026 w 1299828"/>
                <a:gd name="connsiteY49" fmla="*/ 1147126 h 1278587"/>
                <a:gd name="connsiteX50" fmla="*/ 682746 w 1299828"/>
                <a:gd name="connsiteY50" fmla="*/ 990916 h 1278587"/>
                <a:gd name="connsiteX51" fmla="*/ 816096 w 1299828"/>
                <a:gd name="connsiteY51" fmla="*/ 945196 h 1278587"/>
                <a:gd name="connsiteX52" fmla="*/ 922776 w 1299828"/>
                <a:gd name="connsiteY52" fmla="*/ 872806 h 1278587"/>
                <a:gd name="connsiteX53" fmla="*/ 972306 w 1299828"/>
                <a:gd name="connsiteY53" fmla="*/ 861376 h 1278587"/>
                <a:gd name="connsiteX54" fmla="*/ 1067556 w 1299828"/>
                <a:gd name="connsiteY54" fmla="*/ 903286 h 1278587"/>
                <a:gd name="connsiteX55" fmla="*/ 1075176 w 1299828"/>
                <a:gd name="connsiteY55" fmla="*/ 857566 h 1278587"/>
                <a:gd name="connsiteX56" fmla="*/ 1056126 w 1299828"/>
                <a:gd name="connsiteY56" fmla="*/ 750886 h 1278587"/>
                <a:gd name="connsiteX57" fmla="*/ 1075176 w 1299828"/>
                <a:gd name="connsiteY57" fmla="*/ 678496 h 1278587"/>
                <a:gd name="connsiteX58" fmla="*/ 1048506 w 1299828"/>
                <a:gd name="connsiteY58" fmla="*/ 556576 h 1278587"/>
                <a:gd name="connsiteX59" fmla="*/ 1086606 w 1299828"/>
                <a:gd name="connsiteY59" fmla="*/ 468946 h 1278587"/>
                <a:gd name="connsiteX60" fmla="*/ 1056126 w 1299828"/>
                <a:gd name="connsiteY60" fmla="*/ 396556 h 1278587"/>
                <a:gd name="connsiteX61" fmla="*/ 1082796 w 1299828"/>
                <a:gd name="connsiteY61" fmla="*/ 286066 h 1278587"/>
                <a:gd name="connsiteX62" fmla="*/ 1067556 w 1299828"/>
                <a:gd name="connsiteY62" fmla="*/ 198436 h 1278587"/>
                <a:gd name="connsiteX63" fmla="*/ 953256 w 1299828"/>
                <a:gd name="connsiteY63" fmla="*/ 209866 h 1278587"/>
                <a:gd name="connsiteX64" fmla="*/ 827526 w 1299828"/>
                <a:gd name="connsiteY64" fmla="*/ 198436 h 1278587"/>
                <a:gd name="connsiteX65" fmla="*/ 690366 w 1299828"/>
                <a:gd name="connsiteY65" fmla="*/ 213676 h 1278587"/>
                <a:gd name="connsiteX66" fmla="*/ 572256 w 1299828"/>
                <a:gd name="connsiteY66" fmla="*/ 175576 h 1278587"/>
                <a:gd name="connsiteX67" fmla="*/ 465576 w 1299828"/>
                <a:gd name="connsiteY67" fmla="*/ 217486 h 1278587"/>
                <a:gd name="connsiteX68" fmla="*/ 358896 w 1299828"/>
                <a:gd name="connsiteY68" fmla="*/ 221296 h 1278587"/>
                <a:gd name="connsiteX69" fmla="*/ 305556 w 1299828"/>
                <a:gd name="connsiteY69" fmla="*/ 263206 h 1278587"/>
                <a:gd name="connsiteX70" fmla="*/ 210306 w 1299828"/>
                <a:gd name="connsiteY70" fmla="*/ 263206 h 1278587"/>
                <a:gd name="connsiteX71" fmla="*/ 252216 w 1299828"/>
                <a:gd name="connsiteY71" fmla="*/ 335596 h 1278587"/>
                <a:gd name="connsiteX72" fmla="*/ 195066 w 1299828"/>
                <a:gd name="connsiteY72" fmla="*/ 453706 h 1278587"/>
                <a:gd name="connsiteX73" fmla="*/ 240786 w 1299828"/>
                <a:gd name="connsiteY73" fmla="*/ 545146 h 1278587"/>
                <a:gd name="connsiteX74" fmla="*/ 233166 w 1299828"/>
                <a:gd name="connsiteY74" fmla="*/ 659446 h 1278587"/>
                <a:gd name="connsiteX75" fmla="*/ 290316 w 1299828"/>
                <a:gd name="connsiteY75" fmla="*/ 773746 h 1278587"/>
                <a:gd name="connsiteX76" fmla="*/ 282696 w 1299828"/>
                <a:gd name="connsiteY76" fmla="*/ 861376 h 1278587"/>
                <a:gd name="connsiteX77" fmla="*/ 351276 w 1299828"/>
                <a:gd name="connsiteY77" fmla="*/ 899476 h 1278587"/>
                <a:gd name="connsiteX78" fmla="*/ 393186 w 1299828"/>
                <a:gd name="connsiteY78" fmla="*/ 1009966 h 1278587"/>
                <a:gd name="connsiteX79" fmla="*/ 259836 w 1299828"/>
                <a:gd name="connsiteY79" fmla="*/ 1124266 h 1278587"/>
                <a:gd name="connsiteX80" fmla="*/ 145536 w 1299828"/>
                <a:gd name="connsiteY80" fmla="*/ 1124266 h 1278587"/>
                <a:gd name="connsiteX0" fmla="*/ 145536 w 1299828"/>
                <a:gd name="connsiteY0" fmla="*/ 1131999 h 1286320"/>
                <a:gd name="connsiteX1" fmla="*/ 57906 w 1299828"/>
                <a:gd name="connsiteY1" fmla="*/ 1044369 h 1286320"/>
                <a:gd name="connsiteX2" fmla="*/ 69336 w 1299828"/>
                <a:gd name="connsiteY2" fmla="*/ 949119 h 1286320"/>
                <a:gd name="connsiteX3" fmla="*/ 84576 w 1299828"/>
                <a:gd name="connsiteY3" fmla="*/ 895779 h 1286320"/>
                <a:gd name="connsiteX4" fmla="*/ 54096 w 1299828"/>
                <a:gd name="connsiteY4" fmla="*/ 846249 h 1286320"/>
                <a:gd name="connsiteX5" fmla="*/ 50286 w 1299828"/>
                <a:gd name="connsiteY5" fmla="*/ 724329 h 1286320"/>
                <a:gd name="connsiteX6" fmla="*/ 73146 w 1299828"/>
                <a:gd name="connsiteY6" fmla="*/ 697659 h 1286320"/>
                <a:gd name="connsiteX7" fmla="*/ 46476 w 1299828"/>
                <a:gd name="connsiteY7" fmla="*/ 678609 h 1286320"/>
                <a:gd name="connsiteX8" fmla="*/ 15996 w 1299828"/>
                <a:gd name="connsiteY8" fmla="*/ 606219 h 1286320"/>
                <a:gd name="connsiteX9" fmla="*/ 27426 w 1299828"/>
                <a:gd name="connsiteY9" fmla="*/ 537639 h 1286320"/>
                <a:gd name="connsiteX10" fmla="*/ 38856 w 1299828"/>
                <a:gd name="connsiteY10" fmla="*/ 495729 h 1286320"/>
                <a:gd name="connsiteX11" fmla="*/ 756 w 1299828"/>
                <a:gd name="connsiteY11" fmla="*/ 419529 h 1286320"/>
                <a:gd name="connsiteX12" fmla="*/ 15996 w 1299828"/>
                <a:gd name="connsiteY12" fmla="*/ 347139 h 1286320"/>
                <a:gd name="connsiteX13" fmla="*/ 46476 w 1299828"/>
                <a:gd name="connsiteY13" fmla="*/ 286179 h 1286320"/>
                <a:gd name="connsiteX14" fmla="*/ 35046 w 1299828"/>
                <a:gd name="connsiteY14" fmla="*/ 198549 h 1286320"/>
                <a:gd name="connsiteX15" fmla="*/ 76956 w 1299828"/>
                <a:gd name="connsiteY15" fmla="*/ 99489 h 1286320"/>
                <a:gd name="connsiteX16" fmla="*/ 153156 w 1299828"/>
                <a:gd name="connsiteY16" fmla="*/ 76629 h 1286320"/>
                <a:gd name="connsiteX17" fmla="*/ 240786 w 1299828"/>
                <a:gd name="connsiteY17" fmla="*/ 110919 h 1286320"/>
                <a:gd name="connsiteX18" fmla="*/ 309366 w 1299828"/>
                <a:gd name="connsiteY18" fmla="*/ 46149 h 1286320"/>
                <a:gd name="connsiteX19" fmla="*/ 438906 w 1299828"/>
                <a:gd name="connsiteY19" fmla="*/ 30909 h 1286320"/>
                <a:gd name="connsiteX20" fmla="*/ 480816 w 1299828"/>
                <a:gd name="connsiteY20" fmla="*/ 57579 h 1286320"/>
                <a:gd name="connsiteX21" fmla="*/ 545586 w 1299828"/>
                <a:gd name="connsiteY21" fmla="*/ 34719 h 1286320"/>
                <a:gd name="connsiteX22" fmla="*/ 690366 w 1299828"/>
                <a:gd name="connsiteY22" fmla="*/ 8049 h 1286320"/>
                <a:gd name="connsiteX23" fmla="*/ 785616 w 1299828"/>
                <a:gd name="connsiteY23" fmla="*/ 53769 h 1286320"/>
                <a:gd name="connsiteX24" fmla="*/ 819906 w 1299828"/>
                <a:gd name="connsiteY24" fmla="*/ 38529 h 1286320"/>
                <a:gd name="connsiteX25" fmla="*/ 903726 w 1299828"/>
                <a:gd name="connsiteY25" fmla="*/ 429 h 1286320"/>
                <a:gd name="connsiteX26" fmla="*/ 987546 w 1299828"/>
                <a:gd name="connsiteY26" fmla="*/ 19479 h 1286320"/>
                <a:gd name="connsiteX27" fmla="*/ 1052316 w 1299828"/>
                <a:gd name="connsiteY27" fmla="*/ 42339 h 1286320"/>
                <a:gd name="connsiteX28" fmla="*/ 1124706 w 1299828"/>
                <a:gd name="connsiteY28" fmla="*/ 15669 h 1286320"/>
                <a:gd name="connsiteX29" fmla="*/ 1181856 w 1299828"/>
                <a:gd name="connsiteY29" fmla="*/ 27099 h 1286320"/>
                <a:gd name="connsiteX30" fmla="*/ 1273296 w 1299828"/>
                <a:gd name="connsiteY30" fmla="*/ 91869 h 1286320"/>
                <a:gd name="connsiteX31" fmla="*/ 1265676 w 1299828"/>
                <a:gd name="connsiteY31" fmla="*/ 217599 h 1286320"/>
                <a:gd name="connsiteX32" fmla="*/ 1246626 w 1299828"/>
                <a:gd name="connsiteY32" fmla="*/ 248079 h 1286320"/>
                <a:gd name="connsiteX33" fmla="*/ 1296156 w 1299828"/>
                <a:gd name="connsiteY33" fmla="*/ 328089 h 1286320"/>
                <a:gd name="connsiteX34" fmla="*/ 1292346 w 1299828"/>
                <a:gd name="connsiteY34" fmla="*/ 434769 h 1286320"/>
                <a:gd name="connsiteX35" fmla="*/ 1261866 w 1299828"/>
                <a:gd name="connsiteY35" fmla="*/ 457629 h 1286320"/>
                <a:gd name="connsiteX36" fmla="*/ 1277106 w 1299828"/>
                <a:gd name="connsiteY36" fmla="*/ 537639 h 1286320"/>
                <a:gd name="connsiteX37" fmla="*/ 1284726 w 1299828"/>
                <a:gd name="connsiteY37" fmla="*/ 606219 h 1286320"/>
                <a:gd name="connsiteX38" fmla="*/ 1235196 w 1299828"/>
                <a:gd name="connsiteY38" fmla="*/ 678609 h 1286320"/>
                <a:gd name="connsiteX39" fmla="*/ 1261866 w 1299828"/>
                <a:gd name="connsiteY39" fmla="*/ 785289 h 1286320"/>
                <a:gd name="connsiteX40" fmla="*/ 1258056 w 1299828"/>
                <a:gd name="connsiteY40" fmla="*/ 857679 h 1286320"/>
                <a:gd name="connsiteX41" fmla="*/ 1227576 w 1299828"/>
                <a:gd name="connsiteY41" fmla="*/ 926259 h 1286320"/>
                <a:gd name="connsiteX42" fmla="*/ 1250436 w 1299828"/>
                <a:gd name="connsiteY42" fmla="*/ 1013889 h 1286320"/>
                <a:gd name="connsiteX43" fmla="*/ 1124706 w 1299828"/>
                <a:gd name="connsiteY43" fmla="*/ 1093899 h 1286320"/>
                <a:gd name="connsiteX44" fmla="*/ 998976 w 1299828"/>
                <a:gd name="connsiteY44" fmla="*/ 1112949 h 1286320"/>
                <a:gd name="connsiteX45" fmla="*/ 888486 w 1299828"/>
                <a:gd name="connsiteY45" fmla="*/ 1093899 h 1286320"/>
                <a:gd name="connsiteX46" fmla="*/ 892296 w 1299828"/>
                <a:gd name="connsiteY46" fmla="*/ 1192959 h 1286320"/>
                <a:gd name="connsiteX47" fmla="*/ 835146 w 1299828"/>
                <a:gd name="connsiteY47" fmla="*/ 1257729 h 1286320"/>
                <a:gd name="connsiteX48" fmla="*/ 697986 w 1299828"/>
                <a:gd name="connsiteY48" fmla="*/ 1280589 h 1286320"/>
                <a:gd name="connsiteX49" fmla="*/ 637026 w 1299828"/>
                <a:gd name="connsiteY49" fmla="*/ 1154859 h 1286320"/>
                <a:gd name="connsiteX50" fmla="*/ 682746 w 1299828"/>
                <a:gd name="connsiteY50" fmla="*/ 998649 h 1286320"/>
                <a:gd name="connsiteX51" fmla="*/ 816096 w 1299828"/>
                <a:gd name="connsiteY51" fmla="*/ 952929 h 1286320"/>
                <a:gd name="connsiteX52" fmla="*/ 922776 w 1299828"/>
                <a:gd name="connsiteY52" fmla="*/ 880539 h 1286320"/>
                <a:gd name="connsiteX53" fmla="*/ 972306 w 1299828"/>
                <a:gd name="connsiteY53" fmla="*/ 869109 h 1286320"/>
                <a:gd name="connsiteX54" fmla="*/ 1067556 w 1299828"/>
                <a:gd name="connsiteY54" fmla="*/ 911019 h 1286320"/>
                <a:gd name="connsiteX55" fmla="*/ 1075176 w 1299828"/>
                <a:gd name="connsiteY55" fmla="*/ 865299 h 1286320"/>
                <a:gd name="connsiteX56" fmla="*/ 1056126 w 1299828"/>
                <a:gd name="connsiteY56" fmla="*/ 758619 h 1286320"/>
                <a:gd name="connsiteX57" fmla="*/ 1075176 w 1299828"/>
                <a:gd name="connsiteY57" fmla="*/ 686229 h 1286320"/>
                <a:gd name="connsiteX58" fmla="*/ 1048506 w 1299828"/>
                <a:gd name="connsiteY58" fmla="*/ 564309 h 1286320"/>
                <a:gd name="connsiteX59" fmla="*/ 1086606 w 1299828"/>
                <a:gd name="connsiteY59" fmla="*/ 476679 h 1286320"/>
                <a:gd name="connsiteX60" fmla="*/ 1056126 w 1299828"/>
                <a:gd name="connsiteY60" fmla="*/ 404289 h 1286320"/>
                <a:gd name="connsiteX61" fmla="*/ 1082796 w 1299828"/>
                <a:gd name="connsiteY61" fmla="*/ 293799 h 1286320"/>
                <a:gd name="connsiteX62" fmla="*/ 1067556 w 1299828"/>
                <a:gd name="connsiteY62" fmla="*/ 206169 h 1286320"/>
                <a:gd name="connsiteX63" fmla="*/ 953256 w 1299828"/>
                <a:gd name="connsiteY63" fmla="*/ 217599 h 1286320"/>
                <a:gd name="connsiteX64" fmla="*/ 827526 w 1299828"/>
                <a:gd name="connsiteY64" fmla="*/ 206169 h 1286320"/>
                <a:gd name="connsiteX65" fmla="*/ 690366 w 1299828"/>
                <a:gd name="connsiteY65" fmla="*/ 221409 h 1286320"/>
                <a:gd name="connsiteX66" fmla="*/ 572256 w 1299828"/>
                <a:gd name="connsiteY66" fmla="*/ 183309 h 1286320"/>
                <a:gd name="connsiteX67" fmla="*/ 465576 w 1299828"/>
                <a:gd name="connsiteY67" fmla="*/ 225219 h 1286320"/>
                <a:gd name="connsiteX68" fmla="*/ 358896 w 1299828"/>
                <a:gd name="connsiteY68" fmla="*/ 229029 h 1286320"/>
                <a:gd name="connsiteX69" fmla="*/ 305556 w 1299828"/>
                <a:gd name="connsiteY69" fmla="*/ 270939 h 1286320"/>
                <a:gd name="connsiteX70" fmla="*/ 210306 w 1299828"/>
                <a:gd name="connsiteY70" fmla="*/ 270939 h 1286320"/>
                <a:gd name="connsiteX71" fmla="*/ 252216 w 1299828"/>
                <a:gd name="connsiteY71" fmla="*/ 343329 h 1286320"/>
                <a:gd name="connsiteX72" fmla="*/ 195066 w 1299828"/>
                <a:gd name="connsiteY72" fmla="*/ 461439 h 1286320"/>
                <a:gd name="connsiteX73" fmla="*/ 240786 w 1299828"/>
                <a:gd name="connsiteY73" fmla="*/ 552879 h 1286320"/>
                <a:gd name="connsiteX74" fmla="*/ 233166 w 1299828"/>
                <a:gd name="connsiteY74" fmla="*/ 667179 h 1286320"/>
                <a:gd name="connsiteX75" fmla="*/ 290316 w 1299828"/>
                <a:gd name="connsiteY75" fmla="*/ 781479 h 1286320"/>
                <a:gd name="connsiteX76" fmla="*/ 282696 w 1299828"/>
                <a:gd name="connsiteY76" fmla="*/ 869109 h 1286320"/>
                <a:gd name="connsiteX77" fmla="*/ 351276 w 1299828"/>
                <a:gd name="connsiteY77" fmla="*/ 907209 h 1286320"/>
                <a:gd name="connsiteX78" fmla="*/ 393186 w 1299828"/>
                <a:gd name="connsiteY78" fmla="*/ 1017699 h 1286320"/>
                <a:gd name="connsiteX79" fmla="*/ 259836 w 1299828"/>
                <a:gd name="connsiteY79" fmla="*/ 1131999 h 1286320"/>
                <a:gd name="connsiteX80" fmla="*/ 145536 w 1299828"/>
                <a:gd name="connsiteY80" fmla="*/ 1131999 h 1286320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87546 w 1299828"/>
                <a:gd name="connsiteY26" fmla="*/ 1174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27526 w 1299828"/>
                <a:gd name="connsiteY64" fmla="*/ 198437 h 1278588"/>
                <a:gd name="connsiteX65" fmla="*/ 690366 w 1299828"/>
                <a:gd name="connsiteY65" fmla="*/ 21367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87546 w 1299828"/>
                <a:gd name="connsiteY26" fmla="*/ 1174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21367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87546 w 1299828"/>
                <a:gd name="connsiteY26" fmla="*/ 1174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68496 w 1299828"/>
                <a:gd name="connsiteY26" fmla="*/ 412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6126 w 1299828"/>
                <a:gd name="connsiteY56" fmla="*/ 75088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68496 w 1299828"/>
                <a:gd name="connsiteY26" fmla="*/ 412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50436 w 1299828"/>
                <a:gd name="connsiteY42" fmla="*/ 100615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2316 w 1299828"/>
                <a:gd name="connsiteY56" fmla="*/ 77755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9828"/>
                <a:gd name="connsiteY0" fmla="*/ 1124267 h 1278588"/>
                <a:gd name="connsiteX1" fmla="*/ 57906 w 1299828"/>
                <a:gd name="connsiteY1" fmla="*/ 1036637 h 1278588"/>
                <a:gd name="connsiteX2" fmla="*/ 69336 w 1299828"/>
                <a:gd name="connsiteY2" fmla="*/ 941387 h 1278588"/>
                <a:gd name="connsiteX3" fmla="*/ 84576 w 1299828"/>
                <a:gd name="connsiteY3" fmla="*/ 888047 h 1278588"/>
                <a:gd name="connsiteX4" fmla="*/ 54096 w 1299828"/>
                <a:gd name="connsiteY4" fmla="*/ 838517 h 1278588"/>
                <a:gd name="connsiteX5" fmla="*/ 50286 w 1299828"/>
                <a:gd name="connsiteY5" fmla="*/ 716597 h 1278588"/>
                <a:gd name="connsiteX6" fmla="*/ 73146 w 1299828"/>
                <a:gd name="connsiteY6" fmla="*/ 689927 h 1278588"/>
                <a:gd name="connsiteX7" fmla="*/ 46476 w 1299828"/>
                <a:gd name="connsiteY7" fmla="*/ 670877 h 1278588"/>
                <a:gd name="connsiteX8" fmla="*/ 15996 w 1299828"/>
                <a:gd name="connsiteY8" fmla="*/ 598487 h 1278588"/>
                <a:gd name="connsiteX9" fmla="*/ 27426 w 1299828"/>
                <a:gd name="connsiteY9" fmla="*/ 529907 h 1278588"/>
                <a:gd name="connsiteX10" fmla="*/ 38856 w 1299828"/>
                <a:gd name="connsiteY10" fmla="*/ 487997 h 1278588"/>
                <a:gd name="connsiteX11" fmla="*/ 756 w 1299828"/>
                <a:gd name="connsiteY11" fmla="*/ 411797 h 1278588"/>
                <a:gd name="connsiteX12" fmla="*/ 15996 w 1299828"/>
                <a:gd name="connsiteY12" fmla="*/ 339407 h 1278588"/>
                <a:gd name="connsiteX13" fmla="*/ 46476 w 1299828"/>
                <a:gd name="connsiteY13" fmla="*/ 278447 h 1278588"/>
                <a:gd name="connsiteX14" fmla="*/ 35046 w 1299828"/>
                <a:gd name="connsiteY14" fmla="*/ 190817 h 1278588"/>
                <a:gd name="connsiteX15" fmla="*/ 76956 w 1299828"/>
                <a:gd name="connsiteY15" fmla="*/ 91757 h 1278588"/>
                <a:gd name="connsiteX16" fmla="*/ 153156 w 1299828"/>
                <a:gd name="connsiteY16" fmla="*/ 68897 h 1278588"/>
                <a:gd name="connsiteX17" fmla="*/ 240786 w 1299828"/>
                <a:gd name="connsiteY17" fmla="*/ 103187 h 1278588"/>
                <a:gd name="connsiteX18" fmla="*/ 309366 w 1299828"/>
                <a:gd name="connsiteY18" fmla="*/ 38417 h 1278588"/>
                <a:gd name="connsiteX19" fmla="*/ 438906 w 1299828"/>
                <a:gd name="connsiteY19" fmla="*/ 23177 h 1278588"/>
                <a:gd name="connsiteX20" fmla="*/ 480816 w 1299828"/>
                <a:gd name="connsiteY20" fmla="*/ 49847 h 1278588"/>
                <a:gd name="connsiteX21" fmla="*/ 545586 w 1299828"/>
                <a:gd name="connsiteY21" fmla="*/ 26987 h 1278588"/>
                <a:gd name="connsiteX22" fmla="*/ 690366 w 1299828"/>
                <a:gd name="connsiteY22" fmla="*/ 317 h 1278588"/>
                <a:gd name="connsiteX23" fmla="*/ 785616 w 1299828"/>
                <a:gd name="connsiteY23" fmla="*/ 46037 h 1278588"/>
                <a:gd name="connsiteX24" fmla="*/ 819906 w 1299828"/>
                <a:gd name="connsiteY24" fmla="*/ 30797 h 1278588"/>
                <a:gd name="connsiteX25" fmla="*/ 903726 w 1299828"/>
                <a:gd name="connsiteY25" fmla="*/ 11747 h 1278588"/>
                <a:gd name="connsiteX26" fmla="*/ 968496 w 1299828"/>
                <a:gd name="connsiteY26" fmla="*/ 4127 h 1278588"/>
                <a:gd name="connsiteX27" fmla="*/ 1052316 w 1299828"/>
                <a:gd name="connsiteY27" fmla="*/ 34607 h 1278588"/>
                <a:gd name="connsiteX28" fmla="*/ 1124706 w 1299828"/>
                <a:gd name="connsiteY28" fmla="*/ 7937 h 1278588"/>
                <a:gd name="connsiteX29" fmla="*/ 1181856 w 1299828"/>
                <a:gd name="connsiteY29" fmla="*/ 19367 h 1278588"/>
                <a:gd name="connsiteX30" fmla="*/ 1273296 w 1299828"/>
                <a:gd name="connsiteY30" fmla="*/ 84137 h 1278588"/>
                <a:gd name="connsiteX31" fmla="*/ 1265676 w 1299828"/>
                <a:gd name="connsiteY31" fmla="*/ 209867 h 1278588"/>
                <a:gd name="connsiteX32" fmla="*/ 1246626 w 1299828"/>
                <a:gd name="connsiteY32" fmla="*/ 240347 h 1278588"/>
                <a:gd name="connsiteX33" fmla="*/ 1296156 w 1299828"/>
                <a:gd name="connsiteY33" fmla="*/ 320357 h 1278588"/>
                <a:gd name="connsiteX34" fmla="*/ 1292346 w 1299828"/>
                <a:gd name="connsiteY34" fmla="*/ 427037 h 1278588"/>
                <a:gd name="connsiteX35" fmla="*/ 1261866 w 1299828"/>
                <a:gd name="connsiteY35" fmla="*/ 449897 h 1278588"/>
                <a:gd name="connsiteX36" fmla="*/ 1277106 w 1299828"/>
                <a:gd name="connsiteY36" fmla="*/ 529907 h 1278588"/>
                <a:gd name="connsiteX37" fmla="*/ 1284726 w 1299828"/>
                <a:gd name="connsiteY37" fmla="*/ 598487 h 1278588"/>
                <a:gd name="connsiteX38" fmla="*/ 1235196 w 1299828"/>
                <a:gd name="connsiteY38" fmla="*/ 670877 h 1278588"/>
                <a:gd name="connsiteX39" fmla="*/ 1261866 w 1299828"/>
                <a:gd name="connsiteY39" fmla="*/ 777557 h 1278588"/>
                <a:gd name="connsiteX40" fmla="*/ 1258056 w 1299828"/>
                <a:gd name="connsiteY40" fmla="*/ 849947 h 1278588"/>
                <a:gd name="connsiteX41" fmla="*/ 1227576 w 1299828"/>
                <a:gd name="connsiteY41" fmla="*/ 918527 h 1278588"/>
                <a:gd name="connsiteX42" fmla="*/ 1208526 w 1299828"/>
                <a:gd name="connsiteY42" fmla="*/ 1013777 h 1278588"/>
                <a:gd name="connsiteX43" fmla="*/ 1124706 w 1299828"/>
                <a:gd name="connsiteY43" fmla="*/ 1086167 h 1278588"/>
                <a:gd name="connsiteX44" fmla="*/ 998976 w 1299828"/>
                <a:gd name="connsiteY44" fmla="*/ 1105217 h 1278588"/>
                <a:gd name="connsiteX45" fmla="*/ 888486 w 1299828"/>
                <a:gd name="connsiteY45" fmla="*/ 1086167 h 1278588"/>
                <a:gd name="connsiteX46" fmla="*/ 892296 w 1299828"/>
                <a:gd name="connsiteY46" fmla="*/ 1185227 h 1278588"/>
                <a:gd name="connsiteX47" fmla="*/ 835146 w 1299828"/>
                <a:gd name="connsiteY47" fmla="*/ 1249997 h 1278588"/>
                <a:gd name="connsiteX48" fmla="*/ 697986 w 1299828"/>
                <a:gd name="connsiteY48" fmla="*/ 1272857 h 1278588"/>
                <a:gd name="connsiteX49" fmla="*/ 637026 w 1299828"/>
                <a:gd name="connsiteY49" fmla="*/ 1147127 h 1278588"/>
                <a:gd name="connsiteX50" fmla="*/ 682746 w 1299828"/>
                <a:gd name="connsiteY50" fmla="*/ 990917 h 1278588"/>
                <a:gd name="connsiteX51" fmla="*/ 816096 w 1299828"/>
                <a:gd name="connsiteY51" fmla="*/ 945197 h 1278588"/>
                <a:gd name="connsiteX52" fmla="*/ 922776 w 1299828"/>
                <a:gd name="connsiteY52" fmla="*/ 872807 h 1278588"/>
                <a:gd name="connsiteX53" fmla="*/ 972306 w 1299828"/>
                <a:gd name="connsiteY53" fmla="*/ 861377 h 1278588"/>
                <a:gd name="connsiteX54" fmla="*/ 1067556 w 1299828"/>
                <a:gd name="connsiteY54" fmla="*/ 903287 h 1278588"/>
                <a:gd name="connsiteX55" fmla="*/ 1075176 w 1299828"/>
                <a:gd name="connsiteY55" fmla="*/ 857567 h 1278588"/>
                <a:gd name="connsiteX56" fmla="*/ 1052316 w 1299828"/>
                <a:gd name="connsiteY56" fmla="*/ 777557 h 1278588"/>
                <a:gd name="connsiteX57" fmla="*/ 1075176 w 1299828"/>
                <a:gd name="connsiteY57" fmla="*/ 678497 h 1278588"/>
                <a:gd name="connsiteX58" fmla="*/ 1048506 w 1299828"/>
                <a:gd name="connsiteY58" fmla="*/ 556577 h 1278588"/>
                <a:gd name="connsiteX59" fmla="*/ 1086606 w 1299828"/>
                <a:gd name="connsiteY59" fmla="*/ 468947 h 1278588"/>
                <a:gd name="connsiteX60" fmla="*/ 1056126 w 1299828"/>
                <a:gd name="connsiteY60" fmla="*/ 396557 h 1278588"/>
                <a:gd name="connsiteX61" fmla="*/ 1082796 w 1299828"/>
                <a:gd name="connsiteY61" fmla="*/ 286067 h 1278588"/>
                <a:gd name="connsiteX62" fmla="*/ 1067556 w 1299828"/>
                <a:gd name="connsiteY62" fmla="*/ 198437 h 1278588"/>
                <a:gd name="connsiteX63" fmla="*/ 953256 w 1299828"/>
                <a:gd name="connsiteY63" fmla="*/ 209867 h 1278588"/>
                <a:gd name="connsiteX64" fmla="*/ 835146 w 1299828"/>
                <a:gd name="connsiteY64" fmla="*/ 175577 h 1278588"/>
                <a:gd name="connsiteX65" fmla="*/ 690366 w 1299828"/>
                <a:gd name="connsiteY65" fmla="*/ 190817 h 1278588"/>
                <a:gd name="connsiteX66" fmla="*/ 572256 w 1299828"/>
                <a:gd name="connsiteY66" fmla="*/ 175577 h 1278588"/>
                <a:gd name="connsiteX67" fmla="*/ 465576 w 1299828"/>
                <a:gd name="connsiteY67" fmla="*/ 217487 h 1278588"/>
                <a:gd name="connsiteX68" fmla="*/ 358896 w 1299828"/>
                <a:gd name="connsiteY68" fmla="*/ 221297 h 1278588"/>
                <a:gd name="connsiteX69" fmla="*/ 305556 w 1299828"/>
                <a:gd name="connsiteY69" fmla="*/ 263207 h 1278588"/>
                <a:gd name="connsiteX70" fmla="*/ 210306 w 1299828"/>
                <a:gd name="connsiteY70" fmla="*/ 263207 h 1278588"/>
                <a:gd name="connsiteX71" fmla="*/ 252216 w 1299828"/>
                <a:gd name="connsiteY71" fmla="*/ 335597 h 1278588"/>
                <a:gd name="connsiteX72" fmla="*/ 195066 w 1299828"/>
                <a:gd name="connsiteY72" fmla="*/ 453707 h 1278588"/>
                <a:gd name="connsiteX73" fmla="*/ 240786 w 1299828"/>
                <a:gd name="connsiteY73" fmla="*/ 545147 h 1278588"/>
                <a:gd name="connsiteX74" fmla="*/ 233166 w 1299828"/>
                <a:gd name="connsiteY74" fmla="*/ 659447 h 1278588"/>
                <a:gd name="connsiteX75" fmla="*/ 290316 w 1299828"/>
                <a:gd name="connsiteY75" fmla="*/ 773747 h 1278588"/>
                <a:gd name="connsiteX76" fmla="*/ 282696 w 1299828"/>
                <a:gd name="connsiteY76" fmla="*/ 861377 h 1278588"/>
                <a:gd name="connsiteX77" fmla="*/ 351276 w 1299828"/>
                <a:gd name="connsiteY77" fmla="*/ 899477 h 1278588"/>
                <a:gd name="connsiteX78" fmla="*/ 393186 w 1299828"/>
                <a:gd name="connsiteY78" fmla="*/ 1009967 h 1278588"/>
                <a:gd name="connsiteX79" fmla="*/ 259836 w 1299828"/>
                <a:gd name="connsiteY79" fmla="*/ 1124267 h 1278588"/>
                <a:gd name="connsiteX80" fmla="*/ 145536 w 1299828"/>
                <a:gd name="connsiteY80" fmla="*/ 1124267 h 1278588"/>
                <a:gd name="connsiteX0" fmla="*/ 145536 w 1298701"/>
                <a:gd name="connsiteY0" fmla="*/ 1124267 h 1278588"/>
                <a:gd name="connsiteX1" fmla="*/ 57906 w 1298701"/>
                <a:gd name="connsiteY1" fmla="*/ 1036637 h 1278588"/>
                <a:gd name="connsiteX2" fmla="*/ 69336 w 1298701"/>
                <a:gd name="connsiteY2" fmla="*/ 941387 h 1278588"/>
                <a:gd name="connsiteX3" fmla="*/ 84576 w 1298701"/>
                <a:gd name="connsiteY3" fmla="*/ 888047 h 1278588"/>
                <a:gd name="connsiteX4" fmla="*/ 54096 w 1298701"/>
                <a:gd name="connsiteY4" fmla="*/ 838517 h 1278588"/>
                <a:gd name="connsiteX5" fmla="*/ 50286 w 1298701"/>
                <a:gd name="connsiteY5" fmla="*/ 716597 h 1278588"/>
                <a:gd name="connsiteX6" fmla="*/ 73146 w 1298701"/>
                <a:gd name="connsiteY6" fmla="*/ 689927 h 1278588"/>
                <a:gd name="connsiteX7" fmla="*/ 46476 w 1298701"/>
                <a:gd name="connsiteY7" fmla="*/ 670877 h 1278588"/>
                <a:gd name="connsiteX8" fmla="*/ 15996 w 1298701"/>
                <a:gd name="connsiteY8" fmla="*/ 598487 h 1278588"/>
                <a:gd name="connsiteX9" fmla="*/ 27426 w 1298701"/>
                <a:gd name="connsiteY9" fmla="*/ 529907 h 1278588"/>
                <a:gd name="connsiteX10" fmla="*/ 38856 w 1298701"/>
                <a:gd name="connsiteY10" fmla="*/ 487997 h 1278588"/>
                <a:gd name="connsiteX11" fmla="*/ 756 w 1298701"/>
                <a:gd name="connsiteY11" fmla="*/ 411797 h 1278588"/>
                <a:gd name="connsiteX12" fmla="*/ 15996 w 1298701"/>
                <a:gd name="connsiteY12" fmla="*/ 339407 h 1278588"/>
                <a:gd name="connsiteX13" fmla="*/ 46476 w 1298701"/>
                <a:gd name="connsiteY13" fmla="*/ 278447 h 1278588"/>
                <a:gd name="connsiteX14" fmla="*/ 35046 w 1298701"/>
                <a:gd name="connsiteY14" fmla="*/ 190817 h 1278588"/>
                <a:gd name="connsiteX15" fmla="*/ 76956 w 1298701"/>
                <a:gd name="connsiteY15" fmla="*/ 91757 h 1278588"/>
                <a:gd name="connsiteX16" fmla="*/ 153156 w 1298701"/>
                <a:gd name="connsiteY16" fmla="*/ 68897 h 1278588"/>
                <a:gd name="connsiteX17" fmla="*/ 240786 w 1298701"/>
                <a:gd name="connsiteY17" fmla="*/ 103187 h 1278588"/>
                <a:gd name="connsiteX18" fmla="*/ 309366 w 1298701"/>
                <a:gd name="connsiteY18" fmla="*/ 38417 h 1278588"/>
                <a:gd name="connsiteX19" fmla="*/ 438906 w 1298701"/>
                <a:gd name="connsiteY19" fmla="*/ 23177 h 1278588"/>
                <a:gd name="connsiteX20" fmla="*/ 480816 w 1298701"/>
                <a:gd name="connsiteY20" fmla="*/ 49847 h 1278588"/>
                <a:gd name="connsiteX21" fmla="*/ 545586 w 1298701"/>
                <a:gd name="connsiteY21" fmla="*/ 26987 h 1278588"/>
                <a:gd name="connsiteX22" fmla="*/ 690366 w 1298701"/>
                <a:gd name="connsiteY22" fmla="*/ 317 h 1278588"/>
                <a:gd name="connsiteX23" fmla="*/ 785616 w 1298701"/>
                <a:gd name="connsiteY23" fmla="*/ 46037 h 1278588"/>
                <a:gd name="connsiteX24" fmla="*/ 819906 w 1298701"/>
                <a:gd name="connsiteY24" fmla="*/ 30797 h 1278588"/>
                <a:gd name="connsiteX25" fmla="*/ 903726 w 1298701"/>
                <a:gd name="connsiteY25" fmla="*/ 11747 h 1278588"/>
                <a:gd name="connsiteX26" fmla="*/ 968496 w 1298701"/>
                <a:gd name="connsiteY26" fmla="*/ 4127 h 1278588"/>
                <a:gd name="connsiteX27" fmla="*/ 1052316 w 1298701"/>
                <a:gd name="connsiteY27" fmla="*/ 34607 h 1278588"/>
                <a:gd name="connsiteX28" fmla="*/ 1124706 w 1298701"/>
                <a:gd name="connsiteY28" fmla="*/ 7937 h 1278588"/>
                <a:gd name="connsiteX29" fmla="*/ 1181856 w 1298701"/>
                <a:gd name="connsiteY29" fmla="*/ 19367 h 1278588"/>
                <a:gd name="connsiteX30" fmla="*/ 1273296 w 1298701"/>
                <a:gd name="connsiteY30" fmla="*/ 84137 h 1278588"/>
                <a:gd name="connsiteX31" fmla="*/ 1265676 w 1298701"/>
                <a:gd name="connsiteY31" fmla="*/ 209867 h 1278588"/>
                <a:gd name="connsiteX32" fmla="*/ 1261866 w 1298701"/>
                <a:gd name="connsiteY32" fmla="*/ 255587 h 1278588"/>
                <a:gd name="connsiteX33" fmla="*/ 1296156 w 1298701"/>
                <a:gd name="connsiteY33" fmla="*/ 320357 h 1278588"/>
                <a:gd name="connsiteX34" fmla="*/ 1292346 w 1298701"/>
                <a:gd name="connsiteY34" fmla="*/ 427037 h 1278588"/>
                <a:gd name="connsiteX35" fmla="*/ 1261866 w 1298701"/>
                <a:gd name="connsiteY35" fmla="*/ 449897 h 1278588"/>
                <a:gd name="connsiteX36" fmla="*/ 1277106 w 1298701"/>
                <a:gd name="connsiteY36" fmla="*/ 529907 h 1278588"/>
                <a:gd name="connsiteX37" fmla="*/ 1284726 w 1298701"/>
                <a:gd name="connsiteY37" fmla="*/ 598487 h 1278588"/>
                <a:gd name="connsiteX38" fmla="*/ 1235196 w 1298701"/>
                <a:gd name="connsiteY38" fmla="*/ 670877 h 1278588"/>
                <a:gd name="connsiteX39" fmla="*/ 1261866 w 1298701"/>
                <a:gd name="connsiteY39" fmla="*/ 777557 h 1278588"/>
                <a:gd name="connsiteX40" fmla="*/ 1258056 w 1298701"/>
                <a:gd name="connsiteY40" fmla="*/ 849947 h 1278588"/>
                <a:gd name="connsiteX41" fmla="*/ 1227576 w 1298701"/>
                <a:gd name="connsiteY41" fmla="*/ 918527 h 1278588"/>
                <a:gd name="connsiteX42" fmla="*/ 1208526 w 1298701"/>
                <a:gd name="connsiteY42" fmla="*/ 1013777 h 1278588"/>
                <a:gd name="connsiteX43" fmla="*/ 1124706 w 1298701"/>
                <a:gd name="connsiteY43" fmla="*/ 1086167 h 1278588"/>
                <a:gd name="connsiteX44" fmla="*/ 998976 w 1298701"/>
                <a:gd name="connsiteY44" fmla="*/ 1105217 h 1278588"/>
                <a:gd name="connsiteX45" fmla="*/ 888486 w 1298701"/>
                <a:gd name="connsiteY45" fmla="*/ 1086167 h 1278588"/>
                <a:gd name="connsiteX46" fmla="*/ 892296 w 1298701"/>
                <a:gd name="connsiteY46" fmla="*/ 1185227 h 1278588"/>
                <a:gd name="connsiteX47" fmla="*/ 835146 w 1298701"/>
                <a:gd name="connsiteY47" fmla="*/ 1249997 h 1278588"/>
                <a:gd name="connsiteX48" fmla="*/ 697986 w 1298701"/>
                <a:gd name="connsiteY48" fmla="*/ 1272857 h 1278588"/>
                <a:gd name="connsiteX49" fmla="*/ 637026 w 1298701"/>
                <a:gd name="connsiteY49" fmla="*/ 1147127 h 1278588"/>
                <a:gd name="connsiteX50" fmla="*/ 682746 w 1298701"/>
                <a:gd name="connsiteY50" fmla="*/ 990917 h 1278588"/>
                <a:gd name="connsiteX51" fmla="*/ 816096 w 1298701"/>
                <a:gd name="connsiteY51" fmla="*/ 945197 h 1278588"/>
                <a:gd name="connsiteX52" fmla="*/ 922776 w 1298701"/>
                <a:gd name="connsiteY52" fmla="*/ 872807 h 1278588"/>
                <a:gd name="connsiteX53" fmla="*/ 972306 w 1298701"/>
                <a:gd name="connsiteY53" fmla="*/ 861377 h 1278588"/>
                <a:gd name="connsiteX54" fmla="*/ 1067556 w 1298701"/>
                <a:gd name="connsiteY54" fmla="*/ 903287 h 1278588"/>
                <a:gd name="connsiteX55" fmla="*/ 1075176 w 1298701"/>
                <a:gd name="connsiteY55" fmla="*/ 857567 h 1278588"/>
                <a:gd name="connsiteX56" fmla="*/ 1052316 w 1298701"/>
                <a:gd name="connsiteY56" fmla="*/ 777557 h 1278588"/>
                <a:gd name="connsiteX57" fmla="*/ 1075176 w 1298701"/>
                <a:gd name="connsiteY57" fmla="*/ 678497 h 1278588"/>
                <a:gd name="connsiteX58" fmla="*/ 1048506 w 1298701"/>
                <a:gd name="connsiteY58" fmla="*/ 556577 h 1278588"/>
                <a:gd name="connsiteX59" fmla="*/ 1086606 w 1298701"/>
                <a:gd name="connsiteY59" fmla="*/ 468947 h 1278588"/>
                <a:gd name="connsiteX60" fmla="*/ 1056126 w 1298701"/>
                <a:gd name="connsiteY60" fmla="*/ 396557 h 1278588"/>
                <a:gd name="connsiteX61" fmla="*/ 1082796 w 1298701"/>
                <a:gd name="connsiteY61" fmla="*/ 286067 h 1278588"/>
                <a:gd name="connsiteX62" fmla="*/ 1067556 w 1298701"/>
                <a:gd name="connsiteY62" fmla="*/ 198437 h 1278588"/>
                <a:gd name="connsiteX63" fmla="*/ 953256 w 1298701"/>
                <a:gd name="connsiteY63" fmla="*/ 209867 h 1278588"/>
                <a:gd name="connsiteX64" fmla="*/ 835146 w 1298701"/>
                <a:gd name="connsiteY64" fmla="*/ 175577 h 1278588"/>
                <a:gd name="connsiteX65" fmla="*/ 690366 w 1298701"/>
                <a:gd name="connsiteY65" fmla="*/ 190817 h 1278588"/>
                <a:gd name="connsiteX66" fmla="*/ 572256 w 1298701"/>
                <a:gd name="connsiteY66" fmla="*/ 175577 h 1278588"/>
                <a:gd name="connsiteX67" fmla="*/ 465576 w 1298701"/>
                <a:gd name="connsiteY67" fmla="*/ 217487 h 1278588"/>
                <a:gd name="connsiteX68" fmla="*/ 358896 w 1298701"/>
                <a:gd name="connsiteY68" fmla="*/ 221297 h 1278588"/>
                <a:gd name="connsiteX69" fmla="*/ 305556 w 1298701"/>
                <a:gd name="connsiteY69" fmla="*/ 263207 h 1278588"/>
                <a:gd name="connsiteX70" fmla="*/ 210306 w 1298701"/>
                <a:gd name="connsiteY70" fmla="*/ 263207 h 1278588"/>
                <a:gd name="connsiteX71" fmla="*/ 252216 w 1298701"/>
                <a:gd name="connsiteY71" fmla="*/ 335597 h 1278588"/>
                <a:gd name="connsiteX72" fmla="*/ 195066 w 1298701"/>
                <a:gd name="connsiteY72" fmla="*/ 453707 h 1278588"/>
                <a:gd name="connsiteX73" fmla="*/ 240786 w 1298701"/>
                <a:gd name="connsiteY73" fmla="*/ 545147 h 1278588"/>
                <a:gd name="connsiteX74" fmla="*/ 233166 w 1298701"/>
                <a:gd name="connsiteY74" fmla="*/ 659447 h 1278588"/>
                <a:gd name="connsiteX75" fmla="*/ 290316 w 1298701"/>
                <a:gd name="connsiteY75" fmla="*/ 773747 h 1278588"/>
                <a:gd name="connsiteX76" fmla="*/ 282696 w 1298701"/>
                <a:gd name="connsiteY76" fmla="*/ 861377 h 1278588"/>
                <a:gd name="connsiteX77" fmla="*/ 351276 w 1298701"/>
                <a:gd name="connsiteY77" fmla="*/ 899477 h 1278588"/>
                <a:gd name="connsiteX78" fmla="*/ 393186 w 1298701"/>
                <a:gd name="connsiteY78" fmla="*/ 1009967 h 1278588"/>
                <a:gd name="connsiteX79" fmla="*/ 259836 w 1298701"/>
                <a:gd name="connsiteY79" fmla="*/ 1124267 h 1278588"/>
                <a:gd name="connsiteX80" fmla="*/ 145536 w 1298701"/>
                <a:gd name="connsiteY80" fmla="*/ 1124267 h 127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1298701" h="1278588">
                  <a:moveTo>
                    <a:pt x="145536" y="1124267"/>
                  </a:moveTo>
                  <a:cubicBezTo>
                    <a:pt x="111881" y="1109662"/>
                    <a:pt x="70606" y="1067117"/>
                    <a:pt x="57906" y="1036637"/>
                  </a:cubicBezTo>
                  <a:cubicBezTo>
                    <a:pt x="45206" y="1006157"/>
                    <a:pt x="64891" y="966152"/>
                    <a:pt x="69336" y="941387"/>
                  </a:cubicBezTo>
                  <a:cubicBezTo>
                    <a:pt x="73781" y="916622"/>
                    <a:pt x="87116" y="905192"/>
                    <a:pt x="84576" y="888047"/>
                  </a:cubicBezTo>
                  <a:cubicBezTo>
                    <a:pt x="82036" y="870902"/>
                    <a:pt x="59811" y="867092"/>
                    <a:pt x="54096" y="838517"/>
                  </a:cubicBezTo>
                  <a:cubicBezTo>
                    <a:pt x="48381" y="809942"/>
                    <a:pt x="47111" y="741362"/>
                    <a:pt x="50286" y="716597"/>
                  </a:cubicBezTo>
                  <a:cubicBezTo>
                    <a:pt x="53461" y="691832"/>
                    <a:pt x="73781" y="697547"/>
                    <a:pt x="73146" y="689927"/>
                  </a:cubicBezTo>
                  <a:cubicBezTo>
                    <a:pt x="72511" y="682307"/>
                    <a:pt x="56001" y="686117"/>
                    <a:pt x="46476" y="670877"/>
                  </a:cubicBezTo>
                  <a:cubicBezTo>
                    <a:pt x="36951" y="655637"/>
                    <a:pt x="19171" y="621982"/>
                    <a:pt x="15996" y="598487"/>
                  </a:cubicBezTo>
                  <a:cubicBezTo>
                    <a:pt x="12821" y="574992"/>
                    <a:pt x="23616" y="548322"/>
                    <a:pt x="27426" y="529907"/>
                  </a:cubicBezTo>
                  <a:cubicBezTo>
                    <a:pt x="31236" y="511492"/>
                    <a:pt x="43301" y="507682"/>
                    <a:pt x="38856" y="487997"/>
                  </a:cubicBezTo>
                  <a:cubicBezTo>
                    <a:pt x="34411" y="468312"/>
                    <a:pt x="4566" y="436562"/>
                    <a:pt x="756" y="411797"/>
                  </a:cubicBezTo>
                  <a:cubicBezTo>
                    <a:pt x="-3054" y="387032"/>
                    <a:pt x="8376" y="361632"/>
                    <a:pt x="15996" y="339407"/>
                  </a:cubicBezTo>
                  <a:cubicBezTo>
                    <a:pt x="23616" y="317182"/>
                    <a:pt x="43301" y="303212"/>
                    <a:pt x="46476" y="278447"/>
                  </a:cubicBezTo>
                  <a:cubicBezTo>
                    <a:pt x="49651" y="253682"/>
                    <a:pt x="29966" y="221932"/>
                    <a:pt x="35046" y="190817"/>
                  </a:cubicBezTo>
                  <a:cubicBezTo>
                    <a:pt x="40126" y="159702"/>
                    <a:pt x="57271" y="112077"/>
                    <a:pt x="76956" y="91757"/>
                  </a:cubicBezTo>
                  <a:cubicBezTo>
                    <a:pt x="96641" y="71437"/>
                    <a:pt x="125851" y="66992"/>
                    <a:pt x="153156" y="68897"/>
                  </a:cubicBezTo>
                  <a:cubicBezTo>
                    <a:pt x="180461" y="70802"/>
                    <a:pt x="214751" y="108267"/>
                    <a:pt x="240786" y="103187"/>
                  </a:cubicBezTo>
                  <a:cubicBezTo>
                    <a:pt x="266821" y="98107"/>
                    <a:pt x="276346" y="51752"/>
                    <a:pt x="309366" y="38417"/>
                  </a:cubicBezTo>
                  <a:cubicBezTo>
                    <a:pt x="342386" y="25082"/>
                    <a:pt x="410331" y="21272"/>
                    <a:pt x="438906" y="23177"/>
                  </a:cubicBezTo>
                  <a:cubicBezTo>
                    <a:pt x="467481" y="25082"/>
                    <a:pt x="463036" y="49212"/>
                    <a:pt x="480816" y="49847"/>
                  </a:cubicBezTo>
                  <a:cubicBezTo>
                    <a:pt x="498596" y="50482"/>
                    <a:pt x="510661" y="35242"/>
                    <a:pt x="545586" y="26987"/>
                  </a:cubicBezTo>
                  <a:cubicBezTo>
                    <a:pt x="580511" y="18732"/>
                    <a:pt x="650361" y="-2858"/>
                    <a:pt x="690366" y="317"/>
                  </a:cubicBezTo>
                  <a:cubicBezTo>
                    <a:pt x="730371" y="3492"/>
                    <a:pt x="764026" y="40957"/>
                    <a:pt x="785616" y="46037"/>
                  </a:cubicBezTo>
                  <a:cubicBezTo>
                    <a:pt x="807206" y="51117"/>
                    <a:pt x="800221" y="36512"/>
                    <a:pt x="819906" y="30797"/>
                  </a:cubicBezTo>
                  <a:cubicBezTo>
                    <a:pt x="839591" y="25082"/>
                    <a:pt x="878961" y="16192"/>
                    <a:pt x="903726" y="11747"/>
                  </a:cubicBezTo>
                  <a:cubicBezTo>
                    <a:pt x="928491" y="7302"/>
                    <a:pt x="943731" y="317"/>
                    <a:pt x="968496" y="4127"/>
                  </a:cubicBezTo>
                  <a:cubicBezTo>
                    <a:pt x="993261" y="7937"/>
                    <a:pt x="1026281" y="33972"/>
                    <a:pt x="1052316" y="34607"/>
                  </a:cubicBezTo>
                  <a:cubicBezTo>
                    <a:pt x="1078351" y="35242"/>
                    <a:pt x="1103116" y="10477"/>
                    <a:pt x="1124706" y="7937"/>
                  </a:cubicBezTo>
                  <a:cubicBezTo>
                    <a:pt x="1146296" y="5397"/>
                    <a:pt x="1157091" y="6667"/>
                    <a:pt x="1181856" y="19367"/>
                  </a:cubicBezTo>
                  <a:cubicBezTo>
                    <a:pt x="1206621" y="32067"/>
                    <a:pt x="1259326" y="52387"/>
                    <a:pt x="1273296" y="84137"/>
                  </a:cubicBezTo>
                  <a:cubicBezTo>
                    <a:pt x="1287266" y="115887"/>
                    <a:pt x="1267581" y="181292"/>
                    <a:pt x="1265676" y="209867"/>
                  </a:cubicBezTo>
                  <a:cubicBezTo>
                    <a:pt x="1263771" y="238442"/>
                    <a:pt x="1256786" y="237172"/>
                    <a:pt x="1261866" y="255587"/>
                  </a:cubicBezTo>
                  <a:cubicBezTo>
                    <a:pt x="1266946" y="274002"/>
                    <a:pt x="1291076" y="291782"/>
                    <a:pt x="1296156" y="320357"/>
                  </a:cubicBezTo>
                  <a:cubicBezTo>
                    <a:pt x="1301236" y="348932"/>
                    <a:pt x="1298061" y="405447"/>
                    <a:pt x="1292346" y="427037"/>
                  </a:cubicBezTo>
                  <a:cubicBezTo>
                    <a:pt x="1286631" y="448627"/>
                    <a:pt x="1264406" y="432752"/>
                    <a:pt x="1261866" y="449897"/>
                  </a:cubicBezTo>
                  <a:cubicBezTo>
                    <a:pt x="1259326" y="467042"/>
                    <a:pt x="1273296" y="505142"/>
                    <a:pt x="1277106" y="529907"/>
                  </a:cubicBezTo>
                  <a:cubicBezTo>
                    <a:pt x="1280916" y="554672"/>
                    <a:pt x="1291711" y="574992"/>
                    <a:pt x="1284726" y="598487"/>
                  </a:cubicBezTo>
                  <a:cubicBezTo>
                    <a:pt x="1277741" y="621982"/>
                    <a:pt x="1239006" y="641032"/>
                    <a:pt x="1235196" y="670877"/>
                  </a:cubicBezTo>
                  <a:cubicBezTo>
                    <a:pt x="1231386" y="700722"/>
                    <a:pt x="1258056" y="747712"/>
                    <a:pt x="1261866" y="777557"/>
                  </a:cubicBezTo>
                  <a:cubicBezTo>
                    <a:pt x="1265676" y="807402"/>
                    <a:pt x="1263771" y="826452"/>
                    <a:pt x="1258056" y="849947"/>
                  </a:cubicBezTo>
                  <a:cubicBezTo>
                    <a:pt x="1252341" y="873442"/>
                    <a:pt x="1235831" y="891222"/>
                    <a:pt x="1227576" y="918527"/>
                  </a:cubicBezTo>
                  <a:cubicBezTo>
                    <a:pt x="1219321" y="945832"/>
                    <a:pt x="1225671" y="985837"/>
                    <a:pt x="1208526" y="1013777"/>
                  </a:cubicBezTo>
                  <a:cubicBezTo>
                    <a:pt x="1191381" y="1041717"/>
                    <a:pt x="1159631" y="1070927"/>
                    <a:pt x="1124706" y="1086167"/>
                  </a:cubicBezTo>
                  <a:cubicBezTo>
                    <a:pt x="1089781" y="1101407"/>
                    <a:pt x="1038346" y="1105217"/>
                    <a:pt x="998976" y="1105217"/>
                  </a:cubicBezTo>
                  <a:cubicBezTo>
                    <a:pt x="959606" y="1105217"/>
                    <a:pt x="906266" y="1072832"/>
                    <a:pt x="888486" y="1086167"/>
                  </a:cubicBezTo>
                  <a:cubicBezTo>
                    <a:pt x="870706" y="1099502"/>
                    <a:pt x="901186" y="1157922"/>
                    <a:pt x="892296" y="1185227"/>
                  </a:cubicBezTo>
                  <a:cubicBezTo>
                    <a:pt x="883406" y="1212532"/>
                    <a:pt x="867531" y="1235392"/>
                    <a:pt x="835146" y="1249997"/>
                  </a:cubicBezTo>
                  <a:cubicBezTo>
                    <a:pt x="802761" y="1264602"/>
                    <a:pt x="731006" y="1290002"/>
                    <a:pt x="697986" y="1272857"/>
                  </a:cubicBezTo>
                  <a:cubicBezTo>
                    <a:pt x="664966" y="1255712"/>
                    <a:pt x="639566" y="1194117"/>
                    <a:pt x="637026" y="1147127"/>
                  </a:cubicBezTo>
                  <a:cubicBezTo>
                    <a:pt x="634486" y="1100137"/>
                    <a:pt x="652901" y="1024572"/>
                    <a:pt x="682746" y="990917"/>
                  </a:cubicBezTo>
                  <a:cubicBezTo>
                    <a:pt x="712591" y="957262"/>
                    <a:pt x="776091" y="964882"/>
                    <a:pt x="816096" y="945197"/>
                  </a:cubicBezTo>
                  <a:cubicBezTo>
                    <a:pt x="856101" y="925512"/>
                    <a:pt x="896741" y="886777"/>
                    <a:pt x="922776" y="872807"/>
                  </a:cubicBezTo>
                  <a:cubicBezTo>
                    <a:pt x="948811" y="858837"/>
                    <a:pt x="951986" y="853122"/>
                    <a:pt x="972306" y="861377"/>
                  </a:cubicBezTo>
                  <a:cubicBezTo>
                    <a:pt x="992626" y="869632"/>
                    <a:pt x="1050411" y="903922"/>
                    <a:pt x="1067556" y="903287"/>
                  </a:cubicBezTo>
                  <a:cubicBezTo>
                    <a:pt x="1084701" y="902652"/>
                    <a:pt x="1077716" y="878522"/>
                    <a:pt x="1075176" y="857567"/>
                  </a:cubicBezTo>
                  <a:cubicBezTo>
                    <a:pt x="1072636" y="836612"/>
                    <a:pt x="1052316" y="807402"/>
                    <a:pt x="1052316" y="777557"/>
                  </a:cubicBezTo>
                  <a:cubicBezTo>
                    <a:pt x="1052316" y="747712"/>
                    <a:pt x="1075811" y="715327"/>
                    <a:pt x="1075176" y="678497"/>
                  </a:cubicBezTo>
                  <a:cubicBezTo>
                    <a:pt x="1074541" y="641667"/>
                    <a:pt x="1046601" y="591502"/>
                    <a:pt x="1048506" y="556577"/>
                  </a:cubicBezTo>
                  <a:cubicBezTo>
                    <a:pt x="1050411" y="521652"/>
                    <a:pt x="1085336" y="495617"/>
                    <a:pt x="1086606" y="468947"/>
                  </a:cubicBezTo>
                  <a:cubicBezTo>
                    <a:pt x="1087876" y="442277"/>
                    <a:pt x="1056761" y="427037"/>
                    <a:pt x="1056126" y="396557"/>
                  </a:cubicBezTo>
                  <a:cubicBezTo>
                    <a:pt x="1055491" y="366077"/>
                    <a:pt x="1080891" y="319087"/>
                    <a:pt x="1082796" y="286067"/>
                  </a:cubicBezTo>
                  <a:cubicBezTo>
                    <a:pt x="1084701" y="253047"/>
                    <a:pt x="1089146" y="211137"/>
                    <a:pt x="1067556" y="198437"/>
                  </a:cubicBezTo>
                  <a:cubicBezTo>
                    <a:pt x="1045966" y="185737"/>
                    <a:pt x="991991" y="213677"/>
                    <a:pt x="953256" y="209867"/>
                  </a:cubicBezTo>
                  <a:cubicBezTo>
                    <a:pt x="914521" y="206057"/>
                    <a:pt x="878961" y="178752"/>
                    <a:pt x="835146" y="175577"/>
                  </a:cubicBezTo>
                  <a:cubicBezTo>
                    <a:pt x="791331" y="172402"/>
                    <a:pt x="734181" y="190817"/>
                    <a:pt x="690366" y="190817"/>
                  </a:cubicBezTo>
                  <a:cubicBezTo>
                    <a:pt x="646551" y="190817"/>
                    <a:pt x="609721" y="171132"/>
                    <a:pt x="572256" y="175577"/>
                  </a:cubicBezTo>
                  <a:cubicBezTo>
                    <a:pt x="534791" y="180022"/>
                    <a:pt x="501136" y="209867"/>
                    <a:pt x="465576" y="217487"/>
                  </a:cubicBezTo>
                  <a:cubicBezTo>
                    <a:pt x="430016" y="225107"/>
                    <a:pt x="385566" y="213677"/>
                    <a:pt x="358896" y="221297"/>
                  </a:cubicBezTo>
                  <a:cubicBezTo>
                    <a:pt x="332226" y="228917"/>
                    <a:pt x="330321" y="256222"/>
                    <a:pt x="305556" y="263207"/>
                  </a:cubicBezTo>
                  <a:cubicBezTo>
                    <a:pt x="280791" y="270192"/>
                    <a:pt x="219196" y="251142"/>
                    <a:pt x="210306" y="263207"/>
                  </a:cubicBezTo>
                  <a:cubicBezTo>
                    <a:pt x="201416" y="275272"/>
                    <a:pt x="254756" y="303847"/>
                    <a:pt x="252216" y="335597"/>
                  </a:cubicBezTo>
                  <a:cubicBezTo>
                    <a:pt x="249676" y="367347"/>
                    <a:pt x="196971" y="418782"/>
                    <a:pt x="195066" y="453707"/>
                  </a:cubicBezTo>
                  <a:cubicBezTo>
                    <a:pt x="193161" y="488632"/>
                    <a:pt x="234436" y="510857"/>
                    <a:pt x="240786" y="545147"/>
                  </a:cubicBezTo>
                  <a:cubicBezTo>
                    <a:pt x="247136" y="579437"/>
                    <a:pt x="224911" y="621347"/>
                    <a:pt x="233166" y="659447"/>
                  </a:cubicBezTo>
                  <a:cubicBezTo>
                    <a:pt x="241421" y="697547"/>
                    <a:pt x="282061" y="740092"/>
                    <a:pt x="290316" y="773747"/>
                  </a:cubicBezTo>
                  <a:cubicBezTo>
                    <a:pt x="298571" y="807402"/>
                    <a:pt x="272536" y="840422"/>
                    <a:pt x="282696" y="861377"/>
                  </a:cubicBezTo>
                  <a:cubicBezTo>
                    <a:pt x="292856" y="882332"/>
                    <a:pt x="332861" y="874712"/>
                    <a:pt x="351276" y="899477"/>
                  </a:cubicBezTo>
                  <a:cubicBezTo>
                    <a:pt x="369691" y="924242"/>
                    <a:pt x="408426" y="972502"/>
                    <a:pt x="393186" y="1009967"/>
                  </a:cubicBezTo>
                  <a:cubicBezTo>
                    <a:pt x="377946" y="1047432"/>
                    <a:pt x="301111" y="1105217"/>
                    <a:pt x="259836" y="1124267"/>
                  </a:cubicBezTo>
                  <a:cubicBezTo>
                    <a:pt x="218561" y="1143317"/>
                    <a:pt x="179191" y="1138872"/>
                    <a:pt x="145536" y="1124267"/>
                  </a:cubicBezTo>
                  <a:close/>
                </a:path>
              </a:pathLst>
            </a:custGeom>
            <a:solidFill>
              <a:srgbClr val="EAC8C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457200" tIns="18288" rIns="457200" bIns="18288" rtlCol="0" anchor="ctr"/>
            <a:lstStyle/>
            <a:p>
              <a:pPr algn="ctr"/>
              <a:endParaRPr lang="en-US"/>
            </a:p>
          </p:txBody>
        </p:sp>
      </p:grpSp>
      <p:sp>
        <p:nvSpPr>
          <p:cNvPr id="246" name="NAGMA -renal">
            <a:extLst>
              <a:ext uri="{FF2B5EF4-FFF2-40B4-BE49-F238E27FC236}">
                <a16:creationId xmlns:a16="http://schemas.microsoft.com/office/drawing/2014/main" id="{C380F56D-815D-44EA-B700-E974C42BF02B}"/>
              </a:ext>
            </a:extLst>
          </p:cNvPr>
          <p:cNvSpPr txBox="1"/>
          <p:nvPr/>
        </p:nvSpPr>
        <p:spPr>
          <a:xfrm>
            <a:off x="2620159" y="4911768"/>
            <a:ext cx="1576022" cy="9541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↑ Cl</a:t>
            </a:r>
            <a:r>
              <a:rPr lang="en-US" sz="1400" baseline="30000" dirty="0"/>
              <a:t>-</a:t>
            </a:r>
            <a:r>
              <a:rPr lang="en-US" sz="1400" dirty="0"/>
              <a:t> (excess NS)</a:t>
            </a:r>
          </a:p>
          <a:p>
            <a:pPr algn="ctr"/>
            <a:r>
              <a:rPr lang="en-US" sz="1400" dirty="0"/>
              <a:t>RTA</a:t>
            </a:r>
          </a:p>
          <a:p>
            <a:pPr algn="ctr"/>
            <a:r>
              <a:rPr lang="en-US" sz="1400" dirty="0"/>
              <a:t>Early renal failure</a:t>
            </a:r>
          </a:p>
          <a:p>
            <a:pPr algn="ctr"/>
            <a:r>
              <a:rPr lang="en-US" sz="1400" dirty="0"/>
              <a:t>↓ aldosterone</a:t>
            </a:r>
          </a:p>
        </p:txBody>
      </p:sp>
      <p:grpSp>
        <p:nvGrpSpPr>
          <p:cNvPr id="249" name="Group 248">
            <a:extLst>
              <a:ext uri="{FF2B5EF4-FFF2-40B4-BE49-F238E27FC236}">
                <a16:creationId xmlns:a16="http://schemas.microsoft.com/office/drawing/2014/main" id="{02BB4D1E-C4CA-46AE-9774-C32A49B85F1A}"/>
              </a:ext>
            </a:extLst>
          </p:cNvPr>
          <p:cNvGrpSpPr/>
          <p:nvPr/>
        </p:nvGrpSpPr>
        <p:grpSpPr>
          <a:xfrm>
            <a:off x="2899828" y="3635027"/>
            <a:ext cx="984840" cy="1268039"/>
            <a:chOff x="2093066" y="3548891"/>
            <a:chExt cx="991768" cy="1268039"/>
          </a:xfrm>
        </p:grpSpPr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B7112A76-9A30-4372-9206-38314E431895}"/>
                </a:ext>
              </a:extLst>
            </p:cNvPr>
            <p:cNvSpPr txBox="1"/>
            <p:nvPr/>
          </p:nvSpPr>
          <p:spPr>
            <a:xfrm>
              <a:off x="2093066" y="3548891"/>
              <a:ext cx="991768" cy="1268039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Positive</a:t>
              </a:r>
            </a:p>
            <a:p>
              <a:pPr algn="ctr"/>
              <a:endParaRPr lang="en-US" sz="1200" dirty="0"/>
            </a:p>
            <a:p>
              <a:pPr algn="ctr"/>
              <a:endParaRPr lang="en-US" sz="1200" dirty="0"/>
            </a:p>
            <a:p>
              <a:pPr algn="ctr"/>
              <a:endParaRPr lang="en-US" sz="1600" dirty="0"/>
            </a:p>
            <a:p>
              <a:pPr algn="ctr"/>
              <a:r>
                <a:rPr lang="en-US" sz="1200" dirty="0"/>
                <a:t>Renal loss of HCO</a:t>
              </a:r>
              <a:r>
                <a:rPr lang="en-US" sz="1200" baseline="-25000" dirty="0"/>
                <a:t>3</a:t>
              </a:r>
              <a:r>
                <a:rPr lang="en-US" sz="1200" baseline="30000" dirty="0"/>
                <a:t>-</a:t>
              </a:r>
              <a:endParaRPr lang="en-US" sz="1200" dirty="0"/>
            </a:p>
          </p:txBody>
        </p:sp>
        <p:grpSp>
          <p:nvGrpSpPr>
            <p:cNvPr id="251" name="Kidney">
              <a:extLst>
                <a:ext uri="{FF2B5EF4-FFF2-40B4-BE49-F238E27FC236}">
                  <a16:creationId xmlns:a16="http://schemas.microsoft.com/office/drawing/2014/main" id="{B22048BF-4675-4154-B320-F75DE4486656}"/>
                </a:ext>
              </a:extLst>
            </p:cNvPr>
            <p:cNvGrpSpPr/>
            <p:nvPr/>
          </p:nvGrpSpPr>
          <p:grpSpPr>
            <a:xfrm>
              <a:off x="2233584" y="3822150"/>
              <a:ext cx="544375" cy="568761"/>
              <a:chOff x="1188727" y="3718499"/>
              <a:chExt cx="882267" cy="1209853"/>
            </a:xfrm>
          </p:grpSpPr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7561E343-CE9A-4DD8-B687-EF0E0326C72F}"/>
                  </a:ext>
                </a:extLst>
              </p:cNvPr>
              <p:cNvSpPr/>
              <p:nvPr/>
            </p:nvSpPr>
            <p:spPr>
              <a:xfrm>
                <a:off x="1188727" y="3718499"/>
                <a:ext cx="607786" cy="1088648"/>
              </a:xfrm>
              <a:custGeom>
                <a:avLst/>
                <a:gdLst>
                  <a:gd name="connsiteX0" fmla="*/ 554951 w 607785"/>
                  <a:gd name="connsiteY0" fmla="*/ 119064 h 1088648"/>
                  <a:gd name="connsiteX1" fmla="*/ 434635 w 607785"/>
                  <a:gd name="connsiteY1" fmla="*/ 22812 h 1088648"/>
                  <a:gd name="connsiteX2" fmla="*/ 242130 w 607785"/>
                  <a:gd name="connsiteY2" fmla="*/ 22812 h 1088648"/>
                  <a:gd name="connsiteX3" fmla="*/ 73688 w 607785"/>
                  <a:gd name="connsiteY3" fmla="*/ 275475 h 1088648"/>
                  <a:gd name="connsiteX4" fmla="*/ 1498 w 607785"/>
                  <a:gd name="connsiteY4" fmla="*/ 624391 h 1088648"/>
                  <a:gd name="connsiteX5" fmla="*/ 133846 w 607785"/>
                  <a:gd name="connsiteY5" fmla="*/ 997369 h 1088648"/>
                  <a:gd name="connsiteX6" fmla="*/ 422604 w 607785"/>
                  <a:gd name="connsiteY6" fmla="*/ 1081591 h 1088648"/>
                  <a:gd name="connsiteX7" fmla="*/ 603077 w 607785"/>
                  <a:gd name="connsiteY7" fmla="*/ 865022 h 1088648"/>
                  <a:gd name="connsiteX8" fmla="*/ 554951 w 607785"/>
                  <a:gd name="connsiteY8" fmla="*/ 612359 h 1088648"/>
                  <a:gd name="connsiteX9" fmla="*/ 554951 w 607785"/>
                  <a:gd name="connsiteY9" fmla="*/ 395791 h 1088648"/>
                  <a:gd name="connsiteX10" fmla="*/ 603077 w 607785"/>
                  <a:gd name="connsiteY10" fmla="*/ 263443 h 1088648"/>
                  <a:gd name="connsiteX11" fmla="*/ 554951 w 607785"/>
                  <a:gd name="connsiteY11" fmla="*/ 119064 h 10886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07785" h="1088648">
                    <a:moveTo>
                      <a:pt x="554951" y="119064"/>
                    </a:moveTo>
                    <a:cubicBezTo>
                      <a:pt x="526877" y="78959"/>
                      <a:pt x="486772" y="38854"/>
                      <a:pt x="434635" y="22812"/>
                    </a:cubicBezTo>
                    <a:cubicBezTo>
                      <a:pt x="382498" y="6770"/>
                      <a:pt x="302288" y="-19299"/>
                      <a:pt x="242130" y="22812"/>
                    </a:cubicBezTo>
                    <a:cubicBezTo>
                      <a:pt x="181972" y="64923"/>
                      <a:pt x="113793" y="175212"/>
                      <a:pt x="73688" y="275475"/>
                    </a:cubicBezTo>
                    <a:cubicBezTo>
                      <a:pt x="33583" y="375738"/>
                      <a:pt x="-8528" y="504075"/>
                      <a:pt x="1498" y="624391"/>
                    </a:cubicBezTo>
                    <a:cubicBezTo>
                      <a:pt x="11524" y="744707"/>
                      <a:pt x="63662" y="921169"/>
                      <a:pt x="133846" y="997369"/>
                    </a:cubicBezTo>
                    <a:cubicBezTo>
                      <a:pt x="204030" y="1073569"/>
                      <a:pt x="344399" y="1103649"/>
                      <a:pt x="422604" y="1081591"/>
                    </a:cubicBezTo>
                    <a:cubicBezTo>
                      <a:pt x="500809" y="1059533"/>
                      <a:pt x="581019" y="943227"/>
                      <a:pt x="603077" y="865022"/>
                    </a:cubicBezTo>
                    <a:cubicBezTo>
                      <a:pt x="625135" y="786817"/>
                      <a:pt x="562972" y="690564"/>
                      <a:pt x="554951" y="612359"/>
                    </a:cubicBezTo>
                    <a:cubicBezTo>
                      <a:pt x="546930" y="534154"/>
                      <a:pt x="546930" y="453944"/>
                      <a:pt x="554951" y="395791"/>
                    </a:cubicBezTo>
                    <a:cubicBezTo>
                      <a:pt x="562972" y="337638"/>
                      <a:pt x="603077" y="307559"/>
                      <a:pt x="603077" y="263443"/>
                    </a:cubicBezTo>
                    <a:cubicBezTo>
                      <a:pt x="603077" y="219327"/>
                      <a:pt x="583025" y="159169"/>
                      <a:pt x="554951" y="119064"/>
                    </a:cubicBezTo>
                    <a:close/>
                  </a:path>
                </a:pathLst>
              </a:custGeom>
              <a:solidFill>
                <a:srgbClr val="C7394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057AF805-EDDF-4B69-8A83-03CD999F3227}"/>
                  </a:ext>
                </a:extLst>
              </p:cNvPr>
              <p:cNvSpPr/>
              <p:nvPr/>
            </p:nvSpPr>
            <p:spPr>
              <a:xfrm>
                <a:off x="1358171" y="3882269"/>
                <a:ext cx="712823" cy="1046083"/>
              </a:xfrm>
              <a:custGeom>
                <a:avLst/>
                <a:gdLst>
                  <a:gd name="connsiteX0" fmla="*/ 352220 w 749508"/>
                  <a:gd name="connsiteY0" fmla="*/ 207414 h 973885"/>
                  <a:gd name="connsiteX1" fmla="*/ 207841 w 749508"/>
                  <a:gd name="connsiteY1" fmla="*/ 63035 h 973885"/>
                  <a:gd name="connsiteX2" fmla="*/ 171746 w 749508"/>
                  <a:gd name="connsiteY2" fmla="*/ 2877 h 973885"/>
                  <a:gd name="connsiteX3" fmla="*/ 87525 w 749508"/>
                  <a:gd name="connsiteY3" fmla="*/ 147256 h 973885"/>
                  <a:gd name="connsiteX4" fmla="*/ 171746 w 749508"/>
                  <a:gd name="connsiteY4" fmla="*/ 267572 h 973885"/>
                  <a:gd name="connsiteX5" fmla="*/ 195809 w 749508"/>
                  <a:gd name="connsiteY5" fmla="*/ 267572 h 973885"/>
                  <a:gd name="connsiteX6" fmla="*/ 63462 w 749508"/>
                  <a:gd name="connsiteY6" fmla="*/ 303666 h 973885"/>
                  <a:gd name="connsiteX7" fmla="*/ 15335 w 749508"/>
                  <a:gd name="connsiteY7" fmla="*/ 291635 h 973885"/>
                  <a:gd name="connsiteX8" fmla="*/ 15335 w 749508"/>
                  <a:gd name="connsiteY8" fmla="*/ 520235 h 973885"/>
                  <a:gd name="connsiteX9" fmla="*/ 195809 w 749508"/>
                  <a:gd name="connsiteY9" fmla="*/ 448045 h 973885"/>
                  <a:gd name="connsiteX10" fmla="*/ 147683 w 749508"/>
                  <a:gd name="connsiteY10" fmla="*/ 628519 h 973885"/>
                  <a:gd name="connsiteX11" fmla="*/ 195809 w 749508"/>
                  <a:gd name="connsiteY11" fmla="*/ 688677 h 973885"/>
                  <a:gd name="connsiteX12" fmla="*/ 267998 w 749508"/>
                  <a:gd name="connsiteY12" fmla="*/ 700709 h 973885"/>
                  <a:gd name="connsiteX13" fmla="*/ 316125 w 749508"/>
                  <a:gd name="connsiteY13" fmla="*/ 496172 h 973885"/>
                  <a:gd name="connsiteX14" fmla="*/ 472535 w 749508"/>
                  <a:gd name="connsiteY14" fmla="*/ 436014 h 973885"/>
                  <a:gd name="connsiteX15" fmla="*/ 713167 w 749508"/>
                  <a:gd name="connsiteY15" fmla="*/ 881182 h 973885"/>
                  <a:gd name="connsiteX16" fmla="*/ 713167 w 749508"/>
                  <a:gd name="connsiteY16" fmla="*/ 941340 h 973885"/>
                  <a:gd name="connsiteX17" fmla="*/ 725198 w 749508"/>
                  <a:gd name="connsiteY17" fmla="*/ 484140 h 973885"/>
                  <a:gd name="connsiteX18" fmla="*/ 352220 w 749508"/>
                  <a:gd name="connsiteY18" fmla="*/ 207414 h 973885"/>
                  <a:gd name="connsiteX0" fmla="*/ 366890 w 764178"/>
                  <a:gd name="connsiteY0" fmla="*/ 207414 h 973885"/>
                  <a:gd name="connsiteX1" fmla="*/ 222511 w 764178"/>
                  <a:gd name="connsiteY1" fmla="*/ 63035 h 973885"/>
                  <a:gd name="connsiteX2" fmla="*/ 186416 w 764178"/>
                  <a:gd name="connsiteY2" fmla="*/ 2877 h 973885"/>
                  <a:gd name="connsiteX3" fmla="*/ 102195 w 764178"/>
                  <a:gd name="connsiteY3" fmla="*/ 147256 h 973885"/>
                  <a:gd name="connsiteX4" fmla="*/ 186416 w 764178"/>
                  <a:gd name="connsiteY4" fmla="*/ 267572 h 973885"/>
                  <a:gd name="connsiteX5" fmla="*/ 210479 w 764178"/>
                  <a:gd name="connsiteY5" fmla="*/ 267572 h 973885"/>
                  <a:gd name="connsiteX6" fmla="*/ 78132 w 764178"/>
                  <a:gd name="connsiteY6" fmla="*/ 303666 h 973885"/>
                  <a:gd name="connsiteX7" fmla="*/ 4605 w 764178"/>
                  <a:gd name="connsiteY7" fmla="*/ 301795 h 973885"/>
                  <a:gd name="connsiteX8" fmla="*/ 30005 w 764178"/>
                  <a:gd name="connsiteY8" fmla="*/ 520235 h 973885"/>
                  <a:gd name="connsiteX9" fmla="*/ 210479 w 764178"/>
                  <a:gd name="connsiteY9" fmla="*/ 448045 h 973885"/>
                  <a:gd name="connsiteX10" fmla="*/ 162353 w 764178"/>
                  <a:gd name="connsiteY10" fmla="*/ 628519 h 973885"/>
                  <a:gd name="connsiteX11" fmla="*/ 210479 w 764178"/>
                  <a:gd name="connsiteY11" fmla="*/ 688677 h 973885"/>
                  <a:gd name="connsiteX12" fmla="*/ 282668 w 764178"/>
                  <a:gd name="connsiteY12" fmla="*/ 700709 h 973885"/>
                  <a:gd name="connsiteX13" fmla="*/ 330795 w 764178"/>
                  <a:gd name="connsiteY13" fmla="*/ 496172 h 973885"/>
                  <a:gd name="connsiteX14" fmla="*/ 487205 w 764178"/>
                  <a:gd name="connsiteY14" fmla="*/ 436014 h 973885"/>
                  <a:gd name="connsiteX15" fmla="*/ 727837 w 764178"/>
                  <a:gd name="connsiteY15" fmla="*/ 881182 h 973885"/>
                  <a:gd name="connsiteX16" fmla="*/ 727837 w 764178"/>
                  <a:gd name="connsiteY16" fmla="*/ 941340 h 973885"/>
                  <a:gd name="connsiteX17" fmla="*/ 739868 w 764178"/>
                  <a:gd name="connsiteY17" fmla="*/ 484140 h 973885"/>
                  <a:gd name="connsiteX18" fmla="*/ 366890 w 764178"/>
                  <a:gd name="connsiteY18" fmla="*/ 207414 h 973885"/>
                  <a:gd name="connsiteX0" fmla="*/ 365010 w 762298"/>
                  <a:gd name="connsiteY0" fmla="*/ 207414 h 973885"/>
                  <a:gd name="connsiteX1" fmla="*/ 220631 w 762298"/>
                  <a:gd name="connsiteY1" fmla="*/ 63035 h 973885"/>
                  <a:gd name="connsiteX2" fmla="*/ 184536 w 762298"/>
                  <a:gd name="connsiteY2" fmla="*/ 2877 h 973885"/>
                  <a:gd name="connsiteX3" fmla="*/ 100315 w 762298"/>
                  <a:gd name="connsiteY3" fmla="*/ 147256 h 973885"/>
                  <a:gd name="connsiteX4" fmla="*/ 184536 w 762298"/>
                  <a:gd name="connsiteY4" fmla="*/ 267572 h 973885"/>
                  <a:gd name="connsiteX5" fmla="*/ 208599 w 762298"/>
                  <a:gd name="connsiteY5" fmla="*/ 267572 h 973885"/>
                  <a:gd name="connsiteX6" fmla="*/ 50852 w 762298"/>
                  <a:gd name="connsiteY6" fmla="*/ 278266 h 973885"/>
                  <a:gd name="connsiteX7" fmla="*/ 2725 w 762298"/>
                  <a:gd name="connsiteY7" fmla="*/ 301795 h 973885"/>
                  <a:gd name="connsiteX8" fmla="*/ 28125 w 762298"/>
                  <a:gd name="connsiteY8" fmla="*/ 520235 h 973885"/>
                  <a:gd name="connsiteX9" fmla="*/ 208599 w 762298"/>
                  <a:gd name="connsiteY9" fmla="*/ 448045 h 973885"/>
                  <a:gd name="connsiteX10" fmla="*/ 160473 w 762298"/>
                  <a:gd name="connsiteY10" fmla="*/ 628519 h 973885"/>
                  <a:gd name="connsiteX11" fmla="*/ 208599 w 762298"/>
                  <a:gd name="connsiteY11" fmla="*/ 688677 h 973885"/>
                  <a:gd name="connsiteX12" fmla="*/ 280788 w 762298"/>
                  <a:gd name="connsiteY12" fmla="*/ 700709 h 973885"/>
                  <a:gd name="connsiteX13" fmla="*/ 328915 w 762298"/>
                  <a:gd name="connsiteY13" fmla="*/ 496172 h 973885"/>
                  <a:gd name="connsiteX14" fmla="*/ 485325 w 762298"/>
                  <a:gd name="connsiteY14" fmla="*/ 436014 h 973885"/>
                  <a:gd name="connsiteX15" fmla="*/ 725957 w 762298"/>
                  <a:gd name="connsiteY15" fmla="*/ 881182 h 973885"/>
                  <a:gd name="connsiteX16" fmla="*/ 725957 w 762298"/>
                  <a:gd name="connsiteY16" fmla="*/ 941340 h 973885"/>
                  <a:gd name="connsiteX17" fmla="*/ 737988 w 762298"/>
                  <a:gd name="connsiteY17" fmla="*/ 484140 h 973885"/>
                  <a:gd name="connsiteX18" fmla="*/ 365010 w 762298"/>
                  <a:gd name="connsiteY18" fmla="*/ 207414 h 973885"/>
                  <a:gd name="connsiteX0" fmla="*/ 365010 w 762298"/>
                  <a:gd name="connsiteY0" fmla="*/ 207414 h 973885"/>
                  <a:gd name="connsiteX1" fmla="*/ 220631 w 762298"/>
                  <a:gd name="connsiteY1" fmla="*/ 63035 h 973885"/>
                  <a:gd name="connsiteX2" fmla="*/ 184536 w 762298"/>
                  <a:gd name="connsiteY2" fmla="*/ 2877 h 973885"/>
                  <a:gd name="connsiteX3" fmla="*/ 100315 w 762298"/>
                  <a:gd name="connsiteY3" fmla="*/ 147256 h 973885"/>
                  <a:gd name="connsiteX4" fmla="*/ 184536 w 762298"/>
                  <a:gd name="connsiteY4" fmla="*/ 267572 h 973885"/>
                  <a:gd name="connsiteX5" fmla="*/ 218759 w 762298"/>
                  <a:gd name="connsiteY5" fmla="*/ 287892 h 973885"/>
                  <a:gd name="connsiteX6" fmla="*/ 50852 w 762298"/>
                  <a:gd name="connsiteY6" fmla="*/ 278266 h 973885"/>
                  <a:gd name="connsiteX7" fmla="*/ 2725 w 762298"/>
                  <a:gd name="connsiteY7" fmla="*/ 301795 h 973885"/>
                  <a:gd name="connsiteX8" fmla="*/ 28125 w 762298"/>
                  <a:gd name="connsiteY8" fmla="*/ 520235 h 973885"/>
                  <a:gd name="connsiteX9" fmla="*/ 208599 w 762298"/>
                  <a:gd name="connsiteY9" fmla="*/ 448045 h 973885"/>
                  <a:gd name="connsiteX10" fmla="*/ 160473 w 762298"/>
                  <a:gd name="connsiteY10" fmla="*/ 628519 h 973885"/>
                  <a:gd name="connsiteX11" fmla="*/ 208599 w 762298"/>
                  <a:gd name="connsiteY11" fmla="*/ 688677 h 973885"/>
                  <a:gd name="connsiteX12" fmla="*/ 280788 w 762298"/>
                  <a:gd name="connsiteY12" fmla="*/ 700709 h 973885"/>
                  <a:gd name="connsiteX13" fmla="*/ 328915 w 762298"/>
                  <a:gd name="connsiteY13" fmla="*/ 496172 h 973885"/>
                  <a:gd name="connsiteX14" fmla="*/ 485325 w 762298"/>
                  <a:gd name="connsiteY14" fmla="*/ 436014 h 973885"/>
                  <a:gd name="connsiteX15" fmla="*/ 725957 w 762298"/>
                  <a:gd name="connsiteY15" fmla="*/ 881182 h 973885"/>
                  <a:gd name="connsiteX16" fmla="*/ 725957 w 762298"/>
                  <a:gd name="connsiteY16" fmla="*/ 941340 h 973885"/>
                  <a:gd name="connsiteX17" fmla="*/ 737988 w 762298"/>
                  <a:gd name="connsiteY17" fmla="*/ 484140 h 973885"/>
                  <a:gd name="connsiteX18" fmla="*/ 365010 w 762298"/>
                  <a:gd name="connsiteY18" fmla="*/ 207414 h 973885"/>
                  <a:gd name="connsiteX0" fmla="*/ 365010 w 762298"/>
                  <a:gd name="connsiteY0" fmla="*/ 204584 h 971055"/>
                  <a:gd name="connsiteX1" fmla="*/ 220631 w 762298"/>
                  <a:gd name="connsiteY1" fmla="*/ 60205 h 971055"/>
                  <a:gd name="connsiteX2" fmla="*/ 184536 w 762298"/>
                  <a:gd name="connsiteY2" fmla="*/ 47 h 971055"/>
                  <a:gd name="connsiteX3" fmla="*/ 39355 w 762298"/>
                  <a:gd name="connsiteY3" fmla="*/ 68226 h 971055"/>
                  <a:gd name="connsiteX4" fmla="*/ 184536 w 762298"/>
                  <a:gd name="connsiteY4" fmla="*/ 264742 h 971055"/>
                  <a:gd name="connsiteX5" fmla="*/ 218759 w 762298"/>
                  <a:gd name="connsiteY5" fmla="*/ 285062 h 971055"/>
                  <a:gd name="connsiteX6" fmla="*/ 50852 w 762298"/>
                  <a:gd name="connsiteY6" fmla="*/ 275436 h 971055"/>
                  <a:gd name="connsiteX7" fmla="*/ 2725 w 762298"/>
                  <a:gd name="connsiteY7" fmla="*/ 298965 h 971055"/>
                  <a:gd name="connsiteX8" fmla="*/ 28125 w 762298"/>
                  <a:gd name="connsiteY8" fmla="*/ 517405 h 971055"/>
                  <a:gd name="connsiteX9" fmla="*/ 208599 w 762298"/>
                  <a:gd name="connsiteY9" fmla="*/ 445215 h 971055"/>
                  <a:gd name="connsiteX10" fmla="*/ 160473 w 762298"/>
                  <a:gd name="connsiteY10" fmla="*/ 625689 h 971055"/>
                  <a:gd name="connsiteX11" fmla="*/ 208599 w 762298"/>
                  <a:gd name="connsiteY11" fmla="*/ 685847 h 971055"/>
                  <a:gd name="connsiteX12" fmla="*/ 280788 w 762298"/>
                  <a:gd name="connsiteY12" fmla="*/ 697879 h 971055"/>
                  <a:gd name="connsiteX13" fmla="*/ 328915 w 762298"/>
                  <a:gd name="connsiteY13" fmla="*/ 493342 h 971055"/>
                  <a:gd name="connsiteX14" fmla="*/ 485325 w 762298"/>
                  <a:gd name="connsiteY14" fmla="*/ 433184 h 971055"/>
                  <a:gd name="connsiteX15" fmla="*/ 725957 w 762298"/>
                  <a:gd name="connsiteY15" fmla="*/ 878352 h 971055"/>
                  <a:gd name="connsiteX16" fmla="*/ 725957 w 762298"/>
                  <a:gd name="connsiteY16" fmla="*/ 938510 h 971055"/>
                  <a:gd name="connsiteX17" fmla="*/ 737988 w 762298"/>
                  <a:gd name="connsiteY17" fmla="*/ 481310 h 971055"/>
                  <a:gd name="connsiteX18" fmla="*/ 365010 w 762298"/>
                  <a:gd name="connsiteY18" fmla="*/ 204584 h 971055"/>
                  <a:gd name="connsiteX0" fmla="*/ 365010 w 762298"/>
                  <a:gd name="connsiteY0" fmla="*/ 252091 h 1018562"/>
                  <a:gd name="connsiteX1" fmla="*/ 230791 w 762298"/>
                  <a:gd name="connsiteY1" fmla="*/ 11192 h 1018562"/>
                  <a:gd name="connsiteX2" fmla="*/ 184536 w 762298"/>
                  <a:gd name="connsiteY2" fmla="*/ 47554 h 1018562"/>
                  <a:gd name="connsiteX3" fmla="*/ 39355 w 762298"/>
                  <a:gd name="connsiteY3" fmla="*/ 115733 h 1018562"/>
                  <a:gd name="connsiteX4" fmla="*/ 184536 w 762298"/>
                  <a:gd name="connsiteY4" fmla="*/ 312249 h 1018562"/>
                  <a:gd name="connsiteX5" fmla="*/ 218759 w 762298"/>
                  <a:gd name="connsiteY5" fmla="*/ 332569 h 1018562"/>
                  <a:gd name="connsiteX6" fmla="*/ 50852 w 762298"/>
                  <a:gd name="connsiteY6" fmla="*/ 322943 h 1018562"/>
                  <a:gd name="connsiteX7" fmla="*/ 2725 w 762298"/>
                  <a:gd name="connsiteY7" fmla="*/ 346472 h 1018562"/>
                  <a:gd name="connsiteX8" fmla="*/ 28125 w 762298"/>
                  <a:gd name="connsiteY8" fmla="*/ 564912 h 1018562"/>
                  <a:gd name="connsiteX9" fmla="*/ 208599 w 762298"/>
                  <a:gd name="connsiteY9" fmla="*/ 492722 h 1018562"/>
                  <a:gd name="connsiteX10" fmla="*/ 160473 w 762298"/>
                  <a:gd name="connsiteY10" fmla="*/ 673196 h 1018562"/>
                  <a:gd name="connsiteX11" fmla="*/ 208599 w 762298"/>
                  <a:gd name="connsiteY11" fmla="*/ 733354 h 1018562"/>
                  <a:gd name="connsiteX12" fmla="*/ 280788 w 762298"/>
                  <a:gd name="connsiteY12" fmla="*/ 745386 h 1018562"/>
                  <a:gd name="connsiteX13" fmla="*/ 328915 w 762298"/>
                  <a:gd name="connsiteY13" fmla="*/ 540849 h 1018562"/>
                  <a:gd name="connsiteX14" fmla="*/ 485325 w 762298"/>
                  <a:gd name="connsiteY14" fmla="*/ 480691 h 1018562"/>
                  <a:gd name="connsiteX15" fmla="*/ 725957 w 762298"/>
                  <a:gd name="connsiteY15" fmla="*/ 925859 h 1018562"/>
                  <a:gd name="connsiteX16" fmla="*/ 725957 w 762298"/>
                  <a:gd name="connsiteY16" fmla="*/ 986017 h 1018562"/>
                  <a:gd name="connsiteX17" fmla="*/ 737988 w 762298"/>
                  <a:gd name="connsiteY17" fmla="*/ 528817 h 1018562"/>
                  <a:gd name="connsiteX18" fmla="*/ 365010 w 762298"/>
                  <a:gd name="connsiteY18" fmla="*/ 252091 h 1018562"/>
                  <a:gd name="connsiteX0" fmla="*/ 365010 w 762298"/>
                  <a:gd name="connsiteY0" fmla="*/ 257298 h 1023769"/>
                  <a:gd name="connsiteX1" fmla="*/ 230791 w 762298"/>
                  <a:gd name="connsiteY1" fmla="*/ 16399 h 1023769"/>
                  <a:gd name="connsiteX2" fmla="*/ 154056 w 762298"/>
                  <a:gd name="connsiteY2" fmla="*/ 32441 h 1023769"/>
                  <a:gd name="connsiteX3" fmla="*/ 39355 w 762298"/>
                  <a:gd name="connsiteY3" fmla="*/ 120940 h 1023769"/>
                  <a:gd name="connsiteX4" fmla="*/ 184536 w 762298"/>
                  <a:gd name="connsiteY4" fmla="*/ 317456 h 1023769"/>
                  <a:gd name="connsiteX5" fmla="*/ 218759 w 762298"/>
                  <a:gd name="connsiteY5" fmla="*/ 337776 h 1023769"/>
                  <a:gd name="connsiteX6" fmla="*/ 50852 w 762298"/>
                  <a:gd name="connsiteY6" fmla="*/ 328150 h 1023769"/>
                  <a:gd name="connsiteX7" fmla="*/ 2725 w 762298"/>
                  <a:gd name="connsiteY7" fmla="*/ 351679 h 1023769"/>
                  <a:gd name="connsiteX8" fmla="*/ 28125 w 762298"/>
                  <a:gd name="connsiteY8" fmla="*/ 570119 h 1023769"/>
                  <a:gd name="connsiteX9" fmla="*/ 208599 w 762298"/>
                  <a:gd name="connsiteY9" fmla="*/ 497929 h 1023769"/>
                  <a:gd name="connsiteX10" fmla="*/ 160473 w 762298"/>
                  <a:gd name="connsiteY10" fmla="*/ 678403 h 1023769"/>
                  <a:gd name="connsiteX11" fmla="*/ 208599 w 762298"/>
                  <a:gd name="connsiteY11" fmla="*/ 738561 h 1023769"/>
                  <a:gd name="connsiteX12" fmla="*/ 280788 w 762298"/>
                  <a:gd name="connsiteY12" fmla="*/ 750593 h 1023769"/>
                  <a:gd name="connsiteX13" fmla="*/ 328915 w 762298"/>
                  <a:gd name="connsiteY13" fmla="*/ 546056 h 1023769"/>
                  <a:gd name="connsiteX14" fmla="*/ 485325 w 762298"/>
                  <a:gd name="connsiteY14" fmla="*/ 485898 h 1023769"/>
                  <a:gd name="connsiteX15" fmla="*/ 725957 w 762298"/>
                  <a:gd name="connsiteY15" fmla="*/ 931066 h 1023769"/>
                  <a:gd name="connsiteX16" fmla="*/ 725957 w 762298"/>
                  <a:gd name="connsiteY16" fmla="*/ 991224 h 1023769"/>
                  <a:gd name="connsiteX17" fmla="*/ 737988 w 762298"/>
                  <a:gd name="connsiteY17" fmla="*/ 534024 h 1023769"/>
                  <a:gd name="connsiteX18" fmla="*/ 365010 w 762298"/>
                  <a:gd name="connsiteY18" fmla="*/ 257298 h 1023769"/>
                  <a:gd name="connsiteX0" fmla="*/ 365010 w 762298"/>
                  <a:gd name="connsiteY0" fmla="*/ 252092 h 1018563"/>
                  <a:gd name="connsiteX1" fmla="*/ 230791 w 762298"/>
                  <a:gd name="connsiteY1" fmla="*/ 11193 h 1018563"/>
                  <a:gd name="connsiteX2" fmla="*/ 148976 w 762298"/>
                  <a:gd name="connsiteY2" fmla="*/ 47555 h 1018563"/>
                  <a:gd name="connsiteX3" fmla="*/ 39355 w 762298"/>
                  <a:gd name="connsiteY3" fmla="*/ 115734 h 1018563"/>
                  <a:gd name="connsiteX4" fmla="*/ 184536 w 762298"/>
                  <a:gd name="connsiteY4" fmla="*/ 312250 h 1018563"/>
                  <a:gd name="connsiteX5" fmla="*/ 218759 w 762298"/>
                  <a:gd name="connsiteY5" fmla="*/ 332570 h 1018563"/>
                  <a:gd name="connsiteX6" fmla="*/ 50852 w 762298"/>
                  <a:gd name="connsiteY6" fmla="*/ 322944 h 1018563"/>
                  <a:gd name="connsiteX7" fmla="*/ 2725 w 762298"/>
                  <a:gd name="connsiteY7" fmla="*/ 346473 h 1018563"/>
                  <a:gd name="connsiteX8" fmla="*/ 28125 w 762298"/>
                  <a:gd name="connsiteY8" fmla="*/ 564913 h 1018563"/>
                  <a:gd name="connsiteX9" fmla="*/ 208599 w 762298"/>
                  <a:gd name="connsiteY9" fmla="*/ 492723 h 1018563"/>
                  <a:gd name="connsiteX10" fmla="*/ 160473 w 762298"/>
                  <a:gd name="connsiteY10" fmla="*/ 673197 h 1018563"/>
                  <a:gd name="connsiteX11" fmla="*/ 208599 w 762298"/>
                  <a:gd name="connsiteY11" fmla="*/ 733355 h 1018563"/>
                  <a:gd name="connsiteX12" fmla="*/ 280788 w 762298"/>
                  <a:gd name="connsiteY12" fmla="*/ 745387 h 1018563"/>
                  <a:gd name="connsiteX13" fmla="*/ 328915 w 762298"/>
                  <a:gd name="connsiteY13" fmla="*/ 540850 h 1018563"/>
                  <a:gd name="connsiteX14" fmla="*/ 485325 w 762298"/>
                  <a:gd name="connsiteY14" fmla="*/ 480692 h 1018563"/>
                  <a:gd name="connsiteX15" fmla="*/ 725957 w 762298"/>
                  <a:gd name="connsiteY15" fmla="*/ 925860 h 1018563"/>
                  <a:gd name="connsiteX16" fmla="*/ 725957 w 762298"/>
                  <a:gd name="connsiteY16" fmla="*/ 986018 h 1018563"/>
                  <a:gd name="connsiteX17" fmla="*/ 737988 w 762298"/>
                  <a:gd name="connsiteY17" fmla="*/ 528818 h 1018563"/>
                  <a:gd name="connsiteX18" fmla="*/ 365010 w 762298"/>
                  <a:gd name="connsiteY18" fmla="*/ 252092 h 1018563"/>
                  <a:gd name="connsiteX0" fmla="*/ 365010 w 762298"/>
                  <a:gd name="connsiteY0" fmla="*/ 279841 h 1046312"/>
                  <a:gd name="connsiteX1" fmla="*/ 220631 w 762298"/>
                  <a:gd name="connsiteY1" fmla="*/ 8462 h 1046312"/>
                  <a:gd name="connsiteX2" fmla="*/ 148976 w 762298"/>
                  <a:gd name="connsiteY2" fmla="*/ 75304 h 1046312"/>
                  <a:gd name="connsiteX3" fmla="*/ 39355 w 762298"/>
                  <a:gd name="connsiteY3" fmla="*/ 143483 h 1046312"/>
                  <a:gd name="connsiteX4" fmla="*/ 184536 w 762298"/>
                  <a:gd name="connsiteY4" fmla="*/ 339999 h 1046312"/>
                  <a:gd name="connsiteX5" fmla="*/ 218759 w 762298"/>
                  <a:gd name="connsiteY5" fmla="*/ 360319 h 1046312"/>
                  <a:gd name="connsiteX6" fmla="*/ 50852 w 762298"/>
                  <a:gd name="connsiteY6" fmla="*/ 350693 h 1046312"/>
                  <a:gd name="connsiteX7" fmla="*/ 2725 w 762298"/>
                  <a:gd name="connsiteY7" fmla="*/ 374222 h 1046312"/>
                  <a:gd name="connsiteX8" fmla="*/ 28125 w 762298"/>
                  <a:gd name="connsiteY8" fmla="*/ 592662 h 1046312"/>
                  <a:gd name="connsiteX9" fmla="*/ 208599 w 762298"/>
                  <a:gd name="connsiteY9" fmla="*/ 520472 h 1046312"/>
                  <a:gd name="connsiteX10" fmla="*/ 160473 w 762298"/>
                  <a:gd name="connsiteY10" fmla="*/ 700946 h 1046312"/>
                  <a:gd name="connsiteX11" fmla="*/ 208599 w 762298"/>
                  <a:gd name="connsiteY11" fmla="*/ 761104 h 1046312"/>
                  <a:gd name="connsiteX12" fmla="*/ 280788 w 762298"/>
                  <a:gd name="connsiteY12" fmla="*/ 773136 h 1046312"/>
                  <a:gd name="connsiteX13" fmla="*/ 328915 w 762298"/>
                  <a:gd name="connsiteY13" fmla="*/ 568599 h 1046312"/>
                  <a:gd name="connsiteX14" fmla="*/ 485325 w 762298"/>
                  <a:gd name="connsiteY14" fmla="*/ 508441 h 1046312"/>
                  <a:gd name="connsiteX15" fmla="*/ 725957 w 762298"/>
                  <a:gd name="connsiteY15" fmla="*/ 953609 h 1046312"/>
                  <a:gd name="connsiteX16" fmla="*/ 725957 w 762298"/>
                  <a:gd name="connsiteY16" fmla="*/ 1013767 h 1046312"/>
                  <a:gd name="connsiteX17" fmla="*/ 737988 w 762298"/>
                  <a:gd name="connsiteY17" fmla="*/ 556567 h 1046312"/>
                  <a:gd name="connsiteX18" fmla="*/ 365010 w 762298"/>
                  <a:gd name="connsiteY18" fmla="*/ 279841 h 1046312"/>
                  <a:gd name="connsiteX0" fmla="*/ 365010 w 762298"/>
                  <a:gd name="connsiteY0" fmla="*/ 279841 h 1046312"/>
                  <a:gd name="connsiteX1" fmla="*/ 220631 w 762298"/>
                  <a:gd name="connsiteY1" fmla="*/ 8462 h 1046312"/>
                  <a:gd name="connsiteX2" fmla="*/ 148976 w 762298"/>
                  <a:gd name="connsiteY2" fmla="*/ 75304 h 1046312"/>
                  <a:gd name="connsiteX3" fmla="*/ 39355 w 762298"/>
                  <a:gd name="connsiteY3" fmla="*/ 143483 h 1046312"/>
                  <a:gd name="connsiteX4" fmla="*/ 184536 w 762298"/>
                  <a:gd name="connsiteY4" fmla="*/ 339999 h 1046312"/>
                  <a:gd name="connsiteX5" fmla="*/ 218759 w 762298"/>
                  <a:gd name="connsiteY5" fmla="*/ 339999 h 1046312"/>
                  <a:gd name="connsiteX6" fmla="*/ 50852 w 762298"/>
                  <a:gd name="connsiteY6" fmla="*/ 350693 h 1046312"/>
                  <a:gd name="connsiteX7" fmla="*/ 2725 w 762298"/>
                  <a:gd name="connsiteY7" fmla="*/ 374222 h 1046312"/>
                  <a:gd name="connsiteX8" fmla="*/ 28125 w 762298"/>
                  <a:gd name="connsiteY8" fmla="*/ 592662 h 1046312"/>
                  <a:gd name="connsiteX9" fmla="*/ 208599 w 762298"/>
                  <a:gd name="connsiteY9" fmla="*/ 520472 h 1046312"/>
                  <a:gd name="connsiteX10" fmla="*/ 160473 w 762298"/>
                  <a:gd name="connsiteY10" fmla="*/ 700946 h 1046312"/>
                  <a:gd name="connsiteX11" fmla="*/ 208599 w 762298"/>
                  <a:gd name="connsiteY11" fmla="*/ 761104 h 1046312"/>
                  <a:gd name="connsiteX12" fmla="*/ 280788 w 762298"/>
                  <a:gd name="connsiteY12" fmla="*/ 773136 h 1046312"/>
                  <a:gd name="connsiteX13" fmla="*/ 328915 w 762298"/>
                  <a:gd name="connsiteY13" fmla="*/ 568599 h 1046312"/>
                  <a:gd name="connsiteX14" fmla="*/ 485325 w 762298"/>
                  <a:gd name="connsiteY14" fmla="*/ 508441 h 1046312"/>
                  <a:gd name="connsiteX15" fmla="*/ 725957 w 762298"/>
                  <a:gd name="connsiteY15" fmla="*/ 953609 h 1046312"/>
                  <a:gd name="connsiteX16" fmla="*/ 725957 w 762298"/>
                  <a:gd name="connsiteY16" fmla="*/ 1013767 h 1046312"/>
                  <a:gd name="connsiteX17" fmla="*/ 737988 w 762298"/>
                  <a:gd name="connsiteY17" fmla="*/ 556567 h 1046312"/>
                  <a:gd name="connsiteX18" fmla="*/ 365010 w 762298"/>
                  <a:gd name="connsiteY18" fmla="*/ 279841 h 1046312"/>
                  <a:gd name="connsiteX0" fmla="*/ 388225 w 785513"/>
                  <a:gd name="connsiteY0" fmla="*/ 279841 h 1046312"/>
                  <a:gd name="connsiteX1" fmla="*/ 243846 w 785513"/>
                  <a:gd name="connsiteY1" fmla="*/ 8462 h 1046312"/>
                  <a:gd name="connsiteX2" fmla="*/ 172191 w 785513"/>
                  <a:gd name="connsiteY2" fmla="*/ 75304 h 1046312"/>
                  <a:gd name="connsiteX3" fmla="*/ 62570 w 785513"/>
                  <a:gd name="connsiteY3" fmla="*/ 143483 h 1046312"/>
                  <a:gd name="connsiteX4" fmla="*/ 207751 w 785513"/>
                  <a:gd name="connsiteY4" fmla="*/ 339999 h 1046312"/>
                  <a:gd name="connsiteX5" fmla="*/ 241974 w 785513"/>
                  <a:gd name="connsiteY5" fmla="*/ 339999 h 1046312"/>
                  <a:gd name="connsiteX6" fmla="*/ 74067 w 785513"/>
                  <a:gd name="connsiteY6" fmla="*/ 350693 h 1046312"/>
                  <a:gd name="connsiteX7" fmla="*/ 540 w 785513"/>
                  <a:gd name="connsiteY7" fmla="*/ 358982 h 1046312"/>
                  <a:gd name="connsiteX8" fmla="*/ 51340 w 785513"/>
                  <a:gd name="connsiteY8" fmla="*/ 592662 h 1046312"/>
                  <a:gd name="connsiteX9" fmla="*/ 231814 w 785513"/>
                  <a:gd name="connsiteY9" fmla="*/ 520472 h 1046312"/>
                  <a:gd name="connsiteX10" fmla="*/ 183688 w 785513"/>
                  <a:gd name="connsiteY10" fmla="*/ 700946 h 1046312"/>
                  <a:gd name="connsiteX11" fmla="*/ 231814 w 785513"/>
                  <a:gd name="connsiteY11" fmla="*/ 761104 h 1046312"/>
                  <a:gd name="connsiteX12" fmla="*/ 304003 w 785513"/>
                  <a:gd name="connsiteY12" fmla="*/ 773136 h 1046312"/>
                  <a:gd name="connsiteX13" fmla="*/ 352130 w 785513"/>
                  <a:gd name="connsiteY13" fmla="*/ 568599 h 1046312"/>
                  <a:gd name="connsiteX14" fmla="*/ 508540 w 785513"/>
                  <a:gd name="connsiteY14" fmla="*/ 508441 h 1046312"/>
                  <a:gd name="connsiteX15" fmla="*/ 749172 w 785513"/>
                  <a:gd name="connsiteY15" fmla="*/ 953609 h 1046312"/>
                  <a:gd name="connsiteX16" fmla="*/ 749172 w 785513"/>
                  <a:gd name="connsiteY16" fmla="*/ 1013767 h 1046312"/>
                  <a:gd name="connsiteX17" fmla="*/ 761203 w 785513"/>
                  <a:gd name="connsiteY17" fmla="*/ 556567 h 1046312"/>
                  <a:gd name="connsiteX18" fmla="*/ 388225 w 785513"/>
                  <a:gd name="connsiteY18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18112 w 795874"/>
                  <a:gd name="connsiteY4" fmla="*/ 339999 h 1046312"/>
                  <a:gd name="connsiteX5" fmla="*/ 252335 w 795874"/>
                  <a:gd name="connsiteY5" fmla="*/ 339999 h 1046312"/>
                  <a:gd name="connsiteX6" fmla="*/ 10901 w 795874"/>
                  <a:gd name="connsiteY6" fmla="*/ 358982 h 1046312"/>
                  <a:gd name="connsiteX7" fmla="*/ 61701 w 795874"/>
                  <a:gd name="connsiteY7" fmla="*/ 592662 h 1046312"/>
                  <a:gd name="connsiteX8" fmla="*/ 242175 w 795874"/>
                  <a:gd name="connsiteY8" fmla="*/ 520472 h 1046312"/>
                  <a:gd name="connsiteX9" fmla="*/ 194049 w 795874"/>
                  <a:gd name="connsiteY9" fmla="*/ 700946 h 1046312"/>
                  <a:gd name="connsiteX10" fmla="*/ 242175 w 795874"/>
                  <a:gd name="connsiteY10" fmla="*/ 761104 h 1046312"/>
                  <a:gd name="connsiteX11" fmla="*/ 314364 w 795874"/>
                  <a:gd name="connsiteY11" fmla="*/ 773136 h 1046312"/>
                  <a:gd name="connsiteX12" fmla="*/ 362491 w 795874"/>
                  <a:gd name="connsiteY12" fmla="*/ 568599 h 1046312"/>
                  <a:gd name="connsiteX13" fmla="*/ 518901 w 795874"/>
                  <a:gd name="connsiteY13" fmla="*/ 508441 h 1046312"/>
                  <a:gd name="connsiteX14" fmla="*/ 759533 w 795874"/>
                  <a:gd name="connsiteY14" fmla="*/ 953609 h 1046312"/>
                  <a:gd name="connsiteX15" fmla="*/ 759533 w 795874"/>
                  <a:gd name="connsiteY15" fmla="*/ 1013767 h 1046312"/>
                  <a:gd name="connsiteX16" fmla="*/ 771564 w 795874"/>
                  <a:gd name="connsiteY16" fmla="*/ 556567 h 1046312"/>
                  <a:gd name="connsiteX17" fmla="*/ 398586 w 795874"/>
                  <a:gd name="connsiteY17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52335 w 795874"/>
                  <a:gd name="connsiteY4" fmla="*/ 339999 h 1046312"/>
                  <a:gd name="connsiteX5" fmla="*/ 10901 w 795874"/>
                  <a:gd name="connsiteY5" fmla="*/ 358982 h 1046312"/>
                  <a:gd name="connsiteX6" fmla="*/ 61701 w 795874"/>
                  <a:gd name="connsiteY6" fmla="*/ 592662 h 1046312"/>
                  <a:gd name="connsiteX7" fmla="*/ 242175 w 795874"/>
                  <a:gd name="connsiteY7" fmla="*/ 520472 h 1046312"/>
                  <a:gd name="connsiteX8" fmla="*/ 194049 w 795874"/>
                  <a:gd name="connsiteY8" fmla="*/ 700946 h 1046312"/>
                  <a:gd name="connsiteX9" fmla="*/ 242175 w 795874"/>
                  <a:gd name="connsiteY9" fmla="*/ 761104 h 1046312"/>
                  <a:gd name="connsiteX10" fmla="*/ 314364 w 795874"/>
                  <a:gd name="connsiteY10" fmla="*/ 773136 h 1046312"/>
                  <a:gd name="connsiteX11" fmla="*/ 362491 w 795874"/>
                  <a:gd name="connsiteY11" fmla="*/ 568599 h 1046312"/>
                  <a:gd name="connsiteX12" fmla="*/ 518901 w 795874"/>
                  <a:gd name="connsiteY12" fmla="*/ 508441 h 1046312"/>
                  <a:gd name="connsiteX13" fmla="*/ 759533 w 795874"/>
                  <a:gd name="connsiteY13" fmla="*/ 953609 h 1046312"/>
                  <a:gd name="connsiteX14" fmla="*/ 759533 w 795874"/>
                  <a:gd name="connsiteY14" fmla="*/ 1013767 h 1046312"/>
                  <a:gd name="connsiteX15" fmla="*/ 771564 w 795874"/>
                  <a:gd name="connsiteY15" fmla="*/ 556567 h 1046312"/>
                  <a:gd name="connsiteX16" fmla="*/ 398586 w 795874"/>
                  <a:gd name="connsiteY16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52335 w 795874"/>
                  <a:gd name="connsiteY4" fmla="*/ 339999 h 1046312"/>
                  <a:gd name="connsiteX5" fmla="*/ 10901 w 795874"/>
                  <a:gd name="connsiteY5" fmla="*/ 358982 h 1046312"/>
                  <a:gd name="connsiteX6" fmla="*/ 61701 w 795874"/>
                  <a:gd name="connsiteY6" fmla="*/ 592662 h 1046312"/>
                  <a:gd name="connsiteX7" fmla="*/ 242175 w 795874"/>
                  <a:gd name="connsiteY7" fmla="*/ 520472 h 1046312"/>
                  <a:gd name="connsiteX8" fmla="*/ 138169 w 795874"/>
                  <a:gd name="connsiteY8" fmla="*/ 690786 h 1046312"/>
                  <a:gd name="connsiteX9" fmla="*/ 242175 w 795874"/>
                  <a:gd name="connsiteY9" fmla="*/ 761104 h 1046312"/>
                  <a:gd name="connsiteX10" fmla="*/ 314364 w 795874"/>
                  <a:gd name="connsiteY10" fmla="*/ 773136 h 1046312"/>
                  <a:gd name="connsiteX11" fmla="*/ 362491 w 795874"/>
                  <a:gd name="connsiteY11" fmla="*/ 568599 h 1046312"/>
                  <a:gd name="connsiteX12" fmla="*/ 518901 w 795874"/>
                  <a:gd name="connsiteY12" fmla="*/ 508441 h 1046312"/>
                  <a:gd name="connsiteX13" fmla="*/ 759533 w 795874"/>
                  <a:gd name="connsiteY13" fmla="*/ 953609 h 1046312"/>
                  <a:gd name="connsiteX14" fmla="*/ 759533 w 795874"/>
                  <a:gd name="connsiteY14" fmla="*/ 1013767 h 1046312"/>
                  <a:gd name="connsiteX15" fmla="*/ 771564 w 795874"/>
                  <a:gd name="connsiteY15" fmla="*/ 556567 h 1046312"/>
                  <a:gd name="connsiteX16" fmla="*/ 398586 w 795874"/>
                  <a:gd name="connsiteY16" fmla="*/ 279841 h 1046312"/>
                  <a:gd name="connsiteX0" fmla="*/ 398586 w 795874"/>
                  <a:gd name="connsiteY0" fmla="*/ 279841 h 1046312"/>
                  <a:gd name="connsiteX1" fmla="*/ 254207 w 795874"/>
                  <a:gd name="connsiteY1" fmla="*/ 8462 h 1046312"/>
                  <a:gd name="connsiteX2" fmla="*/ 182552 w 795874"/>
                  <a:gd name="connsiteY2" fmla="*/ 75304 h 1046312"/>
                  <a:gd name="connsiteX3" fmla="*/ 72931 w 795874"/>
                  <a:gd name="connsiteY3" fmla="*/ 143483 h 1046312"/>
                  <a:gd name="connsiteX4" fmla="*/ 252335 w 795874"/>
                  <a:gd name="connsiteY4" fmla="*/ 339999 h 1046312"/>
                  <a:gd name="connsiteX5" fmla="*/ 10901 w 795874"/>
                  <a:gd name="connsiteY5" fmla="*/ 358982 h 1046312"/>
                  <a:gd name="connsiteX6" fmla="*/ 61701 w 795874"/>
                  <a:gd name="connsiteY6" fmla="*/ 592662 h 1046312"/>
                  <a:gd name="connsiteX7" fmla="*/ 242175 w 795874"/>
                  <a:gd name="connsiteY7" fmla="*/ 520472 h 1046312"/>
                  <a:gd name="connsiteX8" fmla="*/ 138169 w 795874"/>
                  <a:gd name="connsiteY8" fmla="*/ 690786 h 1046312"/>
                  <a:gd name="connsiteX9" fmla="*/ 237095 w 795874"/>
                  <a:gd name="connsiteY9" fmla="*/ 720464 h 1046312"/>
                  <a:gd name="connsiteX10" fmla="*/ 314364 w 795874"/>
                  <a:gd name="connsiteY10" fmla="*/ 773136 h 1046312"/>
                  <a:gd name="connsiteX11" fmla="*/ 362491 w 795874"/>
                  <a:gd name="connsiteY11" fmla="*/ 568599 h 1046312"/>
                  <a:gd name="connsiteX12" fmla="*/ 518901 w 795874"/>
                  <a:gd name="connsiteY12" fmla="*/ 508441 h 1046312"/>
                  <a:gd name="connsiteX13" fmla="*/ 759533 w 795874"/>
                  <a:gd name="connsiteY13" fmla="*/ 953609 h 1046312"/>
                  <a:gd name="connsiteX14" fmla="*/ 759533 w 795874"/>
                  <a:gd name="connsiteY14" fmla="*/ 1013767 h 1046312"/>
                  <a:gd name="connsiteX15" fmla="*/ 771564 w 795874"/>
                  <a:gd name="connsiteY15" fmla="*/ 556567 h 1046312"/>
                  <a:gd name="connsiteX16" fmla="*/ 398586 w 795874"/>
                  <a:gd name="connsiteY16" fmla="*/ 279841 h 1046312"/>
                  <a:gd name="connsiteX0" fmla="*/ 397537 w 794825"/>
                  <a:gd name="connsiteY0" fmla="*/ 279841 h 1046312"/>
                  <a:gd name="connsiteX1" fmla="*/ 253158 w 794825"/>
                  <a:gd name="connsiteY1" fmla="*/ 8462 h 1046312"/>
                  <a:gd name="connsiteX2" fmla="*/ 181503 w 794825"/>
                  <a:gd name="connsiteY2" fmla="*/ 75304 h 1046312"/>
                  <a:gd name="connsiteX3" fmla="*/ 71882 w 794825"/>
                  <a:gd name="connsiteY3" fmla="*/ 143483 h 1046312"/>
                  <a:gd name="connsiteX4" fmla="*/ 251286 w 794825"/>
                  <a:gd name="connsiteY4" fmla="*/ 339999 h 1046312"/>
                  <a:gd name="connsiteX5" fmla="*/ 9852 w 794825"/>
                  <a:gd name="connsiteY5" fmla="*/ 358982 h 1046312"/>
                  <a:gd name="connsiteX6" fmla="*/ 48087 w 794825"/>
                  <a:gd name="connsiteY6" fmla="*/ 491865 h 1046312"/>
                  <a:gd name="connsiteX7" fmla="*/ 60652 w 794825"/>
                  <a:gd name="connsiteY7" fmla="*/ 592662 h 1046312"/>
                  <a:gd name="connsiteX8" fmla="*/ 241126 w 794825"/>
                  <a:gd name="connsiteY8" fmla="*/ 520472 h 1046312"/>
                  <a:gd name="connsiteX9" fmla="*/ 137120 w 794825"/>
                  <a:gd name="connsiteY9" fmla="*/ 690786 h 1046312"/>
                  <a:gd name="connsiteX10" fmla="*/ 236046 w 794825"/>
                  <a:gd name="connsiteY10" fmla="*/ 720464 h 1046312"/>
                  <a:gd name="connsiteX11" fmla="*/ 313315 w 794825"/>
                  <a:gd name="connsiteY11" fmla="*/ 773136 h 1046312"/>
                  <a:gd name="connsiteX12" fmla="*/ 361442 w 794825"/>
                  <a:gd name="connsiteY12" fmla="*/ 568599 h 1046312"/>
                  <a:gd name="connsiteX13" fmla="*/ 517852 w 794825"/>
                  <a:gd name="connsiteY13" fmla="*/ 508441 h 1046312"/>
                  <a:gd name="connsiteX14" fmla="*/ 758484 w 794825"/>
                  <a:gd name="connsiteY14" fmla="*/ 953609 h 1046312"/>
                  <a:gd name="connsiteX15" fmla="*/ 758484 w 794825"/>
                  <a:gd name="connsiteY15" fmla="*/ 1013767 h 1046312"/>
                  <a:gd name="connsiteX16" fmla="*/ 770515 w 794825"/>
                  <a:gd name="connsiteY16" fmla="*/ 556567 h 1046312"/>
                  <a:gd name="connsiteX17" fmla="*/ 397537 w 794825"/>
                  <a:gd name="connsiteY17" fmla="*/ 279841 h 1046312"/>
                  <a:gd name="connsiteX0" fmla="*/ 397537 w 775871"/>
                  <a:gd name="connsiteY0" fmla="*/ 279841 h 1046312"/>
                  <a:gd name="connsiteX1" fmla="*/ 253158 w 775871"/>
                  <a:gd name="connsiteY1" fmla="*/ 8462 h 1046312"/>
                  <a:gd name="connsiteX2" fmla="*/ 181503 w 775871"/>
                  <a:gd name="connsiteY2" fmla="*/ 75304 h 1046312"/>
                  <a:gd name="connsiteX3" fmla="*/ 71882 w 775871"/>
                  <a:gd name="connsiteY3" fmla="*/ 143483 h 1046312"/>
                  <a:gd name="connsiteX4" fmla="*/ 251286 w 775871"/>
                  <a:gd name="connsiteY4" fmla="*/ 339999 h 1046312"/>
                  <a:gd name="connsiteX5" fmla="*/ 9852 w 775871"/>
                  <a:gd name="connsiteY5" fmla="*/ 358982 h 1046312"/>
                  <a:gd name="connsiteX6" fmla="*/ 48087 w 775871"/>
                  <a:gd name="connsiteY6" fmla="*/ 491865 h 1046312"/>
                  <a:gd name="connsiteX7" fmla="*/ 60652 w 775871"/>
                  <a:gd name="connsiteY7" fmla="*/ 592662 h 1046312"/>
                  <a:gd name="connsiteX8" fmla="*/ 241126 w 775871"/>
                  <a:gd name="connsiteY8" fmla="*/ 520472 h 1046312"/>
                  <a:gd name="connsiteX9" fmla="*/ 137120 w 775871"/>
                  <a:gd name="connsiteY9" fmla="*/ 690786 h 1046312"/>
                  <a:gd name="connsiteX10" fmla="*/ 236046 w 775871"/>
                  <a:gd name="connsiteY10" fmla="*/ 720464 h 1046312"/>
                  <a:gd name="connsiteX11" fmla="*/ 313315 w 775871"/>
                  <a:gd name="connsiteY11" fmla="*/ 773136 h 1046312"/>
                  <a:gd name="connsiteX12" fmla="*/ 361442 w 775871"/>
                  <a:gd name="connsiteY12" fmla="*/ 568599 h 1046312"/>
                  <a:gd name="connsiteX13" fmla="*/ 517852 w 775871"/>
                  <a:gd name="connsiteY13" fmla="*/ 508441 h 1046312"/>
                  <a:gd name="connsiteX14" fmla="*/ 758484 w 775871"/>
                  <a:gd name="connsiteY14" fmla="*/ 953609 h 1046312"/>
                  <a:gd name="connsiteX15" fmla="*/ 758484 w 775871"/>
                  <a:gd name="connsiteY15" fmla="*/ 1013767 h 1046312"/>
                  <a:gd name="connsiteX16" fmla="*/ 729875 w 775871"/>
                  <a:gd name="connsiteY16" fmla="*/ 576887 h 1046312"/>
                  <a:gd name="connsiteX17" fmla="*/ 397537 w 775871"/>
                  <a:gd name="connsiteY17" fmla="*/ 279841 h 1046312"/>
                  <a:gd name="connsiteX0" fmla="*/ 397537 w 767491"/>
                  <a:gd name="connsiteY0" fmla="*/ 279841 h 1063019"/>
                  <a:gd name="connsiteX1" fmla="*/ 253158 w 767491"/>
                  <a:gd name="connsiteY1" fmla="*/ 8462 h 1063019"/>
                  <a:gd name="connsiteX2" fmla="*/ 181503 w 767491"/>
                  <a:gd name="connsiteY2" fmla="*/ 75304 h 1063019"/>
                  <a:gd name="connsiteX3" fmla="*/ 71882 w 767491"/>
                  <a:gd name="connsiteY3" fmla="*/ 143483 h 1063019"/>
                  <a:gd name="connsiteX4" fmla="*/ 251286 w 767491"/>
                  <a:gd name="connsiteY4" fmla="*/ 339999 h 1063019"/>
                  <a:gd name="connsiteX5" fmla="*/ 9852 w 767491"/>
                  <a:gd name="connsiteY5" fmla="*/ 358982 h 1063019"/>
                  <a:gd name="connsiteX6" fmla="*/ 48087 w 767491"/>
                  <a:gd name="connsiteY6" fmla="*/ 491865 h 1063019"/>
                  <a:gd name="connsiteX7" fmla="*/ 60652 w 767491"/>
                  <a:gd name="connsiteY7" fmla="*/ 592662 h 1063019"/>
                  <a:gd name="connsiteX8" fmla="*/ 241126 w 767491"/>
                  <a:gd name="connsiteY8" fmla="*/ 520472 h 1063019"/>
                  <a:gd name="connsiteX9" fmla="*/ 137120 w 767491"/>
                  <a:gd name="connsiteY9" fmla="*/ 690786 h 1063019"/>
                  <a:gd name="connsiteX10" fmla="*/ 236046 w 767491"/>
                  <a:gd name="connsiteY10" fmla="*/ 720464 h 1063019"/>
                  <a:gd name="connsiteX11" fmla="*/ 313315 w 767491"/>
                  <a:gd name="connsiteY11" fmla="*/ 773136 h 1063019"/>
                  <a:gd name="connsiteX12" fmla="*/ 361442 w 767491"/>
                  <a:gd name="connsiteY12" fmla="*/ 568599 h 1063019"/>
                  <a:gd name="connsiteX13" fmla="*/ 517852 w 767491"/>
                  <a:gd name="connsiteY13" fmla="*/ 508441 h 1063019"/>
                  <a:gd name="connsiteX14" fmla="*/ 728004 w 767491"/>
                  <a:gd name="connsiteY14" fmla="*/ 999329 h 1063019"/>
                  <a:gd name="connsiteX15" fmla="*/ 758484 w 767491"/>
                  <a:gd name="connsiteY15" fmla="*/ 1013767 h 1063019"/>
                  <a:gd name="connsiteX16" fmla="*/ 729875 w 767491"/>
                  <a:gd name="connsiteY16" fmla="*/ 576887 h 1063019"/>
                  <a:gd name="connsiteX17" fmla="*/ 397537 w 767491"/>
                  <a:gd name="connsiteY17" fmla="*/ 279841 h 1063019"/>
                  <a:gd name="connsiteX0" fmla="*/ 397537 w 758605"/>
                  <a:gd name="connsiteY0" fmla="*/ 279841 h 1063019"/>
                  <a:gd name="connsiteX1" fmla="*/ 253158 w 758605"/>
                  <a:gd name="connsiteY1" fmla="*/ 8462 h 1063019"/>
                  <a:gd name="connsiteX2" fmla="*/ 181503 w 758605"/>
                  <a:gd name="connsiteY2" fmla="*/ 75304 h 1063019"/>
                  <a:gd name="connsiteX3" fmla="*/ 71882 w 758605"/>
                  <a:gd name="connsiteY3" fmla="*/ 143483 h 1063019"/>
                  <a:gd name="connsiteX4" fmla="*/ 251286 w 758605"/>
                  <a:gd name="connsiteY4" fmla="*/ 339999 h 1063019"/>
                  <a:gd name="connsiteX5" fmla="*/ 9852 w 758605"/>
                  <a:gd name="connsiteY5" fmla="*/ 358982 h 1063019"/>
                  <a:gd name="connsiteX6" fmla="*/ 48087 w 758605"/>
                  <a:gd name="connsiteY6" fmla="*/ 491865 h 1063019"/>
                  <a:gd name="connsiteX7" fmla="*/ 60652 w 758605"/>
                  <a:gd name="connsiteY7" fmla="*/ 592662 h 1063019"/>
                  <a:gd name="connsiteX8" fmla="*/ 241126 w 758605"/>
                  <a:gd name="connsiteY8" fmla="*/ 520472 h 1063019"/>
                  <a:gd name="connsiteX9" fmla="*/ 137120 w 758605"/>
                  <a:gd name="connsiteY9" fmla="*/ 690786 h 1063019"/>
                  <a:gd name="connsiteX10" fmla="*/ 236046 w 758605"/>
                  <a:gd name="connsiteY10" fmla="*/ 720464 h 1063019"/>
                  <a:gd name="connsiteX11" fmla="*/ 313315 w 758605"/>
                  <a:gd name="connsiteY11" fmla="*/ 773136 h 1063019"/>
                  <a:gd name="connsiteX12" fmla="*/ 361442 w 758605"/>
                  <a:gd name="connsiteY12" fmla="*/ 568599 h 1063019"/>
                  <a:gd name="connsiteX13" fmla="*/ 517852 w 758605"/>
                  <a:gd name="connsiteY13" fmla="*/ 508441 h 1063019"/>
                  <a:gd name="connsiteX14" fmla="*/ 728004 w 758605"/>
                  <a:gd name="connsiteY14" fmla="*/ 999329 h 1063019"/>
                  <a:gd name="connsiteX15" fmla="*/ 758484 w 758605"/>
                  <a:gd name="connsiteY15" fmla="*/ 1013767 h 1063019"/>
                  <a:gd name="connsiteX16" fmla="*/ 597795 w 758605"/>
                  <a:gd name="connsiteY16" fmla="*/ 521007 h 1063019"/>
                  <a:gd name="connsiteX17" fmla="*/ 397537 w 758605"/>
                  <a:gd name="connsiteY17" fmla="*/ 279841 h 1063019"/>
                  <a:gd name="connsiteX0" fmla="*/ 428017 w 758605"/>
                  <a:gd name="connsiteY0" fmla="*/ 285223 h 1063321"/>
                  <a:gd name="connsiteX1" fmla="*/ 253158 w 758605"/>
                  <a:gd name="connsiteY1" fmla="*/ 8764 h 1063321"/>
                  <a:gd name="connsiteX2" fmla="*/ 181503 w 758605"/>
                  <a:gd name="connsiteY2" fmla="*/ 75606 h 1063321"/>
                  <a:gd name="connsiteX3" fmla="*/ 71882 w 758605"/>
                  <a:gd name="connsiteY3" fmla="*/ 143785 h 1063321"/>
                  <a:gd name="connsiteX4" fmla="*/ 251286 w 758605"/>
                  <a:gd name="connsiteY4" fmla="*/ 340301 h 1063321"/>
                  <a:gd name="connsiteX5" fmla="*/ 9852 w 758605"/>
                  <a:gd name="connsiteY5" fmla="*/ 359284 h 1063321"/>
                  <a:gd name="connsiteX6" fmla="*/ 48087 w 758605"/>
                  <a:gd name="connsiteY6" fmla="*/ 492167 h 1063321"/>
                  <a:gd name="connsiteX7" fmla="*/ 60652 w 758605"/>
                  <a:gd name="connsiteY7" fmla="*/ 592964 h 1063321"/>
                  <a:gd name="connsiteX8" fmla="*/ 241126 w 758605"/>
                  <a:gd name="connsiteY8" fmla="*/ 520774 h 1063321"/>
                  <a:gd name="connsiteX9" fmla="*/ 137120 w 758605"/>
                  <a:gd name="connsiteY9" fmla="*/ 691088 h 1063321"/>
                  <a:gd name="connsiteX10" fmla="*/ 236046 w 758605"/>
                  <a:gd name="connsiteY10" fmla="*/ 720766 h 1063321"/>
                  <a:gd name="connsiteX11" fmla="*/ 313315 w 758605"/>
                  <a:gd name="connsiteY11" fmla="*/ 773438 h 1063321"/>
                  <a:gd name="connsiteX12" fmla="*/ 361442 w 758605"/>
                  <a:gd name="connsiteY12" fmla="*/ 568901 h 1063321"/>
                  <a:gd name="connsiteX13" fmla="*/ 517852 w 758605"/>
                  <a:gd name="connsiteY13" fmla="*/ 508743 h 1063321"/>
                  <a:gd name="connsiteX14" fmla="*/ 728004 w 758605"/>
                  <a:gd name="connsiteY14" fmla="*/ 999631 h 1063321"/>
                  <a:gd name="connsiteX15" fmla="*/ 758484 w 758605"/>
                  <a:gd name="connsiteY15" fmla="*/ 1014069 h 1063321"/>
                  <a:gd name="connsiteX16" fmla="*/ 597795 w 758605"/>
                  <a:gd name="connsiteY16" fmla="*/ 521309 h 1063321"/>
                  <a:gd name="connsiteX17" fmla="*/ 428017 w 758605"/>
                  <a:gd name="connsiteY17" fmla="*/ 285223 h 1063321"/>
                  <a:gd name="connsiteX0" fmla="*/ 428017 w 758605"/>
                  <a:gd name="connsiteY0" fmla="*/ 285223 h 1066357"/>
                  <a:gd name="connsiteX1" fmla="*/ 253158 w 758605"/>
                  <a:gd name="connsiteY1" fmla="*/ 8764 h 1066357"/>
                  <a:gd name="connsiteX2" fmla="*/ 181503 w 758605"/>
                  <a:gd name="connsiteY2" fmla="*/ 75606 h 1066357"/>
                  <a:gd name="connsiteX3" fmla="*/ 71882 w 758605"/>
                  <a:gd name="connsiteY3" fmla="*/ 143785 h 1066357"/>
                  <a:gd name="connsiteX4" fmla="*/ 251286 w 758605"/>
                  <a:gd name="connsiteY4" fmla="*/ 340301 h 1066357"/>
                  <a:gd name="connsiteX5" fmla="*/ 9852 w 758605"/>
                  <a:gd name="connsiteY5" fmla="*/ 359284 h 1066357"/>
                  <a:gd name="connsiteX6" fmla="*/ 48087 w 758605"/>
                  <a:gd name="connsiteY6" fmla="*/ 492167 h 1066357"/>
                  <a:gd name="connsiteX7" fmla="*/ 60652 w 758605"/>
                  <a:gd name="connsiteY7" fmla="*/ 592964 h 1066357"/>
                  <a:gd name="connsiteX8" fmla="*/ 241126 w 758605"/>
                  <a:gd name="connsiteY8" fmla="*/ 520774 h 1066357"/>
                  <a:gd name="connsiteX9" fmla="*/ 137120 w 758605"/>
                  <a:gd name="connsiteY9" fmla="*/ 691088 h 1066357"/>
                  <a:gd name="connsiteX10" fmla="*/ 236046 w 758605"/>
                  <a:gd name="connsiteY10" fmla="*/ 720766 h 1066357"/>
                  <a:gd name="connsiteX11" fmla="*/ 313315 w 758605"/>
                  <a:gd name="connsiteY11" fmla="*/ 773438 h 1066357"/>
                  <a:gd name="connsiteX12" fmla="*/ 361442 w 758605"/>
                  <a:gd name="connsiteY12" fmla="*/ 568901 h 1066357"/>
                  <a:gd name="connsiteX13" fmla="*/ 517852 w 758605"/>
                  <a:gd name="connsiteY13" fmla="*/ 508743 h 1066357"/>
                  <a:gd name="connsiteX14" fmla="*/ 728004 w 758605"/>
                  <a:gd name="connsiteY14" fmla="*/ 999631 h 1066357"/>
                  <a:gd name="connsiteX15" fmla="*/ 758484 w 758605"/>
                  <a:gd name="connsiteY15" fmla="*/ 1019149 h 1066357"/>
                  <a:gd name="connsiteX16" fmla="*/ 597795 w 758605"/>
                  <a:gd name="connsiteY16" fmla="*/ 521309 h 1066357"/>
                  <a:gd name="connsiteX17" fmla="*/ 428017 w 758605"/>
                  <a:gd name="connsiteY17" fmla="*/ 285223 h 1066357"/>
                  <a:gd name="connsiteX0" fmla="*/ 428017 w 758511"/>
                  <a:gd name="connsiteY0" fmla="*/ 285223 h 1036121"/>
                  <a:gd name="connsiteX1" fmla="*/ 253158 w 758511"/>
                  <a:gd name="connsiteY1" fmla="*/ 8764 h 1036121"/>
                  <a:gd name="connsiteX2" fmla="*/ 181503 w 758511"/>
                  <a:gd name="connsiteY2" fmla="*/ 75606 h 1036121"/>
                  <a:gd name="connsiteX3" fmla="*/ 71882 w 758511"/>
                  <a:gd name="connsiteY3" fmla="*/ 143785 h 1036121"/>
                  <a:gd name="connsiteX4" fmla="*/ 251286 w 758511"/>
                  <a:gd name="connsiteY4" fmla="*/ 340301 h 1036121"/>
                  <a:gd name="connsiteX5" fmla="*/ 9852 w 758511"/>
                  <a:gd name="connsiteY5" fmla="*/ 359284 h 1036121"/>
                  <a:gd name="connsiteX6" fmla="*/ 48087 w 758511"/>
                  <a:gd name="connsiteY6" fmla="*/ 492167 h 1036121"/>
                  <a:gd name="connsiteX7" fmla="*/ 60652 w 758511"/>
                  <a:gd name="connsiteY7" fmla="*/ 592964 h 1036121"/>
                  <a:gd name="connsiteX8" fmla="*/ 241126 w 758511"/>
                  <a:gd name="connsiteY8" fmla="*/ 520774 h 1036121"/>
                  <a:gd name="connsiteX9" fmla="*/ 137120 w 758511"/>
                  <a:gd name="connsiteY9" fmla="*/ 691088 h 1036121"/>
                  <a:gd name="connsiteX10" fmla="*/ 236046 w 758511"/>
                  <a:gd name="connsiteY10" fmla="*/ 720766 h 1036121"/>
                  <a:gd name="connsiteX11" fmla="*/ 313315 w 758511"/>
                  <a:gd name="connsiteY11" fmla="*/ 773438 h 1036121"/>
                  <a:gd name="connsiteX12" fmla="*/ 361442 w 758511"/>
                  <a:gd name="connsiteY12" fmla="*/ 568901 h 1036121"/>
                  <a:gd name="connsiteX13" fmla="*/ 517852 w 758511"/>
                  <a:gd name="connsiteY13" fmla="*/ 508743 h 1036121"/>
                  <a:gd name="connsiteX14" fmla="*/ 687364 w 758511"/>
                  <a:gd name="connsiteY14" fmla="*/ 857391 h 1036121"/>
                  <a:gd name="connsiteX15" fmla="*/ 758484 w 758511"/>
                  <a:gd name="connsiteY15" fmla="*/ 1019149 h 1036121"/>
                  <a:gd name="connsiteX16" fmla="*/ 597795 w 758511"/>
                  <a:gd name="connsiteY16" fmla="*/ 521309 h 1036121"/>
                  <a:gd name="connsiteX17" fmla="*/ 428017 w 758511"/>
                  <a:gd name="connsiteY17" fmla="*/ 285223 h 1036121"/>
                  <a:gd name="connsiteX0" fmla="*/ 428017 w 712806"/>
                  <a:gd name="connsiteY0" fmla="*/ 285223 h 1045586"/>
                  <a:gd name="connsiteX1" fmla="*/ 253158 w 712806"/>
                  <a:gd name="connsiteY1" fmla="*/ 8764 h 1045586"/>
                  <a:gd name="connsiteX2" fmla="*/ 181503 w 712806"/>
                  <a:gd name="connsiteY2" fmla="*/ 75606 h 1045586"/>
                  <a:gd name="connsiteX3" fmla="*/ 71882 w 712806"/>
                  <a:gd name="connsiteY3" fmla="*/ 143785 h 1045586"/>
                  <a:gd name="connsiteX4" fmla="*/ 251286 w 712806"/>
                  <a:gd name="connsiteY4" fmla="*/ 340301 h 1045586"/>
                  <a:gd name="connsiteX5" fmla="*/ 9852 w 712806"/>
                  <a:gd name="connsiteY5" fmla="*/ 359284 h 1045586"/>
                  <a:gd name="connsiteX6" fmla="*/ 48087 w 712806"/>
                  <a:gd name="connsiteY6" fmla="*/ 492167 h 1045586"/>
                  <a:gd name="connsiteX7" fmla="*/ 60652 w 712806"/>
                  <a:gd name="connsiteY7" fmla="*/ 592964 h 1045586"/>
                  <a:gd name="connsiteX8" fmla="*/ 241126 w 712806"/>
                  <a:gd name="connsiteY8" fmla="*/ 520774 h 1045586"/>
                  <a:gd name="connsiteX9" fmla="*/ 137120 w 712806"/>
                  <a:gd name="connsiteY9" fmla="*/ 691088 h 1045586"/>
                  <a:gd name="connsiteX10" fmla="*/ 236046 w 712806"/>
                  <a:gd name="connsiteY10" fmla="*/ 720766 h 1045586"/>
                  <a:gd name="connsiteX11" fmla="*/ 313315 w 712806"/>
                  <a:gd name="connsiteY11" fmla="*/ 773438 h 1045586"/>
                  <a:gd name="connsiteX12" fmla="*/ 361442 w 712806"/>
                  <a:gd name="connsiteY12" fmla="*/ 568901 h 1045586"/>
                  <a:gd name="connsiteX13" fmla="*/ 517852 w 712806"/>
                  <a:gd name="connsiteY13" fmla="*/ 508743 h 1045586"/>
                  <a:gd name="connsiteX14" fmla="*/ 687364 w 712806"/>
                  <a:gd name="connsiteY14" fmla="*/ 857391 h 1045586"/>
                  <a:gd name="connsiteX15" fmla="*/ 712764 w 712806"/>
                  <a:gd name="connsiteY15" fmla="*/ 1029309 h 1045586"/>
                  <a:gd name="connsiteX16" fmla="*/ 597795 w 712806"/>
                  <a:gd name="connsiteY16" fmla="*/ 521309 h 1045586"/>
                  <a:gd name="connsiteX17" fmla="*/ 428017 w 712806"/>
                  <a:gd name="connsiteY17" fmla="*/ 285223 h 1045586"/>
                  <a:gd name="connsiteX0" fmla="*/ 428017 w 712880"/>
                  <a:gd name="connsiteY0" fmla="*/ 285223 h 1045586"/>
                  <a:gd name="connsiteX1" fmla="*/ 253158 w 712880"/>
                  <a:gd name="connsiteY1" fmla="*/ 8764 h 1045586"/>
                  <a:gd name="connsiteX2" fmla="*/ 181503 w 712880"/>
                  <a:gd name="connsiteY2" fmla="*/ 75606 h 1045586"/>
                  <a:gd name="connsiteX3" fmla="*/ 71882 w 712880"/>
                  <a:gd name="connsiteY3" fmla="*/ 143785 h 1045586"/>
                  <a:gd name="connsiteX4" fmla="*/ 251286 w 712880"/>
                  <a:gd name="connsiteY4" fmla="*/ 340301 h 1045586"/>
                  <a:gd name="connsiteX5" fmla="*/ 9852 w 712880"/>
                  <a:gd name="connsiteY5" fmla="*/ 359284 h 1045586"/>
                  <a:gd name="connsiteX6" fmla="*/ 48087 w 712880"/>
                  <a:gd name="connsiteY6" fmla="*/ 492167 h 1045586"/>
                  <a:gd name="connsiteX7" fmla="*/ 60652 w 712880"/>
                  <a:gd name="connsiteY7" fmla="*/ 592964 h 1045586"/>
                  <a:gd name="connsiteX8" fmla="*/ 241126 w 712880"/>
                  <a:gd name="connsiteY8" fmla="*/ 520774 h 1045586"/>
                  <a:gd name="connsiteX9" fmla="*/ 137120 w 712880"/>
                  <a:gd name="connsiteY9" fmla="*/ 691088 h 1045586"/>
                  <a:gd name="connsiteX10" fmla="*/ 236046 w 712880"/>
                  <a:gd name="connsiteY10" fmla="*/ 720766 h 1045586"/>
                  <a:gd name="connsiteX11" fmla="*/ 313315 w 712880"/>
                  <a:gd name="connsiteY11" fmla="*/ 773438 h 1045586"/>
                  <a:gd name="connsiteX12" fmla="*/ 361442 w 712880"/>
                  <a:gd name="connsiteY12" fmla="*/ 568901 h 1045586"/>
                  <a:gd name="connsiteX13" fmla="*/ 517852 w 712880"/>
                  <a:gd name="connsiteY13" fmla="*/ 508743 h 1045586"/>
                  <a:gd name="connsiteX14" fmla="*/ 687364 w 712880"/>
                  <a:gd name="connsiteY14" fmla="*/ 857391 h 1045586"/>
                  <a:gd name="connsiteX15" fmla="*/ 712764 w 712880"/>
                  <a:gd name="connsiteY15" fmla="*/ 1029309 h 1045586"/>
                  <a:gd name="connsiteX16" fmla="*/ 643515 w 712880"/>
                  <a:gd name="connsiteY16" fmla="*/ 541629 h 1045586"/>
                  <a:gd name="connsiteX17" fmla="*/ 428017 w 712880"/>
                  <a:gd name="connsiteY17" fmla="*/ 285223 h 1045586"/>
                  <a:gd name="connsiteX0" fmla="*/ 428017 w 712880"/>
                  <a:gd name="connsiteY0" fmla="*/ 285223 h 1045648"/>
                  <a:gd name="connsiteX1" fmla="*/ 253158 w 712880"/>
                  <a:gd name="connsiteY1" fmla="*/ 8764 h 1045648"/>
                  <a:gd name="connsiteX2" fmla="*/ 181503 w 712880"/>
                  <a:gd name="connsiteY2" fmla="*/ 75606 h 1045648"/>
                  <a:gd name="connsiteX3" fmla="*/ 71882 w 712880"/>
                  <a:gd name="connsiteY3" fmla="*/ 143785 h 1045648"/>
                  <a:gd name="connsiteX4" fmla="*/ 251286 w 712880"/>
                  <a:gd name="connsiteY4" fmla="*/ 340301 h 1045648"/>
                  <a:gd name="connsiteX5" fmla="*/ 9852 w 712880"/>
                  <a:gd name="connsiteY5" fmla="*/ 359284 h 1045648"/>
                  <a:gd name="connsiteX6" fmla="*/ 48087 w 712880"/>
                  <a:gd name="connsiteY6" fmla="*/ 492167 h 1045648"/>
                  <a:gd name="connsiteX7" fmla="*/ 60652 w 712880"/>
                  <a:gd name="connsiteY7" fmla="*/ 592964 h 1045648"/>
                  <a:gd name="connsiteX8" fmla="*/ 241126 w 712880"/>
                  <a:gd name="connsiteY8" fmla="*/ 520774 h 1045648"/>
                  <a:gd name="connsiteX9" fmla="*/ 137120 w 712880"/>
                  <a:gd name="connsiteY9" fmla="*/ 691088 h 1045648"/>
                  <a:gd name="connsiteX10" fmla="*/ 236046 w 712880"/>
                  <a:gd name="connsiteY10" fmla="*/ 720766 h 1045648"/>
                  <a:gd name="connsiteX11" fmla="*/ 313315 w 712880"/>
                  <a:gd name="connsiteY11" fmla="*/ 773438 h 1045648"/>
                  <a:gd name="connsiteX12" fmla="*/ 361442 w 712880"/>
                  <a:gd name="connsiteY12" fmla="*/ 568901 h 1045648"/>
                  <a:gd name="connsiteX13" fmla="*/ 538172 w 712880"/>
                  <a:gd name="connsiteY13" fmla="*/ 503663 h 1045648"/>
                  <a:gd name="connsiteX14" fmla="*/ 687364 w 712880"/>
                  <a:gd name="connsiteY14" fmla="*/ 857391 h 1045648"/>
                  <a:gd name="connsiteX15" fmla="*/ 712764 w 712880"/>
                  <a:gd name="connsiteY15" fmla="*/ 1029309 h 1045648"/>
                  <a:gd name="connsiteX16" fmla="*/ 643515 w 712880"/>
                  <a:gd name="connsiteY16" fmla="*/ 541629 h 1045648"/>
                  <a:gd name="connsiteX17" fmla="*/ 428017 w 712880"/>
                  <a:gd name="connsiteY17" fmla="*/ 285223 h 1045648"/>
                  <a:gd name="connsiteX0" fmla="*/ 428017 w 712880"/>
                  <a:gd name="connsiteY0" fmla="*/ 285223 h 1048421"/>
                  <a:gd name="connsiteX1" fmla="*/ 253158 w 712880"/>
                  <a:gd name="connsiteY1" fmla="*/ 8764 h 1048421"/>
                  <a:gd name="connsiteX2" fmla="*/ 181503 w 712880"/>
                  <a:gd name="connsiteY2" fmla="*/ 75606 h 1048421"/>
                  <a:gd name="connsiteX3" fmla="*/ 71882 w 712880"/>
                  <a:gd name="connsiteY3" fmla="*/ 143785 h 1048421"/>
                  <a:gd name="connsiteX4" fmla="*/ 251286 w 712880"/>
                  <a:gd name="connsiteY4" fmla="*/ 340301 h 1048421"/>
                  <a:gd name="connsiteX5" fmla="*/ 9852 w 712880"/>
                  <a:gd name="connsiteY5" fmla="*/ 359284 h 1048421"/>
                  <a:gd name="connsiteX6" fmla="*/ 48087 w 712880"/>
                  <a:gd name="connsiteY6" fmla="*/ 492167 h 1048421"/>
                  <a:gd name="connsiteX7" fmla="*/ 60652 w 712880"/>
                  <a:gd name="connsiteY7" fmla="*/ 592964 h 1048421"/>
                  <a:gd name="connsiteX8" fmla="*/ 241126 w 712880"/>
                  <a:gd name="connsiteY8" fmla="*/ 520774 h 1048421"/>
                  <a:gd name="connsiteX9" fmla="*/ 137120 w 712880"/>
                  <a:gd name="connsiteY9" fmla="*/ 691088 h 1048421"/>
                  <a:gd name="connsiteX10" fmla="*/ 236046 w 712880"/>
                  <a:gd name="connsiteY10" fmla="*/ 720766 h 1048421"/>
                  <a:gd name="connsiteX11" fmla="*/ 313315 w 712880"/>
                  <a:gd name="connsiteY11" fmla="*/ 773438 h 1048421"/>
                  <a:gd name="connsiteX12" fmla="*/ 361442 w 712880"/>
                  <a:gd name="connsiteY12" fmla="*/ 568901 h 1048421"/>
                  <a:gd name="connsiteX13" fmla="*/ 538172 w 712880"/>
                  <a:gd name="connsiteY13" fmla="*/ 503663 h 1048421"/>
                  <a:gd name="connsiteX14" fmla="*/ 682284 w 712880"/>
                  <a:gd name="connsiteY14" fmla="*/ 887871 h 1048421"/>
                  <a:gd name="connsiteX15" fmla="*/ 712764 w 712880"/>
                  <a:gd name="connsiteY15" fmla="*/ 1029309 h 1048421"/>
                  <a:gd name="connsiteX16" fmla="*/ 643515 w 712880"/>
                  <a:gd name="connsiteY16" fmla="*/ 541629 h 1048421"/>
                  <a:gd name="connsiteX17" fmla="*/ 428017 w 712880"/>
                  <a:gd name="connsiteY17" fmla="*/ 285223 h 1048421"/>
                  <a:gd name="connsiteX0" fmla="*/ 428017 w 712880"/>
                  <a:gd name="connsiteY0" fmla="*/ 285223 h 1048421"/>
                  <a:gd name="connsiteX1" fmla="*/ 253158 w 712880"/>
                  <a:gd name="connsiteY1" fmla="*/ 8764 h 1048421"/>
                  <a:gd name="connsiteX2" fmla="*/ 181503 w 712880"/>
                  <a:gd name="connsiteY2" fmla="*/ 75606 h 1048421"/>
                  <a:gd name="connsiteX3" fmla="*/ 71882 w 712880"/>
                  <a:gd name="connsiteY3" fmla="*/ 143785 h 1048421"/>
                  <a:gd name="connsiteX4" fmla="*/ 251286 w 712880"/>
                  <a:gd name="connsiteY4" fmla="*/ 340301 h 1048421"/>
                  <a:gd name="connsiteX5" fmla="*/ 9852 w 712880"/>
                  <a:gd name="connsiteY5" fmla="*/ 359284 h 1048421"/>
                  <a:gd name="connsiteX6" fmla="*/ 48087 w 712880"/>
                  <a:gd name="connsiteY6" fmla="*/ 492167 h 1048421"/>
                  <a:gd name="connsiteX7" fmla="*/ 60652 w 712880"/>
                  <a:gd name="connsiteY7" fmla="*/ 592964 h 1048421"/>
                  <a:gd name="connsiteX8" fmla="*/ 241126 w 712880"/>
                  <a:gd name="connsiteY8" fmla="*/ 520774 h 1048421"/>
                  <a:gd name="connsiteX9" fmla="*/ 137120 w 712880"/>
                  <a:gd name="connsiteY9" fmla="*/ 691088 h 1048421"/>
                  <a:gd name="connsiteX10" fmla="*/ 236046 w 712880"/>
                  <a:gd name="connsiteY10" fmla="*/ 720766 h 1048421"/>
                  <a:gd name="connsiteX11" fmla="*/ 313315 w 712880"/>
                  <a:gd name="connsiteY11" fmla="*/ 773438 h 1048421"/>
                  <a:gd name="connsiteX12" fmla="*/ 361442 w 712880"/>
                  <a:gd name="connsiteY12" fmla="*/ 568901 h 1048421"/>
                  <a:gd name="connsiteX13" fmla="*/ 538172 w 712880"/>
                  <a:gd name="connsiteY13" fmla="*/ 503663 h 1048421"/>
                  <a:gd name="connsiteX14" fmla="*/ 667044 w 712880"/>
                  <a:gd name="connsiteY14" fmla="*/ 887871 h 1048421"/>
                  <a:gd name="connsiteX15" fmla="*/ 712764 w 712880"/>
                  <a:gd name="connsiteY15" fmla="*/ 1029309 h 1048421"/>
                  <a:gd name="connsiteX16" fmla="*/ 643515 w 712880"/>
                  <a:gd name="connsiteY16" fmla="*/ 541629 h 1048421"/>
                  <a:gd name="connsiteX17" fmla="*/ 428017 w 712880"/>
                  <a:gd name="connsiteY17" fmla="*/ 285223 h 1048421"/>
                  <a:gd name="connsiteX0" fmla="*/ 428017 w 712823"/>
                  <a:gd name="connsiteY0" fmla="*/ 285223 h 1048421"/>
                  <a:gd name="connsiteX1" fmla="*/ 253158 w 712823"/>
                  <a:gd name="connsiteY1" fmla="*/ 8764 h 1048421"/>
                  <a:gd name="connsiteX2" fmla="*/ 181503 w 712823"/>
                  <a:gd name="connsiteY2" fmla="*/ 75606 h 1048421"/>
                  <a:gd name="connsiteX3" fmla="*/ 71882 w 712823"/>
                  <a:gd name="connsiteY3" fmla="*/ 143785 h 1048421"/>
                  <a:gd name="connsiteX4" fmla="*/ 251286 w 712823"/>
                  <a:gd name="connsiteY4" fmla="*/ 340301 h 1048421"/>
                  <a:gd name="connsiteX5" fmla="*/ 9852 w 712823"/>
                  <a:gd name="connsiteY5" fmla="*/ 359284 h 1048421"/>
                  <a:gd name="connsiteX6" fmla="*/ 48087 w 712823"/>
                  <a:gd name="connsiteY6" fmla="*/ 492167 h 1048421"/>
                  <a:gd name="connsiteX7" fmla="*/ 60652 w 712823"/>
                  <a:gd name="connsiteY7" fmla="*/ 592964 h 1048421"/>
                  <a:gd name="connsiteX8" fmla="*/ 241126 w 712823"/>
                  <a:gd name="connsiteY8" fmla="*/ 520774 h 1048421"/>
                  <a:gd name="connsiteX9" fmla="*/ 137120 w 712823"/>
                  <a:gd name="connsiteY9" fmla="*/ 691088 h 1048421"/>
                  <a:gd name="connsiteX10" fmla="*/ 236046 w 712823"/>
                  <a:gd name="connsiteY10" fmla="*/ 720766 h 1048421"/>
                  <a:gd name="connsiteX11" fmla="*/ 313315 w 712823"/>
                  <a:gd name="connsiteY11" fmla="*/ 773438 h 1048421"/>
                  <a:gd name="connsiteX12" fmla="*/ 361442 w 712823"/>
                  <a:gd name="connsiteY12" fmla="*/ 568901 h 1048421"/>
                  <a:gd name="connsiteX13" fmla="*/ 538172 w 712823"/>
                  <a:gd name="connsiteY13" fmla="*/ 503663 h 1048421"/>
                  <a:gd name="connsiteX14" fmla="*/ 667044 w 712823"/>
                  <a:gd name="connsiteY14" fmla="*/ 887871 h 1048421"/>
                  <a:gd name="connsiteX15" fmla="*/ 712764 w 712823"/>
                  <a:gd name="connsiteY15" fmla="*/ 1029309 h 1048421"/>
                  <a:gd name="connsiteX16" fmla="*/ 618115 w 712823"/>
                  <a:gd name="connsiteY16" fmla="*/ 526389 h 1048421"/>
                  <a:gd name="connsiteX17" fmla="*/ 428017 w 712823"/>
                  <a:gd name="connsiteY17" fmla="*/ 285223 h 1048421"/>
                  <a:gd name="connsiteX0" fmla="*/ 428017 w 712823"/>
                  <a:gd name="connsiteY0" fmla="*/ 285223 h 1046082"/>
                  <a:gd name="connsiteX1" fmla="*/ 253158 w 712823"/>
                  <a:gd name="connsiteY1" fmla="*/ 8764 h 1046082"/>
                  <a:gd name="connsiteX2" fmla="*/ 181503 w 712823"/>
                  <a:gd name="connsiteY2" fmla="*/ 75606 h 1046082"/>
                  <a:gd name="connsiteX3" fmla="*/ 71882 w 712823"/>
                  <a:gd name="connsiteY3" fmla="*/ 143785 h 1046082"/>
                  <a:gd name="connsiteX4" fmla="*/ 251286 w 712823"/>
                  <a:gd name="connsiteY4" fmla="*/ 340301 h 1046082"/>
                  <a:gd name="connsiteX5" fmla="*/ 9852 w 712823"/>
                  <a:gd name="connsiteY5" fmla="*/ 359284 h 1046082"/>
                  <a:gd name="connsiteX6" fmla="*/ 48087 w 712823"/>
                  <a:gd name="connsiteY6" fmla="*/ 492167 h 1046082"/>
                  <a:gd name="connsiteX7" fmla="*/ 60652 w 712823"/>
                  <a:gd name="connsiteY7" fmla="*/ 592964 h 1046082"/>
                  <a:gd name="connsiteX8" fmla="*/ 241126 w 712823"/>
                  <a:gd name="connsiteY8" fmla="*/ 520774 h 1046082"/>
                  <a:gd name="connsiteX9" fmla="*/ 137120 w 712823"/>
                  <a:gd name="connsiteY9" fmla="*/ 691088 h 1046082"/>
                  <a:gd name="connsiteX10" fmla="*/ 236046 w 712823"/>
                  <a:gd name="connsiteY10" fmla="*/ 720766 h 1046082"/>
                  <a:gd name="connsiteX11" fmla="*/ 313315 w 712823"/>
                  <a:gd name="connsiteY11" fmla="*/ 773438 h 1046082"/>
                  <a:gd name="connsiteX12" fmla="*/ 361442 w 712823"/>
                  <a:gd name="connsiteY12" fmla="*/ 568901 h 1046082"/>
                  <a:gd name="connsiteX13" fmla="*/ 538172 w 712823"/>
                  <a:gd name="connsiteY13" fmla="*/ 503663 h 1046082"/>
                  <a:gd name="connsiteX14" fmla="*/ 622128 w 712823"/>
                  <a:gd name="connsiteY14" fmla="*/ 664886 h 1046082"/>
                  <a:gd name="connsiteX15" fmla="*/ 667044 w 712823"/>
                  <a:gd name="connsiteY15" fmla="*/ 887871 h 1046082"/>
                  <a:gd name="connsiteX16" fmla="*/ 712764 w 712823"/>
                  <a:gd name="connsiteY16" fmla="*/ 1029309 h 1046082"/>
                  <a:gd name="connsiteX17" fmla="*/ 618115 w 712823"/>
                  <a:gd name="connsiteY17" fmla="*/ 526389 h 1046082"/>
                  <a:gd name="connsiteX18" fmla="*/ 428017 w 712823"/>
                  <a:gd name="connsiteY18" fmla="*/ 285223 h 1046082"/>
                  <a:gd name="connsiteX0" fmla="*/ 428017 w 712823"/>
                  <a:gd name="connsiteY0" fmla="*/ 285223 h 1046082"/>
                  <a:gd name="connsiteX1" fmla="*/ 253158 w 712823"/>
                  <a:gd name="connsiteY1" fmla="*/ 8764 h 1046082"/>
                  <a:gd name="connsiteX2" fmla="*/ 181503 w 712823"/>
                  <a:gd name="connsiteY2" fmla="*/ 75606 h 1046082"/>
                  <a:gd name="connsiteX3" fmla="*/ 71882 w 712823"/>
                  <a:gd name="connsiteY3" fmla="*/ 143785 h 1046082"/>
                  <a:gd name="connsiteX4" fmla="*/ 251286 w 712823"/>
                  <a:gd name="connsiteY4" fmla="*/ 340301 h 1046082"/>
                  <a:gd name="connsiteX5" fmla="*/ 9852 w 712823"/>
                  <a:gd name="connsiteY5" fmla="*/ 359284 h 1046082"/>
                  <a:gd name="connsiteX6" fmla="*/ 48087 w 712823"/>
                  <a:gd name="connsiteY6" fmla="*/ 492167 h 1046082"/>
                  <a:gd name="connsiteX7" fmla="*/ 60652 w 712823"/>
                  <a:gd name="connsiteY7" fmla="*/ 592964 h 1046082"/>
                  <a:gd name="connsiteX8" fmla="*/ 241126 w 712823"/>
                  <a:gd name="connsiteY8" fmla="*/ 520774 h 1046082"/>
                  <a:gd name="connsiteX9" fmla="*/ 137120 w 712823"/>
                  <a:gd name="connsiteY9" fmla="*/ 691088 h 1046082"/>
                  <a:gd name="connsiteX10" fmla="*/ 236046 w 712823"/>
                  <a:gd name="connsiteY10" fmla="*/ 720766 h 1046082"/>
                  <a:gd name="connsiteX11" fmla="*/ 313315 w 712823"/>
                  <a:gd name="connsiteY11" fmla="*/ 773438 h 1046082"/>
                  <a:gd name="connsiteX12" fmla="*/ 361442 w 712823"/>
                  <a:gd name="connsiteY12" fmla="*/ 568901 h 1046082"/>
                  <a:gd name="connsiteX13" fmla="*/ 538172 w 712823"/>
                  <a:gd name="connsiteY13" fmla="*/ 503663 h 1046082"/>
                  <a:gd name="connsiteX14" fmla="*/ 622128 w 712823"/>
                  <a:gd name="connsiteY14" fmla="*/ 664886 h 1046082"/>
                  <a:gd name="connsiteX15" fmla="*/ 667044 w 712823"/>
                  <a:gd name="connsiteY15" fmla="*/ 887871 h 1046082"/>
                  <a:gd name="connsiteX16" fmla="*/ 712764 w 712823"/>
                  <a:gd name="connsiteY16" fmla="*/ 1029309 h 1046082"/>
                  <a:gd name="connsiteX17" fmla="*/ 618115 w 712823"/>
                  <a:gd name="connsiteY17" fmla="*/ 526389 h 1046082"/>
                  <a:gd name="connsiteX18" fmla="*/ 428017 w 712823"/>
                  <a:gd name="connsiteY18" fmla="*/ 285223 h 10460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712823" h="1046082">
                    <a:moveTo>
                      <a:pt x="428017" y="285223"/>
                    </a:moveTo>
                    <a:cubicBezTo>
                      <a:pt x="367191" y="198952"/>
                      <a:pt x="294244" y="43700"/>
                      <a:pt x="253158" y="8764"/>
                    </a:cubicBezTo>
                    <a:cubicBezTo>
                      <a:pt x="212072" y="-26172"/>
                      <a:pt x="211716" y="53103"/>
                      <a:pt x="181503" y="75606"/>
                    </a:cubicBezTo>
                    <a:cubicBezTo>
                      <a:pt x="151290" y="98109"/>
                      <a:pt x="60251" y="99669"/>
                      <a:pt x="71882" y="143785"/>
                    </a:cubicBezTo>
                    <a:cubicBezTo>
                      <a:pt x="83513" y="187901"/>
                      <a:pt x="261624" y="304385"/>
                      <a:pt x="251286" y="340301"/>
                    </a:cubicBezTo>
                    <a:cubicBezTo>
                      <a:pt x="240948" y="376218"/>
                      <a:pt x="43718" y="333973"/>
                      <a:pt x="9852" y="359284"/>
                    </a:cubicBezTo>
                    <a:cubicBezTo>
                      <a:pt x="-24014" y="384595"/>
                      <a:pt x="39620" y="453220"/>
                      <a:pt x="48087" y="492167"/>
                    </a:cubicBezTo>
                    <a:cubicBezTo>
                      <a:pt x="56554" y="531114"/>
                      <a:pt x="28479" y="588196"/>
                      <a:pt x="60652" y="592964"/>
                    </a:cubicBezTo>
                    <a:cubicBezTo>
                      <a:pt x="92825" y="597732"/>
                      <a:pt x="228381" y="504420"/>
                      <a:pt x="241126" y="520774"/>
                    </a:cubicBezTo>
                    <a:cubicBezTo>
                      <a:pt x="253871" y="537128"/>
                      <a:pt x="137967" y="657756"/>
                      <a:pt x="137120" y="691088"/>
                    </a:cubicBezTo>
                    <a:cubicBezTo>
                      <a:pt x="136273" y="724420"/>
                      <a:pt x="206680" y="707041"/>
                      <a:pt x="236046" y="720766"/>
                    </a:cubicBezTo>
                    <a:cubicBezTo>
                      <a:pt x="265412" y="734491"/>
                      <a:pt x="292416" y="798749"/>
                      <a:pt x="313315" y="773438"/>
                    </a:cubicBezTo>
                    <a:cubicBezTo>
                      <a:pt x="334214" y="748127"/>
                      <a:pt x="323966" y="613863"/>
                      <a:pt x="361442" y="568901"/>
                    </a:cubicBezTo>
                    <a:cubicBezTo>
                      <a:pt x="398918" y="523939"/>
                      <a:pt x="494724" y="487666"/>
                      <a:pt x="538172" y="503663"/>
                    </a:cubicBezTo>
                    <a:cubicBezTo>
                      <a:pt x="581620" y="519660"/>
                      <a:pt x="600649" y="600851"/>
                      <a:pt x="622128" y="664886"/>
                    </a:cubicBezTo>
                    <a:cubicBezTo>
                      <a:pt x="643607" y="728921"/>
                      <a:pt x="651938" y="827134"/>
                      <a:pt x="667044" y="887871"/>
                    </a:cubicBezTo>
                    <a:cubicBezTo>
                      <a:pt x="682150" y="948608"/>
                      <a:pt x="710759" y="1095483"/>
                      <a:pt x="712764" y="1029309"/>
                    </a:cubicBezTo>
                    <a:cubicBezTo>
                      <a:pt x="714769" y="963135"/>
                      <a:pt x="665573" y="650403"/>
                      <a:pt x="618115" y="526389"/>
                    </a:cubicBezTo>
                    <a:cubicBezTo>
                      <a:pt x="570657" y="402375"/>
                      <a:pt x="488843" y="371494"/>
                      <a:pt x="428017" y="285223"/>
                    </a:cubicBezTo>
                    <a:close/>
                  </a:path>
                </a:pathLst>
              </a:custGeom>
              <a:solidFill>
                <a:srgbClr val="D4C1B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55" name="TextBox 254">
            <a:extLst>
              <a:ext uri="{FF2B5EF4-FFF2-40B4-BE49-F238E27FC236}">
                <a16:creationId xmlns:a16="http://schemas.microsoft.com/office/drawing/2014/main" id="{682AB492-3B4D-47AB-8B40-DB55337B683E}"/>
              </a:ext>
            </a:extLst>
          </p:cNvPr>
          <p:cNvSpPr txBox="1"/>
          <p:nvPr/>
        </p:nvSpPr>
        <p:spPr>
          <a:xfrm>
            <a:off x="4291810" y="2955669"/>
            <a:ext cx="3162953" cy="523220"/>
          </a:xfrm>
          <a:prstGeom prst="roundRect">
            <a:avLst>
              <a:gd name="adj" fmla="val 0"/>
            </a:avLst>
          </a:prstGeom>
          <a:ln/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∆∆ (delta-delta) or “residual HCO</a:t>
            </a:r>
            <a:r>
              <a:rPr lang="en-US" sz="1600" baseline="-25000" dirty="0"/>
              <a:t>3</a:t>
            </a:r>
            <a:r>
              <a:rPr lang="en-US" sz="1600" baseline="30000" dirty="0"/>
              <a:t>-</a:t>
            </a:r>
            <a:r>
              <a:rPr lang="en-US" sz="1600" dirty="0"/>
              <a:t>”</a:t>
            </a:r>
          </a:p>
          <a:p>
            <a:pPr algn="ctr"/>
            <a:r>
              <a:rPr lang="en-US" sz="1200" dirty="0"/>
              <a:t>Is there another metabolic process?  </a:t>
            </a:r>
            <a:endParaRPr lang="en-US" sz="1100" dirty="0"/>
          </a:p>
        </p:txBody>
      </p:sp>
      <p:sp>
        <p:nvSpPr>
          <p:cNvPr id="260" name="Step 3">
            <a:extLst>
              <a:ext uri="{FF2B5EF4-FFF2-40B4-BE49-F238E27FC236}">
                <a16:creationId xmlns:a16="http://schemas.microsoft.com/office/drawing/2014/main" id="{4AA21C66-4275-4BDB-9D70-7EB5899DD894}"/>
              </a:ext>
            </a:extLst>
          </p:cNvPr>
          <p:cNvSpPr/>
          <p:nvPr/>
        </p:nvSpPr>
        <p:spPr>
          <a:xfrm>
            <a:off x="1708046" y="1491475"/>
            <a:ext cx="795956" cy="2880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Step 2</a:t>
            </a:r>
          </a:p>
        </p:txBody>
      </p:sp>
      <p:grpSp>
        <p:nvGrpSpPr>
          <p:cNvPr id="262" name="Straight connector to DD causes">
            <a:extLst>
              <a:ext uri="{FF2B5EF4-FFF2-40B4-BE49-F238E27FC236}">
                <a16:creationId xmlns:a16="http://schemas.microsoft.com/office/drawing/2014/main" id="{94485DD8-E869-4C98-A484-D6FA68A23D90}"/>
              </a:ext>
            </a:extLst>
          </p:cNvPr>
          <p:cNvGrpSpPr/>
          <p:nvPr/>
        </p:nvGrpSpPr>
        <p:grpSpPr>
          <a:xfrm>
            <a:off x="4674743" y="3478889"/>
            <a:ext cx="2229492" cy="327686"/>
            <a:chOff x="4687716" y="3478884"/>
            <a:chExt cx="2292899" cy="551420"/>
          </a:xfrm>
        </p:grpSpPr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5F59D145-298F-4391-AB2D-412AC3F87192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 flipV="1">
              <a:off x="4687716" y="3478884"/>
              <a:ext cx="1232632" cy="55142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6BD21782-8663-4A24-B202-0443B35A49FB}"/>
                </a:ext>
              </a:extLst>
            </p:cNvPr>
            <p:cNvCxnSpPr>
              <a:cxnSpLocks/>
              <a:endCxn id="255" idx="2"/>
            </p:cNvCxnSpPr>
            <p:nvPr/>
          </p:nvCxnSpPr>
          <p:spPr>
            <a:xfrm flipH="1" flipV="1">
              <a:off x="5920348" y="3478886"/>
              <a:ext cx="1060267" cy="525487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69" name="Mouse AG" descr="Cursor with solid fill">
            <a:extLst>
              <a:ext uri="{FF2B5EF4-FFF2-40B4-BE49-F238E27FC236}">
                <a16:creationId xmlns:a16="http://schemas.microsoft.com/office/drawing/2014/main" id="{0E8D5079-734F-48AA-A0B3-A67D2A65C0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795182" y="1659927"/>
            <a:ext cx="284156" cy="284156"/>
          </a:xfrm>
          <a:prstGeom prst="rect">
            <a:avLst/>
          </a:prstGeom>
        </p:spPr>
      </p:pic>
      <p:pic>
        <p:nvPicPr>
          <p:cNvPr id="270" name="Mouse YES AG" descr="Cursor with solid fill">
            <a:extLst>
              <a:ext uri="{FF2B5EF4-FFF2-40B4-BE49-F238E27FC236}">
                <a16:creationId xmlns:a16="http://schemas.microsoft.com/office/drawing/2014/main" id="{8EC5DB40-406C-4302-BC09-23AD4EE3DE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800100" y="2372664"/>
            <a:ext cx="274320" cy="274320"/>
          </a:xfrm>
          <a:prstGeom prst="rect">
            <a:avLst/>
          </a:prstGeom>
        </p:spPr>
      </p:pic>
      <p:pic>
        <p:nvPicPr>
          <p:cNvPr id="271" name="Mouse NO AG" descr="Cursor with solid fill">
            <a:extLst>
              <a:ext uri="{FF2B5EF4-FFF2-40B4-BE49-F238E27FC236}">
                <a16:creationId xmlns:a16="http://schemas.microsoft.com/office/drawing/2014/main" id="{3FCC0122-7A2F-48ED-AC58-4B599C1FD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528322" y="2376533"/>
            <a:ext cx="274320" cy="274320"/>
          </a:xfrm>
          <a:prstGeom prst="rect">
            <a:avLst/>
          </a:prstGeom>
        </p:spPr>
      </p:pic>
      <p:pic>
        <p:nvPicPr>
          <p:cNvPr id="340" name="Mouse pure AGMA" descr="Cursor with solid fill">
            <a:extLst>
              <a:ext uri="{FF2B5EF4-FFF2-40B4-BE49-F238E27FC236}">
                <a16:creationId xmlns:a16="http://schemas.microsoft.com/office/drawing/2014/main" id="{D722003C-5035-4016-B448-79176B9537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6123261" y="4581036"/>
            <a:ext cx="274320" cy="274320"/>
          </a:xfrm>
          <a:prstGeom prst="rect">
            <a:avLst/>
          </a:prstGeom>
        </p:spPr>
      </p:pic>
      <p:pic>
        <p:nvPicPr>
          <p:cNvPr id="341" name="Mouse UAG" descr="Cursor with solid fill">
            <a:extLst>
              <a:ext uri="{FF2B5EF4-FFF2-40B4-BE49-F238E27FC236}">
                <a16:creationId xmlns:a16="http://schemas.microsoft.com/office/drawing/2014/main" id="{D5067827-67ED-4AA2-A02B-7ACFA33D74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167246" y="3263052"/>
            <a:ext cx="274320" cy="274320"/>
          </a:xfrm>
          <a:prstGeom prst="rect">
            <a:avLst/>
          </a:prstGeom>
        </p:spPr>
      </p:pic>
      <p:pic>
        <p:nvPicPr>
          <p:cNvPr id="342" name="Mouse respiratory" descr="Cursor with solid fill">
            <a:extLst>
              <a:ext uri="{FF2B5EF4-FFF2-40B4-BE49-F238E27FC236}">
                <a16:creationId xmlns:a16="http://schemas.microsoft.com/office/drawing/2014/main" id="{FFFA60BE-A763-4F0A-BFC0-8A0740DBB5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720588" y="1045796"/>
            <a:ext cx="284156" cy="284156"/>
          </a:xfrm>
          <a:prstGeom prst="rect">
            <a:avLst/>
          </a:prstGeom>
        </p:spPr>
      </p:pic>
      <p:grpSp>
        <p:nvGrpSpPr>
          <p:cNvPr id="343" name="Delta delta scale">
            <a:extLst>
              <a:ext uri="{FF2B5EF4-FFF2-40B4-BE49-F238E27FC236}">
                <a16:creationId xmlns:a16="http://schemas.microsoft.com/office/drawing/2014/main" id="{A4B92C1F-2385-4F9F-8B0A-7CB3DCDFDA37}"/>
              </a:ext>
            </a:extLst>
          </p:cNvPr>
          <p:cNvGrpSpPr/>
          <p:nvPr/>
        </p:nvGrpSpPr>
        <p:grpSpPr>
          <a:xfrm>
            <a:off x="4451499" y="3627027"/>
            <a:ext cx="2856475" cy="373551"/>
            <a:chOff x="3490122" y="4447300"/>
            <a:chExt cx="3980596" cy="373551"/>
          </a:xfrm>
        </p:grpSpPr>
        <p:sp>
          <p:nvSpPr>
            <p:cNvPr id="344" name="Arrow: Left-Right 343">
              <a:extLst>
                <a:ext uri="{FF2B5EF4-FFF2-40B4-BE49-F238E27FC236}">
                  <a16:creationId xmlns:a16="http://schemas.microsoft.com/office/drawing/2014/main" id="{66C5C1B9-E29E-4DA1-BED1-74026EED169F}"/>
                </a:ext>
              </a:extLst>
            </p:cNvPr>
            <p:cNvSpPr/>
            <p:nvPr/>
          </p:nvSpPr>
          <p:spPr>
            <a:xfrm>
              <a:off x="3490122" y="4447300"/>
              <a:ext cx="3980596" cy="373551"/>
            </a:xfrm>
            <a:prstGeom prst="leftRightArrow">
              <a:avLst>
                <a:gd name="adj1" fmla="val 50000"/>
                <a:gd name="adj2" fmla="val 38101"/>
              </a:avLst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5" name="TextBox 344">
              <a:extLst>
                <a:ext uri="{FF2B5EF4-FFF2-40B4-BE49-F238E27FC236}">
                  <a16:creationId xmlns:a16="http://schemas.microsoft.com/office/drawing/2014/main" id="{04F42061-816A-4F19-898B-7DC3A0782852}"/>
                </a:ext>
              </a:extLst>
            </p:cNvPr>
            <p:cNvSpPr txBox="1"/>
            <p:nvPr/>
          </p:nvSpPr>
          <p:spPr>
            <a:xfrm>
              <a:off x="3735237" y="4489098"/>
              <a:ext cx="5096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&lt;1</a:t>
              </a:r>
            </a:p>
          </p:txBody>
        </p:sp>
        <p:sp>
          <p:nvSpPr>
            <p:cNvPr id="346" name="Rectangle 345">
              <a:extLst>
                <a:ext uri="{FF2B5EF4-FFF2-40B4-BE49-F238E27FC236}">
                  <a16:creationId xmlns:a16="http://schemas.microsoft.com/office/drawing/2014/main" id="{CFC515AF-690D-477B-B428-DAD7A713931D}"/>
                </a:ext>
              </a:extLst>
            </p:cNvPr>
            <p:cNvSpPr/>
            <p:nvPr/>
          </p:nvSpPr>
          <p:spPr>
            <a:xfrm>
              <a:off x="5262909" y="4483350"/>
              <a:ext cx="27603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  <p:sp>
          <p:nvSpPr>
            <p:cNvPr id="347" name="Rectangle 346">
              <a:extLst>
                <a:ext uri="{FF2B5EF4-FFF2-40B4-BE49-F238E27FC236}">
                  <a16:creationId xmlns:a16="http://schemas.microsoft.com/office/drawing/2014/main" id="{4E12E149-CFD9-4F2A-BB0B-ABDF03D453FF}"/>
                </a:ext>
              </a:extLst>
            </p:cNvPr>
            <p:cNvSpPr/>
            <p:nvPr/>
          </p:nvSpPr>
          <p:spPr>
            <a:xfrm>
              <a:off x="6673322" y="4489174"/>
              <a:ext cx="39219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dirty="0"/>
                <a:t>&gt;2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D0A55-75A4-4393-A287-00F437A2ADB0}"/>
              </a:ext>
            </a:extLst>
          </p:cNvPr>
          <p:cNvGrpSpPr/>
          <p:nvPr/>
        </p:nvGrpSpPr>
        <p:grpSpPr>
          <a:xfrm>
            <a:off x="1723010" y="60770"/>
            <a:ext cx="901439" cy="1252004"/>
            <a:chOff x="1723010" y="60770"/>
            <a:chExt cx="901439" cy="1252004"/>
          </a:xfrm>
        </p:grpSpPr>
        <p:sp>
          <p:nvSpPr>
            <p:cNvPr id="258" name="Step 1">
              <a:extLst>
                <a:ext uri="{FF2B5EF4-FFF2-40B4-BE49-F238E27FC236}">
                  <a16:creationId xmlns:a16="http://schemas.microsoft.com/office/drawing/2014/main" id="{CF718B2E-0281-42FA-A2D1-7BB67274CB1E}"/>
                </a:ext>
              </a:extLst>
            </p:cNvPr>
            <p:cNvSpPr/>
            <p:nvPr/>
          </p:nvSpPr>
          <p:spPr>
            <a:xfrm>
              <a:off x="1723010" y="542742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AA91522-4758-4C7B-9E24-433391D5EB7C}"/>
                </a:ext>
              </a:extLst>
            </p:cNvPr>
            <p:cNvSpPr/>
            <p:nvPr/>
          </p:nvSpPr>
          <p:spPr>
            <a:xfrm>
              <a:off x="2470143" y="60770"/>
              <a:ext cx="154306" cy="1252004"/>
            </a:xfrm>
            <a:prstGeom prst="leftBrace">
              <a:avLst>
                <a:gd name="adj1" fmla="val 0"/>
                <a:gd name="adj2" fmla="val 51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49" name="question 3">
            <a:hlinkClick r:id="rId6" action="ppaction://hlinksldjump"/>
            <a:extLst>
              <a:ext uri="{FF2B5EF4-FFF2-40B4-BE49-F238E27FC236}">
                <a16:creationId xmlns:a16="http://schemas.microsoft.com/office/drawing/2014/main" id="{ED202D41-3606-41F7-9C87-7FC8EF6CA378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350" name="question 4">
            <a:hlinkClick r:id="rId2" action="ppaction://hlinksldjump"/>
            <a:extLst>
              <a:ext uri="{FF2B5EF4-FFF2-40B4-BE49-F238E27FC236}">
                <a16:creationId xmlns:a16="http://schemas.microsoft.com/office/drawing/2014/main" id="{12999D83-65BA-406C-ADA3-42D1BBD7C321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Acidemia</a:t>
            </a:r>
          </a:p>
        </p:txBody>
      </p:sp>
      <p:sp>
        <p:nvSpPr>
          <p:cNvPr id="351" name="sub-q 2">
            <a:hlinkClick r:id="rId3" action="ppaction://hlinksldjump"/>
            <a:extLst>
              <a:ext uri="{FF2B5EF4-FFF2-40B4-BE49-F238E27FC236}">
                <a16:creationId xmlns:a16="http://schemas.microsoft.com/office/drawing/2014/main" id="{D665B11A-D26F-4D47-9909-B2B4A6E88960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352" name="sub-q 1 button">
            <a:hlinkClick r:id="rId7" action="ppaction://hlinksldjump"/>
            <a:extLst>
              <a:ext uri="{FF2B5EF4-FFF2-40B4-BE49-F238E27FC236}">
                <a16:creationId xmlns:a16="http://schemas.microsoft.com/office/drawing/2014/main" id="{2880030A-1F85-40F3-A2A8-118660714D11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353" name="Graphic 352" descr="Cursor with solid fill">
            <a:extLst>
              <a:ext uri="{FF2B5EF4-FFF2-40B4-BE49-F238E27FC236}">
                <a16:creationId xmlns:a16="http://schemas.microsoft.com/office/drawing/2014/main" id="{401AA4B5-E131-4BB3-84CB-DAF6420CA7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354" name="Graphic 353" descr="Cursor with solid fill">
            <a:extLst>
              <a:ext uri="{FF2B5EF4-FFF2-40B4-BE49-F238E27FC236}">
                <a16:creationId xmlns:a16="http://schemas.microsoft.com/office/drawing/2014/main" id="{83B8719C-EEAC-4C37-8C86-76F67B3689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355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415C76DD-A067-4040-96F9-B1187402F2E9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356" name="Graphic 355" descr="Cursor with solid fill">
            <a:extLst>
              <a:ext uri="{FF2B5EF4-FFF2-40B4-BE49-F238E27FC236}">
                <a16:creationId xmlns:a16="http://schemas.microsoft.com/office/drawing/2014/main" id="{9BF7AE87-E882-4FAD-9016-74C28D874C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357" name="Question 2">
            <a:hlinkClick r:id="rId6" action="ppaction://hlinksldjump"/>
            <a:extLst>
              <a:ext uri="{FF2B5EF4-FFF2-40B4-BE49-F238E27FC236}">
                <a16:creationId xmlns:a16="http://schemas.microsoft.com/office/drawing/2014/main" id="{875F82EC-39D7-4DE5-A4B1-CBFC5085AADB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358" name="question 1">
            <a:hlinkClick r:id="rId9" action="ppaction://hlinksldjump"/>
            <a:extLst>
              <a:ext uri="{FF2B5EF4-FFF2-40B4-BE49-F238E27FC236}">
                <a16:creationId xmlns:a16="http://schemas.microsoft.com/office/drawing/2014/main" id="{8EE77EF2-95F0-4DAD-B5F8-D7F361C19C4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359" name="Graphic 358" descr="Cursor with solid fill">
            <a:extLst>
              <a:ext uri="{FF2B5EF4-FFF2-40B4-BE49-F238E27FC236}">
                <a16:creationId xmlns:a16="http://schemas.microsoft.com/office/drawing/2014/main" id="{302FD15B-DBD5-4CC4-A909-A4A0A77A6F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360" name="Graphic 359" descr="Cursor with solid fill">
            <a:extLst>
              <a:ext uri="{FF2B5EF4-FFF2-40B4-BE49-F238E27FC236}">
                <a16:creationId xmlns:a16="http://schemas.microsoft.com/office/drawing/2014/main" id="{A9733FC9-5361-49B5-8E1A-1404ED6553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89E450ED-C41E-4C58-AFCC-C4D8E327341B}"/>
              </a:ext>
            </a:extLst>
          </p:cNvPr>
          <p:cNvCxnSpPr>
            <a:stCxn id="227" idx="2"/>
            <a:endCxn id="231" idx="0"/>
          </p:cNvCxnSpPr>
          <p:nvPr/>
        </p:nvCxnSpPr>
        <p:spPr>
          <a:xfrm rot="16200000" flipH="1">
            <a:off x="4115642" y="1682646"/>
            <a:ext cx="339354" cy="58446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119B9B89-EF70-4A3D-9971-FCDF8A55B273}"/>
              </a:ext>
            </a:extLst>
          </p:cNvPr>
          <p:cNvCxnSpPr>
            <a:stCxn id="227" idx="2"/>
            <a:endCxn id="234" idx="0"/>
          </p:cNvCxnSpPr>
          <p:nvPr/>
        </p:nvCxnSpPr>
        <p:spPr>
          <a:xfrm rot="5400000">
            <a:off x="3471744" y="1630084"/>
            <a:ext cx="346229" cy="696460"/>
          </a:xfrm>
          <a:prstGeom prst="bentConnector3">
            <a:avLst>
              <a:gd name="adj1" fmla="val 4851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63974487-BC50-4222-80BA-0D3ED80603BB}"/>
              </a:ext>
            </a:extLst>
          </p:cNvPr>
          <p:cNvCxnSpPr>
            <a:stCxn id="234" idx="2"/>
            <a:endCxn id="236" idx="0"/>
          </p:cNvCxnSpPr>
          <p:nvPr/>
        </p:nvCxnSpPr>
        <p:spPr>
          <a:xfrm rot="5400000">
            <a:off x="2759784" y="2523222"/>
            <a:ext cx="534067" cy="539623"/>
          </a:xfrm>
          <a:prstGeom prst="bentConnector3">
            <a:avLst>
              <a:gd name="adj1" fmla="val 3941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12C68E08-9298-4180-BB18-3C3F225CD1E2}"/>
              </a:ext>
            </a:extLst>
          </p:cNvPr>
          <p:cNvCxnSpPr>
            <a:cxnSpLocks/>
            <a:stCxn id="231" idx="2"/>
            <a:endCxn id="255" idx="0"/>
          </p:cNvCxnSpPr>
          <p:nvPr/>
        </p:nvCxnSpPr>
        <p:spPr>
          <a:xfrm rot="16200000" flipH="1">
            <a:off x="5007146" y="2089528"/>
            <a:ext cx="436544" cy="129573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5C8122A3-B216-49B9-80F0-230A9AE66D5C}"/>
              </a:ext>
            </a:extLst>
          </p:cNvPr>
          <p:cNvCxnSpPr>
            <a:stCxn id="236" idx="2"/>
            <a:endCxn id="250" idx="0"/>
          </p:cNvCxnSpPr>
          <p:nvPr/>
        </p:nvCxnSpPr>
        <p:spPr>
          <a:xfrm rot="16200000" flipH="1">
            <a:off x="2957406" y="3200184"/>
            <a:ext cx="234441" cy="6352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Connector: Elbow 122">
            <a:extLst>
              <a:ext uri="{FF2B5EF4-FFF2-40B4-BE49-F238E27FC236}">
                <a16:creationId xmlns:a16="http://schemas.microsoft.com/office/drawing/2014/main" id="{2A9C037B-D163-4560-AE10-282EBD523C90}"/>
              </a:ext>
            </a:extLst>
          </p:cNvPr>
          <p:cNvCxnSpPr>
            <a:stCxn id="236" idx="2"/>
            <a:endCxn id="244" idx="0"/>
          </p:cNvCxnSpPr>
          <p:nvPr/>
        </p:nvCxnSpPr>
        <p:spPr>
          <a:xfrm rot="5400000">
            <a:off x="2339963" y="3209984"/>
            <a:ext cx="226441" cy="607645"/>
          </a:xfrm>
          <a:prstGeom prst="bentConnector3">
            <a:avLst>
              <a:gd name="adj1" fmla="val 5226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1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D4B0EBDB-D698-4F42-8399-836DC734F18A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362" name="Graphic 361" descr="Cursor with solid fill">
            <a:extLst>
              <a:ext uri="{FF2B5EF4-FFF2-40B4-BE49-F238E27FC236}">
                <a16:creationId xmlns:a16="http://schemas.microsoft.com/office/drawing/2014/main" id="{E4A82914-30B5-44F0-97E4-C4327E7BAD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363" name="teachIM logo" descr="Icon&#10;&#10;Description automatically generated">
            <a:extLst>
              <a:ext uri="{FF2B5EF4-FFF2-40B4-BE49-F238E27FC236}">
                <a16:creationId xmlns:a16="http://schemas.microsoft.com/office/drawing/2014/main" id="{240484BD-A5CA-4AF4-A345-DE482489B9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grpSp>
        <p:nvGrpSpPr>
          <p:cNvPr id="77" name="Increased CO2">
            <a:extLst>
              <a:ext uri="{FF2B5EF4-FFF2-40B4-BE49-F238E27FC236}">
                <a16:creationId xmlns:a16="http://schemas.microsoft.com/office/drawing/2014/main" id="{E2489F17-8EBB-4A69-8891-5DDC32B94F02}"/>
              </a:ext>
            </a:extLst>
          </p:cNvPr>
          <p:cNvGrpSpPr/>
          <p:nvPr/>
        </p:nvGrpSpPr>
        <p:grpSpPr>
          <a:xfrm>
            <a:off x="10062343" y="1202416"/>
            <a:ext cx="1730202" cy="835519"/>
            <a:chOff x="9745538" y="1212187"/>
            <a:chExt cx="1730202" cy="835519"/>
          </a:xfrm>
        </p:grpSpPr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313A50AB-FEF9-4600-B44A-484098A9B109}"/>
                </a:ext>
              </a:extLst>
            </p:cNvPr>
            <p:cNvCxnSpPr>
              <a:cxnSpLocks/>
            </p:cNvCxnSpPr>
            <p:nvPr/>
          </p:nvCxnSpPr>
          <p:spPr>
            <a:xfrm>
              <a:off x="9745538" y="1212187"/>
              <a:ext cx="1015500" cy="2600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BE539C1E-D9D9-4823-B2D1-9D6C46ED507C}"/>
                </a:ext>
              </a:extLst>
            </p:cNvPr>
            <p:cNvSpPr txBox="1"/>
            <p:nvPr/>
          </p:nvSpPr>
          <p:spPr>
            <a:xfrm>
              <a:off x="10046335" y="1472253"/>
              <a:ext cx="1429405" cy="575453"/>
            </a:xfrm>
            <a:prstGeom prst="roundRect">
              <a:avLst>
                <a:gd name="adj" fmla="val 14311"/>
              </a:avLst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↑ CO</a:t>
              </a:r>
              <a:r>
                <a:rPr lang="en-US" sz="1600" baseline="-25000" dirty="0"/>
                <a:t>2</a:t>
              </a:r>
              <a:r>
                <a:rPr lang="en-US" sz="1600" dirty="0"/>
                <a:t> production</a:t>
              </a:r>
            </a:p>
          </p:txBody>
        </p:sp>
      </p:grpSp>
      <p:grpSp>
        <p:nvGrpSpPr>
          <p:cNvPr id="80" name="Decreased CO2 button">
            <a:extLst>
              <a:ext uri="{FF2B5EF4-FFF2-40B4-BE49-F238E27FC236}">
                <a16:creationId xmlns:a16="http://schemas.microsoft.com/office/drawing/2014/main" id="{6F4DCE5A-36F9-4D68-B23D-C46AFCEBC485}"/>
              </a:ext>
            </a:extLst>
          </p:cNvPr>
          <p:cNvGrpSpPr/>
          <p:nvPr/>
        </p:nvGrpSpPr>
        <p:grpSpPr>
          <a:xfrm>
            <a:off x="8346029" y="1202416"/>
            <a:ext cx="1716314" cy="855529"/>
            <a:chOff x="8346030" y="1202416"/>
            <a:chExt cx="1716314" cy="855529"/>
          </a:xfrm>
        </p:grpSpPr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77E51325-6EE6-4415-9035-04E455DA7B04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 flipH="1">
              <a:off x="9066916" y="1202416"/>
              <a:ext cx="995428" cy="2698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965F8E84-3306-479D-84FA-F59A01F28A35}"/>
                </a:ext>
              </a:extLst>
            </p:cNvPr>
            <p:cNvSpPr txBox="1"/>
            <p:nvPr/>
          </p:nvSpPr>
          <p:spPr>
            <a:xfrm>
              <a:off x="8346030" y="1472253"/>
              <a:ext cx="1441772" cy="585692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↓ CO</a:t>
              </a:r>
              <a:r>
                <a:rPr lang="en-US" sz="1600" baseline="-25000" dirty="0"/>
                <a:t>2</a:t>
              </a:r>
              <a:r>
                <a:rPr lang="en-US" sz="1600" dirty="0"/>
                <a:t> elimination</a:t>
              </a:r>
            </a:p>
          </p:txBody>
        </p:sp>
      </p:grpSp>
      <p:sp>
        <p:nvSpPr>
          <p:cNvPr id="83" name="Increased CO2 explanation">
            <a:extLst>
              <a:ext uri="{FF2B5EF4-FFF2-40B4-BE49-F238E27FC236}">
                <a16:creationId xmlns:a16="http://schemas.microsoft.com/office/drawing/2014/main" id="{E6832077-2846-44D6-825A-6F48543CA239}"/>
              </a:ext>
            </a:extLst>
          </p:cNvPr>
          <p:cNvSpPr txBox="1"/>
          <p:nvPr/>
        </p:nvSpPr>
        <p:spPr>
          <a:xfrm>
            <a:off x="10399304" y="2080518"/>
            <a:ext cx="1441772" cy="73866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Sepsis </a:t>
            </a:r>
          </a:p>
          <a:p>
            <a:pPr algn="ctr"/>
            <a:r>
              <a:rPr lang="en-US" sz="1400" dirty="0"/>
              <a:t>Overfeeding</a:t>
            </a:r>
          </a:p>
          <a:p>
            <a:pPr algn="ctr"/>
            <a:r>
              <a:rPr lang="en-US" sz="1400" dirty="0"/>
              <a:t>Hyperthyroidism</a:t>
            </a:r>
          </a:p>
        </p:txBody>
      </p:sp>
      <p:grpSp>
        <p:nvGrpSpPr>
          <p:cNvPr id="84" name="Decreased CO2 explanation">
            <a:extLst>
              <a:ext uri="{FF2B5EF4-FFF2-40B4-BE49-F238E27FC236}">
                <a16:creationId xmlns:a16="http://schemas.microsoft.com/office/drawing/2014/main" id="{FBBFAFD6-3C6F-485F-BEC4-5F83A740C30A}"/>
              </a:ext>
            </a:extLst>
          </p:cNvPr>
          <p:cNvGrpSpPr/>
          <p:nvPr/>
        </p:nvGrpSpPr>
        <p:grpSpPr>
          <a:xfrm>
            <a:off x="7276849" y="1794141"/>
            <a:ext cx="2926568" cy="1242851"/>
            <a:chOff x="6945474" y="1790439"/>
            <a:chExt cx="2926568" cy="1242851"/>
          </a:xfrm>
        </p:grpSpPr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EF7B43B5-FB62-4134-B022-61425D9ED171}"/>
                </a:ext>
              </a:extLst>
            </p:cNvPr>
            <p:cNvSpPr txBox="1"/>
            <p:nvPr/>
          </p:nvSpPr>
          <p:spPr>
            <a:xfrm>
              <a:off x="7737808" y="2079183"/>
              <a:ext cx="2134234" cy="95410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Obstructive (and intrinsic) lung disease</a:t>
              </a:r>
            </a:p>
            <a:p>
              <a:pPr algn="ctr"/>
              <a:r>
                <a:rPr lang="en-US" sz="1400" dirty="0"/>
                <a:t>Neuromuscular weakness</a:t>
              </a:r>
            </a:p>
            <a:p>
              <a:pPr algn="ctr"/>
              <a:r>
                <a:rPr lang="en-US" sz="1400" dirty="0">
                  <a:sym typeface="Wingdings" panose="05000000000000000000" pitchFamily="2" charset="2"/>
                </a:rPr>
                <a:t></a:t>
              </a:r>
              <a:r>
                <a:rPr lang="en-US" sz="1400" dirty="0"/>
                <a:t> of RR (opioids, benzos)</a:t>
              </a:r>
            </a:p>
          </p:txBody>
        </p:sp>
        <p:grpSp>
          <p:nvGrpSpPr>
            <p:cNvPr id="86" name="Lungs">
              <a:extLst>
                <a:ext uri="{FF2B5EF4-FFF2-40B4-BE49-F238E27FC236}">
                  <a16:creationId xmlns:a16="http://schemas.microsoft.com/office/drawing/2014/main" id="{A393FFC9-3C46-4218-AF5B-344072F049A3}"/>
                </a:ext>
              </a:extLst>
            </p:cNvPr>
            <p:cNvGrpSpPr/>
            <p:nvPr/>
          </p:nvGrpSpPr>
          <p:grpSpPr>
            <a:xfrm>
              <a:off x="6945474" y="1790439"/>
              <a:ext cx="843036" cy="747491"/>
              <a:chOff x="665950" y="768467"/>
              <a:chExt cx="2779699" cy="3060226"/>
            </a:xfrm>
          </p:grpSpPr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92D20AC6-097A-4226-98C8-E132094220B2}"/>
                  </a:ext>
                </a:extLst>
              </p:cNvPr>
              <p:cNvSpPr/>
              <p:nvPr/>
            </p:nvSpPr>
            <p:spPr>
              <a:xfrm>
                <a:off x="1506705" y="768467"/>
                <a:ext cx="894356" cy="1287984"/>
              </a:xfrm>
              <a:custGeom>
                <a:avLst/>
                <a:gdLst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505317 w 978822"/>
                  <a:gd name="connsiteY8" fmla="*/ 952615 h 1318434"/>
                  <a:gd name="connsiteX9" fmla="*/ 520557 w 978822"/>
                  <a:gd name="connsiteY9" fmla="*/ 967855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505317 w 978822"/>
                  <a:gd name="connsiteY8" fmla="*/ 952615 h 1318434"/>
                  <a:gd name="connsiteX9" fmla="*/ 496173 w 978822"/>
                  <a:gd name="connsiteY9" fmla="*/ 967855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505317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1037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557133 w 978822"/>
                  <a:gd name="connsiteY9" fmla="*/ 1016623 h 1318434"/>
                  <a:gd name="connsiteX10" fmla="*/ 703437 w 978822"/>
                  <a:gd name="connsiteY10" fmla="*/ 1165975 h 1318434"/>
                  <a:gd name="connsiteX11" fmla="*/ 840597 w 978822"/>
                  <a:gd name="connsiteY11" fmla="*/ 1318375 h 1318434"/>
                  <a:gd name="connsiteX12" fmla="*/ 977757 w 978822"/>
                  <a:gd name="connsiteY12" fmla="*/ 1181215 h 1318434"/>
                  <a:gd name="connsiteX13" fmla="*/ 764397 w 978822"/>
                  <a:gd name="connsiteY13" fmla="*/ 952615 h 1318434"/>
                  <a:gd name="connsiteX14" fmla="*/ 642477 w 978822"/>
                  <a:gd name="connsiteY14" fmla="*/ 800215 h 1318434"/>
                  <a:gd name="connsiteX15" fmla="*/ 596757 w 978822"/>
                  <a:gd name="connsiteY15" fmla="*/ 647815 h 1318434"/>
                  <a:gd name="connsiteX16" fmla="*/ 581517 w 978822"/>
                  <a:gd name="connsiteY16" fmla="*/ 205855 h 1318434"/>
                  <a:gd name="connsiteX17" fmla="*/ 566277 w 978822"/>
                  <a:gd name="connsiteY17" fmla="*/ 53455 h 1318434"/>
                  <a:gd name="connsiteX18" fmla="*/ 505317 w 978822"/>
                  <a:gd name="connsiteY18" fmla="*/ 7735 h 1318434"/>
                  <a:gd name="connsiteX19" fmla="*/ 413877 w 978822"/>
                  <a:gd name="connsiteY19" fmla="*/ 7735 h 1318434"/>
                  <a:gd name="connsiteX20" fmla="*/ 368157 w 978822"/>
                  <a:gd name="connsiteY20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68157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68157 w 978822"/>
                  <a:gd name="connsiteY0" fmla="*/ 83935 h 1318434"/>
                  <a:gd name="connsiteX1" fmla="*/ 368157 w 978822"/>
                  <a:gd name="connsiteY1" fmla="*/ 647815 h 1318434"/>
                  <a:gd name="connsiteX2" fmla="*/ 355965 w 978822"/>
                  <a:gd name="connsiteY2" fmla="*/ 784975 h 1318434"/>
                  <a:gd name="connsiteX3" fmla="*/ 261477 w 978822"/>
                  <a:gd name="connsiteY3" fmla="*/ 937375 h 1318434"/>
                  <a:gd name="connsiteX4" fmla="*/ 63357 w 978822"/>
                  <a:gd name="connsiteY4" fmla="*/ 1059295 h 1318434"/>
                  <a:gd name="connsiteX5" fmla="*/ 17637 w 978822"/>
                  <a:gd name="connsiteY5" fmla="*/ 1196455 h 1318434"/>
                  <a:gd name="connsiteX6" fmla="*/ 17637 w 978822"/>
                  <a:gd name="connsiteY6" fmla="*/ 1242175 h 1318434"/>
                  <a:gd name="connsiteX7" fmla="*/ 230997 w 978822"/>
                  <a:gd name="connsiteY7" fmla="*/ 1196455 h 1318434"/>
                  <a:gd name="connsiteX8" fmla="*/ 499221 w 978822"/>
                  <a:gd name="connsiteY8" fmla="*/ 952615 h 1318434"/>
                  <a:gd name="connsiteX9" fmla="*/ 703437 w 978822"/>
                  <a:gd name="connsiteY9" fmla="*/ 1165975 h 1318434"/>
                  <a:gd name="connsiteX10" fmla="*/ 840597 w 978822"/>
                  <a:gd name="connsiteY10" fmla="*/ 1318375 h 1318434"/>
                  <a:gd name="connsiteX11" fmla="*/ 977757 w 978822"/>
                  <a:gd name="connsiteY11" fmla="*/ 1181215 h 1318434"/>
                  <a:gd name="connsiteX12" fmla="*/ 764397 w 978822"/>
                  <a:gd name="connsiteY12" fmla="*/ 952615 h 1318434"/>
                  <a:gd name="connsiteX13" fmla="*/ 642477 w 978822"/>
                  <a:gd name="connsiteY13" fmla="*/ 800215 h 1318434"/>
                  <a:gd name="connsiteX14" fmla="*/ 596757 w 978822"/>
                  <a:gd name="connsiteY14" fmla="*/ 647815 h 1318434"/>
                  <a:gd name="connsiteX15" fmla="*/ 581517 w 978822"/>
                  <a:gd name="connsiteY15" fmla="*/ 205855 h 1318434"/>
                  <a:gd name="connsiteX16" fmla="*/ 566277 w 978822"/>
                  <a:gd name="connsiteY16" fmla="*/ 53455 h 1318434"/>
                  <a:gd name="connsiteX17" fmla="*/ 505317 w 978822"/>
                  <a:gd name="connsiteY17" fmla="*/ 7735 h 1318434"/>
                  <a:gd name="connsiteX18" fmla="*/ 413877 w 978822"/>
                  <a:gd name="connsiteY18" fmla="*/ 7735 h 1318434"/>
                  <a:gd name="connsiteX19" fmla="*/ 368157 w 978822"/>
                  <a:gd name="connsiteY19" fmla="*/ 83935 h 1318434"/>
                  <a:gd name="connsiteX0" fmla="*/ 375902 w 986567"/>
                  <a:gd name="connsiteY0" fmla="*/ 83935 h 1318434"/>
                  <a:gd name="connsiteX1" fmla="*/ 375902 w 986567"/>
                  <a:gd name="connsiteY1" fmla="*/ 647815 h 1318434"/>
                  <a:gd name="connsiteX2" fmla="*/ 363710 w 986567"/>
                  <a:gd name="connsiteY2" fmla="*/ 784975 h 1318434"/>
                  <a:gd name="connsiteX3" fmla="*/ 269222 w 986567"/>
                  <a:gd name="connsiteY3" fmla="*/ 937375 h 1318434"/>
                  <a:gd name="connsiteX4" fmla="*/ 16238 w 986567"/>
                  <a:gd name="connsiteY4" fmla="*/ 1059295 h 1318434"/>
                  <a:gd name="connsiteX5" fmla="*/ 25382 w 986567"/>
                  <a:gd name="connsiteY5" fmla="*/ 1196455 h 1318434"/>
                  <a:gd name="connsiteX6" fmla="*/ 25382 w 986567"/>
                  <a:gd name="connsiteY6" fmla="*/ 1242175 h 1318434"/>
                  <a:gd name="connsiteX7" fmla="*/ 238742 w 986567"/>
                  <a:gd name="connsiteY7" fmla="*/ 1196455 h 1318434"/>
                  <a:gd name="connsiteX8" fmla="*/ 506966 w 986567"/>
                  <a:gd name="connsiteY8" fmla="*/ 952615 h 1318434"/>
                  <a:gd name="connsiteX9" fmla="*/ 711182 w 986567"/>
                  <a:gd name="connsiteY9" fmla="*/ 1165975 h 1318434"/>
                  <a:gd name="connsiteX10" fmla="*/ 848342 w 986567"/>
                  <a:gd name="connsiteY10" fmla="*/ 1318375 h 1318434"/>
                  <a:gd name="connsiteX11" fmla="*/ 985502 w 986567"/>
                  <a:gd name="connsiteY11" fmla="*/ 1181215 h 1318434"/>
                  <a:gd name="connsiteX12" fmla="*/ 772142 w 986567"/>
                  <a:gd name="connsiteY12" fmla="*/ 952615 h 1318434"/>
                  <a:gd name="connsiteX13" fmla="*/ 650222 w 986567"/>
                  <a:gd name="connsiteY13" fmla="*/ 800215 h 1318434"/>
                  <a:gd name="connsiteX14" fmla="*/ 604502 w 986567"/>
                  <a:gd name="connsiteY14" fmla="*/ 647815 h 1318434"/>
                  <a:gd name="connsiteX15" fmla="*/ 589262 w 986567"/>
                  <a:gd name="connsiteY15" fmla="*/ 205855 h 1318434"/>
                  <a:gd name="connsiteX16" fmla="*/ 574022 w 986567"/>
                  <a:gd name="connsiteY16" fmla="*/ 53455 h 1318434"/>
                  <a:gd name="connsiteX17" fmla="*/ 513062 w 986567"/>
                  <a:gd name="connsiteY17" fmla="*/ 7735 h 1318434"/>
                  <a:gd name="connsiteX18" fmla="*/ 421622 w 986567"/>
                  <a:gd name="connsiteY18" fmla="*/ 7735 h 1318434"/>
                  <a:gd name="connsiteX19" fmla="*/ 375902 w 986567"/>
                  <a:gd name="connsiteY19" fmla="*/ 83935 h 1318434"/>
                  <a:gd name="connsiteX0" fmla="*/ 370978 w 981643"/>
                  <a:gd name="connsiteY0" fmla="*/ 83935 h 1318434"/>
                  <a:gd name="connsiteX1" fmla="*/ 370978 w 981643"/>
                  <a:gd name="connsiteY1" fmla="*/ 647815 h 1318434"/>
                  <a:gd name="connsiteX2" fmla="*/ 358786 w 981643"/>
                  <a:gd name="connsiteY2" fmla="*/ 784975 h 1318434"/>
                  <a:gd name="connsiteX3" fmla="*/ 264298 w 981643"/>
                  <a:gd name="connsiteY3" fmla="*/ 937375 h 1318434"/>
                  <a:gd name="connsiteX4" fmla="*/ 17410 w 981643"/>
                  <a:gd name="connsiteY4" fmla="*/ 1108063 h 1318434"/>
                  <a:gd name="connsiteX5" fmla="*/ 20458 w 981643"/>
                  <a:gd name="connsiteY5" fmla="*/ 1196455 h 1318434"/>
                  <a:gd name="connsiteX6" fmla="*/ 20458 w 981643"/>
                  <a:gd name="connsiteY6" fmla="*/ 1242175 h 1318434"/>
                  <a:gd name="connsiteX7" fmla="*/ 233818 w 981643"/>
                  <a:gd name="connsiteY7" fmla="*/ 1196455 h 1318434"/>
                  <a:gd name="connsiteX8" fmla="*/ 502042 w 981643"/>
                  <a:gd name="connsiteY8" fmla="*/ 952615 h 1318434"/>
                  <a:gd name="connsiteX9" fmla="*/ 706258 w 981643"/>
                  <a:gd name="connsiteY9" fmla="*/ 1165975 h 1318434"/>
                  <a:gd name="connsiteX10" fmla="*/ 843418 w 981643"/>
                  <a:gd name="connsiteY10" fmla="*/ 1318375 h 1318434"/>
                  <a:gd name="connsiteX11" fmla="*/ 980578 w 981643"/>
                  <a:gd name="connsiteY11" fmla="*/ 1181215 h 1318434"/>
                  <a:gd name="connsiteX12" fmla="*/ 767218 w 981643"/>
                  <a:gd name="connsiteY12" fmla="*/ 952615 h 1318434"/>
                  <a:gd name="connsiteX13" fmla="*/ 645298 w 981643"/>
                  <a:gd name="connsiteY13" fmla="*/ 800215 h 1318434"/>
                  <a:gd name="connsiteX14" fmla="*/ 599578 w 981643"/>
                  <a:gd name="connsiteY14" fmla="*/ 647815 h 1318434"/>
                  <a:gd name="connsiteX15" fmla="*/ 584338 w 981643"/>
                  <a:gd name="connsiteY15" fmla="*/ 205855 h 1318434"/>
                  <a:gd name="connsiteX16" fmla="*/ 569098 w 981643"/>
                  <a:gd name="connsiteY16" fmla="*/ 53455 h 1318434"/>
                  <a:gd name="connsiteX17" fmla="*/ 508138 w 981643"/>
                  <a:gd name="connsiteY17" fmla="*/ 7735 h 1318434"/>
                  <a:gd name="connsiteX18" fmla="*/ 416698 w 981643"/>
                  <a:gd name="connsiteY18" fmla="*/ 7735 h 1318434"/>
                  <a:gd name="connsiteX19" fmla="*/ 370978 w 981643"/>
                  <a:gd name="connsiteY19" fmla="*/ 83935 h 1318434"/>
                  <a:gd name="connsiteX0" fmla="*/ 375902 w 986567"/>
                  <a:gd name="connsiteY0" fmla="*/ 83935 h 1318434"/>
                  <a:gd name="connsiteX1" fmla="*/ 375902 w 986567"/>
                  <a:gd name="connsiteY1" fmla="*/ 647815 h 1318434"/>
                  <a:gd name="connsiteX2" fmla="*/ 363710 w 986567"/>
                  <a:gd name="connsiteY2" fmla="*/ 784975 h 1318434"/>
                  <a:gd name="connsiteX3" fmla="*/ 269222 w 986567"/>
                  <a:gd name="connsiteY3" fmla="*/ 937375 h 1318434"/>
                  <a:gd name="connsiteX4" fmla="*/ 16238 w 986567"/>
                  <a:gd name="connsiteY4" fmla="*/ 1108063 h 1318434"/>
                  <a:gd name="connsiteX5" fmla="*/ 25382 w 986567"/>
                  <a:gd name="connsiteY5" fmla="*/ 1196455 h 1318434"/>
                  <a:gd name="connsiteX6" fmla="*/ 25382 w 986567"/>
                  <a:gd name="connsiteY6" fmla="*/ 1242175 h 1318434"/>
                  <a:gd name="connsiteX7" fmla="*/ 238742 w 986567"/>
                  <a:gd name="connsiteY7" fmla="*/ 1196455 h 1318434"/>
                  <a:gd name="connsiteX8" fmla="*/ 506966 w 986567"/>
                  <a:gd name="connsiteY8" fmla="*/ 952615 h 1318434"/>
                  <a:gd name="connsiteX9" fmla="*/ 711182 w 986567"/>
                  <a:gd name="connsiteY9" fmla="*/ 1165975 h 1318434"/>
                  <a:gd name="connsiteX10" fmla="*/ 848342 w 986567"/>
                  <a:gd name="connsiteY10" fmla="*/ 1318375 h 1318434"/>
                  <a:gd name="connsiteX11" fmla="*/ 985502 w 986567"/>
                  <a:gd name="connsiteY11" fmla="*/ 1181215 h 1318434"/>
                  <a:gd name="connsiteX12" fmla="*/ 772142 w 986567"/>
                  <a:gd name="connsiteY12" fmla="*/ 952615 h 1318434"/>
                  <a:gd name="connsiteX13" fmla="*/ 650222 w 986567"/>
                  <a:gd name="connsiteY13" fmla="*/ 800215 h 1318434"/>
                  <a:gd name="connsiteX14" fmla="*/ 604502 w 986567"/>
                  <a:gd name="connsiteY14" fmla="*/ 647815 h 1318434"/>
                  <a:gd name="connsiteX15" fmla="*/ 589262 w 986567"/>
                  <a:gd name="connsiteY15" fmla="*/ 205855 h 1318434"/>
                  <a:gd name="connsiteX16" fmla="*/ 574022 w 986567"/>
                  <a:gd name="connsiteY16" fmla="*/ 53455 h 1318434"/>
                  <a:gd name="connsiteX17" fmla="*/ 513062 w 986567"/>
                  <a:gd name="connsiteY17" fmla="*/ 7735 h 1318434"/>
                  <a:gd name="connsiteX18" fmla="*/ 421622 w 986567"/>
                  <a:gd name="connsiteY18" fmla="*/ 7735 h 1318434"/>
                  <a:gd name="connsiteX19" fmla="*/ 375902 w 986567"/>
                  <a:gd name="connsiteY19" fmla="*/ 83935 h 1318434"/>
                  <a:gd name="connsiteX0" fmla="*/ 376678 w 987343"/>
                  <a:gd name="connsiteY0" fmla="*/ 83935 h 1318434"/>
                  <a:gd name="connsiteX1" fmla="*/ 376678 w 987343"/>
                  <a:gd name="connsiteY1" fmla="*/ 647815 h 1318434"/>
                  <a:gd name="connsiteX2" fmla="*/ 364486 w 987343"/>
                  <a:gd name="connsiteY2" fmla="*/ 784975 h 1318434"/>
                  <a:gd name="connsiteX3" fmla="*/ 269998 w 987343"/>
                  <a:gd name="connsiteY3" fmla="*/ 937375 h 1318434"/>
                  <a:gd name="connsiteX4" fmla="*/ 17014 w 987343"/>
                  <a:gd name="connsiteY4" fmla="*/ 1108063 h 1318434"/>
                  <a:gd name="connsiteX5" fmla="*/ 26158 w 987343"/>
                  <a:gd name="connsiteY5" fmla="*/ 1196455 h 1318434"/>
                  <a:gd name="connsiteX6" fmla="*/ 50542 w 987343"/>
                  <a:gd name="connsiteY6" fmla="*/ 1248271 h 1318434"/>
                  <a:gd name="connsiteX7" fmla="*/ 239518 w 987343"/>
                  <a:gd name="connsiteY7" fmla="*/ 1196455 h 1318434"/>
                  <a:gd name="connsiteX8" fmla="*/ 507742 w 987343"/>
                  <a:gd name="connsiteY8" fmla="*/ 952615 h 1318434"/>
                  <a:gd name="connsiteX9" fmla="*/ 711958 w 987343"/>
                  <a:gd name="connsiteY9" fmla="*/ 1165975 h 1318434"/>
                  <a:gd name="connsiteX10" fmla="*/ 849118 w 987343"/>
                  <a:gd name="connsiteY10" fmla="*/ 1318375 h 1318434"/>
                  <a:gd name="connsiteX11" fmla="*/ 986278 w 987343"/>
                  <a:gd name="connsiteY11" fmla="*/ 1181215 h 1318434"/>
                  <a:gd name="connsiteX12" fmla="*/ 772918 w 987343"/>
                  <a:gd name="connsiteY12" fmla="*/ 952615 h 1318434"/>
                  <a:gd name="connsiteX13" fmla="*/ 650998 w 987343"/>
                  <a:gd name="connsiteY13" fmla="*/ 800215 h 1318434"/>
                  <a:gd name="connsiteX14" fmla="*/ 605278 w 987343"/>
                  <a:gd name="connsiteY14" fmla="*/ 647815 h 1318434"/>
                  <a:gd name="connsiteX15" fmla="*/ 590038 w 987343"/>
                  <a:gd name="connsiteY15" fmla="*/ 205855 h 1318434"/>
                  <a:gd name="connsiteX16" fmla="*/ 574798 w 987343"/>
                  <a:gd name="connsiteY16" fmla="*/ 53455 h 1318434"/>
                  <a:gd name="connsiteX17" fmla="*/ 513838 w 987343"/>
                  <a:gd name="connsiteY17" fmla="*/ 7735 h 1318434"/>
                  <a:gd name="connsiteX18" fmla="*/ 422398 w 987343"/>
                  <a:gd name="connsiteY18" fmla="*/ 7735 h 1318434"/>
                  <a:gd name="connsiteX19" fmla="*/ 376678 w 987343"/>
                  <a:gd name="connsiteY19" fmla="*/ 83935 h 1318434"/>
                  <a:gd name="connsiteX0" fmla="*/ 376678 w 987343"/>
                  <a:gd name="connsiteY0" fmla="*/ 83935 h 1318434"/>
                  <a:gd name="connsiteX1" fmla="*/ 376678 w 987343"/>
                  <a:gd name="connsiteY1" fmla="*/ 647815 h 1318434"/>
                  <a:gd name="connsiteX2" fmla="*/ 364486 w 987343"/>
                  <a:gd name="connsiteY2" fmla="*/ 784975 h 1318434"/>
                  <a:gd name="connsiteX3" fmla="*/ 269998 w 987343"/>
                  <a:gd name="connsiteY3" fmla="*/ 937375 h 1318434"/>
                  <a:gd name="connsiteX4" fmla="*/ 17014 w 987343"/>
                  <a:gd name="connsiteY4" fmla="*/ 1108063 h 1318434"/>
                  <a:gd name="connsiteX5" fmla="*/ 26158 w 987343"/>
                  <a:gd name="connsiteY5" fmla="*/ 1196455 h 1318434"/>
                  <a:gd name="connsiteX6" fmla="*/ 50542 w 987343"/>
                  <a:gd name="connsiteY6" fmla="*/ 1248271 h 1318434"/>
                  <a:gd name="connsiteX7" fmla="*/ 233422 w 987343"/>
                  <a:gd name="connsiteY7" fmla="*/ 1178167 h 1318434"/>
                  <a:gd name="connsiteX8" fmla="*/ 507742 w 987343"/>
                  <a:gd name="connsiteY8" fmla="*/ 952615 h 1318434"/>
                  <a:gd name="connsiteX9" fmla="*/ 711958 w 987343"/>
                  <a:gd name="connsiteY9" fmla="*/ 1165975 h 1318434"/>
                  <a:gd name="connsiteX10" fmla="*/ 849118 w 987343"/>
                  <a:gd name="connsiteY10" fmla="*/ 1318375 h 1318434"/>
                  <a:gd name="connsiteX11" fmla="*/ 986278 w 987343"/>
                  <a:gd name="connsiteY11" fmla="*/ 1181215 h 1318434"/>
                  <a:gd name="connsiteX12" fmla="*/ 772918 w 987343"/>
                  <a:gd name="connsiteY12" fmla="*/ 952615 h 1318434"/>
                  <a:gd name="connsiteX13" fmla="*/ 650998 w 987343"/>
                  <a:gd name="connsiteY13" fmla="*/ 800215 h 1318434"/>
                  <a:gd name="connsiteX14" fmla="*/ 605278 w 987343"/>
                  <a:gd name="connsiteY14" fmla="*/ 647815 h 1318434"/>
                  <a:gd name="connsiteX15" fmla="*/ 590038 w 987343"/>
                  <a:gd name="connsiteY15" fmla="*/ 205855 h 1318434"/>
                  <a:gd name="connsiteX16" fmla="*/ 574798 w 987343"/>
                  <a:gd name="connsiteY16" fmla="*/ 53455 h 1318434"/>
                  <a:gd name="connsiteX17" fmla="*/ 513838 w 987343"/>
                  <a:gd name="connsiteY17" fmla="*/ 7735 h 1318434"/>
                  <a:gd name="connsiteX18" fmla="*/ 422398 w 987343"/>
                  <a:gd name="connsiteY18" fmla="*/ 7735 h 1318434"/>
                  <a:gd name="connsiteX19" fmla="*/ 376678 w 987343"/>
                  <a:gd name="connsiteY19" fmla="*/ 83935 h 1318434"/>
                  <a:gd name="connsiteX0" fmla="*/ 376678 w 987569"/>
                  <a:gd name="connsiteY0" fmla="*/ 83935 h 1287982"/>
                  <a:gd name="connsiteX1" fmla="*/ 376678 w 987569"/>
                  <a:gd name="connsiteY1" fmla="*/ 647815 h 1287982"/>
                  <a:gd name="connsiteX2" fmla="*/ 364486 w 987569"/>
                  <a:gd name="connsiteY2" fmla="*/ 784975 h 1287982"/>
                  <a:gd name="connsiteX3" fmla="*/ 269998 w 987569"/>
                  <a:gd name="connsiteY3" fmla="*/ 937375 h 1287982"/>
                  <a:gd name="connsiteX4" fmla="*/ 17014 w 987569"/>
                  <a:gd name="connsiteY4" fmla="*/ 1108063 h 1287982"/>
                  <a:gd name="connsiteX5" fmla="*/ 26158 w 987569"/>
                  <a:gd name="connsiteY5" fmla="*/ 1196455 h 1287982"/>
                  <a:gd name="connsiteX6" fmla="*/ 50542 w 987569"/>
                  <a:gd name="connsiteY6" fmla="*/ 1248271 h 1287982"/>
                  <a:gd name="connsiteX7" fmla="*/ 233422 w 987569"/>
                  <a:gd name="connsiteY7" fmla="*/ 1178167 h 1287982"/>
                  <a:gd name="connsiteX8" fmla="*/ 507742 w 987569"/>
                  <a:gd name="connsiteY8" fmla="*/ 952615 h 1287982"/>
                  <a:gd name="connsiteX9" fmla="*/ 711958 w 987569"/>
                  <a:gd name="connsiteY9" fmla="*/ 1165975 h 1287982"/>
                  <a:gd name="connsiteX10" fmla="*/ 855214 w 987569"/>
                  <a:gd name="connsiteY10" fmla="*/ 1287895 h 1287982"/>
                  <a:gd name="connsiteX11" fmla="*/ 986278 w 987569"/>
                  <a:gd name="connsiteY11" fmla="*/ 1181215 h 1287982"/>
                  <a:gd name="connsiteX12" fmla="*/ 772918 w 987569"/>
                  <a:gd name="connsiteY12" fmla="*/ 952615 h 1287982"/>
                  <a:gd name="connsiteX13" fmla="*/ 650998 w 987569"/>
                  <a:gd name="connsiteY13" fmla="*/ 800215 h 1287982"/>
                  <a:gd name="connsiteX14" fmla="*/ 605278 w 987569"/>
                  <a:gd name="connsiteY14" fmla="*/ 647815 h 1287982"/>
                  <a:gd name="connsiteX15" fmla="*/ 590038 w 987569"/>
                  <a:gd name="connsiteY15" fmla="*/ 205855 h 1287982"/>
                  <a:gd name="connsiteX16" fmla="*/ 574798 w 987569"/>
                  <a:gd name="connsiteY16" fmla="*/ 53455 h 1287982"/>
                  <a:gd name="connsiteX17" fmla="*/ 513838 w 987569"/>
                  <a:gd name="connsiteY17" fmla="*/ 7735 h 1287982"/>
                  <a:gd name="connsiteX18" fmla="*/ 422398 w 987569"/>
                  <a:gd name="connsiteY18" fmla="*/ 7735 h 1287982"/>
                  <a:gd name="connsiteX19" fmla="*/ 376678 w 987569"/>
                  <a:gd name="connsiteY19" fmla="*/ 83935 h 1287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7569" h="1287982">
                    <a:moveTo>
                      <a:pt x="376678" y="83935"/>
                    </a:moveTo>
                    <a:cubicBezTo>
                      <a:pt x="369058" y="190615"/>
                      <a:pt x="378710" y="530975"/>
                      <a:pt x="376678" y="647815"/>
                    </a:cubicBezTo>
                    <a:cubicBezTo>
                      <a:pt x="374646" y="764655"/>
                      <a:pt x="382266" y="736715"/>
                      <a:pt x="364486" y="784975"/>
                    </a:cubicBezTo>
                    <a:cubicBezTo>
                      <a:pt x="346706" y="833235"/>
                      <a:pt x="327910" y="883527"/>
                      <a:pt x="269998" y="937375"/>
                    </a:cubicBezTo>
                    <a:cubicBezTo>
                      <a:pt x="212086" y="991223"/>
                      <a:pt x="57654" y="1064883"/>
                      <a:pt x="17014" y="1108063"/>
                    </a:cubicBezTo>
                    <a:cubicBezTo>
                      <a:pt x="-23626" y="1151243"/>
                      <a:pt x="20570" y="1173087"/>
                      <a:pt x="26158" y="1196455"/>
                    </a:cubicBezTo>
                    <a:cubicBezTo>
                      <a:pt x="31746" y="1219823"/>
                      <a:pt x="15998" y="1251319"/>
                      <a:pt x="50542" y="1248271"/>
                    </a:cubicBezTo>
                    <a:cubicBezTo>
                      <a:pt x="85086" y="1245223"/>
                      <a:pt x="157222" y="1227443"/>
                      <a:pt x="233422" y="1178167"/>
                    </a:cubicBezTo>
                    <a:cubicBezTo>
                      <a:pt x="309622" y="1128891"/>
                      <a:pt x="320290" y="1074027"/>
                      <a:pt x="507742" y="952615"/>
                    </a:cubicBezTo>
                    <a:cubicBezTo>
                      <a:pt x="665730" y="1075551"/>
                      <a:pt x="654046" y="1110095"/>
                      <a:pt x="711958" y="1165975"/>
                    </a:cubicBezTo>
                    <a:cubicBezTo>
                      <a:pt x="769870" y="1221855"/>
                      <a:pt x="809494" y="1285355"/>
                      <a:pt x="855214" y="1287895"/>
                    </a:cubicBezTo>
                    <a:cubicBezTo>
                      <a:pt x="900934" y="1290435"/>
                      <a:pt x="999994" y="1237095"/>
                      <a:pt x="986278" y="1181215"/>
                    </a:cubicBezTo>
                    <a:cubicBezTo>
                      <a:pt x="972562" y="1125335"/>
                      <a:pt x="828798" y="1016115"/>
                      <a:pt x="772918" y="952615"/>
                    </a:cubicBezTo>
                    <a:cubicBezTo>
                      <a:pt x="717038" y="889115"/>
                      <a:pt x="678938" y="851015"/>
                      <a:pt x="650998" y="800215"/>
                    </a:cubicBezTo>
                    <a:cubicBezTo>
                      <a:pt x="623058" y="749415"/>
                      <a:pt x="615438" y="746875"/>
                      <a:pt x="605278" y="647815"/>
                    </a:cubicBezTo>
                    <a:cubicBezTo>
                      <a:pt x="595118" y="548755"/>
                      <a:pt x="595118" y="304915"/>
                      <a:pt x="590038" y="205855"/>
                    </a:cubicBezTo>
                    <a:cubicBezTo>
                      <a:pt x="584958" y="106795"/>
                      <a:pt x="574798" y="53455"/>
                      <a:pt x="574798" y="53455"/>
                    </a:cubicBezTo>
                    <a:cubicBezTo>
                      <a:pt x="562098" y="20435"/>
                      <a:pt x="539238" y="15355"/>
                      <a:pt x="513838" y="7735"/>
                    </a:cubicBezTo>
                    <a:cubicBezTo>
                      <a:pt x="488438" y="115"/>
                      <a:pt x="445258" y="-4965"/>
                      <a:pt x="422398" y="7735"/>
                    </a:cubicBezTo>
                    <a:cubicBezTo>
                      <a:pt x="399538" y="20435"/>
                      <a:pt x="384298" y="-22745"/>
                      <a:pt x="376678" y="83935"/>
                    </a:cubicBez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0AA39A41-F66C-4AC7-8B61-F0DA3EF3103F}"/>
                  </a:ext>
                </a:extLst>
              </p:cNvPr>
              <p:cNvSpPr/>
              <p:nvPr/>
            </p:nvSpPr>
            <p:spPr>
              <a:xfrm rot="378681">
                <a:off x="665950" y="1383500"/>
                <a:ext cx="1179317" cy="2445193"/>
              </a:xfrm>
              <a:custGeom>
                <a:avLst/>
                <a:gdLst>
                  <a:gd name="connsiteX0" fmla="*/ 968303 w 1252262"/>
                  <a:gd name="connsiteY0" fmla="*/ 310618 h 2445192"/>
                  <a:gd name="connsiteX1" fmla="*/ 851072 w 1252262"/>
                  <a:gd name="connsiteY1" fmla="*/ 76156 h 2445192"/>
                  <a:gd name="connsiteX2" fmla="*/ 733842 w 1252262"/>
                  <a:gd name="connsiteY2" fmla="*/ 5818 h 2445192"/>
                  <a:gd name="connsiteX3" fmla="*/ 475934 w 1252262"/>
                  <a:gd name="connsiteY3" fmla="*/ 99603 h 2445192"/>
                  <a:gd name="connsiteX4" fmla="*/ 100795 w 1252262"/>
                  <a:gd name="connsiteY4" fmla="*/ 849879 h 2445192"/>
                  <a:gd name="connsiteX5" fmla="*/ 7011 w 1252262"/>
                  <a:gd name="connsiteY5" fmla="*/ 1717387 h 2445192"/>
                  <a:gd name="connsiteX6" fmla="*/ 30457 w 1252262"/>
                  <a:gd name="connsiteY6" fmla="*/ 2162864 h 2445192"/>
                  <a:gd name="connsiteX7" fmla="*/ 218026 w 1252262"/>
                  <a:gd name="connsiteY7" fmla="*/ 2444218 h 2445192"/>
                  <a:gd name="connsiteX8" fmla="*/ 874518 w 1252262"/>
                  <a:gd name="connsiteY8" fmla="*/ 2069079 h 2445192"/>
                  <a:gd name="connsiteX9" fmla="*/ 1226211 w 1252262"/>
                  <a:gd name="connsiteY9" fmla="*/ 1998741 h 2445192"/>
                  <a:gd name="connsiteX10" fmla="*/ 1226211 w 1252262"/>
                  <a:gd name="connsiteY10" fmla="*/ 1623603 h 2445192"/>
                  <a:gd name="connsiteX11" fmla="*/ 1226211 w 1252262"/>
                  <a:gd name="connsiteY11" fmla="*/ 1107787 h 2445192"/>
                  <a:gd name="connsiteX12" fmla="*/ 1062088 w 1252262"/>
                  <a:gd name="connsiteY12" fmla="*/ 404403 h 2445192"/>
                  <a:gd name="connsiteX13" fmla="*/ 968303 w 1252262"/>
                  <a:gd name="connsiteY13" fmla="*/ 310618 h 2445192"/>
                  <a:gd name="connsiteX0" fmla="*/ 1062088 w 1252262"/>
                  <a:gd name="connsiteY0" fmla="*/ 404403 h 2445192"/>
                  <a:gd name="connsiteX1" fmla="*/ 851072 w 1252262"/>
                  <a:gd name="connsiteY1" fmla="*/ 76156 h 2445192"/>
                  <a:gd name="connsiteX2" fmla="*/ 733842 w 1252262"/>
                  <a:gd name="connsiteY2" fmla="*/ 5818 h 2445192"/>
                  <a:gd name="connsiteX3" fmla="*/ 475934 w 1252262"/>
                  <a:gd name="connsiteY3" fmla="*/ 99603 h 2445192"/>
                  <a:gd name="connsiteX4" fmla="*/ 100795 w 1252262"/>
                  <a:gd name="connsiteY4" fmla="*/ 849879 h 2445192"/>
                  <a:gd name="connsiteX5" fmla="*/ 7011 w 1252262"/>
                  <a:gd name="connsiteY5" fmla="*/ 1717387 h 2445192"/>
                  <a:gd name="connsiteX6" fmla="*/ 30457 w 1252262"/>
                  <a:gd name="connsiteY6" fmla="*/ 2162864 h 2445192"/>
                  <a:gd name="connsiteX7" fmla="*/ 218026 w 1252262"/>
                  <a:gd name="connsiteY7" fmla="*/ 2444218 h 2445192"/>
                  <a:gd name="connsiteX8" fmla="*/ 874518 w 1252262"/>
                  <a:gd name="connsiteY8" fmla="*/ 2069079 h 2445192"/>
                  <a:gd name="connsiteX9" fmla="*/ 1226211 w 1252262"/>
                  <a:gd name="connsiteY9" fmla="*/ 1998741 h 2445192"/>
                  <a:gd name="connsiteX10" fmla="*/ 1226211 w 1252262"/>
                  <a:gd name="connsiteY10" fmla="*/ 1623603 h 2445192"/>
                  <a:gd name="connsiteX11" fmla="*/ 1226211 w 1252262"/>
                  <a:gd name="connsiteY11" fmla="*/ 1107787 h 2445192"/>
                  <a:gd name="connsiteX12" fmla="*/ 1062088 w 1252262"/>
                  <a:gd name="connsiteY12" fmla="*/ 404403 h 244519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252262" h="2445192">
                    <a:moveTo>
                      <a:pt x="1062088" y="404403"/>
                    </a:moveTo>
                    <a:cubicBezTo>
                      <a:pt x="999565" y="232465"/>
                      <a:pt x="905780" y="142587"/>
                      <a:pt x="851072" y="76156"/>
                    </a:cubicBezTo>
                    <a:cubicBezTo>
                      <a:pt x="796364" y="9725"/>
                      <a:pt x="796365" y="1910"/>
                      <a:pt x="733842" y="5818"/>
                    </a:cubicBezTo>
                    <a:cubicBezTo>
                      <a:pt x="671319" y="9726"/>
                      <a:pt x="581442" y="-41074"/>
                      <a:pt x="475934" y="99603"/>
                    </a:cubicBezTo>
                    <a:cubicBezTo>
                      <a:pt x="370426" y="240280"/>
                      <a:pt x="178949" y="580248"/>
                      <a:pt x="100795" y="849879"/>
                    </a:cubicBezTo>
                    <a:cubicBezTo>
                      <a:pt x="22641" y="1119510"/>
                      <a:pt x="18734" y="1498556"/>
                      <a:pt x="7011" y="1717387"/>
                    </a:cubicBezTo>
                    <a:cubicBezTo>
                      <a:pt x="-4712" y="1936218"/>
                      <a:pt x="-4712" y="2041726"/>
                      <a:pt x="30457" y="2162864"/>
                    </a:cubicBezTo>
                    <a:cubicBezTo>
                      <a:pt x="65626" y="2284002"/>
                      <a:pt x="77349" y="2459849"/>
                      <a:pt x="218026" y="2444218"/>
                    </a:cubicBezTo>
                    <a:cubicBezTo>
                      <a:pt x="358703" y="2428587"/>
                      <a:pt x="706487" y="2143325"/>
                      <a:pt x="874518" y="2069079"/>
                    </a:cubicBezTo>
                    <a:cubicBezTo>
                      <a:pt x="1042549" y="1994833"/>
                      <a:pt x="1167596" y="2072987"/>
                      <a:pt x="1226211" y="1998741"/>
                    </a:cubicBezTo>
                    <a:cubicBezTo>
                      <a:pt x="1284826" y="1924495"/>
                      <a:pt x="1226211" y="1623603"/>
                      <a:pt x="1226211" y="1623603"/>
                    </a:cubicBezTo>
                    <a:cubicBezTo>
                      <a:pt x="1226211" y="1475111"/>
                      <a:pt x="1253565" y="1310987"/>
                      <a:pt x="1226211" y="1107787"/>
                    </a:cubicBezTo>
                    <a:cubicBezTo>
                      <a:pt x="1198857" y="904587"/>
                      <a:pt x="1124611" y="576341"/>
                      <a:pt x="1062088" y="404403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A0072294-3CC5-404D-9EC4-27A4834427EF}"/>
                  </a:ext>
                </a:extLst>
              </p:cNvPr>
              <p:cNvSpPr/>
              <p:nvPr/>
            </p:nvSpPr>
            <p:spPr>
              <a:xfrm>
                <a:off x="2137047" y="1307540"/>
                <a:ext cx="1308602" cy="2362642"/>
              </a:xfrm>
              <a:custGeom>
                <a:avLst/>
                <a:gdLst>
                  <a:gd name="connsiteX0" fmla="*/ 19238 w 1221213"/>
                  <a:gd name="connsiteY0" fmla="*/ 820691 h 2272209"/>
                  <a:gd name="connsiteX1" fmla="*/ 66130 w 1221213"/>
                  <a:gd name="connsiteY1" fmla="*/ 351768 h 2272209"/>
                  <a:gd name="connsiteX2" fmla="*/ 370930 w 1221213"/>
                  <a:gd name="connsiteY2" fmla="*/ 75 h 2272209"/>
                  <a:gd name="connsiteX3" fmla="*/ 746069 w 1221213"/>
                  <a:gd name="connsiteY3" fmla="*/ 328322 h 2272209"/>
                  <a:gd name="connsiteX4" fmla="*/ 1074315 w 1221213"/>
                  <a:gd name="connsiteY4" fmla="*/ 1102045 h 2272209"/>
                  <a:gd name="connsiteX5" fmla="*/ 1168099 w 1221213"/>
                  <a:gd name="connsiteY5" fmla="*/ 1758537 h 2272209"/>
                  <a:gd name="connsiteX6" fmla="*/ 1191545 w 1221213"/>
                  <a:gd name="connsiteY6" fmla="*/ 2250906 h 2272209"/>
                  <a:gd name="connsiteX7" fmla="*/ 746069 w 1221213"/>
                  <a:gd name="connsiteY7" fmla="*/ 2180568 h 2272209"/>
                  <a:gd name="connsiteX8" fmla="*/ 347484 w 1221213"/>
                  <a:gd name="connsiteY8" fmla="*/ 2157122 h 2272209"/>
                  <a:gd name="connsiteX9" fmla="*/ 230253 w 1221213"/>
                  <a:gd name="connsiteY9" fmla="*/ 2157122 h 2272209"/>
                  <a:gd name="connsiteX10" fmla="*/ 253699 w 1221213"/>
                  <a:gd name="connsiteY10" fmla="*/ 1946106 h 2272209"/>
                  <a:gd name="connsiteX11" fmla="*/ 253699 w 1221213"/>
                  <a:gd name="connsiteY11" fmla="*/ 1688199 h 2272209"/>
                  <a:gd name="connsiteX12" fmla="*/ 19238 w 1221213"/>
                  <a:gd name="connsiteY12" fmla="*/ 1524075 h 2272209"/>
                  <a:gd name="connsiteX13" fmla="*/ 19238 w 1221213"/>
                  <a:gd name="connsiteY13" fmla="*/ 820691 h 2272209"/>
                  <a:gd name="connsiteX0" fmla="*/ 872 w 1202847"/>
                  <a:gd name="connsiteY0" fmla="*/ 820691 h 2272209"/>
                  <a:gd name="connsiteX1" fmla="*/ 47764 w 1202847"/>
                  <a:gd name="connsiteY1" fmla="*/ 351768 h 2272209"/>
                  <a:gd name="connsiteX2" fmla="*/ 352564 w 1202847"/>
                  <a:gd name="connsiteY2" fmla="*/ 75 h 2272209"/>
                  <a:gd name="connsiteX3" fmla="*/ 727703 w 1202847"/>
                  <a:gd name="connsiteY3" fmla="*/ 328322 h 2272209"/>
                  <a:gd name="connsiteX4" fmla="*/ 1055949 w 1202847"/>
                  <a:gd name="connsiteY4" fmla="*/ 1102045 h 2272209"/>
                  <a:gd name="connsiteX5" fmla="*/ 1149733 w 1202847"/>
                  <a:gd name="connsiteY5" fmla="*/ 1758537 h 2272209"/>
                  <a:gd name="connsiteX6" fmla="*/ 1173179 w 1202847"/>
                  <a:gd name="connsiteY6" fmla="*/ 2250906 h 2272209"/>
                  <a:gd name="connsiteX7" fmla="*/ 727703 w 1202847"/>
                  <a:gd name="connsiteY7" fmla="*/ 2180568 h 2272209"/>
                  <a:gd name="connsiteX8" fmla="*/ 329118 w 1202847"/>
                  <a:gd name="connsiteY8" fmla="*/ 2157122 h 2272209"/>
                  <a:gd name="connsiteX9" fmla="*/ 211887 w 1202847"/>
                  <a:gd name="connsiteY9" fmla="*/ 2157122 h 2272209"/>
                  <a:gd name="connsiteX10" fmla="*/ 235333 w 1202847"/>
                  <a:gd name="connsiteY10" fmla="*/ 1946106 h 2272209"/>
                  <a:gd name="connsiteX11" fmla="*/ 235333 w 1202847"/>
                  <a:gd name="connsiteY11" fmla="*/ 1688199 h 2272209"/>
                  <a:gd name="connsiteX12" fmla="*/ 46592 w 1202847"/>
                  <a:gd name="connsiteY12" fmla="*/ 1356435 h 2272209"/>
                  <a:gd name="connsiteX13" fmla="*/ 872 w 1202847"/>
                  <a:gd name="connsiteY13" fmla="*/ 820691 h 2272209"/>
                  <a:gd name="connsiteX0" fmla="*/ 31139 w 1233114"/>
                  <a:gd name="connsiteY0" fmla="*/ 820691 h 2272209"/>
                  <a:gd name="connsiteX1" fmla="*/ 78031 w 1233114"/>
                  <a:gd name="connsiteY1" fmla="*/ 351768 h 2272209"/>
                  <a:gd name="connsiteX2" fmla="*/ 382831 w 1233114"/>
                  <a:gd name="connsiteY2" fmla="*/ 75 h 2272209"/>
                  <a:gd name="connsiteX3" fmla="*/ 757970 w 1233114"/>
                  <a:gd name="connsiteY3" fmla="*/ 328322 h 2272209"/>
                  <a:gd name="connsiteX4" fmla="*/ 1086216 w 1233114"/>
                  <a:gd name="connsiteY4" fmla="*/ 1102045 h 2272209"/>
                  <a:gd name="connsiteX5" fmla="*/ 1180000 w 1233114"/>
                  <a:gd name="connsiteY5" fmla="*/ 1758537 h 2272209"/>
                  <a:gd name="connsiteX6" fmla="*/ 1203446 w 1233114"/>
                  <a:gd name="connsiteY6" fmla="*/ 2250906 h 2272209"/>
                  <a:gd name="connsiteX7" fmla="*/ 757970 w 1233114"/>
                  <a:gd name="connsiteY7" fmla="*/ 2180568 h 2272209"/>
                  <a:gd name="connsiteX8" fmla="*/ 359385 w 1233114"/>
                  <a:gd name="connsiteY8" fmla="*/ 2157122 h 2272209"/>
                  <a:gd name="connsiteX9" fmla="*/ 242154 w 1233114"/>
                  <a:gd name="connsiteY9" fmla="*/ 2157122 h 2272209"/>
                  <a:gd name="connsiteX10" fmla="*/ 265600 w 1233114"/>
                  <a:gd name="connsiteY10" fmla="*/ 1946106 h 2272209"/>
                  <a:gd name="connsiteX11" fmla="*/ 265600 w 1233114"/>
                  <a:gd name="connsiteY11" fmla="*/ 1688199 h 2272209"/>
                  <a:gd name="connsiteX12" fmla="*/ 15899 w 1233114"/>
                  <a:gd name="connsiteY12" fmla="*/ 1386915 h 2272209"/>
                  <a:gd name="connsiteX13" fmla="*/ 31139 w 1233114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250005 w 1240965"/>
                  <a:gd name="connsiteY9" fmla="*/ 2157122 h 2272209"/>
                  <a:gd name="connsiteX10" fmla="*/ 273451 w 1240965"/>
                  <a:gd name="connsiteY10" fmla="*/ 1946106 h 2272209"/>
                  <a:gd name="connsiteX11" fmla="*/ 380131 w 1240965"/>
                  <a:gd name="connsiteY11" fmla="*/ 171867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250005 w 1240965"/>
                  <a:gd name="connsiteY9" fmla="*/ 2157122 h 2272209"/>
                  <a:gd name="connsiteX10" fmla="*/ 273451 w 1240965"/>
                  <a:gd name="connsiteY10" fmla="*/ 1946106 h 2272209"/>
                  <a:gd name="connsiteX11" fmla="*/ 380131 w 1240965"/>
                  <a:gd name="connsiteY11" fmla="*/ 158151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250005 w 1240965"/>
                  <a:gd name="connsiteY9" fmla="*/ 2157122 h 2272209"/>
                  <a:gd name="connsiteX10" fmla="*/ 395371 w 1240965"/>
                  <a:gd name="connsiteY10" fmla="*/ 1976586 h 2272209"/>
                  <a:gd name="connsiteX11" fmla="*/ 380131 w 1240965"/>
                  <a:gd name="connsiteY11" fmla="*/ 158151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2209"/>
                  <a:gd name="connsiteX1" fmla="*/ 85882 w 1240965"/>
                  <a:gd name="connsiteY1" fmla="*/ 351768 h 2272209"/>
                  <a:gd name="connsiteX2" fmla="*/ 390682 w 1240965"/>
                  <a:gd name="connsiteY2" fmla="*/ 75 h 2272209"/>
                  <a:gd name="connsiteX3" fmla="*/ 765821 w 1240965"/>
                  <a:gd name="connsiteY3" fmla="*/ 328322 h 2272209"/>
                  <a:gd name="connsiteX4" fmla="*/ 1094067 w 1240965"/>
                  <a:gd name="connsiteY4" fmla="*/ 1102045 h 2272209"/>
                  <a:gd name="connsiteX5" fmla="*/ 1187851 w 1240965"/>
                  <a:gd name="connsiteY5" fmla="*/ 1758537 h 2272209"/>
                  <a:gd name="connsiteX6" fmla="*/ 1211297 w 1240965"/>
                  <a:gd name="connsiteY6" fmla="*/ 2250906 h 2272209"/>
                  <a:gd name="connsiteX7" fmla="*/ 765821 w 1240965"/>
                  <a:gd name="connsiteY7" fmla="*/ 2180568 h 2272209"/>
                  <a:gd name="connsiteX8" fmla="*/ 367236 w 1240965"/>
                  <a:gd name="connsiteY8" fmla="*/ 2157122 h 2272209"/>
                  <a:gd name="connsiteX9" fmla="*/ 570045 w 1240965"/>
                  <a:gd name="connsiteY9" fmla="*/ 2172362 h 2272209"/>
                  <a:gd name="connsiteX10" fmla="*/ 395371 w 1240965"/>
                  <a:gd name="connsiteY10" fmla="*/ 1976586 h 2272209"/>
                  <a:gd name="connsiteX11" fmla="*/ 380131 w 1240965"/>
                  <a:gd name="connsiteY11" fmla="*/ 1581519 h 2272209"/>
                  <a:gd name="connsiteX12" fmla="*/ 23750 w 1240965"/>
                  <a:gd name="connsiteY12" fmla="*/ 1386915 h 2272209"/>
                  <a:gd name="connsiteX13" fmla="*/ 38990 w 1240965"/>
                  <a:gd name="connsiteY13" fmla="*/ 820691 h 2272209"/>
                  <a:gd name="connsiteX0" fmla="*/ 38990 w 1240965"/>
                  <a:gd name="connsiteY0" fmla="*/ 820691 h 2271932"/>
                  <a:gd name="connsiteX1" fmla="*/ 85882 w 1240965"/>
                  <a:gd name="connsiteY1" fmla="*/ 351768 h 2271932"/>
                  <a:gd name="connsiteX2" fmla="*/ 390682 w 1240965"/>
                  <a:gd name="connsiteY2" fmla="*/ 75 h 2271932"/>
                  <a:gd name="connsiteX3" fmla="*/ 765821 w 1240965"/>
                  <a:gd name="connsiteY3" fmla="*/ 328322 h 2271932"/>
                  <a:gd name="connsiteX4" fmla="*/ 1094067 w 1240965"/>
                  <a:gd name="connsiteY4" fmla="*/ 1102045 h 2271932"/>
                  <a:gd name="connsiteX5" fmla="*/ 1187851 w 1240965"/>
                  <a:gd name="connsiteY5" fmla="*/ 1758537 h 2271932"/>
                  <a:gd name="connsiteX6" fmla="*/ 1211297 w 1240965"/>
                  <a:gd name="connsiteY6" fmla="*/ 2250906 h 2271932"/>
                  <a:gd name="connsiteX7" fmla="*/ 765821 w 1240965"/>
                  <a:gd name="connsiteY7" fmla="*/ 2180568 h 2271932"/>
                  <a:gd name="connsiteX8" fmla="*/ 570045 w 1240965"/>
                  <a:gd name="connsiteY8" fmla="*/ 2172362 h 2271932"/>
                  <a:gd name="connsiteX9" fmla="*/ 395371 w 1240965"/>
                  <a:gd name="connsiteY9" fmla="*/ 1976586 h 2271932"/>
                  <a:gd name="connsiteX10" fmla="*/ 380131 w 1240965"/>
                  <a:gd name="connsiteY10" fmla="*/ 1581519 h 2271932"/>
                  <a:gd name="connsiteX11" fmla="*/ 23750 w 1240965"/>
                  <a:gd name="connsiteY11" fmla="*/ 1386915 h 2271932"/>
                  <a:gd name="connsiteX12" fmla="*/ 38990 w 1240965"/>
                  <a:gd name="connsiteY12" fmla="*/ 820691 h 2271932"/>
                  <a:gd name="connsiteX0" fmla="*/ 32259 w 1234234"/>
                  <a:gd name="connsiteY0" fmla="*/ 820691 h 2271932"/>
                  <a:gd name="connsiteX1" fmla="*/ 79151 w 1234234"/>
                  <a:gd name="connsiteY1" fmla="*/ 351768 h 2271932"/>
                  <a:gd name="connsiteX2" fmla="*/ 383951 w 1234234"/>
                  <a:gd name="connsiteY2" fmla="*/ 75 h 2271932"/>
                  <a:gd name="connsiteX3" fmla="*/ 759090 w 1234234"/>
                  <a:gd name="connsiteY3" fmla="*/ 328322 h 2271932"/>
                  <a:gd name="connsiteX4" fmla="*/ 1087336 w 1234234"/>
                  <a:gd name="connsiteY4" fmla="*/ 1102045 h 2271932"/>
                  <a:gd name="connsiteX5" fmla="*/ 1181120 w 1234234"/>
                  <a:gd name="connsiteY5" fmla="*/ 1758537 h 2271932"/>
                  <a:gd name="connsiteX6" fmla="*/ 1204566 w 1234234"/>
                  <a:gd name="connsiteY6" fmla="*/ 2250906 h 2271932"/>
                  <a:gd name="connsiteX7" fmla="*/ 759090 w 1234234"/>
                  <a:gd name="connsiteY7" fmla="*/ 2180568 h 2271932"/>
                  <a:gd name="connsiteX8" fmla="*/ 563314 w 1234234"/>
                  <a:gd name="connsiteY8" fmla="*/ 2172362 h 2271932"/>
                  <a:gd name="connsiteX9" fmla="*/ 388640 w 1234234"/>
                  <a:gd name="connsiteY9" fmla="*/ 1976586 h 2271932"/>
                  <a:gd name="connsiteX10" fmla="*/ 281960 w 1234234"/>
                  <a:gd name="connsiteY10" fmla="*/ 1535799 h 2271932"/>
                  <a:gd name="connsiteX11" fmla="*/ 17019 w 1234234"/>
                  <a:gd name="connsiteY11" fmla="*/ 1386915 h 2271932"/>
                  <a:gd name="connsiteX12" fmla="*/ 32259 w 1234234"/>
                  <a:gd name="connsiteY12" fmla="*/ 820691 h 2271932"/>
                  <a:gd name="connsiteX0" fmla="*/ 32259 w 1234234"/>
                  <a:gd name="connsiteY0" fmla="*/ 820691 h 2271932"/>
                  <a:gd name="connsiteX1" fmla="*/ 79151 w 1234234"/>
                  <a:gd name="connsiteY1" fmla="*/ 351768 h 2271932"/>
                  <a:gd name="connsiteX2" fmla="*/ 383951 w 1234234"/>
                  <a:gd name="connsiteY2" fmla="*/ 75 h 2271932"/>
                  <a:gd name="connsiteX3" fmla="*/ 759090 w 1234234"/>
                  <a:gd name="connsiteY3" fmla="*/ 328322 h 2271932"/>
                  <a:gd name="connsiteX4" fmla="*/ 1087336 w 1234234"/>
                  <a:gd name="connsiteY4" fmla="*/ 1102045 h 2271932"/>
                  <a:gd name="connsiteX5" fmla="*/ 1181120 w 1234234"/>
                  <a:gd name="connsiteY5" fmla="*/ 1758537 h 2271932"/>
                  <a:gd name="connsiteX6" fmla="*/ 1204566 w 1234234"/>
                  <a:gd name="connsiteY6" fmla="*/ 2250906 h 2271932"/>
                  <a:gd name="connsiteX7" fmla="*/ 759090 w 1234234"/>
                  <a:gd name="connsiteY7" fmla="*/ 2180568 h 2271932"/>
                  <a:gd name="connsiteX8" fmla="*/ 563314 w 1234234"/>
                  <a:gd name="connsiteY8" fmla="*/ 2172362 h 2271932"/>
                  <a:gd name="connsiteX9" fmla="*/ 388640 w 1234234"/>
                  <a:gd name="connsiteY9" fmla="*/ 1976586 h 2271932"/>
                  <a:gd name="connsiteX10" fmla="*/ 417948 w 1234234"/>
                  <a:gd name="connsiteY10" fmla="*/ 1712817 h 2271932"/>
                  <a:gd name="connsiteX11" fmla="*/ 281960 w 1234234"/>
                  <a:gd name="connsiteY11" fmla="*/ 1535799 h 2271932"/>
                  <a:gd name="connsiteX12" fmla="*/ 17019 w 1234234"/>
                  <a:gd name="connsiteY12" fmla="*/ 1386915 h 2271932"/>
                  <a:gd name="connsiteX13" fmla="*/ 32259 w 1234234"/>
                  <a:gd name="connsiteY13" fmla="*/ 820691 h 2271932"/>
                  <a:gd name="connsiteX0" fmla="*/ 26677 w 1228652"/>
                  <a:gd name="connsiteY0" fmla="*/ 820691 h 2271932"/>
                  <a:gd name="connsiteX1" fmla="*/ 73569 w 1228652"/>
                  <a:gd name="connsiteY1" fmla="*/ 351768 h 2271932"/>
                  <a:gd name="connsiteX2" fmla="*/ 378369 w 1228652"/>
                  <a:gd name="connsiteY2" fmla="*/ 75 h 2271932"/>
                  <a:gd name="connsiteX3" fmla="*/ 753508 w 1228652"/>
                  <a:gd name="connsiteY3" fmla="*/ 328322 h 2271932"/>
                  <a:gd name="connsiteX4" fmla="*/ 1081754 w 1228652"/>
                  <a:gd name="connsiteY4" fmla="*/ 1102045 h 2271932"/>
                  <a:gd name="connsiteX5" fmla="*/ 1175538 w 1228652"/>
                  <a:gd name="connsiteY5" fmla="*/ 1758537 h 2271932"/>
                  <a:gd name="connsiteX6" fmla="*/ 1198984 w 1228652"/>
                  <a:gd name="connsiteY6" fmla="*/ 2250906 h 2271932"/>
                  <a:gd name="connsiteX7" fmla="*/ 753508 w 1228652"/>
                  <a:gd name="connsiteY7" fmla="*/ 2180568 h 2271932"/>
                  <a:gd name="connsiteX8" fmla="*/ 557732 w 1228652"/>
                  <a:gd name="connsiteY8" fmla="*/ 2172362 h 2271932"/>
                  <a:gd name="connsiteX9" fmla="*/ 383058 w 1228652"/>
                  <a:gd name="connsiteY9" fmla="*/ 1976586 h 2271932"/>
                  <a:gd name="connsiteX10" fmla="*/ 412366 w 1228652"/>
                  <a:gd name="connsiteY10" fmla="*/ 1712817 h 2271932"/>
                  <a:gd name="connsiteX11" fmla="*/ 200178 w 1228652"/>
                  <a:gd name="connsiteY11" fmla="*/ 1505319 h 2271932"/>
                  <a:gd name="connsiteX12" fmla="*/ 11437 w 1228652"/>
                  <a:gd name="connsiteY12" fmla="*/ 1386915 h 2271932"/>
                  <a:gd name="connsiteX13" fmla="*/ 26677 w 1228652"/>
                  <a:gd name="connsiteY13" fmla="*/ 820691 h 2271932"/>
                  <a:gd name="connsiteX0" fmla="*/ 26677 w 1228652"/>
                  <a:gd name="connsiteY0" fmla="*/ 820691 h 2271932"/>
                  <a:gd name="connsiteX1" fmla="*/ 73569 w 1228652"/>
                  <a:gd name="connsiteY1" fmla="*/ 351768 h 2271932"/>
                  <a:gd name="connsiteX2" fmla="*/ 378369 w 1228652"/>
                  <a:gd name="connsiteY2" fmla="*/ 75 h 2271932"/>
                  <a:gd name="connsiteX3" fmla="*/ 753508 w 1228652"/>
                  <a:gd name="connsiteY3" fmla="*/ 328322 h 2271932"/>
                  <a:gd name="connsiteX4" fmla="*/ 1081754 w 1228652"/>
                  <a:gd name="connsiteY4" fmla="*/ 1102045 h 2271932"/>
                  <a:gd name="connsiteX5" fmla="*/ 1175538 w 1228652"/>
                  <a:gd name="connsiteY5" fmla="*/ 1758537 h 2271932"/>
                  <a:gd name="connsiteX6" fmla="*/ 1198984 w 1228652"/>
                  <a:gd name="connsiteY6" fmla="*/ 2250906 h 2271932"/>
                  <a:gd name="connsiteX7" fmla="*/ 753508 w 1228652"/>
                  <a:gd name="connsiteY7" fmla="*/ 2180568 h 2271932"/>
                  <a:gd name="connsiteX8" fmla="*/ 557732 w 1228652"/>
                  <a:gd name="connsiteY8" fmla="*/ 2172362 h 2271932"/>
                  <a:gd name="connsiteX9" fmla="*/ 383058 w 1228652"/>
                  <a:gd name="connsiteY9" fmla="*/ 1976586 h 2271932"/>
                  <a:gd name="connsiteX10" fmla="*/ 320926 w 1228652"/>
                  <a:gd name="connsiteY10" fmla="*/ 1682337 h 2271932"/>
                  <a:gd name="connsiteX11" fmla="*/ 200178 w 1228652"/>
                  <a:gd name="connsiteY11" fmla="*/ 1505319 h 2271932"/>
                  <a:gd name="connsiteX12" fmla="*/ 11437 w 1228652"/>
                  <a:gd name="connsiteY12" fmla="*/ 1386915 h 2271932"/>
                  <a:gd name="connsiteX13" fmla="*/ 26677 w 1228652"/>
                  <a:gd name="connsiteY13" fmla="*/ 820691 h 2271932"/>
                  <a:gd name="connsiteX0" fmla="*/ 26677 w 1228652"/>
                  <a:gd name="connsiteY0" fmla="*/ 820691 h 2271932"/>
                  <a:gd name="connsiteX1" fmla="*/ 73569 w 1228652"/>
                  <a:gd name="connsiteY1" fmla="*/ 351768 h 2271932"/>
                  <a:gd name="connsiteX2" fmla="*/ 378369 w 1228652"/>
                  <a:gd name="connsiteY2" fmla="*/ 75 h 2271932"/>
                  <a:gd name="connsiteX3" fmla="*/ 753508 w 1228652"/>
                  <a:gd name="connsiteY3" fmla="*/ 328322 h 2271932"/>
                  <a:gd name="connsiteX4" fmla="*/ 1081754 w 1228652"/>
                  <a:gd name="connsiteY4" fmla="*/ 1102045 h 2271932"/>
                  <a:gd name="connsiteX5" fmla="*/ 1175538 w 1228652"/>
                  <a:gd name="connsiteY5" fmla="*/ 1758537 h 2271932"/>
                  <a:gd name="connsiteX6" fmla="*/ 1198984 w 1228652"/>
                  <a:gd name="connsiteY6" fmla="*/ 2250906 h 2271932"/>
                  <a:gd name="connsiteX7" fmla="*/ 753508 w 1228652"/>
                  <a:gd name="connsiteY7" fmla="*/ 2180568 h 2271932"/>
                  <a:gd name="connsiteX8" fmla="*/ 557732 w 1228652"/>
                  <a:gd name="connsiteY8" fmla="*/ 2172362 h 2271932"/>
                  <a:gd name="connsiteX9" fmla="*/ 291618 w 1228652"/>
                  <a:gd name="connsiteY9" fmla="*/ 2052786 h 2271932"/>
                  <a:gd name="connsiteX10" fmla="*/ 320926 w 1228652"/>
                  <a:gd name="connsiteY10" fmla="*/ 1682337 h 2271932"/>
                  <a:gd name="connsiteX11" fmla="*/ 200178 w 1228652"/>
                  <a:gd name="connsiteY11" fmla="*/ 1505319 h 2271932"/>
                  <a:gd name="connsiteX12" fmla="*/ 11437 w 1228652"/>
                  <a:gd name="connsiteY12" fmla="*/ 1386915 h 2271932"/>
                  <a:gd name="connsiteX13" fmla="*/ 26677 w 1228652"/>
                  <a:gd name="connsiteY13" fmla="*/ 820691 h 2271932"/>
                  <a:gd name="connsiteX0" fmla="*/ 2073 w 1280248"/>
                  <a:gd name="connsiteY0" fmla="*/ 820691 h 2271932"/>
                  <a:gd name="connsiteX1" fmla="*/ 125165 w 1280248"/>
                  <a:gd name="connsiteY1" fmla="*/ 351768 h 2271932"/>
                  <a:gd name="connsiteX2" fmla="*/ 429965 w 1280248"/>
                  <a:gd name="connsiteY2" fmla="*/ 75 h 2271932"/>
                  <a:gd name="connsiteX3" fmla="*/ 805104 w 1280248"/>
                  <a:gd name="connsiteY3" fmla="*/ 328322 h 2271932"/>
                  <a:gd name="connsiteX4" fmla="*/ 1133350 w 1280248"/>
                  <a:gd name="connsiteY4" fmla="*/ 1102045 h 2271932"/>
                  <a:gd name="connsiteX5" fmla="*/ 1227134 w 1280248"/>
                  <a:gd name="connsiteY5" fmla="*/ 1758537 h 2271932"/>
                  <a:gd name="connsiteX6" fmla="*/ 1250580 w 1280248"/>
                  <a:gd name="connsiteY6" fmla="*/ 2250906 h 2271932"/>
                  <a:gd name="connsiteX7" fmla="*/ 805104 w 1280248"/>
                  <a:gd name="connsiteY7" fmla="*/ 2180568 h 2271932"/>
                  <a:gd name="connsiteX8" fmla="*/ 609328 w 1280248"/>
                  <a:gd name="connsiteY8" fmla="*/ 2172362 h 2271932"/>
                  <a:gd name="connsiteX9" fmla="*/ 343214 w 1280248"/>
                  <a:gd name="connsiteY9" fmla="*/ 2052786 h 2271932"/>
                  <a:gd name="connsiteX10" fmla="*/ 372522 w 1280248"/>
                  <a:gd name="connsiteY10" fmla="*/ 1682337 h 2271932"/>
                  <a:gd name="connsiteX11" fmla="*/ 251774 w 1280248"/>
                  <a:gd name="connsiteY11" fmla="*/ 1505319 h 2271932"/>
                  <a:gd name="connsiteX12" fmla="*/ 63033 w 1280248"/>
                  <a:gd name="connsiteY12" fmla="*/ 1386915 h 2271932"/>
                  <a:gd name="connsiteX13" fmla="*/ 2073 w 1280248"/>
                  <a:gd name="connsiteY13" fmla="*/ 820691 h 22719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280248" h="2271932">
                    <a:moveTo>
                      <a:pt x="2073" y="820691"/>
                    </a:moveTo>
                    <a:cubicBezTo>
                      <a:pt x="12428" y="648167"/>
                      <a:pt x="53850" y="488537"/>
                      <a:pt x="125165" y="351768"/>
                    </a:cubicBezTo>
                    <a:cubicBezTo>
                      <a:pt x="196480" y="214999"/>
                      <a:pt x="316642" y="3983"/>
                      <a:pt x="429965" y="75"/>
                    </a:cubicBezTo>
                    <a:cubicBezTo>
                      <a:pt x="543288" y="-3833"/>
                      <a:pt x="687873" y="144660"/>
                      <a:pt x="805104" y="328322"/>
                    </a:cubicBezTo>
                    <a:cubicBezTo>
                      <a:pt x="922335" y="511984"/>
                      <a:pt x="1063012" y="863676"/>
                      <a:pt x="1133350" y="1102045"/>
                    </a:cubicBezTo>
                    <a:cubicBezTo>
                      <a:pt x="1203688" y="1340414"/>
                      <a:pt x="1207596" y="1567060"/>
                      <a:pt x="1227134" y="1758537"/>
                    </a:cubicBezTo>
                    <a:cubicBezTo>
                      <a:pt x="1246672" y="1950014"/>
                      <a:pt x="1320918" y="2180568"/>
                      <a:pt x="1250580" y="2250906"/>
                    </a:cubicBezTo>
                    <a:cubicBezTo>
                      <a:pt x="1180242" y="2321245"/>
                      <a:pt x="911979" y="2193659"/>
                      <a:pt x="805104" y="2180568"/>
                    </a:cubicBezTo>
                    <a:cubicBezTo>
                      <a:pt x="698229" y="2167477"/>
                      <a:pt x="686310" y="2193659"/>
                      <a:pt x="609328" y="2172362"/>
                    </a:cubicBezTo>
                    <a:cubicBezTo>
                      <a:pt x="532346" y="2151065"/>
                      <a:pt x="382682" y="2134457"/>
                      <a:pt x="343214" y="2052786"/>
                    </a:cubicBezTo>
                    <a:cubicBezTo>
                      <a:pt x="303746" y="1971115"/>
                      <a:pt x="390302" y="1755801"/>
                      <a:pt x="372522" y="1682337"/>
                    </a:cubicBezTo>
                    <a:cubicBezTo>
                      <a:pt x="354742" y="1608873"/>
                      <a:pt x="303355" y="1557096"/>
                      <a:pt x="251774" y="1505319"/>
                    </a:cubicBezTo>
                    <a:cubicBezTo>
                      <a:pt x="200193" y="1453542"/>
                      <a:pt x="104650" y="1501020"/>
                      <a:pt x="63033" y="1386915"/>
                    </a:cubicBezTo>
                    <a:cubicBezTo>
                      <a:pt x="21416" y="1272810"/>
                      <a:pt x="-8282" y="993215"/>
                      <a:pt x="2073" y="820691"/>
                    </a:cubicBezTo>
                    <a:close/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C04BB462-8784-4414-B71C-3F51EF6F441F}"/>
                </a:ext>
              </a:extLst>
            </p:cNvPr>
            <p:cNvSpPr/>
            <p:nvPr/>
          </p:nvSpPr>
          <p:spPr>
            <a:xfrm>
              <a:off x="6967651" y="2588522"/>
              <a:ext cx="291745" cy="99286"/>
            </a:xfrm>
            <a:custGeom>
              <a:avLst/>
              <a:gdLst>
                <a:gd name="connsiteX0" fmla="*/ 635 w 427888"/>
                <a:gd name="connsiteY0" fmla="*/ 147839 h 148236"/>
                <a:gd name="connsiteX1" fmla="*/ 311785 w 427888"/>
                <a:gd name="connsiteY1" fmla="*/ 1789 h 148236"/>
                <a:gd name="connsiteX2" fmla="*/ 426085 w 427888"/>
                <a:gd name="connsiteY2" fmla="*/ 65289 h 148236"/>
                <a:gd name="connsiteX3" fmla="*/ 235585 w 427888"/>
                <a:gd name="connsiteY3" fmla="*/ 46239 h 148236"/>
                <a:gd name="connsiteX4" fmla="*/ 635 w 427888"/>
                <a:gd name="connsiteY4" fmla="*/ 147839 h 14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888" h="148236">
                  <a:moveTo>
                    <a:pt x="635" y="147839"/>
                  </a:moveTo>
                  <a:cubicBezTo>
                    <a:pt x="13335" y="140431"/>
                    <a:pt x="240877" y="15547"/>
                    <a:pt x="311785" y="1789"/>
                  </a:cubicBezTo>
                  <a:cubicBezTo>
                    <a:pt x="382693" y="-11969"/>
                    <a:pt x="438785" y="57881"/>
                    <a:pt x="426085" y="65289"/>
                  </a:cubicBezTo>
                  <a:cubicBezTo>
                    <a:pt x="413385" y="72697"/>
                    <a:pt x="302260" y="35656"/>
                    <a:pt x="235585" y="46239"/>
                  </a:cubicBezTo>
                  <a:cubicBezTo>
                    <a:pt x="168910" y="56822"/>
                    <a:pt x="-12065" y="155247"/>
                    <a:pt x="635" y="147839"/>
                  </a:cubicBezTo>
                  <a:close/>
                </a:path>
              </a:pathLst>
            </a:custGeom>
            <a:solidFill>
              <a:srgbClr val="C37D6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415180E-C2D1-4332-9B91-22F9767FDAB4}"/>
                </a:ext>
              </a:extLst>
            </p:cNvPr>
            <p:cNvSpPr/>
            <p:nvPr/>
          </p:nvSpPr>
          <p:spPr>
            <a:xfrm flipH="1">
              <a:off x="7467202" y="2601286"/>
              <a:ext cx="291745" cy="111985"/>
            </a:xfrm>
            <a:custGeom>
              <a:avLst/>
              <a:gdLst>
                <a:gd name="connsiteX0" fmla="*/ 635 w 427888"/>
                <a:gd name="connsiteY0" fmla="*/ 147839 h 148236"/>
                <a:gd name="connsiteX1" fmla="*/ 311785 w 427888"/>
                <a:gd name="connsiteY1" fmla="*/ 1789 h 148236"/>
                <a:gd name="connsiteX2" fmla="*/ 426085 w 427888"/>
                <a:gd name="connsiteY2" fmla="*/ 65289 h 148236"/>
                <a:gd name="connsiteX3" fmla="*/ 235585 w 427888"/>
                <a:gd name="connsiteY3" fmla="*/ 46239 h 148236"/>
                <a:gd name="connsiteX4" fmla="*/ 635 w 427888"/>
                <a:gd name="connsiteY4" fmla="*/ 147839 h 14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7888" h="148236">
                  <a:moveTo>
                    <a:pt x="635" y="147839"/>
                  </a:moveTo>
                  <a:cubicBezTo>
                    <a:pt x="13335" y="140431"/>
                    <a:pt x="240877" y="15547"/>
                    <a:pt x="311785" y="1789"/>
                  </a:cubicBezTo>
                  <a:cubicBezTo>
                    <a:pt x="382693" y="-11969"/>
                    <a:pt x="438785" y="57881"/>
                    <a:pt x="426085" y="65289"/>
                  </a:cubicBezTo>
                  <a:cubicBezTo>
                    <a:pt x="413385" y="72697"/>
                    <a:pt x="302260" y="35656"/>
                    <a:pt x="235585" y="46239"/>
                  </a:cubicBezTo>
                  <a:cubicBezTo>
                    <a:pt x="168910" y="56822"/>
                    <a:pt x="-12065" y="155247"/>
                    <a:pt x="635" y="147839"/>
                  </a:cubicBezTo>
                  <a:close/>
                </a:path>
              </a:pathLst>
            </a:custGeom>
            <a:solidFill>
              <a:srgbClr val="C37D6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92" name="Mouse decr CO2 elimination" descr="Cursor with solid fill">
            <a:extLst>
              <a:ext uri="{FF2B5EF4-FFF2-40B4-BE49-F238E27FC236}">
                <a16:creationId xmlns:a16="http://schemas.microsoft.com/office/drawing/2014/main" id="{7112573E-DC29-472E-AF84-538E384ECD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9611884" y="1886622"/>
            <a:ext cx="274320" cy="274320"/>
          </a:xfrm>
          <a:prstGeom prst="rect">
            <a:avLst/>
          </a:prstGeom>
        </p:spPr>
      </p:pic>
      <p:pic>
        <p:nvPicPr>
          <p:cNvPr id="93" name="Mouse incr CO2" descr="Cursor with solid fill">
            <a:extLst>
              <a:ext uri="{FF2B5EF4-FFF2-40B4-BE49-F238E27FC236}">
                <a16:creationId xmlns:a16="http://schemas.microsoft.com/office/drawing/2014/main" id="{E8BDB3BA-1D0D-4B66-B220-409446AA39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637324" y="1873141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692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2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4"/>
                  </p:tgtEl>
                </p:cond>
              </p:nextCondLst>
            </p:seq>
            <p:seq concurrent="1" nextAc="seek">
              <p:cTn id="60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1" fill="hold">
                      <p:stCondLst>
                        <p:cond delay="0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2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8"/>
                  </p:tgtEl>
                </p:cond>
              </p:nextCondLst>
            </p:seq>
            <p:seq concurrent="1" nextAc="seek">
              <p:cTn id="84" restart="whenNotActive" fill="hold" evtFilter="cancelBubble" nodeType="interactiveSeq">
                <p:stCondLst>
                  <p:cond evt="onClick" delay="0">
                    <p:tgtEl>
                      <p:spTgt spid="8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5" fill="hold">
                      <p:stCondLst>
                        <p:cond delay="0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0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7"/>
                  </p:tgtEl>
                </p:cond>
              </p:nextCondLst>
            </p:seq>
          </p:childTnLst>
        </p:cTn>
      </p:par>
    </p:tnLst>
    <p:bldLst>
      <p:bldP spid="218" grpId="0" animBg="1"/>
      <p:bldP spid="219" grpId="0"/>
      <p:bldP spid="231" grpId="0" animBg="1"/>
      <p:bldP spid="234" grpId="0" animBg="1"/>
      <p:bldP spid="236" grpId="0" animBg="1"/>
      <p:bldP spid="238" grpId="0"/>
      <p:bldP spid="246" grpId="0"/>
      <p:bldP spid="255" grpId="0" animBg="1"/>
      <p:bldP spid="83" grpId="0"/>
      <p:bldP spid="83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17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324FB035-E766-4B51-96D2-887C497B42B3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77" name="question 4">
            <a:hlinkClick r:id="rId2" action="ppaction://hlinksldjump"/>
            <a:extLst>
              <a:ext uri="{FF2B5EF4-FFF2-40B4-BE49-F238E27FC236}">
                <a16:creationId xmlns:a16="http://schemas.microsoft.com/office/drawing/2014/main" id="{7A813DAD-9ED2-4E61-96A7-4A072C0181E8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Acidemia</a:t>
            </a:r>
          </a:p>
        </p:txBody>
      </p:sp>
      <p:sp>
        <p:nvSpPr>
          <p:cNvPr id="178" name="sub-q 2">
            <a:hlinkClick r:id="rId4" action="ppaction://hlinksldjump"/>
            <a:extLst>
              <a:ext uri="{FF2B5EF4-FFF2-40B4-BE49-F238E27FC236}">
                <a16:creationId xmlns:a16="http://schemas.microsoft.com/office/drawing/2014/main" id="{08063026-E2A1-4FD6-8A83-E09F380C82C2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80" name="sub-q 1 button">
            <a:hlinkClick r:id="rId5" action="ppaction://hlinksldjump"/>
            <a:extLst>
              <a:ext uri="{FF2B5EF4-FFF2-40B4-BE49-F238E27FC236}">
                <a16:creationId xmlns:a16="http://schemas.microsoft.com/office/drawing/2014/main" id="{26C38014-6D1C-484D-88B9-E22AF75988C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Normal pH</a:t>
            </a:r>
          </a:p>
        </p:txBody>
      </p:sp>
      <p:pic>
        <p:nvPicPr>
          <p:cNvPr id="183" name="Graphic 182" descr="Cursor with solid fill">
            <a:extLst>
              <a:ext uri="{FF2B5EF4-FFF2-40B4-BE49-F238E27FC236}">
                <a16:creationId xmlns:a16="http://schemas.microsoft.com/office/drawing/2014/main" id="{074D444E-1CE7-4A1B-A87C-E69FB9516C9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85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DB5AF22E-1D21-4557-8A08-229C01D97F4A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92" name="Graphic 191" descr="Cursor with solid fill">
            <a:extLst>
              <a:ext uri="{FF2B5EF4-FFF2-40B4-BE49-F238E27FC236}">
                <a16:creationId xmlns:a16="http://schemas.microsoft.com/office/drawing/2014/main" id="{A756FBD1-84C2-42B5-8C90-1F093770C1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93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4AE2279-ECA2-4F28-A4B8-E62F5F0B375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95" name="question 1">
            <a:hlinkClick r:id="rId9" action="ppaction://hlinksldjump"/>
            <a:extLst>
              <a:ext uri="{FF2B5EF4-FFF2-40B4-BE49-F238E27FC236}">
                <a16:creationId xmlns:a16="http://schemas.microsoft.com/office/drawing/2014/main" id="{FCD7C511-421A-48A2-9D98-25CF80AFF78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210" name="Graphic 209" descr="Cursor with solid fill">
            <a:extLst>
              <a:ext uri="{FF2B5EF4-FFF2-40B4-BE49-F238E27FC236}">
                <a16:creationId xmlns:a16="http://schemas.microsoft.com/office/drawing/2014/main" id="{601B7238-DFE8-4BD8-8526-5B455ABDA5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sp>
        <p:nvSpPr>
          <p:cNvPr id="211" name="Acidemia">
            <a:extLst>
              <a:ext uri="{FF2B5EF4-FFF2-40B4-BE49-F238E27FC236}">
                <a16:creationId xmlns:a16="http://schemas.microsoft.com/office/drawing/2014/main" id="{C71A1E86-3A18-484A-A063-8C348A6CF7CB}"/>
              </a:ext>
            </a:extLst>
          </p:cNvPr>
          <p:cNvSpPr txBox="1"/>
          <p:nvPr/>
        </p:nvSpPr>
        <p:spPr>
          <a:xfrm>
            <a:off x="3777411" y="85878"/>
            <a:ext cx="2318589" cy="369332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Normal pH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451D0A55-75A4-4393-A287-00F437A2ADB0}"/>
              </a:ext>
            </a:extLst>
          </p:cNvPr>
          <p:cNvGrpSpPr/>
          <p:nvPr/>
        </p:nvGrpSpPr>
        <p:grpSpPr>
          <a:xfrm>
            <a:off x="2281131" y="85878"/>
            <a:ext cx="968100" cy="1736820"/>
            <a:chOff x="1793214" y="48863"/>
            <a:chExt cx="968100" cy="1736820"/>
          </a:xfrm>
        </p:grpSpPr>
        <p:sp>
          <p:nvSpPr>
            <p:cNvPr id="258" name="Step 1">
              <a:extLst>
                <a:ext uri="{FF2B5EF4-FFF2-40B4-BE49-F238E27FC236}">
                  <a16:creationId xmlns:a16="http://schemas.microsoft.com/office/drawing/2014/main" id="{CF718B2E-0281-42FA-A2D1-7BB67274CB1E}"/>
                </a:ext>
              </a:extLst>
            </p:cNvPr>
            <p:cNvSpPr/>
            <p:nvPr/>
          </p:nvSpPr>
          <p:spPr>
            <a:xfrm>
              <a:off x="1793214" y="796905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5AA91522-4758-4C7B-9E24-433391D5EB7C}"/>
                </a:ext>
              </a:extLst>
            </p:cNvPr>
            <p:cNvSpPr/>
            <p:nvPr/>
          </p:nvSpPr>
          <p:spPr>
            <a:xfrm>
              <a:off x="2545961" y="48863"/>
              <a:ext cx="215353" cy="1736820"/>
            </a:xfrm>
            <a:prstGeom prst="leftBrace">
              <a:avLst>
                <a:gd name="adj1" fmla="val 0"/>
                <a:gd name="adj2" fmla="val 51124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D7D29820-F107-49E8-8143-E5DAD60D9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D278CB3B-423B-4B30-A589-E857888C34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grpSp>
        <p:nvGrpSpPr>
          <p:cNvPr id="48" name="Anion gap">
            <a:extLst>
              <a:ext uri="{FF2B5EF4-FFF2-40B4-BE49-F238E27FC236}">
                <a16:creationId xmlns:a16="http://schemas.microsoft.com/office/drawing/2014/main" id="{06E7060C-E1A7-425A-A604-51302C50A87E}"/>
              </a:ext>
            </a:extLst>
          </p:cNvPr>
          <p:cNvGrpSpPr/>
          <p:nvPr/>
        </p:nvGrpSpPr>
        <p:grpSpPr>
          <a:xfrm>
            <a:off x="3987950" y="1724891"/>
            <a:ext cx="1807709" cy="712398"/>
            <a:chOff x="3659979" y="502387"/>
            <a:chExt cx="1807709" cy="737597"/>
          </a:xfrm>
          <a:effectLst/>
        </p:grpSpPr>
        <p:sp>
          <p:nvSpPr>
            <p:cNvPr id="49" name="Anion gap">
              <a:extLst>
                <a:ext uri="{FF2B5EF4-FFF2-40B4-BE49-F238E27FC236}">
                  <a16:creationId xmlns:a16="http://schemas.microsoft.com/office/drawing/2014/main" id="{C6BFEC36-F365-4AE8-8ADF-38817D9097A5}"/>
                </a:ext>
              </a:extLst>
            </p:cNvPr>
            <p:cNvSpPr txBox="1"/>
            <p:nvPr/>
          </p:nvSpPr>
          <p:spPr>
            <a:xfrm>
              <a:off x="3659979" y="852164"/>
              <a:ext cx="1807709" cy="387820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>
              <a:spAutoFit/>
            </a:bodyPr>
            <a:lstStyle/>
            <a:p>
              <a:pPr algn="ctr"/>
              <a:r>
                <a:rPr lang="en-US" sz="1600" dirty="0">
                  <a:sym typeface="Wingdings" panose="05000000000000000000" pitchFamily="2" charset="2"/>
                </a:rPr>
                <a:t> </a:t>
              </a:r>
              <a:r>
                <a:rPr lang="en-US" sz="1600" dirty="0"/>
                <a:t>Anion gap (AG)?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4A4F497A-88EF-4536-9F3F-67960A05E8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63834" y="502387"/>
              <a:ext cx="1442" cy="349777"/>
            </a:xfrm>
            <a:prstGeom prst="straightConnector1">
              <a:avLst/>
            </a:prstGeom>
            <a:ln>
              <a:solidFill>
                <a:schemeClr val="accent1">
                  <a:lumMod val="50000"/>
                </a:schemeClr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51" name="Yes AG">
            <a:extLst>
              <a:ext uri="{FF2B5EF4-FFF2-40B4-BE49-F238E27FC236}">
                <a16:creationId xmlns:a16="http://schemas.microsoft.com/office/drawing/2014/main" id="{C2202B0D-8D12-48AA-8C7D-6CAA052DDAD1}"/>
              </a:ext>
            </a:extLst>
          </p:cNvPr>
          <p:cNvGrpSpPr/>
          <p:nvPr/>
        </p:nvGrpSpPr>
        <p:grpSpPr>
          <a:xfrm>
            <a:off x="4526298" y="2437289"/>
            <a:ext cx="731012" cy="672939"/>
            <a:chOff x="4608319" y="1511534"/>
            <a:chExt cx="731012" cy="672939"/>
          </a:xfrm>
          <a:effectLst/>
        </p:grpSpPr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9486939-6A3D-4F55-B2E0-840790DF5DED}"/>
                </a:ext>
              </a:extLst>
            </p:cNvPr>
            <p:cNvCxnSpPr>
              <a:cxnSpLocks/>
              <a:endCxn id="53" idx="0"/>
            </p:cNvCxnSpPr>
            <p:nvPr/>
          </p:nvCxnSpPr>
          <p:spPr>
            <a:xfrm flipH="1">
              <a:off x="4973825" y="1511534"/>
              <a:ext cx="1" cy="3596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F1614D8-7E35-4421-B097-B9BEE1A23D81}"/>
                </a:ext>
              </a:extLst>
            </p:cNvPr>
            <p:cNvSpPr txBox="1"/>
            <p:nvPr/>
          </p:nvSpPr>
          <p:spPr>
            <a:xfrm>
              <a:off x="4608319" y="1871196"/>
              <a:ext cx="731012" cy="313277"/>
            </a:xfrm>
            <a:prstGeom prst="roundRect">
              <a:avLst>
                <a:gd name="adj" fmla="val 0"/>
              </a:avLst>
            </a:prstGeom>
            <a:effectLst/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Yes</a:t>
              </a:r>
            </a:p>
          </p:txBody>
        </p:sp>
      </p:grpSp>
      <p:grpSp>
        <p:nvGrpSpPr>
          <p:cNvPr id="54" name="Delta-Delta">
            <a:extLst>
              <a:ext uri="{FF2B5EF4-FFF2-40B4-BE49-F238E27FC236}">
                <a16:creationId xmlns:a16="http://schemas.microsoft.com/office/drawing/2014/main" id="{F19957C0-7E5D-4447-A36C-25198BE32F5C}"/>
              </a:ext>
            </a:extLst>
          </p:cNvPr>
          <p:cNvGrpSpPr/>
          <p:nvPr/>
        </p:nvGrpSpPr>
        <p:grpSpPr>
          <a:xfrm>
            <a:off x="3522111" y="3110228"/>
            <a:ext cx="2739386" cy="1055993"/>
            <a:chOff x="3707901" y="2408853"/>
            <a:chExt cx="2739386" cy="105599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10967DE-EFB7-4D4D-B069-B4B86299085D}"/>
                </a:ext>
              </a:extLst>
            </p:cNvPr>
            <p:cNvSpPr txBox="1"/>
            <p:nvPr/>
          </p:nvSpPr>
          <p:spPr>
            <a:xfrm>
              <a:off x="3707901" y="2674842"/>
              <a:ext cx="2739386" cy="790004"/>
            </a:xfrm>
            <a:prstGeom prst="roundRect">
              <a:avLst/>
            </a:prstGeom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600" dirty="0"/>
                <a:t>∆∆ (delta-delta) or </a:t>
              </a:r>
            </a:p>
            <a:p>
              <a:pPr algn="ctr"/>
              <a:r>
                <a:rPr lang="en-US" sz="1600" dirty="0"/>
                <a:t>“residual HCO</a:t>
              </a:r>
              <a:r>
                <a:rPr lang="en-US" sz="1600" baseline="-25000" dirty="0"/>
                <a:t>3</a:t>
              </a:r>
              <a:r>
                <a:rPr lang="en-US" sz="1600" baseline="30000" dirty="0"/>
                <a:t>-</a:t>
              </a:r>
              <a:r>
                <a:rPr lang="en-US" sz="1600" dirty="0"/>
                <a:t>”</a:t>
              </a:r>
            </a:p>
            <a:p>
              <a:pPr algn="ctr"/>
              <a:r>
                <a:rPr lang="en-US" sz="1200" dirty="0"/>
                <a:t>Is there another metabolic process?  </a:t>
              </a:r>
              <a:endParaRPr lang="en-US" sz="1100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7D3DD17A-3A03-4E2E-9B76-F1B613E62C2D}"/>
                </a:ext>
              </a:extLst>
            </p:cNvPr>
            <p:cNvCxnSpPr>
              <a:cxnSpLocks/>
              <a:stCxn id="53" idx="2"/>
            </p:cNvCxnSpPr>
            <p:nvPr/>
          </p:nvCxnSpPr>
          <p:spPr>
            <a:xfrm>
              <a:off x="5077594" y="2408853"/>
              <a:ext cx="0" cy="26598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919DA2A9-2FC0-4B4F-9836-D827AD838674}"/>
              </a:ext>
            </a:extLst>
          </p:cNvPr>
          <p:cNvSpPr txBox="1"/>
          <p:nvPr/>
        </p:nvSpPr>
        <p:spPr>
          <a:xfrm>
            <a:off x="4480260" y="4797372"/>
            <a:ext cx="1120877" cy="307777"/>
          </a:xfrm>
          <a:prstGeom prst="rect">
            <a:avLst/>
          </a:prstGeom>
          <a:ln/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Pure AGMA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FEEA96E-F1F9-4FF6-8536-619612A2F8FE}"/>
              </a:ext>
            </a:extLst>
          </p:cNvPr>
          <p:cNvSpPr txBox="1"/>
          <p:nvPr/>
        </p:nvSpPr>
        <p:spPr>
          <a:xfrm>
            <a:off x="5777030" y="4702945"/>
            <a:ext cx="1406812" cy="744252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Mixed AGMA + metabolic alkalosis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8B99EAD-3C79-4FCF-9088-CC29B1419E78}"/>
              </a:ext>
            </a:extLst>
          </p:cNvPr>
          <p:cNvSpPr txBox="1"/>
          <p:nvPr/>
        </p:nvSpPr>
        <p:spPr>
          <a:xfrm>
            <a:off x="3141554" y="4702945"/>
            <a:ext cx="1160483" cy="52322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Mixed AGMA + NAGMA</a:t>
            </a:r>
          </a:p>
        </p:txBody>
      </p:sp>
      <p:sp>
        <p:nvSpPr>
          <p:cNvPr id="66" name="Step 2">
            <a:extLst>
              <a:ext uri="{FF2B5EF4-FFF2-40B4-BE49-F238E27FC236}">
                <a16:creationId xmlns:a16="http://schemas.microsoft.com/office/drawing/2014/main" id="{E2FEFB49-DFDF-4EC6-B3D1-E7639678E0D3}"/>
              </a:ext>
            </a:extLst>
          </p:cNvPr>
          <p:cNvSpPr/>
          <p:nvPr/>
        </p:nvSpPr>
        <p:spPr>
          <a:xfrm>
            <a:off x="2272558" y="2093075"/>
            <a:ext cx="751046" cy="288061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accent1"/>
                </a:solidFill>
              </a:rPr>
              <a:t>Step 2</a:t>
            </a:r>
          </a:p>
        </p:txBody>
      </p:sp>
      <p:grpSp>
        <p:nvGrpSpPr>
          <p:cNvPr id="90" name="Normal pH explanation">
            <a:extLst>
              <a:ext uri="{FF2B5EF4-FFF2-40B4-BE49-F238E27FC236}">
                <a16:creationId xmlns:a16="http://schemas.microsoft.com/office/drawing/2014/main" id="{275D7ADA-86CE-4AC1-883B-9443EBC41517}"/>
              </a:ext>
            </a:extLst>
          </p:cNvPr>
          <p:cNvGrpSpPr/>
          <p:nvPr/>
        </p:nvGrpSpPr>
        <p:grpSpPr>
          <a:xfrm>
            <a:off x="3517081" y="465016"/>
            <a:ext cx="2692400" cy="1303965"/>
            <a:chOff x="1485010" y="622831"/>
            <a:chExt cx="2692400" cy="1303965"/>
          </a:xfrm>
        </p:grpSpPr>
        <p:cxnSp>
          <p:nvCxnSpPr>
            <p:cNvPr id="91" name="Straight Arrow Connector 12">
              <a:extLst>
                <a:ext uri="{FF2B5EF4-FFF2-40B4-BE49-F238E27FC236}">
                  <a16:creationId xmlns:a16="http://schemas.microsoft.com/office/drawing/2014/main" id="{8E08EAE0-58B3-400C-98B8-5B4598023769}"/>
                </a:ext>
              </a:extLst>
            </p:cNvPr>
            <p:cNvCxnSpPr>
              <a:cxnSpLocks/>
              <a:endCxn id="92" idx="0"/>
            </p:cNvCxnSpPr>
            <p:nvPr/>
          </p:nvCxnSpPr>
          <p:spPr>
            <a:xfrm rot="5400000">
              <a:off x="2628582" y="825459"/>
              <a:ext cx="405258" cy="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B494E85-6839-4468-9D11-7F306351480D}"/>
                </a:ext>
              </a:extLst>
            </p:cNvPr>
            <p:cNvSpPr txBox="1"/>
            <p:nvPr/>
          </p:nvSpPr>
          <p:spPr>
            <a:xfrm>
              <a:off x="1485010" y="1028088"/>
              <a:ext cx="2692400" cy="898708"/>
            </a:xfrm>
            <a:prstGeom prst="roundRect">
              <a:avLst>
                <a:gd name="adj" fmla="val 0"/>
              </a:avLst>
            </a:prstGeom>
            <a:ln/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lIns="45720" tIns="18288" rIns="45720" bIns="18288" rtlCol="0">
              <a:spAutoFit/>
            </a:bodyPr>
            <a:lstStyle/>
            <a:p>
              <a:pPr algn="ctr"/>
              <a:r>
                <a:rPr lang="en-US" sz="1400" dirty="0"/>
                <a:t>Look for metabolic (HCO</a:t>
              </a:r>
              <a:r>
                <a:rPr lang="en-US" sz="1400" baseline="-25000" dirty="0"/>
                <a:t>3</a:t>
              </a:r>
              <a:r>
                <a:rPr lang="en-US" sz="1400" baseline="30000" dirty="0"/>
                <a:t>-</a:t>
              </a:r>
              <a:r>
                <a:rPr lang="en-US" sz="1400" dirty="0"/>
                <a:t>) or respiratory (PCO</a:t>
              </a:r>
              <a:r>
                <a:rPr lang="en-US" sz="1400" baseline="-25000" dirty="0"/>
                <a:t>2</a:t>
              </a:r>
              <a:r>
                <a:rPr lang="en-US" sz="1400" dirty="0"/>
                <a:t>) derangements that might suggest mixed acid-base disorder </a:t>
              </a:r>
            </a:p>
          </p:txBody>
        </p:sp>
      </p:grpSp>
      <p:sp>
        <p:nvSpPr>
          <p:cNvPr id="103" name="Left Brace 102">
            <a:extLst>
              <a:ext uri="{FF2B5EF4-FFF2-40B4-BE49-F238E27FC236}">
                <a16:creationId xmlns:a16="http://schemas.microsoft.com/office/drawing/2014/main" id="{6F0FF093-E7A5-448F-A268-B3BA0E2DE300}"/>
              </a:ext>
            </a:extLst>
          </p:cNvPr>
          <p:cNvSpPr/>
          <p:nvPr/>
        </p:nvSpPr>
        <p:spPr>
          <a:xfrm>
            <a:off x="3033876" y="2033747"/>
            <a:ext cx="220304" cy="2207241"/>
          </a:xfrm>
          <a:prstGeom prst="leftBrace">
            <a:avLst>
              <a:gd name="adj1" fmla="val 0"/>
              <a:gd name="adj2" fmla="val 969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6" name="Mouse incr CO2" descr="Cursor with solid fill">
            <a:extLst>
              <a:ext uri="{FF2B5EF4-FFF2-40B4-BE49-F238E27FC236}">
                <a16:creationId xmlns:a16="http://schemas.microsoft.com/office/drawing/2014/main" id="{1387C8DD-1A0F-4A89-AF52-E9770E34468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639869" y="2298429"/>
            <a:ext cx="274320" cy="274320"/>
          </a:xfrm>
          <a:prstGeom prst="rect">
            <a:avLst/>
          </a:prstGeom>
        </p:spPr>
      </p:pic>
      <p:pic>
        <p:nvPicPr>
          <p:cNvPr id="137" name="Mouse incr CO2" descr="Cursor with solid fill">
            <a:extLst>
              <a:ext uri="{FF2B5EF4-FFF2-40B4-BE49-F238E27FC236}">
                <a16:creationId xmlns:a16="http://schemas.microsoft.com/office/drawing/2014/main" id="{75FDC7CE-FEAA-43F1-BAA6-AED2260259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6100064" y="3993256"/>
            <a:ext cx="274320" cy="274320"/>
          </a:xfrm>
          <a:prstGeom prst="rect">
            <a:avLst/>
          </a:prstGeom>
        </p:spPr>
      </p:pic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D8A876E-FB1C-41B6-BA0E-752EADBD8EAE}"/>
              </a:ext>
            </a:extLst>
          </p:cNvPr>
          <p:cNvCxnSpPr>
            <a:cxnSpLocks/>
            <a:stCxn id="55" idx="2"/>
            <a:endCxn id="65" idx="0"/>
          </p:cNvCxnSpPr>
          <p:nvPr/>
        </p:nvCxnSpPr>
        <p:spPr>
          <a:xfrm rot="5400000">
            <a:off x="4038438" y="3849579"/>
            <a:ext cx="536724" cy="117000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DA049990-9B4A-44F5-AB2D-1DB8040DD1A7}"/>
              </a:ext>
            </a:extLst>
          </p:cNvPr>
          <p:cNvCxnSpPr>
            <a:stCxn id="55" idx="2"/>
            <a:endCxn id="59" idx="0"/>
          </p:cNvCxnSpPr>
          <p:nvPr/>
        </p:nvCxnSpPr>
        <p:spPr>
          <a:xfrm rot="16200000" flipH="1">
            <a:off x="4650676" y="4407348"/>
            <a:ext cx="631151" cy="148895"/>
          </a:xfrm>
          <a:prstGeom prst="bentConnector3">
            <a:avLst>
              <a:gd name="adj1" fmla="val 4186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7FF9A4DF-2BB4-4D9E-BE15-821D09CBB496}"/>
              </a:ext>
            </a:extLst>
          </p:cNvPr>
          <p:cNvCxnSpPr>
            <a:cxnSpLocks/>
            <a:stCxn id="55" idx="2"/>
            <a:endCxn id="62" idx="0"/>
          </p:cNvCxnSpPr>
          <p:nvPr/>
        </p:nvCxnSpPr>
        <p:spPr>
          <a:xfrm rot="16200000" flipH="1">
            <a:off x="5417758" y="3640267"/>
            <a:ext cx="536724" cy="15886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1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C9D4FA84-2A17-40D8-A63A-6130EDF13FD3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62" name="Graphic 161" descr="Cursor with solid fill">
            <a:extLst>
              <a:ext uri="{FF2B5EF4-FFF2-40B4-BE49-F238E27FC236}">
                <a16:creationId xmlns:a16="http://schemas.microsoft.com/office/drawing/2014/main" id="{7E3C8F4B-7329-4DCB-8D27-FC35EC3CEA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63" name="teachIM logo" descr="Icon&#10;&#10;Description automatically generated">
            <a:extLst>
              <a:ext uri="{FF2B5EF4-FFF2-40B4-BE49-F238E27FC236}">
                <a16:creationId xmlns:a16="http://schemas.microsoft.com/office/drawing/2014/main" id="{3B22012B-9087-4647-9864-7925EBFC2D5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681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8"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 animBg="1"/>
      <p:bldP spid="62" grpId="0" animBg="1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" name="Home page" hidden="1">
            <a:extLst>
              <a:ext uri="{FF2B5EF4-FFF2-40B4-BE49-F238E27FC236}">
                <a16:creationId xmlns:a16="http://schemas.microsoft.com/office/drawing/2014/main" id="{0A9F93B9-FE91-421A-A191-0CE0BB1AA998}"/>
              </a:ext>
            </a:extLst>
          </p:cNvPr>
          <p:cNvGrpSpPr/>
          <p:nvPr/>
        </p:nvGrpSpPr>
        <p:grpSpPr>
          <a:xfrm>
            <a:off x="10350363" y="4925061"/>
            <a:ext cx="1714110" cy="1238634"/>
            <a:chOff x="5829044" y="5212828"/>
            <a:chExt cx="2146766" cy="1450223"/>
          </a:xfrm>
        </p:grpSpPr>
        <p:grpSp>
          <p:nvGrpSpPr>
            <p:cNvPr id="151" name="Home page">
              <a:extLst>
                <a:ext uri="{FF2B5EF4-FFF2-40B4-BE49-F238E27FC236}">
                  <a16:creationId xmlns:a16="http://schemas.microsoft.com/office/drawing/2014/main" id="{D93E97D1-A529-4115-BFBA-622711C7EF93}"/>
                </a:ext>
              </a:extLst>
            </p:cNvPr>
            <p:cNvGrpSpPr/>
            <p:nvPr/>
          </p:nvGrpSpPr>
          <p:grpSpPr>
            <a:xfrm>
              <a:off x="5829044" y="5212828"/>
              <a:ext cx="2146766" cy="1450223"/>
              <a:chOff x="9181095" y="5103030"/>
              <a:chExt cx="2146766" cy="1273451"/>
            </a:xfrm>
          </p:grpSpPr>
          <p:sp>
            <p:nvSpPr>
              <p:cNvPr id="155" name="Rectangle: Rounded Corners 154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9B9B0C7A-DDD0-4DFB-AD6A-3C6B0C15DE91}"/>
                  </a:ext>
                </a:extLst>
              </p:cNvPr>
              <p:cNvSpPr/>
              <p:nvPr/>
            </p:nvSpPr>
            <p:spPr>
              <a:xfrm>
                <a:off x="9181095" y="5103030"/>
                <a:ext cx="2146766" cy="1273451"/>
              </a:xfrm>
              <a:prstGeom prst="roundRect">
                <a:avLst>
                  <a:gd name="adj" fmla="val 10598"/>
                </a:avLst>
              </a:prstGeom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156" name="Rectangle: Rounded Corners 155">
                <a:extLst>
                  <a:ext uri="{FF2B5EF4-FFF2-40B4-BE49-F238E27FC236}">
                    <a16:creationId xmlns:a16="http://schemas.microsoft.com/office/drawing/2014/main" id="{F4DEEDB6-B771-4C33-A7EB-DA38D8B14999}"/>
                  </a:ext>
                </a:extLst>
              </p:cNvPr>
              <p:cNvSpPr/>
              <p:nvPr/>
            </p:nvSpPr>
            <p:spPr>
              <a:xfrm>
                <a:off x="9306826" y="5176968"/>
                <a:ext cx="1843528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1: Acid- base status?</a:t>
                </a:r>
              </a:p>
            </p:txBody>
          </p:sp>
          <p:sp>
            <p:nvSpPr>
              <p:cNvPr id="157" name="Rectangle: Rounded Corners 156">
                <a:extLst>
                  <a:ext uri="{FF2B5EF4-FFF2-40B4-BE49-F238E27FC236}">
                    <a16:creationId xmlns:a16="http://schemas.microsoft.com/office/drawing/2014/main" id="{00E69303-59DF-4D33-AFC1-06E58CA0B56E}"/>
                  </a:ext>
                </a:extLst>
              </p:cNvPr>
              <p:cNvSpPr/>
              <p:nvPr/>
            </p:nvSpPr>
            <p:spPr>
              <a:xfrm>
                <a:off x="9306826" y="5408407"/>
                <a:ext cx="1741251" cy="187658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2: Primary process?</a:t>
                </a:r>
              </a:p>
            </p:txBody>
          </p:sp>
          <p:sp>
            <p:nvSpPr>
              <p:cNvPr id="158" name="Rectangle: Rounded Corners 157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8CD5C387-98A8-4257-B731-52133F6870A6}"/>
                  </a:ext>
                </a:extLst>
              </p:cNvPr>
              <p:cNvSpPr/>
              <p:nvPr/>
            </p:nvSpPr>
            <p:spPr>
              <a:xfrm>
                <a:off x="9306826" y="5639845"/>
                <a:ext cx="1387644" cy="187658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900" dirty="0"/>
                  <a:t>Step 3: Anion gap?</a:t>
                </a:r>
              </a:p>
            </p:txBody>
          </p:sp>
          <p:sp>
            <p:nvSpPr>
              <p:cNvPr id="160" name="Rectangle: Rounded Corners 159">
                <a:hlinkClick r:id="rId2" action="ppaction://hlinksldjump"/>
                <a:extLst>
                  <a:ext uri="{FF2B5EF4-FFF2-40B4-BE49-F238E27FC236}">
                    <a16:creationId xmlns:a16="http://schemas.microsoft.com/office/drawing/2014/main" id="{FF62902D-5D59-4D2D-9DDE-604DCFCBB079}"/>
                  </a:ext>
                </a:extLst>
              </p:cNvPr>
              <p:cNvSpPr/>
              <p:nvPr/>
            </p:nvSpPr>
            <p:spPr>
              <a:xfrm>
                <a:off x="9697827" y="5886963"/>
                <a:ext cx="1017670" cy="173391"/>
              </a:xfrm>
              <a:prstGeom prst="round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900" dirty="0">
                    <a:solidFill>
                      <a:schemeClr val="accent1"/>
                    </a:solidFill>
                  </a:rPr>
                  <a:t>Step 3a: ∆∆?</a:t>
                </a:r>
              </a:p>
            </p:txBody>
          </p:sp>
        </p:grpSp>
        <p:sp>
          <p:nvSpPr>
            <p:cNvPr id="154" name="Rectangle: Rounded Corners 153">
              <a:hlinkClick r:id="rId2" action="ppaction://hlinksldjump"/>
              <a:extLst>
                <a:ext uri="{FF2B5EF4-FFF2-40B4-BE49-F238E27FC236}">
                  <a16:creationId xmlns:a16="http://schemas.microsoft.com/office/drawing/2014/main" id="{E6611CC2-C5FD-4E1C-A7F4-AEF2BB3E4BB8}"/>
                </a:ext>
              </a:extLst>
            </p:cNvPr>
            <p:cNvSpPr/>
            <p:nvPr/>
          </p:nvSpPr>
          <p:spPr>
            <a:xfrm>
              <a:off x="5954775" y="6369145"/>
              <a:ext cx="1680609" cy="197458"/>
            </a:xfrm>
            <a:prstGeom prst="roundRect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900" dirty="0"/>
                <a:t>Step 4: Compensation?</a:t>
              </a:r>
            </a:p>
          </p:txBody>
        </p:sp>
      </p:grpSp>
      <p:sp>
        <p:nvSpPr>
          <p:cNvPr id="176" name="question 3">
            <a:hlinkClick r:id="rId3" action="ppaction://hlinksldjump"/>
            <a:extLst>
              <a:ext uri="{FF2B5EF4-FFF2-40B4-BE49-F238E27FC236}">
                <a16:creationId xmlns:a16="http://schemas.microsoft.com/office/drawing/2014/main" id="{324FB035-E766-4B51-96D2-887C497B42B3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77" name="question 4">
            <a:hlinkClick r:id="rId2" action="ppaction://hlinksldjump"/>
            <a:extLst>
              <a:ext uri="{FF2B5EF4-FFF2-40B4-BE49-F238E27FC236}">
                <a16:creationId xmlns:a16="http://schemas.microsoft.com/office/drawing/2014/main" id="{7A813DAD-9ED2-4E61-96A7-4A072C0181E8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Acidemia</a:t>
            </a:r>
          </a:p>
        </p:txBody>
      </p:sp>
      <p:sp>
        <p:nvSpPr>
          <p:cNvPr id="178" name="sub-q 2">
            <a:hlinkClick r:id="rId4" action="ppaction://hlinksldjump"/>
            <a:extLst>
              <a:ext uri="{FF2B5EF4-FFF2-40B4-BE49-F238E27FC236}">
                <a16:creationId xmlns:a16="http://schemas.microsoft.com/office/drawing/2014/main" id="{08063026-E2A1-4FD6-8A83-E09F380C82C2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solidFill>
            <a:schemeClr val="accent1"/>
          </a:solidFill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Alkalemia</a:t>
            </a:r>
          </a:p>
        </p:txBody>
      </p:sp>
      <p:sp>
        <p:nvSpPr>
          <p:cNvPr id="180" name="sub-q 1 button">
            <a:hlinkClick r:id="rId5" action="ppaction://hlinksldjump"/>
            <a:extLst>
              <a:ext uri="{FF2B5EF4-FFF2-40B4-BE49-F238E27FC236}">
                <a16:creationId xmlns:a16="http://schemas.microsoft.com/office/drawing/2014/main" id="{26C38014-6D1C-484D-88B9-E22AF75988C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Normal pH</a:t>
            </a:r>
          </a:p>
        </p:txBody>
      </p:sp>
      <p:pic>
        <p:nvPicPr>
          <p:cNvPr id="182" name="Graphic 181" descr="Cursor with solid fill">
            <a:extLst>
              <a:ext uri="{FF2B5EF4-FFF2-40B4-BE49-F238E27FC236}">
                <a16:creationId xmlns:a16="http://schemas.microsoft.com/office/drawing/2014/main" id="{A5D15265-C9B4-4F78-BF07-DEDB77E2655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sp>
        <p:nvSpPr>
          <p:cNvPr id="185" name="Question 2">
            <a:hlinkClick r:id="rId8" action="ppaction://hlinksldjump"/>
            <a:extLst>
              <a:ext uri="{FF2B5EF4-FFF2-40B4-BE49-F238E27FC236}">
                <a16:creationId xmlns:a16="http://schemas.microsoft.com/office/drawing/2014/main" id="{DB5AF22E-1D21-4557-8A08-229C01D97F4A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92" name="Graphic 191" descr="Cursor with solid fill">
            <a:extLst>
              <a:ext uri="{FF2B5EF4-FFF2-40B4-BE49-F238E27FC236}">
                <a16:creationId xmlns:a16="http://schemas.microsoft.com/office/drawing/2014/main" id="{A756FBD1-84C2-42B5-8C90-1F093770C1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93" name="Question 2">
            <a:hlinkClick r:id="rId3" action="ppaction://hlinksldjump"/>
            <a:extLst>
              <a:ext uri="{FF2B5EF4-FFF2-40B4-BE49-F238E27FC236}">
                <a16:creationId xmlns:a16="http://schemas.microsoft.com/office/drawing/2014/main" id="{94AE2279-ECA2-4F28-A4B8-E62F5F0B375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95" name="question 1">
            <a:hlinkClick r:id="rId9" action="ppaction://hlinksldjump"/>
            <a:extLst>
              <a:ext uri="{FF2B5EF4-FFF2-40B4-BE49-F238E27FC236}">
                <a16:creationId xmlns:a16="http://schemas.microsoft.com/office/drawing/2014/main" id="{FCD7C511-421A-48A2-9D98-25CF80AFF783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210" name="Graphic 209" descr="Cursor with solid fill">
            <a:extLst>
              <a:ext uri="{FF2B5EF4-FFF2-40B4-BE49-F238E27FC236}">
                <a16:creationId xmlns:a16="http://schemas.microsoft.com/office/drawing/2014/main" id="{601B7238-DFE8-4BD8-8526-5B455ABDA56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D7D29820-F107-49E8-8143-E5DAD60D987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47" name="Graphic 46" descr="Cursor with solid fill">
            <a:extLst>
              <a:ext uri="{FF2B5EF4-FFF2-40B4-BE49-F238E27FC236}">
                <a16:creationId xmlns:a16="http://schemas.microsoft.com/office/drawing/2014/main" id="{D278CB3B-423B-4B30-A589-E857888C34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sp>
        <p:nvSpPr>
          <p:cNvPr id="79" name="Alkalemia">
            <a:extLst>
              <a:ext uri="{FF2B5EF4-FFF2-40B4-BE49-F238E27FC236}">
                <a16:creationId xmlns:a16="http://schemas.microsoft.com/office/drawing/2014/main" id="{074764CA-2FAD-49AE-8A8F-54DB6DEF4A26}"/>
              </a:ext>
            </a:extLst>
          </p:cNvPr>
          <p:cNvSpPr txBox="1"/>
          <p:nvPr/>
        </p:nvSpPr>
        <p:spPr>
          <a:xfrm>
            <a:off x="5910180" y="85129"/>
            <a:ext cx="2260598" cy="31393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>
            <a:spAutoFit/>
          </a:bodyPr>
          <a:lstStyle/>
          <a:p>
            <a:pPr algn="ctr"/>
            <a:r>
              <a:rPr lang="en-US" dirty="0"/>
              <a:t>Alkalemia pH &gt; 7.45</a:t>
            </a:r>
          </a:p>
        </p:txBody>
      </p:sp>
      <p:cxnSp>
        <p:nvCxnSpPr>
          <p:cNvPr id="81" name="Straight Arrow Connector 8">
            <a:extLst>
              <a:ext uri="{FF2B5EF4-FFF2-40B4-BE49-F238E27FC236}">
                <a16:creationId xmlns:a16="http://schemas.microsoft.com/office/drawing/2014/main" id="{FB01B329-87A9-48F0-916E-047497776C16}"/>
              </a:ext>
            </a:extLst>
          </p:cNvPr>
          <p:cNvCxnSpPr>
            <a:cxnSpLocks/>
            <a:stCxn id="79" idx="2"/>
            <a:endCxn id="82" idx="0"/>
          </p:cNvCxnSpPr>
          <p:nvPr/>
        </p:nvCxnSpPr>
        <p:spPr>
          <a:xfrm rot="5400000">
            <a:off x="5749556" y="-497026"/>
            <a:ext cx="394836" cy="218701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470207B7-88E8-4198-8360-9949828C53B9}"/>
              </a:ext>
            </a:extLst>
          </p:cNvPr>
          <p:cNvSpPr txBox="1"/>
          <p:nvPr/>
        </p:nvSpPr>
        <p:spPr>
          <a:xfrm>
            <a:off x="4102933" y="793897"/>
            <a:ext cx="1501069" cy="5856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rtlCol="0">
            <a:spAutoFit/>
          </a:bodyPr>
          <a:lstStyle/>
          <a:p>
            <a:pPr algn="ctr"/>
            <a:r>
              <a:rPr lang="en-US" sz="1600" b="1" dirty="0"/>
              <a:t>Metabolic</a:t>
            </a:r>
          </a:p>
          <a:p>
            <a:pPr algn="ctr"/>
            <a:r>
              <a:rPr lang="en-US" sz="1600" dirty="0"/>
              <a:t>HCO</a:t>
            </a:r>
            <a:r>
              <a:rPr lang="en-US" sz="1600" baseline="-25000" dirty="0"/>
              <a:t>3</a:t>
            </a:r>
            <a:r>
              <a:rPr lang="en-US" sz="1600" dirty="0"/>
              <a:t>&gt; 26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27B0BE5-C226-486B-86B2-396E9441EC7A}"/>
              </a:ext>
            </a:extLst>
          </p:cNvPr>
          <p:cNvSpPr txBox="1"/>
          <p:nvPr/>
        </p:nvSpPr>
        <p:spPr>
          <a:xfrm>
            <a:off x="8668074" y="793897"/>
            <a:ext cx="1501069" cy="585692"/>
          </a:xfrm>
          <a:prstGeom prst="round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45720" tIns="18288" rIns="45720" bIns="18288" rtlCol="0">
            <a:spAutoFit/>
          </a:bodyPr>
          <a:lstStyle/>
          <a:p>
            <a:pPr algn="ctr"/>
            <a:r>
              <a:rPr lang="en-US" sz="1600" b="1" dirty="0"/>
              <a:t>Respiratory</a:t>
            </a:r>
          </a:p>
          <a:p>
            <a:pPr algn="ctr"/>
            <a:r>
              <a:rPr lang="en-US" sz="1600" dirty="0"/>
              <a:t>PCO</a:t>
            </a:r>
            <a:r>
              <a:rPr lang="en-US" sz="1600" baseline="-25000" dirty="0"/>
              <a:t>2</a:t>
            </a:r>
            <a:r>
              <a:rPr lang="en-US" sz="1600" dirty="0"/>
              <a:t> &lt; 36</a:t>
            </a:r>
          </a:p>
        </p:txBody>
      </p:sp>
      <p:cxnSp>
        <p:nvCxnSpPr>
          <p:cNvPr id="85" name="Straight Arrow Connector 11">
            <a:extLst>
              <a:ext uri="{FF2B5EF4-FFF2-40B4-BE49-F238E27FC236}">
                <a16:creationId xmlns:a16="http://schemas.microsoft.com/office/drawing/2014/main" id="{B60FE21F-77AF-433C-9771-4D9D3913D257}"/>
              </a:ext>
            </a:extLst>
          </p:cNvPr>
          <p:cNvCxnSpPr>
            <a:cxnSpLocks/>
            <a:stCxn id="79" idx="2"/>
            <a:endCxn id="84" idx="0"/>
          </p:cNvCxnSpPr>
          <p:nvPr/>
        </p:nvCxnSpPr>
        <p:spPr>
          <a:xfrm rot="16200000" flipH="1">
            <a:off x="8032127" y="-592587"/>
            <a:ext cx="394835" cy="237813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6" name="GI loss explanation">
            <a:extLst>
              <a:ext uri="{FF2B5EF4-FFF2-40B4-BE49-F238E27FC236}">
                <a16:creationId xmlns:a16="http://schemas.microsoft.com/office/drawing/2014/main" id="{1F9ED69D-1AB3-4775-97EC-7AD0F2835874}"/>
              </a:ext>
            </a:extLst>
          </p:cNvPr>
          <p:cNvSpPr txBox="1"/>
          <p:nvPr/>
        </p:nvSpPr>
        <p:spPr>
          <a:xfrm>
            <a:off x="2748795" y="2238756"/>
            <a:ext cx="1266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Vomiting</a:t>
            </a:r>
          </a:p>
          <a:p>
            <a:pPr algn="ctr"/>
            <a:r>
              <a:rPr lang="en-US" sz="1400" dirty="0"/>
              <a:t>NGT</a:t>
            </a:r>
          </a:p>
        </p:txBody>
      </p:sp>
      <p:sp>
        <p:nvSpPr>
          <p:cNvPr id="87" name="Renal loss explanation">
            <a:extLst>
              <a:ext uri="{FF2B5EF4-FFF2-40B4-BE49-F238E27FC236}">
                <a16:creationId xmlns:a16="http://schemas.microsoft.com/office/drawing/2014/main" id="{06583245-9581-4BF2-9C19-E357E5D564FF}"/>
              </a:ext>
            </a:extLst>
          </p:cNvPr>
          <p:cNvSpPr txBox="1"/>
          <p:nvPr/>
        </p:nvSpPr>
        <p:spPr>
          <a:xfrm>
            <a:off x="2471286" y="2781004"/>
            <a:ext cx="18181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Thiazides</a:t>
            </a:r>
          </a:p>
          <a:p>
            <a:pPr algn="ctr"/>
            <a:r>
              <a:rPr lang="en-US" sz="1400" dirty="0"/>
              <a:t>Loop diuretics</a:t>
            </a:r>
          </a:p>
          <a:p>
            <a:pPr algn="ctr"/>
            <a:r>
              <a:rPr lang="en-US" sz="1400" dirty="0">
                <a:sym typeface="Wingdings" panose="05000000000000000000" pitchFamily="2" charset="2"/>
              </a:rPr>
              <a:t> aldosterone</a:t>
            </a:r>
            <a:endParaRPr lang="en-US" sz="140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0EDDD5C-D764-4DB2-B774-B350BCE9242B}"/>
              </a:ext>
            </a:extLst>
          </p:cNvPr>
          <p:cNvGrpSpPr/>
          <p:nvPr/>
        </p:nvGrpSpPr>
        <p:grpSpPr>
          <a:xfrm>
            <a:off x="1806400" y="2916522"/>
            <a:ext cx="544375" cy="568763"/>
            <a:chOff x="6125314" y="2463362"/>
            <a:chExt cx="544375" cy="568763"/>
          </a:xfrm>
        </p:grpSpPr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DE9347B-304D-4DFF-8276-7A6322F38A52}"/>
                </a:ext>
              </a:extLst>
            </p:cNvPr>
            <p:cNvSpPr/>
            <p:nvPr/>
          </p:nvSpPr>
          <p:spPr>
            <a:xfrm>
              <a:off x="6125314" y="2463362"/>
              <a:ext cx="375015" cy="511782"/>
            </a:xfrm>
            <a:custGeom>
              <a:avLst/>
              <a:gdLst>
                <a:gd name="connsiteX0" fmla="*/ 554951 w 607785"/>
                <a:gd name="connsiteY0" fmla="*/ 119064 h 1088648"/>
                <a:gd name="connsiteX1" fmla="*/ 434635 w 607785"/>
                <a:gd name="connsiteY1" fmla="*/ 22812 h 1088648"/>
                <a:gd name="connsiteX2" fmla="*/ 242130 w 607785"/>
                <a:gd name="connsiteY2" fmla="*/ 22812 h 1088648"/>
                <a:gd name="connsiteX3" fmla="*/ 73688 w 607785"/>
                <a:gd name="connsiteY3" fmla="*/ 275475 h 1088648"/>
                <a:gd name="connsiteX4" fmla="*/ 1498 w 607785"/>
                <a:gd name="connsiteY4" fmla="*/ 624391 h 1088648"/>
                <a:gd name="connsiteX5" fmla="*/ 133846 w 607785"/>
                <a:gd name="connsiteY5" fmla="*/ 997369 h 1088648"/>
                <a:gd name="connsiteX6" fmla="*/ 422604 w 607785"/>
                <a:gd name="connsiteY6" fmla="*/ 1081591 h 1088648"/>
                <a:gd name="connsiteX7" fmla="*/ 603077 w 607785"/>
                <a:gd name="connsiteY7" fmla="*/ 865022 h 1088648"/>
                <a:gd name="connsiteX8" fmla="*/ 554951 w 607785"/>
                <a:gd name="connsiteY8" fmla="*/ 612359 h 1088648"/>
                <a:gd name="connsiteX9" fmla="*/ 554951 w 607785"/>
                <a:gd name="connsiteY9" fmla="*/ 395791 h 1088648"/>
                <a:gd name="connsiteX10" fmla="*/ 603077 w 607785"/>
                <a:gd name="connsiteY10" fmla="*/ 263443 h 1088648"/>
                <a:gd name="connsiteX11" fmla="*/ 554951 w 607785"/>
                <a:gd name="connsiteY11" fmla="*/ 119064 h 10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07785" h="1088648">
                  <a:moveTo>
                    <a:pt x="554951" y="119064"/>
                  </a:moveTo>
                  <a:cubicBezTo>
                    <a:pt x="526877" y="78959"/>
                    <a:pt x="486772" y="38854"/>
                    <a:pt x="434635" y="22812"/>
                  </a:cubicBezTo>
                  <a:cubicBezTo>
                    <a:pt x="382498" y="6770"/>
                    <a:pt x="302288" y="-19299"/>
                    <a:pt x="242130" y="22812"/>
                  </a:cubicBezTo>
                  <a:cubicBezTo>
                    <a:pt x="181972" y="64923"/>
                    <a:pt x="113793" y="175212"/>
                    <a:pt x="73688" y="275475"/>
                  </a:cubicBezTo>
                  <a:cubicBezTo>
                    <a:pt x="33583" y="375738"/>
                    <a:pt x="-8528" y="504075"/>
                    <a:pt x="1498" y="624391"/>
                  </a:cubicBezTo>
                  <a:cubicBezTo>
                    <a:pt x="11524" y="744707"/>
                    <a:pt x="63662" y="921169"/>
                    <a:pt x="133846" y="997369"/>
                  </a:cubicBezTo>
                  <a:cubicBezTo>
                    <a:pt x="204030" y="1073569"/>
                    <a:pt x="344399" y="1103649"/>
                    <a:pt x="422604" y="1081591"/>
                  </a:cubicBezTo>
                  <a:cubicBezTo>
                    <a:pt x="500809" y="1059533"/>
                    <a:pt x="581019" y="943227"/>
                    <a:pt x="603077" y="865022"/>
                  </a:cubicBezTo>
                  <a:cubicBezTo>
                    <a:pt x="625135" y="786817"/>
                    <a:pt x="562972" y="690564"/>
                    <a:pt x="554951" y="612359"/>
                  </a:cubicBezTo>
                  <a:cubicBezTo>
                    <a:pt x="546930" y="534154"/>
                    <a:pt x="546930" y="453944"/>
                    <a:pt x="554951" y="395791"/>
                  </a:cubicBezTo>
                  <a:cubicBezTo>
                    <a:pt x="562972" y="337638"/>
                    <a:pt x="603077" y="307559"/>
                    <a:pt x="603077" y="263443"/>
                  </a:cubicBezTo>
                  <a:cubicBezTo>
                    <a:pt x="603077" y="219327"/>
                    <a:pt x="583025" y="159169"/>
                    <a:pt x="554951" y="119064"/>
                  </a:cubicBezTo>
                  <a:close/>
                </a:path>
              </a:pathLst>
            </a:custGeom>
            <a:solidFill>
              <a:srgbClr val="C739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E2804651-CBC8-446B-87A6-E73A3F37601B}"/>
                </a:ext>
              </a:extLst>
            </p:cNvPr>
            <p:cNvSpPr/>
            <p:nvPr/>
          </p:nvSpPr>
          <p:spPr>
            <a:xfrm>
              <a:off x="6229864" y="2540353"/>
              <a:ext cx="439825" cy="491772"/>
            </a:xfrm>
            <a:custGeom>
              <a:avLst/>
              <a:gdLst>
                <a:gd name="connsiteX0" fmla="*/ 352220 w 749508"/>
                <a:gd name="connsiteY0" fmla="*/ 207414 h 973885"/>
                <a:gd name="connsiteX1" fmla="*/ 207841 w 749508"/>
                <a:gd name="connsiteY1" fmla="*/ 63035 h 973885"/>
                <a:gd name="connsiteX2" fmla="*/ 171746 w 749508"/>
                <a:gd name="connsiteY2" fmla="*/ 2877 h 973885"/>
                <a:gd name="connsiteX3" fmla="*/ 87525 w 749508"/>
                <a:gd name="connsiteY3" fmla="*/ 147256 h 973885"/>
                <a:gd name="connsiteX4" fmla="*/ 171746 w 749508"/>
                <a:gd name="connsiteY4" fmla="*/ 267572 h 973885"/>
                <a:gd name="connsiteX5" fmla="*/ 195809 w 749508"/>
                <a:gd name="connsiteY5" fmla="*/ 267572 h 973885"/>
                <a:gd name="connsiteX6" fmla="*/ 63462 w 749508"/>
                <a:gd name="connsiteY6" fmla="*/ 303666 h 973885"/>
                <a:gd name="connsiteX7" fmla="*/ 15335 w 749508"/>
                <a:gd name="connsiteY7" fmla="*/ 291635 h 973885"/>
                <a:gd name="connsiteX8" fmla="*/ 15335 w 749508"/>
                <a:gd name="connsiteY8" fmla="*/ 520235 h 973885"/>
                <a:gd name="connsiteX9" fmla="*/ 195809 w 749508"/>
                <a:gd name="connsiteY9" fmla="*/ 448045 h 973885"/>
                <a:gd name="connsiteX10" fmla="*/ 147683 w 749508"/>
                <a:gd name="connsiteY10" fmla="*/ 628519 h 973885"/>
                <a:gd name="connsiteX11" fmla="*/ 195809 w 749508"/>
                <a:gd name="connsiteY11" fmla="*/ 688677 h 973885"/>
                <a:gd name="connsiteX12" fmla="*/ 267998 w 749508"/>
                <a:gd name="connsiteY12" fmla="*/ 700709 h 973885"/>
                <a:gd name="connsiteX13" fmla="*/ 316125 w 749508"/>
                <a:gd name="connsiteY13" fmla="*/ 496172 h 973885"/>
                <a:gd name="connsiteX14" fmla="*/ 472535 w 749508"/>
                <a:gd name="connsiteY14" fmla="*/ 436014 h 973885"/>
                <a:gd name="connsiteX15" fmla="*/ 713167 w 749508"/>
                <a:gd name="connsiteY15" fmla="*/ 881182 h 973885"/>
                <a:gd name="connsiteX16" fmla="*/ 713167 w 749508"/>
                <a:gd name="connsiteY16" fmla="*/ 941340 h 973885"/>
                <a:gd name="connsiteX17" fmla="*/ 725198 w 749508"/>
                <a:gd name="connsiteY17" fmla="*/ 484140 h 973885"/>
                <a:gd name="connsiteX18" fmla="*/ 352220 w 749508"/>
                <a:gd name="connsiteY18" fmla="*/ 207414 h 973885"/>
                <a:gd name="connsiteX0" fmla="*/ 366890 w 764178"/>
                <a:gd name="connsiteY0" fmla="*/ 207414 h 973885"/>
                <a:gd name="connsiteX1" fmla="*/ 222511 w 764178"/>
                <a:gd name="connsiteY1" fmla="*/ 63035 h 973885"/>
                <a:gd name="connsiteX2" fmla="*/ 186416 w 764178"/>
                <a:gd name="connsiteY2" fmla="*/ 2877 h 973885"/>
                <a:gd name="connsiteX3" fmla="*/ 102195 w 764178"/>
                <a:gd name="connsiteY3" fmla="*/ 147256 h 973885"/>
                <a:gd name="connsiteX4" fmla="*/ 186416 w 764178"/>
                <a:gd name="connsiteY4" fmla="*/ 267572 h 973885"/>
                <a:gd name="connsiteX5" fmla="*/ 210479 w 764178"/>
                <a:gd name="connsiteY5" fmla="*/ 267572 h 973885"/>
                <a:gd name="connsiteX6" fmla="*/ 78132 w 764178"/>
                <a:gd name="connsiteY6" fmla="*/ 303666 h 973885"/>
                <a:gd name="connsiteX7" fmla="*/ 4605 w 764178"/>
                <a:gd name="connsiteY7" fmla="*/ 301795 h 973885"/>
                <a:gd name="connsiteX8" fmla="*/ 30005 w 764178"/>
                <a:gd name="connsiteY8" fmla="*/ 520235 h 973885"/>
                <a:gd name="connsiteX9" fmla="*/ 210479 w 764178"/>
                <a:gd name="connsiteY9" fmla="*/ 448045 h 973885"/>
                <a:gd name="connsiteX10" fmla="*/ 162353 w 764178"/>
                <a:gd name="connsiteY10" fmla="*/ 628519 h 973885"/>
                <a:gd name="connsiteX11" fmla="*/ 210479 w 764178"/>
                <a:gd name="connsiteY11" fmla="*/ 688677 h 973885"/>
                <a:gd name="connsiteX12" fmla="*/ 282668 w 764178"/>
                <a:gd name="connsiteY12" fmla="*/ 700709 h 973885"/>
                <a:gd name="connsiteX13" fmla="*/ 330795 w 764178"/>
                <a:gd name="connsiteY13" fmla="*/ 496172 h 973885"/>
                <a:gd name="connsiteX14" fmla="*/ 487205 w 764178"/>
                <a:gd name="connsiteY14" fmla="*/ 436014 h 973885"/>
                <a:gd name="connsiteX15" fmla="*/ 727837 w 764178"/>
                <a:gd name="connsiteY15" fmla="*/ 881182 h 973885"/>
                <a:gd name="connsiteX16" fmla="*/ 727837 w 764178"/>
                <a:gd name="connsiteY16" fmla="*/ 941340 h 973885"/>
                <a:gd name="connsiteX17" fmla="*/ 739868 w 764178"/>
                <a:gd name="connsiteY17" fmla="*/ 484140 h 973885"/>
                <a:gd name="connsiteX18" fmla="*/ 366890 w 76417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08599 w 762298"/>
                <a:gd name="connsiteY5" fmla="*/ 26757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18759 w 762298"/>
                <a:gd name="connsiteY5" fmla="*/ 28789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4584 h 971055"/>
                <a:gd name="connsiteX1" fmla="*/ 220631 w 762298"/>
                <a:gd name="connsiteY1" fmla="*/ 60205 h 971055"/>
                <a:gd name="connsiteX2" fmla="*/ 184536 w 762298"/>
                <a:gd name="connsiteY2" fmla="*/ 47 h 971055"/>
                <a:gd name="connsiteX3" fmla="*/ 39355 w 762298"/>
                <a:gd name="connsiteY3" fmla="*/ 68226 h 971055"/>
                <a:gd name="connsiteX4" fmla="*/ 184536 w 762298"/>
                <a:gd name="connsiteY4" fmla="*/ 264742 h 971055"/>
                <a:gd name="connsiteX5" fmla="*/ 218759 w 762298"/>
                <a:gd name="connsiteY5" fmla="*/ 285062 h 971055"/>
                <a:gd name="connsiteX6" fmla="*/ 50852 w 762298"/>
                <a:gd name="connsiteY6" fmla="*/ 275436 h 971055"/>
                <a:gd name="connsiteX7" fmla="*/ 2725 w 762298"/>
                <a:gd name="connsiteY7" fmla="*/ 298965 h 971055"/>
                <a:gd name="connsiteX8" fmla="*/ 28125 w 762298"/>
                <a:gd name="connsiteY8" fmla="*/ 517405 h 971055"/>
                <a:gd name="connsiteX9" fmla="*/ 208599 w 762298"/>
                <a:gd name="connsiteY9" fmla="*/ 445215 h 971055"/>
                <a:gd name="connsiteX10" fmla="*/ 160473 w 762298"/>
                <a:gd name="connsiteY10" fmla="*/ 625689 h 971055"/>
                <a:gd name="connsiteX11" fmla="*/ 208599 w 762298"/>
                <a:gd name="connsiteY11" fmla="*/ 685847 h 971055"/>
                <a:gd name="connsiteX12" fmla="*/ 280788 w 762298"/>
                <a:gd name="connsiteY12" fmla="*/ 697879 h 971055"/>
                <a:gd name="connsiteX13" fmla="*/ 328915 w 762298"/>
                <a:gd name="connsiteY13" fmla="*/ 493342 h 971055"/>
                <a:gd name="connsiteX14" fmla="*/ 485325 w 762298"/>
                <a:gd name="connsiteY14" fmla="*/ 433184 h 971055"/>
                <a:gd name="connsiteX15" fmla="*/ 725957 w 762298"/>
                <a:gd name="connsiteY15" fmla="*/ 878352 h 971055"/>
                <a:gd name="connsiteX16" fmla="*/ 725957 w 762298"/>
                <a:gd name="connsiteY16" fmla="*/ 938510 h 971055"/>
                <a:gd name="connsiteX17" fmla="*/ 737988 w 762298"/>
                <a:gd name="connsiteY17" fmla="*/ 481310 h 971055"/>
                <a:gd name="connsiteX18" fmla="*/ 365010 w 762298"/>
                <a:gd name="connsiteY18" fmla="*/ 204584 h 971055"/>
                <a:gd name="connsiteX0" fmla="*/ 365010 w 762298"/>
                <a:gd name="connsiteY0" fmla="*/ 252091 h 1018562"/>
                <a:gd name="connsiteX1" fmla="*/ 230791 w 762298"/>
                <a:gd name="connsiteY1" fmla="*/ 11192 h 1018562"/>
                <a:gd name="connsiteX2" fmla="*/ 184536 w 762298"/>
                <a:gd name="connsiteY2" fmla="*/ 47554 h 1018562"/>
                <a:gd name="connsiteX3" fmla="*/ 39355 w 762298"/>
                <a:gd name="connsiteY3" fmla="*/ 115733 h 1018562"/>
                <a:gd name="connsiteX4" fmla="*/ 184536 w 762298"/>
                <a:gd name="connsiteY4" fmla="*/ 312249 h 1018562"/>
                <a:gd name="connsiteX5" fmla="*/ 218759 w 762298"/>
                <a:gd name="connsiteY5" fmla="*/ 332569 h 1018562"/>
                <a:gd name="connsiteX6" fmla="*/ 50852 w 762298"/>
                <a:gd name="connsiteY6" fmla="*/ 322943 h 1018562"/>
                <a:gd name="connsiteX7" fmla="*/ 2725 w 762298"/>
                <a:gd name="connsiteY7" fmla="*/ 346472 h 1018562"/>
                <a:gd name="connsiteX8" fmla="*/ 28125 w 762298"/>
                <a:gd name="connsiteY8" fmla="*/ 564912 h 1018562"/>
                <a:gd name="connsiteX9" fmla="*/ 208599 w 762298"/>
                <a:gd name="connsiteY9" fmla="*/ 492722 h 1018562"/>
                <a:gd name="connsiteX10" fmla="*/ 160473 w 762298"/>
                <a:gd name="connsiteY10" fmla="*/ 673196 h 1018562"/>
                <a:gd name="connsiteX11" fmla="*/ 208599 w 762298"/>
                <a:gd name="connsiteY11" fmla="*/ 733354 h 1018562"/>
                <a:gd name="connsiteX12" fmla="*/ 280788 w 762298"/>
                <a:gd name="connsiteY12" fmla="*/ 745386 h 1018562"/>
                <a:gd name="connsiteX13" fmla="*/ 328915 w 762298"/>
                <a:gd name="connsiteY13" fmla="*/ 540849 h 1018562"/>
                <a:gd name="connsiteX14" fmla="*/ 485325 w 762298"/>
                <a:gd name="connsiteY14" fmla="*/ 480691 h 1018562"/>
                <a:gd name="connsiteX15" fmla="*/ 725957 w 762298"/>
                <a:gd name="connsiteY15" fmla="*/ 925859 h 1018562"/>
                <a:gd name="connsiteX16" fmla="*/ 725957 w 762298"/>
                <a:gd name="connsiteY16" fmla="*/ 986017 h 1018562"/>
                <a:gd name="connsiteX17" fmla="*/ 737988 w 762298"/>
                <a:gd name="connsiteY17" fmla="*/ 528817 h 1018562"/>
                <a:gd name="connsiteX18" fmla="*/ 365010 w 762298"/>
                <a:gd name="connsiteY18" fmla="*/ 252091 h 1018562"/>
                <a:gd name="connsiteX0" fmla="*/ 365010 w 762298"/>
                <a:gd name="connsiteY0" fmla="*/ 257298 h 1023769"/>
                <a:gd name="connsiteX1" fmla="*/ 230791 w 762298"/>
                <a:gd name="connsiteY1" fmla="*/ 16399 h 1023769"/>
                <a:gd name="connsiteX2" fmla="*/ 154056 w 762298"/>
                <a:gd name="connsiteY2" fmla="*/ 32441 h 1023769"/>
                <a:gd name="connsiteX3" fmla="*/ 39355 w 762298"/>
                <a:gd name="connsiteY3" fmla="*/ 120940 h 1023769"/>
                <a:gd name="connsiteX4" fmla="*/ 184536 w 762298"/>
                <a:gd name="connsiteY4" fmla="*/ 317456 h 1023769"/>
                <a:gd name="connsiteX5" fmla="*/ 218759 w 762298"/>
                <a:gd name="connsiteY5" fmla="*/ 337776 h 1023769"/>
                <a:gd name="connsiteX6" fmla="*/ 50852 w 762298"/>
                <a:gd name="connsiteY6" fmla="*/ 328150 h 1023769"/>
                <a:gd name="connsiteX7" fmla="*/ 2725 w 762298"/>
                <a:gd name="connsiteY7" fmla="*/ 351679 h 1023769"/>
                <a:gd name="connsiteX8" fmla="*/ 28125 w 762298"/>
                <a:gd name="connsiteY8" fmla="*/ 570119 h 1023769"/>
                <a:gd name="connsiteX9" fmla="*/ 208599 w 762298"/>
                <a:gd name="connsiteY9" fmla="*/ 497929 h 1023769"/>
                <a:gd name="connsiteX10" fmla="*/ 160473 w 762298"/>
                <a:gd name="connsiteY10" fmla="*/ 678403 h 1023769"/>
                <a:gd name="connsiteX11" fmla="*/ 208599 w 762298"/>
                <a:gd name="connsiteY11" fmla="*/ 738561 h 1023769"/>
                <a:gd name="connsiteX12" fmla="*/ 280788 w 762298"/>
                <a:gd name="connsiteY12" fmla="*/ 750593 h 1023769"/>
                <a:gd name="connsiteX13" fmla="*/ 328915 w 762298"/>
                <a:gd name="connsiteY13" fmla="*/ 546056 h 1023769"/>
                <a:gd name="connsiteX14" fmla="*/ 485325 w 762298"/>
                <a:gd name="connsiteY14" fmla="*/ 485898 h 1023769"/>
                <a:gd name="connsiteX15" fmla="*/ 725957 w 762298"/>
                <a:gd name="connsiteY15" fmla="*/ 931066 h 1023769"/>
                <a:gd name="connsiteX16" fmla="*/ 725957 w 762298"/>
                <a:gd name="connsiteY16" fmla="*/ 991224 h 1023769"/>
                <a:gd name="connsiteX17" fmla="*/ 737988 w 762298"/>
                <a:gd name="connsiteY17" fmla="*/ 534024 h 1023769"/>
                <a:gd name="connsiteX18" fmla="*/ 365010 w 762298"/>
                <a:gd name="connsiteY18" fmla="*/ 257298 h 1023769"/>
                <a:gd name="connsiteX0" fmla="*/ 365010 w 762298"/>
                <a:gd name="connsiteY0" fmla="*/ 252092 h 1018563"/>
                <a:gd name="connsiteX1" fmla="*/ 230791 w 762298"/>
                <a:gd name="connsiteY1" fmla="*/ 11193 h 1018563"/>
                <a:gd name="connsiteX2" fmla="*/ 148976 w 762298"/>
                <a:gd name="connsiteY2" fmla="*/ 47555 h 1018563"/>
                <a:gd name="connsiteX3" fmla="*/ 39355 w 762298"/>
                <a:gd name="connsiteY3" fmla="*/ 115734 h 1018563"/>
                <a:gd name="connsiteX4" fmla="*/ 184536 w 762298"/>
                <a:gd name="connsiteY4" fmla="*/ 312250 h 1018563"/>
                <a:gd name="connsiteX5" fmla="*/ 218759 w 762298"/>
                <a:gd name="connsiteY5" fmla="*/ 332570 h 1018563"/>
                <a:gd name="connsiteX6" fmla="*/ 50852 w 762298"/>
                <a:gd name="connsiteY6" fmla="*/ 322944 h 1018563"/>
                <a:gd name="connsiteX7" fmla="*/ 2725 w 762298"/>
                <a:gd name="connsiteY7" fmla="*/ 346473 h 1018563"/>
                <a:gd name="connsiteX8" fmla="*/ 28125 w 762298"/>
                <a:gd name="connsiteY8" fmla="*/ 564913 h 1018563"/>
                <a:gd name="connsiteX9" fmla="*/ 208599 w 762298"/>
                <a:gd name="connsiteY9" fmla="*/ 492723 h 1018563"/>
                <a:gd name="connsiteX10" fmla="*/ 160473 w 762298"/>
                <a:gd name="connsiteY10" fmla="*/ 673197 h 1018563"/>
                <a:gd name="connsiteX11" fmla="*/ 208599 w 762298"/>
                <a:gd name="connsiteY11" fmla="*/ 733355 h 1018563"/>
                <a:gd name="connsiteX12" fmla="*/ 280788 w 762298"/>
                <a:gd name="connsiteY12" fmla="*/ 745387 h 1018563"/>
                <a:gd name="connsiteX13" fmla="*/ 328915 w 762298"/>
                <a:gd name="connsiteY13" fmla="*/ 540850 h 1018563"/>
                <a:gd name="connsiteX14" fmla="*/ 485325 w 762298"/>
                <a:gd name="connsiteY14" fmla="*/ 480692 h 1018563"/>
                <a:gd name="connsiteX15" fmla="*/ 725957 w 762298"/>
                <a:gd name="connsiteY15" fmla="*/ 925860 h 1018563"/>
                <a:gd name="connsiteX16" fmla="*/ 725957 w 762298"/>
                <a:gd name="connsiteY16" fmla="*/ 986018 h 1018563"/>
                <a:gd name="connsiteX17" fmla="*/ 737988 w 762298"/>
                <a:gd name="connsiteY17" fmla="*/ 528818 h 1018563"/>
                <a:gd name="connsiteX18" fmla="*/ 365010 w 762298"/>
                <a:gd name="connsiteY18" fmla="*/ 252092 h 1018563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6031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3999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88225 w 785513"/>
                <a:gd name="connsiteY0" fmla="*/ 279841 h 1046312"/>
                <a:gd name="connsiteX1" fmla="*/ 243846 w 785513"/>
                <a:gd name="connsiteY1" fmla="*/ 8462 h 1046312"/>
                <a:gd name="connsiteX2" fmla="*/ 172191 w 785513"/>
                <a:gd name="connsiteY2" fmla="*/ 75304 h 1046312"/>
                <a:gd name="connsiteX3" fmla="*/ 62570 w 785513"/>
                <a:gd name="connsiteY3" fmla="*/ 143483 h 1046312"/>
                <a:gd name="connsiteX4" fmla="*/ 207751 w 785513"/>
                <a:gd name="connsiteY4" fmla="*/ 339999 h 1046312"/>
                <a:gd name="connsiteX5" fmla="*/ 241974 w 785513"/>
                <a:gd name="connsiteY5" fmla="*/ 339999 h 1046312"/>
                <a:gd name="connsiteX6" fmla="*/ 74067 w 785513"/>
                <a:gd name="connsiteY6" fmla="*/ 350693 h 1046312"/>
                <a:gd name="connsiteX7" fmla="*/ 540 w 785513"/>
                <a:gd name="connsiteY7" fmla="*/ 358982 h 1046312"/>
                <a:gd name="connsiteX8" fmla="*/ 51340 w 785513"/>
                <a:gd name="connsiteY8" fmla="*/ 592662 h 1046312"/>
                <a:gd name="connsiteX9" fmla="*/ 231814 w 785513"/>
                <a:gd name="connsiteY9" fmla="*/ 520472 h 1046312"/>
                <a:gd name="connsiteX10" fmla="*/ 183688 w 785513"/>
                <a:gd name="connsiteY10" fmla="*/ 700946 h 1046312"/>
                <a:gd name="connsiteX11" fmla="*/ 231814 w 785513"/>
                <a:gd name="connsiteY11" fmla="*/ 761104 h 1046312"/>
                <a:gd name="connsiteX12" fmla="*/ 304003 w 785513"/>
                <a:gd name="connsiteY12" fmla="*/ 773136 h 1046312"/>
                <a:gd name="connsiteX13" fmla="*/ 352130 w 785513"/>
                <a:gd name="connsiteY13" fmla="*/ 568599 h 1046312"/>
                <a:gd name="connsiteX14" fmla="*/ 508540 w 785513"/>
                <a:gd name="connsiteY14" fmla="*/ 508441 h 1046312"/>
                <a:gd name="connsiteX15" fmla="*/ 749172 w 785513"/>
                <a:gd name="connsiteY15" fmla="*/ 953609 h 1046312"/>
                <a:gd name="connsiteX16" fmla="*/ 749172 w 785513"/>
                <a:gd name="connsiteY16" fmla="*/ 1013767 h 1046312"/>
                <a:gd name="connsiteX17" fmla="*/ 761203 w 785513"/>
                <a:gd name="connsiteY17" fmla="*/ 556567 h 1046312"/>
                <a:gd name="connsiteX18" fmla="*/ 388225 w 785513"/>
                <a:gd name="connsiteY18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18112 w 795874"/>
                <a:gd name="connsiteY4" fmla="*/ 339999 h 1046312"/>
                <a:gd name="connsiteX5" fmla="*/ 252335 w 795874"/>
                <a:gd name="connsiteY5" fmla="*/ 339999 h 1046312"/>
                <a:gd name="connsiteX6" fmla="*/ 10901 w 795874"/>
                <a:gd name="connsiteY6" fmla="*/ 358982 h 1046312"/>
                <a:gd name="connsiteX7" fmla="*/ 61701 w 795874"/>
                <a:gd name="connsiteY7" fmla="*/ 592662 h 1046312"/>
                <a:gd name="connsiteX8" fmla="*/ 242175 w 795874"/>
                <a:gd name="connsiteY8" fmla="*/ 520472 h 1046312"/>
                <a:gd name="connsiteX9" fmla="*/ 194049 w 795874"/>
                <a:gd name="connsiteY9" fmla="*/ 700946 h 1046312"/>
                <a:gd name="connsiteX10" fmla="*/ 242175 w 795874"/>
                <a:gd name="connsiteY10" fmla="*/ 761104 h 1046312"/>
                <a:gd name="connsiteX11" fmla="*/ 314364 w 795874"/>
                <a:gd name="connsiteY11" fmla="*/ 773136 h 1046312"/>
                <a:gd name="connsiteX12" fmla="*/ 362491 w 795874"/>
                <a:gd name="connsiteY12" fmla="*/ 568599 h 1046312"/>
                <a:gd name="connsiteX13" fmla="*/ 518901 w 795874"/>
                <a:gd name="connsiteY13" fmla="*/ 508441 h 1046312"/>
                <a:gd name="connsiteX14" fmla="*/ 759533 w 795874"/>
                <a:gd name="connsiteY14" fmla="*/ 953609 h 1046312"/>
                <a:gd name="connsiteX15" fmla="*/ 759533 w 795874"/>
                <a:gd name="connsiteY15" fmla="*/ 1013767 h 1046312"/>
                <a:gd name="connsiteX16" fmla="*/ 771564 w 795874"/>
                <a:gd name="connsiteY16" fmla="*/ 556567 h 1046312"/>
                <a:gd name="connsiteX17" fmla="*/ 398586 w 795874"/>
                <a:gd name="connsiteY17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94049 w 795874"/>
                <a:gd name="connsiteY8" fmla="*/ 70094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37095 w 795874"/>
                <a:gd name="connsiteY9" fmla="*/ 72046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7537 w 794825"/>
                <a:gd name="connsiteY0" fmla="*/ 279841 h 1046312"/>
                <a:gd name="connsiteX1" fmla="*/ 253158 w 794825"/>
                <a:gd name="connsiteY1" fmla="*/ 8462 h 1046312"/>
                <a:gd name="connsiteX2" fmla="*/ 181503 w 794825"/>
                <a:gd name="connsiteY2" fmla="*/ 75304 h 1046312"/>
                <a:gd name="connsiteX3" fmla="*/ 71882 w 794825"/>
                <a:gd name="connsiteY3" fmla="*/ 143483 h 1046312"/>
                <a:gd name="connsiteX4" fmla="*/ 251286 w 794825"/>
                <a:gd name="connsiteY4" fmla="*/ 339999 h 1046312"/>
                <a:gd name="connsiteX5" fmla="*/ 9852 w 794825"/>
                <a:gd name="connsiteY5" fmla="*/ 358982 h 1046312"/>
                <a:gd name="connsiteX6" fmla="*/ 48087 w 794825"/>
                <a:gd name="connsiteY6" fmla="*/ 491865 h 1046312"/>
                <a:gd name="connsiteX7" fmla="*/ 60652 w 794825"/>
                <a:gd name="connsiteY7" fmla="*/ 592662 h 1046312"/>
                <a:gd name="connsiteX8" fmla="*/ 241126 w 794825"/>
                <a:gd name="connsiteY8" fmla="*/ 520472 h 1046312"/>
                <a:gd name="connsiteX9" fmla="*/ 137120 w 794825"/>
                <a:gd name="connsiteY9" fmla="*/ 690786 h 1046312"/>
                <a:gd name="connsiteX10" fmla="*/ 236046 w 794825"/>
                <a:gd name="connsiteY10" fmla="*/ 720464 h 1046312"/>
                <a:gd name="connsiteX11" fmla="*/ 313315 w 794825"/>
                <a:gd name="connsiteY11" fmla="*/ 773136 h 1046312"/>
                <a:gd name="connsiteX12" fmla="*/ 361442 w 794825"/>
                <a:gd name="connsiteY12" fmla="*/ 568599 h 1046312"/>
                <a:gd name="connsiteX13" fmla="*/ 517852 w 794825"/>
                <a:gd name="connsiteY13" fmla="*/ 508441 h 1046312"/>
                <a:gd name="connsiteX14" fmla="*/ 758484 w 794825"/>
                <a:gd name="connsiteY14" fmla="*/ 953609 h 1046312"/>
                <a:gd name="connsiteX15" fmla="*/ 758484 w 794825"/>
                <a:gd name="connsiteY15" fmla="*/ 1013767 h 1046312"/>
                <a:gd name="connsiteX16" fmla="*/ 770515 w 794825"/>
                <a:gd name="connsiteY16" fmla="*/ 556567 h 1046312"/>
                <a:gd name="connsiteX17" fmla="*/ 397537 w 794825"/>
                <a:gd name="connsiteY17" fmla="*/ 279841 h 1046312"/>
                <a:gd name="connsiteX0" fmla="*/ 397537 w 775871"/>
                <a:gd name="connsiteY0" fmla="*/ 279841 h 1046312"/>
                <a:gd name="connsiteX1" fmla="*/ 253158 w 775871"/>
                <a:gd name="connsiteY1" fmla="*/ 8462 h 1046312"/>
                <a:gd name="connsiteX2" fmla="*/ 181503 w 775871"/>
                <a:gd name="connsiteY2" fmla="*/ 75304 h 1046312"/>
                <a:gd name="connsiteX3" fmla="*/ 71882 w 775871"/>
                <a:gd name="connsiteY3" fmla="*/ 143483 h 1046312"/>
                <a:gd name="connsiteX4" fmla="*/ 251286 w 775871"/>
                <a:gd name="connsiteY4" fmla="*/ 339999 h 1046312"/>
                <a:gd name="connsiteX5" fmla="*/ 9852 w 775871"/>
                <a:gd name="connsiteY5" fmla="*/ 358982 h 1046312"/>
                <a:gd name="connsiteX6" fmla="*/ 48087 w 775871"/>
                <a:gd name="connsiteY6" fmla="*/ 491865 h 1046312"/>
                <a:gd name="connsiteX7" fmla="*/ 60652 w 775871"/>
                <a:gd name="connsiteY7" fmla="*/ 592662 h 1046312"/>
                <a:gd name="connsiteX8" fmla="*/ 241126 w 775871"/>
                <a:gd name="connsiteY8" fmla="*/ 520472 h 1046312"/>
                <a:gd name="connsiteX9" fmla="*/ 137120 w 775871"/>
                <a:gd name="connsiteY9" fmla="*/ 690786 h 1046312"/>
                <a:gd name="connsiteX10" fmla="*/ 236046 w 775871"/>
                <a:gd name="connsiteY10" fmla="*/ 720464 h 1046312"/>
                <a:gd name="connsiteX11" fmla="*/ 313315 w 775871"/>
                <a:gd name="connsiteY11" fmla="*/ 773136 h 1046312"/>
                <a:gd name="connsiteX12" fmla="*/ 361442 w 775871"/>
                <a:gd name="connsiteY12" fmla="*/ 568599 h 1046312"/>
                <a:gd name="connsiteX13" fmla="*/ 517852 w 775871"/>
                <a:gd name="connsiteY13" fmla="*/ 508441 h 1046312"/>
                <a:gd name="connsiteX14" fmla="*/ 758484 w 775871"/>
                <a:gd name="connsiteY14" fmla="*/ 953609 h 1046312"/>
                <a:gd name="connsiteX15" fmla="*/ 758484 w 775871"/>
                <a:gd name="connsiteY15" fmla="*/ 1013767 h 1046312"/>
                <a:gd name="connsiteX16" fmla="*/ 729875 w 775871"/>
                <a:gd name="connsiteY16" fmla="*/ 576887 h 1046312"/>
                <a:gd name="connsiteX17" fmla="*/ 397537 w 775871"/>
                <a:gd name="connsiteY17" fmla="*/ 279841 h 1046312"/>
                <a:gd name="connsiteX0" fmla="*/ 397537 w 767491"/>
                <a:gd name="connsiteY0" fmla="*/ 279841 h 1063019"/>
                <a:gd name="connsiteX1" fmla="*/ 253158 w 767491"/>
                <a:gd name="connsiteY1" fmla="*/ 8462 h 1063019"/>
                <a:gd name="connsiteX2" fmla="*/ 181503 w 767491"/>
                <a:gd name="connsiteY2" fmla="*/ 75304 h 1063019"/>
                <a:gd name="connsiteX3" fmla="*/ 71882 w 767491"/>
                <a:gd name="connsiteY3" fmla="*/ 143483 h 1063019"/>
                <a:gd name="connsiteX4" fmla="*/ 251286 w 767491"/>
                <a:gd name="connsiteY4" fmla="*/ 339999 h 1063019"/>
                <a:gd name="connsiteX5" fmla="*/ 9852 w 767491"/>
                <a:gd name="connsiteY5" fmla="*/ 358982 h 1063019"/>
                <a:gd name="connsiteX6" fmla="*/ 48087 w 767491"/>
                <a:gd name="connsiteY6" fmla="*/ 491865 h 1063019"/>
                <a:gd name="connsiteX7" fmla="*/ 60652 w 767491"/>
                <a:gd name="connsiteY7" fmla="*/ 592662 h 1063019"/>
                <a:gd name="connsiteX8" fmla="*/ 241126 w 767491"/>
                <a:gd name="connsiteY8" fmla="*/ 520472 h 1063019"/>
                <a:gd name="connsiteX9" fmla="*/ 137120 w 767491"/>
                <a:gd name="connsiteY9" fmla="*/ 690786 h 1063019"/>
                <a:gd name="connsiteX10" fmla="*/ 236046 w 767491"/>
                <a:gd name="connsiteY10" fmla="*/ 720464 h 1063019"/>
                <a:gd name="connsiteX11" fmla="*/ 313315 w 767491"/>
                <a:gd name="connsiteY11" fmla="*/ 773136 h 1063019"/>
                <a:gd name="connsiteX12" fmla="*/ 361442 w 767491"/>
                <a:gd name="connsiteY12" fmla="*/ 568599 h 1063019"/>
                <a:gd name="connsiteX13" fmla="*/ 517852 w 767491"/>
                <a:gd name="connsiteY13" fmla="*/ 508441 h 1063019"/>
                <a:gd name="connsiteX14" fmla="*/ 728004 w 767491"/>
                <a:gd name="connsiteY14" fmla="*/ 999329 h 1063019"/>
                <a:gd name="connsiteX15" fmla="*/ 758484 w 767491"/>
                <a:gd name="connsiteY15" fmla="*/ 1013767 h 1063019"/>
                <a:gd name="connsiteX16" fmla="*/ 729875 w 767491"/>
                <a:gd name="connsiteY16" fmla="*/ 576887 h 1063019"/>
                <a:gd name="connsiteX17" fmla="*/ 397537 w 767491"/>
                <a:gd name="connsiteY17" fmla="*/ 279841 h 1063019"/>
                <a:gd name="connsiteX0" fmla="*/ 397537 w 758605"/>
                <a:gd name="connsiteY0" fmla="*/ 279841 h 1063019"/>
                <a:gd name="connsiteX1" fmla="*/ 253158 w 758605"/>
                <a:gd name="connsiteY1" fmla="*/ 8462 h 1063019"/>
                <a:gd name="connsiteX2" fmla="*/ 181503 w 758605"/>
                <a:gd name="connsiteY2" fmla="*/ 75304 h 1063019"/>
                <a:gd name="connsiteX3" fmla="*/ 71882 w 758605"/>
                <a:gd name="connsiteY3" fmla="*/ 143483 h 1063019"/>
                <a:gd name="connsiteX4" fmla="*/ 251286 w 758605"/>
                <a:gd name="connsiteY4" fmla="*/ 339999 h 1063019"/>
                <a:gd name="connsiteX5" fmla="*/ 9852 w 758605"/>
                <a:gd name="connsiteY5" fmla="*/ 358982 h 1063019"/>
                <a:gd name="connsiteX6" fmla="*/ 48087 w 758605"/>
                <a:gd name="connsiteY6" fmla="*/ 491865 h 1063019"/>
                <a:gd name="connsiteX7" fmla="*/ 60652 w 758605"/>
                <a:gd name="connsiteY7" fmla="*/ 592662 h 1063019"/>
                <a:gd name="connsiteX8" fmla="*/ 241126 w 758605"/>
                <a:gd name="connsiteY8" fmla="*/ 520472 h 1063019"/>
                <a:gd name="connsiteX9" fmla="*/ 137120 w 758605"/>
                <a:gd name="connsiteY9" fmla="*/ 690786 h 1063019"/>
                <a:gd name="connsiteX10" fmla="*/ 236046 w 758605"/>
                <a:gd name="connsiteY10" fmla="*/ 720464 h 1063019"/>
                <a:gd name="connsiteX11" fmla="*/ 313315 w 758605"/>
                <a:gd name="connsiteY11" fmla="*/ 773136 h 1063019"/>
                <a:gd name="connsiteX12" fmla="*/ 361442 w 758605"/>
                <a:gd name="connsiteY12" fmla="*/ 568599 h 1063019"/>
                <a:gd name="connsiteX13" fmla="*/ 517852 w 758605"/>
                <a:gd name="connsiteY13" fmla="*/ 508441 h 1063019"/>
                <a:gd name="connsiteX14" fmla="*/ 728004 w 758605"/>
                <a:gd name="connsiteY14" fmla="*/ 999329 h 1063019"/>
                <a:gd name="connsiteX15" fmla="*/ 758484 w 758605"/>
                <a:gd name="connsiteY15" fmla="*/ 1013767 h 1063019"/>
                <a:gd name="connsiteX16" fmla="*/ 597795 w 758605"/>
                <a:gd name="connsiteY16" fmla="*/ 521007 h 1063019"/>
                <a:gd name="connsiteX17" fmla="*/ 397537 w 758605"/>
                <a:gd name="connsiteY17" fmla="*/ 279841 h 1063019"/>
                <a:gd name="connsiteX0" fmla="*/ 428017 w 758605"/>
                <a:gd name="connsiteY0" fmla="*/ 285223 h 1063321"/>
                <a:gd name="connsiteX1" fmla="*/ 253158 w 758605"/>
                <a:gd name="connsiteY1" fmla="*/ 8764 h 1063321"/>
                <a:gd name="connsiteX2" fmla="*/ 181503 w 758605"/>
                <a:gd name="connsiteY2" fmla="*/ 75606 h 1063321"/>
                <a:gd name="connsiteX3" fmla="*/ 71882 w 758605"/>
                <a:gd name="connsiteY3" fmla="*/ 143785 h 1063321"/>
                <a:gd name="connsiteX4" fmla="*/ 251286 w 758605"/>
                <a:gd name="connsiteY4" fmla="*/ 340301 h 1063321"/>
                <a:gd name="connsiteX5" fmla="*/ 9852 w 758605"/>
                <a:gd name="connsiteY5" fmla="*/ 359284 h 1063321"/>
                <a:gd name="connsiteX6" fmla="*/ 48087 w 758605"/>
                <a:gd name="connsiteY6" fmla="*/ 492167 h 1063321"/>
                <a:gd name="connsiteX7" fmla="*/ 60652 w 758605"/>
                <a:gd name="connsiteY7" fmla="*/ 592964 h 1063321"/>
                <a:gd name="connsiteX8" fmla="*/ 241126 w 758605"/>
                <a:gd name="connsiteY8" fmla="*/ 520774 h 1063321"/>
                <a:gd name="connsiteX9" fmla="*/ 137120 w 758605"/>
                <a:gd name="connsiteY9" fmla="*/ 691088 h 1063321"/>
                <a:gd name="connsiteX10" fmla="*/ 236046 w 758605"/>
                <a:gd name="connsiteY10" fmla="*/ 720766 h 1063321"/>
                <a:gd name="connsiteX11" fmla="*/ 313315 w 758605"/>
                <a:gd name="connsiteY11" fmla="*/ 773438 h 1063321"/>
                <a:gd name="connsiteX12" fmla="*/ 361442 w 758605"/>
                <a:gd name="connsiteY12" fmla="*/ 568901 h 1063321"/>
                <a:gd name="connsiteX13" fmla="*/ 517852 w 758605"/>
                <a:gd name="connsiteY13" fmla="*/ 508743 h 1063321"/>
                <a:gd name="connsiteX14" fmla="*/ 728004 w 758605"/>
                <a:gd name="connsiteY14" fmla="*/ 999631 h 1063321"/>
                <a:gd name="connsiteX15" fmla="*/ 758484 w 758605"/>
                <a:gd name="connsiteY15" fmla="*/ 1014069 h 1063321"/>
                <a:gd name="connsiteX16" fmla="*/ 597795 w 758605"/>
                <a:gd name="connsiteY16" fmla="*/ 521309 h 1063321"/>
                <a:gd name="connsiteX17" fmla="*/ 428017 w 758605"/>
                <a:gd name="connsiteY17" fmla="*/ 285223 h 1063321"/>
                <a:gd name="connsiteX0" fmla="*/ 428017 w 758605"/>
                <a:gd name="connsiteY0" fmla="*/ 285223 h 1066357"/>
                <a:gd name="connsiteX1" fmla="*/ 253158 w 758605"/>
                <a:gd name="connsiteY1" fmla="*/ 8764 h 1066357"/>
                <a:gd name="connsiteX2" fmla="*/ 181503 w 758605"/>
                <a:gd name="connsiteY2" fmla="*/ 75606 h 1066357"/>
                <a:gd name="connsiteX3" fmla="*/ 71882 w 758605"/>
                <a:gd name="connsiteY3" fmla="*/ 143785 h 1066357"/>
                <a:gd name="connsiteX4" fmla="*/ 251286 w 758605"/>
                <a:gd name="connsiteY4" fmla="*/ 340301 h 1066357"/>
                <a:gd name="connsiteX5" fmla="*/ 9852 w 758605"/>
                <a:gd name="connsiteY5" fmla="*/ 359284 h 1066357"/>
                <a:gd name="connsiteX6" fmla="*/ 48087 w 758605"/>
                <a:gd name="connsiteY6" fmla="*/ 492167 h 1066357"/>
                <a:gd name="connsiteX7" fmla="*/ 60652 w 758605"/>
                <a:gd name="connsiteY7" fmla="*/ 592964 h 1066357"/>
                <a:gd name="connsiteX8" fmla="*/ 241126 w 758605"/>
                <a:gd name="connsiteY8" fmla="*/ 520774 h 1066357"/>
                <a:gd name="connsiteX9" fmla="*/ 137120 w 758605"/>
                <a:gd name="connsiteY9" fmla="*/ 691088 h 1066357"/>
                <a:gd name="connsiteX10" fmla="*/ 236046 w 758605"/>
                <a:gd name="connsiteY10" fmla="*/ 720766 h 1066357"/>
                <a:gd name="connsiteX11" fmla="*/ 313315 w 758605"/>
                <a:gd name="connsiteY11" fmla="*/ 773438 h 1066357"/>
                <a:gd name="connsiteX12" fmla="*/ 361442 w 758605"/>
                <a:gd name="connsiteY12" fmla="*/ 568901 h 1066357"/>
                <a:gd name="connsiteX13" fmla="*/ 517852 w 758605"/>
                <a:gd name="connsiteY13" fmla="*/ 508743 h 1066357"/>
                <a:gd name="connsiteX14" fmla="*/ 728004 w 758605"/>
                <a:gd name="connsiteY14" fmla="*/ 999631 h 1066357"/>
                <a:gd name="connsiteX15" fmla="*/ 758484 w 758605"/>
                <a:gd name="connsiteY15" fmla="*/ 1019149 h 1066357"/>
                <a:gd name="connsiteX16" fmla="*/ 597795 w 758605"/>
                <a:gd name="connsiteY16" fmla="*/ 521309 h 1066357"/>
                <a:gd name="connsiteX17" fmla="*/ 428017 w 758605"/>
                <a:gd name="connsiteY17" fmla="*/ 285223 h 1066357"/>
                <a:gd name="connsiteX0" fmla="*/ 428017 w 758511"/>
                <a:gd name="connsiteY0" fmla="*/ 285223 h 1036121"/>
                <a:gd name="connsiteX1" fmla="*/ 253158 w 758511"/>
                <a:gd name="connsiteY1" fmla="*/ 8764 h 1036121"/>
                <a:gd name="connsiteX2" fmla="*/ 181503 w 758511"/>
                <a:gd name="connsiteY2" fmla="*/ 75606 h 1036121"/>
                <a:gd name="connsiteX3" fmla="*/ 71882 w 758511"/>
                <a:gd name="connsiteY3" fmla="*/ 143785 h 1036121"/>
                <a:gd name="connsiteX4" fmla="*/ 251286 w 758511"/>
                <a:gd name="connsiteY4" fmla="*/ 340301 h 1036121"/>
                <a:gd name="connsiteX5" fmla="*/ 9852 w 758511"/>
                <a:gd name="connsiteY5" fmla="*/ 359284 h 1036121"/>
                <a:gd name="connsiteX6" fmla="*/ 48087 w 758511"/>
                <a:gd name="connsiteY6" fmla="*/ 492167 h 1036121"/>
                <a:gd name="connsiteX7" fmla="*/ 60652 w 758511"/>
                <a:gd name="connsiteY7" fmla="*/ 592964 h 1036121"/>
                <a:gd name="connsiteX8" fmla="*/ 241126 w 758511"/>
                <a:gd name="connsiteY8" fmla="*/ 520774 h 1036121"/>
                <a:gd name="connsiteX9" fmla="*/ 137120 w 758511"/>
                <a:gd name="connsiteY9" fmla="*/ 691088 h 1036121"/>
                <a:gd name="connsiteX10" fmla="*/ 236046 w 758511"/>
                <a:gd name="connsiteY10" fmla="*/ 720766 h 1036121"/>
                <a:gd name="connsiteX11" fmla="*/ 313315 w 758511"/>
                <a:gd name="connsiteY11" fmla="*/ 773438 h 1036121"/>
                <a:gd name="connsiteX12" fmla="*/ 361442 w 758511"/>
                <a:gd name="connsiteY12" fmla="*/ 568901 h 1036121"/>
                <a:gd name="connsiteX13" fmla="*/ 517852 w 758511"/>
                <a:gd name="connsiteY13" fmla="*/ 508743 h 1036121"/>
                <a:gd name="connsiteX14" fmla="*/ 687364 w 758511"/>
                <a:gd name="connsiteY14" fmla="*/ 857391 h 1036121"/>
                <a:gd name="connsiteX15" fmla="*/ 758484 w 758511"/>
                <a:gd name="connsiteY15" fmla="*/ 1019149 h 1036121"/>
                <a:gd name="connsiteX16" fmla="*/ 597795 w 758511"/>
                <a:gd name="connsiteY16" fmla="*/ 521309 h 1036121"/>
                <a:gd name="connsiteX17" fmla="*/ 428017 w 758511"/>
                <a:gd name="connsiteY17" fmla="*/ 285223 h 1036121"/>
                <a:gd name="connsiteX0" fmla="*/ 428017 w 712806"/>
                <a:gd name="connsiteY0" fmla="*/ 285223 h 1045586"/>
                <a:gd name="connsiteX1" fmla="*/ 253158 w 712806"/>
                <a:gd name="connsiteY1" fmla="*/ 8764 h 1045586"/>
                <a:gd name="connsiteX2" fmla="*/ 181503 w 712806"/>
                <a:gd name="connsiteY2" fmla="*/ 75606 h 1045586"/>
                <a:gd name="connsiteX3" fmla="*/ 71882 w 712806"/>
                <a:gd name="connsiteY3" fmla="*/ 143785 h 1045586"/>
                <a:gd name="connsiteX4" fmla="*/ 251286 w 712806"/>
                <a:gd name="connsiteY4" fmla="*/ 340301 h 1045586"/>
                <a:gd name="connsiteX5" fmla="*/ 9852 w 712806"/>
                <a:gd name="connsiteY5" fmla="*/ 359284 h 1045586"/>
                <a:gd name="connsiteX6" fmla="*/ 48087 w 712806"/>
                <a:gd name="connsiteY6" fmla="*/ 492167 h 1045586"/>
                <a:gd name="connsiteX7" fmla="*/ 60652 w 712806"/>
                <a:gd name="connsiteY7" fmla="*/ 592964 h 1045586"/>
                <a:gd name="connsiteX8" fmla="*/ 241126 w 712806"/>
                <a:gd name="connsiteY8" fmla="*/ 520774 h 1045586"/>
                <a:gd name="connsiteX9" fmla="*/ 137120 w 712806"/>
                <a:gd name="connsiteY9" fmla="*/ 691088 h 1045586"/>
                <a:gd name="connsiteX10" fmla="*/ 236046 w 712806"/>
                <a:gd name="connsiteY10" fmla="*/ 720766 h 1045586"/>
                <a:gd name="connsiteX11" fmla="*/ 313315 w 712806"/>
                <a:gd name="connsiteY11" fmla="*/ 773438 h 1045586"/>
                <a:gd name="connsiteX12" fmla="*/ 361442 w 712806"/>
                <a:gd name="connsiteY12" fmla="*/ 568901 h 1045586"/>
                <a:gd name="connsiteX13" fmla="*/ 517852 w 712806"/>
                <a:gd name="connsiteY13" fmla="*/ 508743 h 1045586"/>
                <a:gd name="connsiteX14" fmla="*/ 687364 w 712806"/>
                <a:gd name="connsiteY14" fmla="*/ 857391 h 1045586"/>
                <a:gd name="connsiteX15" fmla="*/ 712764 w 712806"/>
                <a:gd name="connsiteY15" fmla="*/ 1029309 h 1045586"/>
                <a:gd name="connsiteX16" fmla="*/ 597795 w 712806"/>
                <a:gd name="connsiteY16" fmla="*/ 521309 h 1045586"/>
                <a:gd name="connsiteX17" fmla="*/ 428017 w 712806"/>
                <a:gd name="connsiteY17" fmla="*/ 285223 h 1045586"/>
                <a:gd name="connsiteX0" fmla="*/ 428017 w 712880"/>
                <a:gd name="connsiteY0" fmla="*/ 285223 h 1045586"/>
                <a:gd name="connsiteX1" fmla="*/ 253158 w 712880"/>
                <a:gd name="connsiteY1" fmla="*/ 8764 h 1045586"/>
                <a:gd name="connsiteX2" fmla="*/ 181503 w 712880"/>
                <a:gd name="connsiteY2" fmla="*/ 75606 h 1045586"/>
                <a:gd name="connsiteX3" fmla="*/ 71882 w 712880"/>
                <a:gd name="connsiteY3" fmla="*/ 143785 h 1045586"/>
                <a:gd name="connsiteX4" fmla="*/ 251286 w 712880"/>
                <a:gd name="connsiteY4" fmla="*/ 340301 h 1045586"/>
                <a:gd name="connsiteX5" fmla="*/ 9852 w 712880"/>
                <a:gd name="connsiteY5" fmla="*/ 359284 h 1045586"/>
                <a:gd name="connsiteX6" fmla="*/ 48087 w 712880"/>
                <a:gd name="connsiteY6" fmla="*/ 492167 h 1045586"/>
                <a:gd name="connsiteX7" fmla="*/ 60652 w 712880"/>
                <a:gd name="connsiteY7" fmla="*/ 592964 h 1045586"/>
                <a:gd name="connsiteX8" fmla="*/ 241126 w 712880"/>
                <a:gd name="connsiteY8" fmla="*/ 520774 h 1045586"/>
                <a:gd name="connsiteX9" fmla="*/ 137120 w 712880"/>
                <a:gd name="connsiteY9" fmla="*/ 691088 h 1045586"/>
                <a:gd name="connsiteX10" fmla="*/ 236046 w 712880"/>
                <a:gd name="connsiteY10" fmla="*/ 720766 h 1045586"/>
                <a:gd name="connsiteX11" fmla="*/ 313315 w 712880"/>
                <a:gd name="connsiteY11" fmla="*/ 773438 h 1045586"/>
                <a:gd name="connsiteX12" fmla="*/ 361442 w 712880"/>
                <a:gd name="connsiteY12" fmla="*/ 568901 h 1045586"/>
                <a:gd name="connsiteX13" fmla="*/ 517852 w 712880"/>
                <a:gd name="connsiteY13" fmla="*/ 508743 h 1045586"/>
                <a:gd name="connsiteX14" fmla="*/ 687364 w 712880"/>
                <a:gd name="connsiteY14" fmla="*/ 857391 h 1045586"/>
                <a:gd name="connsiteX15" fmla="*/ 712764 w 712880"/>
                <a:gd name="connsiteY15" fmla="*/ 1029309 h 1045586"/>
                <a:gd name="connsiteX16" fmla="*/ 643515 w 712880"/>
                <a:gd name="connsiteY16" fmla="*/ 541629 h 1045586"/>
                <a:gd name="connsiteX17" fmla="*/ 428017 w 712880"/>
                <a:gd name="connsiteY17" fmla="*/ 285223 h 1045586"/>
                <a:gd name="connsiteX0" fmla="*/ 428017 w 712880"/>
                <a:gd name="connsiteY0" fmla="*/ 285223 h 1045648"/>
                <a:gd name="connsiteX1" fmla="*/ 253158 w 712880"/>
                <a:gd name="connsiteY1" fmla="*/ 8764 h 1045648"/>
                <a:gd name="connsiteX2" fmla="*/ 181503 w 712880"/>
                <a:gd name="connsiteY2" fmla="*/ 75606 h 1045648"/>
                <a:gd name="connsiteX3" fmla="*/ 71882 w 712880"/>
                <a:gd name="connsiteY3" fmla="*/ 143785 h 1045648"/>
                <a:gd name="connsiteX4" fmla="*/ 251286 w 712880"/>
                <a:gd name="connsiteY4" fmla="*/ 340301 h 1045648"/>
                <a:gd name="connsiteX5" fmla="*/ 9852 w 712880"/>
                <a:gd name="connsiteY5" fmla="*/ 359284 h 1045648"/>
                <a:gd name="connsiteX6" fmla="*/ 48087 w 712880"/>
                <a:gd name="connsiteY6" fmla="*/ 492167 h 1045648"/>
                <a:gd name="connsiteX7" fmla="*/ 60652 w 712880"/>
                <a:gd name="connsiteY7" fmla="*/ 592964 h 1045648"/>
                <a:gd name="connsiteX8" fmla="*/ 241126 w 712880"/>
                <a:gd name="connsiteY8" fmla="*/ 520774 h 1045648"/>
                <a:gd name="connsiteX9" fmla="*/ 137120 w 712880"/>
                <a:gd name="connsiteY9" fmla="*/ 691088 h 1045648"/>
                <a:gd name="connsiteX10" fmla="*/ 236046 w 712880"/>
                <a:gd name="connsiteY10" fmla="*/ 720766 h 1045648"/>
                <a:gd name="connsiteX11" fmla="*/ 313315 w 712880"/>
                <a:gd name="connsiteY11" fmla="*/ 773438 h 1045648"/>
                <a:gd name="connsiteX12" fmla="*/ 361442 w 712880"/>
                <a:gd name="connsiteY12" fmla="*/ 568901 h 1045648"/>
                <a:gd name="connsiteX13" fmla="*/ 538172 w 712880"/>
                <a:gd name="connsiteY13" fmla="*/ 503663 h 1045648"/>
                <a:gd name="connsiteX14" fmla="*/ 687364 w 712880"/>
                <a:gd name="connsiteY14" fmla="*/ 857391 h 1045648"/>
                <a:gd name="connsiteX15" fmla="*/ 712764 w 712880"/>
                <a:gd name="connsiteY15" fmla="*/ 1029309 h 1045648"/>
                <a:gd name="connsiteX16" fmla="*/ 643515 w 712880"/>
                <a:gd name="connsiteY16" fmla="*/ 541629 h 1045648"/>
                <a:gd name="connsiteX17" fmla="*/ 428017 w 712880"/>
                <a:gd name="connsiteY17" fmla="*/ 285223 h 1045648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8228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6704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23"/>
                <a:gd name="connsiteY0" fmla="*/ 285223 h 1048421"/>
                <a:gd name="connsiteX1" fmla="*/ 253158 w 712823"/>
                <a:gd name="connsiteY1" fmla="*/ 8764 h 1048421"/>
                <a:gd name="connsiteX2" fmla="*/ 181503 w 712823"/>
                <a:gd name="connsiteY2" fmla="*/ 75606 h 1048421"/>
                <a:gd name="connsiteX3" fmla="*/ 71882 w 712823"/>
                <a:gd name="connsiteY3" fmla="*/ 143785 h 1048421"/>
                <a:gd name="connsiteX4" fmla="*/ 251286 w 712823"/>
                <a:gd name="connsiteY4" fmla="*/ 340301 h 1048421"/>
                <a:gd name="connsiteX5" fmla="*/ 9852 w 712823"/>
                <a:gd name="connsiteY5" fmla="*/ 359284 h 1048421"/>
                <a:gd name="connsiteX6" fmla="*/ 48087 w 712823"/>
                <a:gd name="connsiteY6" fmla="*/ 492167 h 1048421"/>
                <a:gd name="connsiteX7" fmla="*/ 60652 w 712823"/>
                <a:gd name="connsiteY7" fmla="*/ 592964 h 1048421"/>
                <a:gd name="connsiteX8" fmla="*/ 241126 w 712823"/>
                <a:gd name="connsiteY8" fmla="*/ 520774 h 1048421"/>
                <a:gd name="connsiteX9" fmla="*/ 137120 w 712823"/>
                <a:gd name="connsiteY9" fmla="*/ 691088 h 1048421"/>
                <a:gd name="connsiteX10" fmla="*/ 236046 w 712823"/>
                <a:gd name="connsiteY10" fmla="*/ 720766 h 1048421"/>
                <a:gd name="connsiteX11" fmla="*/ 313315 w 712823"/>
                <a:gd name="connsiteY11" fmla="*/ 773438 h 1048421"/>
                <a:gd name="connsiteX12" fmla="*/ 361442 w 712823"/>
                <a:gd name="connsiteY12" fmla="*/ 568901 h 1048421"/>
                <a:gd name="connsiteX13" fmla="*/ 538172 w 712823"/>
                <a:gd name="connsiteY13" fmla="*/ 503663 h 1048421"/>
                <a:gd name="connsiteX14" fmla="*/ 667044 w 712823"/>
                <a:gd name="connsiteY14" fmla="*/ 887871 h 1048421"/>
                <a:gd name="connsiteX15" fmla="*/ 712764 w 712823"/>
                <a:gd name="connsiteY15" fmla="*/ 1029309 h 1048421"/>
                <a:gd name="connsiteX16" fmla="*/ 618115 w 712823"/>
                <a:gd name="connsiteY16" fmla="*/ 526389 h 1048421"/>
                <a:gd name="connsiteX17" fmla="*/ 428017 w 712823"/>
                <a:gd name="connsiteY17" fmla="*/ 285223 h 1048421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2823" h="1046082">
                  <a:moveTo>
                    <a:pt x="428017" y="285223"/>
                  </a:moveTo>
                  <a:cubicBezTo>
                    <a:pt x="367191" y="198952"/>
                    <a:pt x="294244" y="43700"/>
                    <a:pt x="253158" y="8764"/>
                  </a:cubicBezTo>
                  <a:cubicBezTo>
                    <a:pt x="212072" y="-26172"/>
                    <a:pt x="211716" y="53103"/>
                    <a:pt x="181503" y="75606"/>
                  </a:cubicBezTo>
                  <a:cubicBezTo>
                    <a:pt x="151290" y="98109"/>
                    <a:pt x="60251" y="99669"/>
                    <a:pt x="71882" y="143785"/>
                  </a:cubicBezTo>
                  <a:cubicBezTo>
                    <a:pt x="83513" y="187901"/>
                    <a:pt x="261624" y="304385"/>
                    <a:pt x="251286" y="340301"/>
                  </a:cubicBezTo>
                  <a:cubicBezTo>
                    <a:pt x="240948" y="376218"/>
                    <a:pt x="43718" y="333973"/>
                    <a:pt x="9852" y="359284"/>
                  </a:cubicBezTo>
                  <a:cubicBezTo>
                    <a:pt x="-24014" y="384595"/>
                    <a:pt x="39620" y="453220"/>
                    <a:pt x="48087" y="492167"/>
                  </a:cubicBezTo>
                  <a:cubicBezTo>
                    <a:pt x="56554" y="531114"/>
                    <a:pt x="28479" y="588196"/>
                    <a:pt x="60652" y="592964"/>
                  </a:cubicBezTo>
                  <a:cubicBezTo>
                    <a:pt x="92825" y="597732"/>
                    <a:pt x="228381" y="504420"/>
                    <a:pt x="241126" y="520774"/>
                  </a:cubicBezTo>
                  <a:cubicBezTo>
                    <a:pt x="253871" y="537128"/>
                    <a:pt x="137967" y="657756"/>
                    <a:pt x="137120" y="691088"/>
                  </a:cubicBezTo>
                  <a:cubicBezTo>
                    <a:pt x="136273" y="724420"/>
                    <a:pt x="206680" y="707041"/>
                    <a:pt x="236046" y="720766"/>
                  </a:cubicBezTo>
                  <a:cubicBezTo>
                    <a:pt x="265412" y="734491"/>
                    <a:pt x="292416" y="798749"/>
                    <a:pt x="313315" y="773438"/>
                  </a:cubicBezTo>
                  <a:cubicBezTo>
                    <a:pt x="334214" y="748127"/>
                    <a:pt x="323966" y="613863"/>
                    <a:pt x="361442" y="568901"/>
                  </a:cubicBezTo>
                  <a:cubicBezTo>
                    <a:pt x="398918" y="523939"/>
                    <a:pt x="494724" y="487666"/>
                    <a:pt x="538172" y="503663"/>
                  </a:cubicBezTo>
                  <a:cubicBezTo>
                    <a:pt x="581620" y="519660"/>
                    <a:pt x="600649" y="600851"/>
                    <a:pt x="622128" y="664886"/>
                  </a:cubicBezTo>
                  <a:cubicBezTo>
                    <a:pt x="643607" y="728921"/>
                    <a:pt x="651938" y="827134"/>
                    <a:pt x="667044" y="887871"/>
                  </a:cubicBezTo>
                  <a:cubicBezTo>
                    <a:pt x="682150" y="948608"/>
                    <a:pt x="710759" y="1095483"/>
                    <a:pt x="712764" y="1029309"/>
                  </a:cubicBezTo>
                  <a:cubicBezTo>
                    <a:pt x="714769" y="963135"/>
                    <a:pt x="665573" y="650403"/>
                    <a:pt x="618115" y="526389"/>
                  </a:cubicBezTo>
                  <a:cubicBezTo>
                    <a:pt x="570657" y="402375"/>
                    <a:pt x="488843" y="371494"/>
                    <a:pt x="428017" y="285223"/>
                  </a:cubicBezTo>
                  <a:close/>
                </a:path>
              </a:pathLst>
            </a:custGeom>
            <a:solidFill>
              <a:srgbClr val="D4C1B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D115B1EA-4E3E-4023-91F2-0AD0F66AB8E4}"/>
              </a:ext>
            </a:extLst>
          </p:cNvPr>
          <p:cNvGrpSpPr/>
          <p:nvPr/>
        </p:nvGrpSpPr>
        <p:grpSpPr>
          <a:xfrm>
            <a:off x="1747223" y="2238757"/>
            <a:ext cx="603552" cy="546764"/>
            <a:chOff x="4921145" y="3103362"/>
            <a:chExt cx="883151" cy="997547"/>
          </a:xfrm>
        </p:grpSpPr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8ED412FB-F9FB-4660-8920-E3C9CF1C1083}"/>
                </a:ext>
              </a:extLst>
            </p:cNvPr>
            <p:cNvSpPr/>
            <p:nvPr/>
          </p:nvSpPr>
          <p:spPr>
            <a:xfrm>
              <a:off x="4921145" y="3122746"/>
              <a:ext cx="696642" cy="978163"/>
            </a:xfrm>
            <a:custGeom>
              <a:avLst/>
              <a:gdLst>
                <a:gd name="connsiteX0" fmla="*/ 409267 w 797434"/>
                <a:gd name="connsiteY0" fmla="*/ 633268 h 998518"/>
                <a:gd name="connsiteX1" fmla="*/ 120342 w 797434"/>
                <a:gd name="connsiteY1" fmla="*/ 680893 h 998518"/>
                <a:gd name="connsiteX2" fmla="*/ 2867 w 797434"/>
                <a:gd name="connsiteY2" fmla="*/ 849168 h 998518"/>
                <a:gd name="connsiteX3" fmla="*/ 40967 w 797434"/>
                <a:gd name="connsiteY3" fmla="*/ 976168 h 998518"/>
                <a:gd name="connsiteX4" fmla="*/ 94942 w 797434"/>
                <a:gd name="connsiteY4" fmla="*/ 995218 h 998518"/>
                <a:gd name="connsiteX5" fmla="*/ 126692 w 797434"/>
                <a:gd name="connsiteY5" fmla="*/ 938068 h 998518"/>
                <a:gd name="connsiteX6" fmla="*/ 98117 w 797434"/>
                <a:gd name="connsiteY6" fmla="*/ 858693 h 998518"/>
                <a:gd name="connsiteX7" fmla="*/ 174317 w 797434"/>
                <a:gd name="connsiteY7" fmla="*/ 823768 h 998518"/>
                <a:gd name="connsiteX8" fmla="*/ 409267 w 797434"/>
                <a:gd name="connsiteY8" fmla="*/ 941243 h 998518"/>
                <a:gd name="connsiteX9" fmla="*/ 682317 w 797434"/>
                <a:gd name="connsiteY9" fmla="*/ 909493 h 998518"/>
                <a:gd name="connsiteX10" fmla="*/ 796617 w 797434"/>
                <a:gd name="connsiteY10" fmla="*/ 601518 h 998518"/>
                <a:gd name="connsiteX11" fmla="*/ 733117 w 797434"/>
                <a:gd name="connsiteY11" fmla="*/ 357043 h 998518"/>
                <a:gd name="connsiteX12" fmla="*/ 723592 w 797434"/>
                <a:gd name="connsiteY12" fmla="*/ 80818 h 998518"/>
                <a:gd name="connsiteX13" fmla="*/ 736292 w 797434"/>
                <a:gd name="connsiteY13" fmla="*/ 30018 h 998518"/>
                <a:gd name="connsiteX14" fmla="*/ 637867 w 797434"/>
                <a:gd name="connsiteY14" fmla="*/ 26843 h 998518"/>
                <a:gd name="connsiteX15" fmla="*/ 596592 w 797434"/>
                <a:gd name="connsiteY15" fmla="*/ 376093 h 998518"/>
                <a:gd name="connsiteX16" fmla="*/ 482292 w 797434"/>
                <a:gd name="connsiteY16" fmla="*/ 614218 h 998518"/>
                <a:gd name="connsiteX17" fmla="*/ 409267 w 797434"/>
                <a:gd name="connsiteY17" fmla="*/ 633268 h 998518"/>
                <a:gd name="connsiteX0" fmla="*/ 409267 w 797434"/>
                <a:gd name="connsiteY0" fmla="*/ 633268 h 998518"/>
                <a:gd name="connsiteX1" fmla="*/ 120342 w 797434"/>
                <a:gd name="connsiteY1" fmla="*/ 680893 h 998518"/>
                <a:gd name="connsiteX2" fmla="*/ 2867 w 797434"/>
                <a:gd name="connsiteY2" fmla="*/ 849168 h 998518"/>
                <a:gd name="connsiteX3" fmla="*/ 40967 w 797434"/>
                <a:gd name="connsiteY3" fmla="*/ 976168 h 998518"/>
                <a:gd name="connsiteX4" fmla="*/ 94942 w 797434"/>
                <a:gd name="connsiteY4" fmla="*/ 995218 h 998518"/>
                <a:gd name="connsiteX5" fmla="*/ 126692 w 797434"/>
                <a:gd name="connsiteY5" fmla="*/ 938068 h 998518"/>
                <a:gd name="connsiteX6" fmla="*/ 98117 w 797434"/>
                <a:gd name="connsiteY6" fmla="*/ 858693 h 998518"/>
                <a:gd name="connsiteX7" fmla="*/ 174317 w 797434"/>
                <a:gd name="connsiteY7" fmla="*/ 823768 h 998518"/>
                <a:gd name="connsiteX8" fmla="*/ 409267 w 797434"/>
                <a:gd name="connsiteY8" fmla="*/ 941243 h 998518"/>
                <a:gd name="connsiteX9" fmla="*/ 682317 w 797434"/>
                <a:gd name="connsiteY9" fmla="*/ 909493 h 998518"/>
                <a:gd name="connsiteX10" fmla="*/ 796617 w 797434"/>
                <a:gd name="connsiteY10" fmla="*/ 601518 h 998518"/>
                <a:gd name="connsiteX11" fmla="*/ 733117 w 797434"/>
                <a:gd name="connsiteY11" fmla="*/ 357043 h 998518"/>
                <a:gd name="connsiteX12" fmla="*/ 723592 w 797434"/>
                <a:gd name="connsiteY12" fmla="*/ 80818 h 998518"/>
                <a:gd name="connsiteX13" fmla="*/ 736292 w 797434"/>
                <a:gd name="connsiteY13" fmla="*/ 30018 h 998518"/>
                <a:gd name="connsiteX14" fmla="*/ 637867 w 797434"/>
                <a:gd name="connsiteY14" fmla="*/ 26843 h 998518"/>
                <a:gd name="connsiteX15" fmla="*/ 596592 w 797434"/>
                <a:gd name="connsiteY15" fmla="*/ 376093 h 998518"/>
                <a:gd name="connsiteX16" fmla="*/ 409267 w 797434"/>
                <a:gd name="connsiteY16" fmla="*/ 633268 h 998518"/>
                <a:gd name="connsiteX0" fmla="*/ 466417 w 797434"/>
                <a:gd name="connsiteY0" fmla="*/ 645968 h 998518"/>
                <a:gd name="connsiteX1" fmla="*/ 120342 w 797434"/>
                <a:gd name="connsiteY1" fmla="*/ 680893 h 998518"/>
                <a:gd name="connsiteX2" fmla="*/ 2867 w 797434"/>
                <a:gd name="connsiteY2" fmla="*/ 849168 h 998518"/>
                <a:gd name="connsiteX3" fmla="*/ 40967 w 797434"/>
                <a:gd name="connsiteY3" fmla="*/ 976168 h 998518"/>
                <a:gd name="connsiteX4" fmla="*/ 94942 w 797434"/>
                <a:gd name="connsiteY4" fmla="*/ 995218 h 998518"/>
                <a:gd name="connsiteX5" fmla="*/ 126692 w 797434"/>
                <a:gd name="connsiteY5" fmla="*/ 938068 h 998518"/>
                <a:gd name="connsiteX6" fmla="*/ 98117 w 797434"/>
                <a:gd name="connsiteY6" fmla="*/ 858693 h 998518"/>
                <a:gd name="connsiteX7" fmla="*/ 174317 w 797434"/>
                <a:gd name="connsiteY7" fmla="*/ 823768 h 998518"/>
                <a:gd name="connsiteX8" fmla="*/ 409267 w 797434"/>
                <a:gd name="connsiteY8" fmla="*/ 941243 h 998518"/>
                <a:gd name="connsiteX9" fmla="*/ 682317 w 797434"/>
                <a:gd name="connsiteY9" fmla="*/ 909493 h 998518"/>
                <a:gd name="connsiteX10" fmla="*/ 796617 w 797434"/>
                <a:gd name="connsiteY10" fmla="*/ 601518 h 998518"/>
                <a:gd name="connsiteX11" fmla="*/ 733117 w 797434"/>
                <a:gd name="connsiteY11" fmla="*/ 357043 h 998518"/>
                <a:gd name="connsiteX12" fmla="*/ 723592 w 797434"/>
                <a:gd name="connsiteY12" fmla="*/ 80818 h 998518"/>
                <a:gd name="connsiteX13" fmla="*/ 736292 w 797434"/>
                <a:gd name="connsiteY13" fmla="*/ 30018 h 998518"/>
                <a:gd name="connsiteX14" fmla="*/ 637867 w 797434"/>
                <a:gd name="connsiteY14" fmla="*/ 26843 h 998518"/>
                <a:gd name="connsiteX15" fmla="*/ 596592 w 797434"/>
                <a:gd name="connsiteY15" fmla="*/ 376093 h 998518"/>
                <a:gd name="connsiteX16" fmla="*/ 466417 w 797434"/>
                <a:gd name="connsiteY16" fmla="*/ 645968 h 998518"/>
                <a:gd name="connsiteX0" fmla="*/ 466417 w 797434"/>
                <a:gd name="connsiteY0" fmla="*/ 661128 h 1013678"/>
                <a:gd name="connsiteX1" fmla="*/ 120342 w 797434"/>
                <a:gd name="connsiteY1" fmla="*/ 696053 h 1013678"/>
                <a:gd name="connsiteX2" fmla="*/ 2867 w 797434"/>
                <a:gd name="connsiteY2" fmla="*/ 864328 h 1013678"/>
                <a:gd name="connsiteX3" fmla="*/ 40967 w 797434"/>
                <a:gd name="connsiteY3" fmla="*/ 991328 h 1013678"/>
                <a:gd name="connsiteX4" fmla="*/ 94942 w 797434"/>
                <a:gd name="connsiteY4" fmla="*/ 1010378 h 1013678"/>
                <a:gd name="connsiteX5" fmla="*/ 126692 w 797434"/>
                <a:gd name="connsiteY5" fmla="*/ 953228 h 1013678"/>
                <a:gd name="connsiteX6" fmla="*/ 98117 w 797434"/>
                <a:gd name="connsiteY6" fmla="*/ 873853 h 1013678"/>
                <a:gd name="connsiteX7" fmla="*/ 174317 w 797434"/>
                <a:gd name="connsiteY7" fmla="*/ 838928 h 1013678"/>
                <a:gd name="connsiteX8" fmla="*/ 409267 w 797434"/>
                <a:gd name="connsiteY8" fmla="*/ 956403 h 1013678"/>
                <a:gd name="connsiteX9" fmla="*/ 682317 w 797434"/>
                <a:gd name="connsiteY9" fmla="*/ 924653 h 1013678"/>
                <a:gd name="connsiteX10" fmla="*/ 796617 w 797434"/>
                <a:gd name="connsiteY10" fmla="*/ 616678 h 1013678"/>
                <a:gd name="connsiteX11" fmla="*/ 733117 w 797434"/>
                <a:gd name="connsiteY11" fmla="*/ 372203 h 1013678"/>
                <a:gd name="connsiteX12" fmla="*/ 723592 w 797434"/>
                <a:gd name="connsiteY12" fmla="*/ 95978 h 1013678"/>
                <a:gd name="connsiteX13" fmla="*/ 736292 w 797434"/>
                <a:gd name="connsiteY13" fmla="*/ 45178 h 1013678"/>
                <a:gd name="connsiteX14" fmla="*/ 675967 w 797434"/>
                <a:gd name="connsiteY14" fmla="*/ 22953 h 1013678"/>
                <a:gd name="connsiteX15" fmla="*/ 596592 w 797434"/>
                <a:gd name="connsiteY15" fmla="*/ 391253 h 1013678"/>
                <a:gd name="connsiteX16" fmla="*/ 466417 w 797434"/>
                <a:gd name="connsiteY16" fmla="*/ 661128 h 1013678"/>
                <a:gd name="connsiteX0" fmla="*/ 466417 w 797434"/>
                <a:gd name="connsiteY0" fmla="*/ 661128 h 1013678"/>
                <a:gd name="connsiteX1" fmla="*/ 120342 w 797434"/>
                <a:gd name="connsiteY1" fmla="*/ 696053 h 1013678"/>
                <a:gd name="connsiteX2" fmla="*/ 2867 w 797434"/>
                <a:gd name="connsiteY2" fmla="*/ 864328 h 1013678"/>
                <a:gd name="connsiteX3" fmla="*/ 40967 w 797434"/>
                <a:gd name="connsiteY3" fmla="*/ 991328 h 1013678"/>
                <a:gd name="connsiteX4" fmla="*/ 94942 w 797434"/>
                <a:gd name="connsiteY4" fmla="*/ 1010378 h 1013678"/>
                <a:gd name="connsiteX5" fmla="*/ 126692 w 797434"/>
                <a:gd name="connsiteY5" fmla="*/ 953228 h 1013678"/>
                <a:gd name="connsiteX6" fmla="*/ 98117 w 797434"/>
                <a:gd name="connsiteY6" fmla="*/ 873853 h 1013678"/>
                <a:gd name="connsiteX7" fmla="*/ 174317 w 797434"/>
                <a:gd name="connsiteY7" fmla="*/ 838928 h 1013678"/>
                <a:gd name="connsiteX8" fmla="*/ 409267 w 797434"/>
                <a:gd name="connsiteY8" fmla="*/ 956403 h 1013678"/>
                <a:gd name="connsiteX9" fmla="*/ 682317 w 797434"/>
                <a:gd name="connsiteY9" fmla="*/ 924653 h 1013678"/>
                <a:gd name="connsiteX10" fmla="*/ 796617 w 797434"/>
                <a:gd name="connsiteY10" fmla="*/ 616678 h 1013678"/>
                <a:gd name="connsiteX11" fmla="*/ 733117 w 797434"/>
                <a:gd name="connsiteY11" fmla="*/ 372203 h 1013678"/>
                <a:gd name="connsiteX12" fmla="*/ 723592 w 797434"/>
                <a:gd name="connsiteY12" fmla="*/ 95978 h 1013678"/>
                <a:gd name="connsiteX13" fmla="*/ 774392 w 797434"/>
                <a:gd name="connsiteY13" fmla="*/ 45178 h 1013678"/>
                <a:gd name="connsiteX14" fmla="*/ 675967 w 797434"/>
                <a:gd name="connsiteY14" fmla="*/ 22953 h 1013678"/>
                <a:gd name="connsiteX15" fmla="*/ 596592 w 797434"/>
                <a:gd name="connsiteY15" fmla="*/ 391253 h 1013678"/>
                <a:gd name="connsiteX16" fmla="*/ 466417 w 797434"/>
                <a:gd name="connsiteY16" fmla="*/ 661128 h 1013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7434" h="1013678">
                  <a:moveTo>
                    <a:pt x="466417" y="661128"/>
                  </a:moveTo>
                  <a:cubicBezTo>
                    <a:pt x="387042" y="711928"/>
                    <a:pt x="197600" y="662186"/>
                    <a:pt x="120342" y="696053"/>
                  </a:cubicBezTo>
                  <a:cubicBezTo>
                    <a:pt x="43084" y="729920"/>
                    <a:pt x="16096" y="815116"/>
                    <a:pt x="2867" y="864328"/>
                  </a:cubicBezTo>
                  <a:cubicBezTo>
                    <a:pt x="-10362" y="913541"/>
                    <a:pt x="25621" y="966986"/>
                    <a:pt x="40967" y="991328"/>
                  </a:cubicBezTo>
                  <a:cubicBezTo>
                    <a:pt x="56313" y="1015670"/>
                    <a:pt x="80654" y="1016728"/>
                    <a:pt x="94942" y="1010378"/>
                  </a:cubicBezTo>
                  <a:cubicBezTo>
                    <a:pt x="109230" y="1004028"/>
                    <a:pt x="126163" y="975982"/>
                    <a:pt x="126692" y="953228"/>
                  </a:cubicBezTo>
                  <a:cubicBezTo>
                    <a:pt x="127221" y="930474"/>
                    <a:pt x="90180" y="892903"/>
                    <a:pt x="98117" y="873853"/>
                  </a:cubicBezTo>
                  <a:cubicBezTo>
                    <a:pt x="106054" y="854803"/>
                    <a:pt x="122459" y="825170"/>
                    <a:pt x="174317" y="838928"/>
                  </a:cubicBezTo>
                  <a:cubicBezTo>
                    <a:pt x="226175" y="852686"/>
                    <a:pt x="324600" y="942116"/>
                    <a:pt x="409267" y="956403"/>
                  </a:cubicBezTo>
                  <a:cubicBezTo>
                    <a:pt x="493934" y="970690"/>
                    <a:pt x="617759" y="981274"/>
                    <a:pt x="682317" y="924653"/>
                  </a:cubicBezTo>
                  <a:cubicBezTo>
                    <a:pt x="746875" y="868032"/>
                    <a:pt x="788150" y="708753"/>
                    <a:pt x="796617" y="616678"/>
                  </a:cubicBezTo>
                  <a:cubicBezTo>
                    <a:pt x="805084" y="524603"/>
                    <a:pt x="745288" y="458986"/>
                    <a:pt x="733117" y="372203"/>
                  </a:cubicBezTo>
                  <a:cubicBezTo>
                    <a:pt x="720946" y="285420"/>
                    <a:pt x="716713" y="150482"/>
                    <a:pt x="723592" y="95978"/>
                  </a:cubicBezTo>
                  <a:cubicBezTo>
                    <a:pt x="730471" y="41474"/>
                    <a:pt x="782329" y="57349"/>
                    <a:pt x="774392" y="45178"/>
                  </a:cubicBezTo>
                  <a:cubicBezTo>
                    <a:pt x="766455" y="33007"/>
                    <a:pt x="705600" y="-34726"/>
                    <a:pt x="675967" y="22953"/>
                  </a:cubicBezTo>
                  <a:cubicBezTo>
                    <a:pt x="646334" y="80632"/>
                    <a:pt x="622521" y="293357"/>
                    <a:pt x="596592" y="391253"/>
                  </a:cubicBezTo>
                  <a:cubicBezTo>
                    <a:pt x="558492" y="492324"/>
                    <a:pt x="545792" y="610328"/>
                    <a:pt x="466417" y="661128"/>
                  </a:cubicBezTo>
                  <a:close/>
                </a:path>
              </a:pathLst>
            </a:custGeom>
            <a:solidFill>
              <a:srgbClr val="E2A8A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53564641-F540-46E7-A541-7BA35345B643}"/>
                </a:ext>
              </a:extLst>
            </p:cNvPr>
            <p:cNvSpPr txBox="1"/>
            <p:nvPr/>
          </p:nvSpPr>
          <p:spPr>
            <a:xfrm>
              <a:off x="5183830" y="3659774"/>
              <a:ext cx="605061" cy="4308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/>
                <a:t>H</a:t>
              </a:r>
              <a:r>
                <a:rPr lang="en-US" sz="1200" baseline="30000" dirty="0"/>
                <a:t>+</a:t>
              </a:r>
              <a:endParaRPr lang="en-US" sz="1200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78C37FF2-09C4-47B4-9935-5AD742FFC951}"/>
                </a:ext>
              </a:extLst>
            </p:cNvPr>
            <p:cNvSpPr/>
            <p:nvPr/>
          </p:nvSpPr>
          <p:spPr>
            <a:xfrm>
              <a:off x="5442346" y="3103362"/>
              <a:ext cx="361950" cy="712260"/>
            </a:xfrm>
            <a:custGeom>
              <a:avLst/>
              <a:gdLst>
                <a:gd name="connsiteX0" fmla="*/ 0 w 371475"/>
                <a:gd name="connsiteY0" fmla="*/ 707792 h 707792"/>
                <a:gd name="connsiteX1" fmla="*/ 34925 w 371475"/>
                <a:gd name="connsiteY1" fmla="*/ 418867 h 707792"/>
                <a:gd name="connsiteX2" fmla="*/ 88900 w 371475"/>
                <a:gd name="connsiteY2" fmla="*/ 28342 h 707792"/>
                <a:gd name="connsiteX3" fmla="*/ 317500 w 371475"/>
                <a:gd name="connsiteY3" fmla="*/ 34692 h 707792"/>
                <a:gd name="connsiteX4" fmla="*/ 371475 w 371475"/>
                <a:gd name="connsiteY4" fmla="*/ 69617 h 707792"/>
                <a:gd name="connsiteX0" fmla="*/ 0 w 371475"/>
                <a:gd name="connsiteY0" fmla="*/ 713201 h 713201"/>
                <a:gd name="connsiteX1" fmla="*/ 63500 w 371475"/>
                <a:gd name="connsiteY1" fmla="*/ 497301 h 713201"/>
                <a:gd name="connsiteX2" fmla="*/ 88900 w 371475"/>
                <a:gd name="connsiteY2" fmla="*/ 33751 h 713201"/>
                <a:gd name="connsiteX3" fmla="*/ 317500 w 371475"/>
                <a:gd name="connsiteY3" fmla="*/ 40101 h 713201"/>
                <a:gd name="connsiteX4" fmla="*/ 371475 w 371475"/>
                <a:gd name="connsiteY4" fmla="*/ 75026 h 713201"/>
                <a:gd name="connsiteX0" fmla="*/ 0 w 355600"/>
                <a:gd name="connsiteY0" fmla="*/ 722726 h 722726"/>
                <a:gd name="connsiteX1" fmla="*/ 47625 w 355600"/>
                <a:gd name="connsiteY1" fmla="*/ 497301 h 722726"/>
                <a:gd name="connsiteX2" fmla="*/ 73025 w 355600"/>
                <a:gd name="connsiteY2" fmla="*/ 33751 h 722726"/>
                <a:gd name="connsiteX3" fmla="*/ 301625 w 355600"/>
                <a:gd name="connsiteY3" fmla="*/ 40101 h 722726"/>
                <a:gd name="connsiteX4" fmla="*/ 355600 w 355600"/>
                <a:gd name="connsiteY4" fmla="*/ 75026 h 722726"/>
                <a:gd name="connsiteX0" fmla="*/ 0 w 355600"/>
                <a:gd name="connsiteY0" fmla="*/ 728135 h 728135"/>
                <a:gd name="connsiteX1" fmla="*/ 57150 w 355600"/>
                <a:gd name="connsiteY1" fmla="*/ 575735 h 728135"/>
                <a:gd name="connsiteX2" fmla="*/ 73025 w 355600"/>
                <a:gd name="connsiteY2" fmla="*/ 39160 h 728135"/>
                <a:gd name="connsiteX3" fmla="*/ 301625 w 355600"/>
                <a:gd name="connsiteY3" fmla="*/ 45510 h 728135"/>
                <a:gd name="connsiteX4" fmla="*/ 355600 w 355600"/>
                <a:gd name="connsiteY4" fmla="*/ 80435 h 728135"/>
                <a:gd name="connsiteX0" fmla="*/ 0 w 361950"/>
                <a:gd name="connsiteY0" fmla="*/ 712260 h 712260"/>
                <a:gd name="connsiteX1" fmla="*/ 63500 w 361950"/>
                <a:gd name="connsiteY1" fmla="*/ 575735 h 712260"/>
                <a:gd name="connsiteX2" fmla="*/ 79375 w 361950"/>
                <a:gd name="connsiteY2" fmla="*/ 39160 h 712260"/>
                <a:gd name="connsiteX3" fmla="*/ 307975 w 361950"/>
                <a:gd name="connsiteY3" fmla="*/ 45510 h 712260"/>
                <a:gd name="connsiteX4" fmla="*/ 361950 w 361950"/>
                <a:gd name="connsiteY4" fmla="*/ 80435 h 712260"/>
                <a:gd name="connsiteX0" fmla="*/ 0 w 361950"/>
                <a:gd name="connsiteY0" fmla="*/ 712260 h 712260"/>
                <a:gd name="connsiteX1" fmla="*/ 63500 w 361950"/>
                <a:gd name="connsiteY1" fmla="*/ 575735 h 712260"/>
                <a:gd name="connsiteX2" fmla="*/ 79375 w 361950"/>
                <a:gd name="connsiteY2" fmla="*/ 39160 h 712260"/>
                <a:gd name="connsiteX3" fmla="*/ 307975 w 361950"/>
                <a:gd name="connsiteY3" fmla="*/ 45510 h 712260"/>
                <a:gd name="connsiteX4" fmla="*/ 361950 w 361950"/>
                <a:gd name="connsiteY4" fmla="*/ 80435 h 712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1950" h="712260">
                  <a:moveTo>
                    <a:pt x="0" y="712260"/>
                  </a:moveTo>
                  <a:cubicBezTo>
                    <a:pt x="57679" y="684743"/>
                    <a:pt x="50271" y="687918"/>
                    <a:pt x="63500" y="575735"/>
                  </a:cubicBezTo>
                  <a:cubicBezTo>
                    <a:pt x="76729" y="463552"/>
                    <a:pt x="38629" y="127531"/>
                    <a:pt x="79375" y="39160"/>
                  </a:cubicBezTo>
                  <a:cubicBezTo>
                    <a:pt x="120121" y="-49211"/>
                    <a:pt x="260879" y="38631"/>
                    <a:pt x="307975" y="45510"/>
                  </a:cubicBezTo>
                  <a:cubicBezTo>
                    <a:pt x="355071" y="52389"/>
                    <a:pt x="358510" y="66412"/>
                    <a:pt x="361950" y="80435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8FE02EE4-89AF-46B7-B829-E79650182499}"/>
              </a:ext>
            </a:extLst>
          </p:cNvPr>
          <p:cNvSpPr txBox="1"/>
          <p:nvPr/>
        </p:nvSpPr>
        <p:spPr>
          <a:xfrm>
            <a:off x="5600168" y="1822502"/>
            <a:ext cx="1818118" cy="58477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Does not respond to IVF</a:t>
            </a:r>
          </a:p>
        </p:txBody>
      </p:sp>
      <p:sp>
        <p:nvSpPr>
          <p:cNvPr id="161" name="Milk alkali">
            <a:extLst>
              <a:ext uri="{FF2B5EF4-FFF2-40B4-BE49-F238E27FC236}">
                <a16:creationId xmlns:a16="http://schemas.microsoft.com/office/drawing/2014/main" id="{6C5994CD-6B3D-43F6-A871-8C8D78E15F6F}"/>
              </a:ext>
            </a:extLst>
          </p:cNvPr>
          <p:cNvSpPr txBox="1"/>
          <p:nvPr/>
        </p:nvSpPr>
        <p:spPr>
          <a:xfrm>
            <a:off x="5499664" y="3567849"/>
            <a:ext cx="1882098" cy="523220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Milk alkali syndrome</a:t>
            </a:r>
          </a:p>
          <a:p>
            <a:pPr algn="ctr"/>
            <a:r>
              <a:rPr lang="en-US" sz="1400" dirty="0"/>
              <a:t>Hypokalemia</a:t>
            </a:r>
          </a:p>
        </p:txBody>
      </p:sp>
      <p:sp>
        <p:nvSpPr>
          <p:cNvPr id="164" name="Respiratory explanation">
            <a:extLst>
              <a:ext uri="{FF2B5EF4-FFF2-40B4-BE49-F238E27FC236}">
                <a16:creationId xmlns:a16="http://schemas.microsoft.com/office/drawing/2014/main" id="{9D0CF555-83A0-4B01-A68C-1F5D4E899617}"/>
              </a:ext>
            </a:extLst>
          </p:cNvPr>
          <p:cNvSpPr txBox="1"/>
          <p:nvPr/>
        </p:nvSpPr>
        <p:spPr>
          <a:xfrm>
            <a:off x="8500299" y="1401362"/>
            <a:ext cx="1944478" cy="13849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Anxiety, pain</a:t>
            </a:r>
          </a:p>
          <a:p>
            <a:pPr algn="ctr"/>
            <a:r>
              <a:rPr lang="en-US" sz="1400" dirty="0"/>
              <a:t>CNS disease </a:t>
            </a:r>
          </a:p>
          <a:p>
            <a:pPr algn="ctr"/>
            <a:r>
              <a:rPr lang="en-US" sz="1400" dirty="0"/>
              <a:t>Fever/ sepsis</a:t>
            </a:r>
          </a:p>
          <a:p>
            <a:pPr algn="ctr"/>
            <a:r>
              <a:rPr lang="en-US" sz="1400" dirty="0"/>
              <a:t>Drugs (salicylates)</a:t>
            </a:r>
          </a:p>
          <a:p>
            <a:pPr algn="ctr"/>
            <a:r>
              <a:rPr lang="en-US" sz="1400" dirty="0"/>
              <a:t>Liver disease</a:t>
            </a:r>
          </a:p>
          <a:p>
            <a:pPr algn="ctr"/>
            <a:r>
              <a:rPr lang="en-US" sz="1400" dirty="0"/>
              <a:t>PE</a:t>
            </a:r>
          </a:p>
        </p:txBody>
      </p:sp>
      <p:pic>
        <p:nvPicPr>
          <p:cNvPr id="171" name="Mouse metabolic" descr="Cursor with solid fill">
            <a:extLst>
              <a:ext uri="{FF2B5EF4-FFF2-40B4-BE49-F238E27FC236}">
                <a16:creationId xmlns:a16="http://schemas.microsoft.com/office/drawing/2014/main" id="{C52CAD9B-5631-4E12-AFA2-B683F1D3B78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453925" y="1221422"/>
            <a:ext cx="274320" cy="274320"/>
          </a:xfrm>
          <a:prstGeom prst="rect">
            <a:avLst/>
          </a:prstGeom>
        </p:spPr>
      </p:pic>
      <p:pic>
        <p:nvPicPr>
          <p:cNvPr id="172" name="Mouse respiratory" descr="Cursor with solid fill">
            <a:extLst>
              <a:ext uri="{FF2B5EF4-FFF2-40B4-BE49-F238E27FC236}">
                <a16:creationId xmlns:a16="http://schemas.microsoft.com/office/drawing/2014/main" id="{37D0402A-316A-4086-A7A0-F985D2ECE5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0027065" y="1211304"/>
            <a:ext cx="274320" cy="274320"/>
          </a:xfrm>
          <a:prstGeom prst="rect">
            <a:avLst/>
          </a:prstGeom>
        </p:spPr>
      </p:pic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B8F0B34D-17D5-4007-8FAE-CD88307453B7}"/>
              </a:ext>
            </a:extLst>
          </p:cNvPr>
          <p:cNvCxnSpPr>
            <a:cxnSpLocks/>
            <a:stCxn id="82" idx="2"/>
            <a:endCxn id="4" idx="0"/>
          </p:cNvCxnSpPr>
          <p:nvPr/>
        </p:nvCxnSpPr>
        <p:spPr>
          <a:xfrm rot="5400000">
            <a:off x="3882055" y="939800"/>
            <a:ext cx="531625" cy="1411202"/>
          </a:xfrm>
          <a:prstGeom prst="bentConnector3">
            <a:avLst>
              <a:gd name="adj1" fmla="val 41526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0FCCEFD-DAFC-4939-9EE4-4638318ABE71}"/>
              </a:ext>
            </a:extLst>
          </p:cNvPr>
          <p:cNvCxnSpPr>
            <a:cxnSpLocks/>
            <a:stCxn id="82" idx="2"/>
            <a:endCxn id="148" idx="0"/>
          </p:cNvCxnSpPr>
          <p:nvPr/>
        </p:nvCxnSpPr>
        <p:spPr>
          <a:xfrm rot="16200000" flipH="1">
            <a:off x="5459891" y="773165"/>
            <a:ext cx="442913" cy="1655759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EAC9F150-6019-4982-810F-434C8F24533C}"/>
              </a:ext>
            </a:extLst>
          </p:cNvPr>
          <p:cNvGrpSpPr/>
          <p:nvPr/>
        </p:nvGrpSpPr>
        <p:grpSpPr>
          <a:xfrm>
            <a:off x="2285089" y="85878"/>
            <a:ext cx="964142" cy="1340101"/>
            <a:chOff x="1797172" y="48863"/>
            <a:chExt cx="964142" cy="1340101"/>
          </a:xfrm>
        </p:grpSpPr>
        <p:sp>
          <p:nvSpPr>
            <p:cNvPr id="186" name="Step 1">
              <a:extLst>
                <a:ext uri="{FF2B5EF4-FFF2-40B4-BE49-F238E27FC236}">
                  <a16:creationId xmlns:a16="http://schemas.microsoft.com/office/drawing/2014/main" id="{0CC0195A-B2F3-46F7-A5D7-E3C6DA6FB349}"/>
                </a:ext>
              </a:extLst>
            </p:cNvPr>
            <p:cNvSpPr/>
            <p:nvPr/>
          </p:nvSpPr>
          <p:spPr>
            <a:xfrm>
              <a:off x="1797172" y="718913"/>
              <a:ext cx="742473" cy="2880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accent1"/>
                  </a:solidFill>
                </a:rPr>
                <a:t>Step 1</a:t>
              </a:r>
            </a:p>
          </p:txBody>
        </p:sp>
        <p:sp>
          <p:nvSpPr>
            <p:cNvPr id="187" name="Left Brace 186">
              <a:extLst>
                <a:ext uri="{FF2B5EF4-FFF2-40B4-BE49-F238E27FC236}">
                  <a16:creationId xmlns:a16="http://schemas.microsoft.com/office/drawing/2014/main" id="{56A58124-964F-4213-B71A-5A0435599DBB}"/>
                </a:ext>
              </a:extLst>
            </p:cNvPr>
            <p:cNvSpPr/>
            <p:nvPr/>
          </p:nvSpPr>
          <p:spPr>
            <a:xfrm>
              <a:off x="2545961" y="48863"/>
              <a:ext cx="215353" cy="1340101"/>
            </a:xfrm>
            <a:prstGeom prst="leftBrace">
              <a:avLst>
                <a:gd name="adj1" fmla="val 0"/>
                <a:gd name="adj2" fmla="val 59352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8" name="Cases">
            <a:hlinkClick r:id="rId10" action="ppaction://hlinksldjump"/>
            <a:extLst>
              <a:ext uri="{FF2B5EF4-FFF2-40B4-BE49-F238E27FC236}">
                <a16:creationId xmlns:a16="http://schemas.microsoft.com/office/drawing/2014/main" id="{E21A256F-48AD-456D-99CC-4F87DBC4F1C8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89" name="Graphic 188" descr="Cursor with solid fill">
            <a:extLst>
              <a:ext uri="{FF2B5EF4-FFF2-40B4-BE49-F238E27FC236}">
                <a16:creationId xmlns:a16="http://schemas.microsoft.com/office/drawing/2014/main" id="{B406818A-AE44-4288-9750-8E215FA53B2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90" name="teachIM logo" descr="Icon&#10;&#10;Description automatically generated">
            <a:extLst>
              <a:ext uri="{FF2B5EF4-FFF2-40B4-BE49-F238E27FC236}">
                <a16:creationId xmlns:a16="http://schemas.microsoft.com/office/drawing/2014/main" id="{53754553-60ED-4F9E-A195-FC22E15E0B5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45CA42-10A7-4A27-9AEA-8806D9202577}"/>
              </a:ext>
            </a:extLst>
          </p:cNvPr>
          <p:cNvSpPr txBox="1"/>
          <p:nvPr/>
        </p:nvSpPr>
        <p:spPr>
          <a:xfrm>
            <a:off x="2548225" y="1911214"/>
            <a:ext cx="1788082" cy="33855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Responds to IVF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42795F6-A54C-4C75-BD0C-39989711037D}"/>
              </a:ext>
            </a:extLst>
          </p:cNvPr>
          <p:cNvSpPr txBox="1"/>
          <p:nvPr/>
        </p:nvSpPr>
        <p:spPr>
          <a:xfrm>
            <a:off x="2830241" y="3567849"/>
            <a:ext cx="11002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Contraction</a:t>
            </a:r>
          </a:p>
        </p:txBody>
      </p:sp>
      <p:sp>
        <p:nvSpPr>
          <p:cNvPr id="68" name="Milk alkali">
            <a:extLst>
              <a:ext uri="{FF2B5EF4-FFF2-40B4-BE49-F238E27FC236}">
                <a16:creationId xmlns:a16="http://schemas.microsoft.com/office/drawing/2014/main" id="{0B2EBA2D-0C36-4E69-BF18-B3A091359FB8}"/>
              </a:ext>
            </a:extLst>
          </p:cNvPr>
          <p:cNvSpPr txBox="1"/>
          <p:nvPr/>
        </p:nvSpPr>
        <p:spPr>
          <a:xfrm>
            <a:off x="5499664" y="2982374"/>
            <a:ext cx="1882098" cy="307777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Genetic disorders</a:t>
            </a:r>
          </a:p>
        </p:txBody>
      </p:sp>
    </p:spTree>
    <p:extLst>
      <p:ext uri="{BB962C8B-B14F-4D97-AF65-F5344CB8AC3E}">
        <p14:creationId xmlns:p14="http://schemas.microsoft.com/office/powerpoint/2010/main" val="15802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2"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</p:childTnLst>
        </p:cTn>
      </p:par>
    </p:tnLst>
    <p:bldLst>
      <p:bldP spid="86" grpId="0"/>
      <p:bldP spid="86" grpId="1"/>
      <p:bldP spid="87" grpId="0"/>
      <p:bldP spid="87" grpId="1"/>
      <p:bldP spid="148" grpId="0" animBg="1"/>
      <p:bldP spid="148" grpId="1" animBg="1"/>
      <p:bldP spid="161" grpId="0" animBg="1"/>
      <p:bldP spid="161" grpId="1" animBg="1"/>
      <p:bldP spid="161" grpId="2" animBg="1"/>
      <p:bldP spid="164" grpId="0"/>
      <p:bldP spid="4" grpId="0" animBg="1"/>
      <p:bldP spid="67" grpId="0"/>
      <p:bldP spid="68" grpId="0" animBg="1"/>
      <p:bldP spid="6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Acidemia">
            <a:extLst>
              <a:ext uri="{FF2B5EF4-FFF2-40B4-BE49-F238E27FC236}">
                <a16:creationId xmlns:a16="http://schemas.microsoft.com/office/drawing/2014/main" id="{55CF3F88-46E7-48C0-8D4B-78F998801ABB}"/>
              </a:ext>
            </a:extLst>
          </p:cNvPr>
          <p:cNvSpPr txBox="1"/>
          <p:nvPr/>
        </p:nvSpPr>
        <p:spPr>
          <a:xfrm>
            <a:off x="3233279" y="1987132"/>
            <a:ext cx="1069394" cy="3385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Acidemia</a:t>
            </a:r>
          </a:p>
        </p:txBody>
      </p:sp>
      <p:sp>
        <p:nvSpPr>
          <p:cNvPr id="36" name="Alkalemia">
            <a:extLst>
              <a:ext uri="{FF2B5EF4-FFF2-40B4-BE49-F238E27FC236}">
                <a16:creationId xmlns:a16="http://schemas.microsoft.com/office/drawing/2014/main" id="{DAC79135-CC00-4EB6-8FFC-288CD2354BFE}"/>
              </a:ext>
            </a:extLst>
          </p:cNvPr>
          <p:cNvSpPr txBox="1"/>
          <p:nvPr/>
        </p:nvSpPr>
        <p:spPr>
          <a:xfrm>
            <a:off x="9491385" y="1985343"/>
            <a:ext cx="1029699" cy="3385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Alkalemia</a:t>
            </a:r>
          </a:p>
        </p:txBody>
      </p:sp>
      <p:sp>
        <p:nvSpPr>
          <p:cNvPr id="37" name="Normal pH">
            <a:extLst>
              <a:ext uri="{FF2B5EF4-FFF2-40B4-BE49-F238E27FC236}">
                <a16:creationId xmlns:a16="http://schemas.microsoft.com/office/drawing/2014/main" id="{641E08AD-540E-4D44-9D52-6C56C2A16812}"/>
              </a:ext>
            </a:extLst>
          </p:cNvPr>
          <p:cNvSpPr txBox="1"/>
          <p:nvPr/>
        </p:nvSpPr>
        <p:spPr>
          <a:xfrm>
            <a:off x="6260406" y="1988390"/>
            <a:ext cx="1387125" cy="338554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Normal pH</a:t>
            </a:r>
          </a:p>
        </p:txBody>
      </p:sp>
      <p:grpSp>
        <p:nvGrpSpPr>
          <p:cNvPr id="106" name="Metabolic acidosis">
            <a:extLst>
              <a:ext uri="{FF2B5EF4-FFF2-40B4-BE49-F238E27FC236}">
                <a16:creationId xmlns:a16="http://schemas.microsoft.com/office/drawing/2014/main" id="{F2F890FB-29DE-4686-8300-B87E57F511B5}"/>
              </a:ext>
            </a:extLst>
          </p:cNvPr>
          <p:cNvGrpSpPr/>
          <p:nvPr/>
        </p:nvGrpSpPr>
        <p:grpSpPr>
          <a:xfrm>
            <a:off x="2143559" y="2325686"/>
            <a:ext cx="1624417" cy="1105456"/>
            <a:chOff x="2063098" y="2187190"/>
            <a:chExt cx="1866792" cy="1105456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A7EB13E-E8B7-4D2D-B440-375309D41F60}"/>
                </a:ext>
              </a:extLst>
            </p:cNvPr>
            <p:cNvCxnSpPr>
              <a:cxnSpLocks/>
              <a:stCxn id="35" idx="2"/>
              <a:endCxn id="40" idx="0"/>
            </p:cNvCxnSpPr>
            <p:nvPr/>
          </p:nvCxnSpPr>
          <p:spPr>
            <a:xfrm flipH="1">
              <a:off x="2735811" y="2187190"/>
              <a:ext cx="1194079" cy="730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537A3B6-8D4B-4FDB-91FA-74997FADBD82}"/>
                </a:ext>
              </a:extLst>
            </p:cNvPr>
            <p:cNvSpPr txBox="1"/>
            <p:nvPr/>
          </p:nvSpPr>
          <p:spPr>
            <a:xfrm>
              <a:off x="2063098" y="2918075"/>
              <a:ext cx="1345425" cy="374571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Metabolic</a:t>
              </a:r>
            </a:p>
          </p:txBody>
        </p:sp>
      </p:grpSp>
      <p:grpSp>
        <p:nvGrpSpPr>
          <p:cNvPr id="108" name="Respiratory acidosis">
            <a:extLst>
              <a:ext uri="{FF2B5EF4-FFF2-40B4-BE49-F238E27FC236}">
                <a16:creationId xmlns:a16="http://schemas.microsoft.com/office/drawing/2014/main" id="{E51EEBA3-B3BA-4729-A05A-A69B591CF7B4}"/>
              </a:ext>
            </a:extLst>
          </p:cNvPr>
          <p:cNvGrpSpPr/>
          <p:nvPr/>
        </p:nvGrpSpPr>
        <p:grpSpPr>
          <a:xfrm>
            <a:off x="3767976" y="2325686"/>
            <a:ext cx="1771348" cy="1096856"/>
            <a:chOff x="3528696" y="2388667"/>
            <a:chExt cx="1591577" cy="1053543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0B64D78-81A4-4F24-BA7B-151798F90EFF}"/>
                </a:ext>
              </a:extLst>
            </p:cNvPr>
            <p:cNvSpPr txBox="1"/>
            <p:nvPr/>
          </p:nvSpPr>
          <p:spPr>
            <a:xfrm>
              <a:off x="4009129" y="3067639"/>
              <a:ext cx="1111144" cy="374571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Respiratory</a:t>
              </a:r>
            </a:p>
          </p:txBody>
        </p: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829FF93-80DF-460C-A33C-39FBB291459F}"/>
                </a:ext>
              </a:extLst>
            </p:cNvPr>
            <p:cNvCxnSpPr>
              <a:cxnSpLocks/>
              <a:stCxn id="35" idx="2"/>
              <a:endCxn id="41" idx="0"/>
            </p:cNvCxnSpPr>
            <p:nvPr/>
          </p:nvCxnSpPr>
          <p:spPr>
            <a:xfrm>
              <a:off x="3528696" y="2388667"/>
              <a:ext cx="1036006" cy="6789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11" name="Metabolic alkalosis">
            <a:extLst>
              <a:ext uri="{FF2B5EF4-FFF2-40B4-BE49-F238E27FC236}">
                <a16:creationId xmlns:a16="http://schemas.microsoft.com/office/drawing/2014/main" id="{00E00584-8407-4A7E-B275-6D2CDF080AAC}"/>
              </a:ext>
            </a:extLst>
          </p:cNvPr>
          <p:cNvGrpSpPr/>
          <p:nvPr/>
        </p:nvGrpSpPr>
        <p:grpSpPr>
          <a:xfrm>
            <a:off x="10006235" y="2323897"/>
            <a:ext cx="1624988" cy="1101772"/>
            <a:chOff x="7553022" y="2290457"/>
            <a:chExt cx="2067384" cy="1181984"/>
          </a:xfrm>
        </p:grpSpPr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95669D7B-1903-4176-BCC2-B8C60610FBA3}"/>
                </a:ext>
              </a:extLst>
            </p:cNvPr>
            <p:cNvCxnSpPr>
              <a:cxnSpLocks/>
              <a:stCxn id="36" idx="2"/>
              <a:endCxn id="44" idx="0"/>
            </p:cNvCxnSpPr>
            <p:nvPr/>
          </p:nvCxnSpPr>
          <p:spPr>
            <a:xfrm>
              <a:off x="7553022" y="2290457"/>
              <a:ext cx="1375237" cy="7801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4" name="Metabolic alkalosis">
              <a:extLst>
                <a:ext uri="{FF2B5EF4-FFF2-40B4-BE49-F238E27FC236}">
                  <a16:creationId xmlns:a16="http://schemas.microsoft.com/office/drawing/2014/main" id="{48F12AF3-D3FD-4756-A446-5688F6652658}"/>
                </a:ext>
              </a:extLst>
            </p:cNvPr>
            <p:cNvSpPr txBox="1"/>
            <p:nvPr/>
          </p:nvSpPr>
          <p:spPr>
            <a:xfrm>
              <a:off x="8236111" y="3070601"/>
              <a:ext cx="1384295" cy="401840"/>
            </a:xfrm>
            <a:prstGeom prst="roundRect">
              <a:avLst/>
            </a:prstGeom>
            <a:ln>
              <a:solidFill>
                <a:schemeClr val="accent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Metabolic</a:t>
              </a:r>
            </a:p>
          </p:txBody>
        </p:sp>
      </p:grpSp>
      <p:grpSp>
        <p:nvGrpSpPr>
          <p:cNvPr id="115" name="Respiratory alkalosis">
            <a:extLst>
              <a:ext uri="{FF2B5EF4-FFF2-40B4-BE49-F238E27FC236}">
                <a16:creationId xmlns:a16="http://schemas.microsoft.com/office/drawing/2014/main" id="{3F1BCA89-E9BF-43A6-BBA2-B7968522A41A}"/>
              </a:ext>
            </a:extLst>
          </p:cNvPr>
          <p:cNvGrpSpPr/>
          <p:nvPr/>
        </p:nvGrpSpPr>
        <p:grpSpPr>
          <a:xfrm>
            <a:off x="8318989" y="2323897"/>
            <a:ext cx="1687244" cy="1105533"/>
            <a:chOff x="10913803" y="2298679"/>
            <a:chExt cx="1919983" cy="1093464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F52B25A4-5C7C-4D72-AE2D-56B1754490BA}"/>
                </a:ext>
              </a:extLst>
            </p:cNvPr>
            <p:cNvSpPr txBox="1"/>
            <p:nvPr/>
          </p:nvSpPr>
          <p:spPr>
            <a:xfrm>
              <a:off x="10913803" y="3021661"/>
              <a:ext cx="1337791" cy="370482"/>
            </a:xfrm>
            <a:prstGeom prst="round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Respiratory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D790124-91D0-45BC-A3E5-E02CE2E19CF9}"/>
                </a:ext>
              </a:extLst>
            </p:cNvPr>
            <p:cNvCxnSpPr>
              <a:cxnSpLocks/>
              <a:stCxn id="36" idx="2"/>
              <a:endCxn id="45" idx="0"/>
            </p:cNvCxnSpPr>
            <p:nvPr/>
          </p:nvCxnSpPr>
          <p:spPr>
            <a:xfrm flipH="1">
              <a:off x="11582699" y="2298679"/>
              <a:ext cx="1251087" cy="72298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Normal pH explanation">
            <a:extLst>
              <a:ext uri="{FF2B5EF4-FFF2-40B4-BE49-F238E27FC236}">
                <a16:creationId xmlns:a16="http://schemas.microsoft.com/office/drawing/2014/main" id="{148AF26A-AC59-428C-8FDA-40F94784D6EE}"/>
              </a:ext>
            </a:extLst>
          </p:cNvPr>
          <p:cNvGrpSpPr/>
          <p:nvPr/>
        </p:nvGrpSpPr>
        <p:grpSpPr>
          <a:xfrm>
            <a:off x="6087145" y="2326944"/>
            <a:ext cx="1740888" cy="1129544"/>
            <a:chOff x="6210095" y="2326944"/>
            <a:chExt cx="1936579" cy="1129544"/>
          </a:xfrm>
        </p:grpSpPr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2A92C783-AD87-4E06-8B3D-B20A91DDC46C}"/>
                </a:ext>
              </a:extLst>
            </p:cNvPr>
            <p:cNvCxnSpPr>
              <a:cxnSpLocks/>
              <a:stCxn id="37" idx="2"/>
              <a:endCxn id="48" idx="0"/>
            </p:cNvCxnSpPr>
            <p:nvPr/>
          </p:nvCxnSpPr>
          <p:spPr>
            <a:xfrm>
              <a:off x="7174358" y="2326944"/>
              <a:ext cx="4027" cy="2985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95C45BC3-D9DD-44F7-8958-C89ABEE303CB}"/>
                </a:ext>
              </a:extLst>
            </p:cNvPr>
            <p:cNvSpPr txBox="1"/>
            <p:nvPr/>
          </p:nvSpPr>
          <p:spPr>
            <a:xfrm>
              <a:off x="6210095" y="2625491"/>
              <a:ext cx="1936579" cy="83099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dirty="0"/>
                <a:t>Look for mixed or compensated </a:t>
              </a:r>
            </a:p>
            <a:p>
              <a:pPr algn="ctr"/>
              <a:r>
                <a:rPr lang="en-US" sz="1600" dirty="0"/>
                <a:t>acid-base disorder </a:t>
              </a:r>
            </a:p>
          </p:txBody>
        </p: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E3873906-5AD0-436A-AEB9-8F2EF1815BBD}"/>
              </a:ext>
            </a:extLst>
          </p:cNvPr>
          <p:cNvSpPr txBox="1"/>
          <p:nvPr/>
        </p:nvSpPr>
        <p:spPr>
          <a:xfrm rot="16200000">
            <a:off x="824005" y="2269237"/>
            <a:ext cx="2035840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PRIMARY PROCESS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3DEA0BC-32C0-460A-9321-D95A5B248DC1}"/>
              </a:ext>
            </a:extLst>
          </p:cNvPr>
          <p:cNvSpPr txBox="1"/>
          <p:nvPr/>
        </p:nvSpPr>
        <p:spPr>
          <a:xfrm rot="16200000">
            <a:off x="457887" y="4859392"/>
            <a:ext cx="1939788" cy="338554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COMPENSATION</a:t>
            </a: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87B34289-2394-44E6-8BE8-3FBF29DFE32F}"/>
              </a:ext>
            </a:extLst>
          </p:cNvPr>
          <p:cNvCxnSpPr>
            <a:cxnSpLocks/>
            <a:endCxn id="36" idx="2"/>
          </p:cNvCxnSpPr>
          <p:nvPr/>
        </p:nvCxnSpPr>
        <p:spPr>
          <a:xfrm flipV="1">
            <a:off x="10006235" y="2323897"/>
            <a:ext cx="0" cy="3862152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A3DEAEC6-198D-4459-9630-5452FDCFA24E}"/>
              </a:ext>
            </a:extLst>
          </p:cNvPr>
          <p:cNvCxnSpPr>
            <a:cxnSpLocks/>
            <a:endCxn id="35" idx="2"/>
          </p:cNvCxnSpPr>
          <p:nvPr/>
        </p:nvCxnSpPr>
        <p:spPr>
          <a:xfrm flipV="1">
            <a:off x="3734175" y="2325686"/>
            <a:ext cx="33801" cy="3813641"/>
          </a:xfrm>
          <a:prstGeom prst="line">
            <a:avLst/>
          </a:prstGeom>
          <a:ln>
            <a:prstDash val="lg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13A0D94-EE85-4A9D-836A-77C5693513B0}"/>
              </a:ext>
            </a:extLst>
          </p:cNvPr>
          <p:cNvGrpSpPr/>
          <p:nvPr/>
        </p:nvGrpSpPr>
        <p:grpSpPr>
          <a:xfrm>
            <a:off x="1925199" y="537587"/>
            <a:ext cx="3047285" cy="747491"/>
            <a:chOff x="4033516" y="708983"/>
            <a:chExt cx="3389827" cy="747491"/>
          </a:xfrm>
          <a:effectLst/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52643373-0228-463D-908E-E31997EF1FF9}"/>
                </a:ext>
              </a:extLst>
            </p:cNvPr>
            <p:cNvGrpSpPr/>
            <p:nvPr/>
          </p:nvGrpSpPr>
          <p:grpSpPr>
            <a:xfrm>
              <a:off x="4791070" y="884303"/>
              <a:ext cx="2213044" cy="392767"/>
              <a:chOff x="4791070" y="884303"/>
              <a:chExt cx="2213044" cy="392767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BEE782F-86DA-42D2-8D8B-627EE4BF36AC}"/>
                  </a:ext>
                </a:extLst>
              </p:cNvPr>
              <p:cNvSpPr/>
              <p:nvPr/>
            </p:nvSpPr>
            <p:spPr>
              <a:xfrm>
                <a:off x="5496239" y="1060563"/>
                <a:ext cx="650556" cy="63682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E76A3D8D-5711-47F2-8AB5-1AE34F1572A5}"/>
                  </a:ext>
                </a:extLst>
              </p:cNvPr>
              <p:cNvSpPr txBox="1"/>
              <p:nvPr/>
            </p:nvSpPr>
            <p:spPr>
              <a:xfrm>
                <a:off x="4791070" y="907738"/>
                <a:ext cx="74624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PCO</a:t>
                </a:r>
                <a:r>
                  <a:rPr lang="en-US" baseline="-25000" dirty="0"/>
                  <a:t>2</a:t>
                </a:r>
                <a:endParaRPr lang="en-US" dirty="0"/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328B2170-1C97-41A2-9973-3FFE5E449F9B}"/>
                  </a:ext>
                </a:extLst>
              </p:cNvPr>
              <p:cNvSpPr txBox="1"/>
              <p:nvPr/>
            </p:nvSpPr>
            <p:spPr>
              <a:xfrm>
                <a:off x="6146796" y="884303"/>
                <a:ext cx="8573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HCO</a:t>
                </a:r>
                <a:r>
                  <a:rPr lang="en-US" baseline="-25000" dirty="0"/>
                  <a:t>3</a:t>
                </a:r>
                <a:r>
                  <a:rPr lang="en-US" baseline="30000" dirty="0"/>
                  <a:t>-</a:t>
                </a:r>
                <a:endParaRPr lang="en-US" dirty="0"/>
              </a:p>
            </p:txBody>
          </p:sp>
        </p:grp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1F68D00-1D65-4A66-B58B-7D5DB1FCE4C0}"/>
                </a:ext>
              </a:extLst>
            </p:cNvPr>
            <p:cNvSpPr/>
            <p:nvPr/>
          </p:nvSpPr>
          <p:spPr>
            <a:xfrm>
              <a:off x="4288504" y="708983"/>
              <a:ext cx="271242" cy="314603"/>
            </a:xfrm>
            <a:custGeom>
              <a:avLst/>
              <a:gdLst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505317 w 978822"/>
                <a:gd name="connsiteY8" fmla="*/ 952615 h 1318434"/>
                <a:gd name="connsiteX9" fmla="*/ 520557 w 978822"/>
                <a:gd name="connsiteY9" fmla="*/ 967855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505317 w 978822"/>
                <a:gd name="connsiteY8" fmla="*/ 952615 h 1318434"/>
                <a:gd name="connsiteX9" fmla="*/ 496173 w 978822"/>
                <a:gd name="connsiteY9" fmla="*/ 967855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505317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1037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557133 w 978822"/>
                <a:gd name="connsiteY9" fmla="*/ 1016623 h 1318434"/>
                <a:gd name="connsiteX10" fmla="*/ 703437 w 978822"/>
                <a:gd name="connsiteY10" fmla="*/ 1165975 h 1318434"/>
                <a:gd name="connsiteX11" fmla="*/ 840597 w 978822"/>
                <a:gd name="connsiteY11" fmla="*/ 1318375 h 1318434"/>
                <a:gd name="connsiteX12" fmla="*/ 977757 w 978822"/>
                <a:gd name="connsiteY12" fmla="*/ 1181215 h 1318434"/>
                <a:gd name="connsiteX13" fmla="*/ 764397 w 978822"/>
                <a:gd name="connsiteY13" fmla="*/ 952615 h 1318434"/>
                <a:gd name="connsiteX14" fmla="*/ 642477 w 978822"/>
                <a:gd name="connsiteY14" fmla="*/ 800215 h 1318434"/>
                <a:gd name="connsiteX15" fmla="*/ 596757 w 978822"/>
                <a:gd name="connsiteY15" fmla="*/ 647815 h 1318434"/>
                <a:gd name="connsiteX16" fmla="*/ 581517 w 978822"/>
                <a:gd name="connsiteY16" fmla="*/ 205855 h 1318434"/>
                <a:gd name="connsiteX17" fmla="*/ 566277 w 978822"/>
                <a:gd name="connsiteY17" fmla="*/ 53455 h 1318434"/>
                <a:gd name="connsiteX18" fmla="*/ 505317 w 978822"/>
                <a:gd name="connsiteY18" fmla="*/ 7735 h 1318434"/>
                <a:gd name="connsiteX19" fmla="*/ 413877 w 978822"/>
                <a:gd name="connsiteY19" fmla="*/ 7735 h 1318434"/>
                <a:gd name="connsiteX20" fmla="*/ 368157 w 978822"/>
                <a:gd name="connsiteY20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68157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68157 w 978822"/>
                <a:gd name="connsiteY0" fmla="*/ 83935 h 1318434"/>
                <a:gd name="connsiteX1" fmla="*/ 368157 w 978822"/>
                <a:gd name="connsiteY1" fmla="*/ 647815 h 1318434"/>
                <a:gd name="connsiteX2" fmla="*/ 355965 w 978822"/>
                <a:gd name="connsiteY2" fmla="*/ 784975 h 1318434"/>
                <a:gd name="connsiteX3" fmla="*/ 261477 w 978822"/>
                <a:gd name="connsiteY3" fmla="*/ 937375 h 1318434"/>
                <a:gd name="connsiteX4" fmla="*/ 63357 w 978822"/>
                <a:gd name="connsiteY4" fmla="*/ 1059295 h 1318434"/>
                <a:gd name="connsiteX5" fmla="*/ 17637 w 978822"/>
                <a:gd name="connsiteY5" fmla="*/ 1196455 h 1318434"/>
                <a:gd name="connsiteX6" fmla="*/ 17637 w 978822"/>
                <a:gd name="connsiteY6" fmla="*/ 1242175 h 1318434"/>
                <a:gd name="connsiteX7" fmla="*/ 230997 w 978822"/>
                <a:gd name="connsiteY7" fmla="*/ 1196455 h 1318434"/>
                <a:gd name="connsiteX8" fmla="*/ 499221 w 978822"/>
                <a:gd name="connsiteY8" fmla="*/ 952615 h 1318434"/>
                <a:gd name="connsiteX9" fmla="*/ 703437 w 978822"/>
                <a:gd name="connsiteY9" fmla="*/ 1165975 h 1318434"/>
                <a:gd name="connsiteX10" fmla="*/ 840597 w 978822"/>
                <a:gd name="connsiteY10" fmla="*/ 1318375 h 1318434"/>
                <a:gd name="connsiteX11" fmla="*/ 977757 w 978822"/>
                <a:gd name="connsiteY11" fmla="*/ 1181215 h 1318434"/>
                <a:gd name="connsiteX12" fmla="*/ 764397 w 978822"/>
                <a:gd name="connsiteY12" fmla="*/ 952615 h 1318434"/>
                <a:gd name="connsiteX13" fmla="*/ 642477 w 978822"/>
                <a:gd name="connsiteY13" fmla="*/ 800215 h 1318434"/>
                <a:gd name="connsiteX14" fmla="*/ 596757 w 978822"/>
                <a:gd name="connsiteY14" fmla="*/ 647815 h 1318434"/>
                <a:gd name="connsiteX15" fmla="*/ 581517 w 978822"/>
                <a:gd name="connsiteY15" fmla="*/ 205855 h 1318434"/>
                <a:gd name="connsiteX16" fmla="*/ 566277 w 978822"/>
                <a:gd name="connsiteY16" fmla="*/ 53455 h 1318434"/>
                <a:gd name="connsiteX17" fmla="*/ 505317 w 978822"/>
                <a:gd name="connsiteY17" fmla="*/ 7735 h 1318434"/>
                <a:gd name="connsiteX18" fmla="*/ 413877 w 978822"/>
                <a:gd name="connsiteY18" fmla="*/ 7735 h 1318434"/>
                <a:gd name="connsiteX19" fmla="*/ 368157 w 978822"/>
                <a:gd name="connsiteY19" fmla="*/ 83935 h 1318434"/>
                <a:gd name="connsiteX0" fmla="*/ 375902 w 986567"/>
                <a:gd name="connsiteY0" fmla="*/ 83935 h 1318434"/>
                <a:gd name="connsiteX1" fmla="*/ 375902 w 986567"/>
                <a:gd name="connsiteY1" fmla="*/ 647815 h 1318434"/>
                <a:gd name="connsiteX2" fmla="*/ 363710 w 986567"/>
                <a:gd name="connsiteY2" fmla="*/ 784975 h 1318434"/>
                <a:gd name="connsiteX3" fmla="*/ 269222 w 986567"/>
                <a:gd name="connsiteY3" fmla="*/ 937375 h 1318434"/>
                <a:gd name="connsiteX4" fmla="*/ 16238 w 986567"/>
                <a:gd name="connsiteY4" fmla="*/ 1059295 h 1318434"/>
                <a:gd name="connsiteX5" fmla="*/ 25382 w 986567"/>
                <a:gd name="connsiteY5" fmla="*/ 1196455 h 1318434"/>
                <a:gd name="connsiteX6" fmla="*/ 25382 w 986567"/>
                <a:gd name="connsiteY6" fmla="*/ 1242175 h 1318434"/>
                <a:gd name="connsiteX7" fmla="*/ 238742 w 986567"/>
                <a:gd name="connsiteY7" fmla="*/ 1196455 h 1318434"/>
                <a:gd name="connsiteX8" fmla="*/ 506966 w 986567"/>
                <a:gd name="connsiteY8" fmla="*/ 952615 h 1318434"/>
                <a:gd name="connsiteX9" fmla="*/ 711182 w 986567"/>
                <a:gd name="connsiteY9" fmla="*/ 1165975 h 1318434"/>
                <a:gd name="connsiteX10" fmla="*/ 848342 w 986567"/>
                <a:gd name="connsiteY10" fmla="*/ 1318375 h 1318434"/>
                <a:gd name="connsiteX11" fmla="*/ 985502 w 986567"/>
                <a:gd name="connsiteY11" fmla="*/ 1181215 h 1318434"/>
                <a:gd name="connsiteX12" fmla="*/ 772142 w 986567"/>
                <a:gd name="connsiteY12" fmla="*/ 952615 h 1318434"/>
                <a:gd name="connsiteX13" fmla="*/ 650222 w 986567"/>
                <a:gd name="connsiteY13" fmla="*/ 800215 h 1318434"/>
                <a:gd name="connsiteX14" fmla="*/ 604502 w 986567"/>
                <a:gd name="connsiteY14" fmla="*/ 647815 h 1318434"/>
                <a:gd name="connsiteX15" fmla="*/ 589262 w 986567"/>
                <a:gd name="connsiteY15" fmla="*/ 205855 h 1318434"/>
                <a:gd name="connsiteX16" fmla="*/ 574022 w 986567"/>
                <a:gd name="connsiteY16" fmla="*/ 53455 h 1318434"/>
                <a:gd name="connsiteX17" fmla="*/ 513062 w 986567"/>
                <a:gd name="connsiteY17" fmla="*/ 7735 h 1318434"/>
                <a:gd name="connsiteX18" fmla="*/ 421622 w 986567"/>
                <a:gd name="connsiteY18" fmla="*/ 7735 h 1318434"/>
                <a:gd name="connsiteX19" fmla="*/ 375902 w 986567"/>
                <a:gd name="connsiteY19" fmla="*/ 83935 h 1318434"/>
                <a:gd name="connsiteX0" fmla="*/ 370978 w 981643"/>
                <a:gd name="connsiteY0" fmla="*/ 83935 h 1318434"/>
                <a:gd name="connsiteX1" fmla="*/ 370978 w 981643"/>
                <a:gd name="connsiteY1" fmla="*/ 647815 h 1318434"/>
                <a:gd name="connsiteX2" fmla="*/ 358786 w 981643"/>
                <a:gd name="connsiteY2" fmla="*/ 784975 h 1318434"/>
                <a:gd name="connsiteX3" fmla="*/ 264298 w 981643"/>
                <a:gd name="connsiteY3" fmla="*/ 937375 h 1318434"/>
                <a:gd name="connsiteX4" fmla="*/ 17410 w 981643"/>
                <a:gd name="connsiteY4" fmla="*/ 1108063 h 1318434"/>
                <a:gd name="connsiteX5" fmla="*/ 20458 w 981643"/>
                <a:gd name="connsiteY5" fmla="*/ 1196455 h 1318434"/>
                <a:gd name="connsiteX6" fmla="*/ 20458 w 981643"/>
                <a:gd name="connsiteY6" fmla="*/ 1242175 h 1318434"/>
                <a:gd name="connsiteX7" fmla="*/ 233818 w 981643"/>
                <a:gd name="connsiteY7" fmla="*/ 1196455 h 1318434"/>
                <a:gd name="connsiteX8" fmla="*/ 502042 w 981643"/>
                <a:gd name="connsiteY8" fmla="*/ 952615 h 1318434"/>
                <a:gd name="connsiteX9" fmla="*/ 706258 w 981643"/>
                <a:gd name="connsiteY9" fmla="*/ 1165975 h 1318434"/>
                <a:gd name="connsiteX10" fmla="*/ 843418 w 981643"/>
                <a:gd name="connsiteY10" fmla="*/ 1318375 h 1318434"/>
                <a:gd name="connsiteX11" fmla="*/ 980578 w 981643"/>
                <a:gd name="connsiteY11" fmla="*/ 1181215 h 1318434"/>
                <a:gd name="connsiteX12" fmla="*/ 767218 w 981643"/>
                <a:gd name="connsiteY12" fmla="*/ 952615 h 1318434"/>
                <a:gd name="connsiteX13" fmla="*/ 645298 w 981643"/>
                <a:gd name="connsiteY13" fmla="*/ 800215 h 1318434"/>
                <a:gd name="connsiteX14" fmla="*/ 599578 w 981643"/>
                <a:gd name="connsiteY14" fmla="*/ 647815 h 1318434"/>
                <a:gd name="connsiteX15" fmla="*/ 584338 w 981643"/>
                <a:gd name="connsiteY15" fmla="*/ 205855 h 1318434"/>
                <a:gd name="connsiteX16" fmla="*/ 569098 w 981643"/>
                <a:gd name="connsiteY16" fmla="*/ 53455 h 1318434"/>
                <a:gd name="connsiteX17" fmla="*/ 508138 w 981643"/>
                <a:gd name="connsiteY17" fmla="*/ 7735 h 1318434"/>
                <a:gd name="connsiteX18" fmla="*/ 416698 w 981643"/>
                <a:gd name="connsiteY18" fmla="*/ 7735 h 1318434"/>
                <a:gd name="connsiteX19" fmla="*/ 370978 w 981643"/>
                <a:gd name="connsiteY19" fmla="*/ 83935 h 1318434"/>
                <a:gd name="connsiteX0" fmla="*/ 375902 w 986567"/>
                <a:gd name="connsiteY0" fmla="*/ 83935 h 1318434"/>
                <a:gd name="connsiteX1" fmla="*/ 375902 w 986567"/>
                <a:gd name="connsiteY1" fmla="*/ 647815 h 1318434"/>
                <a:gd name="connsiteX2" fmla="*/ 363710 w 986567"/>
                <a:gd name="connsiteY2" fmla="*/ 784975 h 1318434"/>
                <a:gd name="connsiteX3" fmla="*/ 269222 w 986567"/>
                <a:gd name="connsiteY3" fmla="*/ 937375 h 1318434"/>
                <a:gd name="connsiteX4" fmla="*/ 16238 w 986567"/>
                <a:gd name="connsiteY4" fmla="*/ 1108063 h 1318434"/>
                <a:gd name="connsiteX5" fmla="*/ 25382 w 986567"/>
                <a:gd name="connsiteY5" fmla="*/ 1196455 h 1318434"/>
                <a:gd name="connsiteX6" fmla="*/ 25382 w 986567"/>
                <a:gd name="connsiteY6" fmla="*/ 1242175 h 1318434"/>
                <a:gd name="connsiteX7" fmla="*/ 238742 w 986567"/>
                <a:gd name="connsiteY7" fmla="*/ 1196455 h 1318434"/>
                <a:gd name="connsiteX8" fmla="*/ 506966 w 986567"/>
                <a:gd name="connsiteY8" fmla="*/ 952615 h 1318434"/>
                <a:gd name="connsiteX9" fmla="*/ 711182 w 986567"/>
                <a:gd name="connsiteY9" fmla="*/ 1165975 h 1318434"/>
                <a:gd name="connsiteX10" fmla="*/ 848342 w 986567"/>
                <a:gd name="connsiteY10" fmla="*/ 1318375 h 1318434"/>
                <a:gd name="connsiteX11" fmla="*/ 985502 w 986567"/>
                <a:gd name="connsiteY11" fmla="*/ 1181215 h 1318434"/>
                <a:gd name="connsiteX12" fmla="*/ 772142 w 986567"/>
                <a:gd name="connsiteY12" fmla="*/ 952615 h 1318434"/>
                <a:gd name="connsiteX13" fmla="*/ 650222 w 986567"/>
                <a:gd name="connsiteY13" fmla="*/ 800215 h 1318434"/>
                <a:gd name="connsiteX14" fmla="*/ 604502 w 986567"/>
                <a:gd name="connsiteY14" fmla="*/ 647815 h 1318434"/>
                <a:gd name="connsiteX15" fmla="*/ 589262 w 986567"/>
                <a:gd name="connsiteY15" fmla="*/ 205855 h 1318434"/>
                <a:gd name="connsiteX16" fmla="*/ 574022 w 986567"/>
                <a:gd name="connsiteY16" fmla="*/ 53455 h 1318434"/>
                <a:gd name="connsiteX17" fmla="*/ 513062 w 986567"/>
                <a:gd name="connsiteY17" fmla="*/ 7735 h 1318434"/>
                <a:gd name="connsiteX18" fmla="*/ 421622 w 986567"/>
                <a:gd name="connsiteY18" fmla="*/ 7735 h 1318434"/>
                <a:gd name="connsiteX19" fmla="*/ 375902 w 986567"/>
                <a:gd name="connsiteY19" fmla="*/ 83935 h 1318434"/>
                <a:gd name="connsiteX0" fmla="*/ 376678 w 987343"/>
                <a:gd name="connsiteY0" fmla="*/ 83935 h 1318434"/>
                <a:gd name="connsiteX1" fmla="*/ 376678 w 987343"/>
                <a:gd name="connsiteY1" fmla="*/ 647815 h 1318434"/>
                <a:gd name="connsiteX2" fmla="*/ 364486 w 987343"/>
                <a:gd name="connsiteY2" fmla="*/ 784975 h 1318434"/>
                <a:gd name="connsiteX3" fmla="*/ 269998 w 987343"/>
                <a:gd name="connsiteY3" fmla="*/ 937375 h 1318434"/>
                <a:gd name="connsiteX4" fmla="*/ 17014 w 987343"/>
                <a:gd name="connsiteY4" fmla="*/ 1108063 h 1318434"/>
                <a:gd name="connsiteX5" fmla="*/ 26158 w 987343"/>
                <a:gd name="connsiteY5" fmla="*/ 1196455 h 1318434"/>
                <a:gd name="connsiteX6" fmla="*/ 50542 w 987343"/>
                <a:gd name="connsiteY6" fmla="*/ 1248271 h 1318434"/>
                <a:gd name="connsiteX7" fmla="*/ 239518 w 987343"/>
                <a:gd name="connsiteY7" fmla="*/ 1196455 h 1318434"/>
                <a:gd name="connsiteX8" fmla="*/ 507742 w 987343"/>
                <a:gd name="connsiteY8" fmla="*/ 952615 h 1318434"/>
                <a:gd name="connsiteX9" fmla="*/ 711958 w 987343"/>
                <a:gd name="connsiteY9" fmla="*/ 1165975 h 1318434"/>
                <a:gd name="connsiteX10" fmla="*/ 849118 w 987343"/>
                <a:gd name="connsiteY10" fmla="*/ 1318375 h 1318434"/>
                <a:gd name="connsiteX11" fmla="*/ 986278 w 987343"/>
                <a:gd name="connsiteY11" fmla="*/ 1181215 h 1318434"/>
                <a:gd name="connsiteX12" fmla="*/ 772918 w 987343"/>
                <a:gd name="connsiteY12" fmla="*/ 952615 h 1318434"/>
                <a:gd name="connsiteX13" fmla="*/ 650998 w 987343"/>
                <a:gd name="connsiteY13" fmla="*/ 800215 h 1318434"/>
                <a:gd name="connsiteX14" fmla="*/ 605278 w 987343"/>
                <a:gd name="connsiteY14" fmla="*/ 647815 h 1318434"/>
                <a:gd name="connsiteX15" fmla="*/ 590038 w 987343"/>
                <a:gd name="connsiteY15" fmla="*/ 205855 h 1318434"/>
                <a:gd name="connsiteX16" fmla="*/ 574798 w 987343"/>
                <a:gd name="connsiteY16" fmla="*/ 53455 h 1318434"/>
                <a:gd name="connsiteX17" fmla="*/ 513838 w 987343"/>
                <a:gd name="connsiteY17" fmla="*/ 7735 h 1318434"/>
                <a:gd name="connsiteX18" fmla="*/ 422398 w 987343"/>
                <a:gd name="connsiteY18" fmla="*/ 7735 h 1318434"/>
                <a:gd name="connsiteX19" fmla="*/ 376678 w 987343"/>
                <a:gd name="connsiteY19" fmla="*/ 83935 h 1318434"/>
                <a:gd name="connsiteX0" fmla="*/ 376678 w 987343"/>
                <a:gd name="connsiteY0" fmla="*/ 83935 h 1318434"/>
                <a:gd name="connsiteX1" fmla="*/ 376678 w 987343"/>
                <a:gd name="connsiteY1" fmla="*/ 647815 h 1318434"/>
                <a:gd name="connsiteX2" fmla="*/ 364486 w 987343"/>
                <a:gd name="connsiteY2" fmla="*/ 784975 h 1318434"/>
                <a:gd name="connsiteX3" fmla="*/ 269998 w 987343"/>
                <a:gd name="connsiteY3" fmla="*/ 937375 h 1318434"/>
                <a:gd name="connsiteX4" fmla="*/ 17014 w 987343"/>
                <a:gd name="connsiteY4" fmla="*/ 1108063 h 1318434"/>
                <a:gd name="connsiteX5" fmla="*/ 26158 w 987343"/>
                <a:gd name="connsiteY5" fmla="*/ 1196455 h 1318434"/>
                <a:gd name="connsiteX6" fmla="*/ 50542 w 987343"/>
                <a:gd name="connsiteY6" fmla="*/ 1248271 h 1318434"/>
                <a:gd name="connsiteX7" fmla="*/ 233422 w 987343"/>
                <a:gd name="connsiteY7" fmla="*/ 1178167 h 1318434"/>
                <a:gd name="connsiteX8" fmla="*/ 507742 w 987343"/>
                <a:gd name="connsiteY8" fmla="*/ 952615 h 1318434"/>
                <a:gd name="connsiteX9" fmla="*/ 711958 w 987343"/>
                <a:gd name="connsiteY9" fmla="*/ 1165975 h 1318434"/>
                <a:gd name="connsiteX10" fmla="*/ 849118 w 987343"/>
                <a:gd name="connsiteY10" fmla="*/ 1318375 h 1318434"/>
                <a:gd name="connsiteX11" fmla="*/ 986278 w 987343"/>
                <a:gd name="connsiteY11" fmla="*/ 1181215 h 1318434"/>
                <a:gd name="connsiteX12" fmla="*/ 772918 w 987343"/>
                <a:gd name="connsiteY12" fmla="*/ 952615 h 1318434"/>
                <a:gd name="connsiteX13" fmla="*/ 650998 w 987343"/>
                <a:gd name="connsiteY13" fmla="*/ 800215 h 1318434"/>
                <a:gd name="connsiteX14" fmla="*/ 605278 w 987343"/>
                <a:gd name="connsiteY14" fmla="*/ 647815 h 1318434"/>
                <a:gd name="connsiteX15" fmla="*/ 590038 w 987343"/>
                <a:gd name="connsiteY15" fmla="*/ 205855 h 1318434"/>
                <a:gd name="connsiteX16" fmla="*/ 574798 w 987343"/>
                <a:gd name="connsiteY16" fmla="*/ 53455 h 1318434"/>
                <a:gd name="connsiteX17" fmla="*/ 513838 w 987343"/>
                <a:gd name="connsiteY17" fmla="*/ 7735 h 1318434"/>
                <a:gd name="connsiteX18" fmla="*/ 422398 w 987343"/>
                <a:gd name="connsiteY18" fmla="*/ 7735 h 1318434"/>
                <a:gd name="connsiteX19" fmla="*/ 376678 w 987343"/>
                <a:gd name="connsiteY19" fmla="*/ 83935 h 1318434"/>
                <a:gd name="connsiteX0" fmla="*/ 376678 w 987569"/>
                <a:gd name="connsiteY0" fmla="*/ 83935 h 1287982"/>
                <a:gd name="connsiteX1" fmla="*/ 376678 w 987569"/>
                <a:gd name="connsiteY1" fmla="*/ 647815 h 1287982"/>
                <a:gd name="connsiteX2" fmla="*/ 364486 w 987569"/>
                <a:gd name="connsiteY2" fmla="*/ 784975 h 1287982"/>
                <a:gd name="connsiteX3" fmla="*/ 269998 w 987569"/>
                <a:gd name="connsiteY3" fmla="*/ 937375 h 1287982"/>
                <a:gd name="connsiteX4" fmla="*/ 17014 w 987569"/>
                <a:gd name="connsiteY4" fmla="*/ 1108063 h 1287982"/>
                <a:gd name="connsiteX5" fmla="*/ 26158 w 987569"/>
                <a:gd name="connsiteY5" fmla="*/ 1196455 h 1287982"/>
                <a:gd name="connsiteX6" fmla="*/ 50542 w 987569"/>
                <a:gd name="connsiteY6" fmla="*/ 1248271 h 1287982"/>
                <a:gd name="connsiteX7" fmla="*/ 233422 w 987569"/>
                <a:gd name="connsiteY7" fmla="*/ 1178167 h 1287982"/>
                <a:gd name="connsiteX8" fmla="*/ 507742 w 987569"/>
                <a:gd name="connsiteY8" fmla="*/ 952615 h 1287982"/>
                <a:gd name="connsiteX9" fmla="*/ 711958 w 987569"/>
                <a:gd name="connsiteY9" fmla="*/ 1165975 h 1287982"/>
                <a:gd name="connsiteX10" fmla="*/ 855214 w 987569"/>
                <a:gd name="connsiteY10" fmla="*/ 1287895 h 1287982"/>
                <a:gd name="connsiteX11" fmla="*/ 986278 w 987569"/>
                <a:gd name="connsiteY11" fmla="*/ 1181215 h 1287982"/>
                <a:gd name="connsiteX12" fmla="*/ 772918 w 987569"/>
                <a:gd name="connsiteY12" fmla="*/ 952615 h 1287982"/>
                <a:gd name="connsiteX13" fmla="*/ 650998 w 987569"/>
                <a:gd name="connsiteY13" fmla="*/ 800215 h 1287982"/>
                <a:gd name="connsiteX14" fmla="*/ 605278 w 987569"/>
                <a:gd name="connsiteY14" fmla="*/ 647815 h 1287982"/>
                <a:gd name="connsiteX15" fmla="*/ 590038 w 987569"/>
                <a:gd name="connsiteY15" fmla="*/ 205855 h 1287982"/>
                <a:gd name="connsiteX16" fmla="*/ 574798 w 987569"/>
                <a:gd name="connsiteY16" fmla="*/ 53455 h 1287982"/>
                <a:gd name="connsiteX17" fmla="*/ 513838 w 987569"/>
                <a:gd name="connsiteY17" fmla="*/ 7735 h 1287982"/>
                <a:gd name="connsiteX18" fmla="*/ 422398 w 987569"/>
                <a:gd name="connsiteY18" fmla="*/ 7735 h 1287982"/>
                <a:gd name="connsiteX19" fmla="*/ 376678 w 987569"/>
                <a:gd name="connsiteY19" fmla="*/ 83935 h 1287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87569" h="1287982">
                  <a:moveTo>
                    <a:pt x="376678" y="83935"/>
                  </a:moveTo>
                  <a:cubicBezTo>
                    <a:pt x="369058" y="190615"/>
                    <a:pt x="378710" y="530975"/>
                    <a:pt x="376678" y="647815"/>
                  </a:cubicBezTo>
                  <a:cubicBezTo>
                    <a:pt x="374646" y="764655"/>
                    <a:pt x="382266" y="736715"/>
                    <a:pt x="364486" y="784975"/>
                  </a:cubicBezTo>
                  <a:cubicBezTo>
                    <a:pt x="346706" y="833235"/>
                    <a:pt x="327910" y="883527"/>
                    <a:pt x="269998" y="937375"/>
                  </a:cubicBezTo>
                  <a:cubicBezTo>
                    <a:pt x="212086" y="991223"/>
                    <a:pt x="57654" y="1064883"/>
                    <a:pt x="17014" y="1108063"/>
                  </a:cubicBezTo>
                  <a:cubicBezTo>
                    <a:pt x="-23626" y="1151243"/>
                    <a:pt x="20570" y="1173087"/>
                    <a:pt x="26158" y="1196455"/>
                  </a:cubicBezTo>
                  <a:cubicBezTo>
                    <a:pt x="31746" y="1219823"/>
                    <a:pt x="15998" y="1251319"/>
                    <a:pt x="50542" y="1248271"/>
                  </a:cubicBezTo>
                  <a:cubicBezTo>
                    <a:pt x="85086" y="1245223"/>
                    <a:pt x="157222" y="1227443"/>
                    <a:pt x="233422" y="1178167"/>
                  </a:cubicBezTo>
                  <a:cubicBezTo>
                    <a:pt x="309622" y="1128891"/>
                    <a:pt x="320290" y="1074027"/>
                    <a:pt x="507742" y="952615"/>
                  </a:cubicBezTo>
                  <a:cubicBezTo>
                    <a:pt x="665730" y="1075551"/>
                    <a:pt x="654046" y="1110095"/>
                    <a:pt x="711958" y="1165975"/>
                  </a:cubicBezTo>
                  <a:cubicBezTo>
                    <a:pt x="769870" y="1221855"/>
                    <a:pt x="809494" y="1285355"/>
                    <a:pt x="855214" y="1287895"/>
                  </a:cubicBezTo>
                  <a:cubicBezTo>
                    <a:pt x="900934" y="1290435"/>
                    <a:pt x="999994" y="1237095"/>
                    <a:pt x="986278" y="1181215"/>
                  </a:cubicBezTo>
                  <a:cubicBezTo>
                    <a:pt x="972562" y="1125335"/>
                    <a:pt x="828798" y="1016115"/>
                    <a:pt x="772918" y="952615"/>
                  </a:cubicBezTo>
                  <a:cubicBezTo>
                    <a:pt x="717038" y="889115"/>
                    <a:pt x="678938" y="851015"/>
                    <a:pt x="650998" y="800215"/>
                  </a:cubicBezTo>
                  <a:cubicBezTo>
                    <a:pt x="623058" y="749415"/>
                    <a:pt x="615438" y="746875"/>
                    <a:pt x="605278" y="647815"/>
                  </a:cubicBezTo>
                  <a:cubicBezTo>
                    <a:pt x="595118" y="548755"/>
                    <a:pt x="595118" y="304915"/>
                    <a:pt x="590038" y="205855"/>
                  </a:cubicBezTo>
                  <a:cubicBezTo>
                    <a:pt x="584958" y="106795"/>
                    <a:pt x="574798" y="53455"/>
                    <a:pt x="574798" y="53455"/>
                  </a:cubicBezTo>
                  <a:cubicBezTo>
                    <a:pt x="562098" y="20435"/>
                    <a:pt x="539238" y="15355"/>
                    <a:pt x="513838" y="7735"/>
                  </a:cubicBezTo>
                  <a:cubicBezTo>
                    <a:pt x="488438" y="115"/>
                    <a:pt x="445258" y="-4965"/>
                    <a:pt x="422398" y="7735"/>
                  </a:cubicBezTo>
                  <a:cubicBezTo>
                    <a:pt x="399538" y="20435"/>
                    <a:pt x="384298" y="-22745"/>
                    <a:pt x="376678" y="83935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F3D1E56B-3E07-4C5C-8053-FA6EB5F162E0}"/>
                </a:ext>
              </a:extLst>
            </p:cNvPr>
            <p:cNvSpPr/>
            <p:nvPr/>
          </p:nvSpPr>
          <p:spPr>
            <a:xfrm rot="378681">
              <a:off x="4033516" y="859211"/>
              <a:ext cx="357667" cy="597263"/>
            </a:xfrm>
            <a:custGeom>
              <a:avLst/>
              <a:gdLst>
                <a:gd name="connsiteX0" fmla="*/ 968303 w 1252262"/>
                <a:gd name="connsiteY0" fmla="*/ 310618 h 2445192"/>
                <a:gd name="connsiteX1" fmla="*/ 851072 w 1252262"/>
                <a:gd name="connsiteY1" fmla="*/ 76156 h 2445192"/>
                <a:gd name="connsiteX2" fmla="*/ 733842 w 1252262"/>
                <a:gd name="connsiteY2" fmla="*/ 5818 h 2445192"/>
                <a:gd name="connsiteX3" fmla="*/ 475934 w 1252262"/>
                <a:gd name="connsiteY3" fmla="*/ 99603 h 2445192"/>
                <a:gd name="connsiteX4" fmla="*/ 100795 w 1252262"/>
                <a:gd name="connsiteY4" fmla="*/ 849879 h 2445192"/>
                <a:gd name="connsiteX5" fmla="*/ 7011 w 1252262"/>
                <a:gd name="connsiteY5" fmla="*/ 1717387 h 2445192"/>
                <a:gd name="connsiteX6" fmla="*/ 30457 w 1252262"/>
                <a:gd name="connsiteY6" fmla="*/ 2162864 h 2445192"/>
                <a:gd name="connsiteX7" fmla="*/ 218026 w 1252262"/>
                <a:gd name="connsiteY7" fmla="*/ 2444218 h 2445192"/>
                <a:gd name="connsiteX8" fmla="*/ 874518 w 1252262"/>
                <a:gd name="connsiteY8" fmla="*/ 2069079 h 2445192"/>
                <a:gd name="connsiteX9" fmla="*/ 1226211 w 1252262"/>
                <a:gd name="connsiteY9" fmla="*/ 1998741 h 2445192"/>
                <a:gd name="connsiteX10" fmla="*/ 1226211 w 1252262"/>
                <a:gd name="connsiteY10" fmla="*/ 1623603 h 2445192"/>
                <a:gd name="connsiteX11" fmla="*/ 1226211 w 1252262"/>
                <a:gd name="connsiteY11" fmla="*/ 1107787 h 2445192"/>
                <a:gd name="connsiteX12" fmla="*/ 1062088 w 1252262"/>
                <a:gd name="connsiteY12" fmla="*/ 404403 h 2445192"/>
                <a:gd name="connsiteX13" fmla="*/ 968303 w 1252262"/>
                <a:gd name="connsiteY13" fmla="*/ 310618 h 2445192"/>
                <a:gd name="connsiteX0" fmla="*/ 1062088 w 1252262"/>
                <a:gd name="connsiteY0" fmla="*/ 404403 h 2445192"/>
                <a:gd name="connsiteX1" fmla="*/ 851072 w 1252262"/>
                <a:gd name="connsiteY1" fmla="*/ 76156 h 2445192"/>
                <a:gd name="connsiteX2" fmla="*/ 733842 w 1252262"/>
                <a:gd name="connsiteY2" fmla="*/ 5818 h 2445192"/>
                <a:gd name="connsiteX3" fmla="*/ 475934 w 1252262"/>
                <a:gd name="connsiteY3" fmla="*/ 99603 h 2445192"/>
                <a:gd name="connsiteX4" fmla="*/ 100795 w 1252262"/>
                <a:gd name="connsiteY4" fmla="*/ 849879 h 2445192"/>
                <a:gd name="connsiteX5" fmla="*/ 7011 w 1252262"/>
                <a:gd name="connsiteY5" fmla="*/ 1717387 h 2445192"/>
                <a:gd name="connsiteX6" fmla="*/ 30457 w 1252262"/>
                <a:gd name="connsiteY6" fmla="*/ 2162864 h 2445192"/>
                <a:gd name="connsiteX7" fmla="*/ 218026 w 1252262"/>
                <a:gd name="connsiteY7" fmla="*/ 2444218 h 2445192"/>
                <a:gd name="connsiteX8" fmla="*/ 874518 w 1252262"/>
                <a:gd name="connsiteY8" fmla="*/ 2069079 h 2445192"/>
                <a:gd name="connsiteX9" fmla="*/ 1226211 w 1252262"/>
                <a:gd name="connsiteY9" fmla="*/ 1998741 h 2445192"/>
                <a:gd name="connsiteX10" fmla="*/ 1226211 w 1252262"/>
                <a:gd name="connsiteY10" fmla="*/ 1623603 h 2445192"/>
                <a:gd name="connsiteX11" fmla="*/ 1226211 w 1252262"/>
                <a:gd name="connsiteY11" fmla="*/ 1107787 h 2445192"/>
                <a:gd name="connsiteX12" fmla="*/ 1062088 w 1252262"/>
                <a:gd name="connsiteY12" fmla="*/ 404403 h 24451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52262" h="2445192">
                  <a:moveTo>
                    <a:pt x="1062088" y="404403"/>
                  </a:moveTo>
                  <a:cubicBezTo>
                    <a:pt x="999565" y="232465"/>
                    <a:pt x="905780" y="142587"/>
                    <a:pt x="851072" y="76156"/>
                  </a:cubicBezTo>
                  <a:cubicBezTo>
                    <a:pt x="796364" y="9725"/>
                    <a:pt x="796365" y="1910"/>
                    <a:pt x="733842" y="5818"/>
                  </a:cubicBezTo>
                  <a:cubicBezTo>
                    <a:pt x="671319" y="9726"/>
                    <a:pt x="581442" y="-41074"/>
                    <a:pt x="475934" y="99603"/>
                  </a:cubicBezTo>
                  <a:cubicBezTo>
                    <a:pt x="370426" y="240280"/>
                    <a:pt x="178949" y="580248"/>
                    <a:pt x="100795" y="849879"/>
                  </a:cubicBezTo>
                  <a:cubicBezTo>
                    <a:pt x="22641" y="1119510"/>
                    <a:pt x="18734" y="1498556"/>
                    <a:pt x="7011" y="1717387"/>
                  </a:cubicBezTo>
                  <a:cubicBezTo>
                    <a:pt x="-4712" y="1936218"/>
                    <a:pt x="-4712" y="2041726"/>
                    <a:pt x="30457" y="2162864"/>
                  </a:cubicBezTo>
                  <a:cubicBezTo>
                    <a:pt x="65626" y="2284002"/>
                    <a:pt x="77349" y="2459849"/>
                    <a:pt x="218026" y="2444218"/>
                  </a:cubicBezTo>
                  <a:cubicBezTo>
                    <a:pt x="358703" y="2428587"/>
                    <a:pt x="706487" y="2143325"/>
                    <a:pt x="874518" y="2069079"/>
                  </a:cubicBezTo>
                  <a:cubicBezTo>
                    <a:pt x="1042549" y="1994833"/>
                    <a:pt x="1167596" y="2072987"/>
                    <a:pt x="1226211" y="1998741"/>
                  </a:cubicBezTo>
                  <a:cubicBezTo>
                    <a:pt x="1284826" y="1924495"/>
                    <a:pt x="1226211" y="1623603"/>
                    <a:pt x="1226211" y="1623603"/>
                  </a:cubicBezTo>
                  <a:cubicBezTo>
                    <a:pt x="1226211" y="1475111"/>
                    <a:pt x="1253565" y="1310987"/>
                    <a:pt x="1226211" y="1107787"/>
                  </a:cubicBezTo>
                  <a:cubicBezTo>
                    <a:pt x="1198857" y="904587"/>
                    <a:pt x="1124611" y="576341"/>
                    <a:pt x="1062088" y="404403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9BC9D3EE-26ED-439B-8F0E-D50E4F9B3BE1}"/>
                </a:ext>
              </a:extLst>
            </p:cNvPr>
            <p:cNvSpPr/>
            <p:nvPr/>
          </p:nvSpPr>
          <p:spPr>
            <a:xfrm>
              <a:off x="4479676" y="840657"/>
              <a:ext cx="396877" cy="577099"/>
            </a:xfrm>
            <a:custGeom>
              <a:avLst/>
              <a:gdLst>
                <a:gd name="connsiteX0" fmla="*/ 19238 w 1221213"/>
                <a:gd name="connsiteY0" fmla="*/ 820691 h 2272209"/>
                <a:gd name="connsiteX1" fmla="*/ 66130 w 1221213"/>
                <a:gd name="connsiteY1" fmla="*/ 351768 h 2272209"/>
                <a:gd name="connsiteX2" fmla="*/ 370930 w 1221213"/>
                <a:gd name="connsiteY2" fmla="*/ 75 h 2272209"/>
                <a:gd name="connsiteX3" fmla="*/ 746069 w 1221213"/>
                <a:gd name="connsiteY3" fmla="*/ 328322 h 2272209"/>
                <a:gd name="connsiteX4" fmla="*/ 1074315 w 1221213"/>
                <a:gd name="connsiteY4" fmla="*/ 1102045 h 2272209"/>
                <a:gd name="connsiteX5" fmla="*/ 1168099 w 1221213"/>
                <a:gd name="connsiteY5" fmla="*/ 1758537 h 2272209"/>
                <a:gd name="connsiteX6" fmla="*/ 1191545 w 1221213"/>
                <a:gd name="connsiteY6" fmla="*/ 2250906 h 2272209"/>
                <a:gd name="connsiteX7" fmla="*/ 746069 w 1221213"/>
                <a:gd name="connsiteY7" fmla="*/ 2180568 h 2272209"/>
                <a:gd name="connsiteX8" fmla="*/ 347484 w 1221213"/>
                <a:gd name="connsiteY8" fmla="*/ 2157122 h 2272209"/>
                <a:gd name="connsiteX9" fmla="*/ 230253 w 1221213"/>
                <a:gd name="connsiteY9" fmla="*/ 2157122 h 2272209"/>
                <a:gd name="connsiteX10" fmla="*/ 253699 w 1221213"/>
                <a:gd name="connsiteY10" fmla="*/ 1946106 h 2272209"/>
                <a:gd name="connsiteX11" fmla="*/ 253699 w 1221213"/>
                <a:gd name="connsiteY11" fmla="*/ 1688199 h 2272209"/>
                <a:gd name="connsiteX12" fmla="*/ 19238 w 1221213"/>
                <a:gd name="connsiteY12" fmla="*/ 1524075 h 2272209"/>
                <a:gd name="connsiteX13" fmla="*/ 19238 w 1221213"/>
                <a:gd name="connsiteY13" fmla="*/ 820691 h 2272209"/>
                <a:gd name="connsiteX0" fmla="*/ 872 w 1202847"/>
                <a:gd name="connsiteY0" fmla="*/ 820691 h 2272209"/>
                <a:gd name="connsiteX1" fmla="*/ 47764 w 1202847"/>
                <a:gd name="connsiteY1" fmla="*/ 351768 h 2272209"/>
                <a:gd name="connsiteX2" fmla="*/ 352564 w 1202847"/>
                <a:gd name="connsiteY2" fmla="*/ 75 h 2272209"/>
                <a:gd name="connsiteX3" fmla="*/ 727703 w 1202847"/>
                <a:gd name="connsiteY3" fmla="*/ 328322 h 2272209"/>
                <a:gd name="connsiteX4" fmla="*/ 1055949 w 1202847"/>
                <a:gd name="connsiteY4" fmla="*/ 1102045 h 2272209"/>
                <a:gd name="connsiteX5" fmla="*/ 1149733 w 1202847"/>
                <a:gd name="connsiteY5" fmla="*/ 1758537 h 2272209"/>
                <a:gd name="connsiteX6" fmla="*/ 1173179 w 1202847"/>
                <a:gd name="connsiteY6" fmla="*/ 2250906 h 2272209"/>
                <a:gd name="connsiteX7" fmla="*/ 727703 w 1202847"/>
                <a:gd name="connsiteY7" fmla="*/ 2180568 h 2272209"/>
                <a:gd name="connsiteX8" fmla="*/ 329118 w 1202847"/>
                <a:gd name="connsiteY8" fmla="*/ 2157122 h 2272209"/>
                <a:gd name="connsiteX9" fmla="*/ 211887 w 1202847"/>
                <a:gd name="connsiteY9" fmla="*/ 2157122 h 2272209"/>
                <a:gd name="connsiteX10" fmla="*/ 235333 w 1202847"/>
                <a:gd name="connsiteY10" fmla="*/ 1946106 h 2272209"/>
                <a:gd name="connsiteX11" fmla="*/ 235333 w 1202847"/>
                <a:gd name="connsiteY11" fmla="*/ 1688199 h 2272209"/>
                <a:gd name="connsiteX12" fmla="*/ 46592 w 1202847"/>
                <a:gd name="connsiteY12" fmla="*/ 1356435 h 2272209"/>
                <a:gd name="connsiteX13" fmla="*/ 872 w 1202847"/>
                <a:gd name="connsiteY13" fmla="*/ 820691 h 2272209"/>
                <a:gd name="connsiteX0" fmla="*/ 31139 w 1233114"/>
                <a:gd name="connsiteY0" fmla="*/ 820691 h 2272209"/>
                <a:gd name="connsiteX1" fmla="*/ 78031 w 1233114"/>
                <a:gd name="connsiteY1" fmla="*/ 351768 h 2272209"/>
                <a:gd name="connsiteX2" fmla="*/ 382831 w 1233114"/>
                <a:gd name="connsiteY2" fmla="*/ 75 h 2272209"/>
                <a:gd name="connsiteX3" fmla="*/ 757970 w 1233114"/>
                <a:gd name="connsiteY3" fmla="*/ 328322 h 2272209"/>
                <a:gd name="connsiteX4" fmla="*/ 1086216 w 1233114"/>
                <a:gd name="connsiteY4" fmla="*/ 1102045 h 2272209"/>
                <a:gd name="connsiteX5" fmla="*/ 1180000 w 1233114"/>
                <a:gd name="connsiteY5" fmla="*/ 1758537 h 2272209"/>
                <a:gd name="connsiteX6" fmla="*/ 1203446 w 1233114"/>
                <a:gd name="connsiteY6" fmla="*/ 2250906 h 2272209"/>
                <a:gd name="connsiteX7" fmla="*/ 757970 w 1233114"/>
                <a:gd name="connsiteY7" fmla="*/ 2180568 h 2272209"/>
                <a:gd name="connsiteX8" fmla="*/ 359385 w 1233114"/>
                <a:gd name="connsiteY8" fmla="*/ 2157122 h 2272209"/>
                <a:gd name="connsiteX9" fmla="*/ 242154 w 1233114"/>
                <a:gd name="connsiteY9" fmla="*/ 2157122 h 2272209"/>
                <a:gd name="connsiteX10" fmla="*/ 265600 w 1233114"/>
                <a:gd name="connsiteY10" fmla="*/ 1946106 h 2272209"/>
                <a:gd name="connsiteX11" fmla="*/ 265600 w 1233114"/>
                <a:gd name="connsiteY11" fmla="*/ 1688199 h 2272209"/>
                <a:gd name="connsiteX12" fmla="*/ 15899 w 1233114"/>
                <a:gd name="connsiteY12" fmla="*/ 1386915 h 2272209"/>
                <a:gd name="connsiteX13" fmla="*/ 31139 w 1233114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250005 w 1240965"/>
                <a:gd name="connsiteY9" fmla="*/ 2157122 h 2272209"/>
                <a:gd name="connsiteX10" fmla="*/ 273451 w 1240965"/>
                <a:gd name="connsiteY10" fmla="*/ 1946106 h 2272209"/>
                <a:gd name="connsiteX11" fmla="*/ 380131 w 1240965"/>
                <a:gd name="connsiteY11" fmla="*/ 171867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250005 w 1240965"/>
                <a:gd name="connsiteY9" fmla="*/ 2157122 h 2272209"/>
                <a:gd name="connsiteX10" fmla="*/ 273451 w 1240965"/>
                <a:gd name="connsiteY10" fmla="*/ 1946106 h 2272209"/>
                <a:gd name="connsiteX11" fmla="*/ 380131 w 1240965"/>
                <a:gd name="connsiteY11" fmla="*/ 158151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250005 w 1240965"/>
                <a:gd name="connsiteY9" fmla="*/ 2157122 h 2272209"/>
                <a:gd name="connsiteX10" fmla="*/ 395371 w 1240965"/>
                <a:gd name="connsiteY10" fmla="*/ 1976586 h 2272209"/>
                <a:gd name="connsiteX11" fmla="*/ 380131 w 1240965"/>
                <a:gd name="connsiteY11" fmla="*/ 158151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2209"/>
                <a:gd name="connsiteX1" fmla="*/ 85882 w 1240965"/>
                <a:gd name="connsiteY1" fmla="*/ 351768 h 2272209"/>
                <a:gd name="connsiteX2" fmla="*/ 390682 w 1240965"/>
                <a:gd name="connsiteY2" fmla="*/ 75 h 2272209"/>
                <a:gd name="connsiteX3" fmla="*/ 765821 w 1240965"/>
                <a:gd name="connsiteY3" fmla="*/ 328322 h 2272209"/>
                <a:gd name="connsiteX4" fmla="*/ 1094067 w 1240965"/>
                <a:gd name="connsiteY4" fmla="*/ 1102045 h 2272209"/>
                <a:gd name="connsiteX5" fmla="*/ 1187851 w 1240965"/>
                <a:gd name="connsiteY5" fmla="*/ 1758537 h 2272209"/>
                <a:gd name="connsiteX6" fmla="*/ 1211297 w 1240965"/>
                <a:gd name="connsiteY6" fmla="*/ 2250906 h 2272209"/>
                <a:gd name="connsiteX7" fmla="*/ 765821 w 1240965"/>
                <a:gd name="connsiteY7" fmla="*/ 2180568 h 2272209"/>
                <a:gd name="connsiteX8" fmla="*/ 367236 w 1240965"/>
                <a:gd name="connsiteY8" fmla="*/ 2157122 h 2272209"/>
                <a:gd name="connsiteX9" fmla="*/ 570045 w 1240965"/>
                <a:gd name="connsiteY9" fmla="*/ 2172362 h 2272209"/>
                <a:gd name="connsiteX10" fmla="*/ 395371 w 1240965"/>
                <a:gd name="connsiteY10" fmla="*/ 1976586 h 2272209"/>
                <a:gd name="connsiteX11" fmla="*/ 380131 w 1240965"/>
                <a:gd name="connsiteY11" fmla="*/ 1581519 h 2272209"/>
                <a:gd name="connsiteX12" fmla="*/ 23750 w 1240965"/>
                <a:gd name="connsiteY12" fmla="*/ 1386915 h 2272209"/>
                <a:gd name="connsiteX13" fmla="*/ 38990 w 1240965"/>
                <a:gd name="connsiteY13" fmla="*/ 820691 h 2272209"/>
                <a:gd name="connsiteX0" fmla="*/ 38990 w 1240965"/>
                <a:gd name="connsiteY0" fmla="*/ 820691 h 2271932"/>
                <a:gd name="connsiteX1" fmla="*/ 85882 w 1240965"/>
                <a:gd name="connsiteY1" fmla="*/ 351768 h 2271932"/>
                <a:gd name="connsiteX2" fmla="*/ 390682 w 1240965"/>
                <a:gd name="connsiteY2" fmla="*/ 75 h 2271932"/>
                <a:gd name="connsiteX3" fmla="*/ 765821 w 1240965"/>
                <a:gd name="connsiteY3" fmla="*/ 328322 h 2271932"/>
                <a:gd name="connsiteX4" fmla="*/ 1094067 w 1240965"/>
                <a:gd name="connsiteY4" fmla="*/ 1102045 h 2271932"/>
                <a:gd name="connsiteX5" fmla="*/ 1187851 w 1240965"/>
                <a:gd name="connsiteY5" fmla="*/ 1758537 h 2271932"/>
                <a:gd name="connsiteX6" fmla="*/ 1211297 w 1240965"/>
                <a:gd name="connsiteY6" fmla="*/ 2250906 h 2271932"/>
                <a:gd name="connsiteX7" fmla="*/ 765821 w 1240965"/>
                <a:gd name="connsiteY7" fmla="*/ 2180568 h 2271932"/>
                <a:gd name="connsiteX8" fmla="*/ 570045 w 1240965"/>
                <a:gd name="connsiteY8" fmla="*/ 2172362 h 2271932"/>
                <a:gd name="connsiteX9" fmla="*/ 395371 w 1240965"/>
                <a:gd name="connsiteY9" fmla="*/ 1976586 h 2271932"/>
                <a:gd name="connsiteX10" fmla="*/ 380131 w 1240965"/>
                <a:gd name="connsiteY10" fmla="*/ 1581519 h 2271932"/>
                <a:gd name="connsiteX11" fmla="*/ 23750 w 1240965"/>
                <a:gd name="connsiteY11" fmla="*/ 1386915 h 2271932"/>
                <a:gd name="connsiteX12" fmla="*/ 38990 w 1240965"/>
                <a:gd name="connsiteY12" fmla="*/ 820691 h 2271932"/>
                <a:gd name="connsiteX0" fmla="*/ 32259 w 1234234"/>
                <a:gd name="connsiteY0" fmla="*/ 820691 h 2271932"/>
                <a:gd name="connsiteX1" fmla="*/ 79151 w 1234234"/>
                <a:gd name="connsiteY1" fmla="*/ 351768 h 2271932"/>
                <a:gd name="connsiteX2" fmla="*/ 383951 w 1234234"/>
                <a:gd name="connsiteY2" fmla="*/ 75 h 2271932"/>
                <a:gd name="connsiteX3" fmla="*/ 759090 w 1234234"/>
                <a:gd name="connsiteY3" fmla="*/ 328322 h 2271932"/>
                <a:gd name="connsiteX4" fmla="*/ 1087336 w 1234234"/>
                <a:gd name="connsiteY4" fmla="*/ 1102045 h 2271932"/>
                <a:gd name="connsiteX5" fmla="*/ 1181120 w 1234234"/>
                <a:gd name="connsiteY5" fmla="*/ 1758537 h 2271932"/>
                <a:gd name="connsiteX6" fmla="*/ 1204566 w 1234234"/>
                <a:gd name="connsiteY6" fmla="*/ 2250906 h 2271932"/>
                <a:gd name="connsiteX7" fmla="*/ 759090 w 1234234"/>
                <a:gd name="connsiteY7" fmla="*/ 2180568 h 2271932"/>
                <a:gd name="connsiteX8" fmla="*/ 563314 w 1234234"/>
                <a:gd name="connsiteY8" fmla="*/ 2172362 h 2271932"/>
                <a:gd name="connsiteX9" fmla="*/ 388640 w 1234234"/>
                <a:gd name="connsiteY9" fmla="*/ 1976586 h 2271932"/>
                <a:gd name="connsiteX10" fmla="*/ 281960 w 1234234"/>
                <a:gd name="connsiteY10" fmla="*/ 1535799 h 2271932"/>
                <a:gd name="connsiteX11" fmla="*/ 17019 w 1234234"/>
                <a:gd name="connsiteY11" fmla="*/ 1386915 h 2271932"/>
                <a:gd name="connsiteX12" fmla="*/ 32259 w 1234234"/>
                <a:gd name="connsiteY12" fmla="*/ 820691 h 2271932"/>
                <a:gd name="connsiteX0" fmla="*/ 32259 w 1234234"/>
                <a:gd name="connsiteY0" fmla="*/ 820691 h 2271932"/>
                <a:gd name="connsiteX1" fmla="*/ 79151 w 1234234"/>
                <a:gd name="connsiteY1" fmla="*/ 351768 h 2271932"/>
                <a:gd name="connsiteX2" fmla="*/ 383951 w 1234234"/>
                <a:gd name="connsiteY2" fmla="*/ 75 h 2271932"/>
                <a:gd name="connsiteX3" fmla="*/ 759090 w 1234234"/>
                <a:gd name="connsiteY3" fmla="*/ 328322 h 2271932"/>
                <a:gd name="connsiteX4" fmla="*/ 1087336 w 1234234"/>
                <a:gd name="connsiteY4" fmla="*/ 1102045 h 2271932"/>
                <a:gd name="connsiteX5" fmla="*/ 1181120 w 1234234"/>
                <a:gd name="connsiteY5" fmla="*/ 1758537 h 2271932"/>
                <a:gd name="connsiteX6" fmla="*/ 1204566 w 1234234"/>
                <a:gd name="connsiteY6" fmla="*/ 2250906 h 2271932"/>
                <a:gd name="connsiteX7" fmla="*/ 759090 w 1234234"/>
                <a:gd name="connsiteY7" fmla="*/ 2180568 h 2271932"/>
                <a:gd name="connsiteX8" fmla="*/ 563314 w 1234234"/>
                <a:gd name="connsiteY8" fmla="*/ 2172362 h 2271932"/>
                <a:gd name="connsiteX9" fmla="*/ 388640 w 1234234"/>
                <a:gd name="connsiteY9" fmla="*/ 1976586 h 2271932"/>
                <a:gd name="connsiteX10" fmla="*/ 417948 w 1234234"/>
                <a:gd name="connsiteY10" fmla="*/ 1712817 h 2271932"/>
                <a:gd name="connsiteX11" fmla="*/ 281960 w 1234234"/>
                <a:gd name="connsiteY11" fmla="*/ 1535799 h 2271932"/>
                <a:gd name="connsiteX12" fmla="*/ 17019 w 1234234"/>
                <a:gd name="connsiteY12" fmla="*/ 1386915 h 2271932"/>
                <a:gd name="connsiteX13" fmla="*/ 32259 w 1234234"/>
                <a:gd name="connsiteY13" fmla="*/ 820691 h 2271932"/>
                <a:gd name="connsiteX0" fmla="*/ 26677 w 1228652"/>
                <a:gd name="connsiteY0" fmla="*/ 820691 h 2271932"/>
                <a:gd name="connsiteX1" fmla="*/ 73569 w 1228652"/>
                <a:gd name="connsiteY1" fmla="*/ 351768 h 2271932"/>
                <a:gd name="connsiteX2" fmla="*/ 378369 w 1228652"/>
                <a:gd name="connsiteY2" fmla="*/ 75 h 2271932"/>
                <a:gd name="connsiteX3" fmla="*/ 753508 w 1228652"/>
                <a:gd name="connsiteY3" fmla="*/ 328322 h 2271932"/>
                <a:gd name="connsiteX4" fmla="*/ 1081754 w 1228652"/>
                <a:gd name="connsiteY4" fmla="*/ 1102045 h 2271932"/>
                <a:gd name="connsiteX5" fmla="*/ 1175538 w 1228652"/>
                <a:gd name="connsiteY5" fmla="*/ 1758537 h 2271932"/>
                <a:gd name="connsiteX6" fmla="*/ 1198984 w 1228652"/>
                <a:gd name="connsiteY6" fmla="*/ 2250906 h 2271932"/>
                <a:gd name="connsiteX7" fmla="*/ 753508 w 1228652"/>
                <a:gd name="connsiteY7" fmla="*/ 2180568 h 2271932"/>
                <a:gd name="connsiteX8" fmla="*/ 557732 w 1228652"/>
                <a:gd name="connsiteY8" fmla="*/ 2172362 h 2271932"/>
                <a:gd name="connsiteX9" fmla="*/ 383058 w 1228652"/>
                <a:gd name="connsiteY9" fmla="*/ 1976586 h 2271932"/>
                <a:gd name="connsiteX10" fmla="*/ 412366 w 1228652"/>
                <a:gd name="connsiteY10" fmla="*/ 1712817 h 2271932"/>
                <a:gd name="connsiteX11" fmla="*/ 200178 w 1228652"/>
                <a:gd name="connsiteY11" fmla="*/ 1505319 h 2271932"/>
                <a:gd name="connsiteX12" fmla="*/ 11437 w 1228652"/>
                <a:gd name="connsiteY12" fmla="*/ 1386915 h 2271932"/>
                <a:gd name="connsiteX13" fmla="*/ 26677 w 1228652"/>
                <a:gd name="connsiteY13" fmla="*/ 820691 h 2271932"/>
                <a:gd name="connsiteX0" fmla="*/ 26677 w 1228652"/>
                <a:gd name="connsiteY0" fmla="*/ 820691 h 2271932"/>
                <a:gd name="connsiteX1" fmla="*/ 73569 w 1228652"/>
                <a:gd name="connsiteY1" fmla="*/ 351768 h 2271932"/>
                <a:gd name="connsiteX2" fmla="*/ 378369 w 1228652"/>
                <a:gd name="connsiteY2" fmla="*/ 75 h 2271932"/>
                <a:gd name="connsiteX3" fmla="*/ 753508 w 1228652"/>
                <a:gd name="connsiteY3" fmla="*/ 328322 h 2271932"/>
                <a:gd name="connsiteX4" fmla="*/ 1081754 w 1228652"/>
                <a:gd name="connsiteY4" fmla="*/ 1102045 h 2271932"/>
                <a:gd name="connsiteX5" fmla="*/ 1175538 w 1228652"/>
                <a:gd name="connsiteY5" fmla="*/ 1758537 h 2271932"/>
                <a:gd name="connsiteX6" fmla="*/ 1198984 w 1228652"/>
                <a:gd name="connsiteY6" fmla="*/ 2250906 h 2271932"/>
                <a:gd name="connsiteX7" fmla="*/ 753508 w 1228652"/>
                <a:gd name="connsiteY7" fmla="*/ 2180568 h 2271932"/>
                <a:gd name="connsiteX8" fmla="*/ 557732 w 1228652"/>
                <a:gd name="connsiteY8" fmla="*/ 2172362 h 2271932"/>
                <a:gd name="connsiteX9" fmla="*/ 383058 w 1228652"/>
                <a:gd name="connsiteY9" fmla="*/ 1976586 h 2271932"/>
                <a:gd name="connsiteX10" fmla="*/ 320926 w 1228652"/>
                <a:gd name="connsiteY10" fmla="*/ 1682337 h 2271932"/>
                <a:gd name="connsiteX11" fmla="*/ 200178 w 1228652"/>
                <a:gd name="connsiteY11" fmla="*/ 1505319 h 2271932"/>
                <a:gd name="connsiteX12" fmla="*/ 11437 w 1228652"/>
                <a:gd name="connsiteY12" fmla="*/ 1386915 h 2271932"/>
                <a:gd name="connsiteX13" fmla="*/ 26677 w 1228652"/>
                <a:gd name="connsiteY13" fmla="*/ 820691 h 2271932"/>
                <a:gd name="connsiteX0" fmla="*/ 26677 w 1228652"/>
                <a:gd name="connsiteY0" fmla="*/ 820691 h 2271932"/>
                <a:gd name="connsiteX1" fmla="*/ 73569 w 1228652"/>
                <a:gd name="connsiteY1" fmla="*/ 351768 h 2271932"/>
                <a:gd name="connsiteX2" fmla="*/ 378369 w 1228652"/>
                <a:gd name="connsiteY2" fmla="*/ 75 h 2271932"/>
                <a:gd name="connsiteX3" fmla="*/ 753508 w 1228652"/>
                <a:gd name="connsiteY3" fmla="*/ 328322 h 2271932"/>
                <a:gd name="connsiteX4" fmla="*/ 1081754 w 1228652"/>
                <a:gd name="connsiteY4" fmla="*/ 1102045 h 2271932"/>
                <a:gd name="connsiteX5" fmla="*/ 1175538 w 1228652"/>
                <a:gd name="connsiteY5" fmla="*/ 1758537 h 2271932"/>
                <a:gd name="connsiteX6" fmla="*/ 1198984 w 1228652"/>
                <a:gd name="connsiteY6" fmla="*/ 2250906 h 2271932"/>
                <a:gd name="connsiteX7" fmla="*/ 753508 w 1228652"/>
                <a:gd name="connsiteY7" fmla="*/ 2180568 h 2271932"/>
                <a:gd name="connsiteX8" fmla="*/ 557732 w 1228652"/>
                <a:gd name="connsiteY8" fmla="*/ 2172362 h 2271932"/>
                <a:gd name="connsiteX9" fmla="*/ 291618 w 1228652"/>
                <a:gd name="connsiteY9" fmla="*/ 2052786 h 2271932"/>
                <a:gd name="connsiteX10" fmla="*/ 320926 w 1228652"/>
                <a:gd name="connsiteY10" fmla="*/ 1682337 h 2271932"/>
                <a:gd name="connsiteX11" fmla="*/ 200178 w 1228652"/>
                <a:gd name="connsiteY11" fmla="*/ 1505319 h 2271932"/>
                <a:gd name="connsiteX12" fmla="*/ 11437 w 1228652"/>
                <a:gd name="connsiteY12" fmla="*/ 1386915 h 2271932"/>
                <a:gd name="connsiteX13" fmla="*/ 26677 w 1228652"/>
                <a:gd name="connsiteY13" fmla="*/ 820691 h 2271932"/>
                <a:gd name="connsiteX0" fmla="*/ 2073 w 1280248"/>
                <a:gd name="connsiteY0" fmla="*/ 820691 h 2271932"/>
                <a:gd name="connsiteX1" fmla="*/ 125165 w 1280248"/>
                <a:gd name="connsiteY1" fmla="*/ 351768 h 2271932"/>
                <a:gd name="connsiteX2" fmla="*/ 429965 w 1280248"/>
                <a:gd name="connsiteY2" fmla="*/ 75 h 2271932"/>
                <a:gd name="connsiteX3" fmla="*/ 805104 w 1280248"/>
                <a:gd name="connsiteY3" fmla="*/ 328322 h 2271932"/>
                <a:gd name="connsiteX4" fmla="*/ 1133350 w 1280248"/>
                <a:gd name="connsiteY4" fmla="*/ 1102045 h 2271932"/>
                <a:gd name="connsiteX5" fmla="*/ 1227134 w 1280248"/>
                <a:gd name="connsiteY5" fmla="*/ 1758537 h 2271932"/>
                <a:gd name="connsiteX6" fmla="*/ 1250580 w 1280248"/>
                <a:gd name="connsiteY6" fmla="*/ 2250906 h 2271932"/>
                <a:gd name="connsiteX7" fmla="*/ 805104 w 1280248"/>
                <a:gd name="connsiteY7" fmla="*/ 2180568 h 2271932"/>
                <a:gd name="connsiteX8" fmla="*/ 609328 w 1280248"/>
                <a:gd name="connsiteY8" fmla="*/ 2172362 h 2271932"/>
                <a:gd name="connsiteX9" fmla="*/ 343214 w 1280248"/>
                <a:gd name="connsiteY9" fmla="*/ 2052786 h 2271932"/>
                <a:gd name="connsiteX10" fmla="*/ 372522 w 1280248"/>
                <a:gd name="connsiteY10" fmla="*/ 1682337 h 2271932"/>
                <a:gd name="connsiteX11" fmla="*/ 251774 w 1280248"/>
                <a:gd name="connsiteY11" fmla="*/ 1505319 h 2271932"/>
                <a:gd name="connsiteX12" fmla="*/ 63033 w 1280248"/>
                <a:gd name="connsiteY12" fmla="*/ 1386915 h 2271932"/>
                <a:gd name="connsiteX13" fmla="*/ 2073 w 1280248"/>
                <a:gd name="connsiteY13" fmla="*/ 820691 h 2271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80248" h="2271932">
                  <a:moveTo>
                    <a:pt x="2073" y="820691"/>
                  </a:moveTo>
                  <a:cubicBezTo>
                    <a:pt x="12428" y="648167"/>
                    <a:pt x="53850" y="488537"/>
                    <a:pt x="125165" y="351768"/>
                  </a:cubicBezTo>
                  <a:cubicBezTo>
                    <a:pt x="196480" y="214999"/>
                    <a:pt x="316642" y="3983"/>
                    <a:pt x="429965" y="75"/>
                  </a:cubicBezTo>
                  <a:cubicBezTo>
                    <a:pt x="543288" y="-3833"/>
                    <a:pt x="687873" y="144660"/>
                    <a:pt x="805104" y="328322"/>
                  </a:cubicBezTo>
                  <a:cubicBezTo>
                    <a:pt x="922335" y="511984"/>
                    <a:pt x="1063012" y="863676"/>
                    <a:pt x="1133350" y="1102045"/>
                  </a:cubicBezTo>
                  <a:cubicBezTo>
                    <a:pt x="1203688" y="1340414"/>
                    <a:pt x="1207596" y="1567060"/>
                    <a:pt x="1227134" y="1758537"/>
                  </a:cubicBezTo>
                  <a:cubicBezTo>
                    <a:pt x="1246672" y="1950014"/>
                    <a:pt x="1320918" y="2180568"/>
                    <a:pt x="1250580" y="2250906"/>
                  </a:cubicBezTo>
                  <a:cubicBezTo>
                    <a:pt x="1180242" y="2321245"/>
                    <a:pt x="911979" y="2193659"/>
                    <a:pt x="805104" y="2180568"/>
                  </a:cubicBezTo>
                  <a:cubicBezTo>
                    <a:pt x="698229" y="2167477"/>
                    <a:pt x="686310" y="2193659"/>
                    <a:pt x="609328" y="2172362"/>
                  </a:cubicBezTo>
                  <a:cubicBezTo>
                    <a:pt x="532346" y="2151065"/>
                    <a:pt x="382682" y="2134457"/>
                    <a:pt x="343214" y="2052786"/>
                  </a:cubicBezTo>
                  <a:cubicBezTo>
                    <a:pt x="303746" y="1971115"/>
                    <a:pt x="390302" y="1755801"/>
                    <a:pt x="372522" y="1682337"/>
                  </a:cubicBezTo>
                  <a:cubicBezTo>
                    <a:pt x="354742" y="1608873"/>
                    <a:pt x="303355" y="1557096"/>
                    <a:pt x="251774" y="1505319"/>
                  </a:cubicBezTo>
                  <a:cubicBezTo>
                    <a:pt x="200193" y="1453542"/>
                    <a:pt x="104650" y="1501020"/>
                    <a:pt x="63033" y="1386915"/>
                  </a:cubicBezTo>
                  <a:cubicBezTo>
                    <a:pt x="21416" y="1272810"/>
                    <a:pt x="-8282" y="993215"/>
                    <a:pt x="2073" y="820691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5759C5D-2319-4378-B2B5-ADEA64B7A404}"/>
                </a:ext>
              </a:extLst>
            </p:cNvPr>
            <p:cNvSpPr/>
            <p:nvPr/>
          </p:nvSpPr>
          <p:spPr>
            <a:xfrm>
              <a:off x="6878968" y="813078"/>
              <a:ext cx="375015" cy="511782"/>
            </a:xfrm>
            <a:custGeom>
              <a:avLst/>
              <a:gdLst>
                <a:gd name="connsiteX0" fmla="*/ 554951 w 607785"/>
                <a:gd name="connsiteY0" fmla="*/ 119064 h 1088648"/>
                <a:gd name="connsiteX1" fmla="*/ 434635 w 607785"/>
                <a:gd name="connsiteY1" fmla="*/ 22812 h 1088648"/>
                <a:gd name="connsiteX2" fmla="*/ 242130 w 607785"/>
                <a:gd name="connsiteY2" fmla="*/ 22812 h 1088648"/>
                <a:gd name="connsiteX3" fmla="*/ 73688 w 607785"/>
                <a:gd name="connsiteY3" fmla="*/ 275475 h 1088648"/>
                <a:gd name="connsiteX4" fmla="*/ 1498 w 607785"/>
                <a:gd name="connsiteY4" fmla="*/ 624391 h 1088648"/>
                <a:gd name="connsiteX5" fmla="*/ 133846 w 607785"/>
                <a:gd name="connsiteY5" fmla="*/ 997369 h 1088648"/>
                <a:gd name="connsiteX6" fmla="*/ 422604 w 607785"/>
                <a:gd name="connsiteY6" fmla="*/ 1081591 h 1088648"/>
                <a:gd name="connsiteX7" fmla="*/ 603077 w 607785"/>
                <a:gd name="connsiteY7" fmla="*/ 865022 h 1088648"/>
                <a:gd name="connsiteX8" fmla="*/ 554951 w 607785"/>
                <a:gd name="connsiteY8" fmla="*/ 612359 h 1088648"/>
                <a:gd name="connsiteX9" fmla="*/ 554951 w 607785"/>
                <a:gd name="connsiteY9" fmla="*/ 395791 h 1088648"/>
                <a:gd name="connsiteX10" fmla="*/ 603077 w 607785"/>
                <a:gd name="connsiteY10" fmla="*/ 263443 h 1088648"/>
                <a:gd name="connsiteX11" fmla="*/ 554951 w 607785"/>
                <a:gd name="connsiteY11" fmla="*/ 119064 h 1088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07785" h="1088648">
                  <a:moveTo>
                    <a:pt x="554951" y="119064"/>
                  </a:moveTo>
                  <a:cubicBezTo>
                    <a:pt x="526877" y="78959"/>
                    <a:pt x="486772" y="38854"/>
                    <a:pt x="434635" y="22812"/>
                  </a:cubicBezTo>
                  <a:cubicBezTo>
                    <a:pt x="382498" y="6770"/>
                    <a:pt x="302288" y="-19299"/>
                    <a:pt x="242130" y="22812"/>
                  </a:cubicBezTo>
                  <a:cubicBezTo>
                    <a:pt x="181972" y="64923"/>
                    <a:pt x="113793" y="175212"/>
                    <a:pt x="73688" y="275475"/>
                  </a:cubicBezTo>
                  <a:cubicBezTo>
                    <a:pt x="33583" y="375738"/>
                    <a:pt x="-8528" y="504075"/>
                    <a:pt x="1498" y="624391"/>
                  </a:cubicBezTo>
                  <a:cubicBezTo>
                    <a:pt x="11524" y="744707"/>
                    <a:pt x="63662" y="921169"/>
                    <a:pt x="133846" y="997369"/>
                  </a:cubicBezTo>
                  <a:cubicBezTo>
                    <a:pt x="204030" y="1073569"/>
                    <a:pt x="344399" y="1103649"/>
                    <a:pt x="422604" y="1081591"/>
                  </a:cubicBezTo>
                  <a:cubicBezTo>
                    <a:pt x="500809" y="1059533"/>
                    <a:pt x="581019" y="943227"/>
                    <a:pt x="603077" y="865022"/>
                  </a:cubicBezTo>
                  <a:cubicBezTo>
                    <a:pt x="625135" y="786817"/>
                    <a:pt x="562972" y="690564"/>
                    <a:pt x="554951" y="612359"/>
                  </a:cubicBezTo>
                  <a:cubicBezTo>
                    <a:pt x="546930" y="534154"/>
                    <a:pt x="546930" y="453944"/>
                    <a:pt x="554951" y="395791"/>
                  </a:cubicBezTo>
                  <a:cubicBezTo>
                    <a:pt x="562972" y="337638"/>
                    <a:pt x="603077" y="307559"/>
                    <a:pt x="603077" y="263443"/>
                  </a:cubicBezTo>
                  <a:cubicBezTo>
                    <a:pt x="603077" y="219327"/>
                    <a:pt x="583025" y="159169"/>
                    <a:pt x="554951" y="119064"/>
                  </a:cubicBezTo>
                  <a:close/>
                </a:path>
              </a:pathLst>
            </a:custGeom>
            <a:solidFill>
              <a:srgbClr val="C7394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AFA36D1B-CEDC-4543-A1BB-EC22B0E90750}"/>
                </a:ext>
              </a:extLst>
            </p:cNvPr>
            <p:cNvSpPr/>
            <p:nvPr/>
          </p:nvSpPr>
          <p:spPr>
            <a:xfrm>
              <a:off x="6983518" y="890069"/>
              <a:ext cx="439825" cy="491772"/>
            </a:xfrm>
            <a:custGeom>
              <a:avLst/>
              <a:gdLst>
                <a:gd name="connsiteX0" fmla="*/ 352220 w 749508"/>
                <a:gd name="connsiteY0" fmla="*/ 207414 h 973885"/>
                <a:gd name="connsiteX1" fmla="*/ 207841 w 749508"/>
                <a:gd name="connsiteY1" fmla="*/ 63035 h 973885"/>
                <a:gd name="connsiteX2" fmla="*/ 171746 w 749508"/>
                <a:gd name="connsiteY2" fmla="*/ 2877 h 973885"/>
                <a:gd name="connsiteX3" fmla="*/ 87525 w 749508"/>
                <a:gd name="connsiteY3" fmla="*/ 147256 h 973885"/>
                <a:gd name="connsiteX4" fmla="*/ 171746 w 749508"/>
                <a:gd name="connsiteY4" fmla="*/ 267572 h 973885"/>
                <a:gd name="connsiteX5" fmla="*/ 195809 w 749508"/>
                <a:gd name="connsiteY5" fmla="*/ 267572 h 973885"/>
                <a:gd name="connsiteX6" fmla="*/ 63462 w 749508"/>
                <a:gd name="connsiteY6" fmla="*/ 303666 h 973885"/>
                <a:gd name="connsiteX7" fmla="*/ 15335 w 749508"/>
                <a:gd name="connsiteY7" fmla="*/ 291635 h 973885"/>
                <a:gd name="connsiteX8" fmla="*/ 15335 w 749508"/>
                <a:gd name="connsiteY8" fmla="*/ 520235 h 973885"/>
                <a:gd name="connsiteX9" fmla="*/ 195809 w 749508"/>
                <a:gd name="connsiteY9" fmla="*/ 448045 h 973885"/>
                <a:gd name="connsiteX10" fmla="*/ 147683 w 749508"/>
                <a:gd name="connsiteY10" fmla="*/ 628519 h 973885"/>
                <a:gd name="connsiteX11" fmla="*/ 195809 w 749508"/>
                <a:gd name="connsiteY11" fmla="*/ 688677 h 973885"/>
                <a:gd name="connsiteX12" fmla="*/ 267998 w 749508"/>
                <a:gd name="connsiteY12" fmla="*/ 700709 h 973885"/>
                <a:gd name="connsiteX13" fmla="*/ 316125 w 749508"/>
                <a:gd name="connsiteY13" fmla="*/ 496172 h 973885"/>
                <a:gd name="connsiteX14" fmla="*/ 472535 w 749508"/>
                <a:gd name="connsiteY14" fmla="*/ 436014 h 973885"/>
                <a:gd name="connsiteX15" fmla="*/ 713167 w 749508"/>
                <a:gd name="connsiteY15" fmla="*/ 881182 h 973885"/>
                <a:gd name="connsiteX16" fmla="*/ 713167 w 749508"/>
                <a:gd name="connsiteY16" fmla="*/ 941340 h 973885"/>
                <a:gd name="connsiteX17" fmla="*/ 725198 w 749508"/>
                <a:gd name="connsiteY17" fmla="*/ 484140 h 973885"/>
                <a:gd name="connsiteX18" fmla="*/ 352220 w 749508"/>
                <a:gd name="connsiteY18" fmla="*/ 207414 h 973885"/>
                <a:gd name="connsiteX0" fmla="*/ 366890 w 764178"/>
                <a:gd name="connsiteY0" fmla="*/ 207414 h 973885"/>
                <a:gd name="connsiteX1" fmla="*/ 222511 w 764178"/>
                <a:gd name="connsiteY1" fmla="*/ 63035 h 973885"/>
                <a:gd name="connsiteX2" fmla="*/ 186416 w 764178"/>
                <a:gd name="connsiteY2" fmla="*/ 2877 h 973885"/>
                <a:gd name="connsiteX3" fmla="*/ 102195 w 764178"/>
                <a:gd name="connsiteY3" fmla="*/ 147256 h 973885"/>
                <a:gd name="connsiteX4" fmla="*/ 186416 w 764178"/>
                <a:gd name="connsiteY4" fmla="*/ 267572 h 973885"/>
                <a:gd name="connsiteX5" fmla="*/ 210479 w 764178"/>
                <a:gd name="connsiteY5" fmla="*/ 267572 h 973885"/>
                <a:gd name="connsiteX6" fmla="*/ 78132 w 764178"/>
                <a:gd name="connsiteY6" fmla="*/ 303666 h 973885"/>
                <a:gd name="connsiteX7" fmla="*/ 4605 w 764178"/>
                <a:gd name="connsiteY7" fmla="*/ 301795 h 973885"/>
                <a:gd name="connsiteX8" fmla="*/ 30005 w 764178"/>
                <a:gd name="connsiteY8" fmla="*/ 520235 h 973885"/>
                <a:gd name="connsiteX9" fmla="*/ 210479 w 764178"/>
                <a:gd name="connsiteY9" fmla="*/ 448045 h 973885"/>
                <a:gd name="connsiteX10" fmla="*/ 162353 w 764178"/>
                <a:gd name="connsiteY10" fmla="*/ 628519 h 973885"/>
                <a:gd name="connsiteX11" fmla="*/ 210479 w 764178"/>
                <a:gd name="connsiteY11" fmla="*/ 688677 h 973885"/>
                <a:gd name="connsiteX12" fmla="*/ 282668 w 764178"/>
                <a:gd name="connsiteY12" fmla="*/ 700709 h 973885"/>
                <a:gd name="connsiteX13" fmla="*/ 330795 w 764178"/>
                <a:gd name="connsiteY13" fmla="*/ 496172 h 973885"/>
                <a:gd name="connsiteX14" fmla="*/ 487205 w 764178"/>
                <a:gd name="connsiteY14" fmla="*/ 436014 h 973885"/>
                <a:gd name="connsiteX15" fmla="*/ 727837 w 764178"/>
                <a:gd name="connsiteY15" fmla="*/ 881182 h 973885"/>
                <a:gd name="connsiteX16" fmla="*/ 727837 w 764178"/>
                <a:gd name="connsiteY16" fmla="*/ 941340 h 973885"/>
                <a:gd name="connsiteX17" fmla="*/ 739868 w 764178"/>
                <a:gd name="connsiteY17" fmla="*/ 484140 h 973885"/>
                <a:gd name="connsiteX18" fmla="*/ 366890 w 76417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08599 w 762298"/>
                <a:gd name="connsiteY5" fmla="*/ 26757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7414 h 973885"/>
                <a:gd name="connsiteX1" fmla="*/ 220631 w 762298"/>
                <a:gd name="connsiteY1" fmla="*/ 63035 h 973885"/>
                <a:gd name="connsiteX2" fmla="*/ 184536 w 762298"/>
                <a:gd name="connsiteY2" fmla="*/ 2877 h 973885"/>
                <a:gd name="connsiteX3" fmla="*/ 100315 w 762298"/>
                <a:gd name="connsiteY3" fmla="*/ 147256 h 973885"/>
                <a:gd name="connsiteX4" fmla="*/ 184536 w 762298"/>
                <a:gd name="connsiteY4" fmla="*/ 267572 h 973885"/>
                <a:gd name="connsiteX5" fmla="*/ 218759 w 762298"/>
                <a:gd name="connsiteY5" fmla="*/ 287892 h 973885"/>
                <a:gd name="connsiteX6" fmla="*/ 50852 w 762298"/>
                <a:gd name="connsiteY6" fmla="*/ 278266 h 973885"/>
                <a:gd name="connsiteX7" fmla="*/ 2725 w 762298"/>
                <a:gd name="connsiteY7" fmla="*/ 301795 h 973885"/>
                <a:gd name="connsiteX8" fmla="*/ 28125 w 762298"/>
                <a:gd name="connsiteY8" fmla="*/ 520235 h 973885"/>
                <a:gd name="connsiteX9" fmla="*/ 208599 w 762298"/>
                <a:gd name="connsiteY9" fmla="*/ 448045 h 973885"/>
                <a:gd name="connsiteX10" fmla="*/ 160473 w 762298"/>
                <a:gd name="connsiteY10" fmla="*/ 628519 h 973885"/>
                <a:gd name="connsiteX11" fmla="*/ 208599 w 762298"/>
                <a:gd name="connsiteY11" fmla="*/ 688677 h 973885"/>
                <a:gd name="connsiteX12" fmla="*/ 280788 w 762298"/>
                <a:gd name="connsiteY12" fmla="*/ 700709 h 973885"/>
                <a:gd name="connsiteX13" fmla="*/ 328915 w 762298"/>
                <a:gd name="connsiteY13" fmla="*/ 496172 h 973885"/>
                <a:gd name="connsiteX14" fmla="*/ 485325 w 762298"/>
                <a:gd name="connsiteY14" fmla="*/ 436014 h 973885"/>
                <a:gd name="connsiteX15" fmla="*/ 725957 w 762298"/>
                <a:gd name="connsiteY15" fmla="*/ 881182 h 973885"/>
                <a:gd name="connsiteX16" fmla="*/ 725957 w 762298"/>
                <a:gd name="connsiteY16" fmla="*/ 941340 h 973885"/>
                <a:gd name="connsiteX17" fmla="*/ 737988 w 762298"/>
                <a:gd name="connsiteY17" fmla="*/ 484140 h 973885"/>
                <a:gd name="connsiteX18" fmla="*/ 365010 w 762298"/>
                <a:gd name="connsiteY18" fmla="*/ 207414 h 973885"/>
                <a:gd name="connsiteX0" fmla="*/ 365010 w 762298"/>
                <a:gd name="connsiteY0" fmla="*/ 204584 h 971055"/>
                <a:gd name="connsiteX1" fmla="*/ 220631 w 762298"/>
                <a:gd name="connsiteY1" fmla="*/ 60205 h 971055"/>
                <a:gd name="connsiteX2" fmla="*/ 184536 w 762298"/>
                <a:gd name="connsiteY2" fmla="*/ 47 h 971055"/>
                <a:gd name="connsiteX3" fmla="*/ 39355 w 762298"/>
                <a:gd name="connsiteY3" fmla="*/ 68226 h 971055"/>
                <a:gd name="connsiteX4" fmla="*/ 184536 w 762298"/>
                <a:gd name="connsiteY4" fmla="*/ 264742 h 971055"/>
                <a:gd name="connsiteX5" fmla="*/ 218759 w 762298"/>
                <a:gd name="connsiteY5" fmla="*/ 285062 h 971055"/>
                <a:gd name="connsiteX6" fmla="*/ 50852 w 762298"/>
                <a:gd name="connsiteY6" fmla="*/ 275436 h 971055"/>
                <a:gd name="connsiteX7" fmla="*/ 2725 w 762298"/>
                <a:gd name="connsiteY7" fmla="*/ 298965 h 971055"/>
                <a:gd name="connsiteX8" fmla="*/ 28125 w 762298"/>
                <a:gd name="connsiteY8" fmla="*/ 517405 h 971055"/>
                <a:gd name="connsiteX9" fmla="*/ 208599 w 762298"/>
                <a:gd name="connsiteY9" fmla="*/ 445215 h 971055"/>
                <a:gd name="connsiteX10" fmla="*/ 160473 w 762298"/>
                <a:gd name="connsiteY10" fmla="*/ 625689 h 971055"/>
                <a:gd name="connsiteX11" fmla="*/ 208599 w 762298"/>
                <a:gd name="connsiteY11" fmla="*/ 685847 h 971055"/>
                <a:gd name="connsiteX12" fmla="*/ 280788 w 762298"/>
                <a:gd name="connsiteY12" fmla="*/ 697879 h 971055"/>
                <a:gd name="connsiteX13" fmla="*/ 328915 w 762298"/>
                <a:gd name="connsiteY13" fmla="*/ 493342 h 971055"/>
                <a:gd name="connsiteX14" fmla="*/ 485325 w 762298"/>
                <a:gd name="connsiteY14" fmla="*/ 433184 h 971055"/>
                <a:gd name="connsiteX15" fmla="*/ 725957 w 762298"/>
                <a:gd name="connsiteY15" fmla="*/ 878352 h 971055"/>
                <a:gd name="connsiteX16" fmla="*/ 725957 w 762298"/>
                <a:gd name="connsiteY16" fmla="*/ 938510 h 971055"/>
                <a:gd name="connsiteX17" fmla="*/ 737988 w 762298"/>
                <a:gd name="connsiteY17" fmla="*/ 481310 h 971055"/>
                <a:gd name="connsiteX18" fmla="*/ 365010 w 762298"/>
                <a:gd name="connsiteY18" fmla="*/ 204584 h 971055"/>
                <a:gd name="connsiteX0" fmla="*/ 365010 w 762298"/>
                <a:gd name="connsiteY0" fmla="*/ 252091 h 1018562"/>
                <a:gd name="connsiteX1" fmla="*/ 230791 w 762298"/>
                <a:gd name="connsiteY1" fmla="*/ 11192 h 1018562"/>
                <a:gd name="connsiteX2" fmla="*/ 184536 w 762298"/>
                <a:gd name="connsiteY2" fmla="*/ 47554 h 1018562"/>
                <a:gd name="connsiteX3" fmla="*/ 39355 w 762298"/>
                <a:gd name="connsiteY3" fmla="*/ 115733 h 1018562"/>
                <a:gd name="connsiteX4" fmla="*/ 184536 w 762298"/>
                <a:gd name="connsiteY4" fmla="*/ 312249 h 1018562"/>
                <a:gd name="connsiteX5" fmla="*/ 218759 w 762298"/>
                <a:gd name="connsiteY5" fmla="*/ 332569 h 1018562"/>
                <a:gd name="connsiteX6" fmla="*/ 50852 w 762298"/>
                <a:gd name="connsiteY6" fmla="*/ 322943 h 1018562"/>
                <a:gd name="connsiteX7" fmla="*/ 2725 w 762298"/>
                <a:gd name="connsiteY7" fmla="*/ 346472 h 1018562"/>
                <a:gd name="connsiteX8" fmla="*/ 28125 w 762298"/>
                <a:gd name="connsiteY8" fmla="*/ 564912 h 1018562"/>
                <a:gd name="connsiteX9" fmla="*/ 208599 w 762298"/>
                <a:gd name="connsiteY9" fmla="*/ 492722 h 1018562"/>
                <a:gd name="connsiteX10" fmla="*/ 160473 w 762298"/>
                <a:gd name="connsiteY10" fmla="*/ 673196 h 1018562"/>
                <a:gd name="connsiteX11" fmla="*/ 208599 w 762298"/>
                <a:gd name="connsiteY11" fmla="*/ 733354 h 1018562"/>
                <a:gd name="connsiteX12" fmla="*/ 280788 w 762298"/>
                <a:gd name="connsiteY12" fmla="*/ 745386 h 1018562"/>
                <a:gd name="connsiteX13" fmla="*/ 328915 w 762298"/>
                <a:gd name="connsiteY13" fmla="*/ 540849 h 1018562"/>
                <a:gd name="connsiteX14" fmla="*/ 485325 w 762298"/>
                <a:gd name="connsiteY14" fmla="*/ 480691 h 1018562"/>
                <a:gd name="connsiteX15" fmla="*/ 725957 w 762298"/>
                <a:gd name="connsiteY15" fmla="*/ 925859 h 1018562"/>
                <a:gd name="connsiteX16" fmla="*/ 725957 w 762298"/>
                <a:gd name="connsiteY16" fmla="*/ 986017 h 1018562"/>
                <a:gd name="connsiteX17" fmla="*/ 737988 w 762298"/>
                <a:gd name="connsiteY17" fmla="*/ 528817 h 1018562"/>
                <a:gd name="connsiteX18" fmla="*/ 365010 w 762298"/>
                <a:gd name="connsiteY18" fmla="*/ 252091 h 1018562"/>
                <a:gd name="connsiteX0" fmla="*/ 365010 w 762298"/>
                <a:gd name="connsiteY0" fmla="*/ 257298 h 1023769"/>
                <a:gd name="connsiteX1" fmla="*/ 230791 w 762298"/>
                <a:gd name="connsiteY1" fmla="*/ 16399 h 1023769"/>
                <a:gd name="connsiteX2" fmla="*/ 154056 w 762298"/>
                <a:gd name="connsiteY2" fmla="*/ 32441 h 1023769"/>
                <a:gd name="connsiteX3" fmla="*/ 39355 w 762298"/>
                <a:gd name="connsiteY3" fmla="*/ 120940 h 1023769"/>
                <a:gd name="connsiteX4" fmla="*/ 184536 w 762298"/>
                <a:gd name="connsiteY4" fmla="*/ 317456 h 1023769"/>
                <a:gd name="connsiteX5" fmla="*/ 218759 w 762298"/>
                <a:gd name="connsiteY5" fmla="*/ 337776 h 1023769"/>
                <a:gd name="connsiteX6" fmla="*/ 50852 w 762298"/>
                <a:gd name="connsiteY6" fmla="*/ 328150 h 1023769"/>
                <a:gd name="connsiteX7" fmla="*/ 2725 w 762298"/>
                <a:gd name="connsiteY7" fmla="*/ 351679 h 1023769"/>
                <a:gd name="connsiteX8" fmla="*/ 28125 w 762298"/>
                <a:gd name="connsiteY8" fmla="*/ 570119 h 1023769"/>
                <a:gd name="connsiteX9" fmla="*/ 208599 w 762298"/>
                <a:gd name="connsiteY9" fmla="*/ 497929 h 1023769"/>
                <a:gd name="connsiteX10" fmla="*/ 160473 w 762298"/>
                <a:gd name="connsiteY10" fmla="*/ 678403 h 1023769"/>
                <a:gd name="connsiteX11" fmla="*/ 208599 w 762298"/>
                <a:gd name="connsiteY11" fmla="*/ 738561 h 1023769"/>
                <a:gd name="connsiteX12" fmla="*/ 280788 w 762298"/>
                <a:gd name="connsiteY12" fmla="*/ 750593 h 1023769"/>
                <a:gd name="connsiteX13" fmla="*/ 328915 w 762298"/>
                <a:gd name="connsiteY13" fmla="*/ 546056 h 1023769"/>
                <a:gd name="connsiteX14" fmla="*/ 485325 w 762298"/>
                <a:gd name="connsiteY14" fmla="*/ 485898 h 1023769"/>
                <a:gd name="connsiteX15" fmla="*/ 725957 w 762298"/>
                <a:gd name="connsiteY15" fmla="*/ 931066 h 1023769"/>
                <a:gd name="connsiteX16" fmla="*/ 725957 w 762298"/>
                <a:gd name="connsiteY16" fmla="*/ 991224 h 1023769"/>
                <a:gd name="connsiteX17" fmla="*/ 737988 w 762298"/>
                <a:gd name="connsiteY17" fmla="*/ 534024 h 1023769"/>
                <a:gd name="connsiteX18" fmla="*/ 365010 w 762298"/>
                <a:gd name="connsiteY18" fmla="*/ 257298 h 1023769"/>
                <a:gd name="connsiteX0" fmla="*/ 365010 w 762298"/>
                <a:gd name="connsiteY0" fmla="*/ 252092 h 1018563"/>
                <a:gd name="connsiteX1" fmla="*/ 230791 w 762298"/>
                <a:gd name="connsiteY1" fmla="*/ 11193 h 1018563"/>
                <a:gd name="connsiteX2" fmla="*/ 148976 w 762298"/>
                <a:gd name="connsiteY2" fmla="*/ 47555 h 1018563"/>
                <a:gd name="connsiteX3" fmla="*/ 39355 w 762298"/>
                <a:gd name="connsiteY3" fmla="*/ 115734 h 1018563"/>
                <a:gd name="connsiteX4" fmla="*/ 184536 w 762298"/>
                <a:gd name="connsiteY4" fmla="*/ 312250 h 1018563"/>
                <a:gd name="connsiteX5" fmla="*/ 218759 w 762298"/>
                <a:gd name="connsiteY5" fmla="*/ 332570 h 1018563"/>
                <a:gd name="connsiteX6" fmla="*/ 50852 w 762298"/>
                <a:gd name="connsiteY6" fmla="*/ 322944 h 1018563"/>
                <a:gd name="connsiteX7" fmla="*/ 2725 w 762298"/>
                <a:gd name="connsiteY7" fmla="*/ 346473 h 1018563"/>
                <a:gd name="connsiteX8" fmla="*/ 28125 w 762298"/>
                <a:gd name="connsiteY8" fmla="*/ 564913 h 1018563"/>
                <a:gd name="connsiteX9" fmla="*/ 208599 w 762298"/>
                <a:gd name="connsiteY9" fmla="*/ 492723 h 1018563"/>
                <a:gd name="connsiteX10" fmla="*/ 160473 w 762298"/>
                <a:gd name="connsiteY10" fmla="*/ 673197 h 1018563"/>
                <a:gd name="connsiteX11" fmla="*/ 208599 w 762298"/>
                <a:gd name="connsiteY11" fmla="*/ 733355 h 1018563"/>
                <a:gd name="connsiteX12" fmla="*/ 280788 w 762298"/>
                <a:gd name="connsiteY12" fmla="*/ 745387 h 1018563"/>
                <a:gd name="connsiteX13" fmla="*/ 328915 w 762298"/>
                <a:gd name="connsiteY13" fmla="*/ 540850 h 1018563"/>
                <a:gd name="connsiteX14" fmla="*/ 485325 w 762298"/>
                <a:gd name="connsiteY14" fmla="*/ 480692 h 1018563"/>
                <a:gd name="connsiteX15" fmla="*/ 725957 w 762298"/>
                <a:gd name="connsiteY15" fmla="*/ 925860 h 1018563"/>
                <a:gd name="connsiteX16" fmla="*/ 725957 w 762298"/>
                <a:gd name="connsiteY16" fmla="*/ 986018 h 1018563"/>
                <a:gd name="connsiteX17" fmla="*/ 737988 w 762298"/>
                <a:gd name="connsiteY17" fmla="*/ 528818 h 1018563"/>
                <a:gd name="connsiteX18" fmla="*/ 365010 w 762298"/>
                <a:gd name="connsiteY18" fmla="*/ 252092 h 1018563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6031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65010 w 762298"/>
                <a:gd name="connsiteY0" fmla="*/ 279841 h 1046312"/>
                <a:gd name="connsiteX1" fmla="*/ 220631 w 762298"/>
                <a:gd name="connsiteY1" fmla="*/ 8462 h 1046312"/>
                <a:gd name="connsiteX2" fmla="*/ 148976 w 762298"/>
                <a:gd name="connsiteY2" fmla="*/ 75304 h 1046312"/>
                <a:gd name="connsiteX3" fmla="*/ 39355 w 762298"/>
                <a:gd name="connsiteY3" fmla="*/ 143483 h 1046312"/>
                <a:gd name="connsiteX4" fmla="*/ 184536 w 762298"/>
                <a:gd name="connsiteY4" fmla="*/ 339999 h 1046312"/>
                <a:gd name="connsiteX5" fmla="*/ 218759 w 762298"/>
                <a:gd name="connsiteY5" fmla="*/ 339999 h 1046312"/>
                <a:gd name="connsiteX6" fmla="*/ 50852 w 762298"/>
                <a:gd name="connsiteY6" fmla="*/ 350693 h 1046312"/>
                <a:gd name="connsiteX7" fmla="*/ 2725 w 762298"/>
                <a:gd name="connsiteY7" fmla="*/ 374222 h 1046312"/>
                <a:gd name="connsiteX8" fmla="*/ 28125 w 762298"/>
                <a:gd name="connsiteY8" fmla="*/ 592662 h 1046312"/>
                <a:gd name="connsiteX9" fmla="*/ 208599 w 762298"/>
                <a:gd name="connsiteY9" fmla="*/ 520472 h 1046312"/>
                <a:gd name="connsiteX10" fmla="*/ 160473 w 762298"/>
                <a:gd name="connsiteY10" fmla="*/ 700946 h 1046312"/>
                <a:gd name="connsiteX11" fmla="*/ 208599 w 762298"/>
                <a:gd name="connsiteY11" fmla="*/ 761104 h 1046312"/>
                <a:gd name="connsiteX12" fmla="*/ 280788 w 762298"/>
                <a:gd name="connsiteY12" fmla="*/ 773136 h 1046312"/>
                <a:gd name="connsiteX13" fmla="*/ 328915 w 762298"/>
                <a:gd name="connsiteY13" fmla="*/ 568599 h 1046312"/>
                <a:gd name="connsiteX14" fmla="*/ 485325 w 762298"/>
                <a:gd name="connsiteY14" fmla="*/ 508441 h 1046312"/>
                <a:gd name="connsiteX15" fmla="*/ 725957 w 762298"/>
                <a:gd name="connsiteY15" fmla="*/ 953609 h 1046312"/>
                <a:gd name="connsiteX16" fmla="*/ 725957 w 762298"/>
                <a:gd name="connsiteY16" fmla="*/ 1013767 h 1046312"/>
                <a:gd name="connsiteX17" fmla="*/ 737988 w 762298"/>
                <a:gd name="connsiteY17" fmla="*/ 556567 h 1046312"/>
                <a:gd name="connsiteX18" fmla="*/ 365010 w 762298"/>
                <a:gd name="connsiteY18" fmla="*/ 279841 h 1046312"/>
                <a:gd name="connsiteX0" fmla="*/ 388225 w 785513"/>
                <a:gd name="connsiteY0" fmla="*/ 279841 h 1046312"/>
                <a:gd name="connsiteX1" fmla="*/ 243846 w 785513"/>
                <a:gd name="connsiteY1" fmla="*/ 8462 h 1046312"/>
                <a:gd name="connsiteX2" fmla="*/ 172191 w 785513"/>
                <a:gd name="connsiteY2" fmla="*/ 75304 h 1046312"/>
                <a:gd name="connsiteX3" fmla="*/ 62570 w 785513"/>
                <a:gd name="connsiteY3" fmla="*/ 143483 h 1046312"/>
                <a:gd name="connsiteX4" fmla="*/ 207751 w 785513"/>
                <a:gd name="connsiteY4" fmla="*/ 339999 h 1046312"/>
                <a:gd name="connsiteX5" fmla="*/ 241974 w 785513"/>
                <a:gd name="connsiteY5" fmla="*/ 339999 h 1046312"/>
                <a:gd name="connsiteX6" fmla="*/ 74067 w 785513"/>
                <a:gd name="connsiteY6" fmla="*/ 350693 h 1046312"/>
                <a:gd name="connsiteX7" fmla="*/ 540 w 785513"/>
                <a:gd name="connsiteY7" fmla="*/ 358982 h 1046312"/>
                <a:gd name="connsiteX8" fmla="*/ 51340 w 785513"/>
                <a:gd name="connsiteY8" fmla="*/ 592662 h 1046312"/>
                <a:gd name="connsiteX9" fmla="*/ 231814 w 785513"/>
                <a:gd name="connsiteY9" fmla="*/ 520472 h 1046312"/>
                <a:gd name="connsiteX10" fmla="*/ 183688 w 785513"/>
                <a:gd name="connsiteY10" fmla="*/ 700946 h 1046312"/>
                <a:gd name="connsiteX11" fmla="*/ 231814 w 785513"/>
                <a:gd name="connsiteY11" fmla="*/ 761104 h 1046312"/>
                <a:gd name="connsiteX12" fmla="*/ 304003 w 785513"/>
                <a:gd name="connsiteY12" fmla="*/ 773136 h 1046312"/>
                <a:gd name="connsiteX13" fmla="*/ 352130 w 785513"/>
                <a:gd name="connsiteY13" fmla="*/ 568599 h 1046312"/>
                <a:gd name="connsiteX14" fmla="*/ 508540 w 785513"/>
                <a:gd name="connsiteY14" fmla="*/ 508441 h 1046312"/>
                <a:gd name="connsiteX15" fmla="*/ 749172 w 785513"/>
                <a:gd name="connsiteY15" fmla="*/ 953609 h 1046312"/>
                <a:gd name="connsiteX16" fmla="*/ 749172 w 785513"/>
                <a:gd name="connsiteY16" fmla="*/ 1013767 h 1046312"/>
                <a:gd name="connsiteX17" fmla="*/ 761203 w 785513"/>
                <a:gd name="connsiteY17" fmla="*/ 556567 h 1046312"/>
                <a:gd name="connsiteX18" fmla="*/ 388225 w 785513"/>
                <a:gd name="connsiteY18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18112 w 795874"/>
                <a:gd name="connsiteY4" fmla="*/ 339999 h 1046312"/>
                <a:gd name="connsiteX5" fmla="*/ 252335 w 795874"/>
                <a:gd name="connsiteY5" fmla="*/ 339999 h 1046312"/>
                <a:gd name="connsiteX6" fmla="*/ 10901 w 795874"/>
                <a:gd name="connsiteY6" fmla="*/ 358982 h 1046312"/>
                <a:gd name="connsiteX7" fmla="*/ 61701 w 795874"/>
                <a:gd name="connsiteY7" fmla="*/ 592662 h 1046312"/>
                <a:gd name="connsiteX8" fmla="*/ 242175 w 795874"/>
                <a:gd name="connsiteY8" fmla="*/ 520472 h 1046312"/>
                <a:gd name="connsiteX9" fmla="*/ 194049 w 795874"/>
                <a:gd name="connsiteY9" fmla="*/ 700946 h 1046312"/>
                <a:gd name="connsiteX10" fmla="*/ 242175 w 795874"/>
                <a:gd name="connsiteY10" fmla="*/ 761104 h 1046312"/>
                <a:gd name="connsiteX11" fmla="*/ 314364 w 795874"/>
                <a:gd name="connsiteY11" fmla="*/ 773136 h 1046312"/>
                <a:gd name="connsiteX12" fmla="*/ 362491 w 795874"/>
                <a:gd name="connsiteY12" fmla="*/ 568599 h 1046312"/>
                <a:gd name="connsiteX13" fmla="*/ 518901 w 795874"/>
                <a:gd name="connsiteY13" fmla="*/ 508441 h 1046312"/>
                <a:gd name="connsiteX14" fmla="*/ 759533 w 795874"/>
                <a:gd name="connsiteY14" fmla="*/ 953609 h 1046312"/>
                <a:gd name="connsiteX15" fmla="*/ 759533 w 795874"/>
                <a:gd name="connsiteY15" fmla="*/ 1013767 h 1046312"/>
                <a:gd name="connsiteX16" fmla="*/ 771564 w 795874"/>
                <a:gd name="connsiteY16" fmla="*/ 556567 h 1046312"/>
                <a:gd name="connsiteX17" fmla="*/ 398586 w 795874"/>
                <a:gd name="connsiteY17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94049 w 795874"/>
                <a:gd name="connsiteY8" fmla="*/ 70094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42175 w 795874"/>
                <a:gd name="connsiteY9" fmla="*/ 76110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8586 w 795874"/>
                <a:gd name="connsiteY0" fmla="*/ 279841 h 1046312"/>
                <a:gd name="connsiteX1" fmla="*/ 254207 w 795874"/>
                <a:gd name="connsiteY1" fmla="*/ 8462 h 1046312"/>
                <a:gd name="connsiteX2" fmla="*/ 182552 w 795874"/>
                <a:gd name="connsiteY2" fmla="*/ 75304 h 1046312"/>
                <a:gd name="connsiteX3" fmla="*/ 72931 w 795874"/>
                <a:gd name="connsiteY3" fmla="*/ 143483 h 1046312"/>
                <a:gd name="connsiteX4" fmla="*/ 252335 w 795874"/>
                <a:gd name="connsiteY4" fmla="*/ 339999 h 1046312"/>
                <a:gd name="connsiteX5" fmla="*/ 10901 w 795874"/>
                <a:gd name="connsiteY5" fmla="*/ 358982 h 1046312"/>
                <a:gd name="connsiteX6" fmla="*/ 61701 w 795874"/>
                <a:gd name="connsiteY6" fmla="*/ 592662 h 1046312"/>
                <a:gd name="connsiteX7" fmla="*/ 242175 w 795874"/>
                <a:gd name="connsiteY7" fmla="*/ 520472 h 1046312"/>
                <a:gd name="connsiteX8" fmla="*/ 138169 w 795874"/>
                <a:gd name="connsiteY8" fmla="*/ 690786 h 1046312"/>
                <a:gd name="connsiteX9" fmla="*/ 237095 w 795874"/>
                <a:gd name="connsiteY9" fmla="*/ 720464 h 1046312"/>
                <a:gd name="connsiteX10" fmla="*/ 314364 w 795874"/>
                <a:gd name="connsiteY10" fmla="*/ 773136 h 1046312"/>
                <a:gd name="connsiteX11" fmla="*/ 362491 w 795874"/>
                <a:gd name="connsiteY11" fmla="*/ 568599 h 1046312"/>
                <a:gd name="connsiteX12" fmla="*/ 518901 w 795874"/>
                <a:gd name="connsiteY12" fmla="*/ 508441 h 1046312"/>
                <a:gd name="connsiteX13" fmla="*/ 759533 w 795874"/>
                <a:gd name="connsiteY13" fmla="*/ 953609 h 1046312"/>
                <a:gd name="connsiteX14" fmla="*/ 759533 w 795874"/>
                <a:gd name="connsiteY14" fmla="*/ 1013767 h 1046312"/>
                <a:gd name="connsiteX15" fmla="*/ 771564 w 795874"/>
                <a:gd name="connsiteY15" fmla="*/ 556567 h 1046312"/>
                <a:gd name="connsiteX16" fmla="*/ 398586 w 795874"/>
                <a:gd name="connsiteY16" fmla="*/ 279841 h 1046312"/>
                <a:gd name="connsiteX0" fmla="*/ 397537 w 794825"/>
                <a:gd name="connsiteY0" fmla="*/ 279841 h 1046312"/>
                <a:gd name="connsiteX1" fmla="*/ 253158 w 794825"/>
                <a:gd name="connsiteY1" fmla="*/ 8462 h 1046312"/>
                <a:gd name="connsiteX2" fmla="*/ 181503 w 794825"/>
                <a:gd name="connsiteY2" fmla="*/ 75304 h 1046312"/>
                <a:gd name="connsiteX3" fmla="*/ 71882 w 794825"/>
                <a:gd name="connsiteY3" fmla="*/ 143483 h 1046312"/>
                <a:gd name="connsiteX4" fmla="*/ 251286 w 794825"/>
                <a:gd name="connsiteY4" fmla="*/ 339999 h 1046312"/>
                <a:gd name="connsiteX5" fmla="*/ 9852 w 794825"/>
                <a:gd name="connsiteY5" fmla="*/ 358982 h 1046312"/>
                <a:gd name="connsiteX6" fmla="*/ 48087 w 794825"/>
                <a:gd name="connsiteY6" fmla="*/ 491865 h 1046312"/>
                <a:gd name="connsiteX7" fmla="*/ 60652 w 794825"/>
                <a:gd name="connsiteY7" fmla="*/ 592662 h 1046312"/>
                <a:gd name="connsiteX8" fmla="*/ 241126 w 794825"/>
                <a:gd name="connsiteY8" fmla="*/ 520472 h 1046312"/>
                <a:gd name="connsiteX9" fmla="*/ 137120 w 794825"/>
                <a:gd name="connsiteY9" fmla="*/ 690786 h 1046312"/>
                <a:gd name="connsiteX10" fmla="*/ 236046 w 794825"/>
                <a:gd name="connsiteY10" fmla="*/ 720464 h 1046312"/>
                <a:gd name="connsiteX11" fmla="*/ 313315 w 794825"/>
                <a:gd name="connsiteY11" fmla="*/ 773136 h 1046312"/>
                <a:gd name="connsiteX12" fmla="*/ 361442 w 794825"/>
                <a:gd name="connsiteY12" fmla="*/ 568599 h 1046312"/>
                <a:gd name="connsiteX13" fmla="*/ 517852 w 794825"/>
                <a:gd name="connsiteY13" fmla="*/ 508441 h 1046312"/>
                <a:gd name="connsiteX14" fmla="*/ 758484 w 794825"/>
                <a:gd name="connsiteY14" fmla="*/ 953609 h 1046312"/>
                <a:gd name="connsiteX15" fmla="*/ 758484 w 794825"/>
                <a:gd name="connsiteY15" fmla="*/ 1013767 h 1046312"/>
                <a:gd name="connsiteX16" fmla="*/ 770515 w 794825"/>
                <a:gd name="connsiteY16" fmla="*/ 556567 h 1046312"/>
                <a:gd name="connsiteX17" fmla="*/ 397537 w 794825"/>
                <a:gd name="connsiteY17" fmla="*/ 279841 h 1046312"/>
                <a:gd name="connsiteX0" fmla="*/ 397537 w 775871"/>
                <a:gd name="connsiteY0" fmla="*/ 279841 h 1046312"/>
                <a:gd name="connsiteX1" fmla="*/ 253158 w 775871"/>
                <a:gd name="connsiteY1" fmla="*/ 8462 h 1046312"/>
                <a:gd name="connsiteX2" fmla="*/ 181503 w 775871"/>
                <a:gd name="connsiteY2" fmla="*/ 75304 h 1046312"/>
                <a:gd name="connsiteX3" fmla="*/ 71882 w 775871"/>
                <a:gd name="connsiteY3" fmla="*/ 143483 h 1046312"/>
                <a:gd name="connsiteX4" fmla="*/ 251286 w 775871"/>
                <a:gd name="connsiteY4" fmla="*/ 339999 h 1046312"/>
                <a:gd name="connsiteX5" fmla="*/ 9852 w 775871"/>
                <a:gd name="connsiteY5" fmla="*/ 358982 h 1046312"/>
                <a:gd name="connsiteX6" fmla="*/ 48087 w 775871"/>
                <a:gd name="connsiteY6" fmla="*/ 491865 h 1046312"/>
                <a:gd name="connsiteX7" fmla="*/ 60652 w 775871"/>
                <a:gd name="connsiteY7" fmla="*/ 592662 h 1046312"/>
                <a:gd name="connsiteX8" fmla="*/ 241126 w 775871"/>
                <a:gd name="connsiteY8" fmla="*/ 520472 h 1046312"/>
                <a:gd name="connsiteX9" fmla="*/ 137120 w 775871"/>
                <a:gd name="connsiteY9" fmla="*/ 690786 h 1046312"/>
                <a:gd name="connsiteX10" fmla="*/ 236046 w 775871"/>
                <a:gd name="connsiteY10" fmla="*/ 720464 h 1046312"/>
                <a:gd name="connsiteX11" fmla="*/ 313315 w 775871"/>
                <a:gd name="connsiteY11" fmla="*/ 773136 h 1046312"/>
                <a:gd name="connsiteX12" fmla="*/ 361442 w 775871"/>
                <a:gd name="connsiteY12" fmla="*/ 568599 h 1046312"/>
                <a:gd name="connsiteX13" fmla="*/ 517852 w 775871"/>
                <a:gd name="connsiteY13" fmla="*/ 508441 h 1046312"/>
                <a:gd name="connsiteX14" fmla="*/ 758484 w 775871"/>
                <a:gd name="connsiteY14" fmla="*/ 953609 h 1046312"/>
                <a:gd name="connsiteX15" fmla="*/ 758484 w 775871"/>
                <a:gd name="connsiteY15" fmla="*/ 1013767 h 1046312"/>
                <a:gd name="connsiteX16" fmla="*/ 729875 w 775871"/>
                <a:gd name="connsiteY16" fmla="*/ 576887 h 1046312"/>
                <a:gd name="connsiteX17" fmla="*/ 397537 w 775871"/>
                <a:gd name="connsiteY17" fmla="*/ 279841 h 1046312"/>
                <a:gd name="connsiteX0" fmla="*/ 397537 w 767491"/>
                <a:gd name="connsiteY0" fmla="*/ 279841 h 1063019"/>
                <a:gd name="connsiteX1" fmla="*/ 253158 w 767491"/>
                <a:gd name="connsiteY1" fmla="*/ 8462 h 1063019"/>
                <a:gd name="connsiteX2" fmla="*/ 181503 w 767491"/>
                <a:gd name="connsiteY2" fmla="*/ 75304 h 1063019"/>
                <a:gd name="connsiteX3" fmla="*/ 71882 w 767491"/>
                <a:gd name="connsiteY3" fmla="*/ 143483 h 1063019"/>
                <a:gd name="connsiteX4" fmla="*/ 251286 w 767491"/>
                <a:gd name="connsiteY4" fmla="*/ 339999 h 1063019"/>
                <a:gd name="connsiteX5" fmla="*/ 9852 w 767491"/>
                <a:gd name="connsiteY5" fmla="*/ 358982 h 1063019"/>
                <a:gd name="connsiteX6" fmla="*/ 48087 w 767491"/>
                <a:gd name="connsiteY6" fmla="*/ 491865 h 1063019"/>
                <a:gd name="connsiteX7" fmla="*/ 60652 w 767491"/>
                <a:gd name="connsiteY7" fmla="*/ 592662 h 1063019"/>
                <a:gd name="connsiteX8" fmla="*/ 241126 w 767491"/>
                <a:gd name="connsiteY8" fmla="*/ 520472 h 1063019"/>
                <a:gd name="connsiteX9" fmla="*/ 137120 w 767491"/>
                <a:gd name="connsiteY9" fmla="*/ 690786 h 1063019"/>
                <a:gd name="connsiteX10" fmla="*/ 236046 w 767491"/>
                <a:gd name="connsiteY10" fmla="*/ 720464 h 1063019"/>
                <a:gd name="connsiteX11" fmla="*/ 313315 w 767491"/>
                <a:gd name="connsiteY11" fmla="*/ 773136 h 1063019"/>
                <a:gd name="connsiteX12" fmla="*/ 361442 w 767491"/>
                <a:gd name="connsiteY12" fmla="*/ 568599 h 1063019"/>
                <a:gd name="connsiteX13" fmla="*/ 517852 w 767491"/>
                <a:gd name="connsiteY13" fmla="*/ 508441 h 1063019"/>
                <a:gd name="connsiteX14" fmla="*/ 728004 w 767491"/>
                <a:gd name="connsiteY14" fmla="*/ 999329 h 1063019"/>
                <a:gd name="connsiteX15" fmla="*/ 758484 w 767491"/>
                <a:gd name="connsiteY15" fmla="*/ 1013767 h 1063019"/>
                <a:gd name="connsiteX16" fmla="*/ 729875 w 767491"/>
                <a:gd name="connsiteY16" fmla="*/ 576887 h 1063019"/>
                <a:gd name="connsiteX17" fmla="*/ 397537 w 767491"/>
                <a:gd name="connsiteY17" fmla="*/ 279841 h 1063019"/>
                <a:gd name="connsiteX0" fmla="*/ 397537 w 758605"/>
                <a:gd name="connsiteY0" fmla="*/ 279841 h 1063019"/>
                <a:gd name="connsiteX1" fmla="*/ 253158 w 758605"/>
                <a:gd name="connsiteY1" fmla="*/ 8462 h 1063019"/>
                <a:gd name="connsiteX2" fmla="*/ 181503 w 758605"/>
                <a:gd name="connsiteY2" fmla="*/ 75304 h 1063019"/>
                <a:gd name="connsiteX3" fmla="*/ 71882 w 758605"/>
                <a:gd name="connsiteY3" fmla="*/ 143483 h 1063019"/>
                <a:gd name="connsiteX4" fmla="*/ 251286 w 758605"/>
                <a:gd name="connsiteY4" fmla="*/ 339999 h 1063019"/>
                <a:gd name="connsiteX5" fmla="*/ 9852 w 758605"/>
                <a:gd name="connsiteY5" fmla="*/ 358982 h 1063019"/>
                <a:gd name="connsiteX6" fmla="*/ 48087 w 758605"/>
                <a:gd name="connsiteY6" fmla="*/ 491865 h 1063019"/>
                <a:gd name="connsiteX7" fmla="*/ 60652 w 758605"/>
                <a:gd name="connsiteY7" fmla="*/ 592662 h 1063019"/>
                <a:gd name="connsiteX8" fmla="*/ 241126 w 758605"/>
                <a:gd name="connsiteY8" fmla="*/ 520472 h 1063019"/>
                <a:gd name="connsiteX9" fmla="*/ 137120 w 758605"/>
                <a:gd name="connsiteY9" fmla="*/ 690786 h 1063019"/>
                <a:gd name="connsiteX10" fmla="*/ 236046 w 758605"/>
                <a:gd name="connsiteY10" fmla="*/ 720464 h 1063019"/>
                <a:gd name="connsiteX11" fmla="*/ 313315 w 758605"/>
                <a:gd name="connsiteY11" fmla="*/ 773136 h 1063019"/>
                <a:gd name="connsiteX12" fmla="*/ 361442 w 758605"/>
                <a:gd name="connsiteY12" fmla="*/ 568599 h 1063019"/>
                <a:gd name="connsiteX13" fmla="*/ 517852 w 758605"/>
                <a:gd name="connsiteY13" fmla="*/ 508441 h 1063019"/>
                <a:gd name="connsiteX14" fmla="*/ 728004 w 758605"/>
                <a:gd name="connsiteY14" fmla="*/ 999329 h 1063019"/>
                <a:gd name="connsiteX15" fmla="*/ 758484 w 758605"/>
                <a:gd name="connsiteY15" fmla="*/ 1013767 h 1063019"/>
                <a:gd name="connsiteX16" fmla="*/ 597795 w 758605"/>
                <a:gd name="connsiteY16" fmla="*/ 521007 h 1063019"/>
                <a:gd name="connsiteX17" fmla="*/ 397537 w 758605"/>
                <a:gd name="connsiteY17" fmla="*/ 279841 h 1063019"/>
                <a:gd name="connsiteX0" fmla="*/ 428017 w 758605"/>
                <a:gd name="connsiteY0" fmla="*/ 285223 h 1063321"/>
                <a:gd name="connsiteX1" fmla="*/ 253158 w 758605"/>
                <a:gd name="connsiteY1" fmla="*/ 8764 h 1063321"/>
                <a:gd name="connsiteX2" fmla="*/ 181503 w 758605"/>
                <a:gd name="connsiteY2" fmla="*/ 75606 h 1063321"/>
                <a:gd name="connsiteX3" fmla="*/ 71882 w 758605"/>
                <a:gd name="connsiteY3" fmla="*/ 143785 h 1063321"/>
                <a:gd name="connsiteX4" fmla="*/ 251286 w 758605"/>
                <a:gd name="connsiteY4" fmla="*/ 340301 h 1063321"/>
                <a:gd name="connsiteX5" fmla="*/ 9852 w 758605"/>
                <a:gd name="connsiteY5" fmla="*/ 359284 h 1063321"/>
                <a:gd name="connsiteX6" fmla="*/ 48087 w 758605"/>
                <a:gd name="connsiteY6" fmla="*/ 492167 h 1063321"/>
                <a:gd name="connsiteX7" fmla="*/ 60652 w 758605"/>
                <a:gd name="connsiteY7" fmla="*/ 592964 h 1063321"/>
                <a:gd name="connsiteX8" fmla="*/ 241126 w 758605"/>
                <a:gd name="connsiteY8" fmla="*/ 520774 h 1063321"/>
                <a:gd name="connsiteX9" fmla="*/ 137120 w 758605"/>
                <a:gd name="connsiteY9" fmla="*/ 691088 h 1063321"/>
                <a:gd name="connsiteX10" fmla="*/ 236046 w 758605"/>
                <a:gd name="connsiteY10" fmla="*/ 720766 h 1063321"/>
                <a:gd name="connsiteX11" fmla="*/ 313315 w 758605"/>
                <a:gd name="connsiteY11" fmla="*/ 773438 h 1063321"/>
                <a:gd name="connsiteX12" fmla="*/ 361442 w 758605"/>
                <a:gd name="connsiteY12" fmla="*/ 568901 h 1063321"/>
                <a:gd name="connsiteX13" fmla="*/ 517852 w 758605"/>
                <a:gd name="connsiteY13" fmla="*/ 508743 h 1063321"/>
                <a:gd name="connsiteX14" fmla="*/ 728004 w 758605"/>
                <a:gd name="connsiteY14" fmla="*/ 999631 h 1063321"/>
                <a:gd name="connsiteX15" fmla="*/ 758484 w 758605"/>
                <a:gd name="connsiteY15" fmla="*/ 1014069 h 1063321"/>
                <a:gd name="connsiteX16" fmla="*/ 597795 w 758605"/>
                <a:gd name="connsiteY16" fmla="*/ 521309 h 1063321"/>
                <a:gd name="connsiteX17" fmla="*/ 428017 w 758605"/>
                <a:gd name="connsiteY17" fmla="*/ 285223 h 1063321"/>
                <a:gd name="connsiteX0" fmla="*/ 428017 w 758605"/>
                <a:gd name="connsiteY0" fmla="*/ 285223 h 1066357"/>
                <a:gd name="connsiteX1" fmla="*/ 253158 w 758605"/>
                <a:gd name="connsiteY1" fmla="*/ 8764 h 1066357"/>
                <a:gd name="connsiteX2" fmla="*/ 181503 w 758605"/>
                <a:gd name="connsiteY2" fmla="*/ 75606 h 1066357"/>
                <a:gd name="connsiteX3" fmla="*/ 71882 w 758605"/>
                <a:gd name="connsiteY3" fmla="*/ 143785 h 1066357"/>
                <a:gd name="connsiteX4" fmla="*/ 251286 w 758605"/>
                <a:gd name="connsiteY4" fmla="*/ 340301 h 1066357"/>
                <a:gd name="connsiteX5" fmla="*/ 9852 w 758605"/>
                <a:gd name="connsiteY5" fmla="*/ 359284 h 1066357"/>
                <a:gd name="connsiteX6" fmla="*/ 48087 w 758605"/>
                <a:gd name="connsiteY6" fmla="*/ 492167 h 1066357"/>
                <a:gd name="connsiteX7" fmla="*/ 60652 w 758605"/>
                <a:gd name="connsiteY7" fmla="*/ 592964 h 1066357"/>
                <a:gd name="connsiteX8" fmla="*/ 241126 w 758605"/>
                <a:gd name="connsiteY8" fmla="*/ 520774 h 1066357"/>
                <a:gd name="connsiteX9" fmla="*/ 137120 w 758605"/>
                <a:gd name="connsiteY9" fmla="*/ 691088 h 1066357"/>
                <a:gd name="connsiteX10" fmla="*/ 236046 w 758605"/>
                <a:gd name="connsiteY10" fmla="*/ 720766 h 1066357"/>
                <a:gd name="connsiteX11" fmla="*/ 313315 w 758605"/>
                <a:gd name="connsiteY11" fmla="*/ 773438 h 1066357"/>
                <a:gd name="connsiteX12" fmla="*/ 361442 w 758605"/>
                <a:gd name="connsiteY12" fmla="*/ 568901 h 1066357"/>
                <a:gd name="connsiteX13" fmla="*/ 517852 w 758605"/>
                <a:gd name="connsiteY13" fmla="*/ 508743 h 1066357"/>
                <a:gd name="connsiteX14" fmla="*/ 728004 w 758605"/>
                <a:gd name="connsiteY14" fmla="*/ 999631 h 1066357"/>
                <a:gd name="connsiteX15" fmla="*/ 758484 w 758605"/>
                <a:gd name="connsiteY15" fmla="*/ 1019149 h 1066357"/>
                <a:gd name="connsiteX16" fmla="*/ 597795 w 758605"/>
                <a:gd name="connsiteY16" fmla="*/ 521309 h 1066357"/>
                <a:gd name="connsiteX17" fmla="*/ 428017 w 758605"/>
                <a:gd name="connsiteY17" fmla="*/ 285223 h 1066357"/>
                <a:gd name="connsiteX0" fmla="*/ 428017 w 758511"/>
                <a:gd name="connsiteY0" fmla="*/ 285223 h 1036121"/>
                <a:gd name="connsiteX1" fmla="*/ 253158 w 758511"/>
                <a:gd name="connsiteY1" fmla="*/ 8764 h 1036121"/>
                <a:gd name="connsiteX2" fmla="*/ 181503 w 758511"/>
                <a:gd name="connsiteY2" fmla="*/ 75606 h 1036121"/>
                <a:gd name="connsiteX3" fmla="*/ 71882 w 758511"/>
                <a:gd name="connsiteY3" fmla="*/ 143785 h 1036121"/>
                <a:gd name="connsiteX4" fmla="*/ 251286 w 758511"/>
                <a:gd name="connsiteY4" fmla="*/ 340301 h 1036121"/>
                <a:gd name="connsiteX5" fmla="*/ 9852 w 758511"/>
                <a:gd name="connsiteY5" fmla="*/ 359284 h 1036121"/>
                <a:gd name="connsiteX6" fmla="*/ 48087 w 758511"/>
                <a:gd name="connsiteY6" fmla="*/ 492167 h 1036121"/>
                <a:gd name="connsiteX7" fmla="*/ 60652 w 758511"/>
                <a:gd name="connsiteY7" fmla="*/ 592964 h 1036121"/>
                <a:gd name="connsiteX8" fmla="*/ 241126 w 758511"/>
                <a:gd name="connsiteY8" fmla="*/ 520774 h 1036121"/>
                <a:gd name="connsiteX9" fmla="*/ 137120 w 758511"/>
                <a:gd name="connsiteY9" fmla="*/ 691088 h 1036121"/>
                <a:gd name="connsiteX10" fmla="*/ 236046 w 758511"/>
                <a:gd name="connsiteY10" fmla="*/ 720766 h 1036121"/>
                <a:gd name="connsiteX11" fmla="*/ 313315 w 758511"/>
                <a:gd name="connsiteY11" fmla="*/ 773438 h 1036121"/>
                <a:gd name="connsiteX12" fmla="*/ 361442 w 758511"/>
                <a:gd name="connsiteY12" fmla="*/ 568901 h 1036121"/>
                <a:gd name="connsiteX13" fmla="*/ 517852 w 758511"/>
                <a:gd name="connsiteY13" fmla="*/ 508743 h 1036121"/>
                <a:gd name="connsiteX14" fmla="*/ 687364 w 758511"/>
                <a:gd name="connsiteY14" fmla="*/ 857391 h 1036121"/>
                <a:gd name="connsiteX15" fmla="*/ 758484 w 758511"/>
                <a:gd name="connsiteY15" fmla="*/ 1019149 h 1036121"/>
                <a:gd name="connsiteX16" fmla="*/ 597795 w 758511"/>
                <a:gd name="connsiteY16" fmla="*/ 521309 h 1036121"/>
                <a:gd name="connsiteX17" fmla="*/ 428017 w 758511"/>
                <a:gd name="connsiteY17" fmla="*/ 285223 h 1036121"/>
                <a:gd name="connsiteX0" fmla="*/ 428017 w 712806"/>
                <a:gd name="connsiteY0" fmla="*/ 285223 h 1045586"/>
                <a:gd name="connsiteX1" fmla="*/ 253158 w 712806"/>
                <a:gd name="connsiteY1" fmla="*/ 8764 h 1045586"/>
                <a:gd name="connsiteX2" fmla="*/ 181503 w 712806"/>
                <a:gd name="connsiteY2" fmla="*/ 75606 h 1045586"/>
                <a:gd name="connsiteX3" fmla="*/ 71882 w 712806"/>
                <a:gd name="connsiteY3" fmla="*/ 143785 h 1045586"/>
                <a:gd name="connsiteX4" fmla="*/ 251286 w 712806"/>
                <a:gd name="connsiteY4" fmla="*/ 340301 h 1045586"/>
                <a:gd name="connsiteX5" fmla="*/ 9852 w 712806"/>
                <a:gd name="connsiteY5" fmla="*/ 359284 h 1045586"/>
                <a:gd name="connsiteX6" fmla="*/ 48087 w 712806"/>
                <a:gd name="connsiteY6" fmla="*/ 492167 h 1045586"/>
                <a:gd name="connsiteX7" fmla="*/ 60652 w 712806"/>
                <a:gd name="connsiteY7" fmla="*/ 592964 h 1045586"/>
                <a:gd name="connsiteX8" fmla="*/ 241126 w 712806"/>
                <a:gd name="connsiteY8" fmla="*/ 520774 h 1045586"/>
                <a:gd name="connsiteX9" fmla="*/ 137120 w 712806"/>
                <a:gd name="connsiteY9" fmla="*/ 691088 h 1045586"/>
                <a:gd name="connsiteX10" fmla="*/ 236046 w 712806"/>
                <a:gd name="connsiteY10" fmla="*/ 720766 h 1045586"/>
                <a:gd name="connsiteX11" fmla="*/ 313315 w 712806"/>
                <a:gd name="connsiteY11" fmla="*/ 773438 h 1045586"/>
                <a:gd name="connsiteX12" fmla="*/ 361442 w 712806"/>
                <a:gd name="connsiteY12" fmla="*/ 568901 h 1045586"/>
                <a:gd name="connsiteX13" fmla="*/ 517852 w 712806"/>
                <a:gd name="connsiteY13" fmla="*/ 508743 h 1045586"/>
                <a:gd name="connsiteX14" fmla="*/ 687364 w 712806"/>
                <a:gd name="connsiteY14" fmla="*/ 857391 h 1045586"/>
                <a:gd name="connsiteX15" fmla="*/ 712764 w 712806"/>
                <a:gd name="connsiteY15" fmla="*/ 1029309 h 1045586"/>
                <a:gd name="connsiteX16" fmla="*/ 597795 w 712806"/>
                <a:gd name="connsiteY16" fmla="*/ 521309 h 1045586"/>
                <a:gd name="connsiteX17" fmla="*/ 428017 w 712806"/>
                <a:gd name="connsiteY17" fmla="*/ 285223 h 1045586"/>
                <a:gd name="connsiteX0" fmla="*/ 428017 w 712880"/>
                <a:gd name="connsiteY0" fmla="*/ 285223 h 1045586"/>
                <a:gd name="connsiteX1" fmla="*/ 253158 w 712880"/>
                <a:gd name="connsiteY1" fmla="*/ 8764 h 1045586"/>
                <a:gd name="connsiteX2" fmla="*/ 181503 w 712880"/>
                <a:gd name="connsiteY2" fmla="*/ 75606 h 1045586"/>
                <a:gd name="connsiteX3" fmla="*/ 71882 w 712880"/>
                <a:gd name="connsiteY3" fmla="*/ 143785 h 1045586"/>
                <a:gd name="connsiteX4" fmla="*/ 251286 w 712880"/>
                <a:gd name="connsiteY4" fmla="*/ 340301 h 1045586"/>
                <a:gd name="connsiteX5" fmla="*/ 9852 w 712880"/>
                <a:gd name="connsiteY5" fmla="*/ 359284 h 1045586"/>
                <a:gd name="connsiteX6" fmla="*/ 48087 w 712880"/>
                <a:gd name="connsiteY6" fmla="*/ 492167 h 1045586"/>
                <a:gd name="connsiteX7" fmla="*/ 60652 w 712880"/>
                <a:gd name="connsiteY7" fmla="*/ 592964 h 1045586"/>
                <a:gd name="connsiteX8" fmla="*/ 241126 w 712880"/>
                <a:gd name="connsiteY8" fmla="*/ 520774 h 1045586"/>
                <a:gd name="connsiteX9" fmla="*/ 137120 w 712880"/>
                <a:gd name="connsiteY9" fmla="*/ 691088 h 1045586"/>
                <a:gd name="connsiteX10" fmla="*/ 236046 w 712880"/>
                <a:gd name="connsiteY10" fmla="*/ 720766 h 1045586"/>
                <a:gd name="connsiteX11" fmla="*/ 313315 w 712880"/>
                <a:gd name="connsiteY11" fmla="*/ 773438 h 1045586"/>
                <a:gd name="connsiteX12" fmla="*/ 361442 w 712880"/>
                <a:gd name="connsiteY12" fmla="*/ 568901 h 1045586"/>
                <a:gd name="connsiteX13" fmla="*/ 517852 w 712880"/>
                <a:gd name="connsiteY13" fmla="*/ 508743 h 1045586"/>
                <a:gd name="connsiteX14" fmla="*/ 687364 w 712880"/>
                <a:gd name="connsiteY14" fmla="*/ 857391 h 1045586"/>
                <a:gd name="connsiteX15" fmla="*/ 712764 w 712880"/>
                <a:gd name="connsiteY15" fmla="*/ 1029309 h 1045586"/>
                <a:gd name="connsiteX16" fmla="*/ 643515 w 712880"/>
                <a:gd name="connsiteY16" fmla="*/ 541629 h 1045586"/>
                <a:gd name="connsiteX17" fmla="*/ 428017 w 712880"/>
                <a:gd name="connsiteY17" fmla="*/ 285223 h 1045586"/>
                <a:gd name="connsiteX0" fmla="*/ 428017 w 712880"/>
                <a:gd name="connsiteY0" fmla="*/ 285223 h 1045648"/>
                <a:gd name="connsiteX1" fmla="*/ 253158 w 712880"/>
                <a:gd name="connsiteY1" fmla="*/ 8764 h 1045648"/>
                <a:gd name="connsiteX2" fmla="*/ 181503 w 712880"/>
                <a:gd name="connsiteY2" fmla="*/ 75606 h 1045648"/>
                <a:gd name="connsiteX3" fmla="*/ 71882 w 712880"/>
                <a:gd name="connsiteY3" fmla="*/ 143785 h 1045648"/>
                <a:gd name="connsiteX4" fmla="*/ 251286 w 712880"/>
                <a:gd name="connsiteY4" fmla="*/ 340301 h 1045648"/>
                <a:gd name="connsiteX5" fmla="*/ 9852 w 712880"/>
                <a:gd name="connsiteY5" fmla="*/ 359284 h 1045648"/>
                <a:gd name="connsiteX6" fmla="*/ 48087 w 712880"/>
                <a:gd name="connsiteY6" fmla="*/ 492167 h 1045648"/>
                <a:gd name="connsiteX7" fmla="*/ 60652 w 712880"/>
                <a:gd name="connsiteY7" fmla="*/ 592964 h 1045648"/>
                <a:gd name="connsiteX8" fmla="*/ 241126 w 712880"/>
                <a:gd name="connsiteY8" fmla="*/ 520774 h 1045648"/>
                <a:gd name="connsiteX9" fmla="*/ 137120 w 712880"/>
                <a:gd name="connsiteY9" fmla="*/ 691088 h 1045648"/>
                <a:gd name="connsiteX10" fmla="*/ 236046 w 712880"/>
                <a:gd name="connsiteY10" fmla="*/ 720766 h 1045648"/>
                <a:gd name="connsiteX11" fmla="*/ 313315 w 712880"/>
                <a:gd name="connsiteY11" fmla="*/ 773438 h 1045648"/>
                <a:gd name="connsiteX12" fmla="*/ 361442 w 712880"/>
                <a:gd name="connsiteY12" fmla="*/ 568901 h 1045648"/>
                <a:gd name="connsiteX13" fmla="*/ 538172 w 712880"/>
                <a:gd name="connsiteY13" fmla="*/ 503663 h 1045648"/>
                <a:gd name="connsiteX14" fmla="*/ 687364 w 712880"/>
                <a:gd name="connsiteY14" fmla="*/ 857391 h 1045648"/>
                <a:gd name="connsiteX15" fmla="*/ 712764 w 712880"/>
                <a:gd name="connsiteY15" fmla="*/ 1029309 h 1045648"/>
                <a:gd name="connsiteX16" fmla="*/ 643515 w 712880"/>
                <a:gd name="connsiteY16" fmla="*/ 541629 h 1045648"/>
                <a:gd name="connsiteX17" fmla="*/ 428017 w 712880"/>
                <a:gd name="connsiteY17" fmla="*/ 285223 h 1045648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8228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80"/>
                <a:gd name="connsiteY0" fmla="*/ 285223 h 1048421"/>
                <a:gd name="connsiteX1" fmla="*/ 253158 w 712880"/>
                <a:gd name="connsiteY1" fmla="*/ 8764 h 1048421"/>
                <a:gd name="connsiteX2" fmla="*/ 181503 w 712880"/>
                <a:gd name="connsiteY2" fmla="*/ 75606 h 1048421"/>
                <a:gd name="connsiteX3" fmla="*/ 71882 w 712880"/>
                <a:gd name="connsiteY3" fmla="*/ 143785 h 1048421"/>
                <a:gd name="connsiteX4" fmla="*/ 251286 w 712880"/>
                <a:gd name="connsiteY4" fmla="*/ 340301 h 1048421"/>
                <a:gd name="connsiteX5" fmla="*/ 9852 w 712880"/>
                <a:gd name="connsiteY5" fmla="*/ 359284 h 1048421"/>
                <a:gd name="connsiteX6" fmla="*/ 48087 w 712880"/>
                <a:gd name="connsiteY6" fmla="*/ 492167 h 1048421"/>
                <a:gd name="connsiteX7" fmla="*/ 60652 w 712880"/>
                <a:gd name="connsiteY7" fmla="*/ 592964 h 1048421"/>
                <a:gd name="connsiteX8" fmla="*/ 241126 w 712880"/>
                <a:gd name="connsiteY8" fmla="*/ 520774 h 1048421"/>
                <a:gd name="connsiteX9" fmla="*/ 137120 w 712880"/>
                <a:gd name="connsiteY9" fmla="*/ 691088 h 1048421"/>
                <a:gd name="connsiteX10" fmla="*/ 236046 w 712880"/>
                <a:gd name="connsiteY10" fmla="*/ 720766 h 1048421"/>
                <a:gd name="connsiteX11" fmla="*/ 313315 w 712880"/>
                <a:gd name="connsiteY11" fmla="*/ 773438 h 1048421"/>
                <a:gd name="connsiteX12" fmla="*/ 361442 w 712880"/>
                <a:gd name="connsiteY12" fmla="*/ 568901 h 1048421"/>
                <a:gd name="connsiteX13" fmla="*/ 538172 w 712880"/>
                <a:gd name="connsiteY13" fmla="*/ 503663 h 1048421"/>
                <a:gd name="connsiteX14" fmla="*/ 667044 w 712880"/>
                <a:gd name="connsiteY14" fmla="*/ 887871 h 1048421"/>
                <a:gd name="connsiteX15" fmla="*/ 712764 w 712880"/>
                <a:gd name="connsiteY15" fmla="*/ 1029309 h 1048421"/>
                <a:gd name="connsiteX16" fmla="*/ 643515 w 712880"/>
                <a:gd name="connsiteY16" fmla="*/ 541629 h 1048421"/>
                <a:gd name="connsiteX17" fmla="*/ 428017 w 712880"/>
                <a:gd name="connsiteY17" fmla="*/ 285223 h 1048421"/>
                <a:gd name="connsiteX0" fmla="*/ 428017 w 712823"/>
                <a:gd name="connsiteY0" fmla="*/ 285223 h 1048421"/>
                <a:gd name="connsiteX1" fmla="*/ 253158 w 712823"/>
                <a:gd name="connsiteY1" fmla="*/ 8764 h 1048421"/>
                <a:gd name="connsiteX2" fmla="*/ 181503 w 712823"/>
                <a:gd name="connsiteY2" fmla="*/ 75606 h 1048421"/>
                <a:gd name="connsiteX3" fmla="*/ 71882 w 712823"/>
                <a:gd name="connsiteY3" fmla="*/ 143785 h 1048421"/>
                <a:gd name="connsiteX4" fmla="*/ 251286 w 712823"/>
                <a:gd name="connsiteY4" fmla="*/ 340301 h 1048421"/>
                <a:gd name="connsiteX5" fmla="*/ 9852 w 712823"/>
                <a:gd name="connsiteY5" fmla="*/ 359284 h 1048421"/>
                <a:gd name="connsiteX6" fmla="*/ 48087 w 712823"/>
                <a:gd name="connsiteY6" fmla="*/ 492167 h 1048421"/>
                <a:gd name="connsiteX7" fmla="*/ 60652 w 712823"/>
                <a:gd name="connsiteY7" fmla="*/ 592964 h 1048421"/>
                <a:gd name="connsiteX8" fmla="*/ 241126 w 712823"/>
                <a:gd name="connsiteY8" fmla="*/ 520774 h 1048421"/>
                <a:gd name="connsiteX9" fmla="*/ 137120 w 712823"/>
                <a:gd name="connsiteY9" fmla="*/ 691088 h 1048421"/>
                <a:gd name="connsiteX10" fmla="*/ 236046 w 712823"/>
                <a:gd name="connsiteY10" fmla="*/ 720766 h 1048421"/>
                <a:gd name="connsiteX11" fmla="*/ 313315 w 712823"/>
                <a:gd name="connsiteY11" fmla="*/ 773438 h 1048421"/>
                <a:gd name="connsiteX12" fmla="*/ 361442 w 712823"/>
                <a:gd name="connsiteY12" fmla="*/ 568901 h 1048421"/>
                <a:gd name="connsiteX13" fmla="*/ 538172 w 712823"/>
                <a:gd name="connsiteY13" fmla="*/ 503663 h 1048421"/>
                <a:gd name="connsiteX14" fmla="*/ 667044 w 712823"/>
                <a:gd name="connsiteY14" fmla="*/ 887871 h 1048421"/>
                <a:gd name="connsiteX15" fmla="*/ 712764 w 712823"/>
                <a:gd name="connsiteY15" fmla="*/ 1029309 h 1048421"/>
                <a:gd name="connsiteX16" fmla="*/ 618115 w 712823"/>
                <a:gd name="connsiteY16" fmla="*/ 526389 h 1048421"/>
                <a:gd name="connsiteX17" fmla="*/ 428017 w 712823"/>
                <a:gd name="connsiteY17" fmla="*/ 285223 h 1048421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  <a:gd name="connsiteX0" fmla="*/ 428017 w 712823"/>
                <a:gd name="connsiteY0" fmla="*/ 285223 h 1046082"/>
                <a:gd name="connsiteX1" fmla="*/ 253158 w 712823"/>
                <a:gd name="connsiteY1" fmla="*/ 8764 h 1046082"/>
                <a:gd name="connsiteX2" fmla="*/ 181503 w 712823"/>
                <a:gd name="connsiteY2" fmla="*/ 75606 h 1046082"/>
                <a:gd name="connsiteX3" fmla="*/ 71882 w 712823"/>
                <a:gd name="connsiteY3" fmla="*/ 143785 h 1046082"/>
                <a:gd name="connsiteX4" fmla="*/ 251286 w 712823"/>
                <a:gd name="connsiteY4" fmla="*/ 340301 h 1046082"/>
                <a:gd name="connsiteX5" fmla="*/ 9852 w 712823"/>
                <a:gd name="connsiteY5" fmla="*/ 359284 h 1046082"/>
                <a:gd name="connsiteX6" fmla="*/ 48087 w 712823"/>
                <a:gd name="connsiteY6" fmla="*/ 492167 h 1046082"/>
                <a:gd name="connsiteX7" fmla="*/ 60652 w 712823"/>
                <a:gd name="connsiteY7" fmla="*/ 592964 h 1046082"/>
                <a:gd name="connsiteX8" fmla="*/ 241126 w 712823"/>
                <a:gd name="connsiteY8" fmla="*/ 520774 h 1046082"/>
                <a:gd name="connsiteX9" fmla="*/ 137120 w 712823"/>
                <a:gd name="connsiteY9" fmla="*/ 691088 h 1046082"/>
                <a:gd name="connsiteX10" fmla="*/ 236046 w 712823"/>
                <a:gd name="connsiteY10" fmla="*/ 720766 h 1046082"/>
                <a:gd name="connsiteX11" fmla="*/ 313315 w 712823"/>
                <a:gd name="connsiteY11" fmla="*/ 773438 h 1046082"/>
                <a:gd name="connsiteX12" fmla="*/ 361442 w 712823"/>
                <a:gd name="connsiteY12" fmla="*/ 568901 h 1046082"/>
                <a:gd name="connsiteX13" fmla="*/ 538172 w 712823"/>
                <a:gd name="connsiteY13" fmla="*/ 503663 h 1046082"/>
                <a:gd name="connsiteX14" fmla="*/ 622128 w 712823"/>
                <a:gd name="connsiteY14" fmla="*/ 664886 h 1046082"/>
                <a:gd name="connsiteX15" fmla="*/ 667044 w 712823"/>
                <a:gd name="connsiteY15" fmla="*/ 887871 h 1046082"/>
                <a:gd name="connsiteX16" fmla="*/ 712764 w 712823"/>
                <a:gd name="connsiteY16" fmla="*/ 1029309 h 1046082"/>
                <a:gd name="connsiteX17" fmla="*/ 618115 w 712823"/>
                <a:gd name="connsiteY17" fmla="*/ 526389 h 1046082"/>
                <a:gd name="connsiteX18" fmla="*/ 428017 w 712823"/>
                <a:gd name="connsiteY18" fmla="*/ 285223 h 10460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2823" h="1046082">
                  <a:moveTo>
                    <a:pt x="428017" y="285223"/>
                  </a:moveTo>
                  <a:cubicBezTo>
                    <a:pt x="367191" y="198952"/>
                    <a:pt x="294244" y="43700"/>
                    <a:pt x="253158" y="8764"/>
                  </a:cubicBezTo>
                  <a:cubicBezTo>
                    <a:pt x="212072" y="-26172"/>
                    <a:pt x="211716" y="53103"/>
                    <a:pt x="181503" y="75606"/>
                  </a:cubicBezTo>
                  <a:cubicBezTo>
                    <a:pt x="151290" y="98109"/>
                    <a:pt x="60251" y="99669"/>
                    <a:pt x="71882" y="143785"/>
                  </a:cubicBezTo>
                  <a:cubicBezTo>
                    <a:pt x="83513" y="187901"/>
                    <a:pt x="261624" y="304385"/>
                    <a:pt x="251286" y="340301"/>
                  </a:cubicBezTo>
                  <a:cubicBezTo>
                    <a:pt x="240948" y="376218"/>
                    <a:pt x="43718" y="333973"/>
                    <a:pt x="9852" y="359284"/>
                  </a:cubicBezTo>
                  <a:cubicBezTo>
                    <a:pt x="-24014" y="384595"/>
                    <a:pt x="39620" y="453220"/>
                    <a:pt x="48087" y="492167"/>
                  </a:cubicBezTo>
                  <a:cubicBezTo>
                    <a:pt x="56554" y="531114"/>
                    <a:pt x="28479" y="588196"/>
                    <a:pt x="60652" y="592964"/>
                  </a:cubicBezTo>
                  <a:cubicBezTo>
                    <a:pt x="92825" y="597732"/>
                    <a:pt x="228381" y="504420"/>
                    <a:pt x="241126" y="520774"/>
                  </a:cubicBezTo>
                  <a:cubicBezTo>
                    <a:pt x="253871" y="537128"/>
                    <a:pt x="137967" y="657756"/>
                    <a:pt x="137120" y="691088"/>
                  </a:cubicBezTo>
                  <a:cubicBezTo>
                    <a:pt x="136273" y="724420"/>
                    <a:pt x="206680" y="707041"/>
                    <a:pt x="236046" y="720766"/>
                  </a:cubicBezTo>
                  <a:cubicBezTo>
                    <a:pt x="265412" y="734491"/>
                    <a:pt x="292416" y="798749"/>
                    <a:pt x="313315" y="773438"/>
                  </a:cubicBezTo>
                  <a:cubicBezTo>
                    <a:pt x="334214" y="748127"/>
                    <a:pt x="323966" y="613863"/>
                    <a:pt x="361442" y="568901"/>
                  </a:cubicBezTo>
                  <a:cubicBezTo>
                    <a:pt x="398918" y="523939"/>
                    <a:pt x="494724" y="487666"/>
                    <a:pt x="538172" y="503663"/>
                  </a:cubicBezTo>
                  <a:cubicBezTo>
                    <a:pt x="581620" y="519660"/>
                    <a:pt x="600649" y="600851"/>
                    <a:pt x="622128" y="664886"/>
                  </a:cubicBezTo>
                  <a:cubicBezTo>
                    <a:pt x="643607" y="728921"/>
                    <a:pt x="651938" y="827134"/>
                    <a:pt x="667044" y="887871"/>
                  </a:cubicBezTo>
                  <a:cubicBezTo>
                    <a:pt x="682150" y="948608"/>
                    <a:pt x="710759" y="1095483"/>
                    <a:pt x="712764" y="1029309"/>
                  </a:cubicBezTo>
                  <a:cubicBezTo>
                    <a:pt x="714769" y="963135"/>
                    <a:pt x="665573" y="650403"/>
                    <a:pt x="618115" y="526389"/>
                  </a:cubicBezTo>
                  <a:cubicBezTo>
                    <a:pt x="570657" y="402375"/>
                    <a:pt x="488843" y="371494"/>
                    <a:pt x="428017" y="285223"/>
                  </a:cubicBezTo>
                  <a:close/>
                </a:path>
              </a:pathLst>
            </a:custGeom>
            <a:solidFill>
              <a:srgbClr val="D4C1B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3" name="Rectangle 82">
            <a:extLst>
              <a:ext uri="{FF2B5EF4-FFF2-40B4-BE49-F238E27FC236}">
                <a16:creationId xmlns:a16="http://schemas.microsoft.com/office/drawing/2014/main" id="{F15F4F7A-F74B-4081-A13A-81998FD8FF3B}"/>
              </a:ext>
            </a:extLst>
          </p:cNvPr>
          <p:cNvSpPr/>
          <p:nvPr/>
        </p:nvSpPr>
        <p:spPr>
          <a:xfrm>
            <a:off x="5195220" y="211517"/>
            <a:ext cx="6187587" cy="13542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>
              <a:spcAft>
                <a:spcPts val="600"/>
              </a:spcAft>
            </a:pPr>
            <a:r>
              <a:rPr lang="en-US" sz="1200" dirty="0"/>
              <a:t>The kidney and lungs help regulate pH balance. The HCO</a:t>
            </a:r>
            <a:r>
              <a:rPr lang="en-US" sz="1200" baseline="-25000" dirty="0"/>
              <a:t>3</a:t>
            </a:r>
            <a:r>
              <a:rPr lang="en-US" sz="1200" baseline="30000" dirty="0"/>
              <a:t>-</a:t>
            </a:r>
            <a:r>
              <a:rPr lang="en-US" sz="1200" dirty="0"/>
              <a:t> and PCO</a:t>
            </a:r>
            <a:r>
              <a:rPr lang="en-US" sz="1200" baseline="-25000" dirty="0"/>
              <a:t>2</a:t>
            </a:r>
            <a:r>
              <a:rPr lang="en-US" sz="1200" dirty="0"/>
              <a:t> move in the same direction.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When HCO</a:t>
            </a:r>
            <a:r>
              <a:rPr lang="en-US" sz="1200" baseline="-25000" dirty="0"/>
              <a:t>3</a:t>
            </a:r>
            <a:r>
              <a:rPr lang="en-US" sz="1200" baseline="30000" dirty="0"/>
              <a:t>-  </a:t>
            </a:r>
            <a:r>
              <a:rPr lang="en-US" sz="1200" dirty="0"/>
              <a:t>is </a:t>
            </a:r>
            <a:r>
              <a:rPr lang="en-US" sz="1200" dirty="0">
                <a:sym typeface="Wingdings" panose="05000000000000000000" pitchFamily="2" charset="2"/>
              </a:rPr>
              <a:t> (metabolic alkalosis), the body will eliminate CO</a:t>
            </a:r>
            <a:r>
              <a:rPr lang="en-US" sz="1200" baseline="-25000" dirty="0">
                <a:sym typeface="Wingdings" panose="05000000000000000000" pitchFamily="2" charset="2"/>
              </a:rPr>
              <a:t>2</a:t>
            </a:r>
            <a:r>
              <a:rPr lang="en-US" sz="1200" dirty="0">
                <a:sym typeface="Wingdings" panose="05000000000000000000" pitchFamily="2" charset="2"/>
              </a:rPr>
              <a:t> () to compensate.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ym typeface="Wingdings" panose="05000000000000000000" pitchFamily="2" charset="2"/>
              </a:rPr>
              <a:t>When PCO2 is  (respiratory acidosis), the body will retain HCO</a:t>
            </a:r>
            <a:r>
              <a:rPr lang="en-US" sz="1200" baseline="-25000" dirty="0">
                <a:sym typeface="Wingdings" panose="05000000000000000000" pitchFamily="2" charset="2"/>
              </a:rPr>
              <a:t>3</a:t>
            </a:r>
            <a:r>
              <a:rPr lang="en-US" sz="1200" baseline="30000" dirty="0">
                <a:sym typeface="Wingdings" panose="05000000000000000000" pitchFamily="2" charset="2"/>
              </a:rPr>
              <a:t>-</a:t>
            </a:r>
            <a:r>
              <a:rPr lang="en-US" sz="1200" dirty="0">
                <a:sym typeface="Wingdings" panose="05000000000000000000" pitchFamily="2" charset="2"/>
              </a:rPr>
              <a:t> () to compensate.</a:t>
            </a:r>
          </a:p>
          <a:p>
            <a:r>
              <a:rPr lang="en-US" sz="1200" b="1" dirty="0">
                <a:sym typeface="Wingdings" panose="05000000000000000000" pitchFamily="2" charset="2"/>
              </a:rPr>
              <a:t>Respiratory (PCO</a:t>
            </a:r>
            <a:r>
              <a:rPr lang="en-US" sz="1200" b="1" baseline="-25000" dirty="0">
                <a:sym typeface="Wingdings" panose="05000000000000000000" pitchFamily="2" charset="2"/>
              </a:rPr>
              <a:t>2</a:t>
            </a:r>
            <a:r>
              <a:rPr lang="en-US" sz="1200" b="1" dirty="0">
                <a:sym typeface="Wingdings" panose="05000000000000000000" pitchFamily="2" charset="2"/>
              </a:rPr>
              <a:t>) compensation </a:t>
            </a:r>
            <a:r>
              <a:rPr lang="en-US" sz="1200" dirty="0">
                <a:sym typeface="Wingdings" panose="05000000000000000000" pitchFamily="2" charset="2"/>
              </a:rPr>
              <a:t>occurs rapidly (minutes). </a:t>
            </a:r>
          </a:p>
          <a:p>
            <a:r>
              <a:rPr lang="en-US" sz="1200" b="1" dirty="0">
                <a:sym typeface="Wingdings" panose="05000000000000000000" pitchFamily="2" charset="2"/>
              </a:rPr>
              <a:t>Metabolic (HCO3</a:t>
            </a:r>
            <a:r>
              <a:rPr lang="en-US" sz="1200" b="1" baseline="30000" dirty="0">
                <a:sym typeface="Wingdings" panose="05000000000000000000" pitchFamily="2" charset="2"/>
              </a:rPr>
              <a:t>-</a:t>
            </a:r>
            <a:r>
              <a:rPr lang="en-US" sz="1200" b="1" dirty="0">
                <a:sym typeface="Wingdings" panose="05000000000000000000" pitchFamily="2" charset="2"/>
              </a:rPr>
              <a:t>) compensation </a:t>
            </a:r>
            <a:r>
              <a:rPr lang="en-US" sz="1200" dirty="0">
                <a:sym typeface="Wingdings" panose="05000000000000000000" pitchFamily="2" charset="2"/>
              </a:rPr>
              <a:t>occurs more slowly (2-3 days).</a:t>
            </a:r>
          </a:p>
          <a:p>
            <a:r>
              <a:rPr lang="en-US" sz="1200" dirty="0">
                <a:sym typeface="Wingdings" panose="05000000000000000000" pitchFamily="2" charset="2"/>
              </a:rPr>
              <a:t>Compensation will never overcompensate or fully correct pH to normal (7.40).</a:t>
            </a:r>
            <a:endParaRPr lang="en-US" sz="1200" dirty="0"/>
          </a:p>
        </p:txBody>
      </p:sp>
      <p:grpSp>
        <p:nvGrpSpPr>
          <p:cNvPr id="121" name="Respiratory compensation for metabolic alkalosis">
            <a:extLst>
              <a:ext uri="{FF2B5EF4-FFF2-40B4-BE49-F238E27FC236}">
                <a16:creationId xmlns:a16="http://schemas.microsoft.com/office/drawing/2014/main" id="{5A216C75-B865-4D93-B27A-0CF24ECAACA9}"/>
              </a:ext>
            </a:extLst>
          </p:cNvPr>
          <p:cNvGrpSpPr/>
          <p:nvPr/>
        </p:nvGrpSpPr>
        <p:grpSpPr>
          <a:xfrm>
            <a:off x="10086235" y="3714326"/>
            <a:ext cx="1999865" cy="793873"/>
            <a:chOff x="7424387" y="3848068"/>
            <a:chExt cx="2224667" cy="793873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418ACCAC-82DF-4A8B-AE62-F69DDEC4364E}"/>
                </a:ext>
              </a:extLst>
            </p:cNvPr>
            <p:cNvSpPr txBox="1"/>
            <p:nvPr/>
          </p:nvSpPr>
          <p:spPr>
            <a:xfrm>
              <a:off x="7494494" y="3848068"/>
              <a:ext cx="2073623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Respiratory acidosis</a:t>
              </a:r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5066A381-4DBA-42A2-A39E-2C6105B49086}"/>
                </a:ext>
              </a:extLst>
            </p:cNvPr>
            <p:cNvSpPr txBox="1"/>
            <p:nvPr/>
          </p:nvSpPr>
          <p:spPr>
            <a:xfrm>
              <a:off x="7424387" y="4334164"/>
              <a:ext cx="2224667" cy="3077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400" dirty="0"/>
                <a:t>PCO</a:t>
              </a:r>
              <a:r>
                <a:rPr lang="en-US" sz="1400" baseline="-25000" dirty="0"/>
                <a:t>2</a:t>
              </a:r>
              <a:r>
                <a:rPr lang="en-US" sz="1400" dirty="0"/>
                <a:t> = (0.7 x HCO</a:t>
              </a:r>
              <a:r>
                <a:rPr lang="en-US" sz="1400" baseline="-25000" dirty="0"/>
                <a:t>3</a:t>
              </a:r>
              <a:r>
                <a:rPr lang="en-US" sz="1400" baseline="30000" dirty="0"/>
                <a:t>-</a:t>
              </a:r>
              <a:r>
                <a:rPr lang="en-US" sz="1400" dirty="0"/>
                <a:t>) + 21  </a:t>
              </a:r>
            </a:p>
          </p:txBody>
        </p:sp>
      </p:grpSp>
      <p:grpSp>
        <p:nvGrpSpPr>
          <p:cNvPr id="119" name="Respiratory compensation for metabolic alkalosis">
            <a:extLst>
              <a:ext uri="{FF2B5EF4-FFF2-40B4-BE49-F238E27FC236}">
                <a16:creationId xmlns:a16="http://schemas.microsoft.com/office/drawing/2014/main" id="{D8E4D3F2-67E2-4B8C-BB4B-E9492EEEFB87}"/>
              </a:ext>
            </a:extLst>
          </p:cNvPr>
          <p:cNvGrpSpPr/>
          <p:nvPr/>
        </p:nvGrpSpPr>
        <p:grpSpPr>
          <a:xfrm>
            <a:off x="1610611" y="3715158"/>
            <a:ext cx="2081689" cy="2378747"/>
            <a:chOff x="657922" y="3859095"/>
            <a:chExt cx="2315689" cy="2378747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B0EAAFE-C985-4D1B-92DD-FE6914471D1E}"/>
                </a:ext>
              </a:extLst>
            </p:cNvPr>
            <p:cNvSpPr txBox="1"/>
            <p:nvPr/>
          </p:nvSpPr>
          <p:spPr>
            <a:xfrm>
              <a:off x="803065" y="3859095"/>
              <a:ext cx="2170546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Respiratory alkalosis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82B6D90-3EB0-4ABF-8EEA-24371465E87B}"/>
                </a:ext>
              </a:extLst>
            </p:cNvPr>
            <p:cNvSpPr txBox="1"/>
            <p:nvPr/>
          </p:nvSpPr>
          <p:spPr>
            <a:xfrm>
              <a:off x="665386" y="4814280"/>
              <a:ext cx="2200709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/>
                <a:t>2. Thumb rule</a:t>
              </a:r>
            </a:p>
            <a:p>
              <a:pPr algn="ctr"/>
              <a:r>
                <a:rPr lang="en-US" sz="1400" dirty="0"/>
                <a:t>PCO</a:t>
              </a:r>
              <a:r>
                <a:rPr lang="en-US" sz="1400" baseline="-25000" dirty="0"/>
                <a:t>2</a:t>
              </a:r>
              <a:r>
                <a:rPr lang="en-US" sz="1400" dirty="0"/>
                <a:t> should be ≈ to last digits of pH</a:t>
              </a:r>
            </a:p>
            <a:p>
              <a:pPr algn="ctr"/>
              <a:r>
                <a:rPr lang="en-US" sz="1400" dirty="0"/>
                <a:t>7.</a:t>
              </a:r>
              <a:r>
                <a:rPr lang="en-US" sz="1400" u="sng" dirty="0">
                  <a:solidFill>
                    <a:schemeClr val="accent1"/>
                  </a:solidFill>
                </a:rPr>
                <a:t>32</a:t>
              </a:r>
              <a:r>
                <a:rPr lang="en-US" sz="1400" dirty="0"/>
                <a:t>/</a:t>
              </a:r>
              <a:r>
                <a:rPr lang="en-US" sz="1400" dirty="0">
                  <a:solidFill>
                    <a:schemeClr val="accent1"/>
                  </a:solidFill>
                </a:rPr>
                <a:t>30</a:t>
              </a:r>
              <a:r>
                <a:rPr lang="en-US" sz="1400" dirty="0"/>
                <a:t>/-/18</a:t>
              </a:r>
              <a:endParaRPr lang="en-US" sz="1400" u="sng" dirty="0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6A684D4-7AA4-4A70-AFB0-3F091E9C36F0}"/>
                </a:ext>
              </a:extLst>
            </p:cNvPr>
            <p:cNvSpPr/>
            <p:nvPr/>
          </p:nvSpPr>
          <p:spPr>
            <a:xfrm>
              <a:off x="657922" y="4291060"/>
              <a:ext cx="2304239" cy="5232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/>
                <a:t>1. Winter’s formula </a:t>
              </a:r>
            </a:p>
            <a:p>
              <a:pPr algn="ctr"/>
              <a:r>
                <a:rPr lang="en-US" sz="1400"/>
                <a:t>PCO</a:t>
              </a:r>
              <a:r>
                <a:rPr lang="en-US" sz="1400" baseline="-25000"/>
                <a:t>2</a:t>
              </a:r>
              <a:r>
                <a:rPr lang="en-US" sz="1400"/>
                <a:t> = (1.5 x HCO</a:t>
              </a:r>
              <a:r>
                <a:rPr lang="en-US" sz="1400" baseline="-25000"/>
                <a:t>3</a:t>
              </a:r>
              <a:r>
                <a:rPr lang="en-US" sz="1400" baseline="30000"/>
                <a:t>-</a:t>
              </a:r>
              <a:r>
                <a:rPr lang="en-US" sz="1400"/>
                <a:t>) + 8  </a:t>
              </a:r>
            </a:p>
          </p:txBody>
        </p:sp>
        <p:pic>
          <p:nvPicPr>
            <p:cNvPr id="118" name="Picture 117" descr="A picture containing mirror&#10;&#10;Description automatically generated">
              <a:extLst>
                <a:ext uri="{FF2B5EF4-FFF2-40B4-BE49-F238E27FC236}">
                  <a16:creationId xmlns:a16="http://schemas.microsoft.com/office/drawing/2014/main" id="{36572CCB-D528-4AEE-9349-805802B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2166" b="96751" l="9135" r="89904">
                          <a14:foregroundMark x1="54327" y1="20578" x2="39904" y2="48375"/>
                          <a14:foregroundMark x1="39904" y1="48375" x2="27404" y2="59206"/>
                          <a14:foregroundMark x1="26442" y1="54152" x2="30769" y2="40072"/>
                          <a14:foregroundMark x1="54327" y1="5415" x2="54327" y2="5415"/>
                          <a14:foregroundMark x1="57212" y1="3249" x2="41827" y2="29242"/>
                          <a14:foregroundMark x1="41827" y1="29242" x2="15865" y2="51625"/>
                          <a14:foregroundMark x1="15865" y1="51625" x2="14904" y2="80144"/>
                          <a14:foregroundMark x1="14904" y1="80144" x2="47115" y2="93141"/>
                          <a14:foregroundMark x1="47115" y1="93141" x2="75000" y2="88809"/>
                          <a14:foregroundMark x1="60577" y1="96751" x2="29808" y2="87004"/>
                          <a14:foregroundMark x1="24038" y1="46570" x2="43750" y2="33935"/>
                          <a14:foregroundMark x1="17308" y1="46570" x2="52885" y2="30686"/>
                          <a14:foregroundMark x1="21635" y1="41516" x2="44231" y2="30686"/>
                          <a14:foregroundMark x1="20673" y1="40794" x2="51923" y2="26354"/>
                          <a14:foregroundMark x1="61058" y1="3249" x2="65385" y2="31408"/>
                          <a14:foregroundMark x1="65385" y1="31408" x2="65385" y2="31408"/>
                          <a14:foregroundMark x1="68750" y1="28881" x2="60577" y2="2166"/>
                          <a14:foregroundMark x1="60577" y1="2166" x2="47115" y2="23827"/>
                          <a14:foregroundMark x1="42788" y1="29242" x2="49519" y2="2166"/>
                          <a14:foregroundMark x1="49519" y1="2166" x2="60577" y2="5776"/>
                          <a14:foregroundMark x1="66346" y1="40072" x2="64423" y2="59206"/>
                          <a14:foregroundMark x1="71154" y1="62816" x2="67788" y2="66787"/>
                          <a14:foregroundMark x1="83173" y1="81949" x2="57692" y2="7581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0420" y="5503777"/>
              <a:ext cx="551211" cy="734065"/>
            </a:xfrm>
            <a:prstGeom prst="rect">
              <a:avLst/>
            </a:prstGeom>
          </p:spPr>
        </p:pic>
      </p:grpSp>
      <p:sp>
        <p:nvSpPr>
          <p:cNvPr id="133" name="Chornic Met Alk Comp info">
            <a:extLst>
              <a:ext uri="{FF2B5EF4-FFF2-40B4-BE49-F238E27FC236}">
                <a16:creationId xmlns:a16="http://schemas.microsoft.com/office/drawing/2014/main" id="{535FB8BE-3897-457F-B06E-B0A1BB5846D6}"/>
              </a:ext>
            </a:extLst>
          </p:cNvPr>
          <p:cNvSpPr/>
          <p:nvPr/>
        </p:nvSpPr>
        <p:spPr>
          <a:xfrm>
            <a:off x="4319885" y="4967097"/>
            <a:ext cx="1837961" cy="491031"/>
          </a:xfrm>
          <a:prstGeom prst="roundRect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CHRONIC: 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4 </a:t>
            </a:r>
            <a:endParaRPr lang="en-US" sz="1400" dirty="0"/>
          </a:p>
        </p:txBody>
      </p:sp>
      <p:sp>
        <p:nvSpPr>
          <p:cNvPr id="136" name="Acute Met Alk Comp info">
            <a:extLst>
              <a:ext uri="{FF2B5EF4-FFF2-40B4-BE49-F238E27FC236}">
                <a16:creationId xmlns:a16="http://schemas.microsoft.com/office/drawing/2014/main" id="{F68978FA-868E-4737-A495-899028EA4A1A}"/>
              </a:ext>
            </a:extLst>
          </p:cNvPr>
          <p:cNvSpPr/>
          <p:nvPr/>
        </p:nvSpPr>
        <p:spPr>
          <a:xfrm>
            <a:off x="4319884" y="4426962"/>
            <a:ext cx="1845389" cy="491031"/>
          </a:xfrm>
          <a:prstGeom prst="roundRect">
            <a:avLst/>
          </a:prstGeom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ACUTE: 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1  </a:t>
            </a:r>
            <a:endParaRPr lang="en-US" sz="1400" dirty="0"/>
          </a:p>
        </p:txBody>
      </p:sp>
      <p:sp>
        <p:nvSpPr>
          <p:cNvPr id="139" name="Chronic Met Acid Comp info">
            <a:extLst>
              <a:ext uri="{FF2B5EF4-FFF2-40B4-BE49-F238E27FC236}">
                <a16:creationId xmlns:a16="http://schemas.microsoft.com/office/drawing/2014/main" id="{A827B29D-DC58-4CF9-8D03-F076EE1D2B27}"/>
              </a:ext>
            </a:extLst>
          </p:cNvPr>
          <p:cNvSpPr/>
          <p:nvPr/>
        </p:nvSpPr>
        <p:spPr>
          <a:xfrm>
            <a:off x="7628428" y="4941005"/>
            <a:ext cx="1923226" cy="491031"/>
          </a:xfrm>
          <a:prstGeom prst="roundRect">
            <a:avLst/>
          </a:prstGeom>
          <a:effectLst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CHRONIC: 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5 </a:t>
            </a:r>
            <a:endParaRPr lang="en-US" sz="1400" dirty="0"/>
          </a:p>
        </p:txBody>
      </p:sp>
      <p:sp>
        <p:nvSpPr>
          <p:cNvPr id="140" name="Acute Met Acid Comp info">
            <a:extLst>
              <a:ext uri="{FF2B5EF4-FFF2-40B4-BE49-F238E27FC236}">
                <a16:creationId xmlns:a16="http://schemas.microsoft.com/office/drawing/2014/main" id="{330087C1-DEDC-4981-A356-CC3E9B6EBAAD}"/>
              </a:ext>
            </a:extLst>
          </p:cNvPr>
          <p:cNvSpPr/>
          <p:nvPr/>
        </p:nvSpPr>
        <p:spPr>
          <a:xfrm>
            <a:off x="7629039" y="4402575"/>
            <a:ext cx="1915303" cy="491031"/>
          </a:xfrm>
          <a:prstGeom prst="roundRect">
            <a:avLst/>
          </a:prstGeom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ym typeface="Wingdings" panose="05000000000000000000" pitchFamily="2" charset="2"/>
              </a:rPr>
              <a:t>ACUTE: 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2  </a:t>
            </a:r>
            <a:endParaRPr lang="en-US" sz="1400" dirty="0"/>
          </a:p>
        </p:txBody>
      </p:sp>
      <p:grpSp>
        <p:nvGrpSpPr>
          <p:cNvPr id="156" name="Met Acid Comp">
            <a:extLst>
              <a:ext uri="{FF2B5EF4-FFF2-40B4-BE49-F238E27FC236}">
                <a16:creationId xmlns:a16="http://schemas.microsoft.com/office/drawing/2014/main" id="{CACEA89D-3050-4A3B-8767-B435B486E4B3}"/>
              </a:ext>
            </a:extLst>
          </p:cNvPr>
          <p:cNvGrpSpPr/>
          <p:nvPr/>
        </p:nvGrpSpPr>
        <p:grpSpPr>
          <a:xfrm>
            <a:off x="6948723" y="3720221"/>
            <a:ext cx="2944290" cy="723312"/>
            <a:chOff x="6276082" y="3910440"/>
            <a:chExt cx="2900895" cy="723312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01172456-4F74-48D4-90BE-92DC693B3366}"/>
                </a:ext>
              </a:extLst>
            </p:cNvPr>
            <p:cNvSpPr txBox="1"/>
            <p:nvPr/>
          </p:nvSpPr>
          <p:spPr>
            <a:xfrm>
              <a:off x="6902399" y="3910440"/>
              <a:ext cx="2170088" cy="3385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/>
                <a:t>Metabolic acidosis </a:t>
              </a:r>
            </a:p>
          </p:txBody>
        </p:sp>
        <p:grpSp>
          <p:nvGrpSpPr>
            <p:cNvPr id="125" name="Group 124">
              <a:extLst>
                <a:ext uri="{FF2B5EF4-FFF2-40B4-BE49-F238E27FC236}">
                  <a16:creationId xmlns:a16="http://schemas.microsoft.com/office/drawing/2014/main" id="{81E33F0B-93AD-40FF-9B5E-19178D346DBC}"/>
                </a:ext>
              </a:extLst>
            </p:cNvPr>
            <p:cNvGrpSpPr/>
            <p:nvPr/>
          </p:nvGrpSpPr>
          <p:grpSpPr>
            <a:xfrm>
              <a:off x="6276082" y="4142721"/>
              <a:ext cx="2900895" cy="491031"/>
              <a:chOff x="6311011" y="4248994"/>
              <a:chExt cx="2536896" cy="384758"/>
            </a:xfrm>
          </p:grpSpPr>
          <p:sp>
            <p:nvSpPr>
              <p:cNvPr id="123" name="Arrow: Right 122">
                <a:extLst>
                  <a:ext uri="{FF2B5EF4-FFF2-40B4-BE49-F238E27FC236}">
                    <a16:creationId xmlns:a16="http://schemas.microsoft.com/office/drawing/2014/main" id="{C2914E41-3E64-4EA7-A502-0F0F73D2A044}"/>
                  </a:ext>
                </a:extLst>
              </p:cNvPr>
              <p:cNvSpPr/>
              <p:nvPr/>
            </p:nvSpPr>
            <p:spPr>
              <a:xfrm>
                <a:off x="6311011" y="4248994"/>
                <a:ext cx="2536896" cy="384758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934F522C-4F5B-4DAE-8947-CC4FF96C9323}"/>
                  </a:ext>
                </a:extLst>
              </p:cNvPr>
              <p:cNvSpPr txBox="1"/>
              <p:nvPr/>
            </p:nvSpPr>
            <p:spPr>
              <a:xfrm>
                <a:off x="7474569" y="4330857"/>
                <a:ext cx="569486" cy="24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 10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55" name="Met Alk Comp">
            <a:extLst>
              <a:ext uri="{FF2B5EF4-FFF2-40B4-BE49-F238E27FC236}">
                <a16:creationId xmlns:a16="http://schemas.microsoft.com/office/drawing/2014/main" id="{0B441B67-3BAD-4F73-95BA-B36A775A2999}"/>
              </a:ext>
            </a:extLst>
          </p:cNvPr>
          <p:cNvGrpSpPr/>
          <p:nvPr/>
        </p:nvGrpSpPr>
        <p:grpSpPr>
          <a:xfrm>
            <a:off x="3904180" y="3725283"/>
            <a:ext cx="3135930" cy="718250"/>
            <a:chOff x="3221300" y="3915502"/>
            <a:chExt cx="3089711" cy="718250"/>
          </a:xfrm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1E011D4-9FE6-444B-9DE8-7861F3124BAE}"/>
                </a:ext>
              </a:extLst>
            </p:cNvPr>
            <p:cNvSpPr/>
            <p:nvPr/>
          </p:nvSpPr>
          <p:spPr>
            <a:xfrm>
              <a:off x="3620242" y="3915502"/>
              <a:ext cx="1809021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sz="1600" b="1" dirty="0"/>
                <a:t>Metabolic alkalosis</a:t>
              </a:r>
            </a:p>
          </p:txBody>
        </p:sp>
        <p:grpSp>
          <p:nvGrpSpPr>
            <p:cNvPr id="124" name="Group 123">
              <a:extLst>
                <a:ext uri="{FF2B5EF4-FFF2-40B4-BE49-F238E27FC236}">
                  <a16:creationId xmlns:a16="http://schemas.microsoft.com/office/drawing/2014/main" id="{7F21019C-EACB-4BA9-812B-3B65412F9B33}"/>
                </a:ext>
              </a:extLst>
            </p:cNvPr>
            <p:cNvGrpSpPr/>
            <p:nvPr/>
          </p:nvGrpSpPr>
          <p:grpSpPr>
            <a:xfrm>
              <a:off x="3221300" y="4142721"/>
              <a:ext cx="3089711" cy="491031"/>
              <a:chOff x="3774115" y="4248994"/>
              <a:chExt cx="2536896" cy="384758"/>
            </a:xfrm>
          </p:grpSpPr>
          <p:sp>
            <p:nvSpPr>
              <p:cNvPr id="127" name="Arrow: Right 126">
                <a:extLst>
                  <a:ext uri="{FF2B5EF4-FFF2-40B4-BE49-F238E27FC236}">
                    <a16:creationId xmlns:a16="http://schemas.microsoft.com/office/drawing/2014/main" id="{76AAC2D0-1EEE-4D4F-A634-DF7D865ADB9D}"/>
                  </a:ext>
                </a:extLst>
              </p:cNvPr>
              <p:cNvSpPr/>
              <p:nvPr/>
            </p:nvSpPr>
            <p:spPr>
              <a:xfrm flipH="1">
                <a:off x="3774115" y="4248994"/>
                <a:ext cx="2536896" cy="384758"/>
              </a:xfrm>
              <a:prstGeom prst="rightArrow">
                <a:avLst/>
              </a:prstGeom>
              <a:solidFill>
                <a:schemeClr val="accent6"/>
              </a:solidFill>
              <a:ln>
                <a:solidFill>
                  <a:schemeClr val="accent6"/>
                </a:solidFill>
              </a:ln>
            </p:spPr>
            <p:style>
              <a:lnRef idx="3">
                <a:schemeClr val="lt1"/>
              </a:lnRef>
              <a:fillRef idx="1">
                <a:schemeClr val="accent5"/>
              </a:fillRef>
              <a:effectRef idx="1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PCO2 decrease by 10">
                <a:extLst>
                  <a:ext uri="{FF2B5EF4-FFF2-40B4-BE49-F238E27FC236}">
                    <a16:creationId xmlns:a16="http://schemas.microsoft.com/office/drawing/2014/main" id="{55BB6BBA-2307-432C-B7D7-409F20F0FFDD}"/>
                  </a:ext>
                </a:extLst>
              </p:cNvPr>
              <p:cNvSpPr txBox="1"/>
              <p:nvPr/>
            </p:nvSpPr>
            <p:spPr>
              <a:xfrm>
                <a:off x="4548312" y="4326083"/>
                <a:ext cx="567890" cy="241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chemeClr val="bg1"/>
                    </a:solidFill>
                    <a:sym typeface="Wingdings" panose="05000000000000000000" pitchFamily="2" charset="2"/>
                  </a:rPr>
                  <a:t> 10</a:t>
                </a:r>
                <a:endParaRPr lang="en-US" sz="14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130" name="PCO2 axis">
            <a:extLst>
              <a:ext uri="{FF2B5EF4-FFF2-40B4-BE49-F238E27FC236}">
                <a16:creationId xmlns:a16="http://schemas.microsoft.com/office/drawing/2014/main" id="{AD64BDEB-FC3F-4D17-B0F1-67CAAA7CDEF5}"/>
              </a:ext>
            </a:extLst>
          </p:cNvPr>
          <p:cNvGrpSpPr/>
          <p:nvPr/>
        </p:nvGrpSpPr>
        <p:grpSpPr>
          <a:xfrm>
            <a:off x="6389852" y="3747944"/>
            <a:ext cx="1016135" cy="1771261"/>
            <a:chOff x="5820226" y="3938163"/>
            <a:chExt cx="1001158" cy="1771261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D996E24-099C-4EEC-B8F0-4D8F19E8CAB5}"/>
                </a:ext>
              </a:extLst>
            </p:cNvPr>
            <p:cNvCxnSpPr>
              <a:cxnSpLocks/>
              <a:stCxn id="104" idx="2"/>
            </p:cNvCxnSpPr>
            <p:nvPr/>
          </p:nvCxnSpPr>
          <p:spPr>
            <a:xfrm>
              <a:off x="6292714" y="4215162"/>
              <a:ext cx="0" cy="1494262"/>
            </a:xfrm>
            <a:prstGeom prst="line">
              <a:avLst/>
            </a:prstGeom>
            <a:ln w="76200">
              <a:solidFill>
                <a:schemeClr val="accent6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C6FDC2C-0284-4452-8661-2656665574B8}"/>
                </a:ext>
              </a:extLst>
            </p:cNvPr>
            <p:cNvSpPr txBox="1"/>
            <p:nvPr/>
          </p:nvSpPr>
          <p:spPr>
            <a:xfrm>
              <a:off x="6115839" y="3938163"/>
              <a:ext cx="353749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/>
                <a:t>40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7DE1C8E2-3197-409E-9BB9-03A60F2C9D1A}"/>
                </a:ext>
              </a:extLst>
            </p:cNvPr>
            <p:cNvSpPr/>
            <p:nvPr/>
          </p:nvSpPr>
          <p:spPr>
            <a:xfrm>
              <a:off x="5820226" y="4271456"/>
              <a:ext cx="1001158" cy="232145"/>
            </a:xfrm>
            <a:prstGeom prst="rect">
              <a:avLst/>
            </a:prstGeom>
            <a:solidFill>
              <a:schemeClr val="accent6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PCO</a:t>
              </a:r>
              <a:r>
                <a:rPr lang="en-US" sz="1400" baseline="-25000" dirty="0"/>
                <a:t>2 </a:t>
              </a:r>
              <a:endParaRPr lang="en-US" sz="1400" dirty="0"/>
            </a:p>
          </p:txBody>
        </p:sp>
      </p:grpSp>
      <p:pic>
        <p:nvPicPr>
          <p:cNvPr id="88" name="Mouse met acidosis" descr="Cursor with solid fill">
            <a:extLst>
              <a:ext uri="{FF2B5EF4-FFF2-40B4-BE49-F238E27FC236}">
                <a16:creationId xmlns:a16="http://schemas.microsoft.com/office/drawing/2014/main" id="{1EBB4819-A7E4-4B31-AE87-F77C151547E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3174339" y="3244604"/>
            <a:ext cx="274320" cy="274320"/>
          </a:xfrm>
          <a:prstGeom prst="rect">
            <a:avLst/>
          </a:prstGeom>
        </p:spPr>
      </p:pic>
      <p:pic>
        <p:nvPicPr>
          <p:cNvPr id="89" name="Mouse resp acidosis" descr="Cursor with solid fill">
            <a:extLst>
              <a:ext uri="{FF2B5EF4-FFF2-40B4-BE49-F238E27FC236}">
                <a16:creationId xmlns:a16="http://schemas.microsoft.com/office/drawing/2014/main" id="{10FD5193-E214-4DC7-B610-5B8E0D651F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373322" y="3249872"/>
            <a:ext cx="274320" cy="274320"/>
          </a:xfrm>
          <a:prstGeom prst="rect">
            <a:avLst/>
          </a:prstGeom>
        </p:spPr>
      </p:pic>
      <p:pic>
        <p:nvPicPr>
          <p:cNvPr id="90" name="Mouse resp alkalsosi" descr="Cursor with solid fill">
            <a:extLst>
              <a:ext uri="{FF2B5EF4-FFF2-40B4-BE49-F238E27FC236}">
                <a16:creationId xmlns:a16="http://schemas.microsoft.com/office/drawing/2014/main" id="{9BE1BA62-CE8E-460A-813A-3A654AA80A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9343026" y="3269765"/>
            <a:ext cx="274320" cy="274320"/>
          </a:xfrm>
          <a:prstGeom prst="rect">
            <a:avLst/>
          </a:prstGeom>
        </p:spPr>
      </p:pic>
      <p:pic>
        <p:nvPicPr>
          <p:cNvPr id="91" name="Mouse met alkaosis" descr="Cursor with solid fill">
            <a:extLst>
              <a:ext uri="{FF2B5EF4-FFF2-40B4-BE49-F238E27FC236}">
                <a16:creationId xmlns:a16="http://schemas.microsoft.com/office/drawing/2014/main" id="{67C1D40E-7A57-4130-AF98-2B46847234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494063" y="3275464"/>
            <a:ext cx="274320" cy="274320"/>
          </a:xfrm>
          <a:prstGeom prst="rect">
            <a:avLst/>
          </a:prstGeom>
        </p:spPr>
      </p:pic>
      <p:sp>
        <p:nvSpPr>
          <p:cNvPr id="97" name="question 3">
            <a:hlinkClick r:id="rId7" action="ppaction://hlinksldjump"/>
            <a:extLst>
              <a:ext uri="{FF2B5EF4-FFF2-40B4-BE49-F238E27FC236}">
                <a16:creationId xmlns:a16="http://schemas.microsoft.com/office/drawing/2014/main" id="{0FA5B39E-E44B-42D4-8C98-75CADC5654C7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99" name="question 4">
            <a:hlinkClick r:id="rId8" action="ppaction://hlinksldjump"/>
            <a:extLst>
              <a:ext uri="{FF2B5EF4-FFF2-40B4-BE49-F238E27FC236}">
                <a16:creationId xmlns:a16="http://schemas.microsoft.com/office/drawing/2014/main" id="{998EAA35-5771-4666-AC3C-1CE2C323CC2C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Acidemia</a:t>
            </a:r>
          </a:p>
        </p:txBody>
      </p:sp>
      <p:sp>
        <p:nvSpPr>
          <p:cNvPr id="101" name="sub-q 2">
            <a:hlinkClick r:id="rId9" action="ppaction://hlinksldjump"/>
            <a:extLst>
              <a:ext uri="{FF2B5EF4-FFF2-40B4-BE49-F238E27FC236}">
                <a16:creationId xmlns:a16="http://schemas.microsoft.com/office/drawing/2014/main" id="{9FADE9DF-DBF7-4122-9D9D-C5412825D6B5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14" name="sub-q 1 button">
            <a:hlinkClick r:id="rId10" action="ppaction://hlinksldjump"/>
            <a:extLst>
              <a:ext uri="{FF2B5EF4-FFF2-40B4-BE49-F238E27FC236}">
                <a16:creationId xmlns:a16="http://schemas.microsoft.com/office/drawing/2014/main" id="{62D5C08C-BC2D-4BFC-9AA5-977B4EA75CAB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Normal pH</a:t>
            </a:r>
          </a:p>
        </p:txBody>
      </p:sp>
      <p:pic>
        <p:nvPicPr>
          <p:cNvPr id="117" name="Graphic 116" descr="Cursor with solid fill">
            <a:extLst>
              <a:ext uri="{FF2B5EF4-FFF2-40B4-BE49-F238E27FC236}">
                <a16:creationId xmlns:a16="http://schemas.microsoft.com/office/drawing/2014/main" id="{35023E0B-658D-488B-89FF-43CAB96566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20" name="Graphic 119" descr="Cursor with solid fill">
            <a:extLst>
              <a:ext uri="{FF2B5EF4-FFF2-40B4-BE49-F238E27FC236}">
                <a16:creationId xmlns:a16="http://schemas.microsoft.com/office/drawing/2014/main" id="{25E82074-2DBB-40CD-8899-486C348BDA0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05925" y="2911465"/>
            <a:ext cx="274320" cy="274320"/>
          </a:xfrm>
          <a:prstGeom prst="rect">
            <a:avLst/>
          </a:prstGeom>
        </p:spPr>
      </p:pic>
      <p:sp>
        <p:nvSpPr>
          <p:cNvPr id="122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DC2F0770-B1DC-46CF-A53D-BC04852A727C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38100"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Compensation</a:t>
            </a:r>
          </a:p>
        </p:txBody>
      </p:sp>
      <p:sp>
        <p:nvSpPr>
          <p:cNvPr id="129" name="Question 2">
            <a:hlinkClick r:id="rId7" action="ppaction://hlinksldjump"/>
            <a:extLst>
              <a:ext uri="{FF2B5EF4-FFF2-40B4-BE49-F238E27FC236}">
                <a16:creationId xmlns:a16="http://schemas.microsoft.com/office/drawing/2014/main" id="{D44EB3D3-3711-4AEB-B170-3381FBF68777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sp>
        <p:nvSpPr>
          <p:cNvPr id="131" name="question 1">
            <a:hlinkClick r:id="rId12" action="ppaction://hlinksldjump"/>
            <a:extLst>
              <a:ext uri="{FF2B5EF4-FFF2-40B4-BE49-F238E27FC236}">
                <a16:creationId xmlns:a16="http://schemas.microsoft.com/office/drawing/2014/main" id="{2CF2D395-544B-4332-BBC8-F212571BCFBF}"/>
              </a:ext>
            </a:extLst>
          </p:cNvPr>
          <p:cNvSpPr txBox="1"/>
          <p:nvPr/>
        </p:nvSpPr>
        <p:spPr>
          <a:xfrm>
            <a:off x="257803" y="129473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AAB6055A-5AF1-42B6-AF50-C33AEF3747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137" name="Graphic 136" descr="Cursor with solid fill">
            <a:extLst>
              <a:ext uri="{FF2B5EF4-FFF2-40B4-BE49-F238E27FC236}">
                <a16:creationId xmlns:a16="http://schemas.microsoft.com/office/drawing/2014/main" id="{3F0C44F2-899B-4320-B00D-E68F4C678FD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5391" y="1246385"/>
            <a:ext cx="274320" cy="274320"/>
          </a:xfrm>
          <a:prstGeom prst="rect">
            <a:avLst/>
          </a:prstGeom>
        </p:spPr>
      </p:pic>
      <p:pic>
        <p:nvPicPr>
          <p:cNvPr id="138" name="Graphic 137" descr="Cursor with solid fill">
            <a:extLst>
              <a:ext uri="{FF2B5EF4-FFF2-40B4-BE49-F238E27FC236}">
                <a16:creationId xmlns:a16="http://schemas.microsoft.com/office/drawing/2014/main" id="{63787339-89D2-46AB-B76A-352517A8F4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sp>
        <p:nvSpPr>
          <p:cNvPr id="143" name="Step 1">
            <a:extLst>
              <a:ext uri="{FF2B5EF4-FFF2-40B4-BE49-F238E27FC236}">
                <a16:creationId xmlns:a16="http://schemas.microsoft.com/office/drawing/2014/main" id="{9E8B0B0F-E6B8-4AAE-A6B5-0A13C077C439}"/>
              </a:ext>
            </a:extLst>
          </p:cNvPr>
          <p:cNvSpPr/>
          <p:nvPr/>
        </p:nvSpPr>
        <p:spPr>
          <a:xfrm>
            <a:off x="2276336" y="98034"/>
            <a:ext cx="2348323" cy="288061"/>
          </a:xfrm>
          <a:prstGeom prst="rect">
            <a:avLst/>
          </a:prstGeom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Step 3: COMPENSATION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EAA87FD5-A87F-49CD-A21C-77E0BD2E87F2}"/>
              </a:ext>
            </a:extLst>
          </p:cNvPr>
          <p:cNvSpPr/>
          <p:nvPr/>
        </p:nvSpPr>
        <p:spPr>
          <a:xfrm>
            <a:off x="1617209" y="3606521"/>
            <a:ext cx="10531982" cy="2579528"/>
          </a:xfrm>
          <a:prstGeom prst="rect">
            <a:avLst/>
          </a:prstGeom>
          <a:noFill/>
          <a:ln w="3810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Cases">
            <a:hlinkClick r:id="rId13" action="ppaction://hlinksldjump"/>
            <a:extLst>
              <a:ext uri="{FF2B5EF4-FFF2-40B4-BE49-F238E27FC236}">
                <a16:creationId xmlns:a16="http://schemas.microsoft.com/office/drawing/2014/main" id="{B60B2986-EAB3-472B-8EF4-88208AD76074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CASES</a:t>
            </a:r>
          </a:p>
        </p:txBody>
      </p:sp>
      <p:pic>
        <p:nvPicPr>
          <p:cNvPr id="153" name="Graphic 152" descr="Cursor with solid fill">
            <a:extLst>
              <a:ext uri="{FF2B5EF4-FFF2-40B4-BE49-F238E27FC236}">
                <a16:creationId xmlns:a16="http://schemas.microsoft.com/office/drawing/2014/main" id="{8588917E-3C2A-4B88-AF84-54E3F05C7F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62629" y="3875626"/>
            <a:ext cx="274320" cy="274320"/>
          </a:xfrm>
          <a:prstGeom prst="rect">
            <a:avLst/>
          </a:prstGeom>
        </p:spPr>
      </p:pic>
      <p:pic>
        <p:nvPicPr>
          <p:cNvPr id="154" name="teachIM logo" descr="Icon&#10;&#10;Description automatically generated">
            <a:extLst>
              <a:ext uri="{FF2B5EF4-FFF2-40B4-BE49-F238E27FC236}">
                <a16:creationId xmlns:a16="http://schemas.microsoft.com/office/drawing/2014/main" id="{2A28CA73-2D18-4647-B526-9C90E217121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81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5"/>
                  </p:tgtEl>
                </p:cond>
              </p:nextCondLst>
            </p:seq>
          </p:childTnLst>
        </p:cTn>
      </p:par>
    </p:tnLst>
    <p:bldLst>
      <p:bldP spid="133" grpId="0" animBg="1"/>
      <p:bldP spid="136" grpId="0" animBg="1"/>
      <p:bldP spid="139" grpId="0" animBg="1"/>
      <p:bldP spid="1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Frame">
            <a:extLst>
              <a:ext uri="{FF2B5EF4-FFF2-40B4-BE49-F238E27FC236}">
                <a16:creationId xmlns:a16="http://schemas.microsoft.com/office/drawing/2014/main" id="{50A8E625-7ED8-4721-925E-392A4D1882EC}"/>
              </a:ext>
            </a:extLst>
          </p:cNvPr>
          <p:cNvGrpSpPr/>
          <p:nvPr/>
        </p:nvGrpSpPr>
        <p:grpSpPr>
          <a:xfrm>
            <a:off x="1902311" y="502048"/>
            <a:ext cx="9629274" cy="5914791"/>
            <a:chOff x="1473720" y="-18364"/>
            <a:chExt cx="10718280" cy="6876364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DFB3D63-5FAB-4D5F-8A54-B365511A539D}"/>
                </a:ext>
              </a:extLst>
            </p:cNvPr>
            <p:cNvCxnSpPr/>
            <p:nvPr/>
          </p:nvCxnSpPr>
          <p:spPr>
            <a:xfrm>
              <a:off x="5038954" y="-18364"/>
              <a:ext cx="0" cy="685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7F7AF1D-0C74-4C99-9602-12B1C4979B7A}"/>
                </a:ext>
              </a:extLst>
            </p:cNvPr>
            <p:cNvCxnSpPr/>
            <p:nvPr/>
          </p:nvCxnSpPr>
          <p:spPr>
            <a:xfrm>
              <a:off x="8711648" y="0"/>
              <a:ext cx="0" cy="685800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68E36710-8104-486B-8F75-2210C255C650}"/>
                </a:ext>
              </a:extLst>
            </p:cNvPr>
            <p:cNvCxnSpPr>
              <a:cxnSpLocks/>
            </p:cNvCxnSpPr>
            <p:nvPr/>
          </p:nvCxnSpPr>
          <p:spPr>
            <a:xfrm>
              <a:off x="1473720" y="3429001"/>
              <a:ext cx="10718280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Case 1">
            <a:extLst>
              <a:ext uri="{FF2B5EF4-FFF2-40B4-BE49-F238E27FC236}">
                <a16:creationId xmlns:a16="http://schemas.microsoft.com/office/drawing/2014/main" id="{A883BD27-4397-4879-8401-7E0977BF2B35}"/>
              </a:ext>
            </a:extLst>
          </p:cNvPr>
          <p:cNvSpPr txBox="1"/>
          <p:nvPr/>
        </p:nvSpPr>
        <p:spPr>
          <a:xfrm>
            <a:off x="1966263" y="701912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17" name="Case 1 Primary process">
            <a:extLst>
              <a:ext uri="{FF2B5EF4-FFF2-40B4-BE49-F238E27FC236}">
                <a16:creationId xmlns:a16="http://schemas.microsoft.com/office/drawing/2014/main" id="{B336CFBE-5E3A-4B76-BC06-48A409739C5B}"/>
              </a:ext>
            </a:extLst>
          </p:cNvPr>
          <p:cNvSpPr/>
          <p:nvPr/>
        </p:nvSpPr>
        <p:spPr>
          <a:xfrm>
            <a:off x="2182697" y="1931408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8" name="Case 1 Compensation">
            <a:extLst>
              <a:ext uri="{FF2B5EF4-FFF2-40B4-BE49-F238E27FC236}">
                <a16:creationId xmlns:a16="http://schemas.microsoft.com/office/drawing/2014/main" id="{AE116E49-8D86-48B8-9C30-CE1DBB33D7CF}"/>
              </a:ext>
            </a:extLst>
          </p:cNvPr>
          <p:cNvSpPr/>
          <p:nvPr/>
        </p:nvSpPr>
        <p:spPr>
          <a:xfrm>
            <a:off x="2182698" y="2648483"/>
            <a:ext cx="2531852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9" name="Case 1 Primary process answer">
            <a:extLst>
              <a:ext uri="{FF2B5EF4-FFF2-40B4-BE49-F238E27FC236}">
                <a16:creationId xmlns:a16="http://schemas.microsoft.com/office/drawing/2014/main" id="{D019A3E9-B1F1-4D3C-8512-F93418EF063D}"/>
              </a:ext>
            </a:extLst>
          </p:cNvPr>
          <p:cNvSpPr/>
          <p:nvPr/>
        </p:nvSpPr>
        <p:spPr>
          <a:xfrm>
            <a:off x="2182696" y="1931408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acidosis</a:t>
            </a:r>
          </a:p>
        </p:txBody>
      </p:sp>
      <p:sp>
        <p:nvSpPr>
          <p:cNvPr id="20" name="Case 1 Compensation answer">
            <a:extLst>
              <a:ext uri="{FF2B5EF4-FFF2-40B4-BE49-F238E27FC236}">
                <a16:creationId xmlns:a16="http://schemas.microsoft.com/office/drawing/2014/main" id="{17E06BA4-A75E-4140-87F9-0561A16BA90D}"/>
              </a:ext>
            </a:extLst>
          </p:cNvPr>
          <p:cNvSpPr/>
          <p:nvPr/>
        </p:nvSpPr>
        <p:spPr>
          <a:xfrm>
            <a:off x="2182696" y="2648482"/>
            <a:ext cx="2531851" cy="56469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 PCO</a:t>
            </a:r>
            <a:r>
              <a:rPr lang="en-US" sz="1400" baseline="-25000" dirty="0">
                <a:solidFill>
                  <a:schemeClr val="tx1"/>
                </a:solidFill>
                <a:sym typeface="Wingdings" panose="05000000000000000000" pitchFamily="2" charset="2"/>
              </a:rPr>
              <a:t>2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1" name="Case 2">
            <a:extLst>
              <a:ext uri="{FF2B5EF4-FFF2-40B4-BE49-F238E27FC236}">
                <a16:creationId xmlns:a16="http://schemas.microsoft.com/office/drawing/2014/main" id="{7DAB0A1E-0DB1-40A0-94DE-626ECBE9E943}"/>
              </a:ext>
            </a:extLst>
          </p:cNvPr>
          <p:cNvSpPr txBox="1"/>
          <p:nvPr/>
        </p:nvSpPr>
        <p:spPr>
          <a:xfrm>
            <a:off x="5162441" y="697368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22" name="Case 2  Primary process">
            <a:extLst>
              <a:ext uri="{FF2B5EF4-FFF2-40B4-BE49-F238E27FC236}">
                <a16:creationId xmlns:a16="http://schemas.microsoft.com/office/drawing/2014/main" id="{A8C0A239-1214-4CE5-AF67-0DB18C87FE74}"/>
              </a:ext>
            </a:extLst>
          </p:cNvPr>
          <p:cNvSpPr/>
          <p:nvPr/>
        </p:nvSpPr>
        <p:spPr>
          <a:xfrm>
            <a:off x="5483516" y="1926865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23" name="Case 2 Compensation">
            <a:extLst>
              <a:ext uri="{FF2B5EF4-FFF2-40B4-BE49-F238E27FC236}">
                <a16:creationId xmlns:a16="http://schemas.microsoft.com/office/drawing/2014/main" id="{BFABBEB7-F347-4D76-8427-6E107512A34D}"/>
              </a:ext>
            </a:extLst>
          </p:cNvPr>
          <p:cNvSpPr/>
          <p:nvPr/>
        </p:nvSpPr>
        <p:spPr>
          <a:xfrm>
            <a:off x="5483517" y="2643940"/>
            <a:ext cx="2531852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24" name="Case 2 Primary process answer">
            <a:extLst>
              <a:ext uri="{FF2B5EF4-FFF2-40B4-BE49-F238E27FC236}">
                <a16:creationId xmlns:a16="http://schemas.microsoft.com/office/drawing/2014/main" id="{7CD4613A-B3A7-4008-8A42-D3143FCDD360}"/>
              </a:ext>
            </a:extLst>
          </p:cNvPr>
          <p:cNvSpPr/>
          <p:nvPr/>
        </p:nvSpPr>
        <p:spPr>
          <a:xfrm>
            <a:off x="5483515" y="1926865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Concurrent metabolic and respiratory acidosis</a:t>
            </a:r>
          </a:p>
        </p:txBody>
      </p:sp>
      <p:sp>
        <p:nvSpPr>
          <p:cNvPr id="25" name="Case 2 Compensation answer">
            <a:extLst>
              <a:ext uri="{FF2B5EF4-FFF2-40B4-BE49-F238E27FC236}">
                <a16:creationId xmlns:a16="http://schemas.microsoft.com/office/drawing/2014/main" id="{0199790F-C2B9-47D9-B2D5-856360E354A9}"/>
              </a:ext>
            </a:extLst>
          </p:cNvPr>
          <p:cNvSpPr/>
          <p:nvPr/>
        </p:nvSpPr>
        <p:spPr>
          <a:xfrm>
            <a:off x="5483515" y="2643939"/>
            <a:ext cx="2531851" cy="56469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-</a:t>
            </a:r>
          </a:p>
        </p:txBody>
      </p:sp>
      <p:sp>
        <p:nvSpPr>
          <p:cNvPr id="26" name="Case 4">
            <a:extLst>
              <a:ext uri="{FF2B5EF4-FFF2-40B4-BE49-F238E27FC236}">
                <a16:creationId xmlns:a16="http://schemas.microsoft.com/office/drawing/2014/main" id="{FACFE8FE-45CA-47F6-A774-2B7AA7881EEC}"/>
              </a:ext>
            </a:extLst>
          </p:cNvPr>
          <p:cNvSpPr txBox="1"/>
          <p:nvPr/>
        </p:nvSpPr>
        <p:spPr>
          <a:xfrm>
            <a:off x="8477801" y="702504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27" name="Case 4  Primary process">
            <a:extLst>
              <a:ext uri="{FF2B5EF4-FFF2-40B4-BE49-F238E27FC236}">
                <a16:creationId xmlns:a16="http://schemas.microsoft.com/office/drawing/2014/main" id="{51562EAE-23F9-4166-9559-1A0207C21115}"/>
              </a:ext>
            </a:extLst>
          </p:cNvPr>
          <p:cNvSpPr/>
          <p:nvPr/>
        </p:nvSpPr>
        <p:spPr>
          <a:xfrm>
            <a:off x="8781103" y="1932000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28" name="Case 4 Compensation">
            <a:extLst>
              <a:ext uri="{FF2B5EF4-FFF2-40B4-BE49-F238E27FC236}">
                <a16:creationId xmlns:a16="http://schemas.microsoft.com/office/drawing/2014/main" id="{EABA12D2-AA5A-4012-B56F-3DC37BB53460}"/>
              </a:ext>
            </a:extLst>
          </p:cNvPr>
          <p:cNvSpPr/>
          <p:nvPr/>
        </p:nvSpPr>
        <p:spPr>
          <a:xfrm>
            <a:off x="8781104" y="2649075"/>
            <a:ext cx="2531852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29" name="Case 4 Primary process answer">
            <a:extLst>
              <a:ext uri="{FF2B5EF4-FFF2-40B4-BE49-F238E27FC236}">
                <a16:creationId xmlns:a16="http://schemas.microsoft.com/office/drawing/2014/main" id="{0F7C8C17-0BF2-4DF7-BA1F-0CE2F43C2400}"/>
              </a:ext>
            </a:extLst>
          </p:cNvPr>
          <p:cNvSpPr/>
          <p:nvPr/>
        </p:nvSpPr>
        <p:spPr>
          <a:xfrm>
            <a:off x="8781102" y="1932000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acidosis</a:t>
            </a:r>
          </a:p>
        </p:txBody>
      </p:sp>
      <p:sp>
        <p:nvSpPr>
          <p:cNvPr id="30" name="Case 4 Compensation answer">
            <a:extLst>
              <a:ext uri="{FF2B5EF4-FFF2-40B4-BE49-F238E27FC236}">
                <a16:creationId xmlns:a16="http://schemas.microsoft.com/office/drawing/2014/main" id="{22FEEB40-CD16-434F-A427-D06AB3FEE912}"/>
              </a:ext>
            </a:extLst>
          </p:cNvPr>
          <p:cNvSpPr/>
          <p:nvPr/>
        </p:nvSpPr>
        <p:spPr>
          <a:xfrm>
            <a:off x="8781102" y="2649074"/>
            <a:ext cx="2531851" cy="564691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 </a:t>
            </a:r>
            <a:r>
              <a:rPr lang="en-US" sz="1400" dirty="0"/>
              <a:t>HCO</a:t>
            </a:r>
            <a:r>
              <a:rPr lang="en-US" sz="1400" baseline="-25000" dirty="0"/>
              <a:t>3</a:t>
            </a:r>
            <a:endParaRPr lang="en-US" sz="1400" dirty="0"/>
          </a:p>
        </p:txBody>
      </p:sp>
      <p:sp>
        <p:nvSpPr>
          <p:cNvPr id="31" name="Case 3">
            <a:extLst>
              <a:ext uri="{FF2B5EF4-FFF2-40B4-BE49-F238E27FC236}">
                <a16:creationId xmlns:a16="http://schemas.microsoft.com/office/drawing/2014/main" id="{DDAAAE08-8726-4180-974C-ADE51381C37E}"/>
              </a:ext>
            </a:extLst>
          </p:cNvPr>
          <p:cNvSpPr txBox="1"/>
          <p:nvPr/>
        </p:nvSpPr>
        <p:spPr>
          <a:xfrm>
            <a:off x="1966263" y="3654027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32" name="Case 3  Primary process">
            <a:extLst>
              <a:ext uri="{FF2B5EF4-FFF2-40B4-BE49-F238E27FC236}">
                <a16:creationId xmlns:a16="http://schemas.microsoft.com/office/drawing/2014/main" id="{2358FACE-C8F5-4574-900A-37ABFAF841E6}"/>
              </a:ext>
            </a:extLst>
          </p:cNvPr>
          <p:cNvSpPr/>
          <p:nvPr/>
        </p:nvSpPr>
        <p:spPr>
          <a:xfrm>
            <a:off x="2190721" y="4808260"/>
            <a:ext cx="2531851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33" name="Case 3 Compensation">
            <a:extLst>
              <a:ext uri="{FF2B5EF4-FFF2-40B4-BE49-F238E27FC236}">
                <a16:creationId xmlns:a16="http://schemas.microsoft.com/office/drawing/2014/main" id="{5E691384-3F72-48AC-BD68-3E6143849A3B}"/>
              </a:ext>
            </a:extLst>
          </p:cNvPr>
          <p:cNvSpPr/>
          <p:nvPr/>
        </p:nvSpPr>
        <p:spPr>
          <a:xfrm>
            <a:off x="2182698" y="5537948"/>
            <a:ext cx="2531852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34" name="Case 3 Primary process answer">
            <a:extLst>
              <a:ext uri="{FF2B5EF4-FFF2-40B4-BE49-F238E27FC236}">
                <a16:creationId xmlns:a16="http://schemas.microsoft.com/office/drawing/2014/main" id="{3219FA48-7D2E-4D1E-8153-215325CCE0D8}"/>
              </a:ext>
            </a:extLst>
          </p:cNvPr>
          <p:cNvSpPr/>
          <p:nvPr/>
        </p:nvSpPr>
        <p:spPr>
          <a:xfrm>
            <a:off x="2190720" y="4808260"/>
            <a:ext cx="2531851" cy="5914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alkalosis</a:t>
            </a:r>
          </a:p>
        </p:txBody>
      </p:sp>
      <p:sp>
        <p:nvSpPr>
          <p:cNvPr id="35" name="Case 3 Compensation answer">
            <a:extLst>
              <a:ext uri="{FF2B5EF4-FFF2-40B4-BE49-F238E27FC236}">
                <a16:creationId xmlns:a16="http://schemas.microsoft.com/office/drawing/2014/main" id="{EC946244-4241-45E5-854C-2AFAF703CF84}"/>
              </a:ext>
            </a:extLst>
          </p:cNvPr>
          <p:cNvSpPr/>
          <p:nvPr/>
        </p:nvSpPr>
        <p:spPr>
          <a:xfrm>
            <a:off x="2182696" y="5537947"/>
            <a:ext cx="2531851" cy="591404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 </a:t>
            </a:r>
            <a:r>
              <a:rPr lang="en-US" sz="1400" dirty="0"/>
              <a:t>PCO</a:t>
            </a:r>
            <a:r>
              <a:rPr lang="en-US" sz="1400" baseline="-25000" dirty="0"/>
              <a:t>2</a:t>
            </a:r>
            <a:endParaRPr lang="en-US" sz="1400" dirty="0"/>
          </a:p>
        </p:txBody>
      </p:sp>
      <p:sp>
        <p:nvSpPr>
          <p:cNvPr id="36" name="Case 5">
            <a:extLst>
              <a:ext uri="{FF2B5EF4-FFF2-40B4-BE49-F238E27FC236}">
                <a16:creationId xmlns:a16="http://schemas.microsoft.com/office/drawing/2014/main" id="{6AC5E31C-D25F-45D8-BBD6-A07DD166BE23}"/>
              </a:ext>
            </a:extLst>
          </p:cNvPr>
          <p:cNvSpPr txBox="1"/>
          <p:nvPr/>
        </p:nvSpPr>
        <p:spPr>
          <a:xfrm>
            <a:off x="5162441" y="3649484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37" name="Case 5  Primary process">
            <a:extLst>
              <a:ext uri="{FF2B5EF4-FFF2-40B4-BE49-F238E27FC236}">
                <a16:creationId xmlns:a16="http://schemas.microsoft.com/office/drawing/2014/main" id="{88C172AF-1BC5-482C-8E9E-A0FD19976DBD}"/>
              </a:ext>
            </a:extLst>
          </p:cNvPr>
          <p:cNvSpPr/>
          <p:nvPr/>
        </p:nvSpPr>
        <p:spPr>
          <a:xfrm>
            <a:off x="5483513" y="4807312"/>
            <a:ext cx="2531851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38" name="Case 5 Compensation">
            <a:extLst>
              <a:ext uri="{FF2B5EF4-FFF2-40B4-BE49-F238E27FC236}">
                <a16:creationId xmlns:a16="http://schemas.microsoft.com/office/drawing/2014/main" id="{F944B63F-257F-48A5-A3C2-FDDEBE549C6B}"/>
              </a:ext>
            </a:extLst>
          </p:cNvPr>
          <p:cNvSpPr/>
          <p:nvPr/>
        </p:nvSpPr>
        <p:spPr>
          <a:xfrm>
            <a:off x="5483511" y="5537949"/>
            <a:ext cx="2531852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39" name="Case 5 Primary process answer">
            <a:extLst>
              <a:ext uri="{FF2B5EF4-FFF2-40B4-BE49-F238E27FC236}">
                <a16:creationId xmlns:a16="http://schemas.microsoft.com/office/drawing/2014/main" id="{C03F2A4E-E949-4F5E-9016-449D961B1CF0}"/>
              </a:ext>
            </a:extLst>
          </p:cNvPr>
          <p:cNvSpPr/>
          <p:nvPr/>
        </p:nvSpPr>
        <p:spPr>
          <a:xfrm>
            <a:off x="5483512" y="4807312"/>
            <a:ext cx="2531851" cy="5914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alkalosis</a:t>
            </a:r>
          </a:p>
        </p:txBody>
      </p:sp>
      <p:sp>
        <p:nvSpPr>
          <p:cNvPr id="40" name="Case 5 Compensation answer">
            <a:extLst>
              <a:ext uri="{FF2B5EF4-FFF2-40B4-BE49-F238E27FC236}">
                <a16:creationId xmlns:a16="http://schemas.microsoft.com/office/drawing/2014/main" id="{BC5941E4-946B-48E9-BCBC-AF23930F18E9}"/>
              </a:ext>
            </a:extLst>
          </p:cNvPr>
          <p:cNvSpPr/>
          <p:nvPr/>
        </p:nvSpPr>
        <p:spPr>
          <a:xfrm>
            <a:off x="5483509" y="5537948"/>
            <a:ext cx="2531851" cy="591404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sym typeface="Wingdings" panose="05000000000000000000" pitchFamily="2" charset="2"/>
              </a:rPr>
              <a:t></a:t>
            </a:r>
            <a:r>
              <a:rPr lang="en-US" sz="1400" dirty="0">
                <a:solidFill>
                  <a:schemeClr val="accent1"/>
                </a:solidFill>
                <a:sym typeface="Wingdings" panose="05000000000000000000" pitchFamily="2" charset="2"/>
              </a:rPr>
              <a:t> </a:t>
            </a:r>
            <a:r>
              <a:rPr lang="en-US" sz="1400" dirty="0"/>
              <a:t>HCO</a:t>
            </a:r>
            <a:r>
              <a:rPr lang="en-US" sz="1400" baseline="-25000" dirty="0"/>
              <a:t>3</a:t>
            </a:r>
            <a:endParaRPr lang="en-US" sz="1400" dirty="0"/>
          </a:p>
        </p:txBody>
      </p:sp>
      <p:sp>
        <p:nvSpPr>
          <p:cNvPr id="41" name="Case 6">
            <a:extLst>
              <a:ext uri="{FF2B5EF4-FFF2-40B4-BE49-F238E27FC236}">
                <a16:creationId xmlns:a16="http://schemas.microsoft.com/office/drawing/2014/main" id="{F1D11E6D-D71D-4AF9-B544-053BEF7B7D06}"/>
              </a:ext>
            </a:extLst>
          </p:cNvPr>
          <p:cNvSpPr txBox="1"/>
          <p:nvPr/>
        </p:nvSpPr>
        <p:spPr>
          <a:xfrm>
            <a:off x="8391617" y="3654619"/>
            <a:ext cx="3209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pH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</a:t>
            </a:r>
            <a:r>
              <a:rPr lang="en-US" dirty="0"/>
              <a:t>PCO</a:t>
            </a:r>
            <a:r>
              <a:rPr lang="en-US" baseline="-25000" dirty="0"/>
              <a:t>2 </a:t>
            </a:r>
            <a:r>
              <a:rPr lang="en-US" dirty="0"/>
              <a:t>/  PO</a:t>
            </a:r>
            <a:r>
              <a:rPr lang="en-US" baseline="-25000" dirty="0"/>
              <a:t>2</a:t>
            </a:r>
            <a:r>
              <a:rPr lang="en-US" dirty="0"/>
              <a:t>  / </a:t>
            </a:r>
            <a:r>
              <a:rPr lang="en-US" dirty="0">
                <a:solidFill>
                  <a:schemeClr val="accent1"/>
                </a:solidFill>
                <a:sym typeface="Wingdings" panose="05000000000000000000" pitchFamily="2" charset="2"/>
              </a:rPr>
              <a:t></a:t>
            </a:r>
            <a:r>
              <a:rPr lang="en-US" dirty="0"/>
              <a:t>HCO</a:t>
            </a:r>
            <a:r>
              <a:rPr lang="en-US" baseline="-25000" dirty="0"/>
              <a:t>3</a:t>
            </a:r>
          </a:p>
        </p:txBody>
      </p:sp>
      <p:sp>
        <p:nvSpPr>
          <p:cNvPr id="42" name="Case 6  Primary process">
            <a:extLst>
              <a:ext uri="{FF2B5EF4-FFF2-40B4-BE49-F238E27FC236}">
                <a16:creationId xmlns:a16="http://schemas.microsoft.com/office/drawing/2014/main" id="{BBD8587B-9206-40BD-9CC5-7CD5F51118A3}"/>
              </a:ext>
            </a:extLst>
          </p:cNvPr>
          <p:cNvSpPr/>
          <p:nvPr/>
        </p:nvSpPr>
        <p:spPr>
          <a:xfrm>
            <a:off x="8781103" y="4808852"/>
            <a:ext cx="2531851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43" name="Case 6 Compensation">
            <a:extLst>
              <a:ext uri="{FF2B5EF4-FFF2-40B4-BE49-F238E27FC236}">
                <a16:creationId xmlns:a16="http://schemas.microsoft.com/office/drawing/2014/main" id="{8C5E1AE7-A434-409E-B746-20365FDA6D3D}"/>
              </a:ext>
            </a:extLst>
          </p:cNvPr>
          <p:cNvSpPr/>
          <p:nvPr/>
        </p:nvSpPr>
        <p:spPr>
          <a:xfrm>
            <a:off x="8781104" y="5538539"/>
            <a:ext cx="2531852" cy="59140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44" name="Case 6 Primary process answer">
            <a:extLst>
              <a:ext uri="{FF2B5EF4-FFF2-40B4-BE49-F238E27FC236}">
                <a16:creationId xmlns:a16="http://schemas.microsoft.com/office/drawing/2014/main" id="{36B12823-51AC-44BE-A7F2-2A0BF26FE7D1}"/>
              </a:ext>
            </a:extLst>
          </p:cNvPr>
          <p:cNvSpPr/>
          <p:nvPr/>
        </p:nvSpPr>
        <p:spPr>
          <a:xfrm>
            <a:off x="8781102" y="4808852"/>
            <a:ext cx="2531851" cy="59140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Concurrent metabolic and respiratory alkalosis</a:t>
            </a:r>
          </a:p>
        </p:txBody>
      </p:sp>
      <p:sp>
        <p:nvSpPr>
          <p:cNvPr id="45" name="Case 6 Compensation answer">
            <a:extLst>
              <a:ext uri="{FF2B5EF4-FFF2-40B4-BE49-F238E27FC236}">
                <a16:creationId xmlns:a16="http://schemas.microsoft.com/office/drawing/2014/main" id="{46FCD703-ED9B-4FEE-B161-72A2AF078CD3}"/>
              </a:ext>
            </a:extLst>
          </p:cNvPr>
          <p:cNvSpPr/>
          <p:nvPr/>
        </p:nvSpPr>
        <p:spPr>
          <a:xfrm>
            <a:off x="8781102" y="5538538"/>
            <a:ext cx="2531851" cy="591404"/>
          </a:xfrm>
          <a:prstGeom prst="round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-</a:t>
            </a:r>
          </a:p>
        </p:txBody>
      </p:sp>
      <p:sp>
        <p:nvSpPr>
          <p:cNvPr id="53" name="Case 1 Acid-base?">
            <a:extLst>
              <a:ext uri="{FF2B5EF4-FFF2-40B4-BE49-F238E27FC236}">
                <a16:creationId xmlns:a16="http://schemas.microsoft.com/office/drawing/2014/main" id="{F60F0A2B-6CE0-458A-AE7F-B1D1BA28E135}"/>
              </a:ext>
            </a:extLst>
          </p:cNvPr>
          <p:cNvSpPr/>
          <p:nvPr/>
        </p:nvSpPr>
        <p:spPr>
          <a:xfrm>
            <a:off x="2182697" y="1252785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54" name="Case 1 Acid-Base answer">
            <a:extLst>
              <a:ext uri="{FF2B5EF4-FFF2-40B4-BE49-F238E27FC236}">
                <a16:creationId xmlns:a16="http://schemas.microsoft.com/office/drawing/2014/main" id="{6080B93C-9824-4C09-8099-852B31A523F3}"/>
              </a:ext>
            </a:extLst>
          </p:cNvPr>
          <p:cNvSpPr/>
          <p:nvPr/>
        </p:nvSpPr>
        <p:spPr>
          <a:xfrm>
            <a:off x="2182696" y="1252785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</a:t>
            </a:r>
          </a:p>
        </p:txBody>
      </p:sp>
      <p:sp>
        <p:nvSpPr>
          <p:cNvPr id="55" name="Case 2  Acid Base?">
            <a:extLst>
              <a:ext uri="{FF2B5EF4-FFF2-40B4-BE49-F238E27FC236}">
                <a16:creationId xmlns:a16="http://schemas.microsoft.com/office/drawing/2014/main" id="{4DE6ECD7-4C34-4911-97E8-2018FAACAEA6}"/>
              </a:ext>
            </a:extLst>
          </p:cNvPr>
          <p:cNvSpPr/>
          <p:nvPr/>
        </p:nvSpPr>
        <p:spPr>
          <a:xfrm>
            <a:off x="5483516" y="1248242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56" name="Case 2 Acid Base answer">
            <a:extLst>
              <a:ext uri="{FF2B5EF4-FFF2-40B4-BE49-F238E27FC236}">
                <a16:creationId xmlns:a16="http://schemas.microsoft.com/office/drawing/2014/main" id="{8CEC224D-949A-497D-9D5D-3E46F6FFD6AA}"/>
              </a:ext>
            </a:extLst>
          </p:cNvPr>
          <p:cNvSpPr/>
          <p:nvPr/>
        </p:nvSpPr>
        <p:spPr>
          <a:xfrm>
            <a:off x="5483515" y="1248242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</a:t>
            </a:r>
          </a:p>
        </p:txBody>
      </p:sp>
      <p:sp>
        <p:nvSpPr>
          <p:cNvPr id="57" name="Case 4  Acid-base status?">
            <a:extLst>
              <a:ext uri="{FF2B5EF4-FFF2-40B4-BE49-F238E27FC236}">
                <a16:creationId xmlns:a16="http://schemas.microsoft.com/office/drawing/2014/main" id="{4427DE94-6020-4FE6-8D92-B4422FCA44D3}"/>
              </a:ext>
            </a:extLst>
          </p:cNvPr>
          <p:cNvSpPr/>
          <p:nvPr/>
        </p:nvSpPr>
        <p:spPr>
          <a:xfrm>
            <a:off x="8781103" y="1253377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58" name="Case 4 Acid base answer">
            <a:extLst>
              <a:ext uri="{FF2B5EF4-FFF2-40B4-BE49-F238E27FC236}">
                <a16:creationId xmlns:a16="http://schemas.microsoft.com/office/drawing/2014/main" id="{5FD1D5B1-49B3-47BB-BCDA-0F72D615E33E}"/>
              </a:ext>
            </a:extLst>
          </p:cNvPr>
          <p:cNvSpPr/>
          <p:nvPr/>
        </p:nvSpPr>
        <p:spPr>
          <a:xfrm>
            <a:off x="8781102" y="1253377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</a:t>
            </a:r>
          </a:p>
        </p:txBody>
      </p:sp>
      <p:sp>
        <p:nvSpPr>
          <p:cNvPr id="59" name="Case 3 Acid-base?">
            <a:extLst>
              <a:ext uri="{FF2B5EF4-FFF2-40B4-BE49-F238E27FC236}">
                <a16:creationId xmlns:a16="http://schemas.microsoft.com/office/drawing/2014/main" id="{70640050-A528-4AE8-B442-A8E1569D867E}"/>
              </a:ext>
            </a:extLst>
          </p:cNvPr>
          <p:cNvSpPr/>
          <p:nvPr/>
        </p:nvSpPr>
        <p:spPr>
          <a:xfrm>
            <a:off x="2182697" y="4134901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60" name="Case 3 Acid-Base answer">
            <a:extLst>
              <a:ext uri="{FF2B5EF4-FFF2-40B4-BE49-F238E27FC236}">
                <a16:creationId xmlns:a16="http://schemas.microsoft.com/office/drawing/2014/main" id="{18172E9C-DB51-40EA-A030-7712CE6759F1}"/>
              </a:ext>
            </a:extLst>
          </p:cNvPr>
          <p:cNvSpPr/>
          <p:nvPr/>
        </p:nvSpPr>
        <p:spPr>
          <a:xfrm>
            <a:off x="2182696" y="4134901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</a:t>
            </a:r>
          </a:p>
        </p:txBody>
      </p:sp>
      <p:sp>
        <p:nvSpPr>
          <p:cNvPr id="61" name="Case 5  Acid Base?">
            <a:extLst>
              <a:ext uri="{FF2B5EF4-FFF2-40B4-BE49-F238E27FC236}">
                <a16:creationId xmlns:a16="http://schemas.microsoft.com/office/drawing/2014/main" id="{6F07A807-25D1-43BA-B8AC-EC8DA0908A9E}"/>
              </a:ext>
            </a:extLst>
          </p:cNvPr>
          <p:cNvSpPr/>
          <p:nvPr/>
        </p:nvSpPr>
        <p:spPr>
          <a:xfrm>
            <a:off x="5483516" y="4130358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62" name="Case 5 Acid Base answer">
            <a:extLst>
              <a:ext uri="{FF2B5EF4-FFF2-40B4-BE49-F238E27FC236}">
                <a16:creationId xmlns:a16="http://schemas.microsoft.com/office/drawing/2014/main" id="{7243ED6A-9C1E-4BAA-9C61-7BE24E166D5C}"/>
              </a:ext>
            </a:extLst>
          </p:cNvPr>
          <p:cNvSpPr/>
          <p:nvPr/>
        </p:nvSpPr>
        <p:spPr>
          <a:xfrm>
            <a:off x="5483515" y="4130358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</a:t>
            </a:r>
          </a:p>
        </p:txBody>
      </p:sp>
      <p:sp>
        <p:nvSpPr>
          <p:cNvPr id="63" name="Case 6  Acid-base status?">
            <a:extLst>
              <a:ext uri="{FF2B5EF4-FFF2-40B4-BE49-F238E27FC236}">
                <a16:creationId xmlns:a16="http://schemas.microsoft.com/office/drawing/2014/main" id="{B3FE3DC0-958D-468F-89BB-1036ED36073F}"/>
              </a:ext>
            </a:extLst>
          </p:cNvPr>
          <p:cNvSpPr/>
          <p:nvPr/>
        </p:nvSpPr>
        <p:spPr>
          <a:xfrm>
            <a:off x="8781103" y="4135493"/>
            <a:ext cx="2531851" cy="56469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64" name="Case 6 Acid base answer">
            <a:extLst>
              <a:ext uri="{FF2B5EF4-FFF2-40B4-BE49-F238E27FC236}">
                <a16:creationId xmlns:a16="http://schemas.microsoft.com/office/drawing/2014/main" id="{1CC89A3B-E9CB-455A-B28C-64F26EE5F1E3}"/>
              </a:ext>
            </a:extLst>
          </p:cNvPr>
          <p:cNvSpPr/>
          <p:nvPr/>
        </p:nvSpPr>
        <p:spPr>
          <a:xfrm>
            <a:off x="8781102" y="4135493"/>
            <a:ext cx="2531851" cy="56469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</a:t>
            </a:r>
          </a:p>
        </p:txBody>
      </p:sp>
      <p:sp>
        <p:nvSpPr>
          <p:cNvPr id="65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69D93F5F-9D82-4B9D-9181-E4D0D4E46C2E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66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2C4FAB6E-6B0D-4A89-BC08-3A50D47996C7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67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B57A838C-3386-4DC8-BA20-83F999152124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72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BB68DB42-57A0-4F90-AAA8-46BA437C346E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73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2A35331A-3230-47BC-899A-70BD16DB7E09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74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85CBEC12-AB98-4FC3-AEA2-E944C9F2C25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75" name="Graphic 74" descr="Cursor with solid fill">
            <a:extLst>
              <a:ext uri="{FF2B5EF4-FFF2-40B4-BE49-F238E27FC236}">
                <a16:creationId xmlns:a16="http://schemas.microsoft.com/office/drawing/2014/main" id="{A2BECE9D-37FE-48D9-B219-2AFBB4AF101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76" name="Graphic 75" descr="Cursor with solid fill">
            <a:extLst>
              <a:ext uri="{FF2B5EF4-FFF2-40B4-BE49-F238E27FC236}">
                <a16:creationId xmlns:a16="http://schemas.microsoft.com/office/drawing/2014/main" id="{B072AE87-337E-4405-8E7D-29A01B5653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2B847C77-8826-4938-863F-7D0CA41912F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20D74EE0-CAA5-4411-B9EF-D05CC74E7CC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sp>
        <p:nvSpPr>
          <p:cNvPr id="80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F505102E-A84B-4C95-AE52-BE5EFE22D150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81" name="Graphic 80" descr="Cursor with solid fill">
            <a:extLst>
              <a:ext uri="{FF2B5EF4-FFF2-40B4-BE49-F238E27FC236}">
                <a16:creationId xmlns:a16="http://schemas.microsoft.com/office/drawing/2014/main" id="{DA843A02-7E43-4C84-A496-DC5E39890A8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82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9EEEB369-3A62-4ED5-BFF2-F654D597DE4A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83" name="Graphic 82" descr="Cursor with solid fill">
            <a:extLst>
              <a:ext uri="{FF2B5EF4-FFF2-40B4-BE49-F238E27FC236}">
                <a16:creationId xmlns:a16="http://schemas.microsoft.com/office/drawing/2014/main" id="{8909A68B-3599-43CC-B515-5920B096AF2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  <p:sp>
        <p:nvSpPr>
          <p:cNvPr id="84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00BB7448-9A6C-4A15-8976-05140B726EA8}"/>
              </a:ext>
            </a:extLst>
          </p:cNvPr>
          <p:cNvSpPr txBox="1"/>
          <p:nvPr/>
        </p:nvSpPr>
        <p:spPr>
          <a:xfrm>
            <a:off x="740685" y="4070109"/>
            <a:ext cx="587118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Basic</a:t>
            </a:r>
          </a:p>
        </p:txBody>
      </p:sp>
      <p:sp>
        <p:nvSpPr>
          <p:cNvPr id="85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FA1A74C9-5363-4D5B-8E75-79AAC30E3343}"/>
              </a:ext>
            </a:extLst>
          </p:cNvPr>
          <p:cNvSpPr txBox="1"/>
          <p:nvPr/>
        </p:nvSpPr>
        <p:spPr>
          <a:xfrm>
            <a:off x="735489" y="4464899"/>
            <a:ext cx="579838" cy="34051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1-3</a:t>
            </a:r>
          </a:p>
        </p:txBody>
      </p:sp>
      <p:pic>
        <p:nvPicPr>
          <p:cNvPr id="87" name="Graphic 86" descr="Cursor with solid fill">
            <a:extLst>
              <a:ext uri="{FF2B5EF4-FFF2-40B4-BE49-F238E27FC236}">
                <a16:creationId xmlns:a16="http://schemas.microsoft.com/office/drawing/2014/main" id="{DC9979B3-A7AF-4ADD-B297-08DA6E93EF5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653537"/>
            <a:ext cx="274320" cy="274320"/>
          </a:xfrm>
          <a:prstGeom prst="rect">
            <a:avLst/>
          </a:prstGeom>
        </p:spPr>
      </p:pic>
      <p:sp>
        <p:nvSpPr>
          <p:cNvPr id="88" name="sub-q 1 button">
            <a:hlinkClick r:id="rId13" action="ppaction://hlinksldjump"/>
            <a:extLst>
              <a:ext uri="{FF2B5EF4-FFF2-40B4-BE49-F238E27FC236}">
                <a16:creationId xmlns:a16="http://schemas.microsoft.com/office/drawing/2014/main" id="{23E6706E-3246-410B-A498-16F4776DD292}"/>
              </a:ext>
            </a:extLst>
          </p:cNvPr>
          <p:cNvSpPr txBox="1"/>
          <p:nvPr/>
        </p:nvSpPr>
        <p:spPr>
          <a:xfrm>
            <a:off x="738051" y="4879987"/>
            <a:ext cx="579838" cy="34051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4-5</a:t>
            </a:r>
          </a:p>
        </p:txBody>
      </p:sp>
      <p:pic>
        <p:nvPicPr>
          <p:cNvPr id="89" name="Graphic 88" descr="Cursor with solid fill">
            <a:extLst>
              <a:ext uri="{FF2B5EF4-FFF2-40B4-BE49-F238E27FC236}">
                <a16:creationId xmlns:a16="http://schemas.microsoft.com/office/drawing/2014/main" id="{CB35C6D0-6CB2-42EE-81C6-C306AE41225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5583" y="5063488"/>
            <a:ext cx="274320" cy="274320"/>
          </a:xfrm>
          <a:prstGeom prst="rect">
            <a:avLst/>
          </a:prstGeom>
        </p:spPr>
      </p:pic>
      <p:pic>
        <p:nvPicPr>
          <p:cNvPr id="90" name="teachIM logo" descr="Icon&#10;&#10;Description automatically generated">
            <a:extLst>
              <a:ext uri="{FF2B5EF4-FFF2-40B4-BE49-F238E27FC236}">
                <a16:creationId xmlns:a16="http://schemas.microsoft.com/office/drawing/2014/main" id="{4D766B9C-2298-45A2-89D2-E6AE8C59DFC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9383" y="6288092"/>
            <a:ext cx="1387970" cy="5281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3037C9-5906-4C63-B714-8FFE0B93339B}"/>
              </a:ext>
            </a:extLst>
          </p:cNvPr>
          <p:cNvSpPr txBox="1"/>
          <p:nvPr/>
        </p:nvSpPr>
        <p:spPr>
          <a:xfrm>
            <a:off x="4447822" y="169335"/>
            <a:ext cx="46387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 dirty="0"/>
              <a:t>Click each shaded box to reveal the answer.</a:t>
            </a:r>
          </a:p>
        </p:txBody>
      </p:sp>
    </p:spTree>
    <p:extLst>
      <p:ext uri="{BB962C8B-B14F-4D97-AF65-F5344CB8AC3E}">
        <p14:creationId xmlns:p14="http://schemas.microsoft.com/office/powerpoint/2010/main" val="921401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44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5" fill="hold">
                      <p:stCondLst>
                        <p:cond delay="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58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9" fill="hold">
                      <p:stCondLst>
                        <p:cond delay="0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3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8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  <p:seq concurrent="1" nextAc="seek">
              <p:cTn id="79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0" fill="hold">
                      <p:stCondLst>
                        <p:cond delay="0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86" restart="whenNotActive" fill="hold" evtFilter="cancelBubble" nodeType="interactiveSeq">
                <p:stCondLst>
                  <p:cond evt="onClick" delay="0">
                    <p:tgtEl>
                      <p:spTgt spid="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7" fill="hold">
                      <p:stCondLst>
                        <p:cond delay="0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3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100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1" fill="hold">
                      <p:stCondLst>
                        <p:cond delay="0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114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5" fill="hold">
                      <p:stCondLst>
                        <p:cond delay="0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121" restart="whenNotActive" fill="hold" evtFilter="cancelBubble" nodeType="interactiveSeq">
                <p:stCondLst>
                  <p:cond evt="onClick" delay="0">
                    <p:tgtEl>
                      <p:spTgt spid="6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2" fill="hold">
                      <p:stCondLst>
                        <p:cond delay="0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3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7" grpId="0" animBg="1"/>
      <p:bldP spid="38" grpId="0" animBg="1"/>
      <p:bldP spid="39" grpId="0" animBg="1"/>
      <p:bldP spid="40" grpId="0" animBg="1"/>
      <p:bldP spid="42" grpId="0" animBg="1"/>
      <p:bldP spid="43" grpId="0" animBg="1"/>
      <p:bldP spid="44" grpId="0" animBg="1"/>
      <p:bldP spid="45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7B20797-FA42-4BBA-ABF2-5CF06A40D43C}"/>
              </a:ext>
            </a:extLst>
          </p:cNvPr>
          <p:cNvCxnSpPr>
            <a:cxnSpLocks/>
          </p:cNvCxnSpPr>
          <p:nvPr/>
        </p:nvCxnSpPr>
        <p:spPr>
          <a:xfrm>
            <a:off x="5133163" y="198720"/>
            <a:ext cx="0" cy="64605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6ED83D-4D37-4A82-8C3A-63919FF9C74A}"/>
              </a:ext>
            </a:extLst>
          </p:cNvPr>
          <p:cNvCxnSpPr>
            <a:cxnSpLocks/>
          </p:cNvCxnSpPr>
          <p:nvPr/>
        </p:nvCxnSpPr>
        <p:spPr>
          <a:xfrm>
            <a:off x="8659345" y="147181"/>
            <a:ext cx="0" cy="655616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se 1">
            <a:extLst>
              <a:ext uri="{FF2B5EF4-FFF2-40B4-BE49-F238E27FC236}">
                <a16:creationId xmlns:a16="http://schemas.microsoft.com/office/drawing/2014/main" id="{D2B7E91F-D4C0-4BE2-8AA9-79828559D719}"/>
              </a:ext>
            </a:extLst>
          </p:cNvPr>
          <p:cNvSpPr/>
          <p:nvPr/>
        </p:nvSpPr>
        <p:spPr>
          <a:xfrm>
            <a:off x="2234893" y="148876"/>
            <a:ext cx="1973783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1</a:t>
            </a:r>
          </a:p>
        </p:txBody>
      </p:sp>
      <p:grpSp>
        <p:nvGrpSpPr>
          <p:cNvPr id="74" name="Case 1 info">
            <a:extLst>
              <a:ext uri="{FF2B5EF4-FFF2-40B4-BE49-F238E27FC236}">
                <a16:creationId xmlns:a16="http://schemas.microsoft.com/office/drawing/2014/main" id="{6D54D231-4A38-4599-BEC2-2C7E76616085}"/>
              </a:ext>
            </a:extLst>
          </p:cNvPr>
          <p:cNvGrpSpPr/>
          <p:nvPr/>
        </p:nvGrpSpPr>
        <p:grpSpPr>
          <a:xfrm>
            <a:off x="1674024" y="652560"/>
            <a:ext cx="3477107" cy="1422098"/>
            <a:chOff x="184569" y="658878"/>
            <a:chExt cx="3652374" cy="1422098"/>
          </a:xfrm>
        </p:grpSpPr>
        <p:grpSp>
          <p:nvGrpSpPr>
            <p:cNvPr id="12" name="Case 1 info">
              <a:extLst>
                <a:ext uri="{FF2B5EF4-FFF2-40B4-BE49-F238E27FC236}">
                  <a16:creationId xmlns:a16="http://schemas.microsoft.com/office/drawing/2014/main" id="{08EBA9AA-57F4-4F4E-B898-F5C7D1C901D4}"/>
                </a:ext>
              </a:extLst>
            </p:cNvPr>
            <p:cNvGrpSpPr/>
            <p:nvPr/>
          </p:nvGrpSpPr>
          <p:grpSpPr>
            <a:xfrm>
              <a:off x="184569" y="658878"/>
              <a:ext cx="3652374" cy="1422098"/>
              <a:chOff x="92396" y="657992"/>
              <a:chExt cx="3652374" cy="1340851"/>
            </a:xfrm>
          </p:grpSpPr>
          <p:sp>
            <p:nvSpPr>
              <p:cNvPr id="13" name="Case 1 text">
                <a:extLst>
                  <a:ext uri="{FF2B5EF4-FFF2-40B4-BE49-F238E27FC236}">
                    <a16:creationId xmlns:a16="http://schemas.microsoft.com/office/drawing/2014/main" id="{28FAF219-B0F0-4D6F-A011-8C6E213E6DC1}"/>
                  </a:ext>
                </a:extLst>
              </p:cNvPr>
              <p:cNvSpPr txBox="1"/>
              <p:nvPr/>
            </p:nvSpPr>
            <p:spPr>
              <a:xfrm>
                <a:off x="92396" y="657992"/>
                <a:ext cx="3652374" cy="69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34F is found down. In the ED, her SaO</a:t>
                </a:r>
                <a:r>
                  <a:rPr lang="en-US" sz="1400" baseline="-25000" dirty="0"/>
                  <a:t>2</a:t>
                </a:r>
                <a:r>
                  <a:rPr lang="en-US" sz="1400" dirty="0"/>
                  <a:t> was 89% on RA. Pinpoint pupils on exam. </a:t>
                </a:r>
              </a:p>
              <a:p>
                <a:r>
                  <a:rPr lang="en-US" sz="1400" dirty="0"/>
                  <a:t>ABG: 7.25/60/60/26, base excess of 1. </a:t>
                </a:r>
              </a:p>
            </p:txBody>
          </p:sp>
          <p:grpSp>
            <p:nvGrpSpPr>
              <p:cNvPr id="14" name="Fishbone 1">
                <a:extLst>
                  <a:ext uri="{FF2B5EF4-FFF2-40B4-BE49-F238E27FC236}">
                    <a16:creationId xmlns:a16="http://schemas.microsoft.com/office/drawing/2014/main" id="{03F53E4C-26CE-4CF1-A133-C26004FDCEF5}"/>
                  </a:ext>
                </a:extLst>
              </p:cNvPr>
              <p:cNvGrpSpPr/>
              <p:nvPr/>
            </p:nvGrpSpPr>
            <p:grpSpPr>
              <a:xfrm>
                <a:off x="198605" y="1419920"/>
                <a:ext cx="1452583" cy="578923"/>
                <a:chOff x="144512" y="2183603"/>
                <a:chExt cx="1452583" cy="578923"/>
              </a:xfrm>
            </p:grpSpPr>
            <p:grpSp>
              <p:nvGrpSpPr>
                <p:cNvPr id="17" name="Fishbone">
                  <a:extLst>
                    <a:ext uri="{FF2B5EF4-FFF2-40B4-BE49-F238E27FC236}">
                      <a16:creationId xmlns:a16="http://schemas.microsoft.com/office/drawing/2014/main" id="{3F0F631A-7E03-41E5-A84B-374273685F8C}"/>
                    </a:ext>
                  </a:extLst>
                </p:cNvPr>
                <p:cNvGrpSpPr/>
                <p:nvPr/>
              </p:nvGrpSpPr>
              <p:grpSpPr>
                <a:xfrm>
                  <a:off x="196757" y="2244055"/>
                  <a:ext cx="1400338" cy="459816"/>
                  <a:chOff x="416866" y="2442321"/>
                  <a:chExt cx="1192881" cy="386662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D22F04B-9B24-4358-897C-A850E5854F3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8500" y="2442321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68BAE9CC-ACCD-4CC4-900E-955303909C4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3329" y="2442322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4" name="Straight Connector 23">
                    <a:extLst>
                      <a:ext uri="{FF2B5EF4-FFF2-40B4-BE49-F238E27FC236}">
                        <a16:creationId xmlns:a16="http://schemas.microsoft.com/office/drawing/2014/main" id="{687C6C6C-57A7-4574-8BC6-1D2856702C8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93685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9146FD1F-480A-4295-9DF7-9823527F22D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38040" y="2442339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Straight Connector 25">
                    <a:extLst>
                      <a:ext uri="{FF2B5EF4-FFF2-40B4-BE49-F238E27FC236}">
                        <a16:creationId xmlns:a16="http://schemas.microsoft.com/office/drawing/2014/main" id="{24F76B0D-9E21-4948-AB22-F2A7235B32E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38039" y="2625201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1FCD209-D43D-4B6A-BDB5-DAF0C1AB9C76}"/>
                    </a:ext>
                  </a:extLst>
                </p:cNvPr>
                <p:cNvSpPr txBox="1"/>
                <p:nvPr/>
              </p:nvSpPr>
              <p:spPr>
                <a:xfrm>
                  <a:off x="144512" y="2183603"/>
                  <a:ext cx="517283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136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EA9EED0-62BF-43C6-883B-8EC017051419}"/>
                    </a:ext>
                  </a:extLst>
                </p:cNvPr>
                <p:cNvSpPr txBox="1"/>
                <p:nvPr/>
              </p:nvSpPr>
              <p:spPr>
                <a:xfrm>
                  <a:off x="572863" y="2189213"/>
                  <a:ext cx="60260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100</a:t>
                  </a:r>
                </a:p>
              </p:txBody>
            </p:sp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20CE1663-34FB-4A8B-91CC-660E09CCD7AC}"/>
                    </a:ext>
                  </a:extLst>
                </p:cNvPr>
                <p:cNvSpPr txBox="1"/>
                <p:nvPr/>
              </p:nvSpPr>
              <p:spPr>
                <a:xfrm>
                  <a:off x="1000065" y="2461533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1.4</a:t>
                  </a:r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7C42BD5-8D26-4533-99B0-D2A4581BE1F0}"/>
                    </a:ext>
                  </a:extLst>
                </p:cNvPr>
                <p:cNvSpPr txBox="1"/>
                <p:nvPr/>
              </p:nvSpPr>
              <p:spPr>
                <a:xfrm>
                  <a:off x="616461" y="2472333"/>
                  <a:ext cx="441298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26</a:t>
                  </a:r>
                </a:p>
              </p:txBody>
            </p:sp>
          </p:grp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87A31F3-72C4-455B-BA1D-C38704E1B0A7}"/>
                </a:ext>
              </a:extLst>
            </p:cNvPr>
            <p:cNvSpPr txBox="1"/>
            <p:nvPr/>
          </p:nvSpPr>
          <p:spPr>
            <a:xfrm>
              <a:off x="2089738" y="1571962"/>
              <a:ext cx="15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4.0</a:t>
              </a:r>
            </a:p>
          </p:txBody>
        </p:sp>
      </p:grpSp>
      <p:sp>
        <p:nvSpPr>
          <p:cNvPr id="28" name="Case 1 Acid-base status?">
            <a:extLst>
              <a:ext uri="{FF2B5EF4-FFF2-40B4-BE49-F238E27FC236}">
                <a16:creationId xmlns:a16="http://schemas.microsoft.com/office/drawing/2014/main" id="{A720D17D-CBB7-401A-B329-CE14FDF24C03}"/>
              </a:ext>
            </a:extLst>
          </p:cNvPr>
          <p:cNvSpPr/>
          <p:nvPr/>
        </p:nvSpPr>
        <p:spPr>
          <a:xfrm>
            <a:off x="1753775" y="2188993"/>
            <a:ext cx="3157102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31" name="Case 1 - Primary process?">
            <a:extLst>
              <a:ext uri="{FF2B5EF4-FFF2-40B4-BE49-F238E27FC236}">
                <a16:creationId xmlns:a16="http://schemas.microsoft.com/office/drawing/2014/main" id="{FC95995F-E4E4-4637-AB4F-6B3EE9F47547}"/>
              </a:ext>
            </a:extLst>
          </p:cNvPr>
          <p:cNvSpPr/>
          <p:nvPr/>
        </p:nvSpPr>
        <p:spPr>
          <a:xfrm>
            <a:off x="1767375" y="2602381"/>
            <a:ext cx="3157100" cy="85050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29" name="Case 1 - Anion gap?">
            <a:extLst>
              <a:ext uri="{FF2B5EF4-FFF2-40B4-BE49-F238E27FC236}">
                <a16:creationId xmlns:a16="http://schemas.microsoft.com/office/drawing/2014/main" id="{A878A616-CFBF-4671-8D20-04B6C3DBC423}"/>
              </a:ext>
            </a:extLst>
          </p:cNvPr>
          <p:cNvSpPr/>
          <p:nvPr/>
        </p:nvSpPr>
        <p:spPr>
          <a:xfrm>
            <a:off x="1747142" y="3563949"/>
            <a:ext cx="3167796" cy="736924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30" name="Case 1 - Compensation">
            <a:extLst>
              <a:ext uri="{FF2B5EF4-FFF2-40B4-BE49-F238E27FC236}">
                <a16:creationId xmlns:a16="http://schemas.microsoft.com/office/drawing/2014/main" id="{731DFEAB-EA12-4B9E-A4F6-084CAEC77E91}"/>
              </a:ext>
            </a:extLst>
          </p:cNvPr>
          <p:cNvSpPr/>
          <p:nvPr/>
        </p:nvSpPr>
        <p:spPr>
          <a:xfrm>
            <a:off x="1749358" y="4947066"/>
            <a:ext cx="3167793" cy="50309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32" name="Case 1 - A-a gradient">
            <a:extLst>
              <a:ext uri="{FF2B5EF4-FFF2-40B4-BE49-F238E27FC236}">
                <a16:creationId xmlns:a16="http://schemas.microsoft.com/office/drawing/2014/main" id="{5F6BBA05-71C7-45DA-80DB-892D73F5B2A5}"/>
              </a:ext>
            </a:extLst>
          </p:cNvPr>
          <p:cNvSpPr/>
          <p:nvPr/>
        </p:nvSpPr>
        <p:spPr>
          <a:xfrm>
            <a:off x="1749357" y="5567233"/>
            <a:ext cx="3167793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Bonus: A-a gradient?</a:t>
            </a:r>
          </a:p>
        </p:txBody>
      </p:sp>
      <p:sp>
        <p:nvSpPr>
          <p:cNvPr id="33" name="Case 1 - AB answer">
            <a:extLst>
              <a:ext uri="{FF2B5EF4-FFF2-40B4-BE49-F238E27FC236}">
                <a16:creationId xmlns:a16="http://schemas.microsoft.com/office/drawing/2014/main" id="{8E93BC3D-9A48-4519-87F0-DC82D5777AEB}"/>
              </a:ext>
            </a:extLst>
          </p:cNvPr>
          <p:cNvSpPr/>
          <p:nvPr/>
        </p:nvSpPr>
        <p:spPr>
          <a:xfrm>
            <a:off x="1748161" y="2188312"/>
            <a:ext cx="3157099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Acidemia. pH of 7.25 is low. </a:t>
            </a:r>
          </a:p>
        </p:txBody>
      </p:sp>
      <p:sp>
        <p:nvSpPr>
          <p:cNvPr id="34" name="Case 1 - Primary process answer">
            <a:extLst>
              <a:ext uri="{FF2B5EF4-FFF2-40B4-BE49-F238E27FC236}">
                <a16:creationId xmlns:a16="http://schemas.microsoft.com/office/drawing/2014/main" id="{78D59F4F-3EF0-4B50-B0DE-BD1DB0BEC628}"/>
              </a:ext>
            </a:extLst>
          </p:cNvPr>
          <p:cNvSpPr/>
          <p:nvPr/>
        </p:nvSpPr>
        <p:spPr>
          <a:xfrm>
            <a:off x="1754290" y="2596616"/>
            <a:ext cx="3167791" cy="857047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acidosis. PCO</a:t>
            </a:r>
            <a:r>
              <a:rPr lang="en-US" sz="1400" baseline="-25000" dirty="0"/>
              <a:t>2</a:t>
            </a:r>
            <a:r>
              <a:rPr lang="en-US" sz="1400" dirty="0"/>
              <a:t> is </a:t>
            </a:r>
            <a:r>
              <a:rPr lang="en-US" sz="1400" dirty="0">
                <a:sym typeface="Wingdings" panose="05000000000000000000" pitchFamily="2" charset="2"/>
              </a:rPr>
              <a:t> (</a:t>
            </a:r>
            <a:r>
              <a:rPr lang="en-US" sz="1400" dirty="0" err="1">
                <a:sym typeface="Wingdings" panose="05000000000000000000" pitchFamily="2" charset="2"/>
              </a:rPr>
              <a:t>nml</a:t>
            </a:r>
            <a:r>
              <a:rPr lang="en-US" sz="1400" dirty="0">
                <a:sym typeface="Wingdings" panose="05000000000000000000" pitchFamily="2" charset="2"/>
              </a:rPr>
              <a:t> 36-44) driving the acidemia.  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>
                <a:sym typeface="Wingdings" panose="05000000000000000000" pitchFamily="2" charset="2"/>
              </a:rPr>
              <a:t> is at the upper range of normal.</a:t>
            </a:r>
            <a:endParaRPr lang="en-US" sz="1400" dirty="0"/>
          </a:p>
        </p:txBody>
      </p:sp>
      <p:sp>
        <p:nvSpPr>
          <p:cNvPr id="35" name="Case 1 - Anion gap answer">
            <a:extLst>
              <a:ext uri="{FF2B5EF4-FFF2-40B4-BE49-F238E27FC236}">
                <a16:creationId xmlns:a16="http://schemas.microsoft.com/office/drawing/2014/main" id="{DB2F2D18-103A-4622-B071-CE4836C07EAE}"/>
              </a:ext>
            </a:extLst>
          </p:cNvPr>
          <p:cNvSpPr/>
          <p:nvPr/>
        </p:nvSpPr>
        <p:spPr>
          <a:xfrm>
            <a:off x="1747142" y="3561583"/>
            <a:ext cx="3167796" cy="746436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no concurrent AGMA. </a:t>
            </a:r>
          </a:p>
          <a:p>
            <a:pPr algn="ctr"/>
            <a:r>
              <a:rPr lang="en-US" sz="1400" dirty="0"/>
              <a:t>(</a:t>
            </a:r>
            <a:r>
              <a:rPr lang="en-US" sz="1200" dirty="0"/>
              <a:t>Na) – (HCO</a:t>
            </a:r>
            <a:r>
              <a:rPr lang="en-US" sz="1200" baseline="-25000" dirty="0"/>
              <a:t>3</a:t>
            </a:r>
            <a:r>
              <a:rPr lang="en-US" sz="1200" dirty="0"/>
              <a:t> + Cl) = 136 – (100 + 26) </a:t>
            </a:r>
          </a:p>
          <a:p>
            <a:pPr algn="ctr"/>
            <a:r>
              <a:rPr lang="en-US" sz="1200" dirty="0"/>
              <a:t>AG = 10 (normal 8-12)</a:t>
            </a:r>
          </a:p>
        </p:txBody>
      </p:sp>
      <p:sp>
        <p:nvSpPr>
          <p:cNvPr id="36" name="Case 1 - Compensatoin answer">
            <a:extLst>
              <a:ext uri="{FF2B5EF4-FFF2-40B4-BE49-F238E27FC236}">
                <a16:creationId xmlns:a16="http://schemas.microsoft.com/office/drawing/2014/main" id="{F597A406-81A5-40AC-9888-C00B46C26B0C}"/>
              </a:ext>
            </a:extLst>
          </p:cNvPr>
          <p:cNvSpPr/>
          <p:nvPr/>
        </p:nvSpPr>
        <p:spPr>
          <a:xfrm>
            <a:off x="1750104" y="4947840"/>
            <a:ext cx="3175499" cy="509598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None. HCO</a:t>
            </a:r>
            <a:r>
              <a:rPr lang="en-US" sz="1200" baseline="-25000" dirty="0"/>
              <a:t>3</a:t>
            </a:r>
            <a:r>
              <a:rPr lang="en-US" sz="1200" dirty="0"/>
              <a:t> is </a:t>
            </a:r>
            <a:r>
              <a:rPr lang="en-US" sz="1200" dirty="0" err="1"/>
              <a:t>nml</a:t>
            </a:r>
            <a:r>
              <a:rPr lang="en-US" sz="1200" dirty="0"/>
              <a:t>. No base excess. For acute PCO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 20   </a:t>
            </a:r>
            <a:r>
              <a:rPr lang="en-US" sz="1200" dirty="0"/>
              <a:t>HCO</a:t>
            </a:r>
            <a:r>
              <a:rPr lang="en-US" sz="1200" baseline="-25000" dirty="0"/>
              <a:t>3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by 2 (26).</a:t>
            </a:r>
            <a:endParaRPr lang="en-US" sz="1200" dirty="0"/>
          </a:p>
        </p:txBody>
      </p:sp>
      <p:sp>
        <p:nvSpPr>
          <p:cNvPr id="37" name="Case 1 - A-a answer">
            <a:extLst>
              <a:ext uri="{FF2B5EF4-FFF2-40B4-BE49-F238E27FC236}">
                <a16:creationId xmlns:a16="http://schemas.microsoft.com/office/drawing/2014/main" id="{10B43B21-7ED3-488D-8931-7B2941C4FDD1}"/>
              </a:ext>
            </a:extLst>
          </p:cNvPr>
          <p:cNvSpPr/>
          <p:nvPr/>
        </p:nvSpPr>
        <p:spPr>
          <a:xfrm>
            <a:off x="1750904" y="5548000"/>
            <a:ext cx="3193900" cy="33237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/>
              <a:t>A-a difference </a:t>
            </a:r>
            <a:r>
              <a:rPr lang="en-US" sz="1400" dirty="0"/>
              <a:t>is 15, normal for her age.</a:t>
            </a:r>
          </a:p>
        </p:txBody>
      </p:sp>
      <p:sp>
        <p:nvSpPr>
          <p:cNvPr id="41" name="Diagnosis - case 1">
            <a:extLst>
              <a:ext uri="{FF2B5EF4-FFF2-40B4-BE49-F238E27FC236}">
                <a16:creationId xmlns:a16="http://schemas.microsoft.com/office/drawing/2014/main" id="{77D45040-957E-4A3F-93A7-C635107F1CFA}"/>
              </a:ext>
            </a:extLst>
          </p:cNvPr>
          <p:cNvSpPr/>
          <p:nvPr/>
        </p:nvSpPr>
        <p:spPr>
          <a:xfrm>
            <a:off x="1759253" y="5994113"/>
            <a:ext cx="3155786" cy="73639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42" name="Diagnosis answer">
            <a:extLst>
              <a:ext uri="{FF2B5EF4-FFF2-40B4-BE49-F238E27FC236}">
                <a16:creationId xmlns:a16="http://schemas.microsoft.com/office/drawing/2014/main" id="{C92AA417-A960-46B1-BEE2-E1E8D6ECE3E9}"/>
              </a:ext>
            </a:extLst>
          </p:cNvPr>
          <p:cNvSpPr/>
          <p:nvPr/>
        </p:nvSpPr>
        <p:spPr>
          <a:xfrm>
            <a:off x="1733633" y="5984076"/>
            <a:ext cx="3193900" cy="746435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Acute respiratory acidosis and hypoxemia from hypoventilation likely from narcotic overdose.</a:t>
            </a:r>
          </a:p>
        </p:txBody>
      </p:sp>
      <p:sp>
        <p:nvSpPr>
          <p:cNvPr id="43" name="Case 2">
            <a:extLst>
              <a:ext uri="{FF2B5EF4-FFF2-40B4-BE49-F238E27FC236}">
                <a16:creationId xmlns:a16="http://schemas.microsoft.com/office/drawing/2014/main" id="{5FC3637A-B1E4-4D45-B9C3-914A013550B1}"/>
              </a:ext>
            </a:extLst>
          </p:cNvPr>
          <p:cNvSpPr/>
          <p:nvPr/>
        </p:nvSpPr>
        <p:spPr>
          <a:xfrm>
            <a:off x="5773198" y="150702"/>
            <a:ext cx="2089184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2</a:t>
            </a:r>
          </a:p>
        </p:txBody>
      </p:sp>
      <p:grpSp>
        <p:nvGrpSpPr>
          <p:cNvPr id="75" name="Case 2 info">
            <a:extLst>
              <a:ext uri="{FF2B5EF4-FFF2-40B4-BE49-F238E27FC236}">
                <a16:creationId xmlns:a16="http://schemas.microsoft.com/office/drawing/2014/main" id="{95C50C06-6D80-4D43-8263-7C0BBE590149}"/>
              </a:ext>
            </a:extLst>
          </p:cNvPr>
          <p:cNvGrpSpPr/>
          <p:nvPr/>
        </p:nvGrpSpPr>
        <p:grpSpPr>
          <a:xfrm>
            <a:off x="5213011" y="640163"/>
            <a:ext cx="3359946" cy="1393465"/>
            <a:chOff x="4069448" y="640163"/>
            <a:chExt cx="3630316" cy="1393465"/>
          </a:xfrm>
        </p:grpSpPr>
        <p:grpSp>
          <p:nvGrpSpPr>
            <p:cNvPr id="44" name="Case 2 info">
              <a:extLst>
                <a:ext uri="{FF2B5EF4-FFF2-40B4-BE49-F238E27FC236}">
                  <a16:creationId xmlns:a16="http://schemas.microsoft.com/office/drawing/2014/main" id="{89886386-85A1-4BC6-B006-8EE70C9A7961}"/>
                </a:ext>
              </a:extLst>
            </p:cNvPr>
            <p:cNvGrpSpPr/>
            <p:nvPr/>
          </p:nvGrpSpPr>
          <p:grpSpPr>
            <a:xfrm>
              <a:off x="4069448" y="640163"/>
              <a:ext cx="3630316" cy="1393465"/>
              <a:chOff x="92396" y="657992"/>
              <a:chExt cx="3630316" cy="1313853"/>
            </a:xfrm>
          </p:grpSpPr>
          <p:sp>
            <p:nvSpPr>
              <p:cNvPr id="45" name="Case 2 text">
                <a:extLst>
                  <a:ext uri="{FF2B5EF4-FFF2-40B4-BE49-F238E27FC236}">
                    <a16:creationId xmlns:a16="http://schemas.microsoft.com/office/drawing/2014/main" id="{8B0F2001-F49A-4E0F-A89F-DD3A81EBC24A}"/>
                  </a:ext>
                </a:extLst>
              </p:cNvPr>
              <p:cNvSpPr txBox="1"/>
              <p:nvPr/>
            </p:nvSpPr>
            <p:spPr>
              <a:xfrm>
                <a:off x="92396" y="657992"/>
                <a:ext cx="3630316" cy="6964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45M with IBD presents with abdominal pain and multiple loose bowel movements. </a:t>
                </a:r>
              </a:p>
              <a:p>
                <a:r>
                  <a:rPr lang="en-US" sz="1400" dirty="0"/>
                  <a:t>ABG: 7.34/35/-/18.</a:t>
                </a:r>
              </a:p>
            </p:txBody>
          </p:sp>
          <p:grpSp>
            <p:nvGrpSpPr>
              <p:cNvPr id="46" name="Fishbone 1">
                <a:extLst>
                  <a:ext uri="{FF2B5EF4-FFF2-40B4-BE49-F238E27FC236}">
                    <a16:creationId xmlns:a16="http://schemas.microsoft.com/office/drawing/2014/main" id="{D29E3389-61F3-40A5-9E9E-B87715B0E09A}"/>
                  </a:ext>
                </a:extLst>
              </p:cNvPr>
              <p:cNvGrpSpPr/>
              <p:nvPr/>
            </p:nvGrpSpPr>
            <p:grpSpPr>
              <a:xfrm>
                <a:off x="185680" y="1418572"/>
                <a:ext cx="1465508" cy="553273"/>
                <a:chOff x="131587" y="2182255"/>
                <a:chExt cx="1465508" cy="553273"/>
              </a:xfrm>
            </p:grpSpPr>
            <p:grpSp>
              <p:nvGrpSpPr>
                <p:cNvPr id="47" name="Fishbone">
                  <a:extLst>
                    <a:ext uri="{FF2B5EF4-FFF2-40B4-BE49-F238E27FC236}">
                      <a16:creationId xmlns:a16="http://schemas.microsoft.com/office/drawing/2014/main" id="{3EC4FD3D-20E7-46F2-951D-88CD288D1573}"/>
                    </a:ext>
                  </a:extLst>
                </p:cNvPr>
                <p:cNvGrpSpPr/>
                <p:nvPr/>
              </p:nvGrpSpPr>
              <p:grpSpPr>
                <a:xfrm>
                  <a:off x="196757" y="2244055"/>
                  <a:ext cx="1400338" cy="459816"/>
                  <a:chOff x="416866" y="2442321"/>
                  <a:chExt cx="1192881" cy="386662"/>
                </a:xfrm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E25F61BB-7F37-4C82-951D-771469EB0A7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8500" y="2442321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>
                    <a:extLst>
                      <a:ext uri="{FF2B5EF4-FFF2-40B4-BE49-F238E27FC236}">
                        <a16:creationId xmlns:a16="http://schemas.microsoft.com/office/drawing/2014/main" id="{CE12DF33-71F0-45A5-97CC-E50BB76321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3329" y="2442322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70E38B9D-060D-4865-A871-966FBF7FB20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93685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>
                    <a:extLst>
                      <a:ext uri="{FF2B5EF4-FFF2-40B4-BE49-F238E27FC236}">
                        <a16:creationId xmlns:a16="http://schemas.microsoft.com/office/drawing/2014/main" id="{40BEA9E0-BB4A-4C25-8613-7B2FB1A5301B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38040" y="2442339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>
                    <a:extLst>
                      <a:ext uri="{FF2B5EF4-FFF2-40B4-BE49-F238E27FC236}">
                        <a16:creationId xmlns:a16="http://schemas.microsoft.com/office/drawing/2014/main" id="{6E85D5CD-F791-4816-8E30-994DDCDFE0A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38039" y="2625201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B7915CE9-71CA-44D0-BF39-81B3B3756712}"/>
                    </a:ext>
                  </a:extLst>
                </p:cNvPr>
                <p:cNvSpPr txBox="1"/>
                <p:nvPr/>
              </p:nvSpPr>
              <p:spPr>
                <a:xfrm>
                  <a:off x="131587" y="2183603"/>
                  <a:ext cx="530206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127</a:t>
                  </a:r>
                </a:p>
              </p:txBody>
            </p:sp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AFD25E59-D69F-426A-871B-3F66736E7F37}"/>
                    </a:ext>
                  </a:extLst>
                </p:cNvPr>
                <p:cNvSpPr txBox="1"/>
                <p:nvPr/>
              </p:nvSpPr>
              <p:spPr>
                <a:xfrm>
                  <a:off x="564901" y="2182255"/>
                  <a:ext cx="519085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100</a:t>
                  </a:r>
                </a:p>
              </p:txBody>
            </p:sp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AA4CB87-9D47-47A5-857E-5F57B9B58C24}"/>
                    </a:ext>
                  </a:extLst>
                </p:cNvPr>
                <p:cNvSpPr txBox="1"/>
                <p:nvPr/>
              </p:nvSpPr>
              <p:spPr>
                <a:xfrm>
                  <a:off x="976010" y="2445335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2.4</a:t>
                  </a:r>
                </a:p>
              </p:txBody>
            </p:sp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3E3E7D71-E67B-4763-976C-FBF8BC0D80CE}"/>
                    </a:ext>
                  </a:extLst>
                </p:cNvPr>
                <p:cNvSpPr txBox="1"/>
                <p:nvPr/>
              </p:nvSpPr>
              <p:spPr>
                <a:xfrm>
                  <a:off x="624984" y="2434505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18</a:t>
                  </a:r>
                </a:p>
              </p:txBody>
            </p:sp>
          </p:grpSp>
        </p:grp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DEB9DF1-FEA3-4C95-A1DC-4BE940A4F2EC}"/>
                </a:ext>
              </a:extLst>
            </p:cNvPr>
            <p:cNvSpPr txBox="1"/>
            <p:nvPr/>
          </p:nvSpPr>
          <p:spPr>
            <a:xfrm>
              <a:off x="5992922" y="1566198"/>
              <a:ext cx="15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4.0</a:t>
              </a:r>
            </a:p>
          </p:txBody>
        </p:sp>
      </p:grpSp>
      <p:sp>
        <p:nvSpPr>
          <p:cNvPr id="57" name="Case 2 Acid-base status?">
            <a:extLst>
              <a:ext uri="{FF2B5EF4-FFF2-40B4-BE49-F238E27FC236}">
                <a16:creationId xmlns:a16="http://schemas.microsoft.com/office/drawing/2014/main" id="{1E76184B-022C-4987-BBFF-E1BE5B5609EA}"/>
              </a:ext>
            </a:extLst>
          </p:cNvPr>
          <p:cNvSpPr/>
          <p:nvPr/>
        </p:nvSpPr>
        <p:spPr>
          <a:xfrm>
            <a:off x="5337414" y="2170278"/>
            <a:ext cx="3157004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58" name="Case 2 - Primary process?">
            <a:extLst>
              <a:ext uri="{FF2B5EF4-FFF2-40B4-BE49-F238E27FC236}">
                <a16:creationId xmlns:a16="http://schemas.microsoft.com/office/drawing/2014/main" id="{56E72D82-7448-45B6-94D3-6F99F7953EAE}"/>
              </a:ext>
            </a:extLst>
          </p:cNvPr>
          <p:cNvSpPr/>
          <p:nvPr/>
        </p:nvSpPr>
        <p:spPr>
          <a:xfrm>
            <a:off x="5351013" y="2583666"/>
            <a:ext cx="3157001" cy="85050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59" name="Case 2 - Anion gap?">
            <a:extLst>
              <a:ext uri="{FF2B5EF4-FFF2-40B4-BE49-F238E27FC236}">
                <a16:creationId xmlns:a16="http://schemas.microsoft.com/office/drawing/2014/main" id="{14152D50-0231-4DAD-8EAA-F30A62897BFB}"/>
              </a:ext>
            </a:extLst>
          </p:cNvPr>
          <p:cNvSpPr/>
          <p:nvPr/>
        </p:nvSpPr>
        <p:spPr>
          <a:xfrm>
            <a:off x="5333004" y="3538173"/>
            <a:ext cx="3183119" cy="745882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60" name="Case 2 - Compensation">
            <a:extLst>
              <a:ext uri="{FF2B5EF4-FFF2-40B4-BE49-F238E27FC236}">
                <a16:creationId xmlns:a16="http://schemas.microsoft.com/office/drawing/2014/main" id="{A437B246-AB58-4890-A3DC-ED17314FE1C6}"/>
              </a:ext>
            </a:extLst>
          </p:cNvPr>
          <p:cNvSpPr/>
          <p:nvPr/>
        </p:nvSpPr>
        <p:spPr>
          <a:xfrm>
            <a:off x="5332997" y="4952320"/>
            <a:ext cx="3167694" cy="909413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61" name="Case 2 - Delta-delta?">
            <a:extLst>
              <a:ext uri="{FF2B5EF4-FFF2-40B4-BE49-F238E27FC236}">
                <a16:creationId xmlns:a16="http://schemas.microsoft.com/office/drawing/2014/main" id="{95A3CAE9-756A-446F-B0BE-5AA350F56C2F}"/>
              </a:ext>
            </a:extLst>
          </p:cNvPr>
          <p:cNvSpPr/>
          <p:nvPr/>
        </p:nvSpPr>
        <p:spPr>
          <a:xfrm>
            <a:off x="5334255" y="4432364"/>
            <a:ext cx="3167694" cy="4268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62" name="Case 2 - AB answer">
            <a:extLst>
              <a:ext uri="{FF2B5EF4-FFF2-40B4-BE49-F238E27FC236}">
                <a16:creationId xmlns:a16="http://schemas.microsoft.com/office/drawing/2014/main" id="{F8BB8463-0AD4-4B53-8686-FCB98A69E387}"/>
              </a:ext>
            </a:extLst>
          </p:cNvPr>
          <p:cNvSpPr/>
          <p:nvPr/>
        </p:nvSpPr>
        <p:spPr>
          <a:xfrm>
            <a:off x="5331800" y="2169597"/>
            <a:ext cx="3157000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Acidemia. pH is borderline low. </a:t>
            </a:r>
          </a:p>
        </p:txBody>
      </p:sp>
      <p:sp>
        <p:nvSpPr>
          <p:cNvPr id="63" name="Case 2 - Primary process answer">
            <a:extLst>
              <a:ext uri="{FF2B5EF4-FFF2-40B4-BE49-F238E27FC236}">
                <a16:creationId xmlns:a16="http://schemas.microsoft.com/office/drawing/2014/main" id="{59B2DCE4-0CB3-4089-AE7B-EAAFF66B0060}"/>
              </a:ext>
            </a:extLst>
          </p:cNvPr>
          <p:cNvSpPr/>
          <p:nvPr/>
        </p:nvSpPr>
        <p:spPr>
          <a:xfrm>
            <a:off x="5337929" y="2577902"/>
            <a:ext cx="3167692" cy="855798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acidosis. Both PCO</a:t>
            </a:r>
            <a:r>
              <a:rPr lang="en-US" sz="1400" baseline="-25000" dirty="0"/>
              <a:t>2</a:t>
            </a:r>
            <a:r>
              <a:rPr lang="en-US" sz="1400" dirty="0"/>
              <a:t> and HCO</a:t>
            </a:r>
            <a:r>
              <a:rPr lang="en-US" sz="1400" baseline="-25000" dirty="0"/>
              <a:t>3</a:t>
            </a:r>
            <a:r>
              <a:rPr lang="en-US" sz="1400" dirty="0"/>
              <a:t> are </a:t>
            </a:r>
            <a:r>
              <a:rPr lang="en-US" sz="1400" dirty="0">
                <a:sym typeface="Wingdings" panose="05000000000000000000" pitchFamily="2" charset="2"/>
              </a:rPr>
              <a:t>. Because the pH is borderline low, the metabolic acidosis is the 1</a:t>
            </a:r>
            <a:r>
              <a:rPr lang="en-US" sz="1400" baseline="30000" dirty="0">
                <a:sym typeface="Wingdings" panose="05000000000000000000" pitchFamily="2" charset="2"/>
              </a:rPr>
              <a:t>o</a:t>
            </a:r>
            <a:r>
              <a:rPr lang="en-US" sz="1400" dirty="0">
                <a:sym typeface="Wingdings" panose="05000000000000000000" pitchFamily="2" charset="2"/>
              </a:rPr>
              <a:t> process. </a:t>
            </a:r>
            <a:endParaRPr lang="en-US" sz="1400" dirty="0"/>
          </a:p>
        </p:txBody>
      </p:sp>
      <p:sp>
        <p:nvSpPr>
          <p:cNvPr id="64" name="Case 2 - Anion gap answer">
            <a:extLst>
              <a:ext uri="{FF2B5EF4-FFF2-40B4-BE49-F238E27FC236}">
                <a16:creationId xmlns:a16="http://schemas.microsoft.com/office/drawing/2014/main" id="{92291DA0-778F-4546-8C95-80431AAD1AFF}"/>
              </a:ext>
            </a:extLst>
          </p:cNvPr>
          <p:cNvSpPr/>
          <p:nvPr/>
        </p:nvSpPr>
        <p:spPr>
          <a:xfrm>
            <a:off x="5326632" y="3535807"/>
            <a:ext cx="3189857" cy="755510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no AGMA. This is a NAGMA. </a:t>
            </a:r>
          </a:p>
          <a:p>
            <a:pPr algn="ctr"/>
            <a:r>
              <a:rPr lang="en-US" sz="1200" dirty="0"/>
              <a:t>(Na) – (HCO</a:t>
            </a:r>
            <a:r>
              <a:rPr lang="en-US" sz="1200" baseline="-25000" dirty="0"/>
              <a:t>3</a:t>
            </a:r>
            <a:r>
              <a:rPr lang="en-US" sz="1200" dirty="0"/>
              <a:t> + Cl) = 127 – (100 + 18) </a:t>
            </a:r>
          </a:p>
          <a:p>
            <a:pPr algn="ctr"/>
            <a:r>
              <a:rPr lang="en-US" sz="1200" dirty="0"/>
              <a:t>AG = 9 (normal 8-12)</a:t>
            </a:r>
          </a:p>
        </p:txBody>
      </p:sp>
      <p:sp>
        <p:nvSpPr>
          <p:cNvPr id="65" name="Case 2 - Compensatoin answer">
            <a:extLst>
              <a:ext uri="{FF2B5EF4-FFF2-40B4-BE49-F238E27FC236}">
                <a16:creationId xmlns:a16="http://schemas.microsoft.com/office/drawing/2014/main" id="{9971A707-9070-4DE4-8899-760247EF3905}"/>
              </a:ext>
            </a:extLst>
          </p:cNvPr>
          <p:cNvSpPr/>
          <p:nvPr/>
        </p:nvSpPr>
        <p:spPr>
          <a:xfrm>
            <a:off x="5328643" y="4947840"/>
            <a:ext cx="3189856" cy="921173"/>
          </a:xfrm>
          <a:prstGeom prst="roundRect">
            <a:avLst>
              <a:gd name="adj" fmla="val 1565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Yes. Resp alkalosis. Expected PCO</a:t>
            </a:r>
            <a:r>
              <a:rPr lang="en-US" sz="1400" baseline="-25000" dirty="0"/>
              <a:t>2</a:t>
            </a:r>
            <a:r>
              <a:rPr lang="en-US" sz="1400" dirty="0"/>
              <a:t> by Winter’s formula = (1.5 x HCO</a:t>
            </a:r>
            <a:r>
              <a:rPr lang="en-US" sz="1400" baseline="-25000" dirty="0"/>
              <a:t>3</a:t>
            </a:r>
            <a:r>
              <a:rPr lang="en-US" sz="1400" dirty="0"/>
              <a:t>) + 8 = 35. The expected PCO</a:t>
            </a:r>
            <a:r>
              <a:rPr lang="en-US" sz="1400" baseline="-25000" dirty="0"/>
              <a:t>2</a:t>
            </a:r>
            <a:r>
              <a:rPr lang="en-US" sz="1400" dirty="0"/>
              <a:t> by the thumb rule is also 35.  </a:t>
            </a:r>
          </a:p>
        </p:txBody>
      </p:sp>
      <p:sp>
        <p:nvSpPr>
          <p:cNvPr id="66" name="Case 2 - Delta-delta answer">
            <a:extLst>
              <a:ext uri="{FF2B5EF4-FFF2-40B4-BE49-F238E27FC236}">
                <a16:creationId xmlns:a16="http://schemas.microsoft.com/office/drawing/2014/main" id="{BC5B6EEE-4D18-4C07-BA02-D0CAA3351CF4}"/>
              </a:ext>
            </a:extLst>
          </p:cNvPr>
          <p:cNvSpPr/>
          <p:nvPr/>
        </p:nvSpPr>
        <p:spPr>
          <a:xfrm>
            <a:off x="5327024" y="4406421"/>
            <a:ext cx="3175397" cy="4520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</a:t>
            </a:r>
            <a:r>
              <a:rPr lang="el-GR" sz="1400" dirty="0"/>
              <a:t>ΔΔ</a:t>
            </a:r>
            <a:r>
              <a:rPr lang="en-US" sz="1400" dirty="0"/>
              <a:t> needed. UAG would not be accurate given renal dysfunction.</a:t>
            </a:r>
          </a:p>
        </p:txBody>
      </p:sp>
      <p:sp>
        <p:nvSpPr>
          <p:cNvPr id="70" name="Diagnosis - case 2">
            <a:extLst>
              <a:ext uri="{FF2B5EF4-FFF2-40B4-BE49-F238E27FC236}">
                <a16:creationId xmlns:a16="http://schemas.microsoft.com/office/drawing/2014/main" id="{7AC095DF-C8DD-4C9B-9C7B-982D1284CF78}"/>
              </a:ext>
            </a:extLst>
          </p:cNvPr>
          <p:cNvSpPr/>
          <p:nvPr/>
        </p:nvSpPr>
        <p:spPr>
          <a:xfrm>
            <a:off x="5301084" y="5984076"/>
            <a:ext cx="3200231" cy="74643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71" name="Diagnosis 2 answer">
            <a:extLst>
              <a:ext uri="{FF2B5EF4-FFF2-40B4-BE49-F238E27FC236}">
                <a16:creationId xmlns:a16="http://schemas.microsoft.com/office/drawing/2014/main" id="{86284DC5-51EA-4C3B-8187-0008D13E9702}"/>
              </a:ext>
            </a:extLst>
          </p:cNvPr>
          <p:cNvSpPr/>
          <p:nvPr/>
        </p:nvSpPr>
        <p:spPr>
          <a:xfrm>
            <a:off x="5299348" y="5997633"/>
            <a:ext cx="3212048" cy="732878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Non-gap metabolic acidosis with compensatory respiratory alkalosis from diarrhea.</a:t>
            </a:r>
          </a:p>
        </p:txBody>
      </p:sp>
      <p:sp>
        <p:nvSpPr>
          <p:cNvPr id="90" name="Case 2 - Delta-delta?">
            <a:extLst>
              <a:ext uri="{FF2B5EF4-FFF2-40B4-BE49-F238E27FC236}">
                <a16:creationId xmlns:a16="http://schemas.microsoft.com/office/drawing/2014/main" id="{8946B203-D191-4A30-8A61-8EB30F973496}"/>
              </a:ext>
            </a:extLst>
          </p:cNvPr>
          <p:cNvSpPr/>
          <p:nvPr/>
        </p:nvSpPr>
        <p:spPr>
          <a:xfrm>
            <a:off x="1754288" y="4406421"/>
            <a:ext cx="3167793" cy="44315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91" name="Case 2 - Delta-delta answer">
            <a:extLst>
              <a:ext uri="{FF2B5EF4-FFF2-40B4-BE49-F238E27FC236}">
                <a16:creationId xmlns:a16="http://schemas.microsoft.com/office/drawing/2014/main" id="{9088D581-1DAD-428F-A9E7-AF02AC247B3B}"/>
              </a:ext>
            </a:extLst>
          </p:cNvPr>
          <p:cNvSpPr/>
          <p:nvPr/>
        </p:nvSpPr>
        <p:spPr>
          <a:xfrm>
            <a:off x="1747057" y="4387188"/>
            <a:ext cx="3175496" cy="469315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</a:t>
            </a:r>
            <a:r>
              <a:rPr lang="el-GR" sz="1400" dirty="0"/>
              <a:t>ΔΔ</a:t>
            </a:r>
            <a:r>
              <a:rPr lang="en-US" sz="1400" dirty="0"/>
              <a:t> needed.</a:t>
            </a:r>
          </a:p>
        </p:txBody>
      </p:sp>
      <p:sp>
        <p:nvSpPr>
          <p:cNvPr id="92" name="Case 3">
            <a:extLst>
              <a:ext uri="{FF2B5EF4-FFF2-40B4-BE49-F238E27FC236}">
                <a16:creationId xmlns:a16="http://schemas.microsoft.com/office/drawing/2014/main" id="{EF1856F6-1031-4EBE-9E98-FB6257041F67}"/>
              </a:ext>
            </a:extLst>
          </p:cNvPr>
          <p:cNvSpPr/>
          <p:nvPr/>
        </p:nvSpPr>
        <p:spPr>
          <a:xfrm>
            <a:off x="9338523" y="147181"/>
            <a:ext cx="2096260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3</a:t>
            </a:r>
          </a:p>
        </p:txBody>
      </p:sp>
      <p:grpSp>
        <p:nvGrpSpPr>
          <p:cNvPr id="93" name="Case 3 info">
            <a:extLst>
              <a:ext uri="{FF2B5EF4-FFF2-40B4-BE49-F238E27FC236}">
                <a16:creationId xmlns:a16="http://schemas.microsoft.com/office/drawing/2014/main" id="{5AA847AC-1338-46DF-AE79-6617E5C3B2D7}"/>
              </a:ext>
            </a:extLst>
          </p:cNvPr>
          <p:cNvGrpSpPr/>
          <p:nvPr/>
        </p:nvGrpSpPr>
        <p:grpSpPr>
          <a:xfrm>
            <a:off x="8710994" y="636642"/>
            <a:ext cx="3467704" cy="1401065"/>
            <a:chOff x="4069448" y="640163"/>
            <a:chExt cx="3630316" cy="1401065"/>
          </a:xfrm>
        </p:grpSpPr>
        <p:grpSp>
          <p:nvGrpSpPr>
            <p:cNvPr id="94" name="Case 2 info">
              <a:extLst>
                <a:ext uri="{FF2B5EF4-FFF2-40B4-BE49-F238E27FC236}">
                  <a16:creationId xmlns:a16="http://schemas.microsoft.com/office/drawing/2014/main" id="{BB515748-A46F-4748-B60F-7514C35CD515}"/>
                </a:ext>
              </a:extLst>
            </p:cNvPr>
            <p:cNvGrpSpPr/>
            <p:nvPr/>
          </p:nvGrpSpPr>
          <p:grpSpPr>
            <a:xfrm>
              <a:off x="4069448" y="640163"/>
              <a:ext cx="3630316" cy="1401065"/>
              <a:chOff x="92396" y="657992"/>
              <a:chExt cx="3630316" cy="1321019"/>
            </a:xfrm>
          </p:grpSpPr>
          <p:sp>
            <p:nvSpPr>
              <p:cNvPr id="96" name="Case 2 text">
                <a:extLst>
                  <a:ext uri="{FF2B5EF4-FFF2-40B4-BE49-F238E27FC236}">
                    <a16:creationId xmlns:a16="http://schemas.microsoft.com/office/drawing/2014/main" id="{6F7576EF-56F2-424F-A1D4-6233CA39984B}"/>
                  </a:ext>
                </a:extLst>
              </p:cNvPr>
              <p:cNvSpPr txBox="1"/>
              <p:nvPr/>
            </p:nvSpPr>
            <p:spPr>
              <a:xfrm>
                <a:off x="92396" y="657992"/>
                <a:ext cx="3630316" cy="6964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65M with COPD presents with fever and cough. His SaO</a:t>
                </a:r>
                <a:r>
                  <a:rPr lang="en-US" sz="1400" baseline="-25000" dirty="0"/>
                  <a:t>2</a:t>
                </a:r>
                <a:r>
                  <a:rPr lang="en-US" sz="1400" dirty="0"/>
                  <a:t> is 90% on 30% FiO</a:t>
                </a:r>
                <a:r>
                  <a:rPr lang="en-US" sz="1400" baseline="-25000" dirty="0"/>
                  <a:t>2</a:t>
                </a:r>
                <a:r>
                  <a:rPr lang="en-US" sz="1400" dirty="0"/>
                  <a:t> by Venturi mask. ABG: 7.36/60/60/36.</a:t>
                </a:r>
              </a:p>
            </p:txBody>
          </p:sp>
          <p:grpSp>
            <p:nvGrpSpPr>
              <p:cNvPr id="97" name="Fishbone 1">
                <a:extLst>
                  <a:ext uri="{FF2B5EF4-FFF2-40B4-BE49-F238E27FC236}">
                    <a16:creationId xmlns:a16="http://schemas.microsoft.com/office/drawing/2014/main" id="{7F5356A8-1CB3-476B-91D9-94A871BBB223}"/>
                  </a:ext>
                </a:extLst>
              </p:cNvPr>
              <p:cNvGrpSpPr/>
              <p:nvPr/>
            </p:nvGrpSpPr>
            <p:grpSpPr>
              <a:xfrm>
                <a:off x="226439" y="1418572"/>
                <a:ext cx="1424749" cy="560439"/>
                <a:chOff x="172346" y="2182255"/>
                <a:chExt cx="1424749" cy="560439"/>
              </a:xfrm>
            </p:grpSpPr>
            <p:grpSp>
              <p:nvGrpSpPr>
                <p:cNvPr id="98" name="Fishbone">
                  <a:extLst>
                    <a:ext uri="{FF2B5EF4-FFF2-40B4-BE49-F238E27FC236}">
                      <a16:creationId xmlns:a16="http://schemas.microsoft.com/office/drawing/2014/main" id="{E51D3EC7-D0D7-4DD3-95B4-419C6DB177A5}"/>
                    </a:ext>
                  </a:extLst>
                </p:cNvPr>
                <p:cNvGrpSpPr/>
                <p:nvPr/>
              </p:nvGrpSpPr>
              <p:grpSpPr>
                <a:xfrm>
                  <a:off x="196757" y="2244055"/>
                  <a:ext cx="1400338" cy="459816"/>
                  <a:chOff x="416866" y="2442321"/>
                  <a:chExt cx="1192881" cy="386662"/>
                </a:xfrm>
              </p:grpSpPr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D072A163-0998-45F6-B6DD-A84FA9C82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8500" y="2442321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6244A34-C215-4733-8667-A8C9320E5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093329" y="2442322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2C8E253C-8FFF-4BF4-86C1-E2E5119624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936850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A0B671A3-597F-43AD-AB62-B7564CE358F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338040" y="2442339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6EE857F3-71C3-413B-9CD6-731CC5221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338039" y="2625201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1FA0583-8D82-4097-96CA-37DEE5BCCC79}"/>
                    </a:ext>
                  </a:extLst>
                </p:cNvPr>
                <p:cNvSpPr txBox="1"/>
                <p:nvPr/>
              </p:nvSpPr>
              <p:spPr>
                <a:xfrm>
                  <a:off x="172346" y="2183603"/>
                  <a:ext cx="489449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142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5227C53-3AB7-4BFD-BCC2-7B334B367100}"/>
                    </a:ext>
                  </a:extLst>
                </p:cNvPr>
                <p:cNvSpPr txBox="1"/>
                <p:nvPr/>
              </p:nvSpPr>
              <p:spPr>
                <a:xfrm>
                  <a:off x="637834" y="2182255"/>
                  <a:ext cx="392105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97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80EEE6E5-2059-492C-9002-C38E04BBB69E}"/>
                    </a:ext>
                  </a:extLst>
                </p:cNvPr>
                <p:cNvSpPr txBox="1"/>
                <p:nvPr/>
              </p:nvSpPr>
              <p:spPr>
                <a:xfrm>
                  <a:off x="976010" y="2445335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1.2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3CFD38B-CB1C-48C0-B712-AE603A4F53DE}"/>
                    </a:ext>
                  </a:extLst>
                </p:cNvPr>
                <p:cNvSpPr txBox="1"/>
                <p:nvPr/>
              </p:nvSpPr>
              <p:spPr>
                <a:xfrm>
                  <a:off x="624984" y="2452501"/>
                  <a:ext cx="465037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32</a:t>
                  </a:r>
                </a:p>
              </p:txBody>
            </p: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FD36F29-A622-4030-BC40-C67833D7348F}"/>
                </a:ext>
              </a:extLst>
            </p:cNvPr>
            <p:cNvSpPr txBox="1"/>
            <p:nvPr/>
          </p:nvSpPr>
          <p:spPr>
            <a:xfrm>
              <a:off x="5992922" y="1566198"/>
              <a:ext cx="15105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3.0</a:t>
              </a:r>
            </a:p>
          </p:txBody>
        </p:sp>
      </p:grpSp>
      <p:sp>
        <p:nvSpPr>
          <p:cNvPr id="108" name="Case 3 Acid-base status?">
            <a:extLst>
              <a:ext uri="{FF2B5EF4-FFF2-40B4-BE49-F238E27FC236}">
                <a16:creationId xmlns:a16="http://schemas.microsoft.com/office/drawing/2014/main" id="{22F8B0F1-9D32-4592-A87D-51B87CD583FA}"/>
              </a:ext>
            </a:extLst>
          </p:cNvPr>
          <p:cNvSpPr/>
          <p:nvPr/>
        </p:nvSpPr>
        <p:spPr>
          <a:xfrm>
            <a:off x="8833541" y="2166757"/>
            <a:ext cx="3167696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09" name="Case 3  - Primary process?">
            <a:extLst>
              <a:ext uri="{FF2B5EF4-FFF2-40B4-BE49-F238E27FC236}">
                <a16:creationId xmlns:a16="http://schemas.microsoft.com/office/drawing/2014/main" id="{557DCBCF-AC43-4987-91EB-8A88E7A050DE}"/>
              </a:ext>
            </a:extLst>
          </p:cNvPr>
          <p:cNvSpPr/>
          <p:nvPr/>
        </p:nvSpPr>
        <p:spPr>
          <a:xfrm>
            <a:off x="8847142" y="2580145"/>
            <a:ext cx="3167693" cy="85050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10" name="Case 3 - Anion gap?">
            <a:extLst>
              <a:ext uri="{FF2B5EF4-FFF2-40B4-BE49-F238E27FC236}">
                <a16:creationId xmlns:a16="http://schemas.microsoft.com/office/drawing/2014/main" id="{DA887515-3E20-45D2-8B8F-0D2652CB980F}"/>
              </a:ext>
            </a:extLst>
          </p:cNvPr>
          <p:cNvSpPr/>
          <p:nvPr/>
        </p:nvSpPr>
        <p:spPr>
          <a:xfrm>
            <a:off x="8827440" y="3534652"/>
            <a:ext cx="3193900" cy="745882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111" name="Case 3 - Compensation">
            <a:extLst>
              <a:ext uri="{FF2B5EF4-FFF2-40B4-BE49-F238E27FC236}">
                <a16:creationId xmlns:a16="http://schemas.microsoft.com/office/drawing/2014/main" id="{1D87120B-571E-4FEC-975E-A6ABED021252}"/>
              </a:ext>
            </a:extLst>
          </p:cNvPr>
          <p:cNvSpPr/>
          <p:nvPr/>
        </p:nvSpPr>
        <p:spPr>
          <a:xfrm>
            <a:off x="8828432" y="4948799"/>
            <a:ext cx="3178422" cy="506567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12" name="Case 3  - Delta-delta?">
            <a:extLst>
              <a:ext uri="{FF2B5EF4-FFF2-40B4-BE49-F238E27FC236}">
                <a16:creationId xmlns:a16="http://schemas.microsoft.com/office/drawing/2014/main" id="{0016AAA6-A618-4C1F-BED8-4F5B13E2F139}"/>
              </a:ext>
            </a:extLst>
          </p:cNvPr>
          <p:cNvSpPr/>
          <p:nvPr/>
        </p:nvSpPr>
        <p:spPr>
          <a:xfrm>
            <a:off x="8829690" y="4428843"/>
            <a:ext cx="3178422" cy="426828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113" name="Case 3  - AB answer">
            <a:extLst>
              <a:ext uri="{FF2B5EF4-FFF2-40B4-BE49-F238E27FC236}">
                <a16:creationId xmlns:a16="http://schemas.microsoft.com/office/drawing/2014/main" id="{6668EDB6-B119-47FD-84C4-508812912C5B}"/>
              </a:ext>
            </a:extLst>
          </p:cNvPr>
          <p:cNvSpPr/>
          <p:nvPr/>
        </p:nvSpPr>
        <p:spPr>
          <a:xfrm>
            <a:off x="8827929" y="2166076"/>
            <a:ext cx="3167692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pH is low-normal.</a:t>
            </a:r>
          </a:p>
        </p:txBody>
      </p:sp>
      <p:sp>
        <p:nvSpPr>
          <p:cNvPr id="114" name="Case 3 - Primary process answer">
            <a:extLst>
              <a:ext uri="{FF2B5EF4-FFF2-40B4-BE49-F238E27FC236}">
                <a16:creationId xmlns:a16="http://schemas.microsoft.com/office/drawing/2014/main" id="{D29612A4-140A-4587-AE02-A35B2525BD24}"/>
              </a:ext>
            </a:extLst>
          </p:cNvPr>
          <p:cNvSpPr/>
          <p:nvPr/>
        </p:nvSpPr>
        <p:spPr>
          <a:xfrm>
            <a:off x="8833364" y="2574381"/>
            <a:ext cx="3178420" cy="855798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acidosis. Both PCO</a:t>
            </a:r>
            <a:r>
              <a:rPr lang="en-US" sz="1400" baseline="-25000" dirty="0"/>
              <a:t>2</a:t>
            </a:r>
            <a:r>
              <a:rPr lang="en-US" sz="1400" dirty="0"/>
              <a:t> and HCO</a:t>
            </a:r>
            <a:r>
              <a:rPr lang="en-US" sz="1400" baseline="-25000" dirty="0"/>
              <a:t>3</a:t>
            </a:r>
            <a:r>
              <a:rPr lang="en-US" sz="1400" dirty="0"/>
              <a:t> are </a:t>
            </a:r>
            <a:r>
              <a:rPr lang="en-US" sz="1400" dirty="0">
                <a:sym typeface="Wingdings" panose="05000000000000000000" pitchFamily="2" charset="2"/>
              </a:rPr>
              <a:t>. The pH is low-</a:t>
            </a:r>
            <a:r>
              <a:rPr lang="en-US" sz="1400" dirty="0" err="1">
                <a:sym typeface="Wingdings" panose="05000000000000000000" pitchFamily="2" charset="2"/>
              </a:rPr>
              <a:t>nml</a:t>
            </a:r>
            <a:r>
              <a:rPr lang="en-US" sz="1400" dirty="0">
                <a:sym typeface="Wingdings" panose="05000000000000000000" pitchFamily="2" charset="2"/>
              </a:rPr>
              <a:t>, thus, respiratory acidosis is the 1</a:t>
            </a:r>
            <a:r>
              <a:rPr lang="en-US" sz="1400" baseline="30000" dirty="0">
                <a:sym typeface="Wingdings" panose="05000000000000000000" pitchFamily="2" charset="2"/>
              </a:rPr>
              <a:t>o</a:t>
            </a:r>
            <a:r>
              <a:rPr lang="en-US" sz="1400" dirty="0">
                <a:sym typeface="Wingdings" panose="05000000000000000000" pitchFamily="2" charset="2"/>
              </a:rPr>
              <a:t> process. </a:t>
            </a:r>
            <a:endParaRPr lang="en-US" sz="1400" dirty="0"/>
          </a:p>
        </p:txBody>
      </p:sp>
      <p:sp>
        <p:nvSpPr>
          <p:cNvPr id="115" name="Case 3 - Anion gap answer">
            <a:extLst>
              <a:ext uri="{FF2B5EF4-FFF2-40B4-BE49-F238E27FC236}">
                <a16:creationId xmlns:a16="http://schemas.microsoft.com/office/drawing/2014/main" id="{04DE88BA-E992-4563-ABE7-903E256E5137}"/>
              </a:ext>
            </a:extLst>
          </p:cNvPr>
          <p:cNvSpPr/>
          <p:nvPr/>
        </p:nvSpPr>
        <p:spPr>
          <a:xfrm>
            <a:off x="8820631" y="3532286"/>
            <a:ext cx="3200661" cy="755510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no AGMA. </a:t>
            </a:r>
          </a:p>
          <a:p>
            <a:pPr algn="ctr"/>
            <a:r>
              <a:rPr lang="en-US" sz="1200" dirty="0"/>
              <a:t>(Na) – (HCO</a:t>
            </a:r>
            <a:r>
              <a:rPr lang="en-US" sz="1200" baseline="-25000" dirty="0"/>
              <a:t>3</a:t>
            </a:r>
            <a:r>
              <a:rPr lang="en-US" sz="1200" dirty="0"/>
              <a:t> + Cl) = 142 – (97 + 36) = 9</a:t>
            </a:r>
          </a:p>
          <a:p>
            <a:pPr algn="ctr"/>
            <a:r>
              <a:rPr lang="en-US" sz="1200" dirty="0"/>
              <a:t>Expected AG = 2.5 x albumin = 7.5.</a:t>
            </a:r>
          </a:p>
        </p:txBody>
      </p:sp>
      <p:sp>
        <p:nvSpPr>
          <p:cNvPr id="116" name="Case 3  - Compensatoin answer">
            <a:extLst>
              <a:ext uri="{FF2B5EF4-FFF2-40B4-BE49-F238E27FC236}">
                <a16:creationId xmlns:a16="http://schemas.microsoft.com/office/drawing/2014/main" id="{11C3DE69-DF76-4D7E-A6C5-3C7BB829EAF6}"/>
              </a:ext>
            </a:extLst>
          </p:cNvPr>
          <p:cNvSpPr/>
          <p:nvPr/>
        </p:nvSpPr>
        <p:spPr>
          <a:xfrm>
            <a:off x="8822642" y="4944320"/>
            <a:ext cx="3200660" cy="513118"/>
          </a:xfrm>
          <a:prstGeom prst="roundRect">
            <a:avLst>
              <a:gd name="adj" fmla="val 15659"/>
            </a:avLst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Yes. Met alkalosis. pH is </a:t>
            </a:r>
            <a:r>
              <a:rPr lang="en-US" sz="1200" dirty="0" err="1"/>
              <a:t>nml</a:t>
            </a:r>
            <a:r>
              <a:rPr lang="en-US" sz="1200" dirty="0"/>
              <a:t> so likely chronic. </a:t>
            </a:r>
          </a:p>
          <a:p>
            <a:pPr algn="ctr"/>
            <a:r>
              <a:rPr lang="en-US" sz="1200" dirty="0"/>
              <a:t>For chronic PCO</a:t>
            </a:r>
            <a:r>
              <a:rPr lang="en-US" sz="1200" baseline="-25000" dirty="0"/>
              <a:t>2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 20   </a:t>
            </a:r>
            <a:r>
              <a:rPr lang="en-US" sz="1200" dirty="0"/>
              <a:t>HCO</a:t>
            </a:r>
            <a:r>
              <a:rPr lang="en-US" sz="1200" baseline="-25000" dirty="0"/>
              <a:t>3</a:t>
            </a:r>
            <a:r>
              <a:rPr lang="en-US" sz="1200" dirty="0"/>
              <a:t> </a:t>
            </a:r>
            <a:r>
              <a:rPr lang="en-US" sz="1200" dirty="0">
                <a:sym typeface="Wingdings" panose="05000000000000000000" pitchFamily="2" charset="2"/>
              </a:rPr>
              <a:t>by 8 (</a:t>
            </a:r>
            <a:r>
              <a:rPr lang="en-US" sz="1200" dirty="0"/>
              <a:t>32).</a:t>
            </a:r>
          </a:p>
        </p:txBody>
      </p:sp>
      <p:sp>
        <p:nvSpPr>
          <p:cNvPr id="117" name="Case 3 - Delta-delta answer">
            <a:extLst>
              <a:ext uri="{FF2B5EF4-FFF2-40B4-BE49-F238E27FC236}">
                <a16:creationId xmlns:a16="http://schemas.microsoft.com/office/drawing/2014/main" id="{5E0CD0A1-E4F5-46CD-AD47-4B113DFD8052}"/>
              </a:ext>
            </a:extLst>
          </p:cNvPr>
          <p:cNvSpPr/>
          <p:nvPr/>
        </p:nvSpPr>
        <p:spPr>
          <a:xfrm>
            <a:off x="8821960" y="4402900"/>
            <a:ext cx="3186151" cy="4520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 </a:t>
            </a:r>
            <a:r>
              <a:rPr lang="el-GR" sz="1400" dirty="0"/>
              <a:t>ΔΔ</a:t>
            </a:r>
            <a:r>
              <a:rPr lang="en-US" sz="1400" dirty="0"/>
              <a:t> needed. </a:t>
            </a:r>
          </a:p>
        </p:txBody>
      </p:sp>
      <p:sp>
        <p:nvSpPr>
          <p:cNvPr id="118" name="Diagnosis - case 2">
            <a:extLst>
              <a:ext uri="{FF2B5EF4-FFF2-40B4-BE49-F238E27FC236}">
                <a16:creationId xmlns:a16="http://schemas.microsoft.com/office/drawing/2014/main" id="{4A3B4FD9-6E97-4384-8AF9-B1FB1A3610A8}"/>
              </a:ext>
            </a:extLst>
          </p:cNvPr>
          <p:cNvSpPr/>
          <p:nvPr/>
        </p:nvSpPr>
        <p:spPr>
          <a:xfrm>
            <a:off x="8794411" y="5984076"/>
            <a:ext cx="3211069" cy="74291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19" name="Diagnosis 2 answer">
            <a:extLst>
              <a:ext uri="{FF2B5EF4-FFF2-40B4-BE49-F238E27FC236}">
                <a16:creationId xmlns:a16="http://schemas.microsoft.com/office/drawing/2014/main" id="{F0802548-AAEB-4AD0-9A4E-B5EFEA3D82FF}"/>
              </a:ext>
            </a:extLst>
          </p:cNvPr>
          <p:cNvSpPr/>
          <p:nvPr/>
        </p:nvSpPr>
        <p:spPr>
          <a:xfrm>
            <a:off x="8791909" y="5994112"/>
            <a:ext cx="3222926" cy="70923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Chronic, compensated resp acidosis.</a:t>
            </a:r>
          </a:p>
          <a:p>
            <a:pPr algn="ctr"/>
            <a:r>
              <a:rPr lang="en-US" sz="1400" dirty="0"/>
              <a:t>High A-a gradient hypoxemia may be related to VQ mismatch or shunt. </a:t>
            </a:r>
          </a:p>
        </p:txBody>
      </p:sp>
      <p:sp>
        <p:nvSpPr>
          <p:cNvPr id="121" name="Case 3 - A-a gradient">
            <a:extLst>
              <a:ext uri="{FF2B5EF4-FFF2-40B4-BE49-F238E27FC236}">
                <a16:creationId xmlns:a16="http://schemas.microsoft.com/office/drawing/2014/main" id="{FCD4BDAA-7E12-4BB3-8562-B914C3B52A51}"/>
              </a:ext>
            </a:extLst>
          </p:cNvPr>
          <p:cNvSpPr/>
          <p:nvPr/>
        </p:nvSpPr>
        <p:spPr>
          <a:xfrm>
            <a:off x="8806573" y="5565637"/>
            <a:ext cx="3167793" cy="31314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Bonus: A-a gradient?</a:t>
            </a:r>
          </a:p>
        </p:txBody>
      </p:sp>
      <p:sp>
        <p:nvSpPr>
          <p:cNvPr id="122" name="Case 3 - A-a answer">
            <a:extLst>
              <a:ext uri="{FF2B5EF4-FFF2-40B4-BE49-F238E27FC236}">
                <a16:creationId xmlns:a16="http://schemas.microsoft.com/office/drawing/2014/main" id="{C46C351D-7818-4055-83C6-8915DC7F566F}"/>
              </a:ext>
            </a:extLst>
          </p:cNvPr>
          <p:cNvSpPr/>
          <p:nvPr/>
        </p:nvSpPr>
        <p:spPr>
          <a:xfrm>
            <a:off x="8808120" y="5546404"/>
            <a:ext cx="3193900" cy="332379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A-a difference is 72, </a:t>
            </a:r>
            <a:r>
              <a:rPr lang="en-US" sz="1400" dirty="0">
                <a:sym typeface="Wingdings" panose="05000000000000000000" pitchFamily="2" charset="2"/>
              </a:rPr>
              <a:t> for his age</a:t>
            </a:r>
            <a:r>
              <a:rPr lang="en-US" sz="1400" dirty="0"/>
              <a:t>.</a:t>
            </a:r>
          </a:p>
        </p:txBody>
      </p:sp>
      <p:sp>
        <p:nvSpPr>
          <p:cNvPr id="120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4F1AB459-6EC6-428F-9BDC-3AB68B7D1274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123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82779B66-C205-4E84-AE6B-B58093334CC5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126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BA40B50A-7273-4C5B-AD65-E443C795FE76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127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37DE5C38-27A0-485E-893D-B71502F80568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128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B224BE5D-D8ED-4258-B0BA-27ED6C773457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129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F6668CDD-2C94-4967-9101-D7532CDA8B41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130" name="Graphic 129" descr="Cursor with solid fill">
            <a:extLst>
              <a:ext uri="{FF2B5EF4-FFF2-40B4-BE49-F238E27FC236}">
                <a16:creationId xmlns:a16="http://schemas.microsoft.com/office/drawing/2014/main" id="{F69EAC47-E65A-49BB-BD94-0DD439F96C4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131" name="Graphic 130" descr="Cursor with solid fill">
            <a:extLst>
              <a:ext uri="{FF2B5EF4-FFF2-40B4-BE49-F238E27FC236}">
                <a16:creationId xmlns:a16="http://schemas.microsoft.com/office/drawing/2014/main" id="{FC0C844F-AB09-4515-B85A-0E050AC969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132" name="Graphic 131" descr="Cursor with solid fill">
            <a:extLst>
              <a:ext uri="{FF2B5EF4-FFF2-40B4-BE49-F238E27FC236}">
                <a16:creationId xmlns:a16="http://schemas.microsoft.com/office/drawing/2014/main" id="{ECC6E8E8-5042-4BC4-BE14-CB7973D0BE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133" name="Graphic 132" descr="Cursor with solid fill">
            <a:extLst>
              <a:ext uri="{FF2B5EF4-FFF2-40B4-BE49-F238E27FC236}">
                <a16:creationId xmlns:a16="http://schemas.microsoft.com/office/drawing/2014/main" id="{92E9281D-F6F8-4A8A-860C-A3BCA4AD212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sp>
        <p:nvSpPr>
          <p:cNvPr id="134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E9E0B720-D69A-4F3B-8B74-AF3E3B479959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135" name="Graphic 134" descr="Cursor with solid fill">
            <a:extLst>
              <a:ext uri="{FF2B5EF4-FFF2-40B4-BE49-F238E27FC236}">
                <a16:creationId xmlns:a16="http://schemas.microsoft.com/office/drawing/2014/main" id="{150F6959-29A8-42A1-91AB-5F41B29645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136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196783C6-B0F4-4793-A006-C5E547EE8429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137" name="Graphic 136" descr="Cursor with solid fill">
            <a:extLst>
              <a:ext uri="{FF2B5EF4-FFF2-40B4-BE49-F238E27FC236}">
                <a16:creationId xmlns:a16="http://schemas.microsoft.com/office/drawing/2014/main" id="{EFF729C4-FE52-4FA8-B34F-3BF49DD830C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  <p:sp>
        <p:nvSpPr>
          <p:cNvPr id="138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335C5AF1-8FEB-468F-B529-A86C6A0AE83E}"/>
              </a:ext>
            </a:extLst>
          </p:cNvPr>
          <p:cNvSpPr txBox="1"/>
          <p:nvPr/>
        </p:nvSpPr>
        <p:spPr>
          <a:xfrm>
            <a:off x="740685" y="4059835"/>
            <a:ext cx="587119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Basic</a:t>
            </a:r>
          </a:p>
        </p:txBody>
      </p:sp>
      <p:pic>
        <p:nvPicPr>
          <p:cNvPr id="140" name="Graphic 139" descr="Cursor with solid fill">
            <a:extLst>
              <a:ext uri="{FF2B5EF4-FFF2-40B4-BE49-F238E27FC236}">
                <a16:creationId xmlns:a16="http://schemas.microsoft.com/office/drawing/2014/main" id="{98EEAB33-C0D4-4E6F-B8D4-B13AF2AF859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242577"/>
            <a:ext cx="274320" cy="274320"/>
          </a:xfrm>
          <a:prstGeom prst="rect">
            <a:avLst/>
          </a:prstGeom>
        </p:spPr>
      </p:pic>
      <p:sp>
        <p:nvSpPr>
          <p:cNvPr id="163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AB27D678-5EA2-4ECA-A811-E678A2F9ED2C}"/>
              </a:ext>
            </a:extLst>
          </p:cNvPr>
          <p:cNvSpPr txBox="1"/>
          <p:nvPr/>
        </p:nvSpPr>
        <p:spPr>
          <a:xfrm>
            <a:off x="735489" y="4475173"/>
            <a:ext cx="579838" cy="340519"/>
          </a:xfrm>
          <a:prstGeom prst="round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1-3</a:t>
            </a:r>
          </a:p>
        </p:txBody>
      </p:sp>
      <p:sp>
        <p:nvSpPr>
          <p:cNvPr id="165" name="sub-q 1 button">
            <a:hlinkClick r:id="rId13" action="ppaction://hlinksldjump"/>
            <a:extLst>
              <a:ext uri="{FF2B5EF4-FFF2-40B4-BE49-F238E27FC236}">
                <a16:creationId xmlns:a16="http://schemas.microsoft.com/office/drawing/2014/main" id="{A5F361F0-D589-4E6F-AD7A-40E59B08F34D}"/>
              </a:ext>
            </a:extLst>
          </p:cNvPr>
          <p:cNvSpPr txBox="1"/>
          <p:nvPr/>
        </p:nvSpPr>
        <p:spPr>
          <a:xfrm>
            <a:off x="738051" y="4879987"/>
            <a:ext cx="579838" cy="340519"/>
          </a:xfrm>
          <a:prstGeom prst="roundRect">
            <a:avLst/>
          </a:prstGeom>
          <a:ln w="3810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4-5</a:t>
            </a:r>
          </a:p>
        </p:txBody>
      </p:sp>
      <p:pic>
        <p:nvPicPr>
          <p:cNvPr id="166" name="Graphic 165" descr="Cursor with solid fill">
            <a:extLst>
              <a:ext uri="{FF2B5EF4-FFF2-40B4-BE49-F238E27FC236}">
                <a16:creationId xmlns:a16="http://schemas.microsoft.com/office/drawing/2014/main" id="{69399008-CEF3-416C-928A-9CEDB1CB19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5583" y="5068625"/>
            <a:ext cx="274320" cy="274320"/>
          </a:xfrm>
          <a:prstGeom prst="rect">
            <a:avLst/>
          </a:prstGeom>
        </p:spPr>
      </p:pic>
      <p:pic>
        <p:nvPicPr>
          <p:cNvPr id="167" name="Graphic 166" descr="Cursor with solid fill">
            <a:extLst>
              <a:ext uri="{FF2B5EF4-FFF2-40B4-BE49-F238E27FC236}">
                <a16:creationId xmlns:a16="http://schemas.microsoft.com/office/drawing/2014/main" id="{4F38FFB2-59A4-41E9-B592-FDD29EB7AB6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034902" y="414288"/>
            <a:ext cx="274320" cy="274320"/>
          </a:xfrm>
          <a:prstGeom prst="rect">
            <a:avLst/>
          </a:prstGeom>
        </p:spPr>
      </p:pic>
      <p:pic>
        <p:nvPicPr>
          <p:cNvPr id="168" name="Graphic 167" descr="Cursor with solid fill">
            <a:extLst>
              <a:ext uri="{FF2B5EF4-FFF2-40B4-BE49-F238E27FC236}">
                <a16:creationId xmlns:a16="http://schemas.microsoft.com/office/drawing/2014/main" id="{B5A38E45-0B3F-4EDD-8B9F-25CFC8BC82C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22924" y="411511"/>
            <a:ext cx="274320" cy="274320"/>
          </a:xfrm>
          <a:prstGeom prst="rect">
            <a:avLst/>
          </a:prstGeom>
        </p:spPr>
      </p:pic>
      <p:pic>
        <p:nvPicPr>
          <p:cNvPr id="169" name="Graphic 168" descr="Cursor with solid fill">
            <a:extLst>
              <a:ext uri="{FF2B5EF4-FFF2-40B4-BE49-F238E27FC236}">
                <a16:creationId xmlns:a16="http://schemas.microsoft.com/office/drawing/2014/main" id="{B80D5449-B159-47B0-9EBF-3839AFF5013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305076" y="386139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47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33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" fill="hold">
                      <p:stCondLst>
                        <p:cond delay="0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43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4" fill="hold">
                      <p:stCondLst>
                        <p:cond delay="0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  <p:seq concurrent="1" nextAc="seek">
              <p:cTn id="53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4" fill="hold">
                      <p:stCondLst>
                        <p:cond delay="0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7"/>
                  </p:tgtEl>
                </p:cond>
              </p:nextCondLst>
            </p:seq>
            <p:seq concurrent="1" nextAc="seek">
              <p:cTn id="77" restart="whenNotActive" fill="hold" evtFilter="cancelBubble" nodeType="interactiveSeq">
                <p:stCondLst>
                  <p:cond evt="onClick" delay="0">
                    <p:tgtEl>
                      <p:spTgt spid="5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8" fill="hold">
                      <p:stCondLst>
                        <p:cond delay="0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8"/>
                  </p:tgtEl>
                </p:cond>
              </p:nextCondLst>
            </p:seq>
            <p:seq concurrent="1" nextAc="seek">
              <p:cTn id="82" restart="whenNotActive" fill="hold" evtFilter="cancelBubble" nodeType="interactiveSeq">
                <p:stCondLst>
                  <p:cond evt="onClick" delay="0">
                    <p:tgtEl>
                      <p:spTgt spid="5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3" fill="hold">
                      <p:stCondLst>
                        <p:cond delay="0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9"/>
                  </p:tgtEl>
                </p:cond>
              </p:nextCondLst>
            </p:seq>
            <p:seq concurrent="1" nextAc="seek">
              <p:cTn id="87" restart="whenNotActive" fill="hold" evtFilter="cancelBubble" nodeType="interactiveSeq">
                <p:stCondLst>
                  <p:cond evt="onClick" delay="0">
                    <p:tgtEl>
                      <p:spTgt spid="6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8" fill="hold">
                      <p:stCondLst>
                        <p:cond delay="0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0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6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1"/>
                  </p:tgtEl>
                </p:cond>
              </p:nextCondLst>
            </p:seq>
            <p:seq concurrent="1" nextAc="seek">
              <p:cTn id="97" restart="whenNotActive" fill="hold" evtFilter="cancelBubble" nodeType="interactiveSeq">
                <p:stCondLst>
                  <p:cond evt="onClick" delay="0">
                    <p:tgtEl>
                      <p:spTgt spid="7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8" fill="hold">
                      <p:stCondLst>
                        <p:cond delay="0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0"/>
                  </p:tgtEl>
                </p:cond>
              </p:nextCondLst>
            </p:seq>
            <p:seq concurrent="1" nextAc="seek">
              <p:cTn id="102" restart="whenNotActive" fill="hold" evtFilter="cancelBubble" nodeType="interactiveSeq">
                <p:stCondLst>
                  <p:cond evt="onClick" delay="0">
                    <p:tgtEl>
                      <p:spTgt spid="9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3" fill="hold">
                      <p:stCondLst>
                        <p:cond delay="0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0"/>
                  </p:tgtEl>
                </p:cond>
              </p:nextCondLst>
            </p:seq>
            <p:seq concurrent="1" nextAc="seek">
              <p:cTn id="107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8" fill="hold">
                      <p:stCondLst>
                        <p:cond delay="0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133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4" fill="hold">
                      <p:stCondLst>
                        <p:cond delay="0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138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9" fill="hold">
                      <p:stCondLst>
                        <p:cond delay="0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143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4" fill="hold">
                      <p:stCondLst>
                        <p:cond delay="0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148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9" fill="hold">
                      <p:stCondLst>
                        <p:cond delay="0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153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4" fill="hold">
                      <p:stCondLst>
                        <p:cond delay="0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1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1"/>
                  </p:tgtEl>
                </p:cond>
              </p:nextCondLst>
            </p:seq>
          </p:childTnLst>
        </p:cTn>
      </p:par>
    </p:tnLst>
    <p:bldLst>
      <p:bldP spid="28" grpId="0" animBg="1"/>
      <p:bldP spid="31" grpId="0" animBg="1"/>
      <p:bldP spid="29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1" grpId="0" animBg="1"/>
      <p:bldP spid="42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70" grpId="0" animBg="1"/>
      <p:bldP spid="71" grpId="0" animBg="1"/>
      <p:bldP spid="90" grpId="0" animBg="1"/>
      <p:bldP spid="91" grpId="0" animBg="1"/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21" grpId="0" animBg="1"/>
      <p:bldP spid="1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66ED83D-4D37-4A82-8C3A-63919FF9C74A}"/>
              </a:ext>
            </a:extLst>
          </p:cNvPr>
          <p:cNvCxnSpPr>
            <a:cxnSpLocks/>
          </p:cNvCxnSpPr>
          <p:nvPr/>
        </p:nvCxnSpPr>
        <p:spPr>
          <a:xfrm>
            <a:off x="6915961" y="333220"/>
            <a:ext cx="0" cy="643312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Case 3">
            <a:extLst>
              <a:ext uri="{FF2B5EF4-FFF2-40B4-BE49-F238E27FC236}">
                <a16:creationId xmlns:a16="http://schemas.microsoft.com/office/drawing/2014/main" id="{EF1856F6-1031-4EBE-9E98-FB6257041F67}"/>
              </a:ext>
            </a:extLst>
          </p:cNvPr>
          <p:cNvSpPr/>
          <p:nvPr/>
        </p:nvSpPr>
        <p:spPr>
          <a:xfrm>
            <a:off x="7803300" y="181172"/>
            <a:ext cx="3229436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5</a:t>
            </a:r>
          </a:p>
        </p:txBody>
      </p:sp>
      <p:grpSp>
        <p:nvGrpSpPr>
          <p:cNvPr id="93" name="Case 3 info">
            <a:extLst>
              <a:ext uri="{FF2B5EF4-FFF2-40B4-BE49-F238E27FC236}">
                <a16:creationId xmlns:a16="http://schemas.microsoft.com/office/drawing/2014/main" id="{5AA847AC-1338-46DF-AE79-6617E5C3B2D7}"/>
              </a:ext>
            </a:extLst>
          </p:cNvPr>
          <p:cNvGrpSpPr/>
          <p:nvPr/>
        </p:nvGrpSpPr>
        <p:grpSpPr>
          <a:xfrm>
            <a:off x="7037794" y="631879"/>
            <a:ext cx="4930840" cy="1424099"/>
            <a:chOff x="3864920" y="640162"/>
            <a:chExt cx="3670398" cy="1424099"/>
          </a:xfrm>
        </p:grpSpPr>
        <p:grpSp>
          <p:nvGrpSpPr>
            <p:cNvPr id="94" name="Case 2 info">
              <a:extLst>
                <a:ext uri="{FF2B5EF4-FFF2-40B4-BE49-F238E27FC236}">
                  <a16:creationId xmlns:a16="http://schemas.microsoft.com/office/drawing/2014/main" id="{BB515748-A46F-4748-B60F-7514C35CD515}"/>
                </a:ext>
              </a:extLst>
            </p:cNvPr>
            <p:cNvGrpSpPr/>
            <p:nvPr/>
          </p:nvGrpSpPr>
          <p:grpSpPr>
            <a:xfrm>
              <a:off x="3864920" y="640162"/>
              <a:ext cx="3670398" cy="1396086"/>
              <a:chOff x="-112132" y="657991"/>
              <a:chExt cx="3670398" cy="1316324"/>
            </a:xfrm>
          </p:grpSpPr>
          <p:sp>
            <p:nvSpPr>
              <p:cNvPr id="96" name="Case 2 text">
                <a:extLst>
                  <a:ext uri="{FF2B5EF4-FFF2-40B4-BE49-F238E27FC236}">
                    <a16:creationId xmlns:a16="http://schemas.microsoft.com/office/drawing/2014/main" id="{6F7576EF-56F2-424F-A1D4-6233CA39984B}"/>
                  </a:ext>
                </a:extLst>
              </p:cNvPr>
              <p:cNvSpPr txBox="1"/>
              <p:nvPr/>
            </p:nvSpPr>
            <p:spPr>
              <a:xfrm>
                <a:off x="-112132" y="657991"/>
                <a:ext cx="3670398" cy="7185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24 </a:t>
                </a:r>
                <a:r>
                  <a:rPr lang="en-US" sz="1400" dirty="0" err="1"/>
                  <a:t>yo</a:t>
                </a:r>
                <a:r>
                  <a:rPr lang="en-US" sz="1400" dirty="0"/>
                  <a:t> M with a history of depression is brought into the ED unresponsive. On exam, his RR is 34 breaths/min, SaO2 99% on RA. ABG is 7.56/22/110/17.</a:t>
                </a:r>
              </a:p>
            </p:txBody>
          </p:sp>
          <p:grpSp>
            <p:nvGrpSpPr>
              <p:cNvPr id="97" name="Fishbone 1">
                <a:extLst>
                  <a:ext uri="{FF2B5EF4-FFF2-40B4-BE49-F238E27FC236}">
                    <a16:creationId xmlns:a16="http://schemas.microsoft.com/office/drawing/2014/main" id="{7F5356A8-1CB3-476B-91D9-94A871BBB223}"/>
                  </a:ext>
                </a:extLst>
              </p:cNvPr>
              <p:cNvGrpSpPr/>
              <p:nvPr/>
            </p:nvGrpSpPr>
            <p:grpSpPr>
              <a:xfrm>
                <a:off x="250850" y="1419919"/>
                <a:ext cx="1207759" cy="554396"/>
                <a:chOff x="196757" y="2183602"/>
                <a:chExt cx="1207759" cy="554396"/>
              </a:xfrm>
            </p:grpSpPr>
            <p:grpSp>
              <p:nvGrpSpPr>
                <p:cNvPr id="98" name="Fishbone">
                  <a:extLst>
                    <a:ext uri="{FF2B5EF4-FFF2-40B4-BE49-F238E27FC236}">
                      <a16:creationId xmlns:a16="http://schemas.microsoft.com/office/drawing/2014/main" id="{E51D3EC7-D0D7-4DD3-95B4-419C6DB177A5}"/>
                    </a:ext>
                  </a:extLst>
                </p:cNvPr>
                <p:cNvGrpSpPr/>
                <p:nvPr/>
              </p:nvGrpSpPr>
              <p:grpSpPr>
                <a:xfrm>
                  <a:off x="196757" y="2238178"/>
                  <a:ext cx="1207759" cy="476819"/>
                  <a:chOff x="416866" y="2437379"/>
                  <a:chExt cx="1028832" cy="400960"/>
                </a:xfrm>
              </p:grpSpPr>
              <p:cxnSp>
                <p:nvCxnSpPr>
                  <p:cNvPr id="103" name="Straight Connector 102">
                    <a:extLst>
                      <a:ext uri="{FF2B5EF4-FFF2-40B4-BE49-F238E27FC236}">
                        <a16:creationId xmlns:a16="http://schemas.microsoft.com/office/drawing/2014/main" id="{D072A163-0998-45F6-B6DD-A84FA9C82A0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6609" y="2451678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26244A34-C215-4733-8667-A8C9320E5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29339" y="2437379"/>
                    <a:ext cx="0" cy="38666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5" name="Straight Connector 104">
                    <a:extLst>
                      <a:ext uri="{FF2B5EF4-FFF2-40B4-BE49-F238E27FC236}">
                        <a16:creationId xmlns:a16="http://schemas.microsoft.com/office/drawing/2014/main" id="{2C8E253C-8FFF-4BF4-86C1-E2E5119624C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416866" y="2625201"/>
                    <a:ext cx="756352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6" name="Straight Connector 105">
                    <a:extLst>
                      <a:ext uri="{FF2B5EF4-FFF2-40B4-BE49-F238E27FC236}">
                        <a16:creationId xmlns:a16="http://schemas.microsoft.com/office/drawing/2014/main" id="{A0B671A3-597F-43AD-AB62-B7564CE358F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173991" y="2441667"/>
                    <a:ext cx="271707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7" name="Straight Connector 106">
                    <a:extLst>
                      <a:ext uri="{FF2B5EF4-FFF2-40B4-BE49-F238E27FC236}">
                        <a16:creationId xmlns:a16="http://schemas.microsoft.com/office/drawing/2014/main" id="{6EE857F3-71C3-413B-9CD6-731CC522132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1178436" y="2626993"/>
                    <a:ext cx="256033" cy="1828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C1FA0583-8D82-4097-96CA-37DEE5BCCC79}"/>
                    </a:ext>
                  </a:extLst>
                </p:cNvPr>
                <p:cNvSpPr txBox="1"/>
                <p:nvPr/>
              </p:nvSpPr>
              <p:spPr>
                <a:xfrm>
                  <a:off x="196757" y="2183602"/>
                  <a:ext cx="374339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137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55227C53-3AB7-4BFD-BCC2-7B334B367100}"/>
                    </a:ext>
                  </a:extLst>
                </p:cNvPr>
                <p:cNvSpPr txBox="1"/>
                <p:nvPr/>
              </p:nvSpPr>
              <p:spPr>
                <a:xfrm>
                  <a:off x="523035" y="2196138"/>
                  <a:ext cx="280704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99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80EEE6E5-2059-492C-9002-C38E04BBB69E}"/>
                    </a:ext>
                  </a:extLst>
                </p:cNvPr>
                <p:cNvSpPr txBox="1"/>
                <p:nvPr/>
              </p:nvSpPr>
              <p:spPr>
                <a:xfrm>
                  <a:off x="775544" y="2447805"/>
                  <a:ext cx="309104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1.2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73CFD38B-CB1C-48C0-B712-AE603A4F53DE}"/>
                    </a:ext>
                  </a:extLst>
                </p:cNvPr>
                <p:cNvSpPr txBox="1"/>
                <p:nvPr/>
              </p:nvSpPr>
              <p:spPr>
                <a:xfrm>
                  <a:off x="523633" y="2447219"/>
                  <a:ext cx="282651" cy="29019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18</a:t>
                  </a:r>
                </a:p>
              </p:txBody>
            </p:sp>
          </p:grpSp>
        </p:grp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FD36F29-A622-4030-BC40-C67833D7348F}"/>
                </a:ext>
              </a:extLst>
            </p:cNvPr>
            <p:cNvSpPr txBox="1"/>
            <p:nvPr/>
          </p:nvSpPr>
          <p:spPr>
            <a:xfrm>
              <a:off x="5889961" y="1325597"/>
              <a:ext cx="1510550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Albumin 4.0</a:t>
              </a:r>
            </a:p>
            <a:p>
              <a:r>
                <a:rPr lang="en-US" sz="1400" dirty="0"/>
                <a:t>Lactate 1.2</a:t>
              </a:r>
            </a:p>
            <a:p>
              <a:r>
                <a:rPr lang="en-US" sz="1400" dirty="0"/>
                <a:t>Urine: bland</a:t>
              </a:r>
            </a:p>
          </p:txBody>
        </p:sp>
      </p:grpSp>
      <p:sp>
        <p:nvSpPr>
          <p:cNvPr id="108" name="Case 3 Acid-base status?">
            <a:extLst>
              <a:ext uri="{FF2B5EF4-FFF2-40B4-BE49-F238E27FC236}">
                <a16:creationId xmlns:a16="http://schemas.microsoft.com/office/drawing/2014/main" id="{22F8B0F1-9D32-4592-A87D-51B87CD583FA}"/>
              </a:ext>
            </a:extLst>
          </p:cNvPr>
          <p:cNvSpPr/>
          <p:nvPr/>
        </p:nvSpPr>
        <p:spPr>
          <a:xfrm>
            <a:off x="7132035" y="2161995"/>
            <a:ext cx="4880057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09" name="Case 3  - Primary process?">
            <a:extLst>
              <a:ext uri="{FF2B5EF4-FFF2-40B4-BE49-F238E27FC236}">
                <a16:creationId xmlns:a16="http://schemas.microsoft.com/office/drawing/2014/main" id="{557DCBCF-AC43-4987-91EB-8A88E7A050DE}"/>
              </a:ext>
            </a:extLst>
          </p:cNvPr>
          <p:cNvSpPr/>
          <p:nvPr/>
        </p:nvSpPr>
        <p:spPr>
          <a:xfrm>
            <a:off x="7145637" y="2575384"/>
            <a:ext cx="4880053" cy="490589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10" name="Case 3 - Anion gap?">
            <a:extLst>
              <a:ext uri="{FF2B5EF4-FFF2-40B4-BE49-F238E27FC236}">
                <a16:creationId xmlns:a16="http://schemas.microsoft.com/office/drawing/2014/main" id="{DA887515-3E20-45D2-8B8F-0D2652CB980F}"/>
              </a:ext>
            </a:extLst>
          </p:cNvPr>
          <p:cNvSpPr/>
          <p:nvPr/>
        </p:nvSpPr>
        <p:spPr>
          <a:xfrm>
            <a:off x="7113776" y="3168603"/>
            <a:ext cx="4888252" cy="852987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111" name="Case 3 - Compensation">
            <a:extLst>
              <a:ext uri="{FF2B5EF4-FFF2-40B4-BE49-F238E27FC236}">
                <a16:creationId xmlns:a16="http://schemas.microsoft.com/office/drawing/2014/main" id="{1D87120B-571E-4FEC-975E-A6ABED021252}"/>
              </a:ext>
            </a:extLst>
          </p:cNvPr>
          <p:cNvSpPr/>
          <p:nvPr/>
        </p:nvSpPr>
        <p:spPr>
          <a:xfrm>
            <a:off x="7076021" y="5247434"/>
            <a:ext cx="4896583" cy="517149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12" name="Case 3  - Delta-delta?">
            <a:extLst>
              <a:ext uri="{FF2B5EF4-FFF2-40B4-BE49-F238E27FC236}">
                <a16:creationId xmlns:a16="http://schemas.microsoft.com/office/drawing/2014/main" id="{0016AAA6-A618-4C1F-BED8-4F5B13E2F139}"/>
              </a:ext>
            </a:extLst>
          </p:cNvPr>
          <p:cNvSpPr/>
          <p:nvPr/>
        </p:nvSpPr>
        <p:spPr>
          <a:xfrm>
            <a:off x="7072049" y="4175396"/>
            <a:ext cx="4940043" cy="942355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113" name="Case 3  - AB answer">
            <a:extLst>
              <a:ext uri="{FF2B5EF4-FFF2-40B4-BE49-F238E27FC236}">
                <a16:creationId xmlns:a16="http://schemas.microsoft.com/office/drawing/2014/main" id="{6668EDB6-B119-47FD-84C4-508812912C5B}"/>
              </a:ext>
            </a:extLst>
          </p:cNvPr>
          <p:cNvSpPr/>
          <p:nvPr/>
        </p:nvSpPr>
        <p:spPr>
          <a:xfrm>
            <a:off x="7126422" y="2161314"/>
            <a:ext cx="4880053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Alkalemia. pH is high.</a:t>
            </a:r>
          </a:p>
        </p:txBody>
      </p:sp>
      <p:sp>
        <p:nvSpPr>
          <p:cNvPr id="114" name="Case 3 - Primary process answer">
            <a:extLst>
              <a:ext uri="{FF2B5EF4-FFF2-40B4-BE49-F238E27FC236}">
                <a16:creationId xmlns:a16="http://schemas.microsoft.com/office/drawing/2014/main" id="{D29612A4-140A-4587-AE02-A35B2525BD24}"/>
              </a:ext>
            </a:extLst>
          </p:cNvPr>
          <p:cNvSpPr/>
          <p:nvPr/>
        </p:nvSpPr>
        <p:spPr>
          <a:xfrm>
            <a:off x="7126059" y="2569619"/>
            <a:ext cx="4896580" cy="493640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Respiratory alkalosis. PCO</a:t>
            </a:r>
            <a:r>
              <a:rPr lang="en-US" sz="1400" baseline="-25000" dirty="0"/>
              <a:t>2</a:t>
            </a:r>
            <a:r>
              <a:rPr lang="en-US" sz="1400" dirty="0"/>
              <a:t> is </a:t>
            </a:r>
            <a:r>
              <a:rPr lang="en-US" sz="1400" dirty="0">
                <a:sym typeface="Wingdings" panose="05000000000000000000" pitchFamily="2" charset="2"/>
              </a:rPr>
              <a:t>.</a:t>
            </a:r>
          </a:p>
        </p:txBody>
      </p:sp>
      <p:sp>
        <p:nvSpPr>
          <p:cNvPr id="115" name="Case 3 - Anion gap answer">
            <a:extLst>
              <a:ext uri="{FF2B5EF4-FFF2-40B4-BE49-F238E27FC236}">
                <a16:creationId xmlns:a16="http://schemas.microsoft.com/office/drawing/2014/main" id="{04DE88BA-E992-4563-ABE7-903E256E5137}"/>
              </a:ext>
            </a:extLst>
          </p:cNvPr>
          <p:cNvSpPr/>
          <p:nvPr/>
        </p:nvSpPr>
        <p:spPr>
          <a:xfrm>
            <a:off x="7121973" y="3159740"/>
            <a:ext cx="4880054" cy="863998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an </a:t>
            </a:r>
            <a:r>
              <a:rPr lang="en-US" sz="1400" dirty="0">
                <a:sym typeface="Wingdings" panose="05000000000000000000" pitchFamily="2" charset="2"/>
              </a:rPr>
              <a:t> AG</a:t>
            </a:r>
            <a:r>
              <a:rPr lang="en-US" sz="1400" dirty="0"/>
              <a:t>. AGMAs are never a compensatory process so there is a concurrent primary AGMA.</a:t>
            </a:r>
          </a:p>
          <a:p>
            <a:pPr algn="ctr"/>
            <a:r>
              <a:rPr lang="en-US" sz="1200" dirty="0"/>
              <a:t>AG = 137 – (99 + 18) = 20</a:t>
            </a:r>
            <a:endParaRPr lang="en-US" sz="1400" dirty="0"/>
          </a:p>
        </p:txBody>
      </p:sp>
      <p:sp>
        <p:nvSpPr>
          <p:cNvPr id="116" name="Case 3  - Compensatoin answer">
            <a:extLst>
              <a:ext uri="{FF2B5EF4-FFF2-40B4-BE49-F238E27FC236}">
                <a16:creationId xmlns:a16="http://schemas.microsoft.com/office/drawing/2014/main" id="{11C3DE69-DF76-4D7E-A6C5-3C7BB829EAF6}"/>
              </a:ext>
            </a:extLst>
          </p:cNvPr>
          <p:cNvSpPr/>
          <p:nvPr/>
        </p:nvSpPr>
        <p:spPr>
          <a:xfrm>
            <a:off x="7058212" y="5242638"/>
            <a:ext cx="4930840" cy="523837"/>
          </a:xfrm>
          <a:prstGeom prst="roundRect">
            <a:avLst>
              <a:gd name="adj" fmla="val 15659"/>
            </a:avLst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None. There is a concurrent primary AGMA. </a:t>
            </a:r>
          </a:p>
        </p:txBody>
      </p:sp>
      <p:sp>
        <p:nvSpPr>
          <p:cNvPr id="117" name="Case 3 - Delta-delta answer">
            <a:extLst>
              <a:ext uri="{FF2B5EF4-FFF2-40B4-BE49-F238E27FC236}">
                <a16:creationId xmlns:a16="http://schemas.microsoft.com/office/drawing/2014/main" id="{5E0CD0A1-E4F5-46CD-AD47-4B113DFD8052}"/>
              </a:ext>
            </a:extLst>
          </p:cNvPr>
          <p:cNvSpPr/>
          <p:nvPr/>
        </p:nvSpPr>
        <p:spPr>
          <a:xfrm>
            <a:off x="7064115" y="4171987"/>
            <a:ext cx="4940043" cy="96463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This is a pure AGMA.</a:t>
            </a:r>
          </a:p>
          <a:p>
            <a:pPr algn="ctr"/>
            <a:r>
              <a:rPr lang="en-US" sz="1200" dirty="0"/>
              <a:t>Using the “residual HCO</a:t>
            </a:r>
            <a:r>
              <a:rPr lang="en-US" sz="1200" baseline="-25000" dirty="0"/>
              <a:t>3</a:t>
            </a:r>
            <a:r>
              <a:rPr lang="en-US" sz="1200" dirty="0"/>
              <a:t>” method, the </a:t>
            </a:r>
            <a:r>
              <a:rPr lang="el-GR" sz="1200" dirty="0"/>
              <a:t>Δ</a:t>
            </a:r>
            <a:r>
              <a:rPr lang="en-US" sz="1200" dirty="0"/>
              <a:t>AG = 20 – expected AG (12). </a:t>
            </a:r>
            <a:r>
              <a:rPr lang="el-GR" sz="1200" dirty="0"/>
              <a:t>Δ</a:t>
            </a:r>
            <a:r>
              <a:rPr lang="en-US" sz="1200" dirty="0"/>
              <a:t>AG = 8. If we add this to measured HCO</a:t>
            </a:r>
            <a:r>
              <a:rPr lang="en-US" sz="1200" baseline="-25000" dirty="0"/>
              <a:t>3</a:t>
            </a:r>
            <a:r>
              <a:rPr lang="en-US" sz="1200" dirty="0"/>
              <a:t>, the “residual HCO</a:t>
            </a:r>
            <a:r>
              <a:rPr lang="en-US" sz="1200" baseline="-25000" dirty="0"/>
              <a:t>3</a:t>
            </a:r>
            <a:r>
              <a:rPr lang="en-US" sz="1200" dirty="0"/>
              <a:t>” is 26, which is upper limit of normal. </a:t>
            </a:r>
          </a:p>
        </p:txBody>
      </p:sp>
      <p:sp>
        <p:nvSpPr>
          <p:cNvPr id="118" name="Diagnosis - case 2">
            <a:extLst>
              <a:ext uri="{FF2B5EF4-FFF2-40B4-BE49-F238E27FC236}">
                <a16:creationId xmlns:a16="http://schemas.microsoft.com/office/drawing/2014/main" id="{4A3B4FD9-6E97-4384-8AF9-B1FB1A3610A8}"/>
              </a:ext>
            </a:extLst>
          </p:cNvPr>
          <p:cNvSpPr/>
          <p:nvPr/>
        </p:nvSpPr>
        <p:spPr>
          <a:xfrm>
            <a:off x="7058212" y="5989351"/>
            <a:ext cx="4958123" cy="624070"/>
          </a:xfrm>
          <a:prstGeom prst="roundRect">
            <a:avLst>
              <a:gd name="adj" fmla="val 14970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19" name="Diagnosis 2 answer">
            <a:extLst>
              <a:ext uri="{FF2B5EF4-FFF2-40B4-BE49-F238E27FC236}">
                <a16:creationId xmlns:a16="http://schemas.microsoft.com/office/drawing/2014/main" id="{F0802548-AAEB-4AD0-9A4E-B5EFEA3D82FF}"/>
              </a:ext>
            </a:extLst>
          </p:cNvPr>
          <p:cNvSpPr/>
          <p:nvPr/>
        </p:nvSpPr>
        <p:spPr>
          <a:xfrm>
            <a:off x="7060547" y="5989350"/>
            <a:ext cx="4965143" cy="624071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A primary respiratory alkalosis and AGMA is classic for salicylate poisoning. </a:t>
            </a:r>
          </a:p>
        </p:txBody>
      </p:sp>
      <p:sp>
        <p:nvSpPr>
          <p:cNvPr id="69" name="question 1">
            <a:hlinkClick r:id="rId3" action="ppaction://hlinksldjump"/>
            <a:extLst>
              <a:ext uri="{FF2B5EF4-FFF2-40B4-BE49-F238E27FC236}">
                <a16:creationId xmlns:a16="http://schemas.microsoft.com/office/drawing/2014/main" id="{C3D14763-07E6-414D-9396-DC2AAF5C3C6A}"/>
              </a:ext>
            </a:extLst>
          </p:cNvPr>
          <p:cNvSpPr txBox="1"/>
          <p:nvPr/>
        </p:nvSpPr>
        <p:spPr>
          <a:xfrm>
            <a:off x="254654" y="109822"/>
            <a:ext cx="1241986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Ranges and Definitions</a:t>
            </a:r>
          </a:p>
        </p:txBody>
      </p:sp>
      <p:sp>
        <p:nvSpPr>
          <p:cNvPr id="70" name="question 3">
            <a:hlinkClick r:id="rId4" action="ppaction://hlinksldjump"/>
            <a:extLst>
              <a:ext uri="{FF2B5EF4-FFF2-40B4-BE49-F238E27FC236}">
                <a16:creationId xmlns:a16="http://schemas.microsoft.com/office/drawing/2014/main" id="{CAE6FE4A-C328-4708-B2D9-F689841AACD0}"/>
              </a:ext>
            </a:extLst>
          </p:cNvPr>
          <p:cNvSpPr txBox="1"/>
          <p:nvPr/>
        </p:nvSpPr>
        <p:spPr>
          <a:xfrm>
            <a:off x="84721" y="1491475"/>
            <a:ext cx="1423284" cy="307777"/>
          </a:xfrm>
          <a:prstGeom prst="rect">
            <a:avLst/>
          </a:prstGeom>
          <a:ln w="38100">
            <a:solidFill>
              <a:schemeClr val="accent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Apply steps 1&amp;2:</a:t>
            </a:r>
          </a:p>
        </p:txBody>
      </p:sp>
      <p:sp>
        <p:nvSpPr>
          <p:cNvPr id="71" name="question 4">
            <a:hlinkClick r:id="rId5" action="ppaction://hlinksldjump"/>
            <a:extLst>
              <a:ext uri="{FF2B5EF4-FFF2-40B4-BE49-F238E27FC236}">
                <a16:creationId xmlns:a16="http://schemas.microsoft.com/office/drawing/2014/main" id="{E07BE28F-F035-42A9-80FE-10F31FBFE17C}"/>
              </a:ext>
            </a:extLst>
          </p:cNvPr>
          <p:cNvSpPr txBox="1"/>
          <p:nvPr/>
        </p:nvSpPr>
        <p:spPr>
          <a:xfrm>
            <a:off x="398218" y="1873141"/>
            <a:ext cx="92230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Acidemia</a:t>
            </a:r>
          </a:p>
        </p:txBody>
      </p:sp>
      <p:sp>
        <p:nvSpPr>
          <p:cNvPr id="72" name="sub-q 2">
            <a:hlinkClick r:id="rId6" action="ppaction://hlinksldjump"/>
            <a:extLst>
              <a:ext uri="{FF2B5EF4-FFF2-40B4-BE49-F238E27FC236}">
                <a16:creationId xmlns:a16="http://schemas.microsoft.com/office/drawing/2014/main" id="{2446DA82-D582-4136-B03C-BA6ED18FEFDF}"/>
              </a:ext>
            </a:extLst>
          </p:cNvPr>
          <p:cNvSpPr txBox="1"/>
          <p:nvPr/>
        </p:nvSpPr>
        <p:spPr>
          <a:xfrm>
            <a:off x="363472" y="2746263"/>
            <a:ext cx="991795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Alkalemia</a:t>
            </a:r>
          </a:p>
        </p:txBody>
      </p:sp>
      <p:sp>
        <p:nvSpPr>
          <p:cNvPr id="75" name="Cases">
            <a:hlinkClick r:id="rId7" action="ppaction://hlinksldjump"/>
            <a:extLst>
              <a:ext uri="{FF2B5EF4-FFF2-40B4-BE49-F238E27FC236}">
                <a16:creationId xmlns:a16="http://schemas.microsoft.com/office/drawing/2014/main" id="{28BD5484-0134-40A7-B3BA-05FD5D6F0FEF}"/>
              </a:ext>
            </a:extLst>
          </p:cNvPr>
          <p:cNvSpPr txBox="1"/>
          <p:nvPr/>
        </p:nvSpPr>
        <p:spPr>
          <a:xfrm>
            <a:off x="620507" y="3672267"/>
            <a:ext cx="867242" cy="340519"/>
          </a:xfrm>
          <a:prstGeom prst="roundRect">
            <a:avLst/>
          </a:prstGeom>
          <a:ln/>
          <a:effectLst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CASES</a:t>
            </a:r>
          </a:p>
        </p:txBody>
      </p:sp>
      <p:sp>
        <p:nvSpPr>
          <p:cNvPr id="76" name="sub-q 1 button">
            <a:hlinkClick r:id="rId8" action="ppaction://hlinksldjump"/>
            <a:extLst>
              <a:ext uri="{FF2B5EF4-FFF2-40B4-BE49-F238E27FC236}">
                <a16:creationId xmlns:a16="http://schemas.microsoft.com/office/drawing/2014/main" id="{B9A3B2FD-B695-40DF-9674-F1AB25CC2DB0}"/>
              </a:ext>
            </a:extLst>
          </p:cNvPr>
          <p:cNvSpPr txBox="1"/>
          <p:nvPr/>
        </p:nvSpPr>
        <p:spPr>
          <a:xfrm>
            <a:off x="319323" y="2309303"/>
            <a:ext cx="1010872" cy="340519"/>
          </a:xfrm>
          <a:prstGeom prst="roundRect">
            <a:avLst/>
          </a:prstGeom>
          <a:ln w="38100">
            <a:solidFill>
              <a:schemeClr val="accent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Normal pH</a:t>
            </a:r>
          </a:p>
        </p:txBody>
      </p:sp>
      <p:pic>
        <p:nvPicPr>
          <p:cNvPr id="77" name="Graphic 76" descr="Cursor with solid fill">
            <a:extLst>
              <a:ext uri="{FF2B5EF4-FFF2-40B4-BE49-F238E27FC236}">
                <a16:creationId xmlns:a16="http://schemas.microsoft.com/office/drawing/2014/main" id="{8C214023-651D-4314-8F24-FA7BD8CE4A9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47393" y="502048"/>
            <a:ext cx="274320" cy="274320"/>
          </a:xfrm>
          <a:prstGeom prst="rect">
            <a:avLst/>
          </a:prstGeom>
        </p:spPr>
      </p:pic>
      <p:pic>
        <p:nvPicPr>
          <p:cNvPr id="78" name="Graphic 77" descr="Cursor with solid fill">
            <a:extLst>
              <a:ext uri="{FF2B5EF4-FFF2-40B4-BE49-F238E27FC236}">
                <a16:creationId xmlns:a16="http://schemas.microsoft.com/office/drawing/2014/main" id="{84A5B4DE-9D5C-433A-BEE4-4E94B67494D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3881" y="2065604"/>
            <a:ext cx="274320" cy="274320"/>
          </a:xfrm>
          <a:prstGeom prst="rect">
            <a:avLst/>
          </a:prstGeom>
        </p:spPr>
      </p:pic>
      <p:pic>
        <p:nvPicPr>
          <p:cNvPr id="79" name="Graphic 78" descr="Cursor with solid fill">
            <a:extLst>
              <a:ext uri="{FF2B5EF4-FFF2-40B4-BE49-F238E27FC236}">
                <a16:creationId xmlns:a16="http://schemas.microsoft.com/office/drawing/2014/main" id="{ADB7205F-5C90-40D4-BFB6-4647276C2F2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97889" y="2497941"/>
            <a:ext cx="274320" cy="274320"/>
          </a:xfrm>
          <a:prstGeom prst="rect">
            <a:avLst/>
          </a:prstGeom>
        </p:spPr>
      </p:pic>
      <p:pic>
        <p:nvPicPr>
          <p:cNvPr id="80" name="Graphic 79" descr="Cursor with solid fill">
            <a:extLst>
              <a:ext uri="{FF2B5EF4-FFF2-40B4-BE49-F238E27FC236}">
                <a16:creationId xmlns:a16="http://schemas.microsoft.com/office/drawing/2014/main" id="{93363083-6214-4012-B314-850AB896BDE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200345" y="2920004"/>
            <a:ext cx="274320" cy="274320"/>
          </a:xfrm>
          <a:prstGeom prst="rect">
            <a:avLst/>
          </a:prstGeom>
        </p:spPr>
      </p:pic>
      <p:sp>
        <p:nvSpPr>
          <p:cNvPr id="81" name="Question 2">
            <a:hlinkClick r:id="rId11" action="ppaction://hlinksldjump"/>
            <a:extLst>
              <a:ext uri="{FF2B5EF4-FFF2-40B4-BE49-F238E27FC236}">
                <a16:creationId xmlns:a16="http://schemas.microsoft.com/office/drawing/2014/main" id="{9D3E3738-F543-48DD-8676-72EC20A6A945}"/>
              </a:ext>
            </a:extLst>
          </p:cNvPr>
          <p:cNvSpPr txBox="1"/>
          <p:nvPr/>
        </p:nvSpPr>
        <p:spPr>
          <a:xfrm>
            <a:off x="211785" y="3209265"/>
            <a:ext cx="1270674" cy="340519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6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</a:rPr>
              <a:t>Compensation</a:t>
            </a:r>
          </a:p>
        </p:txBody>
      </p:sp>
      <p:pic>
        <p:nvPicPr>
          <p:cNvPr id="82" name="Graphic 81" descr="Cursor with solid fill">
            <a:extLst>
              <a:ext uri="{FF2B5EF4-FFF2-40B4-BE49-F238E27FC236}">
                <a16:creationId xmlns:a16="http://schemas.microsoft.com/office/drawing/2014/main" id="{B0C20344-0073-4BE3-90EA-0861E3C176B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27804" y="3407205"/>
            <a:ext cx="274320" cy="274320"/>
          </a:xfrm>
          <a:prstGeom prst="rect">
            <a:avLst/>
          </a:prstGeom>
        </p:spPr>
      </p:pic>
      <p:sp>
        <p:nvSpPr>
          <p:cNvPr id="83" name="Question 2">
            <a:hlinkClick r:id="rId4" action="ppaction://hlinksldjump"/>
            <a:extLst>
              <a:ext uri="{FF2B5EF4-FFF2-40B4-BE49-F238E27FC236}">
                <a16:creationId xmlns:a16="http://schemas.microsoft.com/office/drawing/2014/main" id="{8D8E124F-32B5-4AEE-919F-8F841A4FB38F}"/>
              </a:ext>
            </a:extLst>
          </p:cNvPr>
          <p:cNvSpPr txBox="1"/>
          <p:nvPr/>
        </p:nvSpPr>
        <p:spPr>
          <a:xfrm>
            <a:off x="97544" y="810474"/>
            <a:ext cx="1428483" cy="578882"/>
          </a:xfrm>
          <a:prstGeom prst="roundRect">
            <a:avLst/>
          </a:prstGeom>
          <a:solidFill>
            <a:schemeClr val="bg1"/>
          </a:solidFill>
          <a:ln w="38100">
            <a:solidFill>
              <a:schemeClr val="accent4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3 Steps to ABG Interpretation</a:t>
            </a:r>
          </a:p>
        </p:txBody>
      </p:sp>
      <p:pic>
        <p:nvPicPr>
          <p:cNvPr id="84" name="Graphic 83" descr="Cursor with solid fill">
            <a:extLst>
              <a:ext uri="{FF2B5EF4-FFF2-40B4-BE49-F238E27FC236}">
                <a16:creationId xmlns:a16="http://schemas.microsoft.com/office/drawing/2014/main" id="{C797A4FF-B9BB-41BC-8B69-2591A9B848E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63182" y="1249393"/>
            <a:ext cx="274320" cy="274320"/>
          </a:xfrm>
          <a:prstGeom prst="rect">
            <a:avLst/>
          </a:prstGeom>
        </p:spPr>
      </p:pic>
      <p:sp>
        <p:nvSpPr>
          <p:cNvPr id="85" name="question 4">
            <a:hlinkClick r:id="rId7" action="ppaction://hlinksldjump"/>
            <a:extLst>
              <a:ext uri="{FF2B5EF4-FFF2-40B4-BE49-F238E27FC236}">
                <a16:creationId xmlns:a16="http://schemas.microsoft.com/office/drawing/2014/main" id="{3823F854-CD2C-4308-A2B9-24C829A816AB}"/>
              </a:ext>
            </a:extLst>
          </p:cNvPr>
          <p:cNvSpPr txBox="1"/>
          <p:nvPr/>
        </p:nvSpPr>
        <p:spPr>
          <a:xfrm>
            <a:off x="740685" y="4059835"/>
            <a:ext cx="587119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Basic</a:t>
            </a:r>
          </a:p>
        </p:txBody>
      </p:sp>
      <p:pic>
        <p:nvPicPr>
          <p:cNvPr id="86" name="Graphic 85" descr="Cursor with solid fill">
            <a:extLst>
              <a:ext uri="{FF2B5EF4-FFF2-40B4-BE49-F238E27FC236}">
                <a16:creationId xmlns:a16="http://schemas.microsoft.com/office/drawing/2014/main" id="{4CFD22A7-6154-41F7-A146-EAE5C96959C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242577"/>
            <a:ext cx="274320" cy="274320"/>
          </a:xfrm>
          <a:prstGeom prst="rect">
            <a:avLst/>
          </a:prstGeom>
        </p:spPr>
      </p:pic>
      <p:sp>
        <p:nvSpPr>
          <p:cNvPr id="87" name="sub-q 1 button">
            <a:hlinkClick r:id="rId12" action="ppaction://hlinksldjump"/>
            <a:extLst>
              <a:ext uri="{FF2B5EF4-FFF2-40B4-BE49-F238E27FC236}">
                <a16:creationId xmlns:a16="http://schemas.microsoft.com/office/drawing/2014/main" id="{8C93A47B-61DB-4D3E-8FEF-CA8ECDDA4A01}"/>
              </a:ext>
            </a:extLst>
          </p:cNvPr>
          <p:cNvSpPr txBox="1"/>
          <p:nvPr/>
        </p:nvSpPr>
        <p:spPr>
          <a:xfrm>
            <a:off x="735489" y="4475173"/>
            <a:ext cx="579838" cy="340519"/>
          </a:xfrm>
          <a:prstGeom prst="roundRect">
            <a:avLst/>
          </a:prstGeom>
          <a:solidFill>
            <a:schemeClr val="bg1"/>
          </a:solidFill>
          <a:ln w="3810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1-3</a:t>
            </a:r>
          </a:p>
        </p:txBody>
      </p:sp>
      <p:sp>
        <p:nvSpPr>
          <p:cNvPr id="88" name="sub-q 1 button">
            <a:hlinkClick r:id="rId13" action="ppaction://hlinksldjump"/>
            <a:extLst>
              <a:ext uri="{FF2B5EF4-FFF2-40B4-BE49-F238E27FC236}">
                <a16:creationId xmlns:a16="http://schemas.microsoft.com/office/drawing/2014/main" id="{90A31933-8A1A-452D-81C9-3CBD9F744E4B}"/>
              </a:ext>
            </a:extLst>
          </p:cNvPr>
          <p:cNvSpPr txBox="1"/>
          <p:nvPr/>
        </p:nvSpPr>
        <p:spPr>
          <a:xfrm>
            <a:off x="738051" y="4879987"/>
            <a:ext cx="579838" cy="340519"/>
          </a:xfrm>
          <a:prstGeom prst="roundRect">
            <a:avLst/>
          </a:prstGeom>
          <a:solidFill>
            <a:schemeClr val="tx1"/>
          </a:solidFill>
          <a:ln w="38100">
            <a:solidFill>
              <a:schemeClr val="tx1"/>
            </a:solidFill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4-5</a:t>
            </a:r>
          </a:p>
        </p:txBody>
      </p:sp>
      <p:pic>
        <p:nvPicPr>
          <p:cNvPr id="123" name="Graphic 122" descr="Cursor with solid fill">
            <a:extLst>
              <a:ext uri="{FF2B5EF4-FFF2-40B4-BE49-F238E27FC236}">
                <a16:creationId xmlns:a16="http://schemas.microsoft.com/office/drawing/2014/main" id="{D7F9FB71-C4E8-4209-B75E-E46F5EB8EC0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95576" y="433544"/>
            <a:ext cx="274320" cy="274320"/>
          </a:xfrm>
          <a:prstGeom prst="rect">
            <a:avLst/>
          </a:prstGeom>
        </p:spPr>
      </p:pic>
      <p:pic>
        <p:nvPicPr>
          <p:cNvPr id="124" name="Graphic 123" descr="Cursor with solid fill">
            <a:extLst>
              <a:ext uri="{FF2B5EF4-FFF2-40B4-BE49-F238E27FC236}">
                <a16:creationId xmlns:a16="http://schemas.microsoft.com/office/drawing/2014/main" id="{777F7109-0E31-4922-A9A9-63246A4CE72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83021" y="4653537"/>
            <a:ext cx="274320" cy="274320"/>
          </a:xfrm>
          <a:prstGeom prst="rect">
            <a:avLst/>
          </a:prstGeom>
        </p:spPr>
      </p:pic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2B68DA0D-F6FE-44CD-908A-3A27988134C4}"/>
              </a:ext>
            </a:extLst>
          </p:cNvPr>
          <p:cNvCxnSpPr>
            <a:cxnSpLocks/>
          </p:cNvCxnSpPr>
          <p:nvPr/>
        </p:nvCxnSpPr>
        <p:spPr>
          <a:xfrm>
            <a:off x="6915961" y="333220"/>
            <a:ext cx="0" cy="6433127"/>
          </a:xfrm>
          <a:prstGeom prst="line">
            <a:avLst/>
          </a:prstGeom>
          <a:ln w="57150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53" name="Case 1">
            <a:extLst>
              <a:ext uri="{FF2B5EF4-FFF2-40B4-BE49-F238E27FC236}">
                <a16:creationId xmlns:a16="http://schemas.microsoft.com/office/drawing/2014/main" id="{3F9A2258-2854-4169-B60D-699F86DE613D}"/>
              </a:ext>
            </a:extLst>
          </p:cNvPr>
          <p:cNvSpPr/>
          <p:nvPr/>
        </p:nvSpPr>
        <p:spPr>
          <a:xfrm>
            <a:off x="2735174" y="181172"/>
            <a:ext cx="3083639" cy="412786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Case 4</a:t>
            </a:r>
          </a:p>
        </p:txBody>
      </p:sp>
      <p:sp>
        <p:nvSpPr>
          <p:cNvPr id="154" name="Case 1 Acid-base status?">
            <a:extLst>
              <a:ext uri="{FF2B5EF4-FFF2-40B4-BE49-F238E27FC236}">
                <a16:creationId xmlns:a16="http://schemas.microsoft.com/office/drawing/2014/main" id="{EBD2F83D-A293-4DF5-9F6D-D352B6A0351D}"/>
              </a:ext>
            </a:extLst>
          </p:cNvPr>
          <p:cNvSpPr/>
          <p:nvPr/>
        </p:nvSpPr>
        <p:spPr>
          <a:xfrm>
            <a:off x="1741948" y="2178657"/>
            <a:ext cx="4932333" cy="33237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Acid-Base status?</a:t>
            </a:r>
          </a:p>
        </p:txBody>
      </p:sp>
      <p:sp>
        <p:nvSpPr>
          <p:cNvPr id="155" name="Case 1 - Primary process?">
            <a:extLst>
              <a:ext uri="{FF2B5EF4-FFF2-40B4-BE49-F238E27FC236}">
                <a16:creationId xmlns:a16="http://schemas.microsoft.com/office/drawing/2014/main" id="{206293CC-132B-4AC3-AFE9-49511BECF46D}"/>
              </a:ext>
            </a:extLst>
          </p:cNvPr>
          <p:cNvSpPr/>
          <p:nvPr/>
        </p:nvSpPr>
        <p:spPr>
          <a:xfrm>
            <a:off x="1755547" y="2592046"/>
            <a:ext cx="4932331" cy="521384"/>
          </a:xfrm>
          <a:prstGeom prst="roundRect">
            <a:avLst>
              <a:gd name="adj" fmla="val 10321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Primary process?</a:t>
            </a:r>
          </a:p>
        </p:txBody>
      </p:sp>
      <p:sp>
        <p:nvSpPr>
          <p:cNvPr id="156" name="Case 1 - Anion gap?">
            <a:extLst>
              <a:ext uri="{FF2B5EF4-FFF2-40B4-BE49-F238E27FC236}">
                <a16:creationId xmlns:a16="http://schemas.microsoft.com/office/drawing/2014/main" id="{8CB99CA5-503B-4688-8209-209733C60A3C}"/>
              </a:ext>
            </a:extLst>
          </p:cNvPr>
          <p:cNvSpPr/>
          <p:nvPr/>
        </p:nvSpPr>
        <p:spPr>
          <a:xfrm>
            <a:off x="1748033" y="3193871"/>
            <a:ext cx="4949042" cy="637473"/>
          </a:xfrm>
          <a:prstGeom prst="roundRect">
            <a:avLst>
              <a:gd name="adj" fmla="val 1382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Anion gap?</a:t>
            </a:r>
          </a:p>
        </p:txBody>
      </p:sp>
      <p:sp>
        <p:nvSpPr>
          <p:cNvPr id="157" name="Case 1 - Compensation">
            <a:extLst>
              <a:ext uri="{FF2B5EF4-FFF2-40B4-BE49-F238E27FC236}">
                <a16:creationId xmlns:a16="http://schemas.microsoft.com/office/drawing/2014/main" id="{1F30E792-E338-4E7B-AA88-66CABCE1C969}"/>
              </a:ext>
            </a:extLst>
          </p:cNvPr>
          <p:cNvSpPr/>
          <p:nvPr/>
        </p:nvSpPr>
        <p:spPr>
          <a:xfrm>
            <a:off x="1734427" y="5062633"/>
            <a:ext cx="4949036" cy="698271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Compensation?</a:t>
            </a:r>
          </a:p>
        </p:txBody>
      </p:sp>
      <p:sp>
        <p:nvSpPr>
          <p:cNvPr id="158" name="Case 1 - AB answer">
            <a:extLst>
              <a:ext uri="{FF2B5EF4-FFF2-40B4-BE49-F238E27FC236}">
                <a16:creationId xmlns:a16="http://schemas.microsoft.com/office/drawing/2014/main" id="{B0D5886F-622C-48B2-8DF1-583B006F753D}"/>
              </a:ext>
            </a:extLst>
          </p:cNvPr>
          <p:cNvSpPr/>
          <p:nvPr/>
        </p:nvSpPr>
        <p:spPr>
          <a:xfrm>
            <a:off x="1736334" y="2177976"/>
            <a:ext cx="4932330" cy="33163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Acidemia. pH of 6.98 is low. </a:t>
            </a:r>
          </a:p>
        </p:txBody>
      </p:sp>
      <p:sp>
        <p:nvSpPr>
          <p:cNvPr id="159" name="Case 1 - Primary process answer">
            <a:extLst>
              <a:ext uri="{FF2B5EF4-FFF2-40B4-BE49-F238E27FC236}">
                <a16:creationId xmlns:a16="http://schemas.microsoft.com/office/drawing/2014/main" id="{A04A9AAD-2FAD-44B1-B162-DEFF263AB5B5}"/>
              </a:ext>
            </a:extLst>
          </p:cNvPr>
          <p:cNvSpPr/>
          <p:nvPr/>
        </p:nvSpPr>
        <p:spPr>
          <a:xfrm>
            <a:off x="1742404" y="2586281"/>
            <a:ext cx="4949033" cy="524626"/>
          </a:xfrm>
          <a:prstGeom prst="roundRect">
            <a:avLst>
              <a:gd name="adj" fmla="val 1150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Metabolic acidosis (</a:t>
            </a:r>
            <a:r>
              <a:rPr lang="en-US" sz="1400" dirty="0">
                <a:sym typeface="Wingdings" panose="05000000000000000000" pitchFamily="2" charset="2"/>
              </a:rPr>
              <a:t>HCO</a:t>
            </a:r>
            <a:r>
              <a:rPr lang="en-US" sz="1400" baseline="-25000" dirty="0">
                <a:sym typeface="Wingdings" panose="05000000000000000000" pitchFamily="2" charset="2"/>
              </a:rPr>
              <a:t>3</a:t>
            </a:r>
            <a:r>
              <a:rPr lang="en-US" sz="1400" dirty="0"/>
              <a:t> is </a:t>
            </a:r>
            <a:r>
              <a:rPr lang="en-US" sz="1400" dirty="0">
                <a:sym typeface="Wingdings" panose="05000000000000000000" pitchFamily="2" charset="2"/>
              </a:rPr>
              <a:t>). PCO</a:t>
            </a:r>
            <a:r>
              <a:rPr lang="en-US" sz="1400" baseline="-25000" dirty="0">
                <a:sym typeface="Wingdings" panose="05000000000000000000" pitchFamily="2" charset="2"/>
              </a:rPr>
              <a:t>2</a:t>
            </a:r>
            <a:r>
              <a:rPr lang="en-US" sz="1400" dirty="0">
                <a:sym typeface="Wingdings" panose="05000000000000000000" pitchFamily="2" charset="2"/>
              </a:rPr>
              <a:t> is normal, but there is likely a concurrent primary respiratory process (see compensation). </a:t>
            </a:r>
            <a:endParaRPr lang="en-US" sz="1400" dirty="0"/>
          </a:p>
        </p:txBody>
      </p:sp>
      <p:sp>
        <p:nvSpPr>
          <p:cNvPr id="160" name="Case 1 - Anion gap answer">
            <a:extLst>
              <a:ext uri="{FF2B5EF4-FFF2-40B4-BE49-F238E27FC236}">
                <a16:creationId xmlns:a16="http://schemas.microsoft.com/office/drawing/2014/main" id="{990C2BA2-7203-4B41-A01C-3C728E83CE27}"/>
              </a:ext>
            </a:extLst>
          </p:cNvPr>
          <p:cNvSpPr/>
          <p:nvPr/>
        </p:nvSpPr>
        <p:spPr>
          <a:xfrm>
            <a:off x="1756684" y="3191506"/>
            <a:ext cx="4949042" cy="645701"/>
          </a:xfrm>
          <a:prstGeom prst="roundRect">
            <a:avLst>
              <a:gd name="adj" fmla="val 1217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an </a:t>
            </a:r>
            <a:r>
              <a:rPr lang="en-US" sz="1400" dirty="0">
                <a:sym typeface="Wingdings" panose="05000000000000000000" pitchFamily="2" charset="2"/>
              </a:rPr>
              <a:t></a:t>
            </a:r>
            <a:r>
              <a:rPr lang="en-US" sz="1400" dirty="0"/>
              <a:t> AG. </a:t>
            </a:r>
          </a:p>
          <a:p>
            <a:pPr algn="ctr"/>
            <a:r>
              <a:rPr lang="en-US" sz="1200" dirty="0"/>
              <a:t>The AG = 146 – (121 + 7) = 18. </a:t>
            </a:r>
          </a:p>
          <a:p>
            <a:pPr algn="ctr"/>
            <a:r>
              <a:rPr lang="en-US" sz="1200" dirty="0"/>
              <a:t>The differential is MUDPILES. </a:t>
            </a:r>
          </a:p>
        </p:txBody>
      </p:sp>
      <p:sp>
        <p:nvSpPr>
          <p:cNvPr id="161" name="Case 1 - Compensatoin answer">
            <a:extLst>
              <a:ext uri="{FF2B5EF4-FFF2-40B4-BE49-F238E27FC236}">
                <a16:creationId xmlns:a16="http://schemas.microsoft.com/office/drawing/2014/main" id="{4358A1C7-3A73-4F82-95C4-3ABDB9071E7C}"/>
              </a:ext>
            </a:extLst>
          </p:cNvPr>
          <p:cNvSpPr/>
          <p:nvPr/>
        </p:nvSpPr>
        <p:spPr>
          <a:xfrm>
            <a:off x="1735129" y="5047687"/>
            <a:ext cx="4948334" cy="707302"/>
          </a:xfrm>
          <a:prstGeom prst="roundRect">
            <a:avLst/>
          </a:prstGeom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Using Winter’s formula: Expected PCO</a:t>
            </a:r>
            <a:r>
              <a:rPr lang="en-US" sz="1400" baseline="-25000" dirty="0"/>
              <a:t>2</a:t>
            </a:r>
            <a:r>
              <a:rPr lang="en-US" sz="1400" dirty="0"/>
              <a:t> = (1.5 x HCO</a:t>
            </a:r>
            <a:r>
              <a:rPr lang="en-US" sz="1400" baseline="-25000" dirty="0"/>
              <a:t>3</a:t>
            </a:r>
            <a:r>
              <a:rPr lang="en-US" sz="1400" dirty="0"/>
              <a:t>) + 8 = 19. Measured PCO</a:t>
            </a:r>
            <a:r>
              <a:rPr lang="en-US" sz="1400" baseline="-25000" dirty="0"/>
              <a:t>2</a:t>
            </a:r>
            <a:r>
              <a:rPr lang="en-US" sz="1400" dirty="0"/>
              <a:t> is 41, suggesting a concurrent respiratory acidosis.</a:t>
            </a:r>
          </a:p>
        </p:txBody>
      </p:sp>
      <p:sp>
        <p:nvSpPr>
          <p:cNvPr id="162" name="Diagnosis - case 1">
            <a:extLst>
              <a:ext uri="{FF2B5EF4-FFF2-40B4-BE49-F238E27FC236}">
                <a16:creationId xmlns:a16="http://schemas.microsoft.com/office/drawing/2014/main" id="{19877E83-FA08-4AFF-9A0C-E2A740E222F7}"/>
              </a:ext>
            </a:extLst>
          </p:cNvPr>
          <p:cNvSpPr/>
          <p:nvPr/>
        </p:nvSpPr>
        <p:spPr>
          <a:xfrm>
            <a:off x="1747434" y="5867499"/>
            <a:ext cx="4930278" cy="885002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DIAGNOSIS</a:t>
            </a:r>
          </a:p>
        </p:txBody>
      </p:sp>
      <p:sp>
        <p:nvSpPr>
          <p:cNvPr id="163" name="Diagnosis answer">
            <a:extLst>
              <a:ext uri="{FF2B5EF4-FFF2-40B4-BE49-F238E27FC236}">
                <a16:creationId xmlns:a16="http://schemas.microsoft.com/office/drawing/2014/main" id="{7BE2060C-4EA0-4381-A943-68EE5013F672}"/>
              </a:ext>
            </a:extLst>
          </p:cNvPr>
          <p:cNvSpPr/>
          <p:nvPr/>
        </p:nvSpPr>
        <p:spPr>
          <a:xfrm>
            <a:off x="1752585" y="5856769"/>
            <a:ext cx="4932850" cy="852569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AGMA from ketoacidosis and lactic acidosis, NAGMA likely from diarrhea, and a concurrent respiratory acidosis likely from narcotic associated hypoventilation. </a:t>
            </a:r>
          </a:p>
        </p:txBody>
      </p:sp>
      <p:sp>
        <p:nvSpPr>
          <p:cNvPr id="164" name="Case 2 - Delta-delta?">
            <a:extLst>
              <a:ext uri="{FF2B5EF4-FFF2-40B4-BE49-F238E27FC236}">
                <a16:creationId xmlns:a16="http://schemas.microsoft.com/office/drawing/2014/main" id="{4497F2C6-BE5C-4256-A6C3-7D7EFE42C638}"/>
              </a:ext>
            </a:extLst>
          </p:cNvPr>
          <p:cNvSpPr/>
          <p:nvPr/>
        </p:nvSpPr>
        <p:spPr>
          <a:xfrm>
            <a:off x="1748039" y="3982665"/>
            <a:ext cx="4949036" cy="941809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Delta-delta?</a:t>
            </a:r>
          </a:p>
        </p:txBody>
      </p:sp>
      <p:sp>
        <p:nvSpPr>
          <p:cNvPr id="165" name="Case 2 - Delta-delta answer">
            <a:extLst>
              <a:ext uri="{FF2B5EF4-FFF2-40B4-BE49-F238E27FC236}">
                <a16:creationId xmlns:a16="http://schemas.microsoft.com/office/drawing/2014/main" id="{805504C8-5629-4CE8-8474-0E9855DE9CA3}"/>
              </a:ext>
            </a:extLst>
          </p:cNvPr>
          <p:cNvSpPr/>
          <p:nvPr/>
        </p:nvSpPr>
        <p:spPr>
          <a:xfrm>
            <a:off x="1740766" y="3943746"/>
            <a:ext cx="4961069" cy="997401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There is a concurrent NAGMA (likely from diarrhea). </a:t>
            </a:r>
          </a:p>
          <a:p>
            <a:pPr algn="ctr"/>
            <a:r>
              <a:rPr lang="en-US" sz="1200" dirty="0"/>
              <a:t>Using the “residual HCO</a:t>
            </a:r>
            <a:r>
              <a:rPr lang="en-US" sz="1200" baseline="-25000" dirty="0"/>
              <a:t>3</a:t>
            </a:r>
            <a:r>
              <a:rPr lang="en-US" sz="1200" dirty="0"/>
              <a:t>” method, the </a:t>
            </a:r>
            <a:r>
              <a:rPr lang="el-GR" sz="1200" dirty="0"/>
              <a:t>Δ</a:t>
            </a:r>
            <a:r>
              <a:rPr lang="en-US" sz="1200" dirty="0"/>
              <a:t>AG = 18 – expected AG. With an albumin of 2.1, the expected AG is 5-6. </a:t>
            </a:r>
            <a:r>
              <a:rPr lang="el-GR" sz="1200" dirty="0"/>
              <a:t>Δ</a:t>
            </a:r>
            <a:r>
              <a:rPr lang="en-US" sz="1200" dirty="0"/>
              <a:t>AG = 12. </a:t>
            </a:r>
          </a:p>
          <a:p>
            <a:pPr algn="ctr"/>
            <a:r>
              <a:rPr lang="en-US" sz="1200" dirty="0"/>
              <a:t>Adding </a:t>
            </a:r>
            <a:r>
              <a:rPr lang="el-GR" sz="1200" dirty="0"/>
              <a:t>Δ</a:t>
            </a:r>
            <a:r>
              <a:rPr lang="en-US" sz="1200" dirty="0"/>
              <a:t>AG to HCO</a:t>
            </a:r>
            <a:r>
              <a:rPr lang="en-US" sz="1200" baseline="-25000" dirty="0"/>
              <a:t>3</a:t>
            </a:r>
            <a:r>
              <a:rPr lang="en-US" sz="1200" dirty="0"/>
              <a:t> of 7 = 19, which is still a metabolic acidosis.</a:t>
            </a:r>
          </a:p>
        </p:txBody>
      </p: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ED69BFC5-C71F-4D63-8623-E543444E892E}"/>
              </a:ext>
            </a:extLst>
          </p:cNvPr>
          <p:cNvGrpSpPr/>
          <p:nvPr/>
        </p:nvGrpSpPr>
        <p:grpSpPr>
          <a:xfrm>
            <a:off x="1774383" y="648542"/>
            <a:ext cx="5208987" cy="1470261"/>
            <a:chOff x="297650" y="658878"/>
            <a:chExt cx="5563628" cy="1470261"/>
          </a:xfrm>
        </p:grpSpPr>
        <p:grpSp>
          <p:nvGrpSpPr>
            <p:cNvPr id="167" name="Case 1 info">
              <a:extLst>
                <a:ext uri="{FF2B5EF4-FFF2-40B4-BE49-F238E27FC236}">
                  <a16:creationId xmlns:a16="http://schemas.microsoft.com/office/drawing/2014/main" id="{BCFA22E4-3D5A-4151-B5A5-2D97D25DFCB0}"/>
                </a:ext>
              </a:extLst>
            </p:cNvPr>
            <p:cNvGrpSpPr/>
            <p:nvPr/>
          </p:nvGrpSpPr>
          <p:grpSpPr>
            <a:xfrm>
              <a:off x="297650" y="658878"/>
              <a:ext cx="5563628" cy="1470261"/>
              <a:chOff x="255753" y="658878"/>
              <a:chExt cx="3502246" cy="1470261"/>
            </a:xfrm>
          </p:grpSpPr>
          <p:grpSp>
            <p:nvGrpSpPr>
              <p:cNvPr id="170" name="Case 1 info">
                <a:extLst>
                  <a:ext uri="{FF2B5EF4-FFF2-40B4-BE49-F238E27FC236}">
                    <a16:creationId xmlns:a16="http://schemas.microsoft.com/office/drawing/2014/main" id="{DE3A46D1-4C62-4A55-AC76-0847BD2A865D}"/>
                  </a:ext>
                </a:extLst>
              </p:cNvPr>
              <p:cNvGrpSpPr/>
              <p:nvPr/>
            </p:nvGrpSpPr>
            <p:grpSpPr>
              <a:xfrm>
                <a:off x="255753" y="658878"/>
                <a:ext cx="3502246" cy="1411088"/>
                <a:chOff x="163580" y="657992"/>
                <a:chExt cx="3502246" cy="1330469"/>
              </a:xfrm>
            </p:grpSpPr>
            <p:sp>
              <p:nvSpPr>
                <p:cNvPr id="172" name="Case 1 text">
                  <a:extLst>
                    <a:ext uri="{FF2B5EF4-FFF2-40B4-BE49-F238E27FC236}">
                      <a16:creationId xmlns:a16="http://schemas.microsoft.com/office/drawing/2014/main" id="{8ACA7893-E493-4CE9-9420-6DCE63FC4972}"/>
                    </a:ext>
                  </a:extLst>
                </p:cNvPr>
                <p:cNvSpPr txBox="1"/>
                <p:nvPr/>
              </p:nvSpPr>
              <p:spPr>
                <a:xfrm>
                  <a:off x="163580" y="657992"/>
                  <a:ext cx="3502246" cy="6964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/>
                    <a:t>72 </a:t>
                  </a:r>
                  <a:r>
                    <a:rPr lang="en-US" sz="1400" dirty="0" err="1"/>
                    <a:t>yo</a:t>
                  </a:r>
                  <a:r>
                    <a:rPr lang="en-US" sz="1400" dirty="0"/>
                    <a:t> F with RYGB presents with 3 d of shortness of breath, abdominal pain, nausea and diarrhea. She received IV morphine for her pain and became somnolent. An ABG showed: 6.98/41/58/10.</a:t>
                  </a:r>
                </a:p>
              </p:txBody>
            </p:sp>
            <p:grpSp>
              <p:nvGrpSpPr>
                <p:cNvPr id="173" name="Fishbone 1">
                  <a:extLst>
                    <a:ext uri="{FF2B5EF4-FFF2-40B4-BE49-F238E27FC236}">
                      <a16:creationId xmlns:a16="http://schemas.microsoft.com/office/drawing/2014/main" id="{79DD5702-5949-4999-9B6A-B9EB06DC48B4}"/>
                    </a:ext>
                  </a:extLst>
                </p:cNvPr>
                <p:cNvGrpSpPr/>
                <p:nvPr/>
              </p:nvGrpSpPr>
              <p:grpSpPr>
                <a:xfrm>
                  <a:off x="234579" y="1420086"/>
                  <a:ext cx="1140448" cy="568375"/>
                  <a:chOff x="180486" y="2183769"/>
                  <a:chExt cx="1140448" cy="568375"/>
                </a:xfrm>
              </p:grpSpPr>
              <p:grpSp>
                <p:nvGrpSpPr>
                  <p:cNvPr id="174" name="Fishbone">
                    <a:extLst>
                      <a:ext uri="{FF2B5EF4-FFF2-40B4-BE49-F238E27FC236}">
                        <a16:creationId xmlns:a16="http://schemas.microsoft.com/office/drawing/2014/main" id="{AD381D26-A0DA-45E7-A87B-37C751A003BC}"/>
                      </a:ext>
                    </a:extLst>
                  </p:cNvPr>
                  <p:cNvGrpSpPr/>
                  <p:nvPr/>
                </p:nvGrpSpPr>
                <p:grpSpPr>
                  <a:xfrm>
                    <a:off x="196757" y="2228345"/>
                    <a:ext cx="1124177" cy="459816"/>
                    <a:chOff x="416866" y="2429117"/>
                    <a:chExt cx="957633" cy="386663"/>
                  </a:xfrm>
                </p:grpSpPr>
                <p:cxnSp>
                  <p:nvCxnSpPr>
                    <p:cNvPr id="179" name="Straight Connector 178">
                      <a:extLst>
                        <a:ext uri="{FF2B5EF4-FFF2-40B4-BE49-F238E27FC236}">
                          <a16:creationId xmlns:a16="http://schemas.microsoft.com/office/drawing/2014/main" id="{03BF834C-1A53-4E91-924E-169C725628D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668464" y="2429118"/>
                      <a:ext cx="0" cy="386662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Straight Connector 179">
                      <a:extLst>
                        <a:ext uri="{FF2B5EF4-FFF2-40B4-BE49-F238E27FC236}">
                          <a16:creationId xmlns:a16="http://schemas.microsoft.com/office/drawing/2014/main" id="{824B8FBB-355F-4F74-87B4-BDC6A1FE9A6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881148" y="2429117"/>
                      <a:ext cx="0" cy="386661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Straight Connector 180">
                      <a:extLst>
                        <a:ext uri="{FF2B5EF4-FFF2-40B4-BE49-F238E27FC236}">
                          <a16:creationId xmlns:a16="http://schemas.microsoft.com/office/drawing/2014/main" id="{D1C94920-F181-4740-8C33-A3E3266CE05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416866" y="2617507"/>
                      <a:ext cx="693448" cy="7695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2" name="Straight Connector 181">
                      <a:extLst>
                        <a:ext uri="{FF2B5EF4-FFF2-40B4-BE49-F238E27FC236}">
                          <a16:creationId xmlns:a16="http://schemas.microsoft.com/office/drawing/2014/main" id="{DD186791-1491-49C9-858D-D09EA2649A83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1102792" y="2438474"/>
                      <a:ext cx="271707" cy="18288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3" name="Straight Connector 182">
                      <a:extLst>
                        <a:ext uri="{FF2B5EF4-FFF2-40B4-BE49-F238E27FC236}">
                          <a16:creationId xmlns:a16="http://schemas.microsoft.com/office/drawing/2014/main" id="{45BBB00F-C98F-422D-B0AB-212DC3CFB3F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05552" y="2621354"/>
                      <a:ext cx="256033" cy="18288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75" name="TextBox 174">
                    <a:extLst>
                      <a:ext uri="{FF2B5EF4-FFF2-40B4-BE49-F238E27FC236}">
                        <a16:creationId xmlns:a16="http://schemas.microsoft.com/office/drawing/2014/main" id="{942581F5-BD2D-4B41-999E-C6F130858D7F}"/>
                      </a:ext>
                    </a:extLst>
                  </p:cNvPr>
                  <p:cNvSpPr txBox="1"/>
                  <p:nvPr/>
                </p:nvSpPr>
                <p:spPr>
                  <a:xfrm>
                    <a:off x="180486" y="2183769"/>
                    <a:ext cx="325577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146</a:t>
                    </a:r>
                  </a:p>
                </p:txBody>
              </p:sp>
              <p:sp>
                <p:nvSpPr>
                  <p:cNvPr id="176" name="TextBox 175">
                    <a:extLst>
                      <a:ext uri="{FF2B5EF4-FFF2-40B4-BE49-F238E27FC236}">
                        <a16:creationId xmlns:a16="http://schemas.microsoft.com/office/drawing/2014/main" id="{28FB2E2E-CE44-4034-A5B4-B9661A076E90}"/>
                      </a:ext>
                    </a:extLst>
                  </p:cNvPr>
                  <p:cNvSpPr txBox="1"/>
                  <p:nvPr/>
                </p:nvSpPr>
                <p:spPr>
                  <a:xfrm>
                    <a:off x="471187" y="2185913"/>
                    <a:ext cx="326272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121</a:t>
                    </a:r>
                  </a:p>
                </p:txBody>
              </p:sp>
              <p:sp>
                <p:nvSpPr>
                  <p:cNvPr id="177" name="TextBox 176">
                    <a:extLst>
                      <a:ext uri="{FF2B5EF4-FFF2-40B4-BE49-F238E27FC236}">
                        <a16:creationId xmlns:a16="http://schemas.microsoft.com/office/drawing/2014/main" id="{8820899C-A18E-45FE-A439-7DDEF902438C}"/>
                      </a:ext>
                    </a:extLst>
                  </p:cNvPr>
                  <p:cNvSpPr txBox="1"/>
                  <p:nvPr/>
                </p:nvSpPr>
                <p:spPr>
                  <a:xfrm>
                    <a:off x="729161" y="2452551"/>
                    <a:ext cx="281643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1.0</a:t>
                    </a:r>
                  </a:p>
                </p:txBody>
              </p:sp>
              <p:sp>
                <p:nvSpPr>
                  <p:cNvPr id="178" name="TextBox 177">
                    <a:extLst>
                      <a:ext uri="{FF2B5EF4-FFF2-40B4-BE49-F238E27FC236}">
                        <a16:creationId xmlns:a16="http://schemas.microsoft.com/office/drawing/2014/main" id="{87E092AC-4C36-43E4-A426-A9A597016654}"/>
                      </a:ext>
                    </a:extLst>
                  </p:cNvPr>
                  <p:cNvSpPr txBox="1"/>
                  <p:nvPr/>
                </p:nvSpPr>
                <p:spPr>
                  <a:xfrm>
                    <a:off x="504437" y="2461951"/>
                    <a:ext cx="265418" cy="290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dirty="0"/>
                      <a:t>7</a:t>
                    </a:r>
                  </a:p>
                </p:txBody>
              </p:sp>
            </p:grpSp>
          </p:grpSp>
          <p:sp>
            <p:nvSpPr>
              <p:cNvPr id="171" name="TextBox 170">
                <a:extLst>
                  <a:ext uri="{FF2B5EF4-FFF2-40B4-BE49-F238E27FC236}">
                    <a16:creationId xmlns:a16="http://schemas.microsoft.com/office/drawing/2014/main" id="{6F60B086-99D8-4335-AFC2-9689937F5B54}"/>
                  </a:ext>
                </a:extLst>
              </p:cNvPr>
              <p:cNvSpPr txBox="1"/>
              <p:nvPr/>
            </p:nvSpPr>
            <p:spPr>
              <a:xfrm>
                <a:off x="1576367" y="1390475"/>
                <a:ext cx="1786674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Lipase 3290	         Lactate 2.7</a:t>
                </a:r>
              </a:p>
              <a:p>
                <a:r>
                  <a:rPr lang="en-US" sz="1400" dirty="0"/>
                  <a:t>Albumin 2.1</a:t>
                </a:r>
              </a:p>
              <a:p>
                <a:r>
                  <a:rPr lang="en-US" sz="1400" dirty="0"/>
                  <a:t>Urine: + ketones</a:t>
                </a:r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7063C0DE-8A6F-4113-A3D1-F54271ADC9ED}"/>
                </a:ext>
              </a:extLst>
            </p:cNvPr>
            <p:cNvSpPr txBox="1"/>
            <p:nvPr/>
          </p:nvSpPr>
          <p:spPr>
            <a:xfrm>
              <a:off x="1819992" y="1593458"/>
              <a:ext cx="5156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98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0AA11B4B-65BB-4146-B3A8-37B434758AD0}"/>
                </a:ext>
              </a:extLst>
            </p:cNvPr>
            <p:cNvSpPr txBox="1"/>
            <p:nvPr/>
          </p:nvSpPr>
          <p:spPr>
            <a:xfrm>
              <a:off x="1299346" y="1463608"/>
              <a:ext cx="40580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18</a:t>
              </a:r>
            </a:p>
          </p:txBody>
        </p:sp>
      </p:grpSp>
      <p:pic>
        <p:nvPicPr>
          <p:cNvPr id="184" name="Graphic 183" descr="Cursor with solid fill">
            <a:extLst>
              <a:ext uri="{FF2B5EF4-FFF2-40B4-BE49-F238E27FC236}">
                <a16:creationId xmlns:a16="http://schemas.microsoft.com/office/drawing/2014/main" id="{43BE16EF-561B-4C78-ADDA-8BF7518392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97163" y="445205"/>
            <a:ext cx="274320" cy="27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8289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2"/>
                  </p:tgtEl>
                </p:cond>
              </p:nextCondLst>
            </p:seq>
            <p:seq concurrent="1" nextAc="seek">
              <p:cTn id="21" restart="whenNotActive" fill="hold" evtFilter="cancelBubble" nodeType="interactiveSeq">
                <p:stCondLst>
                  <p:cond evt="onClick" delay="0">
                    <p:tgtEl>
                      <p:spTgt spid="10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8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0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9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1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0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1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2"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1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8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15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3"/>
                  </p:tgtEl>
                </p:cond>
              </p:nextCondLst>
            </p:seq>
            <p:seq concurrent="1" nextAc="seek">
              <p:cTn id="70" restart="whenNotActive" fill="hold" evtFilter="cancelBubble" nodeType="interactiveSeq">
                <p:stCondLst>
                  <p:cond evt="onClick" delay="0">
                    <p:tgtEl>
                      <p:spTgt spid="1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1" fill="hold">
                      <p:stCondLst>
                        <p:cond delay="0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4"/>
                  </p:tgtEl>
                </p:cond>
              </p:nextCondLst>
            </p:seq>
            <p:seq concurrent="1" nextAc="seek">
              <p:cTn id="75" restart="whenNotActive" fill="hold" evtFilter="cancelBubble" nodeType="interactiveSeq">
                <p:stCondLst>
                  <p:cond evt="onClick" delay="0">
                    <p:tgtEl>
                      <p:spTgt spid="1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6" fill="hold">
                      <p:stCondLst>
                        <p:cond delay="0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5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5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6"/>
                  </p:tgtEl>
                </p:cond>
              </p:nextCondLst>
            </p:seq>
            <p:seq concurrent="1" nextAc="seek">
              <p:cTn id="85" restart="whenNotActive" fill="hold" evtFilter="cancelBubble" nodeType="interactiveSeq">
                <p:stCondLst>
                  <p:cond evt="onClick" delay="0">
                    <p:tgtEl>
                      <p:spTgt spid="15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6" fill="hold">
                      <p:stCondLst>
                        <p:cond delay="0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7"/>
                  </p:tgtEl>
                </p:cond>
              </p:nextCondLst>
            </p:seq>
            <p:seq concurrent="1" nextAc="seek">
              <p:cTn id="90" restart="whenNotActive" fill="hold" evtFilter="cancelBubble" nodeType="interactiveSeq">
                <p:stCondLst>
                  <p:cond evt="onClick" delay="0">
                    <p:tgtEl>
                      <p:spTgt spid="16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1" fill="hold">
                      <p:stCondLst>
                        <p:cond delay="0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2"/>
                  </p:tgtEl>
                </p:cond>
              </p:nextCondLst>
            </p:seq>
            <p:seq concurrent="1" nextAc="seek">
              <p:cTn id="95" restart="whenNotActive" fill="hold" evtFilter="cancelBubble" nodeType="interactiveSeq">
                <p:stCondLst>
                  <p:cond evt="onClick" delay="0">
                    <p:tgtEl>
                      <p:spTgt spid="16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6" fill="hold">
                      <p:stCondLst>
                        <p:cond delay="0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4"/>
                  </p:tgtEl>
                </p:cond>
              </p:nextCondLst>
            </p:seq>
          </p:childTnLst>
        </p:cTn>
      </p:par>
    </p:tnLst>
    <p:bldLst>
      <p:bldP spid="108" grpId="0" animBg="1"/>
      <p:bldP spid="109" grpId="0" animBg="1"/>
      <p:bldP spid="110" grpId="0" animBg="1"/>
      <p:bldP spid="111" grpId="0" animBg="1"/>
      <p:bldP spid="112" grpId="0" animBg="1"/>
      <p:bldP spid="113" grpId="0" animBg="1"/>
      <p:bldP spid="114" grpId="0" animBg="1"/>
      <p:bldP spid="115" grpId="0" animBg="1"/>
      <p:bldP spid="116" grpId="0" animBg="1"/>
      <p:bldP spid="117" grpId="0" animBg="1"/>
      <p:bldP spid="118" grpId="0" animBg="1"/>
      <p:bldP spid="119" grpId="0" animBg="1"/>
      <p:bldP spid="154" grpId="0" animBg="1"/>
      <p:bldP spid="155" grpId="0" animBg="1"/>
      <p:bldP spid="156" grpId="0" animBg="1"/>
      <p:bldP spid="157" grpId="0" animBg="1"/>
      <p:bldP spid="158" grpId="0" animBg="1"/>
      <p:bldP spid="159" grpId="0" animBg="1"/>
      <p:bldP spid="160" grpId="0" animBg="1"/>
      <p:bldP spid="161" grpId="0" animBg="1"/>
      <p:bldP spid="162" grpId="0" animBg="1"/>
      <p:bldP spid="163" grpId="0" animBg="1"/>
      <p:bldP spid="164" grpId="0" animBg="1"/>
      <p:bldP spid="165" grpId="0" animBg="1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Take-Home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latin typeface="Calibri"/>
              </a:rPr>
              <a:t>1. Read every ABG the same way: (1) pH — acidemic, alkalemic, or normal; (2) primary process — match pH with PCO2 (resp) and HCO3 (metabolic); a normal pH with deranged PCO2/HCO3 means a mixed disorder.</a:t>
            </a:r>
          </a:p>
          <a:p>
            <a:r>
              <a:rPr sz="1500">
                <a:latin typeface="Calibri"/>
              </a:rPr>
              <a:t>2. Calculate an anion gap in EVERY patient, whatever the primary process: AG = Na − (Cl + HCO3); expected AG ≈ 2.5 × albumin. An AGMA can hide behind any primary disorder.</a:t>
            </a:r>
          </a:p>
          <a:p>
            <a:r>
              <a:rPr sz="1500">
                <a:latin typeface="Calibri"/>
              </a:rPr>
              <a:t>3. If AGMA: do the delta-delta ("residual HCO3"): add (measured AG − expected AG) back to the HCO3 — high → concurrent metabolic alkalosis; low → concurrent NAGMA; normal → pure AGMA.</a:t>
            </a:r>
          </a:p>
          <a:p>
            <a:r>
              <a:rPr sz="1500">
                <a:latin typeface="Calibri"/>
              </a:rPr>
              <a:t>4. Compensation moves PCO2 and HCO3 in the SAME direction; respiratory compensation is fast (minutes), metabolic slow (2–3 days); it never overshoots or fully normalizes pH. Metabolic acidosis → Winter’s formula: PCO2 = 1.5×HCO3 + 8 (≈ last two digits of pH).</a:t>
            </a:r>
          </a:p>
          <a:p>
            <a:r>
              <a:rPr sz="1500">
                <a:latin typeface="Calibri"/>
              </a:rPr>
              <a:t>5. Inadequate or excessive "compensation" = a second primary process. Mismatch between measured and expected values is a diagnosis, not a rounding error.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"/>
          </a:xfrm>
          <a:prstGeom prst="rect">
            <a:avLst/>
          </a:prstGeom>
          <a:solidFill>
            <a:srgbClr val="0E6E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Attribution &amp; Changelog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00000"/>
            <a:ext cx="11277600" cy="57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Original</a:t>
            </a:r>
          </a:p>
          <a:p>
            <a:r>
              <a:rPr sz="1300">
                <a:latin typeface="Calibri"/>
              </a:rPr>
              <a:t>"Acid Base Disorders" — TeachIM.org (Mar 2021). Author: Yilin Zhang MD; initial expert review Andy Luks MD (Pulm/ICU, UW). https://teachim.org/teaching_material/acid-base-disorders/ — CC BY-NC 4.0 (educational, non-commercial use).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Corrections in this optimized copy (June 2026) — applied to BOTH boards</a:t>
            </a:r>
          </a:p>
          <a:p>
            <a:pPr lvl="1"/>
            <a:r>
              <a:rPr sz="1300">
                <a:latin typeface="Calibri"/>
              </a:rPr>
              <a:t>Basic-cases slide, bottom-right case (↑pH/↓PCO2/↑HCO3): "Concurrent metabolic and respiratory acidosis" → "...alkalosis" (label contradicted the case’s own arrows).</a:t>
            </a:r>
          </a:p>
          <a:p>
            <a:pPr lvl="1"/>
            <a:r>
              <a:rPr sz="1300">
                <a:latin typeface="Calibri"/>
              </a:rPr>
              <a:t>Case 5: "ΔAG = 19 − expected AG" → "= 18" (the slide’s own AG = 146 − (121+7) = 18; ΔAG 12 unchanged).</a:t>
            </a:r>
          </a:p>
          <a:p>
            <a:pPr lvl="1"/>
            <a:r>
              <a:rPr sz="1300">
                <a:latin typeface="Calibri"/>
              </a:rPr>
              <a:t>Case 4: "24 yo M ... her RR" → "his RR" (pronoun/sex mismatch; flagged for author review).</a:t>
            </a:r>
          </a:p>
          <a:p>
            <a:pPr lvl="1"/>
            <a:r>
              <a:rPr sz="1300">
                <a:latin typeface="Calibri"/>
              </a:rPr>
              <a:t>Appended slides only — all original slides, graphics, and click-to-reveal animations preserved on both boards.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Currency</a:t>
            </a:r>
          </a:p>
          <a:p>
            <a:r>
              <a:rPr sz="1300">
                <a:latin typeface="Calibri"/>
              </a:rPr>
              <a:t>Framework verified June 2026: stepwise interpretation, AG with albumin correction (expected ≈ 2.5 × albumin), delta-delta, and Winter’s formula remain standard teaching — no guideline changes to incorporate.</a:t>
            </a:r>
          </a:p>
          <a:p>
            <a:pPr>
              <a:spcBef>
                <a:spcPts val="800"/>
              </a:spcBef>
            </a:pPr>
            <a:r>
              <a:rPr sz="1500" b="1">
                <a:solidFill>
                  <a:srgbClr val="B4530A"/>
                </a:solidFill>
                <a:latin typeface="Calibri"/>
              </a:rPr>
              <a:t>Companion files</a:t>
            </a:r>
          </a:p>
          <a:p>
            <a:r>
              <a:rPr sz="1300">
                <a:latin typeface="Calibri"/>
              </a:rPr>
              <a:t>ABG-Learner.pptx (corrected) · Acid-Base-Worksheet.docx · Acid_Base_Lesson_Package.html · Acid_Base_OnePager.pdf · Acid_Base_Anki_Cards.txt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17613</TotalTime>
  <Words>2021</Words>
  <Application>Microsoft Office PowerPoint</Application>
  <PresentationFormat>Widescreen</PresentationFormat>
  <Paragraphs>441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Yilin Zhang</dc:creator>
  <cp:lastModifiedBy>Yilin Zhang</cp:lastModifiedBy>
  <cp:revision>115</cp:revision>
  <dcterms:created xsi:type="dcterms:W3CDTF">2020-05-30T05:38:10Z</dcterms:created>
  <dcterms:modified xsi:type="dcterms:W3CDTF">2021-03-17T21:41:29Z</dcterms:modified>
</cp:coreProperties>
</file>