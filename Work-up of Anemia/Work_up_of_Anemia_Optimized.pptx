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tmp" ContentType="image/png"/>
  <Override PartName="/ppt/media/image13.tmp" ContentType="image/png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72" r:id="rId5"/>
    <p:sldId id="278" r:id="rId6"/>
    <p:sldId id="277" r:id="rId7"/>
    <p:sldId id="279" r:id="rId8"/>
    <p:sldId id="270" r:id="rId9"/>
    <p:sldId id="265" r:id="rId10"/>
    <p:sldId id="271" r:id="rId11"/>
    <p:sldId id="282" r:id="rId12"/>
    <p:sldId id="268" r:id="rId13"/>
    <p:sldId id="283" r:id="rId14"/>
    <p:sldId id="284" r:id="rId3"/>
    <p:sldId id="285" r:id="rId2"/>
    <p:sldId id="286" r:id="rId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6F2971"/>
    <a:srgbClr val="C01AB0"/>
    <a:srgbClr val="903089"/>
    <a:srgbClr val="993300"/>
    <a:srgbClr val="FFFFFF"/>
    <a:srgbClr val="3366FF"/>
    <a:srgbClr val="F9705D"/>
    <a:srgbClr val="E92409"/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168" autoAdjust="0"/>
  </p:normalViewPr>
  <p:slideViewPr>
    <p:cSldViewPr snapToGrid="0">
      <p:cViewPr varScale="1">
        <p:scale>
          <a:sx n="84" d="100"/>
          <a:sy n="84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" Target="slides/slide13.xml"/><Relationship Id="rId2" Type="http://schemas.openxmlformats.org/officeDocument/2006/relationships/slide" Target="slides/slide12.xml"/><Relationship Id="rId3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81E9EBB-DE0E-4DD7-AE36-091618CB63F6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DF70A77-6DAE-4665-8CB1-033F4FB6A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38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hyperlink" Target="https://link.springer.com/chapter/10.1007/978-3-319-30352-9_13" TargetMode="Externa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Relationship Id="rId3" Type="http://schemas.openxmlformats.org/officeDocument/2006/relationships/hyperlink" Target="https://link.springer.com/chapter/10.1007/978-3-319-30352-9_13" TargetMode="Externa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Relationship Id="rId3" Type="http://schemas.openxmlformats.org/officeDocument/2006/relationships/hyperlink" Target="https://link.springer.com/chapter/10.1007/978-3-319-30352-9_13" TargetMode="Externa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Relationship Id="rId3" Type="http://schemas.openxmlformats.org/officeDocument/2006/relationships/hyperlink" Target="https://imagebank.hematology.org/image/61458/rouleaux-in-a-peripheral-smear-multiple-myeloma" TargetMode="Externa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Relationship Id="rId3" Type="http://schemas.openxmlformats.org/officeDocument/2006/relationships/hyperlink" Target="https://imagebank.hematology.org/image/61458/rouleaux-in-a-peripheral-smear-multiple-myeloma" TargetMode="Externa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Relationship Id="rId3" Type="http://schemas.openxmlformats.org/officeDocument/2006/relationships/hyperlink" Target="https://link.springer.com/chapter/10.1007/978-3-319-30352-9_13" TargetMode="Externa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Relationship Id="rId3" Type="http://schemas.openxmlformats.org/officeDocument/2006/relationships/hyperlink" Target="https://link.springer.com/chapter/10.1007/978-3-319-30352-9_13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Sideroblastic anemia picture: </a:t>
            </a:r>
            <a:r>
              <a:rPr lang="en-US" dirty="0">
                <a:hlinkClick r:id="rId3"/>
              </a:rPr>
              <a:t>https://link.springer.com/chapter/10.1007/978-3-319-30352-9_13</a:t>
            </a:r>
            <a:endParaRPr lang="en-US" dirty="0"/>
          </a:p>
          <a:p>
            <a:r>
              <a:rPr lang="en-US" dirty="0"/>
              <a:t>Werner EJ &amp; Villella, AD. Sideroblastic Anemias: Diagnosis and management. In Nonmalignant Hematology. Pp 125-135. </a:t>
            </a:r>
            <a:endParaRPr lang="en-US" dirty="0">
              <a:cs typeface="Calibri"/>
            </a:endParaRPr>
          </a:p>
          <a:p>
            <a:endParaRPr lang="en-US" dirty="0"/>
          </a:p>
          <a:p>
            <a:pPr>
              <a:defRPr/>
            </a:pPr>
            <a:r>
              <a:rPr lang="en-US" b="1" dirty="0">
                <a:sym typeface="Wingdings" panose="05000000000000000000" pitchFamily="2" charset="2"/>
              </a:rPr>
              <a:t>Red Cell Distribution Width (RDW) </a:t>
            </a:r>
            <a:r>
              <a:rPr lang="en-US" dirty="0">
                <a:sym typeface="Wingdings" panose="05000000000000000000" pitchFamily="2" charset="2"/>
              </a:rPr>
              <a:t>measures variability in RBC size. </a:t>
            </a:r>
            <a:r>
              <a:rPr lang="en-US" dirty="0"/>
              <a:t>A </a:t>
            </a:r>
            <a:r>
              <a:rPr lang="en-US" dirty="0">
                <a:sym typeface="Wingdings" panose="05000000000000000000" pitchFamily="2" charset="2"/>
              </a:rPr>
              <a:t> RDW indicates a uniform population of RBCs.  </a:t>
            </a:r>
          </a:p>
          <a:p>
            <a:pPr defTabSz="931774">
              <a:defRPr/>
            </a:pP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Microcytosis – heme or globin problem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70A77-6DAE-4665-8CB1-033F4FB6A9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29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Sideroblastic anemia picture: </a:t>
            </a:r>
            <a:r>
              <a:rPr lang="en-US" dirty="0">
                <a:hlinkClick r:id="rId3"/>
              </a:rPr>
              <a:t>https://link.springer.com/chapter/10.1007/978-3-319-30352-9_13</a:t>
            </a:r>
            <a:endParaRPr lang="en-US" dirty="0"/>
          </a:p>
          <a:p>
            <a:r>
              <a:rPr lang="en-US" dirty="0"/>
              <a:t>Werner EJ &amp; Villella, AD. Sideroblastic Anemias: Diagnosis and management. In Nonmalignant Hematology. Pp 125-135. </a:t>
            </a:r>
            <a:endParaRPr lang="en-US" dirty="0">
              <a:cs typeface="Calibri"/>
            </a:endParaRPr>
          </a:p>
          <a:p>
            <a:endParaRPr lang="en-US" dirty="0"/>
          </a:p>
          <a:p>
            <a:pPr>
              <a:defRPr/>
            </a:pPr>
            <a:r>
              <a:rPr lang="en-US" b="1" dirty="0">
                <a:sym typeface="Wingdings" panose="05000000000000000000" pitchFamily="2" charset="2"/>
              </a:rPr>
              <a:t>Red Cell Distribution Width (RDW) </a:t>
            </a:r>
            <a:r>
              <a:rPr lang="en-US" dirty="0">
                <a:sym typeface="Wingdings" panose="05000000000000000000" pitchFamily="2" charset="2"/>
              </a:rPr>
              <a:t>measures variability in RBC size. </a:t>
            </a:r>
            <a:r>
              <a:rPr lang="en-US" dirty="0"/>
              <a:t>A </a:t>
            </a:r>
            <a:r>
              <a:rPr lang="en-US" dirty="0">
                <a:sym typeface="Wingdings" panose="05000000000000000000" pitchFamily="2" charset="2"/>
              </a:rPr>
              <a:t> RDW indicates a uniform population of RBCs.  </a:t>
            </a:r>
          </a:p>
          <a:p>
            <a:pPr defTabSz="931774">
              <a:defRPr/>
            </a:pP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Microcytosis – heme or globin problem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70A77-6DAE-4665-8CB1-033F4FB6A9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12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Sideroblastic anemia picture: </a:t>
            </a:r>
            <a:r>
              <a:rPr lang="en-US" dirty="0">
                <a:hlinkClick r:id="rId3"/>
              </a:rPr>
              <a:t>https://link.springer.com/chapter/10.1007/978-3-319-30352-9_13</a:t>
            </a:r>
            <a:endParaRPr lang="en-US" dirty="0"/>
          </a:p>
          <a:p>
            <a:r>
              <a:rPr lang="en-US" dirty="0"/>
              <a:t>Werner EJ &amp; Villella, AD. Sideroblastic Anemias: Diagnosis and management. In Nonmalignant Hematology. Pp 125-135. </a:t>
            </a:r>
            <a:endParaRPr lang="en-US" dirty="0">
              <a:cs typeface="Calibri"/>
            </a:endParaRPr>
          </a:p>
          <a:p>
            <a:endParaRPr lang="en-US" dirty="0"/>
          </a:p>
          <a:p>
            <a:pPr>
              <a:defRPr/>
            </a:pPr>
            <a:r>
              <a:rPr lang="en-US" b="1" dirty="0">
                <a:sym typeface="Wingdings" panose="05000000000000000000" pitchFamily="2" charset="2"/>
              </a:rPr>
              <a:t>Red Cell Distribution Width (RDW) </a:t>
            </a:r>
            <a:r>
              <a:rPr lang="en-US" dirty="0">
                <a:sym typeface="Wingdings" panose="05000000000000000000" pitchFamily="2" charset="2"/>
              </a:rPr>
              <a:t>measures variability in RBC size. </a:t>
            </a:r>
            <a:r>
              <a:rPr lang="en-US" dirty="0"/>
              <a:t>A </a:t>
            </a:r>
            <a:r>
              <a:rPr lang="en-US" dirty="0">
                <a:sym typeface="Wingdings" panose="05000000000000000000" pitchFamily="2" charset="2"/>
              </a:rPr>
              <a:t> RDW indicates a uniform population of RBCs.  </a:t>
            </a:r>
          </a:p>
          <a:p>
            <a:pPr defTabSz="931774">
              <a:defRPr/>
            </a:pP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Microcytosis – heme or globin problem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70A77-6DAE-4665-8CB1-033F4FB6A9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7270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Weiss G, et al. Anemia of inflammation. Blood. 2019. 133 (1): 40-50.</a:t>
            </a:r>
          </a:p>
          <a:p>
            <a:r>
              <a:rPr lang="en-US" dirty="0" err="1"/>
              <a:t>Camaschella</a:t>
            </a:r>
            <a:r>
              <a:rPr lang="en-US" dirty="0"/>
              <a:t> C. Iron deficiency. Blood. 2019. 133(1): 30-39. </a:t>
            </a:r>
          </a:p>
          <a:p>
            <a:endParaRPr lang="en-US" dirty="0"/>
          </a:p>
          <a:p>
            <a:r>
              <a:rPr lang="en-US" b="0" i="0" dirty="0" err="1">
                <a:solidFill>
                  <a:srgbClr val="232323"/>
                </a:solidFill>
                <a:effectLst/>
                <a:latin typeface="Noto Sans" panose="020B0502040504020204" pitchFamily="34" charset="0"/>
              </a:rPr>
              <a:t>nlike</a:t>
            </a:r>
            <a:r>
              <a:rPr lang="en-US" b="0" i="0" dirty="0">
                <a:solidFill>
                  <a:srgbClr val="232323"/>
                </a:solidFill>
                <a:effectLst/>
                <a:latin typeface="Noto Sans" panose="020B0502040504020204" pitchFamily="34" charset="0"/>
              </a:rPr>
              <a:t> ACD/AI,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70A77-6DAE-4665-8CB1-033F4FB6A9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9542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Packman, CH. The Clinical Pictures of Autoimmune Hemolytic Anemia. </a:t>
            </a:r>
            <a:r>
              <a:rPr lang="en-US" dirty="0" err="1"/>
              <a:t>Transfus</a:t>
            </a:r>
            <a:r>
              <a:rPr lang="en-US" dirty="0"/>
              <a:t> Med </a:t>
            </a:r>
            <a:r>
              <a:rPr lang="en-US" dirty="0" err="1"/>
              <a:t>Hemother</a:t>
            </a:r>
            <a:r>
              <a:rPr lang="en-US" dirty="0"/>
              <a:t>. 2015. 42 (5):317-325.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70A77-6DAE-4665-8CB1-033F4FB6A9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38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Packman, CH. The Clinical Pictures of Autoimmune Hemolytic Anemia. </a:t>
            </a:r>
            <a:r>
              <a:rPr lang="en-US" dirty="0" err="1"/>
              <a:t>Transfus</a:t>
            </a:r>
            <a:r>
              <a:rPr lang="en-US" dirty="0"/>
              <a:t> Med </a:t>
            </a:r>
            <a:r>
              <a:rPr lang="en-US" dirty="0" err="1"/>
              <a:t>Hemother</a:t>
            </a:r>
            <a:r>
              <a:rPr lang="en-US" dirty="0"/>
              <a:t>. 2015. 42 (5):317-325. </a:t>
            </a:r>
          </a:p>
          <a:p>
            <a:endParaRPr lang="en-US" dirty="0"/>
          </a:p>
          <a:p>
            <a:r>
              <a:rPr lang="en-US" dirty="0"/>
              <a:t>Image from Kawakami, D. Massive Hemolysis due to Clostridium perfringens infection. Intensive Care medicine. 2020. 46, 122. https://doi.org/10.1007/s00134-019-05739-2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70A77-6DAE-4665-8CB1-033F4FB6A9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998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Rouleaux from: </a:t>
            </a:r>
            <a:r>
              <a:rPr lang="en-US" dirty="0">
                <a:hlinkClick r:id="rId3"/>
              </a:rPr>
              <a:t>https://imagebank.hematology.org/image/61458/rouleaux-in-a-peripheral-smear-multiple-myeloma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70A77-6DAE-4665-8CB1-033F4FB6A9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4767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Rouleaux from: </a:t>
            </a:r>
            <a:r>
              <a:rPr lang="en-US" dirty="0">
                <a:hlinkClick r:id="rId3"/>
              </a:rPr>
              <a:t>https://imagebank.hematology.org/image/61458/rouleaux-in-a-peripheral-smear-multiple-myeloma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70A77-6DAE-4665-8CB1-033F4FB6A93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3253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Sideroblastic anemia picture: </a:t>
            </a:r>
            <a:r>
              <a:rPr lang="en-US">
                <a:hlinkClick r:id="rId3"/>
              </a:rPr>
              <a:t>https://link.springer.com/chapter/10.1007/978-3-319-30352-9_13</a:t>
            </a:r>
            <a:endParaRPr lang="en-US"/>
          </a:p>
          <a:p>
            <a:r>
              <a:rPr lang="en-US"/>
              <a:t>Werner EJ &amp; Villella, AD. Sideroblastic Anemias: Diagnosis and management. In Nonmalignant Hematology. Pp 125-135. </a:t>
            </a:r>
          </a:p>
          <a:p>
            <a:endParaRPr lang="en-US"/>
          </a:p>
          <a:p>
            <a:pPr defTabSz="931774">
              <a:defRPr/>
            </a:pPr>
            <a:r>
              <a:rPr lang="en-US" b="1">
                <a:sym typeface="Wingdings" panose="05000000000000000000" pitchFamily="2" charset="2"/>
              </a:rPr>
              <a:t>Red Cell Distribution Width (RDW) </a:t>
            </a:r>
            <a:r>
              <a:rPr lang="en-US">
                <a:sym typeface="Wingdings" panose="05000000000000000000" pitchFamily="2" charset="2"/>
              </a:rPr>
              <a:t>measures variability in RBC size. </a:t>
            </a:r>
            <a:r>
              <a:rPr lang="en-US"/>
              <a:t>A </a:t>
            </a:r>
            <a:r>
              <a:rPr lang="en-US">
                <a:sym typeface="Wingdings" panose="05000000000000000000" pitchFamily="2" charset="2"/>
              </a:rPr>
              <a:t> RDW indicates a uniform population of RBCs.  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70A77-6DAE-4665-8CB1-033F4FB6A93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904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Sideroblastic anemia picture: </a:t>
            </a:r>
            <a:r>
              <a:rPr lang="en-US" dirty="0">
                <a:hlinkClick r:id="rId3"/>
              </a:rPr>
              <a:t>https://link.springer.com/chapter/10.1007/978-3-319-30352-9_13</a:t>
            </a:r>
            <a:endParaRPr lang="en-US" dirty="0"/>
          </a:p>
          <a:p>
            <a:r>
              <a:rPr lang="en-US" dirty="0"/>
              <a:t>Werner EJ &amp; Villella, AD. Sideroblastic Anemias: Diagnosis and management. In Nonmalignant Hematology. Pp 125-135. </a:t>
            </a:r>
          </a:p>
          <a:p>
            <a:endParaRPr lang="en-US" dirty="0"/>
          </a:p>
          <a:p>
            <a:pPr defTabSz="931774">
              <a:defRPr/>
            </a:pPr>
            <a:r>
              <a:rPr lang="en-US" b="1" dirty="0">
                <a:sym typeface="Wingdings" panose="05000000000000000000" pitchFamily="2" charset="2"/>
              </a:rPr>
              <a:t>Red Cell Distribution Width (RDW) </a:t>
            </a:r>
            <a:r>
              <a:rPr lang="en-US" dirty="0">
                <a:sym typeface="Wingdings" panose="05000000000000000000" pitchFamily="2" charset="2"/>
              </a:rPr>
              <a:t>measures variability in RBC size. </a:t>
            </a:r>
            <a:r>
              <a:rPr lang="en-US" dirty="0"/>
              <a:t>A </a:t>
            </a:r>
            <a:r>
              <a:rPr lang="en-US" dirty="0">
                <a:sym typeface="Wingdings" panose="05000000000000000000" pitchFamily="2" charset="2"/>
              </a:rPr>
              <a:t> RDW indicates a uniform population of RBCs. 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70A77-6DAE-4665-8CB1-033F4FB6A93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79808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AD5AB-CD50-424F-A5B4-A5A2FFDAD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81F724-9E5F-4B81-9F80-F1FA2FE0F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1D8CC-94DB-4C74-B1D2-8A12C9AC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EC65-5E04-4342-878F-5F7929486D11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A16AF-3647-4520-B5DB-C6BBD9BD7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05F07-015D-43A6-BD3B-14A5668D6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656EF-8429-41F6-ACBF-01D1DA99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86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03220-94EE-4D2A-AAB9-F994C784C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39B23-2D47-4D38-B9B6-22AAE7DE5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C4C35-238F-43F9-912A-16D16D38C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EC65-5E04-4342-878F-5F7929486D11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43288-CD68-49D2-A35E-7E08DB436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71F1B-0F37-439F-B277-08F33C11E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656EF-8429-41F6-ACBF-01D1DA99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771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7F994-A29A-403F-BE78-08C7461B0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22E28-940D-4D84-AC50-63513FCB3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54863-40C8-4156-8CDE-EF29C47A3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EC65-5E04-4342-878F-5F7929486D11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5F61B-D05F-470B-8F73-3290A77F3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CC8B5-42EE-4E7E-91D6-EB199357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656EF-8429-41F6-ACBF-01D1DA99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13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AD238-3E19-4C4F-9B31-9BD3C9AE4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D2A43-9C87-4789-93C5-A76182BF94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1B452A-0D6D-4C5C-B011-EF9ECFEC0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FCDC80-A5EF-43F1-89DB-1A4A59485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EC65-5E04-4342-878F-5F7929486D11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62BFC-F7F9-47A6-B78E-DE8ECABE0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DD439F-FB6D-43CB-99F8-EBE7B41DE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656EF-8429-41F6-ACBF-01D1DA99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682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8BB8E-AD68-4B8A-B644-21EF10C71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1E3C4-142B-4AEF-A7DC-0B39008CA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750212-2234-4AE8-940B-1B4CAB9B2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D06593-2EDB-4AFA-9A09-FB2DDF425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B29CB-2BAA-4C69-94DC-15C63AF669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4B576-E736-4B50-B55F-16F21D999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EC65-5E04-4342-878F-5F7929486D11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98ED3F-058E-4340-AE32-732D648D9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AC55D-A6D9-404E-8B65-5A07719E4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656EF-8429-41F6-ACBF-01D1DA99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148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1BCC6-010C-47E7-A2EA-D4BA739F3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E5EEB0-23E5-4FA7-A34F-7488ADE51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EC65-5E04-4342-878F-5F7929486D11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45EC05-0FB4-455D-9A8B-FF2CDB776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9ED96-4CB3-4E2C-8979-7B0534703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656EF-8429-41F6-ACBF-01D1DA99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043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26F00F-D0F2-48F1-8B3D-E76E2ACC7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EC65-5E04-4342-878F-5F7929486D11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DC4D06-7C78-4B7D-BC5F-B73C6B141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E3F94-23B9-4864-81C0-FEC30DCC0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656EF-8429-41F6-ACBF-01D1DA99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524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E53E3-E834-4418-A6CB-FC22F8243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0E0F3-AA73-4077-B773-52D7354CD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4CE7D-659A-4B65-875F-67FFFCEA8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37C42-BC40-4853-B581-85B462F9B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EC65-5E04-4342-878F-5F7929486D11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C8E64-ABD1-453D-9FBD-A82365CC7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C0548-F571-47C9-9495-C5AB6401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656EF-8429-41F6-ACBF-01D1DA99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75657-E77F-455A-A5F0-25F726B7A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DF4325-2E2A-4BDC-B44A-41E49DC7DB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9DA43-B62F-4A18-A626-8601E985F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4475B-A946-4B7E-B6C9-D88EB9753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EC65-5E04-4342-878F-5F7929486D11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8E007-EBEB-4963-9CB9-54DD4201F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58E26-B054-4881-9AE4-69D7A911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656EF-8429-41F6-ACBF-01D1DA99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35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14E15-9EA8-4553-8275-9D38E8F92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53652-0341-4F64-B5E8-C54585B586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DBDE0-3221-40D3-93F7-2AF5F31CF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EC65-5E04-4342-878F-5F7929486D11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A2E2D-CF7F-465B-A43E-B5C11DF48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0E397-263E-4AC8-A914-70C50F12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656EF-8429-41F6-ACBF-01D1DA99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609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18CEAA-65A3-4DEB-A169-DA8C74102D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A7535C-391D-4FCD-BB0D-F5AA419EEB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3772C-E46F-4478-BBCE-DC1A922E7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EC65-5E04-4342-878F-5F7929486D11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6CCFC-21F2-46EA-9756-FA140808D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2C620-9440-47B3-BC1F-D8A6F09DE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656EF-8429-41F6-ACBF-01D1DA99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9891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77F68F-CCD2-433F-999D-FBB58E6CB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E607A-0971-4917-B3BC-B1B5CDF5B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AAB24-F846-4A59-A4F4-C7141CC2E4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FEC65-5E04-4342-878F-5F7929486D11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CEAC2-18D4-4A07-ABA5-2261745DA2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B3A28-1A17-4339-9780-4C0658256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656EF-8429-41F6-ACBF-01D1DA99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515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slide" Target="slide7.xml"/><Relationship Id="rId4" Type="http://schemas.openxmlformats.org/officeDocument/2006/relationships/slide" Target="slide3.xml"/><Relationship Id="rId5" Type="http://schemas.openxmlformats.org/officeDocument/2006/relationships/slide" Target="slide5.xml"/><Relationship Id="rId6" Type="http://schemas.openxmlformats.org/officeDocument/2006/relationships/slide" Target="slide2.xml"/><Relationship Id="rId7" Type="http://schemas.openxmlformats.org/officeDocument/2006/relationships/image" Target="../media/image1.png"/><Relationship Id="rId8" Type="http://schemas.openxmlformats.org/officeDocument/2006/relationships/image" Target="../media/image2.svg"/><Relationship Id="rId9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image" Target="../media/image30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2.svg"/><Relationship Id="rId9" Type="http://schemas.openxmlformats.org/officeDocument/2006/relationships/slide" Target="slide7.xml"/><Relationship Id="rId10" Type="http://schemas.openxmlformats.org/officeDocument/2006/relationships/slide" Target="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slide" Target="slide5.xml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.png"/><Relationship Id="rId9" Type="http://schemas.openxmlformats.org/officeDocument/2006/relationships/image" Target="../media/image2.svg"/><Relationship Id="rId10" Type="http://schemas.openxmlformats.org/officeDocument/2006/relationships/slide" Target="slide3.xml"/><Relationship Id="rId11" Type="http://schemas.openxmlformats.org/officeDocument/2006/relationships/slide" Target="slide4.xml"/><Relationship Id="rId12" Type="http://schemas.openxmlformats.org/officeDocument/2006/relationships/slide" Target="slide2.xml"/><Relationship Id="rId13" Type="http://schemas.openxmlformats.org/officeDocument/2006/relationships/slide" Target="slide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" Target="slide2.xml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slide" Target="slide7.xml"/><Relationship Id="rId9" Type="http://schemas.openxmlformats.org/officeDocument/2006/relationships/image" Target="../media/image4.png"/><Relationship Id="rId10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" Target="slide7.xml"/><Relationship Id="rId8" Type="http://schemas.openxmlformats.org/officeDocument/2006/relationships/slide" Target="slide3.xml"/><Relationship Id="rId9" Type="http://schemas.openxmlformats.org/officeDocument/2006/relationships/slide" Target="slide5.xml"/><Relationship Id="rId10" Type="http://schemas.openxmlformats.org/officeDocument/2006/relationships/slide" Target="slide2.xml"/><Relationship Id="rId11" Type="http://schemas.openxmlformats.org/officeDocument/2006/relationships/slide" Target="slide6.xml"/><Relationship Id="rId1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" Target="slide7.xml"/><Relationship Id="rId8" Type="http://schemas.openxmlformats.org/officeDocument/2006/relationships/slide" Target="slide3.xml"/><Relationship Id="rId9" Type="http://schemas.openxmlformats.org/officeDocument/2006/relationships/slide" Target="slide5.xml"/><Relationship Id="rId10" Type="http://schemas.openxmlformats.org/officeDocument/2006/relationships/slide" Target="slide2.xml"/><Relationship Id="rId11" Type="http://schemas.openxmlformats.org/officeDocument/2006/relationships/slide" Target="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2.tmp"/><Relationship Id="rId5" Type="http://schemas.openxmlformats.org/officeDocument/2006/relationships/slide" Target="slide7.xml"/><Relationship Id="rId6" Type="http://schemas.openxmlformats.org/officeDocument/2006/relationships/slide" Target="slide3.xml"/><Relationship Id="rId7" Type="http://schemas.openxmlformats.org/officeDocument/2006/relationships/slide" Target="slide5.xml"/><Relationship Id="rId8" Type="http://schemas.openxmlformats.org/officeDocument/2006/relationships/slide" Target="slide2.xml"/><Relationship Id="rId9" Type="http://schemas.openxmlformats.org/officeDocument/2006/relationships/image" Target="../media/image1.png"/><Relationship Id="rId10" Type="http://schemas.openxmlformats.org/officeDocument/2006/relationships/image" Target="../media/image2.svg"/><Relationship Id="rId11" Type="http://schemas.openxmlformats.org/officeDocument/2006/relationships/slide" Target="slide4.xml"/><Relationship Id="rId12" Type="http://schemas.openxmlformats.org/officeDocument/2006/relationships/slide" Target="slide8.xml"/><Relationship Id="rId13" Type="http://schemas.openxmlformats.org/officeDocument/2006/relationships/image" Target="../media/image13.tmp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slide" Target="slide7.xml"/><Relationship Id="rId5" Type="http://schemas.openxmlformats.org/officeDocument/2006/relationships/slide" Target="slide3.xml"/><Relationship Id="rId6" Type="http://schemas.openxmlformats.org/officeDocument/2006/relationships/slide" Target="slide5.xml"/><Relationship Id="rId7" Type="http://schemas.openxmlformats.org/officeDocument/2006/relationships/slide" Target="slide2.xml"/><Relationship Id="rId8" Type="http://schemas.openxmlformats.org/officeDocument/2006/relationships/image" Target="../media/image1.png"/><Relationship Id="rId9" Type="http://schemas.openxmlformats.org/officeDocument/2006/relationships/image" Target="../media/image2.svg"/><Relationship Id="rId10" Type="http://schemas.openxmlformats.org/officeDocument/2006/relationships/slide" Target="slide4.xml"/><Relationship Id="rId11" Type="http://schemas.openxmlformats.org/officeDocument/2006/relationships/image" Target="../media/image9.png"/><Relationship Id="rId1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Next">
            <a:hlinkClick r:id="rId3" action="ppaction://hlinksldjump"/>
            <a:extLst>
              <a:ext uri="{FF2B5EF4-FFF2-40B4-BE49-F238E27FC236}">
                <a16:creationId xmlns:a16="http://schemas.microsoft.com/office/drawing/2014/main" id="{48826AF5-CA8D-4DF7-A46D-597A814EC66E}"/>
              </a:ext>
            </a:extLst>
          </p:cNvPr>
          <p:cNvSpPr/>
          <p:nvPr/>
        </p:nvSpPr>
        <p:spPr>
          <a:xfrm>
            <a:off x="183017" y="1716400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sp>
        <p:nvSpPr>
          <p:cNvPr id="84" name="Next">
            <a:hlinkClick r:id="rId4" action="ppaction://hlinksldjump"/>
            <a:extLst>
              <a:ext uri="{FF2B5EF4-FFF2-40B4-BE49-F238E27FC236}">
                <a16:creationId xmlns:a16="http://schemas.microsoft.com/office/drawing/2014/main" id="{D06897A5-FB16-4FEB-BA89-01CE2BB88CA9}"/>
              </a:ext>
            </a:extLst>
          </p:cNvPr>
          <p:cNvSpPr/>
          <p:nvPr/>
        </p:nvSpPr>
        <p:spPr>
          <a:xfrm>
            <a:off x="183017" y="705625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Underprod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Next">
            <a:hlinkClick r:id="rId5" action="ppaction://hlinksldjump"/>
            <a:extLst>
              <a:ext uri="{FF2B5EF4-FFF2-40B4-BE49-F238E27FC236}">
                <a16:creationId xmlns:a16="http://schemas.microsoft.com/office/drawing/2014/main" id="{3BA3D4F1-A9DB-4888-8136-46181B981934}"/>
              </a:ext>
            </a:extLst>
          </p:cNvPr>
          <p:cNvSpPr/>
          <p:nvPr/>
        </p:nvSpPr>
        <p:spPr>
          <a:xfrm>
            <a:off x="183017" y="1211012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Overprod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Work-up of anemia">
            <a:extLst>
              <a:ext uri="{FF2B5EF4-FFF2-40B4-BE49-F238E27FC236}">
                <a16:creationId xmlns:a16="http://schemas.microsoft.com/office/drawing/2014/main" id="{9C841137-2119-2A92-61AC-02C7D76154F5}"/>
              </a:ext>
            </a:extLst>
          </p:cNvPr>
          <p:cNvSpPr txBox="1"/>
          <p:nvPr/>
        </p:nvSpPr>
        <p:spPr>
          <a:xfrm>
            <a:off x="4016048" y="968535"/>
            <a:ext cx="4967932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600" b="1" dirty="0"/>
              <a:t>Work-up of Anemia</a:t>
            </a:r>
          </a:p>
        </p:txBody>
      </p:sp>
      <p:sp>
        <p:nvSpPr>
          <p:cNvPr id="25" name="Next">
            <a:hlinkClick r:id="rId6" action="ppaction://hlinksldjump"/>
            <a:extLst>
              <a:ext uri="{FF2B5EF4-FFF2-40B4-BE49-F238E27FC236}">
                <a16:creationId xmlns:a16="http://schemas.microsoft.com/office/drawing/2014/main" id="{459E7861-3E1D-5A17-94A1-C806E437FB3A}"/>
              </a:ext>
            </a:extLst>
          </p:cNvPr>
          <p:cNvSpPr/>
          <p:nvPr/>
        </p:nvSpPr>
        <p:spPr>
          <a:xfrm>
            <a:off x="183017" y="200238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Overview</a:t>
            </a:r>
          </a:p>
        </p:txBody>
      </p:sp>
      <p:pic>
        <p:nvPicPr>
          <p:cNvPr id="27" name="Graphic 26" descr="Cursor">
            <a:extLst>
              <a:ext uri="{FF2B5EF4-FFF2-40B4-BE49-F238E27FC236}">
                <a16:creationId xmlns:a16="http://schemas.microsoft.com/office/drawing/2014/main" id="{219DA353-FEC5-0F9F-3928-97A1B382DB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28887" y="446151"/>
            <a:ext cx="274320" cy="274320"/>
          </a:xfrm>
          <a:prstGeom prst="rect">
            <a:avLst/>
          </a:prstGeom>
        </p:spPr>
      </p:pic>
      <p:pic>
        <p:nvPicPr>
          <p:cNvPr id="28" name="Graphic 27" descr="Cursor">
            <a:extLst>
              <a:ext uri="{FF2B5EF4-FFF2-40B4-BE49-F238E27FC236}">
                <a16:creationId xmlns:a16="http://schemas.microsoft.com/office/drawing/2014/main" id="{6417820F-4B67-18BB-EFE5-89A72AEC0E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28887" y="945579"/>
            <a:ext cx="274320" cy="274320"/>
          </a:xfrm>
          <a:prstGeom prst="rect">
            <a:avLst/>
          </a:prstGeom>
        </p:spPr>
      </p:pic>
      <p:pic>
        <p:nvPicPr>
          <p:cNvPr id="30" name="Graphic 29" descr="Cursor">
            <a:extLst>
              <a:ext uri="{FF2B5EF4-FFF2-40B4-BE49-F238E27FC236}">
                <a16:creationId xmlns:a16="http://schemas.microsoft.com/office/drawing/2014/main" id="{5E906FA2-5206-23EB-7C4E-9DF3A87EFD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28887" y="1456437"/>
            <a:ext cx="274320" cy="274320"/>
          </a:xfrm>
          <a:prstGeom prst="rect">
            <a:avLst/>
          </a:prstGeom>
        </p:spPr>
      </p:pic>
      <p:pic>
        <p:nvPicPr>
          <p:cNvPr id="31" name="Graphic 30" descr="Cursor">
            <a:extLst>
              <a:ext uri="{FF2B5EF4-FFF2-40B4-BE49-F238E27FC236}">
                <a16:creationId xmlns:a16="http://schemas.microsoft.com/office/drawing/2014/main" id="{0C03DC03-8BE9-00D5-9BD4-92369F5E14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28887" y="1955866"/>
            <a:ext cx="274320" cy="274320"/>
          </a:xfrm>
          <a:prstGeom prst="rect">
            <a:avLst/>
          </a:prstGeom>
        </p:spPr>
      </p:pic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13C7F33F-FD2D-3C50-1584-3AED8DD31590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37" t="7695" r="30296" b="50000"/>
          <a:stretch/>
        </p:blipFill>
        <p:spPr>
          <a:xfrm>
            <a:off x="4373577" y="1730757"/>
            <a:ext cx="4252873" cy="3416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023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Underproduction">
            <a:extLst>
              <a:ext uri="{FF2B5EF4-FFF2-40B4-BE49-F238E27FC236}">
                <a16:creationId xmlns:a16="http://schemas.microsoft.com/office/drawing/2014/main" id="{306084C8-B649-F4BE-42FD-D85BF78C1563}"/>
              </a:ext>
            </a:extLst>
          </p:cNvPr>
          <p:cNvSpPr/>
          <p:nvPr/>
        </p:nvSpPr>
        <p:spPr>
          <a:xfrm>
            <a:off x="2159586" y="1631449"/>
            <a:ext cx="1911812" cy="54068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381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Underproduction</a:t>
            </a:r>
          </a:p>
        </p:txBody>
      </p:sp>
      <p:sp>
        <p:nvSpPr>
          <p:cNvPr id="2" name="RI">
            <a:extLst>
              <a:ext uri="{FF2B5EF4-FFF2-40B4-BE49-F238E27FC236}">
                <a16:creationId xmlns:a16="http://schemas.microsoft.com/office/drawing/2014/main" id="{98110860-14C9-89EB-6B68-0E481179E8AA}"/>
              </a:ext>
            </a:extLst>
          </p:cNvPr>
          <p:cNvSpPr txBox="1"/>
          <p:nvPr/>
        </p:nvSpPr>
        <p:spPr>
          <a:xfrm rot="5400000">
            <a:off x="507851" y="2972325"/>
            <a:ext cx="646986" cy="137160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38100"/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wrap="square" lIns="45720" tIns="18288" rIns="45720" bIns="18288" rtlCol="0" anchor="ctr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Reticulocyte Index (RI)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5" name="RI">
            <a:extLst>
              <a:ext uri="{FF2B5EF4-FFF2-40B4-BE49-F238E27FC236}">
                <a16:creationId xmlns:a16="http://schemas.microsoft.com/office/drawing/2014/main" id="{4B9C6A50-F889-474F-BAC9-CA0A4B0D7109}"/>
              </a:ext>
            </a:extLst>
          </p:cNvPr>
          <p:cNvSpPr txBox="1"/>
          <p:nvPr/>
        </p:nvSpPr>
        <p:spPr>
          <a:xfrm rot="5400000">
            <a:off x="515880" y="2967701"/>
            <a:ext cx="646986" cy="137160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wrap="square" lIns="45720" tIns="18288" rIns="45720" bIns="18288" rtlCol="0" anchor="ctr">
            <a:spAutoFit/>
          </a:bodyPr>
          <a:lstStyle/>
          <a:p>
            <a:pPr lvl="0" algn="ctr"/>
            <a:r>
              <a:rPr lang="en-US" sz="1600">
                <a:solidFill>
                  <a:schemeClr val="tx1"/>
                </a:solidFill>
              </a:rPr>
              <a:t>Reticulocyte Index (RI)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7" name="Work-up of anemia">
            <a:extLst>
              <a:ext uri="{FF2B5EF4-FFF2-40B4-BE49-F238E27FC236}">
                <a16:creationId xmlns:a16="http://schemas.microsoft.com/office/drawing/2014/main" id="{B6480B71-E95D-4459-B66D-1205479DF1A2}"/>
              </a:ext>
            </a:extLst>
          </p:cNvPr>
          <p:cNvSpPr txBox="1"/>
          <p:nvPr/>
        </p:nvSpPr>
        <p:spPr>
          <a:xfrm>
            <a:off x="4706879" y="103202"/>
            <a:ext cx="3183926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400" b="1" dirty="0"/>
              <a:t>Work-up of Anemia</a:t>
            </a:r>
          </a:p>
        </p:txBody>
      </p:sp>
      <p:sp>
        <p:nvSpPr>
          <p:cNvPr id="14" name="Underproduction">
            <a:hlinkClick r:id="rId3" action="ppaction://hlinksldjump"/>
            <a:extLst>
              <a:ext uri="{FF2B5EF4-FFF2-40B4-BE49-F238E27FC236}">
                <a16:creationId xmlns:a16="http://schemas.microsoft.com/office/drawing/2014/main" id="{1D8536FF-E5A5-4BEB-97B6-7AD44433C302}"/>
              </a:ext>
            </a:extLst>
          </p:cNvPr>
          <p:cNvSpPr/>
          <p:nvPr/>
        </p:nvSpPr>
        <p:spPr>
          <a:xfrm>
            <a:off x="2159586" y="1631448"/>
            <a:ext cx="1911812" cy="54068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Underproduction</a:t>
            </a:r>
          </a:p>
        </p:txBody>
      </p:sp>
      <p:sp>
        <p:nvSpPr>
          <p:cNvPr id="16" name="Increased production">
            <a:hlinkClick r:id="rId4" action="ppaction://hlinksldjump"/>
            <a:extLst>
              <a:ext uri="{FF2B5EF4-FFF2-40B4-BE49-F238E27FC236}">
                <a16:creationId xmlns:a16="http://schemas.microsoft.com/office/drawing/2014/main" id="{52C341EC-6FC6-4D00-9F3A-9D58A6EBAF2E}"/>
              </a:ext>
            </a:extLst>
          </p:cNvPr>
          <p:cNvSpPr/>
          <p:nvPr/>
        </p:nvSpPr>
        <p:spPr>
          <a:xfrm>
            <a:off x="2162754" y="5202911"/>
            <a:ext cx="1527504" cy="54068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sym typeface="Wingdings" panose="05000000000000000000" pitchFamily="2" charset="2"/>
              </a:rPr>
              <a:t> production</a:t>
            </a:r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I info">
                <a:extLst>
                  <a:ext uri="{FF2B5EF4-FFF2-40B4-BE49-F238E27FC236}">
                    <a16:creationId xmlns:a16="http://schemas.microsoft.com/office/drawing/2014/main" id="{56E1B49E-85C7-4400-AD21-FB03671A6B61}"/>
                  </a:ext>
                </a:extLst>
              </p:cNvPr>
              <p:cNvSpPr/>
              <p:nvPr/>
            </p:nvSpPr>
            <p:spPr>
              <a:xfrm>
                <a:off x="104581" y="4067690"/>
                <a:ext cx="1428058" cy="2686931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en-US" sz="1200"/>
                  <a:t>RI =</a:t>
                </a:r>
                <a:r>
                  <a:rPr lang="en-US" sz="11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100">
                            <a:latin typeface="Cambria Math" panose="02040503050406030204" pitchFamily="18" charset="0"/>
                          </a:rPr>
                          <m:t>Retic</m:t>
                        </m:r>
                        <m:r>
                          <a:rPr lang="en-US" sz="1100">
                            <a:latin typeface="Cambria Math" panose="02040503050406030204" pitchFamily="18" charset="0"/>
                          </a:rPr>
                          <m:t> % × </m:t>
                        </m:r>
                        <m:f>
                          <m:fPr>
                            <m:ctrlPr>
                              <a:rPr lang="en-US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1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Hgb</m:t>
                            </m:r>
                          </m:num>
                          <m:den>
                            <m:r>
                              <a:rPr lang="en-US" sz="1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US" sz="1100">
                            <a:latin typeface="Cambria Math" panose="02040503050406030204" pitchFamily="18" charset="0"/>
                          </a:rPr>
                          <m:t>Correction</m:t>
                        </m:r>
                        <m:r>
                          <a:rPr lang="en-US" sz="11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100">
                            <a:latin typeface="Cambria Math" panose="02040503050406030204" pitchFamily="18" charset="0"/>
                          </a:rPr>
                          <m:t>Factor</m:t>
                        </m:r>
                      </m:den>
                    </m:f>
                  </m:oMath>
                </a14:m>
                <a:endParaRPr lang="en-US" sz="1200"/>
              </a:p>
              <a:p>
                <a:pPr>
                  <a:spcAft>
                    <a:spcPts val="600"/>
                  </a:spcAft>
                </a:pPr>
                <a:r>
                  <a:rPr lang="en-US" sz="1100"/>
                  <a:t>Retics are immature RBCs produced by the bone marrow.  </a:t>
                </a:r>
              </a:p>
              <a:p>
                <a:r>
                  <a:rPr lang="en-US" sz="1100"/>
                  <a:t>RBC loss &gt; reticulocyte production </a:t>
                </a:r>
                <a:r>
                  <a:rPr lang="en-US" sz="1100">
                    <a:sym typeface="Wingdings" panose="05000000000000000000" pitchFamily="2" charset="2"/>
                  </a:rPr>
                  <a:t> anemia</a:t>
                </a:r>
                <a:r>
                  <a:rPr lang="en-US" sz="1100"/>
                  <a:t>. This is from: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/>
                  <a:t>Underproduction of retics (</a:t>
                </a:r>
                <a:r>
                  <a:rPr lang="en-US" sz="1100">
                    <a:sym typeface="Wingdings" panose="05000000000000000000" pitchFamily="2" charset="2"/>
                  </a:rPr>
                  <a:t> RI) </a:t>
                </a:r>
                <a:endParaRPr lang="en-US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>
                    <a:sym typeface="Wingdings" panose="05000000000000000000" pitchFamily="2" charset="2"/>
                  </a:rPr>
                  <a:t></a:t>
                </a:r>
                <a:r>
                  <a:rPr lang="en-US" sz="1100"/>
                  <a:t> RBC loss </a:t>
                </a:r>
                <a:r>
                  <a:rPr lang="en-US" sz="1100">
                    <a:sym typeface="Wingdings" panose="05000000000000000000" pitchFamily="2" charset="2"/>
                  </a:rPr>
                  <a:t> </a:t>
                </a:r>
                <a:r>
                  <a:rPr lang="en-US" sz="1100"/>
                  <a:t> retic production (</a:t>
                </a:r>
                <a:r>
                  <a:rPr lang="en-US" sz="1100">
                    <a:sym typeface="Wingdings" panose="05000000000000000000" pitchFamily="2" charset="2"/>
                  </a:rPr>
                  <a:t> RI)</a:t>
                </a:r>
                <a:endParaRPr lang="en-US" sz="1100"/>
              </a:p>
            </p:txBody>
          </p:sp>
        </mc:Choice>
        <mc:Fallback xmlns="">
          <p:sp>
            <p:nvSpPr>
              <p:cNvPr id="22" name="RI info">
                <a:extLst>
                  <a:ext uri="{FF2B5EF4-FFF2-40B4-BE49-F238E27FC236}">
                    <a16:creationId xmlns:a16="http://schemas.microsoft.com/office/drawing/2014/main" id="{56E1B49E-85C7-4400-AD21-FB03671A6B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81" y="4067690"/>
                <a:ext cx="1428058" cy="2686931"/>
              </a:xfrm>
              <a:prstGeom prst="rect">
                <a:avLst/>
              </a:prstGeom>
              <a:blipFill>
                <a:blip r:embed="rId5"/>
                <a:stretch>
                  <a:fillRect r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Connector to underproduction">
            <a:extLst>
              <a:ext uri="{FF2B5EF4-FFF2-40B4-BE49-F238E27FC236}">
                <a16:creationId xmlns:a16="http://schemas.microsoft.com/office/drawing/2014/main" id="{1086A824-2F45-49B9-9C1A-56720FB9BDE5}"/>
              </a:ext>
            </a:extLst>
          </p:cNvPr>
          <p:cNvGrpSpPr/>
          <p:nvPr/>
        </p:nvGrpSpPr>
        <p:grpSpPr>
          <a:xfrm>
            <a:off x="1525173" y="1901793"/>
            <a:ext cx="634413" cy="1751708"/>
            <a:chOff x="1525173" y="1433163"/>
            <a:chExt cx="634413" cy="1751708"/>
          </a:xfrm>
        </p:grpSpPr>
        <p:cxnSp>
          <p:nvCxnSpPr>
            <p:cNvPr id="9" name="Connector to Underproduction">
              <a:extLst>
                <a:ext uri="{FF2B5EF4-FFF2-40B4-BE49-F238E27FC236}">
                  <a16:creationId xmlns:a16="http://schemas.microsoft.com/office/drawing/2014/main" id="{5CB2C196-E0EF-4620-B0B9-5734515C6A69}"/>
                </a:ext>
              </a:extLst>
            </p:cNvPr>
            <p:cNvCxnSpPr>
              <a:cxnSpLocks/>
              <a:stCxn id="5" idx="0"/>
              <a:endCxn id="14" idx="1"/>
            </p:cNvCxnSpPr>
            <p:nvPr/>
          </p:nvCxnSpPr>
          <p:spPr>
            <a:xfrm flipV="1">
              <a:off x="1525173" y="1433163"/>
              <a:ext cx="634413" cy="1751708"/>
            </a:xfrm>
            <a:prstGeom prst="bent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8040A1E-C850-41DF-B669-F3AC53C1A4FF}"/>
                </a:ext>
              </a:extLst>
            </p:cNvPr>
            <p:cNvSpPr txBox="1"/>
            <p:nvPr/>
          </p:nvSpPr>
          <p:spPr>
            <a:xfrm>
              <a:off x="1632085" y="2195156"/>
              <a:ext cx="423756" cy="307777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/>
                <a:t>&lt;2</a:t>
              </a:r>
            </a:p>
          </p:txBody>
        </p:sp>
      </p:grpSp>
      <p:grpSp>
        <p:nvGrpSpPr>
          <p:cNvPr id="34" name="Connector to Inc. production">
            <a:extLst>
              <a:ext uri="{FF2B5EF4-FFF2-40B4-BE49-F238E27FC236}">
                <a16:creationId xmlns:a16="http://schemas.microsoft.com/office/drawing/2014/main" id="{A0DDB2D9-048C-41FA-8B64-23DA63A15D7A}"/>
              </a:ext>
            </a:extLst>
          </p:cNvPr>
          <p:cNvGrpSpPr/>
          <p:nvPr/>
        </p:nvGrpSpPr>
        <p:grpSpPr>
          <a:xfrm>
            <a:off x="1525173" y="3653501"/>
            <a:ext cx="637581" cy="1819755"/>
            <a:chOff x="1525173" y="3653501"/>
            <a:chExt cx="637581" cy="1819755"/>
          </a:xfrm>
        </p:grpSpPr>
        <p:cxnSp>
          <p:nvCxnSpPr>
            <p:cNvPr id="17" name="Connector to increased productoin">
              <a:extLst>
                <a:ext uri="{FF2B5EF4-FFF2-40B4-BE49-F238E27FC236}">
                  <a16:creationId xmlns:a16="http://schemas.microsoft.com/office/drawing/2014/main" id="{E2401DCD-716C-4952-9356-27A32BDAEB98}"/>
                </a:ext>
              </a:extLst>
            </p:cNvPr>
            <p:cNvCxnSpPr>
              <a:cxnSpLocks/>
              <a:stCxn id="5" idx="0"/>
              <a:endCxn id="16" idx="1"/>
            </p:cNvCxnSpPr>
            <p:nvPr/>
          </p:nvCxnSpPr>
          <p:spPr>
            <a:xfrm>
              <a:off x="1525173" y="3653501"/>
              <a:ext cx="637581" cy="1819755"/>
            </a:xfrm>
            <a:prstGeom prst="bent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D91EB14-6264-436E-963D-D72A18B83894}"/>
                </a:ext>
              </a:extLst>
            </p:cNvPr>
            <p:cNvSpPr txBox="1"/>
            <p:nvPr/>
          </p:nvSpPr>
          <p:spPr>
            <a:xfrm>
              <a:off x="1630501" y="4312258"/>
              <a:ext cx="423756" cy="307777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/>
                <a:t>≥3</a:t>
              </a:r>
            </a:p>
          </p:txBody>
        </p:sp>
      </p:grpSp>
      <p:grpSp>
        <p:nvGrpSpPr>
          <p:cNvPr id="44" name="Hemodilution">
            <a:extLst>
              <a:ext uri="{FF2B5EF4-FFF2-40B4-BE49-F238E27FC236}">
                <a16:creationId xmlns:a16="http://schemas.microsoft.com/office/drawing/2014/main" id="{2F38A751-7DDE-40E0-AEAD-F31C75A07C2D}"/>
              </a:ext>
            </a:extLst>
          </p:cNvPr>
          <p:cNvGrpSpPr/>
          <p:nvPr/>
        </p:nvGrpSpPr>
        <p:grpSpPr>
          <a:xfrm>
            <a:off x="1525173" y="3383156"/>
            <a:ext cx="2174435" cy="540689"/>
            <a:chOff x="1478609" y="2908641"/>
            <a:chExt cx="2174435" cy="540689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73EF734C-D72F-46DD-BE89-72651F688E92}"/>
                </a:ext>
              </a:extLst>
            </p:cNvPr>
            <p:cNvCxnSpPr>
              <a:cxnSpLocks/>
              <a:stCxn id="5" idx="0"/>
              <a:endCxn id="105" idx="1"/>
            </p:cNvCxnSpPr>
            <p:nvPr/>
          </p:nvCxnSpPr>
          <p:spPr>
            <a:xfrm>
              <a:off x="1478609" y="3178986"/>
              <a:ext cx="64693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Increased production">
              <a:extLst>
                <a:ext uri="{FF2B5EF4-FFF2-40B4-BE49-F238E27FC236}">
                  <a16:creationId xmlns:a16="http://schemas.microsoft.com/office/drawing/2014/main" id="{79EF6E89-5DD5-4158-9958-252317E93CC9}"/>
                </a:ext>
              </a:extLst>
            </p:cNvPr>
            <p:cNvSpPr/>
            <p:nvPr/>
          </p:nvSpPr>
          <p:spPr>
            <a:xfrm>
              <a:off x="2125540" y="2908641"/>
              <a:ext cx="1527504" cy="540689"/>
            </a:xfrm>
            <a:prstGeom prst="roundRect">
              <a:avLst>
                <a:gd name="adj" fmla="val 0"/>
              </a:avLst>
            </a:prstGeom>
            <a:ln>
              <a:solidFill>
                <a:schemeClr val="accent4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ym typeface="Wingdings" panose="05000000000000000000" pitchFamily="2" charset="2"/>
                </a:rPr>
                <a:t>Hemodilution</a:t>
              </a:r>
              <a:endParaRPr lang="en-US" dirty="0"/>
            </a:p>
          </p:txBody>
        </p:sp>
      </p:grpSp>
      <p:pic>
        <p:nvPicPr>
          <p:cNvPr id="114" name="Toolbox" descr="toolbox - Free Tools and utensils icons">
            <a:extLst>
              <a:ext uri="{FF2B5EF4-FFF2-40B4-BE49-F238E27FC236}">
                <a16:creationId xmlns:a16="http://schemas.microsoft.com/office/drawing/2014/main" id="{811906AE-4F00-48D1-9529-5E7FDF4D90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1" t="-2032" r="23634" b="419"/>
          <a:stretch/>
        </p:blipFill>
        <p:spPr bwMode="auto">
          <a:xfrm>
            <a:off x="573775" y="2777647"/>
            <a:ext cx="460260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aphic 2" descr="Cursor">
            <a:extLst>
              <a:ext uri="{FF2B5EF4-FFF2-40B4-BE49-F238E27FC236}">
                <a16:creationId xmlns:a16="http://schemas.microsoft.com/office/drawing/2014/main" id="{9C059AA1-B71A-4234-93AE-26057CC6CD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76833" y="3856113"/>
            <a:ext cx="274320" cy="274320"/>
          </a:xfrm>
          <a:prstGeom prst="rect">
            <a:avLst/>
          </a:prstGeom>
        </p:spPr>
      </p:pic>
      <p:pic>
        <p:nvPicPr>
          <p:cNvPr id="89" name="Graphic 88" descr="Cursor">
            <a:extLst>
              <a:ext uri="{FF2B5EF4-FFF2-40B4-BE49-F238E27FC236}">
                <a16:creationId xmlns:a16="http://schemas.microsoft.com/office/drawing/2014/main" id="{0728A33C-1132-450B-AE2E-CB504F446B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66651" y="5606440"/>
            <a:ext cx="274320" cy="274320"/>
          </a:xfrm>
          <a:prstGeom prst="rect">
            <a:avLst/>
          </a:prstGeom>
        </p:spPr>
      </p:pic>
      <p:sp>
        <p:nvSpPr>
          <p:cNvPr id="4" name="Next">
            <a:hlinkClick r:id="rId9" action="ppaction://hlinksldjump"/>
            <a:extLst>
              <a:ext uri="{FF2B5EF4-FFF2-40B4-BE49-F238E27FC236}">
                <a16:creationId xmlns:a16="http://schemas.microsoft.com/office/drawing/2014/main" id="{4AD14B18-D9CA-1A56-3FFE-03C9572F9B22}"/>
              </a:ext>
            </a:extLst>
          </p:cNvPr>
          <p:cNvSpPr/>
          <p:nvPr/>
        </p:nvSpPr>
        <p:spPr>
          <a:xfrm>
            <a:off x="183017" y="1716400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sp>
        <p:nvSpPr>
          <p:cNvPr id="6" name="Next">
            <a:hlinkClick r:id="rId3" action="ppaction://hlinksldjump"/>
            <a:extLst>
              <a:ext uri="{FF2B5EF4-FFF2-40B4-BE49-F238E27FC236}">
                <a16:creationId xmlns:a16="http://schemas.microsoft.com/office/drawing/2014/main" id="{BA980DDA-D124-17CA-6160-3F9DD0622594}"/>
              </a:ext>
            </a:extLst>
          </p:cNvPr>
          <p:cNvSpPr/>
          <p:nvPr/>
        </p:nvSpPr>
        <p:spPr>
          <a:xfrm>
            <a:off x="183017" y="705625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Underprod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Next">
            <a:hlinkClick r:id="rId4" action="ppaction://hlinksldjump"/>
            <a:extLst>
              <a:ext uri="{FF2B5EF4-FFF2-40B4-BE49-F238E27FC236}">
                <a16:creationId xmlns:a16="http://schemas.microsoft.com/office/drawing/2014/main" id="{7953427B-0708-C660-E5BE-1DB6A0BD0CDA}"/>
              </a:ext>
            </a:extLst>
          </p:cNvPr>
          <p:cNvSpPr/>
          <p:nvPr/>
        </p:nvSpPr>
        <p:spPr>
          <a:xfrm>
            <a:off x="183017" y="1211012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Overprod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Next">
            <a:hlinkClick r:id="rId10" action="ppaction://hlinksldjump"/>
            <a:extLst>
              <a:ext uri="{FF2B5EF4-FFF2-40B4-BE49-F238E27FC236}">
                <a16:creationId xmlns:a16="http://schemas.microsoft.com/office/drawing/2014/main" id="{42A46E3D-0087-C049-999E-9DF90E933564}"/>
              </a:ext>
            </a:extLst>
          </p:cNvPr>
          <p:cNvSpPr/>
          <p:nvPr/>
        </p:nvSpPr>
        <p:spPr>
          <a:xfrm>
            <a:off x="183017" y="200238"/>
            <a:ext cx="1371600" cy="36576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Overview</a:t>
            </a:r>
          </a:p>
        </p:txBody>
      </p:sp>
      <p:pic>
        <p:nvPicPr>
          <p:cNvPr id="12" name="Graphic 11" descr="Cursor">
            <a:extLst>
              <a:ext uri="{FF2B5EF4-FFF2-40B4-BE49-F238E27FC236}">
                <a16:creationId xmlns:a16="http://schemas.microsoft.com/office/drawing/2014/main" id="{44628402-D45E-D379-D652-D2C1A15D69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28887" y="945579"/>
            <a:ext cx="274320" cy="274320"/>
          </a:xfrm>
          <a:prstGeom prst="rect">
            <a:avLst/>
          </a:prstGeom>
        </p:spPr>
      </p:pic>
      <p:pic>
        <p:nvPicPr>
          <p:cNvPr id="13" name="Graphic 12" descr="Cursor">
            <a:extLst>
              <a:ext uri="{FF2B5EF4-FFF2-40B4-BE49-F238E27FC236}">
                <a16:creationId xmlns:a16="http://schemas.microsoft.com/office/drawing/2014/main" id="{679F4AAA-64B0-B9AF-7BA4-8C552A3E08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28887" y="1456437"/>
            <a:ext cx="274320" cy="274320"/>
          </a:xfrm>
          <a:prstGeom prst="rect">
            <a:avLst/>
          </a:prstGeom>
        </p:spPr>
      </p:pic>
      <p:pic>
        <p:nvPicPr>
          <p:cNvPr id="15" name="Graphic 14" descr="Cursor">
            <a:extLst>
              <a:ext uri="{FF2B5EF4-FFF2-40B4-BE49-F238E27FC236}">
                <a16:creationId xmlns:a16="http://schemas.microsoft.com/office/drawing/2014/main" id="{C6E7FE10-B704-6501-E1A6-A39E210376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28887" y="1955866"/>
            <a:ext cx="274320" cy="274320"/>
          </a:xfrm>
          <a:prstGeom prst="rect">
            <a:avLst/>
          </a:prstGeom>
        </p:spPr>
      </p:pic>
      <p:pic>
        <p:nvPicPr>
          <p:cNvPr id="18" name="Graphic 17" descr="Cursor">
            <a:extLst>
              <a:ext uri="{FF2B5EF4-FFF2-40B4-BE49-F238E27FC236}">
                <a16:creationId xmlns:a16="http://schemas.microsoft.com/office/drawing/2014/main" id="{564295DC-5F16-A05C-DE1F-2A023AD071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34238" y="2034977"/>
            <a:ext cx="274320" cy="27432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CD3F6DD-C7D2-BE1D-172B-ED11CF7E7105}"/>
              </a:ext>
            </a:extLst>
          </p:cNvPr>
          <p:cNvSpPr txBox="1"/>
          <p:nvPr/>
        </p:nvSpPr>
        <p:spPr>
          <a:xfrm>
            <a:off x="3934238" y="3191835"/>
            <a:ext cx="608565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In-hospital: typically, from aggressive IV fluid resuscitation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Outpatient: dilutional anemia can be seen in hypervolemia (heart failure)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2BC3D00-10CE-EC5B-DD5F-FECA043D8B84}"/>
              </a:ext>
            </a:extLst>
          </p:cNvPr>
          <p:cNvCxnSpPr>
            <a:stCxn id="105" idx="3"/>
            <a:endCxn id="20" idx="1"/>
          </p:cNvCxnSpPr>
          <p:nvPr/>
        </p:nvCxnSpPr>
        <p:spPr>
          <a:xfrm flipV="1">
            <a:off x="3699608" y="3653500"/>
            <a:ext cx="234630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357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5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0E52659F-CBF7-E724-EB5B-1057CB52AE1C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140792" y="1077485"/>
            <a:ext cx="468428" cy="164386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Other cell lines">
            <a:extLst>
              <a:ext uri="{FF2B5EF4-FFF2-40B4-BE49-F238E27FC236}">
                <a16:creationId xmlns:a16="http://schemas.microsoft.com/office/drawing/2014/main" id="{3AA05CED-C927-6A69-BC2C-E4F06FD1D9E0}"/>
              </a:ext>
            </a:extLst>
          </p:cNvPr>
          <p:cNvSpPr/>
          <p:nvPr/>
        </p:nvSpPr>
        <p:spPr>
          <a:xfrm>
            <a:off x="4913680" y="5332914"/>
            <a:ext cx="2269833" cy="650976"/>
          </a:xfrm>
          <a:prstGeom prst="roundRect">
            <a:avLst/>
          </a:prstGeom>
          <a:solidFill>
            <a:schemeClr val="accent2"/>
          </a:solidFill>
          <a:ln w="38100">
            <a:solidFill>
              <a:schemeClr val="accent2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Differential if other cell lines are affected?</a:t>
            </a:r>
          </a:p>
        </p:txBody>
      </p:sp>
      <p:sp>
        <p:nvSpPr>
          <p:cNvPr id="21" name="Micocytic">
            <a:extLst>
              <a:ext uri="{FF2B5EF4-FFF2-40B4-BE49-F238E27FC236}">
                <a16:creationId xmlns:a16="http://schemas.microsoft.com/office/drawing/2014/main" id="{D688906B-8C73-E7D3-A89A-15EEC8B3CA66}"/>
              </a:ext>
            </a:extLst>
          </p:cNvPr>
          <p:cNvSpPr/>
          <p:nvPr/>
        </p:nvSpPr>
        <p:spPr>
          <a:xfrm>
            <a:off x="5426294" y="4092252"/>
            <a:ext cx="1757221" cy="4114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Microcytic</a:t>
            </a:r>
          </a:p>
        </p:txBody>
      </p:sp>
      <p:sp>
        <p:nvSpPr>
          <p:cNvPr id="23" name="Normocytic">
            <a:extLst>
              <a:ext uri="{FF2B5EF4-FFF2-40B4-BE49-F238E27FC236}">
                <a16:creationId xmlns:a16="http://schemas.microsoft.com/office/drawing/2014/main" id="{0B95B290-47D0-37C4-2670-F1A08E2E75DD}"/>
              </a:ext>
            </a:extLst>
          </p:cNvPr>
          <p:cNvSpPr/>
          <p:nvPr/>
        </p:nvSpPr>
        <p:spPr>
          <a:xfrm>
            <a:off x="5437935" y="2497111"/>
            <a:ext cx="1757221" cy="411480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Normocytic</a:t>
            </a:r>
          </a:p>
        </p:txBody>
      </p:sp>
      <p:sp>
        <p:nvSpPr>
          <p:cNvPr id="20" name="Macrocytic">
            <a:extLst>
              <a:ext uri="{FF2B5EF4-FFF2-40B4-BE49-F238E27FC236}">
                <a16:creationId xmlns:a16="http://schemas.microsoft.com/office/drawing/2014/main" id="{4E851C18-3778-7F17-74F8-B03EEFCACD25}"/>
              </a:ext>
            </a:extLst>
          </p:cNvPr>
          <p:cNvSpPr/>
          <p:nvPr/>
        </p:nvSpPr>
        <p:spPr>
          <a:xfrm>
            <a:off x="5437935" y="1060234"/>
            <a:ext cx="1757221" cy="4114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38100">
            <a:solidFill>
              <a:schemeClr val="accent1">
                <a:lumMod val="50000"/>
              </a:schemeClr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Macrocytic</a:t>
            </a:r>
          </a:p>
        </p:txBody>
      </p:sp>
      <p:sp>
        <p:nvSpPr>
          <p:cNvPr id="19" name="Underproduction">
            <a:extLst>
              <a:ext uri="{FF2B5EF4-FFF2-40B4-BE49-F238E27FC236}">
                <a16:creationId xmlns:a16="http://schemas.microsoft.com/office/drawing/2014/main" id="{306084C8-B649-F4BE-42FD-D85BF78C1563}"/>
              </a:ext>
            </a:extLst>
          </p:cNvPr>
          <p:cNvSpPr/>
          <p:nvPr/>
        </p:nvSpPr>
        <p:spPr>
          <a:xfrm>
            <a:off x="2159586" y="1631449"/>
            <a:ext cx="1911812" cy="54068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381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Underproduction</a:t>
            </a:r>
          </a:p>
        </p:txBody>
      </p:sp>
      <p:sp>
        <p:nvSpPr>
          <p:cNvPr id="2" name="RI">
            <a:extLst>
              <a:ext uri="{FF2B5EF4-FFF2-40B4-BE49-F238E27FC236}">
                <a16:creationId xmlns:a16="http://schemas.microsoft.com/office/drawing/2014/main" id="{98110860-14C9-89EB-6B68-0E481179E8AA}"/>
              </a:ext>
            </a:extLst>
          </p:cNvPr>
          <p:cNvSpPr txBox="1"/>
          <p:nvPr/>
        </p:nvSpPr>
        <p:spPr>
          <a:xfrm rot="5400000">
            <a:off x="526587" y="2991061"/>
            <a:ext cx="646986" cy="1334127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38100"/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wrap="square" lIns="45720" tIns="18288" rIns="45720" bIns="18288" rtlCol="0" anchor="ctr">
            <a:spAutoFit/>
          </a:bodyPr>
          <a:lstStyle/>
          <a:p>
            <a:pPr lvl="0" algn="ctr"/>
            <a:r>
              <a:rPr lang="en-US" sz="1600" dirty="0">
                <a:solidFill>
                  <a:schemeClr val="bg1"/>
                </a:solidFill>
              </a:rPr>
              <a:t>Reticulocyte Index (RI)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Work-up of anemia">
            <a:extLst>
              <a:ext uri="{FF2B5EF4-FFF2-40B4-BE49-F238E27FC236}">
                <a16:creationId xmlns:a16="http://schemas.microsoft.com/office/drawing/2014/main" id="{B6480B71-E95D-4459-B66D-1205479DF1A2}"/>
              </a:ext>
            </a:extLst>
          </p:cNvPr>
          <p:cNvSpPr txBox="1"/>
          <p:nvPr/>
        </p:nvSpPr>
        <p:spPr>
          <a:xfrm>
            <a:off x="4706879" y="103202"/>
            <a:ext cx="3183926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400" b="1" dirty="0"/>
              <a:t>Underproduction</a:t>
            </a:r>
          </a:p>
        </p:txBody>
      </p:sp>
      <p:sp>
        <p:nvSpPr>
          <p:cNvPr id="16" name="Increased production">
            <a:hlinkClick r:id="rId3" action="ppaction://hlinksldjump"/>
            <a:extLst>
              <a:ext uri="{FF2B5EF4-FFF2-40B4-BE49-F238E27FC236}">
                <a16:creationId xmlns:a16="http://schemas.microsoft.com/office/drawing/2014/main" id="{52C341EC-6FC6-4D00-9F3A-9D58A6EBAF2E}"/>
              </a:ext>
            </a:extLst>
          </p:cNvPr>
          <p:cNvSpPr/>
          <p:nvPr/>
        </p:nvSpPr>
        <p:spPr>
          <a:xfrm>
            <a:off x="2162754" y="5202911"/>
            <a:ext cx="1527504" cy="54068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sym typeface="Wingdings" panose="05000000000000000000" pitchFamily="2" charset="2"/>
              </a:rPr>
              <a:t> production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Macrocytic">
            <a:extLst>
              <a:ext uri="{FF2B5EF4-FFF2-40B4-BE49-F238E27FC236}">
                <a16:creationId xmlns:a16="http://schemas.microsoft.com/office/drawing/2014/main" id="{03DC98C3-AC6A-4BEB-B170-6F8DEA421987}"/>
              </a:ext>
            </a:extLst>
          </p:cNvPr>
          <p:cNvSpPr/>
          <p:nvPr/>
        </p:nvSpPr>
        <p:spPr>
          <a:xfrm>
            <a:off x="5437935" y="1060234"/>
            <a:ext cx="1757221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Macrocytic</a:t>
            </a:r>
          </a:p>
        </p:txBody>
      </p:sp>
      <p:sp>
        <p:nvSpPr>
          <p:cNvPr id="50" name="Micocytic">
            <a:extLst>
              <a:ext uri="{FF2B5EF4-FFF2-40B4-BE49-F238E27FC236}">
                <a16:creationId xmlns:a16="http://schemas.microsoft.com/office/drawing/2014/main" id="{872A45C9-5FFB-43E7-A21B-01791A270247}"/>
              </a:ext>
            </a:extLst>
          </p:cNvPr>
          <p:cNvSpPr/>
          <p:nvPr/>
        </p:nvSpPr>
        <p:spPr>
          <a:xfrm>
            <a:off x="5437935" y="4092252"/>
            <a:ext cx="1757221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Microcytic</a:t>
            </a:r>
          </a:p>
        </p:txBody>
      </p:sp>
      <p:sp>
        <p:nvSpPr>
          <p:cNvPr id="80" name="Normocytic">
            <a:extLst>
              <a:ext uri="{FF2B5EF4-FFF2-40B4-BE49-F238E27FC236}">
                <a16:creationId xmlns:a16="http://schemas.microsoft.com/office/drawing/2014/main" id="{5D88B871-6154-4D25-BF43-0A5D76EC489D}"/>
              </a:ext>
            </a:extLst>
          </p:cNvPr>
          <p:cNvSpPr/>
          <p:nvPr/>
        </p:nvSpPr>
        <p:spPr>
          <a:xfrm>
            <a:off x="5437935" y="2497111"/>
            <a:ext cx="1757221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Normocytic</a:t>
            </a:r>
          </a:p>
        </p:txBody>
      </p:sp>
      <p:cxnSp>
        <p:nvCxnSpPr>
          <p:cNvPr id="37" name="Connector to macrocytic">
            <a:extLst>
              <a:ext uri="{FF2B5EF4-FFF2-40B4-BE49-F238E27FC236}">
                <a16:creationId xmlns:a16="http://schemas.microsoft.com/office/drawing/2014/main" id="{836E5B7A-F66E-4B24-A6F9-356969A96290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4071398" y="1265974"/>
            <a:ext cx="1366537" cy="635819"/>
          </a:xfrm>
          <a:prstGeom prst="bentConnector3">
            <a:avLst>
              <a:gd name="adj1" fmla="val 29276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5187F743-8E0F-4FEE-895A-14DC6091DF30}"/>
              </a:ext>
            </a:extLst>
          </p:cNvPr>
          <p:cNvSpPr txBox="1"/>
          <p:nvPr/>
        </p:nvSpPr>
        <p:spPr>
          <a:xfrm>
            <a:off x="4643593" y="1114447"/>
            <a:ext cx="640080" cy="27699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/>
              <a:t>&gt;100</a:t>
            </a:r>
          </a:p>
        </p:txBody>
      </p:sp>
      <p:cxnSp>
        <p:nvCxnSpPr>
          <p:cNvPr id="110" name="Connector to normocytic">
            <a:extLst>
              <a:ext uri="{FF2B5EF4-FFF2-40B4-BE49-F238E27FC236}">
                <a16:creationId xmlns:a16="http://schemas.microsoft.com/office/drawing/2014/main" id="{C0969422-5D11-4243-9F23-6D46F9BBF741}"/>
              </a:ext>
            </a:extLst>
          </p:cNvPr>
          <p:cNvCxnSpPr>
            <a:cxnSpLocks/>
            <a:endCxn id="80" idx="1"/>
          </p:cNvCxnSpPr>
          <p:nvPr/>
        </p:nvCxnSpPr>
        <p:spPr>
          <a:xfrm>
            <a:off x="4466120" y="2702851"/>
            <a:ext cx="97181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1B5415AE-918B-4E0B-A1E1-87BADEB14599}"/>
              </a:ext>
            </a:extLst>
          </p:cNvPr>
          <p:cNvSpPr txBox="1"/>
          <p:nvPr/>
        </p:nvSpPr>
        <p:spPr>
          <a:xfrm>
            <a:off x="4643593" y="2561115"/>
            <a:ext cx="640080" cy="27699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80-100</a:t>
            </a:r>
          </a:p>
        </p:txBody>
      </p:sp>
      <p:cxnSp>
        <p:nvCxnSpPr>
          <p:cNvPr id="47" name="Connector to microcytic">
            <a:extLst>
              <a:ext uri="{FF2B5EF4-FFF2-40B4-BE49-F238E27FC236}">
                <a16:creationId xmlns:a16="http://schemas.microsoft.com/office/drawing/2014/main" id="{099F750D-AAB6-4D17-B03A-35AF3A5A3DAA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4071398" y="1901793"/>
            <a:ext cx="1366537" cy="2396199"/>
          </a:xfrm>
          <a:prstGeom prst="bentConnector3">
            <a:avLst>
              <a:gd name="adj1" fmla="val 28811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22D64BCE-1644-4D55-A491-2DBC1F7FD5B1}"/>
              </a:ext>
            </a:extLst>
          </p:cNvPr>
          <p:cNvSpPr txBox="1"/>
          <p:nvPr/>
        </p:nvSpPr>
        <p:spPr>
          <a:xfrm>
            <a:off x="4643593" y="4145181"/>
            <a:ext cx="640080" cy="27699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/>
              <a:t>&lt;80</a:t>
            </a:r>
          </a:p>
        </p:txBody>
      </p:sp>
      <p:sp>
        <p:nvSpPr>
          <p:cNvPr id="72" name="MCV">
            <a:extLst>
              <a:ext uri="{FF2B5EF4-FFF2-40B4-BE49-F238E27FC236}">
                <a16:creationId xmlns:a16="http://schemas.microsoft.com/office/drawing/2014/main" id="{1384608F-84AD-4C7C-B051-D470AB8E2042}"/>
              </a:ext>
            </a:extLst>
          </p:cNvPr>
          <p:cNvSpPr/>
          <p:nvPr/>
        </p:nvSpPr>
        <p:spPr>
          <a:xfrm>
            <a:off x="4182384" y="1723435"/>
            <a:ext cx="577576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MCV</a:t>
            </a:r>
          </a:p>
        </p:txBody>
      </p:sp>
      <p:sp>
        <p:nvSpPr>
          <p:cNvPr id="130" name="Iron deficiency anemia">
            <a:extLst>
              <a:ext uri="{FF2B5EF4-FFF2-40B4-BE49-F238E27FC236}">
                <a16:creationId xmlns:a16="http://schemas.microsoft.com/office/drawing/2014/main" id="{5B3D9387-E1B3-4A64-8BB3-4A9267CD47AC}"/>
              </a:ext>
            </a:extLst>
          </p:cNvPr>
          <p:cNvSpPr txBox="1"/>
          <p:nvPr/>
        </p:nvSpPr>
        <p:spPr>
          <a:xfrm>
            <a:off x="7856618" y="3971599"/>
            <a:ext cx="1757221" cy="276999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Iron deficiency anemia</a:t>
            </a:r>
          </a:p>
        </p:txBody>
      </p:sp>
      <p:sp>
        <p:nvSpPr>
          <p:cNvPr id="131" name="Thalassemias">
            <a:extLst>
              <a:ext uri="{FF2B5EF4-FFF2-40B4-BE49-F238E27FC236}">
                <a16:creationId xmlns:a16="http://schemas.microsoft.com/office/drawing/2014/main" id="{86115BD4-2E56-4068-885A-F9D2B041510A}"/>
              </a:ext>
            </a:extLst>
          </p:cNvPr>
          <p:cNvSpPr txBox="1"/>
          <p:nvPr/>
        </p:nvSpPr>
        <p:spPr>
          <a:xfrm>
            <a:off x="7856618" y="4349189"/>
            <a:ext cx="1757221" cy="306467"/>
          </a:xfrm>
          <a:prstGeom prst="roundRect">
            <a:avLst>
              <a:gd name="adj" fmla="val 2949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err="1"/>
              <a:t>Thalassemias</a:t>
            </a:r>
            <a:endParaRPr lang="en-US" sz="1200"/>
          </a:p>
        </p:txBody>
      </p:sp>
      <p:sp>
        <p:nvSpPr>
          <p:cNvPr id="132" name="Sideroblastic anemias">
            <a:extLst>
              <a:ext uri="{FF2B5EF4-FFF2-40B4-BE49-F238E27FC236}">
                <a16:creationId xmlns:a16="http://schemas.microsoft.com/office/drawing/2014/main" id="{E583EF52-F76C-4AB7-B985-989C7F45CFD3}"/>
              </a:ext>
            </a:extLst>
          </p:cNvPr>
          <p:cNvSpPr txBox="1"/>
          <p:nvPr/>
        </p:nvSpPr>
        <p:spPr>
          <a:xfrm>
            <a:off x="7856617" y="4756247"/>
            <a:ext cx="1757221" cy="276999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/>
              <a:t>Sideroblastic anemia</a:t>
            </a:r>
          </a:p>
        </p:txBody>
      </p:sp>
      <p:sp>
        <p:nvSpPr>
          <p:cNvPr id="133" name="Anemia of chronic inflammation">
            <a:extLst>
              <a:ext uri="{FF2B5EF4-FFF2-40B4-BE49-F238E27FC236}">
                <a16:creationId xmlns:a16="http://schemas.microsoft.com/office/drawing/2014/main" id="{0D2C925D-C15C-4C2B-A1E3-3A98FC1747BD}"/>
              </a:ext>
            </a:extLst>
          </p:cNvPr>
          <p:cNvSpPr txBox="1"/>
          <p:nvPr/>
        </p:nvSpPr>
        <p:spPr>
          <a:xfrm>
            <a:off x="7856617" y="3360230"/>
            <a:ext cx="1757221" cy="510778"/>
          </a:xfrm>
          <a:prstGeom prst="roundRect">
            <a:avLst>
              <a:gd name="adj" fmla="val 0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/>
              <a:t>Anemia of chronic inflammation</a:t>
            </a:r>
          </a:p>
        </p:txBody>
      </p:sp>
      <p:sp>
        <p:nvSpPr>
          <p:cNvPr id="134" name="Anemia of CKD">
            <a:extLst>
              <a:ext uri="{FF2B5EF4-FFF2-40B4-BE49-F238E27FC236}">
                <a16:creationId xmlns:a16="http://schemas.microsoft.com/office/drawing/2014/main" id="{79E7A8F9-61D8-4C53-94C1-53DC35F088B0}"/>
              </a:ext>
            </a:extLst>
          </p:cNvPr>
          <p:cNvSpPr txBox="1"/>
          <p:nvPr/>
        </p:nvSpPr>
        <p:spPr>
          <a:xfrm>
            <a:off x="7856616" y="2982640"/>
            <a:ext cx="1757221" cy="276999"/>
          </a:xfrm>
          <a:prstGeom prst="rect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Anemia of CKD</a:t>
            </a:r>
          </a:p>
        </p:txBody>
      </p:sp>
      <p:sp>
        <p:nvSpPr>
          <p:cNvPr id="135" name="Acute blood loss">
            <a:extLst>
              <a:ext uri="{FF2B5EF4-FFF2-40B4-BE49-F238E27FC236}">
                <a16:creationId xmlns:a16="http://schemas.microsoft.com/office/drawing/2014/main" id="{6A1FA175-B826-4462-815F-CA12A766A8FA}"/>
              </a:ext>
            </a:extLst>
          </p:cNvPr>
          <p:cNvSpPr txBox="1"/>
          <p:nvPr/>
        </p:nvSpPr>
        <p:spPr>
          <a:xfrm>
            <a:off x="7856615" y="2605050"/>
            <a:ext cx="1757221" cy="27699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/>
              <a:t>Acute blood loss</a:t>
            </a:r>
          </a:p>
        </p:txBody>
      </p:sp>
      <p:sp>
        <p:nvSpPr>
          <p:cNvPr id="136" name="Primary bone marrow issues">
            <a:extLst>
              <a:ext uri="{FF2B5EF4-FFF2-40B4-BE49-F238E27FC236}">
                <a16:creationId xmlns:a16="http://schemas.microsoft.com/office/drawing/2014/main" id="{5290DC54-539F-41F1-8CA6-687AAAA36BF8}"/>
              </a:ext>
            </a:extLst>
          </p:cNvPr>
          <p:cNvSpPr txBox="1"/>
          <p:nvPr/>
        </p:nvSpPr>
        <p:spPr>
          <a:xfrm>
            <a:off x="7867149" y="2042794"/>
            <a:ext cx="1732563" cy="461665"/>
          </a:xfrm>
          <a:prstGeom prst="rect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/>
              <a:t>Primary bone marrow pathologies</a:t>
            </a:r>
          </a:p>
        </p:txBody>
      </p:sp>
      <p:sp>
        <p:nvSpPr>
          <p:cNvPr id="138" name="Megaloblastic anemia">
            <a:extLst>
              <a:ext uri="{FF2B5EF4-FFF2-40B4-BE49-F238E27FC236}">
                <a16:creationId xmlns:a16="http://schemas.microsoft.com/office/drawing/2014/main" id="{C831BB80-D4DF-480C-A3B7-16B6A165F73E}"/>
              </a:ext>
            </a:extLst>
          </p:cNvPr>
          <p:cNvSpPr txBox="1"/>
          <p:nvPr/>
        </p:nvSpPr>
        <p:spPr>
          <a:xfrm>
            <a:off x="7854818" y="1665204"/>
            <a:ext cx="1742600" cy="276999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/>
              <a:t>Megaloblastic anemia</a:t>
            </a:r>
          </a:p>
        </p:txBody>
      </p:sp>
      <p:sp>
        <p:nvSpPr>
          <p:cNvPr id="139" name="Hypothyroidism">
            <a:extLst>
              <a:ext uri="{FF2B5EF4-FFF2-40B4-BE49-F238E27FC236}">
                <a16:creationId xmlns:a16="http://schemas.microsoft.com/office/drawing/2014/main" id="{5E07C739-CCFF-43B7-ABD0-A3BCAE279ABA}"/>
              </a:ext>
            </a:extLst>
          </p:cNvPr>
          <p:cNvSpPr txBox="1"/>
          <p:nvPr/>
        </p:nvSpPr>
        <p:spPr>
          <a:xfrm>
            <a:off x="7854819" y="1258146"/>
            <a:ext cx="1757221" cy="306467"/>
          </a:xfrm>
          <a:prstGeom prst="roundRect">
            <a:avLst>
              <a:gd name="adj" fmla="val 0"/>
            </a:avLst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/>
              <a:t>Severe hypothyroidism</a:t>
            </a:r>
          </a:p>
        </p:txBody>
      </p:sp>
      <p:sp>
        <p:nvSpPr>
          <p:cNvPr id="140" name="Liver disease/ETOH">
            <a:extLst>
              <a:ext uri="{FF2B5EF4-FFF2-40B4-BE49-F238E27FC236}">
                <a16:creationId xmlns:a16="http://schemas.microsoft.com/office/drawing/2014/main" id="{990D240A-253E-4D6F-A4C3-225E546B7D84}"/>
              </a:ext>
            </a:extLst>
          </p:cNvPr>
          <p:cNvSpPr txBox="1"/>
          <p:nvPr/>
        </p:nvSpPr>
        <p:spPr>
          <a:xfrm>
            <a:off x="7854818" y="851088"/>
            <a:ext cx="1757221" cy="306467"/>
          </a:xfrm>
          <a:prstGeom prst="roundRect">
            <a:avLst>
              <a:gd name="adj" fmla="val 0"/>
            </a:avLst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/>
              <a:t>Liver disease/ ETOH</a:t>
            </a:r>
          </a:p>
        </p:txBody>
      </p:sp>
      <p:sp>
        <p:nvSpPr>
          <p:cNvPr id="144" name="Brace Normocytic">
            <a:extLst>
              <a:ext uri="{FF2B5EF4-FFF2-40B4-BE49-F238E27FC236}">
                <a16:creationId xmlns:a16="http://schemas.microsoft.com/office/drawing/2014/main" id="{A7C1E659-EA75-4E50-A1FE-80E546272BCD}"/>
              </a:ext>
            </a:extLst>
          </p:cNvPr>
          <p:cNvSpPr/>
          <p:nvPr/>
        </p:nvSpPr>
        <p:spPr>
          <a:xfrm>
            <a:off x="7183514" y="2221230"/>
            <a:ext cx="568984" cy="1450937"/>
          </a:xfrm>
          <a:prstGeom prst="leftBrace">
            <a:avLst>
              <a:gd name="adj1" fmla="val 0"/>
              <a:gd name="adj2" fmla="val 33419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Brace Microcytic">
            <a:extLst>
              <a:ext uri="{FF2B5EF4-FFF2-40B4-BE49-F238E27FC236}">
                <a16:creationId xmlns:a16="http://schemas.microsoft.com/office/drawing/2014/main" id="{F3DC7E95-FFC7-4079-9AC8-FC858ABAB4FB}"/>
              </a:ext>
            </a:extLst>
          </p:cNvPr>
          <p:cNvSpPr/>
          <p:nvPr/>
        </p:nvSpPr>
        <p:spPr>
          <a:xfrm>
            <a:off x="7183514" y="3711579"/>
            <a:ext cx="566190" cy="1819755"/>
          </a:xfrm>
          <a:prstGeom prst="leftBrace">
            <a:avLst>
              <a:gd name="adj1" fmla="val 0"/>
              <a:gd name="adj2" fmla="val 33275"/>
            </a:avLst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0" name="Connector Fe deficiency">
            <a:extLst>
              <a:ext uri="{FF2B5EF4-FFF2-40B4-BE49-F238E27FC236}">
                <a16:creationId xmlns:a16="http://schemas.microsoft.com/office/drawing/2014/main" id="{1A4931AA-BC18-463A-A40D-60A9AE1528E8}"/>
              </a:ext>
            </a:extLst>
          </p:cNvPr>
          <p:cNvCxnSpPr>
            <a:cxnSpLocks/>
          </p:cNvCxnSpPr>
          <p:nvPr/>
        </p:nvCxnSpPr>
        <p:spPr>
          <a:xfrm>
            <a:off x="9610213" y="4109230"/>
            <a:ext cx="241812" cy="1125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Iron deficiency info">
            <a:extLst>
              <a:ext uri="{FF2B5EF4-FFF2-40B4-BE49-F238E27FC236}">
                <a16:creationId xmlns:a16="http://schemas.microsoft.com/office/drawing/2014/main" id="{E8BFBEDB-C347-41ED-8632-7A66A5B34655}"/>
              </a:ext>
            </a:extLst>
          </p:cNvPr>
          <p:cNvGrpSpPr/>
          <p:nvPr/>
        </p:nvGrpSpPr>
        <p:grpSpPr>
          <a:xfrm>
            <a:off x="9837583" y="3766959"/>
            <a:ext cx="2167524" cy="803628"/>
            <a:chOff x="10103376" y="2995764"/>
            <a:chExt cx="1835895" cy="803628"/>
          </a:xfrm>
        </p:grpSpPr>
        <p:grpSp>
          <p:nvGrpSpPr>
            <p:cNvPr id="156" name="Fe deficiency">
              <a:extLst>
                <a:ext uri="{FF2B5EF4-FFF2-40B4-BE49-F238E27FC236}">
                  <a16:creationId xmlns:a16="http://schemas.microsoft.com/office/drawing/2014/main" id="{0EC11C6D-99DC-4EE5-A79A-A71F889E44FA}"/>
                </a:ext>
              </a:extLst>
            </p:cNvPr>
            <p:cNvGrpSpPr/>
            <p:nvPr/>
          </p:nvGrpSpPr>
          <p:grpSpPr>
            <a:xfrm>
              <a:off x="10116922" y="2995764"/>
              <a:ext cx="1822349" cy="803628"/>
              <a:chOff x="10116922" y="3273592"/>
              <a:chExt cx="1822349" cy="619252"/>
            </a:xfrm>
          </p:grpSpPr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9AECD227-69E0-429C-937F-0C1D39A6D6CB}"/>
                  </a:ext>
                </a:extLst>
              </p:cNvPr>
              <p:cNvSpPr/>
              <p:nvPr/>
            </p:nvSpPr>
            <p:spPr>
              <a:xfrm>
                <a:off x="10116922" y="3273592"/>
                <a:ext cx="1822349" cy="61925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48" name="Hypochromic smear">
                <a:extLst>
                  <a:ext uri="{FF2B5EF4-FFF2-40B4-BE49-F238E27FC236}">
                    <a16:creationId xmlns:a16="http://schemas.microsoft.com/office/drawing/2014/main" id="{AD828532-A10D-42B8-864E-2311CCF68E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57160" y="3317676"/>
                <a:ext cx="599808" cy="514482"/>
              </a:xfrm>
              <a:prstGeom prst="rect">
                <a:avLst/>
              </a:prstGeom>
            </p:spPr>
          </p:pic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EB7E3CBE-1FC0-4193-B61E-78ADAC14B04D}"/>
                  </a:ext>
                </a:extLst>
              </p:cNvPr>
              <p:cNvSpPr txBox="1"/>
              <p:nvPr/>
            </p:nvSpPr>
            <p:spPr>
              <a:xfrm>
                <a:off x="10122679" y="3295962"/>
                <a:ext cx="1183222" cy="30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17475" indent="-117475">
                  <a:buFont typeface="Arial" panose="020B0604020202020204" pitchFamily="34" charset="0"/>
                  <a:buChar char="•"/>
                </a:pPr>
                <a:r>
                  <a:rPr lang="en-US" sz="1000"/>
                  <a:t>Adults: blood loss </a:t>
                </a:r>
              </a:p>
              <a:p>
                <a:pPr marL="117475" indent="-117475">
                  <a:buFont typeface="Arial" panose="020B0604020202020204" pitchFamily="34" charset="0"/>
                  <a:buChar char="•"/>
                </a:pPr>
                <a:r>
                  <a:rPr lang="en-US" sz="1000"/>
                  <a:t>Children: </a:t>
                </a:r>
                <a:r>
                  <a:rPr lang="en-US" sz="1000">
                    <a:sym typeface="Wingdings" panose="05000000000000000000" pitchFamily="2" charset="2"/>
                  </a:rPr>
                  <a:t> </a:t>
                </a:r>
                <a:r>
                  <a:rPr lang="en-US" sz="1000"/>
                  <a:t>nutrition</a:t>
                </a:r>
              </a:p>
            </p:txBody>
          </p:sp>
        </p:grp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6FAF9B39-47D7-44B8-B411-D716F15AA423}"/>
                </a:ext>
              </a:extLst>
            </p:cNvPr>
            <p:cNvSpPr/>
            <p:nvPr/>
          </p:nvSpPr>
          <p:spPr>
            <a:xfrm>
              <a:off x="10103376" y="3535569"/>
              <a:ext cx="1177108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i="1"/>
                <a:t>Hypochromic small RBCs.</a:t>
              </a:r>
            </a:p>
          </p:txBody>
        </p:sp>
      </p:grpSp>
      <p:grpSp>
        <p:nvGrpSpPr>
          <p:cNvPr id="165" name="Sideroblastic anemia info">
            <a:extLst>
              <a:ext uri="{FF2B5EF4-FFF2-40B4-BE49-F238E27FC236}">
                <a16:creationId xmlns:a16="http://schemas.microsoft.com/office/drawing/2014/main" id="{5A90B1A0-5A40-4B4E-AC2E-AB67EF10CFE6}"/>
              </a:ext>
            </a:extLst>
          </p:cNvPr>
          <p:cNvGrpSpPr/>
          <p:nvPr/>
        </p:nvGrpSpPr>
        <p:grpSpPr>
          <a:xfrm>
            <a:off x="9852025" y="4667330"/>
            <a:ext cx="2167522" cy="1035314"/>
            <a:chOff x="8004808" y="4778750"/>
            <a:chExt cx="2309240" cy="1035314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EB2EAD6-118A-485B-A752-1A7F45A6010F}"/>
                </a:ext>
              </a:extLst>
            </p:cNvPr>
            <p:cNvSpPr/>
            <p:nvPr/>
          </p:nvSpPr>
          <p:spPr>
            <a:xfrm>
              <a:off x="8009618" y="4778750"/>
              <a:ext cx="2275553" cy="103531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8" name="Picture 157" descr="A picture containing fruit, food&#10;&#10;Description automatically generated">
              <a:extLst>
                <a:ext uri="{FF2B5EF4-FFF2-40B4-BE49-F238E27FC236}">
                  <a16:creationId xmlns:a16="http://schemas.microsoft.com/office/drawing/2014/main" id="{21A69A0A-C577-4CBA-97E7-BD289D325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2638" y="4875026"/>
              <a:ext cx="893790" cy="637270"/>
            </a:xfrm>
            <a:prstGeom prst="rect">
              <a:avLst/>
            </a:prstGeom>
          </p:spPr>
        </p:pic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9B1F2DC9-CBCA-4645-BF86-77D6A7C96A70}"/>
                </a:ext>
              </a:extLst>
            </p:cNvPr>
            <p:cNvSpPr txBox="1"/>
            <p:nvPr/>
          </p:nvSpPr>
          <p:spPr>
            <a:xfrm>
              <a:off x="9083999" y="5502487"/>
              <a:ext cx="123004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i="1"/>
                <a:t>Ringed </a:t>
              </a:r>
              <a:r>
                <a:rPr lang="en-US" sz="900" i="1" err="1"/>
                <a:t>sideroblasts</a:t>
              </a:r>
              <a:r>
                <a:rPr lang="en-US" sz="900" i="1"/>
                <a:t> 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6600779-5FAD-4DCC-BD1E-9440A344E950}"/>
                </a:ext>
              </a:extLst>
            </p:cNvPr>
            <p:cNvSpPr txBox="1"/>
            <p:nvPr/>
          </p:nvSpPr>
          <p:spPr>
            <a:xfrm>
              <a:off x="8004808" y="4789738"/>
              <a:ext cx="139200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7475" indent="-117475">
                <a:buFont typeface="Arial" panose="020B0604020202020204" pitchFamily="34" charset="0"/>
                <a:buChar char="•"/>
              </a:pPr>
              <a:r>
                <a:rPr lang="en-US" sz="1000"/>
                <a:t>Congenital</a:t>
              </a:r>
            </a:p>
            <a:p>
              <a:pPr marL="117475" indent="-117475">
                <a:buFont typeface="Arial" panose="020B0604020202020204" pitchFamily="34" charset="0"/>
                <a:buChar char="•"/>
              </a:pPr>
              <a:r>
                <a:rPr lang="en-US" sz="1000"/>
                <a:t>Acquired</a:t>
              </a:r>
            </a:p>
            <a:p>
              <a:pPr marL="227013" lvl="1" indent="-112713">
                <a:buFont typeface="Arial" panose="020B0604020202020204" pitchFamily="34" charset="0"/>
                <a:buChar char="•"/>
              </a:pPr>
              <a:r>
                <a:rPr lang="en-US" sz="1000"/>
                <a:t>Zn toxicity</a:t>
              </a:r>
            </a:p>
            <a:p>
              <a:pPr marL="227013" lvl="1" indent="-112713">
                <a:buFont typeface="Arial" panose="020B0604020202020204" pitchFamily="34" charset="0"/>
                <a:buChar char="•"/>
              </a:pPr>
              <a:r>
                <a:rPr lang="en-US" sz="1000"/>
                <a:t>Hypothermia</a:t>
              </a:r>
            </a:p>
            <a:p>
              <a:pPr marL="227013" lvl="1" indent="-112713">
                <a:buFont typeface="Arial" panose="020B0604020202020204" pitchFamily="34" charset="0"/>
                <a:buChar char="•"/>
              </a:pPr>
              <a:r>
                <a:rPr lang="en-US" sz="1000"/>
                <a:t>Drugs (INH, linezolid)</a:t>
              </a:r>
            </a:p>
          </p:txBody>
        </p:sp>
      </p:grpSp>
      <p:sp>
        <p:nvSpPr>
          <p:cNvPr id="166" name="Lead poisoning">
            <a:extLst>
              <a:ext uri="{FF2B5EF4-FFF2-40B4-BE49-F238E27FC236}">
                <a16:creationId xmlns:a16="http://schemas.microsoft.com/office/drawing/2014/main" id="{B0B8A18B-4FA1-4697-AA1C-035796AF3395}"/>
              </a:ext>
            </a:extLst>
          </p:cNvPr>
          <p:cNvSpPr txBox="1"/>
          <p:nvPr/>
        </p:nvSpPr>
        <p:spPr>
          <a:xfrm>
            <a:off x="7856614" y="5133836"/>
            <a:ext cx="1757221" cy="306467"/>
          </a:xfrm>
          <a:prstGeom prst="roundRect">
            <a:avLst>
              <a:gd name="adj" fmla="val 6379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/>
              <a:t>Lead poisoning</a:t>
            </a:r>
          </a:p>
        </p:txBody>
      </p:sp>
      <p:cxnSp>
        <p:nvCxnSpPr>
          <p:cNvPr id="168" name="Connector to sideroblastic anemia">
            <a:extLst>
              <a:ext uri="{FF2B5EF4-FFF2-40B4-BE49-F238E27FC236}">
                <a16:creationId xmlns:a16="http://schemas.microsoft.com/office/drawing/2014/main" id="{6A8F3052-5C5F-47C6-8D82-363BE8ACA6D5}"/>
              </a:ext>
            </a:extLst>
          </p:cNvPr>
          <p:cNvCxnSpPr>
            <a:cxnSpLocks/>
          </p:cNvCxnSpPr>
          <p:nvPr/>
        </p:nvCxnSpPr>
        <p:spPr>
          <a:xfrm>
            <a:off x="9613838" y="4897657"/>
            <a:ext cx="242701" cy="2433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86FD9C59-34DF-43DB-A3AB-7E7C9D0CD0CD}"/>
              </a:ext>
            </a:extLst>
          </p:cNvPr>
          <p:cNvSpPr txBox="1"/>
          <p:nvPr/>
        </p:nvSpPr>
        <p:spPr>
          <a:xfrm>
            <a:off x="9834961" y="2926259"/>
            <a:ext cx="1607305" cy="4001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Kidney disease leads to </a:t>
            </a:r>
            <a:r>
              <a:rPr lang="en-US" sz="1000" dirty="0">
                <a:sym typeface="Wingdings" panose="05000000000000000000" pitchFamily="2" charset="2"/>
              </a:rPr>
              <a:t> EPO   RBC production.</a:t>
            </a:r>
            <a:endParaRPr lang="en-US" sz="1000" dirty="0"/>
          </a:p>
        </p:txBody>
      </p:sp>
      <p:cxnSp>
        <p:nvCxnSpPr>
          <p:cNvPr id="177" name="Connector for ACKD">
            <a:extLst>
              <a:ext uri="{FF2B5EF4-FFF2-40B4-BE49-F238E27FC236}">
                <a16:creationId xmlns:a16="http://schemas.microsoft.com/office/drawing/2014/main" id="{1A69D418-976F-4B63-9410-CCF9F75D1F1D}"/>
              </a:ext>
            </a:extLst>
          </p:cNvPr>
          <p:cNvCxnSpPr>
            <a:cxnSpLocks/>
            <a:stCxn id="134" idx="3"/>
            <a:endCxn id="175" idx="1"/>
          </p:cNvCxnSpPr>
          <p:nvPr/>
        </p:nvCxnSpPr>
        <p:spPr>
          <a:xfrm>
            <a:off x="9613837" y="3121140"/>
            <a:ext cx="221124" cy="5175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for primary bone marrow info">
            <a:extLst>
              <a:ext uri="{FF2B5EF4-FFF2-40B4-BE49-F238E27FC236}">
                <a16:creationId xmlns:a16="http://schemas.microsoft.com/office/drawing/2014/main" id="{E164B3AD-F241-4346-96E2-4CF2BEA434D9}"/>
              </a:ext>
            </a:extLst>
          </p:cNvPr>
          <p:cNvCxnSpPr>
            <a:cxnSpLocks/>
            <a:stCxn id="136" idx="3"/>
          </p:cNvCxnSpPr>
          <p:nvPr/>
        </p:nvCxnSpPr>
        <p:spPr>
          <a:xfrm flipV="1">
            <a:off x="9599712" y="2273300"/>
            <a:ext cx="242788" cy="32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Primary BM box">
            <a:extLst>
              <a:ext uri="{FF2B5EF4-FFF2-40B4-BE49-F238E27FC236}">
                <a16:creationId xmlns:a16="http://schemas.microsoft.com/office/drawing/2014/main" id="{62B7D34D-9639-48E3-9D11-E2C73C0A322B}"/>
              </a:ext>
            </a:extLst>
          </p:cNvPr>
          <p:cNvSpPr/>
          <p:nvPr/>
        </p:nvSpPr>
        <p:spPr>
          <a:xfrm>
            <a:off x="9847602" y="1929302"/>
            <a:ext cx="2084713" cy="87534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Primary BM info">
            <a:extLst>
              <a:ext uri="{FF2B5EF4-FFF2-40B4-BE49-F238E27FC236}">
                <a16:creationId xmlns:a16="http://schemas.microsoft.com/office/drawing/2014/main" id="{AEEF4385-C4C3-4E76-8E6F-74D88244483B}"/>
              </a:ext>
            </a:extLst>
          </p:cNvPr>
          <p:cNvSpPr txBox="1"/>
          <p:nvPr/>
        </p:nvSpPr>
        <p:spPr>
          <a:xfrm>
            <a:off x="9853940" y="1952955"/>
            <a:ext cx="1382762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14300" lvl="0" indent="-114300">
              <a:buFont typeface="Arial" panose="020B0604020202020204" pitchFamily="34" charset="0"/>
              <a:buChar char="•"/>
            </a:pPr>
            <a:r>
              <a:rPr lang="en-US" sz="1000" dirty="0">
                <a:sym typeface="Wingdings" panose="05000000000000000000" pitchFamily="2" charset="2"/>
              </a:rPr>
              <a:t>Myelodysplastic syndromes</a:t>
            </a:r>
          </a:p>
          <a:p>
            <a:pPr marL="114300" lvl="0" indent="-114300">
              <a:buFont typeface="Arial" panose="020B0604020202020204" pitchFamily="34" charset="0"/>
              <a:buChar char="•"/>
            </a:pPr>
            <a:r>
              <a:rPr lang="en-US" sz="1000" dirty="0">
                <a:sym typeface="Wingdings" panose="05000000000000000000" pitchFamily="2" charset="2"/>
              </a:rPr>
              <a:t>Multiple myeloma</a:t>
            </a:r>
          </a:p>
          <a:p>
            <a:pPr marL="114300" lvl="0" indent="-114300">
              <a:buFont typeface="Arial" panose="020B0604020202020204" pitchFamily="34" charset="0"/>
              <a:buChar char="•"/>
            </a:pPr>
            <a:r>
              <a:rPr lang="en-US" sz="1000" dirty="0">
                <a:sym typeface="Wingdings" panose="05000000000000000000" pitchFamily="2" charset="2"/>
              </a:rPr>
              <a:t>Aplastic Anemia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00" dirty="0">
                <a:sym typeface="Wingdings" panose="05000000000000000000" pitchFamily="2" charset="2"/>
              </a:rPr>
              <a:t>Leukemia</a:t>
            </a:r>
          </a:p>
        </p:txBody>
      </p:sp>
      <p:cxnSp>
        <p:nvCxnSpPr>
          <p:cNvPr id="189" name="Connector Megaloblastic">
            <a:extLst>
              <a:ext uri="{FF2B5EF4-FFF2-40B4-BE49-F238E27FC236}">
                <a16:creationId xmlns:a16="http://schemas.microsoft.com/office/drawing/2014/main" id="{44AA16E3-6864-4686-87F5-F806ADE010C3}"/>
              </a:ext>
            </a:extLst>
          </p:cNvPr>
          <p:cNvCxnSpPr>
            <a:cxnSpLocks/>
          </p:cNvCxnSpPr>
          <p:nvPr/>
        </p:nvCxnSpPr>
        <p:spPr>
          <a:xfrm>
            <a:off x="9597418" y="1777952"/>
            <a:ext cx="294300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8" name="Megaloblastic info">
            <a:extLst>
              <a:ext uri="{FF2B5EF4-FFF2-40B4-BE49-F238E27FC236}">
                <a16:creationId xmlns:a16="http://schemas.microsoft.com/office/drawing/2014/main" id="{C55F9FCB-A7C7-4FC4-98AF-AED95E606D33}"/>
              </a:ext>
            </a:extLst>
          </p:cNvPr>
          <p:cNvGrpSpPr/>
          <p:nvPr/>
        </p:nvGrpSpPr>
        <p:grpSpPr>
          <a:xfrm>
            <a:off x="9839065" y="820343"/>
            <a:ext cx="2153377" cy="1066137"/>
            <a:chOff x="9887234" y="487223"/>
            <a:chExt cx="2153377" cy="1066137"/>
          </a:xfrm>
        </p:grpSpPr>
        <p:grpSp>
          <p:nvGrpSpPr>
            <p:cNvPr id="190" name="Megaloblastic anemia">
              <a:extLst>
                <a:ext uri="{FF2B5EF4-FFF2-40B4-BE49-F238E27FC236}">
                  <a16:creationId xmlns:a16="http://schemas.microsoft.com/office/drawing/2014/main" id="{16772E7D-7BE4-46D0-AE89-3EC2F389D46F}"/>
                </a:ext>
              </a:extLst>
            </p:cNvPr>
            <p:cNvGrpSpPr/>
            <p:nvPr/>
          </p:nvGrpSpPr>
          <p:grpSpPr>
            <a:xfrm>
              <a:off x="9887234" y="487223"/>
              <a:ext cx="2153377" cy="1066137"/>
              <a:chOff x="10085786" y="2895759"/>
              <a:chExt cx="1822350" cy="1197999"/>
            </a:xfrm>
          </p:grpSpPr>
          <p:grpSp>
            <p:nvGrpSpPr>
              <p:cNvPr id="191" name="Fe deficiency">
                <a:extLst>
                  <a:ext uri="{FF2B5EF4-FFF2-40B4-BE49-F238E27FC236}">
                    <a16:creationId xmlns:a16="http://schemas.microsoft.com/office/drawing/2014/main" id="{709444D7-93A3-4E98-A1F3-CA0B86D4DCAE}"/>
                  </a:ext>
                </a:extLst>
              </p:cNvPr>
              <p:cNvGrpSpPr/>
              <p:nvPr/>
            </p:nvGrpSpPr>
            <p:grpSpPr>
              <a:xfrm>
                <a:off x="10085786" y="2895759"/>
                <a:ext cx="1822349" cy="1164153"/>
                <a:chOff x="10085786" y="3196532"/>
                <a:chExt cx="1822349" cy="897062"/>
              </a:xfrm>
            </p:grpSpPr>
            <p:sp>
              <p:nvSpPr>
                <p:cNvPr id="193" name="Rectangle 192">
                  <a:extLst>
                    <a:ext uri="{FF2B5EF4-FFF2-40B4-BE49-F238E27FC236}">
                      <a16:creationId xmlns:a16="http://schemas.microsoft.com/office/drawing/2014/main" id="{618128BB-E606-4FBD-BDA9-93EF86B30BDF}"/>
                    </a:ext>
                  </a:extLst>
                </p:cNvPr>
                <p:cNvSpPr/>
                <p:nvPr/>
              </p:nvSpPr>
              <p:spPr>
                <a:xfrm>
                  <a:off x="10085786" y="3196532"/>
                  <a:ext cx="1822349" cy="897062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accent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C007C4FE-70BF-4FA5-8B3F-177FEA03F20C}"/>
                    </a:ext>
                  </a:extLst>
                </p:cNvPr>
                <p:cNvSpPr txBox="1"/>
                <p:nvPr/>
              </p:nvSpPr>
              <p:spPr>
                <a:xfrm>
                  <a:off x="10103894" y="3211481"/>
                  <a:ext cx="1075334" cy="8794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 err="1">
                      <a:sym typeface="Wingdings" panose="05000000000000000000" pitchFamily="2" charset="2"/>
                    </a:rPr>
                    <a:t>Esp</a:t>
                  </a:r>
                  <a:r>
                    <a:rPr lang="en-US" sz="1000" dirty="0">
                      <a:sym typeface="Wingdings" panose="05000000000000000000" pitchFamily="2" charset="2"/>
                    </a:rPr>
                    <a:t> if MCV &gt; 120</a:t>
                  </a:r>
                </a:p>
                <a:p>
                  <a:pPr marL="117475" indent="-117475"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sym typeface="Wingdings" panose="05000000000000000000" pitchFamily="2" charset="2"/>
                    </a:rPr>
                    <a:t> </a:t>
                  </a:r>
                  <a:r>
                    <a:rPr lang="en-US" sz="1000" dirty="0"/>
                    <a:t>B12/ folate</a:t>
                  </a:r>
                </a:p>
                <a:p>
                  <a:pPr marL="117475" indent="-117475">
                    <a:buFont typeface="Arial" panose="020B0604020202020204" pitchFamily="34" charset="0"/>
                    <a:buChar char="•"/>
                  </a:pPr>
                  <a:r>
                    <a:rPr lang="en-US" sz="1000" dirty="0"/>
                    <a:t>Drugs </a:t>
                  </a:r>
                </a:p>
                <a:p>
                  <a:pPr marL="346075" lvl="1" indent="-117475">
                    <a:buFont typeface="Arial" panose="020B0604020202020204" pitchFamily="34" charset="0"/>
                    <a:buChar char="•"/>
                    <a:tabLst>
                      <a:tab pos="401638" algn="l"/>
                    </a:tabLst>
                  </a:pPr>
                  <a:r>
                    <a:rPr lang="en-US" sz="1000" dirty="0"/>
                    <a:t>Allopurinol</a:t>
                  </a:r>
                </a:p>
                <a:p>
                  <a:pPr marL="346075" lvl="1" indent="-117475">
                    <a:buFont typeface="Arial" panose="020B0604020202020204" pitchFamily="34" charset="0"/>
                    <a:buChar char="•"/>
                    <a:tabLst>
                      <a:tab pos="401638" algn="l"/>
                    </a:tabLst>
                  </a:pPr>
                  <a:r>
                    <a:rPr lang="en-US" sz="1000" dirty="0"/>
                    <a:t>Hydroxyurea </a:t>
                  </a:r>
                </a:p>
                <a:p>
                  <a:pPr marL="346075" lvl="1" indent="-117475">
                    <a:buFont typeface="Arial" panose="020B0604020202020204" pitchFamily="34" charset="0"/>
                    <a:buChar char="•"/>
                    <a:tabLst>
                      <a:tab pos="401638" algn="l"/>
                    </a:tabLst>
                  </a:pPr>
                  <a:r>
                    <a:rPr lang="en-US" sz="1000" dirty="0"/>
                    <a:t>HIV meds </a:t>
                  </a:r>
                </a:p>
              </p:txBody>
            </p:sp>
          </p:grp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EF238225-2253-42E4-83FD-8256C1721493}"/>
                  </a:ext>
                </a:extLst>
              </p:cNvPr>
              <p:cNvSpPr/>
              <p:nvPr/>
            </p:nvSpPr>
            <p:spPr>
              <a:xfrm>
                <a:off x="11040615" y="3678749"/>
                <a:ext cx="867521" cy="4150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00" i="1" err="1"/>
                  <a:t>Hypersegmented</a:t>
                </a:r>
                <a:r>
                  <a:rPr lang="en-US" sz="900" i="1"/>
                  <a:t> PMNs</a:t>
                </a:r>
              </a:p>
            </p:txBody>
          </p:sp>
        </p:grpSp>
        <p:pic>
          <p:nvPicPr>
            <p:cNvPr id="196" name="Megaloblastic smear">
              <a:extLst>
                <a:ext uri="{FF2B5EF4-FFF2-40B4-BE49-F238E27FC236}">
                  <a16:creationId xmlns:a16="http://schemas.microsoft.com/office/drawing/2014/main" id="{F09F6A89-06BD-4659-B8E3-5E8441B20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236536" y="533468"/>
              <a:ext cx="743948" cy="665262"/>
            </a:xfrm>
            <a:prstGeom prst="rect">
              <a:avLst/>
            </a:prstGeom>
          </p:spPr>
        </p:pic>
      </p:grpSp>
      <p:sp>
        <p:nvSpPr>
          <p:cNvPr id="199" name="Other cell lines">
            <a:extLst>
              <a:ext uri="{FF2B5EF4-FFF2-40B4-BE49-F238E27FC236}">
                <a16:creationId xmlns:a16="http://schemas.microsoft.com/office/drawing/2014/main" id="{4B01A0F4-2D1D-4EB9-8183-EEE3058BD345}"/>
              </a:ext>
            </a:extLst>
          </p:cNvPr>
          <p:cNvSpPr/>
          <p:nvPr/>
        </p:nvSpPr>
        <p:spPr>
          <a:xfrm>
            <a:off x="4913680" y="5323389"/>
            <a:ext cx="2269833" cy="65097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Differential if other cell lines are affected?</a:t>
            </a:r>
          </a:p>
        </p:txBody>
      </p:sp>
      <p:sp>
        <p:nvSpPr>
          <p:cNvPr id="78" name="Brace Normocytic">
            <a:extLst>
              <a:ext uri="{FF2B5EF4-FFF2-40B4-BE49-F238E27FC236}">
                <a16:creationId xmlns:a16="http://schemas.microsoft.com/office/drawing/2014/main" id="{9CB6EAF0-B437-45EB-AC7B-5E89130D77DA}"/>
              </a:ext>
            </a:extLst>
          </p:cNvPr>
          <p:cNvSpPr/>
          <p:nvPr/>
        </p:nvSpPr>
        <p:spPr>
          <a:xfrm>
            <a:off x="7183515" y="798830"/>
            <a:ext cx="568984" cy="1372630"/>
          </a:xfrm>
          <a:prstGeom prst="leftBrace">
            <a:avLst>
              <a:gd name="adj1" fmla="val 0"/>
              <a:gd name="adj2" fmla="val 34262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MCV  info">
            <a:extLst>
              <a:ext uri="{FF2B5EF4-FFF2-40B4-BE49-F238E27FC236}">
                <a16:creationId xmlns:a16="http://schemas.microsoft.com/office/drawing/2014/main" id="{086D0027-9CCB-4E0F-A935-B9545A765BFB}"/>
              </a:ext>
            </a:extLst>
          </p:cNvPr>
          <p:cNvSpPr/>
          <p:nvPr/>
        </p:nvSpPr>
        <p:spPr>
          <a:xfrm>
            <a:off x="2152900" y="2342443"/>
            <a:ext cx="2019631" cy="8022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sz="1100" b="1"/>
              <a:t>Mean Corpuscular Volume (MCV) </a:t>
            </a:r>
            <a:r>
              <a:rPr lang="en-US" sz="1100"/>
              <a:t>measures the average size of RBCs. A </a:t>
            </a:r>
            <a:r>
              <a:rPr lang="en-US" sz="1100">
                <a:sym typeface="Wingdings" panose="05000000000000000000" pitchFamily="2" charset="2"/>
              </a:rPr>
              <a:t> MCV indicates a Heme or globin deficiency.</a:t>
            </a:r>
          </a:p>
        </p:txBody>
      </p:sp>
      <p:sp>
        <p:nvSpPr>
          <p:cNvPr id="93" name="Pure RBC dysplasia">
            <a:extLst>
              <a:ext uri="{FF2B5EF4-FFF2-40B4-BE49-F238E27FC236}">
                <a16:creationId xmlns:a16="http://schemas.microsoft.com/office/drawing/2014/main" id="{93AA6951-47C2-4BA6-A729-1498D78A83EA}"/>
              </a:ext>
            </a:extLst>
          </p:cNvPr>
          <p:cNvSpPr txBox="1"/>
          <p:nvPr/>
        </p:nvSpPr>
        <p:spPr>
          <a:xfrm>
            <a:off x="11068816" y="1953835"/>
            <a:ext cx="821665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14300" lvl="0" indent="-114300">
              <a:buFont typeface="Arial" panose="020B0604020202020204" pitchFamily="34" charset="0"/>
              <a:buChar char="•"/>
            </a:pPr>
            <a:r>
              <a:rPr lang="en-US" sz="1000" dirty="0">
                <a:sym typeface="Wingdings" panose="05000000000000000000" pitchFamily="2" charset="2"/>
              </a:rPr>
              <a:t>Pure RBC aplasia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cxnSp>
        <p:nvCxnSpPr>
          <p:cNvPr id="26" name="Connector to MCV info">
            <a:extLst>
              <a:ext uri="{FF2B5EF4-FFF2-40B4-BE49-F238E27FC236}">
                <a16:creationId xmlns:a16="http://schemas.microsoft.com/office/drawing/2014/main" id="{D15A8CA9-D724-4342-B7C9-BBD51130E3A0}"/>
              </a:ext>
            </a:extLst>
          </p:cNvPr>
          <p:cNvCxnSpPr>
            <a:cxnSpLocks/>
            <a:endCxn id="86" idx="3"/>
          </p:cNvCxnSpPr>
          <p:nvPr/>
        </p:nvCxnSpPr>
        <p:spPr>
          <a:xfrm rot="5400000">
            <a:off x="3922200" y="2330484"/>
            <a:ext cx="663407" cy="162744"/>
          </a:xfrm>
          <a:prstGeom prst="bentConnector2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pic>
        <p:nvPicPr>
          <p:cNvPr id="116" name="Toolbox" descr="toolbox - Free Tools and utensils icons">
            <a:extLst>
              <a:ext uri="{FF2B5EF4-FFF2-40B4-BE49-F238E27FC236}">
                <a16:creationId xmlns:a16="http://schemas.microsoft.com/office/drawing/2014/main" id="{1265705C-A888-4B3D-BFE0-8304C8FA49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1" t="-2032" r="23634" b="419"/>
          <a:stretch/>
        </p:blipFill>
        <p:spPr bwMode="auto">
          <a:xfrm>
            <a:off x="4832790" y="1627994"/>
            <a:ext cx="437411" cy="43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Graphic 88" descr="Cursor">
            <a:extLst>
              <a:ext uri="{FF2B5EF4-FFF2-40B4-BE49-F238E27FC236}">
                <a16:creationId xmlns:a16="http://schemas.microsoft.com/office/drawing/2014/main" id="{0728A33C-1132-450B-AE2E-CB504F446B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66651" y="5606440"/>
            <a:ext cx="274320" cy="274320"/>
          </a:xfrm>
          <a:prstGeom prst="rect">
            <a:avLst/>
          </a:prstGeom>
        </p:spPr>
      </p:pic>
      <p:pic>
        <p:nvPicPr>
          <p:cNvPr id="91" name="Graphic 90" descr="Cursor">
            <a:extLst>
              <a:ext uri="{FF2B5EF4-FFF2-40B4-BE49-F238E27FC236}">
                <a16:creationId xmlns:a16="http://schemas.microsoft.com/office/drawing/2014/main" id="{19174B3E-D2AF-4D2A-8BC4-52315F8A21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58666" y="1342267"/>
            <a:ext cx="274320" cy="274320"/>
          </a:xfrm>
          <a:prstGeom prst="rect">
            <a:avLst/>
          </a:prstGeom>
        </p:spPr>
      </p:pic>
      <p:pic>
        <p:nvPicPr>
          <p:cNvPr id="92" name="Graphic 91" descr="Cursor">
            <a:extLst>
              <a:ext uri="{FF2B5EF4-FFF2-40B4-BE49-F238E27FC236}">
                <a16:creationId xmlns:a16="http://schemas.microsoft.com/office/drawing/2014/main" id="{F185BD2A-1467-4A81-B7A1-0463FC9629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58666" y="2769910"/>
            <a:ext cx="274320" cy="274320"/>
          </a:xfrm>
          <a:prstGeom prst="rect">
            <a:avLst/>
          </a:prstGeom>
        </p:spPr>
      </p:pic>
      <p:pic>
        <p:nvPicPr>
          <p:cNvPr id="94" name="Graphic 93" descr="Cursor">
            <a:extLst>
              <a:ext uri="{FF2B5EF4-FFF2-40B4-BE49-F238E27FC236}">
                <a16:creationId xmlns:a16="http://schemas.microsoft.com/office/drawing/2014/main" id="{AA6C094E-7733-46DD-B53E-0807BFA020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58666" y="4366572"/>
            <a:ext cx="274320" cy="274320"/>
          </a:xfrm>
          <a:prstGeom prst="rect">
            <a:avLst/>
          </a:prstGeom>
        </p:spPr>
      </p:pic>
      <p:pic>
        <p:nvPicPr>
          <p:cNvPr id="95" name="Graphic 94" descr="Cursor">
            <a:extLst>
              <a:ext uri="{FF2B5EF4-FFF2-40B4-BE49-F238E27FC236}">
                <a16:creationId xmlns:a16="http://schemas.microsoft.com/office/drawing/2014/main" id="{F4B19447-ABF4-4EEB-A6C6-5FBD2B351C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22801" y="1954705"/>
            <a:ext cx="274320" cy="274320"/>
          </a:xfrm>
          <a:prstGeom prst="rect">
            <a:avLst/>
          </a:prstGeom>
        </p:spPr>
      </p:pic>
      <p:pic>
        <p:nvPicPr>
          <p:cNvPr id="96" name="Graphic 95" descr="Cursor">
            <a:extLst>
              <a:ext uri="{FF2B5EF4-FFF2-40B4-BE49-F238E27FC236}">
                <a16:creationId xmlns:a16="http://schemas.microsoft.com/office/drawing/2014/main" id="{A553247B-9EAA-4B6C-95C4-2AA7074F63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46353" y="5837205"/>
            <a:ext cx="274320" cy="274320"/>
          </a:xfrm>
          <a:prstGeom prst="rect">
            <a:avLst/>
          </a:prstGeom>
        </p:spPr>
      </p:pic>
      <p:sp>
        <p:nvSpPr>
          <p:cNvPr id="8" name="Next">
            <a:hlinkClick r:id="rId10" action="ppaction://hlinksldjump"/>
            <a:extLst>
              <a:ext uri="{FF2B5EF4-FFF2-40B4-BE49-F238E27FC236}">
                <a16:creationId xmlns:a16="http://schemas.microsoft.com/office/drawing/2014/main" id="{E892C875-8CC6-B0DC-22B8-A52A62B34B89}"/>
              </a:ext>
            </a:extLst>
          </p:cNvPr>
          <p:cNvSpPr/>
          <p:nvPr/>
        </p:nvSpPr>
        <p:spPr>
          <a:xfrm>
            <a:off x="183017" y="705625"/>
            <a:ext cx="1371600" cy="36576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Underprod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Next">
            <a:hlinkClick r:id="rId11" action="ppaction://hlinksldjump"/>
            <a:extLst>
              <a:ext uri="{FF2B5EF4-FFF2-40B4-BE49-F238E27FC236}">
                <a16:creationId xmlns:a16="http://schemas.microsoft.com/office/drawing/2014/main" id="{8860B231-A7C0-0527-CB1F-EA53F9BC8001}"/>
              </a:ext>
            </a:extLst>
          </p:cNvPr>
          <p:cNvSpPr/>
          <p:nvPr/>
        </p:nvSpPr>
        <p:spPr>
          <a:xfrm>
            <a:off x="457199" y="1211012"/>
            <a:ext cx="1097417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Iron labs</a:t>
            </a:r>
          </a:p>
        </p:txBody>
      </p:sp>
      <p:sp>
        <p:nvSpPr>
          <p:cNvPr id="11" name="Next">
            <a:hlinkClick r:id="rId12" action="ppaction://hlinksldjump"/>
            <a:extLst>
              <a:ext uri="{FF2B5EF4-FFF2-40B4-BE49-F238E27FC236}">
                <a16:creationId xmlns:a16="http://schemas.microsoft.com/office/drawing/2014/main" id="{7F26980B-45DD-6423-73C4-CD564D4DC8C3}"/>
              </a:ext>
            </a:extLst>
          </p:cNvPr>
          <p:cNvSpPr/>
          <p:nvPr/>
        </p:nvSpPr>
        <p:spPr>
          <a:xfrm>
            <a:off x="183017" y="200238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Overview</a:t>
            </a:r>
          </a:p>
        </p:txBody>
      </p:sp>
      <p:pic>
        <p:nvPicPr>
          <p:cNvPr id="12" name="Graphic 11" descr="Cursor">
            <a:extLst>
              <a:ext uri="{FF2B5EF4-FFF2-40B4-BE49-F238E27FC236}">
                <a16:creationId xmlns:a16="http://schemas.microsoft.com/office/drawing/2014/main" id="{DE577EB3-5275-35E4-0C83-FE7C6E35BF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28887" y="446151"/>
            <a:ext cx="274320" cy="274320"/>
          </a:xfrm>
          <a:prstGeom prst="rect">
            <a:avLst/>
          </a:prstGeom>
        </p:spPr>
      </p:pic>
      <p:pic>
        <p:nvPicPr>
          <p:cNvPr id="15" name="Graphic 14" descr="Cursor">
            <a:extLst>
              <a:ext uri="{FF2B5EF4-FFF2-40B4-BE49-F238E27FC236}">
                <a16:creationId xmlns:a16="http://schemas.microsoft.com/office/drawing/2014/main" id="{238F6207-4CD4-65A7-BDD9-D7A6CB4019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28887" y="1456437"/>
            <a:ext cx="274320" cy="274320"/>
          </a:xfrm>
          <a:prstGeom prst="rect">
            <a:avLst/>
          </a:prstGeom>
        </p:spPr>
      </p:pic>
      <p:grpSp>
        <p:nvGrpSpPr>
          <p:cNvPr id="41" name="Connector to underproduction">
            <a:extLst>
              <a:ext uri="{FF2B5EF4-FFF2-40B4-BE49-F238E27FC236}">
                <a16:creationId xmlns:a16="http://schemas.microsoft.com/office/drawing/2014/main" id="{6B4DF4C8-09BB-558D-4B44-6CC81C32BF2B}"/>
              </a:ext>
            </a:extLst>
          </p:cNvPr>
          <p:cNvGrpSpPr/>
          <p:nvPr/>
        </p:nvGrpSpPr>
        <p:grpSpPr>
          <a:xfrm>
            <a:off x="1525173" y="1913223"/>
            <a:ext cx="634413" cy="1751708"/>
            <a:chOff x="1525173" y="1444593"/>
            <a:chExt cx="634413" cy="1751708"/>
          </a:xfrm>
        </p:grpSpPr>
        <p:cxnSp>
          <p:nvCxnSpPr>
            <p:cNvPr id="42" name="Connector to Underproduction">
              <a:extLst>
                <a:ext uri="{FF2B5EF4-FFF2-40B4-BE49-F238E27FC236}">
                  <a16:creationId xmlns:a16="http://schemas.microsoft.com/office/drawing/2014/main" id="{9F2F6997-E4FB-A3A0-7D11-FC4A92A66B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25173" y="1444593"/>
              <a:ext cx="634413" cy="1751708"/>
            </a:xfrm>
            <a:prstGeom prst="bent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CA1061A-1991-5816-B0DA-A900B3CE2128}"/>
                </a:ext>
              </a:extLst>
            </p:cNvPr>
            <p:cNvSpPr txBox="1"/>
            <p:nvPr/>
          </p:nvSpPr>
          <p:spPr>
            <a:xfrm>
              <a:off x="1632085" y="2195156"/>
              <a:ext cx="423756" cy="307777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/>
                <a:t>&lt;2</a:t>
              </a:r>
            </a:p>
          </p:txBody>
        </p:sp>
      </p:grpSp>
      <p:grpSp>
        <p:nvGrpSpPr>
          <p:cNvPr id="45" name="Connector to Inc. production">
            <a:extLst>
              <a:ext uri="{FF2B5EF4-FFF2-40B4-BE49-F238E27FC236}">
                <a16:creationId xmlns:a16="http://schemas.microsoft.com/office/drawing/2014/main" id="{DAD2FD6B-C910-2C1C-7AD5-9B3AC3A42171}"/>
              </a:ext>
            </a:extLst>
          </p:cNvPr>
          <p:cNvGrpSpPr/>
          <p:nvPr/>
        </p:nvGrpSpPr>
        <p:grpSpPr>
          <a:xfrm>
            <a:off x="1525173" y="3653501"/>
            <a:ext cx="637581" cy="1819755"/>
            <a:chOff x="1525173" y="3653501"/>
            <a:chExt cx="637581" cy="1819755"/>
          </a:xfrm>
        </p:grpSpPr>
        <p:cxnSp>
          <p:nvCxnSpPr>
            <p:cNvPr id="46" name="Connector to increased productoin">
              <a:extLst>
                <a:ext uri="{FF2B5EF4-FFF2-40B4-BE49-F238E27FC236}">
                  <a16:creationId xmlns:a16="http://schemas.microsoft.com/office/drawing/2014/main" id="{1783DB66-49E0-3E5D-216D-C03BA9703230}"/>
                </a:ext>
              </a:extLst>
            </p:cNvPr>
            <p:cNvCxnSpPr>
              <a:cxnSpLocks/>
            </p:cNvCxnSpPr>
            <p:nvPr/>
          </p:nvCxnSpPr>
          <p:spPr>
            <a:xfrm>
              <a:off x="1525173" y="3653501"/>
              <a:ext cx="637581" cy="1819755"/>
            </a:xfrm>
            <a:prstGeom prst="bent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1E6669B-6039-7FB0-4951-9FC07ABCB92D}"/>
                </a:ext>
              </a:extLst>
            </p:cNvPr>
            <p:cNvSpPr txBox="1"/>
            <p:nvPr/>
          </p:nvSpPr>
          <p:spPr>
            <a:xfrm>
              <a:off x="1630501" y="4312258"/>
              <a:ext cx="423756" cy="307777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/>
                <a:t>≥3</a:t>
              </a:r>
            </a:p>
          </p:txBody>
        </p:sp>
      </p:grpSp>
      <p:sp>
        <p:nvSpPr>
          <p:cNvPr id="9" name="Next">
            <a:hlinkClick r:id="rId13" action="ppaction://hlinksldjump"/>
            <a:extLst>
              <a:ext uri="{FF2B5EF4-FFF2-40B4-BE49-F238E27FC236}">
                <a16:creationId xmlns:a16="http://schemas.microsoft.com/office/drawing/2014/main" id="{1ED1CFB9-623E-C614-B006-421B756A3E0F}"/>
              </a:ext>
            </a:extLst>
          </p:cNvPr>
          <p:cNvSpPr/>
          <p:nvPr/>
        </p:nvSpPr>
        <p:spPr>
          <a:xfrm>
            <a:off x="183017" y="2220087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sp>
        <p:nvSpPr>
          <p:cNvPr id="14" name="Next">
            <a:hlinkClick r:id="rId3" action="ppaction://hlinksldjump"/>
            <a:extLst>
              <a:ext uri="{FF2B5EF4-FFF2-40B4-BE49-F238E27FC236}">
                <a16:creationId xmlns:a16="http://schemas.microsoft.com/office/drawing/2014/main" id="{18D29C65-1416-2399-EF36-150DE8BC6425}"/>
              </a:ext>
            </a:extLst>
          </p:cNvPr>
          <p:cNvSpPr/>
          <p:nvPr/>
        </p:nvSpPr>
        <p:spPr>
          <a:xfrm>
            <a:off x="183017" y="1714699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Overprod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2" name="Graphic 21" descr="Cursor">
            <a:extLst>
              <a:ext uri="{FF2B5EF4-FFF2-40B4-BE49-F238E27FC236}">
                <a16:creationId xmlns:a16="http://schemas.microsoft.com/office/drawing/2014/main" id="{1B77BC18-7C31-4274-FC47-912C220B83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28887" y="2469078"/>
            <a:ext cx="274320" cy="274320"/>
          </a:xfrm>
          <a:prstGeom prst="rect">
            <a:avLst/>
          </a:prstGeom>
        </p:spPr>
      </p:pic>
      <p:pic>
        <p:nvPicPr>
          <p:cNvPr id="18" name="Graphic 17" descr="Cursor">
            <a:extLst>
              <a:ext uri="{FF2B5EF4-FFF2-40B4-BE49-F238E27FC236}">
                <a16:creationId xmlns:a16="http://schemas.microsoft.com/office/drawing/2014/main" id="{37FF596E-9162-F636-CFEE-537AB4942E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28887" y="1955866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49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D7D3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D7D3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D7D3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9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</p:childTnLst>
        </p:cTn>
      </p:par>
    </p:tnLst>
    <p:bldLst>
      <p:bldP spid="38" grpId="0" animBg="1"/>
      <p:bldP spid="50" grpId="0" animBg="1"/>
      <p:bldP spid="80" grpId="0" animBg="1"/>
      <p:bldP spid="130" grpId="0" animBg="1"/>
      <p:bldP spid="131" grpId="0" animBg="1"/>
      <p:bldP spid="132" grpId="0" animBg="1"/>
      <p:bldP spid="133" grpId="0" animBg="1"/>
      <p:bldP spid="133" grpId="1" animBg="1"/>
      <p:bldP spid="133" grpId="3" animBg="1"/>
      <p:bldP spid="134" grpId="0" animBg="1"/>
      <p:bldP spid="135" grpId="0" animBg="1"/>
      <p:bldP spid="136" grpId="0" animBg="1"/>
      <p:bldP spid="136" grpId="1" animBg="1"/>
      <p:bldP spid="138" grpId="0" animBg="1"/>
      <p:bldP spid="138" grpId="1" animBg="1"/>
      <p:bldP spid="139" grpId="0" animBg="1"/>
      <p:bldP spid="140" grpId="0" animBg="1"/>
      <p:bldP spid="140" grpId="1" animBg="1"/>
      <p:bldP spid="144" grpId="0" animBg="1"/>
      <p:bldP spid="145" grpId="0" animBg="1"/>
      <p:bldP spid="166" grpId="0" animBg="1"/>
      <p:bldP spid="175" grpId="0" animBg="1"/>
      <p:bldP spid="186" grpId="0" animBg="1"/>
      <p:bldP spid="188" grpId="0"/>
      <p:bldP spid="188" grpId="2"/>
      <p:bldP spid="199" grpId="1" animBg="1"/>
      <p:bldP spid="78" grpId="0" animBg="1"/>
      <p:bldP spid="86" grpId="0" animBg="1"/>
      <p:bldP spid="86" grpId="1" animBg="1"/>
      <p:bldP spid="9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A684ABE5-015F-9CD5-C553-E0E5B3DFAAB2}"/>
              </a:ext>
            </a:extLst>
          </p:cNvPr>
          <p:cNvCxnSpPr>
            <a:cxnSpLocks/>
            <a:endCxn id="6" idx="1"/>
          </p:cNvCxnSpPr>
          <p:nvPr/>
        </p:nvCxnSpPr>
        <p:spPr>
          <a:xfrm rot="16200000" flipH="1">
            <a:off x="140792" y="1077484"/>
            <a:ext cx="468428" cy="164387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Work-up of anemia">
            <a:extLst>
              <a:ext uri="{FF2B5EF4-FFF2-40B4-BE49-F238E27FC236}">
                <a16:creationId xmlns:a16="http://schemas.microsoft.com/office/drawing/2014/main" id="{BA27DE4A-E0DB-0BDE-383F-C90152394770}"/>
              </a:ext>
            </a:extLst>
          </p:cNvPr>
          <p:cNvSpPr txBox="1"/>
          <p:nvPr/>
        </p:nvSpPr>
        <p:spPr>
          <a:xfrm>
            <a:off x="4219575" y="112727"/>
            <a:ext cx="4404655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400" b="1" dirty="0"/>
              <a:t>Underproduction – Iron Studies</a:t>
            </a:r>
          </a:p>
        </p:txBody>
      </p:sp>
      <p:sp>
        <p:nvSpPr>
          <p:cNvPr id="5" name="Next">
            <a:hlinkClick r:id="rId3" action="ppaction://hlinksldjump"/>
            <a:extLst>
              <a:ext uri="{FF2B5EF4-FFF2-40B4-BE49-F238E27FC236}">
                <a16:creationId xmlns:a16="http://schemas.microsoft.com/office/drawing/2014/main" id="{B67B9FE6-5A6F-26FD-AAE3-E040A5C05866}"/>
              </a:ext>
            </a:extLst>
          </p:cNvPr>
          <p:cNvSpPr/>
          <p:nvPr/>
        </p:nvSpPr>
        <p:spPr>
          <a:xfrm>
            <a:off x="183017" y="705625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Underprod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Next">
            <a:hlinkClick r:id="rId4" action="ppaction://hlinksldjump"/>
            <a:extLst>
              <a:ext uri="{FF2B5EF4-FFF2-40B4-BE49-F238E27FC236}">
                <a16:creationId xmlns:a16="http://schemas.microsoft.com/office/drawing/2014/main" id="{2389D059-2964-966E-9963-3C6487389828}"/>
              </a:ext>
            </a:extLst>
          </p:cNvPr>
          <p:cNvSpPr/>
          <p:nvPr/>
        </p:nvSpPr>
        <p:spPr>
          <a:xfrm>
            <a:off x="457200" y="1211012"/>
            <a:ext cx="1097417" cy="36576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Iron labs</a:t>
            </a:r>
          </a:p>
        </p:txBody>
      </p:sp>
      <p:sp>
        <p:nvSpPr>
          <p:cNvPr id="7" name="Next">
            <a:hlinkClick r:id="rId5" action="ppaction://hlinksldjump"/>
            <a:extLst>
              <a:ext uri="{FF2B5EF4-FFF2-40B4-BE49-F238E27FC236}">
                <a16:creationId xmlns:a16="http://schemas.microsoft.com/office/drawing/2014/main" id="{F4793BFC-FBD9-2F45-4E4A-53EF54D08BD7}"/>
              </a:ext>
            </a:extLst>
          </p:cNvPr>
          <p:cNvSpPr/>
          <p:nvPr/>
        </p:nvSpPr>
        <p:spPr>
          <a:xfrm>
            <a:off x="183017" y="200238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Overview</a:t>
            </a:r>
          </a:p>
        </p:txBody>
      </p:sp>
      <p:pic>
        <p:nvPicPr>
          <p:cNvPr id="8" name="Graphic 7" descr="Cursor">
            <a:extLst>
              <a:ext uri="{FF2B5EF4-FFF2-40B4-BE49-F238E27FC236}">
                <a16:creationId xmlns:a16="http://schemas.microsoft.com/office/drawing/2014/main" id="{6DF23969-DF05-1BA7-0C20-A449A3096C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8887" y="446151"/>
            <a:ext cx="274320" cy="274320"/>
          </a:xfrm>
          <a:prstGeom prst="rect">
            <a:avLst/>
          </a:prstGeom>
        </p:spPr>
      </p:pic>
      <p:sp>
        <p:nvSpPr>
          <p:cNvPr id="10" name="Next">
            <a:hlinkClick r:id="rId8" action="ppaction://hlinksldjump"/>
            <a:extLst>
              <a:ext uri="{FF2B5EF4-FFF2-40B4-BE49-F238E27FC236}">
                <a16:creationId xmlns:a16="http://schemas.microsoft.com/office/drawing/2014/main" id="{E8910FA6-33BF-3710-455F-2D7F91CE1470}"/>
              </a:ext>
            </a:extLst>
          </p:cNvPr>
          <p:cNvSpPr/>
          <p:nvPr/>
        </p:nvSpPr>
        <p:spPr>
          <a:xfrm>
            <a:off x="183017" y="2220087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sp>
        <p:nvSpPr>
          <p:cNvPr id="11" name="Next">
            <a:hlinkClick r:id="rId4" action="ppaction://hlinksldjump"/>
            <a:extLst>
              <a:ext uri="{FF2B5EF4-FFF2-40B4-BE49-F238E27FC236}">
                <a16:creationId xmlns:a16="http://schemas.microsoft.com/office/drawing/2014/main" id="{F172C826-0415-4164-4635-79DB8720F141}"/>
              </a:ext>
            </a:extLst>
          </p:cNvPr>
          <p:cNvSpPr/>
          <p:nvPr/>
        </p:nvSpPr>
        <p:spPr>
          <a:xfrm>
            <a:off x="183017" y="1714699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Overprod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" name="Graphic 11" descr="Cursor">
            <a:extLst>
              <a:ext uri="{FF2B5EF4-FFF2-40B4-BE49-F238E27FC236}">
                <a16:creationId xmlns:a16="http://schemas.microsoft.com/office/drawing/2014/main" id="{135F555F-8583-F225-CE73-D1B337DAE8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8887" y="2469078"/>
            <a:ext cx="274320" cy="274320"/>
          </a:xfrm>
          <a:prstGeom prst="rect">
            <a:avLst/>
          </a:prstGeom>
        </p:spPr>
      </p:pic>
      <p:pic>
        <p:nvPicPr>
          <p:cNvPr id="13" name="Graphic 12" descr="Cursor">
            <a:extLst>
              <a:ext uri="{FF2B5EF4-FFF2-40B4-BE49-F238E27FC236}">
                <a16:creationId xmlns:a16="http://schemas.microsoft.com/office/drawing/2014/main" id="{B799ABF4-068C-F6B3-1CE0-9B9909E8F7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8887" y="1955866"/>
            <a:ext cx="274320" cy="274320"/>
          </a:xfrm>
          <a:prstGeom prst="rect">
            <a:avLst/>
          </a:prstGeom>
        </p:spPr>
      </p:pic>
      <p:pic>
        <p:nvPicPr>
          <p:cNvPr id="15" name="Graphic 14" descr="Cursor">
            <a:extLst>
              <a:ext uri="{FF2B5EF4-FFF2-40B4-BE49-F238E27FC236}">
                <a16:creationId xmlns:a16="http://schemas.microsoft.com/office/drawing/2014/main" id="{A07A19EC-7E52-771F-0636-6A814D58B1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8887" y="945579"/>
            <a:ext cx="274320" cy="2743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CAF1895-FDA0-622C-12DE-4A9C55CCC7C6}"/>
              </a:ext>
            </a:extLst>
          </p:cNvPr>
          <p:cNvSpPr txBox="1"/>
          <p:nvPr/>
        </p:nvSpPr>
        <p:spPr>
          <a:xfrm>
            <a:off x="2057400" y="634484"/>
            <a:ext cx="906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Iron studies can help differentiate between microcytic causes. </a:t>
            </a:r>
          </a:p>
        </p:txBody>
      </p:sp>
      <p:pic>
        <p:nvPicPr>
          <p:cNvPr id="17" name="Toolbox" descr="toolbox - Free Tools and utensils icons">
            <a:extLst>
              <a:ext uri="{FF2B5EF4-FFF2-40B4-BE49-F238E27FC236}">
                <a16:creationId xmlns:a16="http://schemas.microsoft.com/office/drawing/2014/main" id="{A15B5183-2EF4-FD03-1C9B-32A2C86AD0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1" t="-2032" r="23634" b="419"/>
          <a:stretch/>
        </p:blipFill>
        <p:spPr bwMode="auto">
          <a:xfrm>
            <a:off x="3204015" y="574392"/>
            <a:ext cx="437411" cy="43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Macrocytic">
            <a:extLst>
              <a:ext uri="{FF2B5EF4-FFF2-40B4-BE49-F238E27FC236}">
                <a16:creationId xmlns:a16="http://schemas.microsoft.com/office/drawing/2014/main" id="{7420028D-ADA9-2C1E-2658-AC7F365C2762}"/>
              </a:ext>
            </a:extLst>
          </p:cNvPr>
          <p:cNvSpPr/>
          <p:nvPr/>
        </p:nvSpPr>
        <p:spPr>
          <a:xfrm>
            <a:off x="2654617" y="1234571"/>
            <a:ext cx="1371600" cy="36576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Serum Iron</a:t>
            </a:r>
          </a:p>
        </p:txBody>
      </p:sp>
      <p:sp>
        <p:nvSpPr>
          <p:cNvPr id="19" name="Iron">
            <a:extLst>
              <a:ext uri="{FF2B5EF4-FFF2-40B4-BE49-F238E27FC236}">
                <a16:creationId xmlns:a16="http://schemas.microsoft.com/office/drawing/2014/main" id="{CF003480-5298-B510-BF59-C12463D0211F}"/>
              </a:ext>
            </a:extLst>
          </p:cNvPr>
          <p:cNvSpPr/>
          <p:nvPr/>
        </p:nvSpPr>
        <p:spPr>
          <a:xfrm>
            <a:off x="2654617" y="1234571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Serum Iron</a:t>
            </a:r>
          </a:p>
        </p:txBody>
      </p:sp>
      <p:pic>
        <p:nvPicPr>
          <p:cNvPr id="20" name="Graphic 19" descr="Cursor">
            <a:extLst>
              <a:ext uri="{FF2B5EF4-FFF2-40B4-BE49-F238E27FC236}">
                <a16:creationId xmlns:a16="http://schemas.microsoft.com/office/drawing/2014/main" id="{3D031DE9-20E0-C065-2B59-51570FF257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87427" y="1472696"/>
            <a:ext cx="274320" cy="27432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845E7640-9CAF-8BFF-FC11-9D668A9465D2}"/>
              </a:ext>
            </a:extLst>
          </p:cNvPr>
          <p:cNvSpPr/>
          <p:nvPr/>
        </p:nvSpPr>
        <p:spPr>
          <a:xfrm>
            <a:off x="4380553" y="1497342"/>
            <a:ext cx="361950" cy="36576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/>
              <a:t>Fe</a:t>
            </a:r>
            <a:r>
              <a:rPr lang="en-US" sz="1000" baseline="30000" dirty="0"/>
              <a:t>2+</a:t>
            </a:r>
            <a:endParaRPr 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A92225-557B-10E3-A658-00DF60FEF08A}"/>
              </a:ext>
            </a:extLst>
          </p:cNvPr>
          <p:cNvSpPr txBox="1"/>
          <p:nvPr/>
        </p:nvSpPr>
        <p:spPr>
          <a:xfrm>
            <a:off x="2248716" y="1723356"/>
            <a:ext cx="21834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Levels fluctuate with dietary intake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Fasting level most reliable</a:t>
            </a:r>
          </a:p>
        </p:txBody>
      </p:sp>
      <p:sp>
        <p:nvSpPr>
          <p:cNvPr id="23" name="Macrocytic">
            <a:extLst>
              <a:ext uri="{FF2B5EF4-FFF2-40B4-BE49-F238E27FC236}">
                <a16:creationId xmlns:a16="http://schemas.microsoft.com/office/drawing/2014/main" id="{8587C00F-AD1D-8C38-E594-B5404034C0E5}"/>
              </a:ext>
            </a:extLst>
          </p:cNvPr>
          <p:cNvSpPr/>
          <p:nvPr/>
        </p:nvSpPr>
        <p:spPr>
          <a:xfrm>
            <a:off x="5291138" y="1234571"/>
            <a:ext cx="1371600" cy="36576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TIBC</a:t>
            </a:r>
          </a:p>
        </p:txBody>
      </p:sp>
      <p:sp>
        <p:nvSpPr>
          <p:cNvPr id="24" name="TIBC">
            <a:extLst>
              <a:ext uri="{FF2B5EF4-FFF2-40B4-BE49-F238E27FC236}">
                <a16:creationId xmlns:a16="http://schemas.microsoft.com/office/drawing/2014/main" id="{4ABB0E0B-FD6C-DEE9-C59D-BFBA52D974B0}"/>
              </a:ext>
            </a:extLst>
          </p:cNvPr>
          <p:cNvSpPr/>
          <p:nvPr/>
        </p:nvSpPr>
        <p:spPr>
          <a:xfrm>
            <a:off x="5291138" y="1234571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TIBC</a:t>
            </a:r>
          </a:p>
        </p:txBody>
      </p:sp>
      <p:pic>
        <p:nvPicPr>
          <p:cNvPr id="25" name="Graphic 24" descr="Cursor">
            <a:extLst>
              <a:ext uri="{FF2B5EF4-FFF2-40B4-BE49-F238E27FC236}">
                <a16:creationId xmlns:a16="http://schemas.microsoft.com/office/drawing/2014/main" id="{D90E5BCB-8DAF-4752-777D-86FD63C44D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16669" y="1472696"/>
            <a:ext cx="274320" cy="27432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C8F4641-E69D-4EC1-FD4F-12FB5A9146A1}"/>
              </a:ext>
            </a:extLst>
          </p:cNvPr>
          <p:cNvSpPr txBox="1"/>
          <p:nvPr/>
        </p:nvSpPr>
        <p:spPr>
          <a:xfrm>
            <a:off x="4810941" y="1723356"/>
            <a:ext cx="23319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Correlates to transferrin levels (circulating transport protein for iron)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B82476E-CD04-2AB5-C5C0-EF9ECADCB2C4}"/>
              </a:ext>
            </a:extLst>
          </p:cNvPr>
          <p:cNvSpPr/>
          <p:nvPr/>
        </p:nvSpPr>
        <p:spPr>
          <a:xfrm>
            <a:off x="4274410" y="1720363"/>
            <a:ext cx="565247" cy="650902"/>
          </a:xfrm>
          <a:custGeom>
            <a:avLst/>
            <a:gdLst>
              <a:gd name="connsiteX0" fmla="*/ 89215 w 672263"/>
              <a:gd name="connsiteY0" fmla="*/ 612411 h 857591"/>
              <a:gd name="connsiteX1" fmla="*/ 3490 w 672263"/>
              <a:gd name="connsiteY1" fmla="*/ 107586 h 857591"/>
              <a:gd name="connsiteX2" fmla="*/ 222565 w 672263"/>
              <a:gd name="connsiteY2" fmla="*/ 136161 h 857591"/>
              <a:gd name="connsiteX3" fmla="*/ 546415 w 672263"/>
              <a:gd name="connsiteY3" fmla="*/ 12336 h 857591"/>
              <a:gd name="connsiteX4" fmla="*/ 670240 w 672263"/>
              <a:gd name="connsiteY4" fmla="*/ 88536 h 857591"/>
              <a:gd name="connsiteX5" fmla="*/ 460690 w 672263"/>
              <a:gd name="connsiteY5" fmla="*/ 755286 h 857591"/>
              <a:gd name="connsiteX6" fmla="*/ 203515 w 672263"/>
              <a:gd name="connsiteY6" fmla="*/ 850536 h 857591"/>
              <a:gd name="connsiteX7" fmla="*/ 108265 w 672263"/>
              <a:gd name="connsiteY7" fmla="*/ 707661 h 857591"/>
              <a:gd name="connsiteX8" fmla="*/ 89215 w 672263"/>
              <a:gd name="connsiteY8" fmla="*/ 612411 h 857591"/>
              <a:gd name="connsiteX0" fmla="*/ 93393 w 676135"/>
              <a:gd name="connsiteY0" fmla="*/ 610406 h 855586"/>
              <a:gd name="connsiteX1" fmla="*/ 7668 w 676135"/>
              <a:gd name="connsiteY1" fmla="*/ 105581 h 855586"/>
              <a:gd name="connsiteX2" fmla="*/ 312468 w 676135"/>
              <a:gd name="connsiteY2" fmla="*/ 105581 h 855586"/>
              <a:gd name="connsiteX3" fmla="*/ 550593 w 676135"/>
              <a:gd name="connsiteY3" fmla="*/ 10331 h 855586"/>
              <a:gd name="connsiteX4" fmla="*/ 674418 w 676135"/>
              <a:gd name="connsiteY4" fmla="*/ 86531 h 855586"/>
              <a:gd name="connsiteX5" fmla="*/ 464868 w 676135"/>
              <a:gd name="connsiteY5" fmla="*/ 753281 h 855586"/>
              <a:gd name="connsiteX6" fmla="*/ 207693 w 676135"/>
              <a:gd name="connsiteY6" fmla="*/ 848531 h 855586"/>
              <a:gd name="connsiteX7" fmla="*/ 112443 w 676135"/>
              <a:gd name="connsiteY7" fmla="*/ 705656 h 855586"/>
              <a:gd name="connsiteX8" fmla="*/ 93393 w 676135"/>
              <a:gd name="connsiteY8" fmla="*/ 610406 h 855586"/>
              <a:gd name="connsiteX0" fmla="*/ 93393 w 676135"/>
              <a:gd name="connsiteY0" fmla="*/ 610406 h 855586"/>
              <a:gd name="connsiteX1" fmla="*/ 7668 w 676135"/>
              <a:gd name="connsiteY1" fmla="*/ 67481 h 855586"/>
              <a:gd name="connsiteX2" fmla="*/ 312468 w 676135"/>
              <a:gd name="connsiteY2" fmla="*/ 105581 h 855586"/>
              <a:gd name="connsiteX3" fmla="*/ 550593 w 676135"/>
              <a:gd name="connsiteY3" fmla="*/ 10331 h 855586"/>
              <a:gd name="connsiteX4" fmla="*/ 674418 w 676135"/>
              <a:gd name="connsiteY4" fmla="*/ 86531 h 855586"/>
              <a:gd name="connsiteX5" fmla="*/ 464868 w 676135"/>
              <a:gd name="connsiteY5" fmla="*/ 753281 h 855586"/>
              <a:gd name="connsiteX6" fmla="*/ 207693 w 676135"/>
              <a:gd name="connsiteY6" fmla="*/ 848531 h 855586"/>
              <a:gd name="connsiteX7" fmla="*/ 112443 w 676135"/>
              <a:gd name="connsiteY7" fmla="*/ 705656 h 855586"/>
              <a:gd name="connsiteX8" fmla="*/ 93393 w 676135"/>
              <a:gd name="connsiteY8" fmla="*/ 610406 h 855586"/>
              <a:gd name="connsiteX0" fmla="*/ 93393 w 612010"/>
              <a:gd name="connsiteY0" fmla="*/ 601756 h 843533"/>
              <a:gd name="connsiteX1" fmla="*/ 7668 w 612010"/>
              <a:gd name="connsiteY1" fmla="*/ 58831 h 843533"/>
              <a:gd name="connsiteX2" fmla="*/ 312468 w 612010"/>
              <a:gd name="connsiteY2" fmla="*/ 96931 h 843533"/>
              <a:gd name="connsiteX3" fmla="*/ 550593 w 612010"/>
              <a:gd name="connsiteY3" fmla="*/ 1681 h 843533"/>
              <a:gd name="connsiteX4" fmla="*/ 607743 w 612010"/>
              <a:gd name="connsiteY4" fmla="*/ 192181 h 843533"/>
              <a:gd name="connsiteX5" fmla="*/ 464868 w 612010"/>
              <a:gd name="connsiteY5" fmla="*/ 744631 h 843533"/>
              <a:gd name="connsiteX6" fmla="*/ 207693 w 612010"/>
              <a:gd name="connsiteY6" fmla="*/ 839881 h 843533"/>
              <a:gd name="connsiteX7" fmla="*/ 112443 w 612010"/>
              <a:gd name="connsiteY7" fmla="*/ 697006 h 843533"/>
              <a:gd name="connsiteX8" fmla="*/ 93393 w 612010"/>
              <a:gd name="connsiteY8" fmla="*/ 601756 h 843533"/>
              <a:gd name="connsiteX0" fmla="*/ 93393 w 612010"/>
              <a:gd name="connsiteY0" fmla="*/ 601756 h 776211"/>
              <a:gd name="connsiteX1" fmla="*/ 7668 w 612010"/>
              <a:gd name="connsiteY1" fmla="*/ 58831 h 776211"/>
              <a:gd name="connsiteX2" fmla="*/ 312468 w 612010"/>
              <a:gd name="connsiteY2" fmla="*/ 96931 h 776211"/>
              <a:gd name="connsiteX3" fmla="*/ 550593 w 612010"/>
              <a:gd name="connsiteY3" fmla="*/ 1681 h 776211"/>
              <a:gd name="connsiteX4" fmla="*/ 607743 w 612010"/>
              <a:gd name="connsiteY4" fmla="*/ 192181 h 776211"/>
              <a:gd name="connsiteX5" fmla="*/ 464868 w 612010"/>
              <a:gd name="connsiteY5" fmla="*/ 744631 h 776211"/>
              <a:gd name="connsiteX6" fmla="*/ 112443 w 612010"/>
              <a:gd name="connsiteY6" fmla="*/ 697006 h 776211"/>
              <a:gd name="connsiteX7" fmla="*/ 93393 w 612010"/>
              <a:gd name="connsiteY7" fmla="*/ 601756 h 776211"/>
              <a:gd name="connsiteX0" fmla="*/ 93393 w 610813"/>
              <a:gd name="connsiteY0" fmla="*/ 601756 h 724778"/>
              <a:gd name="connsiteX1" fmla="*/ 7668 w 610813"/>
              <a:gd name="connsiteY1" fmla="*/ 58831 h 724778"/>
              <a:gd name="connsiteX2" fmla="*/ 312468 w 610813"/>
              <a:gd name="connsiteY2" fmla="*/ 96931 h 724778"/>
              <a:gd name="connsiteX3" fmla="*/ 550593 w 610813"/>
              <a:gd name="connsiteY3" fmla="*/ 1681 h 724778"/>
              <a:gd name="connsiteX4" fmla="*/ 607743 w 610813"/>
              <a:gd name="connsiteY4" fmla="*/ 192181 h 724778"/>
              <a:gd name="connsiteX5" fmla="*/ 483918 w 610813"/>
              <a:gd name="connsiteY5" fmla="*/ 677956 h 724778"/>
              <a:gd name="connsiteX6" fmla="*/ 112443 w 610813"/>
              <a:gd name="connsiteY6" fmla="*/ 697006 h 724778"/>
              <a:gd name="connsiteX7" fmla="*/ 93393 w 610813"/>
              <a:gd name="connsiteY7" fmla="*/ 601756 h 724778"/>
              <a:gd name="connsiteX0" fmla="*/ 114303 w 612673"/>
              <a:gd name="connsiteY0" fmla="*/ 697006 h 759322"/>
              <a:gd name="connsiteX1" fmla="*/ 9528 w 612673"/>
              <a:gd name="connsiteY1" fmla="*/ 58831 h 759322"/>
              <a:gd name="connsiteX2" fmla="*/ 314328 w 612673"/>
              <a:gd name="connsiteY2" fmla="*/ 96931 h 759322"/>
              <a:gd name="connsiteX3" fmla="*/ 552453 w 612673"/>
              <a:gd name="connsiteY3" fmla="*/ 1681 h 759322"/>
              <a:gd name="connsiteX4" fmla="*/ 609603 w 612673"/>
              <a:gd name="connsiteY4" fmla="*/ 192181 h 759322"/>
              <a:gd name="connsiteX5" fmla="*/ 485778 w 612673"/>
              <a:gd name="connsiteY5" fmla="*/ 677956 h 759322"/>
              <a:gd name="connsiteX6" fmla="*/ 114303 w 612673"/>
              <a:gd name="connsiteY6" fmla="*/ 697006 h 759322"/>
              <a:gd name="connsiteX0" fmla="*/ 106461 w 614356"/>
              <a:gd name="connsiteY0" fmla="*/ 639856 h 726779"/>
              <a:gd name="connsiteX1" fmla="*/ 11211 w 614356"/>
              <a:gd name="connsiteY1" fmla="*/ 58831 h 726779"/>
              <a:gd name="connsiteX2" fmla="*/ 316011 w 614356"/>
              <a:gd name="connsiteY2" fmla="*/ 96931 h 726779"/>
              <a:gd name="connsiteX3" fmla="*/ 554136 w 614356"/>
              <a:gd name="connsiteY3" fmla="*/ 1681 h 726779"/>
              <a:gd name="connsiteX4" fmla="*/ 611286 w 614356"/>
              <a:gd name="connsiteY4" fmla="*/ 192181 h 726779"/>
              <a:gd name="connsiteX5" fmla="*/ 487461 w 614356"/>
              <a:gd name="connsiteY5" fmla="*/ 677956 h 726779"/>
              <a:gd name="connsiteX6" fmla="*/ 106461 w 614356"/>
              <a:gd name="connsiteY6" fmla="*/ 639856 h 726779"/>
              <a:gd name="connsiteX0" fmla="*/ 106643 w 613963"/>
              <a:gd name="connsiteY0" fmla="*/ 639856 h 709520"/>
              <a:gd name="connsiteX1" fmla="*/ 11393 w 613963"/>
              <a:gd name="connsiteY1" fmla="*/ 58831 h 709520"/>
              <a:gd name="connsiteX2" fmla="*/ 316193 w 613963"/>
              <a:gd name="connsiteY2" fmla="*/ 96931 h 709520"/>
              <a:gd name="connsiteX3" fmla="*/ 554318 w 613963"/>
              <a:gd name="connsiteY3" fmla="*/ 1681 h 709520"/>
              <a:gd name="connsiteX4" fmla="*/ 611468 w 613963"/>
              <a:gd name="connsiteY4" fmla="*/ 192181 h 709520"/>
              <a:gd name="connsiteX5" fmla="*/ 497168 w 613963"/>
              <a:gd name="connsiteY5" fmla="*/ 649381 h 709520"/>
              <a:gd name="connsiteX6" fmla="*/ 106643 w 613963"/>
              <a:gd name="connsiteY6" fmla="*/ 639856 h 709520"/>
              <a:gd name="connsiteX0" fmla="*/ 114453 w 612248"/>
              <a:gd name="connsiteY0" fmla="*/ 611281 h 694701"/>
              <a:gd name="connsiteX1" fmla="*/ 9678 w 612248"/>
              <a:gd name="connsiteY1" fmla="*/ 58831 h 694701"/>
              <a:gd name="connsiteX2" fmla="*/ 314478 w 612248"/>
              <a:gd name="connsiteY2" fmla="*/ 96931 h 694701"/>
              <a:gd name="connsiteX3" fmla="*/ 552603 w 612248"/>
              <a:gd name="connsiteY3" fmla="*/ 1681 h 694701"/>
              <a:gd name="connsiteX4" fmla="*/ 609753 w 612248"/>
              <a:gd name="connsiteY4" fmla="*/ 192181 h 694701"/>
              <a:gd name="connsiteX5" fmla="*/ 495453 w 612248"/>
              <a:gd name="connsiteY5" fmla="*/ 649381 h 694701"/>
              <a:gd name="connsiteX6" fmla="*/ 114453 w 612248"/>
              <a:gd name="connsiteY6" fmla="*/ 611281 h 694701"/>
              <a:gd name="connsiteX0" fmla="*/ 116567 w 614362"/>
              <a:gd name="connsiteY0" fmla="*/ 611281 h 686440"/>
              <a:gd name="connsiteX1" fmla="*/ 11792 w 614362"/>
              <a:gd name="connsiteY1" fmla="*/ 58831 h 686440"/>
              <a:gd name="connsiteX2" fmla="*/ 316592 w 614362"/>
              <a:gd name="connsiteY2" fmla="*/ 96931 h 686440"/>
              <a:gd name="connsiteX3" fmla="*/ 554717 w 614362"/>
              <a:gd name="connsiteY3" fmla="*/ 1681 h 686440"/>
              <a:gd name="connsiteX4" fmla="*/ 611867 w 614362"/>
              <a:gd name="connsiteY4" fmla="*/ 192181 h 686440"/>
              <a:gd name="connsiteX5" fmla="*/ 497567 w 614362"/>
              <a:gd name="connsiteY5" fmla="*/ 649381 h 686440"/>
              <a:gd name="connsiteX6" fmla="*/ 116567 w 614362"/>
              <a:gd name="connsiteY6" fmla="*/ 611281 h 686440"/>
              <a:gd name="connsiteX0" fmla="*/ 116567 w 614362"/>
              <a:gd name="connsiteY0" fmla="*/ 611281 h 686440"/>
              <a:gd name="connsiteX1" fmla="*/ 11792 w 614362"/>
              <a:gd name="connsiteY1" fmla="*/ 58831 h 686440"/>
              <a:gd name="connsiteX2" fmla="*/ 316592 w 614362"/>
              <a:gd name="connsiteY2" fmla="*/ 96931 h 686440"/>
              <a:gd name="connsiteX3" fmla="*/ 554717 w 614362"/>
              <a:gd name="connsiteY3" fmla="*/ 1681 h 686440"/>
              <a:gd name="connsiteX4" fmla="*/ 611867 w 614362"/>
              <a:gd name="connsiteY4" fmla="*/ 192181 h 686440"/>
              <a:gd name="connsiteX5" fmla="*/ 497567 w 614362"/>
              <a:gd name="connsiteY5" fmla="*/ 649381 h 686440"/>
              <a:gd name="connsiteX6" fmla="*/ 116567 w 614362"/>
              <a:gd name="connsiteY6" fmla="*/ 611281 h 686440"/>
              <a:gd name="connsiteX0" fmla="*/ 112264 w 610059"/>
              <a:gd name="connsiteY0" fmla="*/ 611281 h 686440"/>
              <a:gd name="connsiteX1" fmla="*/ 7489 w 610059"/>
              <a:gd name="connsiteY1" fmla="*/ 58831 h 686440"/>
              <a:gd name="connsiteX2" fmla="*/ 312289 w 610059"/>
              <a:gd name="connsiteY2" fmla="*/ 96931 h 686440"/>
              <a:gd name="connsiteX3" fmla="*/ 550414 w 610059"/>
              <a:gd name="connsiteY3" fmla="*/ 1681 h 686440"/>
              <a:gd name="connsiteX4" fmla="*/ 607564 w 610059"/>
              <a:gd name="connsiteY4" fmla="*/ 192181 h 686440"/>
              <a:gd name="connsiteX5" fmla="*/ 493264 w 610059"/>
              <a:gd name="connsiteY5" fmla="*/ 649381 h 686440"/>
              <a:gd name="connsiteX6" fmla="*/ 112264 w 610059"/>
              <a:gd name="connsiteY6" fmla="*/ 611281 h 686440"/>
              <a:gd name="connsiteX0" fmla="*/ 112264 w 610059"/>
              <a:gd name="connsiteY0" fmla="*/ 611281 h 677959"/>
              <a:gd name="connsiteX1" fmla="*/ 7489 w 610059"/>
              <a:gd name="connsiteY1" fmla="*/ 58831 h 677959"/>
              <a:gd name="connsiteX2" fmla="*/ 312289 w 610059"/>
              <a:gd name="connsiteY2" fmla="*/ 96931 h 677959"/>
              <a:gd name="connsiteX3" fmla="*/ 550414 w 610059"/>
              <a:gd name="connsiteY3" fmla="*/ 1681 h 677959"/>
              <a:gd name="connsiteX4" fmla="*/ 607564 w 610059"/>
              <a:gd name="connsiteY4" fmla="*/ 192181 h 677959"/>
              <a:gd name="connsiteX5" fmla="*/ 493264 w 610059"/>
              <a:gd name="connsiteY5" fmla="*/ 649381 h 677959"/>
              <a:gd name="connsiteX6" fmla="*/ 112264 w 610059"/>
              <a:gd name="connsiteY6" fmla="*/ 611281 h 677959"/>
              <a:gd name="connsiteX0" fmla="*/ 112264 w 610059"/>
              <a:gd name="connsiteY0" fmla="*/ 611281 h 650638"/>
              <a:gd name="connsiteX1" fmla="*/ 7489 w 610059"/>
              <a:gd name="connsiteY1" fmla="*/ 58831 h 650638"/>
              <a:gd name="connsiteX2" fmla="*/ 312289 w 610059"/>
              <a:gd name="connsiteY2" fmla="*/ 96931 h 650638"/>
              <a:gd name="connsiteX3" fmla="*/ 550414 w 610059"/>
              <a:gd name="connsiteY3" fmla="*/ 1681 h 650638"/>
              <a:gd name="connsiteX4" fmla="*/ 607564 w 610059"/>
              <a:gd name="connsiteY4" fmla="*/ 192181 h 650638"/>
              <a:gd name="connsiteX5" fmla="*/ 493264 w 610059"/>
              <a:gd name="connsiteY5" fmla="*/ 611281 h 650638"/>
              <a:gd name="connsiteX6" fmla="*/ 112264 w 610059"/>
              <a:gd name="connsiteY6" fmla="*/ 611281 h 650638"/>
              <a:gd name="connsiteX0" fmla="*/ 112264 w 610059"/>
              <a:gd name="connsiteY0" fmla="*/ 611281 h 650638"/>
              <a:gd name="connsiteX1" fmla="*/ 7489 w 610059"/>
              <a:gd name="connsiteY1" fmla="*/ 58831 h 650638"/>
              <a:gd name="connsiteX2" fmla="*/ 312289 w 610059"/>
              <a:gd name="connsiteY2" fmla="*/ 96931 h 650638"/>
              <a:gd name="connsiteX3" fmla="*/ 550414 w 610059"/>
              <a:gd name="connsiteY3" fmla="*/ 1681 h 650638"/>
              <a:gd name="connsiteX4" fmla="*/ 607564 w 610059"/>
              <a:gd name="connsiteY4" fmla="*/ 192181 h 650638"/>
              <a:gd name="connsiteX5" fmla="*/ 493264 w 610059"/>
              <a:gd name="connsiteY5" fmla="*/ 611281 h 650638"/>
              <a:gd name="connsiteX6" fmla="*/ 112264 w 610059"/>
              <a:gd name="connsiteY6" fmla="*/ 611281 h 650638"/>
              <a:gd name="connsiteX0" fmla="*/ 112264 w 610059"/>
              <a:gd name="connsiteY0" fmla="*/ 611281 h 628656"/>
              <a:gd name="connsiteX1" fmla="*/ 7489 w 610059"/>
              <a:gd name="connsiteY1" fmla="*/ 58831 h 628656"/>
              <a:gd name="connsiteX2" fmla="*/ 312289 w 610059"/>
              <a:gd name="connsiteY2" fmla="*/ 96931 h 628656"/>
              <a:gd name="connsiteX3" fmla="*/ 550414 w 610059"/>
              <a:gd name="connsiteY3" fmla="*/ 1681 h 628656"/>
              <a:gd name="connsiteX4" fmla="*/ 607564 w 610059"/>
              <a:gd name="connsiteY4" fmla="*/ 192181 h 628656"/>
              <a:gd name="connsiteX5" fmla="*/ 493264 w 610059"/>
              <a:gd name="connsiteY5" fmla="*/ 611281 h 628656"/>
              <a:gd name="connsiteX6" fmla="*/ 112264 w 610059"/>
              <a:gd name="connsiteY6" fmla="*/ 611281 h 628656"/>
              <a:gd name="connsiteX0" fmla="*/ 112264 w 610059"/>
              <a:gd name="connsiteY0" fmla="*/ 611281 h 628656"/>
              <a:gd name="connsiteX1" fmla="*/ 7489 w 610059"/>
              <a:gd name="connsiteY1" fmla="*/ 58831 h 628656"/>
              <a:gd name="connsiteX2" fmla="*/ 312289 w 610059"/>
              <a:gd name="connsiteY2" fmla="*/ 96931 h 628656"/>
              <a:gd name="connsiteX3" fmla="*/ 550414 w 610059"/>
              <a:gd name="connsiteY3" fmla="*/ 1681 h 628656"/>
              <a:gd name="connsiteX4" fmla="*/ 607564 w 610059"/>
              <a:gd name="connsiteY4" fmla="*/ 192181 h 628656"/>
              <a:gd name="connsiteX5" fmla="*/ 493264 w 610059"/>
              <a:gd name="connsiteY5" fmla="*/ 611281 h 628656"/>
              <a:gd name="connsiteX6" fmla="*/ 112264 w 610059"/>
              <a:gd name="connsiteY6" fmla="*/ 611281 h 628656"/>
              <a:gd name="connsiteX0" fmla="*/ 112264 w 565247"/>
              <a:gd name="connsiteY0" fmla="*/ 633527 h 650902"/>
              <a:gd name="connsiteX1" fmla="*/ 7489 w 565247"/>
              <a:gd name="connsiteY1" fmla="*/ 81077 h 650902"/>
              <a:gd name="connsiteX2" fmla="*/ 312289 w 565247"/>
              <a:gd name="connsiteY2" fmla="*/ 119177 h 650902"/>
              <a:gd name="connsiteX3" fmla="*/ 550414 w 565247"/>
              <a:gd name="connsiteY3" fmla="*/ 23927 h 650902"/>
              <a:gd name="connsiteX4" fmla="*/ 493264 w 565247"/>
              <a:gd name="connsiteY4" fmla="*/ 633527 h 650902"/>
              <a:gd name="connsiteX5" fmla="*/ 112264 w 565247"/>
              <a:gd name="connsiteY5" fmla="*/ 633527 h 650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5247" h="650902">
                <a:moveTo>
                  <a:pt x="112264" y="633527"/>
                </a:moveTo>
                <a:cubicBezTo>
                  <a:pt x="59877" y="535102"/>
                  <a:pt x="-25849" y="166802"/>
                  <a:pt x="7489" y="81077"/>
                </a:cubicBezTo>
                <a:cubicBezTo>
                  <a:pt x="40827" y="-4648"/>
                  <a:pt x="221802" y="128702"/>
                  <a:pt x="312289" y="119177"/>
                </a:cubicBezTo>
                <a:cubicBezTo>
                  <a:pt x="402777" y="109652"/>
                  <a:pt x="520252" y="-61798"/>
                  <a:pt x="550414" y="23927"/>
                </a:cubicBezTo>
                <a:cubicBezTo>
                  <a:pt x="580577" y="109652"/>
                  <a:pt x="566289" y="531927"/>
                  <a:pt x="493264" y="633527"/>
                </a:cubicBezTo>
                <a:cubicBezTo>
                  <a:pt x="353564" y="646227"/>
                  <a:pt x="212276" y="665277"/>
                  <a:pt x="112264" y="6335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Macrocytic">
            <a:extLst>
              <a:ext uri="{FF2B5EF4-FFF2-40B4-BE49-F238E27FC236}">
                <a16:creationId xmlns:a16="http://schemas.microsoft.com/office/drawing/2014/main" id="{661BEAB0-AB90-E92C-4C83-A9E738743A5E}"/>
              </a:ext>
            </a:extLst>
          </p:cNvPr>
          <p:cNvSpPr/>
          <p:nvPr/>
        </p:nvSpPr>
        <p:spPr>
          <a:xfrm>
            <a:off x="7516449" y="1223524"/>
            <a:ext cx="1463040" cy="36576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% saturation</a:t>
            </a:r>
          </a:p>
        </p:txBody>
      </p:sp>
      <p:sp>
        <p:nvSpPr>
          <p:cNvPr id="30" name="Iron sat">
            <a:extLst>
              <a:ext uri="{FF2B5EF4-FFF2-40B4-BE49-F238E27FC236}">
                <a16:creationId xmlns:a16="http://schemas.microsoft.com/office/drawing/2014/main" id="{61E7BFCE-371E-4A6C-87D1-8C7780D30D51}"/>
              </a:ext>
            </a:extLst>
          </p:cNvPr>
          <p:cNvSpPr/>
          <p:nvPr/>
        </p:nvSpPr>
        <p:spPr>
          <a:xfrm>
            <a:off x="7516449" y="1223524"/>
            <a:ext cx="146304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% saturation</a:t>
            </a:r>
          </a:p>
        </p:txBody>
      </p:sp>
      <p:pic>
        <p:nvPicPr>
          <p:cNvPr id="31" name="Graphic 30" descr="Cursor">
            <a:extLst>
              <a:ext uri="{FF2B5EF4-FFF2-40B4-BE49-F238E27FC236}">
                <a16:creationId xmlns:a16="http://schemas.microsoft.com/office/drawing/2014/main" id="{13A1AC1B-BF0B-387C-766E-75FFEB6737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57441" y="1461649"/>
            <a:ext cx="274320" cy="2743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79AB81A-7A76-4C45-CF1E-FF9EC117909E}"/>
                  </a:ext>
                </a:extLst>
              </p:cNvPr>
              <p:cNvSpPr txBox="1"/>
              <p:nvPr/>
            </p:nvSpPr>
            <p:spPr>
              <a:xfrm>
                <a:off x="7288053" y="1723356"/>
                <a:ext cx="22462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14300" indent="-114300">
                  <a:buFont typeface="Arial" panose="020B0604020202020204" pitchFamily="34" charset="0"/>
                  <a:buChar char="•"/>
                </a:pPr>
                <a:r>
                  <a:rPr lang="en-US" dirty="0"/>
                  <a:t>Serum iron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US" dirty="0"/>
                  <a:t> TIBC</a:t>
                </a:r>
              </a:p>
              <a:p>
                <a:pPr marL="114300" indent="-114300">
                  <a:buFont typeface="Arial" panose="020B0604020202020204" pitchFamily="34" charset="0"/>
                  <a:buChar char="•"/>
                </a:pPr>
                <a:r>
                  <a:rPr lang="en-US" dirty="0"/>
                  <a:t>Normal: 25-45%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79AB81A-7A76-4C45-CF1E-FF9EC1179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053" y="1723356"/>
                <a:ext cx="2246258" cy="646331"/>
              </a:xfrm>
              <a:prstGeom prst="rect">
                <a:avLst/>
              </a:prstGeom>
              <a:blipFill>
                <a:blip r:embed="rId10"/>
                <a:stretch>
                  <a:fillRect l="-1902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Macrocytic">
            <a:extLst>
              <a:ext uri="{FF2B5EF4-FFF2-40B4-BE49-F238E27FC236}">
                <a16:creationId xmlns:a16="http://schemas.microsoft.com/office/drawing/2014/main" id="{22C372E7-BCC8-D918-00F0-3CC8BFF7E5F0}"/>
              </a:ext>
            </a:extLst>
          </p:cNvPr>
          <p:cNvSpPr/>
          <p:nvPr/>
        </p:nvSpPr>
        <p:spPr>
          <a:xfrm>
            <a:off x="9947367" y="1234460"/>
            <a:ext cx="1371600" cy="36576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Ferritin</a:t>
            </a:r>
          </a:p>
        </p:txBody>
      </p:sp>
      <p:sp>
        <p:nvSpPr>
          <p:cNvPr id="35" name="Ferritin">
            <a:extLst>
              <a:ext uri="{FF2B5EF4-FFF2-40B4-BE49-F238E27FC236}">
                <a16:creationId xmlns:a16="http://schemas.microsoft.com/office/drawing/2014/main" id="{F6964EC7-961E-383C-5FC0-01792389176D}"/>
              </a:ext>
            </a:extLst>
          </p:cNvPr>
          <p:cNvSpPr/>
          <p:nvPr/>
        </p:nvSpPr>
        <p:spPr>
          <a:xfrm>
            <a:off x="9947367" y="1234460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Ferritin</a:t>
            </a:r>
          </a:p>
        </p:txBody>
      </p:sp>
      <p:pic>
        <p:nvPicPr>
          <p:cNvPr id="36" name="Graphic 35" descr="Cursor">
            <a:extLst>
              <a:ext uri="{FF2B5EF4-FFF2-40B4-BE49-F238E27FC236}">
                <a16:creationId xmlns:a16="http://schemas.microsoft.com/office/drawing/2014/main" id="{1167CEED-FC59-9E61-7A88-698A561E3D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83106" y="1472585"/>
            <a:ext cx="274320" cy="27432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136AEDC1-1E60-8836-A166-6C378F8CB668}"/>
              </a:ext>
            </a:extLst>
          </p:cNvPr>
          <p:cNvSpPr txBox="1"/>
          <p:nvPr/>
        </p:nvSpPr>
        <p:spPr>
          <a:xfrm>
            <a:off x="9549491" y="1723356"/>
            <a:ext cx="23319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Measure of iron stores (correlate of bone marrow iron)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Acute phase reactant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11E59D7-1B86-E17B-5354-B170455B0D87}"/>
              </a:ext>
            </a:extLst>
          </p:cNvPr>
          <p:cNvCxnSpPr/>
          <p:nvPr/>
        </p:nvCxnSpPr>
        <p:spPr>
          <a:xfrm>
            <a:off x="457199" y="3028950"/>
            <a:ext cx="1135380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Macrocytic">
            <a:extLst>
              <a:ext uri="{FF2B5EF4-FFF2-40B4-BE49-F238E27FC236}">
                <a16:creationId xmlns:a16="http://schemas.microsoft.com/office/drawing/2014/main" id="{8504A98B-60A8-6AC8-AE9C-DDCF1788CA81}"/>
              </a:ext>
            </a:extLst>
          </p:cNvPr>
          <p:cNvSpPr/>
          <p:nvPr/>
        </p:nvSpPr>
        <p:spPr>
          <a:xfrm>
            <a:off x="457199" y="3289173"/>
            <a:ext cx="1371600" cy="596073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Iron deficiency</a:t>
            </a:r>
          </a:p>
        </p:txBody>
      </p:sp>
      <p:sp>
        <p:nvSpPr>
          <p:cNvPr id="42" name="IDA">
            <a:extLst>
              <a:ext uri="{FF2B5EF4-FFF2-40B4-BE49-F238E27FC236}">
                <a16:creationId xmlns:a16="http://schemas.microsoft.com/office/drawing/2014/main" id="{05198141-DCAD-5044-E8D8-C41A1BFB46B2}"/>
              </a:ext>
            </a:extLst>
          </p:cNvPr>
          <p:cNvSpPr/>
          <p:nvPr/>
        </p:nvSpPr>
        <p:spPr>
          <a:xfrm>
            <a:off x="457199" y="3289173"/>
            <a:ext cx="1371600" cy="59607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Iron deficiency</a:t>
            </a:r>
          </a:p>
        </p:txBody>
      </p:sp>
      <p:pic>
        <p:nvPicPr>
          <p:cNvPr id="43" name="Graphic 42" descr="Cursor">
            <a:extLst>
              <a:ext uri="{FF2B5EF4-FFF2-40B4-BE49-F238E27FC236}">
                <a16:creationId xmlns:a16="http://schemas.microsoft.com/office/drawing/2014/main" id="{E1B9B93F-6E80-C3BC-F9D4-D61B02670A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91639" y="3748088"/>
            <a:ext cx="274320" cy="27432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654E46AB-60EF-D207-FBDA-848389DEB628}"/>
              </a:ext>
            </a:extLst>
          </p:cNvPr>
          <p:cNvSpPr txBox="1"/>
          <p:nvPr/>
        </p:nvSpPr>
        <p:spPr>
          <a:xfrm>
            <a:off x="1965959" y="3150988"/>
            <a:ext cx="274891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ym typeface="Wingdings" panose="05000000000000000000" pitchFamily="2" charset="2"/>
              </a:rPr>
              <a:t></a:t>
            </a:r>
          </a:p>
          <a:p>
            <a:pPr algn="ctr"/>
            <a:r>
              <a:rPr lang="en-US" sz="1400" dirty="0">
                <a:sym typeface="Wingdings" panose="05000000000000000000" pitchFamily="2" charset="2"/>
              </a:rPr>
              <a:t>(may vary with recent oral intake)</a:t>
            </a:r>
            <a:endParaRPr 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1CA199-ADFD-B2B4-8685-8A5827946848}"/>
              </a:ext>
            </a:extLst>
          </p:cNvPr>
          <p:cNvSpPr txBox="1"/>
          <p:nvPr/>
        </p:nvSpPr>
        <p:spPr>
          <a:xfrm>
            <a:off x="4714876" y="3152087"/>
            <a:ext cx="252412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ym typeface="Wingdings" panose="05000000000000000000" pitchFamily="2" charset="2"/>
              </a:rPr>
              <a:t></a:t>
            </a:r>
            <a:endParaRPr lang="en-US" sz="2400" dirty="0"/>
          </a:p>
          <a:p>
            <a:pPr algn="ctr"/>
            <a:r>
              <a:rPr lang="en-US" sz="1400" dirty="0">
                <a:sym typeface="Wingdings" panose="05000000000000000000" pitchFamily="2" charset="2"/>
              </a:rPr>
              <a:t>(in response to low iron stores)</a:t>
            </a:r>
            <a:endParaRPr lang="en-US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CDC22BE-5880-B887-C5EA-99693345E311}"/>
              </a:ext>
            </a:extLst>
          </p:cNvPr>
          <p:cNvSpPr txBox="1"/>
          <p:nvPr/>
        </p:nvSpPr>
        <p:spPr>
          <a:xfrm>
            <a:off x="7254019" y="3152087"/>
            <a:ext cx="231432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ym typeface="Wingdings" panose="05000000000000000000" pitchFamily="2" charset="2"/>
              </a:rPr>
              <a:t></a:t>
            </a:r>
          </a:p>
          <a:p>
            <a:pPr algn="ctr"/>
            <a:r>
              <a:rPr lang="en-US" sz="1400" dirty="0">
                <a:sym typeface="Wingdings" panose="05000000000000000000" pitchFamily="2" charset="2"/>
              </a:rPr>
              <a:t>(% sat &lt;20% suggestive, &lt;10% very suggestive)</a:t>
            </a:r>
            <a:endParaRPr lang="en-US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743172A-C6CB-0647-E425-D660364D8904}"/>
              </a:ext>
            </a:extLst>
          </p:cNvPr>
          <p:cNvSpPr txBox="1"/>
          <p:nvPr/>
        </p:nvSpPr>
        <p:spPr>
          <a:xfrm>
            <a:off x="9558325" y="3152087"/>
            <a:ext cx="231432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ym typeface="Wingdings" panose="05000000000000000000" pitchFamily="2" charset="2"/>
              </a:rPr>
              <a:t></a:t>
            </a:r>
          </a:p>
          <a:p>
            <a:pPr algn="ctr"/>
            <a:r>
              <a:rPr lang="en-US" sz="1400" dirty="0">
                <a:sym typeface="Wingdings" panose="05000000000000000000" pitchFamily="2" charset="2"/>
              </a:rPr>
              <a:t>(&lt;30 mg/L is diagnostic)</a:t>
            </a:r>
            <a:endParaRPr lang="en-US" sz="1400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A977A67-B8D1-D5B6-623F-A2C95E900D2C}"/>
              </a:ext>
            </a:extLst>
          </p:cNvPr>
          <p:cNvCxnSpPr/>
          <p:nvPr/>
        </p:nvCxnSpPr>
        <p:spPr>
          <a:xfrm>
            <a:off x="419099" y="4143375"/>
            <a:ext cx="1135380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Macrocytic">
            <a:extLst>
              <a:ext uri="{FF2B5EF4-FFF2-40B4-BE49-F238E27FC236}">
                <a16:creationId xmlns:a16="http://schemas.microsoft.com/office/drawing/2014/main" id="{C57226D7-8B97-F909-4D6E-841214400C1B}"/>
              </a:ext>
            </a:extLst>
          </p:cNvPr>
          <p:cNvSpPr/>
          <p:nvPr/>
        </p:nvSpPr>
        <p:spPr>
          <a:xfrm>
            <a:off x="457199" y="4425196"/>
            <a:ext cx="1371600" cy="596073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ACD</a:t>
            </a:r>
          </a:p>
        </p:txBody>
      </p:sp>
      <p:sp>
        <p:nvSpPr>
          <p:cNvPr id="53" name="Chronic disease">
            <a:extLst>
              <a:ext uri="{FF2B5EF4-FFF2-40B4-BE49-F238E27FC236}">
                <a16:creationId xmlns:a16="http://schemas.microsoft.com/office/drawing/2014/main" id="{101E0ADC-3533-4849-A2EB-17DE7570F028}"/>
              </a:ext>
            </a:extLst>
          </p:cNvPr>
          <p:cNvSpPr/>
          <p:nvPr/>
        </p:nvSpPr>
        <p:spPr>
          <a:xfrm>
            <a:off x="457199" y="4425196"/>
            <a:ext cx="1371600" cy="59607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471B9B-E5A9-4258-5D8A-453A45E07768}"/>
              </a:ext>
            </a:extLst>
          </p:cNvPr>
          <p:cNvSpPr txBox="1"/>
          <p:nvPr/>
        </p:nvSpPr>
        <p:spPr>
          <a:xfrm>
            <a:off x="1965959" y="4223804"/>
            <a:ext cx="274891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ym typeface="Wingdings" panose="05000000000000000000" pitchFamily="2" charset="2"/>
              </a:rPr>
              <a:t></a:t>
            </a:r>
          </a:p>
          <a:p>
            <a:pPr algn="ctr"/>
            <a:r>
              <a:rPr lang="en-US" sz="1400" dirty="0">
                <a:sym typeface="Wingdings" panose="05000000000000000000" pitchFamily="2" charset="2"/>
              </a:rPr>
              <a:t>(↓ dietary absorption and sequestration in macrophages)</a:t>
            </a:r>
            <a:endParaRPr 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4314BE9-F5E7-2603-5F79-220752A3F892}"/>
              </a:ext>
            </a:extLst>
          </p:cNvPr>
          <p:cNvSpPr txBox="1"/>
          <p:nvPr/>
        </p:nvSpPr>
        <p:spPr>
          <a:xfrm>
            <a:off x="4714876" y="4224903"/>
            <a:ext cx="252412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↔</a:t>
            </a:r>
            <a:r>
              <a:rPr lang="en-US" sz="2400" dirty="0">
                <a:sym typeface="Wingdings" panose="05000000000000000000" pitchFamily="2" charset="2"/>
              </a:rPr>
              <a:t>/</a:t>
            </a:r>
          </a:p>
          <a:p>
            <a:pPr algn="ctr"/>
            <a:r>
              <a:rPr lang="en-US" sz="1400" dirty="0">
                <a:sym typeface="Wingdings" panose="05000000000000000000" pitchFamily="2" charset="2"/>
              </a:rPr>
              <a:t>(inflammatory cytokines ↓ transferrin)</a:t>
            </a:r>
            <a:endParaRPr lang="en-US" sz="1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92D40DF-4D1C-1548-1BD5-2D4E8B39977B}"/>
              </a:ext>
            </a:extLst>
          </p:cNvPr>
          <p:cNvSpPr txBox="1"/>
          <p:nvPr/>
        </p:nvSpPr>
        <p:spPr>
          <a:xfrm>
            <a:off x="7254019" y="4224903"/>
            <a:ext cx="23143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↔</a:t>
            </a:r>
            <a:r>
              <a:rPr lang="en-US" sz="2400" dirty="0">
                <a:sym typeface="Wingdings" panose="05000000000000000000" pitchFamily="2" charset="2"/>
              </a:rPr>
              <a:t>/</a:t>
            </a:r>
          </a:p>
          <a:p>
            <a:pPr algn="ctr"/>
            <a:r>
              <a:rPr lang="en-US" sz="1400" dirty="0">
                <a:sym typeface="Wingdings" panose="05000000000000000000" pitchFamily="2" charset="2"/>
              </a:rPr>
              <a:t>(% sat &lt;20% in 80% of cases but may be pseudo-normal if  TIBC)</a:t>
            </a:r>
            <a:endParaRPr lang="en-US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4E20C86-3704-ADF1-0C48-AFC4F5C3374B}"/>
              </a:ext>
            </a:extLst>
          </p:cNvPr>
          <p:cNvSpPr txBox="1"/>
          <p:nvPr/>
        </p:nvSpPr>
        <p:spPr>
          <a:xfrm>
            <a:off x="9558325" y="4224903"/>
            <a:ext cx="23143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↔</a:t>
            </a:r>
            <a:r>
              <a:rPr lang="en-US" sz="2400" dirty="0">
                <a:sym typeface="Wingdings" panose="05000000000000000000" pitchFamily="2" charset="2"/>
              </a:rPr>
              <a:t>/</a:t>
            </a:r>
          </a:p>
          <a:p>
            <a:pPr algn="ctr"/>
            <a:r>
              <a:rPr lang="en-US" sz="1400" dirty="0">
                <a:sym typeface="Wingdings" panose="05000000000000000000" pitchFamily="2" charset="2"/>
              </a:rPr>
              <a:t>(normal stores, ↑ secretion by macrophages, and inflammatory state)</a:t>
            </a:r>
            <a:endParaRPr lang="en-US" sz="1400" dirty="0"/>
          </a:p>
        </p:txBody>
      </p:sp>
      <p:pic>
        <p:nvPicPr>
          <p:cNvPr id="58" name="Graphic 57" descr="Cursor">
            <a:extLst>
              <a:ext uri="{FF2B5EF4-FFF2-40B4-BE49-F238E27FC236}">
                <a16:creationId xmlns:a16="http://schemas.microsoft.com/office/drawing/2014/main" id="{C8191D60-67FC-3F59-1E46-F004955844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91639" y="4884109"/>
            <a:ext cx="274320" cy="274320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E839B815-C7EC-1563-7BB7-C4C55C62B02E}"/>
              </a:ext>
            </a:extLst>
          </p:cNvPr>
          <p:cNvGrpSpPr/>
          <p:nvPr/>
        </p:nvGrpSpPr>
        <p:grpSpPr>
          <a:xfrm>
            <a:off x="7372424" y="2383537"/>
            <a:ext cx="1607065" cy="367122"/>
            <a:chOff x="7372424" y="2383537"/>
            <a:chExt cx="1607065" cy="367122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542D8BA6-EB2D-5F65-8B49-07C0CC7C13D8}"/>
                </a:ext>
              </a:extLst>
            </p:cNvPr>
            <p:cNvSpPr/>
            <p:nvPr/>
          </p:nvSpPr>
          <p:spPr>
            <a:xfrm>
              <a:off x="7425496" y="2394515"/>
              <a:ext cx="182880" cy="18288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0949247-2F24-B17F-DE91-320B767C2B36}"/>
                </a:ext>
              </a:extLst>
            </p:cNvPr>
            <p:cNvSpPr/>
            <p:nvPr/>
          </p:nvSpPr>
          <p:spPr>
            <a:xfrm>
              <a:off x="7372424" y="2466556"/>
              <a:ext cx="281597" cy="284103"/>
            </a:xfrm>
            <a:custGeom>
              <a:avLst/>
              <a:gdLst>
                <a:gd name="connsiteX0" fmla="*/ 89215 w 672263"/>
                <a:gd name="connsiteY0" fmla="*/ 612411 h 857591"/>
                <a:gd name="connsiteX1" fmla="*/ 3490 w 672263"/>
                <a:gd name="connsiteY1" fmla="*/ 107586 h 857591"/>
                <a:gd name="connsiteX2" fmla="*/ 222565 w 672263"/>
                <a:gd name="connsiteY2" fmla="*/ 136161 h 857591"/>
                <a:gd name="connsiteX3" fmla="*/ 546415 w 672263"/>
                <a:gd name="connsiteY3" fmla="*/ 12336 h 857591"/>
                <a:gd name="connsiteX4" fmla="*/ 670240 w 672263"/>
                <a:gd name="connsiteY4" fmla="*/ 88536 h 857591"/>
                <a:gd name="connsiteX5" fmla="*/ 460690 w 672263"/>
                <a:gd name="connsiteY5" fmla="*/ 755286 h 857591"/>
                <a:gd name="connsiteX6" fmla="*/ 203515 w 672263"/>
                <a:gd name="connsiteY6" fmla="*/ 850536 h 857591"/>
                <a:gd name="connsiteX7" fmla="*/ 108265 w 672263"/>
                <a:gd name="connsiteY7" fmla="*/ 707661 h 857591"/>
                <a:gd name="connsiteX8" fmla="*/ 89215 w 672263"/>
                <a:gd name="connsiteY8" fmla="*/ 612411 h 857591"/>
                <a:gd name="connsiteX0" fmla="*/ 93393 w 676135"/>
                <a:gd name="connsiteY0" fmla="*/ 610406 h 855586"/>
                <a:gd name="connsiteX1" fmla="*/ 7668 w 676135"/>
                <a:gd name="connsiteY1" fmla="*/ 105581 h 855586"/>
                <a:gd name="connsiteX2" fmla="*/ 312468 w 676135"/>
                <a:gd name="connsiteY2" fmla="*/ 105581 h 855586"/>
                <a:gd name="connsiteX3" fmla="*/ 550593 w 676135"/>
                <a:gd name="connsiteY3" fmla="*/ 10331 h 855586"/>
                <a:gd name="connsiteX4" fmla="*/ 674418 w 676135"/>
                <a:gd name="connsiteY4" fmla="*/ 86531 h 855586"/>
                <a:gd name="connsiteX5" fmla="*/ 464868 w 676135"/>
                <a:gd name="connsiteY5" fmla="*/ 753281 h 855586"/>
                <a:gd name="connsiteX6" fmla="*/ 207693 w 676135"/>
                <a:gd name="connsiteY6" fmla="*/ 848531 h 855586"/>
                <a:gd name="connsiteX7" fmla="*/ 112443 w 676135"/>
                <a:gd name="connsiteY7" fmla="*/ 705656 h 855586"/>
                <a:gd name="connsiteX8" fmla="*/ 93393 w 676135"/>
                <a:gd name="connsiteY8" fmla="*/ 610406 h 855586"/>
                <a:gd name="connsiteX0" fmla="*/ 93393 w 676135"/>
                <a:gd name="connsiteY0" fmla="*/ 610406 h 855586"/>
                <a:gd name="connsiteX1" fmla="*/ 7668 w 676135"/>
                <a:gd name="connsiteY1" fmla="*/ 67481 h 855586"/>
                <a:gd name="connsiteX2" fmla="*/ 312468 w 676135"/>
                <a:gd name="connsiteY2" fmla="*/ 105581 h 855586"/>
                <a:gd name="connsiteX3" fmla="*/ 550593 w 676135"/>
                <a:gd name="connsiteY3" fmla="*/ 10331 h 855586"/>
                <a:gd name="connsiteX4" fmla="*/ 674418 w 676135"/>
                <a:gd name="connsiteY4" fmla="*/ 86531 h 855586"/>
                <a:gd name="connsiteX5" fmla="*/ 464868 w 676135"/>
                <a:gd name="connsiteY5" fmla="*/ 753281 h 855586"/>
                <a:gd name="connsiteX6" fmla="*/ 207693 w 676135"/>
                <a:gd name="connsiteY6" fmla="*/ 848531 h 855586"/>
                <a:gd name="connsiteX7" fmla="*/ 112443 w 676135"/>
                <a:gd name="connsiteY7" fmla="*/ 705656 h 855586"/>
                <a:gd name="connsiteX8" fmla="*/ 93393 w 676135"/>
                <a:gd name="connsiteY8" fmla="*/ 610406 h 855586"/>
                <a:gd name="connsiteX0" fmla="*/ 93393 w 612010"/>
                <a:gd name="connsiteY0" fmla="*/ 601756 h 843533"/>
                <a:gd name="connsiteX1" fmla="*/ 7668 w 612010"/>
                <a:gd name="connsiteY1" fmla="*/ 58831 h 843533"/>
                <a:gd name="connsiteX2" fmla="*/ 312468 w 612010"/>
                <a:gd name="connsiteY2" fmla="*/ 96931 h 843533"/>
                <a:gd name="connsiteX3" fmla="*/ 550593 w 612010"/>
                <a:gd name="connsiteY3" fmla="*/ 1681 h 843533"/>
                <a:gd name="connsiteX4" fmla="*/ 607743 w 612010"/>
                <a:gd name="connsiteY4" fmla="*/ 192181 h 843533"/>
                <a:gd name="connsiteX5" fmla="*/ 464868 w 612010"/>
                <a:gd name="connsiteY5" fmla="*/ 744631 h 843533"/>
                <a:gd name="connsiteX6" fmla="*/ 207693 w 612010"/>
                <a:gd name="connsiteY6" fmla="*/ 839881 h 843533"/>
                <a:gd name="connsiteX7" fmla="*/ 112443 w 612010"/>
                <a:gd name="connsiteY7" fmla="*/ 697006 h 843533"/>
                <a:gd name="connsiteX8" fmla="*/ 93393 w 612010"/>
                <a:gd name="connsiteY8" fmla="*/ 601756 h 843533"/>
                <a:gd name="connsiteX0" fmla="*/ 93393 w 612010"/>
                <a:gd name="connsiteY0" fmla="*/ 601756 h 776211"/>
                <a:gd name="connsiteX1" fmla="*/ 7668 w 612010"/>
                <a:gd name="connsiteY1" fmla="*/ 58831 h 776211"/>
                <a:gd name="connsiteX2" fmla="*/ 312468 w 612010"/>
                <a:gd name="connsiteY2" fmla="*/ 96931 h 776211"/>
                <a:gd name="connsiteX3" fmla="*/ 550593 w 612010"/>
                <a:gd name="connsiteY3" fmla="*/ 1681 h 776211"/>
                <a:gd name="connsiteX4" fmla="*/ 607743 w 612010"/>
                <a:gd name="connsiteY4" fmla="*/ 192181 h 776211"/>
                <a:gd name="connsiteX5" fmla="*/ 464868 w 612010"/>
                <a:gd name="connsiteY5" fmla="*/ 744631 h 776211"/>
                <a:gd name="connsiteX6" fmla="*/ 112443 w 612010"/>
                <a:gd name="connsiteY6" fmla="*/ 697006 h 776211"/>
                <a:gd name="connsiteX7" fmla="*/ 93393 w 612010"/>
                <a:gd name="connsiteY7" fmla="*/ 601756 h 776211"/>
                <a:gd name="connsiteX0" fmla="*/ 93393 w 610813"/>
                <a:gd name="connsiteY0" fmla="*/ 601756 h 724778"/>
                <a:gd name="connsiteX1" fmla="*/ 7668 w 610813"/>
                <a:gd name="connsiteY1" fmla="*/ 58831 h 724778"/>
                <a:gd name="connsiteX2" fmla="*/ 312468 w 610813"/>
                <a:gd name="connsiteY2" fmla="*/ 96931 h 724778"/>
                <a:gd name="connsiteX3" fmla="*/ 550593 w 610813"/>
                <a:gd name="connsiteY3" fmla="*/ 1681 h 724778"/>
                <a:gd name="connsiteX4" fmla="*/ 607743 w 610813"/>
                <a:gd name="connsiteY4" fmla="*/ 192181 h 724778"/>
                <a:gd name="connsiteX5" fmla="*/ 483918 w 610813"/>
                <a:gd name="connsiteY5" fmla="*/ 677956 h 724778"/>
                <a:gd name="connsiteX6" fmla="*/ 112443 w 610813"/>
                <a:gd name="connsiteY6" fmla="*/ 697006 h 724778"/>
                <a:gd name="connsiteX7" fmla="*/ 93393 w 610813"/>
                <a:gd name="connsiteY7" fmla="*/ 601756 h 724778"/>
                <a:gd name="connsiteX0" fmla="*/ 114303 w 612673"/>
                <a:gd name="connsiteY0" fmla="*/ 697006 h 759322"/>
                <a:gd name="connsiteX1" fmla="*/ 9528 w 612673"/>
                <a:gd name="connsiteY1" fmla="*/ 58831 h 759322"/>
                <a:gd name="connsiteX2" fmla="*/ 314328 w 612673"/>
                <a:gd name="connsiteY2" fmla="*/ 96931 h 759322"/>
                <a:gd name="connsiteX3" fmla="*/ 552453 w 612673"/>
                <a:gd name="connsiteY3" fmla="*/ 1681 h 759322"/>
                <a:gd name="connsiteX4" fmla="*/ 609603 w 612673"/>
                <a:gd name="connsiteY4" fmla="*/ 192181 h 759322"/>
                <a:gd name="connsiteX5" fmla="*/ 485778 w 612673"/>
                <a:gd name="connsiteY5" fmla="*/ 677956 h 759322"/>
                <a:gd name="connsiteX6" fmla="*/ 114303 w 612673"/>
                <a:gd name="connsiteY6" fmla="*/ 697006 h 759322"/>
                <a:gd name="connsiteX0" fmla="*/ 106461 w 614356"/>
                <a:gd name="connsiteY0" fmla="*/ 639856 h 726779"/>
                <a:gd name="connsiteX1" fmla="*/ 11211 w 614356"/>
                <a:gd name="connsiteY1" fmla="*/ 58831 h 726779"/>
                <a:gd name="connsiteX2" fmla="*/ 316011 w 614356"/>
                <a:gd name="connsiteY2" fmla="*/ 96931 h 726779"/>
                <a:gd name="connsiteX3" fmla="*/ 554136 w 614356"/>
                <a:gd name="connsiteY3" fmla="*/ 1681 h 726779"/>
                <a:gd name="connsiteX4" fmla="*/ 611286 w 614356"/>
                <a:gd name="connsiteY4" fmla="*/ 192181 h 726779"/>
                <a:gd name="connsiteX5" fmla="*/ 487461 w 614356"/>
                <a:gd name="connsiteY5" fmla="*/ 677956 h 726779"/>
                <a:gd name="connsiteX6" fmla="*/ 106461 w 614356"/>
                <a:gd name="connsiteY6" fmla="*/ 639856 h 726779"/>
                <a:gd name="connsiteX0" fmla="*/ 106643 w 613963"/>
                <a:gd name="connsiteY0" fmla="*/ 639856 h 709520"/>
                <a:gd name="connsiteX1" fmla="*/ 11393 w 613963"/>
                <a:gd name="connsiteY1" fmla="*/ 58831 h 709520"/>
                <a:gd name="connsiteX2" fmla="*/ 316193 w 613963"/>
                <a:gd name="connsiteY2" fmla="*/ 96931 h 709520"/>
                <a:gd name="connsiteX3" fmla="*/ 554318 w 613963"/>
                <a:gd name="connsiteY3" fmla="*/ 1681 h 709520"/>
                <a:gd name="connsiteX4" fmla="*/ 611468 w 613963"/>
                <a:gd name="connsiteY4" fmla="*/ 192181 h 709520"/>
                <a:gd name="connsiteX5" fmla="*/ 497168 w 613963"/>
                <a:gd name="connsiteY5" fmla="*/ 649381 h 709520"/>
                <a:gd name="connsiteX6" fmla="*/ 106643 w 613963"/>
                <a:gd name="connsiteY6" fmla="*/ 639856 h 709520"/>
                <a:gd name="connsiteX0" fmla="*/ 114453 w 612248"/>
                <a:gd name="connsiteY0" fmla="*/ 611281 h 694701"/>
                <a:gd name="connsiteX1" fmla="*/ 9678 w 612248"/>
                <a:gd name="connsiteY1" fmla="*/ 58831 h 694701"/>
                <a:gd name="connsiteX2" fmla="*/ 314478 w 612248"/>
                <a:gd name="connsiteY2" fmla="*/ 96931 h 694701"/>
                <a:gd name="connsiteX3" fmla="*/ 552603 w 612248"/>
                <a:gd name="connsiteY3" fmla="*/ 1681 h 694701"/>
                <a:gd name="connsiteX4" fmla="*/ 609753 w 612248"/>
                <a:gd name="connsiteY4" fmla="*/ 192181 h 694701"/>
                <a:gd name="connsiteX5" fmla="*/ 495453 w 612248"/>
                <a:gd name="connsiteY5" fmla="*/ 649381 h 694701"/>
                <a:gd name="connsiteX6" fmla="*/ 114453 w 612248"/>
                <a:gd name="connsiteY6" fmla="*/ 611281 h 694701"/>
                <a:gd name="connsiteX0" fmla="*/ 116567 w 614362"/>
                <a:gd name="connsiteY0" fmla="*/ 611281 h 686440"/>
                <a:gd name="connsiteX1" fmla="*/ 11792 w 614362"/>
                <a:gd name="connsiteY1" fmla="*/ 58831 h 686440"/>
                <a:gd name="connsiteX2" fmla="*/ 316592 w 614362"/>
                <a:gd name="connsiteY2" fmla="*/ 96931 h 686440"/>
                <a:gd name="connsiteX3" fmla="*/ 554717 w 614362"/>
                <a:gd name="connsiteY3" fmla="*/ 1681 h 686440"/>
                <a:gd name="connsiteX4" fmla="*/ 611867 w 614362"/>
                <a:gd name="connsiteY4" fmla="*/ 192181 h 686440"/>
                <a:gd name="connsiteX5" fmla="*/ 497567 w 614362"/>
                <a:gd name="connsiteY5" fmla="*/ 649381 h 686440"/>
                <a:gd name="connsiteX6" fmla="*/ 116567 w 614362"/>
                <a:gd name="connsiteY6" fmla="*/ 611281 h 686440"/>
                <a:gd name="connsiteX0" fmla="*/ 116567 w 614362"/>
                <a:gd name="connsiteY0" fmla="*/ 611281 h 686440"/>
                <a:gd name="connsiteX1" fmla="*/ 11792 w 614362"/>
                <a:gd name="connsiteY1" fmla="*/ 58831 h 686440"/>
                <a:gd name="connsiteX2" fmla="*/ 316592 w 614362"/>
                <a:gd name="connsiteY2" fmla="*/ 96931 h 686440"/>
                <a:gd name="connsiteX3" fmla="*/ 554717 w 614362"/>
                <a:gd name="connsiteY3" fmla="*/ 1681 h 686440"/>
                <a:gd name="connsiteX4" fmla="*/ 611867 w 614362"/>
                <a:gd name="connsiteY4" fmla="*/ 192181 h 686440"/>
                <a:gd name="connsiteX5" fmla="*/ 497567 w 614362"/>
                <a:gd name="connsiteY5" fmla="*/ 649381 h 686440"/>
                <a:gd name="connsiteX6" fmla="*/ 116567 w 614362"/>
                <a:gd name="connsiteY6" fmla="*/ 611281 h 686440"/>
                <a:gd name="connsiteX0" fmla="*/ 112264 w 610059"/>
                <a:gd name="connsiteY0" fmla="*/ 611281 h 686440"/>
                <a:gd name="connsiteX1" fmla="*/ 7489 w 610059"/>
                <a:gd name="connsiteY1" fmla="*/ 58831 h 686440"/>
                <a:gd name="connsiteX2" fmla="*/ 312289 w 610059"/>
                <a:gd name="connsiteY2" fmla="*/ 96931 h 686440"/>
                <a:gd name="connsiteX3" fmla="*/ 550414 w 610059"/>
                <a:gd name="connsiteY3" fmla="*/ 1681 h 686440"/>
                <a:gd name="connsiteX4" fmla="*/ 607564 w 610059"/>
                <a:gd name="connsiteY4" fmla="*/ 192181 h 686440"/>
                <a:gd name="connsiteX5" fmla="*/ 493264 w 610059"/>
                <a:gd name="connsiteY5" fmla="*/ 649381 h 686440"/>
                <a:gd name="connsiteX6" fmla="*/ 112264 w 610059"/>
                <a:gd name="connsiteY6" fmla="*/ 611281 h 686440"/>
                <a:gd name="connsiteX0" fmla="*/ 112264 w 610059"/>
                <a:gd name="connsiteY0" fmla="*/ 611281 h 677959"/>
                <a:gd name="connsiteX1" fmla="*/ 7489 w 610059"/>
                <a:gd name="connsiteY1" fmla="*/ 58831 h 677959"/>
                <a:gd name="connsiteX2" fmla="*/ 312289 w 610059"/>
                <a:gd name="connsiteY2" fmla="*/ 96931 h 677959"/>
                <a:gd name="connsiteX3" fmla="*/ 550414 w 610059"/>
                <a:gd name="connsiteY3" fmla="*/ 1681 h 677959"/>
                <a:gd name="connsiteX4" fmla="*/ 607564 w 610059"/>
                <a:gd name="connsiteY4" fmla="*/ 192181 h 677959"/>
                <a:gd name="connsiteX5" fmla="*/ 493264 w 610059"/>
                <a:gd name="connsiteY5" fmla="*/ 649381 h 677959"/>
                <a:gd name="connsiteX6" fmla="*/ 112264 w 610059"/>
                <a:gd name="connsiteY6" fmla="*/ 611281 h 677959"/>
                <a:gd name="connsiteX0" fmla="*/ 112264 w 610059"/>
                <a:gd name="connsiteY0" fmla="*/ 611281 h 650638"/>
                <a:gd name="connsiteX1" fmla="*/ 7489 w 610059"/>
                <a:gd name="connsiteY1" fmla="*/ 58831 h 650638"/>
                <a:gd name="connsiteX2" fmla="*/ 312289 w 610059"/>
                <a:gd name="connsiteY2" fmla="*/ 96931 h 650638"/>
                <a:gd name="connsiteX3" fmla="*/ 550414 w 610059"/>
                <a:gd name="connsiteY3" fmla="*/ 1681 h 650638"/>
                <a:gd name="connsiteX4" fmla="*/ 607564 w 610059"/>
                <a:gd name="connsiteY4" fmla="*/ 192181 h 650638"/>
                <a:gd name="connsiteX5" fmla="*/ 493264 w 610059"/>
                <a:gd name="connsiteY5" fmla="*/ 611281 h 650638"/>
                <a:gd name="connsiteX6" fmla="*/ 112264 w 610059"/>
                <a:gd name="connsiteY6" fmla="*/ 611281 h 650638"/>
                <a:gd name="connsiteX0" fmla="*/ 112264 w 610059"/>
                <a:gd name="connsiteY0" fmla="*/ 611281 h 650638"/>
                <a:gd name="connsiteX1" fmla="*/ 7489 w 610059"/>
                <a:gd name="connsiteY1" fmla="*/ 58831 h 650638"/>
                <a:gd name="connsiteX2" fmla="*/ 312289 w 610059"/>
                <a:gd name="connsiteY2" fmla="*/ 96931 h 650638"/>
                <a:gd name="connsiteX3" fmla="*/ 550414 w 610059"/>
                <a:gd name="connsiteY3" fmla="*/ 1681 h 650638"/>
                <a:gd name="connsiteX4" fmla="*/ 607564 w 610059"/>
                <a:gd name="connsiteY4" fmla="*/ 192181 h 650638"/>
                <a:gd name="connsiteX5" fmla="*/ 493264 w 610059"/>
                <a:gd name="connsiteY5" fmla="*/ 611281 h 650638"/>
                <a:gd name="connsiteX6" fmla="*/ 112264 w 610059"/>
                <a:gd name="connsiteY6" fmla="*/ 611281 h 650638"/>
                <a:gd name="connsiteX0" fmla="*/ 112264 w 610059"/>
                <a:gd name="connsiteY0" fmla="*/ 611281 h 628656"/>
                <a:gd name="connsiteX1" fmla="*/ 7489 w 610059"/>
                <a:gd name="connsiteY1" fmla="*/ 58831 h 628656"/>
                <a:gd name="connsiteX2" fmla="*/ 312289 w 610059"/>
                <a:gd name="connsiteY2" fmla="*/ 96931 h 628656"/>
                <a:gd name="connsiteX3" fmla="*/ 550414 w 610059"/>
                <a:gd name="connsiteY3" fmla="*/ 1681 h 628656"/>
                <a:gd name="connsiteX4" fmla="*/ 607564 w 610059"/>
                <a:gd name="connsiteY4" fmla="*/ 192181 h 628656"/>
                <a:gd name="connsiteX5" fmla="*/ 493264 w 610059"/>
                <a:gd name="connsiteY5" fmla="*/ 611281 h 628656"/>
                <a:gd name="connsiteX6" fmla="*/ 112264 w 610059"/>
                <a:gd name="connsiteY6" fmla="*/ 611281 h 628656"/>
                <a:gd name="connsiteX0" fmla="*/ 112264 w 610059"/>
                <a:gd name="connsiteY0" fmla="*/ 611281 h 628656"/>
                <a:gd name="connsiteX1" fmla="*/ 7489 w 610059"/>
                <a:gd name="connsiteY1" fmla="*/ 58831 h 628656"/>
                <a:gd name="connsiteX2" fmla="*/ 312289 w 610059"/>
                <a:gd name="connsiteY2" fmla="*/ 96931 h 628656"/>
                <a:gd name="connsiteX3" fmla="*/ 550414 w 610059"/>
                <a:gd name="connsiteY3" fmla="*/ 1681 h 628656"/>
                <a:gd name="connsiteX4" fmla="*/ 607564 w 610059"/>
                <a:gd name="connsiteY4" fmla="*/ 192181 h 628656"/>
                <a:gd name="connsiteX5" fmla="*/ 493264 w 610059"/>
                <a:gd name="connsiteY5" fmla="*/ 611281 h 628656"/>
                <a:gd name="connsiteX6" fmla="*/ 112264 w 610059"/>
                <a:gd name="connsiteY6" fmla="*/ 611281 h 628656"/>
                <a:gd name="connsiteX0" fmla="*/ 112264 w 565247"/>
                <a:gd name="connsiteY0" fmla="*/ 633527 h 650902"/>
                <a:gd name="connsiteX1" fmla="*/ 7489 w 565247"/>
                <a:gd name="connsiteY1" fmla="*/ 81077 h 650902"/>
                <a:gd name="connsiteX2" fmla="*/ 312289 w 565247"/>
                <a:gd name="connsiteY2" fmla="*/ 119177 h 650902"/>
                <a:gd name="connsiteX3" fmla="*/ 550414 w 565247"/>
                <a:gd name="connsiteY3" fmla="*/ 23927 h 650902"/>
                <a:gd name="connsiteX4" fmla="*/ 493264 w 565247"/>
                <a:gd name="connsiteY4" fmla="*/ 633527 h 650902"/>
                <a:gd name="connsiteX5" fmla="*/ 112264 w 565247"/>
                <a:gd name="connsiteY5" fmla="*/ 633527 h 650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5247" h="650902">
                  <a:moveTo>
                    <a:pt x="112264" y="633527"/>
                  </a:moveTo>
                  <a:cubicBezTo>
                    <a:pt x="59877" y="535102"/>
                    <a:pt x="-25849" y="166802"/>
                    <a:pt x="7489" y="81077"/>
                  </a:cubicBezTo>
                  <a:cubicBezTo>
                    <a:pt x="40827" y="-4648"/>
                    <a:pt x="221802" y="128702"/>
                    <a:pt x="312289" y="119177"/>
                  </a:cubicBezTo>
                  <a:cubicBezTo>
                    <a:pt x="402777" y="109652"/>
                    <a:pt x="520252" y="-61798"/>
                    <a:pt x="550414" y="23927"/>
                  </a:cubicBezTo>
                  <a:cubicBezTo>
                    <a:pt x="580577" y="109652"/>
                    <a:pt x="566289" y="531927"/>
                    <a:pt x="493264" y="633527"/>
                  </a:cubicBezTo>
                  <a:cubicBezTo>
                    <a:pt x="353564" y="646227"/>
                    <a:pt x="212276" y="665277"/>
                    <a:pt x="112264" y="633527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DCB8DC8-CDA3-58EB-8187-9A594994C1E6}"/>
                </a:ext>
              </a:extLst>
            </p:cNvPr>
            <p:cNvSpPr/>
            <p:nvPr/>
          </p:nvSpPr>
          <p:spPr>
            <a:xfrm>
              <a:off x="8060504" y="2466556"/>
              <a:ext cx="281597" cy="284103"/>
            </a:xfrm>
            <a:custGeom>
              <a:avLst/>
              <a:gdLst>
                <a:gd name="connsiteX0" fmla="*/ 89215 w 672263"/>
                <a:gd name="connsiteY0" fmla="*/ 612411 h 857591"/>
                <a:gd name="connsiteX1" fmla="*/ 3490 w 672263"/>
                <a:gd name="connsiteY1" fmla="*/ 107586 h 857591"/>
                <a:gd name="connsiteX2" fmla="*/ 222565 w 672263"/>
                <a:gd name="connsiteY2" fmla="*/ 136161 h 857591"/>
                <a:gd name="connsiteX3" fmla="*/ 546415 w 672263"/>
                <a:gd name="connsiteY3" fmla="*/ 12336 h 857591"/>
                <a:gd name="connsiteX4" fmla="*/ 670240 w 672263"/>
                <a:gd name="connsiteY4" fmla="*/ 88536 h 857591"/>
                <a:gd name="connsiteX5" fmla="*/ 460690 w 672263"/>
                <a:gd name="connsiteY5" fmla="*/ 755286 h 857591"/>
                <a:gd name="connsiteX6" fmla="*/ 203515 w 672263"/>
                <a:gd name="connsiteY6" fmla="*/ 850536 h 857591"/>
                <a:gd name="connsiteX7" fmla="*/ 108265 w 672263"/>
                <a:gd name="connsiteY7" fmla="*/ 707661 h 857591"/>
                <a:gd name="connsiteX8" fmla="*/ 89215 w 672263"/>
                <a:gd name="connsiteY8" fmla="*/ 612411 h 857591"/>
                <a:gd name="connsiteX0" fmla="*/ 93393 w 676135"/>
                <a:gd name="connsiteY0" fmla="*/ 610406 h 855586"/>
                <a:gd name="connsiteX1" fmla="*/ 7668 w 676135"/>
                <a:gd name="connsiteY1" fmla="*/ 105581 h 855586"/>
                <a:gd name="connsiteX2" fmla="*/ 312468 w 676135"/>
                <a:gd name="connsiteY2" fmla="*/ 105581 h 855586"/>
                <a:gd name="connsiteX3" fmla="*/ 550593 w 676135"/>
                <a:gd name="connsiteY3" fmla="*/ 10331 h 855586"/>
                <a:gd name="connsiteX4" fmla="*/ 674418 w 676135"/>
                <a:gd name="connsiteY4" fmla="*/ 86531 h 855586"/>
                <a:gd name="connsiteX5" fmla="*/ 464868 w 676135"/>
                <a:gd name="connsiteY5" fmla="*/ 753281 h 855586"/>
                <a:gd name="connsiteX6" fmla="*/ 207693 w 676135"/>
                <a:gd name="connsiteY6" fmla="*/ 848531 h 855586"/>
                <a:gd name="connsiteX7" fmla="*/ 112443 w 676135"/>
                <a:gd name="connsiteY7" fmla="*/ 705656 h 855586"/>
                <a:gd name="connsiteX8" fmla="*/ 93393 w 676135"/>
                <a:gd name="connsiteY8" fmla="*/ 610406 h 855586"/>
                <a:gd name="connsiteX0" fmla="*/ 93393 w 676135"/>
                <a:gd name="connsiteY0" fmla="*/ 610406 h 855586"/>
                <a:gd name="connsiteX1" fmla="*/ 7668 w 676135"/>
                <a:gd name="connsiteY1" fmla="*/ 67481 h 855586"/>
                <a:gd name="connsiteX2" fmla="*/ 312468 w 676135"/>
                <a:gd name="connsiteY2" fmla="*/ 105581 h 855586"/>
                <a:gd name="connsiteX3" fmla="*/ 550593 w 676135"/>
                <a:gd name="connsiteY3" fmla="*/ 10331 h 855586"/>
                <a:gd name="connsiteX4" fmla="*/ 674418 w 676135"/>
                <a:gd name="connsiteY4" fmla="*/ 86531 h 855586"/>
                <a:gd name="connsiteX5" fmla="*/ 464868 w 676135"/>
                <a:gd name="connsiteY5" fmla="*/ 753281 h 855586"/>
                <a:gd name="connsiteX6" fmla="*/ 207693 w 676135"/>
                <a:gd name="connsiteY6" fmla="*/ 848531 h 855586"/>
                <a:gd name="connsiteX7" fmla="*/ 112443 w 676135"/>
                <a:gd name="connsiteY7" fmla="*/ 705656 h 855586"/>
                <a:gd name="connsiteX8" fmla="*/ 93393 w 676135"/>
                <a:gd name="connsiteY8" fmla="*/ 610406 h 855586"/>
                <a:gd name="connsiteX0" fmla="*/ 93393 w 612010"/>
                <a:gd name="connsiteY0" fmla="*/ 601756 h 843533"/>
                <a:gd name="connsiteX1" fmla="*/ 7668 w 612010"/>
                <a:gd name="connsiteY1" fmla="*/ 58831 h 843533"/>
                <a:gd name="connsiteX2" fmla="*/ 312468 w 612010"/>
                <a:gd name="connsiteY2" fmla="*/ 96931 h 843533"/>
                <a:gd name="connsiteX3" fmla="*/ 550593 w 612010"/>
                <a:gd name="connsiteY3" fmla="*/ 1681 h 843533"/>
                <a:gd name="connsiteX4" fmla="*/ 607743 w 612010"/>
                <a:gd name="connsiteY4" fmla="*/ 192181 h 843533"/>
                <a:gd name="connsiteX5" fmla="*/ 464868 w 612010"/>
                <a:gd name="connsiteY5" fmla="*/ 744631 h 843533"/>
                <a:gd name="connsiteX6" fmla="*/ 207693 w 612010"/>
                <a:gd name="connsiteY6" fmla="*/ 839881 h 843533"/>
                <a:gd name="connsiteX7" fmla="*/ 112443 w 612010"/>
                <a:gd name="connsiteY7" fmla="*/ 697006 h 843533"/>
                <a:gd name="connsiteX8" fmla="*/ 93393 w 612010"/>
                <a:gd name="connsiteY8" fmla="*/ 601756 h 843533"/>
                <a:gd name="connsiteX0" fmla="*/ 93393 w 612010"/>
                <a:gd name="connsiteY0" fmla="*/ 601756 h 776211"/>
                <a:gd name="connsiteX1" fmla="*/ 7668 w 612010"/>
                <a:gd name="connsiteY1" fmla="*/ 58831 h 776211"/>
                <a:gd name="connsiteX2" fmla="*/ 312468 w 612010"/>
                <a:gd name="connsiteY2" fmla="*/ 96931 h 776211"/>
                <a:gd name="connsiteX3" fmla="*/ 550593 w 612010"/>
                <a:gd name="connsiteY3" fmla="*/ 1681 h 776211"/>
                <a:gd name="connsiteX4" fmla="*/ 607743 w 612010"/>
                <a:gd name="connsiteY4" fmla="*/ 192181 h 776211"/>
                <a:gd name="connsiteX5" fmla="*/ 464868 w 612010"/>
                <a:gd name="connsiteY5" fmla="*/ 744631 h 776211"/>
                <a:gd name="connsiteX6" fmla="*/ 112443 w 612010"/>
                <a:gd name="connsiteY6" fmla="*/ 697006 h 776211"/>
                <a:gd name="connsiteX7" fmla="*/ 93393 w 612010"/>
                <a:gd name="connsiteY7" fmla="*/ 601756 h 776211"/>
                <a:gd name="connsiteX0" fmla="*/ 93393 w 610813"/>
                <a:gd name="connsiteY0" fmla="*/ 601756 h 724778"/>
                <a:gd name="connsiteX1" fmla="*/ 7668 w 610813"/>
                <a:gd name="connsiteY1" fmla="*/ 58831 h 724778"/>
                <a:gd name="connsiteX2" fmla="*/ 312468 w 610813"/>
                <a:gd name="connsiteY2" fmla="*/ 96931 h 724778"/>
                <a:gd name="connsiteX3" fmla="*/ 550593 w 610813"/>
                <a:gd name="connsiteY3" fmla="*/ 1681 h 724778"/>
                <a:gd name="connsiteX4" fmla="*/ 607743 w 610813"/>
                <a:gd name="connsiteY4" fmla="*/ 192181 h 724778"/>
                <a:gd name="connsiteX5" fmla="*/ 483918 w 610813"/>
                <a:gd name="connsiteY5" fmla="*/ 677956 h 724778"/>
                <a:gd name="connsiteX6" fmla="*/ 112443 w 610813"/>
                <a:gd name="connsiteY6" fmla="*/ 697006 h 724778"/>
                <a:gd name="connsiteX7" fmla="*/ 93393 w 610813"/>
                <a:gd name="connsiteY7" fmla="*/ 601756 h 724778"/>
                <a:gd name="connsiteX0" fmla="*/ 114303 w 612673"/>
                <a:gd name="connsiteY0" fmla="*/ 697006 h 759322"/>
                <a:gd name="connsiteX1" fmla="*/ 9528 w 612673"/>
                <a:gd name="connsiteY1" fmla="*/ 58831 h 759322"/>
                <a:gd name="connsiteX2" fmla="*/ 314328 w 612673"/>
                <a:gd name="connsiteY2" fmla="*/ 96931 h 759322"/>
                <a:gd name="connsiteX3" fmla="*/ 552453 w 612673"/>
                <a:gd name="connsiteY3" fmla="*/ 1681 h 759322"/>
                <a:gd name="connsiteX4" fmla="*/ 609603 w 612673"/>
                <a:gd name="connsiteY4" fmla="*/ 192181 h 759322"/>
                <a:gd name="connsiteX5" fmla="*/ 485778 w 612673"/>
                <a:gd name="connsiteY5" fmla="*/ 677956 h 759322"/>
                <a:gd name="connsiteX6" fmla="*/ 114303 w 612673"/>
                <a:gd name="connsiteY6" fmla="*/ 697006 h 759322"/>
                <a:gd name="connsiteX0" fmla="*/ 106461 w 614356"/>
                <a:gd name="connsiteY0" fmla="*/ 639856 h 726779"/>
                <a:gd name="connsiteX1" fmla="*/ 11211 w 614356"/>
                <a:gd name="connsiteY1" fmla="*/ 58831 h 726779"/>
                <a:gd name="connsiteX2" fmla="*/ 316011 w 614356"/>
                <a:gd name="connsiteY2" fmla="*/ 96931 h 726779"/>
                <a:gd name="connsiteX3" fmla="*/ 554136 w 614356"/>
                <a:gd name="connsiteY3" fmla="*/ 1681 h 726779"/>
                <a:gd name="connsiteX4" fmla="*/ 611286 w 614356"/>
                <a:gd name="connsiteY4" fmla="*/ 192181 h 726779"/>
                <a:gd name="connsiteX5" fmla="*/ 487461 w 614356"/>
                <a:gd name="connsiteY5" fmla="*/ 677956 h 726779"/>
                <a:gd name="connsiteX6" fmla="*/ 106461 w 614356"/>
                <a:gd name="connsiteY6" fmla="*/ 639856 h 726779"/>
                <a:gd name="connsiteX0" fmla="*/ 106643 w 613963"/>
                <a:gd name="connsiteY0" fmla="*/ 639856 h 709520"/>
                <a:gd name="connsiteX1" fmla="*/ 11393 w 613963"/>
                <a:gd name="connsiteY1" fmla="*/ 58831 h 709520"/>
                <a:gd name="connsiteX2" fmla="*/ 316193 w 613963"/>
                <a:gd name="connsiteY2" fmla="*/ 96931 h 709520"/>
                <a:gd name="connsiteX3" fmla="*/ 554318 w 613963"/>
                <a:gd name="connsiteY3" fmla="*/ 1681 h 709520"/>
                <a:gd name="connsiteX4" fmla="*/ 611468 w 613963"/>
                <a:gd name="connsiteY4" fmla="*/ 192181 h 709520"/>
                <a:gd name="connsiteX5" fmla="*/ 497168 w 613963"/>
                <a:gd name="connsiteY5" fmla="*/ 649381 h 709520"/>
                <a:gd name="connsiteX6" fmla="*/ 106643 w 613963"/>
                <a:gd name="connsiteY6" fmla="*/ 639856 h 709520"/>
                <a:gd name="connsiteX0" fmla="*/ 114453 w 612248"/>
                <a:gd name="connsiteY0" fmla="*/ 611281 h 694701"/>
                <a:gd name="connsiteX1" fmla="*/ 9678 w 612248"/>
                <a:gd name="connsiteY1" fmla="*/ 58831 h 694701"/>
                <a:gd name="connsiteX2" fmla="*/ 314478 w 612248"/>
                <a:gd name="connsiteY2" fmla="*/ 96931 h 694701"/>
                <a:gd name="connsiteX3" fmla="*/ 552603 w 612248"/>
                <a:gd name="connsiteY3" fmla="*/ 1681 h 694701"/>
                <a:gd name="connsiteX4" fmla="*/ 609753 w 612248"/>
                <a:gd name="connsiteY4" fmla="*/ 192181 h 694701"/>
                <a:gd name="connsiteX5" fmla="*/ 495453 w 612248"/>
                <a:gd name="connsiteY5" fmla="*/ 649381 h 694701"/>
                <a:gd name="connsiteX6" fmla="*/ 114453 w 612248"/>
                <a:gd name="connsiteY6" fmla="*/ 611281 h 694701"/>
                <a:gd name="connsiteX0" fmla="*/ 116567 w 614362"/>
                <a:gd name="connsiteY0" fmla="*/ 611281 h 686440"/>
                <a:gd name="connsiteX1" fmla="*/ 11792 w 614362"/>
                <a:gd name="connsiteY1" fmla="*/ 58831 h 686440"/>
                <a:gd name="connsiteX2" fmla="*/ 316592 w 614362"/>
                <a:gd name="connsiteY2" fmla="*/ 96931 h 686440"/>
                <a:gd name="connsiteX3" fmla="*/ 554717 w 614362"/>
                <a:gd name="connsiteY3" fmla="*/ 1681 h 686440"/>
                <a:gd name="connsiteX4" fmla="*/ 611867 w 614362"/>
                <a:gd name="connsiteY4" fmla="*/ 192181 h 686440"/>
                <a:gd name="connsiteX5" fmla="*/ 497567 w 614362"/>
                <a:gd name="connsiteY5" fmla="*/ 649381 h 686440"/>
                <a:gd name="connsiteX6" fmla="*/ 116567 w 614362"/>
                <a:gd name="connsiteY6" fmla="*/ 611281 h 686440"/>
                <a:gd name="connsiteX0" fmla="*/ 116567 w 614362"/>
                <a:gd name="connsiteY0" fmla="*/ 611281 h 686440"/>
                <a:gd name="connsiteX1" fmla="*/ 11792 w 614362"/>
                <a:gd name="connsiteY1" fmla="*/ 58831 h 686440"/>
                <a:gd name="connsiteX2" fmla="*/ 316592 w 614362"/>
                <a:gd name="connsiteY2" fmla="*/ 96931 h 686440"/>
                <a:gd name="connsiteX3" fmla="*/ 554717 w 614362"/>
                <a:gd name="connsiteY3" fmla="*/ 1681 h 686440"/>
                <a:gd name="connsiteX4" fmla="*/ 611867 w 614362"/>
                <a:gd name="connsiteY4" fmla="*/ 192181 h 686440"/>
                <a:gd name="connsiteX5" fmla="*/ 497567 w 614362"/>
                <a:gd name="connsiteY5" fmla="*/ 649381 h 686440"/>
                <a:gd name="connsiteX6" fmla="*/ 116567 w 614362"/>
                <a:gd name="connsiteY6" fmla="*/ 611281 h 686440"/>
                <a:gd name="connsiteX0" fmla="*/ 112264 w 610059"/>
                <a:gd name="connsiteY0" fmla="*/ 611281 h 686440"/>
                <a:gd name="connsiteX1" fmla="*/ 7489 w 610059"/>
                <a:gd name="connsiteY1" fmla="*/ 58831 h 686440"/>
                <a:gd name="connsiteX2" fmla="*/ 312289 w 610059"/>
                <a:gd name="connsiteY2" fmla="*/ 96931 h 686440"/>
                <a:gd name="connsiteX3" fmla="*/ 550414 w 610059"/>
                <a:gd name="connsiteY3" fmla="*/ 1681 h 686440"/>
                <a:gd name="connsiteX4" fmla="*/ 607564 w 610059"/>
                <a:gd name="connsiteY4" fmla="*/ 192181 h 686440"/>
                <a:gd name="connsiteX5" fmla="*/ 493264 w 610059"/>
                <a:gd name="connsiteY5" fmla="*/ 649381 h 686440"/>
                <a:gd name="connsiteX6" fmla="*/ 112264 w 610059"/>
                <a:gd name="connsiteY6" fmla="*/ 611281 h 686440"/>
                <a:gd name="connsiteX0" fmla="*/ 112264 w 610059"/>
                <a:gd name="connsiteY0" fmla="*/ 611281 h 677959"/>
                <a:gd name="connsiteX1" fmla="*/ 7489 w 610059"/>
                <a:gd name="connsiteY1" fmla="*/ 58831 h 677959"/>
                <a:gd name="connsiteX2" fmla="*/ 312289 w 610059"/>
                <a:gd name="connsiteY2" fmla="*/ 96931 h 677959"/>
                <a:gd name="connsiteX3" fmla="*/ 550414 w 610059"/>
                <a:gd name="connsiteY3" fmla="*/ 1681 h 677959"/>
                <a:gd name="connsiteX4" fmla="*/ 607564 w 610059"/>
                <a:gd name="connsiteY4" fmla="*/ 192181 h 677959"/>
                <a:gd name="connsiteX5" fmla="*/ 493264 w 610059"/>
                <a:gd name="connsiteY5" fmla="*/ 649381 h 677959"/>
                <a:gd name="connsiteX6" fmla="*/ 112264 w 610059"/>
                <a:gd name="connsiteY6" fmla="*/ 611281 h 677959"/>
                <a:gd name="connsiteX0" fmla="*/ 112264 w 610059"/>
                <a:gd name="connsiteY0" fmla="*/ 611281 h 650638"/>
                <a:gd name="connsiteX1" fmla="*/ 7489 w 610059"/>
                <a:gd name="connsiteY1" fmla="*/ 58831 h 650638"/>
                <a:gd name="connsiteX2" fmla="*/ 312289 w 610059"/>
                <a:gd name="connsiteY2" fmla="*/ 96931 h 650638"/>
                <a:gd name="connsiteX3" fmla="*/ 550414 w 610059"/>
                <a:gd name="connsiteY3" fmla="*/ 1681 h 650638"/>
                <a:gd name="connsiteX4" fmla="*/ 607564 w 610059"/>
                <a:gd name="connsiteY4" fmla="*/ 192181 h 650638"/>
                <a:gd name="connsiteX5" fmla="*/ 493264 w 610059"/>
                <a:gd name="connsiteY5" fmla="*/ 611281 h 650638"/>
                <a:gd name="connsiteX6" fmla="*/ 112264 w 610059"/>
                <a:gd name="connsiteY6" fmla="*/ 611281 h 650638"/>
                <a:gd name="connsiteX0" fmla="*/ 112264 w 610059"/>
                <a:gd name="connsiteY0" fmla="*/ 611281 h 650638"/>
                <a:gd name="connsiteX1" fmla="*/ 7489 w 610059"/>
                <a:gd name="connsiteY1" fmla="*/ 58831 h 650638"/>
                <a:gd name="connsiteX2" fmla="*/ 312289 w 610059"/>
                <a:gd name="connsiteY2" fmla="*/ 96931 h 650638"/>
                <a:gd name="connsiteX3" fmla="*/ 550414 w 610059"/>
                <a:gd name="connsiteY3" fmla="*/ 1681 h 650638"/>
                <a:gd name="connsiteX4" fmla="*/ 607564 w 610059"/>
                <a:gd name="connsiteY4" fmla="*/ 192181 h 650638"/>
                <a:gd name="connsiteX5" fmla="*/ 493264 w 610059"/>
                <a:gd name="connsiteY5" fmla="*/ 611281 h 650638"/>
                <a:gd name="connsiteX6" fmla="*/ 112264 w 610059"/>
                <a:gd name="connsiteY6" fmla="*/ 611281 h 650638"/>
                <a:gd name="connsiteX0" fmla="*/ 112264 w 610059"/>
                <a:gd name="connsiteY0" fmla="*/ 611281 h 628656"/>
                <a:gd name="connsiteX1" fmla="*/ 7489 w 610059"/>
                <a:gd name="connsiteY1" fmla="*/ 58831 h 628656"/>
                <a:gd name="connsiteX2" fmla="*/ 312289 w 610059"/>
                <a:gd name="connsiteY2" fmla="*/ 96931 h 628656"/>
                <a:gd name="connsiteX3" fmla="*/ 550414 w 610059"/>
                <a:gd name="connsiteY3" fmla="*/ 1681 h 628656"/>
                <a:gd name="connsiteX4" fmla="*/ 607564 w 610059"/>
                <a:gd name="connsiteY4" fmla="*/ 192181 h 628656"/>
                <a:gd name="connsiteX5" fmla="*/ 493264 w 610059"/>
                <a:gd name="connsiteY5" fmla="*/ 611281 h 628656"/>
                <a:gd name="connsiteX6" fmla="*/ 112264 w 610059"/>
                <a:gd name="connsiteY6" fmla="*/ 611281 h 628656"/>
                <a:gd name="connsiteX0" fmla="*/ 112264 w 610059"/>
                <a:gd name="connsiteY0" fmla="*/ 611281 h 628656"/>
                <a:gd name="connsiteX1" fmla="*/ 7489 w 610059"/>
                <a:gd name="connsiteY1" fmla="*/ 58831 h 628656"/>
                <a:gd name="connsiteX2" fmla="*/ 312289 w 610059"/>
                <a:gd name="connsiteY2" fmla="*/ 96931 h 628656"/>
                <a:gd name="connsiteX3" fmla="*/ 550414 w 610059"/>
                <a:gd name="connsiteY3" fmla="*/ 1681 h 628656"/>
                <a:gd name="connsiteX4" fmla="*/ 607564 w 610059"/>
                <a:gd name="connsiteY4" fmla="*/ 192181 h 628656"/>
                <a:gd name="connsiteX5" fmla="*/ 493264 w 610059"/>
                <a:gd name="connsiteY5" fmla="*/ 611281 h 628656"/>
                <a:gd name="connsiteX6" fmla="*/ 112264 w 610059"/>
                <a:gd name="connsiteY6" fmla="*/ 611281 h 628656"/>
                <a:gd name="connsiteX0" fmla="*/ 112264 w 565247"/>
                <a:gd name="connsiteY0" fmla="*/ 633527 h 650902"/>
                <a:gd name="connsiteX1" fmla="*/ 7489 w 565247"/>
                <a:gd name="connsiteY1" fmla="*/ 81077 h 650902"/>
                <a:gd name="connsiteX2" fmla="*/ 312289 w 565247"/>
                <a:gd name="connsiteY2" fmla="*/ 119177 h 650902"/>
                <a:gd name="connsiteX3" fmla="*/ 550414 w 565247"/>
                <a:gd name="connsiteY3" fmla="*/ 23927 h 650902"/>
                <a:gd name="connsiteX4" fmla="*/ 493264 w 565247"/>
                <a:gd name="connsiteY4" fmla="*/ 633527 h 650902"/>
                <a:gd name="connsiteX5" fmla="*/ 112264 w 565247"/>
                <a:gd name="connsiteY5" fmla="*/ 633527 h 650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5247" h="650902">
                  <a:moveTo>
                    <a:pt x="112264" y="633527"/>
                  </a:moveTo>
                  <a:cubicBezTo>
                    <a:pt x="59877" y="535102"/>
                    <a:pt x="-25849" y="166802"/>
                    <a:pt x="7489" y="81077"/>
                  </a:cubicBezTo>
                  <a:cubicBezTo>
                    <a:pt x="40827" y="-4648"/>
                    <a:pt x="221802" y="128702"/>
                    <a:pt x="312289" y="119177"/>
                  </a:cubicBezTo>
                  <a:cubicBezTo>
                    <a:pt x="402777" y="109652"/>
                    <a:pt x="520252" y="-61798"/>
                    <a:pt x="550414" y="23927"/>
                  </a:cubicBezTo>
                  <a:cubicBezTo>
                    <a:pt x="580577" y="109652"/>
                    <a:pt x="566289" y="531927"/>
                    <a:pt x="493264" y="633527"/>
                  </a:cubicBezTo>
                  <a:cubicBezTo>
                    <a:pt x="353564" y="646227"/>
                    <a:pt x="212276" y="665277"/>
                    <a:pt x="112264" y="633527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BF6DD86-0143-0B9B-CD27-66E4317ADD06}"/>
                </a:ext>
              </a:extLst>
            </p:cNvPr>
            <p:cNvSpPr/>
            <p:nvPr/>
          </p:nvSpPr>
          <p:spPr>
            <a:xfrm>
              <a:off x="8377545" y="2466556"/>
              <a:ext cx="281597" cy="284103"/>
            </a:xfrm>
            <a:custGeom>
              <a:avLst/>
              <a:gdLst>
                <a:gd name="connsiteX0" fmla="*/ 89215 w 672263"/>
                <a:gd name="connsiteY0" fmla="*/ 612411 h 857591"/>
                <a:gd name="connsiteX1" fmla="*/ 3490 w 672263"/>
                <a:gd name="connsiteY1" fmla="*/ 107586 h 857591"/>
                <a:gd name="connsiteX2" fmla="*/ 222565 w 672263"/>
                <a:gd name="connsiteY2" fmla="*/ 136161 h 857591"/>
                <a:gd name="connsiteX3" fmla="*/ 546415 w 672263"/>
                <a:gd name="connsiteY3" fmla="*/ 12336 h 857591"/>
                <a:gd name="connsiteX4" fmla="*/ 670240 w 672263"/>
                <a:gd name="connsiteY4" fmla="*/ 88536 h 857591"/>
                <a:gd name="connsiteX5" fmla="*/ 460690 w 672263"/>
                <a:gd name="connsiteY5" fmla="*/ 755286 h 857591"/>
                <a:gd name="connsiteX6" fmla="*/ 203515 w 672263"/>
                <a:gd name="connsiteY6" fmla="*/ 850536 h 857591"/>
                <a:gd name="connsiteX7" fmla="*/ 108265 w 672263"/>
                <a:gd name="connsiteY7" fmla="*/ 707661 h 857591"/>
                <a:gd name="connsiteX8" fmla="*/ 89215 w 672263"/>
                <a:gd name="connsiteY8" fmla="*/ 612411 h 857591"/>
                <a:gd name="connsiteX0" fmla="*/ 93393 w 676135"/>
                <a:gd name="connsiteY0" fmla="*/ 610406 h 855586"/>
                <a:gd name="connsiteX1" fmla="*/ 7668 w 676135"/>
                <a:gd name="connsiteY1" fmla="*/ 105581 h 855586"/>
                <a:gd name="connsiteX2" fmla="*/ 312468 w 676135"/>
                <a:gd name="connsiteY2" fmla="*/ 105581 h 855586"/>
                <a:gd name="connsiteX3" fmla="*/ 550593 w 676135"/>
                <a:gd name="connsiteY3" fmla="*/ 10331 h 855586"/>
                <a:gd name="connsiteX4" fmla="*/ 674418 w 676135"/>
                <a:gd name="connsiteY4" fmla="*/ 86531 h 855586"/>
                <a:gd name="connsiteX5" fmla="*/ 464868 w 676135"/>
                <a:gd name="connsiteY5" fmla="*/ 753281 h 855586"/>
                <a:gd name="connsiteX6" fmla="*/ 207693 w 676135"/>
                <a:gd name="connsiteY6" fmla="*/ 848531 h 855586"/>
                <a:gd name="connsiteX7" fmla="*/ 112443 w 676135"/>
                <a:gd name="connsiteY7" fmla="*/ 705656 h 855586"/>
                <a:gd name="connsiteX8" fmla="*/ 93393 w 676135"/>
                <a:gd name="connsiteY8" fmla="*/ 610406 h 855586"/>
                <a:gd name="connsiteX0" fmla="*/ 93393 w 676135"/>
                <a:gd name="connsiteY0" fmla="*/ 610406 h 855586"/>
                <a:gd name="connsiteX1" fmla="*/ 7668 w 676135"/>
                <a:gd name="connsiteY1" fmla="*/ 67481 h 855586"/>
                <a:gd name="connsiteX2" fmla="*/ 312468 w 676135"/>
                <a:gd name="connsiteY2" fmla="*/ 105581 h 855586"/>
                <a:gd name="connsiteX3" fmla="*/ 550593 w 676135"/>
                <a:gd name="connsiteY3" fmla="*/ 10331 h 855586"/>
                <a:gd name="connsiteX4" fmla="*/ 674418 w 676135"/>
                <a:gd name="connsiteY4" fmla="*/ 86531 h 855586"/>
                <a:gd name="connsiteX5" fmla="*/ 464868 w 676135"/>
                <a:gd name="connsiteY5" fmla="*/ 753281 h 855586"/>
                <a:gd name="connsiteX6" fmla="*/ 207693 w 676135"/>
                <a:gd name="connsiteY6" fmla="*/ 848531 h 855586"/>
                <a:gd name="connsiteX7" fmla="*/ 112443 w 676135"/>
                <a:gd name="connsiteY7" fmla="*/ 705656 h 855586"/>
                <a:gd name="connsiteX8" fmla="*/ 93393 w 676135"/>
                <a:gd name="connsiteY8" fmla="*/ 610406 h 855586"/>
                <a:gd name="connsiteX0" fmla="*/ 93393 w 612010"/>
                <a:gd name="connsiteY0" fmla="*/ 601756 h 843533"/>
                <a:gd name="connsiteX1" fmla="*/ 7668 w 612010"/>
                <a:gd name="connsiteY1" fmla="*/ 58831 h 843533"/>
                <a:gd name="connsiteX2" fmla="*/ 312468 w 612010"/>
                <a:gd name="connsiteY2" fmla="*/ 96931 h 843533"/>
                <a:gd name="connsiteX3" fmla="*/ 550593 w 612010"/>
                <a:gd name="connsiteY3" fmla="*/ 1681 h 843533"/>
                <a:gd name="connsiteX4" fmla="*/ 607743 w 612010"/>
                <a:gd name="connsiteY4" fmla="*/ 192181 h 843533"/>
                <a:gd name="connsiteX5" fmla="*/ 464868 w 612010"/>
                <a:gd name="connsiteY5" fmla="*/ 744631 h 843533"/>
                <a:gd name="connsiteX6" fmla="*/ 207693 w 612010"/>
                <a:gd name="connsiteY6" fmla="*/ 839881 h 843533"/>
                <a:gd name="connsiteX7" fmla="*/ 112443 w 612010"/>
                <a:gd name="connsiteY7" fmla="*/ 697006 h 843533"/>
                <a:gd name="connsiteX8" fmla="*/ 93393 w 612010"/>
                <a:gd name="connsiteY8" fmla="*/ 601756 h 843533"/>
                <a:gd name="connsiteX0" fmla="*/ 93393 w 612010"/>
                <a:gd name="connsiteY0" fmla="*/ 601756 h 776211"/>
                <a:gd name="connsiteX1" fmla="*/ 7668 w 612010"/>
                <a:gd name="connsiteY1" fmla="*/ 58831 h 776211"/>
                <a:gd name="connsiteX2" fmla="*/ 312468 w 612010"/>
                <a:gd name="connsiteY2" fmla="*/ 96931 h 776211"/>
                <a:gd name="connsiteX3" fmla="*/ 550593 w 612010"/>
                <a:gd name="connsiteY3" fmla="*/ 1681 h 776211"/>
                <a:gd name="connsiteX4" fmla="*/ 607743 w 612010"/>
                <a:gd name="connsiteY4" fmla="*/ 192181 h 776211"/>
                <a:gd name="connsiteX5" fmla="*/ 464868 w 612010"/>
                <a:gd name="connsiteY5" fmla="*/ 744631 h 776211"/>
                <a:gd name="connsiteX6" fmla="*/ 112443 w 612010"/>
                <a:gd name="connsiteY6" fmla="*/ 697006 h 776211"/>
                <a:gd name="connsiteX7" fmla="*/ 93393 w 612010"/>
                <a:gd name="connsiteY7" fmla="*/ 601756 h 776211"/>
                <a:gd name="connsiteX0" fmla="*/ 93393 w 610813"/>
                <a:gd name="connsiteY0" fmla="*/ 601756 h 724778"/>
                <a:gd name="connsiteX1" fmla="*/ 7668 w 610813"/>
                <a:gd name="connsiteY1" fmla="*/ 58831 h 724778"/>
                <a:gd name="connsiteX2" fmla="*/ 312468 w 610813"/>
                <a:gd name="connsiteY2" fmla="*/ 96931 h 724778"/>
                <a:gd name="connsiteX3" fmla="*/ 550593 w 610813"/>
                <a:gd name="connsiteY3" fmla="*/ 1681 h 724778"/>
                <a:gd name="connsiteX4" fmla="*/ 607743 w 610813"/>
                <a:gd name="connsiteY4" fmla="*/ 192181 h 724778"/>
                <a:gd name="connsiteX5" fmla="*/ 483918 w 610813"/>
                <a:gd name="connsiteY5" fmla="*/ 677956 h 724778"/>
                <a:gd name="connsiteX6" fmla="*/ 112443 w 610813"/>
                <a:gd name="connsiteY6" fmla="*/ 697006 h 724778"/>
                <a:gd name="connsiteX7" fmla="*/ 93393 w 610813"/>
                <a:gd name="connsiteY7" fmla="*/ 601756 h 724778"/>
                <a:gd name="connsiteX0" fmla="*/ 114303 w 612673"/>
                <a:gd name="connsiteY0" fmla="*/ 697006 h 759322"/>
                <a:gd name="connsiteX1" fmla="*/ 9528 w 612673"/>
                <a:gd name="connsiteY1" fmla="*/ 58831 h 759322"/>
                <a:gd name="connsiteX2" fmla="*/ 314328 w 612673"/>
                <a:gd name="connsiteY2" fmla="*/ 96931 h 759322"/>
                <a:gd name="connsiteX3" fmla="*/ 552453 w 612673"/>
                <a:gd name="connsiteY3" fmla="*/ 1681 h 759322"/>
                <a:gd name="connsiteX4" fmla="*/ 609603 w 612673"/>
                <a:gd name="connsiteY4" fmla="*/ 192181 h 759322"/>
                <a:gd name="connsiteX5" fmla="*/ 485778 w 612673"/>
                <a:gd name="connsiteY5" fmla="*/ 677956 h 759322"/>
                <a:gd name="connsiteX6" fmla="*/ 114303 w 612673"/>
                <a:gd name="connsiteY6" fmla="*/ 697006 h 759322"/>
                <a:gd name="connsiteX0" fmla="*/ 106461 w 614356"/>
                <a:gd name="connsiteY0" fmla="*/ 639856 h 726779"/>
                <a:gd name="connsiteX1" fmla="*/ 11211 w 614356"/>
                <a:gd name="connsiteY1" fmla="*/ 58831 h 726779"/>
                <a:gd name="connsiteX2" fmla="*/ 316011 w 614356"/>
                <a:gd name="connsiteY2" fmla="*/ 96931 h 726779"/>
                <a:gd name="connsiteX3" fmla="*/ 554136 w 614356"/>
                <a:gd name="connsiteY3" fmla="*/ 1681 h 726779"/>
                <a:gd name="connsiteX4" fmla="*/ 611286 w 614356"/>
                <a:gd name="connsiteY4" fmla="*/ 192181 h 726779"/>
                <a:gd name="connsiteX5" fmla="*/ 487461 w 614356"/>
                <a:gd name="connsiteY5" fmla="*/ 677956 h 726779"/>
                <a:gd name="connsiteX6" fmla="*/ 106461 w 614356"/>
                <a:gd name="connsiteY6" fmla="*/ 639856 h 726779"/>
                <a:gd name="connsiteX0" fmla="*/ 106643 w 613963"/>
                <a:gd name="connsiteY0" fmla="*/ 639856 h 709520"/>
                <a:gd name="connsiteX1" fmla="*/ 11393 w 613963"/>
                <a:gd name="connsiteY1" fmla="*/ 58831 h 709520"/>
                <a:gd name="connsiteX2" fmla="*/ 316193 w 613963"/>
                <a:gd name="connsiteY2" fmla="*/ 96931 h 709520"/>
                <a:gd name="connsiteX3" fmla="*/ 554318 w 613963"/>
                <a:gd name="connsiteY3" fmla="*/ 1681 h 709520"/>
                <a:gd name="connsiteX4" fmla="*/ 611468 w 613963"/>
                <a:gd name="connsiteY4" fmla="*/ 192181 h 709520"/>
                <a:gd name="connsiteX5" fmla="*/ 497168 w 613963"/>
                <a:gd name="connsiteY5" fmla="*/ 649381 h 709520"/>
                <a:gd name="connsiteX6" fmla="*/ 106643 w 613963"/>
                <a:gd name="connsiteY6" fmla="*/ 639856 h 709520"/>
                <a:gd name="connsiteX0" fmla="*/ 114453 w 612248"/>
                <a:gd name="connsiteY0" fmla="*/ 611281 h 694701"/>
                <a:gd name="connsiteX1" fmla="*/ 9678 w 612248"/>
                <a:gd name="connsiteY1" fmla="*/ 58831 h 694701"/>
                <a:gd name="connsiteX2" fmla="*/ 314478 w 612248"/>
                <a:gd name="connsiteY2" fmla="*/ 96931 h 694701"/>
                <a:gd name="connsiteX3" fmla="*/ 552603 w 612248"/>
                <a:gd name="connsiteY3" fmla="*/ 1681 h 694701"/>
                <a:gd name="connsiteX4" fmla="*/ 609753 w 612248"/>
                <a:gd name="connsiteY4" fmla="*/ 192181 h 694701"/>
                <a:gd name="connsiteX5" fmla="*/ 495453 w 612248"/>
                <a:gd name="connsiteY5" fmla="*/ 649381 h 694701"/>
                <a:gd name="connsiteX6" fmla="*/ 114453 w 612248"/>
                <a:gd name="connsiteY6" fmla="*/ 611281 h 694701"/>
                <a:gd name="connsiteX0" fmla="*/ 116567 w 614362"/>
                <a:gd name="connsiteY0" fmla="*/ 611281 h 686440"/>
                <a:gd name="connsiteX1" fmla="*/ 11792 w 614362"/>
                <a:gd name="connsiteY1" fmla="*/ 58831 h 686440"/>
                <a:gd name="connsiteX2" fmla="*/ 316592 w 614362"/>
                <a:gd name="connsiteY2" fmla="*/ 96931 h 686440"/>
                <a:gd name="connsiteX3" fmla="*/ 554717 w 614362"/>
                <a:gd name="connsiteY3" fmla="*/ 1681 h 686440"/>
                <a:gd name="connsiteX4" fmla="*/ 611867 w 614362"/>
                <a:gd name="connsiteY4" fmla="*/ 192181 h 686440"/>
                <a:gd name="connsiteX5" fmla="*/ 497567 w 614362"/>
                <a:gd name="connsiteY5" fmla="*/ 649381 h 686440"/>
                <a:gd name="connsiteX6" fmla="*/ 116567 w 614362"/>
                <a:gd name="connsiteY6" fmla="*/ 611281 h 686440"/>
                <a:gd name="connsiteX0" fmla="*/ 116567 w 614362"/>
                <a:gd name="connsiteY0" fmla="*/ 611281 h 686440"/>
                <a:gd name="connsiteX1" fmla="*/ 11792 w 614362"/>
                <a:gd name="connsiteY1" fmla="*/ 58831 h 686440"/>
                <a:gd name="connsiteX2" fmla="*/ 316592 w 614362"/>
                <a:gd name="connsiteY2" fmla="*/ 96931 h 686440"/>
                <a:gd name="connsiteX3" fmla="*/ 554717 w 614362"/>
                <a:gd name="connsiteY3" fmla="*/ 1681 h 686440"/>
                <a:gd name="connsiteX4" fmla="*/ 611867 w 614362"/>
                <a:gd name="connsiteY4" fmla="*/ 192181 h 686440"/>
                <a:gd name="connsiteX5" fmla="*/ 497567 w 614362"/>
                <a:gd name="connsiteY5" fmla="*/ 649381 h 686440"/>
                <a:gd name="connsiteX6" fmla="*/ 116567 w 614362"/>
                <a:gd name="connsiteY6" fmla="*/ 611281 h 686440"/>
                <a:gd name="connsiteX0" fmla="*/ 112264 w 610059"/>
                <a:gd name="connsiteY0" fmla="*/ 611281 h 686440"/>
                <a:gd name="connsiteX1" fmla="*/ 7489 w 610059"/>
                <a:gd name="connsiteY1" fmla="*/ 58831 h 686440"/>
                <a:gd name="connsiteX2" fmla="*/ 312289 w 610059"/>
                <a:gd name="connsiteY2" fmla="*/ 96931 h 686440"/>
                <a:gd name="connsiteX3" fmla="*/ 550414 w 610059"/>
                <a:gd name="connsiteY3" fmla="*/ 1681 h 686440"/>
                <a:gd name="connsiteX4" fmla="*/ 607564 w 610059"/>
                <a:gd name="connsiteY4" fmla="*/ 192181 h 686440"/>
                <a:gd name="connsiteX5" fmla="*/ 493264 w 610059"/>
                <a:gd name="connsiteY5" fmla="*/ 649381 h 686440"/>
                <a:gd name="connsiteX6" fmla="*/ 112264 w 610059"/>
                <a:gd name="connsiteY6" fmla="*/ 611281 h 686440"/>
                <a:gd name="connsiteX0" fmla="*/ 112264 w 610059"/>
                <a:gd name="connsiteY0" fmla="*/ 611281 h 677959"/>
                <a:gd name="connsiteX1" fmla="*/ 7489 w 610059"/>
                <a:gd name="connsiteY1" fmla="*/ 58831 h 677959"/>
                <a:gd name="connsiteX2" fmla="*/ 312289 w 610059"/>
                <a:gd name="connsiteY2" fmla="*/ 96931 h 677959"/>
                <a:gd name="connsiteX3" fmla="*/ 550414 w 610059"/>
                <a:gd name="connsiteY3" fmla="*/ 1681 h 677959"/>
                <a:gd name="connsiteX4" fmla="*/ 607564 w 610059"/>
                <a:gd name="connsiteY4" fmla="*/ 192181 h 677959"/>
                <a:gd name="connsiteX5" fmla="*/ 493264 w 610059"/>
                <a:gd name="connsiteY5" fmla="*/ 649381 h 677959"/>
                <a:gd name="connsiteX6" fmla="*/ 112264 w 610059"/>
                <a:gd name="connsiteY6" fmla="*/ 611281 h 677959"/>
                <a:gd name="connsiteX0" fmla="*/ 112264 w 610059"/>
                <a:gd name="connsiteY0" fmla="*/ 611281 h 650638"/>
                <a:gd name="connsiteX1" fmla="*/ 7489 w 610059"/>
                <a:gd name="connsiteY1" fmla="*/ 58831 h 650638"/>
                <a:gd name="connsiteX2" fmla="*/ 312289 w 610059"/>
                <a:gd name="connsiteY2" fmla="*/ 96931 h 650638"/>
                <a:gd name="connsiteX3" fmla="*/ 550414 w 610059"/>
                <a:gd name="connsiteY3" fmla="*/ 1681 h 650638"/>
                <a:gd name="connsiteX4" fmla="*/ 607564 w 610059"/>
                <a:gd name="connsiteY4" fmla="*/ 192181 h 650638"/>
                <a:gd name="connsiteX5" fmla="*/ 493264 w 610059"/>
                <a:gd name="connsiteY5" fmla="*/ 611281 h 650638"/>
                <a:gd name="connsiteX6" fmla="*/ 112264 w 610059"/>
                <a:gd name="connsiteY6" fmla="*/ 611281 h 650638"/>
                <a:gd name="connsiteX0" fmla="*/ 112264 w 610059"/>
                <a:gd name="connsiteY0" fmla="*/ 611281 h 650638"/>
                <a:gd name="connsiteX1" fmla="*/ 7489 w 610059"/>
                <a:gd name="connsiteY1" fmla="*/ 58831 h 650638"/>
                <a:gd name="connsiteX2" fmla="*/ 312289 w 610059"/>
                <a:gd name="connsiteY2" fmla="*/ 96931 h 650638"/>
                <a:gd name="connsiteX3" fmla="*/ 550414 w 610059"/>
                <a:gd name="connsiteY3" fmla="*/ 1681 h 650638"/>
                <a:gd name="connsiteX4" fmla="*/ 607564 w 610059"/>
                <a:gd name="connsiteY4" fmla="*/ 192181 h 650638"/>
                <a:gd name="connsiteX5" fmla="*/ 493264 w 610059"/>
                <a:gd name="connsiteY5" fmla="*/ 611281 h 650638"/>
                <a:gd name="connsiteX6" fmla="*/ 112264 w 610059"/>
                <a:gd name="connsiteY6" fmla="*/ 611281 h 650638"/>
                <a:gd name="connsiteX0" fmla="*/ 112264 w 610059"/>
                <a:gd name="connsiteY0" fmla="*/ 611281 h 628656"/>
                <a:gd name="connsiteX1" fmla="*/ 7489 w 610059"/>
                <a:gd name="connsiteY1" fmla="*/ 58831 h 628656"/>
                <a:gd name="connsiteX2" fmla="*/ 312289 w 610059"/>
                <a:gd name="connsiteY2" fmla="*/ 96931 h 628656"/>
                <a:gd name="connsiteX3" fmla="*/ 550414 w 610059"/>
                <a:gd name="connsiteY3" fmla="*/ 1681 h 628656"/>
                <a:gd name="connsiteX4" fmla="*/ 607564 w 610059"/>
                <a:gd name="connsiteY4" fmla="*/ 192181 h 628656"/>
                <a:gd name="connsiteX5" fmla="*/ 493264 w 610059"/>
                <a:gd name="connsiteY5" fmla="*/ 611281 h 628656"/>
                <a:gd name="connsiteX6" fmla="*/ 112264 w 610059"/>
                <a:gd name="connsiteY6" fmla="*/ 611281 h 628656"/>
                <a:gd name="connsiteX0" fmla="*/ 112264 w 610059"/>
                <a:gd name="connsiteY0" fmla="*/ 611281 h 628656"/>
                <a:gd name="connsiteX1" fmla="*/ 7489 w 610059"/>
                <a:gd name="connsiteY1" fmla="*/ 58831 h 628656"/>
                <a:gd name="connsiteX2" fmla="*/ 312289 w 610059"/>
                <a:gd name="connsiteY2" fmla="*/ 96931 h 628656"/>
                <a:gd name="connsiteX3" fmla="*/ 550414 w 610059"/>
                <a:gd name="connsiteY3" fmla="*/ 1681 h 628656"/>
                <a:gd name="connsiteX4" fmla="*/ 607564 w 610059"/>
                <a:gd name="connsiteY4" fmla="*/ 192181 h 628656"/>
                <a:gd name="connsiteX5" fmla="*/ 493264 w 610059"/>
                <a:gd name="connsiteY5" fmla="*/ 611281 h 628656"/>
                <a:gd name="connsiteX6" fmla="*/ 112264 w 610059"/>
                <a:gd name="connsiteY6" fmla="*/ 611281 h 628656"/>
                <a:gd name="connsiteX0" fmla="*/ 112264 w 565247"/>
                <a:gd name="connsiteY0" fmla="*/ 633527 h 650902"/>
                <a:gd name="connsiteX1" fmla="*/ 7489 w 565247"/>
                <a:gd name="connsiteY1" fmla="*/ 81077 h 650902"/>
                <a:gd name="connsiteX2" fmla="*/ 312289 w 565247"/>
                <a:gd name="connsiteY2" fmla="*/ 119177 h 650902"/>
                <a:gd name="connsiteX3" fmla="*/ 550414 w 565247"/>
                <a:gd name="connsiteY3" fmla="*/ 23927 h 650902"/>
                <a:gd name="connsiteX4" fmla="*/ 493264 w 565247"/>
                <a:gd name="connsiteY4" fmla="*/ 633527 h 650902"/>
                <a:gd name="connsiteX5" fmla="*/ 112264 w 565247"/>
                <a:gd name="connsiteY5" fmla="*/ 633527 h 650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5247" h="650902">
                  <a:moveTo>
                    <a:pt x="112264" y="633527"/>
                  </a:moveTo>
                  <a:cubicBezTo>
                    <a:pt x="59877" y="535102"/>
                    <a:pt x="-25849" y="166802"/>
                    <a:pt x="7489" y="81077"/>
                  </a:cubicBezTo>
                  <a:cubicBezTo>
                    <a:pt x="40827" y="-4648"/>
                    <a:pt x="221802" y="128702"/>
                    <a:pt x="312289" y="119177"/>
                  </a:cubicBezTo>
                  <a:cubicBezTo>
                    <a:pt x="402777" y="109652"/>
                    <a:pt x="520252" y="-61798"/>
                    <a:pt x="550414" y="23927"/>
                  </a:cubicBezTo>
                  <a:cubicBezTo>
                    <a:pt x="580577" y="109652"/>
                    <a:pt x="566289" y="531927"/>
                    <a:pt x="493264" y="633527"/>
                  </a:cubicBezTo>
                  <a:cubicBezTo>
                    <a:pt x="353564" y="646227"/>
                    <a:pt x="212276" y="665277"/>
                    <a:pt x="112264" y="633527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64E91DD-DFBC-4487-3BBC-56304790FA02}"/>
                </a:ext>
              </a:extLst>
            </p:cNvPr>
            <p:cNvSpPr/>
            <p:nvPr/>
          </p:nvSpPr>
          <p:spPr>
            <a:xfrm>
              <a:off x="8697892" y="2466556"/>
              <a:ext cx="281597" cy="284103"/>
            </a:xfrm>
            <a:custGeom>
              <a:avLst/>
              <a:gdLst>
                <a:gd name="connsiteX0" fmla="*/ 89215 w 672263"/>
                <a:gd name="connsiteY0" fmla="*/ 612411 h 857591"/>
                <a:gd name="connsiteX1" fmla="*/ 3490 w 672263"/>
                <a:gd name="connsiteY1" fmla="*/ 107586 h 857591"/>
                <a:gd name="connsiteX2" fmla="*/ 222565 w 672263"/>
                <a:gd name="connsiteY2" fmla="*/ 136161 h 857591"/>
                <a:gd name="connsiteX3" fmla="*/ 546415 w 672263"/>
                <a:gd name="connsiteY3" fmla="*/ 12336 h 857591"/>
                <a:gd name="connsiteX4" fmla="*/ 670240 w 672263"/>
                <a:gd name="connsiteY4" fmla="*/ 88536 h 857591"/>
                <a:gd name="connsiteX5" fmla="*/ 460690 w 672263"/>
                <a:gd name="connsiteY5" fmla="*/ 755286 h 857591"/>
                <a:gd name="connsiteX6" fmla="*/ 203515 w 672263"/>
                <a:gd name="connsiteY6" fmla="*/ 850536 h 857591"/>
                <a:gd name="connsiteX7" fmla="*/ 108265 w 672263"/>
                <a:gd name="connsiteY7" fmla="*/ 707661 h 857591"/>
                <a:gd name="connsiteX8" fmla="*/ 89215 w 672263"/>
                <a:gd name="connsiteY8" fmla="*/ 612411 h 857591"/>
                <a:gd name="connsiteX0" fmla="*/ 93393 w 676135"/>
                <a:gd name="connsiteY0" fmla="*/ 610406 h 855586"/>
                <a:gd name="connsiteX1" fmla="*/ 7668 w 676135"/>
                <a:gd name="connsiteY1" fmla="*/ 105581 h 855586"/>
                <a:gd name="connsiteX2" fmla="*/ 312468 w 676135"/>
                <a:gd name="connsiteY2" fmla="*/ 105581 h 855586"/>
                <a:gd name="connsiteX3" fmla="*/ 550593 w 676135"/>
                <a:gd name="connsiteY3" fmla="*/ 10331 h 855586"/>
                <a:gd name="connsiteX4" fmla="*/ 674418 w 676135"/>
                <a:gd name="connsiteY4" fmla="*/ 86531 h 855586"/>
                <a:gd name="connsiteX5" fmla="*/ 464868 w 676135"/>
                <a:gd name="connsiteY5" fmla="*/ 753281 h 855586"/>
                <a:gd name="connsiteX6" fmla="*/ 207693 w 676135"/>
                <a:gd name="connsiteY6" fmla="*/ 848531 h 855586"/>
                <a:gd name="connsiteX7" fmla="*/ 112443 w 676135"/>
                <a:gd name="connsiteY7" fmla="*/ 705656 h 855586"/>
                <a:gd name="connsiteX8" fmla="*/ 93393 w 676135"/>
                <a:gd name="connsiteY8" fmla="*/ 610406 h 855586"/>
                <a:gd name="connsiteX0" fmla="*/ 93393 w 676135"/>
                <a:gd name="connsiteY0" fmla="*/ 610406 h 855586"/>
                <a:gd name="connsiteX1" fmla="*/ 7668 w 676135"/>
                <a:gd name="connsiteY1" fmla="*/ 67481 h 855586"/>
                <a:gd name="connsiteX2" fmla="*/ 312468 w 676135"/>
                <a:gd name="connsiteY2" fmla="*/ 105581 h 855586"/>
                <a:gd name="connsiteX3" fmla="*/ 550593 w 676135"/>
                <a:gd name="connsiteY3" fmla="*/ 10331 h 855586"/>
                <a:gd name="connsiteX4" fmla="*/ 674418 w 676135"/>
                <a:gd name="connsiteY4" fmla="*/ 86531 h 855586"/>
                <a:gd name="connsiteX5" fmla="*/ 464868 w 676135"/>
                <a:gd name="connsiteY5" fmla="*/ 753281 h 855586"/>
                <a:gd name="connsiteX6" fmla="*/ 207693 w 676135"/>
                <a:gd name="connsiteY6" fmla="*/ 848531 h 855586"/>
                <a:gd name="connsiteX7" fmla="*/ 112443 w 676135"/>
                <a:gd name="connsiteY7" fmla="*/ 705656 h 855586"/>
                <a:gd name="connsiteX8" fmla="*/ 93393 w 676135"/>
                <a:gd name="connsiteY8" fmla="*/ 610406 h 855586"/>
                <a:gd name="connsiteX0" fmla="*/ 93393 w 612010"/>
                <a:gd name="connsiteY0" fmla="*/ 601756 h 843533"/>
                <a:gd name="connsiteX1" fmla="*/ 7668 w 612010"/>
                <a:gd name="connsiteY1" fmla="*/ 58831 h 843533"/>
                <a:gd name="connsiteX2" fmla="*/ 312468 w 612010"/>
                <a:gd name="connsiteY2" fmla="*/ 96931 h 843533"/>
                <a:gd name="connsiteX3" fmla="*/ 550593 w 612010"/>
                <a:gd name="connsiteY3" fmla="*/ 1681 h 843533"/>
                <a:gd name="connsiteX4" fmla="*/ 607743 w 612010"/>
                <a:gd name="connsiteY4" fmla="*/ 192181 h 843533"/>
                <a:gd name="connsiteX5" fmla="*/ 464868 w 612010"/>
                <a:gd name="connsiteY5" fmla="*/ 744631 h 843533"/>
                <a:gd name="connsiteX6" fmla="*/ 207693 w 612010"/>
                <a:gd name="connsiteY6" fmla="*/ 839881 h 843533"/>
                <a:gd name="connsiteX7" fmla="*/ 112443 w 612010"/>
                <a:gd name="connsiteY7" fmla="*/ 697006 h 843533"/>
                <a:gd name="connsiteX8" fmla="*/ 93393 w 612010"/>
                <a:gd name="connsiteY8" fmla="*/ 601756 h 843533"/>
                <a:gd name="connsiteX0" fmla="*/ 93393 w 612010"/>
                <a:gd name="connsiteY0" fmla="*/ 601756 h 776211"/>
                <a:gd name="connsiteX1" fmla="*/ 7668 w 612010"/>
                <a:gd name="connsiteY1" fmla="*/ 58831 h 776211"/>
                <a:gd name="connsiteX2" fmla="*/ 312468 w 612010"/>
                <a:gd name="connsiteY2" fmla="*/ 96931 h 776211"/>
                <a:gd name="connsiteX3" fmla="*/ 550593 w 612010"/>
                <a:gd name="connsiteY3" fmla="*/ 1681 h 776211"/>
                <a:gd name="connsiteX4" fmla="*/ 607743 w 612010"/>
                <a:gd name="connsiteY4" fmla="*/ 192181 h 776211"/>
                <a:gd name="connsiteX5" fmla="*/ 464868 w 612010"/>
                <a:gd name="connsiteY5" fmla="*/ 744631 h 776211"/>
                <a:gd name="connsiteX6" fmla="*/ 112443 w 612010"/>
                <a:gd name="connsiteY6" fmla="*/ 697006 h 776211"/>
                <a:gd name="connsiteX7" fmla="*/ 93393 w 612010"/>
                <a:gd name="connsiteY7" fmla="*/ 601756 h 776211"/>
                <a:gd name="connsiteX0" fmla="*/ 93393 w 610813"/>
                <a:gd name="connsiteY0" fmla="*/ 601756 h 724778"/>
                <a:gd name="connsiteX1" fmla="*/ 7668 w 610813"/>
                <a:gd name="connsiteY1" fmla="*/ 58831 h 724778"/>
                <a:gd name="connsiteX2" fmla="*/ 312468 w 610813"/>
                <a:gd name="connsiteY2" fmla="*/ 96931 h 724778"/>
                <a:gd name="connsiteX3" fmla="*/ 550593 w 610813"/>
                <a:gd name="connsiteY3" fmla="*/ 1681 h 724778"/>
                <a:gd name="connsiteX4" fmla="*/ 607743 w 610813"/>
                <a:gd name="connsiteY4" fmla="*/ 192181 h 724778"/>
                <a:gd name="connsiteX5" fmla="*/ 483918 w 610813"/>
                <a:gd name="connsiteY5" fmla="*/ 677956 h 724778"/>
                <a:gd name="connsiteX6" fmla="*/ 112443 w 610813"/>
                <a:gd name="connsiteY6" fmla="*/ 697006 h 724778"/>
                <a:gd name="connsiteX7" fmla="*/ 93393 w 610813"/>
                <a:gd name="connsiteY7" fmla="*/ 601756 h 724778"/>
                <a:gd name="connsiteX0" fmla="*/ 114303 w 612673"/>
                <a:gd name="connsiteY0" fmla="*/ 697006 h 759322"/>
                <a:gd name="connsiteX1" fmla="*/ 9528 w 612673"/>
                <a:gd name="connsiteY1" fmla="*/ 58831 h 759322"/>
                <a:gd name="connsiteX2" fmla="*/ 314328 w 612673"/>
                <a:gd name="connsiteY2" fmla="*/ 96931 h 759322"/>
                <a:gd name="connsiteX3" fmla="*/ 552453 w 612673"/>
                <a:gd name="connsiteY3" fmla="*/ 1681 h 759322"/>
                <a:gd name="connsiteX4" fmla="*/ 609603 w 612673"/>
                <a:gd name="connsiteY4" fmla="*/ 192181 h 759322"/>
                <a:gd name="connsiteX5" fmla="*/ 485778 w 612673"/>
                <a:gd name="connsiteY5" fmla="*/ 677956 h 759322"/>
                <a:gd name="connsiteX6" fmla="*/ 114303 w 612673"/>
                <a:gd name="connsiteY6" fmla="*/ 697006 h 759322"/>
                <a:gd name="connsiteX0" fmla="*/ 106461 w 614356"/>
                <a:gd name="connsiteY0" fmla="*/ 639856 h 726779"/>
                <a:gd name="connsiteX1" fmla="*/ 11211 w 614356"/>
                <a:gd name="connsiteY1" fmla="*/ 58831 h 726779"/>
                <a:gd name="connsiteX2" fmla="*/ 316011 w 614356"/>
                <a:gd name="connsiteY2" fmla="*/ 96931 h 726779"/>
                <a:gd name="connsiteX3" fmla="*/ 554136 w 614356"/>
                <a:gd name="connsiteY3" fmla="*/ 1681 h 726779"/>
                <a:gd name="connsiteX4" fmla="*/ 611286 w 614356"/>
                <a:gd name="connsiteY4" fmla="*/ 192181 h 726779"/>
                <a:gd name="connsiteX5" fmla="*/ 487461 w 614356"/>
                <a:gd name="connsiteY5" fmla="*/ 677956 h 726779"/>
                <a:gd name="connsiteX6" fmla="*/ 106461 w 614356"/>
                <a:gd name="connsiteY6" fmla="*/ 639856 h 726779"/>
                <a:gd name="connsiteX0" fmla="*/ 106643 w 613963"/>
                <a:gd name="connsiteY0" fmla="*/ 639856 h 709520"/>
                <a:gd name="connsiteX1" fmla="*/ 11393 w 613963"/>
                <a:gd name="connsiteY1" fmla="*/ 58831 h 709520"/>
                <a:gd name="connsiteX2" fmla="*/ 316193 w 613963"/>
                <a:gd name="connsiteY2" fmla="*/ 96931 h 709520"/>
                <a:gd name="connsiteX3" fmla="*/ 554318 w 613963"/>
                <a:gd name="connsiteY3" fmla="*/ 1681 h 709520"/>
                <a:gd name="connsiteX4" fmla="*/ 611468 w 613963"/>
                <a:gd name="connsiteY4" fmla="*/ 192181 h 709520"/>
                <a:gd name="connsiteX5" fmla="*/ 497168 w 613963"/>
                <a:gd name="connsiteY5" fmla="*/ 649381 h 709520"/>
                <a:gd name="connsiteX6" fmla="*/ 106643 w 613963"/>
                <a:gd name="connsiteY6" fmla="*/ 639856 h 709520"/>
                <a:gd name="connsiteX0" fmla="*/ 114453 w 612248"/>
                <a:gd name="connsiteY0" fmla="*/ 611281 h 694701"/>
                <a:gd name="connsiteX1" fmla="*/ 9678 w 612248"/>
                <a:gd name="connsiteY1" fmla="*/ 58831 h 694701"/>
                <a:gd name="connsiteX2" fmla="*/ 314478 w 612248"/>
                <a:gd name="connsiteY2" fmla="*/ 96931 h 694701"/>
                <a:gd name="connsiteX3" fmla="*/ 552603 w 612248"/>
                <a:gd name="connsiteY3" fmla="*/ 1681 h 694701"/>
                <a:gd name="connsiteX4" fmla="*/ 609753 w 612248"/>
                <a:gd name="connsiteY4" fmla="*/ 192181 h 694701"/>
                <a:gd name="connsiteX5" fmla="*/ 495453 w 612248"/>
                <a:gd name="connsiteY5" fmla="*/ 649381 h 694701"/>
                <a:gd name="connsiteX6" fmla="*/ 114453 w 612248"/>
                <a:gd name="connsiteY6" fmla="*/ 611281 h 694701"/>
                <a:gd name="connsiteX0" fmla="*/ 116567 w 614362"/>
                <a:gd name="connsiteY0" fmla="*/ 611281 h 686440"/>
                <a:gd name="connsiteX1" fmla="*/ 11792 w 614362"/>
                <a:gd name="connsiteY1" fmla="*/ 58831 h 686440"/>
                <a:gd name="connsiteX2" fmla="*/ 316592 w 614362"/>
                <a:gd name="connsiteY2" fmla="*/ 96931 h 686440"/>
                <a:gd name="connsiteX3" fmla="*/ 554717 w 614362"/>
                <a:gd name="connsiteY3" fmla="*/ 1681 h 686440"/>
                <a:gd name="connsiteX4" fmla="*/ 611867 w 614362"/>
                <a:gd name="connsiteY4" fmla="*/ 192181 h 686440"/>
                <a:gd name="connsiteX5" fmla="*/ 497567 w 614362"/>
                <a:gd name="connsiteY5" fmla="*/ 649381 h 686440"/>
                <a:gd name="connsiteX6" fmla="*/ 116567 w 614362"/>
                <a:gd name="connsiteY6" fmla="*/ 611281 h 686440"/>
                <a:gd name="connsiteX0" fmla="*/ 116567 w 614362"/>
                <a:gd name="connsiteY0" fmla="*/ 611281 h 686440"/>
                <a:gd name="connsiteX1" fmla="*/ 11792 w 614362"/>
                <a:gd name="connsiteY1" fmla="*/ 58831 h 686440"/>
                <a:gd name="connsiteX2" fmla="*/ 316592 w 614362"/>
                <a:gd name="connsiteY2" fmla="*/ 96931 h 686440"/>
                <a:gd name="connsiteX3" fmla="*/ 554717 w 614362"/>
                <a:gd name="connsiteY3" fmla="*/ 1681 h 686440"/>
                <a:gd name="connsiteX4" fmla="*/ 611867 w 614362"/>
                <a:gd name="connsiteY4" fmla="*/ 192181 h 686440"/>
                <a:gd name="connsiteX5" fmla="*/ 497567 w 614362"/>
                <a:gd name="connsiteY5" fmla="*/ 649381 h 686440"/>
                <a:gd name="connsiteX6" fmla="*/ 116567 w 614362"/>
                <a:gd name="connsiteY6" fmla="*/ 611281 h 686440"/>
                <a:gd name="connsiteX0" fmla="*/ 112264 w 610059"/>
                <a:gd name="connsiteY0" fmla="*/ 611281 h 686440"/>
                <a:gd name="connsiteX1" fmla="*/ 7489 w 610059"/>
                <a:gd name="connsiteY1" fmla="*/ 58831 h 686440"/>
                <a:gd name="connsiteX2" fmla="*/ 312289 w 610059"/>
                <a:gd name="connsiteY2" fmla="*/ 96931 h 686440"/>
                <a:gd name="connsiteX3" fmla="*/ 550414 w 610059"/>
                <a:gd name="connsiteY3" fmla="*/ 1681 h 686440"/>
                <a:gd name="connsiteX4" fmla="*/ 607564 w 610059"/>
                <a:gd name="connsiteY4" fmla="*/ 192181 h 686440"/>
                <a:gd name="connsiteX5" fmla="*/ 493264 w 610059"/>
                <a:gd name="connsiteY5" fmla="*/ 649381 h 686440"/>
                <a:gd name="connsiteX6" fmla="*/ 112264 w 610059"/>
                <a:gd name="connsiteY6" fmla="*/ 611281 h 686440"/>
                <a:gd name="connsiteX0" fmla="*/ 112264 w 610059"/>
                <a:gd name="connsiteY0" fmla="*/ 611281 h 677959"/>
                <a:gd name="connsiteX1" fmla="*/ 7489 w 610059"/>
                <a:gd name="connsiteY1" fmla="*/ 58831 h 677959"/>
                <a:gd name="connsiteX2" fmla="*/ 312289 w 610059"/>
                <a:gd name="connsiteY2" fmla="*/ 96931 h 677959"/>
                <a:gd name="connsiteX3" fmla="*/ 550414 w 610059"/>
                <a:gd name="connsiteY3" fmla="*/ 1681 h 677959"/>
                <a:gd name="connsiteX4" fmla="*/ 607564 w 610059"/>
                <a:gd name="connsiteY4" fmla="*/ 192181 h 677959"/>
                <a:gd name="connsiteX5" fmla="*/ 493264 w 610059"/>
                <a:gd name="connsiteY5" fmla="*/ 649381 h 677959"/>
                <a:gd name="connsiteX6" fmla="*/ 112264 w 610059"/>
                <a:gd name="connsiteY6" fmla="*/ 611281 h 677959"/>
                <a:gd name="connsiteX0" fmla="*/ 112264 w 610059"/>
                <a:gd name="connsiteY0" fmla="*/ 611281 h 650638"/>
                <a:gd name="connsiteX1" fmla="*/ 7489 w 610059"/>
                <a:gd name="connsiteY1" fmla="*/ 58831 h 650638"/>
                <a:gd name="connsiteX2" fmla="*/ 312289 w 610059"/>
                <a:gd name="connsiteY2" fmla="*/ 96931 h 650638"/>
                <a:gd name="connsiteX3" fmla="*/ 550414 w 610059"/>
                <a:gd name="connsiteY3" fmla="*/ 1681 h 650638"/>
                <a:gd name="connsiteX4" fmla="*/ 607564 w 610059"/>
                <a:gd name="connsiteY4" fmla="*/ 192181 h 650638"/>
                <a:gd name="connsiteX5" fmla="*/ 493264 w 610059"/>
                <a:gd name="connsiteY5" fmla="*/ 611281 h 650638"/>
                <a:gd name="connsiteX6" fmla="*/ 112264 w 610059"/>
                <a:gd name="connsiteY6" fmla="*/ 611281 h 650638"/>
                <a:gd name="connsiteX0" fmla="*/ 112264 w 610059"/>
                <a:gd name="connsiteY0" fmla="*/ 611281 h 650638"/>
                <a:gd name="connsiteX1" fmla="*/ 7489 w 610059"/>
                <a:gd name="connsiteY1" fmla="*/ 58831 h 650638"/>
                <a:gd name="connsiteX2" fmla="*/ 312289 w 610059"/>
                <a:gd name="connsiteY2" fmla="*/ 96931 h 650638"/>
                <a:gd name="connsiteX3" fmla="*/ 550414 w 610059"/>
                <a:gd name="connsiteY3" fmla="*/ 1681 h 650638"/>
                <a:gd name="connsiteX4" fmla="*/ 607564 w 610059"/>
                <a:gd name="connsiteY4" fmla="*/ 192181 h 650638"/>
                <a:gd name="connsiteX5" fmla="*/ 493264 w 610059"/>
                <a:gd name="connsiteY5" fmla="*/ 611281 h 650638"/>
                <a:gd name="connsiteX6" fmla="*/ 112264 w 610059"/>
                <a:gd name="connsiteY6" fmla="*/ 611281 h 650638"/>
                <a:gd name="connsiteX0" fmla="*/ 112264 w 610059"/>
                <a:gd name="connsiteY0" fmla="*/ 611281 h 628656"/>
                <a:gd name="connsiteX1" fmla="*/ 7489 w 610059"/>
                <a:gd name="connsiteY1" fmla="*/ 58831 h 628656"/>
                <a:gd name="connsiteX2" fmla="*/ 312289 w 610059"/>
                <a:gd name="connsiteY2" fmla="*/ 96931 h 628656"/>
                <a:gd name="connsiteX3" fmla="*/ 550414 w 610059"/>
                <a:gd name="connsiteY3" fmla="*/ 1681 h 628656"/>
                <a:gd name="connsiteX4" fmla="*/ 607564 w 610059"/>
                <a:gd name="connsiteY4" fmla="*/ 192181 h 628656"/>
                <a:gd name="connsiteX5" fmla="*/ 493264 w 610059"/>
                <a:gd name="connsiteY5" fmla="*/ 611281 h 628656"/>
                <a:gd name="connsiteX6" fmla="*/ 112264 w 610059"/>
                <a:gd name="connsiteY6" fmla="*/ 611281 h 628656"/>
                <a:gd name="connsiteX0" fmla="*/ 112264 w 610059"/>
                <a:gd name="connsiteY0" fmla="*/ 611281 h 628656"/>
                <a:gd name="connsiteX1" fmla="*/ 7489 w 610059"/>
                <a:gd name="connsiteY1" fmla="*/ 58831 h 628656"/>
                <a:gd name="connsiteX2" fmla="*/ 312289 w 610059"/>
                <a:gd name="connsiteY2" fmla="*/ 96931 h 628656"/>
                <a:gd name="connsiteX3" fmla="*/ 550414 w 610059"/>
                <a:gd name="connsiteY3" fmla="*/ 1681 h 628656"/>
                <a:gd name="connsiteX4" fmla="*/ 607564 w 610059"/>
                <a:gd name="connsiteY4" fmla="*/ 192181 h 628656"/>
                <a:gd name="connsiteX5" fmla="*/ 493264 w 610059"/>
                <a:gd name="connsiteY5" fmla="*/ 611281 h 628656"/>
                <a:gd name="connsiteX6" fmla="*/ 112264 w 610059"/>
                <a:gd name="connsiteY6" fmla="*/ 611281 h 628656"/>
                <a:gd name="connsiteX0" fmla="*/ 112264 w 565247"/>
                <a:gd name="connsiteY0" fmla="*/ 633527 h 650902"/>
                <a:gd name="connsiteX1" fmla="*/ 7489 w 565247"/>
                <a:gd name="connsiteY1" fmla="*/ 81077 h 650902"/>
                <a:gd name="connsiteX2" fmla="*/ 312289 w 565247"/>
                <a:gd name="connsiteY2" fmla="*/ 119177 h 650902"/>
                <a:gd name="connsiteX3" fmla="*/ 550414 w 565247"/>
                <a:gd name="connsiteY3" fmla="*/ 23927 h 650902"/>
                <a:gd name="connsiteX4" fmla="*/ 493264 w 565247"/>
                <a:gd name="connsiteY4" fmla="*/ 633527 h 650902"/>
                <a:gd name="connsiteX5" fmla="*/ 112264 w 565247"/>
                <a:gd name="connsiteY5" fmla="*/ 633527 h 650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5247" h="650902">
                  <a:moveTo>
                    <a:pt x="112264" y="633527"/>
                  </a:moveTo>
                  <a:cubicBezTo>
                    <a:pt x="59877" y="535102"/>
                    <a:pt x="-25849" y="166802"/>
                    <a:pt x="7489" y="81077"/>
                  </a:cubicBezTo>
                  <a:cubicBezTo>
                    <a:pt x="40827" y="-4648"/>
                    <a:pt x="221802" y="128702"/>
                    <a:pt x="312289" y="119177"/>
                  </a:cubicBezTo>
                  <a:cubicBezTo>
                    <a:pt x="402777" y="109652"/>
                    <a:pt x="520252" y="-61798"/>
                    <a:pt x="550414" y="23927"/>
                  </a:cubicBezTo>
                  <a:cubicBezTo>
                    <a:pt x="580577" y="109652"/>
                    <a:pt x="566289" y="531927"/>
                    <a:pt x="493264" y="633527"/>
                  </a:cubicBezTo>
                  <a:cubicBezTo>
                    <a:pt x="353564" y="646227"/>
                    <a:pt x="212276" y="665277"/>
                    <a:pt x="112264" y="633527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B2966CC8-E114-9F51-A021-C77BF786FABE}"/>
                </a:ext>
              </a:extLst>
            </p:cNvPr>
            <p:cNvSpPr/>
            <p:nvPr/>
          </p:nvSpPr>
          <p:spPr>
            <a:xfrm>
              <a:off x="7769535" y="2383537"/>
              <a:ext cx="182880" cy="18288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1EA872C-D553-BF12-D4B4-B163665DA583}"/>
                </a:ext>
              </a:extLst>
            </p:cNvPr>
            <p:cNvSpPr/>
            <p:nvPr/>
          </p:nvSpPr>
          <p:spPr>
            <a:xfrm>
              <a:off x="7716464" y="2466556"/>
              <a:ext cx="281597" cy="284103"/>
            </a:xfrm>
            <a:custGeom>
              <a:avLst/>
              <a:gdLst>
                <a:gd name="connsiteX0" fmla="*/ 89215 w 672263"/>
                <a:gd name="connsiteY0" fmla="*/ 612411 h 857591"/>
                <a:gd name="connsiteX1" fmla="*/ 3490 w 672263"/>
                <a:gd name="connsiteY1" fmla="*/ 107586 h 857591"/>
                <a:gd name="connsiteX2" fmla="*/ 222565 w 672263"/>
                <a:gd name="connsiteY2" fmla="*/ 136161 h 857591"/>
                <a:gd name="connsiteX3" fmla="*/ 546415 w 672263"/>
                <a:gd name="connsiteY3" fmla="*/ 12336 h 857591"/>
                <a:gd name="connsiteX4" fmla="*/ 670240 w 672263"/>
                <a:gd name="connsiteY4" fmla="*/ 88536 h 857591"/>
                <a:gd name="connsiteX5" fmla="*/ 460690 w 672263"/>
                <a:gd name="connsiteY5" fmla="*/ 755286 h 857591"/>
                <a:gd name="connsiteX6" fmla="*/ 203515 w 672263"/>
                <a:gd name="connsiteY6" fmla="*/ 850536 h 857591"/>
                <a:gd name="connsiteX7" fmla="*/ 108265 w 672263"/>
                <a:gd name="connsiteY7" fmla="*/ 707661 h 857591"/>
                <a:gd name="connsiteX8" fmla="*/ 89215 w 672263"/>
                <a:gd name="connsiteY8" fmla="*/ 612411 h 857591"/>
                <a:gd name="connsiteX0" fmla="*/ 93393 w 676135"/>
                <a:gd name="connsiteY0" fmla="*/ 610406 h 855586"/>
                <a:gd name="connsiteX1" fmla="*/ 7668 w 676135"/>
                <a:gd name="connsiteY1" fmla="*/ 105581 h 855586"/>
                <a:gd name="connsiteX2" fmla="*/ 312468 w 676135"/>
                <a:gd name="connsiteY2" fmla="*/ 105581 h 855586"/>
                <a:gd name="connsiteX3" fmla="*/ 550593 w 676135"/>
                <a:gd name="connsiteY3" fmla="*/ 10331 h 855586"/>
                <a:gd name="connsiteX4" fmla="*/ 674418 w 676135"/>
                <a:gd name="connsiteY4" fmla="*/ 86531 h 855586"/>
                <a:gd name="connsiteX5" fmla="*/ 464868 w 676135"/>
                <a:gd name="connsiteY5" fmla="*/ 753281 h 855586"/>
                <a:gd name="connsiteX6" fmla="*/ 207693 w 676135"/>
                <a:gd name="connsiteY6" fmla="*/ 848531 h 855586"/>
                <a:gd name="connsiteX7" fmla="*/ 112443 w 676135"/>
                <a:gd name="connsiteY7" fmla="*/ 705656 h 855586"/>
                <a:gd name="connsiteX8" fmla="*/ 93393 w 676135"/>
                <a:gd name="connsiteY8" fmla="*/ 610406 h 855586"/>
                <a:gd name="connsiteX0" fmla="*/ 93393 w 676135"/>
                <a:gd name="connsiteY0" fmla="*/ 610406 h 855586"/>
                <a:gd name="connsiteX1" fmla="*/ 7668 w 676135"/>
                <a:gd name="connsiteY1" fmla="*/ 67481 h 855586"/>
                <a:gd name="connsiteX2" fmla="*/ 312468 w 676135"/>
                <a:gd name="connsiteY2" fmla="*/ 105581 h 855586"/>
                <a:gd name="connsiteX3" fmla="*/ 550593 w 676135"/>
                <a:gd name="connsiteY3" fmla="*/ 10331 h 855586"/>
                <a:gd name="connsiteX4" fmla="*/ 674418 w 676135"/>
                <a:gd name="connsiteY4" fmla="*/ 86531 h 855586"/>
                <a:gd name="connsiteX5" fmla="*/ 464868 w 676135"/>
                <a:gd name="connsiteY5" fmla="*/ 753281 h 855586"/>
                <a:gd name="connsiteX6" fmla="*/ 207693 w 676135"/>
                <a:gd name="connsiteY6" fmla="*/ 848531 h 855586"/>
                <a:gd name="connsiteX7" fmla="*/ 112443 w 676135"/>
                <a:gd name="connsiteY7" fmla="*/ 705656 h 855586"/>
                <a:gd name="connsiteX8" fmla="*/ 93393 w 676135"/>
                <a:gd name="connsiteY8" fmla="*/ 610406 h 855586"/>
                <a:gd name="connsiteX0" fmla="*/ 93393 w 612010"/>
                <a:gd name="connsiteY0" fmla="*/ 601756 h 843533"/>
                <a:gd name="connsiteX1" fmla="*/ 7668 w 612010"/>
                <a:gd name="connsiteY1" fmla="*/ 58831 h 843533"/>
                <a:gd name="connsiteX2" fmla="*/ 312468 w 612010"/>
                <a:gd name="connsiteY2" fmla="*/ 96931 h 843533"/>
                <a:gd name="connsiteX3" fmla="*/ 550593 w 612010"/>
                <a:gd name="connsiteY3" fmla="*/ 1681 h 843533"/>
                <a:gd name="connsiteX4" fmla="*/ 607743 w 612010"/>
                <a:gd name="connsiteY4" fmla="*/ 192181 h 843533"/>
                <a:gd name="connsiteX5" fmla="*/ 464868 w 612010"/>
                <a:gd name="connsiteY5" fmla="*/ 744631 h 843533"/>
                <a:gd name="connsiteX6" fmla="*/ 207693 w 612010"/>
                <a:gd name="connsiteY6" fmla="*/ 839881 h 843533"/>
                <a:gd name="connsiteX7" fmla="*/ 112443 w 612010"/>
                <a:gd name="connsiteY7" fmla="*/ 697006 h 843533"/>
                <a:gd name="connsiteX8" fmla="*/ 93393 w 612010"/>
                <a:gd name="connsiteY8" fmla="*/ 601756 h 843533"/>
                <a:gd name="connsiteX0" fmla="*/ 93393 w 612010"/>
                <a:gd name="connsiteY0" fmla="*/ 601756 h 776211"/>
                <a:gd name="connsiteX1" fmla="*/ 7668 w 612010"/>
                <a:gd name="connsiteY1" fmla="*/ 58831 h 776211"/>
                <a:gd name="connsiteX2" fmla="*/ 312468 w 612010"/>
                <a:gd name="connsiteY2" fmla="*/ 96931 h 776211"/>
                <a:gd name="connsiteX3" fmla="*/ 550593 w 612010"/>
                <a:gd name="connsiteY3" fmla="*/ 1681 h 776211"/>
                <a:gd name="connsiteX4" fmla="*/ 607743 w 612010"/>
                <a:gd name="connsiteY4" fmla="*/ 192181 h 776211"/>
                <a:gd name="connsiteX5" fmla="*/ 464868 w 612010"/>
                <a:gd name="connsiteY5" fmla="*/ 744631 h 776211"/>
                <a:gd name="connsiteX6" fmla="*/ 112443 w 612010"/>
                <a:gd name="connsiteY6" fmla="*/ 697006 h 776211"/>
                <a:gd name="connsiteX7" fmla="*/ 93393 w 612010"/>
                <a:gd name="connsiteY7" fmla="*/ 601756 h 776211"/>
                <a:gd name="connsiteX0" fmla="*/ 93393 w 610813"/>
                <a:gd name="connsiteY0" fmla="*/ 601756 h 724778"/>
                <a:gd name="connsiteX1" fmla="*/ 7668 w 610813"/>
                <a:gd name="connsiteY1" fmla="*/ 58831 h 724778"/>
                <a:gd name="connsiteX2" fmla="*/ 312468 w 610813"/>
                <a:gd name="connsiteY2" fmla="*/ 96931 h 724778"/>
                <a:gd name="connsiteX3" fmla="*/ 550593 w 610813"/>
                <a:gd name="connsiteY3" fmla="*/ 1681 h 724778"/>
                <a:gd name="connsiteX4" fmla="*/ 607743 w 610813"/>
                <a:gd name="connsiteY4" fmla="*/ 192181 h 724778"/>
                <a:gd name="connsiteX5" fmla="*/ 483918 w 610813"/>
                <a:gd name="connsiteY5" fmla="*/ 677956 h 724778"/>
                <a:gd name="connsiteX6" fmla="*/ 112443 w 610813"/>
                <a:gd name="connsiteY6" fmla="*/ 697006 h 724778"/>
                <a:gd name="connsiteX7" fmla="*/ 93393 w 610813"/>
                <a:gd name="connsiteY7" fmla="*/ 601756 h 724778"/>
                <a:gd name="connsiteX0" fmla="*/ 114303 w 612673"/>
                <a:gd name="connsiteY0" fmla="*/ 697006 h 759322"/>
                <a:gd name="connsiteX1" fmla="*/ 9528 w 612673"/>
                <a:gd name="connsiteY1" fmla="*/ 58831 h 759322"/>
                <a:gd name="connsiteX2" fmla="*/ 314328 w 612673"/>
                <a:gd name="connsiteY2" fmla="*/ 96931 h 759322"/>
                <a:gd name="connsiteX3" fmla="*/ 552453 w 612673"/>
                <a:gd name="connsiteY3" fmla="*/ 1681 h 759322"/>
                <a:gd name="connsiteX4" fmla="*/ 609603 w 612673"/>
                <a:gd name="connsiteY4" fmla="*/ 192181 h 759322"/>
                <a:gd name="connsiteX5" fmla="*/ 485778 w 612673"/>
                <a:gd name="connsiteY5" fmla="*/ 677956 h 759322"/>
                <a:gd name="connsiteX6" fmla="*/ 114303 w 612673"/>
                <a:gd name="connsiteY6" fmla="*/ 697006 h 759322"/>
                <a:gd name="connsiteX0" fmla="*/ 106461 w 614356"/>
                <a:gd name="connsiteY0" fmla="*/ 639856 h 726779"/>
                <a:gd name="connsiteX1" fmla="*/ 11211 w 614356"/>
                <a:gd name="connsiteY1" fmla="*/ 58831 h 726779"/>
                <a:gd name="connsiteX2" fmla="*/ 316011 w 614356"/>
                <a:gd name="connsiteY2" fmla="*/ 96931 h 726779"/>
                <a:gd name="connsiteX3" fmla="*/ 554136 w 614356"/>
                <a:gd name="connsiteY3" fmla="*/ 1681 h 726779"/>
                <a:gd name="connsiteX4" fmla="*/ 611286 w 614356"/>
                <a:gd name="connsiteY4" fmla="*/ 192181 h 726779"/>
                <a:gd name="connsiteX5" fmla="*/ 487461 w 614356"/>
                <a:gd name="connsiteY5" fmla="*/ 677956 h 726779"/>
                <a:gd name="connsiteX6" fmla="*/ 106461 w 614356"/>
                <a:gd name="connsiteY6" fmla="*/ 639856 h 726779"/>
                <a:gd name="connsiteX0" fmla="*/ 106643 w 613963"/>
                <a:gd name="connsiteY0" fmla="*/ 639856 h 709520"/>
                <a:gd name="connsiteX1" fmla="*/ 11393 w 613963"/>
                <a:gd name="connsiteY1" fmla="*/ 58831 h 709520"/>
                <a:gd name="connsiteX2" fmla="*/ 316193 w 613963"/>
                <a:gd name="connsiteY2" fmla="*/ 96931 h 709520"/>
                <a:gd name="connsiteX3" fmla="*/ 554318 w 613963"/>
                <a:gd name="connsiteY3" fmla="*/ 1681 h 709520"/>
                <a:gd name="connsiteX4" fmla="*/ 611468 w 613963"/>
                <a:gd name="connsiteY4" fmla="*/ 192181 h 709520"/>
                <a:gd name="connsiteX5" fmla="*/ 497168 w 613963"/>
                <a:gd name="connsiteY5" fmla="*/ 649381 h 709520"/>
                <a:gd name="connsiteX6" fmla="*/ 106643 w 613963"/>
                <a:gd name="connsiteY6" fmla="*/ 639856 h 709520"/>
                <a:gd name="connsiteX0" fmla="*/ 114453 w 612248"/>
                <a:gd name="connsiteY0" fmla="*/ 611281 h 694701"/>
                <a:gd name="connsiteX1" fmla="*/ 9678 w 612248"/>
                <a:gd name="connsiteY1" fmla="*/ 58831 h 694701"/>
                <a:gd name="connsiteX2" fmla="*/ 314478 w 612248"/>
                <a:gd name="connsiteY2" fmla="*/ 96931 h 694701"/>
                <a:gd name="connsiteX3" fmla="*/ 552603 w 612248"/>
                <a:gd name="connsiteY3" fmla="*/ 1681 h 694701"/>
                <a:gd name="connsiteX4" fmla="*/ 609753 w 612248"/>
                <a:gd name="connsiteY4" fmla="*/ 192181 h 694701"/>
                <a:gd name="connsiteX5" fmla="*/ 495453 w 612248"/>
                <a:gd name="connsiteY5" fmla="*/ 649381 h 694701"/>
                <a:gd name="connsiteX6" fmla="*/ 114453 w 612248"/>
                <a:gd name="connsiteY6" fmla="*/ 611281 h 694701"/>
                <a:gd name="connsiteX0" fmla="*/ 116567 w 614362"/>
                <a:gd name="connsiteY0" fmla="*/ 611281 h 686440"/>
                <a:gd name="connsiteX1" fmla="*/ 11792 w 614362"/>
                <a:gd name="connsiteY1" fmla="*/ 58831 h 686440"/>
                <a:gd name="connsiteX2" fmla="*/ 316592 w 614362"/>
                <a:gd name="connsiteY2" fmla="*/ 96931 h 686440"/>
                <a:gd name="connsiteX3" fmla="*/ 554717 w 614362"/>
                <a:gd name="connsiteY3" fmla="*/ 1681 h 686440"/>
                <a:gd name="connsiteX4" fmla="*/ 611867 w 614362"/>
                <a:gd name="connsiteY4" fmla="*/ 192181 h 686440"/>
                <a:gd name="connsiteX5" fmla="*/ 497567 w 614362"/>
                <a:gd name="connsiteY5" fmla="*/ 649381 h 686440"/>
                <a:gd name="connsiteX6" fmla="*/ 116567 w 614362"/>
                <a:gd name="connsiteY6" fmla="*/ 611281 h 686440"/>
                <a:gd name="connsiteX0" fmla="*/ 116567 w 614362"/>
                <a:gd name="connsiteY0" fmla="*/ 611281 h 686440"/>
                <a:gd name="connsiteX1" fmla="*/ 11792 w 614362"/>
                <a:gd name="connsiteY1" fmla="*/ 58831 h 686440"/>
                <a:gd name="connsiteX2" fmla="*/ 316592 w 614362"/>
                <a:gd name="connsiteY2" fmla="*/ 96931 h 686440"/>
                <a:gd name="connsiteX3" fmla="*/ 554717 w 614362"/>
                <a:gd name="connsiteY3" fmla="*/ 1681 h 686440"/>
                <a:gd name="connsiteX4" fmla="*/ 611867 w 614362"/>
                <a:gd name="connsiteY4" fmla="*/ 192181 h 686440"/>
                <a:gd name="connsiteX5" fmla="*/ 497567 w 614362"/>
                <a:gd name="connsiteY5" fmla="*/ 649381 h 686440"/>
                <a:gd name="connsiteX6" fmla="*/ 116567 w 614362"/>
                <a:gd name="connsiteY6" fmla="*/ 611281 h 686440"/>
                <a:gd name="connsiteX0" fmla="*/ 112264 w 610059"/>
                <a:gd name="connsiteY0" fmla="*/ 611281 h 686440"/>
                <a:gd name="connsiteX1" fmla="*/ 7489 w 610059"/>
                <a:gd name="connsiteY1" fmla="*/ 58831 h 686440"/>
                <a:gd name="connsiteX2" fmla="*/ 312289 w 610059"/>
                <a:gd name="connsiteY2" fmla="*/ 96931 h 686440"/>
                <a:gd name="connsiteX3" fmla="*/ 550414 w 610059"/>
                <a:gd name="connsiteY3" fmla="*/ 1681 h 686440"/>
                <a:gd name="connsiteX4" fmla="*/ 607564 w 610059"/>
                <a:gd name="connsiteY4" fmla="*/ 192181 h 686440"/>
                <a:gd name="connsiteX5" fmla="*/ 493264 w 610059"/>
                <a:gd name="connsiteY5" fmla="*/ 649381 h 686440"/>
                <a:gd name="connsiteX6" fmla="*/ 112264 w 610059"/>
                <a:gd name="connsiteY6" fmla="*/ 611281 h 686440"/>
                <a:gd name="connsiteX0" fmla="*/ 112264 w 610059"/>
                <a:gd name="connsiteY0" fmla="*/ 611281 h 677959"/>
                <a:gd name="connsiteX1" fmla="*/ 7489 w 610059"/>
                <a:gd name="connsiteY1" fmla="*/ 58831 h 677959"/>
                <a:gd name="connsiteX2" fmla="*/ 312289 w 610059"/>
                <a:gd name="connsiteY2" fmla="*/ 96931 h 677959"/>
                <a:gd name="connsiteX3" fmla="*/ 550414 w 610059"/>
                <a:gd name="connsiteY3" fmla="*/ 1681 h 677959"/>
                <a:gd name="connsiteX4" fmla="*/ 607564 w 610059"/>
                <a:gd name="connsiteY4" fmla="*/ 192181 h 677959"/>
                <a:gd name="connsiteX5" fmla="*/ 493264 w 610059"/>
                <a:gd name="connsiteY5" fmla="*/ 649381 h 677959"/>
                <a:gd name="connsiteX6" fmla="*/ 112264 w 610059"/>
                <a:gd name="connsiteY6" fmla="*/ 611281 h 677959"/>
                <a:gd name="connsiteX0" fmla="*/ 112264 w 610059"/>
                <a:gd name="connsiteY0" fmla="*/ 611281 h 650638"/>
                <a:gd name="connsiteX1" fmla="*/ 7489 w 610059"/>
                <a:gd name="connsiteY1" fmla="*/ 58831 h 650638"/>
                <a:gd name="connsiteX2" fmla="*/ 312289 w 610059"/>
                <a:gd name="connsiteY2" fmla="*/ 96931 h 650638"/>
                <a:gd name="connsiteX3" fmla="*/ 550414 w 610059"/>
                <a:gd name="connsiteY3" fmla="*/ 1681 h 650638"/>
                <a:gd name="connsiteX4" fmla="*/ 607564 w 610059"/>
                <a:gd name="connsiteY4" fmla="*/ 192181 h 650638"/>
                <a:gd name="connsiteX5" fmla="*/ 493264 w 610059"/>
                <a:gd name="connsiteY5" fmla="*/ 611281 h 650638"/>
                <a:gd name="connsiteX6" fmla="*/ 112264 w 610059"/>
                <a:gd name="connsiteY6" fmla="*/ 611281 h 650638"/>
                <a:gd name="connsiteX0" fmla="*/ 112264 w 610059"/>
                <a:gd name="connsiteY0" fmla="*/ 611281 h 650638"/>
                <a:gd name="connsiteX1" fmla="*/ 7489 w 610059"/>
                <a:gd name="connsiteY1" fmla="*/ 58831 h 650638"/>
                <a:gd name="connsiteX2" fmla="*/ 312289 w 610059"/>
                <a:gd name="connsiteY2" fmla="*/ 96931 h 650638"/>
                <a:gd name="connsiteX3" fmla="*/ 550414 w 610059"/>
                <a:gd name="connsiteY3" fmla="*/ 1681 h 650638"/>
                <a:gd name="connsiteX4" fmla="*/ 607564 w 610059"/>
                <a:gd name="connsiteY4" fmla="*/ 192181 h 650638"/>
                <a:gd name="connsiteX5" fmla="*/ 493264 w 610059"/>
                <a:gd name="connsiteY5" fmla="*/ 611281 h 650638"/>
                <a:gd name="connsiteX6" fmla="*/ 112264 w 610059"/>
                <a:gd name="connsiteY6" fmla="*/ 611281 h 650638"/>
                <a:gd name="connsiteX0" fmla="*/ 112264 w 610059"/>
                <a:gd name="connsiteY0" fmla="*/ 611281 h 628656"/>
                <a:gd name="connsiteX1" fmla="*/ 7489 w 610059"/>
                <a:gd name="connsiteY1" fmla="*/ 58831 h 628656"/>
                <a:gd name="connsiteX2" fmla="*/ 312289 w 610059"/>
                <a:gd name="connsiteY2" fmla="*/ 96931 h 628656"/>
                <a:gd name="connsiteX3" fmla="*/ 550414 w 610059"/>
                <a:gd name="connsiteY3" fmla="*/ 1681 h 628656"/>
                <a:gd name="connsiteX4" fmla="*/ 607564 w 610059"/>
                <a:gd name="connsiteY4" fmla="*/ 192181 h 628656"/>
                <a:gd name="connsiteX5" fmla="*/ 493264 w 610059"/>
                <a:gd name="connsiteY5" fmla="*/ 611281 h 628656"/>
                <a:gd name="connsiteX6" fmla="*/ 112264 w 610059"/>
                <a:gd name="connsiteY6" fmla="*/ 611281 h 628656"/>
                <a:gd name="connsiteX0" fmla="*/ 112264 w 610059"/>
                <a:gd name="connsiteY0" fmla="*/ 611281 h 628656"/>
                <a:gd name="connsiteX1" fmla="*/ 7489 w 610059"/>
                <a:gd name="connsiteY1" fmla="*/ 58831 h 628656"/>
                <a:gd name="connsiteX2" fmla="*/ 312289 w 610059"/>
                <a:gd name="connsiteY2" fmla="*/ 96931 h 628656"/>
                <a:gd name="connsiteX3" fmla="*/ 550414 w 610059"/>
                <a:gd name="connsiteY3" fmla="*/ 1681 h 628656"/>
                <a:gd name="connsiteX4" fmla="*/ 607564 w 610059"/>
                <a:gd name="connsiteY4" fmla="*/ 192181 h 628656"/>
                <a:gd name="connsiteX5" fmla="*/ 493264 w 610059"/>
                <a:gd name="connsiteY5" fmla="*/ 611281 h 628656"/>
                <a:gd name="connsiteX6" fmla="*/ 112264 w 610059"/>
                <a:gd name="connsiteY6" fmla="*/ 611281 h 628656"/>
                <a:gd name="connsiteX0" fmla="*/ 112264 w 565247"/>
                <a:gd name="connsiteY0" fmla="*/ 633527 h 650902"/>
                <a:gd name="connsiteX1" fmla="*/ 7489 w 565247"/>
                <a:gd name="connsiteY1" fmla="*/ 81077 h 650902"/>
                <a:gd name="connsiteX2" fmla="*/ 312289 w 565247"/>
                <a:gd name="connsiteY2" fmla="*/ 119177 h 650902"/>
                <a:gd name="connsiteX3" fmla="*/ 550414 w 565247"/>
                <a:gd name="connsiteY3" fmla="*/ 23927 h 650902"/>
                <a:gd name="connsiteX4" fmla="*/ 493264 w 565247"/>
                <a:gd name="connsiteY4" fmla="*/ 633527 h 650902"/>
                <a:gd name="connsiteX5" fmla="*/ 112264 w 565247"/>
                <a:gd name="connsiteY5" fmla="*/ 633527 h 650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5247" h="650902">
                  <a:moveTo>
                    <a:pt x="112264" y="633527"/>
                  </a:moveTo>
                  <a:cubicBezTo>
                    <a:pt x="59877" y="535102"/>
                    <a:pt x="-25849" y="166802"/>
                    <a:pt x="7489" y="81077"/>
                  </a:cubicBezTo>
                  <a:cubicBezTo>
                    <a:pt x="40827" y="-4648"/>
                    <a:pt x="221802" y="128702"/>
                    <a:pt x="312289" y="119177"/>
                  </a:cubicBezTo>
                  <a:cubicBezTo>
                    <a:pt x="402777" y="109652"/>
                    <a:pt x="520252" y="-61798"/>
                    <a:pt x="550414" y="23927"/>
                  </a:cubicBezTo>
                  <a:cubicBezTo>
                    <a:pt x="580577" y="109652"/>
                    <a:pt x="566289" y="531927"/>
                    <a:pt x="493264" y="633527"/>
                  </a:cubicBezTo>
                  <a:cubicBezTo>
                    <a:pt x="353564" y="646227"/>
                    <a:pt x="212276" y="665277"/>
                    <a:pt x="112264" y="633527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Macrocytic">
            <a:extLst>
              <a:ext uri="{FF2B5EF4-FFF2-40B4-BE49-F238E27FC236}">
                <a16:creationId xmlns:a16="http://schemas.microsoft.com/office/drawing/2014/main" id="{8C5E92DB-D246-FC91-5E26-2A69942C11AB}"/>
              </a:ext>
            </a:extLst>
          </p:cNvPr>
          <p:cNvSpPr/>
          <p:nvPr/>
        </p:nvSpPr>
        <p:spPr>
          <a:xfrm>
            <a:off x="3641427" y="5613156"/>
            <a:ext cx="5394960" cy="36576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What if there is concomitant iron deficiency and ACD?</a:t>
            </a:r>
          </a:p>
        </p:txBody>
      </p:sp>
      <p:sp>
        <p:nvSpPr>
          <p:cNvPr id="9" name="IDA + ACD">
            <a:extLst>
              <a:ext uri="{FF2B5EF4-FFF2-40B4-BE49-F238E27FC236}">
                <a16:creationId xmlns:a16="http://schemas.microsoft.com/office/drawing/2014/main" id="{2C527233-E790-607A-0ACD-85A08597134D}"/>
              </a:ext>
            </a:extLst>
          </p:cNvPr>
          <p:cNvSpPr/>
          <p:nvPr/>
        </p:nvSpPr>
        <p:spPr>
          <a:xfrm>
            <a:off x="3651057" y="5613156"/>
            <a:ext cx="539496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if there is concomitant iron deficiency and ACD?</a:t>
            </a:r>
          </a:p>
        </p:txBody>
      </p:sp>
      <p:pic>
        <p:nvPicPr>
          <p:cNvPr id="14" name="Graphic 13" descr="Cursor">
            <a:extLst>
              <a:ext uri="{FF2B5EF4-FFF2-40B4-BE49-F238E27FC236}">
                <a16:creationId xmlns:a16="http://schemas.microsoft.com/office/drawing/2014/main" id="{A38571AC-8993-4ADB-390C-7C513215E1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99227" y="5841756"/>
            <a:ext cx="274320" cy="27432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46B7E52-A380-5FA7-DE09-F5D4F6423667}"/>
              </a:ext>
            </a:extLst>
          </p:cNvPr>
          <p:cNvSpPr txBox="1"/>
          <p:nvPr/>
        </p:nvSpPr>
        <p:spPr>
          <a:xfrm>
            <a:off x="1654244" y="6037639"/>
            <a:ext cx="9724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20-85% of patients with ACD also have iron deficiency. </a:t>
            </a:r>
          </a:p>
          <a:p>
            <a:pPr algn="ctr"/>
            <a:r>
              <a:rPr lang="en-US" dirty="0"/>
              <a:t>Hepcidin, soluble transferrin receptor (</a:t>
            </a:r>
            <a:r>
              <a:rPr lang="en-US" dirty="0" err="1"/>
              <a:t>sTfR</a:t>
            </a:r>
            <a:r>
              <a:rPr lang="en-US" dirty="0"/>
              <a:t>) or response to trial of iron can be used to differentiate.</a:t>
            </a:r>
          </a:p>
        </p:txBody>
      </p:sp>
    </p:spTree>
    <p:extLst>
      <p:ext uri="{BB962C8B-B14F-4D97-AF65-F5344CB8AC3E}">
        <p14:creationId xmlns:p14="http://schemas.microsoft.com/office/powerpoint/2010/main" val="49493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2" grpId="0"/>
      <p:bldP spid="24" grpId="0" animBg="1"/>
      <p:bldP spid="26" grpId="0"/>
      <p:bldP spid="27" grpId="0" animBg="1"/>
      <p:bldP spid="30" grpId="0" animBg="1"/>
      <p:bldP spid="32" grpId="0"/>
      <p:bldP spid="35" grpId="0" animBg="1"/>
      <p:bldP spid="38" grpId="0"/>
      <p:bldP spid="42" grpId="0" animBg="1"/>
      <p:bldP spid="44" grpId="0"/>
      <p:bldP spid="45" grpId="0"/>
      <p:bldP spid="46" grpId="0"/>
      <p:bldP spid="47" grpId="0"/>
      <p:bldP spid="53" grpId="0" animBg="1"/>
      <p:bldP spid="54" grpId="0"/>
      <p:bldP spid="55" grpId="0"/>
      <p:bldP spid="56" grpId="0"/>
      <p:bldP spid="57" grpId="0"/>
      <p:bldP spid="9" grpId="0" animBg="1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on-immune">
            <a:extLst>
              <a:ext uri="{FF2B5EF4-FFF2-40B4-BE49-F238E27FC236}">
                <a16:creationId xmlns:a16="http://schemas.microsoft.com/office/drawing/2014/main" id="{A69BBAB9-C0C5-6218-D304-D31853322398}"/>
              </a:ext>
            </a:extLst>
          </p:cNvPr>
          <p:cNvSpPr/>
          <p:nvPr/>
        </p:nvSpPr>
        <p:spPr>
          <a:xfrm>
            <a:off x="7083502" y="2951740"/>
            <a:ext cx="1397671" cy="514572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Non-immune</a:t>
            </a:r>
          </a:p>
        </p:txBody>
      </p:sp>
      <p:sp>
        <p:nvSpPr>
          <p:cNvPr id="504" name="Immume">
            <a:extLst>
              <a:ext uri="{FF2B5EF4-FFF2-40B4-BE49-F238E27FC236}">
                <a16:creationId xmlns:a16="http://schemas.microsoft.com/office/drawing/2014/main" id="{21124EE7-D50F-9288-CC85-4690D936FC53}"/>
              </a:ext>
            </a:extLst>
          </p:cNvPr>
          <p:cNvSpPr/>
          <p:nvPr/>
        </p:nvSpPr>
        <p:spPr>
          <a:xfrm>
            <a:off x="7042198" y="685817"/>
            <a:ext cx="1448644" cy="585887"/>
          </a:xfrm>
          <a:prstGeom prst="roundRect">
            <a:avLst/>
          </a:prstGeom>
          <a:ln>
            <a:solidFill>
              <a:schemeClr val="accent4"/>
            </a:solidFill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Immune- mediated</a:t>
            </a:r>
          </a:p>
        </p:txBody>
      </p:sp>
      <p:sp>
        <p:nvSpPr>
          <p:cNvPr id="480" name="Warm AIHA">
            <a:extLst>
              <a:ext uri="{FF2B5EF4-FFF2-40B4-BE49-F238E27FC236}">
                <a16:creationId xmlns:a16="http://schemas.microsoft.com/office/drawing/2014/main" id="{0840C541-B78F-D95F-CCB8-BEBE1009A6FA}"/>
              </a:ext>
            </a:extLst>
          </p:cNvPr>
          <p:cNvSpPr txBox="1"/>
          <p:nvPr/>
        </p:nvSpPr>
        <p:spPr>
          <a:xfrm>
            <a:off x="8819757" y="810455"/>
            <a:ext cx="1005634" cy="306467"/>
          </a:xfrm>
          <a:prstGeom prst="roundRect">
            <a:avLst/>
          </a:prstGeom>
          <a:solidFill>
            <a:schemeClr val="accent4"/>
          </a:solidFill>
          <a:ln w="38100">
            <a:solidFill>
              <a:schemeClr val="accent4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200" dirty="0"/>
              <a:t>Warm AIHA</a:t>
            </a:r>
          </a:p>
        </p:txBody>
      </p:sp>
      <p:sp>
        <p:nvSpPr>
          <p:cNvPr id="481" name="Cold AIHA">
            <a:extLst>
              <a:ext uri="{FF2B5EF4-FFF2-40B4-BE49-F238E27FC236}">
                <a16:creationId xmlns:a16="http://schemas.microsoft.com/office/drawing/2014/main" id="{115B6378-8F02-43BC-23F7-BDBE8E5BBCA1}"/>
              </a:ext>
            </a:extLst>
          </p:cNvPr>
          <p:cNvSpPr txBox="1"/>
          <p:nvPr/>
        </p:nvSpPr>
        <p:spPr>
          <a:xfrm>
            <a:off x="8819757" y="1256995"/>
            <a:ext cx="1005634" cy="306467"/>
          </a:xfrm>
          <a:prstGeom prst="roundRect">
            <a:avLst/>
          </a:prstGeom>
          <a:solidFill>
            <a:schemeClr val="accent4"/>
          </a:solidFill>
          <a:ln w="38100">
            <a:solidFill>
              <a:schemeClr val="accent4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200" dirty="0"/>
              <a:t>Cold AIHA</a:t>
            </a:r>
          </a:p>
        </p:txBody>
      </p:sp>
      <p:sp>
        <p:nvSpPr>
          <p:cNvPr id="455" name="Hemolysis">
            <a:extLst>
              <a:ext uri="{FF2B5EF4-FFF2-40B4-BE49-F238E27FC236}">
                <a16:creationId xmlns:a16="http://schemas.microsoft.com/office/drawing/2014/main" id="{37853AE8-8F8A-5316-EA41-37ED8CEF946A}"/>
              </a:ext>
            </a:extLst>
          </p:cNvPr>
          <p:cNvSpPr/>
          <p:nvPr/>
        </p:nvSpPr>
        <p:spPr>
          <a:xfrm>
            <a:off x="4420726" y="1757331"/>
            <a:ext cx="1250059" cy="369333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 w="38100">
            <a:solidFill>
              <a:schemeClr val="accent6">
                <a:lumMod val="50000"/>
              </a:schemeClr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Hemolysis</a:t>
            </a:r>
          </a:p>
        </p:txBody>
      </p:sp>
      <p:sp>
        <p:nvSpPr>
          <p:cNvPr id="38" name="Hemolysis">
            <a:extLst>
              <a:ext uri="{FF2B5EF4-FFF2-40B4-BE49-F238E27FC236}">
                <a16:creationId xmlns:a16="http://schemas.microsoft.com/office/drawing/2014/main" id="{03DC98C3-AC6A-4BEB-B170-6F8DEA421987}"/>
              </a:ext>
            </a:extLst>
          </p:cNvPr>
          <p:cNvSpPr/>
          <p:nvPr/>
        </p:nvSpPr>
        <p:spPr>
          <a:xfrm>
            <a:off x="4406733" y="1753284"/>
            <a:ext cx="1256472" cy="36933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Hemolysis</a:t>
            </a:r>
          </a:p>
        </p:txBody>
      </p:sp>
      <p:sp>
        <p:nvSpPr>
          <p:cNvPr id="80" name="Blood loss">
            <a:extLst>
              <a:ext uri="{FF2B5EF4-FFF2-40B4-BE49-F238E27FC236}">
                <a16:creationId xmlns:a16="http://schemas.microsoft.com/office/drawing/2014/main" id="{5D88B871-6154-4D25-BF43-0A5D76EC489D}"/>
              </a:ext>
            </a:extLst>
          </p:cNvPr>
          <p:cNvSpPr/>
          <p:nvPr/>
        </p:nvSpPr>
        <p:spPr>
          <a:xfrm>
            <a:off x="4412407" y="6205294"/>
            <a:ext cx="1850017" cy="4114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Acute blood loss</a:t>
            </a:r>
          </a:p>
        </p:txBody>
      </p:sp>
      <p:cxnSp>
        <p:nvCxnSpPr>
          <p:cNvPr id="37" name="Connector to Hemolysis">
            <a:extLst>
              <a:ext uri="{FF2B5EF4-FFF2-40B4-BE49-F238E27FC236}">
                <a16:creationId xmlns:a16="http://schemas.microsoft.com/office/drawing/2014/main" id="{836E5B7A-F66E-4B24-A6F9-356969A96290}"/>
              </a:ext>
            </a:extLst>
          </p:cNvPr>
          <p:cNvCxnSpPr>
            <a:cxnSpLocks/>
            <a:stCxn id="21" idx="3"/>
            <a:endCxn id="38" idx="1"/>
          </p:cNvCxnSpPr>
          <p:nvPr/>
        </p:nvCxnSpPr>
        <p:spPr>
          <a:xfrm flipV="1">
            <a:off x="3690258" y="1937951"/>
            <a:ext cx="716475" cy="3535305"/>
          </a:xfrm>
          <a:prstGeom prst="bentConnector3">
            <a:avLst>
              <a:gd name="adj1" fmla="val 72335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Connecter to Blood loss">
            <a:extLst>
              <a:ext uri="{FF2B5EF4-FFF2-40B4-BE49-F238E27FC236}">
                <a16:creationId xmlns:a16="http://schemas.microsoft.com/office/drawing/2014/main" id="{099F750D-AAB6-4D17-B03A-35AF3A5A3DAA}"/>
              </a:ext>
            </a:extLst>
          </p:cNvPr>
          <p:cNvCxnSpPr>
            <a:cxnSpLocks/>
            <a:stCxn id="21" idx="3"/>
            <a:endCxn id="80" idx="1"/>
          </p:cNvCxnSpPr>
          <p:nvPr/>
        </p:nvCxnSpPr>
        <p:spPr>
          <a:xfrm>
            <a:off x="3690258" y="5473256"/>
            <a:ext cx="722149" cy="937778"/>
          </a:xfrm>
          <a:prstGeom prst="bentConnector3">
            <a:avLst>
              <a:gd name="adj1" fmla="val 72159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4" name="Brace Immune mediated">
            <a:extLst>
              <a:ext uri="{FF2B5EF4-FFF2-40B4-BE49-F238E27FC236}">
                <a16:creationId xmlns:a16="http://schemas.microsoft.com/office/drawing/2014/main" id="{A7C1E659-EA75-4E50-A1FE-80E546272BCD}"/>
              </a:ext>
            </a:extLst>
          </p:cNvPr>
          <p:cNvSpPr/>
          <p:nvPr/>
        </p:nvSpPr>
        <p:spPr>
          <a:xfrm>
            <a:off x="8427720" y="731034"/>
            <a:ext cx="525925" cy="1544929"/>
          </a:xfrm>
          <a:prstGeom prst="leftBrace">
            <a:avLst>
              <a:gd name="adj1" fmla="val 0"/>
              <a:gd name="adj2" fmla="val 16496"/>
            </a:avLst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Warm AIHA">
            <a:extLst>
              <a:ext uri="{FF2B5EF4-FFF2-40B4-BE49-F238E27FC236}">
                <a16:creationId xmlns:a16="http://schemas.microsoft.com/office/drawing/2014/main" id="{B0B8A18B-4FA1-4697-AA1C-035796AF3395}"/>
              </a:ext>
            </a:extLst>
          </p:cNvPr>
          <p:cNvSpPr txBox="1"/>
          <p:nvPr/>
        </p:nvSpPr>
        <p:spPr>
          <a:xfrm>
            <a:off x="8819757" y="810455"/>
            <a:ext cx="1005634" cy="306467"/>
          </a:xfrm>
          <a:prstGeom prst="roundRect">
            <a:avLst/>
          </a:prstGeom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200" dirty="0"/>
              <a:t>Warm AIHA</a:t>
            </a:r>
          </a:p>
        </p:txBody>
      </p:sp>
      <p:cxnSp>
        <p:nvCxnSpPr>
          <p:cNvPr id="182" name="Connector for warm AIHA">
            <a:extLst>
              <a:ext uri="{FF2B5EF4-FFF2-40B4-BE49-F238E27FC236}">
                <a16:creationId xmlns:a16="http://schemas.microsoft.com/office/drawing/2014/main" id="{E164B3AD-F241-4346-96E2-4CF2BEA434D9}"/>
              </a:ext>
            </a:extLst>
          </p:cNvPr>
          <p:cNvCxnSpPr>
            <a:cxnSpLocks/>
          </p:cNvCxnSpPr>
          <p:nvPr/>
        </p:nvCxnSpPr>
        <p:spPr>
          <a:xfrm>
            <a:off x="9832377" y="945579"/>
            <a:ext cx="142203" cy="6921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Warm AIHA info">
            <a:extLst>
              <a:ext uri="{FF2B5EF4-FFF2-40B4-BE49-F238E27FC236}">
                <a16:creationId xmlns:a16="http://schemas.microsoft.com/office/drawing/2014/main" id="{AEEF4385-C4C3-4E76-8E6F-74D88244483B}"/>
              </a:ext>
            </a:extLst>
          </p:cNvPr>
          <p:cNvSpPr txBox="1"/>
          <p:nvPr/>
        </p:nvSpPr>
        <p:spPr>
          <a:xfrm>
            <a:off x="9975771" y="513176"/>
            <a:ext cx="1966769" cy="707886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lvl="0">
              <a:tabLst>
                <a:tab pos="173038" algn="l"/>
              </a:tabLst>
            </a:pPr>
            <a:r>
              <a:rPr lang="en-US" sz="1000" dirty="0">
                <a:sym typeface="Wingdings" panose="05000000000000000000" pitchFamily="2" charset="2"/>
              </a:rPr>
              <a:t>IgG mediated</a:t>
            </a:r>
          </a:p>
          <a:p>
            <a:pPr marL="114300" lvl="0" indent="-114300">
              <a:buFont typeface="Arial" panose="020B0604020202020204" pitchFamily="34" charset="0"/>
              <a:buChar char="•"/>
              <a:tabLst>
                <a:tab pos="173038" algn="l"/>
              </a:tabLst>
            </a:pPr>
            <a:r>
              <a:rPr lang="en-US" sz="1000" dirty="0">
                <a:sym typeface="Wingdings" panose="05000000000000000000" pitchFamily="2" charset="2"/>
              </a:rPr>
              <a:t>Cancer – lymphoma, ovarian</a:t>
            </a:r>
          </a:p>
          <a:p>
            <a:pPr marL="114300" lvl="0" indent="-114300">
              <a:buFont typeface="Arial" panose="020B0604020202020204" pitchFamily="34" charset="0"/>
              <a:buChar char="•"/>
              <a:tabLst>
                <a:tab pos="173038" algn="l"/>
              </a:tabLst>
            </a:pPr>
            <a:r>
              <a:rPr lang="en-US" sz="1000" dirty="0">
                <a:sym typeface="Wingdings" panose="05000000000000000000" pitchFamily="2" charset="2"/>
              </a:rPr>
              <a:t>Autoimmune disease (SLE, UC)</a:t>
            </a:r>
          </a:p>
          <a:p>
            <a:pPr marL="114300" lvl="0" indent="-114300">
              <a:buFont typeface="Arial" panose="020B0604020202020204" pitchFamily="34" charset="0"/>
              <a:buChar char="•"/>
              <a:tabLst>
                <a:tab pos="173038" algn="l"/>
              </a:tabLst>
            </a:pPr>
            <a:r>
              <a:rPr lang="en-US" sz="1000" dirty="0">
                <a:sym typeface="Wingdings" panose="05000000000000000000" pitchFamily="2" charset="2"/>
              </a:rPr>
              <a:t>Drugs </a:t>
            </a:r>
          </a:p>
        </p:txBody>
      </p:sp>
      <p:sp>
        <p:nvSpPr>
          <p:cNvPr id="227" name="Blood loss info">
            <a:extLst>
              <a:ext uri="{FF2B5EF4-FFF2-40B4-BE49-F238E27FC236}">
                <a16:creationId xmlns:a16="http://schemas.microsoft.com/office/drawing/2014/main" id="{598BF2CE-DDAA-40CF-95C5-E999D5070CB5}"/>
              </a:ext>
            </a:extLst>
          </p:cNvPr>
          <p:cNvSpPr txBox="1"/>
          <p:nvPr/>
        </p:nvSpPr>
        <p:spPr>
          <a:xfrm>
            <a:off x="6762734" y="5857905"/>
            <a:ext cx="273109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200" dirty="0">
                <a:sym typeface="Wingdings" panose="05000000000000000000" pitchFamily="2" charset="2"/>
              </a:rPr>
              <a:t>Thorax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200" dirty="0">
                <a:sym typeface="Wingdings" panose="05000000000000000000" pitchFamily="2" charset="2"/>
              </a:rPr>
              <a:t>Abdomen (including retroperitoneum)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200" dirty="0">
                <a:sym typeface="Wingdings" panose="05000000000000000000" pitchFamily="2" charset="2"/>
              </a:rPr>
              <a:t>Long bones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200" dirty="0">
                <a:sym typeface="Wingdings" panose="05000000000000000000" pitchFamily="2" charset="2"/>
              </a:rPr>
              <a:t>Floor (GI bleed)</a:t>
            </a:r>
          </a:p>
        </p:txBody>
      </p:sp>
      <p:cxnSp>
        <p:nvCxnSpPr>
          <p:cNvPr id="228" name="Connecter to Immune">
            <a:extLst>
              <a:ext uri="{FF2B5EF4-FFF2-40B4-BE49-F238E27FC236}">
                <a16:creationId xmlns:a16="http://schemas.microsoft.com/office/drawing/2014/main" id="{75956487-96C9-452C-9BDC-544708498DCE}"/>
              </a:ext>
            </a:extLst>
          </p:cNvPr>
          <p:cNvCxnSpPr>
            <a:cxnSpLocks/>
            <a:stCxn id="38" idx="3"/>
          </p:cNvCxnSpPr>
          <p:nvPr/>
        </p:nvCxnSpPr>
        <p:spPr>
          <a:xfrm flipV="1">
            <a:off x="5663205" y="1000537"/>
            <a:ext cx="1368281" cy="937414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2" name="Connecter to non-immune">
            <a:extLst>
              <a:ext uri="{FF2B5EF4-FFF2-40B4-BE49-F238E27FC236}">
                <a16:creationId xmlns:a16="http://schemas.microsoft.com/office/drawing/2014/main" id="{39CCAF88-9542-4AF9-86E9-1E8FBC9521B7}"/>
              </a:ext>
            </a:extLst>
          </p:cNvPr>
          <p:cNvCxnSpPr>
            <a:cxnSpLocks/>
            <a:stCxn id="38" idx="3"/>
            <a:endCxn id="428" idx="1"/>
          </p:cNvCxnSpPr>
          <p:nvPr/>
        </p:nvCxnSpPr>
        <p:spPr>
          <a:xfrm>
            <a:off x="5663205" y="1937951"/>
            <a:ext cx="1419254" cy="1253166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8" name="Hemolysis labs">
            <a:extLst>
              <a:ext uri="{FF2B5EF4-FFF2-40B4-BE49-F238E27FC236}">
                <a16:creationId xmlns:a16="http://schemas.microsoft.com/office/drawing/2014/main" id="{382BD40C-F705-4BCD-834F-49254F43242E}"/>
              </a:ext>
            </a:extLst>
          </p:cNvPr>
          <p:cNvSpPr/>
          <p:nvPr/>
        </p:nvSpPr>
        <p:spPr>
          <a:xfrm>
            <a:off x="3759312" y="3359436"/>
            <a:ext cx="907469" cy="54068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Hemolysis labs </a:t>
            </a:r>
          </a:p>
        </p:txBody>
      </p:sp>
      <p:sp>
        <p:nvSpPr>
          <p:cNvPr id="255" name="DAT">
            <a:extLst>
              <a:ext uri="{FF2B5EF4-FFF2-40B4-BE49-F238E27FC236}">
                <a16:creationId xmlns:a16="http://schemas.microsoft.com/office/drawing/2014/main" id="{6B5A2672-FC49-43CE-BCFA-8D0E373179F5}"/>
              </a:ext>
            </a:extLst>
          </p:cNvPr>
          <p:cNvSpPr/>
          <p:nvPr/>
        </p:nvSpPr>
        <p:spPr>
          <a:xfrm>
            <a:off x="5932732" y="1785657"/>
            <a:ext cx="546516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DAT</a:t>
            </a:r>
          </a:p>
        </p:txBody>
      </p:sp>
      <p:cxnSp>
        <p:nvCxnSpPr>
          <p:cNvPr id="265" name="Connecter to DAT info">
            <a:extLst>
              <a:ext uri="{FF2B5EF4-FFF2-40B4-BE49-F238E27FC236}">
                <a16:creationId xmlns:a16="http://schemas.microsoft.com/office/drawing/2014/main" id="{FF824B26-1985-4C5C-92C9-A5910919F613}"/>
              </a:ext>
            </a:extLst>
          </p:cNvPr>
          <p:cNvCxnSpPr>
            <a:cxnSpLocks/>
            <a:stCxn id="255" idx="2"/>
            <a:endCxn id="269" idx="0"/>
          </p:cNvCxnSpPr>
          <p:nvPr/>
        </p:nvCxnSpPr>
        <p:spPr>
          <a:xfrm rot="5400000">
            <a:off x="5560096" y="2459473"/>
            <a:ext cx="953950" cy="337839"/>
          </a:xfrm>
          <a:prstGeom prst="bentConnector3">
            <a:avLst>
              <a:gd name="adj1" fmla="val 11658"/>
            </a:avLst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14" name="DAT info">
            <a:extLst>
              <a:ext uri="{FF2B5EF4-FFF2-40B4-BE49-F238E27FC236}">
                <a16:creationId xmlns:a16="http://schemas.microsoft.com/office/drawing/2014/main" id="{334F90EE-973C-47E0-9CD1-D77A69359080}"/>
              </a:ext>
            </a:extLst>
          </p:cNvPr>
          <p:cNvGrpSpPr/>
          <p:nvPr/>
        </p:nvGrpSpPr>
        <p:grpSpPr>
          <a:xfrm>
            <a:off x="4809044" y="3105367"/>
            <a:ext cx="2118213" cy="2158152"/>
            <a:chOff x="5018047" y="1983464"/>
            <a:chExt cx="2118213" cy="2158152"/>
          </a:xfrm>
        </p:grpSpPr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D9A1C7D5-2D4F-4C93-A96C-E3F4A934EC54}"/>
                </a:ext>
              </a:extLst>
            </p:cNvPr>
            <p:cNvSpPr/>
            <p:nvPr/>
          </p:nvSpPr>
          <p:spPr>
            <a:xfrm>
              <a:off x="5018047" y="1983464"/>
              <a:ext cx="2118213" cy="21581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Direct antibody test (</a:t>
              </a:r>
              <a:r>
                <a:rPr lang="en-US" sz="1200" b="1" dirty="0">
                  <a:solidFill>
                    <a:schemeClr val="tx1"/>
                  </a:solidFill>
                </a:rPr>
                <a:t>DAT </a:t>
              </a:r>
              <a:r>
                <a:rPr lang="en-US" sz="1200" dirty="0">
                  <a:solidFill>
                    <a:schemeClr val="tx1"/>
                  </a:solidFill>
                </a:rPr>
                <a:t>or </a:t>
              </a:r>
              <a:r>
                <a:rPr lang="en-US" sz="1200" dirty="0" err="1">
                  <a:solidFill>
                    <a:schemeClr val="tx1"/>
                  </a:solidFill>
                </a:rPr>
                <a:t>Coomb’s</a:t>
              </a:r>
              <a:r>
                <a:rPr lang="en-US" sz="1200" dirty="0">
                  <a:solidFill>
                    <a:schemeClr val="tx1"/>
                  </a:solidFill>
                </a:rPr>
                <a:t> test) detects presence of antibodies against RBCs. Presence of antibodies suggests an autoimmune hemolytic anemia (AIHA). </a:t>
              </a:r>
            </a:p>
          </p:txBody>
        </p:sp>
        <p:grpSp>
          <p:nvGrpSpPr>
            <p:cNvPr id="411" name="Group 410">
              <a:extLst>
                <a:ext uri="{FF2B5EF4-FFF2-40B4-BE49-F238E27FC236}">
                  <a16:creationId xmlns:a16="http://schemas.microsoft.com/office/drawing/2014/main" id="{26F5BB02-7968-472B-967E-669BA37967A4}"/>
                </a:ext>
              </a:extLst>
            </p:cNvPr>
            <p:cNvGrpSpPr/>
            <p:nvPr/>
          </p:nvGrpSpPr>
          <p:grpSpPr>
            <a:xfrm>
              <a:off x="5079136" y="3171644"/>
              <a:ext cx="2033728" cy="821144"/>
              <a:chOff x="5118489" y="3235280"/>
              <a:chExt cx="1976031" cy="821144"/>
            </a:xfrm>
          </p:grpSpPr>
          <p:grpSp>
            <p:nvGrpSpPr>
              <p:cNvPr id="327" name="RBC with antibodies">
                <a:extLst>
                  <a:ext uri="{FF2B5EF4-FFF2-40B4-BE49-F238E27FC236}">
                    <a16:creationId xmlns:a16="http://schemas.microsoft.com/office/drawing/2014/main" id="{639D002D-449B-4A1C-8E00-721331F7D71C}"/>
                  </a:ext>
                </a:extLst>
              </p:cNvPr>
              <p:cNvGrpSpPr/>
              <p:nvPr/>
            </p:nvGrpSpPr>
            <p:grpSpPr>
              <a:xfrm>
                <a:off x="5118489" y="3309368"/>
                <a:ext cx="606208" cy="675216"/>
                <a:chOff x="5190924" y="3302540"/>
                <a:chExt cx="769661" cy="793177"/>
              </a:xfrm>
            </p:grpSpPr>
            <p:grpSp>
              <p:nvGrpSpPr>
                <p:cNvPr id="286" name="Blood">
                  <a:extLst>
                    <a:ext uri="{FF2B5EF4-FFF2-40B4-BE49-F238E27FC236}">
                      <a16:creationId xmlns:a16="http://schemas.microsoft.com/office/drawing/2014/main" id="{827FEDD3-1825-4422-8EF0-7E134A6C08D1}"/>
                    </a:ext>
                  </a:extLst>
                </p:cNvPr>
                <p:cNvGrpSpPr/>
                <p:nvPr/>
              </p:nvGrpSpPr>
              <p:grpSpPr>
                <a:xfrm>
                  <a:off x="5302250" y="3415510"/>
                  <a:ext cx="553720" cy="581866"/>
                  <a:chOff x="5302250" y="3415510"/>
                  <a:chExt cx="553720" cy="581866"/>
                </a:xfrm>
              </p:grpSpPr>
              <p:grpSp>
                <p:nvGrpSpPr>
                  <p:cNvPr id="278" name="RBC">
                    <a:extLst>
                      <a:ext uri="{FF2B5EF4-FFF2-40B4-BE49-F238E27FC236}">
                        <a16:creationId xmlns:a16="http://schemas.microsoft.com/office/drawing/2014/main" id="{EF61149D-1324-489C-94CF-DDCE66A7B24C}"/>
                      </a:ext>
                    </a:extLst>
                  </p:cNvPr>
                  <p:cNvGrpSpPr/>
                  <p:nvPr/>
                </p:nvGrpSpPr>
                <p:grpSpPr>
                  <a:xfrm>
                    <a:off x="5302250" y="3415510"/>
                    <a:ext cx="262467" cy="252674"/>
                    <a:chOff x="5264150" y="3415509"/>
                    <a:chExt cx="387350" cy="369333"/>
                  </a:xfrm>
                </p:grpSpPr>
                <p:sp>
                  <p:nvSpPr>
                    <p:cNvPr id="276" name="Oval 275">
                      <a:extLst>
                        <a:ext uri="{FF2B5EF4-FFF2-40B4-BE49-F238E27FC236}">
                          <a16:creationId xmlns:a16="http://schemas.microsoft.com/office/drawing/2014/main" id="{6DC9B3C0-EEB9-41FD-84FA-788963DA32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64150" y="3415509"/>
                      <a:ext cx="387350" cy="369333"/>
                    </a:xfrm>
                    <a:prstGeom prst="ellipse">
                      <a:avLst/>
                    </a:prstGeom>
                    <a:solidFill>
                      <a:srgbClr val="E92409"/>
                    </a:solidFill>
                    <a:ln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77" name="Oval 276">
                      <a:extLst>
                        <a:ext uri="{FF2B5EF4-FFF2-40B4-BE49-F238E27FC236}">
                          <a16:creationId xmlns:a16="http://schemas.microsoft.com/office/drawing/2014/main" id="{6901D5ED-FFF1-4172-BB3D-F136A706C9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12568" y="3450119"/>
                      <a:ext cx="290512" cy="300111"/>
                    </a:xfrm>
                    <a:prstGeom prst="ellipse">
                      <a:avLst/>
                    </a:prstGeom>
                    <a:solidFill>
                      <a:srgbClr val="F9705D"/>
                    </a:solidFill>
                    <a:ln>
                      <a:noFill/>
                    </a:ln>
                    <a:effectLst>
                      <a:softEdge rad="31750"/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80" name="RBC">
                    <a:extLst>
                      <a:ext uri="{FF2B5EF4-FFF2-40B4-BE49-F238E27FC236}">
                        <a16:creationId xmlns:a16="http://schemas.microsoft.com/office/drawing/2014/main" id="{7BF34E1C-BE54-4F02-8C47-99DA0D00A21A}"/>
                      </a:ext>
                    </a:extLst>
                  </p:cNvPr>
                  <p:cNvGrpSpPr/>
                  <p:nvPr/>
                </p:nvGrpSpPr>
                <p:grpSpPr>
                  <a:xfrm>
                    <a:off x="5593503" y="3550083"/>
                    <a:ext cx="262467" cy="252674"/>
                    <a:chOff x="5264150" y="3415509"/>
                    <a:chExt cx="387350" cy="369333"/>
                  </a:xfrm>
                </p:grpSpPr>
                <p:sp>
                  <p:nvSpPr>
                    <p:cNvPr id="281" name="Oval 280">
                      <a:extLst>
                        <a:ext uri="{FF2B5EF4-FFF2-40B4-BE49-F238E27FC236}">
                          <a16:creationId xmlns:a16="http://schemas.microsoft.com/office/drawing/2014/main" id="{0897E3F1-80E6-46B8-9DC2-F45A0C0B97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64150" y="3415509"/>
                      <a:ext cx="387350" cy="369333"/>
                    </a:xfrm>
                    <a:prstGeom prst="ellipse">
                      <a:avLst/>
                    </a:prstGeom>
                    <a:solidFill>
                      <a:srgbClr val="E92409"/>
                    </a:solidFill>
                    <a:ln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82" name="Oval 281">
                      <a:extLst>
                        <a:ext uri="{FF2B5EF4-FFF2-40B4-BE49-F238E27FC236}">
                          <a16:creationId xmlns:a16="http://schemas.microsoft.com/office/drawing/2014/main" id="{BFEE2700-B435-478F-977C-56619D212D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12568" y="3450119"/>
                      <a:ext cx="290512" cy="300111"/>
                    </a:xfrm>
                    <a:prstGeom prst="ellipse">
                      <a:avLst/>
                    </a:prstGeom>
                    <a:solidFill>
                      <a:srgbClr val="F9705D"/>
                    </a:solidFill>
                    <a:ln>
                      <a:noFill/>
                    </a:ln>
                    <a:effectLst>
                      <a:softEdge rad="31750"/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83" name="RBC">
                    <a:extLst>
                      <a:ext uri="{FF2B5EF4-FFF2-40B4-BE49-F238E27FC236}">
                        <a16:creationId xmlns:a16="http://schemas.microsoft.com/office/drawing/2014/main" id="{0B6D77B6-C160-4F10-9A58-CF224186BAFE}"/>
                      </a:ext>
                    </a:extLst>
                  </p:cNvPr>
                  <p:cNvGrpSpPr/>
                  <p:nvPr/>
                </p:nvGrpSpPr>
                <p:grpSpPr>
                  <a:xfrm>
                    <a:off x="5363844" y="3744702"/>
                    <a:ext cx="262467" cy="252674"/>
                    <a:chOff x="5264150" y="3415509"/>
                    <a:chExt cx="387350" cy="369333"/>
                  </a:xfrm>
                </p:grpSpPr>
                <p:sp>
                  <p:nvSpPr>
                    <p:cNvPr id="284" name="Oval 283">
                      <a:extLst>
                        <a:ext uri="{FF2B5EF4-FFF2-40B4-BE49-F238E27FC236}">
                          <a16:creationId xmlns:a16="http://schemas.microsoft.com/office/drawing/2014/main" id="{732F55CF-DD0A-4186-A83D-1825337B29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64150" y="3415509"/>
                      <a:ext cx="387350" cy="369333"/>
                    </a:xfrm>
                    <a:prstGeom prst="ellipse">
                      <a:avLst/>
                    </a:prstGeom>
                    <a:solidFill>
                      <a:srgbClr val="E92409"/>
                    </a:solidFill>
                    <a:ln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85" name="Oval 284">
                      <a:extLst>
                        <a:ext uri="{FF2B5EF4-FFF2-40B4-BE49-F238E27FC236}">
                          <a16:creationId xmlns:a16="http://schemas.microsoft.com/office/drawing/2014/main" id="{D1DC102C-AC57-4EE5-800A-03D31FB557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12568" y="3450119"/>
                      <a:ext cx="290512" cy="300111"/>
                    </a:xfrm>
                    <a:prstGeom prst="ellipse">
                      <a:avLst/>
                    </a:prstGeom>
                    <a:solidFill>
                      <a:srgbClr val="F9705D"/>
                    </a:solidFill>
                    <a:ln>
                      <a:noFill/>
                    </a:ln>
                    <a:effectLst>
                      <a:softEdge rad="31750"/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290" name="Antibody">
                  <a:extLst>
                    <a:ext uri="{FF2B5EF4-FFF2-40B4-BE49-F238E27FC236}">
                      <a16:creationId xmlns:a16="http://schemas.microsoft.com/office/drawing/2014/main" id="{1D8EBEDB-8B77-4F4F-909D-CDFF4B264DD1}"/>
                    </a:ext>
                  </a:extLst>
                </p:cNvPr>
                <p:cNvGrpSpPr/>
                <p:nvPr/>
              </p:nvGrpSpPr>
              <p:grpSpPr>
                <a:xfrm>
                  <a:off x="5380837" y="3302540"/>
                  <a:ext cx="105292" cy="126460"/>
                  <a:chOff x="5477393" y="3142567"/>
                  <a:chExt cx="192214" cy="288012"/>
                </a:xfrm>
              </p:grpSpPr>
              <p:sp>
                <p:nvSpPr>
                  <p:cNvPr id="287" name="Rectangle 286">
                    <a:extLst>
                      <a:ext uri="{FF2B5EF4-FFF2-40B4-BE49-F238E27FC236}">
                        <a16:creationId xmlns:a16="http://schemas.microsoft.com/office/drawing/2014/main" id="{733EFFCD-3B25-4D98-AF3C-07DECA69E4C2}"/>
                      </a:ext>
                    </a:extLst>
                  </p:cNvPr>
                  <p:cNvSpPr/>
                  <p:nvPr/>
                </p:nvSpPr>
                <p:spPr>
                  <a:xfrm rot="18686004">
                    <a:off x="5425018" y="3325286"/>
                    <a:ext cx="157668" cy="52917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8" name="Rectangle 287">
                    <a:extLst>
                      <a:ext uri="{FF2B5EF4-FFF2-40B4-BE49-F238E27FC236}">
                        <a16:creationId xmlns:a16="http://schemas.microsoft.com/office/drawing/2014/main" id="{04B87979-0A51-442D-A736-F683F50BBD77}"/>
                      </a:ext>
                    </a:extLst>
                  </p:cNvPr>
                  <p:cNvSpPr/>
                  <p:nvPr/>
                </p:nvSpPr>
                <p:spPr>
                  <a:xfrm rot="18707174">
                    <a:off x="5564717" y="3264295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9" name="Rectangle 288">
                    <a:extLst>
                      <a:ext uri="{FF2B5EF4-FFF2-40B4-BE49-F238E27FC236}">
                        <a16:creationId xmlns:a16="http://schemas.microsoft.com/office/drawing/2014/main" id="{BF3A7D28-A80D-4759-AA1E-0A1C47318D69}"/>
                      </a:ext>
                    </a:extLst>
                  </p:cNvPr>
                  <p:cNvSpPr/>
                  <p:nvPr/>
                </p:nvSpPr>
                <p:spPr>
                  <a:xfrm>
                    <a:off x="5518442" y="3142567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1" name="Antibody">
                  <a:extLst>
                    <a:ext uri="{FF2B5EF4-FFF2-40B4-BE49-F238E27FC236}">
                      <a16:creationId xmlns:a16="http://schemas.microsoft.com/office/drawing/2014/main" id="{0A2E47B4-40BC-42B4-87A5-BA6F547BB90E}"/>
                    </a:ext>
                  </a:extLst>
                </p:cNvPr>
                <p:cNvGrpSpPr/>
                <p:nvPr/>
              </p:nvGrpSpPr>
              <p:grpSpPr>
                <a:xfrm rot="4703397">
                  <a:off x="5564096" y="3441605"/>
                  <a:ext cx="105292" cy="126460"/>
                  <a:chOff x="5477393" y="3142567"/>
                  <a:chExt cx="192214" cy="288012"/>
                </a:xfrm>
              </p:grpSpPr>
              <p:sp>
                <p:nvSpPr>
                  <p:cNvPr id="292" name="Rectangle 291">
                    <a:extLst>
                      <a:ext uri="{FF2B5EF4-FFF2-40B4-BE49-F238E27FC236}">
                        <a16:creationId xmlns:a16="http://schemas.microsoft.com/office/drawing/2014/main" id="{0363DE9B-0744-4514-B218-119A85975E5C}"/>
                      </a:ext>
                    </a:extLst>
                  </p:cNvPr>
                  <p:cNvSpPr/>
                  <p:nvPr/>
                </p:nvSpPr>
                <p:spPr>
                  <a:xfrm rot="18686004">
                    <a:off x="5425018" y="3325286"/>
                    <a:ext cx="157668" cy="52917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3" name="Rectangle 292">
                    <a:extLst>
                      <a:ext uri="{FF2B5EF4-FFF2-40B4-BE49-F238E27FC236}">
                        <a16:creationId xmlns:a16="http://schemas.microsoft.com/office/drawing/2014/main" id="{3B24D15E-784C-4CB3-98E1-B3FDB80371EF}"/>
                      </a:ext>
                    </a:extLst>
                  </p:cNvPr>
                  <p:cNvSpPr/>
                  <p:nvPr/>
                </p:nvSpPr>
                <p:spPr>
                  <a:xfrm rot="18707174">
                    <a:off x="5564717" y="3264295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4" name="Rectangle 293">
                    <a:extLst>
                      <a:ext uri="{FF2B5EF4-FFF2-40B4-BE49-F238E27FC236}">
                        <a16:creationId xmlns:a16="http://schemas.microsoft.com/office/drawing/2014/main" id="{A011D04B-C293-48B4-8C00-F1E5B6FBB363}"/>
                      </a:ext>
                    </a:extLst>
                  </p:cNvPr>
                  <p:cNvSpPr/>
                  <p:nvPr/>
                </p:nvSpPr>
                <p:spPr>
                  <a:xfrm>
                    <a:off x="5518442" y="3142567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5" name="Antibody">
                  <a:extLst>
                    <a:ext uri="{FF2B5EF4-FFF2-40B4-BE49-F238E27FC236}">
                      <a16:creationId xmlns:a16="http://schemas.microsoft.com/office/drawing/2014/main" id="{C91B6EA1-E119-4722-9431-2D430EA625C2}"/>
                    </a:ext>
                  </a:extLst>
                </p:cNvPr>
                <p:cNvGrpSpPr/>
                <p:nvPr/>
              </p:nvGrpSpPr>
              <p:grpSpPr>
                <a:xfrm rot="2730404">
                  <a:off x="5803191" y="3487818"/>
                  <a:ext cx="105292" cy="126460"/>
                  <a:chOff x="5477393" y="3142567"/>
                  <a:chExt cx="192214" cy="288012"/>
                </a:xfrm>
              </p:grpSpPr>
              <p:sp>
                <p:nvSpPr>
                  <p:cNvPr id="296" name="Rectangle 295">
                    <a:extLst>
                      <a:ext uri="{FF2B5EF4-FFF2-40B4-BE49-F238E27FC236}">
                        <a16:creationId xmlns:a16="http://schemas.microsoft.com/office/drawing/2014/main" id="{65E66CDE-C3CA-45B8-AF8E-DF6EF82FE902}"/>
                      </a:ext>
                    </a:extLst>
                  </p:cNvPr>
                  <p:cNvSpPr/>
                  <p:nvPr/>
                </p:nvSpPr>
                <p:spPr>
                  <a:xfrm rot="18686004">
                    <a:off x="5425018" y="3325286"/>
                    <a:ext cx="157668" cy="52917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7" name="Rectangle 296">
                    <a:extLst>
                      <a:ext uri="{FF2B5EF4-FFF2-40B4-BE49-F238E27FC236}">
                        <a16:creationId xmlns:a16="http://schemas.microsoft.com/office/drawing/2014/main" id="{8C2C00F7-34E4-4871-856A-1305C7E0ED40}"/>
                      </a:ext>
                    </a:extLst>
                  </p:cNvPr>
                  <p:cNvSpPr/>
                  <p:nvPr/>
                </p:nvSpPr>
                <p:spPr>
                  <a:xfrm rot="18707174">
                    <a:off x="5564717" y="3264295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8" name="Rectangle 297">
                    <a:extLst>
                      <a:ext uri="{FF2B5EF4-FFF2-40B4-BE49-F238E27FC236}">
                        <a16:creationId xmlns:a16="http://schemas.microsoft.com/office/drawing/2014/main" id="{BCE537AD-B222-4C57-A724-DA589611E391}"/>
                      </a:ext>
                    </a:extLst>
                  </p:cNvPr>
                  <p:cNvSpPr/>
                  <p:nvPr/>
                </p:nvSpPr>
                <p:spPr>
                  <a:xfrm>
                    <a:off x="5518442" y="3142567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9" name="Antibody">
                  <a:extLst>
                    <a:ext uri="{FF2B5EF4-FFF2-40B4-BE49-F238E27FC236}">
                      <a16:creationId xmlns:a16="http://schemas.microsoft.com/office/drawing/2014/main" id="{48385970-32CE-49A3-935C-1123E90D7606}"/>
                    </a:ext>
                  </a:extLst>
                </p:cNvPr>
                <p:cNvGrpSpPr/>
                <p:nvPr/>
              </p:nvGrpSpPr>
              <p:grpSpPr>
                <a:xfrm rot="6518855">
                  <a:off x="5844709" y="3689391"/>
                  <a:ext cx="105292" cy="126460"/>
                  <a:chOff x="5477393" y="3142567"/>
                  <a:chExt cx="192214" cy="288012"/>
                </a:xfrm>
              </p:grpSpPr>
              <p:sp>
                <p:nvSpPr>
                  <p:cNvPr id="300" name="Rectangle 299">
                    <a:extLst>
                      <a:ext uri="{FF2B5EF4-FFF2-40B4-BE49-F238E27FC236}">
                        <a16:creationId xmlns:a16="http://schemas.microsoft.com/office/drawing/2014/main" id="{2752653C-72A3-42D3-AB9A-308B24378176}"/>
                      </a:ext>
                    </a:extLst>
                  </p:cNvPr>
                  <p:cNvSpPr/>
                  <p:nvPr/>
                </p:nvSpPr>
                <p:spPr>
                  <a:xfrm rot="18686004">
                    <a:off x="5425018" y="3325286"/>
                    <a:ext cx="157668" cy="52917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1" name="Rectangle 300">
                    <a:extLst>
                      <a:ext uri="{FF2B5EF4-FFF2-40B4-BE49-F238E27FC236}">
                        <a16:creationId xmlns:a16="http://schemas.microsoft.com/office/drawing/2014/main" id="{39ABB4A9-45AB-445D-AEBC-72F7D8331EE9}"/>
                      </a:ext>
                    </a:extLst>
                  </p:cNvPr>
                  <p:cNvSpPr/>
                  <p:nvPr/>
                </p:nvSpPr>
                <p:spPr>
                  <a:xfrm rot="18707174">
                    <a:off x="5564717" y="3264295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2" name="Rectangle 301">
                    <a:extLst>
                      <a:ext uri="{FF2B5EF4-FFF2-40B4-BE49-F238E27FC236}">
                        <a16:creationId xmlns:a16="http://schemas.microsoft.com/office/drawing/2014/main" id="{986F467A-2515-44E3-8EFB-7DE3311CB0CE}"/>
                      </a:ext>
                    </a:extLst>
                  </p:cNvPr>
                  <p:cNvSpPr/>
                  <p:nvPr/>
                </p:nvSpPr>
                <p:spPr>
                  <a:xfrm>
                    <a:off x="5518442" y="3142567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03" name="Antibody">
                  <a:extLst>
                    <a:ext uri="{FF2B5EF4-FFF2-40B4-BE49-F238E27FC236}">
                      <a16:creationId xmlns:a16="http://schemas.microsoft.com/office/drawing/2014/main" id="{DDB82415-CC08-4C64-B483-309347724EA4}"/>
                    </a:ext>
                  </a:extLst>
                </p:cNvPr>
                <p:cNvGrpSpPr/>
                <p:nvPr/>
              </p:nvGrpSpPr>
              <p:grpSpPr>
                <a:xfrm rot="6518855">
                  <a:off x="5616693" y="3882047"/>
                  <a:ext cx="105292" cy="126460"/>
                  <a:chOff x="5477393" y="3142567"/>
                  <a:chExt cx="192214" cy="288012"/>
                </a:xfrm>
              </p:grpSpPr>
              <p:sp>
                <p:nvSpPr>
                  <p:cNvPr id="304" name="Rectangle 303">
                    <a:extLst>
                      <a:ext uri="{FF2B5EF4-FFF2-40B4-BE49-F238E27FC236}">
                        <a16:creationId xmlns:a16="http://schemas.microsoft.com/office/drawing/2014/main" id="{08EF9B0E-DA7F-4F72-8E9A-EA492D189A3D}"/>
                      </a:ext>
                    </a:extLst>
                  </p:cNvPr>
                  <p:cNvSpPr/>
                  <p:nvPr/>
                </p:nvSpPr>
                <p:spPr>
                  <a:xfrm rot="18686004">
                    <a:off x="5425018" y="3325286"/>
                    <a:ext cx="157668" cy="52917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5" name="Rectangle 304">
                    <a:extLst>
                      <a:ext uri="{FF2B5EF4-FFF2-40B4-BE49-F238E27FC236}">
                        <a16:creationId xmlns:a16="http://schemas.microsoft.com/office/drawing/2014/main" id="{1A4951B4-F3FD-4909-A4EF-0521EE388947}"/>
                      </a:ext>
                    </a:extLst>
                  </p:cNvPr>
                  <p:cNvSpPr/>
                  <p:nvPr/>
                </p:nvSpPr>
                <p:spPr>
                  <a:xfrm rot="18707174">
                    <a:off x="5564717" y="3264295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6" name="Rectangle 305">
                    <a:extLst>
                      <a:ext uri="{FF2B5EF4-FFF2-40B4-BE49-F238E27FC236}">
                        <a16:creationId xmlns:a16="http://schemas.microsoft.com/office/drawing/2014/main" id="{A8403F76-9046-47D0-95C9-44C2D8E9C9A2}"/>
                      </a:ext>
                    </a:extLst>
                  </p:cNvPr>
                  <p:cNvSpPr/>
                  <p:nvPr/>
                </p:nvSpPr>
                <p:spPr>
                  <a:xfrm>
                    <a:off x="5518442" y="3142567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07" name="Antibody">
                  <a:extLst>
                    <a:ext uri="{FF2B5EF4-FFF2-40B4-BE49-F238E27FC236}">
                      <a16:creationId xmlns:a16="http://schemas.microsoft.com/office/drawing/2014/main" id="{2A31C2A6-662F-4BBF-B14D-080BFCBBAEFB}"/>
                    </a:ext>
                  </a:extLst>
                </p:cNvPr>
                <p:cNvGrpSpPr/>
                <p:nvPr/>
              </p:nvGrpSpPr>
              <p:grpSpPr>
                <a:xfrm rot="12552870">
                  <a:off x="5263193" y="3622867"/>
                  <a:ext cx="105292" cy="126460"/>
                  <a:chOff x="5477393" y="3142567"/>
                  <a:chExt cx="192214" cy="288012"/>
                </a:xfrm>
              </p:grpSpPr>
              <p:sp>
                <p:nvSpPr>
                  <p:cNvPr id="308" name="Rectangle 307">
                    <a:extLst>
                      <a:ext uri="{FF2B5EF4-FFF2-40B4-BE49-F238E27FC236}">
                        <a16:creationId xmlns:a16="http://schemas.microsoft.com/office/drawing/2014/main" id="{B7417948-B9C6-49C8-80D6-61593C6F3A60}"/>
                      </a:ext>
                    </a:extLst>
                  </p:cNvPr>
                  <p:cNvSpPr/>
                  <p:nvPr/>
                </p:nvSpPr>
                <p:spPr>
                  <a:xfrm rot="18686004">
                    <a:off x="5425018" y="3325286"/>
                    <a:ext cx="157668" cy="52917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9" name="Rectangle 308">
                    <a:extLst>
                      <a:ext uri="{FF2B5EF4-FFF2-40B4-BE49-F238E27FC236}">
                        <a16:creationId xmlns:a16="http://schemas.microsoft.com/office/drawing/2014/main" id="{DF6EEE45-2922-40D1-AC0A-05EB524226AA}"/>
                      </a:ext>
                    </a:extLst>
                  </p:cNvPr>
                  <p:cNvSpPr/>
                  <p:nvPr/>
                </p:nvSpPr>
                <p:spPr>
                  <a:xfrm rot="18707174">
                    <a:off x="5564717" y="3264295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0" name="Rectangle 309">
                    <a:extLst>
                      <a:ext uri="{FF2B5EF4-FFF2-40B4-BE49-F238E27FC236}">
                        <a16:creationId xmlns:a16="http://schemas.microsoft.com/office/drawing/2014/main" id="{951FB5B8-D836-4296-BE56-211544B54C8C}"/>
                      </a:ext>
                    </a:extLst>
                  </p:cNvPr>
                  <p:cNvSpPr/>
                  <p:nvPr/>
                </p:nvSpPr>
                <p:spPr>
                  <a:xfrm>
                    <a:off x="5518442" y="3142567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1" name="Antibody">
                  <a:extLst>
                    <a:ext uri="{FF2B5EF4-FFF2-40B4-BE49-F238E27FC236}">
                      <a16:creationId xmlns:a16="http://schemas.microsoft.com/office/drawing/2014/main" id="{8F2CBF09-5083-467C-BF22-F05D39CE40CA}"/>
                    </a:ext>
                  </a:extLst>
                </p:cNvPr>
                <p:cNvGrpSpPr/>
                <p:nvPr/>
              </p:nvGrpSpPr>
              <p:grpSpPr>
                <a:xfrm rot="17066286">
                  <a:off x="5201508" y="3416434"/>
                  <a:ext cx="105292" cy="126460"/>
                  <a:chOff x="5477393" y="3142567"/>
                  <a:chExt cx="192214" cy="288012"/>
                </a:xfrm>
              </p:grpSpPr>
              <p:sp>
                <p:nvSpPr>
                  <p:cNvPr id="312" name="Rectangle 311">
                    <a:extLst>
                      <a:ext uri="{FF2B5EF4-FFF2-40B4-BE49-F238E27FC236}">
                        <a16:creationId xmlns:a16="http://schemas.microsoft.com/office/drawing/2014/main" id="{9566C9E6-D578-40FE-B1FD-BDEAFD89CDC2}"/>
                      </a:ext>
                    </a:extLst>
                  </p:cNvPr>
                  <p:cNvSpPr/>
                  <p:nvPr/>
                </p:nvSpPr>
                <p:spPr>
                  <a:xfrm rot="18686004">
                    <a:off x="5425018" y="3325286"/>
                    <a:ext cx="157668" cy="52917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3" name="Rectangle 312">
                    <a:extLst>
                      <a:ext uri="{FF2B5EF4-FFF2-40B4-BE49-F238E27FC236}">
                        <a16:creationId xmlns:a16="http://schemas.microsoft.com/office/drawing/2014/main" id="{EC2E9631-31D1-463D-9C8F-38BD8E84D3C1}"/>
                      </a:ext>
                    </a:extLst>
                  </p:cNvPr>
                  <p:cNvSpPr/>
                  <p:nvPr/>
                </p:nvSpPr>
                <p:spPr>
                  <a:xfrm rot="18707174">
                    <a:off x="5564717" y="3264295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4" name="Rectangle 313">
                    <a:extLst>
                      <a:ext uri="{FF2B5EF4-FFF2-40B4-BE49-F238E27FC236}">
                        <a16:creationId xmlns:a16="http://schemas.microsoft.com/office/drawing/2014/main" id="{601FCABF-7C9D-43BA-8831-4749AFBC03C3}"/>
                      </a:ext>
                    </a:extLst>
                  </p:cNvPr>
                  <p:cNvSpPr/>
                  <p:nvPr/>
                </p:nvSpPr>
                <p:spPr>
                  <a:xfrm>
                    <a:off x="5518442" y="3142567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5" name="Antibody">
                  <a:extLst>
                    <a:ext uri="{FF2B5EF4-FFF2-40B4-BE49-F238E27FC236}">
                      <a16:creationId xmlns:a16="http://schemas.microsoft.com/office/drawing/2014/main" id="{69B1AC54-D6A2-40E0-A69C-BBEE291F005F}"/>
                    </a:ext>
                  </a:extLst>
                </p:cNvPr>
                <p:cNvGrpSpPr/>
                <p:nvPr/>
              </p:nvGrpSpPr>
              <p:grpSpPr>
                <a:xfrm rot="17066286">
                  <a:off x="5258589" y="3758668"/>
                  <a:ext cx="105292" cy="126460"/>
                  <a:chOff x="5477393" y="3142567"/>
                  <a:chExt cx="192214" cy="288012"/>
                </a:xfrm>
              </p:grpSpPr>
              <p:sp>
                <p:nvSpPr>
                  <p:cNvPr id="316" name="Rectangle 315">
                    <a:extLst>
                      <a:ext uri="{FF2B5EF4-FFF2-40B4-BE49-F238E27FC236}">
                        <a16:creationId xmlns:a16="http://schemas.microsoft.com/office/drawing/2014/main" id="{4099B233-F734-4E5D-A115-E3DAFC3E56F1}"/>
                      </a:ext>
                    </a:extLst>
                  </p:cNvPr>
                  <p:cNvSpPr/>
                  <p:nvPr/>
                </p:nvSpPr>
                <p:spPr>
                  <a:xfrm rot="18686004">
                    <a:off x="5425018" y="3325286"/>
                    <a:ext cx="157668" cy="52917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7" name="Rectangle 316">
                    <a:extLst>
                      <a:ext uri="{FF2B5EF4-FFF2-40B4-BE49-F238E27FC236}">
                        <a16:creationId xmlns:a16="http://schemas.microsoft.com/office/drawing/2014/main" id="{30102814-78DB-468A-9C2F-1757E2320A0F}"/>
                      </a:ext>
                    </a:extLst>
                  </p:cNvPr>
                  <p:cNvSpPr/>
                  <p:nvPr/>
                </p:nvSpPr>
                <p:spPr>
                  <a:xfrm rot="18707174">
                    <a:off x="5564717" y="3264295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8" name="Rectangle 317">
                    <a:extLst>
                      <a:ext uri="{FF2B5EF4-FFF2-40B4-BE49-F238E27FC236}">
                        <a16:creationId xmlns:a16="http://schemas.microsoft.com/office/drawing/2014/main" id="{F2862471-3FF2-4F85-947F-C60DF09E2B1F}"/>
                      </a:ext>
                    </a:extLst>
                  </p:cNvPr>
                  <p:cNvSpPr/>
                  <p:nvPr/>
                </p:nvSpPr>
                <p:spPr>
                  <a:xfrm>
                    <a:off x="5518442" y="3142567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9" name="Antibody">
                  <a:extLst>
                    <a:ext uri="{FF2B5EF4-FFF2-40B4-BE49-F238E27FC236}">
                      <a16:creationId xmlns:a16="http://schemas.microsoft.com/office/drawing/2014/main" id="{9D9BFF35-A259-4FAF-BBE9-60D741901C39}"/>
                    </a:ext>
                  </a:extLst>
                </p:cNvPr>
                <p:cNvGrpSpPr/>
                <p:nvPr/>
              </p:nvGrpSpPr>
              <p:grpSpPr>
                <a:xfrm rot="12460800">
                  <a:off x="5352263" y="3969257"/>
                  <a:ext cx="105292" cy="126460"/>
                  <a:chOff x="5477393" y="3142567"/>
                  <a:chExt cx="192214" cy="288012"/>
                </a:xfrm>
              </p:grpSpPr>
              <p:sp>
                <p:nvSpPr>
                  <p:cNvPr id="320" name="Rectangle 319">
                    <a:extLst>
                      <a:ext uri="{FF2B5EF4-FFF2-40B4-BE49-F238E27FC236}">
                        <a16:creationId xmlns:a16="http://schemas.microsoft.com/office/drawing/2014/main" id="{050E46D5-C106-4D01-8880-CFB977A13E51}"/>
                      </a:ext>
                    </a:extLst>
                  </p:cNvPr>
                  <p:cNvSpPr/>
                  <p:nvPr/>
                </p:nvSpPr>
                <p:spPr>
                  <a:xfrm rot="18686004">
                    <a:off x="5425018" y="3325286"/>
                    <a:ext cx="157668" cy="52917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1" name="Rectangle 320">
                    <a:extLst>
                      <a:ext uri="{FF2B5EF4-FFF2-40B4-BE49-F238E27FC236}">
                        <a16:creationId xmlns:a16="http://schemas.microsoft.com/office/drawing/2014/main" id="{F4317A6B-86AC-48ED-885C-59143FB203AB}"/>
                      </a:ext>
                    </a:extLst>
                  </p:cNvPr>
                  <p:cNvSpPr/>
                  <p:nvPr/>
                </p:nvSpPr>
                <p:spPr>
                  <a:xfrm rot="18707174">
                    <a:off x="5564717" y="3264295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2" name="Rectangle 321">
                    <a:extLst>
                      <a:ext uri="{FF2B5EF4-FFF2-40B4-BE49-F238E27FC236}">
                        <a16:creationId xmlns:a16="http://schemas.microsoft.com/office/drawing/2014/main" id="{2DE43BC3-85B5-42F5-8EA6-8B2EA21BBF7B}"/>
                      </a:ext>
                    </a:extLst>
                  </p:cNvPr>
                  <p:cNvSpPr/>
                  <p:nvPr/>
                </p:nvSpPr>
                <p:spPr>
                  <a:xfrm>
                    <a:off x="5518442" y="3142567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328" name="Arrow: Down 327">
                <a:extLst>
                  <a:ext uri="{FF2B5EF4-FFF2-40B4-BE49-F238E27FC236}">
                    <a16:creationId xmlns:a16="http://schemas.microsoft.com/office/drawing/2014/main" id="{BA045BBA-AADC-4FA9-A2B5-6F0F84ED8130}"/>
                  </a:ext>
                </a:extLst>
              </p:cNvPr>
              <p:cNvSpPr/>
              <p:nvPr/>
            </p:nvSpPr>
            <p:spPr>
              <a:xfrm rot="16200000">
                <a:off x="6077722" y="3238479"/>
                <a:ext cx="125859" cy="758164"/>
              </a:xfrm>
              <a:prstGeom prst="downArrow">
                <a:avLst>
                  <a:gd name="adj1" fmla="val 50000"/>
                  <a:gd name="adj2" fmla="val 71443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2" name="Group 331">
                <a:extLst>
                  <a:ext uri="{FF2B5EF4-FFF2-40B4-BE49-F238E27FC236}">
                    <a16:creationId xmlns:a16="http://schemas.microsoft.com/office/drawing/2014/main" id="{6045861A-BD6B-4109-9D78-D1A7F34D1323}"/>
                  </a:ext>
                </a:extLst>
              </p:cNvPr>
              <p:cNvGrpSpPr/>
              <p:nvPr/>
            </p:nvGrpSpPr>
            <p:grpSpPr>
              <a:xfrm>
                <a:off x="5974121" y="3291327"/>
                <a:ext cx="105291" cy="126460"/>
                <a:chOff x="5533238" y="3454940"/>
                <a:chExt cx="105291" cy="126460"/>
              </a:xfrm>
              <a:solidFill>
                <a:schemeClr val="accent6"/>
              </a:solidFill>
            </p:grpSpPr>
            <p:sp>
              <p:nvSpPr>
                <p:cNvPr id="329" name="Rectangle 328">
                  <a:extLst>
                    <a:ext uri="{FF2B5EF4-FFF2-40B4-BE49-F238E27FC236}">
                      <a16:creationId xmlns:a16="http://schemas.microsoft.com/office/drawing/2014/main" id="{5B5096A0-40CE-45F6-A77A-6E22A5588CCF}"/>
                    </a:ext>
                  </a:extLst>
                </p:cNvPr>
                <p:cNvSpPr/>
                <p:nvPr/>
              </p:nvSpPr>
              <p:spPr>
                <a:xfrm rot="18686004">
                  <a:off x="5513117" y="3532292"/>
                  <a:ext cx="69229" cy="2898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0" name="Rectangle 329">
                  <a:extLst>
                    <a:ext uri="{FF2B5EF4-FFF2-40B4-BE49-F238E27FC236}">
                      <a16:creationId xmlns:a16="http://schemas.microsoft.com/office/drawing/2014/main" id="{B63F1EF5-D7F0-41A1-B01F-344BEDF3960A}"/>
                    </a:ext>
                  </a:extLst>
                </p:cNvPr>
                <p:cNvSpPr/>
                <p:nvPr/>
              </p:nvSpPr>
              <p:spPr>
                <a:xfrm rot="18707174">
                  <a:off x="5583557" y="3499471"/>
                  <a:ext cx="20074" cy="8987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1" name="Rectangle 330">
                  <a:extLst>
                    <a:ext uri="{FF2B5EF4-FFF2-40B4-BE49-F238E27FC236}">
                      <a16:creationId xmlns:a16="http://schemas.microsoft.com/office/drawing/2014/main" id="{0B464BA9-5B5E-4F05-966C-957ECD9103DF}"/>
                    </a:ext>
                  </a:extLst>
                </p:cNvPr>
                <p:cNvSpPr/>
                <p:nvPr/>
              </p:nvSpPr>
              <p:spPr>
                <a:xfrm>
                  <a:off x="5555723" y="3454940"/>
                  <a:ext cx="25044" cy="72035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34" name="Group 333">
                <a:extLst>
                  <a:ext uri="{FF2B5EF4-FFF2-40B4-BE49-F238E27FC236}">
                    <a16:creationId xmlns:a16="http://schemas.microsoft.com/office/drawing/2014/main" id="{839A6A91-F055-4EC0-B6DF-3CB56A84DFB6}"/>
                  </a:ext>
                </a:extLst>
              </p:cNvPr>
              <p:cNvGrpSpPr/>
              <p:nvPr/>
            </p:nvGrpSpPr>
            <p:grpSpPr>
              <a:xfrm>
                <a:off x="6128634" y="3275589"/>
                <a:ext cx="105291" cy="126460"/>
                <a:chOff x="5533238" y="3454940"/>
                <a:chExt cx="105291" cy="126460"/>
              </a:xfrm>
              <a:solidFill>
                <a:schemeClr val="accent6"/>
              </a:solidFill>
            </p:grpSpPr>
            <p:sp>
              <p:nvSpPr>
                <p:cNvPr id="335" name="Rectangle 334">
                  <a:extLst>
                    <a:ext uri="{FF2B5EF4-FFF2-40B4-BE49-F238E27FC236}">
                      <a16:creationId xmlns:a16="http://schemas.microsoft.com/office/drawing/2014/main" id="{F7DB3E29-EE2D-49F0-B2FE-D22818A2C1A6}"/>
                    </a:ext>
                  </a:extLst>
                </p:cNvPr>
                <p:cNvSpPr/>
                <p:nvPr/>
              </p:nvSpPr>
              <p:spPr>
                <a:xfrm rot="18686004">
                  <a:off x="5513117" y="3532292"/>
                  <a:ext cx="69229" cy="2898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6" name="Rectangle 335">
                  <a:extLst>
                    <a:ext uri="{FF2B5EF4-FFF2-40B4-BE49-F238E27FC236}">
                      <a16:creationId xmlns:a16="http://schemas.microsoft.com/office/drawing/2014/main" id="{8FDCD7C8-67E0-4F13-AE1F-85A703DD5A09}"/>
                    </a:ext>
                  </a:extLst>
                </p:cNvPr>
                <p:cNvSpPr/>
                <p:nvPr/>
              </p:nvSpPr>
              <p:spPr>
                <a:xfrm rot="18707174">
                  <a:off x="5583557" y="3499471"/>
                  <a:ext cx="20074" cy="8987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7" name="Rectangle 336">
                  <a:extLst>
                    <a:ext uri="{FF2B5EF4-FFF2-40B4-BE49-F238E27FC236}">
                      <a16:creationId xmlns:a16="http://schemas.microsoft.com/office/drawing/2014/main" id="{7C4AEA51-C1CC-4B8D-9F62-DF209EB3934A}"/>
                    </a:ext>
                  </a:extLst>
                </p:cNvPr>
                <p:cNvSpPr/>
                <p:nvPr/>
              </p:nvSpPr>
              <p:spPr>
                <a:xfrm>
                  <a:off x="5555723" y="3454940"/>
                  <a:ext cx="25044" cy="72035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38" name="Group 337">
                <a:extLst>
                  <a:ext uri="{FF2B5EF4-FFF2-40B4-BE49-F238E27FC236}">
                    <a16:creationId xmlns:a16="http://schemas.microsoft.com/office/drawing/2014/main" id="{20168B32-61BB-43D7-B0DC-B73DBC22EC98}"/>
                  </a:ext>
                </a:extLst>
              </p:cNvPr>
              <p:cNvGrpSpPr/>
              <p:nvPr/>
            </p:nvGrpSpPr>
            <p:grpSpPr>
              <a:xfrm>
                <a:off x="6128554" y="3416487"/>
                <a:ext cx="105291" cy="126460"/>
                <a:chOff x="5533238" y="3454940"/>
                <a:chExt cx="105291" cy="126460"/>
              </a:xfrm>
              <a:solidFill>
                <a:schemeClr val="accent6"/>
              </a:solidFill>
            </p:grpSpPr>
            <p:sp>
              <p:nvSpPr>
                <p:cNvPr id="339" name="Rectangle 338">
                  <a:extLst>
                    <a:ext uri="{FF2B5EF4-FFF2-40B4-BE49-F238E27FC236}">
                      <a16:creationId xmlns:a16="http://schemas.microsoft.com/office/drawing/2014/main" id="{D8A3AB28-41E3-4E79-8873-92605F3722DD}"/>
                    </a:ext>
                  </a:extLst>
                </p:cNvPr>
                <p:cNvSpPr/>
                <p:nvPr/>
              </p:nvSpPr>
              <p:spPr>
                <a:xfrm rot="18686004">
                  <a:off x="5513117" y="3532292"/>
                  <a:ext cx="69229" cy="2898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0" name="Rectangle 339">
                  <a:extLst>
                    <a:ext uri="{FF2B5EF4-FFF2-40B4-BE49-F238E27FC236}">
                      <a16:creationId xmlns:a16="http://schemas.microsoft.com/office/drawing/2014/main" id="{71009AA3-C85B-47EF-92E4-2358FD741824}"/>
                    </a:ext>
                  </a:extLst>
                </p:cNvPr>
                <p:cNvSpPr/>
                <p:nvPr/>
              </p:nvSpPr>
              <p:spPr>
                <a:xfrm rot="18707174">
                  <a:off x="5583557" y="3499471"/>
                  <a:ext cx="20074" cy="8987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1" name="Rectangle 340">
                  <a:extLst>
                    <a:ext uri="{FF2B5EF4-FFF2-40B4-BE49-F238E27FC236}">
                      <a16:creationId xmlns:a16="http://schemas.microsoft.com/office/drawing/2014/main" id="{61ED99CD-398F-4C6E-B836-C7B8AF7DBE7D}"/>
                    </a:ext>
                  </a:extLst>
                </p:cNvPr>
                <p:cNvSpPr/>
                <p:nvPr/>
              </p:nvSpPr>
              <p:spPr>
                <a:xfrm>
                  <a:off x="5555723" y="3454940"/>
                  <a:ext cx="25044" cy="72035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1E6F3DBD-6ACB-4B7C-BCCF-954B0B8A0B0F}"/>
                  </a:ext>
                </a:extLst>
              </p:cNvPr>
              <p:cNvSpPr txBox="1"/>
              <p:nvPr/>
            </p:nvSpPr>
            <p:spPr>
              <a:xfrm>
                <a:off x="5645168" y="3687092"/>
                <a:ext cx="9797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 err="1"/>
                  <a:t>Coomb’s</a:t>
                </a:r>
                <a:r>
                  <a:rPr lang="en-US" sz="900" dirty="0"/>
                  <a:t> reagent </a:t>
                </a:r>
              </a:p>
              <a:p>
                <a:pPr algn="ctr"/>
                <a:r>
                  <a:rPr lang="en-US" sz="900" dirty="0"/>
                  <a:t>(anti-human Ab)</a:t>
                </a:r>
              </a:p>
            </p:txBody>
          </p:sp>
          <p:grpSp>
            <p:nvGrpSpPr>
              <p:cNvPr id="409" name="Group 408">
                <a:extLst>
                  <a:ext uri="{FF2B5EF4-FFF2-40B4-BE49-F238E27FC236}">
                    <a16:creationId xmlns:a16="http://schemas.microsoft.com/office/drawing/2014/main" id="{1A250531-57BF-47E0-A386-691E9D63FFBF}"/>
                  </a:ext>
                </a:extLst>
              </p:cNvPr>
              <p:cNvGrpSpPr/>
              <p:nvPr/>
            </p:nvGrpSpPr>
            <p:grpSpPr>
              <a:xfrm>
                <a:off x="6488311" y="3235280"/>
                <a:ext cx="606209" cy="778948"/>
                <a:chOff x="6488311" y="3235280"/>
                <a:chExt cx="606209" cy="778948"/>
              </a:xfrm>
            </p:grpSpPr>
            <p:grpSp>
              <p:nvGrpSpPr>
                <p:cNvPr id="345" name="Blood">
                  <a:extLst>
                    <a:ext uri="{FF2B5EF4-FFF2-40B4-BE49-F238E27FC236}">
                      <a16:creationId xmlns:a16="http://schemas.microsoft.com/office/drawing/2014/main" id="{BB954E5C-820C-419D-977D-C8F269200139}"/>
                    </a:ext>
                  </a:extLst>
                </p:cNvPr>
                <p:cNvGrpSpPr/>
                <p:nvPr/>
              </p:nvGrpSpPr>
              <p:grpSpPr>
                <a:xfrm>
                  <a:off x="6575995" y="3435181"/>
                  <a:ext cx="436126" cy="495331"/>
                  <a:chOff x="5302250" y="3415510"/>
                  <a:chExt cx="553720" cy="581866"/>
                </a:xfrm>
              </p:grpSpPr>
              <p:grpSp>
                <p:nvGrpSpPr>
                  <p:cNvPr id="382" name="RBC">
                    <a:extLst>
                      <a:ext uri="{FF2B5EF4-FFF2-40B4-BE49-F238E27FC236}">
                        <a16:creationId xmlns:a16="http://schemas.microsoft.com/office/drawing/2014/main" id="{AE8D7B68-2202-4BD1-A65D-77931DA3AAA9}"/>
                      </a:ext>
                    </a:extLst>
                  </p:cNvPr>
                  <p:cNvGrpSpPr/>
                  <p:nvPr/>
                </p:nvGrpSpPr>
                <p:grpSpPr>
                  <a:xfrm>
                    <a:off x="5302250" y="3415510"/>
                    <a:ext cx="262467" cy="252674"/>
                    <a:chOff x="5264150" y="3415509"/>
                    <a:chExt cx="387350" cy="369333"/>
                  </a:xfrm>
                </p:grpSpPr>
                <p:sp>
                  <p:nvSpPr>
                    <p:cNvPr id="389" name="Oval 388">
                      <a:extLst>
                        <a:ext uri="{FF2B5EF4-FFF2-40B4-BE49-F238E27FC236}">
                          <a16:creationId xmlns:a16="http://schemas.microsoft.com/office/drawing/2014/main" id="{46E8C2B6-5D11-4680-891D-77A5D31709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64150" y="3415509"/>
                      <a:ext cx="387350" cy="369333"/>
                    </a:xfrm>
                    <a:prstGeom prst="ellipse">
                      <a:avLst/>
                    </a:prstGeom>
                    <a:solidFill>
                      <a:srgbClr val="E92409"/>
                    </a:solidFill>
                    <a:ln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90" name="Oval 389">
                      <a:extLst>
                        <a:ext uri="{FF2B5EF4-FFF2-40B4-BE49-F238E27FC236}">
                          <a16:creationId xmlns:a16="http://schemas.microsoft.com/office/drawing/2014/main" id="{CAF03555-3281-4379-99C5-0605D206AE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12568" y="3450119"/>
                      <a:ext cx="290512" cy="300111"/>
                    </a:xfrm>
                    <a:prstGeom prst="ellipse">
                      <a:avLst/>
                    </a:prstGeom>
                    <a:solidFill>
                      <a:srgbClr val="F9705D"/>
                    </a:solidFill>
                    <a:ln>
                      <a:noFill/>
                    </a:ln>
                    <a:effectLst>
                      <a:softEdge rad="31750"/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83" name="RBC">
                    <a:extLst>
                      <a:ext uri="{FF2B5EF4-FFF2-40B4-BE49-F238E27FC236}">
                        <a16:creationId xmlns:a16="http://schemas.microsoft.com/office/drawing/2014/main" id="{731258B4-F926-41C4-8DC3-43C4D9C15894}"/>
                      </a:ext>
                    </a:extLst>
                  </p:cNvPr>
                  <p:cNvGrpSpPr/>
                  <p:nvPr/>
                </p:nvGrpSpPr>
                <p:grpSpPr>
                  <a:xfrm>
                    <a:off x="5593503" y="3550083"/>
                    <a:ext cx="262467" cy="252674"/>
                    <a:chOff x="5264150" y="3415509"/>
                    <a:chExt cx="387350" cy="369333"/>
                  </a:xfrm>
                </p:grpSpPr>
                <p:sp>
                  <p:nvSpPr>
                    <p:cNvPr id="387" name="Oval 386">
                      <a:extLst>
                        <a:ext uri="{FF2B5EF4-FFF2-40B4-BE49-F238E27FC236}">
                          <a16:creationId xmlns:a16="http://schemas.microsoft.com/office/drawing/2014/main" id="{A6B3B970-42F4-4E96-B9E2-967A0F9073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64150" y="3415509"/>
                      <a:ext cx="387350" cy="369333"/>
                    </a:xfrm>
                    <a:prstGeom prst="ellipse">
                      <a:avLst/>
                    </a:prstGeom>
                    <a:solidFill>
                      <a:srgbClr val="E92409"/>
                    </a:solidFill>
                    <a:ln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88" name="Oval 387">
                      <a:extLst>
                        <a:ext uri="{FF2B5EF4-FFF2-40B4-BE49-F238E27FC236}">
                          <a16:creationId xmlns:a16="http://schemas.microsoft.com/office/drawing/2014/main" id="{68BB3D6A-AC73-4335-9C4B-973D4EEA6B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12568" y="3450119"/>
                      <a:ext cx="290512" cy="300111"/>
                    </a:xfrm>
                    <a:prstGeom prst="ellipse">
                      <a:avLst/>
                    </a:prstGeom>
                    <a:solidFill>
                      <a:srgbClr val="F9705D"/>
                    </a:solidFill>
                    <a:ln>
                      <a:noFill/>
                    </a:ln>
                    <a:effectLst>
                      <a:softEdge rad="31750"/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84" name="RBC">
                    <a:extLst>
                      <a:ext uri="{FF2B5EF4-FFF2-40B4-BE49-F238E27FC236}">
                        <a16:creationId xmlns:a16="http://schemas.microsoft.com/office/drawing/2014/main" id="{BEA544A7-1C63-473E-8518-B5154D39B9DC}"/>
                      </a:ext>
                    </a:extLst>
                  </p:cNvPr>
                  <p:cNvGrpSpPr/>
                  <p:nvPr/>
                </p:nvGrpSpPr>
                <p:grpSpPr>
                  <a:xfrm>
                    <a:off x="5363844" y="3744702"/>
                    <a:ext cx="262467" cy="252674"/>
                    <a:chOff x="5264150" y="3415509"/>
                    <a:chExt cx="387350" cy="369333"/>
                  </a:xfrm>
                </p:grpSpPr>
                <p:sp>
                  <p:nvSpPr>
                    <p:cNvPr id="385" name="Oval 384">
                      <a:extLst>
                        <a:ext uri="{FF2B5EF4-FFF2-40B4-BE49-F238E27FC236}">
                          <a16:creationId xmlns:a16="http://schemas.microsoft.com/office/drawing/2014/main" id="{D51B2CC4-688D-4544-9840-43B1731647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64150" y="3415509"/>
                      <a:ext cx="387350" cy="369333"/>
                    </a:xfrm>
                    <a:prstGeom prst="ellipse">
                      <a:avLst/>
                    </a:prstGeom>
                    <a:solidFill>
                      <a:srgbClr val="E92409"/>
                    </a:solidFill>
                    <a:ln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86" name="Oval 385">
                      <a:extLst>
                        <a:ext uri="{FF2B5EF4-FFF2-40B4-BE49-F238E27FC236}">
                          <a16:creationId xmlns:a16="http://schemas.microsoft.com/office/drawing/2014/main" id="{1DD003A5-1FB7-467A-8BD0-88C801A7E5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12568" y="3450119"/>
                      <a:ext cx="290512" cy="300111"/>
                    </a:xfrm>
                    <a:prstGeom prst="ellipse">
                      <a:avLst/>
                    </a:prstGeom>
                    <a:solidFill>
                      <a:srgbClr val="F9705D"/>
                    </a:solidFill>
                    <a:ln>
                      <a:noFill/>
                    </a:ln>
                    <a:effectLst>
                      <a:softEdge rad="31750"/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346" name="Antibody">
                  <a:extLst>
                    <a:ext uri="{FF2B5EF4-FFF2-40B4-BE49-F238E27FC236}">
                      <a16:creationId xmlns:a16="http://schemas.microsoft.com/office/drawing/2014/main" id="{A33B801C-28AE-4729-BB36-3C374A389FFD}"/>
                    </a:ext>
                  </a:extLst>
                </p:cNvPr>
                <p:cNvGrpSpPr/>
                <p:nvPr/>
              </p:nvGrpSpPr>
              <p:grpSpPr>
                <a:xfrm>
                  <a:off x="6637892" y="3339012"/>
                  <a:ext cx="82931" cy="107653"/>
                  <a:chOff x="5477393" y="3142567"/>
                  <a:chExt cx="192214" cy="288012"/>
                </a:xfrm>
              </p:grpSpPr>
              <p:sp>
                <p:nvSpPr>
                  <p:cNvPr id="379" name="Rectangle 378">
                    <a:extLst>
                      <a:ext uri="{FF2B5EF4-FFF2-40B4-BE49-F238E27FC236}">
                        <a16:creationId xmlns:a16="http://schemas.microsoft.com/office/drawing/2014/main" id="{B46FF5C4-60DD-408E-84FB-CBC49A725F95}"/>
                      </a:ext>
                    </a:extLst>
                  </p:cNvPr>
                  <p:cNvSpPr/>
                  <p:nvPr/>
                </p:nvSpPr>
                <p:spPr>
                  <a:xfrm rot="18686004">
                    <a:off x="5425018" y="3325286"/>
                    <a:ext cx="157668" cy="52917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0" name="Rectangle 379">
                    <a:extLst>
                      <a:ext uri="{FF2B5EF4-FFF2-40B4-BE49-F238E27FC236}">
                        <a16:creationId xmlns:a16="http://schemas.microsoft.com/office/drawing/2014/main" id="{FBB3B205-CCA7-4798-86D8-4C35B73C5301}"/>
                      </a:ext>
                    </a:extLst>
                  </p:cNvPr>
                  <p:cNvSpPr/>
                  <p:nvPr/>
                </p:nvSpPr>
                <p:spPr>
                  <a:xfrm rot="18707174">
                    <a:off x="5564717" y="3264295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1" name="Rectangle 380">
                    <a:extLst>
                      <a:ext uri="{FF2B5EF4-FFF2-40B4-BE49-F238E27FC236}">
                        <a16:creationId xmlns:a16="http://schemas.microsoft.com/office/drawing/2014/main" id="{96114100-C414-4695-B078-D30FDAD8B3AD}"/>
                      </a:ext>
                    </a:extLst>
                  </p:cNvPr>
                  <p:cNvSpPr/>
                  <p:nvPr/>
                </p:nvSpPr>
                <p:spPr>
                  <a:xfrm>
                    <a:off x="5518442" y="3142567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47" name="Antibody">
                  <a:extLst>
                    <a:ext uri="{FF2B5EF4-FFF2-40B4-BE49-F238E27FC236}">
                      <a16:creationId xmlns:a16="http://schemas.microsoft.com/office/drawing/2014/main" id="{5F475260-DB76-482D-A8C9-987AF15F7226}"/>
                    </a:ext>
                  </a:extLst>
                </p:cNvPr>
                <p:cNvGrpSpPr/>
                <p:nvPr/>
              </p:nvGrpSpPr>
              <p:grpSpPr>
                <a:xfrm rot="4703397">
                  <a:off x="6778881" y="3461420"/>
                  <a:ext cx="89633" cy="99604"/>
                  <a:chOff x="5477393" y="3142567"/>
                  <a:chExt cx="192214" cy="288012"/>
                </a:xfrm>
              </p:grpSpPr>
              <p:sp>
                <p:nvSpPr>
                  <p:cNvPr id="376" name="Rectangle 375">
                    <a:extLst>
                      <a:ext uri="{FF2B5EF4-FFF2-40B4-BE49-F238E27FC236}">
                        <a16:creationId xmlns:a16="http://schemas.microsoft.com/office/drawing/2014/main" id="{0A7DD2CE-0FC7-434D-9510-8EC50D394E44}"/>
                      </a:ext>
                    </a:extLst>
                  </p:cNvPr>
                  <p:cNvSpPr/>
                  <p:nvPr/>
                </p:nvSpPr>
                <p:spPr>
                  <a:xfrm rot="18686004">
                    <a:off x="5425018" y="3325286"/>
                    <a:ext cx="157668" cy="52917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7" name="Rectangle 376">
                    <a:extLst>
                      <a:ext uri="{FF2B5EF4-FFF2-40B4-BE49-F238E27FC236}">
                        <a16:creationId xmlns:a16="http://schemas.microsoft.com/office/drawing/2014/main" id="{E10EE60E-0F5D-4663-8C00-F9AC7077963C}"/>
                      </a:ext>
                    </a:extLst>
                  </p:cNvPr>
                  <p:cNvSpPr/>
                  <p:nvPr/>
                </p:nvSpPr>
                <p:spPr>
                  <a:xfrm rot="18707174">
                    <a:off x="5564717" y="3264295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8" name="Rectangle 377">
                    <a:extLst>
                      <a:ext uri="{FF2B5EF4-FFF2-40B4-BE49-F238E27FC236}">
                        <a16:creationId xmlns:a16="http://schemas.microsoft.com/office/drawing/2014/main" id="{DDC59BAD-749B-4393-8D7C-C8486629FCDD}"/>
                      </a:ext>
                    </a:extLst>
                  </p:cNvPr>
                  <p:cNvSpPr/>
                  <p:nvPr/>
                </p:nvSpPr>
                <p:spPr>
                  <a:xfrm>
                    <a:off x="5518442" y="3142567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48" name="Antibody">
                  <a:extLst>
                    <a:ext uri="{FF2B5EF4-FFF2-40B4-BE49-F238E27FC236}">
                      <a16:creationId xmlns:a16="http://schemas.microsoft.com/office/drawing/2014/main" id="{09D90988-ED9E-494A-8D06-B250969A939D}"/>
                    </a:ext>
                  </a:extLst>
                </p:cNvPr>
                <p:cNvGrpSpPr/>
                <p:nvPr/>
              </p:nvGrpSpPr>
              <p:grpSpPr>
                <a:xfrm rot="1539391">
                  <a:off x="6931183" y="3480881"/>
                  <a:ext cx="89633" cy="99604"/>
                  <a:chOff x="5477393" y="3142567"/>
                  <a:chExt cx="192214" cy="288012"/>
                </a:xfrm>
              </p:grpSpPr>
              <p:sp>
                <p:nvSpPr>
                  <p:cNvPr id="373" name="Rectangle 372">
                    <a:extLst>
                      <a:ext uri="{FF2B5EF4-FFF2-40B4-BE49-F238E27FC236}">
                        <a16:creationId xmlns:a16="http://schemas.microsoft.com/office/drawing/2014/main" id="{98173917-1631-43DE-8F92-89918A18608C}"/>
                      </a:ext>
                    </a:extLst>
                  </p:cNvPr>
                  <p:cNvSpPr/>
                  <p:nvPr/>
                </p:nvSpPr>
                <p:spPr>
                  <a:xfrm rot="18686004">
                    <a:off x="5425018" y="3325286"/>
                    <a:ext cx="157668" cy="52917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4" name="Rectangle 373">
                    <a:extLst>
                      <a:ext uri="{FF2B5EF4-FFF2-40B4-BE49-F238E27FC236}">
                        <a16:creationId xmlns:a16="http://schemas.microsoft.com/office/drawing/2014/main" id="{85D29689-2ED3-4FA0-A1EC-E5ED2DA0494D}"/>
                      </a:ext>
                    </a:extLst>
                  </p:cNvPr>
                  <p:cNvSpPr/>
                  <p:nvPr/>
                </p:nvSpPr>
                <p:spPr>
                  <a:xfrm rot="18707174">
                    <a:off x="5564717" y="3264295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5" name="Rectangle 374">
                    <a:extLst>
                      <a:ext uri="{FF2B5EF4-FFF2-40B4-BE49-F238E27FC236}">
                        <a16:creationId xmlns:a16="http://schemas.microsoft.com/office/drawing/2014/main" id="{B158121A-53BB-4B33-BB3B-CDBBB208933A}"/>
                      </a:ext>
                    </a:extLst>
                  </p:cNvPr>
                  <p:cNvSpPr/>
                  <p:nvPr/>
                </p:nvSpPr>
                <p:spPr>
                  <a:xfrm>
                    <a:off x="5518442" y="3142567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49" name="Antibody">
                  <a:extLst>
                    <a:ext uri="{FF2B5EF4-FFF2-40B4-BE49-F238E27FC236}">
                      <a16:creationId xmlns:a16="http://schemas.microsoft.com/office/drawing/2014/main" id="{ABC39DE6-2D39-4AA6-835D-29EE3FDBE4A3}"/>
                    </a:ext>
                  </a:extLst>
                </p:cNvPr>
                <p:cNvGrpSpPr/>
                <p:nvPr/>
              </p:nvGrpSpPr>
              <p:grpSpPr>
                <a:xfrm rot="6518855">
                  <a:off x="6999901" y="3672355"/>
                  <a:ext cx="89633" cy="99604"/>
                  <a:chOff x="5477393" y="3142567"/>
                  <a:chExt cx="192214" cy="288012"/>
                </a:xfrm>
              </p:grpSpPr>
              <p:sp>
                <p:nvSpPr>
                  <p:cNvPr id="370" name="Rectangle 369">
                    <a:extLst>
                      <a:ext uri="{FF2B5EF4-FFF2-40B4-BE49-F238E27FC236}">
                        <a16:creationId xmlns:a16="http://schemas.microsoft.com/office/drawing/2014/main" id="{D79E4891-02F2-41E7-ADE3-3E06B2B97DA1}"/>
                      </a:ext>
                    </a:extLst>
                  </p:cNvPr>
                  <p:cNvSpPr/>
                  <p:nvPr/>
                </p:nvSpPr>
                <p:spPr>
                  <a:xfrm rot="18686004">
                    <a:off x="5425018" y="3325286"/>
                    <a:ext cx="157668" cy="52917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1" name="Rectangle 370">
                    <a:extLst>
                      <a:ext uri="{FF2B5EF4-FFF2-40B4-BE49-F238E27FC236}">
                        <a16:creationId xmlns:a16="http://schemas.microsoft.com/office/drawing/2014/main" id="{28E5E891-69A1-47AE-B9AF-6BAF19389C75}"/>
                      </a:ext>
                    </a:extLst>
                  </p:cNvPr>
                  <p:cNvSpPr/>
                  <p:nvPr/>
                </p:nvSpPr>
                <p:spPr>
                  <a:xfrm rot="18707174">
                    <a:off x="5564717" y="3264295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2" name="Rectangle 371">
                    <a:extLst>
                      <a:ext uri="{FF2B5EF4-FFF2-40B4-BE49-F238E27FC236}">
                        <a16:creationId xmlns:a16="http://schemas.microsoft.com/office/drawing/2014/main" id="{27DED8F5-B3D7-488B-9BA9-B3F289373C23}"/>
                      </a:ext>
                    </a:extLst>
                  </p:cNvPr>
                  <p:cNvSpPr/>
                  <p:nvPr/>
                </p:nvSpPr>
                <p:spPr>
                  <a:xfrm>
                    <a:off x="5518442" y="3142567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0" name="Antibody">
                  <a:extLst>
                    <a:ext uri="{FF2B5EF4-FFF2-40B4-BE49-F238E27FC236}">
                      <a16:creationId xmlns:a16="http://schemas.microsoft.com/office/drawing/2014/main" id="{924C9C08-C9C2-4BAF-81E3-213B8FC509EF}"/>
                    </a:ext>
                  </a:extLst>
                </p:cNvPr>
                <p:cNvGrpSpPr/>
                <p:nvPr/>
              </p:nvGrpSpPr>
              <p:grpSpPr>
                <a:xfrm rot="6921632">
                  <a:off x="6798165" y="3865038"/>
                  <a:ext cx="89633" cy="99604"/>
                  <a:chOff x="5477393" y="3142567"/>
                  <a:chExt cx="192214" cy="288012"/>
                </a:xfrm>
              </p:grpSpPr>
              <p:sp>
                <p:nvSpPr>
                  <p:cNvPr id="367" name="Rectangle 366">
                    <a:extLst>
                      <a:ext uri="{FF2B5EF4-FFF2-40B4-BE49-F238E27FC236}">
                        <a16:creationId xmlns:a16="http://schemas.microsoft.com/office/drawing/2014/main" id="{1BC814C3-A0A9-441A-B2BE-F19FBFA87DED}"/>
                      </a:ext>
                    </a:extLst>
                  </p:cNvPr>
                  <p:cNvSpPr/>
                  <p:nvPr/>
                </p:nvSpPr>
                <p:spPr>
                  <a:xfrm rot="18686004">
                    <a:off x="5425018" y="3325286"/>
                    <a:ext cx="157668" cy="52917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8" name="Rectangle 367">
                    <a:extLst>
                      <a:ext uri="{FF2B5EF4-FFF2-40B4-BE49-F238E27FC236}">
                        <a16:creationId xmlns:a16="http://schemas.microsoft.com/office/drawing/2014/main" id="{09A7490C-C589-4E8C-9D1F-BD7BE9BA4CCF}"/>
                      </a:ext>
                    </a:extLst>
                  </p:cNvPr>
                  <p:cNvSpPr/>
                  <p:nvPr/>
                </p:nvSpPr>
                <p:spPr>
                  <a:xfrm rot="18707174">
                    <a:off x="5564717" y="3264295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9" name="Rectangle 368">
                    <a:extLst>
                      <a:ext uri="{FF2B5EF4-FFF2-40B4-BE49-F238E27FC236}">
                        <a16:creationId xmlns:a16="http://schemas.microsoft.com/office/drawing/2014/main" id="{E376EC0F-F5D1-4426-B42D-FF43C005D9DA}"/>
                      </a:ext>
                    </a:extLst>
                  </p:cNvPr>
                  <p:cNvSpPr/>
                  <p:nvPr/>
                </p:nvSpPr>
                <p:spPr>
                  <a:xfrm>
                    <a:off x="5518442" y="3142567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1" name="Antibody">
                  <a:extLst>
                    <a:ext uri="{FF2B5EF4-FFF2-40B4-BE49-F238E27FC236}">
                      <a16:creationId xmlns:a16="http://schemas.microsoft.com/office/drawing/2014/main" id="{CF380D2A-7F39-49AD-8619-AE56C44F16C2}"/>
                    </a:ext>
                  </a:extLst>
                </p:cNvPr>
                <p:cNvGrpSpPr/>
                <p:nvPr/>
              </p:nvGrpSpPr>
              <p:grpSpPr>
                <a:xfrm rot="12552870">
                  <a:off x="6545232" y="3611700"/>
                  <a:ext cx="82931" cy="107653"/>
                  <a:chOff x="5477393" y="3142567"/>
                  <a:chExt cx="192214" cy="288012"/>
                </a:xfrm>
              </p:grpSpPr>
              <p:sp>
                <p:nvSpPr>
                  <p:cNvPr id="364" name="Rectangle 363">
                    <a:extLst>
                      <a:ext uri="{FF2B5EF4-FFF2-40B4-BE49-F238E27FC236}">
                        <a16:creationId xmlns:a16="http://schemas.microsoft.com/office/drawing/2014/main" id="{6A0D0C8D-945D-4108-BD5D-20CADFC44C66}"/>
                      </a:ext>
                    </a:extLst>
                  </p:cNvPr>
                  <p:cNvSpPr/>
                  <p:nvPr/>
                </p:nvSpPr>
                <p:spPr>
                  <a:xfrm rot="18686004">
                    <a:off x="5425018" y="3325286"/>
                    <a:ext cx="157668" cy="52917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5" name="Rectangle 364">
                    <a:extLst>
                      <a:ext uri="{FF2B5EF4-FFF2-40B4-BE49-F238E27FC236}">
                        <a16:creationId xmlns:a16="http://schemas.microsoft.com/office/drawing/2014/main" id="{966A7AE3-867D-4835-B3A8-414C6A2A6B4F}"/>
                      </a:ext>
                    </a:extLst>
                  </p:cNvPr>
                  <p:cNvSpPr/>
                  <p:nvPr/>
                </p:nvSpPr>
                <p:spPr>
                  <a:xfrm rot="18707174">
                    <a:off x="5564717" y="3264295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6" name="Rectangle 365">
                    <a:extLst>
                      <a:ext uri="{FF2B5EF4-FFF2-40B4-BE49-F238E27FC236}">
                        <a16:creationId xmlns:a16="http://schemas.microsoft.com/office/drawing/2014/main" id="{964C8896-B125-420F-B29B-FC2DC4FA9A9B}"/>
                      </a:ext>
                    </a:extLst>
                  </p:cNvPr>
                  <p:cNvSpPr/>
                  <p:nvPr/>
                </p:nvSpPr>
                <p:spPr>
                  <a:xfrm>
                    <a:off x="5518442" y="3142567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2" name="Antibody">
                  <a:extLst>
                    <a:ext uri="{FF2B5EF4-FFF2-40B4-BE49-F238E27FC236}">
                      <a16:creationId xmlns:a16="http://schemas.microsoft.com/office/drawing/2014/main" id="{06AEAEDA-EA11-4766-9F9D-79306C75592D}"/>
                    </a:ext>
                  </a:extLst>
                </p:cNvPr>
                <p:cNvGrpSpPr/>
                <p:nvPr/>
              </p:nvGrpSpPr>
              <p:grpSpPr>
                <a:xfrm rot="17066286">
                  <a:off x="6493296" y="3439992"/>
                  <a:ext cx="89633" cy="99604"/>
                  <a:chOff x="5477393" y="3142567"/>
                  <a:chExt cx="192214" cy="288012"/>
                </a:xfrm>
              </p:grpSpPr>
              <p:sp>
                <p:nvSpPr>
                  <p:cNvPr id="361" name="Rectangle 360">
                    <a:extLst>
                      <a:ext uri="{FF2B5EF4-FFF2-40B4-BE49-F238E27FC236}">
                        <a16:creationId xmlns:a16="http://schemas.microsoft.com/office/drawing/2014/main" id="{1C70A4AB-846B-4D5E-B57E-D7DCC52DD99D}"/>
                      </a:ext>
                    </a:extLst>
                  </p:cNvPr>
                  <p:cNvSpPr/>
                  <p:nvPr/>
                </p:nvSpPr>
                <p:spPr>
                  <a:xfrm rot="18686004">
                    <a:off x="5425018" y="3325286"/>
                    <a:ext cx="157668" cy="52917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2" name="Rectangle 361">
                    <a:extLst>
                      <a:ext uri="{FF2B5EF4-FFF2-40B4-BE49-F238E27FC236}">
                        <a16:creationId xmlns:a16="http://schemas.microsoft.com/office/drawing/2014/main" id="{3DA2AE01-CA04-40AB-A5DA-C35C9DA28AD8}"/>
                      </a:ext>
                    </a:extLst>
                  </p:cNvPr>
                  <p:cNvSpPr/>
                  <p:nvPr/>
                </p:nvSpPr>
                <p:spPr>
                  <a:xfrm rot="18707174">
                    <a:off x="5564717" y="3264295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3" name="Rectangle 362">
                    <a:extLst>
                      <a:ext uri="{FF2B5EF4-FFF2-40B4-BE49-F238E27FC236}">
                        <a16:creationId xmlns:a16="http://schemas.microsoft.com/office/drawing/2014/main" id="{93CE45BD-3461-4476-B249-A56295F950D8}"/>
                      </a:ext>
                    </a:extLst>
                  </p:cNvPr>
                  <p:cNvSpPr/>
                  <p:nvPr/>
                </p:nvSpPr>
                <p:spPr>
                  <a:xfrm>
                    <a:off x="5518442" y="3142567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3" name="Antibody">
                  <a:extLst>
                    <a:ext uri="{FF2B5EF4-FFF2-40B4-BE49-F238E27FC236}">
                      <a16:creationId xmlns:a16="http://schemas.microsoft.com/office/drawing/2014/main" id="{679A76AF-754B-43BB-A97A-A2DA6B7FD90F}"/>
                    </a:ext>
                  </a:extLst>
                </p:cNvPr>
                <p:cNvGrpSpPr/>
                <p:nvPr/>
              </p:nvGrpSpPr>
              <p:grpSpPr>
                <a:xfrm rot="9845323">
                  <a:off x="6890292" y="3761399"/>
                  <a:ext cx="89633" cy="99604"/>
                  <a:chOff x="5477393" y="3142567"/>
                  <a:chExt cx="192214" cy="288012"/>
                </a:xfrm>
              </p:grpSpPr>
              <p:sp>
                <p:nvSpPr>
                  <p:cNvPr id="358" name="Rectangle 357">
                    <a:extLst>
                      <a:ext uri="{FF2B5EF4-FFF2-40B4-BE49-F238E27FC236}">
                        <a16:creationId xmlns:a16="http://schemas.microsoft.com/office/drawing/2014/main" id="{75B27BB1-AF2E-4096-8B62-B726D3137654}"/>
                      </a:ext>
                    </a:extLst>
                  </p:cNvPr>
                  <p:cNvSpPr/>
                  <p:nvPr/>
                </p:nvSpPr>
                <p:spPr>
                  <a:xfrm rot="18686004">
                    <a:off x="5425018" y="3325286"/>
                    <a:ext cx="157668" cy="52917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9" name="Rectangle 358">
                    <a:extLst>
                      <a:ext uri="{FF2B5EF4-FFF2-40B4-BE49-F238E27FC236}">
                        <a16:creationId xmlns:a16="http://schemas.microsoft.com/office/drawing/2014/main" id="{71D2108E-3984-4D80-86CC-E1F695A6066E}"/>
                      </a:ext>
                    </a:extLst>
                  </p:cNvPr>
                  <p:cNvSpPr/>
                  <p:nvPr/>
                </p:nvSpPr>
                <p:spPr>
                  <a:xfrm rot="18707174">
                    <a:off x="5564717" y="3264295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0" name="Rectangle 359">
                    <a:extLst>
                      <a:ext uri="{FF2B5EF4-FFF2-40B4-BE49-F238E27FC236}">
                        <a16:creationId xmlns:a16="http://schemas.microsoft.com/office/drawing/2014/main" id="{B8164628-9CE2-4E41-A9F1-963B1E5D1AED}"/>
                      </a:ext>
                    </a:extLst>
                  </p:cNvPr>
                  <p:cNvSpPr/>
                  <p:nvPr/>
                </p:nvSpPr>
                <p:spPr>
                  <a:xfrm>
                    <a:off x="5518442" y="3142567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4" name="Antibody">
                  <a:extLst>
                    <a:ext uri="{FF2B5EF4-FFF2-40B4-BE49-F238E27FC236}">
                      <a16:creationId xmlns:a16="http://schemas.microsoft.com/office/drawing/2014/main" id="{0E26913F-62F6-4DF5-ADBC-350C6E3910E1}"/>
                    </a:ext>
                  </a:extLst>
                </p:cNvPr>
                <p:cNvGrpSpPr/>
                <p:nvPr/>
              </p:nvGrpSpPr>
              <p:grpSpPr>
                <a:xfrm rot="12460800">
                  <a:off x="6615386" y="3906575"/>
                  <a:ext cx="82931" cy="107653"/>
                  <a:chOff x="5477393" y="3142567"/>
                  <a:chExt cx="192214" cy="288012"/>
                </a:xfrm>
              </p:grpSpPr>
              <p:sp>
                <p:nvSpPr>
                  <p:cNvPr id="355" name="Rectangle 354">
                    <a:extLst>
                      <a:ext uri="{FF2B5EF4-FFF2-40B4-BE49-F238E27FC236}">
                        <a16:creationId xmlns:a16="http://schemas.microsoft.com/office/drawing/2014/main" id="{E8C28173-6C01-4529-B628-80F2654B5DC2}"/>
                      </a:ext>
                    </a:extLst>
                  </p:cNvPr>
                  <p:cNvSpPr/>
                  <p:nvPr/>
                </p:nvSpPr>
                <p:spPr>
                  <a:xfrm rot="18686004">
                    <a:off x="5425018" y="3325286"/>
                    <a:ext cx="157668" cy="52917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6" name="Rectangle 355">
                    <a:extLst>
                      <a:ext uri="{FF2B5EF4-FFF2-40B4-BE49-F238E27FC236}">
                        <a16:creationId xmlns:a16="http://schemas.microsoft.com/office/drawing/2014/main" id="{D05EE4DE-4F70-4077-9589-BD5F53135A45}"/>
                      </a:ext>
                    </a:extLst>
                  </p:cNvPr>
                  <p:cNvSpPr/>
                  <p:nvPr/>
                </p:nvSpPr>
                <p:spPr>
                  <a:xfrm rot="18707174">
                    <a:off x="5564717" y="3264295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7" name="Rectangle 356">
                    <a:extLst>
                      <a:ext uri="{FF2B5EF4-FFF2-40B4-BE49-F238E27FC236}">
                        <a16:creationId xmlns:a16="http://schemas.microsoft.com/office/drawing/2014/main" id="{FE58BE3D-8869-482C-A5CD-1921F49A30D7}"/>
                      </a:ext>
                    </a:extLst>
                  </p:cNvPr>
                  <p:cNvSpPr/>
                  <p:nvPr/>
                </p:nvSpPr>
                <p:spPr>
                  <a:xfrm>
                    <a:off x="5518442" y="3142567"/>
                    <a:ext cx="45719" cy="1640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91" name="Group 390">
                  <a:extLst>
                    <a:ext uri="{FF2B5EF4-FFF2-40B4-BE49-F238E27FC236}">
                      <a16:creationId xmlns:a16="http://schemas.microsoft.com/office/drawing/2014/main" id="{D5FF7F48-83AA-47B3-8223-52DA684AA176}"/>
                    </a:ext>
                  </a:extLst>
                </p:cNvPr>
                <p:cNvGrpSpPr/>
                <p:nvPr/>
              </p:nvGrpSpPr>
              <p:grpSpPr>
                <a:xfrm>
                  <a:off x="6878360" y="3372838"/>
                  <a:ext cx="105291" cy="126460"/>
                  <a:chOff x="5533238" y="3454940"/>
                  <a:chExt cx="105291" cy="126460"/>
                </a:xfrm>
                <a:solidFill>
                  <a:schemeClr val="accent6"/>
                </a:solidFill>
              </p:grpSpPr>
              <p:sp>
                <p:nvSpPr>
                  <p:cNvPr id="392" name="Rectangle 391">
                    <a:extLst>
                      <a:ext uri="{FF2B5EF4-FFF2-40B4-BE49-F238E27FC236}">
                        <a16:creationId xmlns:a16="http://schemas.microsoft.com/office/drawing/2014/main" id="{DADA81E0-C160-4081-B04D-AA529FFA6DB0}"/>
                      </a:ext>
                    </a:extLst>
                  </p:cNvPr>
                  <p:cNvSpPr/>
                  <p:nvPr/>
                </p:nvSpPr>
                <p:spPr>
                  <a:xfrm rot="18686004">
                    <a:off x="5513117" y="3532292"/>
                    <a:ext cx="69229" cy="28987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93" name="Rectangle 392">
                    <a:extLst>
                      <a:ext uri="{FF2B5EF4-FFF2-40B4-BE49-F238E27FC236}">
                        <a16:creationId xmlns:a16="http://schemas.microsoft.com/office/drawing/2014/main" id="{6F08D4C4-3C3C-4CED-AFEB-BA9E771E3D37}"/>
                      </a:ext>
                    </a:extLst>
                  </p:cNvPr>
                  <p:cNvSpPr/>
                  <p:nvPr/>
                </p:nvSpPr>
                <p:spPr>
                  <a:xfrm rot="18707174">
                    <a:off x="5583557" y="3499471"/>
                    <a:ext cx="20074" cy="8987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94" name="Rectangle 393">
                    <a:extLst>
                      <a:ext uri="{FF2B5EF4-FFF2-40B4-BE49-F238E27FC236}">
                        <a16:creationId xmlns:a16="http://schemas.microsoft.com/office/drawing/2014/main" id="{3D9A6B7A-70D7-4A98-B6C9-1C2EEC88C293}"/>
                      </a:ext>
                    </a:extLst>
                  </p:cNvPr>
                  <p:cNvSpPr/>
                  <p:nvPr/>
                </p:nvSpPr>
                <p:spPr>
                  <a:xfrm>
                    <a:off x="5555723" y="3454940"/>
                    <a:ext cx="25044" cy="72035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95" name="Group 394">
                  <a:extLst>
                    <a:ext uri="{FF2B5EF4-FFF2-40B4-BE49-F238E27FC236}">
                      <a16:creationId xmlns:a16="http://schemas.microsoft.com/office/drawing/2014/main" id="{9584B192-BD6B-4B91-8E28-5008D6BB3AB1}"/>
                    </a:ext>
                  </a:extLst>
                </p:cNvPr>
                <p:cNvGrpSpPr/>
                <p:nvPr/>
              </p:nvGrpSpPr>
              <p:grpSpPr>
                <a:xfrm>
                  <a:off x="6671598" y="3235280"/>
                  <a:ext cx="105291" cy="126460"/>
                  <a:chOff x="5533238" y="3454940"/>
                  <a:chExt cx="105291" cy="126460"/>
                </a:xfrm>
                <a:solidFill>
                  <a:schemeClr val="accent6"/>
                </a:solidFill>
              </p:grpSpPr>
              <p:sp>
                <p:nvSpPr>
                  <p:cNvPr id="396" name="Rectangle 395">
                    <a:extLst>
                      <a:ext uri="{FF2B5EF4-FFF2-40B4-BE49-F238E27FC236}">
                        <a16:creationId xmlns:a16="http://schemas.microsoft.com/office/drawing/2014/main" id="{789BFAEF-F91A-483B-8E9D-21CC41C7C295}"/>
                      </a:ext>
                    </a:extLst>
                  </p:cNvPr>
                  <p:cNvSpPr/>
                  <p:nvPr/>
                </p:nvSpPr>
                <p:spPr>
                  <a:xfrm rot="18686004">
                    <a:off x="5513117" y="3532292"/>
                    <a:ext cx="69229" cy="28987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97" name="Rectangle 396">
                    <a:extLst>
                      <a:ext uri="{FF2B5EF4-FFF2-40B4-BE49-F238E27FC236}">
                        <a16:creationId xmlns:a16="http://schemas.microsoft.com/office/drawing/2014/main" id="{F761D5F9-CF4C-4914-86A8-FA8793D2FB55}"/>
                      </a:ext>
                    </a:extLst>
                  </p:cNvPr>
                  <p:cNvSpPr/>
                  <p:nvPr/>
                </p:nvSpPr>
                <p:spPr>
                  <a:xfrm rot="18707174">
                    <a:off x="5583557" y="3499471"/>
                    <a:ext cx="20074" cy="8987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98" name="Rectangle 397">
                    <a:extLst>
                      <a:ext uri="{FF2B5EF4-FFF2-40B4-BE49-F238E27FC236}">
                        <a16:creationId xmlns:a16="http://schemas.microsoft.com/office/drawing/2014/main" id="{662CD2E3-0201-4614-9F88-F80E44FF16EA}"/>
                      </a:ext>
                    </a:extLst>
                  </p:cNvPr>
                  <p:cNvSpPr/>
                  <p:nvPr/>
                </p:nvSpPr>
                <p:spPr>
                  <a:xfrm>
                    <a:off x="5555723" y="3454940"/>
                    <a:ext cx="25044" cy="72035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99" name="Group 398">
                  <a:extLst>
                    <a:ext uri="{FF2B5EF4-FFF2-40B4-BE49-F238E27FC236}">
                      <a16:creationId xmlns:a16="http://schemas.microsoft.com/office/drawing/2014/main" id="{A665E812-512B-4515-86A5-112B608EA052}"/>
                    </a:ext>
                  </a:extLst>
                </p:cNvPr>
                <p:cNvGrpSpPr/>
                <p:nvPr/>
              </p:nvGrpSpPr>
              <p:grpSpPr>
                <a:xfrm rot="8248629">
                  <a:off x="6904963" y="3856814"/>
                  <a:ext cx="105291" cy="126460"/>
                  <a:chOff x="5533238" y="3454940"/>
                  <a:chExt cx="105291" cy="126460"/>
                </a:xfrm>
                <a:solidFill>
                  <a:schemeClr val="accent6"/>
                </a:solidFill>
              </p:grpSpPr>
              <p:sp>
                <p:nvSpPr>
                  <p:cNvPr id="400" name="Rectangle 399">
                    <a:extLst>
                      <a:ext uri="{FF2B5EF4-FFF2-40B4-BE49-F238E27FC236}">
                        <a16:creationId xmlns:a16="http://schemas.microsoft.com/office/drawing/2014/main" id="{E311EB86-CD1B-466D-B60F-5887BE3A83AF}"/>
                      </a:ext>
                    </a:extLst>
                  </p:cNvPr>
                  <p:cNvSpPr/>
                  <p:nvPr/>
                </p:nvSpPr>
                <p:spPr>
                  <a:xfrm rot="18686004">
                    <a:off x="5513117" y="3532292"/>
                    <a:ext cx="69229" cy="28987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01" name="Rectangle 400">
                    <a:extLst>
                      <a:ext uri="{FF2B5EF4-FFF2-40B4-BE49-F238E27FC236}">
                        <a16:creationId xmlns:a16="http://schemas.microsoft.com/office/drawing/2014/main" id="{A3D794D0-BA05-40AE-AE0A-B0CF24BC1913}"/>
                      </a:ext>
                    </a:extLst>
                  </p:cNvPr>
                  <p:cNvSpPr/>
                  <p:nvPr/>
                </p:nvSpPr>
                <p:spPr>
                  <a:xfrm rot="18707174">
                    <a:off x="5583557" y="3499471"/>
                    <a:ext cx="20074" cy="8987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02" name="Rectangle 401">
                    <a:extLst>
                      <a:ext uri="{FF2B5EF4-FFF2-40B4-BE49-F238E27FC236}">
                        <a16:creationId xmlns:a16="http://schemas.microsoft.com/office/drawing/2014/main" id="{67C203B1-73E8-458A-B181-DF6181AE8514}"/>
                      </a:ext>
                    </a:extLst>
                  </p:cNvPr>
                  <p:cNvSpPr/>
                  <p:nvPr/>
                </p:nvSpPr>
                <p:spPr>
                  <a:xfrm>
                    <a:off x="5555723" y="3454940"/>
                    <a:ext cx="25044" cy="72035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sp>
        <p:nvSpPr>
          <p:cNvPr id="417" name="Immume - mediated">
            <a:extLst>
              <a:ext uri="{FF2B5EF4-FFF2-40B4-BE49-F238E27FC236}">
                <a16:creationId xmlns:a16="http://schemas.microsoft.com/office/drawing/2014/main" id="{B1D8DAF7-72E3-4D45-88D9-B9D667B91DAE}"/>
              </a:ext>
            </a:extLst>
          </p:cNvPr>
          <p:cNvSpPr/>
          <p:nvPr/>
        </p:nvSpPr>
        <p:spPr>
          <a:xfrm>
            <a:off x="7031486" y="671936"/>
            <a:ext cx="1448644" cy="58588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Immune- mediated</a:t>
            </a:r>
          </a:p>
        </p:txBody>
      </p:sp>
      <p:sp>
        <p:nvSpPr>
          <p:cNvPr id="428" name="Non-immune">
            <a:extLst>
              <a:ext uri="{FF2B5EF4-FFF2-40B4-BE49-F238E27FC236}">
                <a16:creationId xmlns:a16="http://schemas.microsoft.com/office/drawing/2014/main" id="{3443409C-4E61-4C88-9832-0B374993D5BB}"/>
              </a:ext>
            </a:extLst>
          </p:cNvPr>
          <p:cNvSpPr/>
          <p:nvPr/>
        </p:nvSpPr>
        <p:spPr>
          <a:xfrm>
            <a:off x="7082459" y="2933831"/>
            <a:ext cx="1397671" cy="51457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Non-immune</a:t>
            </a:r>
          </a:p>
        </p:txBody>
      </p:sp>
      <p:sp>
        <p:nvSpPr>
          <p:cNvPr id="429" name="DAT +">
            <a:extLst>
              <a:ext uri="{FF2B5EF4-FFF2-40B4-BE49-F238E27FC236}">
                <a16:creationId xmlns:a16="http://schemas.microsoft.com/office/drawing/2014/main" id="{FE3F5B6D-4E57-4F88-92A1-4CC56667C845}"/>
              </a:ext>
            </a:extLst>
          </p:cNvPr>
          <p:cNvSpPr txBox="1"/>
          <p:nvPr/>
        </p:nvSpPr>
        <p:spPr>
          <a:xfrm>
            <a:off x="6217624" y="1229888"/>
            <a:ext cx="275752" cy="306367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+</a:t>
            </a:r>
          </a:p>
        </p:txBody>
      </p:sp>
      <p:sp>
        <p:nvSpPr>
          <p:cNvPr id="432" name="DAT -">
            <a:extLst>
              <a:ext uri="{FF2B5EF4-FFF2-40B4-BE49-F238E27FC236}">
                <a16:creationId xmlns:a16="http://schemas.microsoft.com/office/drawing/2014/main" id="{8DEBE51D-5672-4DDD-8228-E16113B439D9}"/>
              </a:ext>
            </a:extLst>
          </p:cNvPr>
          <p:cNvSpPr txBox="1"/>
          <p:nvPr/>
        </p:nvSpPr>
        <p:spPr>
          <a:xfrm>
            <a:off x="6226153" y="2346224"/>
            <a:ext cx="258694" cy="307777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-</a:t>
            </a:r>
          </a:p>
        </p:txBody>
      </p:sp>
      <p:sp>
        <p:nvSpPr>
          <p:cNvPr id="439" name="Cold AIHA">
            <a:extLst>
              <a:ext uri="{FF2B5EF4-FFF2-40B4-BE49-F238E27FC236}">
                <a16:creationId xmlns:a16="http://schemas.microsoft.com/office/drawing/2014/main" id="{771D2A77-20E2-45BE-89ED-2B20578C3C40}"/>
              </a:ext>
            </a:extLst>
          </p:cNvPr>
          <p:cNvSpPr txBox="1"/>
          <p:nvPr/>
        </p:nvSpPr>
        <p:spPr>
          <a:xfrm>
            <a:off x="8819757" y="1256995"/>
            <a:ext cx="1005634" cy="306467"/>
          </a:xfrm>
          <a:prstGeom prst="roundRect">
            <a:avLst/>
          </a:prstGeom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200" dirty="0"/>
              <a:t>Cold AIHA</a:t>
            </a:r>
          </a:p>
        </p:txBody>
      </p:sp>
      <p:grpSp>
        <p:nvGrpSpPr>
          <p:cNvPr id="615" name="Immune spherocytes">
            <a:extLst>
              <a:ext uri="{FF2B5EF4-FFF2-40B4-BE49-F238E27FC236}">
                <a16:creationId xmlns:a16="http://schemas.microsoft.com/office/drawing/2014/main" id="{5B3FBE3B-16E6-45E6-8F35-10F099C1FFDC}"/>
              </a:ext>
            </a:extLst>
          </p:cNvPr>
          <p:cNvGrpSpPr/>
          <p:nvPr/>
        </p:nvGrpSpPr>
        <p:grpSpPr>
          <a:xfrm>
            <a:off x="7201321" y="1498281"/>
            <a:ext cx="967235" cy="807021"/>
            <a:chOff x="7220580" y="852698"/>
            <a:chExt cx="967235" cy="807021"/>
          </a:xfrm>
        </p:grpSpPr>
        <p:sp>
          <p:nvSpPr>
            <p:cNvPr id="614" name="Rectangle 613">
              <a:extLst>
                <a:ext uri="{FF2B5EF4-FFF2-40B4-BE49-F238E27FC236}">
                  <a16:creationId xmlns:a16="http://schemas.microsoft.com/office/drawing/2014/main" id="{AD0B3ECE-48A5-417C-8BB0-22F18402268C}"/>
                </a:ext>
              </a:extLst>
            </p:cNvPr>
            <p:cNvSpPr/>
            <p:nvPr/>
          </p:nvSpPr>
          <p:spPr>
            <a:xfrm>
              <a:off x="7292231" y="852698"/>
              <a:ext cx="825508" cy="807021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11" name="Spherocytes">
              <a:extLst>
                <a:ext uri="{FF2B5EF4-FFF2-40B4-BE49-F238E27FC236}">
                  <a16:creationId xmlns:a16="http://schemas.microsoft.com/office/drawing/2014/main" id="{0EBB4D98-4993-43EA-A3F5-7068230FD78A}"/>
                </a:ext>
              </a:extLst>
            </p:cNvPr>
            <p:cNvGrpSpPr/>
            <p:nvPr/>
          </p:nvGrpSpPr>
          <p:grpSpPr>
            <a:xfrm>
              <a:off x="7220580" y="904718"/>
              <a:ext cx="967235" cy="755001"/>
              <a:chOff x="7623221" y="1175521"/>
              <a:chExt cx="967235" cy="755001"/>
            </a:xfrm>
          </p:grpSpPr>
          <p:pic>
            <p:nvPicPr>
              <p:cNvPr id="460" name="spherocytes - immune">
                <a:extLst>
                  <a:ext uri="{FF2B5EF4-FFF2-40B4-BE49-F238E27FC236}">
                    <a16:creationId xmlns:a16="http://schemas.microsoft.com/office/drawing/2014/main" id="{2031E09C-06B8-42EA-AC1F-DD21CBA3E92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14657"/>
              <a:stretch/>
            </p:blipFill>
            <p:spPr>
              <a:xfrm>
                <a:off x="7822169" y="1175521"/>
                <a:ext cx="546582" cy="538919"/>
              </a:xfrm>
              <a:prstGeom prst="rect">
                <a:avLst/>
              </a:prstGeom>
            </p:spPr>
          </p:pic>
          <p:sp>
            <p:nvSpPr>
              <p:cNvPr id="461" name="TextBox 460">
                <a:extLst>
                  <a:ext uri="{FF2B5EF4-FFF2-40B4-BE49-F238E27FC236}">
                    <a16:creationId xmlns:a16="http://schemas.microsoft.com/office/drawing/2014/main" id="{6C8CB6AA-B1EB-4D43-8466-59FC5CA81D8A}"/>
                  </a:ext>
                </a:extLst>
              </p:cNvPr>
              <p:cNvSpPr txBox="1"/>
              <p:nvPr/>
            </p:nvSpPr>
            <p:spPr>
              <a:xfrm>
                <a:off x="7623221" y="1684301"/>
                <a:ext cx="96723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i="1" dirty="0"/>
                  <a:t>Spherocytes</a:t>
                </a:r>
              </a:p>
            </p:txBody>
          </p:sp>
        </p:grpSp>
      </p:grpSp>
      <p:cxnSp>
        <p:nvCxnSpPr>
          <p:cNvPr id="538" name="Connector for cold AIHA">
            <a:extLst>
              <a:ext uri="{FF2B5EF4-FFF2-40B4-BE49-F238E27FC236}">
                <a16:creationId xmlns:a16="http://schemas.microsoft.com/office/drawing/2014/main" id="{B431EDAC-8E2A-4208-974A-FCD22131AA13}"/>
              </a:ext>
            </a:extLst>
          </p:cNvPr>
          <p:cNvCxnSpPr>
            <a:cxnSpLocks/>
          </p:cNvCxnSpPr>
          <p:nvPr/>
        </p:nvCxnSpPr>
        <p:spPr>
          <a:xfrm>
            <a:off x="9830621" y="1398799"/>
            <a:ext cx="15038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9" name="Cold  AIHA info">
            <a:extLst>
              <a:ext uri="{FF2B5EF4-FFF2-40B4-BE49-F238E27FC236}">
                <a16:creationId xmlns:a16="http://schemas.microsoft.com/office/drawing/2014/main" id="{00B037C0-04DD-45F7-B8CF-8B3B8C2BE915}"/>
              </a:ext>
            </a:extLst>
          </p:cNvPr>
          <p:cNvSpPr txBox="1"/>
          <p:nvPr/>
        </p:nvSpPr>
        <p:spPr>
          <a:xfrm>
            <a:off x="9975771" y="1293911"/>
            <a:ext cx="1966769" cy="1015663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US" sz="1000" i="1" dirty="0">
                <a:sym typeface="Wingdings" panose="05000000000000000000" pitchFamily="2" charset="2"/>
              </a:rPr>
              <a:t>“Cold ice cream MMM…” – </a:t>
            </a:r>
            <a:r>
              <a:rPr lang="en-US" sz="1000" dirty="0">
                <a:sym typeface="Wingdings" panose="05000000000000000000" pitchFamily="2" charset="2"/>
              </a:rPr>
              <a:t>Ig</a:t>
            </a:r>
            <a:r>
              <a:rPr lang="en-US" sz="1000" b="1" dirty="0">
                <a:sym typeface="Wingdings" panose="05000000000000000000" pitchFamily="2" charset="2"/>
              </a:rPr>
              <a:t>M</a:t>
            </a:r>
            <a:endParaRPr lang="en-US" sz="1000" dirty="0">
              <a:sym typeface="Wingdings" panose="05000000000000000000" pitchFamily="2" charset="2"/>
            </a:endParaRPr>
          </a:p>
          <a:p>
            <a:pPr marL="114300" lvl="0" indent="-114300">
              <a:buFont typeface="Arial" panose="020B0604020202020204" pitchFamily="34" charset="0"/>
              <a:buChar char="•"/>
              <a:tabLst>
                <a:tab pos="173038" algn="l"/>
              </a:tabLst>
            </a:pPr>
            <a:r>
              <a:rPr lang="en-US" sz="1000" b="1" dirty="0">
                <a:sym typeface="Wingdings" panose="05000000000000000000" pitchFamily="2" charset="2"/>
              </a:rPr>
              <a:t>M</a:t>
            </a:r>
            <a:r>
              <a:rPr lang="en-US" sz="1000" dirty="0">
                <a:sym typeface="Wingdings" panose="05000000000000000000" pitchFamily="2" charset="2"/>
              </a:rPr>
              <a:t>alignancy (lymphoma)</a:t>
            </a:r>
          </a:p>
          <a:p>
            <a:pPr marL="114300" lvl="0" indent="-114300">
              <a:buFont typeface="Arial" panose="020B0604020202020204" pitchFamily="34" charset="0"/>
              <a:buChar char="•"/>
              <a:tabLst>
                <a:tab pos="173038" algn="l"/>
              </a:tabLst>
            </a:pPr>
            <a:r>
              <a:rPr lang="en-US" sz="1000" b="1" dirty="0">
                <a:sym typeface="Wingdings" panose="05000000000000000000" pitchFamily="2" charset="2"/>
              </a:rPr>
              <a:t>M</a:t>
            </a:r>
            <a:r>
              <a:rPr lang="en-US" sz="1000" dirty="0">
                <a:sym typeface="Wingdings" panose="05000000000000000000" pitchFamily="2" charset="2"/>
              </a:rPr>
              <a:t>ycoplasma</a:t>
            </a:r>
          </a:p>
          <a:p>
            <a:pPr marL="114300" lvl="0" indent="-114300">
              <a:buFont typeface="Arial" panose="020B0604020202020204" pitchFamily="34" charset="0"/>
              <a:buChar char="•"/>
              <a:tabLst>
                <a:tab pos="173038" algn="l"/>
              </a:tabLst>
            </a:pPr>
            <a:r>
              <a:rPr lang="en-US" sz="1000" b="1" dirty="0">
                <a:sym typeface="Wingdings" panose="05000000000000000000" pitchFamily="2" charset="2"/>
              </a:rPr>
              <a:t>M</a:t>
            </a:r>
            <a:r>
              <a:rPr lang="en-US" sz="1000" dirty="0">
                <a:sym typeface="Wingdings" panose="05000000000000000000" pitchFamily="2" charset="2"/>
              </a:rPr>
              <a:t>ononucleosis</a:t>
            </a:r>
          </a:p>
          <a:p>
            <a:pPr lvl="0">
              <a:tabLst>
                <a:tab pos="173038" algn="l"/>
              </a:tabLst>
            </a:pPr>
            <a:r>
              <a:rPr lang="en-US" sz="1000" dirty="0">
                <a:sym typeface="Wingdings" panose="05000000000000000000" pitchFamily="2" charset="2"/>
              </a:rPr>
              <a:t>Also associated with PNH and syphilis</a:t>
            </a:r>
          </a:p>
        </p:txBody>
      </p:sp>
      <p:cxnSp>
        <p:nvCxnSpPr>
          <p:cNvPr id="588" name="Connecter to splenic sequestrataion">
            <a:extLst>
              <a:ext uri="{FF2B5EF4-FFF2-40B4-BE49-F238E27FC236}">
                <a16:creationId xmlns:a16="http://schemas.microsoft.com/office/drawing/2014/main" id="{BCC39C1E-8228-40AB-A1B9-EE73FBF7ACE6}"/>
              </a:ext>
            </a:extLst>
          </p:cNvPr>
          <p:cNvCxnSpPr>
            <a:cxnSpLocks/>
            <a:endCxn id="592" idx="1"/>
          </p:cNvCxnSpPr>
          <p:nvPr/>
        </p:nvCxnSpPr>
        <p:spPr>
          <a:xfrm>
            <a:off x="4208558" y="5624045"/>
            <a:ext cx="1916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2" name="Splenic sequestration">
            <a:extLst>
              <a:ext uri="{FF2B5EF4-FFF2-40B4-BE49-F238E27FC236}">
                <a16:creationId xmlns:a16="http://schemas.microsoft.com/office/drawing/2014/main" id="{BA9E23D0-85E0-454B-BF11-63E3A0758EC4}"/>
              </a:ext>
            </a:extLst>
          </p:cNvPr>
          <p:cNvSpPr/>
          <p:nvPr/>
        </p:nvSpPr>
        <p:spPr>
          <a:xfrm>
            <a:off x="4400230" y="5418305"/>
            <a:ext cx="2093423" cy="411480"/>
          </a:xfrm>
          <a:prstGeom prst="roundRect">
            <a:avLst>
              <a:gd name="adj" fmla="val 1745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Splenic sequestration</a:t>
            </a:r>
          </a:p>
        </p:txBody>
      </p:sp>
      <p:sp>
        <p:nvSpPr>
          <p:cNvPr id="644" name="Transfusion reactions">
            <a:extLst>
              <a:ext uri="{FF2B5EF4-FFF2-40B4-BE49-F238E27FC236}">
                <a16:creationId xmlns:a16="http://schemas.microsoft.com/office/drawing/2014/main" id="{6B50A05C-697D-4F80-85CC-3F6E26B55256}"/>
              </a:ext>
            </a:extLst>
          </p:cNvPr>
          <p:cNvSpPr txBox="1"/>
          <p:nvPr/>
        </p:nvSpPr>
        <p:spPr>
          <a:xfrm>
            <a:off x="8819442" y="1704490"/>
            <a:ext cx="1005634" cy="461665"/>
          </a:xfrm>
          <a:prstGeom prst="roundRect">
            <a:avLst>
              <a:gd name="adj" fmla="val 0"/>
            </a:avLst>
          </a:prstGeom>
          <a:ln>
            <a:solidFill>
              <a:schemeClr val="accent4"/>
            </a:solidFill>
          </a:ln>
          <a:effec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200" dirty="0"/>
              <a:t>Transfusion reactions</a:t>
            </a:r>
          </a:p>
        </p:txBody>
      </p:sp>
      <p:pic>
        <p:nvPicPr>
          <p:cNvPr id="659" name="Toolbox" descr="toolbox - Free Tools and utensils icons">
            <a:extLst>
              <a:ext uri="{FF2B5EF4-FFF2-40B4-BE49-F238E27FC236}">
                <a16:creationId xmlns:a16="http://schemas.microsoft.com/office/drawing/2014/main" id="{A841D43B-191D-4225-981B-9A209422CA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1" t="-2032" r="23634" b="419"/>
          <a:stretch/>
        </p:blipFill>
        <p:spPr bwMode="auto">
          <a:xfrm>
            <a:off x="6593666" y="1678987"/>
            <a:ext cx="482870" cy="484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0" name="Toolbox" descr="toolbox - Free Tools and utensils icons">
            <a:extLst>
              <a:ext uri="{FF2B5EF4-FFF2-40B4-BE49-F238E27FC236}">
                <a16:creationId xmlns:a16="http://schemas.microsoft.com/office/drawing/2014/main" id="{4833152B-F403-440C-AFD1-FD81801AFE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1" t="-2032" r="23634" b="419"/>
          <a:stretch/>
        </p:blipFill>
        <p:spPr bwMode="auto">
          <a:xfrm>
            <a:off x="3939937" y="3987608"/>
            <a:ext cx="480062" cy="481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Graphic 205" descr="Cursor">
            <a:extLst>
              <a:ext uri="{FF2B5EF4-FFF2-40B4-BE49-F238E27FC236}">
                <a16:creationId xmlns:a16="http://schemas.microsoft.com/office/drawing/2014/main" id="{008AC065-F443-4927-A5F3-93E6805EFF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9923" y="3745983"/>
            <a:ext cx="274320" cy="274320"/>
          </a:xfrm>
          <a:prstGeom prst="rect">
            <a:avLst/>
          </a:prstGeom>
        </p:spPr>
      </p:pic>
      <p:pic>
        <p:nvPicPr>
          <p:cNvPr id="207" name="Graphic 206" descr="Cursor">
            <a:extLst>
              <a:ext uri="{FF2B5EF4-FFF2-40B4-BE49-F238E27FC236}">
                <a16:creationId xmlns:a16="http://schemas.microsoft.com/office/drawing/2014/main" id="{8F640F06-03C1-499E-B5A7-FD179AFFD3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0412" y="2004698"/>
            <a:ext cx="274320" cy="274320"/>
          </a:xfrm>
          <a:prstGeom prst="rect">
            <a:avLst/>
          </a:prstGeom>
        </p:spPr>
      </p:pic>
      <p:pic>
        <p:nvPicPr>
          <p:cNvPr id="208" name="Graphic 207" descr="Cursor">
            <a:extLst>
              <a:ext uri="{FF2B5EF4-FFF2-40B4-BE49-F238E27FC236}">
                <a16:creationId xmlns:a16="http://schemas.microsoft.com/office/drawing/2014/main" id="{9ED77E98-C5FA-47FF-B6CB-5C06B6A2F3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7422" y="2009604"/>
            <a:ext cx="262561" cy="262561"/>
          </a:xfrm>
          <a:prstGeom prst="rect">
            <a:avLst/>
          </a:prstGeom>
        </p:spPr>
      </p:pic>
      <p:pic>
        <p:nvPicPr>
          <p:cNvPr id="211" name="Graphic 210" descr="Cursor">
            <a:extLst>
              <a:ext uri="{FF2B5EF4-FFF2-40B4-BE49-F238E27FC236}">
                <a16:creationId xmlns:a16="http://schemas.microsoft.com/office/drawing/2014/main" id="{E9F7EA65-0958-44F7-9863-983F491451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18440" y="1013272"/>
            <a:ext cx="274320" cy="274320"/>
          </a:xfrm>
          <a:prstGeom prst="rect">
            <a:avLst/>
          </a:prstGeom>
        </p:spPr>
      </p:pic>
      <p:pic>
        <p:nvPicPr>
          <p:cNvPr id="213" name="Graphic 212" descr="Cursor">
            <a:extLst>
              <a:ext uri="{FF2B5EF4-FFF2-40B4-BE49-F238E27FC236}">
                <a16:creationId xmlns:a16="http://schemas.microsoft.com/office/drawing/2014/main" id="{BD98D212-7F3B-4ECC-A36A-04245CB90F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18440" y="1455492"/>
            <a:ext cx="274320" cy="274320"/>
          </a:xfrm>
          <a:prstGeom prst="rect">
            <a:avLst/>
          </a:prstGeom>
        </p:spPr>
      </p:pic>
      <p:pic>
        <p:nvPicPr>
          <p:cNvPr id="217" name="Graphic 216" descr="Cursor">
            <a:extLst>
              <a:ext uri="{FF2B5EF4-FFF2-40B4-BE49-F238E27FC236}">
                <a16:creationId xmlns:a16="http://schemas.microsoft.com/office/drawing/2014/main" id="{1A35EAD9-B84E-4FD6-9DCA-EFED0859F8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8611" y="3311772"/>
            <a:ext cx="274320" cy="274320"/>
          </a:xfrm>
          <a:prstGeom prst="rect">
            <a:avLst/>
          </a:prstGeom>
        </p:spPr>
      </p:pic>
      <p:sp>
        <p:nvSpPr>
          <p:cNvPr id="2" name="Next">
            <a:hlinkClick r:id="rId7" action="ppaction://hlinksldjump"/>
            <a:extLst>
              <a:ext uri="{FF2B5EF4-FFF2-40B4-BE49-F238E27FC236}">
                <a16:creationId xmlns:a16="http://schemas.microsoft.com/office/drawing/2014/main" id="{A2707611-5EEB-FD0F-19BB-EC7A7E635B71}"/>
              </a:ext>
            </a:extLst>
          </p:cNvPr>
          <p:cNvSpPr/>
          <p:nvPr/>
        </p:nvSpPr>
        <p:spPr>
          <a:xfrm>
            <a:off x="183017" y="2486929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sp>
        <p:nvSpPr>
          <p:cNvPr id="3" name="Next">
            <a:hlinkClick r:id="rId8" action="ppaction://hlinksldjump"/>
            <a:extLst>
              <a:ext uri="{FF2B5EF4-FFF2-40B4-BE49-F238E27FC236}">
                <a16:creationId xmlns:a16="http://schemas.microsoft.com/office/drawing/2014/main" id="{B885FA8C-8AC4-9364-3E10-A5686D12A7E1}"/>
              </a:ext>
            </a:extLst>
          </p:cNvPr>
          <p:cNvSpPr/>
          <p:nvPr/>
        </p:nvSpPr>
        <p:spPr>
          <a:xfrm>
            <a:off x="183017" y="705625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Underprod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Next">
            <a:hlinkClick r:id="rId9" action="ppaction://hlinksldjump"/>
            <a:extLst>
              <a:ext uri="{FF2B5EF4-FFF2-40B4-BE49-F238E27FC236}">
                <a16:creationId xmlns:a16="http://schemas.microsoft.com/office/drawing/2014/main" id="{34604D66-9112-4317-2B87-D005011E9DFB}"/>
              </a:ext>
            </a:extLst>
          </p:cNvPr>
          <p:cNvSpPr/>
          <p:nvPr/>
        </p:nvSpPr>
        <p:spPr>
          <a:xfrm>
            <a:off x="183017" y="1211012"/>
            <a:ext cx="1371600" cy="36576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Overprod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Next">
            <a:hlinkClick r:id="rId10" action="ppaction://hlinksldjump"/>
            <a:extLst>
              <a:ext uri="{FF2B5EF4-FFF2-40B4-BE49-F238E27FC236}">
                <a16:creationId xmlns:a16="http://schemas.microsoft.com/office/drawing/2014/main" id="{7B5CEE5D-83C1-4629-0DA2-9B3F753D5D9E}"/>
              </a:ext>
            </a:extLst>
          </p:cNvPr>
          <p:cNvSpPr/>
          <p:nvPr/>
        </p:nvSpPr>
        <p:spPr>
          <a:xfrm>
            <a:off x="183017" y="200238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Overview</a:t>
            </a:r>
          </a:p>
        </p:txBody>
      </p:sp>
      <p:pic>
        <p:nvPicPr>
          <p:cNvPr id="8" name="Graphic 7" descr="Cursor">
            <a:extLst>
              <a:ext uri="{FF2B5EF4-FFF2-40B4-BE49-F238E27FC236}">
                <a16:creationId xmlns:a16="http://schemas.microsoft.com/office/drawing/2014/main" id="{2E9A43A4-46D3-93F1-9CC8-7C6A554E55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8887" y="446151"/>
            <a:ext cx="274320" cy="274320"/>
          </a:xfrm>
          <a:prstGeom prst="rect">
            <a:avLst/>
          </a:prstGeom>
        </p:spPr>
      </p:pic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4B91E8DB-6992-A4DD-BF4B-A1804BCB96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8887" y="945579"/>
            <a:ext cx="274320" cy="274320"/>
          </a:xfrm>
          <a:prstGeom prst="rect">
            <a:avLst/>
          </a:prstGeom>
        </p:spPr>
      </p:pic>
      <p:pic>
        <p:nvPicPr>
          <p:cNvPr id="12" name="Graphic 11" descr="Cursor">
            <a:extLst>
              <a:ext uri="{FF2B5EF4-FFF2-40B4-BE49-F238E27FC236}">
                <a16:creationId xmlns:a16="http://schemas.microsoft.com/office/drawing/2014/main" id="{B3542019-D34F-3F38-0458-A24D1E861B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8887" y="2724677"/>
            <a:ext cx="274320" cy="274320"/>
          </a:xfrm>
          <a:prstGeom prst="rect">
            <a:avLst/>
          </a:prstGeom>
        </p:spPr>
      </p:pic>
      <p:sp>
        <p:nvSpPr>
          <p:cNvPr id="13" name="Next">
            <a:hlinkClick r:id="rId11" action="ppaction://hlinksldjump"/>
            <a:extLst>
              <a:ext uri="{FF2B5EF4-FFF2-40B4-BE49-F238E27FC236}">
                <a16:creationId xmlns:a16="http://schemas.microsoft.com/office/drawing/2014/main" id="{5CC6BE9D-6428-CC87-2C9B-F1D811FB996B}"/>
              </a:ext>
            </a:extLst>
          </p:cNvPr>
          <p:cNvSpPr/>
          <p:nvPr/>
        </p:nvSpPr>
        <p:spPr>
          <a:xfrm>
            <a:off x="446974" y="1711707"/>
            <a:ext cx="1107643" cy="62891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Non-immune</a:t>
            </a:r>
          </a:p>
        </p:txBody>
      </p:sp>
      <p:pic>
        <p:nvPicPr>
          <p:cNvPr id="15" name="Graphic 14" descr="Cursor">
            <a:extLst>
              <a:ext uri="{FF2B5EF4-FFF2-40B4-BE49-F238E27FC236}">
                <a16:creationId xmlns:a16="http://schemas.microsoft.com/office/drawing/2014/main" id="{76573ADA-9A2D-B1C5-6F88-FB88CD39A8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8887" y="2186233"/>
            <a:ext cx="274320" cy="274320"/>
          </a:xfrm>
          <a:prstGeom prst="rect">
            <a:avLst/>
          </a:prstGeom>
        </p:spPr>
      </p:pic>
      <p:sp>
        <p:nvSpPr>
          <p:cNvPr id="20" name="RI">
            <a:extLst>
              <a:ext uri="{FF2B5EF4-FFF2-40B4-BE49-F238E27FC236}">
                <a16:creationId xmlns:a16="http://schemas.microsoft.com/office/drawing/2014/main" id="{511CDA13-C85B-31F0-4DA1-1762B746576C}"/>
              </a:ext>
            </a:extLst>
          </p:cNvPr>
          <p:cNvSpPr txBox="1"/>
          <p:nvPr/>
        </p:nvSpPr>
        <p:spPr>
          <a:xfrm rot="5400000">
            <a:off x="507851" y="2972325"/>
            <a:ext cx="646986" cy="137160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38100"/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wrap="square" lIns="45720" tIns="18288" rIns="45720" bIns="18288" rtlCol="0" anchor="ctr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Reticulocyte Index (RI)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1" name="Increased production">
            <a:hlinkClick r:id="rId9" action="ppaction://hlinksldjump"/>
            <a:extLst>
              <a:ext uri="{FF2B5EF4-FFF2-40B4-BE49-F238E27FC236}">
                <a16:creationId xmlns:a16="http://schemas.microsoft.com/office/drawing/2014/main" id="{E626D588-A5DD-C48E-56D8-28EF0C25D4A7}"/>
              </a:ext>
            </a:extLst>
          </p:cNvPr>
          <p:cNvSpPr/>
          <p:nvPr/>
        </p:nvSpPr>
        <p:spPr>
          <a:xfrm>
            <a:off x="2162754" y="5202911"/>
            <a:ext cx="1527504" cy="540689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 w="38100">
            <a:solidFill>
              <a:schemeClr val="accent6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sym typeface="Wingdings" panose="05000000000000000000" pitchFamily="2" charset="2"/>
              </a:rPr>
              <a:t> production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5" name="Connector to underproduction">
            <a:extLst>
              <a:ext uri="{FF2B5EF4-FFF2-40B4-BE49-F238E27FC236}">
                <a16:creationId xmlns:a16="http://schemas.microsoft.com/office/drawing/2014/main" id="{9CEF2768-2F29-F50B-551C-A2BDE6DC7887}"/>
              </a:ext>
            </a:extLst>
          </p:cNvPr>
          <p:cNvGrpSpPr/>
          <p:nvPr/>
        </p:nvGrpSpPr>
        <p:grpSpPr>
          <a:xfrm>
            <a:off x="1525173" y="1913223"/>
            <a:ext cx="634413" cy="1751708"/>
            <a:chOff x="1525173" y="1444593"/>
            <a:chExt cx="634413" cy="1751708"/>
          </a:xfrm>
        </p:grpSpPr>
        <p:cxnSp>
          <p:nvCxnSpPr>
            <p:cNvPr id="26" name="Connector to Underproduction">
              <a:extLst>
                <a:ext uri="{FF2B5EF4-FFF2-40B4-BE49-F238E27FC236}">
                  <a16:creationId xmlns:a16="http://schemas.microsoft.com/office/drawing/2014/main" id="{E43C5C76-8DF5-697F-14E2-2A6C91CF3C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25173" y="1444593"/>
              <a:ext cx="634413" cy="1751708"/>
            </a:xfrm>
            <a:prstGeom prst="bent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A07E3E1-BE38-7AFE-D0DB-8C0D9C3243A2}"/>
                </a:ext>
              </a:extLst>
            </p:cNvPr>
            <p:cNvSpPr txBox="1"/>
            <p:nvPr/>
          </p:nvSpPr>
          <p:spPr>
            <a:xfrm>
              <a:off x="1632085" y="2195156"/>
              <a:ext cx="423756" cy="307777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/>
                <a:t>&lt;2</a:t>
              </a:r>
            </a:p>
          </p:txBody>
        </p:sp>
      </p:grpSp>
      <p:grpSp>
        <p:nvGrpSpPr>
          <p:cNvPr id="28" name="Connector to Inc. production">
            <a:extLst>
              <a:ext uri="{FF2B5EF4-FFF2-40B4-BE49-F238E27FC236}">
                <a16:creationId xmlns:a16="http://schemas.microsoft.com/office/drawing/2014/main" id="{9BB233B4-E871-690F-72B8-ECB6AD9FC3A4}"/>
              </a:ext>
            </a:extLst>
          </p:cNvPr>
          <p:cNvGrpSpPr/>
          <p:nvPr/>
        </p:nvGrpSpPr>
        <p:grpSpPr>
          <a:xfrm>
            <a:off x="1525173" y="3653501"/>
            <a:ext cx="637581" cy="1819755"/>
            <a:chOff x="1525173" y="3653501"/>
            <a:chExt cx="637581" cy="1819755"/>
          </a:xfrm>
        </p:grpSpPr>
        <p:cxnSp>
          <p:nvCxnSpPr>
            <p:cNvPr id="30" name="Connector to increased productoin">
              <a:extLst>
                <a:ext uri="{FF2B5EF4-FFF2-40B4-BE49-F238E27FC236}">
                  <a16:creationId xmlns:a16="http://schemas.microsoft.com/office/drawing/2014/main" id="{B22F196E-25CC-1E0B-914E-EA91F209F657}"/>
                </a:ext>
              </a:extLst>
            </p:cNvPr>
            <p:cNvCxnSpPr>
              <a:cxnSpLocks/>
            </p:cNvCxnSpPr>
            <p:nvPr/>
          </p:nvCxnSpPr>
          <p:spPr>
            <a:xfrm>
              <a:off x="1525173" y="3653501"/>
              <a:ext cx="637581" cy="1819755"/>
            </a:xfrm>
            <a:prstGeom prst="bent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924635C-C966-0EA6-9A5D-A1603E296236}"/>
                </a:ext>
              </a:extLst>
            </p:cNvPr>
            <p:cNvSpPr txBox="1"/>
            <p:nvPr/>
          </p:nvSpPr>
          <p:spPr>
            <a:xfrm>
              <a:off x="1630501" y="4312258"/>
              <a:ext cx="423756" cy="307777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/>
                <a:t>≥3</a:t>
              </a:r>
            </a:p>
          </p:txBody>
        </p:sp>
      </p:grpSp>
      <p:sp>
        <p:nvSpPr>
          <p:cNvPr id="48" name="Underproduction">
            <a:extLst>
              <a:ext uri="{FF2B5EF4-FFF2-40B4-BE49-F238E27FC236}">
                <a16:creationId xmlns:a16="http://schemas.microsoft.com/office/drawing/2014/main" id="{A3834337-9474-DC15-30DF-37F31236CC1B}"/>
              </a:ext>
            </a:extLst>
          </p:cNvPr>
          <p:cNvSpPr/>
          <p:nvPr/>
        </p:nvSpPr>
        <p:spPr>
          <a:xfrm>
            <a:off x="2159586" y="1631449"/>
            <a:ext cx="1911812" cy="54068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381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Underproduction</a:t>
            </a:r>
          </a:p>
        </p:txBody>
      </p:sp>
      <p:sp>
        <p:nvSpPr>
          <p:cNvPr id="49" name="Underproduction">
            <a:hlinkClick r:id="rId8" action="ppaction://hlinksldjump"/>
            <a:extLst>
              <a:ext uri="{FF2B5EF4-FFF2-40B4-BE49-F238E27FC236}">
                <a16:creationId xmlns:a16="http://schemas.microsoft.com/office/drawing/2014/main" id="{377D57A8-90C6-CB7C-D9B8-AAACDBF5A967}"/>
              </a:ext>
            </a:extLst>
          </p:cNvPr>
          <p:cNvSpPr/>
          <p:nvPr/>
        </p:nvSpPr>
        <p:spPr>
          <a:xfrm>
            <a:off x="2159586" y="1631448"/>
            <a:ext cx="1911812" cy="54068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Underproduction</a:t>
            </a:r>
          </a:p>
        </p:txBody>
      </p:sp>
      <p:pic>
        <p:nvPicPr>
          <p:cNvPr id="50" name="Graphic 49" descr="Cursor">
            <a:extLst>
              <a:ext uri="{FF2B5EF4-FFF2-40B4-BE49-F238E27FC236}">
                <a16:creationId xmlns:a16="http://schemas.microsoft.com/office/drawing/2014/main" id="{B00B221D-D38B-4FC8-1AF3-70BC9DDBDD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34238" y="2034977"/>
            <a:ext cx="274320" cy="274320"/>
          </a:xfrm>
          <a:prstGeom prst="rect">
            <a:avLst/>
          </a:prstGeom>
        </p:spPr>
      </p:pic>
      <p:sp>
        <p:nvSpPr>
          <p:cNvPr id="239" name="Rectangle 238">
            <a:extLst>
              <a:ext uri="{FF2B5EF4-FFF2-40B4-BE49-F238E27FC236}">
                <a16:creationId xmlns:a16="http://schemas.microsoft.com/office/drawing/2014/main" id="{9FEB8262-835C-45B6-97EB-5B847A4C7BDE}"/>
              </a:ext>
            </a:extLst>
          </p:cNvPr>
          <p:cNvSpPr/>
          <p:nvPr/>
        </p:nvSpPr>
        <p:spPr>
          <a:xfrm>
            <a:off x="2231798" y="3211836"/>
            <a:ext cx="1298389" cy="8358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sym typeface="Wingdings" panose="05000000000000000000" pitchFamily="2" charset="2"/>
              </a:rPr>
              <a:t>LDH </a:t>
            </a:r>
          </a:p>
          <a:p>
            <a:r>
              <a:rPr lang="en-US" sz="1200" dirty="0">
                <a:solidFill>
                  <a:schemeClr val="tx1"/>
                </a:solidFill>
                <a:sym typeface="Wingdings" panose="05000000000000000000" pitchFamily="2" charset="2"/>
              </a:rPr>
              <a:t> haptoglobin</a:t>
            </a:r>
          </a:p>
          <a:p>
            <a:r>
              <a:rPr lang="en-US" sz="1200" dirty="0">
                <a:solidFill>
                  <a:schemeClr val="tx1"/>
                </a:solidFill>
                <a:sym typeface="Wingdings" panose="05000000000000000000" pitchFamily="2" charset="2"/>
              </a:rPr>
              <a:t> indirect </a:t>
            </a:r>
            <a:r>
              <a:rPr lang="en-US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Tbili</a:t>
            </a:r>
            <a:endParaRPr lang="en-US" sz="12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sz="1200" dirty="0">
                <a:solidFill>
                  <a:schemeClr val="tx1"/>
                </a:solidFill>
                <a:sym typeface="Wingdings" panose="05000000000000000000" pitchFamily="2" charset="2"/>
              </a:rPr>
              <a:t>Peripheral smear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56" name="Work-up of anemia">
            <a:extLst>
              <a:ext uri="{FF2B5EF4-FFF2-40B4-BE49-F238E27FC236}">
                <a16:creationId xmlns:a16="http://schemas.microsoft.com/office/drawing/2014/main" id="{D0631421-6C0E-D832-BF8B-FF0329AC8B44}"/>
              </a:ext>
            </a:extLst>
          </p:cNvPr>
          <p:cNvSpPr txBox="1"/>
          <p:nvPr/>
        </p:nvSpPr>
        <p:spPr>
          <a:xfrm>
            <a:off x="4706879" y="103202"/>
            <a:ext cx="3183926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400" b="1" dirty="0"/>
              <a:t>Overproduction</a:t>
            </a:r>
          </a:p>
        </p:txBody>
      </p:sp>
      <p:cxnSp>
        <p:nvCxnSpPr>
          <p:cNvPr id="473" name="Straight Connector 472">
            <a:extLst>
              <a:ext uri="{FF2B5EF4-FFF2-40B4-BE49-F238E27FC236}">
                <a16:creationId xmlns:a16="http://schemas.microsoft.com/office/drawing/2014/main" id="{9A93007F-FE32-BF49-B4BC-C82F3F5E10AF}"/>
              </a:ext>
            </a:extLst>
          </p:cNvPr>
          <p:cNvCxnSpPr>
            <a:stCxn id="238" idx="1"/>
            <a:endCxn id="239" idx="3"/>
          </p:cNvCxnSpPr>
          <p:nvPr/>
        </p:nvCxnSpPr>
        <p:spPr>
          <a:xfrm flipH="1" flipV="1">
            <a:off x="3530187" y="3629780"/>
            <a:ext cx="229125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9" name="Straight Connector 478">
            <a:extLst>
              <a:ext uri="{FF2B5EF4-FFF2-40B4-BE49-F238E27FC236}">
                <a16:creationId xmlns:a16="http://schemas.microsoft.com/office/drawing/2014/main" id="{C3515438-AB35-AC08-A118-4E02B1A98B7F}"/>
              </a:ext>
            </a:extLst>
          </p:cNvPr>
          <p:cNvCxnSpPr>
            <a:stCxn id="80" idx="3"/>
          </p:cNvCxnSpPr>
          <p:nvPr/>
        </p:nvCxnSpPr>
        <p:spPr>
          <a:xfrm>
            <a:off x="6262424" y="6411034"/>
            <a:ext cx="49263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AAAE35D1-CBB5-D7B7-0636-EBE2D24B5912}"/>
              </a:ext>
            </a:extLst>
          </p:cNvPr>
          <p:cNvGrpSpPr/>
          <p:nvPr/>
        </p:nvGrpSpPr>
        <p:grpSpPr>
          <a:xfrm>
            <a:off x="8480130" y="2593630"/>
            <a:ext cx="3057482" cy="1652577"/>
            <a:chOff x="8480130" y="2593630"/>
            <a:chExt cx="3057482" cy="1652577"/>
          </a:xfrm>
        </p:grpSpPr>
        <p:cxnSp>
          <p:nvCxnSpPr>
            <p:cNvPr id="487" name="Connector to Extrinsic">
              <a:extLst>
                <a:ext uri="{FF2B5EF4-FFF2-40B4-BE49-F238E27FC236}">
                  <a16:creationId xmlns:a16="http://schemas.microsoft.com/office/drawing/2014/main" id="{1727450D-69DE-8426-03CB-E5410B1F054C}"/>
                </a:ext>
              </a:extLst>
            </p:cNvPr>
            <p:cNvCxnSpPr>
              <a:cxnSpLocks/>
              <a:stCxn id="428" idx="3"/>
              <a:endCxn id="486" idx="1"/>
            </p:cNvCxnSpPr>
            <p:nvPr/>
          </p:nvCxnSpPr>
          <p:spPr>
            <a:xfrm flipV="1">
              <a:off x="8480130" y="2998997"/>
              <a:ext cx="552224" cy="19212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502" name="Group 501">
              <a:extLst>
                <a:ext uri="{FF2B5EF4-FFF2-40B4-BE49-F238E27FC236}">
                  <a16:creationId xmlns:a16="http://schemas.microsoft.com/office/drawing/2014/main" id="{04F18AC6-A283-4450-3094-7D7384651675}"/>
                </a:ext>
              </a:extLst>
            </p:cNvPr>
            <p:cNvGrpSpPr/>
            <p:nvPr/>
          </p:nvGrpSpPr>
          <p:grpSpPr>
            <a:xfrm>
              <a:off x="8480130" y="2593630"/>
              <a:ext cx="3057482" cy="1652577"/>
              <a:chOff x="8480130" y="2593630"/>
              <a:chExt cx="3057482" cy="1652577"/>
            </a:xfrm>
          </p:grpSpPr>
          <p:grpSp>
            <p:nvGrpSpPr>
              <p:cNvPr id="482" name="Schistocytes">
                <a:extLst>
                  <a:ext uri="{FF2B5EF4-FFF2-40B4-BE49-F238E27FC236}">
                    <a16:creationId xmlns:a16="http://schemas.microsoft.com/office/drawing/2014/main" id="{B19CA17A-98AE-8482-5287-B324654A0F0D}"/>
                  </a:ext>
                </a:extLst>
              </p:cNvPr>
              <p:cNvGrpSpPr/>
              <p:nvPr/>
            </p:nvGrpSpPr>
            <p:grpSpPr>
              <a:xfrm>
                <a:off x="10662829" y="2593630"/>
                <a:ext cx="874783" cy="869103"/>
                <a:chOff x="6033536" y="961760"/>
                <a:chExt cx="919545" cy="957288"/>
              </a:xfrm>
              <a:effectLst/>
            </p:grpSpPr>
            <p:sp>
              <p:nvSpPr>
                <p:cNvPr id="483" name="Rectangle 52">
                  <a:extLst>
                    <a:ext uri="{FF2B5EF4-FFF2-40B4-BE49-F238E27FC236}">
                      <a16:creationId xmlns:a16="http://schemas.microsoft.com/office/drawing/2014/main" id="{B95220EF-D5DB-DA7E-ED0D-255C8CA3F86D}"/>
                    </a:ext>
                  </a:extLst>
                </p:cNvPr>
                <p:cNvSpPr/>
                <p:nvPr/>
              </p:nvSpPr>
              <p:spPr>
                <a:xfrm>
                  <a:off x="6053951" y="961760"/>
                  <a:ext cx="899130" cy="94280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7030A0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4" name="TextBox 483">
                  <a:extLst>
                    <a:ext uri="{FF2B5EF4-FFF2-40B4-BE49-F238E27FC236}">
                      <a16:creationId xmlns:a16="http://schemas.microsoft.com/office/drawing/2014/main" id="{9A9D2FC7-1436-743B-D766-4DE943E4D6A4}"/>
                    </a:ext>
                  </a:extLst>
                </p:cNvPr>
                <p:cNvSpPr txBox="1"/>
                <p:nvPr/>
              </p:nvSpPr>
              <p:spPr>
                <a:xfrm>
                  <a:off x="6033536" y="1647844"/>
                  <a:ext cx="901784" cy="2712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00" i="1" dirty="0"/>
                    <a:t>Schistocytes</a:t>
                  </a:r>
                </a:p>
              </p:txBody>
            </p:sp>
            <p:pic>
              <p:nvPicPr>
                <p:cNvPr id="485" name="Picture 484">
                  <a:extLst>
                    <a:ext uri="{FF2B5EF4-FFF2-40B4-BE49-F238E27FC236}">
                      <a16:creationId xmlns:a16="http://schemas.microsoft.com/office/drawing/2014/main" id="{6DD92F25-095A-F2B4-DC24-4DD25F4668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2"/>
                <a:srcRect l="24450" r="1192" b="33561"/>
                <a:stretch/>
              </p:blipFill>
              <p:spPr>
                <a:xfrm>
                  <a:off x="6133236" y="1021132"/>
                  <a:ext cx="703473" cy="671974"/>
                </a:xfrm>
                <a:prstGeom prst="rect">
                  <a:avLst/>
                </a:prstGeom>
              </p:spPr>
            </p:pic>
          </p:grpSp>
          <p:sp>
            <p:nvSpPr>
              <p:cNvPr id="486" name="Fragmentation hemolysis">
                <a:extLst>
                  <a:ext uri="{FF2B5EF4-FFF2-40B4-BE49-F238E27FC236}">
                    <a16:creationId xmlns:a16="http://schemas.microsoft.com/office/drawing/2014/main" id="{B699638E-3852-3769-00D2-6BFDB0F7730F}"/>
                  </a:ext>
                </a:extLst>
              </p:cNvPr>
              <p:cNvSpPr/>
              <p:nvPr/>
            </p:nvSpPr>
            <p:spPr>
              <a:xfrm>
                <a:off x="9032354" y="2681230"/>
                <a:ext cx="1527561" cy="635533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38100">
                <a:solidFill>
                  <a:srgbClr val="6F2971"/>
                </a:solidFill>
              </a:ln>
              <a:effectLst/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MAHA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(Fragmentation)</a:t>
                </a:r>
              </a:p>
            </p:txBody>
          </p:sp>
          <p:cxnSp>
            <p:nvCxnSpPr>
              <p:cNvPr id="492" name="Connector to Extrinsic">
                <a:extLst>
                  <a:ext uri="{FF2B5EF4-FFF2-40B4-BE49-F238E27FC236}">
                    <a16:creationId xmlns:a16="http://schemas.microsoft.com/office/drawing/2014/main" id="{CF1FF8BA-06D9-540C-CD71-9C0C9C72BE5F}"/>
                  </a:ext>
                </a:extLst>
              </p:cNvPr>
              <p:cNvCxnSpPr>
                <a:cxnSpLocks/>
                <a:stCxn id="428" idx="3"/>
                <a:endCxn id="495" idx="1"/>
              </p:cNvCxnSpPr>
              <p:nvPr/>
            </p:nvCxnSpPr>
            <p:spPr>
              <a:xfrm>
                <a:off x="8480130" y="3191117"/>
                <a:ext cx="552224" cy="828511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95" name="No fragmentation">
                <a:extLst>
                  <a:ext uri="{FF2B5EF4-FFF2-40B4-BE49-F238E27FC236}">
                    <a16:creationId xmlns:a16="http://schemas.microsoft.com/office/drawing/2014/main" id="{BB8D2506-1275-ADA5-91E2-718823BA35A2}"/>
                  </a:ext>
                </a:extLst>
              </p:cNvPr>
              <p:cNvSpPr/>
              <p:nvPr/>
            </p:nvSpPr>
            <p:spPr>
              <a:xfrm>
                <a:off x="9032354" y="3793048"/>
                <a:ext cx="1527561" cy="45315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38100">
                <a:solidFill>
                  <a:schemeClr val="accent2"/>
                </a:solidFill>
              </a:ln>
              <a:effectLst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Non-MAHA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505" name="Graphic 504" descr="Cursor">
            <a:extLst>
              <a:ext uri="{FF2B5EF4-FFF2-40B4-BE49-F238E27FC236}">
                <a16:creationId xmlns:a16="http://schemas.microsoft.com/office/drawing/2014/main" id="{FAF42270-FC1E-9B4C-FDD4-8E5862962C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8611" y="1121692"/>
            <a:ext cx="274320" cy="274320"/>
          </a:xfrm>
          <a:prstGeom prst="rect">
            <a:avLst/>
          </a:prstGeom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7A0C164B-5EF4-269D-3CB0-7A960072212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5434" y="1724624"/>
            <a:ext cx="449392" cy="153688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18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2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8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8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7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1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9"/>
                  </p:tgtEl>
                </p:cond>
              </p:nextCondLst>
            </p:seq>
          </p:childTnLst>
        </p:cTn>
      </p:par>
    </p:tnLst>
    <p:bldLst>
      <p:bldP spid="14" grpId="0" animBg="1"/>
      <p:bldP spid="504" grpId="0" animBg="1"/>
      <p:bldP spid="480" grpId="0" animBg="1"/>
      <p:bldP spid="481" grpId="0" animBg="1"/>
      <p:bldP spid="38" grpId="0" animBg="1"/>
      <p:bldP spid="144" grpId="0" animBg="1"/>
      <p:bldP spid="166" grpId="0" animBg="1"/>
      <p:bldP spid="166" grpId="1" animBg="1"/>
      <p:bldP spid="188" grpId="0" animBg="1"/>
      <p:bldP spid="255" grpId="0" animBg="1"/>
      <p:bldP spid="417" grpId="0" animBg="1"/>
      <p:bldP spid="417" grpId="1" animBg="1"/>
      <p:bldP spid="428" grpId="0" animBg="1"/>
      <p:bldP spid="428" grpId="2" animBg="1"/>
      <p:bldP spid="429" grpId="0" animBg="1"/>
      <p:bldP spid="432" grpId="0" animBg="1"/>
      <p:bldP spid="439" grpId="0" animBg="1"/>
      <p:bldP spid="439" grpId="1" animBg="1"/>
      <p:bldP spid="539" grpId="0" animBg="1"/>
      <p:bldP spid="644" grpId="0" animBg="1"/>
      <p:bldP spid="239" grpId="0" animBg="1"/>
      <p:bldP spid="239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xtrinsic to RBC">
            <a:extLst>
              <a:ext uri="{FF2B5EF4-FFF2-40B4-BE49-F238E27FC236}">
                <a16:creationId xmlns:a16="http://schemas.microsoft.com/office/drawing/2014/main" id="{B73E89E7-8D4F-0DF9-7445-FD6B13801FDD}"/>
              </a:ext>
            </a:extLst>
          </p:cNvPr>
          <p:cNvSpPr/>
          <p:nvPr/>
        </p:nvSpPr>
        <p:spPr>
          <a:xfrm>
            <a:off x="4148690" y="4406406"/>
            <a:ext cx="1097280" cy="36576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38100">
            <a:solidFill>
              <a:schemeClr val="accent2">
                <a:lumMod val="75000"/>
              </a:schemeClr>
            </a:solidFill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Extrinsic</a:t>
            </a:r>
          </a:p>
        </p:txBody>
      </p:sp>
      <p:sp>
        <p:nvSpPr>
          <p:cNvPr id="481" name="Fragmentation hemolysis">
            <a:extLst>
              <a:ext uri="{FF2B5EF4-FFF2-40B4-BE49-F238E27FC236}">
                <a16:creationId xmlns:a16="http://schemas.microsoft.com/office/drawing/2014/main" id="{46908DFD-3CE9-781D-90B9-CFE4D9DA0454}"/>
              </a:ext>
            </a:extLst>
          </p:cNvPr>
          <p:cNvSpPr/>
          <p:nvPr/>
        </p:nvSpPr>
        <p:spPr>
          <a:xfrm>
            <a:off x="2141600" y="2028281"/>
            <a:ext cx="1790122" cy="732553"/>
          </a:xfrm>
          <a:prstGeom prst="roundRect">
            <a:avLst/>
          </a:prstGeom>
          <a:solidFill>
            <a:srgbClr val="6F2971"/>
          </a:solidFill>
          <a:ln w="38100">
            <a:solidFill>
              <a:srgbClr val="6F2971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MAHA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(Fragmentation)</a:t>
            </a:r>
          </a:p>
        </p:txBody>
      </p:sp>
      <p:sp>
        <p:nvSpPr>
          <p:cNvPr id="482" name="No fragmentation">
            <a:extLst>
              <a:ext uri="{FF2B5EF4-FFF2-40B4-BE49-F238E27FC236}">
                <a16:creationId xmlns:a16="http://schemas.microsoft.com/office/drawing/2014/main" id="{9BF3A8A2-02A4-D670-9C86-E86D53DB8266}"/>
              </a:ext>
            </a:extLst>
          </p:cNvPr>
          <p:cNvSpPr/>
          <p:nvPr/>
        </p:nvSpPr>
        <p:spPr>
          <a:xfrm>
            <a:off x="2141600" y="5303520"/>
            <a:ext cx="1539878" cy="492401"/>
          </a:xfrm>
          <a:prstGeom prst="roundRect">
            <a:avLst/>
          </a:prstGeom>
          <a:solidFill>
            <a:schemeClr val="accent2"/>
          </a:solidFill>
          <a:ln w="38100">
            <a:solidFill>
              <a:schemeClr val="accent2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Non-MAHA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77" name="Fragmentation hemolysis">
            <a:extLst>
              <a:ext uri="{FF2B5EF4-FFF2-40B4-BE49-F238E27FC236}">
                <a16:creationId xmlns:a16="http://schemas.microsoft.com/office/drawing/2014/main" id="{2B8FD5C4-CE14-9108-B724-9E9EA20A8369}"/>
              </a:ext>
            </a:extLst>
          </p:cNvPr>
          <p:cNvSpPr/>
          <p:nvPr/>
        </p:nvSpPr>
        <p:spPr>
          <a:xfrm>
            <a:off x="5064226" y="702450"/>
            <a:ext cx="1627431" cy="365760"/>
          </a:xfrm>
          <a:prstGeom prst="roundRect">
            <a:avLst/>
          </a:prstGeom>
          <a:solidFill>
            <a:srgbClr val="6F2971"/>
          </a:solidFill>
          <a:ln w="38100">
            <a:solidFill>
              <a:srgbClr val="6F2971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Primary TMA</a:t>
            </a:r>
          </a:p>
        </p:txBody>
      </p:sp>
      <p:sp>
        <p:nvSpPr>
          <p:cNvPr id="478" name="Other">
            <a:extLst>
              <a:ext uri="{FF2B5EF4-FFF2-40B4-BE49-F238E27FC236}">
                <a16:creationId xmlns:a16="http://schemas.microsoft.com/office/drawing/2014/main" id="{5F60BA47-42D0-6992-5594-82A2639E38D1}"/>
              </a:ext>
            </a:extLst>
          </p:cNvPr>
          <p:cNvSpPr/>
          <p:nvPr/>
        </p:nvSpPr>
        <p:spPr>
          <a:xfrm>
            <a:off x="5064226" y="2640529"/>
            <a:ext cx="1074368" cy="365760"/>
          </a:xfrm>
          <a:prstGeom prst="roundRect">
            <a:avLst/>
          </a:prstGeom>
          <a:solidFill>
            <a:srgbClr val="C01AB0"/>
          </a:solidFill>
          <a:ln w="38100">
            <a:solidFill>
              <a:srgbClr val="C01AB0"/>
            </a:solidFill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Other</a:t>
            </a:r>
          </a:p>
        </p:txBody>
      </p:sp>
      <p:sp>
        <p:nvSpPr>
          <p:cNvPr id="472" name="No fragmentation">
            <a:extLst>
              <a:ext uri="{FF2B5EF4-FFF2-40B4-BE49-F238E27FC236}">
                <a16:creationId xmlns:a16="http://schemas.microsoft.com/office/drawing/2014/main" id="{26E6C537-0B1A-2F2A-63C9-683FC32F91FC}"/>
              </a:ext>
            </a:extLst>
          </p:cNvPr>
          <p:cNvSpPr/>
          <p:nvPr/>
        </p:nvSpPr>
        <p:spPr>
          <a:xfrm>
            <a:off x="2141600" y="5303520"/>
            <a:ext cx="1539878" cy="492401"/>
          </a:xfrm>
          <a:prstGeom prst="roundRect">
            <a:avLst/>
          </a:prstGeom>
          <a:solidFill>
            <a:schemeClr val="accent2"/>
          </a:solidFill>
          <a:ln w="38100">
            <a:solidFill>
              <a:schemeClr val="accent2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Non-MAHA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6" name="Brace systemic diseases">
            <a:extLst>
              <a:ext uri="{FF2B5EF4-FFF2-40B4-BE49-F238E27FC236}">
                <a16:creationId xmlns:a16="http://schemas.microsoft.com/office/drawing/2014/main" id="{B91D7260-B240-45ED-8F4F-16D330E58FA1}"/>
              </a:ext>
            </a:extLst>
          </p:cNvPr>
          <p:cNvSpPr/>
          <p:nvPr/>
        </p:nvSpPr>
        <p:spPr>
          <a:xfrm flipV="1">
            <a:off x="5245970" y="4060692"/>
            <a:ext cx="379953" cy="1116419"/>
          </a:xfrm>
          <a:prstGeom prst="leftBrace">
            <a:avLst>
              <a:gd name="adj1" fmla="val 0"/>
              <a:gd name="adj2" fmla="val 53153"/>
            </a:avLst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Brace TMA">
            <a:extLst>
              <a:ext uri="{FF2B5EF4-FFF2-40B4-BE49-F238E27FC236}">
                <a16:creationId xmlns:a16="http://schemas.microsoft.com/office/drawing/2014/main" id="{A7C1E659-EA75-4E50-A1FE-80E546272BCD}"/>
              </a:ext>
            </a:extLst>
          </p:cNvPr>
          <p:cNvSpPr/>
          <p:nvPr/>
        </p:nvSpPr>
        <p:spPr>
          <a:xfrm>
            <a:off x="6675208" y="607772"/>
            <a:ext cx="403467" cy="703530"/>
          </a:xfrm>
          <a:prstGeom prst="leftBrace">
            <a:avLst>
              <a:gd name="adj1" fmla="val 0"/>
              <a:gd name="adj2" fmla="val 42207"/>
            </a:avLst>
          </a:prstGeom>
          <a:ln w="19050">
            <a:solidFill>
              <a:srgbClr val="903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non-immune hemolysis">
            <a:extLst>
              <a:ext uri="{FF2B5EF4-FFF2-40B4-BE49-F238E27FC236}">
                <a16:creationId xmlns:a16="http://schemas.microsoft.com/office/drawing/2014/main" id="{4B9C6A50-F889-474F-BAC9-CA0A4B0D7109}"/>
              </a:ext>
            </a:extLst>
          </p:cNvPr>
          <p:cNvSpPr txBox="1"/>
          <p:nvPr/>
        </p:nvSpPr>
        <p:spPr>
          <a:xfrm rot="5400000">
            <a:off x="578344" y="3215798"/>
            <a:ext cx="822960" cy="1463040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wrap="square" lIns="45720" tIns="18288" rIns="45720" bIns="18288" rtlCol="0" anchor="ctr">
            <a:spAutoFit/>
          </a:bodyPr>
          <a:lstStyle/>
          <a:p>
            <a:pPr lvl="0" algn="ctr"/>
            <a:r>
              <a:rPr lang="en-US" dirty="0"/>
              <a:t>Non-immune hemolysis</a:t>
            </a:r>
            <a:endParaRPr lang="en-US" sz="1400" dirty="0"/>
          </a:p>
        </p:txBody>
      </p:sp>
      <p:sp>
        <p:nvSpPr>
          <p:cNvPr id="14" name="Fragmentation hemolysis">
            <a:extLst>
              <a:ext uri="{FF2B5EF4-FFF2-40B4-BE49-F238E27FC236}">
                <a16:creationId xmlns:a16="http://schemas.microsoft.com/office/drawing/2014/main" id="{1D8536FF-E5A5-4BEB-97B6-7AD44433C302}"/>
              </a:ext>
            </a:extLst>
          </p:cNvPr>
          <p:cNvSpPr/>
          <p:nvPr/>
        </p:nvSpPr>
        <p:spPr>
          <a:xfrm>
            <a:off x="2141600" y="2028281"/>
            <a:ext cx="1790122" cy="73255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6F297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MAHA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(Fragmentation)</a:t>
            </a:r>
          </a:p>
        </p:txBody>
      </p:sp>
      <p:sp>
        <p:nvSpPr>
          <p:cNvPr id="16" name="No fragmentation">
            <a:extLst>
              <a:ext uri="{FF2B5EF4-FFF2-40B4-BE49-F238E27FC236}">
                <a16:creationId xmlns:a16="http://schemas.microsoft.com/office/drawing/2014/main" id="{52C341EC-6FC6-4D00-9F3A-9D58A6EBAF2E}"/>
              </a:ext>
            </a:extLst>
          </p:cNvPr>
          <p:cNvSpPr/>
          <p:nvPr/>
        </p:nvSpPr>
        <p:spPr>
          <a:xfrm>
            <a:off x="2141600" y="5303520"/>
            <a:ext cx="1539878" cy="49240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Non-MAHA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Connector to Extrinsic">
            <a:extLst>
              <a:ext uri="{FF2B5EF4-FFF2-40B4-BE49-F238E27FC236}">
                <a16:creationId xmlns:a16="http://schemas.microsoft.com/office/drawing/2014/main" id="{5CB2C196-E0EF-4620-B0B9-5734515C6A69}"/>
              </a:ext>
            </a:extLst>
          </p:cNvPr>
          <p:cNvCxnSpPr>
            <a:cxnSpLocks/>
            <a:stCxn id="5" idx="0"/>
            <a:endCxn id="14" idx="1"/>
          </p:cNvCxnSpPr>
          <p:nvPr/>
        </p:nvCxnSpPr>
        <p:spPr>
          <a:xfrm flipV="1">
            <a:off x="1721344" y="2394558"/>
            <a:ext cx="420256" cy="15527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nector to increased productoin">
            <a:extLst>
              <a:ext uri="{FF2B5EF4-FFF2-40B4-BE49-F238E27FC236}">
                <a16:creationId xmlns:a16="http://schemas.microsoft.com/office/drawing/2014/main" id="{E2401DCD-716C-4952-9356-27A32BDAEB98}"/>
              </a:ext>
            </a:extLst>
          </p:cNvPr>
          <p:cNvCxnSpPr>
            <a:cxnSpLocks/>
            <a:stCxn id="5" idx="0"/>
            <a:endCxn id="16" idx="1"/>
          </p:cNvCxnSpPr>
          <p:nvPr/>
        </p:nvCxnSpPr>
        <p:spPr>
          <a:xfrm>
            <a:off x="1721344" y="3947318"/>
            <a:ext cx="420256" cy="16024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Step 5" hidden="1">
            <a:extLst>
              <a:ext uri="{FF2B5EF4-FFF2-40B4-BE49-F238E27FC236}">
                <a16:creationId xmlns:a16="http://schemas.microsoft.com/office/drawing/2014/main" id="{AD323926-F2F0-491D-A64D-1FA9729E7E34}"/>
              </a:ext>
            </a:extLst>
          </p:cNvPr>
          <p:cNvSpPr txBox="1"/>
          <p:nvPr/>
        </p:nvSpPr>
        <p:spPr>
          <a:xfrm>
            <a:off x="2326233" y="2364510"/>
            <a:ext cx="1311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Step 5</a:t>
            </a:r>
          </a:p>
        </p:txBody>
      </p:sp>
      <p:sp>
        <p:nvSpPr>
          <p:cNvPr id="38" name="Primary TMA">
            <a:extLst>
              <a:ext uri="{FF2B5EF4-FFF2-40B4-BE49-F238E27FC236}">
                <a16:creationId xmlns:a16="http://schemas.microsoft.com/office/drawing/2014/main" id="{03DC98C3-AC6A-4BEB-B170-6F8DEA421987}"/>
              </a:ext>
            </a:extLst>
          </p:cNvPr>
          <p:cNvSpPr/>
          <p:nvPr/>
        </p:nvSpPr>
        <p:spPr>
          <a:xfrm>
            <a:off x="5064226" y="702450"/>
            <a:ext cx="1627431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6F297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Primary TMA</a:t>
            </a:r>
          </a:p>
        </p:txBody>
      </p:sp>
      <p:cxnSp>
        <p:nvCxnSpPr>
          <p:cNvPr id="37" name="Connector to Fragmentation hemolysis">
            <a:extLst>
              <a:ext uri="{FF2B5EF4-FFF2-40B4-BE49-F238E27FC236}">
                <a16:creationId xmlns:a16="http://schemas.microsoft.com/office/drawing/2014/main" id="{836E5B7A-F66E-4B24-A6F9-356969A96290}"/>
              </a:ext>
            </a:extLst>
          </p:cNvPr>
          <p:cNvCxnSpPr>
            <a:cxnSpLocks/>
            <a:stCxn id="14" idx="3"/>
            <a:endCxn id="38" idx="1"/>
          </p:cNvCxnSpPr>
          <p:nvPr/>
        </p:nvCxnSpPr>
        <p:spPr>
          <a:xfrm flipV="1">
            <a:off x="3931722" y="885330"/>
            <a:ext cx="1132504" cy="150922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Connecter to Blood loss">
            <a:extLst>
              <a:ext uri="{FF2B5EF4-FFF2-40B4-BE49-F238E27FC236}">
                <a16:creationId xmlns:a16="http://schemas.microsoft.com/office/drawing/2014/main" id="{099F750D-AAB6-4D17-B03A-35AF3A5A3DAA}"/>
              </a:ext>
            </a:extLst>
          </p:cNvPr>
          <p:cNvCxnSpPr>
            <a:cxnSpLocks/>
            <a:stCxn id="14" idx="3"/>
            <a:endCxn id="517" idx="1"/>
          </p:cNvCxnSpPr>
          <p:nvPr/>
        </p:nvCxnSpPr>
        <p:spPr>
          <a:xfrm>
            <a:off x="3931722" y="2394558"/>
            <a:ext cx="1132504" cy="4288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1" name="Thalassemias" hidden="1">
            <a:extLst>
              <a:ext uri="{FF2B5EF4-FFF2-40B4-BE49-F238E27FC236}">
                <a16:creationId xmlns:a16="http://schemas.microsoft.com/office/drawing/2014/main" id="{86115BD4-2E56-4068-885A-F9D2B041510A}"/>
              </a:ext>
            </a:extLst>
          </p:cNvPr>
          <p:cNvSpPr txBox="1"/>
          <p:nvPr/>
        </p:nvSpPr>
        <p:spPr>
          <a:xfrm>
            <a:off x="7856618" y="3929651"/>
            <a:ext cx="1757221" cy="306467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Thalassemias</a:t>
            </a:r>
            <a:endParaRPr lang="en-US" sz="1200" dirty="0"/>
          </a:p>
        </p:txBody>
      </p:sp>
      <p:sp>
        <p:nvSpPr>
          <p:cNvPr id="132" name="Sideroblastic anemias" hidden="1">
            <a:extLst>
              <a:ext uri="{FF2B5EF4-FFF2-40B4-BE49-F238E27FC236}">
                <a16:creationId xmlns:a16="http://schemas.microsoft.com/office/drawing/2014/main" id="{E583EF52-F76C-4AB7-B985-989C7F45CFD3}"/>
              </a:ext>
            </a:extLst>
          </p:cNvPr>
          <p:cNvSpPr txBox="1"/>
          <p:nvPr/>
        </p:nvSpPr>
        <p:spPr>
          <a:xfrm>
            <a:off x="7856617" y="4290527"/>
            <a:ext cx="1757221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Sideroblastic anemia</a:t>
            </a:r>
          </a:p>
        </p:txBody>
      </p:sp>
      <p:sp>
        <p:nvSpPr>
          <p:cNvPr id="133" name="Anemia of chronic inflammation" hidden="1">
            <a:extLst>
              <a:ext uri="{FF2B5EF4-FFF2-40B4-BE49-F238E27FC236}">
                <a16:creationId xmlns:a16="http://schemas.microsoft.com/office/drawing/2014/main" id="{0D2C925D-C15C-4C2B-A1E3-3A98FC1747BD}"/>
              </a:ext>
            </a:extLst>
          </p:cNvPr>
          <p:cNvSpPr txBox="1"/>
          <p:nvPr/>
        </p:nvSpPr>
        <p:spPr>
          <a:xfrm>
            <a:off x="7856617" y="2995757"/>
            <a:ext cx="1757221" cy="510778"/>
          </a:xfrm>
          <a:prstGeom prst="roundRect">
            <a:avLst/>
          </a:prstGeom>
          <a:ln>
            <a:gradFill flip="none" rotWithShape="1">
              <a:gsLst>
                <a:gs pos="100000">
                  <a:schemeClr val="accent5">
                    <a:lumMod val="75000"/>
                  </a:schemeClr>
                </a:gs>
                <a:gs pos="2000">
                  <a:schemeClr val="accent5"/>
                </a:gs>
              </a:gsLst>
              <a:lin ang="16200000" scaled="1"/>
              <a:tileRect/>
            </a:gra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Anemia of chronic inflammation</a:t>
            </a:r>
          </a:p>
        </p:txBody>
      </p:sp>
      <p:sp>
        <p:nvSpPr>
          <p:cNvPr id="134" name="Anemia of CKD" hidden="1">
            <a:extLst>
              <a:ext uri="{FF2B5EF4-FFF2-40B4-BE49-F238E27FC236}">
                <a16:creationId xmlns:a16="http://schemas.microsoft.com/office/drawing/2014/main" id="{79E7A8F9-61D8-4C53-94C1-53DC35F088B0}"/>
              </a:ext>
            </a:extLst>
          </p:cNvPr>
          <p:cNvSpPr txBox="1"/>
          <p:nvPr/>
        </p:nvSpPr>
        <p:spPr>
          <a:xfrm>
            <a:off x="7856616" y="2589508"/>
            <a:ext cx="1757221" cy="306467"/>
          </a:xfrm>
          <a:prstGeom prst="roundRect">
            <a:avLst/>
          </a:prstGeom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Anemia of CKD</a:t>
            </a:r>
          </a:p>
        </p:txBody>
      </p:sp>
      <p:sp>
        <p:nvSpPr>
          <p:cNvPr id="135" name="Acute blood loss" hidden="1">
            <a:extLst>
              <a:ext uri="{FF2B5EF4-FFF2-40B4-BE49-F238E27FC236}">
                <a16:creationId xmlns:a16="http://schemas.microsoft.com/office/drawing/2014/main" id="{6A1FA175-B826-4462-815F-CA12A766A8FA}"/>
              </a:ext>
            </a:extLst>
          </p:cNvPr>
          <p:cNvSpPr txBox="1"/>
          <p:nvPr/>
        </p:nvSpPr>
        <p:spPr>
          <a:xfrm>
            <a:off x="7856615" y="2183259"/>
            <a:ext cx="1757221" cy="306467"/>
          </a:xfrm>
          <a:prstGeom prst="round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Acute blood loss</a:t>
            </a:r>
          </a:p>
        </p:txBody>
      </p:sp>
      <p:sp>
        <p:nvSpPr>
          <p:cNvPr id="143" name="Brace systemic diseases">
            <a:extLst>
              <a:ext uri="{FF2B5EF4-FFF2-40B4-BE49-F238E27FC236}">
                <a16:creationId xmlns:a16="http://schemas.microsoft.com/office/drawing/2014/main" id="{D5BF7959-1C44-407E-9F72-D9046D618320}"/>
              </a:ext>
            </a:extLst>
          </p:cNvPr>
          <p:cNvSpPr/>
          <p:nvPr/>
        </p:nvSpPr>
        <p:spPr>
          <a:xfrm flipV="1">
            <a:off x="6695386" y="1464720"/>
            <a:ext cx="367802" cy="677670"/>
          </a:xfrm>
          <a:prstGeom prst="leftBrace">
            <a:avLst>
              <a:gd name="adj1" fmla="val 0"/>
              <a:gd name="adj2" fmla="val 68031"/>
            </a:avLst>
          </a:prstGeom>
          <a:ln w="19050">
            <a:solidFill>
              <a:srgbClr val="C01A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TTP/HUS">
            <a:extLst>
              <a:ext uri="{FF2B5EF4-FFF2-40B4-BE49-F238E27FC236}">
                <a16:creationId xmlns:a16="http://schemas.microsoft.com/office/drawing/2014/main" id="{B0B8A18B-4FA1-4697-AA1C-035796AF3395}"/>
              </a:ext>
            </a:extLst>
          </p:cNvPr>
          <p:cNvSpPr txBox="1"/>
          <p:nvPr/>
        </p:nvSpPr>
        <p:spPr>
          <a:xfrm>
            <a:off x="6958621" y="691450"/>
            <a:ext cx="1828800" cy="228600"/>
          </a:xfrm>
          <a:prstGeom prst="rect">
            <a:avLst/>
          </a:prstGeom>
          <a:ln>
            <a:solidFill>
              <a:srgbClr val="903089"/>
            </a:solidFill>
          </a:ln>
          <a:effec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8288" bIns="18288" rtlCol="0">
            <a:spAutoFit/>
          </a:bodyPr>
          <a:lstStyle/>
          <a:p>
            <a:pPr algn="ctr"/>
            <a:r>
              <a:rPr lang="en-US" sz="1200" dirty="0"/>
              <a:t>TTP/HUS</a:t>
            </a:r>
          </a:p>
        </p:txBody>
      </p:sp>
      <p:cxnSp>
        <p:nvCxnSpPr>
          <p:cNvPr id="232" name="Connecter to systemic">
            <a:extLst>
              <a:ext uri="{FF2B5EF4-FFF2-40B4-BE49-F238E27FC236}">
                <a16:creationId xmlns:a16="http://schemas.microsoft.com/office/drawing/2014/main" id="{39CCAF88-9542-4AF9-86E9-1E8FBC9521B7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3931722" y="1672427"/>
            <a:ext cx="1136232" cy="7221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8" name="Systemic disease">
            <a:extLst>
              <a:ext uri="{FF2B5EF4-FFF2-40B4-BE49-F238E27FC236}">
                <a16:creationId xmlns:a16="http://schemas.microsoft.com/office/drawing/2014/main" id="{3443409C-4E61-4C88-9832-0B374993D5BB}"/>
              </a:ext>
            </a:extLst>
          </p:cNvPr>
          <p:cNvSpPr/>
          <p:nvPr/>
        </p:nvSpPr>
        <p:spPr>
          <a:xfrm>
            <a:off x="5064226" y="1489547"/>
            <a:ext cx="1627431" cy="365760"/>
          </a:xfrm>
          <a:prstGeom prst="roundRect">
            <a:avLst>
              <a:gd name="adj" fmla="val 0"/>
            </a:avLst>
          </a:prstGeom>
          <a:solidFill>
            <a:srgbClr val="C01AB0"/>
          </a:solidFill>
          <a:ln>
            <a:solidFill>
              <a:srgbClr val="C01AB0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Secondary TMA</a:t>
            </a:r>
          </a:p>
        </p:txBody>
      </p:sp>
      <p:sp>
        <p:nvSpPr>
          <p:cNvPr id="439" name="Drug induced">
            <a:extLst>
              <a:ext uri="{FF2B5EF4-FFF2-40B4-BE49-F238E27FC236}">
                <a16:creationId xmlns:a16="http://schemas.microsoft.com/office/drawing/2014/main" id="{771D2A77-20E2-45BE-89ED-2B20578C3C40}"/>
              </a:ext>
            </a:extLst>
          </p:cNvPr>
          <p:cNvSpPr txBox="1"/>
          <p:nvPr/>
        </p:nvSpPr>
        <p:spPr>
          <a:xfrm>
            <a:off x="6958620" y="997311"/>
            <a:ext cx="1828800" cy="228600"/>
          </a:xfrm>
          <a:prstGeom prst="rect">
            <a:avLst/>
          </a:prstGeom>
          <a:ln>
            <a:solidFill>
              <a:srgbClr val="903089"/>
            </a:solidFill>
          </a:ln>
          <a:effec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8288" bIns="18288" rtlCol="0">
            <a:spAutoFit/>
          </a:bodyPr>
          <a:lstStyle/>
          <a:p>
            <a:pPr algn="ctr"/>
            <a:r>
              <a:rPr lang="en-US" sz="1200" dirty="0"/>
              <a:t>Drug-induced</a:t>
            </a:r>
          </a:p>
        </p:txBody>
      </p:sp>
      <p:sp>
        <p:nvSpPr>
          <p:cNvPr id="517" name="Other button">
            <a:extLst>
              <a:ext uri="{FF2B5EF4-FFF2-40B4-BE49-F238E27FC236}">
                <a16:creationId xmlns:a16="http://schemas.microsoft.com/office/drawing/2014/main" id="{B4CF8D65-77BE-40E1-9576-496EEF8AB3F1}"/>
              </a:ext>
            </a:extLst>
          </p:cNvPr>
          <p:cNvSpPr/>
          <p:nvPr/>
        </p:nvSpPr>
        <p:spPr>
          <a:xfrm>
            <a:off x="5064226" y="2640529"/>
            <a:ext cx="1074368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1AB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Other</a:t>
            </a: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0264C840-5341-47A5-B8BB-9BEAEE3F84C7}"/>
              </a:ext>
            </a:extLst>
          </p:cNvPr>
          <p:cNvSpPr/>
          <p:nvPr/>
        </p:nvSpPr>
        <p:spPr>
          <a:xfrm>
            <a:off x="4157502" y="1387934"/>
            <a:ext cx="585948" cy="46672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+ 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sym typeface="Wingdings" panose="05000000000000000000" pitchFamily="2" charset="2"/>
              </a:rPr>
              <a:t> </a:t>
            </a:r>
            <a:r>
              <a:rPr lang="en-US" sz="1100" dirty="0" err="1">
                <a:solidFill>
                  <a:schemeClr val="tx1"/>
                </a:solidFill>
                <a:sym typeface="Wingdings" panose="05000000000000000000" pitchFamily="2" charset="2"/>
              </a:rPr>
              <a:t>plts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23" name="DIC">
            <a:extLst>
              <a:ext uri="{FF2B5EF4-FFF2-40B4-BE49-F238E27FC236}">
                <a16:creationId xmlns:a16="http://schemas.microsoft.com/office/drawing/2014/main" id="{21A6EE4A-9095-44CC-B978-0B2CAC2230E3}"/>
              </a:ext>
            </a:extLst>
          </p:cNvPr>
          <p:cNvSpPr txBox="1"/>
          <p:nvPr/>
        </p:nvSpPr>
        <p:spPr>
          <a:xfrm>
            <a:off x="6958621" y="1525088"/>
            <a:ext cx="1828800" cy="228600"/>
          </a:xfrm>
          <a:prstGeom prst="rect">
            <a:avLst/>
          </a:prstGeom>
          <a:ln>
            <a:solidFill>
              <a:srgbClr val="C01AB0"/>
            </a:solidFill>
          </a:ln>
          <a:effec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8288" bIns="18288" rtlCol="0">
            <a:spAutoFit/>
          </a:bodyPr>
          <a:lstStyle/>
          <a:p>
            <a:pPr algn="ctr"/>
            <a:r>
              <a:rPr lang="en-US" sz="1200" dirty="0"/>
              <a:t>DIC</a:t>
            </a:r>
          </a:p>
        </p:txBody>
      </p:sp>
      <p:sp>
        <p:nvSpPr>
          <p:cNvPr id="324" name="HELLP">
            <a:extLst>
              <a:ext uri="{FF2B5EF4-FFF2-40B4-BE49-F238E27FC236}">
                <a16:creationId xmlns:a16="http://schemas.microsoft.com/office/drawing/2014/main" id="{22680B8D-8B75-4EE4-A177-2C678B61716C}"/>
              </a:ext>
            </a:extLst>
          </p:cNvPr>
          <p:cNvSpPr txBox="1"/>
          <p:nvPr/>
        </p:nvSpPr>
        <p:spPr>
          <a:xfrm>
            <a:off x="6958621" y="1829519"/>
            <a:ext cx="1828800" cy="228600"/>
          </a:xfrm>
          <a:prstGeom prst="rect">
            <a:avLst/>
          </a:prstGeom>
          <a:ln>
            <a:solidFill>
              <a:srgbClr val="C01AB0"/>
            </a:solidFill>
          </a:ln>
          <a:effec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8288" bIns="18288" rtlCol="0">
            <a:spAutoFit/>
          </a:bodyPr>
          <a:lstStyle/>
          <a:p>
            <a:pPr algn="ctr"/>
            <a:r>
              <a:rPr lang="en-US" sz="1200" dirty="0"/>
              <a:t>Pre-eclampsia/ HELLP</a:t>
            </a:r>
          </a:p>
        </p:txBody>
      </p:sp>
      <p:sp>
        <p:nvSpPr>
          <p:cNvPr id="325" name="Malignant HTN">
            <a:extLst>
              <a:ext uri="{FF2B5EF4-FFF2-40B4-BE49-F238E27FC236}">
                <a16:creationId xmlns:a16="http://schemas.microsoft.com/office/drawing/2014/main" id="{9A3FD9B3-34B1-4646-81D5-5AD01623DFD4}"/>
              </a:ext>
            </a:extLst>
          </p:cNvPr>
          <p:cNvSpPr txBox="1"/>
          <p:nvPr/>
        </p:nvSpPr>
        <p:spPr>
          <a:xfrm>
            <a:off x="6437231" y="2346759"/>
            <a:ext cx="1828800" cy="228600"/>
          </a:xfrm>
          <a:prstGeom prst="rect">
            <a:avLst/>
          </a:prstGeom>
          <a:ln>
            <a:solidFill>
              <a:srgbClr val="FF33CC"/>
            </a:solidFill>
          </a:ln>
          <a:effec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8288" bIns="18288" rtlCol="0">
            <a:spAutoFit/>
          </a:bodyPr>
          <a:lstStyle/>
          <a:p>
            <a:pPr algn="ctr"/>
            <a:r>
              <a:rPr lang="en-US" sz="1200" dirty="0"/>
              <a:t>Malignant HTN</a:t>
            </a:r>
          </a:p>
        </p:txBody>
      </p:sp>
      <p:sp>
        <p:nvSpPr>
          <p:cNvPr id="326" name="Malignancy">
            <a:extLst>
              <a:ext uri="{FF2B5EF4-FFF2-40B4-BE49-F238E27FC236}">
                <a16:creationId xmlns:a16="http://schemas.microsoft.com/office/drawing/2014/main" id="{A5CF5622-FC23-435F-AAB8-8A0458EC177A}"/>
              </a:ext>
            </a:extLst>
          </p:cNvPr>
          <p:cNvSpPr txBox="1"/>
          <p:nvPr/>
        </p:nvSpPr>
        <p:spPr>
          <a:xfrm>
            <a:off x="6437231" y="2659669"/>
            <a:ext cx="1828800" cy="228600"/>
          </a:xfrm>
          <a:prstGeom prst="rect">
            <a:avLst/>
          </a:prstGeom>
          <a:ln>
            <a:solidFill>
              <a:srgbClr val="FF33CC"/>
            </a:solidFill>
          </a:ln>
          <a:effec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8288" bIns="18288" rtlCol="0">
            <a:spAutoFit/>
          </a:bodyPr>
          <a:lstStyle/>
          <a:p>
            <a:pPr algn="ctr"/>
            <a:r>
              <a:rPr lang="en-US" sz="1200" dirty="0"/>
              <a:t>Malignancy</a:t>
            </a:r>
          </a:p>
        </p:txBody>
      </p:sp>
      <p:sp>
        <p:nvSpPr>
          <p:cNvPr id="333" name="Shear stress">
            <a:extLst>
              <a:ext uri="{FF2B5EF4-FFF2-40B4-BE49-F238E27FC236}">
                <a16:creationId xmlns:a16="http://schemas.microsoft.com/office/drawing/2014/main" id="{C80F6B3D-1963-4709-BB39-342758E4429D}"/>
              </a:ext>
            </a:extLst>
          </p:cNvPr>
          <p:cNvSpPr txBox="1"/>
          <p:nvPr/>
        </p:nvSpPr>
        <p:spPr>
          <a:xfrm>
            <a:off x="6437231" y="2972579"/>
            <a:ext cx="1828800" cy="228600"/>
          </a:xfrm>
          <a:prstGeom prst="rect">
            <a:avLst/>
          </a:prstGeom>
          <a:ln>
            <a:solidFill>
              <a:srgbClr val="FF33CC"/>
            </a:solidFill>
          </a:ln>
          <a:effec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8288" bIns="18288" rtlCol="0">
            <a:spAutoFit/>
          </a:bodyPr>
          <a:lstStyle/>
          <a:p>
            <a:pPr algn="ctr"/>
            <a:r>
              <a:rPr lang="en-US" sz="1200" dirty="0"/>
              <a:t>Shear stress</a:t>
            </a:r>
          </a:p>
        </p:txBody>
      </p:sp>
      <p:sp>
        <p:nvSpPr>
          <p:cNvPr id="343" name="Shear stress info">
            <a:extLst>
              <a:ext uri="{FF2B5EF4-FFF2-40B4-BE49-F238E27FC236}">
                <a16:creationId xmlns:a16="http://schemas.microsoft.com/office/drawing/2014/main" id="{7713F8D4-C200-4174-ABDE-0F34505C79FE}"/>
              </a:ext>
            </a:extLst>
          </p:cNvPr>
          <p:cNvSpPr/>
          <p:nvPr/>
        </p:nvSpPr>
        <p:spPr>
          <a:xfrm>
            <a:off x="9270689" y="2708950"/>
            <a:ext cx="2190202" cy="734334"/>
          </a:xfrm>
          <a:prstGeom prst="rect">
            <a:avLst/>
          </a:prstGeom>
          <a:solidFill>
            <a:schemeClr val="bg1"/>
          </a:solidFill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sym typeface="Wingdings" panose="05000000000000000000" pitchFamily="2" charset="2"/>
              </a:rPr>
              <a:t>Aortic stenosis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sym typeface="Wingdings" panose="05000000000000000000" pitchFamily="2" charset="2"/>
              </a:rPr>
              <a:t>Mechanical/ prosthetic valves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sym typeface="Wingdings" panose="05000000000000000000" pitchFamily="2" charset="2"/>
              </a:rPr>
              <a:t>LVADs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sym typeface="Wingdings" panose="05000000000000000000" pitchFamily="2" charset="2"/>
              </a:rPr>
              <a:t>TIPS</a:t>
            </a:r>
          </a:p>
        </p:txBody>
      </p:sp>
      <p:sp>
        <p:nvSpPr>
          <p:cNvPr id="404" name="Infection">
            <a:extLst>
              <a:ext uri="{FF2B5EF4-FFF2-40B4-BE49-F238E27FC236}">
                <a16:creationId xmlns:a16="http://schemas.microsoft.com/office/drawing/2014/main" id="{EC7DE7B2-BF73-430F-A314-D0E9D1A6A9CA}"/>
              </a:ext>
            </a:extLst>
          </p:cNvPr>
          <p:cNvSpPr txBox="1"/>
          <p:nvPr/>
        </p:nvSpPr>
        <p:spPr>
          <a:xfrm>
            <a:off x="5543202" y="4180164"/>
            <a:ext cx="2834640" cy="228600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8288" bIns="18288" rtlCol="0">
            <a:spAutoFit/>
          </a:bodyPr>
          <a:lstStyle/>
          <a:p>
            <a:pPr algn="ctr"/>
            <a:r>
              <a:rPr lang="en-US" sz="1200" dirty="0"/>
              <a:t>Infection</a:t>
            </a:r>
          </a:p>
        </p:txBody>
      </p:sp>
      <p:sp>
        <p:nvSpPr>
          <p:cNvPr id="408" name="Liver disease/ Hypersplenism">
            <a:extLst>
              <a:ext uri="{FF2B5EF4-FFF2-40B4-BE49-F238E27FC236}">
                <a16:creationId xmlns:a16="http://schemas.microsoft.com/office/drawing/2014/main" id="{87A3111C-7B64-4509-A27B-591F86A14C92}"/>
              </a:ext>
            </a:extLst>
          </p:cNvPr>
          <p:cNvSpPr txBox="1"/>
          <p:nvPr/>
        </p:nvSpPr>
        <p:spPr>
          <a:xfrm>
            <a:off x="5543202" y="4509198"/>
            <a:ext cx="2834640" cy="228600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8288" bIns="18288" rtlCol="0">
            <a:spAutoFit/>
          </a:bodyPr>
          <a:lstStyle/>
          <a:p>
            <a:pPr algn="ctr"/>
            <a:r>
              <a:rPr lang="en-US" sz="1200" dirty="0"/>
              <a:t>Liver disease/ Hypersplenism</a:t>
            </a:r>
          </a:p>
        </p:txBody>
      </p:sp>
      <p:grpSp>
        <p:nvGrpSpPr>
          <p:cNvPr id="410" name="RBC">
            <a:extLst>
              <a:ext uri="{FF2B5EF4-FFF2-40B4-BE49-F238E27FC236}">
                <a16:creationId xmlns:a16="http://schemas.microsoft.com/office/drawing/2014/main" id="{5F2B71E3-8E1B-490A-86CB-5C0922924FAC}"/>
              </a:ext>
            </a:extLst>
          </p:cNvPr>
          <p:cNvGrpSpPr/>
          <p:nvPr/>
        </p:nvGrpSpPr>
        <p:grpSpPr>
          <a:xfrm>
            <a:off x="5265808" y="5600017"/>
            <a:ext cx="1040065" cy="987321"/>
            <a:chOff x="10459653" y="4051613"/>
            <a:chExt cx="1040065" cy="987321"/>
          </a:xfrm>
        </p:grpSpPr>
        <p:grpSp>
          <p:nvGrpSpPr>
            <p:cNvPr id="412" name="RBC">
              <a:extLst>
                <a:ext uri="{FF2B5EF4-FFF2-40B4-BE49-F238E27FC236}">
                  <a16:creationId xmlns:a16="http://schemas.microsoft.com/office/drawing/2014/main" id="{4F28FCA7-1F48-4083-9D42-196BD770F225}"/>
                </a:ext>
              </a:extLst>
            </p:cNvPr>
            <p:cNvGrpSpPr/>
            <p:nvPr/>
          </p:nvGrpSpPr>
          <p:grpSpPr>
            <a:xfrm>
              <a:off x="10459653" y="4051613"/>
              <a:ext cx="1040065" cy="987321"/>
              <a:chOff x="10435785" y="4059079"/>
              <a:chExt cx="528765" cy="501665"/>
            </a:xfrm>
          </p:grpSpPr>
          <p:sp>
            <p:nvSpPr>
              <p:cNvPr id="416" name="Oval 415">
                <a:extLst>
                  <a:ext uri="{FF2B5EF4-FFF2-40B4-BE49-F238E27FC236}">
                    <a16:creationId xmlns:a16="http://schemas.microsoft.com/office/drawing/2014/main" id="{5FD6B7FF-E235-4968-BD0D-E96DC4872D8D}"/>
                  </a:ext>
                </a:extLst>
              </p:cNvPr>
              <p:cNvSpPr/>
              <p:nvPr/>
            </p:nvSpPr>
            <p:spPr>
              <a:xfrm>
                <a:off x="10435785" y="4059079"/>
                <a:ext cx="528765" cy="501665"/>
              </a:xfrm>
              <a:prstGeom prst="ellipse">
                <a:avLst/>
              </a:prstGeom>
              <a:solidFill>
                <a:srgbClr val="E92409"/>
              </a:solidFill>
              <a:ln w="38100"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8" name="Oval 417">
                <a:extLst>
                  <a:ext uri="{FF2B5EF4-FFF2-40B4-BE49-F238E27FC236}">
                    <a16:creationId xmlns:a16="http://schemas.microsoft.com/office/drawing/2014/main" id="{DB361827-3F5D-4ED1-A30E-26D69A8574ED}"/>
                  </a:ext>
                </a:extLst>
              </p:cNvPr>
              <p:cNvSpPr/>
              <p:nvPr/>
            </p:nvSpPr>
            <p:spPr>
              <a:xfrm>
                <a:off x="10541111" y="4170495"/>
                <a:ext cx="321618" cy="290660"/>
              </a:xfrm>
              <a:prstGeom prst="ellipse">
                <a:avLst/>
              </a:prstGeom>
              <a:solidFill>
                <a:srgbClr val="F9705D"/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13" name="Hgb">
              <a:extLst>
                <a:ext uri="{FF2B5EF4-FFF2-40B4-BE49-F238E27FC236}">
                  <a16:creationId xmlns:a16="http://schemas.microsoft.com/office/drawing/2014/main" id="{7630BD7B-1062-4AE9-B6DB-22A0A68904B8}"/>
                </a:ext>
              </a:extLst>
            </p:cNvPr>
            <p:cNvSpPr/>
            <p:nvPr/>
          </p:nvSpPr>
          <p:spPr>
            <a:xfrm>
              <a:off x="10765669" y="4247027"/>
              <a:ext cx="207249" cy="169115"/>
            </a:xfrm>
            <a:prstGeom prst="round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Hb</a:t>
              </a:r>
            </a:p>
          </p:txBody>
        </p:sp>
        <p:sp>
          <p:nvSpPr>
            <p:cNvPr id="415" name="Hgb">
              <a:extLst>
                <a:ext uri="{FF2B5EF4-FFF2-40B4-BE49-F238E27FC236}">
                  <a16:creationId xmlns:a16="http://schemas.microsoft.com/office/drawing/2014/main" id="{AD262764-ECC4-4E8A-8F27-1A86C70182B0}"/>
                </a:ext>
              </a:extLst>
            </p:cNvPr>
            <p:cNvSpPr/>
            <p:nvPr/>
          </p:nvSpPr>
          <p:spPr>
            <a:xfrm>
              <a:off x="11046129" y="4507886"/>
              <a:ext cx="218771" cy="15781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Hb</a:t>
              </a:r>
            </a:p>
          </p:txBody>
        </p:sp>
      </p:grpSp>
      <p:grpSp>
        <p:nvGrpSpPr>
          <p:cNvPr id="419" name="Hemoglobinopathies">
            <a:extLst>
              <a:ext uri="{FF2B5EF4-FFF2-40B4-BE49-F238E27FC236}">
                <a16:creationId xmlns:a16="http://schemas.microsoft.com/office/drawing/2014/main" id="{E2CF41CE-FFEC-4EAA-B29E-6B6EE0CEDA42}"/>
              </a:ext>
            </a:extLst>
          </p:cNvPr>
          <p:cNvGrpSpPr/>
          <p:nvPr/>
        </p:nvGrpSpPr>
        <p:grpSpPr>
          <a:xfrm>
            <a:off x="3443345" y="5964546"/>
            <a:ext cx="1696378" cy="769541"/>
            <a:chOff x="10008791" y="2635908"/>
            <a:chExt cx="1696378" cy="769541"/>
          </a:xfrm>
        </p:grpSpPr>
        <p:grpSp>
          <p:nvGrpSpPr>
            <p:cNvPr id="420" name="Iron deficiency info">
              <a:extLst>
                <a:ext uri="{FF2B5EF4-FFF2-40B4-BE49-F238E27FC236}">
                  <a16:creationId xmlns:a16="http://schemas.microsoft.com/office/drawing/2014/main" id="{6DAE7952-60D9-44E4-AF93-C799F9D1AD22}"/>
                </a:ext>
              </a:extLst>
            </p:cNvPr>
            <p:cNvGrpSpPr/>
            <p:nvPr/>
          </p:nvGrpSpPr>
          <p:grpSpPr>
            <a:xfrm>
              <a:off x="10008791" y="2635908"/>
              <a:ext cx="1696378" cy="769541"/>
              <a:chOff x="10145542" y="2993204"/>
              <a:chExt cx="1696378" cy="769541"/>
            </a:xfrm>
          </p:grpSpPr>
          <p:grpSp>
            <p:nvGrpSpPr>
              <p:cNvPr id="422" name="Fe deficiency">
                <a:extLst>
                  <a:ext uri="{FF2B5EF4-FFF2-40B4-BE49-F238E27FC236}">
                    <a16:creationId xmlns:a16="http://schemas.microsoft.com/office/drawing/2014/main" id="{7387D0D0-91E2-406B-B081-AB5BC2E4D89A}"/>
                  </a:ext>
                </a:extLst>
              </p:cNvPr>
              <p:cNvGrpSpPr/>
              <p:nvPr/>
            </p:nvGrpSpPr>
            <p:grpSpPr>
              <a:xfrm>
                <a:off x="10145542" y="2993204"/>
                <a:ext cx="1696378" cy="741641"/>
                <a:chOff x="10145542" y="3271623"/>
                <a:chExt cx="1696378" cy="571487"/>
              </a:xfrm>
            </p:grpSpPr>
            <p:sp>
              <p:nvSpPr>
                <p:cNvPr id="424" name="Rectangle 423">
                  <a:extLst>
                    <a:ext uri="{FF2B5EF4-FFF2-40B4-BE49-F238E27FC236}">
                      <a16:creationId xmlns:a16="http://schemas.microsoft.com/office/drawing/2014/main" id="{360D4AC9-FF3E-4764-B302-872684BA028A}"/>
                    </a:ext>
                  </a:extLst>
                </p:cNvPr>
                <p:cNvSpPr/>
                <p:nvPr/>
              </p:nvSpPr>
              <p:spPr>
                <a:xfrm>
                  <a:off x="10157983" y="3271623"/>
                  <a:ext cx="1683937" cy="57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5" name="TextBox 424">
                  <a:extLst>
                    <a:ext uri="{FF2B5EF4-FFF2-40B4-BE49-F238E27FC236}">
                      <a16:creationId xmlns:a16="http://schemas.microsoft.com/office/drawing/2014/main" id="{A8F16321-C65E-4A67-99C5-5CDE44A6664E}"/>
                    </a:ext>
                  </a:extLst>
                </p:cNvPr>
                <p:cNvSpPr txBox="1"/>
                <p:nvPr/>
              </p:nvSpPr>
              <p:spPr>
                <a:xfrm>
                  <a:off x="10145542" y="3300918"/>
                  <a:ext cx="1195073" cy="4506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Defects in Hb</a:t>
                  </a:r>
                </a:p>
                <a:p>
                  <a:pPr marL="117475" indent="-117475">
                    <a:buFont typeface="Arial" panose="020B0604020202020204" pitchFamily="34" charset="0"/>
                    <a:buChar char="•"/>
                  </a:pPr>
                  <a:r>
                    <a:rPr lang="en-US" sz="1000" dirty="0"/>
                    <a:t>Sickle cell</a:t>
                  </a:r>
                </a:p>
                <a:p>
                  <a:pPr marL="117475" indent="-117475">
                    <a:buFont typeface="Arial" panose="020B0604020202020204" pitchFamily="34" charset="0"/>
                    <a:buChar char="•"/>
                  </a:pPr>
                  <a:r>
                    <a:rPr lang="en-US" sz="1000" dirty="0"/>
                    <a:t>Thalassemia</a:t>
                  </a:r>
                </a:p>
              </p:txBody>
            </p:sp>
          </p:grpSp>
          <p:sp>
            <p:nvSpPr>
              <p:cNvPr id="423" name="Rectangle 422">
                <a:extLst>
                  <a:ext uri="{FF2B5EF4-FFF2-40B4-BE49-F238E27FC236}">
                    <a16:creationId xmlns:a16="http://schemas.microsoft.com/office/drawing/2014/main" id="{75D87A21-BE31-49F6-9D3B-1FA38FC79FC4}"/>
                  </a:ext>
                </a:extLst>
              </p:cNvPr>
              <p:cNvSpPr/>
              <p:nvPr/>
            </p:nvSpPr>
            <p:spPr>
              <a:xfrm>
                <a:off x="11074166" y="3531913"/>
                <a:ext cx="714174" cy="2308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00" i="1" dirty="0"/>
                  <a:t>Sickle cells</a:t>
                </a:r>
              </a:p>
            </p:txBody>
          </p:sp>
        </p:grpSp>
        <p:pic>
          <p:nvPicPr>
            <p:cNvPr id="421" name="sickle cell path">
              <a:extLst>
                <a:ext uri="{FF2B5EF4-FFF2-40B4-BE49-F238E27FC236}">
                  <a16:creationId xmlns:a16="http://schemas.microsoft.com/office/drawing/2014/main" id="{8FA45C0A-8CAA-4EAD-8242-00FF7FE04B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931" b="35669"/>
            <a:stretch/>
          </p:blipFill>
          <p:spPr>
            <a:xfrm>
              <a:off x="10976668" y="2705258"/>
              <a:ext cx="656732" cy="475923"/>
            </a:xfrm>
            <a:prstGeom prst="rect">
              <a:avLst/>
            </a:prstGeom>
          </p:spPr>
        </p:pic>
      </p:grpSp>
      <p:grpSp>
        <p:nvGrpSpPr>
          <p:cNvPr id="426" name="Defects in membrane">
            <a:extLst>
              <a:ext uri="{FF2B5EF4-FFF2-40B4-BE49-F238E27FC236}">
                <a16:creationId xmlns:a16="http://schemas.microsoft.com/office/drawing/2014/main" id="{B0965435-D328-4966-B1CE-82F0585247D5}"/>
              </a:ext>
            </a:extLst>
          </p:cNvPr>
          <p:cNvGrpSpPr/>
          <p:nvPr/>
        </p:nvGrpSpPr>
        <p:grpSpPr>
          <a:xfrm>
            <a:off x="8059903" y="5920336"/>
            <a:ext cx="2616167" cy="830059"/>
            <a:chOff x="9383638" y="5406668"/>
            <a:chExt cx="1590084" cy="842994"/>
          </a:xfrm>
        </p:grpSpPr>
        <p:grpSp>
          <p:nvGrpSpPr>
            <p:cNvPr id="427" name="Sideroblastic anemia info">
              <a:extLst>
                <a:ext uri="{FF2B5EF4-FFF2-40B4-BE49-F238E27FC236}">
                  <a16:creationId xmlns:a16="http://schemas.microsoft.com/office/drawing/2014/main" id="{8C6AF5A0-9F82-4A28-A12D-10A46D65BF59}"/>
                </a:ext>
              </a:extLst>
            </p:cNvPr>
            <p:cNvGrpSpPr/>
            <p:nvPr/>
          </p:nvGrpSpPr>
          <p:grpSpPr>
            <a:xfrm>
              <a:off x="9383638" y="5406668"/>
              <a:ext cx="1590084" cy="842994"/>
              <a:chOff x="8009619" y="4774055"/>
              <a:chExt cx="1693329" cy="842994"/>
            </a:xfrm>
          </p:grpSpPr>
          <p:sp>
            <p:nvSpPr>
              <p:cNvPr id="431" name="Rectangle 430">
                <a:extLst>
                  <a:ext uri="{FF2B5EF4-FFF2-40B4-BE49-F238E27FC236}">
                    <a16:creationId xmlns:a16="http://schemas.microsoft.com/office/drawing/2014/main" id="{5A04A5CF-1640-4A22-9186-3894E82FBC88}"/>
                  </a:ext>
                </a:extLst>
              </p:cNvPr>
              <p:cNvSpPr/>
              <p:nvPr/>
            </p:nvSpPr>
            <p:spPr>
              <a:xfrm>
                <a:off x="8009619" y="4778750"/>
                <a:ext cx="1693329" cy="81344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7C35394C-38F1-4C48-B92B-29A84764CB04}"/>
                  </a:ext>
                </a:extLst>
              </p:cNvPr>
              <p:cNvSpPr txBox="1"/>
              <p:nvPr/>
            </p:nvSpPr>
            <p:spPr>
              <a:xfrm>
                <a:off x="9185942" y="5382620"/>
                <a:ext cx="517006" cy="234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i="1" dirty="0"/>
                  <a:t>Spherocytes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39ADEBAB-4F23-4574-AD07-10D9933896B4}"/>
                  </a:ext>
                </a:extLst>
              </p:cNvPr>
              <p:cNvSpPr txBox="1"/>
              <p:nvPr/>
            </p:nvSpPr>
            <p:spPr>
              <a:xfrm>
                <a:off x="8027656" y="4774055"/>
                <a:ext cx="1222700" cy="750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Defects in membrane</a:t>
                </a:r>
              </a:p>
              <a:p>
                <a:pPr marL="117475" indent="-117475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Hereditary spherocytosis, elliptocytosis, or </a:t>
                </a:r>
                <a:r>
                  <a:rPr lang="en-US" sz="1000" dirty="0" err="1"/>
                  <a:t>stomatocytosis</a:t>
                </a:r>
                <a:endParaRPr lang="en-US" sz="1000" dirty="0"/>
              </a:p>
              <a:p>
                <a:pPr marL="117475" indent="-117475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PNH</a:t>
                </a:r>
              </a:p>
            </p:txBody>
          </p:sp>
        </p:grpSp>
        <p:pic>
          <p:nvPicPr>
            <p:cNvPr id="430" name="hereditary spherocytes">
              <a:extLst>
                <a:ext uri="{FF2B5EF4-FFF2-40B4-BE49-F238E27FC236}">
                  <a16:creationId xmlns:a16="http://schemas.microsoft.com/office/drawing/2014/main" id="{019C1CBE-5F19-4AAF-88A3-685E85609E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4657"/>
            <a:stretch/>
          </p:blipFill>
          <p:spPr>
            <a:xfrm>
              <a:off x="10545225" y="5479393"/>
              <a:ext cx="378621" cy="511768"/>
            </a:xfrm>
            <a:prstGeom prst="rect">
              <a:avLst/>
            </a:prstGeom>
          </p:spPr>
        </p:pic>
      </p:grpSp>
      <p:sp>
        <p:nvSpPr>
          <p:cNvPr id="437" name="TextBox 436">
            <a:extLst>
              <a:ext uri="{FF2B5EF4-FFF2-40B4-BE49-F238E27FC236}">
                <a16:creationId xmlns:a16="http://schemas.microsoft.com/office/drawing/2014/main" id="{545ABA9E-CEAC-4607-8A1E-F46B85FC98E1}"/>
              </a:ext>
            </a:extLst>
          </p:cNvPr>
          <p:cNvSpPr txBox="1"/>
          <p:nvPr/>
        </p:nvSpPr>
        <p:spPr>
          <a:xfrm>
            <a:off x="6431748" y="5398734"/>
            <a:ext cx="1566467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Defects in metabolism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000" dirty="0"/>
              <a:t>G6PD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000" dirty="0"/>
              <a:t>Pyruvate kinase deficiency</a:t>
            </a:r>
          </a:p>
        </p:txBody>
      </p:sp>
      <p:cxnSp>
        <p:nvCxnSpPr>
          <p:cNvPr id="73" name="Connector to metabolism">
            <a:extLst>
              <a:ext uri="{FF2B5EF4-FFF2-40B4-BE49-F238E27FC236}">
                <a16:creationId xmlns:a16="http://schemas.microsoft.com/office/drawing/2014/main" id="{98BF5148-CDBA-46AC-8A31-BBA75B3A5378}"/>
              </a:ext>
            </a:extLst>
          </p:cNvPr>
          <p:cNvCxnSpPr>
            <a:cxnSpLocks/>
            <a:endCxn id="437" idx="1"/>
          </p:cNvCxnSpPr>
          <p:nvPr/>
        </p:nvCxnSpPr>
        <p:spPr>
          <a:xfrm flipV="1">
            <a:off x="5965176" y="5768066"/>
            <a:ext cx="466571" cy="2736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8" name="Connector to Hb defects">
            <a:extLst>
              <a:ext uri="{FF2B5EF4-FFF2-40B4-BE49-F238E27FC236}">
                <a16:creationId xmlns:a16="http://schemas.microsoft.com/office/drawing/2014/main" id="{65C05096-C880-42B4-B615-1B871461AD43}"/>
              </a:ext>
            </a:extLst>
          </p:cNvPr>
          <p:cNvCxnSpPr>
            <a:cxnSpLocks/>
            <a:stCxn id="415" idx="1"/>
            <a:endCxn id="424" idx="3"/>
          </p:cNvCxnSpPr>
          <p:nvPr/>
        </p:nvCxnSpPr>
        <p:spPr>
          <a:xfrm flipH="1">
            <a:off x="5139723" y="6135200"/>
            <a:ext cx="712561" cy="20016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6" name="Rectangle 405">
            <a:extLst>
              <a:ext uri="{FF2B5EF4-FFF2-40B4-BE49-F238E27FC236}">
                <a16:creationId xmlns:a16="http://schemas.microsoft.com/office/drawing/2014/main" id="{8400DD29-2EC0-474B-B4DE-E7373CBFEC95}"/>
              </a:ext>
            </a:extLst>
          </p:cNvPr>
          <p:cNvSpPr/>
          <p:nvPr/>
        </p:nvSpPr>
        <p:spPr>
          <a:xfrm>
            <a:off x="10149008" y="3672441"/>
            <a:ext cx="1311883" cy="734334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  <a:sym typeface="Wingdings" panose="05000000000000000000" pitchFamily="2" charset="2"/>
              </a:rPr>
              <a:t>Direct destruction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sym typeface="Wingdings" panose="05000000000000000000" pitchFamily="2" charset="2"/>
              </a:rPr>
              <a:t>Malaria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sym typeface="Wingdings" panose="05000000000000000000" pitchFamily="2" charset="2"/>
              </a:rPr>
              <a:t>Babesia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sym typeface="Wingdings" panose="05000000000000000000" pitchFamily="2" charset="2"/>
              </a:rPr>
              <a:t>Bartonella</a:t>
            </a:r>
          </a:p>
        </p:txBody>
      </p:sp>
      <p:cxnSp>
        <p:nvCxnSpPr>
          <p:cNvPr id="441" name="Connector: Elbow 440">
            <a:extLst>
              <a:ext uri="{FF2B5EF4-FFF2-40B4-BE49-F238E27FC236}">
                <a16:creationId xmlns:a16="http://schemas.microsoft.com/office/drawing/2014/main" id="{74252C01-3A3D-4FE0-A152-495CEB3DF6C9}"/>
              </a:ext>
            </a:extLst>
          </p:cNvPr>
          <p:cNvCxnSpPr>
            <a:cxnSpLocks/>
            <a:endCxn id="406" idx="1"/>
          </p:cNvCxnSpPr>
          <p:nvPr/>
        </p:nvCxnSpPr>
        <p:spPr>
          <a:xfrm flipV="1">
            <a:off x="8392370" y="4039608"/>
            <a:ext cx="1756638" cy="254856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7" name="Medications">
            <a:extLst>
              <a:ext uri="{FF2B5EF4-FFF2-40B4-BE49-F238E27FC236}">
                <a16:creationId xmlns:a16="http://schemas.microsoft.com/office/drawing/2014/main" id="{29FBFB3E-29DE-4061-A877-7CDAB011A4CB}"/>
              </a:ext>
            </a:extLst>
          </p:cNvPr>
          <p:cNvSpPr txBox="1"/>
          <p:nvPr/>
        </p:nvSpPr>
        <p:spPr>
          <a:xfrm>
            <a:off x="5543202" y="4838232"/>
            <a:ext cx="2834640" cy="228600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8288" bIns="18288" rtlCol="0">
            <a:spAutoFit/>
          </a:bodyPr>
          <a:lstStyle/>
          <a:p>
            <a:pPr algn="ctr"/>
            <a:r>
              <a:rPr lang="en-US" sz="1200" dirty="0"/>
              <a:t>Medications </a:t>
            </a:r>
            <a:r>
              <a:rPr lang="en-US" sz="1100" dirty="0"/>
              <a:t>(oxidative stress, hypotonicity)</a:t>
            </a:r>
            <a:endParaRPr lang="en-US" sz="1200" dirty="0"/>
          </a:p>
        </p:txBody>
      </p:sp>
      <p:sp>
        <p:nvSpPr>
          <p:cNvPr id="125" name="Brace systemic diseases">
            <a:extLst>
              <a:ext uri="{FF2B5EF4-FFF2-40B4-BE49-F238E27FC236}">
                <a16:creationId xmlns:a16="http://schemas.microsoft.com/office/drawing/2014/main" id="{1B0D7E99-8802-4F0C-999F-59D9A746AED5}"/>
              </a:ext>
            </a:extLst>
          </p:cNvPr>
          <p:cNvSpPr/>
          <p:nvPr/>
        </p:nvSpPr>
        <p:spPr>
          <a:xfrm flipV="1">
            <a:off x="6169899" y="2273902"/>
            <a:ext cx="351059" cy="1338413"/>
          </a:xfrm>
          <a:prstGeom prst="leftBrace">
            <a:avLst>
              <a:gd name="adj1" fmla="val 0"/>
              <a:gd name="adj2" fmla="val 58908"/>
            </a:avLst>
          </a:prstGeom>
          <a:ln w="190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Shear stress">
            <a:extLst>
              <a:ext uri="{FF2B5EF4-FFF2-40B4-BE49-F238E27FC236}">
                <a16:creationId xmlns:a16="http://schemas.microsoft.com/office/drawing/2014/main" id="{9E2961AA-C076-461F-984D-E0CE3C4CED6F}"/>
              </a:ext>
            </a:extLst>
          </p:cNvPr>
          <p:cNvSpPr txBox="1"/>
          <p:nvPr/>
        </p:nvSpPr>
        <p:spPr>
          <a:xfrm>
            <a:off x="6437231" y="3285489"/>
            <a:ext cx="1828800" cy="228600"/>
          </a:xfrm>
          <a:prstGeom prst="rect">
            <a:avLst/>
          </a:prstGeom>
          <a:ln>
            <a:solidFill>
              <a:srgbClr val="FF33CC"/>
            </a:solidFill>
          </a:ln>
          <a:effec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8288" bIns="18288" rtlCol="0">
            <a:spAutoFit/>
          </a:bodyPr>
          <a:lstStyle/>
          <a:p>
            <a:pPr algn="ctr"/>
            <a:r>
              <a:rPr lang="en-US" sz="1200" dirty="0"/>
              <a:t>Scleroderma renal crisis</a:t>
            </a:r>
          </a:p>
        </p:txBody>
      </p:sp>
      <p:sp>
        <p:nvSpPr>
          <p:cNvPr id="154" name="Extrinsic to RBC">
            <a:extLst>
              <a:ext uri="{FF2B5EF4-FFF2-40B4-BE49-F238E27FC236}">
                <a16:creationId xmlns:a16="http://schemas.microsoft.com/office/drawing/2014/main" id="{059E061C-9B20-40F3-AC9C-F43C08DE8678}"/>
              </a:ext>
            </a:extLst>
          </p:cNvPr>
          <p:cNvSpPr/>
          <p:nvPr/>
        </p:nvSpPr>
        <p:spPr>
          <a:xfrm>
            <a:off x="4148690" y="4406406"/>
            <a:ext cx="109728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Extrinsic</a:t>
            </a:r>
          </a:p>
        </p:txBody>
      </p:sp>
      <p:sp>
        <p:nvSpPr>
          <p:cNvPr id="155" name="Extrinsic to RBC">
            <a:extLst>
              <a:ext uri="{FF2B5EF4-FFF2-40B4-BE49-F238E27FC236}">
                <a16:creationId xmlns:a16="http://schemas.microsoft.com/office/drawing/2014/main" id="{83DA32E7-0E4D-4DCC-899F-5978B82FBA0D}"/>
              </a:ext>
            </a:extLst>
          </p:cNvPr>
          <p:cNvSpPr/>
          <p:nvPr/>
        </p:nvSpPr>
        <p:spPr>
          <a:xfrm>
            <a:off x="4111846" y="5492782"/>
            <a:ext cx="1097280" cy="3657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Intrinsic</a:t>
            </a:r>
          </a:p>
        </p:txBody>
      </p:sp>
      <p:cxnSp>
        <p:nvCxnSpPr>
          <p:cNvPr id="469" name="Straight Connector 468">
            <a:extLst>
              <a:ext uri="{FF2B5EF4-FFF2-40B4-BE49-F238E27FC236}">
                <a16:creationId xmlns:a16="http://schemas.microsoft.com/office/drawing/2014/main" id="{DC4925B0-5577-46C4-87BE-A30771E22CD9}"/>
              </a:ext>
            </a:extLst>
          </p:cNvPr>
          <p:cNvCxnSpPr>
            <a:cxnSpLocks/>
            <a:endCxn id="431" idx="1"/>
          </p:cNvCxnSpPr>
          <p:nvPr/>
        </p:nvCxnSpPr>
        <p:spPr>
          <a:xfrm>
            <a:off x="6071055" y="6325442"/>
            <a:ext cx="19888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2" name="Rectangle 211">
            <a:extLst>
              <a:ext uri="{FF2B5EF4-FFF2-40B4-BE49-F238E27FC236}">
                <a16:creationId xmlns:a16="http://schemas.microsoft.com/office/drawing/2014/main" id="{97EC29C1-E8A8-407F-B03E-6298E333F8C7}"/>
              </a:ext>
            </a:extLst>
          </p:cNvPr>
          <p:cNvSpPr/>
          <p:nvPr/>
        </p:nvSpPr>
        <p:spPr>
          <a:xfrm>
            <a:off x="10149008" y="4489823"/>
            <a:ext cx="1311883" cy="616034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  <a:sym typeface="Wingdings" panose="05000000000000000000" pitchFamily="2" charset="2"/>
              </a:rPr>
              <a:t>Toxin mediated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sym typeface="Wingdings" panose="05000000000000000000" pitchFamily="2" charset="2"/>
              </a:rPr>
              <a:t>Clostridium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sym typeface="Wingdings" panose="05000000000000000000" pitchFamily="2" charset="2"/>
              </a:rPr>
              <a:t>Leishmaniasis</a:t>
            </a:r>
          </a:p>
        </p:txBody>
      </p:sp>
      <p:cxnSp>
        <p:nvCxnSpPr>
          <p:cNvPr id="213" name="Connector: Elbow 212">
            <a:extLst>
              <a:ext uri="{FF2B5EF4-FFF2-40B4-BE49-F238E27FC236}">
                <a16:creationId xmlns:a16="http://schemas.microsoft.com/office/drawing/2014/main" id="{FF1C59AB-794E-4043-882D-BE96C86D5FDD}"/>
              </a:ext>
            </a:extLst>
          </p:cNvPr>
          <p:cNvCxnSpPr>
            <a:cxnSpLocks/>
            <a:stCxn id="404" idx="3"/>
            <a:endCxn id="212" idx="1"/>
          </p:cNvCxnSpPr>
          <p:nvPr/>
        </p:nvCxnSpPr>
        <p:spPr>
          <a:xfrm>
            <a:off x="8377842" y="4294464"/>
            <a:ext cx="1771166" cy="503376"/>
          </a:xfrm>
          <a:prstGeom prst="bentConnector3">
            <a:avLst>
              <a:gd name="adj1" fmla="val 50430"/>
            </a:avLst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6" name="Graphic 225" descr="Cursor">
            <a:extLst>
              <a:ext uri="{FF2B5EF4-FFF2-40B4-BE49-F238E27FC236}">
                <a16:creationId xmlns:a16="http://schemas.microsoft.com/office/drawing/2014/main" id="{A0E32696-A33A-41DC-B919-FD73CE6E1D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88208" y="2629552"/>
            <a:ext cx="274320" cy="274320"/>
          </a:xfrm>
          <a:prstGeom prst="rect">
            <a:avLst/>
          </a:prstGeom>
        </p:spPr>
      </p:pic>
      <p:pic>
        <p:nvPicPr>
          <p:cNvPr id="229" name="Graphic 228" descr="Cursor">
            <a:extLst>
              <a:ext uri="{FF2B5EF4-FFF2-40B4-BE49-F238E27FC236}">
                <a16:creationId xmlns:a16="http://schemas.microsoft.com/office/drawing/2014/main" id="{BDE78FBD-67FD-4EB9-AD28-C31E050071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3156" y="5667454"/>
            <a:ext cx="274320" cy="274320"/>
          </a:xfrm>
          <a:prstGeom prst="rect">
            <a:avLst/>
          </a:prstGeom>
        </p:spPr>
      </p:pic>
      <p:cxnSp>
        <p:nvCxnSpPr>
          <p:cNvPr id="537" name="Connector: Elbow 536">
            <a:extLst>
              <a:ext uri="{FF2B5EF4-FFF2-40B4-BE49-F238E27FC236}">
                <a16:creationId xmlns:a16="http://schemas.microsoft.com/office/drawing/2014/main" id="{42643F88-BE27-43CE-946F-5F20D52ACCFC}"/>
              </a:ext>
            </a:extLst>
          </p:cNvPr>
          <p:cNvCxnSpPr>
            <a:cxnSpLocks/>
            <a:stCxn id="16" idx="3"/>
            <a:endCxn id="154" idx="1"/>
          </p:cNvCxnSpPr>
          <p:nvPr/>
        </p:nvCxnSpPr>
        <p:spPr>
          <a:xfrm flipV="1">
            <a:off x="3681478" y="4589286"/>
            <a:ext cx="467212" cy="9604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9" name="Connector: Elbow 538">
            <a:extLst>
              <a:ext uri="{FF2B5EF4-FFF2-40B4-BE49-F238E27FC236}">
                <a16:creationId xmlns:a16="http://schemas.microsoft.com/office/drawing/2014/main" id="{3E3057B7-1898-4D45-857A-A1691A9FC931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681478" y="5549721"/>
            <a:ext cx="430368" cy="1293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1" name="Graphic 240" descr="Cursor">
            <a:extLst>
              <a:ext uri="{FF2B5EF4-FFF2-40B4-BE49-F238E27FC236}">
                <a16:creationId xmlns:a16="http://schemas.microsoft.com/office/drawing/2014/main" id="{87BEC75E-E760-4E20-B22F-688F444485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14688" y="4649261"/>
            <a:ext cx="274320" cy="274320"/>
          </a:xfrm>
          <a:prstGeom prst="rect">
            <a:avLst/>
          </a:prstGeom>
        </p:spPr>
      </p:pic>
      <p:sp>
        <p:nvSpPr>
          <p:cNvPr id="2" name="Next">
            <a:hlinkClick r:id="rId7" action="ppaction://hlinksldjump"/>
            <a:extLst>
              <a:ext uri="{FF2B5EF4-FFF2-40B4-BE49-F238E27FC236}">
                <a16:creationId xmlns:a16="http://schemas.microsoft.com/office/drawing/2014/main" id="{BFD1BC37-6864-7ADB-F8CD-2F040733B406}"/>
              </a:ext>
            </a:extLst>
          </p:cNvPr>
          <p:cNvSpPr/>
          <p:nvPr/>
        </p:nvSpPr>
        <p:spPr>
          <a:xfrm>
            <a:off x="183017" y="2486929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sp>
        <p:nvSpPr>
          <p:cNvPr id="3" name="Next">
            <a:hlinkClick r:id="rId8" action="ppaction://hlinksldjump"/>
            <a:extLst>
              <a:ext uri="{FF2B5EF4-FFF2-40B4-BE49-F238E27FC236}">
                <a16:creationId xmlns:a16="http://schemas.microsoft.com/office/drawing/2014/main" id="{35ADD696-EFA0-94D5-4551-33C6698208F6}"/>
              </a:ext>
            </a:extLst>
          </p:cNvPr>
          <p:cNvSpPr/>
          <p:nvPr/>
        </p:nvSpPr>
        <p:spPr>
          <a:xfrm>
            <a:off x="183017" y="705625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Underprod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Next">
            <a:hlinkClick r:id="rId9" action="ppaction://hlinksldjump"/>
            <a:extLst>
              <a:ext uri="{FF2B5EF4-FFF2-40B4-BE49-F238E27FC236}">
                <a16:creationId xmlns:a16="http://schemas.microsoft.com/office/drawing/2014/main" id="{C799AC1A-0F59-A5E4-771A-42B786AF33AC}"/>
              </a:ext>
            </a:extLst>
          </p:cNvPr>
          <p:cNvSpPr/>
          <p:nvPr/>
        </p:nvSpPr>
        <p:spPr>
          <a:xfrm>
            <a:off x="183017" y="1211012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Overprod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Next">
            <a:hlinkClick r:id="rId10" action="ppaction://hlinksldjump"/>
            <a:extLst>
              <a:ext uri="{FF2B5EF4-FFF2-40B4-BE49-F238E27FC236}">
                <a16:creationId xmlns:a16="http://schemas.microsoft.com/office/drawing/2014/main" id="{9024140E-A92E-1AEB-CD0E-A3078A91B6F2}"/>
              </a:ext>
            </a:extLst>
          </p:cNvPr>
          <p:cNvSpPr/>
          <p:nvPr/>
        </p:nvSpPr>
        <p:spPr>
          <a:xfrm>
            <a:off x="183017" y="200238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Overview</a:t>
            </a:r>
          </a:p>
        </p:txBody>
      </p:sp>
      <p:pic>
        <p:nvPicPr>
          <p:cNvPr id="8" name="Graphic 7" descr="Cursor">
            <a:extLst>
              <a:ext uri="{FF2B5EF4-FFF2-40B4-BE49-F238E27FC236}">
                <a16:creationId xmlns:a16="http://schemas.microsoft.com/office/drawing/2014/main" id="{C792CCEB-C3E1-87B2-C25B-9833722ADB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32043" y="446151"/>
            <a:ext cx="274320" cy="274320"/>
          </a:xfrm>
          <a:prstGeom prst="rect">
            <a:avLst/>
          </a:prstGeom>
        </p:spPr>
      </p:pic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381A1363-2E39-28B5-7568-B9AE26FD9D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32043" y="945579"/>
            <a:ext cx="274320" cy="274320"/>
          </a:xfrm>
          <a:prstGeom prst="rect">
            <a:avLst/>
          </a:prstGeom>
        </p:spPr>
      </p:pic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B4EB9988-531D-4E9D-4F77-6F44550F39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32043" y="2724677"/>
            <a:ext cx="274320" cy="274320"/>
          </a:xfrm>
          <a:prstGeom prst="rect">
            <a:avLst/>
          </a:prstGeom>
        </p:spPr>
      </p:pic>
      <p:sp>
        <p:nvSpPr>
          <p:cNvPr id="12" name="Next">
            <a:hlinkClick r:id="rId11" action="ppaction://hlinksldjump"/>
            <a:extLst>
              <a:ext uri="{FF2B5EF4-FFF2-40B4-BE49-F238E27FC236}">
                <a16:creationId xmlns:a16="http://schemas.microsoft.com/office/drawing/2014/main" id="{57FA9095-9F17-B3F2-AD79-5EB971F98A52}"/>
              </a:ext>
            </a:extLst>
          </p:cNvPr>
          <p:cNvSpPr/>
          <p:nvPr/>
        </p:nvSpPr>
        <p:spPr>
          <a:xfrm>
            <a:off x="446974" y="1711707"/>
            <a:ext cx="1107643" cy="628914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Non-immune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58591AE6-5BD6-68B8-C113-4326689BC526}"/>
              </a:ext>
            </a:extLst>
          </p:cNvPr>
          <p:cNvCxnSpPr>
            <a:cxnSpLocks/>
            <a:endCxn id="12" idx="1"/>
          </p:cNvCxnSpPr>
          <p:nvPr/>
        </p:nvCxnSpPr>
        <p:spPr>
          <a:xfrm rot="16200000" flipH="1">
            <a:off x="145434" y="1724624"/>
            <a:ext cx="449392" cy="153688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1" name="Work-up of anemia">
            <a:extLst>
              <a:ext uri="{FF2B5EF4-FFF2-40B4-BE49-F238E27FC236}">
                <a16:creationId xmlns:a16="http://schemas.microsoft.com/office/drawing/2014/main" id="{BAB0179B-A8E9-DC76-ED26-5A027761C67A}"/>
              </a:ext>
            </a:extLst>
          </p:cNvPr>
          <p:cNvSpPr txBox="1"/>
          <p:nvPr/>
        </p:nvSpPr>
        <p:spPr>
          <a:xfrm>
            <a:off x="3851542" y="103675"/>
            <a:ext cx="5640989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400" b="1" dirty="0"/>
              <a:t>Overproduction – Non-immune hemolysis</a:t>
            </a:r>
          </a:p>
        </p:txBody>
      </p:sp>
      <p:pic>
        <p:nvPicPr>
          <p:cNvPr id="476" name="Graphic 475" descr="Cursor">
            <a:extLst>
              <a:ext uri="{FF2B5EF4-FFF2-40B4-BE49-F238E27FC236}">
                <a16:creationId xmlns:a16="http://schemas.microsoft.com/office/drawing/2014/main" id="{1BC3D73D-9256-EFF0-F18F-6CA8E354F9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32043" y="1434514"/>
            <a:ext cx="274320" cy="274320"/>
          </a:xfrm>
          <a:prstGeom prst="rect">
            <a:avLst/>
          </a:prstGeom>
        </p:spPr>
      </p:pic>
      <p:pic>
        <p:nvPicPr>
          <p:cNvPr id="479" name="Graphic 478" descr="Cursor">
            <a:extLst>
              <a:ext uri="{FF2B5EF4-FFF2-40B4-BE49-F238E27FC236}">
                <a16:creationId xmlns:a16="http://schemas.microsoft.com/office/drawing/2014/main" id="{0C18D953-EF20-0229-6444-B77A7DF444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2595" y="924082"/>
            <a:ext cx="274320" cy="274320"/>
          </a:xfrm>
          <a:prstGeom prst="rect">
            <a:avLst/>
          </a:prstGeom>
        </p:spPr>
      </p:pic>
      <p:pic>
        <p:nvPicPr>
          <p:cNvPr id="480" name="Graphic 479" descr="Cursor">
            <a:extLst>
              <a:ext uri="{FF2B5EF4-FFF2-40B4-BE49-F238E27FC236}">
                <a16:creationId xmlns:a16="http://schemas.microsoft.com/office/drawing/2014/main" id="{7D5D2866-6854-A740-2B96-7AFEB12AC2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3397" y="2875809"/>
            <a:ext cx="274320" cy="27432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E8974E-B45D-701A-5EF4-6D5F72A9E93E}"/>
              </a:ext>
            </a:extLst>
          </p:cNvPr>
          <p:cNvCxnSpPr>
            <a:cxnSpLocks/>
          </p:cNvCxnSpPr>
          <p:nvPr/>
        </p:nvCxnSpPr>
        <p:spPr>
          <a:xfrm flipV="1">
            <a:off x="8273926" y="3079063"/>
            <a:ext cx="996763" cy="5891"/>
          </a:xfrm>
          <a:prstGeom prst="line">
            <a:avLst/>
          </a:prstGeom>
          <a:ln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062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5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7"/>
                  </p:tgtEl>
                </p:cond>
              </p:nextCondLst>
            </p:seq>
          </p:childTnLst>
        </p:cTn>
      </p:par>
    </p:tnLst>
    <p:bldLst>
      <p:bldP spid="26" grpId="0" animBg="1"/>
      <p:bldP spid="477" grpId="0" animBg="1"/>
      <p:bldP spid="478" grpId="0" animBg="1"/>
      <p:bldP spid="196" grpId="0" animBg="1"/>
      <p:bldP spid="144" grpId="0" animBg="1"/>
      <p:bldP spid="14" grpId="0" animBg="1"/>
      <p:bldP spid="16" grpId="0" animBg="1"/>
      <p:bldP spid="38" grpId="0" animBg="1"/>
      <p:bldP spid="38" grpId="1" animBg="1"/>
      <p:bldP spid="131" grpId="0" animBg="1"/>
      <p:bldP spid="132" grpId="0" animBg="1"/>
      <p:bldP spid="133" grpId="0" animBg="1"/>
      <p:bldP spid="133" grpId="1" animBg="1"/>
      <p:bldP spid="143" grpId="0" animBg="1"/>
      <p:bldP spid="166" grpId="0" animBg="1"/>
      <p:bldP spid="428" grpId="0" animBg="1"/>
      <p:bldP spid="439" grpId="0" animBg="1"/>
      <p:bldP spid="517" grpId="0" animBg="1"/>
      <p:bldP spid="517" grpId="1" animBg="1"/>
      <p:bldP spid="458" grpId="0" animBg="1"/>
      <p:bldP spid="323" grpId="0" animBg="1"/>
      <p:bldP spid="324" grpId="0" animBg="1"/>
      <p:bldP spid="325" grpId="0" animBg="1"/>
      <p:bldP spid="326" grpId="0" animBg="1"/>
      <p:bldP spid="333" grpId="0" animBg="1"/>
      <p:bldP spid="343" grpId="0" animBg="1"/>
      <p:bldP spid="404" grpId="0" animBg="1"/>
      <p:bldP spid="408" grpId="0" animBg="1"/>
      <p:bldP spid="437" grpId="0" animBg="1"/>
      <p:bldP spid="406" grpId="0" animBg="1"/>
      <p:bldP spid="527" grpId="0" animBg="1"/>
      <p:bldP spid="125" grpId="0" animBg="1"/>
      <p:bldP spid="136" grpId="0" animBg="1"/>
      <p:bldP spid="154" grpId="0" animBg="1"/>
      <p:bldP spid="154" grpId="1" animBg="1"/>
      <p:bldP spid="155" grpId="0" animBg="1"/>
      <p:bldP spid="2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1C7DC85F-84BA-F34C-5166-6F498F580B54}"/>
              </a:ext>
            </a:extLst>
          </p:cNvPr>
          <p:cNvCxnSpPr>
            <a:cxnSpLocks/>
            <a:endCxn id="22" idx="1"/>
          </p:cNvCxnSpPr>
          <p:nvPr/>
        </p:nvCxnSpPr>
        <p:spPr>
          <a:xfrm rot="16200000" flipH="1">
            <a:off x="140616" y="2087515"/>
            <a:ext cx="449392" cy="183776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EE7E09-4980-4803-BD70-546A0CC85C68}"/>
              </a:ext>
            </a:extLst>
          </p:cNvPr>
          <p:cNvCxnSpPr>
            <a:cxnSpLocks/>
          </p:cNvCxnSpPr>
          <p:nvPr/>
        </p:nvCxnSpPr>
        <p:spPr>
          <a:xfrm>
            <a:off x="6867979" y="155437"/>
            <a:ext cx="0" cy="6530529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Case 1">
            <a:extLst>
              <a:ext uri="{FF2B5EF4-FFF2-40B4-BE49-F238E27FC236}">
                <a16:creationId xmlns:a16="http://schemas.microsoft.com/office/drawing/2014/main" id="{EF4D3363-E564-4CDE-8259-BC24A94070F6}"/>
              </a:ext>
            </a:extLst>
          </p:cNvPr>
          <p:cNvSpPr/>
          <p:nvPr/>
        </p:nvSpPr>
        <p:spPr>
          <a:xfrm>
            <a:off x="3251010" y="143229"/>
            <a:ext cx="2194560" cy="412786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1</a:t>
            </a:r>
          </a:p>
        </p:txBody>
      </p:sp>
      <p:pic>
        <p:nvPicPr>
          <p:cNvPr id="151" name="Toolbox" descr="toolbox - Free Tools and utensils icons">
            <a:extLst>
              <a:ext uri="{FF2B5EF4-FFF2-40B4-BE49-F238E27FC236}">
                <a16:creationId xmlns:a16="http://schemas.microsoft.com/office/drawing/2014/main" id="{5C066186-C42D-4F41-9C07-E7C14B04EE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1" t="-2032" r="23634" b="419"/>
          <a:stretch/>
        </p:blipFill>
        <p:spPr bwMode="auto">
          <a:xfrm>
            <a:off x="1951679" y="2318062"/>
            <a:ext cx="520982" cy="522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2" name="Case 1-  retic index">
            <a:extLst>
              <a:ext uri="{FF2B5EF4-FFF2-40B4-BE49-F238E27FC236}">
                <a16:creationId xmlns:a16="http://schemas.microsoft.com/office/drawing/2014/main" id="{EA12AC45-C9AA-4EBC-9C78-A48CBE9F678B}"/>
              </a:ext>
            </a:extLst>
          </p:cNvPr>
          <p:cNvSpPr/>
          <p:nvPr/>
        </p:nvSpPr>
        <p:spPr>
          <a:xfrm>
            <a:off x="2563183" y="2453627"/>
            <a:ext cx="393192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Retic index</a:t>
            </a:r>
          </a:p>
        </p:txBody>
      </p:sp>
      <p:sp>
        <p:nvSpPr>
          <p:cNvPr id="153" name="Case 1 - hemolysis">
            <a:extLst>
              <a:ext uri="{FF2B5EF4-FFF2-40B4-BE49-F238E27FC236}">
                <a16:creationId xmlns:a16="http://schemas.microsoft.com/office/drawing/2014/main" id="{21F1D978-46D8-4DB2-80C6-E1C708EA5001}"/>
              </a:ext>
            </a:extLst>
          </p:cNvPr>
          <p:cNvSpPr/>
          <p:nvPr/>
        </p:nvSpPr>
        <p:spPr>
          <a:xfrm>
            <a:off x="1923103" y="3948925"/>
            <a:ext cx="457200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Hemolysis labs</a:t>
            </a:r>
          </a:p>
        </p:txBody>
      </p:sp>
      <p:sp>
        <p:nvSpPr>
          <p:cNvPr id="154" name="Case 1 - DAT">
            <a:extLst>
              <a:ext uri="{FF2B5EF4-FFF2-40B4-BE49-F238E27FC236}">
                <a16:creationId xmlns:a16="http://schemas.microsoft.com/office/drawing/2014/main" id="{5DB19E74-A35D-4DB8-8C14-776152AACAEF}"/>
              </a:ext>
            </a:extLst>
          </p:cNvPr>
          <p:cNvSpPr/>
          <p:nvPr/>
        </p:nvSpPr>
        <p:spPr>
          <a:xfrm>
            <a:off x="1923103" y="4438734"/>
            <a:ext cx="457200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</a:t>
            </a:r>
          </a:p>
        </p:txBody>
      </p:sp>
      <p:sp>
        <p:nvSpPr>
          <p:cNvPr id="156" name="Case 1 -MCV">
            <a:extLst>
              <a:ext uri="{FF2B5EF4-FFF2-40B4-BE49-F238E27FC236}">
                <a16:creationId xmlns:a16="http://schemas.microsoft.com/office/drawing/2014/main" id="{1E60229D-866C-418F-9563-D0F98200F4EF}"/>
              </a:ext>
            </a:extLst>
          </p:cNvPr>
          <p:cNvSpPr/>
          <p:nvPr/>
        </p:nvSpPr>
        <p:spPr>
          <a:xfrm>
            <a:off x="1923103" y="2969309"/>
            <a:ext cx="457200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MCV</a:t>
            </a:r>
            <a:endParaRPr lang="en-US" sz="1400" dirty="0"/>
          </a:p>
        </p:txBody>
      </p:sp>
      <p:sp>
        <p:nvSpPr>
          <p:cNvPr id="157" name="Case 1 - Retic index answer">
            <a:extLst>
              <a:ext uri="{FF2B5EF4-FFF2-40B4-BE49-F238E27FC236}">
                <a16:creationId xmlns:a16="http://schemas.microsoft.com/office/drawing/2014/main" id="{B3B3EDDE-D8B4-4875-ADB2-8B22DA64617E}"/>
              </a:ext>
            </a:extLst>
          </p:cNvPr>
          <p:cNvSpPr/>
          <p:nvPr/>
        </p:nvSpPr>
        <p:spPr>
          <a:xfrm>
            <a:off x="2563183" y="2453627"/>
            <a:ext cx="3931920" cy="365760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RI = 1.1</a:t>
            </a:r>
          </a:p>
        </p:txBody>
      </p:sp>
      <p:sp>
        <p:nvSpPr>
          <p:cNvPr id="158" name="Case 1 - MCV answer">
            <a:extLst>
              <a:ext uri="{FF2B5EF4-FFF2-40B4-BE49-F238E27FC236}">
                <a16:creationId xmlns:a16="http://schemas.microsoft.com/office/drawing/2014/main" id="{59EBAD81-4A68-4B11-805B-532240E0A643}"/>
              </a:ext>
            </a:extLst>
          </p:cNvPr>
          <p:cNvSpPr/>
          <p:nvPr/>
        </p:nvSpPr>
        <p:spPr>
          <a:xfrm>
            <a:off x="1923103" y="2969309"/>
            <a:ext cx="4572000" cy="365760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MCV = 89</a:t>
            </a:r>
          </a:p>
        </p:txBody>
      </p:sp>
      <p:sp>
        <p:nvSpPr>
          <p:cNvPr id="159" name="Case 1 - DAT answer">
            <a:extLst>
              <a:ext uri="{FF2B5EF4-FFF2-40B4-BE49-F238E27FC236}">
                <a16:creationId xmlns:a16="http://schemas.microsoft.com/office/drawing/2014/main" id="{66D94CAD-2FE4-47E7-8F34-E6F227B77453}"/>
              </a:ext>
            </a:extLst>
          </p:cNvPr>
          <p:cNvSpPr/>
          <p:nvPr/>
        </p:nvSpPr>
        <p:spPr>
          <a:xfrm>
            <a:off x="1923103" y="4438734"/>
            <a:ext cx="4572000" cy="365760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Not sent.</a:t>
            </a:r>
          </a:p>
        </p:txBody>
      </p:sp>
      <p:sp>
        <p:nvSpPr>
          <p:cNvPr id="161" name="Case 1 -hemolysis answer">
            <a:extLst>
              <a:ext uri="{FF2B5EF4-FFF2-40B4-BE49-F238E27FC236}">
                <a16:creationId xmlns:a16="http://schemas.microsoft.com/office/drawing/2014/main" id="{FAF2BF8D-C2EF-42C0-B7F9-11305933DB13}"/>
              </a:ext>
            </a:extLst>
          </p:cNvPr>
          <p:cNvSpPr/>
          <p:nvPr/>
        </p:nvSpPr>
        <p:spPr>
          <a:xfrm>
            <a:off x="1923103" y="3948925"/>
            <a:ext cx="4572000" cy="365760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LDH 1508, haptoglobin </a:t>
            </a:r>
            <a:r>
              <a:rPr lang="en-US" sz="1400" dirty="0" err="1"/>
              <a:t>nml</a:t>
            </a:r>
            <a:r>
              <a:rPr lang="en-US" sz="1400" dirty="0"/>
              <a:t>, </a:t>
            </a:r>
            <a:r>
              <a:rPr lang="en-US" sz="1400" dirty="0" err="1"/>
              <a:t>Tbili</a:t>
            </a:r>
            <a:r>
              <a:rPr lang="en-US" sz="1400" dirty="0"/>
              <a:t> 1.0 (direct 0.3)</a:t>
            </a:r>
          </a:p>
        </p:txBody>
      </p:sp>
      <p:sp>
        <p:nvSpPr>
          <p:cNvPr id="162" name="Diagnosis - case 1">
            <a:extLst>
              <a:ext uri="{FF2B5EF4-FFF2-40B4-BE49-F238E27FC236}">
                <a16:creationId xmlns:a16="http://schemas.microsoft.com/office/drawing/2014/main" id="{6BA6E98B-52B7-4B24-BC0B-57A44B6980D1}"/>
              </a:ext>
            </a:extLst>
          </p:cNvPr>
          <p:cNvSpPr/>
          <p:nvPr/>
        </p:nvSpPr>
        <p:spPr>
          <a:xfrm>
            <a:off x="1923103" y="5870607"/>
            <a:ext cx="4572000" cy="8229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Diagnosis?</a:t>
            </a:r>
          </a:p>
        </p:txBody>
      </p:sp>
      <p:sp>
        <p:nvSpPr>
          <p:cNvPr id="163" name="Diagnosis 1 aanswer">
            <a:extLst>
              <a:ext uri="{FF2B5EF4-FFF2-40B4-BE49-F238E27FC236}">
                <a16:creationId xmlns:a16="http://schemas.microsoft.com/office/drawing/2014/main" id="{169E0040-5407-4891-9004-B895DF0FAE88}"/>
              </a:ext>
            </a:extLst>
          </p:cNvPr>
          <p:cNvSpPr/>
          <p:nvPr/>
        </p:nvSpPr>
        <p:spPr>
          <a:xfrm>
            <a:off x="1923103" y="5870607"/>
            <a:ext cx="457200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Multiple myeloma 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hyper</a:t>
            </a:r>
            <a:r>
              <a:rPr lang="en-US" sz="1400" u="sng" dirty="0" err="1">
                <a:solidFill>
                  <a:schemeClr val="tx1"/>
                </a:solidFill>
              </a:rPr>
              <a:t>C</a:t>
            </a:r>
            <a:r>
              <a:rPr lang="en-US" sz="1400" dirty="0" err="1">
                <a:solidFill>
                  <a:schemeClr val="tx1"/>
                </a:solidFill>
              </a:rPr>
              <a:t>a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u="sng" dirty="0">
                <a:solidFill>
                  <a:schemeClr val="tx1"/>
                </a:solidFill>
              </a:rPr>
              <a:t>R</a:t>
            </a:r>
            <a:r>
              <a:rPr lang="en-US" sz="1400" dirty="0">
                <a:solidFill>
                  <a:schemeClr val="tx1"/>
                </a:solidFill>
              </a:rPr>
              <a:t>enal dysfunction, </a:t>
            </a:r>
            <a:r>
              <a:rPr lang="en-US" sz="1400" u="sng" dirty="0">
                <a:solidFill>
                  <a:schemeClr val="tx1"/>
                </a:solidFill>
              </a:rPr>
              <a:t>A</a:t>
            </a:r>
            <a:r>
              <a:rPr lang="en-US" sz="1400" dirty="0">
                <a:solidFill>
                  <a:schemeClr val="tx1"/>
                </a:solidFill>
              </a:rPr>
              <a:t>nemia, </a:t>
            </a:r>
            <a:r>
              <a:rPr lang="en-US" sz="1400" u="sng" dirty="0">
                <a:solidFill>
                  <a:schemeClr val="tx1"/>
                </a:solidFill>
              </a:rPr>
              <a:t>B</a:t>
            </a:r>
            <a:r>
              <a:rPr lang="en-US" sz="1400" dirty="0">
                <a:solidFill>
                  <a:schemeClr val="tx1"/>
                </a:solidFill>
              </a:rPr>
              <a:t>oney lesions). Iron studies show anemia of chronic disease. LDH is </a:t>
            </a:r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</a:t>
            </a:r>
            <a:r>
              <a:rPr lang="en-US" sz="1400" dirty="0">
                <a:solidFill>
                  <a:schemeClr val="tx1"/>
                </a:solidFill>
              </a:rPr>
              <a:t> from cell turnover. </a:t>
            </a:r>
          </a:p>
        </p:txBody>
      </p:sp>
      <p:sp>
        <p:nvSpPr>
          <p:cNvPr id="175" name="Case 1 - Iron studies">
            <a:extLst>
              <a:ext uri="{FF2B5EF4-FFF2-40B4-BE49-F238E27FC236}">
                <a16:creationId xmlns:a16="http://schemas.microsoft.com/office/drawing/2014/main" id="{40A2B2DB-9F31-47B0-8D41-80488A5EBCFB}"/>
              </a:ext>
            </a:extLst>
          </p:cNvPr>
          <p:cNvSpPr/>
          <p:nvPr/>
        </p:nvSpPr>
        <p:spPr>
          <a:xfrm>
            <a:off x="1923103" y="3459117"/>
            <a:ext cx="457200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Iron studies</a:t>
            </a:r>
          </a:p>
        </p:txBody>
      </p:sp>
      <p:sp>
        <p:nvSpPr>
          <p:cNvPr id="176" name="Case 1 - Iron studies answer">
            <a:extLst>
              <a:ext uri="{FF2B5EF4-FFF2-40B4-BE49-F238E27FC236}">
                <a16:creationId xmlns:a16="http://schemas.microsoft.com/office/drawing/2014/main" id="{1BDAAE71-C807-408E-9E3D-CFC06EE08210}"/>
              </a:ext>
            </a:extLst>
          </p:cNvPr>
          <p:cNvSpPr/>
          <p:nvPr/>
        </p:nvSpPr>
        <p:spPr>
          <a:xfrm>
            <a:off x="1923103" y="3459117"/>
            <a:ext cx="4572000" cy="365760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Serum Fe </a:t>
            </a:r>
            <a:r>
              <a:rPr lang="en-US" sz="1400" dirty="0">
                <a:sym typeface="Wingdings" panose="05000000000000000000" pitchFamily="2" charset="2"/>
              </a:rPr>
              <a:t>, % sat , ferritin </a:t>
            </a:r>
            <a:endParaRPr lang="en-US" sz="1400" dirty="0"/>
          </a:p>
        </p:txBody>
      </p:sp>
      <p:sp>
        <p:nvSpPr>
          <p:cNvPr id="149" name="Case 1 text">
            <a:extLst>
              <a:ext uri="{FF2B5EF4-FFF2-40B4-BE49-F238E27FC236}">
                <a16:creationId xmlns:a16="http://schemas.microsoft.com/office/drawing/2014/main" id="{6ECAFA3C-6C7C-4F68-A711-1D2B267D97B7}"/>
              </a:ext>
            </a:extLst>
          </p:cNvPr>
          <p:cNvSpPr txBox="1"/>
          <p:nvPr/>
        </p:nvSpPr>
        <p:spPr>
          <a:xfrm>
            <a:off x="1893571" y="625753"/>
            <a:ext cx="46339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/>
            <a:r>
              <a:rPr lang="en-US" sz="1400" dirty="0"/>
              <a:t>56-year-old presents with a ground level fall and femur fracture. </a:t>
            </a:r>
          </a:p>
          <a:p>
            <a:pPr marL="114300" indent="-114300"/>
            <a:r>
              <a:rPr lang="en-US" sz="1400" u="sng" dirty="0"/>
              <a:t>ROS</a:t>
            </a:r>
            <a:r>
              <a:rPr lang="en-US" sz="1400" dirty="0"/>
              <a:t>: No bleeding. Reports weakness, fatigue, mild confusion, constipation, and easy bruising </a:t>
            </a:r>
          </a:p>
        </p:txBody>
      </p:sp>
      <p:sp>
        <p:nvSpPr>
          <p:cNvPr id="150" name="Case 1 - Cr, basic labs">
            <a:extLst>
              <a:ext uri="{FF2B5EF4-FFF2-40B4-BE49-F238E27FC236}">
                <a16:creationId xmlns:a16="http://schemas.microsoft.com/office/drawing/2014/main" id="{B36F5F06-EC75-4A8C-8A17-D0AFFB1DE86D}"/>
              </a:ext>
            </a:extLst>
          </p:cNvPr>
          <p:cNvSpPr txBox="1"/>
          <p:nvPr/>
        </p:nvSpPr>
        <p:spPr>
          <a:xfrm>
            <a:off x="1891580" y="1592088"/>
            <a:ext cx="15106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Cr 1.6</a:t>
            </a:r>
          </a:p>
          <a:p>
            <a:r>
              <a:rPr lang="en-US" sz="1400" dirty="0"/>
              <a:t>Calcium 11.5</a:t>
            </a:r>
          </a:p>
          <a:p>
            <a:r>
              <a:rPr lang="en-US" sz="1400" dirty="0"/>
              <a:t>Retic % 4.5</a:t>
            </a:r>
          </a:p>
        </p:txBody>
      </p:sp>
      <p:grpSp>
        <p:nvGrpSpPr>
          <p:cNvPr id="164" name="Case 1 - INR">
            <a:extLst>
              <a:ext uri="{FF2B5EF4-FFF2-40B4-BE49-F238E27FC236}">
                <a16:creationId xmlns:a16="http://schemas.microsoft.com/office/drawing/2014/main" id="{84631E7B-A01F-45AC-B500-39DB93A94BFB}"/>
              </a:ext>
            </a:extLst>
          </p:cNvPr>
          <p:cNvGrpSpPr/>
          <p:nvPr/>
        </p:nvGrpSpPr>
        <p:grpSpPr>
          <a:xfrm>
            <a:off x="3406375" y="1680036"/>
            <a:ext cx="1863482" cy="589161"/>
            <a:chOff x="649446" y="3410492"/>
            <a:chExt cx="1436624" cy="589161"/>
          </a:xfrm>
        </p:grpSpPr>
        <p:grpSp>
          <p:nvGrpSpPr>
            <p:cNvPr id="165" name="Fishbone">
              <a:extLst>
                <a:ext uri="{FF2B5EF4-FFF2-40B4-BE49-F238E27FC236}">
                  <a16:creationId xmlns:a16="http://schemas.microsoft.com/office/drawing/2014/main" id="{7AEB8B9D-172B-4442-88B5-F3571126C5E4}"/>
                </a:ext>
              </a:extLst>
            </p:cNvPr>
            <p:cNvGrpSpPr/>
            <p:nvPr/>
          </p:nvGrpSpPr>
          <p:grpSpPr>
            <a:xfrm>
              <a:off x="969442" y="3489750"/>
              <a:ext cx="564560" cy="438412"/>
              <a:chOff x="1075078" y="3489857"/>
              <a:chExt cx="480921" cy="368665"/>
            </a:xfrm>
          </p:grpSpPr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692B2BF-38D9-408B-B118-2AAFEA19959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75078" y="3672211"/>
                <a:ext cx="138911" cy="18287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0693DD93-2105-468D-AF5C-D2760DC02E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9486" y="3500125"/>
                <a:ext cx="123549" cy="17315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E6FA220B-EDB0-41BB-8539-87F137ACB7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3036" y="3673275"/>
                <a:ext cx="213429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FDA9D430-02E7-4BFF-9EB7-102AEEE7CBE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22927" y="3489857"/>
                <a:ext cx="133072" cy="18235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DDF83FF7-5B29-4515-9D34-712D80F820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15090" y="3673275"/>
                <a:ext cx="137621" cy="18524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4398121F-B76D-42E7-A81A-15ED8B13DED3}"/>
                </a:ext>
              </a:extLst>
            </p:cNvPr>
            <p:cNvSpPr txBox="1"/>
            <p:nvPr/>
          </p:nvSpPr>
          <p:spPr>
            <a:xfrm>
              <a:off x="649446" y="3559126"/>
              <a:ext cx="465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3.9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5067EADA-1827-48F4-A345-F1C6E0303EF8}"/>
                </a:ext>
              </a:extLst>
            </p:cNvPr>
            <p:cNvSpPr txBox="1"/>
            <p:nvPr/>
          </p:nvSpPr>
          <p:spPr>
            <a:xfrm>
              <a:off x="1404907" y="3561846"/>
              <a:ext cx="6811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147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269121C0-3C70-40A3-B537-B24EBDB3AC82}"/>
                </a:ext>
              </a:extLst>
            </p:cNvPr>
            <p:cNvSpPr txBox="1"/>
            <p:nvPr/>
          </p:nvSpPr>
          <p:spPr>
            <a:xfrm>
              <a:off x="1022569" y="3410492"/>
              <a:ext cx="465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8.2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8A6424D6-F969-4714-AF69-D78882BEDADD}"/>
                </a:ext>
              </a:extLst>
            </p:cNvPr>
            <p:cNvSpPr txBox="1"/>
            <p:nvPr/>
          </p:nvSpPr>
          <p:spPr>
            <a:xfrm>
              <a:off x="1004602" y="3691876"/>
              <a:ext cx="465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25</a:t>
              </a:r>
            </a:p>
          </p:txBody>
        </p:sp>
      </p:grpSp>
      <p:grpSp>
        <p:nvGrpSpPr>
          <p:cNvPr id="177" name="Case 1 CBC">
            <a:extLst>
              <a:ext uri="{FF2B5EF4-FFF2-40B4-BE49-F238E27FC236}">
                <a16:creationId xmlns:a16="http://schemas.microsoft.com/office/drawing/2014/main" id="{74673C14-6D02-4FCA-A280-81D692773682}"/>
              </a:ext>
            </a:extLst>
          </p:cNvPr>
          <p:cNvGrpSpPr/>
          <p:nvPr/>
        </p:nvGrpSpPr>
        <p:grpSpPr>
          <a:xfrm>
            <a:off x="5222210" y="1678596"/>
            <a:ext cx="1125956" cy="626450"/>
            <a:chOff x="756275" y="3454825"/>
            <a:chExt cx="868039" cy="626450"/>
          </a:xfrm>
        </p:grpSpPr>
        <p:grpSp>
          <p:nvGrpSpPr>
            <p:cNvPr id="178" name="Fishbone">
              <a:extLst>
                <a:ext uri="{FF2B5EF4-FFF2-40B4-BE49-F238E27FC236}">
                  <a16:creationId xmlns:a16="http://schemas.microsoft.com/office/drawing/2014/main" id="{267AB2DA-31DA-435E-804C-D3E46D3FD058}"/>
                </a:ext>
              </a:extLst>
            </p:cNvPr>
            <p:cNvGrpSpPr/>
            <p:nvPr/>
          </p:nvGrpSpPr>
          <p:grpSpPr>
            <a:xfrm>
              <a:off x="814258" y="3454825"/>
              <a:ext cx="630525" cy="515023"/>
              <a:chOff x="942885" y="3460497"/>
              <a:chExt cx="537114" cy="433089"/>
            </a:xfrm>
          </p:grpSpPr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F342666E-33AE-48AD-B6E7-4B1799D8DF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2885" y="3672211"/>
                <a:ext cx="271105" cy="22137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19AD88DB-0A39-41EA-92A9-A4E3675033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13035" y="3460497"/>
                <a:ext cx="1" cy="21277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22B4CA90-8ED0-440D-89C4-29312FFC49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3036" y="3673275"/>
                <a:ext cx="266963" cy="19811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0902C10B-9389-4DFE-8DA9-8618519D0FBF}"/>
                </a:ext>
              </a:extLst>
            </p:cNvPr>
            <p:cNvSpPr txBox="1"/>
            <p:nvPr/>
          </p:nvSpPr>
          <p:spPr>
            <a:xfrm>
              <a:off x="1097342" y="3501653"/>
              <a:ext cx="5269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15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57877DFA-9958-4EAD-8113-EA0A664629FE}"/>
                </a:ext>
              </a:extLst>
            </p:cNvPr>
            <p:cNvSpPr txBox="1"/>
            <p:nvPr/>
          </p:nvSpPr>
          <p:spPr>
            <a:xfrm>
              <a:off x="756275" y="3504119"/>
              <a:ext cx="4057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27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E7B32F80-6307-478A-91CB-79113234F61A}"/>
                </a:ext>
              </a:extLst>
            </p:cNvPr>
            <p:cNvSpPr txBox="1"/>
            <p:nvPr/>
          </p:nvSpPr>
          <p:spPr>
            <a:xfrm>
              <a:off x="897001" y="3773498"/>
              <a:ext cx="465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1.1</a:t>
              </a:r>
            </a:p>
          </p:txBody>
        </p:sp>
      </p:grpSp>
      <p:sp>
        <p:nvSpPr>
          <p:cNvPr id="186" name="Case 1  - Smear interpretation">
            <a:extLst>
              <a:ext uri="{FF2B5EF4-FFF2-40B4-BE49-F238E27FC236}">
                <a16:creationId xmlns:a16="http://schemas.microsoft.com/office/drawing/2014/main" id="{3C550D45-1E6F-4797-B936-937946D7D5EB}"/>
              </a:ext>
            </a:extLst>
          </p:cNvPr>
          <p:cNvSpPr/>
          <p:nvPr/>
        </p:nvSpPr>
        <p:spPr>
          <a:xfrm>
            <a:off x="3836196" y="4919363"/>
            <a:ext cx="2658907" cy="822960"/>
          </a:xfrm>
          <a:prstGeom prst="roundRect">
            <a:avLst>
              <a:gd name="adj" fmla="val 12441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Interpretation</a:t>
            </a:r>
          </a:p>
        </p:txBody>
      </p:sp>
      <p:sp>
        <p:nvSpPr>
          <p:cNvPr id="155" name="Case 1 - Smear">
            <a:extLst>
              <a:ext uri="{FF2B5EF4-FFF2-40B4-BE49-F238E27FC236}">
                <a16:creationId xmlns:a16="http://schemas.microsoft.com/office/drawing/2014/main" id="{95684C85-980E-44B7-8CD9-170616A2866C}"/>
              </a:ext>
            </a:extLst>
          </p:cNvPr>
          <p:cNvSpPr/>
          <p:nvPr/>
        </p:nvSpPr>
        <p:spPr>
          <a:xfrm>
            <a:off x="1937852" y="4919363"/>
            <a:ext cx="1738768" cy="822960"/>
          </a:xfrm>
          <a:prstGeom prst="roundRect">
            <a:avLst>
              <a:gd name="adj" fmla="val 12441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Peripheral smear</a:t>
            </a:r>
          </a:p>
        </p:txBody>
      </p:sp>
      <p:sp>
        <p:nvSpPr>
          <p:cNvPr id="187" name="Case 1 -PBS answer">
            <a:extLst>
              <a:ext uri="{FF2B5EF4-FFF2-40B4-BE49-F238E27FC236}">
                <a16:creationId xmlns:a16="http://schemas.microsoft.com/office/drawing/2014/main" id="{1E215908-706F-4C62-84E5-7C67F6275278}"/>
              </a:ext>
            </a:extLst>
          </p:cNvPr>
          <p:cNvSpPr/>
          <p:nvPr/>
        </p:nvSpPr>
        <p:spPr>
          <a:xfrm>
            <a:off x="3822960" y="4919363"/>
            <a:ext cx="2672143" cy="822960"/>
          </a:xfrm>
          <a:prstGeom prst="roundRect">
            <a:avLst>
              <a:gd name="adj" fmla="val 11830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Rouleaux formation </a:t>
            </a:r>
          </a:p>
        </p:txBody>
      </p:sp>
      <p:grpSp>
        <p:nvGrpSpPr>
          <p:cNvPr id="193" name="Case 1 - Rouleaux">
            <a:extLst>
              <a:ext uri="{FF2B5EF4-FFF2-40B4-BE49-F238E27FC236}">
                <a16:creationId xmlns:a16="http://schemas.microsoft.com/office/drawing/2014/main" id="{83A4DFE0-BFD1-4250-B3C3-38A726EED0B1}"/>
              </a:ext>
            </a:extLst>
          </p:cNvPr>
          <p:cNvGrpSpPr/>
          <p:nvPr/>
        </p:nvGrpSpPr>
        <p:grpSpPr>
          <a:xfrm>
            <a:off x="1929196" y="4919363"/>
            <a:ext cx="1747424" cy="822960"/>
            <a:chOff x="327517" y="5195723"/>
            <a:chExt cx="1286971" cy="691821"/>
          </a:xfrm>
        </p:grpSpPr>
        <p:sp>
          <p:nvSpPr>
            <p:cNvPr id="160" name="Case 2 -PBS answer">
              <a:extLst>
                <a:ext uri="{FF2B5EF4-FFF2-40B4-BE49-F238E27FC236}">
                  <a16:creationId xmlns:a16="http://schemas.microsoft.com/office/drawing/2014/main" id="{54069DFD-562A-4EDA-B482-D79F64DD2B9F}"/>
                </a:ext>
              </a:extLst>
            </p:cNvPr>
            <p:cNvSpPr/>
            <p:nvPr/>
          </p:nvSpPr>
          <p:spPr>
            <a:xfrm>
              <a:off x="327517" y="5195723"/>
              <a:ext cx="1286971" cy="691821"/>
            </a:xfrm>
            <a:prstGeom prst="roundRect">
              <a:avLst>
                <a:gd name="adj" fmla="val 11830"/>
              </a:avLst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pic>
          <p:nvPicPr>
            <p:cNvPr id="191" name="Picture 190" descr="A picture containing clock&#10;&#10;Description automatically generated">
              <a:extLst>
                <a:ext uri="{FF2B5EF4-FFF2-40B4-BE49-F238E27FC236}">
                  <a16:creationId xmlns:a16="http://schemas.microsoft.com/office/drawing/2014/main" id="{A0D89A0F-D635-4682-87F6-00142DA754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9543"/>
            <a:stretch/>
          </p:blipFill>
          <p:spPr>
            <a:xfrm rot="16200000">
              <a:off x="677012" y="5233274"/>
              <a:ext cx="574100" cy="6167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sp>
        <p:nvSpPr>
          <p:cNvPr id="2" name="Next">
            <a:hlinkClick r:id="rId5" action="ppaction://hlinksldjump"/>
            <a:extLst>
              <a:ext uri="{FF2B5EF4-FFF2-40B4-BE49-F238E27FC236}">
                <a16:creationId xmlns:a16="http://schemas.microsoft.com/office/drawing/2014/main" id="{E079924D-5313-7565-4213-05ADFFC1E668}"/>
              </a:ext>
            </a:extLst>
          </p:cNvPr>
          <p:cNvSpPr/>
          <p:nvPr/>
        </p:nvSpPr>
        <p:spPr>
          <a:xfrm>
            <a:off x="183017" y="1716400"/>
            <a:ext cx="1371600" cy="36576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sp>
        <p:nvSpPr>
          <p:cNvPr id="3" name="Next">
            <a:hlinkClick r:id="rId6" action="ppaction://hlinksldjump"/>
            <a:extLst>
              <a:ext uri="{FF2B5EF4-FFF2-40B4-BE49-F238E27FC236}">
                <a16:creationId xmlns:a16="http://schemas.microsoft.com/office/drawing/2014/main" id="{BB612728-C68D-DE72-D8D8-326ABC3FFAA0}"/>
              </a:ext>
            </a:extLst>
          </p:cNvPr>
          <p:cNvSpPr/>
          <p:nvPr/>
        </p:nvSpPr>
        <p:spPr>
          <a:xfrm>
            <a:off x="183017" y="705625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Underprod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Next">
            <a:hlinkClick r:id="rId7" action="ppaction://hlinksldjump"/>
            <a:extLst>
              <a:ext uri="{FF2B5EF4-FFF2-40B4-BE49-F238E27FC236}">
                <a16:creationId xmlns:a16="http://schemas.microsoft.com/office/drawing/2014/main" id="{C5AF4011-328F-26A3-807D-9E1808B8B8F6}"/>
              </a:ext>
            </a:extLst>
          </p:cNvPr>
          <p:cNvSpPr/>
          <p:nvPr/>
        </p:nvSpPr>
        <p:spPr>
          <a:xfrm>
            <a:off x="183017" y="1211012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Overprod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Next">
            <a:hlinkClick r:id="rId8" action="ppaction://hlinksldjump"/>
            <a:extLst>
              <a:ext uri="{FF2B5EF4-FFF2-40B4-BE49-F238E27FC236}">
                <a16:creationId xmlns:a16="http://schemas.microsoft.com/office/drawing/2014/main" id="{0CC0A6BE-BCD7-7393-A03F-794BDDCD2AA5}"/>
              </a:ext>
            </a:extLst>
          </p:cNvPr>
          <p:cNvSpPr/>
          <p:nvPr/>
        </p:nvSpPr>
        <p:spPr>
          <a:xfrm>
            <a:off x="183017" y="200238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Overview</a:t>
            </a:r>
          </a:p>
        </p:txBody>
      </p:sp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C00C6A3E-1259-DA61-3F74-10DBDEA7EA5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28887" y="446151"/>
            <a:ext cx="274320" cy="274320"/>
          </a:xfrm>
          <a:prstGeom prst="rect">
            <a:avLst/>
          </a:prstGeom>
        </p:spPr>
      </p:pic>
      <p:pic>
        <p:nvPicPr>
          <p:cNvPr id="12" name="Graphic 11" descr="Cursor">
            <a:extLst>
              <a:ext uri="{FF2B5EF4-FFF2-40B4-BE49-F238E27FC236}">
                <a16:creationId xmlns:a16="http://schemas.microsoft.com/office/drawing/2014/main" id="{68ADDC2B-52E6-74C4-99D0-D919CF7C4CD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28887" y="945579"/>
            <a:ext cx="274320" cy="274320"/>
          </a:xfrm>
          <a:prstGeom prst="rect">
            <a:avLst/>
          </a:prstGeom>
        </p:spPr>
      </p:pic>
      <p:pic>
        <p:nvPicPr>
          <p:cNvPr id="13" name="Graphic 12" descr="Cursor">
            <a:extLst>
              <a:ext uri="{FF2B5EF4-FFF2-40B4-BE49-F238E27FC236}">
                <a16:creationId xmlns:a16="http://schemas.microsoft.com/office/drawing/2014/main" id="{B0821358-A042-7958-57E4-D03FA9E793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28887" y="1456437"/>
            <a:ext cx="274320" cy="274320"/>
          </a:xfrm>
          <a:prstGeom prst="rect">
            <a:avLst/>
          </a:prstGeom>
        </p:spPr>
      </p:pic>
      <p:pic>
        <p:nvPicPr>
          <p:cNvPr id="15" name="Graphic 14" descr="Cursor">
            <a:extLst>
              <a:ext uri="{FF2B5EF4-FFF2-40B4-BE49-F238E27FC236}">
                <a16:creationId xmlns:a16="http://schemas.microsoft.com/office/drawing/2014/main" id="{280CEC6B-5D51-3485-E3B5-BEA043268B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66282" y="2677910"/>
            <a:ext cx="274320" cy="274320"/>
          </a:xfrm>
          <a:prstGeom prst="rect">
            <a:avLst/>
          </a:prstGeom>
        </p:spPr>
      </p:pic>
      <p:pic>
        <p:nvPicPr>
          <p:cNvPr id="16" name="Graphic 15" descr="Cursor">
            <a:extLst>
              <a:ext uri="{FF2B5EF4-FFF2-40B4-BE49-F238E27FC236}">
                <a16:creationId xmlns:a16="http://schemas.microsoft.com/office/drawing/2014/main" id="{7B5E4686-ABA5-9146-3F20-DB0CD1C7F3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15820" y="418103"/>
            <a:ext cx="274320" cy="274320"/>
          </a:xfrm>
          <a:prstGeom prst="rect">
            <a:avLst/>
          </a:prstGeom>
        </p:spPr>
      </p:pic>
      <p:pic>
        <p:nvPicPr>
          <p:cNvPr id="6" name="Graphic 5" descr="Cursor">
            <a:extLst>
              <a:ext uri="{FF2B5EF4-FFF2-40B4-BE49-F238E27FC236}">
                <a16:creationId xmlns:a16="http://schemas.microsoft.com/office/drawing/2014/main" id="{2B3827F0-2EC1-259D-153C-CD4B19C1E3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66282" y="3181729"/>
            <a:ext cx="274320" cy="274320"/>
          </a:xfrm>
          <a:prstGeom prst="rect">
            <a:avLst/>
          </a:prstGeom>
        </p:spPr>
      </p:pic>
      <p:pic>
        <p:nvPicPr>
          <p:cNvPr id="9" name="Graphic 8" descr="Cursor">
            <a:extLst>
              <a:ext uri="{FF2B5EF4-FFF2-40B4-BE49-F238E27FC236}">
                <a16:creationId xmlns:a16="http://schemas.microsoft.com/office/drawing/2014/main" id="{E61B13E1-DDEB-C162-8C72-20BDF3367F9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66282" y="3685548"/>
            <a:ext cx="274320" cy="274320"/>
          </a:xfrm>
          <a:prstGeom prst="rect">
            <a:avLst/>
          </a:prstGeom>
        </p:spPr>
      </p:pic>
      <p:pic>
        <p:nvPicPr>
          <p:cNvPr id="17" name="Graphic 16" descr="Cursor">
            <a:extLst>
              <a:ext uri="{FF2B5EF4-FFF2-40B4-BE49-F238E27FC236}">
                <a16:creationId xmlns:a16="http://schemas.microsoft.com/office/drawing/2014/main" id="{95B3E628-6F45-6BF5-A761-3923E7C481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66282" y="4189367"/>
            <a:ext cx="274320" cy="274320"/>
          </a:xfrm>
          <a:prstGeom prst="rect">
            <a:avLst/>
          </a:prstGeom>
        </p:spPr>
      </p:pic>
      <p:pic>
        <p:nvPicPr>
          <p:cNvPr id="18" name="Graphic 17" descr="Cursor">
            <a:extLst>
              <a:ext uri="{FF2B5EF4-FFF2-40B4-BE49-F238E27FC236}">
                <a16:creationId xmlns:a16="http://schemas.microsoft.com/office/drawing/2014/main" id="{2F4F4DD6-B2F5-2A67-2445-CA55BD2A7B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66282" y="4693187"/>
            <a:ext cx="274320" cy="274320"/>
          </a:xfrm>
          <a:prstGeom prst="rect">
            <a:avLst/>
          </a:prstGeom>
        </p:spPr>
      </p:pic>
      <p:pic>
        <p:nvPicPr>
          <p:cNvPr id="19" name="Graphic 18" descr="Cursor">
            <a:extLst>
              <a:ext uri="{FF2B5EF4-FFF2-40B4-BE49-F238E27FC236}">
                <a16:creationId xmlns:a16="http://schemas.microsoft.com/office/drawing/2014/main" id="{D57FA0FA-23C5-2E97-F17F-7187B776D8A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37965" y="5612898"/>
            <a:ext cx="274320" cy="274320"/>
          </a:xfrm>
          <a:prstGeom prst="rect">
            <a:avLst/>
          </a:prstGeom>
        </p:spPr>
      </p:pic>
      <p:pic>
        <p:nvPicPr>
          <p:cNvPr id="20" name="Graphic 19" descr="Cursor">
            <a:extLst>
              <a:ext uri="{FF2B5EF4-FFF2-40B4-BE49-F238E27FC236}">
                <a16:creationId xmlns:a16="http://schemas.microsoft.com/office/drawing/2014/main" id="{04FBA26D-DF50-E39B-D63B-5A86DA76FB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66282" y="5612898"/>
            <a:ext cx="274320" cy="274320"/>
          </a:xfrm>
          <a:prstGeom prst="rect">
            <a:avLst/>
          </a:prstGeom>
        </p:spPr>
      </p:pic>
      <p:pic>
        <p:nvPicPr>
          <p:cNvPr id="21" name="Graphic 20" descr="Cursor">
            <a:extLst>
              <a:ext uri="{FF2B5EF4-FFF2-40B4-BE49-F238E27FC236}">
                <a16:creationId xmlns:a16="http://schemas.microsoft.com/office/drawing/2014/main" id="{C0ACFDC6-7FF7-3D60-C93B-EB2A7F61356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66282" y="6545703"/>
            <a:ext cx="274320" cy="274320"/>
          </a:xfrm>
          <a:prstGeom prst="rect">
            <a:avLst/>
          </a:prstGeom>
        </p:spPr>
      </p:pic>
      <p:sp>
        <p:nvSpPr>
          <p:cNvPr id="22" name="Next">
            <a:hlinkClick r:id="rId11" action="ppaction://hlinksldjump"/>
            <a:extLst>
              <a:ext uri="{FF2B5EF4-FFF2-40B4-BE49-F238E27FC236}">
                <a16:creationId xmlns:a16="http://schemas.microsoft.com/office/drawing/2014/main" id="{5074C5B5-7892-3DA4-18AA-0D6263C5DEEA}"/>
              </a:ext>
            </a:extLst>
          </p:cNvPr>
          <p:cNvSpPr/>
          <p:nvPr/>
        </p:nvSpPr>
        <p:spPr>
          <a:xfrm>
            <a:off x="457200" y="2221219"/>
            <a:ext cx="1097417" cy="36576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1-2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D30A6F4A-AD1C-BEFA-8DEE-CFBB392EC77C}"/>
              </a:ext>
            </a:extLst>
          </p:cNvPr>
          <p:cNvCxnSpPr>
            <a:cxnSpLocks/>
            <a:endCxn id="29" idx="1"/>
          </p:cNvCxnSpPr>
          <p:nvPr/>
        </p:nvCxnSpPr>
        <p:spPr>
          <a:xfrm rot="16200000" flipH="1">
            <a:off x="45450" y="2497169"/>
            <a:ext cx="639722" cy="183776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Next">
            <a:hlinkClick r:id="rId12" action="ppaction://hlinksldjump"/>
            <a:extLst>
              <a:ext uri="{FF2B5EF4-FFF2-40B4-BE49-F238E27FC236}">
                <a16:creationId xmlns:a16="http://schemas.microsoft.com/office/drawing/2014/main" id="{4030CA6F-2DD4-1BD8-B078-7F905254AF7C}"/>
              </a:ext>
            </a:extLst>
          </p:cNvPr>
          <p:cNvSpPr/>
          <p:nvPr/>
        </p:nvSpPr>
        <p:spPr>
          <a:xfrm>
            <a:off x="457199" y="2726038"/>
            <a:ext cx="1097417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3-4</a:t>
            </a:r>
          </a:p>
        </p:txBody>
      </p:sp>
      <p:pic>
        <p:nvPicPr>
          <p:cNvPr id="37" name="Graphic 36" descr="Cursor">
            <a:extLst>
              <a:ext uri="{FF2B5EF4-FFF2-40B4-BE49-F238E27FC236}">
                <a16:creationId xmlns:a16="http://schemas.microsoft.com/office/drawing/2014/main" id="{50BFA58D-2049-62DC-165F-3C4FD3D480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34645" y="2958827"/>
            <a:ext cx="274320" cy="274320"/>
          </a:xfrm>
          <a:prstGeom prst="rect">
            <a:avLst/>
          </a:prstGeom>
        </p:spPr>
      </p:pic>
      <p:sp>
        <p:nvSpPr>
          <p:cNvPr id="38" name="Case 1">
            <a:extLst>
              <a:ext uri="{FF2B5EF4-FFF2-40B4-BE49-F238E27FC236}">
                <a16:creationId xmlns:a16="http://schemas.microsoft.com/office/drawing/2014/main" id="{309CD705-5A50-D10F-236C-0AC67908F1A6}"/>
              </a:ext>
            </a:extLst>
          </p:cNvPr>
          <p:cNvSpPr/>
          <p:nvPr/>
        </p:nvSpPr>
        <p:spPr>
          <a:xfrm>
            <a:off x="8561758" y="135628"/>
            <a:ext cx="2194560" cy="412786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Case 2</a:t>
            </a:r>
            <a:endParaRPr lang="en-US" dirty="0"/>
          </a:p>
        </p:txBody>
      </p:sp>
      <p:pic>
        <p:nvPicPr>
          <p:cNvPr id="39" name="Toolbox" descr="toolbox - Free Tools and utensils icons">
            <a:extLst>
              <a:ext uri="{FF2B5EF4-FFF2-40B4-BE49-F238E27FC236}">
                <a16:creationId xmlns:a16="http://schemas.microsoft.com/office/drawing/2014/main" id="{C4C961E1-2A2C-17BA-710D-A90A8C6793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1" t="-2032" r="23634" b="419"/>
          <a:stretch/>
        </p:blipFill>
        <p:spPr bwMode="auto">
          <a:xfrm>
            <a:off x="7262427" y="2310461"/>
            <a:ext cx="520982" cy="522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Case 1-  retic index">
            <a:extLst>
              <a:ext uri="{FF2B5EF4-FFF2-40B4-BE49-F238E27FC236}">
                <a16:creationId xmlns:a16="http://schemas.microsoft.com/office/drawing/2014/main" id="{E6F7C5C5-64A3-F8FE-ACE3-1BDF7AC3C750}"/>
              </a:ext>
            </a:extLst>
          </p:cNvPr>
          <p:cNvSpPr/>
          <p:nvPr/>
        </p:nvSpPr>
        <p:spPr>
          <a:xfrm>
            <a:off x="7873931" y="2446026"/>
            <a:ext cx="393192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Retic index</a:t>
            </a:r>
          </a:p>
        </p:txBody>
      </p:sp>
      <p:sp>
        <p:nvSpPr>
          <p:cNvPr id="42" name="Case 1 - hemolysis">
            <a:extLst>
              <a:ext uri="{FF2B5EF4-FFF2-40B4-BE49-F238E27FC236}">
                <a16:creationId xmlns:a16="http://schemas.microsoft.com/office/drawing/2014/main" id="{949F6C17-C825-DC03-4AF6-1ECE0F7D1FDF}"/>
              </a:ext>
            </a:extLst>
          </p:cNvPr>
          <p:cNvSpPr/>
          <p:nvPr/>
        </p:nvSpPr>
        <p:spPr>
          <a:xfrm>
            <a:off x="7233851" y="3941324"/>
            <a:ext cx="457200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Hemolysis labs</a:t>
            </a:r>
          </a:p>
        </p:txBody>
      </p:sp>
      <p:sp>
        <p:nvSpPr>
          <p:cNvPr id="43" name="Case 1 - DAT">
            <a:extLst>
              <a:ext uri="{FF2B5EF4-FFF2-40B4-BE49-F238E27FC236}">
                <a16:creationId xmlns:a16="http://schemas.microsoft.com/office/drawing/2014/main" id="{AFDAF747-FE5B-BEE3-D342-DFA5397565AB}"/>
              </a:ext>
            </a:extLst>
          </p:cNvPr>
          <p:cNvSpPr/>
          <p:nvPr/>
        </p:nvSpPr>
        <p:spPr>
          <a:xfrm>
            <a:off x="7233851" y="4431133"/>
            <a:ext cx="457200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</a:t>
            </a:r>
          </a:p>
        </p:txBody>
      </p:sp>
      <p:sp>
        <p:nvSpPr>
          <p:cNvPr id="44" name="Case 1 -MCV">
            <a:extLst>
              <a:ext uri="{FF2B5EF4-FFF2-40B4-BE49-F238E27FC236}">
                <a16:creationId xmlns:a16="http://schemas.microsoft.com/office/drawing/2014/main" id="{71A7A22F-1E2C-835B-2280-05E961FD8DB4}"/>
              </a:ext>
            </a:extLst>
          </p:cNvPr>
          <p:cNvSpPr/>
          <p:nvPr/>
        </p:nvSpPr>
        <p:spPr>
          <a:xfrm>
            <a:off x="7233851" y="2961708"/>
            <a:ext cx="457200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MCV</a:t>
            </a:r>
            <a:endParaRPr lang="en-US" sz="1400" dirty="0"/>
          </a:p>
        </p:txBody>
      </p:sp>
      <p:sp>
        <p:nvSpPr>
          <p:cNvPr id="45" name="Case 1 - Retic index answer">
            <a:extLst>
              <a:ext uri="{FF2B5EF4-FFF2-40B4-BE49-F238E27FC236}">
                <a16:creationId xmlns:a16="http://schemas.microsoft.com/office/drawing/2014/main" id="{4B3104FF-2EE5-0FDD-5730-56D919BB8CFF}"/>
              </a:ext>
            </a:extLst>
          </p:cNvPr>
          <p:cNvSpPr/>
          <p:nvPr/>
        </p:nvSpPr>
        <p:spPr>
          <a:xfrm>
            <a:off x="7873931" y="2446026"/>
            <a:ext cx="3931920" cy="365760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RI = 3.5</a:t>
            </a:r>
          </a:p>
        </p:txBody>
      </p:sp>
      <p:sp>
        <p:nvSpPr>
          <p:cNvPr id="47" name="Case 1 - MCV answer">
            <a:extLst>
              <a:ext uri="{FF2B5EF4-FFF2-40B4-BE49-F238E27FC236}">
                <a16:creationId xmlns:a16="http://schemas.microsoft.com/office/drawing/2014/main" id="{3C915F36-7813-CE56-10A6-A00B1CD823C5}"/>
              </a:ext>
            </a:extLst>
          </p:cNvPr>
          <p:cNvSpPr/>
          <p:nvPr/>
        </p:nvSpPr>
        <p:spPr>
          <a:xfrm>
            <a:off x="7233851" y="2961708"/>
            <a:ext cx="4572000" cy="365760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MCV = 89</a:t>
            </a:r>
          </a:p>
        </p:txBody>
      </p:sp>
      <p:sp>
        <p:nvSpPr>
          <p:cNvPr id="48" name="Case 1 - DAT answer">
            <a:extLst>
              <a:ext uri="{FF2B5EF4-FFF2-40B4-BE49-F238E27FC236}">
                <a16:creationId xmlns:a16="http://schemas.microsoft.com/office/drawing/2014/main" id="{87810D05-D529-DE6B-1914-EFE52BE5E3E1}"/>
              </a:ext>
            </a:extLst>
          </p:cNvPr>
          <p:cNvSpPr/>
          <p:nvPr/>
        </p:nvSpPr>
        <p:spPr>
          <a:xfrm>
            <a:off x="7233851" y="4431133"/>
            <a:ext cx="4572000" cy="365760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 negative.</a:t>
            </a:r>
          </a:p>
        </p:txBody>
      </p:sp>
      <p:sp>
        <p:nvSpPr>
          <p:cNvPr id="49" name="Case 1 -hemolysis answer">
            <a:extLst>
              <a:ext uri="{FF2B5EF4-FFF2-40B4-BE49-F238E27FC236}">
                <a16:creationId xmlns:a16="http://schemas.microsoft.com/office/drawing/2014/main" id="{7ED32326-B1CE-3EE6-5EA4-4A820776769C}"/>
              </a:ext>
            </a:extLst>
          </p:cNvPr>
          <p:cNvSpPr/>
          <p:nvPr/>
        </p:nvSpPr>
        <p:spPr>
          <a:xfrm>
            <a:off x="7233851" y="3941324"/>
            <a:ext cx="4572000" cy="365760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LDH 1508, haptoglobin &lt; 30, </a:t>
            </a:r>
            <a:r>
              <a:rPr lang="en-US" sz="1400" dirty="0" err="1"/>
              <a:t>Tbili</a:t>
            </a:r>
            <a:r>
              <a:rPr lang="en-US" sz="1400" dirty="0"/>
              <a:t> 1.0 (direct 0.3)</a:t>
            </a:r>
          </a:p>
        </p:txBody>
      </p:sp>
      <p:sp>
        <p:nvSpPr>
          <p:cNvPr id="50" name="Diagnosis - case 1">
            <a:extLst>
              <a:ext uri="{FF2B5EF4-FFF2-40B4-BE49-F238E27FC236}">
                <a16:creationId xmlns:a16="http://schemas.microsoft.com/office/drawing/2014/main" id="{F89BAD99-43D5-D14D-1143-06BEF95D38AC}"/>
              </a:ext>
            </a:extLst>
          </p:cNvPr>
          <p:cNvSpPr/>
          <p:nvPr/>
        </p:nvSpPr>
        <p:spPr>
          <a:xfrm>
            <a:off x="7233851" y="5863006"/>
            <a:ext cx="4572000" cy="8229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Diagnosis?</a:t>
            </a:r>
          </a:p>
        </p:txBody>
      </p:sp>
      <p:sp>
        <p:nvSpPr>
          <p:cNvPr id="51" name="Diagnosis 1 aanswer">
            <a:extLst>
              <a:ext uri="{FF2B5EF4-FFF2-40B4-BE49-F238E27FC236}">
                <a16:creationId xmlns:a16="http://schemas.microsoft.com/office/drawing/2014/main" id="{566AD501-2DE6-CCEB-F332-46ABDC1EAA5E}"/>
              </a:ext>
            </a:extLst>
          </p:cNvPr>
          <p:cNvSpPr/>
          <p:nvPr/>
        </p:nvSpPr>
        <p:spPr>
          <a:xfrm>
            <a:off x="7233851" y="5863006"/>
            <a:ext cx="457200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Primary TMA (e.g., TTP) </a:t>
            </a:r>
            <a:r>
              <a:rPr lang="en-US" sz="1400" dirty="0">
                <a:solidFill>
                  <a:schemeClr val="tx1"/>
                </a:solidFill>
              </a:rPr>
              <a:t>given MAHA +</a:t>
            </a:r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  platelets.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This is a hematologic emergency!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There is concurrent iron deficiency anemia.</a:t>
            </a:r>
          </a:p>
        </p:txBody>
      </p:sp>
      <p:sp>
        <p:nvSpPr>
          <p:cNvPr id="52" name="Case 1 - Iron studies">
            <a:extLst>
              <a:ext uri="{FF2B5EF4-FFF2-40B4-BE49-F238E27FC236}">
                <a16:creationId xmlns:a16="http://schemas.microsoft.com/office/drawing/2014/main" id="{01EA0CA3-447E-E373-6191-6A287A3BDB27}"/>
              </a:ext>
            </a:extLst>
          </p:cNvPr>
          <p:cNvSpPr/>
          <p:nvPr/>
        </p:nvSpPr>
        <p:spPr>
          <a:xfrm>
            <a:off x="7233851" y="3451516"/>
            <a:ext cx="457200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Iron studies</a:t>
            </a:r>
          </a:p>
        </p:txBody>
      </p:sp>
      <p:sp>
        <p:nvSpPr>
          <p:cNvPr id="53" name="Case 1 - Iron studies answer">
            <a:extLst>
              <a:ext uri="{FF2B5EF4-FFF2-40B4-BE49-F238E27FC236}">
                <a16:creationId xmlns:a16="http://schemas.microsoft.com/office/drawing/2014/main" id="{03BDCD53-908B-E8BE-6869-B2428184892D}"/>
              </a:ext>
            </a:extLst>
          </p:cNvPr>
          <p:cNvSpPr/>
          <p:nvPr/>
        </p:nvSpPr>
        <p:spPr>
          <a:xfrm>
            <a:off x="7233851" y="3451516"/>
            <a:ext cx="4572000" cy="365760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Serum Fe </a:t>
            </a:r>
            <a:r>
              <a:rPr lang="en-US" sz="1400" dirty="0">
                <a:sym typeface="Wingdings" panose="05000000000000000000" pitchFamily="2" charset="2"/>
              </a:rPr>
              <a:t>, % sat , ferritin  </a:t>
            </a:r>
            <a:endParaRPr lang="en-US" sz="1400" dirty="0"/>
          </a:p>
        </p:txBody>
      </p:sp>
      <p:sp>
        <p:nvSpPr>
          <p:cNvPr id="54" name="Case 1 text">
            <a:extLst>
              <a:ext uri="{FF2B5EF4-FFF2-40B4-BE49-F238E27FC236}">
                <a16:creationId xmlns:a16="http://schemas.microsoft.com/office/drawing/2014/main" id="{25A3C6E4-E565-96AD-61BB-7AB490CDCB95}"/>
              </a:ext>
            </a:extLst>
          </p:cNvPr>
          <p:cNvSpPr txBox="1"/>
          <p:nvPr/>
        </p:nvSpPr>
        <p:spPr>
          <a:xfrm>
            <a:off x="7112284" y="618152"/>
            <a:ext cx="48966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/>
            <a:r>
              <a:rPr lang="en-US" sz="1400" dirty="0"/>
              <a:t>33-year-old presents with 2 weeks of fevers/ chills, nausea/ vomiting and non-bloody diarrhea. </a:t>
            </a:r>
          </a:p>
          <a:p>
            <a:pPr marL="114300" indent="-114300"/>
            <a:r>
              <a:rPr lang="en-US" sz="1400" u="sng" dirty="0"/>
              <a:t>ROS</a:t>
            </a:r>
            <a:r>
              <a:rPr lang="en-US" sz="1400" dirty="0"/>
              <a:t>: + fatigue, + menorrhagia, + gum bleeding.</a:t>
            </a:r>
          </a:p>
          <a:p>
            <a:pPr marL="114300" indent="-114300"/>
            <a:r>
              <a:rPr lang="en-US" sz="1400" u="sng" dirty="0"/>
              <a:t>Exam</a:t>
            </a:r>
            <a:r>
              <a:rPr lang="en-US" sz="1400" dirty="0"/>
              <a:t>: T 36 C, HR 90, BP 123/54, blood blister on lips.</a:t>
            </a:r>
          </a:p>
        </p:txBody>
      </p:sp>
      <p:sp>
        <p:nvSpPr>
          <p:cNvPr id="60" name="Case 1 - Cr, basic labs">
            <a:extLst>
              <a:ext uri="{FF2B5EF4-FFF2-40B4-BE49-F238E27FC236}">
                <a16:creationId xmlns:a16="http://schemas.microsoft.com/office/drawing/2014/main" id="{1633B0C8-3C6C-7124-E9B9-E4788642D057}"/>
              </a:ext>
            </a:extLst>
          </p:cNvPr>
          <p:cNvSpPr txBox="1"/>
          <p:nvPr/>
        </p:nvSpPr>
        <p:spPr>
          <a:xfrm>
            <a:off x="7202328" y="1584487"/>
            <a:ext cx="1510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Cr 1.0</a:t>
            </a:r>
          </a:p>
          <a:p>
            <a:r>
              <a:rPr lang="en-US" sz="1400" dirty="0"/>
              <a:t>Fibrinogen </a:t>
            </a:r>
            <a:r>
              <a:rPr lang="en-US" sz="1400" dirty="0" err="1"/>
              <a:t>nml</a:t>
            </a:r>
            <a:endParaRPr lang="en-US" sz="1400" dirty="0"/>
          </a:p>
        </p:txBody>
      </p:sp>
      <p:sp>
        <p:nvSpPr>
          <p:cNvPr id="86" name="Case 1  - Smear interpretation">
            <a:extLst>
              <a:ext uri="{FF2B5EF4-FFF2-40B4-BE49-F238E27FC236}">
                <a16:creationId xmlns:a16="http://schemas.microsoft.com/office/drawing/2014/main" id="{9D9415E3-D98A-0188-241B-5066ABA4A7C3}"/>
              </a:ext>
            </a:extLst>
          </p:cNvPr>
          <p:cNvSpPr/>
          <p:nvPr/>
        </p:nvSpPr>
        <p:spPr>
          <a:xfrm>
            <a:off x="9146944" y="4911762"/>
            <a:ext cx="2658907" cy="822960"/>
          </a:xfrm>
          <a:prstGeom prst="roundRect">
            <a:avLst>
              <a:gd name="adj" fmla="val 12441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Interpretation</a:t>
            </a:r>
          </a:p>
        </p:txBody>
      </p:sp>
      <p:sp>
        <p:nvSpPr>
          <p:cNvPr id="87" name="Case 1 - Smear">
            <a:extLst>
              <a:ext uri="{FF2B5EF4-FFF2-40B4-BE49-F238E27FC236}">
                <a16:creationId xmlns:a16="http://schemas.microsoft.com/office/drawing/2014/main" id="{2C8101FD-2424-E4D6-F870-7E889B05A46D}"/>
              </a:ext>
            </a:extLst>
          </p:cNvPr>
          <p:cNvSpPr/>
          <p:nvPr/>
        </p:nvSpPr>
        <p:spPr>
          <a:xfrm>
            <a:off x="7248600" y="4911762"/>
            <a:ext cx="1738768" cy="822960"/>
          </a:xfrm>
          <a:prstGeom prst="roundRect">
            <a:avLst>
              <a:gd name="adj" fmla="val 12441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Peripheral smear</a:t>
            </a:r>
          </a:p>
        </p:txBody>
      </p:sp>
      <p:sp>
        <p:nvSpPr>
          <p:cNvPr id="88" name="Case 1 -PBS answer">
            <a:extLst>
              <a:ext uri="{FF2B5EF4-FFF2-40B4-BE49-F238E27FC236}">
                <a16:creationId xmlns:a16="http://schemas.microsoft.com/office/drawing/2014/main" id="{8DAC17CC-7C6E-CA72-879E-24EA7C20ECDB}"/>
              </a:ext>
            </a:extLst>
          </p:cNvPr>
          <p:cNvSpPr/>
          <p:nvPr/>
        </p:nvSpPr>
        <p:spPr>
          <a:xfrm>
            <a:off x="9133708" y="4911762"/>
            <a:ext cx="2672143" cy="822960"/>
          </a:xfrm>
          <a:prstGeom prst="roundRect">
            <a:avLst>
              <a:gd name="adj" fmla="val 11830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Schistocytes. Suggestive of a MAHA.</a:t>
            </a:r>
          </a:p>
        </p:txBody>
      </p:sp>
      <p:pic>
        <p:nvPicPr>
          <p:cNvPr id="92" name="Graphic 91" descr="Cursor">
            <a:extLst>
              <a:ext uri="{FF2B5EF4-FFF2-40B4-BE49-F238E27FC236}">
                <a16:creationId xmlns:a16="http://schemas.microsoft.com/office/drawing/2014/main" id="{9F44E574-6147-BF9A-2617-79460F303E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26568" y="410502"/>
            <a:ext cx="274320" cy="274320"/>
          </a:xfrm>
          <a:prstGeom prst="rect">
            <a:avLst/>
          </a:prstGeom>
        </p:spPr>
      </p:pic>
      <p:pic>
        <p:nvPicPr>
          <p:cNvPr id="93" name="Graphic 92" descr="Cursor">
            <a:extLst>
              <a:ext uri="{FF2B5EF4-FFF2-40B4-BE49-F238E27FC236}">
                <a16:creationId xmlns:a16="http://schemas.microsoft.com/office/drawing/2014/main" id="{88DD3827-EA9A-12CA-A694-63551921CE8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48713" y="5605297"/>
            <a:ext cx="274320" cy="274320"/>
          </a:xfrm>
          <a:prstGeom prst="rect">
            <a:avLst/>
          </a:prstGeom>
        </p:spPr>
      </p:pic>
      <p:grpSp>
        <p:nvGrpSpPr>
          <p:cNvPr id="8" name="Fishbone 2">
            <a:extLst>
              <a:ext uri="{FF2B5EF4-FFF2-40B4-BE49-F238E27FC236}">
                <a16:creationId xmlns:a16="http://schemas.microsoft.com/office/drawing/2014/main" id="{C3D97ABE-9BF3-3962-7422-B953673D9D18}"/>
              </a:ext>
            </a:extLst>
          </p:cNvPr>
          <p:cNvGrpSpPr/>
          <p:nvPr/>
        </p:nvGrpSpPr>
        <p:grpSpPr>
          <a:xfrm>
            <a:off x="8872753" y="1620406"/>
            <a:ext cx="1272718" cy="643237"/>
            <a:chOff x="998010" y="3377546"/>
            <a:chExt cx="812307" cy="643237"/>
          </a:xfrm>
        </p:grpSpPr>
        <p:grpSp>
          <p:nvGrpSpPr>
            <p:cNvPr id="24" name="Fishbone">
              <a:extLst>
                <a:ext uri="{FF2B5EF4-FFF2-40B4-BE49-F238E27FC236}">
                  <a16:creationId xmlns:a16="http://schemas.microsoft.com/office/drawing/2014/main" id="{B43E80FE-4406-47B6-E083-E33852B331A5}"/>
                </a:ext>
              </a:extLst>
            </p:cNvPr>
            <p:cNvGrpSpPr/>
            <p:nvPr/>
          </p:nvGrpSpPr>
          <p:grpSpPr>
            <a:xfrm>
              <a:off x="1152844" y="3489750"/>
              <a:ext cx="572321" cy="444107"/>
              <a:chOff x="1231310" y="3489857"/>
              <a:chExt cx="487531" cy="373454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299953F-AA2C-7E77-7438-5F9AB28ADC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31310" y="3680433"/>
                <a:ext cx="138911" cy="18287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9AC1D629-7928-A258-7EF1-20621C1A7A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8490" y="3499060"/>
                <a:ext cx="123549" cy="17315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7995EE66-8992-4258-1265-FE1C299897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8823" y="3673275"/>
                <a:ext cx="213429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972B8DC-39FF-F9D0-1BB5-630A4A6AA5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8719" y="3489857"/>
                <a:ext cx="133072" cy="18235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2C00536-AC8D-45C0-ECF6-1A8A83005B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1220" y="3678064"/>
                <a:ext cx="137621" cy="18524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8D3E742-3B19-B457-8FCE-C239CC0EDAC9}"/>
                </a:ext>
              </a:extLst>
            </p:cNvPr>
            <p:cNvSpPr txBox="1"/>
            <p:nvPr/>
          </p:nvSpPr>
          <p:spPr>
            <a:xfrm>
              <a:off x="998010" y="3548830"/>
              <a:ext cx="3093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7.9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73C2F34-8333-A3ED-028B-2234CE6B6439}"/>
                </a:ext>
              </a:extLst>
            </p:cNvPr>
            <p:cNvSpPr txBox="1"/>
            <p:nvPr/>
          </p:nvSpPr>
          <p:spPr>
            <a:xfrm>
              <a:off x="1615263" y="3541987"/>
              <a:ext cx="1950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9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242A8E9-4B5D-A76B-DC96-3B16CEA40FCE}"/>
                </a:ext>
              </a:extLst>
            </p:cNvPr>
            <p:cNvSpPr txBox="1"/>
            <p:nvPr/>
          </p:nvSpPr>
          <p:spPr>
            <a:xfrm>
              <a:off x="1311529" y="3377546"/>
              <a:ext cx="2728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5.1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CEECDD5-8A2A-6993-0E4B-0BB7A848745B}"/>
                </a:ext>
              </a:extLst>
            </p:cNvPr>
            <p:cNvSpPr txBox="1"/>
            <p:nvPr/>
          </p:nvSpPr>
          <p:spPr>
            <a:xfrm>
              <a:off x="1302777" y="3713006"/>
              <a:ext cx="2693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13</a:t>
              </a:r>
            </a:p>
          </p:txBody>
        </p:sp>
      </p:grpSp>
      <p:grpSp>
        <p:nvGrpSpPr>
          <p:cNvPr id="41" name="Fishbone 2">
            <a:extLst>
              <a:ext uri="{FF2B5EF4-FFF2-40B4-BE49-F238E27FC236}">
                <a16:creationId xmlns:a16="http://schemas.microsoft.com/office/drawing/2014/main" id="{5F5E53EC-F457-0050-3614-A10D27D5B499}"/>
              </a:ext>
            </a:extLst>
          </p:cNvPr>
          <p:cNvGrpSpPr/>
          <p:nvPr/>
        </p:nvGrpSpPr>
        <p:grpSpPr>
          <a:xfrm>
            <a:off x="10320082" y="1662922"/>
            <a:ext cx="1198528" cy="626450"/>
            <a:chOff x="756275" y="3454825"/>
            <a:chExt cx="868039" cy="626450"/>
          </a:xfrm>
        </p:grpSpPr>
        <p:grpSp>
          <p:nvGrpSpPr>
            <p:cNvPr id="46" name="Fishbone">
              <a:extLst>
                <a:ext uri="{FF2B5EF4-FFF2-40B4-BE49-F238E27FC236}">
                  <a16:creationId xmlns:a16="http://schemas.microsoft.com/office/drawing/2014/main" id="{1EC88077-94E2-4457-4D19-3FE64FAA1487}"/>
                </a:ext>
              </a:extLst>
            </p:cNvPr>
            <p:cNvGrpSpPr/>
            <p:nvPr/>
          </p:nvGrpSpPr>
          <p:grpSpPr>
            <a:xfrm>
              <a:off x="814258" y="3454825"/>
              <a:ext cx="630525" cy="515023"/>
              <a:chOff x="942885" y="3460497"/>
              <a:chExt cx="537114" cy="433089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78A836AD-F876-9C59-1673-412C3B97E31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2885" y="3672211"/>
                <a:ext cx="271105" cy="22137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1CA863D7-7B6C-ABCC-467A-106AFFAC14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13035" y="3460497"/>
                <a:ext cx="1" cy="21277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41A0ADE3-B365-312F-2CC7-13AE1E8F63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3036" y="3673275"/>
                <a:ext cx="266963" cy="19811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FDF4F61-BA62-D2EB-BF1A-982B808B7D7F}"/>
                </a:ext>
              </a:extLst>
            </p:cNvPr>
            <p:cNvSpPr txBox="1"/>
            <p:nvPr/>
          </p:nvSpPr>
          <p:spPr>
            <a:xfrm>
              <a:off x="1097342" y="3501653"/>
              <a:ext cx="5269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16.1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3B3E513-4DD5-C10D-DC11-0C6F6D797919}"/>
                </a:ext>
              </a:extLst>
            </p:cNvPr>
            <p:cNvSpPr txBox="1"/>
            <p:nvPr/>
          </p:nvSpPr>
          <p:spPr>
            <a:xfrm>
              <a:off x="756275" y="3504119"/>
              <a:ext cx="4057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43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BD1C7B8-D574-FC14-38DF-1BC11A0D0ED8}"/>
                </a:ext>
              </a:extLst>
            </p:cNvPr>
            <p:cNvSpPr txBox="1"/>
            <p:nvPr/>
          </p:nvSpPr>
          <p:spPr>
            <a:xfrm>
              <a:off x="897001" y="3773498"/>
              <a:ext cx="465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1.3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6FB2B41-6AD6-48B6-0545-D78B4BA9282C}"/>
              </a:ext>
            </a:extLst>
          </p:cNvPr>
          <p:cNvGrpSpPr/>
          <p:nvPr/>
        </p:nvGrpSpPr>
        <p:grpSpPr>
          <a:xfrm>
            <a:off x="7239944" y="4911762"/>
            <a:ext cx="1747424" cy="822960"/>
            <a:chOff x="7239944" y="4911762"/>
            <a:chExt cx="1747424" cy="822960"/>
          </a:xfrm>
        </p:grpSpPr>
        <p:sp>
          <p:nvSpPr>
            <p:cNvPr id="90" name="Case 2 -PBS answer">
              <a:extLst>
                <a:ext uri="{FF2B5EF4-FFF2-40B4-BE49-F238E27FC236}">
                  <a16:creationId xmlns:a16="http://schemas.microsoft.com/office/drawing/2014/main" id="{20762869-B162-40E0-1612-CF5FC938FC4A}"/>
                </a:ext>
              </a:extLst>
            </p:cNvPr>
            <p:cNvSpPr/>
            <p:nvPr/>
          </p:nvSpPr>
          <p:spPr>
            <a:xfrm>
              <a:off x="7239944" y="4911762"/>
              <a:ext cx="1747424" cy="822960"/>
            </a:xfrm>
            <a:prstGeom prst="roundRect">
              <a:avLst>
                <a:gd name="adj" fmla="val 11830"/>
              </a:avLst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pic>
          <p:nvPicPr>
            <p:cNvPr id="62" name="Picture 61" descr="A close up of a persons face&#10;&#10;Description automatically generated">
              <a:extLst>
                <a:ext uri="{FF2B5EF4-FFF2-40B4-BE49-F238E27FC236}">
                  <a16:creationId xmlns:a16="http://schemas.microsoft.com/office/drawing/2014/main" id="{789A5DE2-46BD-C105-1CC5-A8AD33CF41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010" t="4374" r="19497" b="20289"/>
            <a:stretch/>
          </p:blipFill>
          <p:spPr>
            <a:xfrm>
              <a:off x="7698421" y="4956077"/>
              <a:ext cx="810901" cy="748445"/>
            </a:xfrm>
            <a:prstGeom prst="rect">
              <a:avLst/>
            </a:prstGeom>
          </p:spPr>
        </p:pic>
      </p:grpSp>
      <p:pic>
        <p:nvPicPr>
          <p:cNvPr id="64" name="Graphic 63" descr="Cursor">
            <a:extLst>
              <a:ext uri="{FF2B5EF4-FFF2-40B4-BE49-F238E27FC236}">
                <a16:creationId xmlns:a16="http://schemas.microsoft.com/office/drawing/2014/main" id="{85E795C7-1677-6D86-55D0-518F227A4E1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84483" y="2670309"/>
            <a:ext cx="274320" cy="274320"/>
          </a:xfrm>
          <a:prstGeom prst="rect">
            <a:avLst/>
          </a:prstGeom>
        </p:spPr>
      </p:pic>
      <p:pic>
        <p:nvPicPr>
          <p:cNvPr id="66" name="Graphic 65" descr="Cursor">
            <a:extLst>
              <a:ext uri="{FF2B5EF4-FFF2-40B4-BE49-F238E27FC236}">
                <a16:creationId xmlns:a16="http://schemas.microsoft.com/office/drawing/2014/main" id="{0F30A7FD-9C70-FF9E-30D8-50CB84D309E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84483" y="3174128"/>
            <a:ext cx="274320" cy="274320"/>
          </a:xfrm>
          <a:prstGeom prst="rect">
            <a:avLst/>
          </a:prstGeom>
        </p:spPr>
      </p:pic>
      <p:pic>
        <p:nvPicPr>
          <p:cNvPr id="67" name="Graphic 66" descr="Cursor">
            <a:extLst>
              <a:ext uri="{FF2B5EF4-FFF2-40B4-BE49-F238E27FC236}">
                <a16:creationId xmlns:a16="http://schemas.microsoft.com/office/drawing/2014/main" id="{482D540B-484E-E3B1-42A6-12FBC68B53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84483" y="3677947"/>
            <a:ext cx="274320" cy="274320"/>
          </a:xfrm>
          <a:prstGeom prst="rect">
            <a:avLst/>
          </a:prstGeom>
        </p:spPr>
      </p:pic>
      <p:pic>
        <p:nvPicPr>
          <p:cNvPr id="94" name="Graphic 93" descr="Cursor">
            <a:extLst>
              <a:ext uri="{FF2B5EF4-FFF2-40B4-BE49-F238E27FC236}">
                <a16:creationId xmlns:a16="http://schemas.microsoft.com/office/drawing/2014/main" id="{6FA0B554-6C76-898C-9848-53A46E9409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84483" y="4181766"/>
            <a:ext cx="274320" cy="274320"/>
          </a:xfrm>
          <a:prstGeom prst="rect">
            <a:avLst/>
          </a:prstGeom>
        </p:spPr>
      </p:pic>
      <p:pic>
        <p:nvPicPr>
          <p:cNvPr id="95" name="Graphic 94" descr="Cursor">
            <a:extLst>
              <a:ext uri="{FF2B5EF4-FFF2-40B4-BE49-F238E27FC236}">
                <a16:creationId xmlns:a16="http://schemas.microsoft.com/office/drawing/2014/main" id="{9CFBE971-AF35-5FCB-D95A-F476A507152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84483" y="4685586"/>
            <a:ext cx="274320" cy="274320"/>
          </a:xfrm>
          <a:prstGeom prst="rect">
            <a:avLst/>
          </a:prstGeom>
        </p:spPr>
      </p:pic>
      <p:pic>
        <p:nvPicPr>
          <p:cNvPr id="96" name="Graphic 95" descr="Cursor">
            <a:extLst>
              <a:ext uri="{FF2B5EF4-FFF2-40B4-BE49-F238E27FC236}">
                <a16:creationId xmlns:a16="http://schemas.microsoft.com/office/drawing/2014/main" id="{54751036-2F42-98C0-E72E-ECE030EA11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84483" y="5605297"/>
            <a:ext cx="274320" cy="274320"/>
          </a:xfrm>
          <a:prstGeom prst="rect">
            <a:avLst/>
          </a:prstGeom>
        </p:spPr>
      </p:pic>
      <p:pic>
        <p:nvPicPr>
          <p:cNvPr id="97" name="Graphic 96" descr="Cursor">
            <a:extLst>
              <a:ext uri="{FF2B5EF4-FFF2-40B4-BE49-F238E27FC236}">
                <a16:creationId xmlns:a16="http://schemas.microsoft.com/office/drawing/2014/main" id="{E3E054A0-2230-3745-CC39-F8A64B8D74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84483" y="6538102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24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1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6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1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2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1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5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1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181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90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1" fill="hold">
                      <p:stCondLst>
                        <p:cond delay="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199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0" fill="hold">
                      <p:stCondLst>
                        <p:cond delay="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208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217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8" fill="hold">
                      <p:stCondLst>
                        <p:cond delay="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226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7" fill="hold">
                      <p:stCondLst>
                        <p:cond delay="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235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6" fill="hold">
                      <p:stCondLst>
                        <p:cond delay="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</p:childTnLst>
        </p:cTn>
      </p:par>
    </p:tnLst>
    <p:bldLst>
      <p:bldP spid="152" grpId="0" animBg="1"/>
      <p:bldP spid="152" grpId="1" animBg="1"/>
      <p:bldP spid="153" grpId="0" animBg="1"/>
      <p:bldP spid="153" grpId="1" animBg="1"/>
      <p:bldP spid="154" grpId="0" animBg="1"/>
      <p:bldP spid="154" grpId="1" animBg="1"/>
      <p:bldP spid="156" grpId="0" animBg="1"/>
      <p:bldP spid="156" grpId="1" animBg="1"/>
      <p:bldP spid="157" grpId="0" animBg="1"/>
      <p:bldP spid="158" grpId="0" animBg="1"/>
      <p:bldP spid="159" grpId="0" animBg="1"/>
      <p:bldP spid="161" grpId="0" animBg="1"/>
      <p:bldP spid="162" grpId="0" animBg="1"/>
      <p:bldP spid="162" grpId="1" animBg="1"/>
      <p:bldP spid="163" grpId="0" animBg="1"/>
      <p:bldP spid="175" grpId="0" animBg="1"/>
      <p:bldP spid="175" grpId="1" animBg="1"/>
      <p:bldP spid="176" grpId="0" animBg="1"/>
      <p:bldP spid="149" grpId="0"/>
      <p:bldP spid="150" grpId="0"/>
      <p:bldP spid="186" grpId="0" animBg="1"/>
      <p:bldP spid="186" grpId="1" animBg="1"/>
      <p:bldP spid="155" grpId="0" animBg="1"/>
      <p:bldP spid="155" grpId="1" animBg="1"/>
      <p:bldP spid="187" grpId="0" animBg="1"/>
      <p:bldP spid="40" grpId="0" animBg="1"/>
      <p:bldP spid="40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7" grpId="0" animBg="1"/>
      <p:bldP spid="48" grpId="0" animBg="1"/>
      <p:bldP spid="49" grpId="0" animBg="1"/>
      <p:bldP spid="50" grpId="0" animBg="1"/>
      <p:bldP spid="50" grpId="1" animBg="1"/>
      <p:bldP spid="51" grpId="0" animBg="1"/>
      <p:bldP spid="52" grpId="0" animBg="1"/>
      <p:bldP spid="52" grpId="1" animBg="1"/>
      <p:bldP spid="53" grpId="0" animBg="1"/>
      <p:bldP spid="54" grpId="0"/>
      <p:bldP spid="60" grpId="0"/>
      <p:bldP spid="86" grpId="0" animBg="1"/>
      <p:bldP spid="86" grpId="1" animBg="1"/>
      <p:bldP spid="87" grpId="0" animBg="1"/>
      <p:bldP spid="87" grpId="1" animBg="1"/>
      <p:bldP spid="8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1C7DC85F-84BA-F34C-5166-6F498F580B54}"/>
              </a:ext>
            </a:extLst>
          </p:cNvPr>
          <p:cNvCxnSpPr>
            <a:cxnSpLocks/>
            <a:endCxn id="22" idx="1"/>
          </p:cNvCxnSpPr>
          <p:nvPr/>
        </p:nvCxnSpPr>
        <p:spPr>
          <a:xfrm rot="16200000" flipH="1">
            <a:off x="140616" y="2087515"/>
            <a:ext cx="449392" cy="183776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se 1">
            <a:extLst>
              <a:ext uri="{FF2B5EF4-FFF2-40B4-BE49-F238E27FC236}">
                <a16:creationId xmlns:a16="http://schemas.microsoft.com/office/drawing/2014/main" id="{EF4D3363-E564-4CDE-8259-BC24A94070F6}"/>
              </a:ext>
            </a:extLst>
          </p:cNvPr>
          <p:cNvSpPr/>
          <p:nvPr/>
        </p:nvSpPr>
        <p:spPr>
          <a:xfrm>
            <a:off x="3251010" y="143229"/>
            <a:ext cx="2194560" cy="412786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3</a:t>
            </a:r>
          </a:p>
        </p:txBody>
      </p:sp>
      <p:pic>
        <p:nvPicPr>
          <p:cNvPr id="151" name="Toolbox" descr="toolbox - Free Tools and utensils icons">
            <a:extLst>
              <a:ext uri="{FF2B5EF4-FFF2-40B4-BE49-F238E27FC236}">
                <a16:creationId xmlns:a16="http://schemas.microsoft.com/office/drawing/2014/main" id="{5C066186-C42D-4F41-9C07-E7C14B04EE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1" t="-2032" r="23634" b="419"/>
          <a:stretch/>
        </p:blipFill>
        <p:spPr bwMode="auto">
          <a:xfrm>
            <a:off x="1951679" y="2318062"/>
            <a:ext cx="520982" cy="522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2" name="Case 1-  retic index">
            <a:extLst>
              <a:ext uri="{FF2B5EF4-FFF2-40B4-BE49-F238E27FC236}">
                <a16:creationId xmlns:a16="http://schemas.microsoft.com/office/drawing/2014/main" id="{EA12AC45-C9AA-4EBC-9C78-A48CBE9F678B}"/>
              </a:ext>
            </a:extLst>
          </p:cNvPr>
          <p:cNvSpPr/>
          <p:nvPr/>
        </p:nvSpPr>
        <p:spPr>
          <a:xfrm>
            <a:off x="2563183" y="2453627"/>
            <a:ext cx="393192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Retic index</a:t>
            </a:r>
          </a:p>
        </p:txBody>
      </p:sp>
      <p:sp>
        <p:nvSpPr>
          <p:cNvPr id="153" name="Case 1 - hemolysis">
            <a:extLst>
              <a:ext uri="{FF2B5EF4-FFF2-40B4-BE49-F238E27FC236}">
                <a16:creationId xmlns:a16="http://schemas.microsoft.com/office/drawing/2014/main" id="{21F1D978-46D8-4DB2-80C6-E1C708EA5001}"/>
              </a:ext>
            </a:extLst>
          </p:cNvPr>
          <p:cNvSpPr/>
          <p:nvPr/>
        </p:nvSpPr>
        <p:spPr>
          <a:xfrm>
            <a:off x="1923103" y="3948925"/>
            <a:ext cx="457200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Hemolysis labs</a:t>
            </a:r>
          </a:p>
        </p:txBody>
      </p:sp>
      <p:sp>
        <p:nvSpPr>
          <p:cNvPr id="154" name="Case 1 - DAT">
            <a:extLst>
              <a:ext uri="{FF2B5EF4-FFF2-40B4-BE49-F238E27FC236}">
                <a16:creationId xmlns:a16="http://schemas.microsoft.com/office/drawing/2014/main" id="{5DB19E74-A35D-4DB8-8C14-776152AACAEF}"/>
              </a:ext>
            </a:extLst>
          </p:cNvPr>
          <p:cNvSpPr/>
          <p:nvPr/>
        </p:nvSpPr>
        <p:spPr>
          <a:xfrm>
            <a:off x="1923103" y="4438734"/>
            <a:ext cx="457200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</a:t>
            </a:r>
          </a:p>
        </p:txBody>
      </p:sp>
      <p:sp>
        <p:nvSpPr>
          <p:cNvPr id="156" name="Case 1 -MCV">
            <a:extLst>
              <a:ext uri="{FF2B5EF4-FFF2-40B4-BE49-F238E27FC236}">
                <a16:creationId xmlns:a16="http://schemas.microsoft.com/office/drawing/2014/main" id="{1E60229D-866C-418F-9563-D0F98200F4EF}"/>
              </a:ext>
            </a:extLst>
          </p:cNvPr>
          <p:cNvSpPr/>
          <p:nvPr/>
        </p:nvSpPr>
        <p:spPr>
          <a:xfrm>
            <a:off x="1923103" y="2969309"/>
            <a:ext cx="457200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MCV</a:t>
            </a:r>
            <a:endParaRPr lang="en-US" sz="1400" dirty="0"/>
          </a:p>
        </p:txBody>
      </p:sp>
      <p:sp>
        <p:nvSpPr>
          <p:cNvPr id="157" name="Case 1 - Retic index answer">
            <a:extLst>
              <a:ext uri="{FF2B5EF4-FFF2-40B4-BE49-F238E27FC236}">
                <a16:creationId xmlns:a16="http://schemas.microsoft.com/office/drawing/2014/main" id="{B3B3EDDE-D8B4-4875-ADB2-8B22DA64617E}"/>
              </a:ext>
            </a:extLst>
          </p:cNvPr>
          <p:cNvSpPr/>
          <p:nvPr/>
        </p:nvSpPr>
        <p:spPr>
          <a:xfrm>
            <a:off x="2563183" y="2453627"/>
            <a:ext cx="3931920" cy="365760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RI = 4.5</a:t>
            </a:r>
          </a:p>
        </p:txBody>
      </p:sp>
      <p:sp>
        <p:nvSpPr>
          <p:cNvPr id="158" name="Case 1 - MCV answer">
            <a:extLst>
              <a:ext uri="{FF2B5EF4-FFF2-40B4-BE49-F238E27FC236}">
                <a16:creationId xmlns:a16="http://schemas.microsoft.com/office/drawing/2014/main" id="{59EBAD81-4A68-4B11-805B-532240E0A643}"/>
              </a:ext>
            </a:extLst>
          </p:cNvPr>
          <p:cNvSpPr/>
          <p:nvPr/>
        </p:nvSpPr>
        <p:spPr>
          <a:xfrm>
            <a:off x="1923103" y="2969309"/>
            <a:ext cx="4572000" cy="365760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MCV = 115</a:t>
            </a:r>
          </a:p>
        </p:txBody>
      </p:sp>
      <p:sp>
        <p:nvSpPr>
          <p:cNvPr id="159" name="Case 1 - DAT answer">
            <a:extLst>
              <a:ext uri="{FF2B5EF4-FFF2-40B4-BE49-F238E27FC236}">
                <a16:creationId xmlns:a16="http://schemas.microsoft.com/office/drawing/2014/main" id="{66D94CAD-2FE4-47E7-8F34-E6F227B77453}"/>
              </a:ext>
            </a:extLst>
          </p:cNvPr>
          <p:cNvSpPr/>
          <p:nvPr/>
        </p:nvSpPr>
        <p:spPr>
          <a:xfrm>
            <a:off x="1923103" y="4438734"/>
            <a:ext cx="4572000" cy="365760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 positive. IgG positive.</a:t>
            </a:r>
          </a:p>
        </p:txBody>
      </p:sp>
      <p:sp>
        <p:nvSpPr>
          <p:cNvPr id="161" name="Case 1 -hemolysis answer">
            <a:extLst>
              <a:ext uri="{FF2B5EF4-FFF2-40B4-BE49-F238E27FC236}">
                <a16:creationId xmlns:a16="http://schemas.microsoft.com/office/drawing/2014/main" id="{FAF2BF8D-C2EF-42C0-B7F9-11305933DB13}"/>
              </a:ext>
            </a:extLst>
          </p:cNvPr>
          <p:cNvSpPr/>
          <p:nvPr/>
        </p:nvSpPr>
        <p:spPr>
          <a:xfrm>
            <a:off x="1923103" y="3948925"/>
            <a:ext cx="4572000" cy="365760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LDH 2504, haptoglobin &lt; 30, </a:t>
            </a:r>
            <a:r>
              <a:rPr lang="en-US" sz="1400" dirty="0" err="1"/>
              <a:t>Tbili</a:t>
            </a:r>
            <a:r>
              <a:rPr lang="en-US" sz="1400" dirty="0"/>
              <a:t> 4.6 (direct 0.3)</a:t>
            </a:r>
          </a:p>
        </p:txBody>
      </p:sp>
      <p:sp>
        <p:nvSpPr>
          <p:cNvPr id="162" name="Diagnosis - case 1">
            <a:extLst>
              <a:ext uri="{FF2B5EF4-FFF2-40B4-BE49-F238E27FC236}">
                <a16:creationId xmlns:a16="http://schemas.microsoft.com/office/drawing/2014/main" id="{6BA6E98B-52B7-4B24-BC0B-57A44B6980D1}"/>
              </a:ext>
            </a:extLst>
          </p:cNvPr>
          <p:cNvSpPr/>
          <p:nvPr/>
        </p:nvSpPr>
        <p:spPr>
          <a:xfrm>
            <a:off x="1923103" y="5870607"/>
            <a:ext cx="4572000" cy="8229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Diagnosis?</a:t>
            </a:r>
          </a:p>
        </p:txBody>
      </p:sp>
      <p:sp>
        <p:nvSpPr>
          <p:cNvPr id="163" name="Diagnosis 1 aanswer">
            <a:extLst>
              <a:ext uri="{FF2B5EF4-FFF2-40B4-BE49-F238E27FC236}">
                <a16:creationId xmlns:a16="http://schemas.microsoft.com/office/drawing/2014/main" id="{169E0040-5407-4891-9004-B895DF0FAE88}"/>
              </a:ext>
            </a:extLst>
          </p:cNvPr>
          <p:cNvSpPr/>
          <p:nvPr/>
        </p:nvSpPr>
        <p:spPr>
          <a:xfrm>
            <a:off x="1923103" y="5870607"/>
            <a:ext cx="457200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Warm AIHA </a:t>
            </a:r>
            <a:r>
              <a:rPr lang="en-US" sz="1400" dirty="0">
                <a:solidFill>
                  <a:schemeClr val="tx1"/>
                </a:solidFill>
              </a:rPr>
              <a:t>associated with SLE. </a:t>
            </a:r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 MCV may be from </a:t>
            </a:r>
            <a:r>
              <a:rPr lang="en-US" sz="1400" dirty="0" err="1">
                <a:solidFill>
                  <a:schemeClr val="tx1"/>
                </a:solidFill>
                <a:sym typeface="Wingdings" panose="05000000000000000000" pitchFamily="2" charset="2"/>
              </a:rPr>
              <a:t>reticulocytosis</a:t>
            </a:r>
            <a:r>
              <a:rPr lang="en-US" sz="1400" dirty="0">
                <a:solidFill>
                  <a:schemeClr val="tx1"/>
                </a:solidFill>
              </a:rPr>
              <a:t>. Iron studies show concurrent anemia of chronic disease. </a:t>
            </a:r>
          </a:p>
        </p:txBody>
      </p:sp>
      <p:sp>
        <p:nvSpPr>
          <p:cNvPr id="175" name="Case 1 - Iron studies">
            <a:extLst>
              <a:ext uri="{FF2B5EF4-FFF2-40B4-BE49-F238E27FC236}">
                <a16:creationId xmlns:a16="http://schemas.microsoft.com/office/drawing/2014/main" id="{40A2B2DB-9F31-47B0-8D41-80488A5EBCFB}"/>
              </a:ext>
            </a:extLst>
          </p:cNvPr>
          <p:cNvSpPr/>
          <p:nvPr/>
        </p:nvSpPr>
        <p:spPr>
          <a:xfrm>
            <a:off x="1923103" y="3459117"/>
            <a:ext cx="457200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Iron studies</a:t>
            </a:r>
          </a:p>
        </p:txBody>
      </p:sp>
      <p:sp>
        <p:nvSpPr>
          <p:cNvPr id="176" name="Case 1 - Iron studies answer">
            <a:extLst>
              <a:ext uri="{FF2B5EF4-FFF2-40B4-BE49-F238E27FC236}">
                <a16:creationId xmlns:a16="http://schemas.microsoft.com/office/drawing/2014/main" id="{1BDAAE71-C807-408E-9E3D-CFC06EE08210}"/>
              </a:ext>
            </a:extLst>
          </p:cNvPr>
          <p:cNvSpPr/>
          <p:nvPr/>
        </p:nvSpPr>
        <p:spPr>
          <a:xfrm>
            <a:off x="1923103" y="3459117"/>
            <a:ext cx="4572000" cy="365760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Serum Fe </a:t>
            </a:r>
            <a:r>
              <a:rPr lang="en-US" sz="1400" dirty="0">
                <a:sym typeface="Wingdings" panose="05000000000000000000" pitchFamily="2" charset="2"/>
              </a:rPr>
              <a:t>, sat , ferritin </a:t>
            </a:r>
            <a:endParaRPr lang="en-US" sz="1400" dirty="0"/>
          </a:p>
        </p:txBody>
      </p:sp>
      <p:sp>
        <p:nvSpPr>
          <p:cNvPr id="149" name="Case 1 text">
            <a:extLst>
              <a:ext uri="{FF2B5EF4-FFF2-40B4-BE49-F238E27FC236}">
                <a16:creationId xmlns:a16="http://schemas.microsoft.com/office/drawing/2014/main" id="{6ECAFA3C-6C7C-4F68-A711-1D2B267D97B7}"/>
              </a:ext>
            </a:extLst>
          </p:cNvPr>
          <p:cNvSpPr txBox="1"/>
          <p:nvPr/>
        </p:nvSpPr>
        <p:spPr>
          <a:xfrm>
            <a:off x="1893571" y="625753"/>
            <a:ext cx="474703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/>
            <a:r>
              <a:rPr lang="en-US" sz="1400" dirty="0"/>
              <a:t>45-year-old with SLE presents with chest pain and shortness of breath. </a:t>
            </a:r>
          </a:p>
          <a:p>
            <a:pPr marL="114300" indent="-114300"/>
            <a:r>
              <a:rPr lang="en-US" sz="1400" u="sng" dirty="0"/>
              <a:t>ROS</a:t>
            </a:r>
            <a:r>
              <a:rPr lang="en-US" sz="1400" dirty="0"/>
              <a:t>: + jaundice, joint pains, fatigue</a:t>
            </a:r>
          </a:p>
          <a:p>
            <a:pPr marL="114300" indent="-114300"/>
            <a:r>
              <a:rPr lang="en-US" sz="1400" u="sng" dirty="0"/>
              <a:t>Exam</a:t>
            </a:r>
            <a:r>
              <a:rPr lang="en-US" sz="1400" dirty="0"/>
              <a:t>: T 36C, HR 90, BP 123/54, lungs clear, no rubs/ murmurs.</a:t>
            </a:r>
          </a:p>
          <a:p>
            <a:pPr marL="114300" indent="-114300"/>
            <a:endParaRPr lang="en-US" sz="1400" dirty="0"/>
          </a:p>
        </p:txBody>
      </p:sp>
      <p:sp>
        <p:nvSpPr>
          <p:cNvPr id="150" name="Case 1 - Cr, basic labs">
            <a:extLst>
              <a:ext uri="{FF2B5EF4-FFF2-40B4-BE49-F238E27FC236}">
                <a16:creationId xmlns:a16="http://schemas.microsoft.com/office/drawing/2014/main" id="{B36F5F06-EC75-4A8C-8A17-D0AFFB1DE86D}"/>
              </a:ext>
            </a:extLst>
          </p:cNvPr>
          <p:cNvSpPr txBox="1"/>
          <p:nvPr/>
        </p:nvSpPr>
        <p:spPr>
          <a:xfrm>
            <a:off x="1925396" y="1627850"/>
            <a:ext cx="1510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Cr 1.6</a:t>
            </a:r>
          </a:p>
        </p:txBody>
      </p:sp>
      <p:sp>
        <p:nvSpPr>
          <p:cNvPr id="186" name="Case 1  - Smear interpretation">
            <a:extLst>
              <a:ext uri="{FF2B5EF4-FFF2-40B4-BE49-F238E27FC236}">
                <a16:creationId xmlns:a16="http://schemas.microsoft.com/office/drawing/2014/main" id="{3C550D45-1E6F-4797-B936-937946D7D5EB}"/>
              </a:ext>
            </a:extLst>
          </p:cNvPr>
          <p:cNvSpPr/>
          <p:nvPr/>
        </p:nvSpPr>
        <p:spPr>
          <a:xfrm>
            <a:off x="3836196" y="4919363"/>
            <a:ext cx="2658907" cy="822960"/>
          </a:xfrm>
          <a:prstGeom prst="roundRect">
            <a:avLst>
              <a:gd name="adj" fmla="val 12441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Interpretation</a:t>
            </a:r>
          </a:p>
        </p:txBody>
      </p:sp>
      <p:sp>
        <p:nvSpPr>
          <p:cNvPr id="155" name="Case 1 - Smear">
            <a:extLst>
              <a:ext uri="{FF2B5EF4-FFF2-40B4-BE49-F238E27FC236}">
                <a16:creationId xmlns:a16="http://schemas.microsoft.com/office/drawing/2014/main" id="{95684C85-980E-44B7-8CD9-170616A2866C}"/>
              </a:ext>
            </a:extLst>
          </p:cNvPr>
          <p:cNvSpPr/>
          <p:nvPr/>
        </p:nvSpPr>
        <p:spPr>
          <a:xfrm>
            <a:off x="1937852" y="4919363"/>
            <a:ext cx="1738768" cy="822960"/>
          </a:xfrm>
          <a:prstGeom prst="roundRect">
            <a:avLst>
              <a:gd name="adj" fmla="val 12441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Peripheral smear</a:t>
            </a:r>
          </a:p>
        </p:txBody>
      </p:sp>
      <p:sp>
        <p:nvSpPr>
          <p:cNvPr id="187" name="Case 1 -PBS answer">
            <a:extLst>
              <a:ext uri="{FF2B5EF4-FFF2-40B4-BE49-F238E27FC236}">
                <a16:creationId xmlns:a16="http://schemas.microsoft.com/office/drawing/2014/main" id="{1E215908-706F-4C62-84E5-7C67F6275278}"/>
              </a:ext>
            </a:extLst>
          </p:cNvPr>
          <p:cNvSpPr/>
          <p:nvPr/>
        </p:nvSpPr>
        <p:spPr>
          <a:xfrm>
            <a:off x="3822960" y="4919363"/>
            <a:ext cx="2672143" cy="822960"/>
          </a:xfrm>
          <a:prstGeom prst="roundRect">
            <a:avLst>
              <a:gd name="adj" fmla="val 11830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Spherocytes.</a:t>
            </a:r>
          </a:p>
        </p:txBody>
      </p:sp>
      <p:sp>
        <p:nvSpPr>
          <p:cNvPr id="2" name="Next">
            <a:hlinkClick r:id="rId4" action="ppaction://hlinksldjump"/>
            <a:extLst>
              <a:ext uri="{FF2B5EF4-FFF2-40B4-BE49-F238E27FC236}">
                <a16:creationId xmlns:a16="http://schemas.microsoft.com/office/drawing/2014/main" id="{E079924D-5313-7565-4213-05ADFFC1E668}"/>
              </a:ext>
            </a:extLst>
          </p:cNvPr>
          <p:cNvSpPr/>
          <p:nvPr/>
        </p:nvSpPr>
        <p:spPr>
          <a:xfrm>
            <a:off x="183017" y="1716400"/>
            <a:ext cx="1371600" cy="36576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sp>
        <p:nvSpPr>
          <p:cNvPr id="3" name="Next">
            <a:hlinkClick r:id="rId5" action="ppaction://hlinksldjump"/>
            <a:extLst>
              <a:ext uri="{FF2B5EF4-FFF2-40B4-BE49-F238E27FC236}">
                <a16:creationId xmlns:a16="http://schemas.microsoft.com/office/drawing/2014/main" id="{BB612728-C68D-DE72-D8D8-326ABC3FFAA0}"/>
              </a:ext>
            </a:extLst>
          </p:cNvPr>
          <p:cNvSpPr/>
          <p:nvPr/>
        </p:nvSpPr>
        <p:spPr>
          <a:xfrm>
            <a:off x="183017" y="705625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Underprod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Next">
            <a:hlinkClick r:id="rId6" action="ppaction://hlinksldjump"/>
            <a:extLst>
              <a:ext uri="{FF2B5EF4-FFF2-40B4-BE49-F238E27FC236}">
                <a16:creationId xmlns:a16="http://schemas.microsoft.com/office/drawing/2014/main" id="{C5AF4011-328F-26A3-807D-9E1808B8B8F6}"/>
              </a:ext>
            </a:extLst>
          </p:cNvPr>
          <p:cNvSpPr/>
          <p:nvPr/>
        </p:nvSpPr>
        <p:spPr>
          <a:xfrm>
            <a:off x="183017" y="1211012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Overprod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Next">
            <a:hlinkClick r:id="rId7" action="ppaction://hlinksldjump"/>
            <a:extLst>
              <a:ext uri="{FF2B5EF4-FFF2-40B4-BE49-F238E27FC236}">
                <a16:creationId xmlns:a16="http://schemas.microsoft.com/office/drawing/2014/main" id="{0CC0A6BE-BCD7-7393-A03F-794BDDCD2AA5}"/>
              </a:ext>
            </a:extLst>
          </p:cNvPr>
          <p:cNvSpPr/>
          <p:nvPr/>
        </p:nvSpPr>
        <p:spPr>
          <a:xfrm>
            <a:off x="183017" y="200238"/>
            <a:ext cx="137160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Overview</a:t>
            </a:r>
          </a:p>
        </p:txBody>
      </p:sp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C00C6A3E-1259-DA61-3F74-10DBDEA7EA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28887" y="446151"/>
            <a:ext cx="274320" cy="274320"/>
          </a:xfrm>
          <a:prstGeom prst="rect">
            <a:avLst/>
          </a:prstGeom>
        </p:spPr>
      </p:pic>
      <p:pic>
        <p:nvPicPr>
          <p:cNvPr id="12" name="Graphic 11" descr="Cursor">
            <a:extLst>
              <a:ext uri="{FF2B5EF4-FFF2-40B4-BE49-F238E27FC236}">
                <a16:creationId xmlns:a16="http://schemas.microsoft.com/office/drawing/2014/main" id="{68ADDC2B-52E6-74C4-99D0-D919CF7C4C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28887" y="945579"/>
            <a:ext cx="274320" cy="274320"/>
          </a:xfrm>
          <a:prstGeom prst="rect">
            <a:avLst/>
          </a:prstGeom>
        </p:spPr>
      </p:pic>
      <p:pic>
        <p:nvPicPr>
          <p:cNvPr id="13" name="Graphic 12" descr="Cursor">
            <a:extLst>
              <a:ext uri="{FF2B5EF4-FFF2-40B4-BE49-F238E27FC236}">
                <a16:creationId xmlns:a16="http://schemas.microsoft.com/office/drawing/2014/main" id="{B0821358-A042-7958-57E4-D03FA9E793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28887" y="1456437"/>
            <a:ext cx="274320" cy="274320"/>
          </a:xfrm>
          <a:prstGeom prst="rect">
            <a:avLst/>
          </a:prstGeom>
        </p:spPr>
      </p:pic>
      <p:pic>
        <p:nvPicPr>
          <p:cNvPr id="15" name="Graphic 14" descr="Cursor">
            <a:extLst>
              <a:ext uri="{FF2B5EF4-FFF2-40B4-BE49-F238E27FC236}">
                <a16:creationId xmlns:a16="http://schemas.microsoft.com/office/drawing/2014/main" id="{280CEC6B-5D51-3485-E3B5-BEA043268B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66282" y="2677910"/>
            <a:ext cx="274320" cy="274320"/>
          </a:xfrm>
          <a:prstGeom prst="rect">
            <a:avLst/>
          </a:prstGeom>
        </p:spPr>
      </p:pic>
      <p:pic>
        <p:nvPicPr>
          <p:cNvPr id="16" name="Graphic 15" descr="Cursor">
            <a:extLst>
              <a:ext uri="{FF2B5EF4-FFF2-40B4-BE49-F238E27FC236}">
                <a16:creationId xmlns:a16="http://schemas.microsoft.com/office/drawing/2014/main" id="{7B5E4686-ABA5-9146-3F20-DB0CD1C7F3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15820" y="418103"/>
            <a:ext cx="274320" cy="274320"/>
          </a:xfrm>
          <a:prstGeom prst="rect">
            <a:avLst/>
          </a:prstGeom>
        </p:spPr>
      </p:pic>
      <p:pic>
        <p:nvPicPr>
          <p:cNvPr id="6" name="Graphic 5" descr="Cursor">
            <a:extLst>
              <a:ext uri="{FF2B5EF4-FFF2-40B4-BE49-F238E27FC236}">
                <a16:creationId xmlns:a16="http://schemas.microsoft.com/office/drawing/2014/main" id="{2B3827F0-2EC1-259D-153C-CD4B19C1E3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66282" y="3181729"/>
            <a:ext cx="274320" cy="274320"/>
          </a:xfrm>
          <a:prstGeom prst="rect">
            <a:avLst/>
          </a:prstGeom>
        </p:spPr>
      </p:pic>
      <p:pic>
        <p:nvPicPr>
          <p:cNvPr id="9" name="Graphic 8" descr="Cursor">
            <a:extLst>
              <a:ext uri="{FF2B5EF4-FFF2-40B4-BE49-F238E27FC236}">
                <a16:creationId xmlns:a16="http://schemas.microsoft.com/office/drawing/2014/main" id="{E61B13E1-DDEB-C162-8C72-20BDF3367F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66282" y="3685548"/>
            <a:ext cx="274320" cy="274320"/>
          </a:xfrm>
          <a:prstGeom prst="rect">
            <a:avLst/>
          </a:prstGeom>
        </p:spPr>
      </p:pic>
      <p:pic>
        <p:nvPicPr>
          <p:cNvPr id="17" name="Graphic 16" descr="Cursor">
            <a:extLst>
              <a:ext uri="{FF2B5EF4-FFF2-40B4-BE49-F238E27FC236}">
                <a16:creationId xmlns:a16="http://schemas.microsoft.com/office/drawing/2014/main" id="{95B3E628-6F45-6BF5-A761-3923E7C481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66282" y="4189367"/>
            <a:ext cx="274320" cy="274320"/>
          </a:xfrm>
          <a:prstGeom prst="rect">
            <a:avLst/>
          </a:prstGeom>
        </p:spPr>
      </p:pic>
      <p:pic>
        <p:nvPicPr>
          <p:cNvPr id="18" name="Graphic 17" descr="Cursor">
            <a:extLst>
              <a:ext uri="{FF2B5EF4-FFF2-40B4-BE49-F238E27FC236}">
                <a16:creationId xmlns:a16="http://schemas.microsoft.com/office/drawing/2014/main" id="{2F4F4DD6-B2F5-2A67-2445-CA55BD2A7B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66282" y="4693187"/>
            <a:ext cx="274320" cy="274320"/>
          </a:xfrm>
          <a:prstGeom prst="rect">
            <a:avLst/>
          </a:prstGeom>
        </p:spPr>
      </p:pic>
      <p:pic>
        <p:nvPicPr>
          <p:cNvPr id="19" name="Graphic 18" descr="Cursor">
            <a:extLst>
              <a:ext uri="{FF2B5EF4-FFF2-40B4-BE49-F238E27FC236}">
                <a16:creationId xmlns:a16="http://schemas.microsoft.com/office/drawing/2014/main" id="{D57FA0FA-23C5-2E97-F17F-7187B776D8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37965" y="5612898"/>
            <a:ext cx="274320" cy="274320"/>
          </a:xfrm>
          <a:prstGeom prst="rect">
            <a:avLst/>
          </a:prstGeom>
        </p:spPr>
      </p:pic>
      <p:pic>
        <p:nvPicPr>
          <p:cNvPr id="20" name="Graphic 19" descr="Cursor">
            <a:extLst>
              <a:ext uri="{FF2B5EF4-FFF2-40B4-BE49-F238E27FC236}">
                <a16:creationId xmlns:a16="http://schemas.microsoft.com/office/drawing/2014/main" id="{04FBA26D-DF50-E39B-D63B-5A86DA76FB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66282" y="5612898"/>
            <a:ext cx="274320" cy="274320"/>
          </a:xfrm>
          <a:prstGeom prst="rect">
            <a:avLst/>
          </a:prstGeom>
        </p:spPr>
      </p:pic>
      <p:pic>
        <p:nvPicPr>
          <p:cNvPr id="21" name="Graphic 20" descr="Cursor">
            <a:extLst>
              <a:ext uri="{FF2B5EF4-FFF2-40B4-BE49-F238E27FC236}">
                <a16:creationId xmlns:a16="http://schemas.microsoft.com/office/drawing/2014/main" id="{C0ACFDC6-7FF7-3D60-C93B-EB2A7F6135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66282" y="6545703"/>
            <a:ext cx="274320" cy="274320"/>
          </a:xfrm>
          <a:prstGeom prst="rect">
            <a:avLst/>
          </a:prstGeom>
        </p:spPr>
      </p:pic>
      <p:sp>
        <p:nvSpPr>
          <p:cNvPr id="22" name="Next">
            <a:hlinkClick r:id="rId10" action="ppaction://hlinksldjump"/>
            <a:extLst>
              <a:ext uri="{FF2B5EF4-FFF2-40B4-BE49-F238E27FC236}">
                <a16:creationId xmlns:a16="http://schemas.microsoft.com/office/drawing/2014/main" id="{5074C5B5-7892-3DA4-18AA-0D6263C5DEEA}"/>
              </a:ext>
            </a:extLst>
          </p:cNvPr>
          <p:cNvSpPr/>
          <p:nvPr/>
        </p:nvSpPr>
        <p:spPr>
          <a:xfrm>
            <a:off x="457200" y="2221219"/>
            <a:ext cx="1097417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1-2</a:t>
            </a:r>
          </a:p>
        </p:txBody>
      </p:sp>
      <p:pic>
        <p:nvPicPr>
          <p:cNvPr id="23" name="Graphic 22" descr="Cursor">
            <a:extLst>
              <a:ext uri="{FF2B5EF4-FFF2-40B4-BE49-F238E27FC236}">
                <a16:creationId xmlns:a16="http://schemas.microsoft.com/office/drawing/2014/main" id="{E1BBAB83-36BE-A584-4AC5-95C6888EF1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28887" y="2466644"/>
            <a:ext cx="274320" cy="274320"/>
          </a:xfrm>
          <a:prstGeom prst="rect">
            <a:avLst/>
          </a:prstGeom>
        </p:spPr>
      </p:pic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D30A6F4A-AD1C-BEFA-8DEE-CFBB392EC77C}"/>
              </a:ext>
            </a:extLst>
          </p:cNvPr>
          <p:cNvCxnSpPr>
            <a:cxnSpLocks/>
            <a:endCxn id="29" idx="1"/>
          </p:cNvCxnSpPr>
          <p:nvPr/>
        </p:nvCxnSpPr>
        <p:spPr>
          <a:xfrm rot="16200000" flipH="1">
            <a:off x="45450" y="2497169"/>
            <a:ext cx="639722" cy="183776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Next">
            <a:hlinkClick r:id="rId10" action="ppaction://hlinksldjump"/>
            <a:extLst>
              <a:ext uri="{FF2B5EF4-FFF2-40B4-BE49-F238E27FC236}">
                <a16:creationId xmlns:a16="http://schemas.microsoft.com/office/drawing/2014/main" id="{4030CA6F-2DD4-1BD8-B078-7F905254AF7C}"/>
              </a:ext>
            </a:extLst>
          </p:cNvPr>
          <p:cNvSpPr/>
          <p:nvPr/>
        </p:nvSpPr>
        <p:spPr>
          <a:xfrm>
            <a:off x="457199" y="2726038"/>
            <a:ext cx="1097417" cy="36576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3-4</a:t>
            </a:r>
          </a:p>
        </p:txBody>
      </p:sp>
      <p:grpSp>
        <p:nvGrpSpPr>
          <p:cNvPr id="5" name="Fishbone 2">
            <a:extLst>
              <a:ext uri="{FF2B5EF4-FFF2-40B4-BE49-F238E27FC236}">
                <a16:creationId xmlns:a16="http://schemas.microsoft.com/office/drawing/2014/main" id="{AFB7AF2F-FCA2-A6A5-CD0A-CBB4D86C90DF}"/>
              </a:ext>
            </a:extLst>
          </p:cNvPr>
          <p:cNvGrpSpPr/>
          <p:nvPr/>
        </p:nvGrpSpPr>
        <p:grpSpPr>
          <a:xfrm>
            <a:off x="3450144" y="1631289"/>
            <a:ext cx="1457855" cy="643237"/>
            <a:chOff x="998010" y="3377546"/>
            <a:chExt cx="930470" cy="643237"/>
          </a:xfrm>
        </p:grpSpPr>
        <p:grpSp>
          <p:nvGrpSpPr>
            <p:cNvPr id="8" name="Fishbone">
              <a:extLst>
                <a:ext uri="{FF2B5EF4-FFF2-40B4-BE49-F238E27FC236}">
                  <a16:creationId xmlns:a16="http://schemas.microsoft.com/office/drawing/2014/main" id="{CB5C9290-47F2-AB41-9AE8-10D00168CF1A}"/>
                </a:ext>
              </a:extLst>
            </p:cNvPr>
            <p:cNvGrpSpPr/>
            <p:nvPr/>
          </p:nvGrpSpPr>
          <p:grpSpPr>
            <a:xfrm>
              <a:off x="1152844" y="3489750"/>
              <a:ext cx="572321" cy="444107"/>
              <a:chOff x="1231310" y="3489857"/>
              <a:chExt cx="487531" cy="37345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4F78749E-9441-A0BA-CBE5-D9AAF9A81A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31310" y="3680433"/>
                <a:ext cx="138911" cy="18287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D4A43AA1-13CE-49A5-91D0-F52ED097EA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8490" y="3499060"/>
                <a:ext cx="123549" cy="17315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C4690FB-384C-5EAA-CF20-E630E4471B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8823" y="3673275"/>
                <a:ext cx="213429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31FE981-8DD5-C46C-FE62-021453AC36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8719" y="3489857"/>
                <a:ext cx="133072" cy="18235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E11B02C-F492-E8FD-C632-08EA806CC0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1220" y="3678064"/>
                <a:ext cx="137621" cy="18524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AABE1D7-69D2-C34D-E40B-8659592002E7}"/>
                </a:ext>
              </a:extLst>
            </p:cNvPr>
            <p:cNvSpPr txBox="1"/>
            <p:nvPr/>
          </p:nvSpPr>
          <p:spPr>
            <a:xfrm>
              <a:off x="998010" y="3548830"/>
              <a:ext cx="3093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271955F-FD21-849F-977B-B581D41F0824}"/>
                </a:ext>
              </a:extLst>
            </p:cNvPr>
            <p:cNvSpPr txBox="1"/>
            <p:nvPr/>
          </p:nvSpPr>
          <p:spPr>
            <a:xfrm>
              <a:off x="1615262" y="3541987"/>
              <a:ext cx="31321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129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39E5A87-40C9-AF57-B9C8-84484F8DA666}"/>
                </a:ext>
              </a:extLst>
            </p:cNvPr>
            <p:cNvSpPr txBox="1"/>
            <p:nvPr/>
          </p:nvSpPr>
          <p:spPr>
            <a:xfrm>
              <a:off x="1311529" y="3377546"/>
              <a:ext cx="2728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7.1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58C6946-7787-2682-B67D-F6BF7DE32D7D}"/>
                </a:ext>
              </a:extLst>
            </p:cNvPr>
            <p:cNvSpPr txBox="1"/>
            <p:nvPr/>
          </p:nvSpPr>
          <p:spPr>
            <a:xfrm>
              <a:off x="1302777" y="3713006"/>
              <a:ext cx="2693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21</a:t>
              </a:r>
            </a:p>
          </p:txBody>
        </p:sp>
      </p:grpSp>
      <p:grpSp>
        <p:nvGrpSpPr>
          <p:cNvPr id="35" name="Fishbone 2">
            <a:extLst>
              <a:ext uri="{FF2B5EF4-FFF2-40B4-BE49-F238E27FC236}">
                <a16:creationId xmlns:a16="http://schemas.microsoft.com/office/drawing/2014/main" id="{C2E32AF4-9C71-80DA-3A7C-1813FAAFA763}"/>
              </a:ext>
            </a:extLst>
          </p:cNvPr>
          <p:cNvGrpSpPr/>
          <p:nvPr/>
        </p:nvGrpSpPr>
        <p:grpSpPr>
          <a:xfrm>
            <a:off x="4897472" y="1673805"/>
            <a:ext cx="1198528" cy="626450"/>
            <a:chOff x="756275" y="3454825"/>
            <a:chExt cx="868039" cy="626450"/>
          </a:xfrm>
        </p:grpSpPr>
        <p:grpSp>
          <p:nvGrpSpPr>
            <p:cNvPr id="36" name="Fishbone">
              <a:extLst>
                <a:ext uri="{FF2B5EF4-FFF2-40B4-BE49-F238E27FC236}">
                  <a16:creationId xmlns:a16="http://schemas.microsoft.com/office/drawing/2014/main" id="{AC7EC5A2-C55B-3328-E7D0-F797AB29F8A4}"/>
                </a:ext>
              </a:extLst>
            </p:cNvPr>
            <p:cNvGrpSpPr/>
            <p:nvPr/>
          </p:nvGrpSpPr>
          <p:grpSpPr>
            <a:xfrm>
              <a:off x="814258" y="3454825"/>
              <a:ext cx="630525" cy="515023"/>
              <a:chOff x="942885" y="3460497"/>
              <a:chExt cx="537114" cy="433089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B7E46645-3060-777B-E09F-729D629669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2885" y="3672211"/>
                <a:ext cx="271105" cy="22137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EDABB1F2-7BCB-416E-F595-22E1175951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13035" y="3460497"/>
                <a:ext cx="1" cy="21277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11D0F765-7CD7-D9EA-E882-16116EFBEA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3036" y="3673275"/>
                <a:ext cx="266963" cy="19811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8E95C76-6585-3F5C-E8FB-898765C93582}"/>
                </a:ext>
              </a:extLst>
            </p:cNvPr>
            <p:cNvSpPr txBox="1"/>
            <p:nvPr/>
          </p:nvSpPr>
          <p:spPr>
            <a:xfrm>
              <a:off x="1097342" y="3501653"/>
              <a:ext cx="5269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4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51E9BB7-D8BB-A695-F250-B18BD32A48FA}"/>
                </a:ext>
              </a:extLst>
            </p:cNvPr>
            <p:cNvSpPr txBox="1"/>
            <p:nvPr/>
          </p:nvSpPr>
          <p:spPr>
            <a:xfrm>
              <a:off x="756275" y="3504119"/>
              <a:ext cx="4057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2633C0E-18F4-574C-16E9-E6DBFD5C6BF0}"/>
                </a:ext>
              </a:extLst>
            </p:cNvPr>
            <p:cNvSpPr txBox="1"/>
            <p:nvPr/>
          </p:nvSpPr>
          <p:spPr>
            <a:xfrm>
              <a:off x="897001" y="3773498"/>
              <a:ext cx="465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1.3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D88397D-9FE3-A8A8-7547-338322D1FA60}"/>
              </a:ext>
            </a:extLst>
          </p:cNvPr>
          <p:cNvGrpSpPr/>
          <p:nvPr/>
        </p:nvGrpSpPr>
        <p:grpSpPr>
          <a:xfrm>
            <a:off x="1929196" y="4919363"/>
            <a:ext cx="1747424" cy="822960"/>
            <a:chOff x="1929196" y="4919363"/>
            <a:chExt cx="1747424" cy="822960"/>
          </a:xfrm>
        </p:grpSpPr>
        <p:sp>
          <p:nvSpPr>
            <p:cNvPr id="160" name="Case 2 -PBS answer">
              <a:extLst>
                <a:ext uri="{FF2B5EF4-FFF2-40B4-BE49-F238E27FC236}">
                  <a16:creationId xmlns:a16="http://schemas.microsoft.com/office/drawing/2014/main" id="{54069DFD-562A-4EDA-B482-D79F64DD2B9F}"/>
                </a:ext>
              </a:extLst>
            </p:cNvPr>
            <p:cNvSpPr/>
            <p:nvPr/>
          </p:nvSpPr>
          <p:spPr>
            <a:xfrm>
              <a:off x="1929196" y="4919363"/>
              <a:ext cx="1747424" cy="822960"/>
            </a:xfrm>
            <a:prstGeom prst="roundRect">
              <a:avLst>
                <a:gd name="adj" fmla="val 11830"/>
              </a:avLst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pic>
          <p:nvPicPr>
            <p:cNvPr id="43" name="hereditary spherocytes">
              <a:extLst>
                <a:ext uri="{FF2B5EF4-FFF2-40B4-BE49-F238E27FC236}">
                  <a16:creationId xmlns:a16="http://schemas.microsoft.com/office/drawing/2014/main" id="{529CFDA9-6922-B3CF-7ABF-437F58C00F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t="14657"/>
            <a:stretch/>
          </p:blipFill>
          <p:spPr>
            <a:xfrm>
              <a:off x="2415511" y="4996101"/>
              <a:ext cx="807348" cy="682898"/>
            </a:xfrm>
            <a:prstGeom prst="roundRect">
              <a:avLst>
                <a:gd name="adj" fmla="val 0"/>
              </a:avLst>
            </a:prstGeom>
          </p:spPr>
        </p:pic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0FB1CB7-FA04-6F02-7194-1951C380E94F}"/>
              </a:ext>
            </a:extLst>
          </p:cNvPr>
          <p:cNvCxnSpPr>
            <a:cxnSpLocks/>
          </p:cNvCxnSpPr>
          <p:nvPr/>
        </p:nvCxnSpPr>
        <p:spPr>
          <a:xfrm>
            <a:off x="6867979" y="155437"/>
            <a:ext cx="0" cy="6530529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6" name="Case 1">
            <a:extLst>
              <a:ext uri="{FF2B5EF4-FFF2-40B4-BE49-F238E27FC236}">
                <a16:creationId xmlns:a16="http://schemas.microsoft.com/office/drawing/2014/main" id="{0057753D-A70F-2F80-CED4-3890DD5C6658}"/>
              </a:ext>
            </a:extLst>
          </p:cNvPr>
          <p:cNvSpPr/>
          <p:nvPr/>
        </p:nvSpPr>
        <p:spPr>
          <a:xfrm>
            <a:off x="8525668" y="154172"/>
            <a:ext cx="2194560" cy="412786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4</a:t>
            </a:r>
          </a:p>
        </p:txBody>
      </p:sp>
      <p:pic>
        <p:nvPicPr>
          <p:cNvPr id="47" name="Toolbox" descr="toolbox - Free Tools and utensils icons">
            <a:extLst>
              <a:ext uri="{FF2B5EF4-FFF2-40B4-BE49-F238E27FC236}">
                <a16:creationId xmlns:a16="http://schemas.microsoft.com/office/drawing/2014/main" id="{2C1F8480-284C-3C47-69A8-413F11656C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1" t="-2032" r="23634" b="419"/>
          <a:stretch/>
        </p:blipFill>
        <p:spPr bwMode="auto">
          <a:xfrm>
            <a:off x="7226337" y="2329005"/>
            <a:ext cx="520982" cy="522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Case 1-  retic index">
            <a:extLst>
              <a:ext uri="{FF2B5EF4-FFF2-40B4-BE49-F238E27FC236}">
                <a16:creationId xmlns:a16="http://schemas.microsoft.com/office/drawing/2014/main" id="{038BA008-CA84-090E-7CC3-A45A61116CB4}"/>
              </a:ext>
            </a:extLst>
          </p:cNvPr>
          <p:cNvSpPr/>
          <p:nvPr/>
        </p:nvSpPr>
        <p:spPr>
          <a:xfrm>
            <a:off x="7837841" y="2464570"/>
            <a:ext cx="393192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Retic index</a:t>
            </a:r>
          </a:p>
        </p:txBody>
      </p:sp>
      <p:sp>
        <p:nvSpPr>
          <p:cNvPr id="49" name="Case 1 - hemolysis">
            <a:extLst>
              <a:ext uri="{FF2B5EF4-FFF2-40B4-BE49-F238E27FC236}">
                <a16:creationId xmlns:a16="http://schemas.microsoft.com/office/drawing/2014/main" id="{21AD21BB-4217-0F87-06D1-020DC957289E}"/>
              </a:ext>
            </a:extLst>
          </p:cNvPr>
          <p:cNvSpPr/>
          <p:nvPr/>
        </p:nvSpPr>
        <p:spPr>
          <a:xfrm>
            <a:off x="7197761" y="3959868"/>
            <a:ext cx="457200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Hemolysis labs</a:t>
            </a:r>
          </a:p>
        </p:txBody>
      </p:sp>
      <p:sp>
        <p:nvSpPr>
          <p:cNvPr id="50" name="Case 1 - DAT">
            <a:extLst>
              <a:ext uri="{FF2B5EF4-FFF2-40B4-BE49-F238E27FC236}">
                <a16:creationId xmlns:a16="http://schemas.microsoft.com/office/drawing/2014/main" id="{905717ED-2E1A-D1BD-BA91-6980F91B573A}"/>
              </a:ext>
            </a:extLst>
          </p:cNvPr>
          <p:cNvSpPr/>
          <p:nvPr/>
        </p:nvSpPr>
        <p:spPr>
          <a:xfrm>
            <a:off x="7197761" y="4449677"/>
            <a:ext cx="457200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</a:t>
            </a:r>
          </a:p>
        </p:txBody>
      </p:sp>
      <p:sp>
        <p:nvSpPr>
          <p:cNvPr id="51" name="Case 1 -MCV">
            <a:extLst>
              <a:ext uri="{FF2B5EF4-FFF2-40B4-BE49-F238E27FC236}">
                <a16:creationId xmlns:a16="http://schemas.microsoft.com/office/drawing/2014/main" id="{7603C7FB-B6D1-ED1C-03ED-3F6822871ABD}"/>
              </a:ext>
            </a:extLst>
          </p:cNvPr>
          <p:cNvSpPr/>
          <p:nvPr/>
        </p:nvSpPr>
        <p:spPr>
          <a:xfrm>
            <a:off x="7197761" y="2980252"/>
            <a:ext cx="457200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MCV</a:t>
            </a:r>
            <a:endParaRPr lang="en-US" sz="1400" dirty="0"/>
          </a:p>
        </p:txBody>
      </p:sp>
      <p:sp>
        <p:nvSpPr>
          <p:cNvPr id="52" name="Case 1 - Retic index answer">
            <a:extLst>
              <a:ext uri="{FF2B5EF4-FFF2-40B4-BE49-F238E27FC236}">
                <a16:creationId xmlns:a16="http://schemas.microsoft.com/office/drawing/2014/main" id="{1B1AB450-B712-415F-F134-615C2D0C4A47}"/>
              </a:ext>
            </a:extLst>
          </p:cNvPr>
          <p:cNvSpPr/>
          <p:nvPr/>
        </p:nvSpPr>
        <p:spPr>
          <a:xfrm>
            <a:off x="7837841" y="2464570"/>
            <a:ext cx="3931920" cy="365760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RI = 1.1 </a:t>
            </a:r>
          </a:p>
        </p:txBody>
      </p:sp>
      <p:sp>
        <p:nvSpPr>
          <p:cNvPr id="53" name="Case 1 - MCV answer">
            <a:extLst>
              <a:ext uri="{FF2B5EF4-FFF2-40B4-BE49-F238E27FC236}">
                <a16:creationId xmlns:a16="http://schemas.microsoft.com/office/drawing/2014/main" id="{5C8AB934-4D71-753C-FEF9-8CE77A413BB4}"/>
              </a:ext>
            </a:extLst>
          </p:cNvPr>
          <p:cNvSpPr/>
          <p:nvPr/>
        </p:nvSpPr>
        <p:spPr>
          <a:xfrm>
            <a:off x="7197761" y="2980252"/>
            <a:ext cx="4572000" cy="365760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MCV = 68</a:t>
            </a:r>
          </a:p>
        </p:txBody>
      </p:sp>
      <p:sp>
        <p:nvSpPr>
          <p:cNvPr id="54" name="Case 1 - DAT answer">
            <a:extLst>
              <a:ext uri="{FF2B5EF4-FFF2-40B4-BE49-F238E27FC236}">
                <a16:creationId xmlns:a16="http://schemas.microsoft.com/office/drawing/2014/main" id="{58F62728-95AC-A257-04DD-FE69308FCBD1}"/>
              </a:ext>
            </a:extLst>
          </p:cNvPr>
          <p:cNvSpPr/>
          <p:nvPr/>
        </p:nvSpPr>
        <p:spPr>
          <a:xfrm>
            <a:off x="7197761" y="4449677"/>
            <a:ext cx="4572000" cy="365760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Not sent.</a:t>
            </a:r>
          </a:p>
        </p:txBody>
      </p:sp>
      <p:sp>
        <p:nvSpPr>
          <p:cNvPr id="55" name="Case 1 -hemolysis answer">
            <a:extLst>
              <a:ext uri="{FF2B5EF4-FFF2-40B4-BE49-F238E27FC236}">
                <a16:creationId xmlns:a16="http://schemas.microsoft.com/office/drawing/2014/main" id="{8934961A-3402-F2C8-E354-7159B50A99E4}"/>
              </a:ext>
            </a:extLst>
          </p:cNvPr>
          <p:cNvSpPr/>
          <p:nvPr/>
        </p:nvSpPr>
        <p:spPr>
          <a:xfrm>
            <a:off x="7197761" y="3959868"/>
            <a:ext cx="4572000" cy="365760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LDH 254, haptoglobin normal, </a:t>
            </a:r>
            <a:r>
              <a:rPr lang="en-US" sz="1400" dirty="0" err="1"/>
              <a:t>Tbili</a:t>
            </a:r>
            <a:r>
              <a:rPr lang="en-US" sz="1400" dirty="0"/>
              <a:t> 1.0 (direct 0.3)</a:t>
            </a:r>
          </a:p>
        </p:txBody>
      </p:sp>
      <p:sp>
        <p:nvSpPr>
          <p:cNvPr id="56" name="Diagnosis - case 1">
            <a:extLst>
              <a:ext uri="{FF2B5EF4-FFF2-40B4-BE49-F238E27FC236}">
                <a16:creationId xmlns:a16="http://schemas.microsoft.com/office/drawing/2014/main" id="{9378B5DB-37A3-4A53-6F9F-D490C4DA8DE5}"/>
              </a:ext>
            </a:extLst>
          </p:cNvPr>
          <p:cNvSpPr/>
          <p:nvPr/>
        </p:nvSpPr>
        <p:spPr>
          <a:xfrm>
            <a:off x="7197761" y="5881550"/>
            <a:ext cx="4572000" cy="8229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Diagnosis?</a:t>
            </a:r>
          </a:p>
          <a:p>
            <a:pPr algn="ctr"/>
            <a:r>
              <a:rPr lang="en-US" sz="1400" dirty="0"/>
              <a:t>Next steps in evaluation?</a:t>
            </a:r>
          </a:p>
        </p:txBody>
      </p:sp>
      <p:sp>
        <p:nvSpPr>
          <p:cNvPr id="57" name="Diagnosis 1 aanswer">
            <a:extLst>
              <a:ext uri="{FF2B5EF4-FFF2-40B4-BE49-F238E27FC236}">
                <a16:creationId xmlns:a16="http://schemas.microsoft.com/office/drawing/2014/main" id="{A8F8D241-B008-95E2-8C9B-A853BD373B1C}"/>
              </a:ext>
            </a:extLst>
          </p:cNvPr>
          <p:cNvSpPr/>
          <p:nvPr/>
        </p:nvSpPr>
        <p:spPr>
          <a:xfrm>
            <a:off x="7197761" y="5881550"/>
            <a:ext cx="457200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Concurrent iron deficiency </a:t>
            </a:r>
            <a:r>
              <a:rPr lang="en-US" sz="1400" dirty="0">
                <a:solidFill>
                  <a:schemeClr val="tx1"/>
                </a:solidFill>
              </a:rPr>
              <a:t>(very low % sat) </a:t>
            </a:r>
            <a:r>
              <a:rPr lang="en-US" sz="1400" b="1" dirty="0">
                <a:solidFill>
                  <a:schemeClr val="tx1"/>
                </a:solidFill>
              </a:rPr>
              <a:t>and anemia of chronic disease </a:t>
            </a:r>
            <a:r>
              <a:rPr lang="en-US" sz="1400" dirty="0">
                <a:solidFill>
                  <a:schemeClr val="tx1"/>
                </a:solidFill>
              </a:rPr>
              <a:t>(normal TIBC, </a:t>
            </a:r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</a:t>
            </a:r>
            <a:r>
              <a:rPr lang="en-US" sz="1400" dirty="0">
                <a:solidFill>
                  <a:schemeClr val="tx1"/>
                </a:solidFill>
              </a:rPr>
              <a:t> ferritin). Further GI evaluation for occult blood loss is needed.</a:t>
            </a:r>
          </a:p>
        </p:txBody>
      </p:sp>
      <p:sp>
        <p:nvSpPr>
          <p:cNvPr id="58" name="Case 1 - Iron studies">
            <a:extLst>
              <a:ext uri="{FF2B5EF4-FFF2-40B4-BE49-F238E27FC236}">
                <a16:creationId xmlns:a16="http://schemas.microsoft.com/office/drawing/2014/main" id="{3604283F-5B7B-F0AA-9111-4AC80C7621C2}"/>
              </a:ext>
            </a:extLst>
          </p:cNvPr>
          <p:cNvSpPr/>
          <p:nvPr/>
        </p:nvSpPr>
        <p:spPr>
          <a:xfrm>
            <a:off x="7197761" y="3470060"/>
            <a:ext cx="4572000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Iron studies</a:t>
            </a:r>
          </a:p>
        </p:txBody>
      </p:sp>
      <p:sp>
        <p:nvSpPr>
          <p:cNvPr id="59" name="Case 1 - Iron studies answer">
            <a:extLst>
              <a:ext uri="{FF2B5EF4-FFF2-40B4-BE49-F238E27FC236}">
                <a16:creationId xmlns:a16="http://schemas.microsoft.com/office/drawing/2014/main" id="{BC65763B-22AA-C31D-CE04-C3B0AB7BB1A0}"/>
              </a:ext>
            </a:extLst>
          </p:cNvPr>
          <p:cNvSpPr/>
          <p:nvPr/>
        </p:nvSpPr>
        <p:spPr>
          <a:xfrm>
            <a:off x="7197761" y="3470060"/>
            <a:ext cx="4572000" cy="365760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Serum Fe </a:t>
            </a:r>
            <a:r>
              <a:rPr lang="en-US" sz="1400" dirty="0">
                <a:sym typeface="Wingdings" panose="05000000000000000000" pitchFamily="2" charset="2"/>
              </a:rPr>
              <a:t>, sat 1%, TIBC normal, ferritin 150 mg/L ()</a:t>
            </a:r>
            <a:endParaRPr lang="en-US" sz="1400" dirty="0"/>
          </a:p>
        </p:txBody>
      </p:sp>
      <p:sp>
        <p:nvSpPr>
          <p:cNvPr id="60" name="Case 1 text">
            <a:extLst>
              <a:ext uri="{FF2B5EF4-FFF2-40B4-BE49-F238E27FC236}">
                <a16:creationId xmlns:a16="http://schemas.microsoft.com/office/drawing/2014/main" id="{195AF76D-FB13-3F96-F724-199B7C50F5E1}"/>
              </a:ext>
            </a:extLst>
          </p:cNvPr>
          <p:cNvSpPr txBox="1"/>
          <p:nvPr/>
        </p:nvSpPr>
        <p:spPr>
          <a:xfrm>
            <a:off x="7168229" y="636696"/>
            <a:ext cx="47470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/>
            <a:r>
              <a:rPr lang="en-US" sz="1400" dirty="0"/>
              <a:t>73-year-old with minimal health care contact presents with 6 months of progressive fatigue and dyspnea on exertion. </a:t>
            </a:r>
          </a:p>
          <a:p>
            <a:pPr marL="114300" indent="-114300"/>
            <a:r>
              <a:rPr lang="en-US" sz="1400" u="sng" dirty="0"/>
              <a:t>ROS</a:t>
            </a:r>
            <a:r>
              <a:rPr lang="en-US" sz="1400" dirty="0"/>
              <a:t>: normal diet, no overt blood loss.</a:t>
            </a:r>
          </a:p>
          <a:p>
            <a:pPr marL="114300" indent="-114300"/>
            <a:r>
              <a:rPr lang="en-US" sz="1400" u="sng" dirty="0"/>
              <a:t>Exam</a:t>
            </a:r>
            <a:r>
              <a:rPr lang="en-US" sz="1400" dirty="0"/>
              <a:t>: T 36C, HR 90, BP 123/54, SaO2 100% on room air. Lungs clear, no rubs/ murmurs.</a:t>
            </a:r>
          </a:p>
          <a:p>
            <a:pPr marL="114300" indent="-114300"/>
            <a:endParaRPr lang="en-US" sz="1400" dirty="0"/>
          </a:p>
        </p:txBody>
      </p:sp>
      <p:sp>
        <p:nvSpPr>
          <p:cNvPr id="61" name="Case 1 - Cr, basic labs">
            <a:extLst>
              <a:ext uri="{FF2B5EF4-FFF2-40B4-BE49-F238E27FC236}">
                <a16:creationId xmlns:a16="http://schemas.microsoft.com/office/drawing/2014/main" id="{07E01184-E81A-E2DF-02D3-865649FA6C09}"/>
              </a:ext>
            </a:extLst>
          </p:cNvPr>
          <p:cNvSpPr txBox="1"/>
          <p:nvPr/>
        </p:nvSpPr>
        <p:spPr>
          <a:xfrm>
            <a:off x="7179930" y="1854345"/>
            <a:ext cx="1510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Cr 1.0</a:t>
            </a:r>
          </a:p>
        </p:txBody>
      </p:sp>
      <p:sp>
        <p:nvSpPr>
          <p:cNvPr id="62" name="Case 1  - Smear interpretation">
            <a:extLst>
              <a:ext uri="{FF2B5EF4-FFF2-40B4-BE49-F238E27FC236}">
                <a16:creationId xmlns:a16="http://schemas.microsoft.com/office/drawing/2014/main" id="{3EF1E746-67E5-1D8D-CA73-027F3E196700}"/>
              </a:ext>
            </a:extLst>
          </p:cNvPr>
          <p:cNvSpPr/>
          <p:nvPr/>
        </p:nvSpPr>
        <p:spPr>
          <a:xfrm>
            <a:off x="9110854" y="4930306"/>
            <a:ext cx="2658907" cy="822960"/>
          </a:xfrm>
          <a:prstGeom prst="roundRect">
            <a:avLst>
              <a:gd name="adj" fmla="val 12441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Interpretation</a:t>
            </a:r>
          </a:p>
        </p:txBody>
      </p:sp>
      <p:sp>
        <p:nvSpPr>
          <p:cNvPr id="63" name="Case 1 - Smear">
            <a:extLst>
              <a:ext uri="{FF2B5EF4-FFF2-40B4-BE49-F238E27FC236}">
                <a16:creationId xmlns:a16="http://schemas.microsoft.com/office/drawing/2014/main" id="{7492201C-344A-EF5A-3E48-8A1661A7BDEA}"/>
              </a:ext>
            </a:extLst>
          </p:cNvPr>
          <p:cNvSpPr/>
          <p:nvPr/>
        </p:nvSpPr>
        <p:spPr>
          <a:xfrm>
            <a:off x="7212510" y="4930306"/>
            <a:ext cx="1738768" cy="822960"/>
          </a:xfrm>
          <a:prstGeom prst="roundRect">
            <a:avLst>
              <a:gd name="adj" fmla="val 12441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Peripheral smear</a:t>
            </a:r>
          </a:p>
        </p:txBody>
      </p:sp>
      <p:sp>
        <p:nvSpPr>
          <p:cNvPr id="128" name="Case 1 -PBS answer">
            <a:extLst>
              <a:ext uri="{FF2B5EF4-FFF2-40B4-BE49-F238E27FC236}">
                <a16:creationId xmlns:a16="http://schemas.microsoft.com/office/drawing/2014/main" id="{F8C01BC5-D0FB-C52F-B6B6-7536297AB49D}"/>
              </a:ext>
            </a:extLst>
          </p:cNvPr>
          <p:cNvSpPr/>
          <p:nvPr/>
        </p:nvSpPr>
        <p:spPr>
          <a:xfrm>
            <a:off x="9097618" y="4930306"/>
            <a:ext cx="2672143" cy="822960"/>
          </a:xfrm>
          <a:prstGeom prst="roundRect">
            <a:avLst>
              <a:gd name="adj" fmla="val 11830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Hypochromic RBCs.</a:t>
            </a:r>
          </a:p>
        </p:txBody>
      </p:sp>
      <p:pic>
        <p:nvPicPr>
          <p:cNvPr id="129" name="Graphic 128" descr="Cursor">
            <a:extLst>
              <a:ext uri="{FF2B5EF4-FFF2-40B4-BE49-F238E27FC236}">
                <a16:creationId xmlns:a16="http://schemas.microsoft.com/office/drawing/2014/main" id="{A516062B-4A4D-CBD7-7F2E-213CAC11E6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640940" y="2688853"/>
            <a:ext cx="274320" cy="274320"/>
          </a:xfrm>
          <a:prstGeom prst="rect">
            <a:avLst/>
          </a:prstGeom>
        </p:spPr>
      </p:pic>
      <p:pic>
        <p:nvPicPr>
          <p:cNvPr id="130" name="Graphic 129" descr="Cursor">
            <a:extLst>
              <a:ext uri="{FF2B5EF4-FFF2-40B4-BE49-F238E27FC236}">
                <a16:creationId xmlns:a16="http://schemas.microsoft.com/office/drawing/2014/main" id="{35A4E334-D72E-E557-2ACF-51870212C84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90478" y="429046"/>
            <a:ext cx="274320" cy="274320"/>
          </a:xfrm>
          <a:prstGeom prst="rect">
            <a:avLst/>
          </a:prstGeom>
        </p:spPr>
      </p:pic>
      <p:pic>
        <p:nvPicPr>
          <p:cNvPr id="131" name="Graphic 130" descr="Cursor">
            <a:extLst>
              <a:ext uri="{FF2B5EF4-FFF2-40B4-BE49-F238E27FC236}">
                <a16:creationId xmlns:a16="http://schemas.microsoft.com/office/drawing/2014/main" id="{6D85CBAE-1305-B1BE-0750-078FFEF05D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640940" y="3192672"/>
            <a:ext cx="274320" cy="274320"/>
          </a:xfrm>
          <a:prstGeom prst="rect">
            <a:avLst/>
          </a:prstGeom>
        </p:spPr>
      </p:pic>
      <p:pic>
        <p:nvPicPr>
          <p:cNvPr id="132" name="Graphic 131" descr="Cursor">
            <a:extLst>
              <a:ext uri="{FF2B5EF4-FFF2-40B4-BE49-F238E27FC236}">
                <a16:creationId xmlns:a16="http://schemas.microsoft.com/office/drawing/2014/main" id="{A6514203-559D-79EE-E1DE-5B719E54E6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640940" y="3696491"/>
            <a:ext cx="274320" cy="274320"/>
          </a:xfrm>
          <a:prstGeom prst="rect">
            <a:avLst/>
          </a:prstGeom>
        </p:spPr>
      </p:pic>
      <p:pic>
        <p:nvPicPr>
          <p:cNvPr id="133" name="Graphic 132" descr="Cursor">
            <a:extLst>
              <a:ext uri="{FF2B5EF4-FFF2-40B4-BE49-F238E27FC236}">
                <a16:creationId xmlns:a16="http://schemas.microsoft.com/office/drawing/2014/main" id="{0C31E851-4A6F-322A-CD64-F0D15839DF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640940" y="4200310"/>
            <a:ext cx="274320" cy="274320"/>
          </a:xfrm>
          <a:prstGeom prst="rect">
            <a:avLst/>
          </a:prstGeom>
        </p:spPr>
      </p:pic>
      <p:pic>
        <p:nvPicPr>
          <p:cNvPr id="134" name="Graphic 133" descr="Cursor">
            <a:extLst>
              <a:ext uri="{FF2B5EF4-FFF2-40B4-BE49-F238E27FC236}">
                <a16:creationId xmlns:a16="http://schemas.microsoft.com/office/drawing/2014/main" id="{3FD4CEEB-9500-D98A-C4D5-EA5417F178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640940" y="4704130"/>
            <a:ext cx="274320" cy="274320"/>
          </a:xfrm>
          <a:prstGeom prst="rect">
            <a:avLst/>
          </a:prstGeom>
        </p:spPr>
      </p:pic>
      <p:pic>
        <p:nvPicPr>
          <p:cNvPr id="135" name="Graphic 134" descr="Cursor">
            <a:extLst>
              <a:ext uri="{FF2B5EF4-FFF2-40B4-BE49-F238E27FC236}">
                <a16:creationId xmlns:a16="http://schemas.microsoft.com/office/drawing/2014/main" id="{F3D20C8D-120A-EC8C-61C6-5405E7C8CC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12623" y="5623841"/>
            <a:ext cx="274320" cy="274320"/>
          </a:xfrm>
          <a:prstGeom prst="rect">
            <a:avLst/>
          </a:prstGeom>
        </p:spPr>
      </p:pic>
      <p:pic>
        <p:nvPicPr>
          <p:cNvPr id="136" name="Graphic 135" descr="Cursor">
            <a:extLst>
              <a:ext uri="{FF2B5EF4-FFF2-40B4-BE49-F238E27FC236}">
                <a16:creationId xmlns:a16="http://schemas.microsoft.com/office/drawing/2014/main" id="{49AE3EB0-B792-8D7F-68F8-33C0AA3AE8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640940" y="5623841"/>
            <a:ext cx="274320" cy="274320"/>
          </a:xfrm>
          <a:prstGeom prst="rect">
            <a:avLst/>
          </a:prstGeom>
        </p:spPr>
      </p:pic>
      <p:pic>
        <p:nvPicPr>
          <p:cNvPr id="137" name="Graphic 136" descr="Cursor">
            <a:extLst>
              <a:ext uri="{FF2B5EF4-FFF2-40B4-BE49-F238E27FC236}">
                <a16:creationId xmlns:a16="http://schemas.microsoft.com/office/drawing/2014/main" id="{5285CB11-9865-6C78-1B72-F030304CC0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640940" y="6556646"/>
            <a:ext cx="274320" cy="274320"/>
          </a:xfrm>
          <a:prstGeom prst="rect">
            <a:avLst/>
          </a:prstGeom>
        </p:spPr>
      </p:pic>
      <p:grpSp>
        <p:nvGrpSpPr>
          <p:cNvPr id="138" name="Fishbone 2">
            <a:extLst>
              <a:ext uri="{FF2B5EF4-FFF2-40B4-BE49-F238E27FC236}">
                <a16:creationId xmlns:a16="http://schemas.microsoft.com/office/drawing/2014/main" id="{FA3C0EFE-4C65-222F-BC2C-84BB2518DFC2}"/>
              </a:ext>
            </a:extLst>
          </p:cNvPr>
          <p:cNvGrpSpPr/>
          <p:nvPr/>
        </p:nvGrpSpPr>
        <p:grpSpPr>
          <a:xfrm>
            <a:off x="8724801" y="1725111"/>
            <a:ext cx="1435862" cy="643237"/>
            <a:chOff x="998010" y="3377546"/>
            <a:chExt cx="916433" cy="643237"/>
          </a:xfrm>
        </p:grpSpPr>
        <p:grpSp>
          <p:nvGrpSpPr>
            <p:cNvPr id="139" name="Fishbone">
              <a:extLst>
                <a:ext uri="{FF2B5EF4-FFF2-40B4-BE49-F238E27FC236}">
                  <a16:creationId xmlns:a16="http://schemas.microsoft.com/office/drawing/2014/main" id="{FA3E2B01-3586-54D3-EC52-7908AD54558F}"/>
                </a:ext>
              </a:extLst>
            </p:cNvPr>
            <p:cNvGrpSpPr/>
            <p:nvPr/>
          </p:nvGrpSpPr>
          <p:grpSpPr>
            <a:xfrm>
              <a:off x="1152844" y="3489750"/>
              <a:ext cx="572321" cy="444107"/>
              <a:chOff x="1231310" y="3489857"/>
              <a:chExt cx="487531" cy="373454"/>
            </a:xfrm>
          </p:grpSpPr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0A785104-6865-961A-4E8D-934C99723F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31310" y="3680433"/>
                <a:ext cx="138911" cy="18287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8B2C7FC6-A789-4020-037B-3019D8AFA0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8490" y="3499060"/>
                <a:ext cx="123549" cy="17315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89F16067-383F-1CF5-65F2-7427FAF29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8823" y="3673275"/>
                <a:ext cx="213429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6D7258C9-2ED0-D783-8026-10168750BA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8719" y="3489857"/>
                <a:ext cx="133072" cy="18235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FEA39DA0-B469-8D92-785F-8FC980E1FF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1220" y="3678064"/>
                <a:ext cx="137621" cy="18524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8676C7C-E3F5-3F64-D775-2718E0080E1F}"/>
                </a:ext>
              </a:extLst>
            </p:cNvPr>
            <p:cNvSpPr txBox="1"/>
            <p:nvPr/>
          </p:nvSpPr>
          <p:spPr>
            <a:xfrm>
              <a:off x="998010" y="3548830"/>
              <a:ext cx="3093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11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6261793-BBB6-8B5F-1616-918460FDA6CE}"/>
                </a:ext>
              </a:extLst>
            </p:cNvPr>
            <p:cNvSpPr txBox="1"/>
            <p:nvPr/>
          </p:nvSpPr>
          <p:spPr>
            <a:xfrm>
              <a:off x="1615262" y="3541987"/>
              <a:ext cx="2991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459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3EB09A34-2BAC-D869-F706-5141EF59040B}"/>
                </a:ext>
              </a:extLst>
            </p:cNvPr>
            <p:cNvSpPr txBox="1"/>
            <p:nvPr/>
          </p:nvSpPr>
          <p:spPr>
            <a:xfrm>
              <a:off x="1311529" y="3377546"/>
              <a:ext cx="2728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5.1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E4DBD71B-1B36-C70F-051B-8B5C49D46A82}"/>
                </a:ext>
              </a:extLst>
            </p:cNvPr>
            <p:cNvSpPr txBox="1"/>
            <p:nvPr/>
          </p:nvSpPr>
          <p:spPr>
            <a:xfrm>
              <a:off x="1302777" y="3713006"/>
              <a:ext cx="2693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21</a:t>
              </a:r>
            </a:p>
          </p:txBody>
        </p:sp>
      </p:grpSp>
      <p:grpSp>
        <p:nvGrpSpPr>
          <p:cNvPr id="185" name="Fishbone 2">
            <a:extLst>
              <a:ext uri="{FF2B5EF4-FFF2-40B4-BE49-F238E27FC236}">
                <a16:creationId xmlns:a16="http://schemas.microsoft.com/office/drawing/2014/main" id="{02525079-68CE-148F-2C88-CF3F0041CFB5}"/>
              </a:ext>
            </a:extLst>
          </p:cNvPr>
          <p:cNvGrpSpPr/>
          <p:nvPr/>
        </p:nvGrpSpPr>
        <p:grpSpPr>
          <a:xfrm>
            <a:off x="10172130" y="1741898"/>
            <a:ext cx="1198528" cy="626450"/>
            <a:chOff x="756275" y="3454825"/>
            <a:chExt cx="868039" cy="626450"/>
          </a:xfrm>
        </p:grpSpPr>
        <p:grpSp>
          <p:nvGrpSpPr>
            <p:cNvPr id="188" name="Fishbone">
              <a:extLst>
                <a:ext uri="{FF2B5EF4-FFF2-40B4-BE49-F238E27FC236}">
                  <a16:creationId xmlns:a16="http://schemas.microsoft.com/office/drawing/2014/main" id="{277B7ED3-15C5-E169-B114-423A082CF764}"/>
                </a:ext>
              </a:extLst>
            </p:cNvPr>
            <p:cNvGrpSpPr/>
            <p:nvPr/>
          </p:nvGrpSpPr>
          <p:grpSpPr>
            <a:xfrm>
              <a:off x="814258" y="3454825"/>
              <a:ext cx="630525" cy="515023"/>
              <a:chOff x="942885" y="3460497"/>
              <a:chExt cx="537114" cy="433089"/>
            </a:xfrm>
          </p:grpSpPr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F74C8AE8-FDEB-04C6-7D72-D107831CCE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2885" y="3672211"/>
                <a:ext cx="271105" cy="22137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C288E71A-1848-E076-E24C-25481368A3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13035" y="3460497"/>
                <a:ext cx="1" cy="21277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D0DB2233-379E-7F5C-DA9A-505E4B6491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3036" y="3673275"/>
                <a:ext cx="266963" cy="19811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6571D09D-3BD7-0CC0-BDDA-15515ABCE5C8}"/>
                </a:ext>
              </a:extLst>
            </p:cNvPr>
            <p:cNvSpPr txBox="1"/>
            <p:nvPr/>
          </p:nvSpPr>
          <p:spPr>
            <a:xfrm>
              <a:off x="1097342" y="3501653"/>
              <a:ext cx="5269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400" dirty="0"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BCF1D44C-A305-B198-4E7B-07703DFB8621}"/>
                </a:ext>
              </a:extLst>
            </p:cNvPr>
            <p:cNvSpPr txBox="1"/>
            <p:nvPr/>
          </p:nvSpPr>
          <p:spPr>
            <a:xfrm>
              <a:off x="756275" y="3504119"/>
              <a:ext cx="4057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dirty="0"/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074DC4E2-623F-7173-65E0-1F1D33B52A8E}"/>
                </a:ext>
              </a:extLst>
            </p:cNvPr>
            <p:cNvSpPr txBox="1"/>
            <p:nvPr/>
          </p:nvSpPr>
          <p:spPr>
            <a:xfrm>
              <a:off x="897001" y="3773498"/>
              <a:ext cx="465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1.1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9DB90BA9-246A-67CC-98D0-543434395687}"/>
              </a:ext>
            </a:extLst>
          </p:cNvPr>
          <p:cNvGrpSpPr/>
          <p:nvPr/>
        </p:nvGrpSpPr>
        <p:grpSpPr>
          <a:xfrm>
            <a:off x="7203854" y="4930306"/>
            <a:ext cx="1747424" cy="822960"/>
            <a:chOff x="7203854" y="4930306"/>
            <a:chExt cx="1747424" cy="822960"/>
          </a:xfrm>
        </p:grpSpPr>
        <p:sp>
          <p:nvSpPr>
            <p:cNvPr id="198" name="Case 2 -PBS answer">
              <a:extLst>
                <a:ext uri="{FF2B5EF4-FFF2-40B4-BE49-F238E27FC236}">
                  <a16:creationId xmlns:a16="http://schemas.microsoft.com/office/drawing/2014/main" id="{A2345686-498A-D879-3C43-EA00DB77C80C}"/>
                </a:ext>
              </a:extLst>
            </p:cNvPr>
            <p:cNvSpPr/>
            <p:nvPr/>
          </p:nvSpPr>
          <p:spPr>
            <a:xfrm>
              <a:off x="7203854" y="4930306"/>
              <a:ext cx="1747424" cy="822960"/>
            </a:xfrm>
            <a:prstGeom prst="roundRect">
              <a:avLst>
                <a:gd name="adj" fmla="val 11830"/>
              </a:avLst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pic>
          <p:nvPicPr>
            <p:cNvPr id="164" name="Hypochromic smear">
              <a:extLst>
                <a:ext uri="{FF2B5EF4-FFF2-40B4-BE49-F238E27FC236}">
                  <a16:creationId xmlns:a16="http://schemas.microsoft.com/office/drawing/2014/main" id="{1186B1FD-AA03-D799-5A6D-7DF5147D4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681066" y="5003718"/>
              <a:ext cx="708155" cy="6676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7227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1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6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1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2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1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5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1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181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190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1" fill="hold">
                      <p:stCondLst>
                        <p:cond delay="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99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0" fill="hold">
                      <p:stCondLst>
                        <p:cond delay="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208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17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8" fill="hold">
                      <p:stCondLst>
                        <p:cond delay="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226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7" fill="hold">
                      <p:stCondLst>
                        <p:cond delay="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235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6" fill="hold">
                      <p:stCondLst>
                        <p:cond delay="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</p:childTnLst>
        </p:cTn>
      </p:par>
    </p:tnLst>
    <p:bldLst>
      <p:bldP spid="152" grpId="0" animBg="1"/>
      <p:bldP spid="152" grpId="1" animBg="1"/>
      <p:bldP spid="153" grpId="0" animBg="1"/>
      <p:bldP spid="153" grpId="1" animBg="1"/>
      <p:bldP spid="154" grpId="0" animBg="1"/>
      <p:bldP spid="154" grpId="1" animBg="1"/>
      <p:bldP spid="156" grpId="0" animBg="1"/>
      <p:bldP spid="156" grpId="1" animBg="1"/>
      <p:bldP spid="157" grpId="0" animBg="1"/>
      <p:bldP spid="158" grpId="0" animBg="1"/>
      <p:bldP spid="159" grpId="0" animBg="1"/>
      <p:bldP spid="161" grpId="0" animBg="1"/>
      <p:bldP spid="162" grpId="0" animBg="1"/>
      <p:bldP spid="162" grpId="1" animBg="1"/>
      <p:bldP spid="163" grpId="0" animBg="1"/>
      <p:bldP spid="175" grpId="0" animBg="1"/>
      <p:bldP spid="175" grpId="1" animBg="1"/>
      <p:bldP spid="176" grpId="0" animBg="1"/>
      <p:bldP spid="149" grpId="0"/>
      <p:bldP spid="150" grpId="0"/>
      <p:bldP spid="186" grpId="0" animBg="1"/>
      <p:bldP spid="186" grpId="1" animBg="1"/>
      <p:bldP spid="155" grpId="0" animBg="1"/>
      <p:bldP spid="155" grpId="1" animBg="1"/>
      <p:bldP spid="187" grpId="0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3" grpId="0" animBg="1"/>
      <p:bldP spid="54" grpId="0" animBg="1"/>
      <p:bldP spid="55" grpId="0" animBg="1"/>
      <p:bldP spid="56" grpId="0" animBg="1"/>
      <p:bldP spid="56" grpId="1" animBg="1"/>
      <p:bldP spid="57" grpId="0" animBg="1"/>
      <p:bldP spid="58" grpId="0" animBg="1"/>
      <p:bldP spid="58" grpId="1" animBg="1"/>
      <p:bldP spid="59" grpId="0" animBg="1"/>
      <p:bldP spid="60" grpId="0"/>
      <p:bldP spid="61" grpId="0"/>
      <p:bldP spid="62" grpId="0" animBg="1"/>
      <p:bldP spid="62" grpId="1" animBg="1"/>
      <p:bldP spid="63" grpId="0" animBg="1"/>
      <p:bldP spid="63" grpId="1" animBg="1"/>
      <p:bldP spid="1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Non-immune hemolysis">
            <a:extLst>
              <a:ext uri="{FF2B5EF4-FFF2-40B4-BE49-F238E27FC236}">
                <a16:creationId xmlns:a16="http://schemas.microsoft.com/office/drawing/2014/main" id="{64E1755D-6CCA-4322-A5A9-AED592FEA3EA}"/>
              </a:ext>
            </a:extLst>
          </p:cNvPr>
          <p:cNvSpPr txBox="1"/>
          <p:nvPr/>
        </p:nvSpPr>
        <p:spPr>
          <a:xfrm>
            <a:off x="0" y="6386920"/>
            <a:ext cx="2961853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400" b="1" dirty="0"/>
              <a:t>Anemia Worksheet</a:t>
            </a:r>
          </a:p>
        </p:txBody>
      </p:sp>
      <p:sp>
        <p:nvSpPr>
          <p:cNvPr id="38" name="Macrocytic">
            <a:extLst>
              <a:ext uri="{FF2B5EF4-FFF2-40B4-BE49-F238E27FC236}">
                <a16:creationId xmlns:a16="http://schemas.microsoft.com/office/drawing/2014/main" id="{03DC98C3-AC6A-4BEB-B170-6F8DEA421987}"/>
              </a:ext>
            </a:extLst>
          </p:cNvPr>
          <p:cNvSpPr/>
          <p:nvPr/>
        </p:nvSpPr>
        <p:spPr>
          <a:xfrm>
            <a:off x="5097246" y="121336"/>
            <a:ext cx="1188720" cy="3657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0" name="Micocytic">
            <a:extLst>
              <a:ext uri="{FF2B5EF4-FFF2-40B4-BE49-F238E27FC236}">
                <a16:creationId xmlns:a16="http://schemas.microsoft.com/office/drawing/2014/main" id="{872A45C9-5FFB-43E7-A21B-01791A270247}"/>
              </a:ext>
            </a:extLst>
          </p:cNvPr>
          <p:cNvSpPr/>
          <p:nvPr/>
        </p:nvSpPr>
        <p:spPr>
          <a:xfrm>
            <a:off x="5097245" y="2162110"/>
            <a:ext cx="118872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37" name="Connector to macrocytic">
            <a:extLst>
              <a:ext uri="{FF2B5EF4-FFF2-40B4-BE49-F238E27FC236}">
                <a16:creationId xmlns:a16="http://schemas.microsoft.com/office/drawing/2014/main" id="{836E5B7A-F66E-4B24-A6F9-356969A96290}"/>
              </a:ext>
            </a:extLst>
          </p:cNvPr>
          <p:cNvCxnSpPr>
            <a:cxnSpLocks/>
          </p:cNvCxnSpPr>
          <p:nvPr/>
        </p:nvCxnSpPr>
        <p:spPr>
          <a:xfrm flipV="1">
            <a:off x="3229222" y="288013"/>
            <a:ext cx="1868025" cy="273180"/>
          </a:xfrm>
          <a:prstGeom prst="bentConnector3">
            <a:avLst>
              <a:gd name="adj1" fmla="val 45874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5187F743-8E0F-4FEE-895A-14DC6091DF30}"/>
              </a:ext>
            </a:extLst>
          </p:cNvPr>
          <p:cNvSpPr txBox="1"/>
          <p:nvPr/>
        </p:nvSpPr>
        <p:spPr>
          <a:xfrm>
            <a:off x="4257474" y="184895"/>
            <a:ext cx="457200" cy="27432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sz="1000" dirty="0"/>
          </a:p>
        </p:txBody>
      </p:sp>
      <p:sp>
        <p:nvSpPr>
          <p:cNvPr id="80" name="Normocytic">
            <a:extLst>
              <a:ext uri="{FF2B5EF4-FFF2-40B4-BE49-F238E27FC236}">
                <a16:creationId xmlns:a16="http://schemas.microsoft.com/office/drawing/2014/main" id="{5D88B871-6154-4D25-BF43-0A5D76EC489D}"/>
              </a:ext>
            </a:extLst>
          </p:cNvPr>
          <p:cNvSpPr/>
          <p:nvPr/>
        </p:nvSpPr>
        <p:spPr>
          <a:xfrm>
            <a:off x="5097246" y="1190882"/>
            <a:ext cx="1188720" cy="3657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110" name="Connector to normocytic">
            <a:extLst>
              <a:ext uri="{FF2B5EF4-FFF2-40B4-BE49-F238E27FC236}">
                <a16:creationId xmlns:a16="http://schemas.microsoft.com/office/drawing/2014/main" id="{C0969422-5D11-4243-9F23-6D46F9BBF741}"/>
              </a:ext>
            </a:extLst>
          </p:cNvPr>
          <p:cNvCxnSpPr>
            <a:cxnSpLocks/>
          </p:cNvCxnSpPr>
          <p:nvPr/>
        </p:nvCxnSpPr>
        <p:spPr>
          <a:xfrm>
            <a:off x="4094283" y="1357557"/>
            <a:ext cx="961410" cy="42"/>
          </a:xfrm>
          <a:prstGeom prst="straightConnector1">
            <a:avLst/>
          </a:prstGeom>
          <a:solidFill>
            <a:schemeClr val="bg1"/>
          </a:solidFill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1B5415AE-918B-4E0B-A1E1-87BADEB14599}"/>
              </a:ext>
            </a:extLst>
          </p:cNvPr>
          <p:cNvSpPr txBox="1"/>
          <p:nvPr/>
        </p:nvSpPr>
        <p:spPr>
          <a:xfrm>
            <a:off x="4257473" y="1250956"/>
            <a:ext cx="457200" cy="27432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sz="1050" dirty="0"/>
          </a:p>
        </p:txBody>
      </p:sp>
      <p:cxnSp>
        <p:nvCxnSpPr>
          <p:cNvPr id="47" name="Connector to microcytic">
            <a:extLst>
              <a:ext uri="{FF2B5EF4-FFF2-40B4-BE49-F238E27FC236}">
                <a16:creationId xmlns:a16="http://schemas.microsoft.com/office/drawing/2014/main" id="{099F750D-AAB6-4D17-B03A-35AF3A5A3DAA}"/>
              </a:ext>
            </a:extLst>
          </p:cNvPr>
          <p:cNvCxnSpPr>
            <a:cxnSpLocks/>
            <a:stCxn id="14" idx="3"/>
            <a:endCxn id="50" idx="1"/>
          </p:cNvCxnSpPr>
          <p:nvPr/>
        </p:nvCxnSpPr>
        <p:spPr>
          <a:xfrm>
            <a:off x="3287408" y="561193"/>
            <a:ext cx="1809837" cy="1783797"/>
          </a:xfrm>
          <a:prstGeom prst="bentConnector3">
            <a:avLst>
              <a:gd name="adj1" fmla="val 44316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22D64BCE-1644-4D55-A491-2DBC1F7FD5B1}"/>
              </a:ext>
            </a:extLst>
          </p:cNvPr>
          <p:cNvSpPr txBox="1"/>
          <p:nvPr/>
        </p:nvSpPr>
        <p:spPr>
          <a:xfrm>
            <a:off x="4257473" y="2203298"/>
            <a:ext cx="457200" cy="27432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sz="1050" dirty="0"/>
          </a:p>
        </p:txBody>
      </p:sp>
      <p:sp>
        <p:nvSpPr>
          <p:cNvPr id="72" name="MCV">
            <a:extLst>
              <a:ext uri="{FF2B5EF4-FFF2-40B4-BE49-F238E27FC236}">
                <a16:creationId xmlns:a16="http://schemas.microsoft.com/office/drawing/2014/main" id="{1384608F-84AD-4C7C-B051-D470AB8E2042}"/>
              </a:ext>
            </a:extLst>
          </p:cNvPr>
          <p:cNvSpPr/>
          <p:nvPr/>
        </p:nvSpPr>
        <p:spPr>
          <a:xfrm>
            <a:off x="3472006" y="461895"/>
            <a:ext cx="459914" cy="23788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5" name="RI">
            <a:extLst>
              <a:ext uri="{FF2B5EF4-FFF2-40B4-BE49-F238E27FC236}">
                <a16:creationId xmlns:a16="http://schemas.microsoft.com/office/drawing/2014/main" id="{4B9C6A50-F889-474F-BAC9-CA0A4B0D7109}"/>
              </a:ext>
            </a:extLst>
          </p:cNvPr>
          <p:cNvSpPr txBox="1"/>
          <p:nvPr/>
        </p:nvSpPr>
        <p:spPr>
          <a:xfrm rot="5400000">
            <a:off x="341891" y="2202000"/>
            <a:ext cx="528280" cy="958063"/>
          </a:xfrm>
          <a:prstGeom prst="roundRect">
            <a:avLst>
              <a:gd name="adj" fmla="val 1749"/>
            </a:avLst>
          </a:prstGeom>
          <a:ln/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wrap="square" lIns="45720" tIns="18288" rIns="45720" bIns="18288" rtlCol="0" anchor="ctr">
            <a:spAutoFit/>
          </a:bodyPr>
          <a:lstStyle/>
          <a:p>
            <a:pPr lvl="0" algn="ctr"/>
            <a:r>
              <a:rPr lang="en-US" sz="1400"/>
              <a:t>Reticulocyte Index (RI)</a:t>
            </a:r>
            <a:endParaRPr lang="en-US" sz="1100"/>
          </a:p>
        </p:txBody>
      </p:sp>
      <p:sp>
        <p:nvSpPr>
          <p:cNvPr id="14" name="Underproduction">
            <a:extLst>
              <a:ext uri="{FF2B5EF4-FFF2-40B4-BE49-F238E27FC236}">
                <a16:creationId xmlns:a16="http://schemas.microsoft.com/office/drawing/2014/main" id="{1D8536FF-E5A5-4BEB-97B6-7AD44433C302}"/>
              </a:ext>
            </a:extLst>
          </p:cNvPr>
          <p:cNvSpPr/>
          <p:nvPr/>
        </p:nvSpPr>
        <p:spPr>
          <a:xfrm>
            <a:off x="1641488" y="379673"/>
            <a:ext cx="1645920" cy="363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6" name="Increased production">
            <a:extLst>
              <a:ext uri="{FF2B5EF4-FFF2-40B4-BE49-F238E27FC236}">
                <a16:creationId xmlns:a16="http://schemas.microsoft.com/office/drawing/2014/main" id="{52C341EC-6FC6-4D00-9F3A-9D58A6EBAF2E}"/>
              </a:ext>
            </a:extLst>
          </p:cNvPr>
          <p:cNvSpPr/>
          <p:nvPr/>
        </p:nvSpPr>
        <p:spPr>
          <a:xfrm>
            <a:off x="1641488" y="4128113"/>
            <a:ext cx="1645920" cy="363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grpSp>
        <p:nvGrpSpPr>
          <p:cNvPr id="33" name="Connector to underproduction">
            <a:extLst>
              <a:ext uri="{FF2B5EF4-FFF2-40B4-BE49-F238E27FC236}">
                <a16:creationId xmlns:a16="http://schemas.microsoft.com/office/drawing/2014/main" id="{1086A824-2F45-49B9-9C1A-56720FB9BDE5}"/>
              </a:ext>
            </a:extLst>
          </p:cNvPr>
          <p:cNvGrpSpPr/>
          <p:nvPr/>
        </p:nvGrpSpPr>
        <p:grpSpPr>
          <a:xfrm>
            <a:off x="1085064" y="561193"/>
            <a:ext cx="556425" cy="2119839"/>
            <a:chOff x="1420893" y="1409935"/>
            <a:chExt cx="622096" cy="2606014"/>
          </a:xfrm>
        </p:grpSpPr>
        <p:cxnSp>
          <p:nvCxnSpPr>
            <p:cNvPr id="9" name="Connector to Underproduction">
              <a:extLst>
                <a:ext uri="{FF2B5EF4-FFF2-40B4-BE49-F238E27FC236}">
                  <a16:creationId xmlns:a16="http://schemas.microsoft.com/office/drawing/2014/main" id="{5CB2C196-E0EF-4620-B0B9-5734515C6A69}"/>
                </a:ext>
              </a:extLst>
            </p:cNvPr>
            <p:cNvCxnSpPr>
              <a:cxnSpLocks/>
              <a:stCxn id="5" idx="0"/>
              <a:endCxn id="14" idx="1"/>
            </p:cNvCxnSpPr>
            <p:nvPr/>
          </p:nvCxnSpPr>
          <p:spPr>
            <a:xfrm flipV="1">
              <a:off x="1420893" y="1409935"/>
              <a:ext cx="622096" cy="2606014"/>
            </a:xfrm>
            <a:prstGeom prst="bentConnector3">
              <a:avLst>
                <a:gd name="adj1" fmla="val 50000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8040A1E-C850-41DF-B669-F3AC53C1A4FF}"/>
                </a:ext>
              </a:extLst>
            </p:cNvPr>
            <p:cNvSpPr txBox="1"/>
            <p:nvPr/>
          </p:nvSpPr>
          <p:spPr>
            <a:xfrm>
              <a:off x="1529511" y="2285053"/>
              <a:ext cx="423756" cy="302691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&lt;2</a:t>
              </a:r>
            </a:p>
          </p:txBody>
        </p:sp>
      </p:grpSp>
      <p:grpSp>
        <p:nvGrpSpPr>
          <p:cNvPr id="34" name="Connector to Inc. production">
            <a:extLst>
              <a:ext uri="{FF2B5EF4-FFF2-40B4-BE49-F238E27FC236}">
                <a16:creationId xmlns:a16="http://schemas.microsoft.com/office/drawing/2014/main" id="{A0DDB2D9-048C-41FA-8B64-23DA63A15D7A}"/>
              </a:ext>
            </a:extLst>
          </p:cNvPr>
          <p:cNvGrpSpPr/>
          <p:nvPr/>
        </p:nvGrpSpPr>
        <p:grpSpPr>
          <a:xfrm>
            <a:off x="1085063" y="2681032"/>
            <a:ext cx="556425" cy="1628601"/>
            <a:chOff x="1420894" y="4015951"/>
            <a:chExt cx="622097" cy="2002113"/>
          </a:xfrm>
        </p:grpSpPr>
        <p:cxnSp>
          <p:nvCxnSpPr>
            <p:cNvPr id="17" name="Connector to increased productoin">
              <a:extLst>
                <a:ext uri="{FF2B5EF4-FFF2-40B4-BE49-F238E27FC236}">
                  <a16:creationId xmlns:a16="http://schemas.microsoft.com/office/drawing/2014/main" id="{E2401DCD-716C-4952-9356-27A32BDAEB98}"/>
                </a:ext>
              </a:extLst>
            </p:cNvPr>
            <p:cNvCxnSpPr>
              <a:cxnSpLocks/>
              <a:stCxn id="5" idx="0"/>
              <a:endCxn id="16" idx="1"/>
            </p:cNvCxnSpPr>
            <p:nvPr/>
          </p:nvCxnSpPr>
          <p:spPr>
            <a:xfrm>
              <a:off x="1420894" y="4015951"/>
              <a:ext cx="622097" cy="2002113"/>
            </a:xfrm>
            <a:prstGeom prst="bentConnector3">
              <a:avLst>
                <a:gd name="adj1" fmla="val 50000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D91EB14-6264-436E-963D-D72A18B83894}"/>
                </a:ext>
              </a:extLst>
            </p:cNvPr>
            <p:cNvSpPr txBox="1"/>
            <p:nvPr/>
          </p:nvSpPr>
          <p:spPr>
            <a:xfrm>
              <a:off x="1529515" y="4836246"/>
              <a:ext cx="423756" cy="302691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≥3</a:t>
              </a:r>
            </a:p>
          </p:txBody>
        </p:sp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3EF734C-D72F-46DD-BE89-72651F688E92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1371726" y="2685284"/>
            <a:ext cx="26976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C61E36F-6E55-46C0-934D-45C1218CC6D3}"/>
              </a:ext>
            </a:extLst>
          </p:cNvPr>
          <p:cNvGrpSpPr/>
          <p:nvPr/>
        </p:nvGrpSpPr>
        <p:grpSpPr>
          <a:xfrm>
            <a:off x="6285966" y="106352"/>
            <a:ext cx="2881915" cy="738664"/>
            <a:chOff x="6660715" y="86858"/>
            <a:chExt cx="2790325" cy="738664"/>
          </a:xfrm>
        </p:grpSpPr>
        <p:sp>
          <p:nvSpPr>
            <p:cNvPr id="140" name="Liver disease/ETOH">
              <a:extLst>
                <a:ext uri="{FF2B5EF4-FFF2-40B4-BE49-F238E27FC236}">
                  <a16:creationId xmlns:a16="http://schemas.microsoft.com/office/drawing/2014/main" id="{990D240A-253E-4D6F-A4C3-225E546B7D84}"/>
                </a:ext>
              </a:extLst>
            </p:cNvPr>
            <p:cNvSpPr txBox="1"/>
            <p:nvPr/>
          </p:nvSpPr>
          <p:spPr>
            <a:xfrm>
              <a:off x="6900036" y="86858"/>
              <a:ext cx="2551004" cy="738664"/>
            </a:xfrm>
            <a:prstGeom prst="roundRect">
              <a:avLst>
                <a:gd name="adj" fmla="val 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t">
              <a:spAutoFit/>
            </a:bodyPr>
            <a:lstStyle/>
            <a:p>
              <a:pPr marL="117475" indent="-117475">
                <a:buFont typeface="Arial" panose="020B0604020202020204" pitchFamily="34" charset="0"/>
                <a:buChar char="•"/>
              </a:pPr>
              <a:endParaRPr lang="en-US" sz="1050" dirty="0"/>
            </a:p>
            <a:p>
              <a:pPr marL="117475" indent="-117475">
                <a:buFont typeface="Arial" panose="020B0604020202020204" pitchFamily="34" charset="0"/>
                <a:buChar char="•"/>
              </a:pPr>
              <a:endParaRPr lang="en-US" sz="1050" dirty="0"/>
            </a:p>
            <a:p>
              <a:pPr marL="117475" indent="-117475">
                <a:buFont typeface="Arial" panose="020B0604020202020204" pitchFamily="34" charset="0"/>
                <a:buChar char="•"/>
              </a:pPr>
              <a:endParaRPr lang="en-US" sz="1050" dirty="0"/>
            </a:p>
            <a:p>
              <a:pPr marL="117475" indent="-117475">
                <a:buFont typeface="Arial" panose="020B0604020202020204" pitchFamily="34" charset="0"/>
                <a:buChar char="•"/>
              </a:pPr>
              <a:endParaRPr lang="en-US" sz="1050" dirty="0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4DEA823-2265-43C3-96F7-D2721F3074B7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>
              <a:off x="6660715" y="284722"/>
              <a:ext cx="239321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DA99D6A-1685-4A7E-ACC4-3DDB6AFCB902}"/>
              </a:ext>
            </a:extLst>
          </p:cNvPr>
          <p:cNvGrpSpPr/>
          <p:nvPr/>
        </p:nvGrpSpPr>
        <p:grpSpPr>
          <a:xfrm>
            <a:off x="6285966" y="1007576"/>
            <a:ext cx="2910928" cy="738664"/>
            <a:chOff x="6750894" y="988082"/>
            <a:chExt cx="2829295" cy="738664"/>
          </a:xfrm>
        </p:grpSpPr>
        <p:sp>
          <p:nvSpPr>
            <p:cNvPr id="135" name="Acute blood loss">
              <a:extLst>
                <a:ext uri="{FF2B5EF4-FFF2-40B4-BE49-F238E27FC236}">
                  <a16:creationId xmlns:a16="http://schemas.microsoft.com/office/drawing/2014/main" id="{6A1FA175-B826-4462-815F-CA12A766A8FA}"/>
                </a:ext>
              </a:extLst>
            </p:cNvPr>
            <p:cNvSpPr txBox="1"/>
            <p:nvPr/>
          </p:nvSpPr>
          <p:spPr>
            <a:xfrm>
              <a:off x="6994687" y="988082"/>
              <a:ext cx="2585502" cy="738664"/>
            </a:xfrm>
            <a:prstGeom prst="roundRect">
              <a:avLst>
                <a:gd name="adj" fmla="val 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117475" indent="-117475">
                <a:buFont typeface="Arial" panose="020B0604020202020204" pitchFamily="34" charset="0"/>
                <a:buChar char="•"/>
              </a:pPr>
              <a:endParaRPr lang="en-US" sz="1050" dirty="0"/>
            </a:p>
            <a:p>
              <a:pPr marL="117475" indent="-117475">
                <a:buFont typeface="Arial" panose="020B0604020202020204" pitchFamily="34" charset="0"/>
                <a:buChar char="•"/>
              </a:pPr>
              <a:endParaRPr lang="en-US" sz="1050" dirty="0"/>
            </a:p>
            <a:p>
              <a:pPr marL="117475" indent="-117475">
                <a:buFont typeface="Arial" panose="020B0604020202020204" pitchFamily="34" charset="0"/>
                <a:buChar char="•"/>
              </a:pPr>
              <a:endParaRPr lang="en-US" sz="1050" dirty="0"/>
            </a:p>
            <a:p>
              <a:pPr marL="117475" indent="-117475">
                <a:buFont typeface="Arial" panose="020B0604020202020204" pitchFamily="34" charset="0"/>
                <a:buChar char="•"/>
              </a:pPr>
              <a:endParaRPr lang="en-US" sz="1050" dirty="0"/>
            </a:p>
          </p:txBody>
        </p: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DED1F648-7BD0-416D-89E2-FD4CE2A1ADE4}"/>
                </a:ext>
              </a:extLst>
            </p:cNvPr>
            <p:cNvCxnSpPr>
              <a:cxnSpLocks/>
              <a:stCxn id="80" idx="3"/>
              <a:endCxn id="135" idx="1"/>
            </p:cNvCxnSpPr>
            <p:nvPr/>
          </p:nvCxnSpPr>
          <p:spPr>
            <a:xfrm>
              <a:off x="6750894" y="1354268"/>
              <a:ext cx="243793" cy="3146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118" name="Microcytic anemia info">
            <a:extLst>
              <a:ext uri="{FF2B5EF4-FFF2-40B4-BE49-F238E27FC236}">
                <a16:creationId xmlns:a16="http://schemas.microsoft.com/office/drawing/2014/main" id="{A37B8F01-2B02-4152-A153-49E8D07D3E03}"/>
              </a:ext>
            </a:extLst>
          </p:cNvPr>
          <p:cNvGrpSpPr/>
          <p:nvPr/>
        </p:nvGrpSpPr>
        <p:grpSpPr>
          <a:xfrm>
            <a:off x="6285965" y="1893761"/>
            <a:ext cx="2907278" cy="900246"/>
            <a:chOff x="6736970" y="896220"/>
            <a:chExt cx="2826195" cy="900246"/>
          </a:xfrm>
        </p:grpSpPr>
        <p:sp>
          <p:nvSpPr>
            <p:cNvPr id="121" name="Acute blood loss">
              <a:extLst>
                <a:ext uri="{FF2B5EF4-FFF2-40B4-BE49-F238E27FC236}">
                  <a16:creationId xmlns:a16="http://schemas.microsoft.com/office/drawing/2014/main" id="{24C35987-B1C8-48AB-9610-F906E89E2C83}"/>
                </a:ext>
              </a:extLst>
            </p:cNvPr>
            <p:cNvSpPr txBox="1"/>
            <p:nvPr/>
          </p:nvSpPr>
          <p:spPr>
            <a:xfrm>
              <a:off x="6977253" y="896220"/>
              <a:ext cx="2585912" cy="900246"/>
            </a:xfrm>
            <a:prstGeom prst="roundRect">
              <a:avLst>
                <a:gd name="adj" fmla="val 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117475" indent="-117475">
                <a:buFont typeface="Arial" panose="020B0604020202020204" pitchFamily="34" charset="0"/>
                <a:buChar char="•"/>
              </a:pPr>
              <a:endParaRPr lang="en-US" sz="1050" dirty="0"/>
            </a:p>
            <a:p>
              <a:pPr marL="117475" indent="-117475">
                <a:buFont typeface="Arial" panose="020B0604020202020204" pitchFamily="34" charset="0"/>
                <a:buChar char="•"/>
              </a:pPr>
              <a:endParaRPr lang="en-US" sz="1050" dirty="0"/>
            </a:p>
            <a:p>
              <a:pPr marL="117475" indent="-117475">
                <a:buFont typeface="Arial" panose="020B0604020202020204" pitchFamily="34" charset="0"/>
                <a:buChar char="•"/>
              </a:pPr>
              <a:endParaRPr lang="en-US" sz="1050" dirty="0"/>
            </a:p>
            <a:p>
              <a:pPr marL="117475" indent="-117475">
                <a:buFont typeface="Arial" panose="020B0604020202020204" pitchFamily="34" charset="0"/>
                <a:buChar char="•"/>
              </a:pPr>
              <a:endParaRPr lang="en-US" sz="1050" dirty="0"/>
            </a:p>
            <a:p>
              <a:pPr marL="117475" indent="-117475">
                <a:buFont typeface="Arial" panose="020B0604020202020204" pitchFamily="34" charset="0"/>
                <a:buChar char="•"/>
              </a:pPr>
              <a:endParaRPr lang="en-US" sz="1050" dirty="0"/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E00A198-D0DC-4E56-A1F7-178A1E7E27C0}"/>
                </a:ext>
              </a:extLst>
            </p:cNvPr>
            <p:cNvCxnSpPr>
              <a:cxnSpLocks/>
              <a:stCxn id="50" idx="3"/>
              <a:endCxn id="121" idx="1"/>
            </p:cNvCxnSpPr>
            <p:nvPr/>
          </p:nvCxnSpPr>
          <p:spPr>
            <a:xfrm flipV="1">
              <a:off x="6736970" y="1346343"/>
              <a:ext cx="240283" cy="1106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sp>
        <p:nvSpPr>
          <p:cNvPr id="366" name="Immune">
            <a:extLst>
              <a:ext uri="{FF2B5EF4-FFF2-40B4-BE49-F238E27FC236}">
                <a16:creationId xmlns:a16="http://schemas.microsoft.com/office/drawing/2014/main" id="{DEB73FDD-9D88-49A1-9EC8-2D06EA4BABC1}"/>
              </a:ext>
            </a:extLst>
          </p:cNvPr>
          <p:cNvSpPr/>
          <p:nvPr/>
        </p:nvSpPr>
        <p:spPr>
          <a:xfrm>
            <a:off x="7579794" y="3147066"/>
            <a:ext cx="9144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67" name="Nonimmune">
            <a:extLst>
              <a:ext uri="{FF2B5EF4-FFF2-40B4-BE49-F238E27FC236}">
                <a16:creationId xmlns:a16="http://schemas.microsoft.com/office/drawing/2014/main" id="{ACD726C1-A4E3-4E61-A3F7-FC7AE5B65A45}"/>
              </a:ext>
            </a:extLst>
          </p:cNvPr>
          <p:cNvSpPr/>
          <p:nvPr/>
        </p:nvSpPr>
        <p:spPr>
          <a:xfrm>
            <a:off x="7579795" y="5194084"/>
            <a:ext cx="9144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B54EA3B9-7119-4E08-B99A-D47D2444E104}"/>
              </a:ext>
            </a:extLst>
          </p:cNvPr>
          <p:cNvCxnSpPr>
            <a:cxnSpLocks/>
            <a:stCxn id="351" idx="3"/>
            <a:endCxn id="366" idx="1"/>
          </p:cNvCxnSpPr>
          <p:nvPr/>
        </p:nvCxnSpPr>
        <p:spPr>
          <a:xfrm flipV="1">
            <a:off x="6244413" y="3329946"/>
            <a:ext cx="1335381" cy="549760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83C392FB-420A-42EB-8B71-CA101D3F6001}"/>
              </a:ext>
            </a:extLst>
          </p:cNvPr>
          <p:cNvCxnSpPr>
            <a:cxnSpLocks/>
            <a:stCxn id="351" idx="3"/>
            <a:endCxn id="367" idx="1"/>
          </p:cNvCxnSpPr>
          <p:nvPr/>
        </p:nvCxnSpPr>
        <p:spPr>
          <a:xfrm>
            <a:off x="6244413" y="3879706"/>
            <a:ext cx="1335382" cy="1497258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2405ACF3-58F7-46CC-9902-44F64749F20F}"/>
              </a:ext>
            </a:extLst>
          </p:cNvPr>
          <p:cNvSpPr txBox="1"/>
          <p:nvPr/>
        </p:nvSpPr>
        <p:spPr>
          <a:xfrm>
            <a:off x="7116018" y="3186100"/>
            <a:ext cx="182880" cy="253916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050"/>
              <a:t>+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D0F47850-D2A5-45E3-A1FF-F68B5249D50D}"/>
              </a:ext>
            </a:extLst>
          </p:cNvPr>
          <p:cNvSpPr txBox="1"/>
          <p:nvPr/>
        </p:nvSpPr>
        <p:spPr>
          <a:xfrm>
            <a:off x="7148000" y="5259934"/>
            <a:ext cx="182880" cy="253916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050"/>
              <a:t>-</a:t>
            </a: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3F3510DB-200B-454C-9D95-D1776927171C}"/>
              </a:ext>
            </a:extLst>
          </p:cNvPr>
          <p:cNvSpPr txBox="1"/>
          <p:nvPr/>
        </p:nvSpPr>
        <p:spPr>
          <a:xfrm>
            <a:off x="6363052" y="3735858"/>
            <a:ext cx="438391" cy="253916"/>
          </a:xfrm>
          <a:prstGeom prst="rect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sz="1050" dirty="0"/>
          </a:p>
        </p:txBody>
      </p:sp>
      <p:sp>
        <p:nvSpPr>
          <p:cNvPr id="351" name="Hemolysis">
            <a:extLst>
              <a:ext uri="{FF2B5EF4-FFF2-40B4-BE49-F238E27FC236}">
                <a16:creationId xmlns:a16="http://schemas.microsoft.com/office/drawing/2014/main" id="{E74D16FC-09A4-477B-A635-245B1EB1DF22}"/>
              </a:ext>
            </a:extLst>
          </p:cNvPr>
          <p:cNvSpPr/>
          <p:nvPr/>
        </p:nvSpPr>
        <p:spPr>
          <a:xfrm>
            <a:off x="5055693" y="3696826"/>
            <a:ext cx="1188720" cy="3657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52" name="Micocytic">
            <a:extLst>
              <a:ext uri="{FF2B5EF4-FFF2-40B4-BE49-F238E27FC236}">
                <a16:creationId xmlns:a16="http://schemas.microsoft.com/office/drawing/2014/main" id="{9268336A-0BE0-44BB-9B73-C51D45331319}"/>
              </a:ext>
            </a:extLst>
          </p:cNvPr>
          <p:cNvSpPr/>
          <p:nvPr/>
        </p:nvSpPr>
        <p:spPr>
          <a:xfrm>
            <a:off x="5097246" y="6290469"/>
            <a:ext cx="1188720" cy="36576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354" name="Connector to macrocytic">
            <a:extLst>
              <a:ext uri="{FF2B5EF4-FFF2-40B4-BE49-F238E27FC236}">
                <a16:creationId xmlns:a16="http://schemas.microsoft.com/office/drawing/2014/main" id="{EC72D533-D66C-4AFD-850B-2A7CEA4837C4}"/>
              </a:ext>
            </a:extLst>
          </p:cNvPr>
          <p:cNvCxnSpPr>
            <a:cxnSpLocks/>
            <a:stCxn id="16" idx="3"/>
            <a:endCxn id="352" idx="1"/>
          </p:cNvCxnSpPr>
          <p:nvPr/>
        </p:nvCxnSpPr>
        <p:spPr>
          <a:xfrm>
            <a:off x="3287408" y="4309633"/>
            <a:ext cx="1809838" cy="2163716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7" name="Normocytic">
            <a:extLst>
              <a:ext uri="{FF2B5EF4-FFF2-40B4-BE49-F238E27FC236}">
                <a16:creationId xmlns:a16="http://schemas.microsoft.com/office/drawing/2014/main" id="{CAB25DAE-496D-44E8-A589-B155A5C275A6}"/>
              </a:ext>
            </a:extLst>
          </p:cNvPr>
          <p:cNvSpPr/>
          <p:nvPr/>
        </p:nvSpPr>
        <p:spPr>
          <a:xfrm>
            <a:off x="5097246" y="5740540"/>
            <a:ext cx="1188720" cy="36576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59" name="Connector to normocytic">
            <a:extLst>
              <a:ext uri="{FF2B5EF4-FFF2-40B4-BE49-F238E27FC236}">
                <a16:creationId xmlns:a16="http://schemas.microsoft.com/office/drawing/2014/main" id="{7400168A-F25C-481F-99AA-78A1183407C8}"/>
              </a:ext>
            </a:extLst>
          </p:cNvPr>
          <p:cNvCxnSpPr>
            <a:cxnSpLocks/>
            <a:endCxn id="357" idx="1"/>
          </p:cNvCxnSpPr>
          <p:nvPr/>
        </p:nvCxnSpPr>
        <p:spPr>
          <a:xfrm>
            <a:off x="4192327" y="5923420"/>
            <a:ext cx="904919" cy="0"/>
          </a:xfrm>
          <a:prstGeom prst="straightConnector1">
            <a:avLst/>
          </a:prstGeom>
          <a:solidFill>
            <a:schemeClr val="bg1"/>
          </a:solidFill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8C610130-1CA2-4E20-8905-24C7C983BE72}"/>
              </a:ext>
            </a:extLst>
          </p:cNvPr>
          <p:cNvCxnSpPr>
            <a:cxnSpLocks/>
            <a:stCxn id="16" idx="3"/>
            <a:endCxn id="351" idx="1"/>
          </p:cNvCxnSpPr>
          <p:nvPr/>
        </p:nvCxnSpPr>
        <p:spPr>
          <a:xfrm flipV="1">
            <a:off x="3287408" y="3879706"/>
            <a:ext cx="1768285" cy="429927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4" name="TextBox 363">
            <a:extLst>
              <a:ext uri="{FF2B5EF4-FFF2-40B4-BE49-F238E27FC236}">
                <a16:creationId xmlns:a16="http://schemas.microsoft.com/office/drawing/2014/main" id="{B8CD1D65-1FA0-40C7-8BF2-3BA9ABAC696F}"/>
              </a:ext>
            </a:extLst>
          </p:cNvPr>
          <p:cNvSpPr txBox="1"/>
          <p:nvPr/>
        </p:nvSpPr>
        <p:spPr>
          <a:xfrm>
            <a:off x="3743583" y="4082389"/>
            <a:ext cx="762377" cy="57708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sz="1050" dirty="0"/>
          </a:p>
          <a:p>
            <a:pPr algn="ctr"/>
            <a:endParaRPr lang="en-US" sz="1050" dirty="0"/>
          </a:p>
          <a:p>
            <a:pPr algn="ctr"/>
            <a:endParaRPr lang="en-US" sz="1050" dirty="0"/>
          </a:p>
        </p:txBody>
      </p:sp>
      <p:sp>
        <p:nvSpPr>
          <p:cNvPr id="384" name="Acute blood loss">
            <a:extLst>
              <a:ext uri="{FF2B5EF4-FFF2-40B4-BE49-F238E27FC236}">
                <a16:creationId xmlns:a16="http://schemas.microsoft.com/office/drawing/2014/main" id="{F6C89ABF-9AC7-45CA-92B0-CF25BB15F896}"/>
              </a:ext>
            </a:extLst>
          </p:cNvPr>
          <p:cNvSpPr txBox="1"/>
          <p:nvPr/>
        </p:nvSpPr>
        <p:spPr>
          <a:xfrm>
            <a:off x="9118131" y="2885743"/>
            <a:ext cx="2919642" cy="900246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17475" indent="-117475"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17475" indent="-117475"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17475" indent="-117475"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17475" indent="-117475"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17475" indent="-117475">
              <a:buFont typeface="Arial" panose="020B0604020202020204" pitchFamily="34" charset="0"/>
              <a:buChar char="•"/>
            </a:pPr>
            <a:endParaRPr lang="en-US" sz="1050" dirty="0"/>
          </a:p>
        </p:txBody>
      </p: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FD515B7A-3BB9-4BCA-BFAE-9BA2D8564263}"/>
              </a:ext>
            </a:extLst>
          </p:cNvPr>
          <p:cNvCxnSpPr>
            <a:cxnSpLocks/>
            <a:stCxn id="366" idx="3"/>
            <a:endCxn id="384" idx="1"/>
          </p:cNvCxnSpPr>
          <p:nvPr/>
        </p:nvCxnSpPr>
        <p:spPr>
          <a:xfrm>
            <a:off x="8494194" y="3329946"/>
            <a:ext cx="623937" cy="5920"/>
          </a:xfrm>
          <a:prstGeom prst="lin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88" name="Acute blood loss">
            <a:extLst>
              <a:ext uri="{FF2B5EF4-FFF2-40B4-BE49-F238E27FC236}">
                <a16:creationId xmlns:a16="http://schemas.microsoft.com/office/drawing/2014/main" id="{9D607719-ED8E-44CC-A229-DC3DA5200F0E}"/>
              </a:ext>
            </a:extLst>
          </p:cNvPr>
          <p:cNvSpPr txBox="1"/>
          <p:nvPr/>
        </p:nvSpPr>
        <p:spPr>
          <a:xfrm>
            <a:off x="10102305" y="5697115"/>
            <a:ext cx="1935468" cy="1061829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17475" indent="-117475"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17475" indent="-117475"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17475" indent="-117475"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17475" indent="-117475"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17475" indent="-117475"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17475" indent="-117475">
              <a:buFont typeface="Arial" panose="020B0604020202020204" pitchFamily="34" charset="0"/>
              <a:buChar char="•"/>
            </a:pPr>
            <a:endParaRPr lang="en-US" sz="1050" dirty="0"/>
          </a:p>
        </p:txBody>
      </p:sp>
      <p:cxnSp>
        <p:nvCxnSpPr>
          <p:cNvPr id="389" name="Straight Connector 388">
            <a:extLst>
              <a:ext uri="{FF2B5EF4-FFF2-40B4-BE49-F238E27FC236}">
                <a16:creationId xmlns:a16="http://schemas.microsoft.com/office/drawing/2014/main" id="{0F6BBEB8-5C22-4E62-B506-CC74876FD475}"/>
              </a:ext>
            </a:extLst>
          </p:cNvPr>
          <p:cNvCxnSpPr>
            <a:cxnSpLocks/>
            <a:stCxn id="417" idx="3"/>
          </p:cNvCxnSpPr>
          <p:nvPr/>
        </p:nvCxnSpPr>
        <p:spPr>
          <a:xfrm flipV="1">
            <a:off x="9852589" y="6104309"/>
            <a:ext cx="249716" cy="1"/>
          </a:xfrm>
          <a:prstGeom prst="lin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03" name="Connector: Elbow 402">
            <a:extLst>
              <a:ext uri="{FF2B5EF4-FFF2-40B4-BE49-F238E27FC236}">
                <a16:creationId xmlns:a16="http://schemas.microsoft.com/office/drawing/2014/main" id="{87B6A41A-21D5-40FF-86D4-38FAE5867DE5}"/>
              </a:ext>
            </a:extLst>
          </p:cNvPr>
          <p:cNvCxnSpPr>
            <a:cxnSpLocks/>
            <a:stCxn id="367" idx="3"/>
            <a:endCxn id="404" idx="1"/>
          </p:cNvCxnSpPr>
          <p:nvPr/>
        </p:nvCxnSpPr>
        <p:spPr>
          <a:xfrm flipV="1">
            <a:off x="8494195" y="4266237"/>
            <a:ext cx="442084" cy="11107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04" name="Extrinsic">
            <a:extLst>
              <a:ext uri="{FF2B5EF4-FFF2-40B4-BE49-F238E27FC236}">
                <a16:creationId xmlns:a16="http://schemas.microsoft.com/office/drawing/2014/main" id="{136F2EA6-98A2-40C5-A14C-AF94CAC71D3D}"/>
              </a:ext>
            </a:extLst>
          </p:cNvPr>
          <p:cNvSpPr/>
          <p:nvPr/>
        </p:nvSpPr>
        <p:spPr>
          <a:xfrm>
            <a:off x="8936279" y="4128113"/>
            <a:ext cx="878282" cy="27624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17" name="Intrinsic">
            <a:extLst>
              <a:ext uri="{FF2B5EF4-FFF2-40B4-BE49-F238E27FC236}">
                <a16:creationId xmlns:a16="http://schemas.microsoft.com/office/drawing/2014/main" id="{4A25E644-8C46-481A-BFC7-33BBC0154C0F}"/>
              </a:ext>
            </a:extLst>
          </p:cNvPr>
          <p:cNvSpPr/>
          <p:nvPr/>
        </p:nvSpPr>
        <p:spPr>
          <a:xfrm>
            <a:off x="8936277" y="5966186"/>
            <a:ext cx="916312" cy="2762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419" name="Connector: Elbow 418">
            <a:extLst>
              <a:ext uri="{FF2B5EF4-FFF2-40B4-BE49-F238E27FC236}">
                <a16:creationId xmlns:a16="http://schemas.microsoft.com/office/drawing/2014/main" id="{F86FED38-AE68-42D8-9605-73232F34759E}"/>
              </a:ext>
            </a:extLst>
          </p:cNvPr>
          <p:cNvCxnSpPr>
            <a:cxnSpLocks/>
            <a:stCxn id="367" idx="3"/>
            <a:endCxn id="417" idx="1"/>
          </p:cNvCxnSpPr>
          <p:nvPr/>
        </p:nvCxnSpPr>
        <p:spPr>
          <a:xfrm>
            <a:off x="8494195" y="5376964"/>
            <a:ext cx="442082" cy="7273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42" name="Straight Connector 441">
            <a:extLst>
              <a:ext uri="{FF2B5EF4-FFF2-40B4-BE49-F238E27FC236}">
                <a16:creationId xmlns:a16="http://schemas.microsoft.com/office/drawing/2014/main" id="{9D5786D6-0C10-4FFE-A8A8-995CE75CEE4D}"/>
              </a:ext>
            </a:extLst>
          </p:cNvPr>
          <p:cNvCxnSpPr>
            <a:cxnSpLocks/>
            <a:stCxn id="447" idx="3"/>
          </p:cNvCxnSpPr>
          <p:nvPr/>
        </p:nvCxnSpPr>
        <p:spPr>
          <a:xfrm>
            <a:off x="10734306" y="4149709"/>
            <a:ext cx="336991" cy="0"/>
          </a:xfrm>
          <a:prstGeom prst="lin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46" name="Brace TMA">
            <a:extLst>
              <a:ext uri="{FF2B5EF4-FFF2-40B4-BE49-F238E27FC236}">
                <a16:creationId xmlns:a16="http://schemas.microsoft.com/office/drawing/2014/main" id="{15367BE2-F1A5-48FB-A9D9-9BEB1898E942}"/>
              </a:ext>
            </a:extLst>
          </p:cNvPr>
          <p:cNvSpPr/>
          <p:nvPr/>
        </p:nvSpPr>
        <p:spPr>
          <a:xfrm>
            <a:off x="9814561" y="4116779"/>
            <a:ext cx="353059" cy="928261"/>
          </a:xfrm>
          <a:prstGeom prst="leftBrace">
            <a:avLst>
              <a:gd name="adj1" fmla="val 0"/>
              <a:gd name="adj2" fmla="val 16931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7" name="Fragmentation">
            <a:extLst>
              <a:ext uri="{FF2B5EF4-FFF2-40B4-BE49-F238E27FC236}">
                <a16:creationId xmlns:a16="http://schemas.microsoft.com/office/drawing/2014/main" id="{4457FBE8-CEBE-4D6A-AAEA-842454407996}"/>
              </a:ext>
            </a:extLst>
          </p:cNvPr>
          <p:cNvSpPr/>
          <p:nvPr/>
        </p:nvSpPr>
        <p:spPr>
          <a:xfrm>
            <a:off x="10102305" y="4011585"/>
            <a:ext cx="632001" cy="27624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448" name="Other">
            <a:extLst>
              <a:ext uri="{FF2B5EF4-FFF2-40B4-BE49-F238E27FC236}">
                <a16:creationId xmlns:a16="http://schemas.microsoft.com/office/drawing/2014/main" id="{4577655E-FE8A-4E31-A63E-F096CBAB73C4}"/>
              </a:ext>
            </a:extLst>
          </p:cNvPr>
          <p:cNvSpPr/>
          <p:nvPr/>
        </p:nvSpPr>
        <p:spPr>
          <a:xfrm>
            <a:off x="10102305" y="4906916"/>
            <a:ext cx="632001" cy="27624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455" name="Acute blood loss">
            <a:extLst>
              <a:ext uri="{FF2B5EF4-FFF2-40B4-BE49-F238E27FC236}">
                <a16:creationId xmlns:a16="http://schemas.microsoft.com/office/drawing/2014/main" id="{B45C83CB-F40B-4D7E-A47F-55C41EECD805}"/>
              </a:ext>
            </a:extLst>
          </p:cNvPr>
          <p:cNvSpPr txBox="1"/>
          <p:nvPr/>
        </p:nvSpPr>
        <p:spPr>
          <a:xfrm>
            <a:off x="10905504" y="4824531"/>
            <a:ext cx="1132270" cy="738664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050"/>
              <a:t>Meds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050"/>
              <a:t>Infections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050"/>
              <a:t>Liver disease/ hypersplenism</a:t>
            </a: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EF212A6B-80A1-44BF-A273-D8416949A38E}"/>
              </a:ext>
            </a:extLst>
          </p:cNvPr>
          <p:cNvCxnSpPr>
            <a:cxnSpLocks/>
          </p:cNvCxnSpPr>
          <p:nvPr/>
        </p:nvCxnSpPr>
        <p:spPr>
          <a:xfrm>
            <a:off x="10734306" y="5045040"/>
            <a:ext cx="168644" cy="3210"/>
          </a:xfrm>
          <a:prstGeom prst="lin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84" name="Acute blood loss">
            <a:extLst>
              <a:ext uri="{FF2B5EF4-FFF2-40B4-BE49-F238E27FC236}">
                <a16:creationId xmlns:a16="http://schemas.microsoft.com/office/drawing/2014/main" id="{F69F501E-6491-465C-A37F-F5250705D3B6}"/>
              </a:ext>
            </a:extLst>
          </p:cNvPr>
          <p:cNvSpPr txBox="1"/>
          <p:nvPr/>
        </p:nvSpPr>
        <p:spPr>
          <a:xfrm>
            <a:off x="10902801" y="3937044"/>
            <a:ext cx="1134973" cy="738664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17475" indent="-117475"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accent2"/>
              </a:solidFill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accent2"/>
              </a:solidFill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accent2"/>
              </a:solidFill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accent2"/>
              </a:solidFill>
            </a:endParaRPr>
          </a:p>
        </p:txBody>
      </p:sp>
      <p:sp>
        <p:nvSpPr>
          <p:cNvPr id="486" name="Other info orange">
            <a:extLst>
              <a:ext uri="{FF2B5EF4-FFF2-40B4-BE49-F238E27FC236}">
                <a16:creationId xmlns:a16="http://schemas.microsoft.com/office/drawing/2014/main" id="{79E61A18-40B7-46AC-AD47-1FE317798FEF}"/>
              </a:ext>
            </a:extLst>
          </p:cNvPr>
          <p:cNvSpPr txBox="1"/>
          <p:nvPr/>
        </p:nvSpPr>
        <p:spPr>
          <a:xfrm>
            <a:off x="10906055" y="4824531"/>
            <a:ext cx="1132270" cy="738664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17475" indent="-117475"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17475" indent="-117475"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17475" indent="-117475"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17475" indent="-117475">
              <a:buFont typeface="Arial" panose="020B0604020202020204" pitchFamily="34" charset="0"/>
              <a:buChar char="•"/>
            </a:pPr>
            <a:endParaRPr lang="en-US" sz="1050" dirty="0"/>
          </a:p>
        </p:txBody>
      </p:sp>
      <p:sp>
        <p:nvSpPr>
          <p:cNvPr id="2" name="Underproduction">
            <a:extLst>
              <a:ext uri="{FF2B5EF4-FFF2-40B4-BE49-F238E27FC236}">
                <a16:creationId xmlns:a16="http://schemas.microsoft.com/office/drawing/2014/main" id="{8F17215E-BBE6-1823-73B5-CBAC41318976}"/>
              </a:ext>
            </a:extLst>
          </p:cNvPr>
          <p:cNvSpPr/>
          <p:nvPr/>
        </p:nvSpPr>
        <p:spPr>
          <a:xfrm>
            <a:off x="1641488" y="2503764"/>
            <a:ext cx="1645920" cy="363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8817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Macrocytic">
            <a:extLst>
              <a:ext uri="{FF2B5EF4-FFF2-40B4-BE49-F238E27FC236}">
                <a16:creationId xmlns:a16="http://schemas.microsoft.com/office/drawing/2014/main" id="{03DC98C3-AC6A-4BEB-B170-6F8DEA421987}"/>
              </a:ext>
            </a:extLst>
          </p:cNvPr>
          <p:cNvSpPr/>
          <p:nvPr/>
        </p:nvSpPr>
        <p:spPr>
          <a:xfrm>
            <a:off x="5097246" y="121336"/>
            <a:ext cx="1188720" cy="3657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Macrocytic</a:t>
            </a:r>
          </a:p>
        </p:txBody>
      </p:sp>
      <p:sp>
        <p:nvSpPr>
          <p:cNvPr id="50" name="Micocytic">
            <a:extLst>
              <a:ext uri="{FF2B5EF4-FFF2-40B4-BE49-F238E27FC236}">
                <a16:creationId xmlns:a16="http://schemas.microsoft.com/office/drawing/2014/main" id="{872A45C9-5FFB-43E7-A21B-01791A270247}"/>
              </a:ext>
            </a:extLst>
          </p:cNvPr>
          <p:cNvSpPr/>
          <p:nvPr/>
        </p:nvSpPr>
        <p:spPr>
          <a:xfrm>
            <a:off x="5097245" y="2162110"/>
            <a:ext cx="118872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Microcytic</a:t>
            </a:r>
          </a:p>
        </p:txBody>
      </p:sp>
      <p:cxnSp>
        <p:nvCxnSpPr>
          <p:cNvPr id="37" name="Connector to macrocytic">
            <a:extLst>
              <a:ext uri="{FF2B5EF4-FFF2-40B4-BE49-F238E27FC236}">
                <a16:creationId xmlns:a16="http://schemas.microsoft.com/office/drawing/2014/main" id="{836E5B7A-F66E-4B24-A6F9-356969A96290}"/>
              </a:ext>
            </a:extLst>
          </p:cNvPr>
          <p:cNvCxnSpPr>
            <a:cxnSpLocks/>
          </p:cNvCxnSpPr>
          <p:nvPr/>
        </p:nvCxnSpPr>
        <p:spPr>
          <a:xfrm flipV="1">
            <a:off x="3229222" y="288013"/>
            <a:ext cx="1868025" cy="273180"/>
          </a:xfrm>
          <a:prstGeom prst="bentConnector3">
            <a:avLst>
              <a:gd name="adj1" fmla="val 45874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5187F743-8E0F-4FEE-895A-14DC6091DF30}"/>
              </a:ext>
            </a:extLst>
          </p:cNvPr>
          <p:cNvSpPr txBox="1"/>
          <p:nvPr/>
        </p:nvSpPr>
        <p:spPr>
          <a:xfrm>
            <a:off x="4257474" y="184895"/>
            <a:ext cx="457200" cy="246221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&gt;100</a:t>
            </a:r>
          </a:p>
        </p:txBody>
      </p:sp>
      <p:sp>
        <p:nvSpPr>
          <p:cNvPr id="80" name="Normocytic">
            <a:extLst>
              <a:ext uri="{FF2B5EF4-FFF2-40B4-BE49-F238E27FC236}">
                <a16:creationId xmlns:a16="http://schemas.microsoft.com/office/drawing/2014/main" id="{5D88B871-6154-4D25-BF43-0A5D76EC489D}"/>
              </a:ext>
            </a:extLst>
          </p:cNvPr>
          <p:cNvSpPr/>
          <p:nvPr/>
        </p:nvSpPr>
        <p:spPr>
          <a:xfrm>
            <a:off x="5097246" y="1190882"/>
            <a:ext cx="1188720" cy="3657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Normocytic</a:t>
            </a:r>
          </a:p>
        </p:txBody>
      </p:sp>
      <p:cxnSp>
        <p:nvCxnSpPr>
          <p:cNvPr id="110" name="Connector to normocytic">
            <a:extLst>
              <a:ext uri="{FF2B5EF4-FFF2-40B4-BE49-F238E27FC236}">
                <a16:creationId xmlns:a16="http://schemas.microsoft.com/office/drawing/2014/main" id="{C0969422-5D11-4243-9F23-6D46F9BBF741}"/>
              </a:ext>
            </a:extLst>
          </p:cNvPr>
          <p:cNvCxnSpPr>
            <a:cxnSpLocks/>
          </p:cNvCxnSpPr>
          <p:nvPr/>
        </p:nvCxnSpPr>
        <p:spPr>
          <a:xfrm>
            <a:off x="4094283" y="1357557"/>
            <a:ext cx="961410" cy="42"/>
          </a:xfrm>
          <a:prstGeom prst="straightConnector1">
            <a:avLst/>
          </a:prstGeom>
          <a:solidFill>
            <a:schemeClr val="bg1"/>
          </a:solidFill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1B5415AE-918B-4E0B-A1E1-87BADEB14599}"/>
              </a:ext>
            </a:extLst>
          </p:cNvPr>
          <p:cNvSpPr txBox="1"/>
          <p:nvPr/>
        </p:nvSpPr>
        <p:spPr>
          <a:xfrm>
            <a:off x="4199820" y="1230599"/>
            <a:ext cx="588946" cy="25391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80-100</a:t>
            </a:r>
          </a:p>
        </p:txBody>
      </p:sp>
      <p:cxnSp>
        <p:nvCxnSpPr>
          <p:cNvPr id="47" name="Connector to microcytic">
            <a:extLst>
              <a:ext uri="{FF2B5EF4-FFF2-40B4-BE49-F238E27FC236}">
                <a16:creationId xmlns:a16="http://schemas.microsoft.com/office/drawing/2014/main" id="{099F750D-AAB6-4D17-B03A-35AF3A5A3DAA}"/>
              </a:ext>
            </a:extLst>
          </p:cNvPr>
          <p:cNvCxnSpPr>
            <a:cxnSpLocks/>
            <a:stCxn id="14" idx="3"/>
            <a:endCxn id="50" idx="1"/>
          </p:cNvCxnSpPr>
          <p:nvPr/>
        </p:nvCxnSpPr>
        <p:spPr>
          <a:xfrm>
            <a:off x="3287408" y="561193"/>
            <a:ext cx="1809837" cy="1783797"/>
          </a:xfrm>
          <a:prstGeom prst="bentConnector3">
            <a:avLst>
              <a:gd name="adj1" fmla="val 44316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22D64BCE-1644-4D55-A491-2DBC1F7FD5B1}"/>
              </a:ext>
            </a:extLst>
          </p:cNvPr>
          <p:cNvSpPr txBox="1"/>
          <p:nvPr/>
        </p:nvSpPr>
        <p:spPr>
          <a:xfrm>
            <a:off x="4257473" y="2203298"/>
            <a:ext cx="457200" cy="253916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&lt;80</a:t>
            </a:r>
          </a:p>
        </p:txBody>
      </p:sp>
      <p:sp>
        <p:nvSpPr>
          <p:cNvPr id="72" name="MCV">
            <a:extLst>
              <a:ext uri="{FF2B5EF4-FFF2-40B4-BE49-F238E27FC236}">
                <a16:creationId xmlns:a16="http://schemas.microsoft.com/office/drawing/2014/main" id="{1384608F-84AD-4C7C-B051-D470AB8E2042}"/>
              </a:ext>
            </a:extLst>
          </p:cNvPr>
          <p:cNvSpPr/>
          <p:nvPr/>
        </p:nvSpPr>
        <p:spPr>
          <a:xfrm>
            <a:off x="3472006" y="461895"/>
            <a:ext cx="459914" cy="23788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MCV</a:t>
            </a:r>
          </a:p>
        </p:txBody>
      </p:sp>
      <p:sp>
        <p:nvSpPr>
          <p:cNvPr id="5" name="RI">
            <a:extLst>
              <a:ext uri="{FF2B5EF4-FFF2-40B4-BE49-F238E27FC236}">
                <a16:creationId xmlns:a16="http://schemas.microsoft.com/office/drawing/2014/main" id="{4B9C6A50-F889-474F-BAC9-CA0A4B0D7109}"/>
              </a:ext>
            </a:extLst>
          </p:cNvPr>
          <p:cNvSpPr txBox="1"/>
          <p:nvPr/>
        </p:nvSpPr>
        <p:spPr>
          <a:xfrm rot="5400000">
            <a:off x="341891" y="2202000"/>
            <a:ext cx="528280" cy="958063"/>
          </a:xfrm>
          <a:prstGeom prst="roundRect">
            <a:avLst>
              <a:gd name="adj" fmla="val 1749"/>
            </a:avLst>
          </a:prstGeom>
          <a:ln/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wrap="square" lIns="45720" tIns="18288" rIns="45720" bIns="18288" rtlCol="0" anchor="ctr">
            <a:spAutoFit/>
          </a:bodyPr>
          <a:lstStyle/>
          <a:p>
            <a:pPr lvl="0" algn="ctr"/>
            <a:r>
              <a:rPr lang="en-US" sz="1400"/>
              <a:t>Reticulocyte Index (RI)</a:t>
            </a:r>
            <a:endParaRPr lang="en-US" sz="1100"/>
          </a:p>
        </p:txBody>
      </p:sp>
      <p:sp>
        <p:nvSpPr>
          <p:cNvPr id="14" name="Underproduction">
            <a:extLst>
              <a:ext uri="{FF2B5EF4-FFF2-40B4-BE49-F238E27FC236}">
                <a16:creationId xmlns:a16="http://schemas.microsoft.com/office/drawing/2014/main" id="{1D8536FF-E5A5-4BEB-97B6-7AD44433C302}"/>
              </a:ext>
            </a:extLst>
          </p:cNvPr>
          <p:cNvSpPr/>
          <p:nvPr/>
        </p:nvSpPr>
        <p:spPr>
          <a:xfrm>
            <a:off x="1641488" y="379673"/>
            <a:ext cx="1645920" cy="363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Underproduction</a:t>
            </a:r>
          </a:p>
        </p:txBody>
      </p:sp>
      <p:sp>
        <p:nvSpPr>
          <p:cNvPr id="16" name="Increased production">
            <a:extLst>
              <a:ext uri="{FF2B5EF4-FFF2-40B4-BE49-F238E27FC236}">
                <a16:creationId xmlns:a16="http://schemas.microsoft.com/office/drawing/2014/main" id="{52C341EC-6FC6-4D00-9F3A-9D58A6EBAF2E}"/>
              </a:ext>
            </a:extLst>
          </p:cNvPr>
          <p:cNvSpPr/>
          <p:nvPr/>
        </p:nvSpPr>
        <p:spPr>
          <a:xfrm>
            <a:off x="1641488" y="4128113"/>
            <a:ext cx="1645920" cy="363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Overproduction</a:t>
            </a:r>
          </a:p>
        </p:txBody>
      </p:sp>
      <p:grpSp>
        <p:nvGrpSpPr>
          <p:cNvPr id="33" name="Connector to underproduction">
            <a:extLst>
              <a:ext uri="{FF2B5EF4-FFF2-40B4-BE49-F238E27FC236}">
                <a16:creationId xmlns:a16="http://schemas.microsoft.com/office/drawing/2014/main" id="{1086A824-2F45-49B9-9C1A-56720FB9BDE5}"/>
              </a:ext>
            </a:extLst>
          </p:cNvPr>
          <p:cNvGrpSpPr/>
          <p:nvPr/>
        </p:nvGrpSpPr>
        <p:grpSpPr>
          <a:xfrm>
            <a:off x="1085064" y="561193"/>
            <a:ext cx="556425" cy="2119839"/>
            <a:chOff x="1420893" y="1409935"/>
            <a:chExt cx="622096" cy="2606014"/>
          </a:xfrm>
        </p:grpSpPr>
        <p:cxnSp>
          <p:nvCxnSpPr>
            <p:cNvPr id="9" name="Connector to Underproduction">
              <a:extLst>
                <a:ext uri="{FF2B5EF4-FFF2-40B4-BE49-F238E27FC236}">
                  <a16:creationId xmlns:a16="http://schemas.microsoft.com/office/drawing/2014/main" id="{5CB2C196-E0EF-4620-B0B9-5734515C6A69}"/>
                </a:ext>
              </a:extLst>
            </p:cNvPr>
            <p:cNvCxnSpPr>
              <a:cxnSpLocks/>
              <a:stCxn id="5" idx="0"/>
              <a:endCxn id="14" idx="1"/>
            </p:cNvCxnSpPr>
            <p:nvPr/>
          </p:nvCxnSpPr>
          <p:spPr>
            <a:xfrm flipV="1">
              <a:off x="1420893" y="1409935"/>
              <a:ext cx="622096" cy="2606014"/>
            </a:xfrm>
            <a:prstGeom prst="bentConnector3">
              <a:avLst>
                <a:gd name="adj1" fmla="val 50000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8040A1E-C850-41DF-B669-F3AC53C1A4FF}"/>
                </a:ext>
              </a:extLst>
            </p:cNvPr>
            <p:cNvSpPr txBox="1"/>
            <p:nvPr/>
          </p:nvSpPr>
          <p:spPr>
            <a:xfrm>
              <a:off x="1529511" y="2285053"/>
              <a:ext cx="423756" cy="302691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&lt;2</a:t>
              </a:r>
            </a:p>
          </p:txBody>
        </p:sp>
      </p:grpSp>
      <p:grpSp>
        <p:nvGrpSpPr>
          <p:cNvPr id="34" name="Connector to Inc. production">
            <a:extLst>
              <a:ext uri="{FF2B5EF4-FFF2-40B4-BE49-F238E27FC236}">
                <a16:creationId xmlns:a16="http://schemas.microsoft.com/office/drawing/2014/main" id="{A0DDB2D9-048C-41FA-8B64-23DA63A15D7A}"/>
              </a:ext>
            </a:extLst>
          </p:cNvPr>
          <p:cNvGrpSpPr/>
          <p:nvPr/>
        </p:nvGrpSpPr>
        <p:grpSpPr>
          <a:xfrm>
            <a:off x="1085063" y="2681032"/>
            <a:ext cx="556425" cy="1628601"/>
            <a:chOff x="1420894" y="4015951"/>
            <a:chExt cx="622097" cy="2002113"/>
          </a:xfrm>
        </p:grpSpPr>
        <p:cxnSp>
          <p:nvCxnSpPr>
            <p:cNvPr id="17" name="Connector to increased productoin">
              <a:extLst>
                <a:ext uri="{FF2B5EF4-FFF2-40B4-BE49-F238E27FC236}">
                  <a16:creationId xmlns:a16="http://schemas.microsoft.com/office/drawing/2014/main" id="{E2401DCD-716C-4952-9356-27A32BDAEB98}"/>
                </a:ext>
              </a:extLst>
            </p:cNvPr>
            <p:cNvCxnSpPr>
              <a:cxnSpLocks/>
              <a:stCxn id="5" idx="0"/>
              <a:endCxn id="16" idx="1"/>
            </p:cNvCxnSpPr>
            <p:nvPr/>
          </p:nvCxnSpPr>
          <p:spPr>
            <a:xfrm>
              <a:off x="1420894" y="4015951"/>
              <a:ext cx="622097" cy="2002113"/>
            </a:xfrm>
            <a:prstGeom prst="bentConnector3">
              <a:avLst>
                <a:gd name="adj1" fmla="val 50000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D91EB14-6264-436E-963D-D72A18B83894}"/>
                </a:ext>
              </a:extLst>
            </p:cNvPr>
            <p:cNvSpPr txBox="1"/>
            <p:nvPr/>
          </p:nvSpPr>
          <p:spPr>
            <a:xfrm>
              <a:off x="1529515" y="4836246"/>
              <a:ext cx="423756" cy="302691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≥3</a:t>
              </a:r>
            </a:p>
          </p:txBody>
        </p:sp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3EF734C-D72F-46DD-BE89-72651F688E92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1371726" y="2685284"/>
            <a:ext cx="26976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C61E36F-6E55-46C0-934D-45C1218CC6D3}"/>
              </a:ext>
            </a:extLst>
          </p:cNvPr>
          <p:cNvGrpSpPr/>
          <p:nvPr/>
        </p:nvGrpSpPr>
        <p:grpSpPr>
          <a:xfrm>
            <a:off x="6285966" y="106352"/>
            <a:ext cx="2881915" cy="738664"/>
            <a:chOff x="6660715" y="86858"/>
            <a:chExt cx="2790325" cy="738664"/>
          </a:xfrm>
        </p:grpSpPr>
        <p:sp>
          <p:nvSpPr>
            <p:cNvPr id="140" name="Liver disease/ETOH">
              <a:extLst>
                <a:ext uri="{FF2B5EF4-FFF2-40B4-BE49-F238E27FC236}">
                  <a16:creationId xmlns:a16="http://schemas.microsoft.com/office/drawing/2014/main" id="{990D240A-253E-4D6F-A4C3-225E546B7D84}"/>
                </a:ext>
              </a:extLst>
            </p:cNvPr>
            <p:cNvSpPr txBox="1"/>
            <p:nvPr/>
          </p:nvSpPr>
          <p:spPr>
            <a:xfrm>
              <a:off x="6900036" y="86858"/>
              <a:ext cx="2551004" cy="738664"/>
            </a:xfrm>
            <a:prstGeom prst="roundRect">
              <a:avLst>
                <a:gd name="adj" fmla="val 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t">
              <a:spAutoFit/>
            </a:bodyPr>
            <a:lstStyle/>
            <a:p>
              <a:pPr marL="117475" indent="-117475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Liver disease/ ETOH</a:t>
              </a:r>
            </a:p>
            <a:p>
              <a:pPr marL="117475" indent="-117475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Severe hypothyroidism</a:t>
              </a:r>
            </a:p>
            <a:p>
              <a:pPr marL="117475" indent="-117475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Megaloblastic anemia (B12/ folate, drugs)</a:t>
              </a:r>
            </a:p>
            <a:p>
              <a:pPr marL="117475" indent="-117475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Primary bone marrow pathologies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4DEA823-2265-43C3-96F7-D2721F3074B7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>
              <a:off x="6660715" y="284722"/>
              <a:ext cx="239321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DA99D6A-1685-4A7E-ACC4-3DDB6AFCB902}"/>
              </a:ext>
            </a:extLst>
          </p:cNvPr>
          <p:cNvGrpSpPr/>
          <p:nvPr/>
        </p:nvGrpSpPr>
        <p:grpSpPr>
          <a:xfrm>
            <a:off x="6285966" y="1007576"/>
            <a:ext cx="2910928" cy="738664"/>
            <a:chOff x="6750894" y="988082"/>
            <a:chExt cx="2829295" cy="738664"/>
          </a:xfrm>
        </p:grpSpPr>
        <p:sp>
          <p:nvSpPr>
            <p:cNvPr id="135" name="Acute blood loss">
              <a:extLst>
                <a:ext uri="{FF2B5EF4-FFF2-40B4-BE49-F238E27FC236}">
                  <a16:creationId xmlns:a16="http://schemas.microsoft.com/office/drawing/2014/main" id="{6A1FA175-B826-4462-815F-CA12A766A8FA}"/>
                </a:ext>
              </a:extLst>
            </p:cNvPr>
            <p:cNvSpPr txBox="1"/>
            <p:nvPr/>
          </p:nvSpPr>
          <p:spPr>
            <a:xfrm>
              <a:off x="6994687" y="988082"/>
              <a:ext cx="2585502" cy="738664"/>
            </a:xfrm>
            <a:prstGeom prst="roundRect">
              <a:avLst>
                <a:gd name="adj" fmla="val 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117475" indent="-117475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Primary bone marrow pathologies</a:t>
              </a:r>
            </a:p>
            <a:p>
              <a:pPr marL="117475" indent="-117475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Acute blood loss</a:t>
              </a:r>
            </a:p>
            <a:p>
              <a:pPr marL="117475" indent="-117475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Anemia of CKD</a:t>
              </a:r>
            </a:p>
            <a:p>
              <a:pPr marL="117475" indent="-117475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Anemia of chronic inflammation</a:t>
              </a:r>
            </a:p>
          </p:txBody>
        </p: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DED1F648-7BD0-416D-89E2-FD4CE2A1ADE4}"/>
                </a:ext>
              </a:extLst>
            </p:cNvPr>
            <p:cNvCxnSpPr>
              <a:cxnSpLocks/>
              <a:stCxn id="80" idx="3"/>
              <a:endCxn id="135" idx="1"/>
            </p:cNvCxnSpPr>
            <p:nvPr/>
          </p:nvCxnSpPr>
          <p:spPr>
            <a:xfrm>
              <a:off x="6750894" y="1354268"/>
              <a:ext cx="243793" cy="3146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118" name="Microcytic anemia info">
            <a:extLst>
              <a:ext uri="{FF2B5EF4-FFF2-40B4-BE49-F238E27FC236}">
                <a16:creationId xmlns:a16="http://schemas.microsoft.com/office/drawing/2014/main" id="{A37B8F01-2B02-4152-A153-49E8D07D3E03}"/>
              </a:ext>
            </a:extLst>
          </p:cNvPr>
          <p:cNvGrpSpPr/>
          <p:nvPr/>
        </p:nvGrpSpPr>
        <p:grpSpPr>
          <a:xfrm>
            <a:off x="6285965" y="1893761"/>
            <a:ext cx="2907278" cy="900246"/>
            <a:chOff x="6736970" y="896220"/>
            <a:chExt cx="2826195" cy="900246"/>
          </a:xfrm>
        </p:grpSpPr>
        <p:sp>
          <p:nvSpPr>
            <p:cNvPr id="121" name="Acute blood loss">
              <a:extLst>
                <a:ext uri="{FF2B5EF4-FFF2-40B4-BE49-F238E27FC236}">
                  <a16:creationId xmlns:a16="http://schemas.microsoft.com/office/drawing/2014/main" id="{24C35987-B1C8-48AB-9610-F906E89E2C83}"/>
                </a:ext>
              </a:extLst>
            </p:cNvPr>
            <p:cNvSpPr txBox="1"/>
            <p:nvPr/>
          </p:nvSpPr>
          <p:spPr>
            <a:xfrm>
              <a:off x="6977253" y="896220"/>
              <a:ext cx="2585912" cy="900246"/>
            </a:xfrm>
            <a:prstGeom prst="roundRect">
              <a:avLst>
                <a:gd name="adj" fmla="val 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117475" indent="-117475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Anemia of chronic inflammation</a:t>
              </a:r>
            </a:p>
            <a:p>
              <a:pPr marL="117475" indent="-117475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Iron deficiency anemia</a:t>
              </a:r>
            </a:p>
            <a:p>
              <a:pPr marL="117475" indent="-117475">
                <a:buFont typeface="Arial" panose="020B0604020202020204" pitchFamily="34" charset="0"/>
                <a:buChar char="•"/>
              </a:pPr>
              <a:r>
                <a:rPr lang="en-US" sz="1050" dirty="0" err="1">
                  <a:solidFill>
                    <a:schemeClr val="tx1"/>
                  </a:solidFill>
                </a:rPr>
                <a:t>Thalassemias</a:t>
              </a:r>
              <a:r>
                <a:rPr lang="en-US" sz="1050" dirty="0">
                  <a:solidFill>
                    <a:schemeClr val="tx1"/>
                  </a:solidFill>
                </a:rPr>
                <a:t> </a:t>
              </a:r>
            </a:p>
            <a:p>
              <a:pPr marL="117475" indent="-117475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Sideroblastic anemias</a:t>
              </a:r>
            </a:p>
            <a:p>
              <a:pPr marL="117475" indent="-117475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Lead poisoning</a:t>
              </a:r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E00A198-D0DC-4E56-A1F7-178A1E7E27C0}"/>
                </a:ext>
              </a:extLst>
            </p:cNvPr>
            <p:cNvCxnSpPr>
              <a:cxnSpLocks/>
              <a:stCxn id="50" idx="3"/>
              <a:endCxn id="121" idx="1"/>
            </p:cNvCxnSpPr>
            <p:nvPr/>
          </p:nvCxnSpPr>
          <p:spPr>
            <a:xfrm flipV="1">
              <a:off x="6736970" y="1346343"/>
              <a:ext cx="240283" cy="1106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sp>
        <p:nvSpPr>
          <p:cNvPr id="366" name="Immune">
            <a:extLst>
              <a:ext uri="{FF2B5EF4-FFF2-40B4-BE49-F238E27FC236}">
                <a16:creationId xmlns:a16="http://schemas.microsoft.com/office/drawing/2014/main" id="{DEB73FDD-9D88-49A1-9EC8-2D06EA4BABC1}"/>
              </a:ext>
            </a:extLst>
          </p:cNvPr>
          <p:cNvSpPr/>
          <p:nvPr/>
        </p:nvSpPr>
        <p:spPr>
          <a:xfrm>
            <a:off x="7579794" y="3147066"/>
            <a:ext cx="9144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Immune</a:t>
            </a:r>
          </a:p>
        </p:txBody>
      </p:sp>
      <p:sp>
        <p:nvSpPr>
          <p:cNvPr id="367" name="Nonimmune">
            <a:extLst>
              <a:ext uri="{FF2B5EF4-FFF2-40B4-BE49-F238E27FC236}">
                <a16:creationId xmlns:a16="http://schemas.microsoft.com/office/drawing/2014/main" id="{ACD726C1-A4E3-4E61-A3F7-FC7AE5B65A45}"/>
              </a:ext>
            </a:extLst>
          </p:cNvPr>
          <p:cNvSpPr/>
          <p:nvPr/>
        </p:nvSpPr>
        <p:spPr>
          <a:xfrm>
            <a:off x="7579795" y="5194084"/>
            <a:ext cx="914400" cy="4961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Non-immune</a:t>
            </a:r>
          </a:p>
        </p:txBody>
      </p: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B54EA3B9-7119-4E08-B99A-D47D2444E104}"/>
              </a:ext>
            </a:extLst>
          </p:cNvPr>
          <p:cNvCxnSpPr>
            <a:cxnSpLocks/>
            <a:stCxn id="351" idx="3"/>
            <a:endCxn id="366" idx="1"/>
          </p:cNvCxnSpPr>
          <p:nvPr/>
        </p:nvCxnSpPr>
        <p:spPr>
          <a:xfrm flipV="1">
            <a:off x="6244413" y="3329946"/>
            <a:ext cx="1335381" cy="549760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83C392FB-420A-42EB-8B71-CA101D3F6001}"/>
              </a:ext>
            </a:extLst>
          </p:cNvPr>
          <p:cNvCxnSpPr>
            <a:cxnSpLocks/>
            <a:stCxn id="351" idx="3"/>
            <a:endCxn id="367" idx="1"/>
          </p:cNvCxnSpPr>
          <p:nvPr/>
        </p:nvCxnSpPr>
        <p:spPr>
          <a:xfrm>
            <a:off x="6244413" y="3879706"/>
            <a:ext cx="1335382" cy="1562464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2405ACF3-58F7-46CC-9902-44F64749F20F}"/>
              </a:ext>
            </a:extLst>
          </p:cNvPr>
          <p:cNvSpPr txBox="1"/>
          <p:nvPr/>
        </p:nvSpPr>
        <p:spPr>
          <a:xfrm>
            <a:off x="7116018" y="3186100"/>
            <a:ext cx="182880" cy="253916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D0F47850-D2A5-45E3-A1FF-F68B5249D50D}"/>
              </a:ext>
            </a:extLst>
          </p:cNvPr>
          <p:cNvSpPr txBox="1"/>
          <p:nvPr/>
        </p:nvSpPr>
        <p:spPr>
          <a:xfrm>
            <a:off x="7148000" y="5294224"/>
            <a:ext cx="182880" cy="253916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3F3510DB-200B-454C-9D95-D1776927171C}"/>
              </a:ext>
            </a:extLst>
          </p:cNvPr>
          <p:cNvSpPr txBox="1"/>
          <p:nvPr/>
        </p:nvSpPr>
        <p:spPr>
          <a:xfrm>
            <a:off x="6363052" y="3735858"/>
            <a:ext cx="438391" cy="253916"/>
          </a:xfrm>
          <a:prstGeom prst="rect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DAT</a:t>
            </a:r>
          </a:p>
        </p:txBody>
      </p:sp>
      <p:sp>
        <p:nvSpPr>
          <p:cNvPr id="351" name="Hemolysis">
            <a:extLst>
              <a:ext uri="{FF2B5EF4-FFF2-40B4-BE49-F238E27FC236}">
                <a16:creationId xmlns:a16="http://schemas.microsoft.com/office/drawing/2014/main" id="{E74D16FC-09A4-477B-A635-245B1EB1DF22}"/>
              </a:ext>
            </a:extLst>
          </p:cNvPr>
          <p:cNvSpPr/>
          <p:nvPr/>
        </p:nvSpPr>
        <p:spPr>
          <a:xfrm>
            <a:off x="5055693" y="3696826"/>
            <a:ext cx="1188720" cy="3657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Hemolysis</a:t>
            </a:r>
          </a:p>
        </p:txBody>
      </p:sp>
      <p:sp>
        <p:nvSpPr>
          <p:cNvPr id="352" name="Micocytic">
            <a:extLst>
              <a:ext uri="{FF2B5EF4-FFF2-40B4-BE49-F238E27FC236}">
                <a16:creationId xmlns:a16="http://schemas.microsoft.com/office/drawing/2014/main" id="{9268336A-0BE0-44BB-9B73-C51D45331319}"/>
              </a:ext>
            </a:extLst>
          </p:cNvPr>
          <p:cNvSpPr/>
          <p:nvPr/>
        </p:nvSpPr>
        <p:spPr>
          <a:xfrm>
            <a:off x="5097246" y="6290469"/>
            <a:ext cx="1188720" cy="36576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Blood loss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354" name="Connector to macrocytic">
            <a:extLst>
              <a:ext uri="{FF2B5EF4-FFF2-40B4-BE49-F238E27FC236}">
                <a16:creationId xmlns:a16="http://schemas.microsoft.com/office/drawing/2014/main" id="{EC72D533-D66C-4AFD-850B-2A7CEA4837C4}"/>
              </a:ext>
            </a:extLst>
          </p:cNvPr>
          <p:cNvCxnSpPr>
            <a:cxnSpLocks/>
            <a:stCxn id="16" idx="3"/>
            <a:endCxn id="352" idx="1"/>
          </p:cNvCxnSpPr>
          <p:nvPr/>
        </p:nvCxnSpPr>
        <p:spPr>
          <a:xfrm>
            <a:off x="3287408" y="4309633"/>
            <a:ext cx="1809838" cy="2163716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7" name="Normocytic">
            <a:extLst>
              <a:ext uri="{FF2B5EF4-FFF2-40B4-BE49-F238E27FC236}">
                <a16:creationId xmlns:a16="http://schemas.microsoft.com/office/drawing/2014/main" id="{CAB25DAE-496D-44E8-A589-B155A5C275A6}"/>
              </a:ext>
            </a:extLst>
          </p:cNvPr>
          <p:cNvSpPr/>
          <p:nvPr/>
        </p:nvSpPr>
        <p:spPr>
          <a:xfrm>
            <a:off x="5097246" y="5604208"/>
            <a:ext cx="1188720" cy="502092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Splenic sequestration</a:t>
            </a:r>
          </a:p>
        </p:txBody>
      </p:sp>
      <p:cxnSp>
        <p:nvCxnSpPr>
          <p:cNvPr id="359" name="Connector to normocytic">
            <a:extLst>
              <a:ext uri="{FF2B5EF4-FFF2-40B4-BE49-F238E27FC236}">
                <a16:creationId xmlns:a16="http://schemas.microsoft.com/office/drawing/2014/main" id="{7400168A-F25C-481F-99AA-78A1183407C8}"/>
              </a:ext>
            </a:extLst>
          </p:cNvPr>
          <p:cNvCxnSpPr>
            <a:cxnSpLocks/>
            <a:endCxn id="357" idx="1"/>
          </p:cNvCxnSpPr>
          <p:nvPr/>
        </p:nvCxnSpPr>
        <p:spPr>
          <a:xfrm>
            <a:off x="4199820" y="5855254"/>
            <a:ext cx="897426" cy="0"/>
          </a:xfrm>
          <a:prstGeom prst="straightConnector1">
            <a:avLst/>
          </a:prstGeom>
          <a:solidFill>
            <a:schemeClr val="bg1"/>
          </a:solidFill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8C610130-1CA2-4E20-8905-24C7C983BE72}"/>
              </a:ext>
            </a:extLst>
          </p:cNvPr>
          <p:cNvCxnSpPr>
            <a:cxnSpLocks/>
            <a:stCxn id="16" idx="3"/>
            <a:endCxn id="351" idx="1"/>
          </p:cNvCxnSpPr>
          <p:nvPr/>
        </p:nvCxnSpPr>
        <p:spPr>
          <a:xfrm flipV="1">
            <a:off x="3287408" y="3879706"/>
            <a:ext cx="1768285" cy="429927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4" name="TextBox 363">
            <a:extLst>
              <a:ext uri="{FF2B5EF4-FFF2-40B4-BE49-F238E27FC236}">
                <a16:creationId xmlns:a16="http://schemas.microsoft.com/office/drawing/2014/main" id="{B8CD1D65-1FA0-40C7-8BF2-3BA9ABAC696F}"/>
              </a:ext>
            </a:extLst>
          </p:cNvPr>
          <p:cNvSpPr txBox="1"/>
          <p:nvPr/>
        </p:nvSpPr>
        <p:spPr>
          <a:xfrm>
            <a:off x="3743583" y="4082389"/>
            <a:ext cx="762377" cy="41549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Hemolysis labs</a:t>
            </a:r>
          </a:p>
        </p:txBody>
      </p:sp>
      <p:sp>
        <p:nvSpPr>
          <p:cNvPr id="384" name="Acute blood loss">
            <a:extLst>
              <a:ext uri="{FF2B5EF4-FFF2-40B4-BE49-F238E27FC236}">
                <a16:creationId xmlns:a16="http://schemas.microsoft.com/office/drawing/2014/main" id="{F6C89ABF-9AC7-45CA-92B0-CF25BB15F896}"/>
              </a:ext>
            </a:extLst>
          </p:cNvPr>
          <p:cNvSpPr txBox="1"/>
          <p:nvPr/>
        </p:nvSpPr>
        <p:spPr>
          <a:xfrm>
            <a:off x="8936277" y="3045918"/>
            <a:ext cx="2815839" cy="577081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Warm AIHA – cancer, AI disease, drugs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Cold AIHA – malignancy, mycoplasma, mono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Transfusion reactions</a:t>
            </a:r>
          </a:p>
        </p:txBody>
      </p: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FD515B7A-3BB9-4BCA-BFAE-9BA2D8564263}"/>
              </a:ext>
            </a:extLst>
          </p:cNvPr>
          <p:cNvCxnSpPr>
            <a:cxnSpLocks/>
            <a:stCxn id="366" idx="3"/>
            <a:endCxn id="384" idx="1"/>
          </p:cNvCxnSpPr>
          <p:nvPr/>
        </p:nvCxnSpPr>
        <p:spPr>
          <a:xfrm>
            <a:off x="8494194" y="3329946"/>
            <a:ext cx="442083" cy="4513"/>
          </a:xfrm>
          <a:prstGeom prst="lin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88" name="Acute blood loss">
            <a:extLst>
              <a:ext uri="{FF2B5EF4-FFF2-40B4-BE49-F238E27FC236}">
                <a16:creationId xmlns:a16="http://schemas.microsoft.com/office/drawing/2014/main" id="{9D607719-ED8E-44CC-A229-DC3DA5200F0E}"/>
              </a:ext>
            </a:extLst>
          </p:cNvPr>
          <p:cNvSpPr txBox="1"/>
          <p:nvPr/>
        </p:nvSpPr>
        <p:spPr>
          <a:xfrm>
            <a:off x="10102305" y="5710794"/>
            <a:ext cx="1935468" cy="1061829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u="sng" dirty="0">
                <a:solidFill>
                  <a:schemeClr val="tx1"/>
                </a:solidFill>
              </a:rPr>
              <a:t>Extrinsic</a:t>
            </a:r>
            <a:r>
              <a:rPr lang="en-US" sz="1050" dirty="0">
                <a:solidFill>
                  <a:schemeClr val="tx1"/>
                </a:solidFill>
              </a:rPr>
              <a:t>: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Meds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Infections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Liver disease/ hypersplenism</a:t>
            </a:r>
          </a:p>
          <a:p>
            <a:r>
              <a:rPr lang="en-US" sz="1050" u="sng" dirty="0">
                <a:solidFill>
                  <a:schemeClr val="tx1"/>
                </a:solidFill>
              </a:rPr>
              <a:t>Intrinsic</a:t>
            </a:r>
            <a:r>
              <a:rPr lang="en-US" sz="1050" dirty="0">
                <a:solidFill>
                  <a:schemeClr val="tx1"/>
                </a:solidFill>
              </a:rPr>
              <a:t> - Hgb, membrane, metabolic defects</a:t>
            </a:r>
          </a:p>
        </p:txBody>
      </p:sp>
      <p:cxnSp>
        <p:nvCxnSpPr>
          <p:cNvPr id="389" name="Straight Connector 388">
            <a:extLst>
              <a:ext uri="{FF2B5EF4-FFF2-40B4-BE49-F238E27FC236}">
                <a16:creationId xmlns:a16="http://schemas.microsoft.com/office/drawing/2014/main" id="{0F6BBEB8-5C22-4E62-B506-CC74876FD475}"/>
              </a:ext>
            </a:extLst>
          </p:cNvPr>
          <p:cNvCxnSpPr>
            <a:cxnSpLocks/>
          </p:cNvCxnSpPr>
          <p:nvPr/>
        </p:nvCxnSpPr>
        <p:spPr>
          <a:xfrm>
            <a:off x="9852590" y="6104310"/>
            <a:ext cx="249715" cy="0"/>
          </a:xfrm>
          <a:prstGeom prst="lin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03" name="Connector: Elbow 402">
            <a:extLst>
              <a:ext uri="{FF2B5EF4-FFF2-40B4-BE49-F238E27FC236}">
                <a16:creationId xmlns:a16="http://schemas.microsoft.com/office/drawing/2014/main" id="{87B6A41A-21D5-40FF-86D4-38FAE5867DE5}"/>
              </a:ext>
            </a:extLst>
          </p:cNvPr>
          <p:cNvCxnSpPr>
            <a:cxnSpLocks/>
            <a:stCxn id="367" idx="3"/>
            <a:endCxn id="404" idx="1"/>
          </p:cNvCxnSpPr>
          <p:nvPr/>
        </p:nvCxnSpPr>
        <p:spPr>
          <a:xfrm flipV="1">
            <a:off x="8494195" y="4266237"/>
            <a:ext cx="442084" cy="11759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04" name="Extrinsic">
            <a:extLst>
              <a:ext uri="{FF2B5EF4-FFF2-40B4-BE49-F238E27FC236}">
                <a16:creationId xmlns:a16="http://schemas.microsoft.com/office/drawing/2014/main" id="{136F2EA6-98A2-40C5-A14C-AF94CAC71D3D}"/>
              </a:ext>
            </a:extLst>
          </p:cNvPr>
          <p:cNvSpPr/>
          <p:nvPr/>
        </p:nvSpPr>
        <p:spPr>
          <a:xfrm>
            <a:off x="8936279" y="4128113"/>
            <a:ext cx="878282" cy="27624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MAHA</a:t>
            </a:r>
          </a:p>
        </p:txBody>
      </p:sp>
      <p:sp>
        <p:nvSpPr>
          <p:cNvPr id="417" name="Intrinsic">
            <a:extLst>
              <a:ext uri="{FF2B5EF4-FFF2-40B4-BE49-F238E27FC236}">
                <a16:creationId xmlns:a16="http://schemas.microsoft.com/office/drawing/2014/main" id="{4A25E644-8C46-481A-BFC7-33BBC0154C0F}"/>
              </a:ext>
            </a:extLst>
          </p:cNvPr>
          <p:cNvSpPr/>
          <p:nvPr/>
        </p:nvSpPr>
        <p:spPr>
          <a:xfrm>
            <a:off x="8936277" y="5966186"/>
            <a:ext cx="916312" cy="2762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Non-MAHA</a:t>
            </a:r>
          </a:p>
        </p:txBody>
      </p:sp>
      <p:cxnSp>
        <p:nvCxnSpPr>
          <p:cNvPr id="419" name="Connector: Elbow 418">
            <a:extLst>
              <a:ext uri="{FF2B5EF4-FFF2-40B4-BE49-F238E27FC236}">
                <a16:creationId xmlns:a16="http://schemas.microsoft.com/office/drawing/2014/main" id="{F86FED38-AE68-42D8-9605-73232F34759E}"/>
              </a:ext>
            </a:extLst>
          </p:cNvPr>
          <p:cNvCxnSpPr>
            <a:cxnSpLocks/>
            <a:stCxn id="367" idx="3"/>
            <a:endCxn id="417" idx="1"/>
          </p:cNvCxnSpPr>
          <p:nvPr/>
        </p:nvCxnSpPr>
        <p:spPr>
          <a:xfrm>
            <a:off x="8494195" y="5442170"/>
            <a:ext cx="442082" cy="6621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42" name="Straight Connector 441">
            <a:extLst>
              <a:ext uri="{FF2B5EF4-FFF2-40B4-BE49-F238E27FC236}">
                <a16:creationId xmlns:a16="http://schemas.microsoft.com/office/drawing/2014/main" id="{9D5786D6-0C10-4FFE-A8A8-995CE75CEE4D}"/>
              </a:ext>
            </a:extLst>
          </p:cNvPr>
          <p:cNvCxnSpPr>
            <a:cxnSpLocks/>
            <a:stCxn id="447" idx="3"/>
          </p:cNvCxnSpPr>
          <p:nvPr/>
        </p:nvCxnSpPr>
        <p:spPr>
          <a:xfrm>
            <a:off x="10734306" y="4149709"/>
            <a:ext cx="336991" cy="0"/>
          </a:xfrm>
          <a:prstGeom prst="lin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46" name="Brace TMA">
            <a:extLst>
              <a:ext uri="{FF2B5EF4-FFF2-40B4-BE49-F238E27FC236}">
                <a16:creationId xmlns:a16="http://schemas.microsoft.com/office/drawing/2014/main" id="{15367BE2-F1A5-48FB-A9D9-9BEB1898E942}"/>
              </a:ext>
            </a:extLst>
          </p:cNvPr>
          <p:cNvSpPr/>
          <p:nvPr/>
        </p:nvSpPr>
        <p:spPr>
          <a:xfrm>
            <a:off x="9814561" y="4116779"/>
            <a:ext cx="353059" cy="928261"/>
          </a:xfrm>
          <a:prstGeom prst="leftBrace">
            <a:avLst>
              <a:gd name="adj1" fmla="val 0"/>
              <a:gd name="adj2" fmla="val 16931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7" name="Fragmentation">
            <a:extLst>
              <a:ext uri="{FF2B5EF4-FFF2-40B4-BE49-F238E27FC236}">
                <a16:creationId xmlns:a16="http://schemas.microsoft.com/office/drawing/2014/main" id="{4457FBE8-CEBE-4D6A-AAEA-842454407996}"/>
              </a:ext>
            </a:extLst>
          </p:cNvPr>
          <p:cNvSpPr/>
          <p:nvPr/>
        </p:nvSpPr>
        <p:spPr>
          <a:xfrm>
            <a:off x="10102305" y="4011585"/>
            <a:ext cx="632001" cy="27624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TMAs</a:t>
            </a:r>
          </a:p>
        </p:txBody>
      </p:sp>
      <p:sp>
        <p:nvSpPr>
          <p:cNvPr id="448" name="Other">
            <a:extLst>
              <a:ext uri="{FF2B5EF4-FFF2-40B4-BE49-F238E27FC236}">
                <a16:creationId xmlns:a16="http://schemas.microsoft.com/office/drawing/2014/main" id="{4577655E-FE8A-4E31-A63E-F096CBAB73C4}"/>
              </a:ext>
            </a:extLst>
          </p:cNvPr>
          <p:cNvSpPr/>
          <p:nvPr/>
        </p:nvSpPr>
        <p:spPr>
          <a:xfrm>
            <a:off x="10102305" y="4906916"/>
            <a:ext cx="632001" cy="27624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Other</a:t>
            </a:r>
          </a:p>
        </p:txBody>
      </p:sp>
      <p:sp>
        <p:nvSpPr>
          <p:cNvPr id="455" name="Acute blood loss">
            <a:extLst>
              <a:ext uri="{FF2B5EF4-FFF2-40B4-BE49-F238E27FC236}">
                <a16:creationId xmlns:a16="http://schemas.microsoft.com/office/drawing/2014/main" id="{B45C83CB-F40B-4D7E-A47F-55C41EECD805}"/>
              </a:ext>
            </a:extLst>
          </p:cNvPr>
          <p:cNvSpPr txBox="1"/>
          <p:nvPr/>
        </p:nvSpPr>
        <p:spPr>
          <a:xfrm>
            <a:off x="10905504" y="4824531"/>
            <a:ext cx="1132270" cy="415498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Severe HTN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Shear stress</a:t>
            </a: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EF212A6B-80A1-44BF-A273-D8416949A38E}"/>
              </a:ext>
            </a:extLst>
          </p:cNvPr>
          <p:cNvCxnSpPr>
            <a:cxnSpLocks/>
          </p:cNvCxnSpPr>
          <p:nvPr/>
        </p:nvCxnSpPr>
        <p:spPr>
          <a:xfrm flipV="1">
            <a:off x="10734306" y="5040836"/>
            <a:ext cx="171198" cy="4204"/>
          </a:xfrm>
          <a:prstGeom prst="lin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84" name="Acute blood loss">
            <a:extLst>
              <a:ext uri="{FF2B5EF4-FFF2-40B4-BE49-F238E27FC236}">
                <a16:creationId xmlns:a16="http://schemas.microsoft.com/office/drawing/2014/main" id="{F69F501E-6491-465C-A37F-F5250705D3B6}"/>
              </a:ext>
            </a:extLst>
          </p:cNvPr>
          <p:cNvSpPr txBox="1"/>
          <p:nvPr/>
        </p:nvSpPr>
        <p:spPr>
          <a:xfrm>
            <a:off x="10902801" y="3937044"/>
            <a:ext cx="1146526" cy="577081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TMA (TTP/HUS)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HELLP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DIC</a:t>
            </a:r>
          </a:p>
        </p:txBody>
      </p:sp>
      <p:sp>
        <p:nvSpPr>
          <p:cNvPr id="2" name="Underproduction">
            <a:extLst>
              <a:ext uri="{FF2B5EF4-FFF2-40B4-BE49-F238E27FC236}">
                <a16:creationId xmlns:a16="http://schemas.microsoft.com/office/drawing/2014/main" id="{8F17215E-BBE6-1823-73B5-CBAC41318976}"/>
              </a:ext>
            </a:extLst>
          </p:cNvPr>
          <p:cNvSpPr/>
          <p:nvPr/>
        </p:nvSpPr>
        <p:spPr>
          <a:xfrm>
            <a:off x="1641488" y="2503764"/>
            <a:ext cx="1645920" cy="363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Hemodilution</a:t>
            </a:r>
          </a:p>
        </p:txBody>
      </p:sp>
      <p:sp>
        <p:nvSpPr>
          <p:cNvPr id="19" name="Non-immune hemolysis">
            <a:extLst>
              <a:ext uri="{FF2B5EF4-FFF2-40B4-BE49-F238E27FC236}">
                <a16:creationId xmlns:a16="http://schemas.microsoft.com/office/drawing/2014/main" id="{291EB41C-1217-94EC-1D5F-38010E5EBEEE}"/>
              </a:ext>
            </a:extLst>
          </p:cNvPr>
          <p:cNvSpPr txBox="1"/>
          <p:nvPr/>
        </p:nvSpPr>
        <p:spPr>
          <a:xfrm>
            <a:off x="0" y="6386920"/>
            <a:ext cx="2961853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400" b="1" dirty="0"/>
              <a:t>Anemia Worksheet</a:t>
            </a:r>
          </a:p>
        </p:txBody>
      </p:sp>
    </p:spTree>
    <p:extLst>
      <p:ext uri="{BB962C8B-B14F-4D97-AF65-F5344CB8AC3E}">
        <p14:creationId xmlns:p14="http://schemas.microsoft.com/office/powerpoint/2010/main" val="41320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tIns="80000" wrap="square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Framework Update &amp; High-Yield Refinements (2019–25)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000" y="950000"/>
            <a:ext cx="11292000" cy="5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1A2433"/>
                </a:solidFill>
                <a:latin typeface="Calibri"/>
              </a:rPr>
              <a:t>Iron studies — refine the cutoffs:</a:t>
            </a:r>
          </a:p>
          <a:p>
            <a:pPr lvl="1">
              <a:spcAft>
                <a:spcPts val="500"/>
              </a:spcAft>
            </a:pPr>
            <a:r>
              <a:rPr sz="1350" b="0">
                <a:solidFill>
                  <a:srgbClr val="555555"/>
                </a:solidFill>
                <a:latin typeface="Calibri"/>
              </a:rPr>
              <a:t>Ferritin &lt;30 ng/mL = iron deficiency (highly specific). In inflammation/CKD use a higher cutoff (&lt;100, or TSAT &lt;20%); soluble transferrin receptor or sTfR/log-ferritin index and hepcidin help when ACD + iron deficiency coexist (20–85% of ACD).</a:t>
            </a:r>
          </a:p>
          <a:p>
            <a:pPr lvl="1">
              <a:spcAft>
                <a:spcPts val="500"/>
              </a:spcAft>
            </a:pPr>
            <a:r>
              <a:rPr sz="1350" b="0">
                <a:solidFill>
                  <a:srgbClr val="555555"/>
                </a:solidFill>
                <a:latin typeface="Calibri"/>
              </a:rPr>
              <a:t>IV iron (ferric carboxymaltose, ferric derisomaltose) preferred over oral when malabsorption, ongoing loss, CKD/HF, or oral intolerance — faster repletion (watch hypophosphatemia with FCM).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1A2433"/>
                </a:solidFill>
                <a:latin typeface="Calibri"/>
              </a:rPr>
              <a:t>MAHA + thrombocytopenia = possible TMA — act fast:</a:t>
            </a:r>
          </a:p>
          <a:p>
            <a:pPr lvl="1">
              <a:spcAft>
                <a:spcPts val="500"/>
              </a:spcAft>
            </a:pPr>
            <a:r>
              <a:rPr sz="1350" b="0">
                <a:solidFill>
                  <a:srgbClr val="555555"/>
                </a:solidFill>
                <a:latin typeface="Calibri"/>
              </a:rPr>
              <a:t>Use the PLASMIC score to gauge TTP probability and send ADAMTS13 BEFORE plasma exchange; do not wait for the level if TTP is likely (caplacizumab + PEX + steroids is now standard for confirmed TTP).</a:t>
            </a:r>
          </a:p>
          <a:p>
            <a:pPr lvl="1">
              <a:spcAft>
                <a:spcPts val="500"/>
              </a:spcAft>
            </a:pPr>
            <a:r>
              <a:rPr sz="1350" b="0">
                <a:solidFill>
                  <a:srgbClr val="555555"/>
                </a:solidFill>
                <a:latin typeface="Calibri"/>
              </a:rPr>
              <a:t>Schistocytes + low platelets + normal coags → primary TMA (TTP/HUS); add fibrinogen/D-dimer to separate DIC; check pregnancy/HELLP and complement-mediated (atypical HUS).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1A2433"/>
                </a:solidFill>
                <a:latin typeface="Calibri"/>
              </a:rPr>
              <a:t>Diagnostic framework otherwise unchanged: retic index → under- vs over-production; MCV + iron studies for underproduction; DAT + smear for hemolysis.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tIns="80000" wrap="square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000" y="950000"/>
            <a:ext cx="11292000" cy="5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Start every anemia work-up with the reticulocyte index: &lt;2 = underproduction (marrow problem), ≥3 = overproduction (blood loss, hemolysis, or sequestration).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For underproduction, use MCV (macro/normo/microcytic) plus iron studies; ferritin &lt;30 ng/mL is diagnostic of iron deficiency but is an acute-phase reactant — interpret it against inflammation.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For overproduction, confirm hemolysis (↑LDH, ↓haptoglobin, ↑indirect bili) then use the DAT + smear: DAT-positive = autoimmune (warm IgG / cold IgM); schistocytes = MAHA.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MAHA with thrombocytopenia is a hematologic emergency — think TMA (TTP/HUS), send ADAMTS13, and don't delay plasma exchange when TTP is likely.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Concurrent iron deficiency + anemia of chronic disease is common (a very low TSAT is the clue) — a trial of iron with repeat labs often settles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tIns="80000" wrap="square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Attribution &amp; Optimization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000" y="950000"/>
            <a:ext cx="11292000" cy="5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Adapted from TeachIM.org — “Work-up of Anemia” (Jeff Krimmel-Morrison MD, Sioban Keel MD; exec. eds. Yilin Zhang MD, Brandon Fainstad MD). Published Mar 2020; deck rev. Dec 2022.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Source: teachim.org/teaching_material/work-up-of-anemia-chalk-talk-teachim/  ·  License: CC BY-NC 4.0 (attribution, non-commercial only).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Correction made (this copy): slide 6 — “stomacytosis” → “stomatocytosis” (RBC-membrane defect). All original animations/click-to-reveal builds and graphics preserved; no other slide content altered.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Added context (source-cited): inflammation-adjusted ferritin/TSAT cutoffs + sTfR/hepcidin (Weiss, Blood 2019; Camaschella, Blood 2019); IV iron preference; PLASMIC score + ADAMTS13-before-PEX and caplacizumab for TTP.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Companion file: Anemia-Handout-12.22.pdf (learner handout + fill-in schematic). Educational use only; not medical advice — have content clinician-reviewed before teaching.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18653</TotalTime>
  <Words>1928</Words>
  <Application>Microsoft Office PowerPoint</Application>
  <PresentationFormat>Widescreen</PresentationFormat>
  <Paragraphs>498</Paragraphs>
  <Slides>10</Slides>
  <Notes>10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Brandon Fainstad</dc:creator>
  <cp:lastModifiedBy>Yilin Zhang</cp:lastModifiedBy>
  <cp:revision>157</cp:revision>
  <cp:lastPrinted>2022-12-27T20:18:45Z</cp:lastPrinted>
  <dcterms:created xsi:type="dcterms:W3CDTF">2020-03-03T18:33:13Z</dcterms:created>
  <dcterms:modified xsi:type="dcterms:W3CDTF">2022-12-28T23:46:26Z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0x01010080F09585D57B484C8302B9A2FB54725F</vt:lpwstr>
  </property>
</Properties>
</file>