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7" r:id="rId3"/>
    <p:sldId id="258" r:id="rId4"/>
    <p:sldId id="259" r:id="rId5"/>
    <p:sldId id="281" r:id="rId6"/>
    <p:sldId id="282" r:id="rId7"/>
    <p:sldId id="256" r:id="rId8"/>
    <p:sldId id="276" r:id="rId9"/>
    <p:sldId id="283" r:id="rId14"/>
    <p:sldId id="284" r:id="rId15"/>
    <p:sldId id="2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45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6988-82E9-4501-AC2A-AE8F133DE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A41D33-B873-4CC1-B316-A35AB245B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C7A77-D594-44D2-AA96-4B8DC0571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4AA8-08E3-4990-82FB-FFD46ADA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81C00-4B0F-4CC3-A8C7-490DE287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1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48843-EAAD-4C75-836A-DB1BAEC6D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53369-F64B-4ED0-A2AC-84FDD5234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1930A-BA9F-4CD8-A7EA-DAF21C509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E8EEA-CD4F-481A-87D5-E47D12C7A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67CB1-9542-479B-8E78-E082E201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519E-D925-4C76-8973-2F4DAFDD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C130C-773C-4554-AADE-63395EDFD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1BFEE-9459-48CE-B581-81E66385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1B42D-E296-4ED7-AC61-CA8067D3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90417-F883-4FB9-A0BD-3C15922F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65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96B1-1A49-4DE2-BCE8-5550C491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75DD-E44E-4EB7-BE17-FD1828C58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5974B-BAFD-443F-BED5-EE2236E56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E3A6B-FA0F-4CA1-B307-FAAA0978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F505B-C92E-4587-ACC8-2521BCFB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21E89-7B97-4566-916C-86DBB827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84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8EA5C-46E8-4816-97AA-CA04F05B4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F0635-C9F2-4BBC-91DA-86AAF47AF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CE5F67-0E3D-41E5-BC8F-9CA768240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939D2-0C15-4EEF-910D-A08974157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3D18B-1C12-4B33-97E2-4AA679C7F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864A5-0324-4979-9DB1-65AB69641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295F26-2450-432F-85EC-D3D50A87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11EE9C-742A-4BFB-9454-1D8F391A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D459-14D0-4A0D-AE52-56860C117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2B97D-B20D-4CDD-841A-F2FD2578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E675F-7C8E-40CD-BAF6-481FA339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F235E-AE07-4CCD-9A73-5A881C21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2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55A904-DDAC-4A7F-9480-6F6871CF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85BF8-8867-44AF-ABEB-A6549FB05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65CFD-655E-4D43-B3DC-4772E0B0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5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0AC69-3644-4868-A925-C3CDE0B67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C8588-E0D9-4BE8-A639-35D64628E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BC9E7-1A3C-44CD-A024-866315C66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1DF99-8518-4805-B670-7A306797D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8257F-69E1-469E-950E-640EB00F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AE37D-7FF3-41A1-8EA9-4A0CA01B6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30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1805-287A-43BB-8F79-1E48EAA5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5E115-0E1D-4904-A24B-331D57CB7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BD47-7DE0-4C85-8CC1-50DEF9BCA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0D896-2314-47F9-9181-3170D7DD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84CFD-74C8-4B6A-B954-87ABD50F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79C2E-F52B-4B6E-ABCD-E2BC8E3BF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0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BB08-6E4D-4C69-BB89-86D06D66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0535C-36D9-425F-A5D7-85083F716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B49F6-DEBF-4CCF-8FE0-F5FE62865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0C996-CD73-4FF7-BB91-E046F122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64C77-AD8B-424E-877C-31280B2DA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0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E6E84-471D-432C-AC5E-6685EEAE6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934AB-AF58-4C97-88CA-3B86EC539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5A810-BE8B-42B8-A5C4-9512C6EE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6B07F-0495-45A4-A465-1384766B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6514B-26A3-4DDF-933F-332FD9A6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356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78471-814E-4B3C-9D1C-718D87B4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9DA86-F166-4962-9E19-833457F31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3BF48-C5E7-40BC-B7CC-606C9617A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1361D-512A-403A-9781-548ECFC07FBF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F4375-7AD5-4805-B5AA-B34D548E14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A897E-9E0C-4305-B824-AFD53BD033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772AD-6977-4DB1-B2DA-C94E253BA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3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3.xml"/><Relationship Id="rId6" Type="http://schemas.openxmlformats.org/officeDocument/2006/relationships/slide" Target="slide7.xml"/><Relationship Id="rId7" Type="http://schemas.openxmlformats.org/officeDocument/2006/relationships/slide" Target="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5.xml"/><Relationship Id="rId6" Type="http://schemas.openxmlformats.org/officeDocument/2006/relationships/slide" Target="slide7.xml"/><Relationship Id="rId7" Type="http://schemas.openxmlformats.org/officeDocument/2006/relationships/slide" Target="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4.xml"/><Relationship Id="rId8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3.xml"/><Relationship Id="rId5" Type="http://schemas.openxmlformats.org/officeDocument/2006/relationships/slide" Target="slide5.xml"/><Relationship Id="rId6" Type="http://schemas.openxmlformats.org/officeDocument/2006/relationships/slide" Target="slide7.xml"/><Relationship Id="rId7" Type="http://schemas.openxmlformats.org/officeDocument/2006/relationships/slide" Target="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2">
            <a:hlinkClick r:id="" action="ppaction://noaction"/>
            <a:extLst>
              <a:ext uri="{FF2B5EF4-FFF2-40B4-BE49-F238E27FC236}">
                <a16:creationId xmlns:a16="http://schemas.microsoft.com/office/drawing/2014/main" id="{AB86087C-0B9F-40CC-915A-F48F81ABCB01}"/>
              </a:ext>
            </a:extLst>
          </p:cNvPr>
          <p:cNvSpPr txBox="1"/>
          <p:nvPr/>
        </p:nvSpPr>
        <p:spPr>
          <a:xfrm>
            <a:off x="234759" y="155491"/>
            <a:ext cx="155368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sp>
        <p:nvSpPr>
          <p:cNvPr id="5" name="cancer screening text">
            <a:hlinkClick r:id="rId2" action="ppaction://hlinksldjump"/>
            <a:extLst>
              <a:ext uri="{FF2B5EF4-FFF2-40B4-BE49-F238E27FC236}">
                <a16:creationId xmlns:a16="http://schemas.microsoft.com/office/drawing/2014/main" id="{8D688120-BF1C-4752-B3CE-8587D04C7899}"/>
              </a:ext>
            </a:extLst>
          </p:cNvPr>
          <p:cNvSpPr txBox="1"/>
          <p:nvPr/>
        </p:nvSpPr>
        <p:spPr>
          <a:xfrm>
            <a:off x="243281" y="778790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Classification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263E53C6-9072-4665-AB81-3DABB0A5A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802" y="989779"/>
            <a:ext cx="395274" cy="395274"/>
          </a:xfrm>
          <a:prstGeom prst="rect">
            <a:avLst/>
          </a:prstGeom>
        </p:spPr>
      </p:pic>
      <p:sp>
        <p:nvSpPr>
          <p:cNvPr id="8" name="cancer screening text">
            <a:hlinkClick r:id="rId5" action="ppaction://hlinksldjump"/>
            <a:extLst>
              <a:ext uri="{FF2B5EF4-FFF2-40B4-BE49-F238E27FC236}">
                <a16:creationId xmlns:a16="http://schemas.microsoft.com/office/drawing/2014/main" id="{EF671F03-58F0-454E-804F-0CFB9D5ED074}"/>
              </a:ext>
            </a:extLst>
          </p:cNvPr>
          <p:cNvSpPr txBox="1"/>
          <p:nvPr/>
        </p:nvSpPr>
        <p:spPr>
          <a:xfrm>
            <a:off x="251776" y="1402089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Management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68D6601E-5C97-452E-9A4E-ED6111D29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802" y="1613078"/>
            <a:ext cx="395274" cy="395274"/>
          </a:xfrm>
          <a:prstGeom prst="rect">
            <a:avLst/>
          </a:prstGeom>
        </p:spPr>
      </p:pic>
      <p:sp>
        <p:nvSpPr>
          <p:cNvPr id="10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975EFC29-8BF2-4ABF-BB04-9FB403D51C40}"/>
              </a:ext>
            </a:extLst>
          </p:cNvPr>
          <p:cNvSpPr txBox="1"/>
          <p:nvPr/>
        </p:nvSpPr>
        <p:spPr>
          <a:xfrm>
            <a:off x="251776" y="2025388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Duration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5B3898A5-0F29-4417-9578-95C39BDF1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802" y="2236377"/>
            <a:ext cx="395274" cy="395274"/>
          </a:xfrm>
          <a:prstGeom prst="rect">
            <a:avLst/>
          </a:prstGeom>
        </p:spPr>
      </p:pic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F92F8B8F-7F9C-4377-B108-D72F36D3A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802" y="366480"/>
            <a:ext cx="395274" cy="395274"/>
          </a:xfrm>
          <a:prstGeom prst="rect">
            <a:avLst/>
          </a:prstGeom>
        </p:spPr>
      </p:pic>
      <p:sp>
        <p:nvSpPr>
          <p:cNvPr id="13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153F9833-166D-4FC4-96AD-CDE5FD0F1C2B}"/>
              </a:ext>
            </a:extLst>
          </p:cNvPr>
          <p:cNvSpPr txBox="1"/>
          <p:nvPr/>
        </p:nvSpPr>
        <p:spPr>
          <a:xfrm>
            <a:off x="251777" y="2648687"/>
            <a:ext cx="1547001" cy="408623"/>
          </a:xfrm>
          <a:prstGeom prst="roundRect">
            <a:avLst/>
          </a:prstGeom>
          <a:solidFill>
            <a:schemeClr val="accent5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14" name="Graphic 13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4E19F0D4-0480-430E-A4D6-375EBA752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802" y="2859673"/>
            <a:ext cx="395274" cy="3952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F1691D-116F-4E48-A70F-CFB2758B50B4}"/>
              </a:ext>
            </a:extLst>
          </p:cNvPr>
          <p:cNvSpPr txBox="1"/>
          <p:nvPr/>
        </p:nvSpPr>
        <p:spPr>
          <a:xfrm>
            <a:off x="3823590" y="102449"/>
            <a:ext cx="4544820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Community Acquired Pneumonia</a:t>
            </a:r>
          </a:p>
        </p:txBody>
      </p:sp>
    </p:spTree>
    <p:extLst>
      <p:ext uri="{BB962C8B-B14F-4D97-AF65-F5344CB8AC3E}">
        <p14:creationId xmlns:p14="http://schemas.microsoft.com/office/powerpoint/2010/main" val="429219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2">
            <a:hlinkClick r:id="" action="ppaction://noaction"/>
            <a:extLst>
              <a:ext uri="{FF2B5EF4-FFF2-40B4-BE49-F238E27FC236}">
                <a16:creationId xmlns:a16="http://schemas.microsoft.com/office/drawing/2014/main" id="{AB86087C-0B9F-40CC-915A-F48F81ABCB01}"/>
              </a:ext>
            </a:extLst>
          </p:cNvPr>
          <p:cNvSpPr txBox="1"/>
          <p:nvPr/>
        </p:nvSpPr>
        <p:spPr>
          <a:xfrm>
            <a:off x="234759" y="155491"/>
            <a:ext cx="1553682" cy="408623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Diagnosis</a:t>
            </a:r>
          </a:p>
        </p:txBody>
      </p:sp>
      <p:sp>
        <p:nvSpPr>
          <p:cNvPr id="5" name="cancer screening text">
            <a:hlinkClick r:id="rId2" action="ppaction://hlinksldjump"/>
            <a:extLst>
              <a:ext uri="{FF2B5EF4-FFF2-40B4-BE49-F238E27FC236}">
                <a16:creationId xmlns:a16="http://schemas.microsoft.com/office/drawing/2014/main" id="{8D688120-BF1C-4752-B3CE-8587D04C7899}"/>
              </a:ext>
            </a:extLst>
          </p:cNvPr>
          <p:cNvSpPr txBox="1"/>
          <p:nvPr/>
        </p:nvSpPr>
        <p:spPr>
          <a:xfrm>
            <a:off x="243281" y="778790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Classification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263E53C6-9072-4665-AB81-3DABB0A5A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802" y="989779"/>
            <a:ext cx="395274" cy="395274"/>
          </a:xfrm>
          <a:prstGeom prst="rect">
            <a:avLst/>
          </a:prstGeom>
        </p:spPr>
      </p:pic>
      <p:sp>
        <p:nvSpPr>
          <p:cNvPr id="8" name="cancer screening text">
            <a:hlinkClick r:id="rId5" action="ppaction://hlinksldjump"/>
            <a:extLst>
              <a:ext uri="{FF2B5EF4-FFF2-40B4-BE49-F238E27FC236}">
                <a16:creationId xmlns:a16="http://schemas.microsoft.com/office/drawing/2014/main" id="{EF671F03-58F0-454E-804F-0CFB9D5ED074}"/>
              </a:ext>
            </a:extLst>
          </p:cNvPr>
          <p:cNvSpPr txBox="1"/>
          <p:nvPr/>
        </p:nvSpPr>
        <p:spPr>
          <a:xfrm>
            <a:off x="251776" y="1402089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Management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68D6601E-5C97-452E-9A4E-ED6111D29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802" y="1613078"/>
            <a:ext cx="395274" cy="395274"/>
          </a:xfrm>
          <a:prstGeom prst="rect">
            <a:avLst/>
          </a:prstGeom>
        </p:spPr>
      </p:pic>
      <p:sp>
        <p:nvSpPr>
          <p:cNvPr id="10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975EFC29-8BF2-4ABF-BB04-9FB403D51C40}"/>
              </a:ext>
            </a:extLst>
          </p:cNvPr>
          <p:cNvSpPr txBox="1"/>
          <p:nvPr/>
        </p:nvSpPr>
        <p:spPr>
          <a:xfrm>
            <a:off x="251776" y="2025388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Duration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5B3898A5-0F29-4417-9578-95C39BDF1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802" y="2236377"/>
            <a:ext cx="395274" cy="395274"/>
          </a:xfrm>
          <a:prstGeom prst="rect">
            <a:avLst/>
          </a:prstGeom>
        </p:spPr>
      </p:pic>
      <p:sp>
        <p:nvSpPr>
          <p:cNvPr id="13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153F9833-166D-4FC4-96AD-CDE5FD0F1C2B}"/>
              </a:ext>
            </a:extLst>
          </p:cNvPr>
          <p:cNvSpPr txBox="1"/>
          <p:nvPr/>
        </p:nvSpPr>
        <p:spPr>
          <a:xfrm>
            <a:off x="251777" y="2648687"/>
            <a:ext cx="1547001" cy="408623"/>
          </a:xfrm>
          <a:prstGeom prst="roundRect">
            <a:avLst/>
          </a:prstGeom>
          <a:solidFill>
            <a:schemeClr val="accent5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14" name="Graphic 13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4E19F0D4-0480-430E-A4D6-375EBA752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802" y="2859673"/>
            <a:ext cx="395274" cy="3952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F1691D-116F-4E48-A70F-CFB2758B50B4}"/>
              </a:ext>
            </a:extLst>
          </p:cNvPr>
          <p:cNvSpPr txBox="1"/>
          <p:nvPr/>
        </p:nvSpPr>
        <p:spPr>
          <a:xfrm>
            <a:off x="3823590" y="102449"/>
            <a:ext cx="4544820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Diagnosis and Microbiology</a:t>
            </a:r>
          </a:p>
        </p:txBody>
      </p:sp>
      <p:sp>
        <p:nvSpPr>
          <p:cNvPr id="16" name="Signs">
            <a:hlinkClick r:id="" action="ppaction://noaction"/>
            <a:extLst>
              <a:ext uri="{FF2B5EF4-FFF2-40B4-BE49-F238E27FC236}">
                <a16:creationId xmlns:a16="http://schemas.microsoft.com/office/drawing/2014/main" id="{48A2BA89-0ACA-439F-8B27-DE9B4F5E290F}"/>
              </a:ext>
            </a:extLst>
          </p:cNvPr>
          <p:cNvSpPr txBox="1"/>
          <p:nvPr/>
        </p:nvSpPr>
        <p:spPr>
          <a:xfrm>
            <a:off x="2820823" y="1114813"/>
            <a:ext cx="2001605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Signs/Symptoms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EE0A8502-09E3-451B-80A8-9DC54B3D19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789" y="1325802"/>
            <a:ext cx="395274" cy="395274"/>
          </a:xfrm>
          <a:prstGeom prst="rect">
            <a:avLst/>
          </a:prstGeom>
        </p:spPr>
      </p:pic>
      <p:sp>
        <p:nvSpPr>
          <p:cNvPr id="18" name="Micro">
            <a:hlinkClick r:id="" action="ppaction://noaction"/>
            <a:extLst>
              <a:ext uri="{FF2B5EF4-FFF2-40B4-BE49-F238E27FC236}">
                <a16:creationId xmlns:a16="http://schemas.microsoft.com/office/drawing/2014/main" id="{17DB38F1-029F-474B-9FED-24D5D939A70B}"/>
              </a:ext>
            </a:extLst>
          </p:cNvPr>
          <p:cNvSpPr txBox="1"/>
          <p:nvPr/>
        </p:nvSpPr>
        <p:spPr>
          <a:xfrm>
            <a:off x="7846074" y="1114813"/>
            <a:ext cx="2001605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Microbiology</a:t>
            </a:r>
          </a:p>
        </p:txBody>
      </p:sp>
      <p:pic>
        <p:nvPicPr>
          <p:cNvPr id="19" name="Graphic 18" descr="Cursor with solid fill">
            <a:extLst>
              <a:ext uri="{FF2B5EF4-FFF2-40B4-BE49-F238E27FC236}">
                <a16:creationId xmlns:a16="http://schemas.microsoft.com/office/drawing/2014/main" id="{3A6E8037-B127-450A-B285-62E4AB1CF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0043" y="1319124"/>
            <a:ext cx="395274" cy="3952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86F6DEB-C1A2-4B00-8647-626252E56E69}"/>
              </a:ext>
            </a:extLst>
          </p:cNvPr>
          <p:cNvSpPr txBox="1"/>
          <p:nvPr/>
        </p:nvSpPr>
        <p:spPr>
          <a:xfrm>
            <a:off x="5684277" y="2061381"/>
            <a:ext cx="1813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GPCs</a:t>
            </a:r>
          </a:p>
          <a:p>
            <a:pPr algn="ctr"/>
            <a:r>
              <a:rPr lang="en-US" i="1" dirty="0"/>
              <a:t>S. pneumoniae</a:t>
            </a:r>
          </a:p>
          <a:p>
            <a:pPr algn="ctr"/>
            <a:r>
              <a:rPr lang="en-US" i="1" dirty="0"/>
              <a:t>S. aureus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3E06405-EEFC-4F42-963C-3C8B9E6E1786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rot="5400000">
            <a:off x="7450073" y="664576"/>
            <a:ext cx="537945" cy="22556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53001B7E-64E4-4FE5-B898-17E94F25C624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 rot="5400000">
            <a:off x="8228504" y="1439877"/>
            <a:ext cx="534814" cy="7019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80FA0B1-0806-4D15-8E62-1E780FC99EDD}"/>
              </a:ext>
            </a:extLst>
          </p:cNvPr>
          <p:cNvSpPr txBox="1"/>
          <p:nvPr/>
        </p:nvSpPr>
        <p:spPr>
          <a:xfrm>
            <a:off x="7238010" y="2058250"/>
            <a:ext cx="18138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/>
              <a:t>GNRs</a:t>
            </a:r>
          </a:p>
          <a:p>
            <a:pPr algn="ctr"/>
            <a:r>
              <a:rPr lang="en-US" i="1" dirty="0"/>
              <a:t>H. influenzae</a:t>
            </a:r>
          </a:p>
          <a:p>
            <a:pPr algn="ctr"/>
            <a:r>
              <a:rPr lang="en-US" i="1" dirty="0"/>
              <a:t>M. catarrhalis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4497A1-C2AC-484C-BC6F-7DDA2CB86876}"/>
              </a:ext>
            </a:extLst>
          </p:cNvPr>
          <p:cNvSpPr txBox="1"/>
          <p:nvPr/>
        </p:nvSpPr>
        <p:spPr>
          <a:xfrm>
            <a:off x="8657151" y="2055119"/>
            <a:ext cx="19405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 err="1"/>
              <a:t>Atypicals</a:t>
            </a:r>
            <a:endParaRPr lang="en-US" u="sng" dirty="0"/>
          </a:p>
          <a:p>
            <a:pPr algn="ctr"/>
            <a:r>
              <a:rPr lang="en-US" i="1" dirty="0"/>
              <a:t>Legionella</a:t>
            </a:r>
          </a:p>
          <a:p>
            <a:pPr algn="ctr"/>
            <a:r>
              <a:rPr lang="en-US" i="1" dirty="0"/>
              <a:t>Chlamydia</a:t>
            </a:r>
          </a:p>
          <a:p>
            <a:pPr algn="ctr"/>
            <a:r>
              <a:rPr lang="en-US" i="1" dirty="0"/>
              <a:t>Mycoplasma</a:t>
            </a:r>
            <a:endParaRPr lang="en-US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76F7FBB-6995-4D73-8380-693B024D5E57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 rot="16200000" flipH="1">
            <a:off x="9667085" y="703228"/>
            <a:ext cx="541243" cy="21816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76A2EBF-4C01-42AA-BAF3-7D1DBABD8109}"/>
              </a:ext>
            </a:extLst>
          </p:cNvPr>
          <p:cNvSpPr txBox="1"/>
          <p:nvPr/>
        </p:nvSpPr>
        <p:spPr>
          <a:xfrm>
            <a:off x="10300336" y="2064679"/>
            <a:ext cx="14563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/>
              <a:t>Viruses</a:t>
            </a:r>
          </a:p>
          <a:p>
            <a:pPr algn="ctr"/>
            <a:r>
              <a:rPr lang="en-US" dirty="0"/>
              <a:t>Influenza</a:t>
            </a:r>
          </a:p>
          <a:p>
            <a:pPr algn="ctr"/>
            <a:r>
              <a:rPr lang="en-US" dirty="0"/>
              <a:t>COVID-19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4C2D4D4-F140-48B0-864C-67AEE9A52329}"/>
              </a:ext>
            </a:extLst>
          </p:cNvPr>
          <p:cNvCxnSpPr>
            <a:stCxn id="18" idx="2"/>
            <a:endCxn id="24" idx="0"/>
          </p:cNvCxnSpPr>
          <p:nvPr/>
        </p:nvCxnSpPr>
        <p:spPr>
          <a:xfrm rot="16200000" flipH="1">
            <a:off x="8971317" y="1398995"/>
            <a:ext cx="531683" cy="7805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29513F0-AA12-4CD5-8D75-4B5B5849503E}"/>
              </a:ext>
            </a:extLst>
          </p:cNvPr>
          <p:cNvSpPr txBox="1"/>
          <p:nvPr/>
        </p:nvSpPr>
        <p:spPr>
          <a:xfrm>
            <a:off x="2748381" y="1721076"/>
            <a:ext cx="237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Fever, cough, dyspnea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D8FDD7-BBBD-4523-B207-EE8AF689F744}"/>
              </a:ext>
            </a:extLst>
          </p:cNvPr>
          <p:cNvSpPr txBox="1"/>
          <p:nvPr/>
        </p:nvSpPr>
        <p:spPr>
          <a:xfrm>
            <a:off x="2393110" y="2169986"/>
            <a:ext cx="2942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Radiologic (CXR or CT) findings consistent with pneumonia 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47A5599-E2F3-4E4B-997F-6D48AADF51EF}"/>
              </a:ext>
            </a:extLst>
          </p:cNvPr>
          <p:cNvGrpSpPr/>
          <p:nvPr/>
        </p:nvGrpSpPr>
        <p:grpSpPr>
          <a:xfrm>
            <a:off x="1896185" y="3254947"/>
            <a:ext cx="4429858" cy="1664977"/>
            <a:chOff x="1737435" y="3335324"/>
            <a:chExt cx="4429858" cy="16649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31227BE-9D03-4779-B84D-D8910913183F}"/>
                </a:ext>
              </a:extLst>
            </p:cNvPr>
            <p:cNvGrpSpPr/>
            <p:nvPr/>
          </p:nvGrpSpPr>
          <p:grpSpPr>
            <a:xfrm>
              <a:off x="1986076" y="3362115"/>
              <a:ext cx="1177974" cy="1022350"/>
              <a:chOff x="2085926" y="3429000"/>
              <a:chExt cx="1778427" cy="1513005"/>
            </a:xfrm>
          </p:grpSpPr>
          <p:sp>
            <p:nvSpPr>
              <p:cNvPr id="2" name="Freeform: Shape 1">
                <a:extLst>
                  <a:ext uri="{FF2B5EF4-FFF2-40B4-BE49-F238E27FC236}">
                    <a16:creationId xmlns:a16="http://schemas.microsoft.com/office/drawing/2014/main" id="{91827C6A-A1E4-49F6-90ED-AA8B5ADCC429}"/>
                  </a:ext>
                </a:extLst>
              </p:cNvPr>
              <p:cNvSpPr/>
              <p:nvPr/>
            </p:nvSpPr>
            <p:spPr>
              <a:xfrm>
                <a:off x="2085926" y="3468947"/>
                <a:ext cx="832556" cy="1473058"/>
              </a:xfrm>
              <a:custGeom>
                <a:avLst/>
                <a:gdLst>
                  <a:gd name="connsiteX0" fmla="*/ 763378 w 866736"/>
                  <a:gd name="connsiteY0" fmla="*/ 80962 h 1488557"/>
                  <a:gd name="connsiteX1" fmla="*/ 553828 w 866736"/>
                  <a:gd name="connsiteY1" fmla="*/ 4762 h 1488557"/>
                  <a:gd name="connsiteX2" fmla="*/ 287128 w 866736"/>
                  <a:gd name="connsiteY2" fmla="*/ 233362 h 1488557"/>
                  <a:gd name="connsiteX3" fmla="*/ 166478 w 866736"/>
                  <a:gd name="connsiteY3" fmla="*/ 887412 h 1488557"/>
                  <a:gd name="connsiteX4" fmla="*/ 1378 w 866736"/>
                  <a:gd name="connsiteY4" fmla="*/ 1408112 h 1488557"/>
                  <a:gd name="connsiteX5" fmla="*/ 115678 w 866736"/>
                  <a:gd name="connsiteY5" fmla="*/ 1484312 h 1488557"/>
                  <a:gd name="connsiteX6" fmla="*/ 560178 w 866736"/>
                  <a:gd name="connsiteY6" fmla="*/ 1382712 h 1488557"/>
                  <a:gd name="connsiteX7" fmla="*/ 788778 w 866736"/>
                  <a:gd name="connsiteY7" fmla="*/ 1160462 h 1488557"/>
                  <a:gd name="connsiteX8" fmla="*/ 864978 w 866736"/>
                  <a:gd name="connsiteY8" fmla="*/ 792162 h 1488557"/>
                  <a:gd name="connsiteX9" fmla="*/ 839578 w 866736"/>
                  <a:gd name="connsiteY9" fmla="*/ 334962 h 1488557"/>
                  <a:gd name="connsiteX10" fmla="*/ 807828 w 866736"/>
                  <a:gd name="connsiteY10" fmla="*/ 112712 h 1488557"/>
                  <a:gd name="connsiteX11" fmla="*/ 763378 w 866736"/>
                  <a:gd name="connsiteY11" fmla="*/ 80962 h 1488557"/>
                  <a:gd name="connsiteX0" fmla="*/ 763378 w 866736"/>
                  <a:gd name="connsiteY0" fmla="*/ 83321 h 1490916"/>
                  <a:gd name="connsiteX1" fmla="*/ 553828 w 866736"/>
                  <a:gd name="connsiteY1" fmla="*/ 7121 h 1490916"/>
                  <a:gd name="connsiteX2" fmla="*/ 287128 w 866736"/>
                  <a:gd name="connsiteY2" fmla="*/ 235721 h 1490916"/>
                  <a:gd name="connsiteX3" fmla="*/ 166478 w 866736"/>
                  <a:gd name="connsiteY3" fmla="*/ 889771 h 1490916"/>
                  <a:gd name="connsiteX4" fmla="*/ 1378 w 866736"/>
                  <a:gd name="connsiteY4" fmla="*/ 1410471 h 1490916"/>
                  <a:gd name="connsiteX5" fmla="*/ 115678 w 866736"/>
                  <a:gd name="connsiteY5" fmla="*/ 1486671 h 1490916"/>
                  <a:gd name="connsiteX6" fmla="*/ 560178 w 866736"/>
                  <a:gd name="connsiteY6" fmla="*/ 1385071 h 1490916"/>
                  <a:gd name="connsiteX7" fmla="*/ 788778 w 866736"/>
                  <a:gd name="connsiteY7" fmla="*/ 1162821 h 1490916"/>
                  <a:gd name="connsiteX8" fmla="*/ 864978 w 866736"/>
                  <a:gd name="connsiteY8" fmla="*/ 794521 h 1490916"/>
                  <a:gd name="connsiteX9" fmla="*/ 839578 w 866736"/>
                  <a:gd name="connsiteY9" fmla="*/ 337321 h 1490916"/>
                  <a:gd name="connsiteX10" fmla="*/ 763378 w 866736"/>
                  <a:gd name="connsiteY10" fmla="*/ 83321 h 1490916"/>
                  <a:gd name="connsiteX0" fmla="*/ 839578 w 866736"/>
                  <a:gd name="connsiteY0" fmla="*/ 94239 h 1489134"/>
                  <a:gd name="connsiteX1" fmla="*/ 553828 w 866736"/>
                  <a:gd name="connsiteY1" fmla="*/ 5339 h 1489134"/>
                  <a:gd name="connsiteX2" fmla="*/ 287128 w 866736"/>
                  <a:gd name="connsiteY2" fmla="*/ 233939 h 1489134"/>
                  <a:gd name="connsiteX3" fmla="*/ 166478 w 866736"/>
                  <a:gd name="connsiteY3" fmla="*/ 887989 h 1489134"/>
                  <a:gd name="connsiteX4" fmla="*/ 1378 w 866736"/>
                  <a:gd name="connsiteY4" fmla="*/ 1408689 h 1489134"/>
                  <a:gd name="connsiteX5" fmla="*/ 115678 w 866736"/>
                  <a:gd name="connsiteY5" fmla="*/ 1484889 h 1489134"/>
                  <a:gd name="connsiteX6" fmla="*/ 560178 w 866736"/>
                  <a:gd name="connsiteY6" fmla="*/ 1383289 h 1489134"/>
                  <a:gd name="connsiteX7" fmla="*/ 788778 w 866736"/>
                  <a:gd name="connsiteY7" fmla="*/ 1161039 h 1489134"/>
                  <a:gd name="connsiteX8" fmla="*/ 864978 w 866736"/>
                  <a:gd name="connsiteY8" fmla="*/ 792739 h 1489134"/>
                  <a:gd name="connsiteX9" fmla="*/ 839578 w 866736"/>
                  <a:gd name="connsiteY9" fmla="*/ 335539 h 1489134"/>
                  <a:gd name="connsiteX10" fmla="*/ 839578 w 866736"/>
                  <a:gd name="connsiteY10" fmla="*/ 94239 h 1489134"/>
                  <a:gd name="connsiteX0" fmla="*/ 839578 w 878926"/>
                  <a:gd name="connsiteY0" fmla="*/ 94239 h 1489134"/>
                  <a:gd name="connsiteX1" fmla="*/ 553828 w 878926"/>
                  <a:gd name="connsiteY1" fmla="*/ 5339 h 1489134"/>
                  <a:gd name="connsiteX2" fmla="*/ 287128 w 878926"/>
                  <a:gd name="connsiteY2" fmla="*/ 233939 h 1489134"/>
                  <a:gd name="connsiteX3" fmla="*/ 166478 w 878926"/>
                  <a:gd name="connsiteY3" fmla="*/ 887989 h 1489134"/>
                  <a:gd name="connsiteX4" fmla="*/ 1378 w 878926"/>
                  <a:gd name="connsiteY4" fmla="*/ 1408689 h 1489134"/>
                  <a:gd name="connsiteX5" fmla="*/ 115678 w 878926"/>
                  <a:gd name="connsiteY5" fmla="*/ 1484889 h 1489134"/>
                  <a:gd name="connsiteX6" fmla="*/ 560178 w 878926"/>
                  <a:gd name="connsiteY6" fmla="*/ 1383289 h 1489134"/>
                  <a:gd name="connsiteX7" fmla="*/ 788778 w 878926"/>
                  <a:gd name="connsiteY7" fmla="*/ 1161039 h 1489134"/>
                  <a:gd name="connsiteX8" fmla="*/ 877678 w 878926"/>
                  <a:gd name="connsiteY8" fmla="*/ 951489 h 1489134"/>
                  <a:gd name="connsiteX9" fmla="*/ 839578 w 878926"/>
                  <a:gd name="connsiteY9" fmla="*/ 335539 h 1489134"/>
                  <a:gd name="connsiteX10" fmla="*/ 839578 w 878926"/>
                  <a:gd name="connsiteY10" fmla="*/ 94239 h 1489134"/>
                  <a:gd name="connsiteX0" fmla="*/ 839578 w 890528"/>
                  <a:gd name="connsiteY0" fmla="*/ 95419 h 1490314"/>
                  <a:gd name="connsiteX1" fmla="*/ 553828 w 890528"/>
                  <a:gd name="connsiteY1" fmla="*/ 6519 h 1490314"/>
                  <a:gd name="connsiteX2" fmla="*/ 287128 w 890528"/>
                  <a:gd name="connsiteY2" fmla="*/ 235119 h 1490314"/>
                  <a:gd name="connsiteX3" fmla="*/ 166478 w 890528"/>
                  <a:gd name="connsiteY3" fmla="*/ 889169 h 1490314"/>
                  <a:gd name="connsiteX4" fmla="*/ 1378 w 890528"/>
                  <a:gd name="connsiteY4" fmla="*/ 1409869 h 1490314"/>
                  <a:gd name="connsiteX5" fmla="*/ 115678 w 890528"/>
                  <a:gd name="connsiteY5" fmla="*/ 1486069 h 1490314"/>
                  <a:gd name="connsiteX6" fmla="*/ 560178 w 890528"/>
                  <a:gd name="connsiteY6" fmla="*/ 1384469 h 1490314"/>
                  <a:gd name="connsiteX7" fmla="*/ 788778 w 890528"/>
                  <a:gd name="connsiteY7" fmla="*/ 1162219 h 1490314"/>
                  <a:gd name="connsiteX8" fmla="*/ 877678 w 890528"/>
                  <a:gd name="connsiteY8" fmla="*/ 952669 h 1490314"/>
                  <a:gd name="connsiteX9" fmla="*/ 884028 w 890528"/>
                  <a:gd name="connsiteY9" fmla="*/ 431969 h 1490314"/>
                  <a:gd name="connsiteX10" fmla="*/ 839578 w 890528"/>
                  <a:gd name="connsiteY10" fmla="*/ 95419 h 1490314"/>
                  <a:gd name="connsiteX0" fmla="*/ 839578 w 890528"/>
                  <a:gd name="connsiteY0" fmla="*/ 101645 h 1496540"/>
                  <a:gd name="connsiteX1" fmla="*/ 553828 w 890528"/>
                  <a:gd name="connsiteY1" fmla="*/ 12745 h 1496540"/>
                  <a:gd name="connsiteX2" fmla="*/ 268078 w 890528"/>
                  <a:gd name="connsiteY2" fmla="*/ 336595 h 1496540"/>
                  <a:gd name="connsiteX3" fmla="*/ 166478 w 890528"/>
                  <a:gd name="connsiteY3" fmla="*/ 895395 h 1496540"/>
                  <a:gd name="connsiteX4" fmla="*/ 1378 w 890528"/>
                  <a:gd name="connsiteY4" fmla="*/ 1416095 h 1496540"/>
                  <a:gd name="connsiteX5" fmla="*/ 115678 w 890528"/>
                  <a:gd name="connsiteY5" fmla="*/ 1492295 h 1496540"/>
                  <a:gd name="connsiteX6" fmla="*/ 560178 w 890528"/>
                  <a:gd name="connsiteY6" fmla="*/ 1390695 h 1496540"/>
                  <a:gd name="connsiteX7" fmla="*/ 788778 w 890528"/>
                  <a:gd name="connsiteY7" fmla="*/ 1168445 h 1496540"/>
                  <a:gd name="connsiteX8" fmla="*/ 877678 w 890528"/>
                  <a:gd name="connsiteY8" fmla="*/ 958895 h 1496540"/>
                  <a:gd name="connsiteX9" fmla="*/ 884028 w 890528"/>
                  <a:gd name="connsiteY9" fmla="*/ 438195 h 1496540"/>
                  <a:gd name="connsiteX10" fmla="*/ 839578 w 890528"/>
                  <a:gd name="connsiteY10" fmla="*/ 101645 h 1496540"/>
                  <a:gd name="connsiteX0" fmla="*/ 839578 w 887860"/>
                  <a:gd name="connsiteY0" fmla="*/ 101645 h 1496540"/>
                  <a:gd name="connsiteX1" fmla="*/ 553828 w 887860"/>
                  <a:gd name="connsiteY1" fmla="*/ 12745 h 1496540"/>
                  <a:gd name="connsiteX2" fmla="*/ 268078 w 887860"/>
                  <a:gd name="connsiteY2" fmla="*/ 336595 h 1496540"/>
                  <a:gd name="connsiteX3" fmla="*/ 166478 w 887860"/>
                  <a:gd name="connsiteY3" fmla="*/ 895395 h 1496540"/>
                  <a:gd name="connsiteX4" fmla="*/ 1378 w 887860"/>
                  <a:gd name="connsiteY4" fmla="*/ 1416095 h 1496540"/>
                  <a:gd name="connsiteX5" fmla="*/ 115678 w 887860"/>
                  <a:gd name="connsiteY5" fmla="*/ 1492295 h 1496540"/>
                  <a:gd name="connsiteX6" fmla="*/ 560178 w 887860"/>
                  <a:gd name="connsiteY6" fmla="*/ 1390695 h 1496540"/>
                  <a:gd name="connsiteX7" fmla="*/ 852278 w 887860"/>
                  <a:gd name="connsiteY7" fmla="*/ 1308145 h 1496540"/>
                  <a:gd name="connsiteX8" fmla="*/ 877678 w 887860"/>
                  <a:gd name="connsiteY8" fmla="*/ 958895 h 1496540"/>
                  <a:gd name="connsiteX9" fmla="*/ 884028 w 887860"/>
                  <a:gd name="connsiteY9" fmla="*/ 438195 h 1496540"/>
                  <a:gd name="connsiteX10" fmla="*/ 839578 w 887860"/>
                  <a:gd name="connsiteY10" fmla="*/ 101645 h 1496540"/>
                  <a:gd name="connsiteX0" fmla="*/ 839578 w 887860"/>
                  <a:gd name="connsiteY0" fmla="*/ 50839 h 1445734"/>
                  <a:gd name="connsiteX1" fmla="*/ 553828 w 887860"/>
                  <a:gd name="connsiteY1" fmla="*/ 25439 h 1445734"/>
                  <a:gd name="connsiteX2" fmla="*/ 268078 w 887860"/>
                  <a:gd name="connsiteY2" fmla="*/ 285789 h 1445734"/>
                  <a:gd name="connsiteX3" fmla="*/ 166478 w 887860"/>
                  <a:gd name="connsiteY3" fmla="*/ 844589 h 1445734"/>
                  <a:gd name="connsiteX4" fmla="*/ 1378 w 887860"/>
                  <a:gd name="connsiteY4" fmla="*/ 1365289 h 1445734"/>
                  <a:gd name="connsiteX5" fmla="*/ 115678 w 887860"/>
                  <a:gd name="connsiteY5" fmla="*/ 1441489 h 1445734"/>
                  <a:gd name="connsiteX6" fmla="*/ 560178 w 887860"/>
                  <a:gd name="connsiteY6" fmla="*/ 1339889 h 1445734"/>
                  <a:gd name="connsiteX7" fmla="*/ 852278 w 887860"/>
                  <a:gd name="connsiteY7" fmla="*/ 1257339 h 1445734"/>
                  <a:gd name="connsiteX8" fmla="*/ 877678 w 887860"/>
                  <a:gd name="connsiteY8" fmla="*/ 908089 h 1445734"/>
                  <a:gd name="connsiteX9" fmla="*/ 884028 w 887860"/>
                  <a:gd name="connsiteY9" fmla="*/ 387389 h 1445734"/>
                  <a:gd name="connsiteX10" fmla="*/ 839578 w 887860"/>
                  <a:gd name="connsiteY10" fmla="*/ 50839 h 1445734"/>
                  <a:gd name="connsiteX0" fmla="*/ 814178 w 887860"/>
                  <a:gd name="connsiteY0" fmla="*/ 101939 h 1426984"/>
                  <a:gd name="connsiteX1" fmla="*/ 553828 w 887860"/>
                  <a:gd name="connsiteY1" fmla="*/ 6689 h 1426984"/>
                  <a:gd name="connsiteX2" fmla="*/ 268078 w 887860"/>
                  <a:gd name="connsiteY2" fmla="*/ 267039 h 1426984"/>
                  <a:gd name="connsiteX3" fmla="*/ 166478 w 887860"/>
                  <a:gd name="connsiteY3" fmla="*/ 825839 h 1426984"/>
                  <a:gd name="connsiteX4" fmla="*/ 1378 w 887860"/>
                  <a:gd name="connsiteY4" fmla="*/ 1346539 h 1426984"/>
                  <a:gd name="connsiteX5" fmla="*/ 115678 w 887860"/>
                  <a:gd name="connsiteY5" fmla="*/ 1422739 h 1426984"/>
                  <a:gd name="connsiteX6" fmla="*/ 560178 w 887860"/>
                  <a:gd name="connsiteY6" fmla="*/ 1321139 h 1426984"/>
                  <a:gd name="connsiteX7" fmla="*/ 852278 w 887860"/>
                  <a:gd name="connsiteY7" fmla="*/ 1238589 h 1426984"/>
                  <a:gd name="connsiteX8" fmla="*/ 877678 w 887860"/>
                  <a:gd name="connsiteY8" fmla="*/ 889339 h 1426984"/>
                  <a:gd name="connsiteX9" fmla="*/ 884028 w 887860"/>
                  <a:gd name="connsiteY9" fmla="*/ 368639 h 1426984"/>
                  <a:gd name="connsiteX10" fmla="*/ 814178 w 887860"/>
                  <a:gd name="connsiteY10" fmla="*/ 101939 h 1426984"/>
                  <a:gd name="connsiteX0" fmla="*/ 814178 w 887860"/>
                  <a:gd name="connsiteY0" fmla="*/ 150553 h 1475598"/>
                  <a:gd name="connsiteX1" fmla="*/ 553828 w 887860"/>
                  <a:gd name="connsiteY1" fmla="*/ 4503 h 1475598"/>
                  <a:gd name="connsiteX2" fmla="*/ 268078 w 887860"/>
                  <a:gd name="connsiteY2" fmla="*/ 315653 h 1475598"/>
                  <a:gd name="connsiteX3" fmla="*/ 166478 w 887860"/>
                  <a:gd name="connsiteY3" fmla="*/ 874453 h 1475598"/>
                  <a:gd name="connsiteX4" fmla="*/ 1378 w 887860"/>
                  <a:gd name="connsiteY4" fmla="*/ 1395153 h 1475598"/>
                  <a:gd name="connsiteX5" fmla="*/ 115678 w 887860"/>
                  <a:gd name="connsiteY5" fmla="*/ 1471353 h 1475598"/>
                  <a:gd name="connsiteX6" fmla="*/ 560178 w 887860"/>
                  <a:gd name="connsiteY6" fmla="*/ 1369753 h 1475598"/>
                  <a:gd name="connsiteX7" fmla="*/ 852278 w 887860"/>
                  <a:gd name="connsiteY7" fmla="*/ 1287203 h 1475598"/>
                  <a:gd name="connsiteX8" fmla="*/ 877678 w 887860"/>
                  <a:gd name="connsiteY8" fmla="*/ 937953 h 1475598"/>
                  <a:gd name="connsiteX9" fmla="*/ 884028 w 887860"/>
                  <a:gd name="connsiteY9" fmla="*/ 417253 h 1475598"/>
                  <a:gd name="connsiteX10" fmla="*/ 814178 w 887860"/>
                  <a:gd name="connsiteY10" fmla="*/ 150553 h 1475598"/>
                  <a:gd name="connsiteX0" fmla="*/ 758874 w 832556"/>
                  <a:gd name="connsiteY0" fmla="*/ 150553 h 1473058"/>
                  <a:gd name="connsiteX1" fmla="*/ 498524 w 832556"/>
                  <a:gd name="connsiteY1" fmla="*/ 4503 h 1473058"/>
                  <a:gd name="connsiteX2" fmla="*/ 212774 w 832556"/>
                  <a:gd name="connsiteY2" fmla="*/ 315653 h 1473058"/>
                  <a:gd name="connsiteX3" fmla="*/ 111174 w 832556"/>
                  <a:gd name="connsiteY3" fmla="*/ 874453 h 1473058"/>
                  <a:gd name="connsiteX4" fmla="*/ 9574 w 832556"/>
                  <a:gd name="connsiteY4" fmla="*/ 1280853 h 1473058"/>
                  <a:gd name="connsiteX5" fmla="*/ 60374 w 832556"/>
                  <a:gd name="connsiteY5" fmla="*/ 1471353 h 1473058"/>
                  <a:gd name="connsiteX6" fmla="*/ 504874 w 832556"/>
                  <a:gd name="connsiteY6" fmla="*/ 1369753 h 1473058"/>
                  <a:gd name="connsiteX7" fmla="*/ 796974 w 832556"/>
                  <a:gd name="connsiteY7" fmla="*/ 1287203 h 1473058"/>
                  <a:gd name="connsiteX8" fmla="*/ 822374 w 832556"/>
                  <a:gd name="connsiteY8" fmla="*/ 937953 h 1473058"/>
                  <a:gd name="connsiteX9" fmla="*/ 828724 w 832556"/>
                  <a:gd name="connsiteY9" fmla="*/ 417253 h 1473058"/>
                  <a:gd name="connsiteX10" fmla="*/ 758874 w 832556"/>
                  <a:gd name="connsiteY10" fmla="*/ 150553 h 1473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32556" h="1473058">
                    <a:moveTo>
                      <a:pt x="758874" y="150553"/>
                    </a:moveTo>
                    <a:cubicBezTo>
                      <a:pt x="703841" y="81761"/>
                      <a:pt x="589541" y="-23014"/>
                      <a:pt x="498524" y="4503"/>
                    </a:cubicBezTo>
                    <a:cubicBezTo>
                      <a:pt x="407507" y="32020"/>
                      <a:pt x="277332" y="170661"/>
                      <a:pt x="212774" y="315653"/>
                    </a:cubicBezTo>
                    <a:cubicBezTo>
                      <a:pt x="148216" y="460645"/>
                      <a:pt x="145041" y="713586"/>
                      <a:pt x="111174" y="874453"/>
                    </a:cubicBezTo>
                    <a:cubicBezTo>
                      <a:pt x="77307" y="1035320"/>
                      <a:pt x="18041" y="1181370"/>
                      <a:pt x="9574" y="1280853"/>
                    </a:cubicBezTo>
                    <a:cubicBezTo>
                      <a:pt x="1107" y="1380336"/>
                      <a:pt x="-22176" y="1456536"/>
                      <a:pt x="60374" y="1471353"/>
                    </a:cubicBezTo>
                    <a:cubicBezTo>
                      <a:pt x="142924" y="1486170"/>
                      <a:pt x="382107" y="1400445"/>
                      <a:pt x="504874" y="1369753"/>
                    </a:cubicBezTo>
                    <a:cubicBezTo>
                      <a:pt x="627641" y="1339061"/>
                      <a:pt x="744057" y="1359170"/>
                      <a:pt x="796974" y="1287203"/>
                    </a:cubicBezTo>
                    <a:cubicBezTo>
                      <a:pt x="849891" y="1215236"/>
                      <a:pt x="817082" y="1082945"/>
                      <a:pt x="822374" y="937953"/>
                    </a:cubicBezTo>
                    <a:cubicBezTo>
                      <a:pt x="827666" y="792961"/>
                      <a:pt x="838249" y="530495"/>
                      <a:pt x="828724" y="417253"/>
                    </a:cubicBezTo>
                    <a:cubicBezTo>
                      <a:pt x="811791" y="298720"/>
                      <a:pt x="813907" y="219345"/>
                      <a:pt x="758874" y="150553"/>
                    </a:cubicBez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282645A8-7569-4164-8977-1FAEF476BEDC}"/>
                  </a:ext>
                </a:extLst>
              </p:cNvPr>
              <p:cNvSpPr/>
              <p:nvPr/>
            </p:nvSpPr>
            <p:spPr>
              <a:xfrm flipH="1">
                <a:off x="2987823" y="3429000"/>
                <a:ext cx="876530" cy="1482476"/>
              </a:xfrm>
              <a:custGeom>
                <a:avLst/>
                <a:gdLst>
                  <a:gd name="connsiteX0" fmla="*/ 763378 w 866736"/>
                  <a:gd name="connsiteY0" fmla="*/ 80962 h 1488557"/>
                  <a:gd name="connsiteX1" fmla="*/ 553828 w 866736"/>
                  <a:gd name="connsiteY1" fmla="*/ 4762 h 1488557"/>
                  <a:gd name="connsiteX2" fmla="*/ 287128 w 866736"/>
                  <a:gd name="connsiteY2" fmla="*/ 233362 h 1488557"/>
                  <a:gd name="connsiteX3" fmla="*/ 166478 w 866736"/>
                  <a:gd name="connsiteY3" fmla="*/ 887412 h 1488557"/>
                  <a:gd name="connsiteX4" fmla="*/ 1378 w 866736"/>
                  <a:gd name="connsiteY4" fmla="*/ 1408112 h 1488557"/>
                  <a:gd name="connsiteX5" fmla="*/ 115678 w 866736"/>
                  <a:gd name="connsiteY5" fmla="*/ 1484312 h 1488557"/>
                  <a:gd name="connsiteX6" fmla="*/ 560178 w 866736"/>
                  <a:gd name="connsiteY6" fmla="*/ 1382712 h 1488557"/>
                  <a:gd name="connsiteX7" fmla="*/ 788778 w 866736"/>
                  <a:gd name="connsiteY7" fmla="*/ 1160462 h 1488557"/>
                  <a:gd name="connsiteX8" fmla="*/ 864978 w 866736"/>
                  <a:gd name="connsiteY8" fmla="*/ 792162 h 1488557"/>
                  <a:gd name="connsiteX9" fmla="*/ 839578 w 866736"/>
                  <a:gd name="connsiteY9" fmla="*/ 334962 h 1488557"/>
                  <a:gd name="connsiteX10" fmla="*/ 807828 w 866736"/>
                  <a:gd name="connsiteY10" fmla="*/ 112712 h 1488557"/>
                  <a:gd name="connsiteX11" fmla="*/ 763378 w 866736"/>
                  <a:gd name="connsiteY11" fmla="*/ 80962 h 1488557"/>
                  <a:gd name="connsiteX0" fmla="*/ 763378 w 866736"/>
                  <a:gd name="connsiteY0" fmla="*/ 83321 h 1490916"/>
                  <a:gd name="connsiteX1" fmla="*/ 553828 w 866736"/>
                  <a:gd name="connsiteY1" fmla="*/ 7121 h 1490916"/>
                  <a:gd name="connsiteX2" fmla="*/ 287128 w 866736"/>
                  <a:gd name="connsiteY2" fmla="*/ 235721 h 1490916"/>
                  <a:gd name="connsiteX3" fmla="*/ 166478 w 866736"/>
                  <a:gd name="connsiteY3" fmla="*/ 889771 h 1490916"/>
                  <a:gd name="connsiteX4" fmla="*/ 1378 w 866736"/>
                  <a:gd name="connsiteY4" fmla="*/ 1410471 h 1490916"/>
                  <a:gd name="connsiteX5" fmla="*/ 115678 w 866736"/>
                  <a:gd name="connsiteY5" fmla="*/ 1486671 h 1490916"/>
                  <a:gd name="connsiteX6" fmla="*/ 560178 w 866736"/>
                  <a:gd name="connsiteY6" fmla="*/ 1385071 h 1490916"/>
                  <a:gd name="connsiteX7" fmla="*/ 788778 w 866736"/>
                  <a:gd name="connsiteY7" fmla="*/ 1162821 h 1490916"/>
                  <a:gd name="connsiteX8" fmla="*/ 864978 w 866736"/>
                  <a:gd name="connsiteY8" fmla="*/ 794521 h 1490916"/>
                  <a:gd name="connsiteX9" fmla="*/ 839578 w 866736"/>
                  <a:gd name="connsiteY9" fmla="*/ 337321 h 1490916"/>
                  <a:gd name="connsiteX10" fmla="*/ 763378 w 866736"/>
                  <a:gd name="connsiteY10" fmla="*/ 83321 h 1490916"/>
                  <a:gd name="connsiteX0" fmla="*/ 839578 w 866736"/>
                  <a:gd name="connsiteY0" fmla="*/ 94239 h 1489134"/>
                  <a:gd name="connsiteX1" fmla="*/ 553828 w 866736"/>
                  <a:gd name="connsiteY1" fmla="*/ 5339 h 1489134"/>
                  <a:gd name="connsiteX2" fmla="*/ 287128 w 866736"/>
                  <a:gd name="connsiteY2" fmla="*/ 233939 h 1489134"/>
                  <a:gd name="connsiteX3" fmla="*/ 166478 w 866736"/>
                  <a:gd name="connsiteY3" fmla="*/ 887989 h 1489134"/>
                  <a:gd name="connsiteX4" fmla="*/ 1378 w 866736"/>
                  <a:gd name="connsiteY4" fmla="*/ 1408689 h 1489134"/>
                  <a:gd name="connsiteX5" fmla="*/ 115678 w 866736"/>
                  <a:gd name="connsiteY5" fmla="*/ 1484889 h 1489134"/>
                  <a:gd name="connsiteX6" fmla="*/ 560178 w 866736"/>
                  <a:gd name="connsiteY6" fmla="*/ 1383289 h 1489134"/>
                  <a:gd name="connsiteX7" fmla="*/ 788778 w 866736"/>
                  <a:gd name="connsiteY7" fmla="*/ 1161039 h 1489134"/>
                  <a:gd name="connsiteX8" fmla="*/ 864978 w 866736"/>
                  <a:gd name="connsiteY8" fmla="*/ 792739 h 1489134"/>
                  <a:gd name="connsiteX9" fmla="*/ 839578 w 866736"/>
                  <a:gd name="connsiteY9" fmla="*/ 335539 h 1489134"/>
                  <a:gd name="connsiteX10" fmla="*/ 839578 w 866736"/>
                  <a:gd name="connsiteY10" fmla="*/ 94239 h 1489134"/>
                  <a:gd name="connsiteX0" fmla="*/ 839578 w 878926"/>
                  <a:gd name="connsiteY0" fmla="*/ 94239 h 1489134"/>
                  <a:gd name="connsiteX1" fmla="*/ 553828 w 878926"/>
                  <a:gd name="connsiteY1" fmla="*/ 5339 h 1489134"/>
                  <a:gd name="connsiteX2" fmla="*/ 287128 w 878926"/>
                  <a:gd name="connsiteY2" fmla="*/ 233939 h 1489134"/>
                  <a:gd name="connsiteX3" fmla="*/ 166478 w 878926"/>
                  <a:gd name="connsiteY3" fmla="*/ 887989 h 1489134"/>
                  <a:gd name="connsiteX4" fmla="*/ 1378 w 878926"/>
                  <a:gd name="connsiteY4" fmla="*/ 1408689 h 1489134"/>
                  <a:gd name="connsiteX5" fmla="*/ 115678 w 878926"/>
                  <a:gd name="connsiteY5" fmla="*/ 1484889 h 1489134"/>
                  <a:gd name="connsiteX6" fmla="*/ 560178 w 878926"/>
                  <a:gd name="connsiteY6" fmla="*/ 1383289 h 1489134"/>
                  <a:gd name="connsiteX7" fmla="*/ 788778 w 878926"/>
                  <a:gd name="connsiteY7" fmla="*/ 1161039 h 1489134"/>
                  <a:gd name="connsiteX8" fmla="*/ 877678 w 878926"/>
                  <a:gd name="connsiteY8" fmla="*/ 951489 h 1489134"/>
                  <a:gd name="connsiteX9" fmla="*/ 839578 w 878926"/>
                  <a:gd name="connsiteY9" fmla="*/ 335539 h 1489134"/>
                  <a:gd name="connsiteX10" fmla="*/ 839578 w 878926"/>
                  <a:gd name="connsiteY10" fmla="*/ 94239 h 1489134"/>
                  <a:gd name="connsiteX0" fmla="*/ 839578 w 890528"/>
                  <a:gd name="connsiteY0" fmla="*/ 95419 h 1490314"/>
                  <a:gd name="connsiteX1" fmla="*/ 553828 w 890528"/>
                  <a:gd name="connsiteY1" fmla="*/ 6519 h 1490314"/>
                  <a:gd name="connsiteX2" fmla="*/ 287128 w 890528"/>
                  <a:gd name="connsiteY2" fmla="*/ 235119 h 1490314"/>
                  <a:gd name="connsiteX3" fmla="*/ 166478 w 890528"/>
                  <a:gd name="connsiteY3" fmla="*/ 889169 h 1490314"/>
                  <a:gd name="connsiteX4" fmla="*/ 1378 w 890528"/>
                  <a:gd name="connsiteY4" fmla="*/ 1409869 h 1490314"/>
                  <a:gd name="connsiteX5" fmla="*/ 115678 w 890528"/>
                  <a:gd name="connsiteY5" fmla="*/ 1486069 h 1490314"/>
                  <a:gd name="connsiteX6" fmla="*/ 560178 w 890528"/>
                  <a:gd name="connsiteY6" fmla="*/ 1384469 h 1490314"/>
                  <a:gd name="connsiteX7" fmla="*/ 788778 w 890528"/>
                  <a:gd name="connsiteY7" fmla="*/ 1162219 h 1490314"/>
                  <a:gd name="connsiteX8" fmla="*/ 877678 w 890528"/>
                  <a:gd name="connsiteY8" fmla="*/ 952669 h 1490314"/>
                  <a:gd name="connsiteX9" fmla="*/ 884028 w 890528"/>
                  <a:gd name="connsiteY9" fmla="*/ 431969 h 1490314"/>
                  <a:gd name="connsiteX10" fmla="*/ 839578 w 890528"/>
                  <a:gd name="connsiteY10" fmla="*/ 95419 h 1490314"/>
                  <a:gd name="connsiteX0" fmla="*/ 839578 w 890528"/>
                  <a:gd name="connsiteY0" fmla="*/ 101645 h 1496540"/>
                  <a:gd name="connsiteX1" fmla="*/ 553828 w 890528"/>
                  <a:gd name="connsiteY1" fmla="*/ 12745 h 1496540"/>
                  <a:gd name="connsiteX2" fmla="*/ 268078 w 890528"/>
                  <a:gd name="connsiteY2" fmla="*/ 336595 h 1496540"/>
                  <a:gd name="connsiteX3" fmla="*/ 166478 w 890528"/>
                  <a:gd name="connsiteY3" fmla="*/ 895395 h 1496540"/>
                  <a:gd name="connsiteX4" fmla="*/ 1378 w 890528"/>
                  <a:gd name="connsiteY4" fmla="*/ 1416095 h 1496540"/>
                  <a:gd name="connsiteX5" fmla="*/ 115678 w 890528"/>
                  <a:gd name="connsiteY5" fmla="*/ 1492295 h 1496540"/>
                  <a:gd name="connsiteX6" fmla="*/ 560178 w 890528"/>
                  <a:gd name="connsiteY6" fmla="*/ 1390695 h 1496540"/>
                  <a:gd name="connsiteX7" fmla="*/ 788778 w 890528"/>
                  <a:gd name="connsiteY7" fmla="*/ 1168445 h 1496540"/>
                  <a:gd name="connsiteX8" fmla="*/ 877678 w 890528"/>
                  <a:gd name="connsiteY8" fmla="*/ 958895 h 1496540"/>
                  <a:gd name="connsiteX9" fmla="*/ 884028 w 890528"/>
                  <a:gd name="connsiteY9" fmla="*/ 438195 h 1496540"/>
                  <a:gd name="connsiteX10" fmla="*/ 839578 w 890528"/>
                  <a:gd name="connsiteY10" fmla="*/ 101645 h 1496540"/>
                  <a:gd name="connsiteX0" fmla="*/ 839578 w 887860"/>
                  <a:gd name="connsiteY0" fmla="*/ 101645 h 1496540"/>
                  <a:gd name="connsiteX1" fmla="*/ 553828 w 887860"/>
                  <a:gd name="connsiteY1" fmla="*/ 12745 h 1496540"/>
                  <a:gd name="connsiteX2" fmla="*/ 268078 w 887860"/>
                  <a:gd name="connsiteY2" fmla="*/ 336595 h 1496540"/>
                  <a:gd name="connsiteX3" fmla="*/ 166478 w 887860"/>
                  <a:gd name="connsiteY3" fmla="*/ 895395 h 1496540"/>
                  <a:gd name="connsiteX4" fmla="*/ 1378 w 887860"/>
                  <a:gd name="connsiteY4" fmla="*/ 1416095 h 1496540"/>
                  <a:gd name="connsiteX5" fmla="*/ 115678 w 887860"/>
                  <a:gd name="connsiteY5" fmla="*/ 1492295 h 1496540"/>
                  <a:gd name="connsiteX6" fmla="*/ 560178 w 887860"/>
                  <a:gd name="connsiteY6" fmla="*/ 1390695 h 1496540"/>
                  <a:gd name="connsiteX7" fmla="*/ 852278 w 887860"/>
                  <a:gd name="connsiteY7" fmla="*/ 1308145 h 1496540"/>
                  <a:gd name="connsiteX8" fmla="*/ 877678 w 887860"/>
                  <a:gd name="connsiteY8" fmla="*/ 958895 h 1496540"/>
                  <a:gd name="connsiteX9" fmla="*/ 884028 w 887860"/>
                  <a:gd name="connsiteY9" fmla="*/ 438195 h 1496540"/>
                  <a:gd name="connsiteX10" fmla="*/ 839578 w 887860"/>
                  <a:gd name="connsiteY10" fmla="*/ 101645 h 1496540"/>
                  <a:gd name="connsiteX0" fmla="*/ 839578 w 887860"/>
                  <a:gd name="connsiteY0" fmla="*/ 50839 h 1445734"/>
                  <a:gd name="connsiteX1" fmla="*/ 553828 w 887860"/>
                  <a:gd name="connsiteY1" fmla="*/ 25439 h 1445734"/>
                  <a:gd name="connsiteX2" fmla="*/ 268078 w 887860"/>
                  <a:gd name="connsiteY2" fmla="*/ 285789 h 1445734"/>
                  <a:gd name="connsiteX3" fmla="*/ 166478 w 887860"/>
                  <a:gd name="connsiteY3" fmla="*/ 844589 h 1445734"/>
                  <a:gd name="connsiteX4" fmla="*/ 1378 w 887860"/>
                  <a:gd name="connsiteY4" fmla="*/ 1365289 h 1445734"/>
                  <a:gd name="connsiteX5" fmla="*/ 115678 w 887860"/>
                  <a:gd name="connsiteY5" fmla="*/ 1441489 h 1445734"/>
                  <a:gd name="connsiteX6" fmla="*/ 560178 w 887860"/>
                  <a:gd name="connsiteY6" fmla="*/ 1339889 h 1445734"/>
                  <a:gd name="connsiteX7" fmla="*/ 852278 w 887860"/>
                  <a:gd name="connsiteY7" fmla="*/ 1257339 h 1445734"/>
                  <a:gd name="connsiteX8" fmla="*/ 877678 w 887860"/>
                  <a:gd name="connsiteY8" fmla="*/ 908089 h 1445734"/>
                  <a:gd name="connsiteX9" fmla="*/ 884028 w 887860"/>
                  <a:gd name="connsiteY9" fmla="*/ 387389 h 1445734"/>
                  <a:gd name="connsiteX10" fmla="*/ 839578 w 887860"/>
                  <a:gd name="connsiteY10" fmla="*/ 50839 h 1445734"/>
                  <a:gd name="connsiteX0" fmla="*/ 814178 w 887860"/>
                  <a:gd name="connsiteY0" fmla="*/ 101939 h 1426984"/>
                  <a:gd name="connsiteX1" fmla="*/ 553828 w 887860"/>
                  <a:gd name="connsiteY1" fmla="*/ 6689 h 1426984"/>
                  <a:gd name="connsiteX2" fmla="*/ 268078 w 887860"/>
                  <a:gd name="connsiteY2" fmla="*/ 267039 h 1426984"/>
                  <a:gd name="connsiteX3" fmla="*/ 166478 w 887860"/>
                  <a:gd name="connsiteY3" fmla="*/ 825839 h 1426984"/>
                  <a:gd name="connsiteX4" fmla="*/ 1378 w 887860"/>
                  <a:gd name="connsiteY4" fmla="*/ 1346539 h 1426984"/>
                  <a:gd name="connsiteX5" fmla="*/ 115678 w 887860"/>
                  <a:gd name="connsiteY5" fmla="*/ 1422739 h 1426984"/>
                  <a:gd name="connsiteX6" fmla="*/ 560178 w 887860"/>
                  <a:gd name="connsiteY6" fmla="*/ 1321139 h 1426984"/>
                  <a:gd name="connsiteX7" fmla="*/ 852278 w 887860"/>
                  <a:gd name="connsiteY7" fmla="*/ 1238589 h 1426984"/>
                  <a:gd name="connsiteX8" fmla="*/ 877678 w 887860"/>
                  <a:gd name="connsiteY8" fmla="*/ 889339 h 1426984"/>
                  <a:gd name="connsiteX9" fmla="*/ 884028 w 887860"/>
                  <a:gd name="connsiteY9" fmla="*/ 368639 h 1426984"/>
                  <a:gd name="connsiteX10" fmla="*/ 814178 w 887860"/>
                  <a:gd name="connsiteY10" fmla="*/ 101939 h 1426984"/>
                  <a:gd name="connsiteX0" fmla="*/ 814178 w 887860"/>
                  <a:gd name="connsiteY0" fmla="*/ 150553 h 1475598"/>
                  <a:gd name="connsiteX1" fmla="*/ 553828 w 887860"/>
                  <a:gd name="connsiteY1" fmla="*/ 4503 h 1475598"/>
                  <a:gd name="connsiteX2" fmla="*/ 268078 w 887860"/>
                  <a:gd name="connsiteY2" fmla="*/ 315653 h 1475598"/>
                  <a:gd name="connsiteX3" fmla="*/ 166478 w 887860"/>
                  <a:gd name="connsiteY3" fmla="*/ 874453 h 1475598"/>
                  <a:gd name="connsiteX4" fmla="*/ 1378 w 887860"/>
                  <a:gd name="connsiteY4" fmla="*/ 1395153 h 1475598"/>
                  <a:gd name="connsiteX5" fmla="*/ 115678 w 887860"/>
                  <a:gd name="connsiteY5" fmla="*/ 1471353 h 1475598"/>
                  <a:gd name="connsiteX6" fmla="*/ 560178 w 887860"/>
                  <a:gd name="connsiteY6" fmla="*/ 1369753 h 1475598"/>
                  <a:gd name="connsiteX7" fmla="*/ 852278 w 887860"/>
                  <a:gd name="connsiteY7" fmla="*/ 1287203 h 1475598"/>
                  <a:gd name="connsiteX8" fmla="*/ 877678 w 887860"/>
                  <a:gd name="connsiteY8" fmla="*/ 937953 h 1475598"/>
                  <a:gd name="connsiteX9" fmla="*/ 884028 w 887860"/>
                  <a:gd name="connsiteY9" fmla="*/ 417253 h 1475598"/>
                  <a:gd name="connsiteX10" fmla="*/ 814178 w 887860"/>
                  <a:gd name="connsiteY10" fmla="*/ 150553 h 1475598"/>
                  <a:gd name="connsiteX0" fmla="*/ 758874 w 832556"/>
                  <a:gd name="connsiteY0" fmla="*/ 150553 h 1473058"/>
                  <a:gd name="connsiteX1" fmla="*/ 498524 w 832556"/>
                  <a:gd name="connsiteY1" fmla="*/ 4503 h 1473058"/>
                  <a:gd name="connsiteX2" fmla="*/ 212774 w 832556"/>
                  <a:gd name="connsiteY2" fmla="*/ 315653 h 1473058"/>
                  <a:gd name="connsiteX3" fmla="*/ 111174 w 832556"/>
                  <a:gd name="connsiteY3" fmla="*/ 874453 h 1473058"/>
                  <a:gd name="connsiteX4" fmla="*/ 9574 w 832556"/>
                  <a:gd name="connsiteY4" fmla="*/ 1280853 h 1473058"/>
                  <a:gd name="connsiteX5" fmla="*/ 60374 w 832556"/>
                  <a:gd name="connsiteY5" fmla="*/ 1471353 h 1473058"/>
                  <a:gd name="connsiteX6" fmla="*/ 504874 w 832556"/>
                  <a:gd name="connsiteY6" fmla="*/ 1369753 h 1473058"/>
                  <a:gd name="connsiteX7" fmla="*/ 796974 w 832556"/>
                  <a:gd name="connsiteY7" fmla="*/ 1287203 h 1473058"/>
                  <a:gd name="connsiteX8" fmla="*/ 822374 w 832556"/>
                  <a:gd name="connsiteY8" fmla="*/ 937953 h 1473058"/>
                  <a:gd name="connsiteX9" fmla="*/ 828724 w 832556"/>
                  <a:gd name="connsiteY9" fmla="*/ 417253 h 1473058"/>
                  <a:gd name="connsiteX10" fmla="*/ 758874 w 832556"/>
                  <a:gd name="connsiteY10" fmla="*/ 150553 h 1473058"/>
                  <a:gd name="connsiteX0" fmla="*/ 758874 w 855468"/>
                  <a:gd name="connsiteY0" fmla="*/ 150553 h 1473481"/>
                  <a:gd name="connsiteX1" fmla="*/ 498524 w 855468"/>
                  <a:gd name="connsiteY1" fmla="*/ 4503 h 1473481"/>
                  <a:gd name="connsiteX2" fmla="*/ 212774 w 855468"/>
                  <a:gd name="connsiteY2" fmla="*/ 315653 h 1473481"/>
                  <a:gd name="connsiteX3" fmla="*/ 111174 w 855468"/>
                  <a:gd name="connsiteY3" fmla="*/ 874453 h 1473481"/>
                  <a:gd name="connsiteX4" fmla="*/ 9574 w 855468"/>
                  <a:gd name="connsiteY4" fmla="*/ 1280853 h 1473481"/>
                  <a:gd name="connsiteX5" fmla="*/ 60374 w 855468"/>
                  <a:gd name="connsiteY5" fmla="*/ 1471353 h 1473481"/>
                  <a:gd name="connsiteX6" fmla="*/ 504874 w 855468"/>
                  <a:gd name="connsiteY6" fmla="*/ 1369753 h 1473481"/>
                  <a:gd name="connsiteX7" fmla="*/ 438770 w 855468"/>
                  <a:gd name="connsiteY7" fmla="*/ 1166553 h 1473481"/>
                  <a:gd name="connsiteX8" fmla="*/ 822374 w 855468"/>
                  <a:gd name="connsiteY8" fmla="*/ 937953 h 1473481"/>
                  <a:gd name="connsiteX9" fmla="*/ 828724 w 855468"/>
                  <a:gd name="connsiteY9" fmla="*/ 417253 h 1473481"/>
                  <a:gd name="connsiteX10" fmla="*/ 758874 w 855468"/>
                  <a:gd name="connsiteY10" fmla="*/ 150553 h 1473481"/>
                  <a:gd name="connsiteX0" fmla="*/ 752450 w 849045"/>
                  <a:gd name="connsiteY0" fmla="*/ 150553 h 1491894"/>
                  <a:gd name="connsiteX1" fmla="*/ 492100 w 849045"/>
                  <a:gd name="connsiteY1" fmla="*/ 4503 h 1491894"/>
                  <a:gd name="connsiteX2" fmla="*/ 206350 w 849045"/>
                  <a:gd name="connsiteY2" fmla="*/ 315653 h 1491894"/>
                  <a:gd name="connsiteX3" fmla="*/ 104750 w 849045"/>
                  <a:gd name="connsiteY3" fmla="*/ 874453 h 1491894"/>
                  <a:gd name="connsiteX4" fmla="*/ 3150 w 849045"/>
                  <a:gd name="connsiteY4" fmla="*/ 1280853 h 1491894"/>
                  <a:gd name="connsiteX5" fmla="*/ 53950 w 849045"/>
                  <a:gd name="connsiteY5" fmla="*/ 1471353 h 1491894"/>
                  <a:gd name="connsiteX6" fmla="*/ 322859 w 849045"/>
                  <a:gd name="connsiteY6" fmla="*/ 1452303 h 1491894"/>
                  <a:gd name="connsiteX7" fmla="*/ 432346 w 849045"/>
                  <a:gd name="connsiteY7" fmla="*/ 1166553 h 1491894"/>
                  <a:gd name="connsiteX8" fmla="*/ 815950 w 849045"/>
                  <a:gd name="connsiteY8" fmla="*/ 937953 h 1491894"/>
                  <a:gd name="connsiteX9" fmla="*/ 822300 w 849045"/>
                  <a:gd name="connsiteY9" fmla="*/ 417253 h 1491894"/>
                  <a:gd name="connsiteX10" fmla="*/ 752450 w 849045"/>
                  <a:gd name="connsiteY10" fmla="*/ 150553 h 1491894"/>
                  <a:gd name="connsiteX0" fmla="*/ 872977 w 969572"/>
                  <a:gd name="connsiteY0" fmla="*/ 150553 h 1482476"/>
                  <a:gd name="connsiteX1" fmla="*/ 612627 w 969572"/>
                  <a:gd name="connsiteY1" fmla="*/ 4503 h 1482476"/>
                  <a:gd name="connsiteX2" fmla="*/ 326877 w 969572"/>
                  <a:gd name="connsiteY2" fmla="*/ 315653 h 1482476"/>
                  <a:gd name="connsiteX3" fmla="*/ 225277 w 969572"/>
                  <a:gd name="connsiteY3" fmla="*/ 874453 h 1482476"/>
                  <a:gd name="connsiteX4" fmla="*/ 123677 w 969572"/>
                  <a:gd name="connsiteY4" fmla="*/ 1280853 h 1482476"/>
                  <a:gd name="connsiteX5" fmla="*/ 535 w 969572"/>
                  <a:gd name="connsiteY5" fmla="*/ 1428749 h 1482476"/>
                  <a:gd name="connsiteX6" fmla="*/ 174477 w 969572"/>
                  <a:gd name="connsiteY6" fmla="*/ 1471353 h 1482476"/>
                  <a:gd name="connsiteX7" fmla="*/ 443386 w 969572"/>
                  <a:gd name="connsiteY7" fmla="*/ 1452303 h 1482476"/>
                  <a:gd name="connsiteX8" fmla="*/ 552873 w 969572"/>
                  <a:gd name="connsiteY8" fmla="*/ 1166553 h 1482476"/>
                  <a:gd name="connsiteX9" fmla="*/ 936477 w 969572"/>
                  <a:gd name="connsiteY9" fmla="*/ 937953 h 1482476"/>
                  <a:gd name="connsiteX10" fmla="*/ 942827 w 969572"/>
                  <a:gd name="connsiteY10" fmla="*/ 417253 h 1482476"/>
                  <a:gd name="connsiteX11" fmla="*/ 872977 w 969572"/>
                  <a:gd name="connsiteY11" fmla="*/ 150553 h 1482476"/>
                  <a:gd name="connsiteX0" fmla="*/ 872943 w 969538"/>
                  <a:gd name="connsiteY0" fmla="*/ 150553 h 1482476"/>
                  <a:gd name="connsiteX1" fmla="*/ 612593 w 969538"/>
                  <a:gd name="connsiteY1" fmla="*/ 4503 h 1482476"/>
                  <a:gd name="connsiteX2" fmla="*/ 326843 w 969538"/>
                  <a:gd name="connsiteY2" fmla="*/ 315653 h 1482476"/>
                  <a:gd name="connsiteX3" fmla="*/ 225243 w 969538"/>
                  <a:gd name="connsiteY3" fmla="*/ 874453 h 1482476"/>
                  <a:gd name="connsiteX4" fmla="*/ 130667 w 969538"/>
                  <a:gd name="connsiteY4" fmla="*/ 1153853 h 1482476"/>
                  <a:gd name="connsiteX5" fmla="*/ 501 w 969538"/>
                  <a:gd name="connsiteY5" fmla="*/ 1428749 h 1482476"/>
                  <a:gd name="connsiteX6" fmla="*/ 174443 w 969538"/>
                  <a:gd name="connsiteY6" fmla="*/ 1471353 h 1482476"/>
                  <a:gd name="connsiteX7" fmla="*/ 443352 w 969538"/>
                  <a:gd name="connsiteY7" fmla="*/ 1452303 h 1482476"/>
                  <a:gd name="connsiteX8" fmla="*/ 552839 w 969538"/>
                  <a:gd name="connsiteY8" fmla="*/ 1166553 h 1482476"/>
                  <a:gd name="connsiteX9" fmla="*/ 936443 w 969538"/>
                  <a:gd name="connsiteY9" fmla="*/ 937953 h 1482476"/>
                  <a:gd name="connsiteX10" fmla="*/ 942793 w 969538"/>
                  <a:gd name="connsiteY10" fmla="*/ 417253 h 1482476"/>
                  <a:gd name="connsiteX11" fmla="*/ 872943 w 969538"/>
                  <a:gd name="connsiteY11" fmla="*/ 150553 h 1482476"/>
                  <a:gd name="connsiteX0" fmla="*/ 872918 w 969513"/>
                  <a:gd name="connsiteY0" fmla="*/ 150553 h 1482476"/>
                  <a:gd name="connsiteX1" fmla="*/ 612568 w 969513"/>
                  <a:gd name="connsiteY1" fmla="*/ 4503 h 1482476"/>
                  <a:gd name="connsiteX2" fmla="*/ 326818 w 969513"/>
                  <a:gd name="connsiteY2" fmla="*/ 315653 h 1482476"/>
                  <a:gd name="connsiteX3" fmla="*/ 190100 w 969513"/>
                  <a:gd name="connsiteY3" fmla="*/ 849053 h 1482476"/>
                  <a:gd name="connsiteX4" fmla="*/ 130642 w 969513"/>
                  <a:gd name="connsiteY4" fmla="*/ 1153853 h 1482476"/>
                  <a:gd name="connsiteX5" fmla="*/ 476 w 969513"/>
                  <a:gd name="connsiteY5" fmla="*/ 1428749 h 1482476"/>
                  <a:gd name="connsiteX6" fmla="*/ 174418 w 969513"/>
                  <a:gd name="connsiteY6" fmla="*/ 1471353 h 1482476"/>
                  <a:gd name="connsiteX7" fmla="*/ 443327 w 969513"/>
                  <a:gd name="connsiteY7" fmla="*/ 1452303 h 1482476"/>
                  <a:gd name="connsiteX8" fmla="*/ 552814 w 969513"/>
                  <a:gd name="connsiteY8" fmla="*/ 1166553 h 1482476"/>
                  <a:gd name="connsiteX9" fmla="*/ 936418 w 969513"/>
                  <a:gd name="connsiteY9" fmla="*/ 937953 h 1482476"/>
                  <a:gd name="connsiteX10" fmla="*/ 942768 w 969513"/>
                  <a:gd name="connsiteY10" fmla="*/ 417253 h 1482476"/>
                  <a:gd name="connsiteX11" fmla="*/ 872918 w 969513"/>
                  <a:gd name="connsiteY11" fmla="*/ 150553 h 1482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69513" h="1482476">
                    <a:moveTo>
                      <a:pt x="872918" y="150553"/>
                    </a:moveTo>
                    <a:cubicBezTo>
                      <a:pt x="817885" y="81761"/>
                      <a:pt x="703585" y="-23014"/>
                      <a:pt x="612568" y="4503"/>
                    </a:cubicBezTo>
                    <a:cubicBezTo>
                      <a:pt x="521551" y="32020"/>
                      <a:pt x="397229" y="174895"/>
                      <a:pt x="326818" y="315653"/>
                    </a:cubicBezTo>
                    <a:cubicBezTo>
                      <a:pt x="256407" y="456411"/>
                      <a:pt x="222796" y="709353"/>
                      <a:pt x="190100" y="849053"/>
                    </a:cubicBezTo>
                    <a:cubicBezTo>
                      <a:pt x="157404" y="988753"/>
                      <a:pt x="162246" y="1057237"/>
                      <a:pt x="130642" y="1153853"/>
                    </a:cubicBezTo>
                    <a:cubicBezTo>
                      <a:pt x="99038" y="1250469"/>
                      <a:pt x="-7991" y="1396999"/>
                      <a:pt x="476" y="1428749"/>
                    </a:cubicBezTo>
                    <a:cubicBezTo>
                      <a:pt x="8943" y="1460499"/>
                      <a:pt x="100610" y="1467427"/>
                      <a:pt x="174418" y="1471353"/>
                    </a:cubicBezTo>
                    <a:cubicBezTo>
                      <a:pt x="248226" y="1475279"/>
                      <a:pt x="380261" y="1503103"/>
                      <a:pt x="443327" y="1452303"/>
                    </a:cubicBezTo>
                    <a:cubicBezTo>
                      <a:pt x="506393" y="1401503"/>
                      <a:pt x="470632" y="1252278"/>
                      <a:pt x="552814" y="1166553"/>
                    </a:cubicBezTo>
                    <a:cubicBezTo>
                      <a:pt x="634996" y="1080828"/>
                      <a:pt x="871426" y="1062836"/>
                      <a:pt x="936418" y="937953"/>
                    </a:cubicBezTo>
                    <a:cubicBezTo>
                      <a:pt x="1001410" y="813070"/>
                      <a:pt x="952293" y="530495"/>
                      <a:pt x="942768" y="417253"/>
                    </a:cubicBezTo>
                    <a:cubicBezTo>
                      <a:pt x="925835" y="298720"/>
                      <a:pt x="927951" y="219345"/>
                      <a:pt x="872918" y="150553"/>
                    </a:cubicBezTo>
                    <a:close/>
                  </a:path>
                </a:pathLst>
              </a:cu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60C4D4C8-DA33-4AA6-9987-A0708C9FE845}"/>
                  </a:ext>
                </a:extLst>
              </p:cNvPr>
              <p:cNvSpPr/>
              <p:nvPr/>
            </p:nvSpPr>
            <p:spPr>
              <a:xfrm rot="217516">
                <a:off x="2300096" y="3525456"/>
                <a:ext cx="615861" cy="508757"/>
              </a:xfrm>
              <a:custGeom>
                <a:avLst/>
                <a:gdLst>
                  <a:gd name="connsiteX0" fmla="*/ 624593 w 637432"/>
                  <a:gd name="connsiteY0" fmla="*/ 115475 h 416873"/>
                  <a:gd name="connsiteX1" fmla="*/ 497593 w 637432"/>
                  <a:gd name="connsiteY1" fmla="*/ 7525 h 416873"/>
                  <a:gd name="connsiteX2" fmla="*/ 326143 w 637432"/>
                  <a:gd name="connsiteY2" fmla="*/ 20225 h 416873"/>
                  <a:gd name="connsiteX3" fmla="*/ 148343 w 637432"/>
                  <a:gd name="connsiteY3" fmla="*/ 109125 h 416873"/>
                  <a:gd name="connsiteX4" fmla="*/ 21343 w 637432"/>
                  <a:gd name="connsiteY4" fmla="*/ 229775 h 416873"/>
                  <a:gd name="connsiteX5" fmla="*/ 8643 w 637432"/>
                  <a:gd name="connsiteY5" fmla="*/ 337725 h 416873"/>
                  <a:gd name="connsiteX6" fmla="*/ 110243 w 637432"/>
                  <a:gd name="connsiteY6" fmla="*/ 401225 h 416873"/>
                  <a:gd name="connsiteX7" fmla="*/ 427743 w 637432"/>
                  <a:gd name="connsiteY7" fmla="*/ 413925 h 416873"/>
                  <a:gd name="connsiteX8" fmla="*/ 599193 w 637432"/>
                  <a:gd name="connsiteY8" fmla="*/ 356775 h 416873"/>
                  <a:gd name="connsiteX9" fmla="*/ 630943 w 637432"/>
                  <a:gd name="connsiteY9" fmla="*/ 210725 h 416873"/>
                  <a:gd name="connsiteX10" fmla="*/ 624593 w 637432"/>
                  <a:gd name="connsiteY10" fmla="*/ 115475 h 416873"/>
                  <a:gd name="connsiteX0" fmla="*/ 624593 w 713422"/>
                  <a:gd name="connsiteY0" fmla="*/ 115475 h 416873"/>
                  <a:gd name="connsiteX1" fmla="*/ 497593 w 713422"/>
                  <a:gd name="connsiteY1" fmla="*/ 7525 h 416873"/>
                  <a:gd name="connsiteX2" fmla="*/ 326143 w 713422"/>
                  <a:gd name="connsiteY2" fmla="*/ 20225 h 416873"/>
                  <a:gd name="connsiteX3" fmla="*/ 148343 w 713422"/>
                  <a:gd name="connsiteY3" fmla="*/ 109125 h 416873"/>
                  <a:gd name="connsiteX4" fmla="*/ 21343 w 713422"/>
                  <a:gd name="connsiteY4" fmla="*/ 229775 h 416873"/>
                  <a:gd name="connsiteX5" fmla="*/ 8643 w 713422"/>
                  <a:gd name="connsiteY5" fmla="*/ 337725 h 416873"/>
                  <a:gd name="connsiteX6" fmla="*/ 110243 w 713422"/>
                  <a:gd name="connsiteY6" fmla="*/ 401225 h 416873"/>
                  <a:gd name="connsiteX7" fmla="*/ 427743 w 713422"/>
                  <a:gd name="connsiteY7" fmla="*/ 413925 h 416873"/>
                  <a:gd name="connsiteX8" fmla="*/ 599193 w 713422"/>
                  <a:gd name="connsiteY8" fmla="*/ 356775 h 416873"/>
                  <a:gd name="connsiteX9" fmla="*/ 713294 w 713422"/>
                  <a:gd name="connsiteY9" fmla="*/ 260437 h 416873"/>
                  <a:gd name="connsiteX10" fmla="*/ 624593 w 713422"/>
                  <a:gd name="connsiteY10" fmla="*/ 115475 h 416873"/>
                  <a:gd name="connsiteX0" fmla="*/ 624593 w 716662"/>
                  <a:gd name="connsiteY0" fmla="*/ 115475 h 414721"/>
                  <a:gd name="connsiteX1" fmla="*/ 497593 w 716662"/>
                  <a:gd name="connsiteY1" fmla="*/ 7525 h 414721"/>
                  <a:gd name="connsiteX2" fmla="*/ 326143 w 716662"/>
                  <a:gd name="connsiteY2" fmla="*/ 20225 h 414721"/>
                  <a:gd name="connsiteX3" fmla="*/ 148343 w 716662"/>
                  <a:gd name="connsiteY3" fmla="*/ 109125 h 414721"/>
                  <a:gd name="connsiteX4" fmla="*/ 21343 w 716662"/>
                  <a:gd name="connsiteY4" fmla="*/ 229775 h 414721"/>
                  <a:gd name="connsiteX5" fmla="*/ 8643 w 716662"/>
                  <a:gd name="connsiteY5" fmla="*/ 337725 h 414721"/>
                  <a:gd name="connsiteX6" fmla="*/ 110243 w 716662"/>
                  <a:gd name="connsiteY6" fmla="*/ 401225 h 414721"/>
                  <a:gd name="connsiteX7" fmla="*/ 427743 w 716662"/>
                  <a:gd name="connsiteY7" fmla="*/ 413925 h 414721"/>
                  <a:gd name="connsiteX8" fmla="*/ 679592 w 716662"/>
                  <a:gd name="connsiteY8" fmla="*/ 387306 h 414721"/>
                  <a:gd name="connsiteX9" fmla="*/ 713294 w 716662"/>
                  <a:gd name="connsiteY9" fmla="*/ 260437 h 414721"/>
                  <a:gd name="connsiteX10" fmla="*/ 624593 w 716662"/>
                  <a:gd name="connsiteY10" fmla="*/ 115475 h 414721"/>
                  <a:gd name="connsiteX0" fmla="*/ 650669 w 742738"/>
                  <a:gd name="connsiteY0" fmla="*/ 115475 h 414698"/>
                  <a:gd name="connsiteX1" fmla="*/ 523669 w 742738"/>
                  <a:gd name="connsiteY1" fmla="*/ 7525 h 414698"/>
                  <a:gd name="connsiteX2" fmla="*/ 352219 w 742738"/>
                  <a:gd name="connsiteY2" fmla="*/ 20225 h 414698"/>
                  <a:gd name="connsiteX3" fmla="*/ 174419 w 742738"/>
                  <a:gd name="connsiteY3" fmla="*/ 109125 h 414698"/>
                  <a:gd name="connsiteX4" fmla="*/ 47419 w 742738"/>
                  <a:gd name="connsiteY4" fmla="*/ 229775 h 414698"/>
                  <a:gd name="connsiteX5" fmla="*/ 3925 w 742738"/>
                  <a:gd name="connsiteY5" fmla="*/ 338940 h 414698"/>
                  <a:gd name="connsiteX6" fmla="*/ 136319 w 742738"/>
                  <a:gd name="connsiteY6" fmla="*/ 401225 h 414698"/>
                  <a:gd name="connsiteX7" fmla="*/ 453819 w 742738"/>
                  <a:gd name="connsiteY7" fmla="*/ 413925 h 414698"/>
                  <a:gd name="connsiteX8" fmla="*/ 705668 w 742738"/>
                  <a:gd name="connsiteY8" fmla="*/ 387306 h 414698"/>
                  <a:gd name="connsiteX9" fmla="*/ 739370 w 742738"/>
                  <a:gd name="connsiteY9" fmla="*/ 260437 h 414698"/>
                  <a:gd name="connsiteX10" fmla="*/ 650669 w 742738"/>
                  <a:gd name="connsiteY10" fmla="*/ 115475 h 414698"/>
                  <a:gd name="connsiteX0" fmla="*/ 656765 w 748834"/>
                  <a:gd name="connsiteY0" fmla="*/ 115475 h 414698"/>
                  <a:gd name="connsiteX1" fmla="*/ 529765 w 748834"/>
                  <a:gd name="connsiteY1" fmla="*/ 7525 h 414698"/>
                  <a:gd name="connsiteX2" fmla="*/ 358315 w 748834"/>
                  <a:gd name="connsiteY2" fmla="*/ 20225 h 414698"/>
                  <a:gd name="connsiteX3" fmla="*/ 180515 w 748834"/>
                  <a:gd name="connsiteY3" fmla="*/ 109125 h 414698"/>
                  <a:gd name="connsiteX4" fmla="*/ 28468 w 748834"/>
                  <a:gd name="connsiteY4" fmla="*/ 211504 h 414698"/>
                  <a:gd name="connsiteX5" fmla="*/ 10021 w 748834"/>
                  <a:gd name="connsiteY5" fmla="*/ 338940 h 414698"/>
                  <a:gd name="connsiteX6" fmla="*/ 142415 w 748834"/>
                  <a:gd name="connsiteY6" fmla="*/ 401225 h 414698"/>
                  <a:gd name="connsiteX7" fmla="*/ 459915 w 748834"/>
                  <a:gd name="connsiteY7" fmla="*/ 413925 h 414698"/>
                  <a:gd name="connsiteX8" fmla="*/ 711764 w 748834"/>
                  <a:gd name="connsiteY8" fmla="*/ 387306 h 414698"/>
                  <a:gd name="connsiteX9" fmla="*/ 745466 w 748834"/>
                  <a:gd name="connsiteY9" fmla="*/ 260437 h 414698"/>
                  <a:gd name="connsiteX10" fmla="*/ 656765 w 748834"/>
                  <a:gd name="connsiteY10" fmla="*/ 115475 h 414698"/>
                  <a:gd name="connsiteX0" fmla="*/ 656077 w 748146"/>
                  <a:gd name="connsiteY0" fmla="*/ 114828 h 414051"/>
                  <a:gd name="connsiteX1" fmla="*/ 529077 w 748146"/>
                  <a:gd name="connsiteY1" fmla="*/ 6878 h 414051"/>
                  <a:gd name="connsiteX2" fmla="*/ 357627 w 748146"/>
                  <a:gd name="connsiteY2" fmla="*/ 19578 h 414051"/>
                  <a:gd name="connsiteX3" fmla="*/ 162479 w 748146"/>
                  <a:gd name="connsiteY3" fmla="*/ 89904 h 414051"/>
                  <a:gd name="connsiteX4" fmla="*/ 27780 w 748146"/>
                  <a:gd name="connsiteY4" fmla="*/ 210857 h 414051"/>
                  <a:gd name="connsiteX5" fmla="*/ 9333 w 748146"/>
                  <a:gd name="connsiteY5" fmla="*/ 338293 h 414051"/>
                  <a:gd name="connsiteX6" fmla="*/ 141727 w 748146"/>
                  <a:gd name="connsiteY6" fmla="*/ 400578 h 414051"/>
                  <a:gd name="connsiteX7" fmla="*/ 459227 w 748146"/>
                  <a:gd name="connsiteY7" fmla="*/ 413278 h 414051"/>
                  <a:gd name="connsiteX8" fmla="*/ 711076 w 748146"/>
                  <a:gd name="connsiteY8" fmla="*/ 386659 h 414051"/>
                  <a:gd name="connsiteX9" fmla="*/ 744778 w 748146"/>
                  <a:gd name="connsiteY9" fmla="*/ 259790 h 414051"/>
                  <a:gd name="connsiteX10" fmla="*/ 656077 w 748146"/>
                  <a:gd name="connsiteY10" fmla="*/ 114828 h 414051"/>
                  <a:gd name="connsiteX0" fmla="*/ 656077 w 748146"/>
                  <a:gd name="connsiteY0" fmla="*/ 116101 h 415324"/>
                  <a:gd name="connsiteX1" fmla="*/ 529077 w 748146"/>
                  <a:gd name="connsiteY1" fmla="*/ 8151 h 415324"/>
                  <a:gd name="connsiteX2" fmla="*/ 334039 w 748146"/>
                  <a:gd name="connsiteY2" fmla="*/ 16966 h 415324"/>
                  <a:gd name="connsiteX3" fmla="*/ 162479 w 748146"/>
                  <a:gd name="connsiteY3" fmla="*/ 91177 h 415324"/>
                  <a:gd name="connsiteX4" fmla="*/ 27780 w 748146"/>
                  <a:gd name="connsiteY4" fmla="*/ 212130 h 415324"/>
                  <a:gd name="connsiteX5" fmla="*/ 9333 w 748146"/>
                  <a:gd name="connsiteY5" fmla="*/ 339566 h 415324"/>
                  <a:gd name="connsiteX6" fmla="*/ 141727 w 748146"/>
                  <a:gd name="connsiteY6" fmla="*/ 401851 h 415324"/>
                  <a:gd name="connsiteX7" fmla="*/ 459227 w 748146"/>
                  <a:gd name="connsiteY7" fmla="*/ 414551 h 415324"/>
                  <a:gd name="connsiteX8" fmla="*/ 711076 w 748146"/>
                  <a:gd name="connsiteY8" fmla="*/ 387932 h 415324"/>
                  <a:gd name="connsiteX9" fmla="*/ 744778 w 748146"/>
                  <a:gd name="connsiteY9" fmla="*/ 261063 h 415324"/>
                  <a:gd name="connsiteX10" fmla="*/ 656077 w 748146"/>
                  <a:gd name="connsiteY10" fmla="*/ 116101 h 415324"/>
                  <a:gd name="connsiteX0" fmla="*/ 656077 w 748146"/>
                  <a:gd name="connsiteY0" fmla="*/ 99222 h 398445"/>
                  <a:gd name="connsiteX1" fmla="*/ 489715 w 748146"/>
                  <a:gd name="connsiteY1" fmla="*/ 60232 h 398445"/>
                  <a:gd name="connsiteX2" fmla="*/ 334039 w 748146"/>
                  <a:gd name="connsiteY2" fmla="*/ 87 h 398445"/>
                  <a:gd name="connsiteX3" fmla="*/ 162479 w 748146"/>
                  <a:gd name="connsiteY3" fmla="*/ 74298 h 398445"/>
                  <a:gd name="connsiteX4" fmla="*/ 27780 w 748146"/>
                  <a:gd name="connsiteY4" fmla="*/ 195251 h 398445"/>
                  <a:gd name="connsiteX5" fmla="*/ 9333 w 748146"/>
                  <a:gd name="connsiteY5" fmla="*/ 322687 h 398445"/>
                  <a:gd name="connsiteX6" fmla="*/ 141727 w 748146"/>
                  <a:gd name="connsiteY6" fmla="*/ 384972 h 398445"/>
                  <a:gd name="connsiteX7" fmla="*/ 459227 w 748146"/>
                  <a:gd name="connsiteY7" fmla="*/ 397672 h 398445"/>
                  <a:gd name="connsiteX8" fmla="*/ 711076 w 748146"/>
                  <a:gd name="connsiteY8" fmla="*/ 371053 h 398445"/>
                  <a:gd name="connsiteX9" fmla="*/ 744778 w 748146"/>
                  <a:gd name="connsiteY9" fmla="*/ 244184 h 398445"/>
                  <a:gd name="connsiteX10" fmla="*/ 656077 w 748146"/>
                  <a:gd name="connsiteY10" fmla="*/ 99222 h 398445"/>
                  <a:gd name="connsiteX0" fmla="*/ 656077 w 748146"/>
                  <a:gd name="connsiteY0" fmla="*/ 84864 h 384087"/>
                  <a:gd name="connsiteX1" fmla="*/ 489715 w 748146"/>
                  <a:gd name="connsiteY1" fmla="*/ 45874 h 384087"/>
                  <a:gd name="connsiteX2" fmla="*/ 335501 w 748146"/>
                  <a:gd name="connsiteY2" fmla="*/ 116 h 384087"/>
                  <a:gd name="connsiteX3" fmla="*/ 162479 w 748146"/>
                  <a:gd name="connsiteY3" fmla="*/ 59940 h 384087"/>
                  <a:gd name="connsiteX4" fmla="*/ 27780 w 748146"/>
                  <a:gd name="connsiteY4" fmla="*/ 180893 h 384087"/>
                  <a:gd name="connsiteX5" fmla="*/ 9333 w 748146"/>
                  <a:gd name="connsiteY5" fmla="*/ 308329 h 384087"/>
                  <a:gd name="connsiteX6" fmla="*/ 141727 w 748146"/>
                  <a:gd name="connsiteY6" fmla="*/ 370614 h 384087"/>
                  <a:gd name="connsiteX7" fmla="*/ 459227 w 748146"/>
                  <a:gd name="connsiteY7" fmla="*/ 383314 h 384087"/>
                  <a:gd name="connsiteX8" fmla="*/ 711076 w 748146"/>
                  <a:gd name="connsiteY8" fmla="*/ 356695 h 384087"/>
                  <a:gd name="connsiteX9" fmla="*/ 744778 w 748146"/>
                  <a:gd name="connsiteY9" fmla="*/ 229826 h 384087"/>
                  <a:gd name="connsiteX10" fmla="*/ 656077 w 748146"/>
                  <a:gd name="connsiteY10" fmla="*/ 84864 h 384087"/>
                  <a:gd name="connsiteX0" fmla="*/ 656077 w 748146"/>
                  <a:gd name="connsiteY0" fmla="*/ 84842 h 384065"/>
                  <a:gd name="connsiteX1" fmla="*/ 553504 w 748146"/>
                  <a:gd name="connsiteY1" fmla="*/ 34030 h 384065"/>
                  <a:gd name="connsiteX2" fmla="*/ 489715 w 748146"/>
                  <a:gd name="connsiteY2" fmla="*/ 45852 h 384065"/>
                  <a:gd name="connsiteX3" fmla="*/ 335501 w 748146"/>
                  <a:gd name="connsiteY3" fmla="*/ 94 h 384065"/>
                  <a:gd name="connsiteX4" fmla="*/ 162479 w 748146"/>
                  <a:gd name="connsiteY4" fmla="*/ 59918 h 384065"/>
                  <a:gd name="connsiteX5" fmla="*/ 27780 w 748146"/>
                  <a:gd name="connsiteY5" fmla="*/ 180871 h 384065"/>
                  <a:gd name="connsiteX6" fmla="*/ 9333 w 748146"/>
                  <a:gd name="connsiteY6" fmla="*/ 308307 h 384065"/>
                  <a:gd name="connsiteX7" fmla="*/ 141727 w 748146"/>
                  <a:gd name="connsiteY7" fmla="*/ 370592 h 384065"/>
                  <a:gd name="connsiteX8" fmla="*/ 459227 w 748146"/>
                  <a:gd name="connsiteY8" fmla="*/ 383292 h 384065"/>
                  <a:gd name="connsiteX9" fmla="*/ 711076 w 748146"/>
                  <a:gd name="connsiteY9" fmla="*/ 356673 h 384065"/>
                  <a:gd name="connsiteX10" fmla="*/ 744778 w 748146"/>
                  <a:gd name="connsiteY10" fmla="*/ 229804 h 384065"/>
                  <a:gd name="connsiteX11" fmla="*/ 656077 w 748146"/>
                  <a:gd name="connsiteY11" fmla="*/ 84842 h 384065"/>
                  <a:gd name="connsiteX0" fmla="*/ 656077 w 748146"/>
                  <a:gd name="connsiteY0" fmla="*/ 85762 h 384985"/>
                  <a:gd name="connsiteX1" fmla="*/ 553504 w 748146"/>
                  <a:gd name="connsiteY1" fmla="*/ 34950 h 384985"/>
                  <a:gd name="connsiteX2" fmla="*/ 456482 w 748146"/>
                  <a:gd name="connsiteY2" fmla="*/ 24010 h 384985"/>
                  <a:gd name="connsiteX3" fmla="*/ 335501 w 748146"/>
                  <a:gd name="connsiteY3" fmla="*/ 1014 h 384985"/>
                  <a:gd name="connsiteX4" fmla="*/ 162479 w 748146"/>
                  <a:gd name="connsiteY4" fmla="*/ 60838 h 384985"/>
                  <a:gd name="connsiteX5" fmla="*/ 27780 w 748146"/>
                  <a:gd name="connsiteY5" fmla="*/ 181791 h 384985"/>
                  <a:gd name="connsiteX6" fmla="*/ 9333 w 748146"/>
                  <a:gd name="connsiteY6" fmla="*/ 309227 h 384985"/>
                  <a:gd name="connsiteX7" fmla="*/ 141727 w 748146"/>
                  <a:gd name="connsiteY7" fmla="*/ 371512 h 384985"/>
                  <a:gd name="connsiteX8" fmla="*/ 459227 w 748146"/>
                  <a:gd name="connsiteY8" fmla="*/ 384212 h 384985"/>
                  <a:gd name="connsiteX9" fmla="*/ 711076 w 748146"/>
                  <a:gd name="connsiteY9" fmla="*/ 357593 h 384985"/>
                  <a:gd name="connsiteX10" fmla="*/ 744778 w 748146"/>
                  <a:gd name="connsiteY10" fmla="*/ 230724 h 384985"/>
                  <a:gd name="connsiteX11" fmla="*/ 656077 w 748146"/>
                  <a:gd name="connsiteY11" fmla="*/ 85762 h 384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8146" h="384985">
                    <a:moveTo>
                      <a:pt x="656077" y="85762"/>
                    </a:moveTo>
                    <a:cubicBezTo>
                      <a:pt x="624198" y="53133"/>
                      <a:pt x="581231" y="41448"/>
                      <a:pt x="553504" y="34950"/>
                    </a:cubicBezTo>
                    <a:cubicBezTo>
                      <a:pt x="525777" y="28452"/>
                      <a:pt x="492816" y="29666"/>
                      <a:pt x="456482" y="24010"/>
                    </a:cubicBezTo>
                    <a:cubicBezTo>
                      <a:pt x="420148" y="18354"/>
                      <a:pt x="384502" y="-5124"/>
                      <a:pt x="335501" y="1014"/>
                    </a:cubicBezTo>
                    <a:cubicBezTo>
                      <a:pt x="286501" y="7152"/>
                      <a:pt x="213766" y="30709"/>
                      <a:pt x="162479" y="60838"/>
                    </a:cubicBezTo>
                    <a:cubicBezTo>
                      <a:pt x="111192" y="90968"/>
                      <a:pt x="53304" y="140393"/>
                      <a:pt x="27780" y="181791"/>
                    </a:cubicBezTo>
                    <a:cubicBezTo>
                      <a:pt x="2256" y="223189"/>
                      <a:pt x="-9658" y="277607"/>
                      <a:pt x="9333" y="309227"/>
                    </a:cubicBezTo>
                    <a:cubicBezTo>
                      <a:pt x="28324" y="340847"/>
                      <a:pt x="66745" y="359015"/>
                      <a:pt x="141727" y="371512"/>
                    </a:cubicBezTo>
                    <a:cubicBezTo>
                      <a:pt x="216709" y="384009"/>
                      <a:pt x="364336" y="386532"/>
                      <a:pt x="459227" y="384212"/>
                    </a:cubicBezTo>
                    <a:cubicBezTo>
                      <a:pt x="554118" y="381892"/>
                      <a:pt x="677209" y="391460"/>
                      <a:pt x="711076" y="357593"/>
                    </a:cubicBezTo>
                    <a:cubicBezTo>
                      <a:pt x="744943" y="323726"/>
                      <a:pt x="753945" y="276029"/>
                      <a:pt x="744778" y="230724"/>
                    </a:cubicBezTo>
                    <a:cubicBezTo>
                      <a:pt x="735611" y="185419"/>
                      <a:pt x="687956" y="118391"/>
                      <a:pt x="656077" y="85762"/>
                    </a:cubicBezTo>
                    <a:close/>
                  </a:path>
                </a:pathLst>
              </a:custGeom>
              <a:ln>
                <a:noFill/>
              </a:ln>
              <a:effectLst>
                <a:softEdge rad="63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6C600F0-B24C-466B-A250-F250FF591ECA}"/>
                </a:ext>
              </a:extLst>
            </p:cNvPr>
            <p:cNvGrpSpPr/>
            <p:nvPr/>
          </p:nvGrpSpPr>
          <p:grpSpPr>
            <a:xfrm>
              <a:off x="3364026" y="3335324"/>
              <a:ext cx="1177974" cy="1022350"/>
              <a:chOff x="3020799" y="3456178"/>
              <a:chExt cx="1177974" cy="102235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CF41446-2666-4B20-B519-325BC25DB2F2}"/>
                  </a:ext>
                </a:extLst>
              </p:cNvPr>
              <p:cNvGrpSpPr/>
              <p:nvPr/>
            </p:nvGrpSpPr>
            <p:grpSpPr>
              <a:xfrm>
                <a:off x="3020799" y="3456178"/>
                <a:ext cx="1177974" cy="1022350"/>
                <a:chOff x="2085926" y="3429000"/>
                <a:chExt cx="1778427" cy="1513005"/>
              </a:xfrm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94344B85-AB0E-4AD9-B09F-D714C2E3D874}"/>
                    </a:ext>
                  </a:extLst>
                </p:cNvPr>
                <p:cNvSpPr/>
                <p:nvPr/>
              </p:nvSpPr>
              <p:spPr>
                <a:xfrm>
                  <a:off x="2085926" y="3468947"/>
                  <a:ext cx="832556" cy="1473058"/>
                </a:xfrm>
                <a:custGeom>
                  <a:avLst/>
                  <a:gdLst>
                    <a:gd name="connsiteX0" fmla="*/ 763378 w 866736"/>
                    <a:gd name="connsiteY0" fmla="*/ 80962 h 1488557"/>
                    <a:gd name="connsiteX1" fmla="*/ 553828 w 866736"/>
                    <a:gd name="connsiteY1" fmla="*/ 4762 h 1488557"/>
                    <a:gd name="connsiteX2" fmla="*/ 287128 w 866736"/>
                    <a:gd name="connsiteY2" fmla="*/ 233362 h 1488557"/>
                    <a:gd name="connsiteX3" fmla="*/ 166478 w 866736"/>
                    <a:gd name="connsiteY3" fmla="*/ 887412 h 1488557"/>
                    <a:gd name="connsiteX4" fmla="*/ 1378 w 866736"/>
                    <a:gd name="connsiteY4" fmla="*/ 1408112 h 1488557"/>
                    <a:gd name="connsiteX5" fmla="*/ 115678 w 866736"/>
                    <a:gd name="connsiteY5" fmla="*/ 1484312 h 1488557"/>
                    <a:gd name="connsiteX6" fmla="*/ 560178 w 866736"/>
                    <a:gd name="connsiteY6" fmla="*/ 1382712 h 1488557"/>
                    <a:gd name="connsiteX7" fmla="*/ 788778 w 866736"/>
                    <a:gd name="connsiteY7" fmla="*/ 1160462 h 1488557"/>
                    <a:gd name="connsiteX8" fmla="*/ 864978 w 866736"/>
                    <a:gd name="connsiteY8" fmla="*/ 792162 h 1488557"/>
                    <a:gd name="connsiteX9" fmla="*/ 839578 w 866736"/>
                    <a:gd name="connsiteY9" fmla="*/ 334962 h 1488557"/>
                    <a:gd name="connsiteX10" fmla="*/ 807828 w 866736"/>
                    <a:gd name="connsiteY10" fmla="*/ 112712 h 1488557"/>
                    <a:gd name="connsiteX11" fmla="*/ 763378 w 866736"/>
                    <a:gd name="connsiteY11" fmla="*/ 80962 h 1488557"/>
                    <a:gd name="connsiteX0" fmla="*/ 763378 w 866736"/>
                    <a:gd name="connsiteY0" fmla="*/ 83321 h 1490916"/>
                    <a:gd name="connsiteX1" fmla="*/ 553828 w 866736"/>
                    <a:gd name="connsiteY1" fmla="*/ 7121 h 1490916"/>
                    <a:gd name="connsiteX2" fmla="*/ 287128 w 866736"/>
                    <a:gd name="connsiteY2" fmla="*/ 235721 h 1490916"/>
                    <a:gd name="connsiteX3" fmla="*/ 166478 w 866736"/>
                    <a:gd name="connsiteY3" fmla="*/ 889771 h 1490916"/>
                    <a:gd name="connsiteX4" fmla="*/ 1378 w 866736"/>
                    <a:gd name="connsiteY4" fmla="*/ 1410471 h 1490916"/>
                    <a:gd name="connsiteX5" fmla="*/ 115678 w 866736"/>
                    <a:gd name="connsiteY5" fmla="*/ 1486671 h 1490916"/>
                    <a:gd name="connsiteX6" fmla="*/ 560178 w 866736"/>
                    <a:gd name="connsiteY6" fmla="*/ 1385071 h 1490916"/>
                    <a:gd name="connsiteX7" fmla="*/ 788778 w 866736"/>
                    <a:gd name="connsiteY7" fmla="*/ 1162821 h 1490916"/>
                    <a:gd name="connsiteX8" fmla="*/ 864978 w 866736"/>
                    <a:gd name="connsiteY8" fmla="*/ 794521 h 1490916"/>
                    <a:gd name="connsiteX9" fmla="*/ 839578 w 866736"/>
                    <a:gd name="connsiteY9" fmla="*/ 337321 h 1490916"/>
                    <a:gd name="connsiteX10" fmla="*/ 763378 w 866736"/>
                    <a:gd name="connsiteY10" fmla="*/ 83321 h 1490916"/>
                    <a:gd name="connsiteX0" fmla="*/ 839578 w 866736"/>
                    <a:gd name="connsiteY0" fmla="*/ 94239 h 1489134"/>
                    <a:gd name="connsiteX1" fmla="*/ 553828 w 866736"/>
                    <a:gd name="connsiteY1" fmla="*/ 5339 h 1489134"/>
                    <a:gd name="connsiteX2" fmla="*/ 287128 w 866736"/>
                    <a:gd name="connsiteY2" fmla="*/ 233939 h 1489134"/>
                    <a:gd name="connsiteX3" fmla="*/ 166478 w 866736"/>
                    <a:gd name="connsiteY3" fmla="*/ 887989 h 1489134"/>
                    <a:gd name="connsiteX4" fmla="*/ 1378 w 866736"/>
                    <a:gd name="connsiteY4" fmla="*/ 1408689 h 1489134"/>
                    <a:gd name="connsiteX5" fmla="*/ 115678 w 866736"/>
                    <a:gd name="connsiteY5" fmla="*/ 1484889 h 1489134"/>
                    <a:gd name="connsiteX6" fmla="*/ 560178 w 866736"/>
                    <a:gd name="connsiteY6" fmla="*/ 1383289 h 1489134"/>
                    <a:gd name="connsiteX7" fmla="*/ 788778 w 866736"/>
                    <a:gd name="connsiteY7" fmla="*/ 1161039 h 1489134"/>
                    <a:gd name="connsiteX8" fmla="*/ 864978 w 866736"/>
                    <a:gd name="connsiteY8" fmla="*/ 792739 h 1489134"/>
                    <a:gd name="connsiteX9" fmla="*/ 839578 w 866736"/>
                    <a:gd name="connsiteY9" fmla="*/ 335539 h 1489134"/>
                    <a:gd name="connsiteX10" fmla="*/ 839578 w 866736"/>
                    <a:gd name="connsiteY10" fmla="*/ 94239 h 1489134"/>
                    <a:gd name="connsiteX0" fmla="*/ 839578 w 878926"/>
                    <a:gd name="connsiteY0" fmla="*/ 94239 h 1489134"/>
                    <a:gd name="connsiteX1" fmla="*/ 553828 w 878926"/>
                    <a:gd name="connsiteY1" fmla="*/ 5339 h 1489134"/>
                    <a:gd name="connsiteX2" fmla="*/ 287128 w 878926"/>
                    <a:gd name="connsiteY2" fmla="*/ 233939 h 1489134"/>
                    <a:gd name="connsiteX3" fmla="*/ 166478 w 878926"/>
                    <a:gd name="connsiteY3" fmla="*/ 887989 h 1489134"/>
                    <a:gd name="connsiteX4" fmla="*/ 1378 w 878926"/>
                    <a:gd name="connsiteY4" fmla="*/ 1408689 h 1489134"/>
                    <a:gd name="connsiteX5" fmla="*/ 115678 w 878926"/>
                    <a:gd name="connsiteY5" fmla="*/ 1484889 h 1489134"/>
                    <a:gd name="connsiteX6" fmla="*/ 560178 w 878926"/>
                    <a:gd name="connsiteY6" fmla="*/ 1383289 h 1489134"/>
                    <a:gd name="connsiteX7" fmla="*/ 788778 w 878926"/>
                    <a:gd name="connsiteY7" fmla="*/ 1161039 h 1489134"/>
                    <a:gd name="connsiteX8" fmla="*/ 877678 w 878926"/>
                    <a:gd name="connsiteY8" fmla="*/ 951489 h 1489134"/>
                    <a:gd name="connsiteX9" fmla="*/ 839578 w 878926"/>
                    <a:gd name="connsiteY9" fmla="*/ 335539 h 1489134"/>
                    <a:gd name="connsiteX10" fmla="*/ 839578 w 878926"/>
                    <a:gd name="connsiteY10" fmla="*/ 94239 h 1489134"/>
                    <a:gd name="connsiteX0" fmla="*/ 839578 w 890528"/>
                    <a:gd name="connsiteY0" fmla="*/ 95419 h 1490314"/>
                    <a:gd name="connsiteX1" fmla="*/ 553828 w 890528"/>
                    <a:gd name="connsiteY1" fmla="*/ 6519 h 1490314"/>
                    <a:gd name="connsiteX2" fmla="*/ 287128 w 890528"/>
                    <a:gd name="connsiteY2" fmla="*/ 235119 h 1490314"/>
                    <a:gd name="connsiteX3" fmla="*/ 166478 w 890528"/>
                    <a:gd name="connsiteY3" fmla="*/ 889169 h 1490314"/>
                    <a:gd name="connsiteX4" fmla="*/ 1378 w 890528"/>
                    <a:gd name="connsiteY4" fmla="*/ 1409869 h 1490314"/>
                    <a:gd name="connsiteX5" fmla="*/ 115678 w 890528"/>
                    <a:gd name="connsiteY5" fmla="*/ 1486069 h 1490314"/>
                    <a:gd name="connsiteX6" fmla="*/ 560178 w 890528"/>
                    <a:gd name="connsiteY6" fmla="*/ 1384469 h 1490314"/>
                    <a:gd name="connsiteX7" fmla="*/ 788778 w 890528"/>
                    <a:gd name="connsiteY7" fmla="*/ 1162219 h 1490314"/>
                    <a:gd name="connsiteX8" fmla="*/ 877678 w 890528"/>
                    <a:gd name="connsiteY8" fmla="*/ 952669 h 1490314"/>
                    <a:gd name="connsiteX9" fmla="*/ 884028 w 890528"/>
                    <a:gd name="connsiteY9" fmla="*/ 431969 h 1490314"/>
                    <a:gd name="connsiteX10" fmla="*/ 839578 w 890528"/>
                    <a:gd name="connsiteY10" fmla="*/ 95419 h 1490314"/>
                    <a:gd name="connsiteX0" fmla="*/ 839578 w 890528"/>
                    <a:gd name="connsiteY0" fmla="*/ 101645 h 1496540"/>
                    <a:gd name="connsiteX1" fmla="*/ 553828 w 890528"/>
                    <a:gd name="connsiteY1" fmla="*/ 12745 h 1496540"/>
                    <a:gd name="connsiteX2" fmla="*/ 268078 w 890528"/>
                    <a:gd name="connsiteY2" fmla="*/ 336595 h 1496540"/>
                    <a:gd name="connsiteX3" fmla="*/ 166478 w 890528"/>
                    <a:gd name="connsiteY3" fmla="*/ 895395 h 1496540"/>
                    <a:gd name="connsiteX4" fmla="*/ 1378 w 890528"/>
                    <a:gd name="connsiteY4" fmla="*/ 1416095 h 1496540"/>
                    <a:gd name="connsiteX5" fmla="*/ 115678 w 890528"/>
                    <a:gd name="connsiteY5" fmla="*/ 1492295 h 1496540"/>
                    <a:gd name="connsiteX6" fmla="*/ 560178 w 890528"/>
                    <a:gd name="connsiteY6" fmla="*/ 1390695 h 1496540"/>
                    <a:gd name="connsiteX7" fmla="*/ 788778 w 890528"/>
                    <a:gd name="connsiteY7" fmla="*/ 1168445 h 1496540"/>
                    <a:gd name="connsiteX8" fmla="*/ 877678 w 890528"/>
                    <a:gd name="connsiteY8" fmla="*/ 958895 h 1496540"/>
                    <a:gd name="connsiteX9" fmla="*/ 884028 w 890528"/>
                    <a:gd name="connsiteY9" fmla="*/ 438195 h 1496540"/>
                    <a:gd name="connsiteX10" fmla="*/ 839578 w 890528"/>
                    <a:gd name="connsiteY10" fmla="*/ 101645 h 1496540"/>
                    <a:gd name="connsiteX0" fmla="*/ 839578 w 887860"/>
                    <a:gd name="connsiteY0" fmla="*/ 101645 h 1496540"/>
                    <a:gd name="connsiteX1" fmla="*/ 553828 w 887860"/>
                    <a:gd name="connsiteY1" fmla="*/ 12745 h 1496540"/>
                    <a:gd name="connsiteX2" fmla="*/ 268078 w 887860"/>
                    <a:gd name="connsiteY2" fmla="*/ 336595 h 1496540"/>
                    <a:gd name="connsiteX3" fmla="*/ 166478 w 887860"/>
                    <a:gd name="connsiteY3" fmla="*/ 895395 h 1496540"/>
                    <a:gd name="connsiteX4" fmla="*/ 1378 w 887860"/>
                    <a:gd name="connsiteY4" fmla="*/ 1416095 h 1496540"/>
                    <a:gd name="connsiteX5" fmla="*/ 115678 w 887860"/>
                    <a:gd name="connsiteY5" fmla="*/ 1492295 h 1496540"/>
                    <a:gd name="connsiteX6" fmla="*/ 560178 w 887860"/>
                    <a:gd name="connsiteY6" fmla="*/ 1390695 h 1496540"/>
                    <a:gd name="connsiteX7" fmla="*/ 852278 w 887860"/>
                    <a:gd name="connsiteY7" fmla="*/ 1308145 h 1496540"/>
                    <a:gd name="connsiteX8" fmla="*/ 877678 w 887860"/>
                    <a:gd name="connsiteY8" fmla="*/ 958895 h 1496540"/>
                    <a:gd name="connsiteX9" fmla="*/ 884028 w 887860"/>
                    <a:gd name="connsiteY9" fmla="*/ 438195 h 1496540"/>
                    <a:gd name="connsiteX10" fmla="*/ 839578 w 887860"/>
                    <a:gd name="connsiteY10" fmla="*/ 101645 h 1496540"/>
                    <a:gd name="connsiteX0" fmla="*/ 839578 w 887860"/>
                    <a:gd name="connsiteY0" fmla="*/ 50839 h 1445734"/>
                    <a:gd name="connsiteX1" fmla="*/ 553828 w 887860"/>
                    <a:gd name="connsiteY1" fmla="*/ 25439 h 1445734"/>
                    <a:gd name="connsiteX2" fmla="*/ 268078 w 887860"/>
                    <a:gd name="connsiteY2" fmla="*/ 285789 h 1445734"/>
                    <a:gd name="connsiteX3" fmla="*/ 166478 w 887860"/>
                    <a:gd name="connsiteY3" fmla="*/ 844589 h 1445734"/>
                    <a:gd name="connsiteX4" fmla="*/ 1378 w 887860"/>
                    <a:gd name="connsiteY4" fmla="*/ 1365289 h 1445734"/>
                    <a:gd name="connsiteX5" fmla="*/ 115678 w 887860"/>
                    <a:gd name="connsiteY5" fmla="*/ 1441489 h 1445734"/>
                    <a:gd name="connsiteX6" fmla="*/ 560178 w 887860"/>
                    <a:gd name="connsiteY6" fmla="*/ 1339889 h 1445734"/>
                    <a:gd name="connsiteX7" fmla="*/ 852278 w 887860"/>
                    <a:gd name="connsiteY7" fmla="*/ 1257339 h 1445734"/>
                    <a:gd name="connsiteX8" fmla="*/ 877678 w 887860"/>
                    <a:gd name="connsiteY8" fmla="*/ 908089 h 1445734"/>
                    <a:gd name="connsiteX9" fmla="*/ 884028 w 887860"/>
                    <a:gd name="connsiteY9" fmla="*/ 387389 h 1445734"/>
                    <a:gd name="connsiteX10" fmla="*/ 839578 w 887860"/>
                    <a:gd name="connsiteY10" fmla="*/ 50839 h 1445734"/>
                    <a:gd name="connsiteX0" fmla="*/ 814178 w 887860"/>
                    <a:gd name="connsiteY0" fmla="*/ 101939 h 1426984"/>
                    <a:gd name="connsiteX1" fmla="*/ 553828 w 887860"/>
                    <a:gd name="connsiteY1" fmla="*/ 6689 h 1426984"/>
                    <a:gd name="connsiteX2" fmla="*/ 268078 w 887860"/>
                    <a:gd name="connsiteY2" fmla="*/ 267039 h 1426984"/>
                    <a:gd name="connsiteX3" fmla="*/ 166478 w 887860"/>
                    <a:gd name="connsiteY3" fmla="*/ 825839 h 1426984"/>
                    <a:gd name="connsiteX4" fmla="*/ 1378 w 887860"/>
                    <a:gd name="connsiteY4" fmla="*/ 1346539 h 1426984"/>
                    <a:gd name="connsiteX5" fmla="*/ 115678 w 887860"/>
                    <a:gd name="connsiteY5" fmla="*/ 1422739 h 1426984"/>
                    <a:gd name="connsiteX6" fmla="*/ 560178 w 887860"/>
                    <a:gd name="connsiteY6" fmla="*/ 1321139 h 1426984"/>
                    <a:gd name="connsiteX7" fmla="*/ 852278 w 887860"/>
                    <a:gd name="connsiteY7" fmla="*/ 1238589 h 1426984"/>
                    <a:gd name="connsiteX8" fmla="*/ 877678 w 887860"/>
                    <a:gd name="connsiteY8" fmla="*/ 889339 h 1426984"/>
                    <a:gd name="connsiteX9" fmla="*/ 884028 w 887860"/>
                    <a:gd name="connsiteY9" fmla="*/ 368639 h 1426984"/>
                    <a:gd name="connsiteX10" fmla="*/ 814178 w 887860"/>
                    <a:gd name="connsiteY10" fmla="*/ 101939 h 1426984"/>
                    <a:gd name="connsiteX0" fmla="*/ 814178 w 887860"/>
                    <a:gd name="connsiteY0" fmla="*/ 150553 h 1475598"/>
                    <a:gd name="connsiteX1" fmla="*/ 553828 w 887860"/>
                    <a:gd name="connsiteY1" fmla="*/ 4503 h 1475598"/>
                    <a:gd name="connsiteX2" fmla="*/ 268078 w 887860"/>
                    <a:gd name="connsiteY2" fmla="*/ 315653 h 1475598"/>
                    <a:gd name="connsiteX3" fmla="*/ 166478 w 887860"/>
                    <a:gd name="connsiteY3" fmla="*/ 874453 h 1475598"/>
                    <a:gd name="connsiteX4" fmla="*/ 1378 w 887860"/>
                    <a:gd name="connsiteY4" fmla="*/ 1395153 h 1475598"/>
                    <a:gd name="connsiteX5" fmla="*/ 115678 w 887860"/>
                    <a:gd name="connsiteY5" fmla="*/ 1471353 h 1475598"/>
                    <a:gd name="connsiteX6" fmla="*/ 560178 w 887860"/>
                    <a:gd name="connsiteY6" fmla="*/ 1369753 h 1475598"/>
                    <a:gd name="connsiteX7" fmla="*/ 852278 w 887860"/>
                    <a:gd name="connsiteY7" fmla="*/ 1287203 h 1475598"/>
                    <a:gd name="connsiteX8" fmla="*/ 877678 w 887860"/>
                    <a:gd name="connsiteY8" fmla="*/ 937953 h 1475598"/>
                    <a:gd name="connsiteX9" fmla="*/ 884028 w 887860"/>
                    <a:gd name="connsiteY9" fmla="*/ 417253 h 1475598"/>
                    <a:gd name="connsiteX10" fmla="*/ 814178 w 887860"/>
                    <a:gd name="connsiteY10" fmla="*/ 150553 h 1475598"/>
                    <a:gd name="connsiteX0" fmla="*/ 758874 w 832556"/>
                    <a:gd name="connsiteY0" fmla="*/ 150553 h 1473058"/>
                    <a:gd name="connsiteX1" fmla="*/ 498524 w 832556"/>
                    <a:gd name="connsiteY1" fmla="*/ 4503 h 1473058"/>
                    <a:gd name="connsiteX2" fmla="*/ 212774 w 832556"/>
                    <a:gd name="connsiteY2" fmla="*/ 315653 h 1473058"/>
                    <a:gd name="connsiteX3" fmla="*/ 111174 w 832556"/>
                    <a:gd name="connsiteY3" fmla="*/ 874453 h 1473058"/>
                    <a:gd name="connsiteX4" fmla="*/ 9574 w 832556"/>
                    <a:gd name="connsiteY4" fmla="*/ 1280853 h 1473058"/>
                    <a:gd name="connsiteX5" fmla="*/ 60374 w 832556"/>
                    <a:gd name="connsiteY5" fmla="*/ 1471353 h 1473058"/>
                    <a:gd name="connsiteX6" fmla="*/ 504874 w 832556"/>
                    <a:gd name="connsiteY6" fmla="*/ 1369753 h 1473058"/>
                    <a:gd name="connsiteX7" fmla="*/ 796974 w 832556"/>
                    <a:gd name="connsiteY7" fmla="*/ 1287203 h 1473058"/>
                    <a:gd name="connsiteX8" fmla="*/ 822374 w 832556"/>
                    <a:gd name="connsiteY8" fmla="*/ 937953 h 1473058"/>
                    <a:gd name="connsiteX9" fmla="*/ 828724 w 832556"/>
                    <a:gd name="connsiteY9" fmla="*/ 417253 h 1473058"/>
                    <a:gd name="connsiteX10" fmla="*/ 758874 w 832556"/>
                    <a:gd name="connsiteY10" fmla="*/ 150553 h 1473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32556" h="1473058">
                      <a:moveTo>
                        <a:pt x="758874" y="150553"/>
                      </a:moveTo>
                      <a:cubicBezTo>
                        <a:pt x="703841" y="81761"/>
                        <a:pt x="589541" y="-23014"/>
                        <a:pt x="498524" y="4503"/>
                      </a:cubicBezTo>
                      <a:cubicBezTo>
                        <a:pt x="407507" y="32020"/>
                        <a:pt x="277332" y="170661"/>
                        <a:pt x="212774" y="315653"/>
                      </a:cubicBezTo>
                      <a:cubicBezTo>
                        <a:pt x="148216" y="460645"/>
                        <a:pt x="145041" y="713586"/>
                        <a:pt x="111174" y="874453"/>
                      </a:cubicBezTo>
                      <a:cubicBezTo>
                        <a:pt x="77307" y="1035320"/>
                        <a:pt x="18041" y="1181370"/>
                        <a:pt x="9574" y="1280853"/>
                      </a:cubicBezTo>
                      <a:cubicBezTo>
                        <a:pt x="1107" y="1380336"/>
                        <a:pt x="-22176" y="1456536"/>
                        <a:pt x="60374" y="1471353"/>
                      </a:cubicBezTo>
                      <a:cubicBezTo>
                        <a:pt x="142924" y="1486170"/>
                        <a:pt x="382107" y="1400445"/>
                        <a:pt x="504874" y="1369753"/>
                      </a:cubicBezTo>
                      <a:cubicBezTo>
                        <a:pt x="627641" y="1339061"/>
                        <a:pt x="744057" y="1359170"/>
                        <a:pt x="796974" y="1287203"/>
                      </a:cubicBezTo>
                      <a:cubicBezTo>
                        <a:pt x="849891" y="1215236"/>
                        <a:pt x="817082" y="1082945"/>
                        <a:pt x="822374" y="937953"/>
                      </a:cubicBezTo>
                      <a:cubicBezTo>
                        <a:pt x="827666" y="792961"/>
                        <a:pt x="838249" y="530495"/>
                        <a:pt x="828724" y="417253"/>
                      </a:cubicBezTo>
                      <a:cubicBezTo>
                        <a:pt x="811791" y="298720"/>
                        <a:pt x="813907" y="219345"/>
                        <a:pt x="758874" y="150553"/>
                      </a:cubicBezTo>
                      <a:close/>
                    </a:path>
                  </a:pathLst>
                </a:cu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36745919-AD1B-4C54-9CE2-3AC69AC96638}"/>
                    </a:ext>
                  </a:extLst>
                </p:cNvPr>
                <p:cNvSpPr/>
                <p:nvPr/>
              </p:nvSpPr>
              <p:spPr>
                <a:xfrm flipH="1">
                  <a:off x="2987823" y="3429000"/>
                  <a:ext cx="876530" cy="1482476"/>
                </a:xfrm>
                <a:custGeom>
                  <a:avLst/>
                  <a:gdLst>
                    <a:gd name="connsiteX0" fmla="*/ 763378 w 866736"/>
                    <a:gd name="connsiteY0" fmla="*/ 80962 h 1488557"/>
                    <a:gd name="connsiteX1" fmla="*/ 553828 w 866736"/>
                    <a:gd name="connsiteY1" fmla="*/ 4762 h 1488557"/>
                    <a:gd name="connsiteX2" fmla="*/ 287128 w 866736"/>
                    <a:gd name="connsiteY2" fmla="*/ 233362 h 1488557"/>
                    <a:gd name="connsiteX3" fmla="*/ 166478 w 866736"/>
                    <a:gd name="connsiteY3" fmla="*/ 887412 h 1488557"/>
                    <a:gd name="connsiteX4" fmla="*/ 1378 w 866736"/>
                    <a:gd name="connsiteY4" fmla="*/ 1408112 h 1488557"/>
                    <a:gd name="connsiteX5" fmla="*/ 115678 w 866736"/>
                    <a:gd name="connsiteY5" fmla="*/ 1484312 h 1488557"/>
                    <a:gd name="connsiteX6" fmla="*/ 560178 w 866736"/>
                    <a:gd name="connsiteY6" fmla="*/ 1382712 h 1488557"/>
                    <a:gd name="connsiteX7" fmla="*/ 788778 w 866736"/>
                    <a:gd name="connsiteY7" fmla="*/ 1160462 h 1488557"/>
                    <a:gd name="connsiteX8" fmla="*/ 864978 w 866736"/>
                    <a:gd name="connsiteY8" fmla="*/ 792162 h 1488557"/>
                    <a:gd name="connsiteX9" fmla="*/ 839578 w 866736"/>
                    <a:gd name="connsiteY9" fmla="*/ 334962 h 1488557"/>
                    <a:gd name="connsiteX10" fmla="*/ 807828 w 866736"/>
                    <a:gd name="connsiteY10" fmla="*/ 112712 h 1488557"/>
                    <a:gd name="connsiteX11" fmla="*/ 763378 w 866736"/>
                    <a:gd name="connsiteY11" fmla="*/ 80962 h 1488557"/>
                    <a:gd name="connsiteX0" fmla="*/ 763378 w 866736"/>
                    <a:gd name="connsiteY0" fmla="*/ 83321 h 1490916"/>
                    <a:gd name="connsiteX1" fmla="*/ 553828 w 866736"/>
                    <a:gd name="connsiteY1" fmla="*/ 7121 h 1490916"/>
                    <a:gd name="connsiteX2" fmla="*/ 287128 w 866736"/>
                    <a:gd name="connsiteY2" fmla="*/ 235721 h 1490916"/>
                    <a:gd name="connsiteX3" fmla="*/ 166478 w 866736"/>
                    <a:gd name="connsiteY3" fmla="*/ 889771 h 1490916"/>
                    <a:gd name="connsiteX4" fmla="*/ 1378 w 866736"/>
                    <a:gd name="connsiteY4" fmla="*/ 1410471 h 1490916"/>
                    <a:gd name="connsiteX5" fmla="*/ 115678 w 866736"/>
                    <a:gd name="connsiteY5" fmla="*/ 1486671 h 1490916"/>
                    <a:gd name="connsiteX6" fmla="*/ 560178 w 866736"/>
                    <a:gd name="connsiteY6" fmla="*/ 1385071 h 1490916"/>
                    <a:gd name="connsiteX7" fmla="*/ 788778 w 866736"/>
                    <a:gd name="connsiteY7" fmla="*/ 1162821 h 1490916"/>
                    <a:gd name="connsiteX8" fmla="*/ 864978 w 866736"/>
                    <a:gd name="connsiteY8" fmla="*/ 794521 h 1490916"/>
                    <a:gd name="connsiteX9" fmla="*/ 839578 w 866736"/>
                    <a:gd name="connsiteY9" fmla="*/ 337321 h 1490916"/>
                    <a:gd name="connsiteX10" fmla="*/ 763378 w 866736"/>
                    <a:gd name="connsiteY10" fmla="*/ 83321 h 1490916"/>
                    <a:gd name="connsiteX0" fmla="*/ 839578 w 866736"/>
                    <a:gd name="connsiteY0" fmla="*/ 94239 h 1489134"/>
                    <a:gd name="connsiteX1" fmla="*/ 553828 w 866736"/>
                    <a:gd name="connsiteY1" fmla="*/ 5339 h 1489134"/>
                    <a:gd name="connsiteX2" fmla="*/ 287128 w 866736"/>
                    <a:gd name="connsiteY2" fmla="*/ 233939 h 1489134"/>
                    <a:gd name="connsiteX3" fmla="*/ 166478 w 866736"/>
                    <a:gd name="connsiteY3" fmla="*/ 887989 h 1489134"/>
                    <a:gd name="connsiteX4" fmla="*/ 1378 w 866736"/>
                    <a:gd name="connsiteY4" fmla="*/ 1408689 h 1489134"/>
                    <a:gd name="connsiteX5" fmla="*/ 115678 w 866736"/>
                    <a:gd name="connsiteY5" fmla="*/ 1484889 h 1489134"/>
                    <a:gd name="connsiteX6" fmla="*/ 560178 w 866736"/>
                    <a:gd name="connsiteY6" fmla="*/ 1383289 h 1489134"/>
                    <a:gd name="connsiteX7" fmla="*/ 788778 w 866736"/>
                    <a:gd name="connsiteY7" fmla="*/ 1161039 h 1489134"/>
                    <a:gd name="connsiteX8" fmla="*/ 864978 w 866736"/>
                    <a:gd name="connsiteY8" fmla="*/ 792739 h 1489134"/>
                    <a:gd name="connsiteX9" fmla="*/ 839578 w 866736"/>
                    <a:gd name="connsiteY9" fmla="*/ 335539 h 1489134"/>
                    <a:gd name="connsiteX10" fmla="*/ 839578 w 866736"/>
                    <a:gd name="connsiteY10" fmla="*/ 94239 h 1489134"/>
                    <a:gd name="connsiteX0" fmla="*/ 839578 w 878926"/>
                    <a:gd name="connsiteY0" fmla="*/ 94239 h 1489134"/>
                    <a:gd name="connsiteX1" fmla="*/ 553828 w 878926"/>
                    <a:gd name="connsiteY1" fmla="*/ 5339 h 1489134"/>
                    <a:gd name="connsiteX2" fmla="*/ 287128 w 878926"/>
                    <a:gd name="connsiteY2" fmla="*/ 233939 h 1489134"/>
                    <a:gd name="connsiteX3" fmla="*/ 166478 w 878926"/>
                    <a:gd name="connsiteY3" fmla="*/ 887989 h 1489134"/>
                    <a:gd name="connsiteX4" fmla="*/ 1378 w 878926"/>
                    <a:gd name="connsiteY4" fmla="*/ 1408689 h 1489134"/>
                    <a:gd name="connsiteX5" fmla="*/ 115678 w 878926"/>
                    <a:gd name="connsiteY5" fmla="*/ 1484889 h 1489134"/>
                    <a:gd name="connsiteX6" fmla="*/ 560178 w 878926"/>
                    <a:gd name="connsiteY6" fmla="*/ 1383289 h 1489134"/>
                    <a:gd name="connsiteX7" fmla="*/ 788778 w 878926"/>
                    <a:gd name="connsiteY7" fmla="*/ 1161039 h 1489134"/>
                    <a:gd name="connsiteX8" fmla="*/ 877678 w 878926"/>
                    <a:gd name="connsiteY8" fmla="*/ 951489 h 1489134"/>
                    <a:gd name="connsiteX9" fmla="*/ 839578 w 878926"/>
                    <a:gd name="connsiteY9" fmla="*/ 335539 h 1489134"/>
                    <a:gd name="connsiteX10" fmla="*/ 839578 w 878926"/>
                    <a:gd name="connsiteY10" fmla="*/ 94239 h 1489134"/>
                    <a:gd name="connsiteX0" fmla="*/ 839578 w 890528"/>
                    <a:gd name="connsiteY0" fmla="*/ 95419 h 1490314"/>
                    <a:gd name="connsiteX1" fmla="*/ 553828 w 890528"/>
                    <a:gd name="connsiteY1" fmla="*/ 6519 h 1490314"/>
                    <a:gd name="connsiteX2" fmla="*/ 287128 w 890528"/>
                    <a:gd name="connsiteY2" fmla="*/ 235119 h 1490314"/>
                    <a:gd name="connsiteX3" fmla="*/ 166478 w 890528"/>
                    <a:gd name="connsiteY3" fmla="*/ 889169 h 1490314"/>
                    <a:gd name="connsiteX4" fmla="*/ 1378 w 890528"/>
                    <a:gd name="connsiteY4" fmla="*/ 1409869 h 1490314"/>
                    <a:gd name="connsiteX5" fmla="*/ 115678 w 890528"/>
                    <a:gd name="connsiteY5" fmla="*/ 1486069 h 1490314"/>
                    <a:gd name="connsiteX6" fmla="*/ 560178 w 890528"/>
                    <a:gd name="connsiteY6" fmla="*/ 1384469 h 1490314"/>
                    <a:gd name="connsiteX7" fmla="*/ 788778 w 890528"/>
                    <a:gd name="connsiteY7" fmla="*/ 1162219 h 1490314"/>
                    <a:gd name="connsiteX8" fmla="*/ 877678 w 890528"/>
                    <a:gd name="connsiteY8" fmla="*/ 952669 h 1490314"/>
                    <a:gd name="connsiteX9" fmla="*/ 884028 w 890528"/>
                    <a:gd name="connsiteY9" fmla="*/ 431969 h 1490314"/>
                    <a:gd name="connsiteX10" fmla="*/ 839578 w 890528"/>
                    <a:gd name="connsiteY10" fmla="*/ 95419 h 1490314"/>
                    <a:gd name="connsiteX0" fmla="*/ 839578 w 890528"/>
                    <a:gd name="connsiteY0" fmla="*/ 101645 h 1496540"/>
                    <a:gd name="connsiteX1" fmla="*/ 553828 w 890528"/>
                    <a:gd name="connsiteY1" fmla="*/ 12745 h 1496540"/>
                    <a:gd name="connsiteX2" fmla="*/ 268078 w 890528"/>
                    <a:gd name="connsiteY2" fmla="*/ 336595 h 1496540"/>
                    <a:gd name="connsiteX3" fmla="*/ 166478 w 890528"/>
                    <a:gd name="connsiteY3" fmla="*/ 895395 h 1496540"/>
                    <a:gd name="connsiteX4" fmla="*/ 1378 w 890528"/>
                    <a:gd name="connsiteY4" fmla="*/ 1416095 h 1496540"/>
                    <a:gd name="connsiteX5" fmla="*/ 115678 w 890528"/>
                    <a:gd name="connsiteY5" fmla="*/ 1492295 h 1496540"/>
                    <a:gd name="connsiteX6" fmla="*/ 560178 w 890528"/>
                    <a:gd name="connsiteY6" fmla="*/ 1390695 h 1496540"/>
                    <a:gd name="connsiteX7" fmla="*/ 788778 w 890528"/>
                    <a:gd name="connsiteY7" fmla="*/ 1168445 h 1496540"/>
                    <a:gd name="connsiteX8" fmla="*/ 877678 w 890528"/>
                    <a:gd name="connsiteY8" fmla="*/ 958895 h 1496540"/>
                    <a:gd name="connsiteX9" fmla="*/ 884028 w 890528"/>
                    <a:gd name="connsiteY9" fmla="*/ 438195 h 1496540"/>
                    <a:gd name="connsiteX10" fmla="*/ 839578 w 890528"/>
                    <a:gd name="connsiteY10" fmla="*/ 101645 h 1496540"/>
                    <a:gd name="connsiteX0" fmla="*/ 839578 w 887860"/>
                    <a:gd name="connsiteY0" fmla="*/ 101645 h 1496540"/>
                    <a:gd name="connsiteX1" fmla="*/ 553828 w 887860"/>
                    <a:gd name="connsiteY1" fmla="*/ 12745 h 1496540"/>
                    <a:gd name="connsiteX2" fmla="*/ 268078 w 887860"/>
                    <a:gd name="connsiteY2" fmla="*/ 336595 h 1496540"/>
                    <a:gd name="connsiteX3" fmla="*/ 166478 w 887860"/>
                    <a:gd name="connsiteY3" fmla="*/ 895395 h 1496540"/>
                    <a:gd name="connsiteX4" fmla="*/ 1378 w 887860"/>
                    <a:gd name="connsiteY4" fmla="*/ 1416095 h 1496540"/>
                    <a:gd name="connsiteX5" fmla="*/ 115678 w 887860"/>
                    <a:gd name="connsiteY5" fmla="*/ 1492295 h 1496540"/>
                    <a:gd name="connsiteX6" fmla="*/ 560178 w 887860"/>
                    <a:gd name="connsiteY6" fmla="*/ 1390695 h 1496540"/>
                    <a:gd name="connsiteX7" fmla="*/ 852278 w 887860"/>
                    <a:gd name="connsiteY7" fmla="*/ 1308145 h 1496540"/>
                    <a:gd name="connsiteX8" fmla="*/ 877678 w 887860"/>
                    <a:gd name="connsiteY8" fmla="*/ 958895 h 1496540"/>
                    <a:gd name="connsiteX9" fmla="*/ 884028 w 887860"/>
                    <a:gd name="connsiteY9" fmla="*/ 438195 h 1496540"/>
                    <a:gd name="connsiteX10" fmla="*/ 839578 w 887860"/>
                    <a:gd name="connsiteY10" fmla="*/ 101645 h 1496540"/>
                    <a:gd name="connsiteX0" fmla="*/ 839578 w 887860"/>
                    <a:gd name="connsiteY0" fmla="*/ 50839 h 1445734"/>
                    <a:gd name="connsiteX1" fmla="*/ 553828 w 887860"/>
                    <a:gd name="connsiteY1" fmla="*/ 25439 h 1445734"/>
                    <a:gd name="connsiteX2" fmla="*/ 268078 w 887860"/>
                    <a:gd name="connsiteY2" fmla="*/ 285789 h 1445734"/>
                    <a:gd name="connsiteX3" fmla="*/ 166478 w 887860"/>
                    <a:gd name="connsiteY3" fmla="*/ 844589 h 1445734"/>
                    <a:gd name="connsiteX4" fmla="*/ 1378 w 887860"/>
                    <a:gd name="connsiteY4" fmla="*/ 1365289 h 1445734"/>
                    <a:gd name="connsiteX5" fmla="*/ 115678 w 887860"/>
                    <a:gd name="connsiteY5" fmla="*/ 1441489 h 1445734"/>
                    <a:gd name="connsiteX6" fmla="*/ 560178 w 887860"/>
                    <a:gd name="connsiteY6" fmla="*/ 1339889 h 1445734"/>
                    <a:gd name="connsiteX7" fmla="*/ 852278 w 887860"/>
                    <a:gd name="connsiteY7" fmla="*/ 1257339 h 1445734"/>
                    <a:gd name="connsiteX8" fmla="*/ 877678 w 887860"/>
                    <a:gd name="connsiteY8" fmla="*/ 908089 h 1445734"/>
                    <a:gd name="connsiteX9" fmla="*/ 884028 w 887860"/>
                    <a:gd name="connsiteY9" fmla="*/ 387389 h 1445734"/>
                    <a:gd name="connsiteX10" fmla="*/ 839578 w 887860"/>
                    <a:gd name="connsiteY10" fmla="*/ 50839 h 1445734"/>
                    <a:gd name="connsiteX0" fmla="*/ 814178 w 887860"/>
                    <a:gd name="connsiteY0" fmla="*/ 101939 h 1426984"/>
                    <a:gd name="connsiteX1" fmla="*/ 553828 w 887860"/>
                    <a:gd name="connsiteY1" fmla="*/ 6689 h 1426984"/>
                    <a:gd name="connsiteX2" fmla="*/ 268078 w 887860"/>
                    <a:gd name="connsiteY2" fmla="*/ 267039 h 1426984"/>
                    <a:gd name="connsiteX3" fmla="*/ 166478 w 887860"/>
                    <a:gd name="connsiteY3" fmla="*/ 825839 h 1426984"/>
                    <a:gd name="connsiteX4" fmla="*/ 1378 w 887860"/>
                    <a:gd name="connsiteY4" fmla="*/ 1346539 h 1426984"/>
                    <a:gd name="connsiteX5" fmla="*/ 115678 w 887860"/>
                    <a:gd name="connsiteY5" fmla="*/ 1422739 h 1426984"/>
                    <a:gd name="connsiteX6" fmla="*/ 560178 w 887860"/>
                    <a:gd name="connsiteY6" fmla="*/ 1321139 h 1426984"/>
                    <a:gd name="connsiteX7" fmla="*/ 852278 w 887860"/>
                    <a:gd name="connsiteY7" fmla="*/ 1238589 h 1426984"/>
                    <a:gd name="connsiteX8" fmla="*/ 877678 w 887860"/>
                    <a:gd name="connsiteY8" fmla="*/ 889339 h 1426984"/>
                    <a:gd name="connsiteX9" fmla="*/ 884028 w 887860"/>
                    <a:gd name="connsiteY9" fmla="*/ 368639 h 1426984"/>
                    <a:gd name="connsiteX10" fmla="*/ 814178 w 887860"/>
                    <a:gd name="connsiteY10" fmla="*/ 101939 h 1426984"/>
                    <a:gd name="connsiteX0" fmla="*/ 814178 w 887860"/>
                    <a:gd name="connsiteY0" fmla="*/ 150553 h 1475598"/>
                    <a:gd name="connsiteX1" fmla="*/ 553828 w 887860"/>
                    <a:gd name="connsiteY1" fmla="*/ 4503 h 1475598"/>
                    <a:gd name="connsiteX2" fmla="*/ 268078 w 887860"/>
                    <a:gd name="connsiteY2" fmla="*/ 315653 h 1475598"/>
                    <a:gd name="connsiteX3" fmla="*/ 166478 w 887860"/>
                    <a:gd name="connsiteY3" fmla="*/ 874453 h 1475598"/>
                    <a:gd name="connsiteX4" fmla="*/ 1378 w 887860"/>
                    <a:gd name="connsiteY4" fmla="*/ 1395153 h 1475598"/>
                    <a:gd name="connsiteX5" fmla="*/ 115678 w 887860"/>
                    <a:gd name="connsiteY5" fmla="*/ 1471353 h 1475598"/>
                    <a:gd name="connsiteX6" fmla="*/ 560178 w 887860"/>
                    <a:gd name="connsiteY6" fmla="*/ 1369753 h 1475598"/>
                    <a:gd name="connsiteX7" fmla="*/ 852278 w 887860"/>
                    <a:gd name="connsiteY7" fmla="*/ 1287203 h 1475598"/>
                    <a:gd name="connsiteX8" fmla="*/ 877678 w 887860"/>
                    <a:gd name="connsiteY8" fmla="*/ 937953 h 1475598"/>
                    <a:gd name="connsiteX9" fmla="*/ 884028 w 887860"/>
                    <a:gd name="connsiteY9" fmla="*/ 417253 h 1475598"/>
                    <a:gd name="connsiteX10" fmla="*/ 814178 w 887860"/>
                    <a:gd name="connsiteY10" fmla="*/ 150553 h 1475598"/>
                    <a:gd name="connsiteX0" fmla="*/ 758874 w 832556"/>
                    <a:gd name="connsiteY0" fmla="*/ 150553 h 1473058"/>
                    <a:gd name="connsiteX1" fmla="*/ 498524 w 832556"/>
                    <a:gd name="connsiteY1" fmla="*/ 4503 h 1473058"/>
                    <a:gd name="connsiteX2" fmla="*/ 212774 w 832556"/>
                    <a:gd name="connsiteY2" fmla="*/ 315653 h 1473058"/>
                    <a:gd name="connsiteX3" fmla="*/ 111174 w 832556"/>
                    <a:gd name="connsiteY3" fmla="*/ 874453 h 1473058"/>
                    <a:gd name="connsiteX4" fmla="*/ 9574 w 832556"/>
                    <a:gd name="connsiteY4" fmla="*/ 1280853 h 1473058"/>
                    <a:gd name="connsiteX5" fmla="*/ 60374 w 832556"/>
                    <a:gd name="connsiteY5" fmla="*/ 1471353 h 1473058"/>
                    <a:gd name="connsiteX6" fmla="*/ 504874 w 832556"/>
                    <a:gd name="connsiteY6" fmla="*/ 1369753 h 1473058"/>
                    <a:gd name="connsiteX7" fmla="*/ 796974 w 832556"/>
                    <a:gd name="connsiteY7" fmla="*/ 1287203 h 1473058"/>
                    <a:gd name="connsiteX8" fmla="*/ 822374 w 832556"/>
                    <a:gd name="connsiteY8" fmla="*/ 937953 h 1473058"/>
                    <a:gd name="connsiteX9" fmla="*/ 828724 w 832556"/>
                    <a:gd name="connsiteY9" fmla="*/ 417253 h 1473058"/>
                    <a:gd name="connsiteX10" fmla="*/ 758874 w 832556"/>
                    <a:gd name="connsiteY10" fmla="*/ 150553 h 1473058"/>
                    <a:gd name="connsiteX0" fmla="*/ 758874 w 855468"/>
                    <a:gd name="connsiteY0" fmla="*/ 150553 h 1473481"/>
                    <a:gd name="connsiteX1" fmla="*/ 498524 w 855468"/>
                    <a:gd name="connsiteY1" fmla="*/ 4503 h 1473481"/>
                    <a:gd name="connsiteX2" fmla="*/ 212774 w 855468"/>
                    <a:gd name="connsiteY2" fmla="*/ 315653 h 1473481"/>
                    <a:gd name="connsiteX3" fmla="*/ 111174 w 855468"/>
                    <a:gd name="connsiteY3" fmla="*/ 874453 h 1473481"/>
                    <a:gd name="connsiteX4" fmla="*/ 9574 w 855468"/>
                    <a:gd name="connsiteY4" fmla="*/ 1280853 h 1473481"/>
                    <a:gd name="connsiteX5" fmla="*/ 60374 w 855468"/>
                    <a:gd name="connsiteY5" fmla="*/ 1471353 h 1473481"/>
                    <a:gd name="connsiteX6" fmla="*/ 504874 w 855468"/>
                    <a:gd name="connsiteY6" fmla="*/ 1369753 h 1473481"/>
                    <a:gd name="connsiteX7" fmla="*/ 438770 w 855468"/>
                    <a:gd name="connsiteY7" fmla="*/ 1166553 h 1473481"/>
                    <a:gd name="connsiteX8" fmla="*/ 822374 w 855468"/>
                    <a:gd name="connsiteY8" fmla="*/ 937953 h 1473481"/>
                    <a:gd name="connsiteX9" fmla="*/ 828724 w 855468"/>
                    <a:gd name="connsiteY9" fmla="*/ 417253 h 1473481"/>
                    <a:gd name="connsiteX10" fmla="*/ 758874 w 855468"/>
                    <a:gd name="connsiteY10" fmla="*/ 150553 h 1473481"/>
                    <a:gd name="connsiteX0" fmla="*/ 752450 w 849045"/>
                    <a:gd name="connsiteY0" fmla="*/ 150553 h 1491894"/>
                    <a:gd name="connsiteX1" fmla="*/ 492100 w 849045"/>
                    <a:gd name="connsiteY1" fmla="*/ 4503 h 1491894"/>
                    <a:gd name="connsiteX2" fmla="*/ 206350 w 849045"/>
                    <a:gd name="connsiteY2" fmla="*/ 315653 h 1491894"/>
                    <a:gd name="connsiteX3" fmla="*/ 104750 w 849045"/>
                    <a:gd name="connsiteY3" fmla="*/ 874453 h 1491894"/>
                    <a:gd name="connsiteX4" fmla="*/ 3150 w 849045"/>
                    <a:gd name="connsiteY4" fmla="*/ 1280853 h 1491894"/>
                    <a:gd name="connsiteX5" fmla="*/ 53950 w 849045"/>
                    <a:gd name="connsiteY5" fmla="*/ 1471353 h 1491894"/>
                    <a:gd name="connsiteX6" fmla="*/ 322859 w 849045"/>
                    <a:gd name="connsiteY6" fmla="*/ 1452303 h 1491894"/>
                    <a:gd name="connsiteX7" fmla="*/ 432346 w 849045"/>
                    <a:gd name="connsiteY7" fmla="*/ 1166553 h 1491894"/>
                    <a:gd name="connsiteX8" fmla="*/ 815950 w 849045"/>
                    <a:gd name="connsiteY8" fmla="*/ 937953 h 1491894"/>
                    <a:gd name="connsiteX9" fmla="*/ 822300 w 849045"/>
                    <a:gd name="connsiteY9" fmla="*/ 417253 h 1491894"/>
                    <a:gd name="connsiteX10" fmla="*/ 752450 w 849045"/>
                    <a:gd name="connsiteY10" fmla="*/ 150553 h 1491894"/>
                    <a:gd name="connsiteX0" fmla="*/ 872977 w 969572"/>
                    <a:gd name="connsiteY0" fmla="*/ 150553 h 1482476"/>
                    <a:gd name="connsiteX1" fmla="*/ 612627 w 969572"/>
                    <a:gd name="connsiteY1" fmla="*/ 4503 h 1482476"/>
                    <a:gd name="connsiteX2" fmla="*/ 326877 w 969572"/>
                    <a:gd name="connsiteY2" fmla="*/ 315653 h 1482476"/>
                    <a:gd name="connsiteX3" fmla="*/ 225277 w 969572"/>
                    <a:gd name="connsiteY3" fmla="*/ 874453 h 1482476"/>
                    <a:gd name="connsiteX4" fmla="*/ 123677 w 969572"/>
                    <a:gd name="connsiteY4" fmla="*/ 1280853 h 1482476"/>
                    <a:gd name="connsiteX5" fmla="*/ 535 w 969572"/>
                    <a:gd name="connsiteY5" fmla="*/ 1428749 h 1482476"/>
                    <a:gd name="connsiteX6" fmla="*/ 174477 w 969572"/>
                    <a:gd name="connsiteY6" fmla="*/ 1471353 h 1482476"/>
                    <a:gd name="connsiteX7" fmla="*/ 443386 w 969572"/>
                    <a:gd name="connsiteY7" fmla="*/ 1452303 h 1482476"/>
                    <a:gd name="connsiteX8" fmla="*/ 552873 w 969572"/>
                    <a:gd name="connsiteY8" fmla="*/ 1166553 h 1482476"/>
                    <a:gd name="connsiteX9" fmla="*/ 936477 w 969572"/>
                    <a:gd name="connsiteY9" fmla="*/ 937953 h 1482476"/>
                    <a:gd name="connsiteX10" fmla="*/ 942827 w 969572"/>
                    <a:gd name="connsiteY10" fmla="*/ 417253 h 1482476"/>
                    <a:gd name="connsiteX11" fmla="*/ 872977 w 969572"/>
                    <a:gd name="connsiteY11" fmla="*/ 150553 h 1482476"/>
                    <a:gd name="connsiteX0" fmla="*/ 872943 w 969538"/>
                    <a:gd name="connsiteY0" fmla="*/ 150553 h 1482476"/>
                    <a:gd name="connsiteX1" fmla="*/ 612593 w 969538"/>
                    <a:gd name="connsiteY1" fmla="*/ 4503 h 1482476"/>
                    <a:gd name="connsiteX2" fmla="*/ 326843 w 969538"/>
                    <a:gd name="connsiteY2" fmla="*/ 315653 h 1482476"/>
                    <a:gd name="connsiteX3" fmla="*/ 225243 w 969538"/>
                    <a:gd name="connsiteY3" fmla="*/ 874453 h 1482476"/>
                    <a:gd name="connsiteX4" fmla="*/ 130667 w 969538"/>
                    <a:gd name="connsiteY4" fmla="*/ 1153853 h 1482476"/>
                    <a:gd name="connsiteX5" fmla="*/ 501 w 969538"/>
                    <a:gd name="connsiteY5" fmla="*/ 1428749 h 1482476"/>
                    <a:gd name="connsiteX6" fmla="*/ 174443 w 969538"/>
                    <a:gd name="connsiteY6" fmla="*/ 1471353 h 1482476"/>
                    <a:gd name="connsiteX7" fmla="*/ 443352 w 969538"/>
                    <a:gd name="connsiteY7" fmla="*/ 1452303 h 1482476"/>
                    <a:gd name="connsiteX8" fmla="*/ 552839 w 969538"/>
                    <a:gd name="connsiteY8" fmla="*/ 1166553 h 1482476"/>
                    <a:gd name="connsiteX9" fmla="*/ 936443 w 969538"/>
                    <a:gd name="connsiteY9" fmla="*/ 937953 h 1482476"/>
                    <a:gd name="connsiteX10" fmla="*/ 942793 w 969538"/>
                    <a:gd name="connsiteY10" fmla="*/ 417253 h 1482476"/>
                    <a:gd name="connsiteX11" fmla="*/ 872943 w 969538"/>
                    <a:gd name="connsiteY11" fmla="*/ 150553 h 1482476"/>
                    <a:gd name="connsiteX0" fmla="*/ 872918 w 969513"/>
                    <a:gd name="connsiteY0" fmla="*/ 150553 h 1482476"/>
                    <a:gd name="connsiteX1" fmla="*/ 612568 w 969513"/>
                    <a:gd name="connsiteY1" fmla="*/ 4503 h 1482476"/>
                    <a:gd name="connsiteX2" fmla="*/ 326818 w 969513"/>
                    <a:gd name="connsiteY2" fmla="*/ 315653 h 1482476"/>
                    <a:gd name="connsiteX3" fmla="*/ 190100 w 969513"/>
                    <a:gd name="connsiteY3" fmla="*/ 849053 h 1482476"/>
                    <a:gd name="connsiteX4" fmla="*/ 130642 w 969513"/>
                    <a:gd name="connsiteY4" fmla="*/ 1153853 h 1482476"/>
                    <a:gd name="connsiteX5" fmla="*/ 476 w 969513"/>
                    <a:gd name="connsiteY5" fmla="*/ 1428749 h 1482476"/>
                    <a:gd name="connsiteX6" fmla="*/ 174418 w 969513"/>
                    <a:gd name="connsiteY6" fmla="*/ 1471353 h 1482476"/>
                    <a:gd name="connsiteX7" fmla="*/ 443327 w 969513"/>
                    <a:gd name="connsiteY7" fmla="*/ 1452303 h 1482476"/>
                    <a:gd name="connsiteX8" fmla="*/ 552814 w 969513"/>
                    <a:gd name="connsiteY8" fmla="*/ 1166553 h 1482476"/>
                    <a:gd name="connsiteX9" fmla="*/ 936418 w 969513"/>
                    <a:gd name="connsiteY9" fmla="*/ 937953 h 1482476"/>
                    <a:gd name="connsiteX10" fmla="*/ 942768 w 969513"/>
                    <a:gd name="connsiteY10" fmla="*/ 417253 h 1482476"/>
                    <a:gd name="connsiteX11" fmla="*/ 872918 w 969513"/>
                    <a:gd name="connsiteY11" fmla="*/ 150553 h 1482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969513" h="1482476">
                      <a:moveTo>
                        <a:pt x="872918" y="150553"/>
                      </a:moveTo>
                      <a:cubicBezTo>
                        <a:pt x="817885" y="81761"/>
                        <a:pt x="703585" y="-23014"/>
                        <a:pt x="612568" y="4503"/>
                      </a:cubicBezTo>
                      <a:cubicBezTo>
                        <a:pt x="521551" y="32020"/>
                        <a:pt x="397229" y="174895"/>
                        <a:pt x="326818" y="315653"/>
                      </a:cubicBezTo>
                      <a:cubicBezTo>
                        <a:pt x="256407" y="456411"/>
                        <a:pt x="222796" y="709353"/>
                        <a:pt x="190100" y="849053"/>
                      </a:cubicBezTo>
                      <a:cubicBezTo>
                        <a:pt x="157404" y="988753"/>
                        <a:pt x="162246" y="1057237"/>
                        <a:pt x="130642" y="1153853"/>
                      </a:cubicBezTo>
                      <a:cubicBezTo>
                        <a:pt x="99038" y="1250469"/>
                        <a:pt x="-7991" y="1396999"/>
                        <a:pt x="476" y="1428749"/>
                      </a:cubicBezTo>
                      <a:cubicBezTo>
                        <a:pt x="8943" y="1460499"/>
                        <a:pt x="100610" y="1467427"/>
                        <a:pt x="174418" y="1471353"/>
                      </a:cubicBezTo>
                      <a:cubicBezTo>
                        <a:pt x="248226" y="1475279"/>
                        <a:pt x="380261" y="1503103"/>
                        <a:pt x="443327" y="1452303"/>
                      </a:cubicBezTo>
                      <a:cubicBezTo>
                        <a:pt x="506393" y="1401503"/>
                        <a:pt x="470632" y="1252278"/>
                        <a:pt x="552814" y="1166553"/>
                      </a:cubicBezTo>
                      <a:cubicBezTo>
                        <a:pt x="634996" y="1080828"/>
                        <a:pt x="871426" y="1062836"/>
                        <a:pt x="936418" y="937953"/>
                      </a:cubicBezTo>
                      <a:cubicBezTo>
                        <a:pt x="1001410" y="813070"/>
                        <a:pt x="952293" y="530495"/>
                        <a:pt x="942768" y="417253"/>
                      </a:cubicBezTo>
                      <a:cubicBezTo>
                        <a:pt x="925835" y="298720"/>
                        <a:pt x="927951" y="219345"/>
                        <a:pt x="872918" y="150553"/>
                      </a:cubicBezTo>
                      <a:close/>
                    </a:path>
                  </a:pathLst>
                </a:cu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45B1881F-6826-45EF-AF4C-52D693E2F030}"/>
                  </a:ext>
                </a:extLst>
              </p:cNvPr>
              <p:cNvSpPr/>
              <p:nvPr/>
            </p:nvSpPr>
            <p:spPr>
              <a:xfrm>
                <a:off x="3699809" y="3603915"/>
                <a:ext cx="165099" cy="18473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59E6A17-0BD0-4316-AF64-B0F70AA2E962}"/>
                </a:ext>
              </a:extLst>
            </p:cNvPr>
            <p:cNvGrpSpPr/>
            <p:nvPr/>
          </p:nvGrpSpPr>
          <p:grpSpPr>
            <a:xfrm>
              <a:off x="4774303" y="3363566"/>
              <a:ext cx="1177974" cy="1022350"/>
              <a:chOff x="4774303" y="3363566"/>
              <a:chExt cx="1177974" cy="102235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D7036E2-9241-482F-9EC8-D08CFCEABD1C}"/>
                  </a:ext>
                </a:extLst>
              </p:cNvPr>
              <p:cNvGrpSpPr/>
              <p:nvPr/>
            </p:nvGrpSpPr>
            <p:grpSpPr>
              <a:xfrm>
                <a:off x="4774303" y="3363566"/>
                <a:ext cx="1177974" cy="1022350"/>
                <a:chOff x="2085926" y="3429000"/>
                <a:chExt cx="1778427" cy="1513005"/>
              </a:xfrm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D09AC654-22D0-4CFC-A082-991F6564746C}"/>
                    </a:ext>
                  </a:extLst>
                </p:cNvPr>
                <p:cNvSpPr/>
                <p:nvPr/>
              </p:nvSpPr>
              <p:spPr>
                <a:xfrm>
                  <a:off x="2085926" y="3468947"/>
                  <a:ext cx="832556" cy="1473058"/>
                </a:xfrm>
                <a:custGeom>
                  <a:avLst/>
                  <a:gdLst>
                    <a:gd name="connsiteX0" fmla="*/ 763378 w 866736"/>
                    <a:gd name="connsiteY0" fmla="*/ 80962 h 1488557"/>
                    <a:gd name="connsiteX1" fmla="*/ 553828 w 866736"/>
                    <a:gd name="connsiteY1" fmla="*/ 4762 h 1488557"/>
                    <a:gd name="connsiteX2" fmla="*/ 287128 w 866736"/>
                    <a:gd name="connsiteY2" fmla="*/ 233362 h 1488557"/>
                    <a:gd name="connsiteX3" fmla="*/ 166478 w 866736"/>
                    <a:gd name="connsiteY3" fmla="*/ 887412 h 1488557"/>
                    <a:gd name="connsiteX4" fmla="*/ 1378 w 866736"/>
                    <a:gd name="connsiteY4" fmla="*/ 1408112 h 1488557"/>
                    <a:gd name="connsiteX5" fmla="*/ 115678 w 866736"/>
                    <a:gd name="connsiteY5" fmla="*/ 1484312 h 1488557"/>
                    <a:gd name="connsiteX6" fmla="*/ 560178 w 866736"/>
                    <a:gd name="connsiteY6" fmla="*/ 1382712 h 1488557"/>
                    <a:gd name="connsiteX7" fmla="*/ 788778 w 866736"/>
                    <a:gd name="connsiteY7" fmla="*/ 1160462 h 1488557"/>
                    <a:gd name="connsiteX8" fmla="*/ 864978 w 866736"/>
                    <a:gd name="connsiteY8" fmla="*/ 792162 h 1488557"/>
                    <a:gd name="connsiteX9" fmla="*/ 839578 w 866736"/>
                    <a:gd name="connsiteY9" fmla="*/ 334962 h 1488557"/>
                    <a:gd name="connsiteX10" fmla="*/ 807828 w 866736"/>
                    <a:gd name="connsiteY10" fmla="*/ 112712 h 1488557"/>
                    <a:gd name="connsiteX11" fmla="*/ 763378 w 866736"/>
                    <a:gd name="connsiteY11" fmla="*/ 80962 h 1488557"/>
                    <a:gd name="connsiteX0" fmla="*/ 763378 w 866736"/>
                    <a:gd name="connsiteY0" fmla="*/ 83321 h 1490916"/>
                    <a:gd name="connsiteX1" fmla="*/ 553828 w 866736"/>
                    <a:gd name="connsiteY1" fmla="*/ 7121 h 1490916"/>
                    <a:gd name="connsiteX2" fmla="*/ 287128 w 866736"/>
                    <a:gd name="connsiteY2" fmla="*/ 235721 h 1490916"/>
                    <a:gd name="connsiteX3" fmla="*/ 166478 w 866736"/>
                    <a:gd name="connsiteY3" fmla="*/ 889771 h 1490916"/>
                    <a:gd name="connsiteX4" fmla="*/ 1378 w 866736"/>
                    <a:gd name="connsiteY4" fmla="*/ 1410471 h 1490916"/>
                    <a:gd name="connsiteX5" fmla="*/ 115678 w 866736"/>
                    <a:gd name="connsiteY5" fmla="*/ 1486671 h 1490916"/>
                    <a:gd name="connsiteX6" fmla="*/ 560178 w 866736"/>
                    <a:gd name="connsiteY6" fmla="*/ 1385071 h 1490916"/>
                    <a:gd name="connsiteX7" fmla="*/ 788778 w 866736"/>
                    <a:gd name="connsiteY7" fmla="*/ 1162821 h 1490916"/>
                    <a:gd name="connsiteX8" fmla="*/ 864978 w 866736"/>
                    <a:gd name="connsiteY8" fmla="*/ 794521 h 1490916"/>
                    <a:gd name="connsiteX9" fmla="*/ 839578 w 866736"/>
                    <a:gd name="connsiteY9" fmla="*/ 337321 h 1490916"/>
                    <a:gd name="connsiteX10" fmla="*/ 763378 w 866736"/>
                    <a:gd name="connsiteY10" fmla="*/ 83321 h 1490916"/>
                    <a:gd name="connsiteX0" fmla="*/ 839578 w 866736"/>
                    <a:gd name="connsiteY0" fmla="*/ 94239 h 1489134"/>
                    <a:gd name="connsiteX1" fmla="*/ 553828 w 866736"/>
                    <a:gd name="connsiteY1" fmla="*/ 5339 h 1489134"/>
                    <a:gd name="connsiteX2" fmla="*/ 287128 w 866736"/>
                    <a:gd name="connsiteY2" fmla="*/ 233939 h 1489134"/>
                    <a:gd name="connsiteX3" fmla="*/ 166478 w 866736"/>
                    <a:gd name="connsiteY3" fmla="*/ 887989 h 1489134"/>
                    <a:gd name="connsiteX4" fmla="*/ 1378 w 866736"/>
                    <a:gd name="connsiteY4" fmla="*/ 1408689 h 1489134"/>
                    <a:gd name="connsiteX5" fmla="*/ 115678 w 866736"/>
                    <a:gd name="connsiteY5" fmla="*/ 1484889 h 1489134"/>
                    <a:gd name="connsiteX6" fmla="*/ 560178 w 866736"/>
                    <a:gd name="connsiteY6" fmla="*/ 1383289 h 1489134"/>
                    <a:gd name="connsiteX7" fmla="*/ 788778 w 866736"/>
                    <a:gd name="connsiteY7" fmla="*/ 1161039 h 1489134"/>
                    <a:gd name="connsiteX8" fmla="*/ 864978 w 866736"/>
                    <a:gd name="connsiteY8" fmla="*/ 792739 h 1489134"/>
                    <a:gd name="connsiteX9" fmla="*/ 839578 w 866736"/>
                    <a:gd name="connsiteY9" fmla="*/ 335539 h 1489134"/>
                    <a:gd name="connsiteX10" fmla="*/ 839578 w 866736"/>
                    <a:gd name="connsiteY10" fmla="*/ 94239 h 1489134"/>
                    <a:gd name="connsiteX0" fmla="*/ 839578 w 878926"/>
                    <a:gd name="connsiteY0" fmla="*/ 94239 h 1489134"/>
                    <a:gd name="connsiteX1" fmla="*/ 553828 w 878926"/>
                    <a:gd name="connsiteY1" fmla="*/ 5339 h 1489134"/>
                    <a:gd name="connsiteX2" fmla="*/ 287128 w 878926"/>
                    <a:gd name="connsiteY2" fmla="*/ 233939 h 1489134"/>
                    <a:gd name="connsiteX3" fmla="*/ 166478 w 878926"/>
                    <a:gd name="connsiteY3" fmla="*/ 887989 h 1489134"/>
                    <a:gd name="connsiteX4" fmla="*/ 1378 w 878926"/>
                    <a:gd name="connsiteY4" fmla="*/ 1408689 h 1489134"/>
                    <a:gd name="connsiteX5" fmla="*/ 115678 w 878926"/>
                    <a:gd name="connsiteY5" fmla="*/ 1484889 h 1489134"/>
                    <a:gd name="connsiteX6" fmla="*/ 560178 w 878926"/>
                    <a:gd name="connsiteY6" fmla="*/ 1383289 h 1489134"/>
                    <a:gd name="connsiteX7" fmla="*/ 788778 w 878926"/>
                    <a:gd name="connsiteY7" fmla="*/ 1161039 h 1489134"/>
                    <a:gd name="connsiteX8" fmla="*/ 877678 w 878926"/>
                    <a:gd name="connsiteY8" fmla="*/ 951489 h 1489134"/>
                    <a:gd name="connsiteX9" fmla="*/ 839578 w 878926"/>
                    <a:gd name="connsiteY9" fmla="*/ 335539 h 1489134"/>
                    <a:gd name="connsiteX10" fmla="*/ 839578 w 878926"/>
                    <a:gd name="connsiteY10" fmla="*/ 94239 h 1489134"/>
                    <a:gd name="connsiteX0" fmla="*/ 839578 w 890528"/>
                    <a:gd name="connsiteY0" fmla="*/ 95419 h 1490314"/>
                    <a:gd name="connsiteX1" fmla="*/ 553828 w 890528"/>
                    <a:gd name="connsiteY1" fmla="*/ 6519 h 1490314"/>
                    <a:gd name="connsiteX2" fmla="*/ 287128 w 890528"/>
                    <a:gd name="connsiteY2" fmla="*/ 235119 h 1490314"/>
                    <a:gd name="connsiteX3" fmla="*/ 166478 w 890528"/>
                    <a:gd name="connsiteY3" fmla="*/ 889169 h 1490314"/>
                    <a:gd name="connsiteX4" fmla="*/ 1378 w 890528"/>
                    <a:gd name="connsiteY4" fmla="*/ 1409869 h 1490314"/>
                    <a:gd name="connsiteX5" fmla="*/ 115678 w 890528"/>
                    <a:gd name="connsiteY5" fmla="*/ 1486069 h 1490314"/>
                    <a:gd name="connsiteX6" fmla="*/ 560178 w 890528"/>
                    <a:gd name="connsiteY6" fmla="*/ 1384469 h 1490314"/>
                    <a:gd name="connsiteX7" fmla="*/ 788778 w 890528"/>
                    <a:gd name="connsiteY7" fmla="*/ 1162219 h 1490314"/>
                    <a:gd name="connsiteX8" fmla="*/ 877678 w 890528"/>
                    <a:gd name="connsiteY8" fmla="*/ 952669 h 1490314"/>
                    <a:gd name="connsiteX9" fmla="*/ 884028 w 890528"/>
                    <a:gd name="connsiteY9" fmla="*/ 431969 h 1490314"/>
                    <a:gd name="connsiteX10" fmla="*/ 839578 w 890528"/>
                    <a:gd name="connsiteY10" fmla="*/ 95419 h 1490314"/>
                    <a:gd name="connsiteX0" fmla="*/ 839578 w 890528"/>
                    <a:gd name="connsiteY0" fmla="*/ 101645 h 1496540"/>
                    <a:gd name="connsiteX1" fmla="*/ 553828 w 890528"/>
                    <a:gd name="connsiteY1" fmla="*/ 12745 h 1496540"/>
                    <a:gd name="connsiteX2" fmla="*/ 268078 w 890528"/>
                    <a:gd name="connsiteY2" fmla="*/ 336595 h 1496540"/>
                    <a:gd name="connsiteX3" fmla="*/ 166478 w 890528"/>
                    <a:gd name="connsiteY3" fmla="*/ 895395 h 1496540"/>
                    <a:gd name="connsiteX4" fmla="*/ 1378 w 890528"/>
                    <a:gd name="connsiteY4" fmla="*/ 1416095 h 1496540"/>
                    <a:gd name="connsiteX5" fmla="*/ 115678 w 890528"/>
                    <a:gd name="connsiteY5" fmla="*/ 1492295 h 1496540"/>
                    <a:gd name="connsiteX6" fmla="*/ 560178 w 890528"/>
                    <a:gd name="connsiteY6" fmla="*/ 1390695 h 1496540"/>
                    <a:gd name="connsiteX7" fmla="*/ 788778 w 890528"/>
                    <a:gd name="connsiteY7" fmla="*/ 1168445 h 1496540"/>
                    <a:gd name="connsiteX8" fmla="*/ 877678 w 890528"/>
                    <a:gd name="connsiteY8" fmla="*/ 958895 h 1496540"/>
                    <a:gd name="connsiteX9" fmla="*/ 884028 w 890528"/>
                    <a:gd name="connsiteY9" fmla="*/ 438195 h 1496540"/>
                    <a:gd name="connsiteX10" fmla="*/ 839578 w 890528"/>
                    <a:gd name="connsiteY10" fmla="*/ 101645 h 1496540"/>
                    <a:gd name="connsiteX0" fmla="*/ 839578 w 887860"/>
                    <a:gd name="connsiteY0" fmla="*/ 101645 h 1496540"/>
                    <a:gd name="connsiteX1" fmla="*/ 553828 w 887860"/>
                    <a:gd name="connsiteY1" fmla="*/ 12745 h 1496540"/>
                    <a:gd name="connsiteX2" fmla="*/ 268078 w 887860"/>
                    <a:gd name="connsiteY2" fmla="*/ 336595 h 1496540"/>
                    <a:gd name="connsiteX3" fmla="*/ 166478 w 887860"/>
                    <a:gd name="connsiteY3" fmla="*/ 895395 h 1496540"/>
                    <a:gd name="connsiteX4" fmla="*/ 1378 w 887860"/>
                    <a:gd name="connsiteY4" fmla="*/ 1416095 h 1496540"/>
                    <a:gd name="connsiteX5" fmla="*/ 115678 w 887860"/>
                    <a:gd name="connsiteY5" fmla="*/ 1492295 h 1496540"/>
                    <a:gd name="connsiteX6" fmla="*/ 560178 w 887860"/>
                    <a:gd name="connsiteY6" fmla="*/ 1390695 h 1496540"/>
                    <a:gd name="connsiteX7" fmla="*/ 852278 w 887860"/>
                    <a:gd name="connsiteY7" fmla="*/ 1308145 h 1496540"/>
                    <a:gd name="connsiteX8" fmla="*/ 877678 w 887860"/>
                    <a:gd name="connsiteY8" fmla="*/ 958895 h 1496540"/>
                    <a:gd name="connsiteX9" fmla="*/ 884028 w 887860"/>
                    <a:gd name="connsiteY9" fmla="*/ 438195 h 1496540"/>
                    <a:gd name="connsiteX10" fmla="*/ 839578 w 887860"/>
                    <a:gd name="connsiteY10" fmla="*/ 101645 h 1496540"/>
                    <a:gd name="connsiteX0" fmla="*/ 839578 w 887860"/>
                    <a:gd name="connsiteY0" fmla="*/ 50839 h 1445734"/>
                    <a:gd name="connsiteX1" fmla="*/ 553828 w 887860"/>
                    <a:gd name="connsiteY1" fmla="*/ 25439 h 1445734"/>
                    <a:gd name="connsiteX2" fmla="*/ 268078 w 887860"/>
                    <a:gd name="connsiteY2" fmla="*/ 285789 h 1445734"/>
                    <a:gd name="connsiteX3" fmla="*/ 166478 w 887860"/>
                    <a:gd name="connsiteY3" fmla="*/ 844589 h 1445734"/>
                    <a:gd name="connsiteX4" fmla="*/ 1378 w 887860"/>
                    <a:gd name="connsiteY4" fmla="*/ 1365289 h 1445734"/>
                    <a:gd name="connsiteX5" fmla="*/ 115678 w 887860"/>
                    <a:gd name="connsiteY5" fmla="*/ 1441489 h 1445734"/>
                    <a:gd name="connsiteX6" fmla="*/ 560178 w 887860"/>
                    <a:gd name="connsiteY6" fmla="*/ 1339889 h 1445734"/>
                    <a:gd name="connsiteX7" fmla="*/ 852278 w 887860"/>
                    <a:gd name="connsiteY7" fmla="*/ 1257339 h 1445734"/>
                    <a:gd name="connsiteX8" fmla="*/ 877678 w 887860"/>
                    <a:gd name="connsiteY8" fmla="*/ 908089 h 1445734"/>
                    <a:gd name="connsiteX9" fmla="*/ 884028 w 887860"/>
                    <a:gd name="connsiteY9" fmla="*/ 387389 h 1445734"/>
                    <a:gd name="connsiteX10" fmla="*/ 839578 w 887860"/>
                    <a:gd name="connsiteY10" fmla="*/ 50839 h 1445734"/>
                    <a:gd name="connsiteX0" fmla="*/ 814178 w 887860"/>
                    <a:gd name="connsiteY0" fmla="*/ 101939 h 1426984"/>
                    <a:gd name="connsiteX1" fmla="*/ 553828 w 887860"/>
                    <a:gd name="connsiteY1" fmla="*/ 6689 h 1426984"/>
                    <a:gd name="connsiteX2" fmla="*/ 268078 w 887860"/>
                    <a:gd name="connsiteY2" fmla="*/ 267039 h 1426984"/>
                    <a:gd name="connsiteX3" fmla="*/ 166478 w 887860"/>
                    <a:gd name="connsiteY3" fmla="*/ 825839 h 1426984"/>
                    <a:gd name="connsiteX4" fmla="*/ 1378 w 887860"/>
                    <a:gd name="connsiteY4" fmla="*/ 1346539 h 1426984"/>
                    <a:gd name="connsiteX5" fmla="*/ 115678 w 887860"/>
                    <a:gd name="connsiteY5" fmla="*/ 1422739 h 1426984"/>
                    <a:gd name="connsiteX6" fmla="*/ 560178 w 887860"/>
                    <a:gd name="connsiteY6" fmla="*/ 1321139 h 1426984"/>
                    <a:gd name="connsiteX7" fmla="*/ 852278 w 887860"/>
                    <a:gd name="connsiteY7" fmla="*/ 1238589 h 1426984"/>
                    <a:gd name="connsiteX8" fmla="*/ 877678 w 887860"/>
                    <a:gd name="connsiteY8" fmla="*/ 889339 h 1426984"/>
                    <a:gd name="connsiteX9" fmla="*/ 884028 w 887860"/>
                    <a:gd name="connsiteY9" fmla="*/ 368639 h 1426984"/>
                    <a:gd name="connsiteX10" fmla="*/ 814178 w 887860"/>
                    <a:gd name="connsiteY10" fmla="*/ 101939 h 1426984"/>
                    <a:gd name="connsiteX0" fmla="*/ 814178 w 887860"/>
                    <a:gd name="connsiteY0" fmla="*/ 150553 h 1475598"/>
                    <a:gd name="connsiteX1" fmla="*/ 553828 w 887860"/>
                    <a:gd name="connsiteY1" fmla="*/ 4503 h 1475598"/>
                    <a:gd name="connsiteX2" fmla="*/ 268078 w 887860"/>
                    <a:gd name="connsiteY2" fmla="*/ 315653 h 1475598"/>
                    <a:gd name="connsiteX3" fmla="*/ 166478 w 887860"/>
                    <a:gd name="connsiteY3" fmla="*/ 874453 h 1475598"/>
                    <a:gd name="connsiteX4" fmla="*/ 1378 w 887860"/>
                    <a:gd name="connsiteY4" fmla="*/ 1395153 h 1475598"/>
                    <a:gd name="connsiteX5" fmla="*/ 115678 w 887860"/>
                    <a:gd name="connsiteY5" fmla="*/ 1471353 h 1475598"/>
                    <a:gd name="connsiteX6" fmla="*/ 560178 w 887860"/>
                    <a:gd name="connsiteY6" fmla="*/ 1369753 h 1475598"/>
                    <a:gd name="connsiteX7" fmla="*/ 852278 w 887860"/>
                    <a:gd name="connsiteY7" fmla="*/ 1287203 h 1475598"/>
                    <a:gd name="connsiteX8" fmla="*/ 877678 w 887860"/>
                    <a:gd name="connsiteY8" fmla="*/ 937953 h 1475598"/>
                    <a:gd name="connsiteX9" fmla="*/ 884028 w 887860"/>
                    <a:gd name="connsiteY9" fmla="*/ 417253 h 1475598"/>
                    <a:gd name="connsiteX10" fmla="*/ 814178 w 887860"/>
                    <a:gd name="connsiteY10" fmla="*/ 150553 h 1475598"/>
                    <a:gd name="connsiteX0" fmla="*/ 758874 w 832556"/>
                    <a:gd name="connsiteY0" fmla="*/ 150553 h 1473058"/>
                    <a:gd name="connsiteX1" fmla="*/ 498524 w 832556"/>
                    <a:gd name="connsiteY1" fmla="*/ 4503 h 1473058"/>
                    <a:gd name="connsiteX2" fmla="*/ 212774 w 832556"/>
                    <a:gd name="connsiteY2" fmla="*/ 315653 h 1473058"/>
                    <a:gd name="connsiteX3" fmla="*/ 111174 w 832556"/>
                    <a:gd name="connsiteY3" fmla="*/ 874453 h 1473058"/>
                    <a:gd name="connsiteX4" fmla="*/ 9574 w 832556"/>
                    <a:gd name="connsiteY4" fmla="*/ 1280853 h 1473058"/>
                    <a:gd name="connsiteX5" fmla="*/ 60374 w 832556"/>
                    <a:gd name="connsiteY5" fmla="*/ 1471353 h 1473058"/>
                    <a:gd name="connsiteX6" fmla="*/ 504874 w 832556"/>
                    <a:gd name="connsiteY6" fmla="*/ 1369753 h 1473058"/>
                    <a:gd name="connsiteX7" fmla="*/ 796974 w 832556"/>
                    <a:gd name="connsiteY7" fmla="*/ 1287203 h 1473058"/>
                    <a:gd name="connsiteX8" fmla="*/ 822374 w 832556"/>
                    <a:gd name="connsiteY8" fmla="*/ 937953 h 1473058"/>
                    <a:gd name="connsiteX9" fmla="*/ 828724 w 832556"/>
                    <a:gd name="connsiteY9" fmla="*/ 417253 h 1473058"/>
                    <a:gd name="connsiteX10" fmla="*/ 758874 w 832556"/>
                    <a:gd name="connsiteY10" fmla="*/ 150553 h 1473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32556" h="1473058">
                      <a:moveTo>
                        <a:pt x="758874" y="150553"/>
                      </a:moveTo>
                      <a:cubicBezTo>
                        <a:pt x="703841" y="81761"/>
                        <a:pt x="589541" y="-23014"/>
                        <a:pt x="498524" y="4503"/>
                      </a:cubicBezTo>
                      <a:cubicBezTo>
                        <a:pt x="407507" y="32020"/>
                        <a:pt x="277332" y="170661"/>
                        <a:pt x="212774" y="315653"/>
                      </a:cubicBezTo>
                      <a:cubicBezTo>
                        <a:pt x="148216" y="460645"/>
                        <a:pt x="145041" y="713586"/>
                        <a:pt x="111174" y="874453"/>
                      </a:cubicBezTo>
                      <a:cubicBezTo>
                        <a:pt x="77307" y="1035320"/>
                        <a:pt x="18041" y="1181370"/>
                        <a:pt x="9574" y="1280853"/>
                      </a:cubicBezTo>
                      <a:cubicBezTo>
                        <a:pt x="1107" y="1380336"/>
                        <a:pt x="-22176" y="1456536"/>
                        <a:pt x="60374" y="1471353"/>
                      </a:cubicBezTo>
                      <a:cubicBezTo>
                        <a:pt x="142924" y="1486170"/>
                        <a:pt x="382107" y="1400445"/>
                        <a:pt x="504874" y="1369753"/>
                      </a:cubicBezTo>
                      <a:cubicBezTo>
                        <a:pt x="627641" y="1339061"/>
                        <a:pt x="744057" y="1359170"/>
                        <a:pt x="796974" y="1287203"/>
                      </a:cubicBezTo>
                      <a:cubicBezTo>
                        <a:pt x="849891" y="1215236"/>
                        <a:pt x="817082" y="1082945"/>
                        <a:pt x="822374" y="937953"/>
                      </a:cubicBezTo>
                      <a:cubicBezTo>
                        <a:pt x="827666" y="792961"/>
                        <a:pt x="838249" y="530495"/>
                        <a:pt x="828724" y="417253"/>
                      </a:cubicBezTo>
                      <a:cubicBezTo>
                        <a:pt x="811791" y="298720"/>
                        <a:pt x="813907" y="219345"/>
                        <a:pt x="758874" y="150553"/>
                      </a:cubicBezTo>
                      <a:close/>
                    </a:path>
                  </a:pathLst>
                </a:cu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B0A9A72C-65EB-4233-A97C-DA02DA966791}"/>
                    </a:ext>
                  </a:extLst>
                </p:cNvPr>
                <p:cNvSpPr/>
                <p:nvPr/>
              </p:nvSpPr>
              <p:spPr>
                <a:xfrm flipH="1">
                  <a:off x="2987823" y="3429000"/>
                  <a:ext cx="876530" cy="1482476"/>
                </a:xfrm>
                <a:custGeom>
                  <a:avLst/>
                  <a:gdLst>
                    <a:gd name="connsiteX0" fmla="*/ 763378 w 866736"/>
                    <a:gd name="connsiteY0" fmla="*/ 80962 h 1488557"/>
                    <a:gd name="connsiteX1" fmla="*/ 553828 w 866736"/>
                    <a:gd name="connsiteY1" fmla="*/ 4762 h 1488557"/>
                    <a:gd name="connsiteX2" fmla="*/ 287128 w 866736"/>
                    <a:gd name="connsiteY2" fmla="*/ 233362 h 1488557"/>
                    <a:gd name="connsiteX3" fmla="*/ 166478 w 866736"/>
                    <a:gd name="connsiteY3" fmla="*/ 887412 h 1488557"/>
                    <a:gd name="connsiteX4" fmla="*/ 1378 w 866736"/>
                    <a:gd name="connsiteY4" fmla="*/ 1408112 h 1488557"/>
                    <a:gd name="connsiteX5" fmla="*/ 115678 w 866736"/>
                    <a:gd name="connsiteY5" fmla="*/ 1484312 h 1488557"/>
                    <a:gd name="connsiteX6" fmla="*/ 560178 w 866736"/>
                    <a:gd name="connsiteY6" fmla="*/ 1382712 h 1488557"/>
                    <a:gd name="connsiteX7" fmla="*/ 788778 w 866736"/>
                    <a:gd name="connsiteY7" fmla="*/ 1160462 h 1488557"/>
                    <a:gd name="connsiteX8" fmla="*/ 864978 w 866736"/>
                    <a:gd name="connsiteY8" fmla="*/ 792162 h 1488557"/>
                    <a:gd name="connsiteX9" fmla="*/ 839578 w 866736"/>
                    <a:gd name="connsiteY9" fmla="*/ 334962 h 1488557"/>
                    <a:gd name="connsiteX10" fmla="*/ 807828 w 866736"/>
                    <a:gd name="connsiteY10" fmla="*/ 112712 h 1488557"/>
                    <a:gd name="connsiteX11" fmla="*/ 763378 w 866736"/>
                    <a:gd name="connsiteY11" fmla="*/ 80962 h 1488557"/>
                    <a:gd name="connsiteX0" fmla="*/ 763378 w 866736"/>
                    <a:gd name="connsiteY0" fmla="*/ 83321 h 1490916"/>
                    <a:gd name="connsiteX1" fmla="*/ 553828 w 866736"/>
                    <a:gd name="connsiteY1" fmla="*/ 7121 h 1490916"/>
                    <a:gd name="connsiteX2" fmla="*/ 287128 w 866736"/>
                    <a:gd name="connsiteY2" fmla="*/ 235721 h 1490916"/>
                    <a:gd name="connsiteX3" fmla="*/ 166478 w 866736"/>
                    <a:gd name="connsiteY3" fmla="*/ 889771 h 1490916"/>
                    <a:gd name="connsiteX4" fmla="*/ 1378 w 866736"/>
                    <a:gd name="connsiteY4" fmla="*/ 1410471 h 1490916"/>
                    <a:gd name="connsiteX5" fmla="*/ 115678 w 866736"/>
                    <a:gd name="connsiteY5" fmla="*/ 1486671 h 1490916"/>
                    <a:gd name="connsiteX6" fmla="*/ 560178 w 866736"/>
                    <a:gd name="connsiteY6" fmla="*/ 1385071 h 1490916"/>
                    <a:gd name="connsiteX7" fmla="*/ 788778 w 866736"/>
                    <a:gd name="connsiteY7" fmla="*/ 1162821 h 1490916"/>
                    <a:gd name="connsiteX8" fmla="*/ 864978 w 866736"/>
                    <a:gd name="connsiteY8" fmla="*/ 794521 h 1490916"/>
                    <a:gd name="connsiteX9" fmla="*/ 839578 w 866736"/>
                    <a:gd name="connsiteY9" fmla="*/ 337321 h 1490916"/>
                    <a:gd name="connsiteX10" fmla="*/ 763378 w 866736"/>
                    <a:gd name="connsiteY10" fmla="*/ 83321 h 1490916"/>
                    <a:gd name="connsiteX0" fmla="*/ 839578 w 866736"/>
                    <a:gd name="connsiteY0" fmla="*/ 94239 h 1489134"/>
                    <a:gd name="connsiteX1" fmla="*/ 553828 w 866736"/>
                    <a:gd name="connsiteY1" fmla="*/ 5339 h 1489134"/>
                    <a:gd name="connsiteX2" fmla="*/ 287128 w 866736"/>
                    <a:gd name="connsiteY2" fmla="*/ 233939 h 1489134"/>
                    <a:gd name="connsiteX3" fmla="*/ 166478 w 866736"/>
                    <a:gd name="connsiteY3" fmla="*/ 887989 h 1489134"/>
                    <a:gd name="connsiteX4" fmla="*/ 1378 w 866736"/>
                    <a:gd name="connsiteY4" fmla="*/ 1408689 h 1489134"/>
                    <a:gd name="connsiteX5" fmla="*/ 115678 w 866736"/>
                    <a:gd name="connsiteY5" fmla="*/ 1484889 h 1489134"/>
                    <a:gd name="connsiteX6" fmla="*/ 560178 w 866736"/>
                    <a:gd name="connsiteY6" fmla="*/ 1383289 h 1489134"/>
                    <a:gd name="connsiteX7" fmla="*/ 788778 w 866736"/>
                    <a:gd name="connsiteY7" fmla="*/ 1161039 h 1489134"/>
                    <a:gd name="connsiteX8" fmla="*/ 864978 w 866736"/>
                    <a:gd name="connsiteY8" fmla="*/ 792739 h 1489134"/>
                    <a:gd name="connsiteX9" fmla="*/ 839578 w 866736"/>
                    <a:gd name="connsiteY9" fmla="*/ 335539 h 1489134"/>
                    <a:gd name="connsiteX10" fmla="*/ 839578 w 866736"/>
                    <a:gd name="connsiteY10" fmla="*/ 94239 h 1489134"/>
                    <a:gd name="connsiteX0" fmla="*/ 839578 w 878926"/>
                    <a:gd name="connsiteY0" fmla="*/ 94239 h 1489134"/>
                    <a:gd name="connsiteX1" fmla="*/ 553828 w 878926"/>
                    <a:gd name="connsiteY1" fmla="*/ 5339 h 1489134"/>
                    <a:gd name="connsiteX2" fmla="*/ 287128 w 878926"/>
                    <a:gd name="connsiteY2" fmla="*/ 233939 h 1489134"/>
                    <a:gd name="connsiteX3" fmla="*/ 166478 w 878926"/>
                    <a:gd name="connsiteY3" fmla="*/ 887989 h 1489134"/>
                    <a:gd name="connsiteX4" fmla="*/ 1378 w 878926"/>
                    <a:gd name="connsiteY4" fmla="*/ 1408689 h 1489134"/>
                    <a:gd name="connsiteX5" fmla="*/ 115678 w 878926"/>
                    <a:gd name="connsiteY5" fmla="*/ 1484889 h 1489134"/>
                    <a:gd name="connsiteX6" fmla="*/ 560178 w 878926"/>
                    <a:gd name="connsiteY6" fmla="*/ 1383289 h 1489134"/>
                    <a:gd name="connsiteX7" fmla="*/ 788778 w 878926"/>
                    <a:gd name="connsiteY7" fmla="*/ 1161039 h 1489134"/>
                    <a:gd name="connsiteX8" fmla="*/ 877678 w 878926"/>
                    <a:gd name="connsiteY8" fmla="*/ 951489 h 1489134"/>
                    <a:gd name="connsiteX9" fmla="*/ 839578 w 878926"/>
                    <a:gd name="connsiteY9" fmla="*/ 335539 h 1489134"/>
                    <a:gd name="connsiteX10" fmla="*/ 839578 w 878926"/>
                    <a:gd name="connsiteY10" fmla="*/ 94239 h 1489134"/>
                    <a:gd name="connsiteX0" fmla="*/ 839578 w 890528"/>
                    <a:gd name="connsiteY0" fmla="*/ 95419 h 1490314"/>
                    <a:gd name="connsiteX1" fmla="*/ 553828 w 890528"/>
                    <a:gd name="connsiteY1" fmla="*/ 6519 h 1490314"/>
                    <a:gd name="connsiteX2" fmla="*/ 287128 w 890528"/>
                    <a:gd name="connsiteY2" fmla="*/ 235119 h 1490314"/>
                    <a:gd name="connsiteX3" fmla="*/ 166478 w 890528"/>
                    <a:gd name="connsiteY3" fmla="*/ 889169 h 1490314"/>
                    <a:gd name="connsiteX4" fmla="*/ 1378 w 890528"/>
                    <a:gd name="connsiteY4" fmla="*/ 1409869 h 1490314"/>
                    <a:gd name="connsiteX5" fmla="*/ 115678 w 890528"/>
                    <a:gd name="connsiteY5" fmla="*/ 1486069 h 1490314"/>
                    <a:gd name="connsiteX6" fmla="*/ 560178 w 890528"/>
                    <a:gd name="connsiteY6" fmla="*/ 1384469 h 1490314"/>
                    <a:gd name="connsiteX7" fmla="*/ 788778 w 890528"/>
                    <a:gd name="connsiteY7" fmla="*/ 1162219 h 1490314"/>
                    <a:gd name="connsiteX8" fmla="*/ 877678 w 890528"/>
                    <a:gd name="connsiteY8" fmla="*/ 952669 h 1490314"/>
                    <a:gd name="connsiteX9" fmla="*/ 884028 w 890528"/>
                    <a:gd name="connsiteY9" fmla="*/ 431969 h 1490314"/>
                    <a:gd name="connsiteX10" fmla="*/ 839578 w 890528"/>
                    <a:gd name="connsiteY10" fmla="*/ 95419 h 1490314"/>
                    <a:gd name="connsiteX0" fmla="*/ 839578 w 890528"/>
                    <a:gd name="connsiteY0" fmla="*/ 101645 h 1496540"/>
                    <a:gd name="connsiteX1" fmla="*/ 553828 w 890528"/>
                    <a:gd name="connsiteY1" fmla="*/ 12745 h 1496540"/>
                    <a:gd name="connsiteX2" fmla="*/ 268078 w 890528"/>
                    <a:gd name="connsiteY2" fmla="*/ 336595 h 1496540"/>
                    <a:gd name="connsiteX3" fmla="*/ 166478 w 890528"/>
                    <a:gd name="connsiteY3" fmla="*/ 895395 h 1496540"/>
                    <a:gd name="connsiteX4" fmla="*/ 1378 w 890528"/>
                    <a:gd name="connsiteY4" fmla="*/ 1416095 h 1496540"/>
                    <a:gd name="connsiteX5" fmla="*/ 115678 w 890528"/>
                    <a:gd name="connsiteY5" fmla="*/ 1492295 h 1496540"/>
                    <a:gd name="connsiteX6" fmla="*/ 560178 w 890528"/>
                    <a:gd name="connsiteY6" fmla="*/ 1390695 h 1496540"/>
                    <a:gd name="connsiteX7" fmla="*/ 788778 w 890528"/>
                    <a:gd name="connsiteY7" fmla="*/ 1168445 h 1496540"/>
                    <a:gd name="connsiteX8" fmla="*/ 877678 w 890528"/>
                    <a:gd name="connsiteY8" fmla="*/ 958895 h 1496540"/>
                    <a:gd name="connsiteX9" fmla="*/ 884028 w 890528"/>
                    <a:gd name="connsiteY9" fmla="*/ 438195 h 1496540"/>
                    <a:gd name="connsiteX10" fmla="*/ 839578 w 890528"/>
                    <a:gd name="connsiteY10" fmla="*/ 101645 h 1496540"/>
                    <a:gd name="connsiteX0" fmla="*/ 839578 w 887860"/>
                    <a:gd name="connsiteY0" fmla="*/ 101645 h 1496540"/>
                    <a:gd name="connsiteX1" fmla="*/ 553828 w 887860"/>
                    <a:gd name="connsiteY1" fmla="*/ 12745 h 1496540"/>
                    <a:gd name="connsiteX2" fmla="*/ 268078 w 887860"/>
                    <a:gd name="connsiteY2" fmla="*/ 336595 h 1496540"/>
                    <a:gd name="connsiteX3" fmla="*/ 166478 w 887860"/>
                    <a:gd name="connsiteY3" fmla="*/ 895395 h 1496540"/>
                    <a:gd name="connsiteX4" fmla="*/ 1378 w 887860"/>
                    <a:gd name="connsiteY4" fmla="*/ 1416095 h 1496540"/>
                    <a:gd name="connsiteX5" fmla="*/ 115678 w 887860"/>
                    <a:gd name="connsiteY5" fmla="*/ 1492295 h 1496540"/>
                    <a:gd name="connsiteX6" fmla="*/ 560178 w 887860"/>
                    <a:gd name="connsiteY6" fmla="*/ 1390695 h 1496540"/>
                    <a:gd name="connsiteX7" fmla="*/ 852278 w 887860"/>
                    <a:gd name="connsiteY7" fmla="*/ 1308145 h 1496540"/>
                    <a:gd name="connsiteX8" fmla="*/ 877678 w 887860"/>
                    <a:gd name="connsiteY8" fmla="*/ 958895 h 1496540"/>
                    <a:gd name="connsiteX9" fmla="*/ 884028 w 887860"/>
                    <a:gd name="connsiteY9" fmla="*/ 438195 h 1496540"/>
                    <a:gd name="connsiteX10" fmla="*/ 839578 w 887860"/>
                    <a:gd name="connsiteY10" fmla="*/ 101645 h 1496540"/>
                    <a:gd name="connsiteX0" fmla="*/ 839578 w 887860"/>
                    <a:gd name="connsiteY0" fmla="*/ 50839 h 1445734"/>
                    <a:gd name="connsiteX1" fmla="*/ 553828 w 887860"/>
                    <a:gd name="connsiteY1" fmla="*/ 25439 h 1445734"/>
                    <a:gd name="connsiteX2" fmla="*/ 268078 w 887860"/>
                    <a:gd name="connsiteY2" fmla="*/ 285789 h 1445734"/>
                    <a:gd name="connsiteX3" fmla="*/ 166478 w 887860"/>
                    <a:gd name="connsiteY3" fmla="*/ 844589 h 1445734"/>
                    <a:gd name="connsiteX4" fmla="*/ 1378 w 887860"/>
                    <a:gd name="connsiteY4" fmla="*/ 1365289 h 1445734"/>
                    <a:gd name="connsiteX5" fmla="*/ 115678 w 887860"/>
                    <a:gd name="connsiteY5" fmla="*/ 1441489 h 1445734"/>
                    <a:gd name="connsiteX6" fmla="*/ 560178 w 887860"/>
                    <a:gd name="connsiteY6" fmla="*/ 1339889 h 1445734"/>
                    <a:gd name="connsiteX7" fmla="*/ 852278 w 887860"/>
                    <a:gd name="connsiteY7" fmla="*/ 1257339 h 1445734"/>
                    <a:gd name="connsiteX8" fmla="*/ 877678 w 887860"/>
                    <a:gd name="connsiteY8" fmla="*/ 908089 h 1445734"/>
                    <a:gd name="connsiteX9" fmla="*/ 884028 w 887860"/>
                    <a:gd name="connsiteY9" fmla="*/ 387389 h 1445734"/>
                    <a:gd name="connsiteX10" fmla="*/ 839578 w 887860"/>
                    <a:gd name="connsiteY10" fmla="*/ 50839 h 1445734"/>
                    <a:gd name="connsiteX0" fmla="*/ 814178 w 887860"/>
                    <a:gd name="connsiteY0" fmla="*/ 101939 h 1426984"/>
                    <a:gd name="connsiteX1" fmla="*/ 553828 w 887860"/>
                    <a:gd name="connsiteY1" fmla="*/ 6689 h 1426984"/>
                    <a:gd name="connsiteX2" fmla="*/ 268078 w 887860"/>
                    <a:gd name="connsiteY2" fmla="*/ 267039 h 1426984"/>
                    <a:gd name="connsiteX3" fmla="*/ 166478 w 887860"/>
                    <a:gd name="connsiteY3" fmla="*/ 825839 h 1426984"/>
                    <a:gd name="connsiteX4" fmla="*/ 1378 w 887860"/>
                    <a:gd name="connsiteY4" fmla="*/ 1346539 h 1426984"/>
                    <a:gd name="connsiteX5" fmla="*/ 115678 w 887860"/>
                    <a:gd name="connsiteY5" fmla="*/ 1422739 h 1426984"/>
                    <a:gd name="connsiteX6" fmla="*/ 560178 w 887860"/>
                    <a:gd name="connsiteY6" fmla="*/ 1321139 h 1426984"/>
                    <a:gd name="connsiteX7" fmla="*/ 852278 w 887860"/>
                    <a:gd name="connsiteY7" fmla="*/ 1238589 h 1426984"/>
                    <a:gd name="connsiteX8" fmla="*/ 877678 w 887860"/>
                    <a:gd name="connsiteY8" fmla="*/ 889339 h 1426984"/>
                    <a:gd name="connsiteX9" fmla="*/ 884028 w 887860"/>
                    <a:gd name="connsiteY9" fmla="*/ 368639 h 1426984"/>
                    <a:gd name="connsiteX10" fmla="*/ 814178 w 887860"/>
                    <a:gd name="connsiteY10" fmla="*/ 101939 h 1426984"/>
                    <a:gd name="connsiteX0" fmla="*/ 814178 w 887860"/>
                    <a:gd name="connsiteY0" fmla="*/ 150553 h 1475598"/>
                    <a:gd name="connsiteX1" fmla="*/ 553828 w 887860"/>
                    <a:gd name="connsiteY1" fmla="*/ 4503 h 1475598"/>
                    <a:gd name="connsiteX2" fmla="*/ 268078 w 887860"/>
                    <a:gd name="connsiteY2" fmla="*/ 315653 h 1475598"/>
                    <a:gd name="connsiteX3" fmla="*/ 166478 w 887860"/>
                    <a:gd name="connsiteY3" fmla="*/ 874453 h 1475598"/>
                    <a:gd name="connsiteX4" fmla="*/ 1378 w 887860"/>
                    <a:gd name="connsiteY4" fmla="*/ 1395153 h 1475598"/>
                    <a:gd name="connsiteX5" fmla="*/ 115678 w 887860"/>
                    <a:gd name="connsiteY5" fmla="*/ 1471353 h 1475598"/>
                    <a:gd name="connsiteX6" fmla="*/ 560178 w 887860"/>
                    <a:gd name="connsiteY6" fmla="*/ 1369753 h 1475598"/>
                    <a:gd name="connsiteX7" fmla="*/ 852278 w 887860"/>
                    <a:gd name="connsiteY7" fmla="*/ 1287203 h 1475598"/>
                    <a:gd name="connsiteX8" fmla="*/ 877678 w 887860"/>
                    <a:gd name="connsiteY8" fmla="*/ 937953 h 1475598"/>
                    <a:gd name="connsiteX9" fmla="*/ 884028 w 887860"/>
                    <a:gd name="connsiteY9" fmla="*/ 417253 h 1475598"/>
                    <a:gd name="connsiteX10" fmla="*/ 814178 w 887860"/>
                    <a:gd name="connsiteY10" fmla="*/ 150553 h 1475598"/>
                    <a:gd name="connsiteX0" fmla="*/ 758874 w 832556"/>
                    <a:gd name="connsiteY0" fmla="*/ 150553 h 1473058"/>
                    <a:gd name="connsiteX1" fmla="*/ 498524 w 832556"/>
                    <a:gd name="connsiteY1" fmla="*/ 4503 h 1473058"/>
                    <a:gd name="connsiteX2" fmla="*/ 212774 w 832556"/>
                    <a:gd name="connsiteY2" fmla="*/ 315653 h 1473058"/>
                    <a:gd name="connsiteX3" fmla="*/ 111174 w 832556"/>
                    <a:gd name="connsiteY3" fmla="*/ 874453 h 1473058"/>
                    <a:gd name="connsiteX4" fmla="*/ 9574 w 832556"/>
                    <a:gd name="connsiteY4" fmla="*/ 1280853 h 1473058"/>
                    <a:gd name="connsiteX5" fmla="*/ 60374 w 832556"/>
                    <a:gd name="connsiteY5" fmla="*/ 1471353 h 1473058"/>
                    <a:gd name="connsiteX6" fmla="*/ 504874 w 832556"/>
                    <a:gd name="connsiteY6" fmla="*/ 1369753 h 1473058"/>
                    <a:gd name="connsiteX7" fmla="*/ 796974 w 832556"/>
                    <a:gd name="connsiteY7" fmla="*/ 1287203 h 1473058"/>
                    <a:gd name="connsiteX8" fmla="*/ 822374 w 832556"/>
                    <a:gd name="connsiteY8" fmla="*/ 937953 h 1473058"/>
                    <a:gd name="connsiteX9" fmla="*/ 828724 w 832556"/>
                    <a:gd name="connsiteY9" fmla="*/ 417253 h 1473058"/>
                    <a:gd name="connsiteX10" fmla="*/ 758874 w 832556"/>
                    <a:gd name="connsiteY10" fmla="*/ 150553 h 1473058"/>
                    <a:gd name="connsiteX0" fmla="*/ 758874 w 855468"/>
                    <a:gd name="connsiteY0" fmla="*/ 150553 h 1473481"/>
                    <a:gd name="connsiteX1" fmla="*/ 498524 w 855468"/>
                    <a:gd name="connsiteY1" fmla="*/ 4503 h 1473481"/>
                    <a:gd name="connsiteX2" fmla="*/ 212774 w 855468"/>
                    <a:gd name="connsiteY2" fmla="*/ 315653 h 1473481"/>
                    <a:gd name="connsiteX3" fmla="*/ 111174 w 855468"/>
                    <a:gd name="connsiteY3" fmla="*/ 874453 h 1473481"/>
                    <a:gd name="connsiteX4" fmla="*/ 9574 w 855468"/>
                    <a:gd name="connsiteY4" fmla="*/ 1280853 h 1473481"/>
                    <a:gd name="connsiteX5" fmla="*/ 60374 w 855468"/>
                    <a:gd name="connsiteY5" fmla="*/ 1471353 h 1473481"/>
                    <a:gd name="connsiteX6" fmla="*/ 504874 w 855468"/>
                    <a:gd name="connsiteY6" fmla="*/ 1369753 h 1473481"/>
                    <a:gd name="connsiteX7" fmla="*/ 438770 w 855468"/>
                    <a:gd name="connsiteY7" fmla="*/ 1166553 h 1473481"/>
                    <a:gd name="connsiteX8" fmla="*/ 822374 w 855468"/>
                    <a:gd name="connsiteY8" fmla="*/ 937953 h 1473481"/>
                    <a:gd name="connsiteX9" fmla="*/ 828724 w 855468"/>
                    <a:gd name="connsiteY9" fmla="*/ 417253 h 1473481"/>
                    <a:gd name="connsiteX10" fmla="*/ 758874 w 855468"/>
                    <a:gd name="connsiteY10" fmla="*/ 150553 h 1473481"/>
                    <a:gd name="connsiteX0" fmla="*/ 752450 w 849045"/>
                    <a:gd name="connsiteY0" fmla="*/ 150553 h 1491894"/>
                    <a:gd name="connsiteX1" fmla="*/ 492100 w 849045"/>
                    <a:gd name="connsiteY1" fmla="*/ 4503 h 1491894"/>
                    <a:gd name="connsiteX2" fmla="*/ 206350 w 849045"/>
                    <a:gd name="connsiteY2" fmla="*/ 315653 h 1491894"/>
                    <a:gd name="connsiteX3" fmla="*/ 104750 w 849045"/>
                    <a:gd name="connsiteY3" fmla="*/ 874453 h 1491894"/>
                    <a:gd name="connsiteX4" fmla="*/ 3150 w 849045"/>
                    <a:gd name="connsiteY4" fmla="*/ 1280853 h 1491894"/>
                    <a:gd name="connsiteX5" fmla="*/ 53950 w 849045"/>
                    <a:gd name="connsiteY5" fmla="*/ 1471353 h 1491894"/>
                    <a:gd name="connsiteX6" fmla="*/ 322859 w 849045"/>
                    <a:gd name="connsiteY6" fmla="*/ 1452303 h 1491894"/>
                    <a:gd name="connsiteX7" fmla="*/ 432346 w 849045"/>
                    <a:gd name="connsiteY7" fmla="*/ 1166553 h 1491894"/>
                    <a:gd name="connsiteX8" fmla="*/ 815950 w 849045"/>
                    <a:gd name="connsiteY8" fmla="*/ 937953 h 1491894"/>
                    <a:gd name="connsiteX9" fmla="*/ 822300 w 849045"/>
                    <a:gd name="connsiteY9" fmla="*/ 417253 h 1491894"/>
                    <a:gd name="connsiteX10" fmla="*/ 752450 w 849045"/>
                    <a:gd name="connsiteY10" fmla="*/ 150553 h 1491894"/>
                    <a:gd name="connsiteX0" fmla="*/ 872977 w 969572"/>
                    <a:gd name="connsiteY0" fmla="*/ 150553 h 1482476"/>
                    <a:gd name="connsiteX1" fmla="*/ 612627 w 969572"/>
                    <a:gd name="connsiteY1" fmla="*/ 4503 h 1482476"/>
                    <a:gd name="connsiteX2" fmla="*/ 326877 w 969572"/>
                    <a:gd name="connsiteY2" fmla="*/ 315653 h 1482476"/>
                    <a:gd name="connsiteX3" fmla="*/ 225277 w 969572"/>
                    <a:gd name="connsiteY3" fmla="*/ 874453 h 1482476"/>
                    <a:gd name="connsiteX4" fmla="*/ 123677 w 969572"/>
                    <a:gd name="connsiteY4" fmla="*/ 1280853 h 1482476"/>
                    <a:gd name="connsiteX5" fmla="*/ 535 w 969572"/>
                    <a:gd name="connsiteY5" fmla="*/ 1428749 h 1482476"/>
                    <a:gd name="connsiteX6" fmla="*/ 174477 w 969572"/>
                    <a:gd name="connsiteY6" fmla="*/ 1471353 h 1482476"/>
                    <a:gd name="connsiteX7" fmla="*/ 443386 w 969572"/>
                    <a:gd name="connsiteY7" fmla="*/ 1452303 h 1482476"/>
                    <a:gd name="connsiteX8" fmla="*/ 552873 w 969572"/>
                    <a:gd name="connsiteY8" fmla="*/ 1166553 h 1482476"/>
                    <a:gd name="connsiteX9" fmla="*/ 936477 w 969572"/>
                    <a:gd name="connsiteY9" fmla="*/ 937953 h 1482476"/>
                    <a:gd name="connsiteX10" fmla="*/ 942827 w 969572"/>
                    <a:gd name="connsiteY10" fmla="*/ 417253 h 1482476"/>
                    <a:gd name="connsiteX11" fmla="*/ 872977 w 969572"/>
                    <a:gd name="connsiteY11" fmla="*/ 150553 h 1482476"/>
                    <a:gd name="connsiteX0" fmla="*/ 872943 w 969538"/>
                    <a:gd name="connsiteY0" fmla="*/ 150553 h 1482476"/>
                    <a:gd name="connsiteX1" fmla="*/ 612593 w 969538"/>
                    <a:gd name="connsiteY1" fmla="*/ 4503 h 1482476"/>
                    <a:gd name="connsiteX2" fmla="*/ 326843 w 969538"/>
                    <a:gd name="connsiteY2" fmla="*/ 315653 h 1482476"/>
                    <a:gd name="connsiteX3" fmla="*/ 225243 w 969538"/>
                    <a:gd name="connsiteY3" fmla="*/ 874453 h 1482476"/>
                    <a:gd name="connsiteX4" fmla="*/ 130667 w 969538"/>
                    <a:gd name="connsiteY4" fmla="*/ 1153853 h 1482476"/>
                    <a:gd name="connsiteX5" fmla="*/ 501 w 969538"/>
                    <a:gd name="connsiteY5" fmla="*/ 1428749 h 1482476"/>
                    <a:gd name="connsiteX6" fmla="*/ 174443 w 969538"/>
                    <a:gd name="connsiteY6" fmla="*/ 1471353 h 1482476"/>
                    <a:gd name="connsiteX7" fmla="*/ 443352 w 969538"/>
                    <a:gd name="connsiteY7" fmla="*/ 1452303 h 1482476"/>
                    <a:gd name="connsiteX8" fmla="*/ 552839 w 969538"/>
                    <a:gd name="connsiteY8" fmla="*/ 1166553 h 1482476"/>
                    <a:gd name="connsiteX9" fmla="*/ 936443 w 969538"/>
                    <a:gd name="connsiteY9" fmla="*/ 937953 h 1482476"/>
                    <a:gd name="connsiteX10" fmla="*/ 942793 w 969538"/>
                    <a:gd name="connsiteY10" fmla="*/ 417253 h 1482476"/>
                    <a:gd name="connsiteX11" fmla="*/ 872943 w 969538"/>
                    <a:gd name="connsiteY11" fmla="*/ 150553 h 1482476"/>
                    <a:gd name="connsiteX0" fmla="*/ 872918 w 969513"/>
                    <a:gd name="connsiteY0" fmla="*/ 150553 h 1482476"/>
                    <a:gd name="connsiteX1" fmla="*/ 612568 w 969513"/>
                    <a:gd name="connsiteY1" fmla="*/ 4503 h 1482476"/>
                    <a:gd name="connsiteX2" fmla="*/ 326818 w 969513"/>
                    <a:gd name="connsiteY2" fmla="*/ 315653 h 1482476"/>
                    <a:gd name="connsiteX3" fmla="*/ 190100 w 969513"/>
                    <a:gd name="connsiteY3" fmla="*/ 849053 h 1482476"/>
                    <a:gd name="connsiteX4" fmla="*/ 130642 w 969513"/>
                    <a:gd name="connsiteY4" fmla="*/ 1153853 h 1482476"/>
                    <a:gd name="connsiteX5" fmla="*/ 476 w 969513"/>
                    <a:gd name="connsiteY5" fmla="*/ 1428749 h 1482476"/>
                    <a:gd name="connsiteX6" fmla="*/ 174418 w 969513"/>
                    <a:gd name="connsiteY6" fmla="*/ 1471353 h 1482476"/>
                    <a:gd name="connsiteX7" fmla="*/ 443327 w 969513"/>
                    <a:gd name="connsiteY7" fmla="*/ 1452303 h 1482476"/>
                    <a:gd name="connsiteX8" fmla="*/ 552814 w 969513"/>
                    <a:gd name="connsiteY8" fmla="*/ 1166553 h 1482476"/>
                    <a:gd name="connsiteX9" fmla="*/ 936418 w 969513"/>
                    <a:gd name="connsiteY9" fmla="*/ 937953 h 1482476"/>
                    <a:gd name="connsiteX10" fmla="*/ 942768 w 969513"/>
                    <a:gd name="connsiteY10" fmla="*/ 417253 h 1482476"/>
                    <a:gd name="connsiteX11" fmla="*/ 872918 w 969513"/>
                    <a:gd name="connsiteY11" fmla="*/ 150553 h 1482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969513" h="1482476">
                      <a:moveTo>
                        <a:pt x="872918" y="150553"/>
                      </a:moveTo>
                      <a:cubicBezTo>
                        <a:pt x="817885" y="81761"/>
                        <a:pt x="703585" y="-23014"/>
                        <a:pt x="612568" y="4503"/>
                      </a:cubicBezTo>
                      <a:cubicBezTo>
                        <a:pt x="521551" y="32020"/>
                        <a:pt x="397229" y="174895"/>
                        <a:pt x="326818" y="315653"/>
                      </a:cubicBezTo>
                      <a:cubicBezTo>
                        <a:pt x="256407" y="456411"/>
                        <a:pt x="222796" y="709353"/>
                        <a:pt x="190100" y="849053"/>
                      </a:cubicBezTo>
                      <a:cubicBezTo>
                        <a:pt x="157404" y="988753"/>
                        <a:pt x="162246" y="1057237"/>
                        <a:pt x="130642" y="1153853"/>
                      </a:cubicBezTo>
                      <a:cubicBezTo>
                        <a:pt x="99038" y="1250469"/>
                        <a:pt x="-7991" y="1396999"/>
                        <a:pt x="476" y="1428749"/>
                      </a:cubicBezTo>
                      <a:cubicBezTo>
                        <a:pt x="8943" y="1460499"/>
                        <a:pt x="100610" y="1467427"/>
                        <a:pt x="174418" y="1471353"/>
                      </a:cubicBezTo>
                      <a:cubicBezTo>
                        <a:pt x="248226" y="1475279"/>
                        <a:pt x="380261" y="1503103"/>
                        <a:pt x="443327" y="1452303"/>
                      </a:cubicBezTo>
                      <a:cubicBezTo>
                        <a:pt x="506393" y="1401503"/>
                        <a:pt x="470632" y="1252278"/>
                        <a:pt x="552814" y="1166553"/>
                      </a:cubicBezTo>
                      <a:cubicBezTo>
                        <a:pt x="634996" y="1080828"/>
                        <a:pt x="871426" y="1062836"/>
                        <a:pt x="936418" y="937953"/>
                      </a:cubicBezTo>
                      <a:cubicBezTo>
                        <a:pt x="1001410" y="813070"/>
                        <a:pt x="952293" y="530495"/>
                        <a:pt x="942768" y="417253"/>
                      </a:cubicBezTo>
                      <a:cubicBezTo>
                        <a:pt x="925835" y="298720"/>
                        <a:pt x="927951" y="219345"/>
                        <a:pt x="872918" y="150553"/>
                      </a:cubicBezTo>
                      <a:close/>
                    </a:path>
                  </a:pathLst>
                </a:cu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F3BBD65-98BD-4AA7-B61F-9DFFF59D0624}"/>
                  </a:ext>
                </a:extLst>
              </p:cNvPr>
              <p:cNvSpPr/>
              <p:nvPr/>
            </p:nvSpPr>
            <p:spPr>
              <a:xfrm>
                <a:off x="5073650" y="3575050"/>
                <a:ext cx="209550" cy="177800"/>
              </a:xfrm>
              <a:custGeom>
                <a:avLst/>
                <a:gdLst>
                  <a:gd name="connsiteX0" fmla="*/ 209550 w 209550"/>
                  <a:gd name="connsiteY0" fmla="*/ 177800 h 177800"/>
                  <a:gd name="connsiteX1" fmla="*/ 95250 w 209550"/>
                  <a:gd name="connsiteY1" fmla="*/ 133350 h 177800"/>
                  <a:gd name="connsiteX2" fmla="*/ 63500 w 209550"/>
                  <a:gd name="connsiteY2" fmla="*/ 25400 h 177800"/>
                  <a:gd name="connsiteX3" fmla="*/ 0 w 209550"/>
                  <a:gd name="connsiteY3" fmla="*/ 0 h 177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550" h="177800">
                    <a:moveTo>
                      <a:pt x="209550" y="177800"/>
                    </a:moveTo>
                    <a:cubicBezTo>
                      <a:pt x="164571" y="168275"/>
                      <a:pt x="119592" y="158750"/>
                      <a:pt x="95250" y="133350"/>
                    </a:cubicBezTo>
                    <a:cubicBezTo>
                      <a:pt x="70908" y="107950"/>
                      <a:pt x="79375" y="47625"/>
                      <a:pt x="63500" y="25400"/>
                    </a:cubicBezTo>
                    <a:cubicBezTo>
                      <a:pt x="47625" y="3175"/>
                      <a:pt x="23812" y="1587"/>
                      <a:pt x="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609F013-05F5-45AE-8C5F-3426EB1EA394}"/>
                  </a:ext>
                </a:extLst>
              </p:cNvPr>
              <p:cNvSpPr/>
              <p:nvPr/>
            </p:nvSpPr>
            <p:spPr>
              <a:xfrm>
                <a:off x="5403850" y="3479800"/>
                <a:ext cx="157660" cy="260350"/>
              </a:xfrm>
              <a:custGeom>
                <a:avLst/>
                <a:gdLst>
                  <a:gd name="connsiteX0" fmla="*/ 0 w 157660"/>
                  <a:gd name="connsiteY0" fmla="*/ 260350 h 260350"/>
                  <a:gd name="connsiteX1" fmla="*/ 63500 w 157660"/>
                  <a:gd name="connsiteY1" fmla="*/ 177800 h 260350"/>
                  <a:gd name="connsiteX2" fmla="*/ 152400 w 157660"/>
                  <a:gd name="connsiteY2" fmla="*/ 82550 h 260350"/>
                  <a:gd name="connsiteX3" fmla="*/ 139700 w 157660"/>
                  <a:gd name="connsiteY3" fmla="*/ 0 h 260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660" h="260350">
                    <a:moveTo>
                      <a:pt x="0" y="260350"/>
                    </a:moveTo>
                    <a:cubicBezTo>
                      <a:pt x="19050" y="233891"/>
                      <a:pt x="38100" y="207433"/>
                      <a:pt x="63500" y="177800"/>
                    </a:cubicBezTo>
                    <a:cubicBezTo>
                      <a:pt x="88900" y="148167"/>
                      <a:pt x="139700" y="112183"/>
                      <a:pt x="152400" y="82550"/>
                    </a:cubicBezTo>
                    <a:cubicBezTo>
                      <a:pt x="165100" y="52917"/>
                      <a:pt x="152400" y="26458"/>
                      <a:pt x="13970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FC00CAD-EAEF-4996-909F-EAE8A7D2F2C1}"/>
                  </a:ext>
                </a:extLst>
              </p:cNvPr>
              <p:cNvSpPr/>
              <p:nvPr/>
            </p:nvSpPr>
            <p:spPr>
              <a:xfrm>
                <a:off x="4972050" y="3721100"/>
                <a:ext cx="298450" cy="84536"/>
              </a:xfrm>
              <a:custGeom>
                <a:avLst/>
                <a:gdLst>
                  <a:gd name="connsiteX0" fmla="*/ 298450 w 298450"/>
                  <a:gd name="connsiteY0" fmla="*/ 50800 h 84536"/>
                  <a:gd name="connsiteX1" fmla="*/ 107950 w 298450"/>
                  <a:gd name="connsiteY1" fmla="*/ 82550 h 84536"/>
                  <a:gd name="connsiteX2" fmla="*/ 0 w 298450"/>
                  <a:gd name="connsiteY2" fmla="*/ 0 h 84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8450" h="84536">
                    <a:moveTo>
                      <a:pt x="298450" y="50800"/>
                    </a:moveTo>
                    <a:cubicBezTo>
                      <a:pt x="228071" y="70908"/>
                      <a:pt x="157692" y="91017"/>
                      <a:pt x="107950" y="82550"/>
                    </a:cubicBezTo>
                    <a:cubicBezTo>
                      <a:pt x="58208" y="74083"/>
                      <a:pt x="29104" y="37041"/>
                      <a:pt x="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C7074802-B8E3-4E58-AB1E-1DCCAE0BDC68}"/>
                  </a:ext>
                </a:extLst>
              </p:cNvPr>
              <p:cNvSpPr/>
              <p:nvPr/>
            </p:nvSpPr>
            <p:spPr>
              <a:xfrm>
                <a:off x="5441950" y="3614929"/>
                <a:ext cx="254000" cy="153561"/>
              </a:xfrm>
              <a:custGeom>
                <a:avLst/>
                <a:gdLst>
                  <a:gd name="connsiteX0" fmla="*/ 0 w 254000"/>
                  <a:gd name="connsiteY0" fmla="*/ 131571 h 153561"/>
                  <a:gd name="connsiteX1" fmla="*/ 152400 w 254000"/>
                  <a:gd name="connsiteY1" fmla="*/ 144271 h 153561"/>
                  <a:gd name="connsiteX2" fmla="*/ 222250 w 254000"/>
                  <a:gd name="connsiteY2" fmla="*/ 10921 h 153561"/>
                  <a:gd name="connsiteX3" fmla="*/ 254000 w 254000"/>
                  <a:gd name="connsiteY3" fmla="*/ 17271 h 153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4000" h="153561">
                    <a:moveTo>
                      <a:pt x="0" y="131571"/>
                    </a:moveTo>
                    <a:cubicBezTo>
                      <a:pt x="57679" y="147975"/>
                      <a:pt x="115358" y="164379"/>
                      <a:pt x="152400" y="144271"/>
                    </a:cubicBezTo>
                    <a:cubicBezTo>
                      <a:pt x="189442" y="124163"/>
                      <a:pt x="205317" y="32088"/>
                      <a:pt x="222250" y="10921"/>
                    </a:cubicBezTo>
                    <a:cubicBezTo>
                      <a:pt x="239183" y="-10246"/>
                      <a:pt x="246591" y="3512"/>
                      <a:pt x="254000" y="1727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AB5700A0-C328-4B82-B5F1-B49C3C491D04}"/>
                  </a:ext>
                </a:extLst>
              </p:cNvPr>
              <p:cNvSpPr/>
              <p:nvPr/>
            </p:nvSpPr>
            <p:spPr>
              <a:xfrm>
                <a:off x="5416550" y="3829050"/>
                <a:ext cx="342900" cy="196850"/>
              </a:xfrm>
              <a:custGeom>
                <a:avLst/>
                <a:gdLst>
                  <a:gd name="connsiteX0" fmla="*/ 0 w 342900"/>
                  <a:gd name="connsiteY0" fmla="*/ 0 h 196850"/>
                  <a:gd name="connsiteX1" fmla="*/ 171450 w 342900"/>
                  <a:gd name="connsiteY1" fmla="*/ 95250 h 196850"/>
                  <a:gd name="connsiteX2" fmla="*/ 266700 w 342900"/>
                  <a:gd name="connsiteY2" fmla="*/ 95250 h 196850"/>
                  <a:gd name="connsiteX3" fmla="*/ 342900 w 342900"/>
                  <a:gd name="connsiteY3" fmla="*/ 196850 h 196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2900" h="196850">
                    <a:moveTo>
                      <a:pt x="0" y="0"/>
                    </a:moveTo>
                    <a:cubicBezTo>
                      <a:pt x="63500" y="39687"/>
                      <a:pt x="127000" y="79375"/>
                      <a:pt x="171450" y="95250"/>
                    </a:cubicBezTo>
                    <a:cubicBezTo>
                      <a:pt x="215900" y="111125"/>
                      <a:pt x="238125" y="78317"/>
                      <a:pt x="266700" y="95250"/>
                    </a:cubicBezTo>
                    <a:cubicBezTo>
                      <a:pt x="295275" y="112183"/>
                      <a:pt x="319087" y="154516"/>
                      <a:pt x="342900" y="19685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E54DE19-E19F-48E1-BE3B-784E7B60EBBE}"/>
                  </a:ext>
                </a:extLst>
              </p:cNvPr>
              <p:cNvSpPr/>
              <p:nvPr/>
            </p:nvSpPr>
            <p:spPr>
              <a:xfrm>
                <a:off x="5454650" y="3905250"/>
                <a:ext cx="319464" cy="311150"/>
              </a:xfrm>
              <a:custGeom>
                <a:avLst/>
                <a:gdLst>
                  <a:gd name="connsiteX0" fmla="*/ 0 w 319464"/>
                  <a:gd name="connsiteY0" fmla="*/ 0 h 311150"/>
                  <a:gd name="connsiteX1" fmla="*/ 152400 w 319464"/>
                  <a:gd name="connsiteY1" fmla="*/ 146050 h 311150"/>
                  <a:gd name="connsiteX2" fmla="*/ 304800 w 319464"/>
                  <a:gd name="connsiteY2" fmla="*/ 260350 h 311150"/>
                  <a:gd name="connsiteX3" fmla="*/ 304800 w 319464"/>
                  <a:gd name="connsiteY3" fmla="*/ 311150 h 311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464" h="311150">
                    <a:moveTo>
                      <a:pt x="0" y="0"/>
                    </a:moveTo>
                    <a:cubicBezTo>
                      <a:pt x="50800" y="51329"/>
                      <a:pt x="101600" y="102658"/>
                      <a:pt x="152400" y="146050"/>
                    </a:cubicBezTo>
                    <a:cubicBezTo>
                      <a:pt x="203200" y="189442"/>
                      <a:pt x="279400" y="232833"/>
                      <a:pt x="304800" y="260350"/>
                    </a:cubicBezTo>
                    <a:cubicBezTo>
                      <a:pt x="330200" y="287867"/>
                      <a:pt x="317500" y="299508"/>
                      <a:pt x="304800" y="31115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1E7944D-70E4-49F6-9A4A-3FB2FC6FE2DE}"/>
                  </a:ext>
                </a:extLst>
              </p:cNvPr>
              <p:cNvSpPr/>
              <p:nvPr/>
            </p:nvSpPr>
            <p:spPr>
              <a:xfrm>
                <a:off x="4921250" y="3892550"/>
                <a:ext cx="260350" cy="166294"/>
              </a:xfrm>
              <a:custGeom>
                <a:avLst/>
                <a:gdLst>
                  <a:gd name="connsiteX0" fmla="*/ 260350 w 260350"/>
                  <a:gd name="connsiteY0" fmla="*/ 0 h 166294"/>
                  <a:gd name="connsiteX1" fmla="*/ 107950 w 260350"/>
                  <a:gd name="connsiteY1" fmla="*/ 31750 h 166294"/>
                  <a:gd name="connsiteX2" fmla="*/ 38100 w 260350"/>
                  <a:gd name="connsiteY2" fmla="*/ 152400 h 166294"/>
                  <a:gd name="connsiteX3" fmla="*/ 0 w 260350"/>
                  <a:gd name="connsiteY3" fmla="*/ 158750 h 16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0350" h="166294">
                    <a:moveTo>
                      <a:pt x="260350" y="0"/>
                    </a:moveTo>
                    <a:cubicBezTo>
                      <a:pt x="202671" y="3175"/>
                      <a:pt x="144992" y="6350"/>
                      <a:pt x="107950" y="31750"/>
                    </a:cubicBezTo>
                    <a:cubicBezTo>
                      <a:pt x="70908" y="57150"/>
                      <a:pt x="56092" y="131233"/>
                      <a:pt x="38100" y="152400"/>
                    </a:cubicBezTo>
                    <a:cubicBezTo>
                      <a:pt x="20108" y="173567"/>
                      <a:pt x="10054" y="166158"/>
                      <a:pt x="0" y="15875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5A6BB1F-4C34-4997-9EBF-5A470DBAB11B}"/>
                  </a:ext>
                </a:extLst>
              </p:cNvPr>
              <p:cNvSpPr/>
              <p:nvPr/>
            </p:nvSpPr>
            <p:spPr>
              <a:xfrm>
                <a:off x="4953000" y="3962400"/>
                <a:ext cx="247650" cy="300011"/>
              </a:xfrm>
              <a:custGeom>
                <a:avLst/>
                <a:gdLst>
                  <a:gd name="connsiteX0" fmla="*/ 247650 w 247650"/>
                  <a:gd name="connsiteY0" fmla="*/ 0 h 300011"/>
                  <a:gd name="connsiteX1" fmla="*/ 165100 w 247650"/>
                  <a:gd name="connsiteY1" fmla="*/ 190500 h 300011"/>
                  <a:gd name="connsiteX2" fmla="*/ 101600 w 247650"/>
                  <a:gd name="connsiteY2" fmla="*/ 292100 h 300011"/>
                  <a:gd name="connsiteX3" fmla="*/ 0 w 247650"/>
                  <a:gd name="connsiteY3" fmla="*/ 285750 h 300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7650" h="300011">
                    <a:moveTo>
                      <a:pt x="247650" y="0"/>
                    </a:moveTo>
                    <a:cubicBezTo>
                      <a:pt x="218546" y="70908"/>
                      <a:pt x="189442" y="141817"/>
                      <a:pt x="165100" y="190500"/>
                    </a:cubicBezTo>
                    <a:cubicBezTo>
                      <a:pt x="140758" y="239183"/>
                      <a:pt x="129117" y="276225"/>
                      <a:pt x="101600" y="292100"/>
                    </a:cubicBezTo>
                    <a:cubicBezTo>
                      <a:pt x="74083" y="307975"/>
                      <a:pt x="37041" y="296862"/>
                      <a:pt x="0" y="28575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ED01517-6AB8-48B5-84BA-6A2052254ED3}"/>
                </a:ext>
              </a:extLst>
            </p:cNvPr>
            <p:cNvSpPr txBox="1"/>
            <p:nvPr/>
          </p:nvSpPr>
          <p:spPr>
            <a:xfrm>
              <a:off x="1737435" y="4476590"/>
              <a:ext cx="1600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Lobar/ focal  consolidation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2FA2547-F380-465E-AD53-9E4D7F3BCCCA}"/>
                </a:ext>
              </a:extLst>
            </p:cNvPr>
            <p:cNvSpPr txBox="1"/>
            <p:nvPr/>
          </p:nvSpPr>
          <p:spPr>
            <a:xfrm>
              <a:off x="3211079" y="4470428"/>
              <a:ext cx="14506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Cavitary lesion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B454807-ACFD-478E-B20B-FD4A820F0595}"/>
                </a:ext>
              </a:extLst>
            </p:cNvPr>
            <p:cNvSpPr txBox="1"/>
            <p:nvPr/>
          </p:nvSpPr>
          <p:spPr>
            <a:xfrm>
              <a:off x="4716607" y="4477081"/>
              <a:ext cx="1450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Interstitial pattern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221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4" grpId="0"/>
      <p:bldP spid="26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2">
            <a:extLst>
              <a:ext uri="{FF2B5EF4-FFF2-40B4-BE49-F238E27FC236}">
                <a16:creationId xmlns:a16="http://schemas.microsoft.com/office/drawing/2014/main" id="{AB86087C-0B9F-40CC-915A-F48F81ABCB01}"/>
              </a:ext>
            </a:extLst>
          </p:cNvPr>
          <p:cNvSpPr txBox="1"/>
          <p:nvPr/>
        </p:nvSpPr>
        <p:spPr>
          <a:xfrm>
            <a:off x="227243" y="753615"/>
            <a:ext cx="1553682" cy="40862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Classification</a:t>
            </a:r>
          </a:p>
        </p:txBody>
      </p:sp>
      <p:sp>
        <p:nvSpPr>
          <p:cNvPr id="8" name="cancer screening text">
            <a:hlinkClick r:id="rId2" action="ppaction://hlinksldjump"/>
            <a:extLst>
              <a:ext uri="{FF2B5EF4-FFF2-40B4-BE49-F238E27FC236}">
                <a16:creationId xmlns:a16="http://schemas.microsoft.com/office/drawing/2014/main" id="{EF671F03-58F0-454E-804F-0CFB9D5ED074}"/>
              </a:ext>
            </a:extLst>
          </p:cNvPr>
          <p:cNvSpPr txBox="1"/>
          <p:nvPr/>
        </p:nvSpPr>
        <p:spPr>
          <a:xfrm>
            <a:off x="233923" y="2569201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Management</a:t>
            </a: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68D6601E-5C97-452E-9A4E-ED6111D29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949" y="2796968"/>
            <a:ext cx="395274" cy="395274"/>
          </a:xfrm>
          <a:prstGeom prst="rect">
            <a:avLst/>
          </a:prstGeom>
        </p:spPr>
      </p:pic>
      <p:sp>
        <p:nvSpPr>
          <p:cNvPr id="10" name="cancer screening text">
            <a:hlinkClick r:id="rId5" action="ppaction://hlinksldjump"/>
            <a:extLst>
              <a:ext uri="{FF2B5EF4-FFF2-40B4-BE49-F238E27FC236}">
                <a16:creationId xmlns:a16="http://schemas.microsoft.com/office/drawing/2014/main" id="{975EFC29-8BF2-4ABF-BB04-9FB403D51C40}"/>
              </a:ext>
            </a:extLst>
          </p:cNvPr>
          <p:cNvSpPr txBox="1"/>
          <p:nvPr/>
        </p:nvSpPr>
        <p:spPr>
          <a:xfrm>
            <a:off x="233923" y="3192500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Duration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5B3898A5-0F29-4417-9578-95C39BDF1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949" y="3420267"/>
            <a:ext cx="395274" cy="395274"/>
          </a:xfrm>
          <a:prstGeom prst="rect">
            <a:avLst/>
          </a:prstGeom>
        </p:spPr>
      </p:pic>
      <p:sp>
        <p:nvSpPr>
          <p:cNvPr id="13" name="Cases">
            <a:hlinkClick r:id="rId6" action="ppaction://hlinksldjump"/>
            <a:extLst>
              <a:ext uri="{FF2B5EF4-FFF2-40B4-BE49-F238E27FC236}">
                <a16:creationId xmlns:a16="http://schemas.microsoft.com/office/drawing/2014/main" id="{153F9833-166D-4FC4-96AD-CDE5FD0F1C2B}"/>
              </a:ext>
            </a:extLst>
          </p:cNvPr>
          <p:cNvSpPr txBox="1"/>
          <p:nvPr/>
        </p:nvSpPr>
        <p:spPr>
          <a:xfrm>
            <a:off x="233924" y="3815799"/>
            <a:ext cx="1547001" cy="408623"/>
          </a:xfrm>
          <a:prstGeom prst="roundRect">
            <a:avLst/>
          </a:prstGeom>
          <a:solidFill>
            <a:schemeClr val="accent5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14" name="Graphic 13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4E19F0D4-0480-430E-A4D6-375EBA752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2949" y="4043563"/>
            <a:ext cx="395274" cy="3952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F1691D-116F-4E48-A70F-CFB2758B50B4}"/>
              </a:ext>
            </a:extLst>
          </p:cNvPr>
          <p:cNvSpPr txBox="1"/>
          <p:nvPr/>
        </p:nvSpPr>
        <p:spPr>
          <a:xfrm>
            <a:off x="3725044" y="102449"/>
            <a:ext cx="4741912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Risk Factors for Resistant Organisms</a:t>
            </a:r>
          </a:p>
        </p:txBody>
      </p:sp>
      <p:sp>
        <p:nvSpPr>
          <p:cNvPr id="37" name="Cases">
            <a:extLst>
              <a:ext uri="{FF2B5EF4-FFF2-40B4-BE49-F238E27FC236}">
                <a16:creationId xmlns:a16="http://schemas.microsoft.com/office/drawing/2014/main" id="{04291490-41F0-4A36-8052-BEA6F6B25BE3}"/>
              </a:ext>
            </a:extLst>
          </p:cNvPr>
          <p:cNvSpPr txBox="1"/>
          <p:nvPr/>
        </p:nvSpPr>
        <p:spPr>
          <a:xfrm>
            <a:off x="615549" y="1368682"/>
            <a:ext cx="1402412" cy="40862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MDR RF</a:t>
            </a:r>
          </a:p>
        </p:txBody>
      </p:sp>
      <p:sp>
        <p:nvSpPr>
          <p:cNvPr id="38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ADB08DDB-9F20-42B7-BFBA-0B39F1318BE8}"/>
              </a:ext>
            </a:extLst>
          </p:cNvPr>
          <p:cNvSpPr txBox="1"/>
          <p:nvPr/>
        </p:nvSpPr>
        <p:spPr>
          <a:xfrm>
            <a:off x="638514" y="1946691"/>
            <a:ext cx="140241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Severity</a:t>
            </a:r>
          </a:p>
        </p:txBody>
      </p:sp>
      <p:pic>
        <p:nvPicPr>
          <p:cNvPr id="39" name="Graphic 38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DAD9EC06-7A2C-4673-AEA2-3C37BF20D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6946" y="2173669"/>
            <a:ext cx="395274" cy="395274"/>
          </a:xfrm>
          <a:prstGeom prst="rect">
            <a:avLst/>
          </a:prstGeom>
        </p:spPr>
      </p:pic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EF76865-21CA-4137-B43E-F33B11697045}"/>
              </a:ext>
            </a:extLst>
          </p:cNvPr>
          <p:cNvCxnSpPr>
            <a:cxnSpLocks/>
            <a:endCxn id="37" idx="1"/>
          </p:cNvCxnSpPr>
          <p:nvPr/>
        </p:nvCxnSpPr>
        <p:spPr>
          <a:xfrm rot="16200000" flipH="1">
            <a:off x="310356" y="1267800"/>
            <a:ext cx="417609" cy="19277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BEC68AE-5CF5-4446-BBC2-761095C398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4047" y="1741359"/>
            <a:ext cx="562581" cy="207879"/>
          </a:xfrm>
          <a:prstGeom prst="bentConnector3">
            <a:avLst>
              <a:gd name="adj1" fmla="val 101436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cancer screening text">
            <a:hlinkClick r:id="rId8" action="ppaction://hlinksldjump"/>
            <a:extLst>
              <a:ext uri="{FF2B5EF4-FFF2-40B4-BE49-F238E27FC236}">
                <a16:creationId xmlns:a16="http://schemas.microsoft.com/office/drawing/2014/main" id="{568B32CB-EC04-447F-ACB1-53B1826FEEA7}"/>
              </a:ext>
            </a:extLst>
          </p:cNvPr>
          <p:cNvSpPr txBox="1"/>
          <p:nvPr/>
        </p:nvSpPr>
        <p:spPr>
          <a:xfrm>
            <a:off x="233923" y="153740"/>
            <a:ext cx="1554480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70" name="Micro">
            <a:hlinkClick r:id="" action="ppaction://noaction"/>
            <a:extLst>
              <a:ext uri="{FF2B5EF4-FFF2-40B4-BE49-F238E27FC236}">
                <a16:creationId xmlns:a16="http://schemas.microsoft.com/office/drawing/2014/main" id="{49C4E85D-3848-4C86-BE1F-AE7E177C5243}"/>
              </a:ext>
            </a:extLst>
          </p:cNvPr>
          <p:cNvSpPr txBox="1"/>
          <p:nvPr/>
        </p:nvSpPr>
        <p:spPr>
          <a:xfrm>
            <a:off x="7846074" y="1119314"/>
            <a:ext cx="2001605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Microbiology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6050F3E-5A3A-4C0F-8F37-0FAFA008262B}"/>
              </a:ext>
            </a:extLst>
          </p:cNvPr>
          <p:cNvSpPr txBox="1"/>
          <p:nvPr/>
        </p:nvSpPr>
        <p:spPr>
          <a:xfrm>
            <a:off x="5684277" y="2061381"/>
            <a:ext cx="1813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>
                <a:solidFill>
                  <a:schemeClr val="accent6"/>
                </a:solidFill>
              </a:rPr>
              <a:t>GPCs</a:t>
            </a:r>
          </a:p>
          <a:p>
            <a:pPr algn="ctr"/>
            <a:r>
              <a:rPr lang="en-US" i="1" dirty="0">
                <a:solidFill>
                  <a:schemeClr val="accent6"/>
                </a:solidFill>
              </a:rPr>
              <a:t>S. pneumoniae</a:t>
            </a:r>
          </a:p>
          <a:p>
            <a:pPr algn="ctr"/>
            <a:r>
              <a:rPr lang="en-US" i="1" dirty="0">
                <a:solidFill>
                  <a:schemeClr val="accent6"/>
                </a:solidFill>
              </a:rPr>
              <a:t>S. aureus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0FEAB46C-5219-459E-AE31-D3AF6244414A}"/>
              </a:ext>
            </a:extLst>
          </p:cNvPr>
          <p:cNvCxnSpPr>
            <a:cxnSpLocks/>
            <a:stCxn id="70" idx="2"/>
            <a:endCxn id="72" idx="0"/>
          </p:cNvCxnSpPr>
          <p:nvPr/>
        </p:nvCxnSpPr>
        <p:spPr>
          <a:xfrm rot="5400000">
            <a:off x="7452323" y="666827"/>
            <a:ext cx="533444" cy="22556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E4446930-ACA9-47A7-B448-11294D605D29}"/>
              </a:ext>
            </a:extLst>
          </p:cNvPr>
          <p:cNvCxnSpPr>
            <a:cxnSpLocks/>
            <a:stCxn id="70" idx="2"/>
            <a:endCxn id="75" idx="0"/>
          </p:cNvCxnSpPr>
          <p:nvPr/>
        </p:nvCxnSpPr>
        <p:spPr>
          <a:xfrm rot="5400000">
            <a:off x="8230755" y="1442127"/>
            <a:ext cx="530313" cy="7019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31CA383-18F9-45D4-9FBE-25BD64E54D68}"/>
              </a:ext>
            </a:extLst>
          </p:cNvPr>
          <p:cNvSpPr txBox="1"/>
          <p:nvPr/>
        </p:nvSpPr>
        <p:spPr>
          <a:xfrm>
            <a:off x="7238010" y="2058250"/>
            <a:ext cx="18138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>
                <a:solidFill>
                  <a:schemeClr val="accent6"/>
                </a:solidFill>
              </a:rPr>
              <a:t>GNRs</a:t>
            </a:r>
          </a:p>
          <a:p>
            <a:pPr algn="ctr"/>
            <a:r>
              <a:rPr lang="en-US" i="1" dirty="0">
                <a:solidFill>
                  <a:schemeClr val="accent6"/>
                </a:solidFill>
              </a:rPr>
              <a:t>H. influenzae</a:t>
            </a:r>
          </a:p>
          <a:p>
            <a:pPr algn="ctr"/>
            <a:r>
              <a:rPr lang="en-US" i="1" dirty="0">
                <a:solidFill>
                  <a:schemeClr val="accent6"/>
                </a:solidFill>
              </a:rPr>
              <a:t>M. catarrhalis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D69678-E2B3-40A4-BC12-917E310CCD20}"/>
              </a:ext>
            </a:extLst>
          </p:cNvPr>
          <p:cNvSpPr txBox="1"/>
          <p:nvPr/>
        </p:nvSpPr>
        <p:spPr>
          <a:xfrm>
            <a:off x="8657151" y="2055119"/>
            <a:ext cx="19405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 err="1">
                <a:solidFill>
                  <a:schemeClr val="accent6"/>
                </a:solidFill>
              </a:rPr>
              <a:t>Atypicals</a:t>
            </a:r>
            <a:endParaRPr lang="en-US" u="sng" dirty="0">
              <a:solidFill>
                <a:schemeClr val="accent6"/>
              </a:solidFill>
            </a:endParaRPr>
          </a:p>
          <a:p>
            <a:pPr algn="ctr"/>
            <a:r>
              <a:rPr lang="en-US" i="1" dirty="0">
                <a:solidFill>
                  <a:schemeClr val="accent6"/>
                </a:solidFill>
              </a:rPr>
              <a:t>Legionella</a:t>
            </a:r>
          </a:p>
          <a:p>
            <a:pPr algn="ctr"/>
            <a:r>
              <a:rPr lang="en-US" i="1" dirty="0">
                <a:solidFill>
                  <a:schemeClr val="accent6"/>
                </a:solidFill>
              </a:rPr>
              <a:t>Chlamydia</a:t>
            </a:r>
          </a:p>
          <a:p>
            <a:pPr algn="ctr"/>
            <a:r>
              <a:rPr lang="en-US" i="1" dirty="0">
                <a:solidFill>
                  <a:schemeClr val="accent6"/>
                </a:solidFill>
              </a:rPr>
              <a:t>Mycoplasma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71755CAF-4C08-495A-BE12-3AA1568715BB}"/>
              </a:ext>
            </a:extLst>
          </p:cNvPr>
          <p:cNvCxnSpPr>
            <a:cxnSpLocks/>
            <a:stCxn id="70" idx="2"/>
            <a:endCxn id="78" idx="0"/>
          </p:cNvCxnSpPr>
          <p:nvPr/>
        </p:nvCxnSpPr>
        <p:spPr>
          <a:xfrm rot="16200000" flipH="1">
            <a:off x="9669335" y="705479"/>
            <a:ext cx="536742" cy="21816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7ECD918-B5AD-485C-8EDE-EB36FEE97DFF}"/>
              </a:ext>
            </a:extLst>
          </p:cNvPr>
          <p:cNvSpPr txBox="1"/>
          <p:nvPr/>
        </p:nvSpPr>
        <p:spPr>
          <a:xfrm>
            <a:off x="10300336" y="2064679"/>
            <a:ext cx="1456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Viruses</a:t>
            </a: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284E902C-3621-4C6C-B4E1-6D34A3A7CF56}"/>
              </a:ext>
            </a:extLst>
          </p:cNvPr>
          <p:cNvCxnSpPr>
            <a:stCxn id="70" idx="2"/>
            <a:endCxn id="76" idx="0"/>
          </p:cNvCxnSpPr>
          <p:nvPr/>
        </p:nvCxnSpPr>
        <p:spPr>
          <a:xfrm rot="16200000" flipH="1">
            <a:off x="8973567" y="1401246"/>
            <a:ext cx="527182" cy="7805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72E800E0-EFFB-49DF-BBFE-09C1A97F8AFC}"/>
              </a:ext>
            </a:extLst>
          </p:cNvPr>
          <p:cNvSpPr txBox="1"/>
          <p:nvPr/>
        </p:nvSpPr>
        <p:spPr>
          <a:xfrm>
            <a:off x="8144945" y="4271077"/>
            <a:ext cx="1813869" cy="6463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MRSA</a:t>
            </a:r>
          </a:p>
          <a:p>
            <a:pPr algn="ctr"/>
            <a:r>
              <a:rPr lang="en-US" i="1" dirty="0">
                <a:solidFill>
                  <a:schemeClr val="accent6">
                    <a:lumMod val="50000"/>
                  </a:schemeClr>
                </a:solidFill>
              </a:rPr>
              <a:t>Pseudomonas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13B3729-942B-4E7B-B271-4BE708B02AA6}"/>
              </a:ext>
            </a:extLst>
          </p:cNvPr>
          <p:cNvSpPr/>
          <p:nvPr/>
        </p:nvSpPr>
        <p:spPr>
          <a:xfrm>
            <a:off x="2539968" y="1035411"/>
            <a:ext cx="2690842" cy="11535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 subset of patients have risk factors for MRSA and </a:t>
            </a:r>
            <a:r>
              <a:rPr lang="en-US" i="1" dirty="0"/>
              <a:t>Pseudomonas</a:t>
            </a:r>
            <a:r>
              <a:rPr lang="en-US" dirty="0"/>
              <a:t>. </a:t>
            </a:r>
          </a:p>
        </p:txBody>
      </p:sp>
      <p:sp>
        <p:nvSpPr>
          <p:cNvPr id="105" name="2017 CAP">
            <a:extLst>
              <a:ext uri="{FF2B5EF4-FFF2-40B4-BE49-F238E27FC236}">
                <a16:creationId xmlns:a16="http://schemas.microsoft.com/office/drawing/2014/main" id="{39D59C5B-6942-481D-9DC3-E447FC7E752D}"/>
              </a:ext>
            </a:extLst>
          </p:cNvPr>
          <p:cNvSpPr/>
          <p:nvPr/>
        </p:nvSpPr>
        <p:spPr>
          <a:xfrm>
            <a:off x="6037474" y="4067868"/>
            <a:ext cx="1315691" cy="1236379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CAP</a:t>
            </a:r>
          </a:p>
        </p:txBody>
      </p:sp>
      <p:sp>
        <p:nvSpPr>
          <p:cNvPr id="106" name="HCAP">
            <a:extLst>
              <a:ext uri="{FF2B5EF4-FFF2-40B4-BE49-F238E27FC236}">
                <a16:creationId xmlns:a16="http://schemas.microsoft.com/office/drawing/2014/main" id="{D9A88A47-DE1C-448B-BACB-6EE389D07C64}"/>
              </a:ext>
            </a:extLst>
          </p:cNvPr>
          <p:cNvSpPr/>
          <p:nvPr/>
        </p:nvSpPr>
        <p:spPr>
          <a:xfrm>
            <a:off x="4862054" y="4318104"/>
            <a:ext cx="1036250" cy="81647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HCAP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8B7E1EA-B6D7-40A0-BDE6-58D13A391515}"/>
              </a:ext>
            </a:extLst>
          </p:cNvPr>
          <p:cNvCxnSpPr>
            <a:cxnSpLocks/>
            <a:stCxn id="106" idx="2"/>
            <a:endCxn id="110" idx="6"/>
          </p:cNvCxnSpPr>
          <p:nvPr/>
        </p:nvCxnSpPr>
        <p:spPr>
          <a:xfrm flipH="1">
            <a:off x="4327798" y="4726343"/>
            <a:ext cx="53425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HAP">
            <a:extLst>
              <a:ext uri="{FF2B5EF4-FFF2-40B4-BE49-F238E27FC236}">
                <a16:creationId xmlns:a16="http://schemas.microsoft.com/office/drawing/2014/main" id="{FDF2A035-4038-45AE-8B3A-84BA80D5E54B}"/>
              </a:ext>
            </a:extLst>
          </p:cNvPr>
          <p:cNvSpPr/>
          <p:nvPr/>
        </p:nvSpPr>
        <p:spPr>
          <a:xfrm>
            <a:off x="2380524" y="4319131"/>
            <a:ext cx="844216" cy="81647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VAP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BA2C2E-D5C2-48C4-9C10-468FF6E241EA}"/>
              </a:ext>
            </a:extLst>
          </p:cNvPr>
          <p:cNvCxnSpPr>
            <a:cxnSpLocks/>
            <a:stCxn id="108" idx="6"/>
          </p:cNvCxnSpPr>
          <p:nvPr/>
        </p:nvCxnSpPr>
        <p:spPr>
          <a:xfrm>
            <a:off x="3224740" y="4727370"/>
            <a:ext cx="50796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VAP">
            <a:extLst>
              <a:ext uri="{FF2B5EF4-FFF2-40B4-BE49-F238E27FC236}">
                <a16:creationId xmlns:a16="http://schemas.microsoft.com/office/drawing/2014/main" id="{A28B48E6-7EE1-493E-AA57-EDBC222DF80C}"/>
              </a:ext>
            </a:extLst>
          </p:cNvPr>
          <p:cNvSpPr/>
          <p:nvPr/>
        </p:nvSpPr>
        <p:spPr>
          <a:xfrm>
            <a:off x="3483582" y="4318104"/>
            <a:ext cx="844216" cy="816478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HAP</a:t>
            </a:r>
          </a:p>
        </p:txBody>
      </p:sp>
      <p:sp>
        <p:nvSpPr>
          <p:cNvPr id="111" name="2019 CAP">
            <a:extLst>
              <a:ext uri="{FF2B5EF4-FFF2-40B4-BE49-F238E27FC236}">
                <a16:creationId xmlns:a16="http://schemas.microsoft.com/office/drawing/2014/main" id="{D7DBE3C3-F89B-449F-BD44-F72982BD36EB}"/>
              </a:ext>
            </a:extLst>
          </p:cNvPr>
          <p:cNvSpPr/>
          <p:nvPr/>
        </p:nvSpPr>
        <p:spPr>
          <a:xfrm>
            <a:off x="5245232" y="3425659"/>
            <a:ext cx="2252914" cy="2106375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</a:t>
            </a:r>
          </a:p>
        </p:txBody>
      </p:sp>
      <p:grpSp>
        <p:nvGrpSpPr>
          <p:cNvPr id="112" name="2019 high risk MDR CAP">
            <a:extLst>
              <a:ext uri="{FF2B5EF4-FFF2-40B4-BE49-F238E27FC236}">
                <a16:creationId xmlns:a16="http://schemas.microsoft.com/office/drawing/2014/main" id="{5B0ED5F9-2346-4A43-B0A8-5AA967285E1A}"/>
              </a:ext>
            </a:extLst>
          </p:cNvPr>
          <p:cNvGrpSpPr/>
          <p:nvPr/>
        </p:nvGrpSpPr>
        <p:grpSpPr>
          <a:xfrm>
            <a:off x="5501720" y="4408336"/>
            <a:ext cx="2900435" cy="2111601"/>
            <a:chOff x="3754263" y="2962846"/>
            <a:chExt cx="4118937" cy="312686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8E73749-04CD-4C12-B9A6-C40F5BFBED1B}"/>
                </a:ext>
              </a:extLst>
            </p:cNvPr>
            <p:cNvGrpSpPr/>
            <p:nvPr/>
          </p:nvGrpSpPr>
          <p:grpSpPr>
            <a:xfrm>
              <a:off x="3754263" y="2962846"/>
              <a:ext cx="3028601" cy="1760982"/>
              <a:chOff x="3754263" y="2962846"/>
              <a:chExt cx="3028601" cy="1760982"/>
            </a:xfrm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AB9F1985-2082-4562-96C6-ACA2570768DD}"/>
                  </a:ext>
                </a:extLst>
              </p:cNvPr>
              <p:cNvSpPr/>
              <p:nvPr/>
            </p:nvSpPr>
            <p:spPr>
              <a:xfrm>
                <a:off x="3754263" y="2962846"/>
                <a:ext cx="924560" cy="890224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A82F60DB-5E68-414F-A3E4-E339712E24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0358" y="3530171"/>
                <a:ext cx="2302506" cy="119365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B253D63-1CB9-4D89-BAC6-936C4AFC8FA6}"/>
                </a:ext>
              </a:extLst>
            </p:cNvPr>
            <p:cNvSpPr txBox="1"/>
            <p:nvPr/>
          </p:nvSpPr>
          <p:spPr>
            <a:xfrm>
              <a:off x="5938977" y="4722439"/>
              <a:ext cx="1934223" cy="1367268"/>
            </a:xfrm>
            <a:prstGeom prst="rect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High risk for MDR organisms</a:t>
              </a:r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030810B-2C06-4A65-BA5E-D7AB235AD5F5}"/>
              </a:ext>
            </a:extLst>
          </p:cNvPr>
          <p:cNvSpPr/>
          <p:nvPr/>
        </p:nvSpPr>
        <p:spPr>
          <a:xfrm>
            <a:off x="8710718" y="5194056"/>
            <a:ext cx="25256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Prior MRSA or </a:t>
            </a:r>
            <a:r>
              <a:rPr lang="en-US" i="1" dirty="0"/>
              <a:t>Pseudomonas</a:t>
            </a:r>
            <a:r>
              <a:rPr lang="en-US" dirty="0"/>
              <a:t> isolation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3F4C20C-79AF-4788-9866-7E959E8C0EAB}"/>
              </a:ext>
            </a:extLst>
          </p:cNvPr>
          <p:cNvSpPr/>
          <p:nvPr/>
        </p:nvSpPr>
        <p:spPr>
          <a:xfrm>
            <a:off x="8710719" y="5866210"/>
            <a:ext cx="25256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Hospitalization + IV antibiotic use (90 d)</a:t>
            </a:r>
          </a:p>
        </p:txBody>
      </p:sp>
      <p:sp>
        <p:nvSpPr>
          <p:cNvPr id="119" name="Arrow: Right 118">
            <a:extLst>
              <a:ext uri="{FF2B5EF4-FFF2-40B4-BE49-F238E27FC236}">
                <a16:creationId xmlns:a16="http://schemas.microsoft.com/office/drawing/2014/main" id="{59E13DB9-577B-45FC-9AF1-2D94BA9AF5B1}"/>
              </a:ext>
            </a:extLst>
          </p:cNvPr>
          <p:cNvSpPr/>
          <p:nvPr/>
        </p:nvSpPr>
        <p:spPr>
          <a:xfrm rot="16200000">
            <a:off x="2328885" y="3133436"/>
            <a:ext cx="2057516" cy="2614769"/>
          </a:xfrm>
          <a:prstGeom prst="rightArrow">
            <a:avLst>
              <a:gd name="adj1" fmla="val 85766"/>
              <a:gd name="adj2" fmla="val 4944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2005">
            <a:extLst>
              <a:ext uri="{FF2B5EF4-FFF2-40B4-BE49-F238E27FC236}">
                <a16:creationId xmlns:a16="http://schemas.microsoft.com/office/drawing/2014/main" id="{3F089B52-4FBA-4052-9034-030D81CF2F0A}"/>
              </a:ext>
            </a:extLst>
          </p:cNvPr>
          <p:cNvSpPr txBox="1"/>
          <p:nvPr/>
        </p:nvSpPr>
        <p:spPr>
          <a:xfrm>
            <a:off x="2419792" y="2515398"/>
            <a:ext cx="1402412" cy="71508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Older Guidelines</a:t>
            </a:r>
          </a:p>
        </p:txBody>
      </p:sp>
      <p:pic>
        <p:nvPicPr>
          <p:cNvPr id="123" name="Graphic 122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CD67EB19-0026-43A4-9582-09345380B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5753" y="3016788"/>
            <a:ext cx="395274" cy="395274"/>
          </a:xfrm>
          <a:prstGeom prst="rect">
            <a:avLst/>
          </a:prstGeom>
        </p:spPr>
      </p:pic>
      <p:sp>
        <p:nvSpPr>
          <p:cNvPr id="124" name="2019">
            <a:extLst>
              <a:ext uri="{FF2B5EF4-FFF2-40B4-BE49-F238E27FC236}">
                <a16:creationId xmlns:a16="http://schemas.microsoft.com/office/drawing/2014/main" id="{5F42C6D6-991E-48AA-99A6-CDA22FA07D96}"/>
              </a:ext>
            </a:extLst>
          </p:cNvPr>
          <p:cNvSpPr txBox="1"/>
          <p:nvPr/>
        </p:nvSpPr>
        <p:spPr>
          <a:xfrm>
            <a:off x="4023009" y="2532540"/>
            <a:ext cx="1402412" cy="71508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2019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Guidelines</a:t>
            </a:r>
          </a:p>
        </p:txBody>
      </p:sp>
      <p:pic>
        <p:nvPicPr>
          <p:cNvPr id="125" name="Graphic 124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CFD5732E-8879-4241-AAA4-E4F83D698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8970" y="3033930"/>
            <a:ext cx="395274" cy="395274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971E6225-3764-44F9-9C07-E7194CFC2DAC}"/>
              </a:ext>
            </a:extLst>
          </p:cNvPr>
          <p:cNvSpPr/>
          <p:nvPr/>
        </p:nvSpPr>
        <p:spPr>
          <a:xfrm>
            <a:off x="4390225" y="5237300"/>
            <a:ext cx="203182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Dialysis</a:t>
            </a:r>
          </a:p>
          <a:p>
            <a:pPr algn="ctr"/>
            <a:r>
              <a:rPr lang="en-US" sz="1600" dirty="0"/>
              <a:t>Wound care</a:t>
            </a:r>
          </a:p>
          <a:p>
            <a:pPr algn="ctr"/>
            <a:r>
              <a:rPr lang="en-US" sz="1600" dirty="0"/>
              <a:t>Residence at nursing home</a:t>
            </a:r>
          </a:p>
          <a:p>
            <a:pPr algn="ctr"/>
            <a:r>
              <a:rPr lang="en-US" sz="1600" dirty="0"/>
              <a:t>Recent hospitalization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76870BB-E7C2-441F-8FCC-F8E3F6008319}"/>
              </a:ext>
            </a:extLst>
          </p:cNvPr>
          <p:cNvSpPr/>
          <p:nvPr/>
        </p:nvSpPr>
        <p:spPr>
          <a:xfrm>
            <a:off x="196400" y="5586697"/>
            <a:ext cx="4193825" cy="10121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Patients with risk factors were separately defined HCAP. This included patients with frequent healthcare contacts.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E4C7FE-2FB7-4B6A-BA3E-A3F5B54B1032}"/>
              </a:ext>
            </a:extLst>
          </p:cNvPr>
          <p:cNvGrpSpPr/>
          <p:nvPr/>
        </p:nvGrpSpPr>
        <p:grpSpPr>
          <a:xfrm>
            <a:off x="8402155" y="5134582"/>
            <a:ext cx="444721" cy="1426157"/>
            <a:chOff x="9059746" y="4939755"/>
            <a:chExt cx="444721" cy="1551226"/>
          </a:xfrm>
        </p:grpSpPr>
        <p:sp>
          <p:nvSpPr>
            <p:cNvPr id="18" name="Left Bracket 17">
              <a:extLst>
                <a:ext uri="{FF2B5EF4-FFF2-40B4-BE49-F238E27FC236}">
                  <a16:creationId xmlns:a16="http://schemas.microsoft.com/office/drawing/2014/main" id="{592DFF5A-BEA5-4C79-8BA6-3D7F6D39839B}"/>
                </a:ext>
              </a:extLst>
            </p:cNvPr>
            <p:cNvSpPr/>
            <p:nvPr/>
          </p:nvSpPr>
          <p:spPr>
            <a:xfrm>
              <a:off x="9368309" y="4939755"/>
              <a:ext cx="136158" cy="1551226"/>
            </a:xfrm>
            <a:prstGeom prst="leftBracket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C6EC1D9-5814-4B72-99E3-304653E8CCC7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9059746" y="5715369"/>
              <a:ext cx="308563" cy="0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B588A21C-C653-4BD3-A8DB-F7313CA0EBBB}"/>
              </a:ext>
            </a:extLst>
          </p:cNvPr>
          <p:cNvSpPr/>
          <p:nvPr/>
        </p:nvSpPr>
        <p:spPr>
          <a:xfrm>
            <a:off x="184768" y="5548730"/>
            <a:ext cx="5642476" cy="11535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</a:t>
            </a:r>
            <a:r>
              <a:rPr lang="en-US" b="1" dirty="0"/>
              <a:t>2019 ATS/IDSA CAP guidelines </a:t>
            </a:r>
            <a:r>
              <a:rPr lang="en-US" dirty="0"/>
              <a:t>no longer recognizes HCAP. The focus is on local epidemiologic and validated for risk factors for MDR organisms. </a:t>
            </a:r>
          </a:p>
        </p:txBody>
      </p:sp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E9EF5DF7-C4EA-4D39-B8CD-B513AC7DA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0802" y="366480"/>
            <a:ext cx="395274" cy="39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7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75623"/>
                                      </p:to>
                                    </p:animClr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75623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3.7037E-7 L 0.0539 -3.7037E-7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5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</p:childTnLst>
        </p:cTn>
      </p:par>
    </p:tnLst>
    <p:bldLst>
      <p:bldP spid="105" grpId="0" animBg="1"/>
      <p:bldP spid="105" grpId="1" animBg="1"/>
      <p:bldP spid="106" grpId="0" animBg="1"/>
      <p:bldP spid="106" grpId="2" animBg="1"/>
      <p:bldP spid="106" grpId="3" animBg="1"/>
      <p:bldP spid="108" grpId="0" animBg="1"/>
      <p:bldP spid="110" grpId="0" animBg="1"/>
      <p:bldP spid="111" grpId="0" animBg="1"/>
      <p:bldP spid="117" grpId="0"/>
      <p:bldP spid="118" grpId="0"/>
      <p:bldP spid="119" grpId="0" animBg="1"/>
      <p:bldP spid="55" grpId="0"/>
      <p:bldP spid="55" grpId="1"/>
      <p:bldP spid="59" grpId="0" animBg="1"/>
      <p:bldP spid="59" grpId="1" animBg="1"/>
      <p:bldP spid="8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3F2E0C7-4D51-4D72-9F80-C3BD050F312D}"/>
              </a:ext>
            </a:extLst>
          </p:cNvPr>
          <p:cNvGrpSpPr/>
          <p:nvPr/>
        </p:nvGrpSpPr>
        <p:grpSpPr>
          <a:xfrm>
            <a:off x="3492813" y="3944245"/>
            <a:ext cx="3578184" cy="1896593"/>
            <a:chOff x="4125846" y="3880140"/>
            <a:chExt cx="6589272" cy="1871348"/>
          </a:xfrm>
          <a:solidFill>
            <a:schemeClr val="bg2">
              <a:lumMod val="50000"/>
            </a:schemeClr>
          </a:solidFill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221947D-8CAC-41C9-A9A4-2162B0F08865}"/>
                </a:ext>
              </a:extLst>
            </p:cNvPr>
            <p:cNvSpPr/>
            <p:nvPr/>
          </p:nvSpPr>
          <p:spPr>
            <a:xfrm>
              <a:off x="4125846" y="3880140"/>
              <a:ext cx="6589272" cy="1871348"/>
            </a:xfrm>
            <a:custGeom>
              <a:avLst/>
              <a:gdLst>
                <a:gd name="connsiteX0" fmla="*/ 0 w 4721290"/>
                <a:gd name="connsiteY0" fmla="*/ 373225 h 1175657"/>
                <a:gd name="connsiteX1" fmla="*/ 4711959 w 4721290"/>
                <a:gd name="connsiteY1" fmla="*/ 0 h 1175657"/>
                <a:gd name="connsiteX2" fmla="*/ 4721290 w 4721290"/>
                <a:gd name="connsiteY2" fmla="*/ 1175657 h 1175657"/>
                <a:gd name="connsiteX3" fmla="*/ 0 w 4721290"/>
                <a:gd name="connsiteY3" fmla="*/ 1175657 h 1175657"/>
                <a:gd name="connsiteX4" fmla="*/ 0 w 4721290"/>
                <a:gd name="connsiteY4" fmla="*/ 373225 h 1175657"/>
                <a:gd name="connsiteX0" fmla="*/ 0 w 4731609"/>
                <a:gd name="connsiteY0" fmla="*/ 382850 h 1185282"/>
                <a:gd name="connsiteX1" fmla="*/ 4731209 w 4731609"/>
                <a:gd name="connsiteY1" fmla="*/ 0 h 1185282"/>
                <a:gd name="connsiteX2" fmla="*/ 4721290 w 4731609"/>
                <a:gd name="connsiteY2" fmla="*/ 1185282 h 1185282"/>
                <a:gd name="connsiteX3" fmla="*/ 0 w 4731609"/>
                <a:gd name="connsiteY3" fmla="*/ 1185282 h 1185282"/>
                <a:gd name="connsiteX4" fmla="*/ 0 w 4731609"/>
                <a:gd name="connsiteY4" fmla="*/ 382850 h 1185282"/>
                <a:gd name="connsiteX0" fmla="*/ 6350 w 4737959"/>
                <a:gd name="connsiteY0" fmla="*/ 382850 h 1194807"/>
                <a:gd name="connsiteX1" fmla="*/ 4737559 w 4737959"/>
                <a:gd name="connsiteY1" fmla="*/ 0 h 1194807"/>
                <a:gd name="connsiteX2" fmla="*/ 4727640 w 4737959"/>
                <a:gd name="connsiteY2" fmla="*/ 1185282 h 1194807"/>
                <a:gd name="connsiteX3" fmla="*/ 0 w 4737959"/>
                <a:gd name="connsiteY3" fmla="*/ 1194807 h 1194807"/>
                <a:gd name="connsiteX4" fmla="*/ 6350 w 4737959"/>
                <a:gd name="connsiteY4" fmla="*/ 382850 h 1194807"/>
                <a:gd name="connsiteX0" fmla="*/ 611 w 4738570"/>
                <a:gd name="connsiteY0" fmla="*/ 386025 h 1194807"/>
                <a:gd name="connsiteX1" fmla="*/ 4738170 w 4738570"/>
                <a:gd name="connsiteY1" fmla="*/ 0 h 1194807"/>
                <a:gd name="connsiteX2" fmla="*/ 4728251 w 4738570"/>
                <a:gd name="connsiteY2" fmla="*/ 1185282 h 1194807"/>
                <a:gd name="connsiteX3" fmla="*/ 611 w 4738570"/>
                <a:gd name="connsiteY3" fmla="*/ 1194807 h 1194807"/>
                <a:gd name="connsiteX4" fmla="*/ 611 w 4738570"/>
                <a:gd name="connsiteY4" fmla="*/ 386025 h 1194807"/>
                <a:gd name="connsiteX0" fmla="*/ 611 w 4738788"/>
                <a:gd name="connsiteY0" fmla="*/ 386025 h 1194807"/>
                <a:gd name="connsiteX1" fmla="*/ 4738170 w 4738788"/>
                <a:gd name="connsiteY1" fmla="*/ 0 h 1194807"/>
                <a:gd name="connsiteX2" fmla="*/ 4734601 w 4738788"/>
                <a:gd name="connsiteY2" fmla="*/ 1191632 h 1194807"/>
                <a:gd name="connsiteX3" fmla="*/ 611 w 4738788"/>
                <a:gd name="connsiteY3" fmla="*/ 1194807 h 1194807"/>
                <a:gd name="connsiteX4" fmla="*/ 611 w 4738788"/>
                <a:gd name="connsiteY4" fmla="*/ 386025 h 1194807"/>
                <a:gd name="connsiteX0" fmla="*/ 611 w 4734601"/>
                <a:gd name="connsiteY0" fmla="*/ 386025 h 1194807"/>
                <a:gd name="connsiteX1" fmla="*/ 4719120 w 4734601"/>
                <a:gd name="connsiteY1" fmla="*/ 0 h 1194807"/>
                <a:gd name="connsiteX2" fmla="*/ 4734601 w 4734601"/>
                <a:gd name="connsiteY2" fmla="*/ 1191632 h 1194807"/>
                <a:gd name="connsiteX3" fmla="*/ 611 w 4734601"/>
                <a:gd name="connsiteY3" fmla="*/ 1194807 h 1194807"/>
                <a:gd name="connsiteX4" fmla="*/ 611 w 4734601"/>
                <a:gd name="connsiteY4" fmla="*/ 386025 h 1194807"/>
                <a:gd name="connsiteX0" fmla="*/ 281 w 4740621"/>
                <a:gd name="connsiteY0" fmla="*/ 239975 h 1194807"/>
                <a:gd name="connsiteX1" fmla="*/ 4725140 w 4740621"/>
                <a:gd name="connsiteY1" fmla="*/ 0 h 1194807"/>
                <a:gd name="connsiteX2" fmla="*/ 4740621 w 4740621"/>
                <a:gd name="connsiteY2" fmla="*/ 1191632 h 1194807"/>
                <a:gd name="connsiteX3" fmla="*/ 6631 w 4740621"/>
                <a:gd name="connsiteY3" fmla="*/ 1194807 h 1194807"/>
                <a:gd name="connsiteX4" fmla="*/ 281 w 4740621"/>
                <a:gd name="connsiteY4" fmla="*/ 239975 h 1194807"/>
                <a:gd name="connsiteX0" fmla="*/ 611 w 4740951"/>
                <a:gd name="connsiteY0" fmla="*/ 239975 h 1194807"/>
                <a:gd name="connsiteX1" fmla="*/ 4725470 w 4740951"/>
                <a:gd name="connsiteY1" fmla="*/ 0 h 1194807"/>
                <a:gd name="connsiteX2" fmla="*/ 4740951 w 4740951"/>
                <a:gd name="connsiteY2" fmla="*/ 1191632 h 1194807"/>
                <a:gd name="connsiteX3" fmla="*/ 611 w 4740951"/>
                <a:gd name="connsiteY3" fmla="*/ 1194807 h 1194807"/>
                <a:gd name="connsiteX4" fmla="*/ 611 w 4740951"/>
                <a:gd name="connsiteY4" fmla="*/ 239975 h 1194807"/>
                <a:gd name="connsiteX0" fmla="*/ 611 w 4740951"/>
                <a:gd name="connsiteY0" fmla="*/ 220925 h 1194807"/>
                <a:gd name="connsiteX1" fmla="*/ 4725470 w 4740951"/>
                <a:gd name="connsiteY1" fmla="*/ 0 h 1194807"/>
                <a:gd name="connsiteX2" fmla="*/ 4740951 w 4740951"/>
                <a:gd name="connsiteY2" fmla="*/ 1191632 h 1194807"/>
                <a:gd name="connsiteX3" fmla="*/ 611 w 4740951"/>
                <a:gd name="connsiteY3" fmla="*/ 1194807 h 1194807"/>
                <a:gd name="connsiteX4" fmla="*/ 611 w 4740951"/>
                <a:gd name="connsiteY4" fmla="*/ 220925 h 1194807"/>
                <a:gd name="connsiteX0" fmla="*/ 611 w 4740951"/>
                <a:gd name="connsiteY0" fmla="*/ 74875 h 1194807"/>
                <a:gd name="connsiteX1" fmla="*/ 4725470 w 4740951"/>
                <a:gd name="connsiteY1" fmla="*/ 0 h 1194807"/>
                <a:gd name="connsiteX2" fmla="*/ 4740951 w 4740951"/>
                <a:gd name="connsiteY2" fmla="*/ 1191632 h 1194807"/>
                <a:gd name="connsiteX3" fmla="*/ 611 w 4740951"/>
                <a:gd name="connsiteY3" fmla="*/ 1194807 h 1194807"/>
                <a:gd name="connsiteX4" fmla="*/ 611 w 4740951"/>
                <a:gd name="connsiteY4" fmla="*/ 74875 h 1194807"/>
                <a:gd name="connsiteX0" fmla="*/ 611 w 4740951"/>
                <a:gd name="connsiteY0" fmla="*/ 0 h 1450132"/>
                <a:gd name="connsiteX1" fmla="*/ 4725470 w 4740951"/>
                <a:gd name="connsiteY1" fmla="*/ 255325 h 1450132"/>
                <a:gd name="connsiteX2" fmla="*/ 4740951 w 4740951"/>
                <a:gd name="connsiteY2" fmla="*/ 1446957 h 1450132"/>
                <a:gd name="connsiteX3" fmla="*/ 611 w 4740951"/>
                <a:gd name="connsiteY3" fmla="*/ 1450132 h 1450132"/>
                <a:gd name="connsiteX4" fmla="*/ 611 w 4740951"/>
                <a:gd name="connsiteY4" fmla="*/ 0 h 1450132"/>
                <a:gd name="connsiteX0" fmla="*/ 611 w 4740951"/>
                <a:gd name="connsiteY0" fmla="*/ 322525 h 1772657"/>
                <a:gd name="connsiteX1" fmla="*/ 4731820 w 4740951"/>
                <a:gd name="connsiteY1" fmla="*/ 0 h 1772657"/>
                <a:gd name="connsiteX2" fmla="*/ 4740951 w 4740951"/>
                <a:gd name="connsiteY2" fmla="*/ 1769482 h 1772657"/>
                <a:gd name="connsiteX3" fmla="*/ 611 w 4740951"/>
                <a:gd name="connsiteY3" fmla="*/ 1772657 h 1772657"/>
                <a:gd name="connsiteX4" fmla="*/ 611 w 4740951"/>
                <a:gd name="connsiteY4" fmla="*/ 322525 h 1772657"/>
                <a:gd name="connsiteX0" fmla="*/ 611 w 4740951"/>
                <a:gd name="connsiteY0" fmla="*/ 322525 h 1806804"/>
                <a:gd name="connsiteX1" fmla="*/ 4731820 w 4740951"/>
                <a:gd name="connsiteY1" fmla="*/ 0 h 1806804"/>
                <a:gd name="connsiteX2" fmla="*/ 4740951 w 4740951"/>
                <a:gd name="connsiteY2" fmla="*/ 1806804 h 1806804"/>
                <a:gd name="connsiteX3" fmla="*/ 611 w 4740951"/>
                <a:gd name="connsiteY3" fmla="*/ 1772657 h 1806804"/>
                <a:gd name="connsiteX4" fmla="*/ 611 w 4740951"/>
                <a:gd name="connsiteY4" fmla="*/ 322525 h 1806804"/>
                <a:gd name="connsiteX0" fmla="*/ 611 w 4749107"/>
                <a:gd name="connsiteY0" fmla="*/ 445571 h 1929850"/>
                <a:gd name="connsiteX1" fmla="*/ 4748651 w 4749107"/>
                <a:gd name="connsiteY1" fmla="*/ 0 h 1929850"/>
                <a:gd name="connsiteX2" fmla="*/ 4740951 w 4749107"/>
                <a:gd name="connsiteY2" fmla="*/ 1929850 h 1929850"/>
                <a:gd name="connsiteX3" fmla="*/ 611 w 4749107"/>
                <a:gd name="connsiteY3" fmla="*/ 1895703 h 1929850"/>
                <a:gd name="connsiteX4" fmla="*/ 611 w 4749107"/>
                <a:gd name="connsiteY4" fmla="*/ 445571 h 1929850"/>
                <a:gd name="connsiteX0" fmla="*/ 611 w 4749107"/>
                <a:gd name="connsiteY0" fmla="*/ 445571 h 1895703"/>
                <a:gd name="connsiteX1" fmla="*/ 4748651 w 4749107"/>
                <a:gd name="connsiteY1" fmla="*/ 0 h 1895703"/>
                <a:gd name="connsiteX2" fmla="*/ 4740951 w 4749107"/>
                <a:gd name="connsiteY2" fmla="*/ 1846794 h 1895703"/>
                <a:gd name="connsiteX3" fmla="*/ 611 w 4749107"/>
                <a:gd name="connsiteY3" fmla="*/ 1895703 h 1895703"/>
                <a:gd name="connsiteX4" fmla="*/ 611 w 4749107"/>
                <a:gd name="connsiteY4" fmla="*/ 445571 h 1895703"/>
                <a:gd name="connsiteX0" fmla="*/ 16830 w 4765326"/>
                <a:gd name="connsiteY0" fmla="*/ 445571 h 1858789"/>
                <a:gd name="connsiteX1" fmla="*/ 4764870 w 4765326"/>
                <a:gd name="connsiteY1" fmla="*/ 0 h 1858789"/>
                <a:gd name="connsiteX2" fmla="*/ 4757170 w 4765326"/>
                <a:gd name="connsiteY2" fmla="*/ 1846794 h 1858789"/>
                <a:gd name="connsiteX3" fmla="*/ 0 w 4765326"/>
                <a:gd name="connsiteY3" fmla="*/ 1858789 h 1858789"/>
                <a:gd name="connsiteX4" fmla="*/ 16830 w 4765326"/>
                <a:gd name="connsiteY4" fmla="*/ 445571 h 1858789"/>
                <a:gd name="connsiteX0" fmla="*/ 16830 w 4765873"/>
                <a:gd name="connsiteY0" fmla="*/ 445571 h 1865632"/>
                <a:gd name="connsiteX1" fmla="*/ 4764870 w 4765873"/>
                <a:gd name="connsiteY1" fmla="*/ 0 h 1865632"/>
                <a:gd name="connsiteX2" fmla="*/ 4765677 w 4765873"/>
                <a:gd name="connsiteY2" fmla="*/ 1865632 h 1865632"/>
                <a:gd name="connsiteX3" fmla="*/ 0 w 4765873"/>
                <a:gd name="connsiteY3" fmla="*/ 1858789 h 1865632"/>
                <a:gd name="connsiteX4" fmla="*/ 16830 w 4765873"/>
                <a:gd name="connsiteY4" fmla="*/ 445571 h 1865632"/>
                <a:gd name="connsiteX0" fmla="*/ 16830 w 4765872"/>
                <a:gd name="connsiteY0" fmla="*/ 445571 h 1871348"/>
                <a:gd name="connsiteX1" fmla="*/ 4764870 w 4765872"/>
                <a:gd name="connsiteY1" fmla="*/ 0 h 1871348"/>
                <a:gd name="connsiteX2" fmla="*/ 4765677 w 4765872"/>
                <a:gd name="connsiteY2" fmla="*/ 1865632 h 1871348"/>
                <a:gd name="connsiteX3" fmla="*/ 0 w 4765872"/>
                <a:gd name="connsiteY3" fmla="*/ 1871348 h 1871348"/>
                <a:gd name="connsiteX4" fmla="*/ 16830 w 4765872"/>
                <a:gd name="connsiteY4" fmla="*/ 445571 h 1871348"/>
                <a:gd name="connsiteX0" fmla="*/ 16830 w 4765872"/>
                <a:gd name="connsiteY0" fmla="*/ 445571 h 1871348"/>
                <a:gd name="connsiteX1" fmla="*/ 4764870 w 4765872"/>
                <a:gd name="connsiteY1" fmla="*/ 0 h 1871348"/>
                <a:gd name="connsiteX2" fmla="*/ 4765677 w 4765872"/>
                <a:gd name="connsiteY2" fmla="*/ 1865632 h 1871348"/>
                <a:gd name="connsiteX3" fmla="*/ 0 w 4765872"/>
                <a:gd name="connsiteY3" fmla="*/ 1871348 h 1871348"/>
                <a:gd name="connsiteX4" fmla="*/ 16830 w 4765872"/>
                <a:gd name="connsiteY4" fmla="*/ 445571 h 1871348"/>
                <a:gd name="connsiteX0" fmla="*/ 16830 w 4793894"/>
                <a:gd name="connsiteY0" fmla="*/ 445571 h 1871348"/>
                <a:gd name="connsiteX1" fmla="*/ 4793695 w 4793894"/>
                <a:gd name="connsiteY1" fmla="*/ 0 h 1871348"/>
                <a:gd name="connsiteX2" fmla="*/ 4765677 w 4793894"/>
                <a:gd name="connsiteY2" fmla="*/ 1865632 h 1871348"/>
                <a:gd name="connsiteX3" fmla="*/ 0 w 4793894"/>
                <a:gd name="connsiteY3" fmla="*/ 1871348 h 1871348"/>
                <a:gd name="connsiteX4" fmla="*/ 16830 w 4793894"/>
                <a:gd name="connsiteY4" fmla="*/ 445571 h 187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93894" h="1871348">
                  <a:moveTo>
                    <a:pt x="16830" y="445571"/>
                  </a:moveTo>
                  <a:cubicBezTo>
                    <a:pt x="1593900" y="338063"/>
                    <a:pt x="3216625" y="107508"/>
                    <a:pt x="4793695" y="0"/>
                  </a:cubicBezTo>
                  <a:cubicBezTo>
                    <a:pt x="4796805" y="391886"/>
                    <a:pt x="4762567" y="1473746"/>
                    <a:pt x="4765677" y="1865632"/>
                  </a:cubicBezTo>
                  <a:lnTo>
                    <a:pt x="0" y="1871348"/>
                  </a:lnTo>
                  <a:cubicBezTo>
                    <a:pt x="2117" y="1600696"/>
                    <a:pt x="14713" y="716223"/>
                    <a:pt x="16830" y="44557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F806FF6-FCD4-4DC3-A1D6-75DF11F2DDA0}"/>
                </a:ext>
              </a:extLst>
            </p:cNvPr>
            <p:cNvSpPr txBox="1"/>
            <p:nvPr/>
          </p:nvSpPr>
          <p:spPr>
            <a:xfrm>
              <a:off x="5714425" y="4709725"/>
              <a:ext cx="3364586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Inpatient</a:t>
              </a:r>
            </a:p>
          </p:txBody>
        </p:sp>
      </p:grpSp>
      <p:sp>
        <p:nvSpPr>
          <p:cNvPr id="108" name="site">
            <a:hlinkClick r:id="" action="ppaction://noaction"/>
            <a:extLst>
              <a:ext uri="{FF2B5EF4-FFF2-40B4-BE49-F238E27FC236}">
                <a16:creationId xmlns:a16="http://schemas.microsoft.com/office/drawing/2014/main" id="{E0B481EF-6C3F-484D-8496-C1C4449CE2F6}"/>
              </a:ext>
            </a:extLst>
          </p:cNvPr>
          <p:cNvSpPr txBox="1"/>
          <p:nvPr/>
        </p:nvSpPr>
        <p:spPr>
          <a:xfrm>
            <a:off x="6330458" y="6092254"/>
            <a:ext cx="2291761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Site of management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599FF10-81EA-4213-B8CF-561D0477C603}"/>
              </a:ext>
            </a:extLst>
          </p:cNvPr>
          <p:cNvSpPr/>
          <p:nvPr/>
        </p:nvSpPr>
        <p:spPr>
          <a:xfrm>
            <a:off x="7519291" y="4953504"/>
            <a:ext cx="1507329" cy="8756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ICU</a:t>
            </a:r>
          </a:p>
        </p:txBody>
      </p:sp>
      <p:sp>
        <p:nvSpPr>
          <p:cNvPr id="4" name="Question 2">
            <a:hlinkClick r:id="" action="ppaction://noaction"/>
            <a:extLst>
              <a:ext uri="{FF2B5EF4-FFF2-40B4-BE49-F238E27FC236}">
                <a16:creationId xmlns:a16="http://schemas.microsoft.com/office/drawing/2014/main" id="{AB86087C-0B9F-40CC-915A-F48F81ABCB01}"/>
              </a:ext>
            </a:extLst>
          </p:cNvPr>
          <p:cNvSpPr txBox="1"/>
          <p:nvPr/>
        </p:nvSpPr>
        <p:spPr>
          <a:xfrm>
            <a:off x="228074" y="758139"/>
            <a:ext cx="1553682" cy="40862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Classification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F1691D-116F-4E48-A70F-CFB2758B50B4}"/>
              </a:ext>
            </a:extLst>
          </p:cNvPr>
          <p:cNvSpPr txBox="1"/>
          <p:nvPr/>
        </p:nvSpPr>
        <p:spPr>
          <a:xfrm>
            <a:off x="3491779" y="102449"/>
            <a:ext cx="5208443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Pneumonia Severity Scoring Systems </a:t>
            </a:r>
          </a:p>
        </p:txBody>
      </p:sp>
      <p:sp>
        <p:nvSpPr>
          <p:cNvPr id="37" name="Cases">
            <a:hlinkClick r:id="rId2" action="ppaction://hlinksldjump"/>
            <a:extLst>
              <a:ext uri="{FF2B5EF4-FFF2-40B4-BE49-F238E27FC236}">
                <a16:creationId xmlns:a16="http://schemas.microsoft.com/office/drawing/2014/main" id="{04291490-41F0-4A36-8052-BEA6F6B25BE3}"/>
              </a:ext>
            </a:extLst>
          </p:cNvPr>
          <p:cNvSpPr txBox="1"/>
          <p:nvPr/>
        </p:nvSpPr>
        <p:spPr>
          <a:xfrm>
            <a:off x="616380" y="1373206"/>
            <a:ext cx="140241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MDR RF</a:t>
            </a:r>
          </a:p>
        </p:txBody>
      </p:sp>
      <p:sp>
        <p:nvSpPr>
          <p:cNvPr id="38" name="Cases">
            <a:hlinkClick r:id="" action="ppaction://noaction"/>
            <a:extLst>
              <a:ext uri="{FF2B5EF4-FFF2-40B4-BE49-F238E27FC236}">
                <a16:creationId xmlns:a16="http://schemas.microsoft.com/office/drawing/2014/main" id="{ADB08DDB-9F20-42B7-BFBA-0B39F1318BE8}"/>
              </a:ext>
            </a:extLst>
          </p:cNvPr>
          <p:cNvSpPr txBox="1"/>
          <p:nvPr/>
        </p:nvSpPr>
        <p:spPr>
          <a:xfrm>
            <a:off x="639345" y="1951215"/>
            <a:ext cx="1402412" cy="408623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Severity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EF76865-21CA-4137-B43E-F33B11697045}"/>
              </a:ext>
            </a:extLst>
          </p:cNvPr>
          <p:cNvCxnSpPr>
            <a:cxnSpLocks/>
            <a:endCxn id="37" idx="1"/>
          </p:cNvCxnSpPr>
          <p:nvPr/>
        </p:nvCxnSpPr>
        <p:spPr>
          <a:xfrm rot="16200000" flipH="1">
            <a:off x="311187" y="1272324"/>
            <a:ext cx="417609" cy="19277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BEC68AE-5CF5-4446-BBC2-761095C398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4878" y="1745883"/>
            <a:ext cx="562581" cy="207879"/>
          </a:xfrm>
          <a:prstGeom prst="bentConnector3">
            <a:avLst>
              <a:gd name="adj1" fmla="val 101436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cancer screening text">
            <a:hlinkClick r:id="rId3" action="ppaction://hlinksldjump"/>
            <a:extLst>
              <a:ext uri="{FF2B5EF4-FFF2-40B4-BE49-F238E27FC236}">
                <a16:creationId xmlns:a16="http://schemas.microsoft.com/office/drawing/2014/main" id="{CF8F65A2-CDE1-4B9B-A489-25F48163B3DF}"/>
              </a:ext>
            </a:extLst>
          </p:cNvPr>
          <p:cNvSpPr txBox="1"/>
          <p:nvPr/>
        </p:nvSpPr>
        <p:spPr>
          <a:xfrm>
            <a:off x="233923" y="2587863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Management</a:t>
            </a:r>
          </a:p>
        </p:txBody>
      </p:sp>
      <p:pic>
        <p:nvPicPr>
          <p:cNvPr id="20" name="Graphic 19" descr="Cursor with solid fill">
            <a:extLst>
              <a:ext uri="{FF2B5EF4-FFF2-40B4-BE49-F238E27FC236}">
                <a16:creationId xmlns:a16="http://schemas.microsoft.com/office/drawing/2014/main" id="{01B45872-CEEC-4853-BF11-85678B1AB6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2949" y="2815630"/>
            <a:ext cx="395274" cy="395274"/>
          </a:xfrm>
          <a:prstGeom prst="rect">
            <a:avLst/>
          </a:prstGeom>
        </p:spPr>
      </p:pic>
      <p:sp>
        <p:nvSpPr>
          <p:cNvPr id="21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CE74715A-CC79-404C-9AC2-9D24B1BB38A7}"/>
              </a:ext>
            </a:extLst>
          </p:cNvPr>
          <p:cNvSpPr txBox="1"/>
          <p:nvPr/>
        </p:nvSpPr>
        <p:spPr>
          <a:xfrm>
            <a:off x="233923" y="3211162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Duration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42916219-34E4-4104-83E5-F6E317453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2949" y="3438929"/>
            <a:ext cx="395274" cy="395274"/>
          </a:xfrm>
          <a:prstGeom prst="rect">
            <a:avLst/>
          </a:prstGeom>
        </p:spPr>
      </p:pic>
      <p:sp>
        <p:nvSpPr>
          <p:cNvPr id="23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70809EAB-0B45-449D-ADF6-91ADB0A2A631}"/>
              </a:ext>
            </a:extLst>
          </p:cNvPr>
          <p:cNvSpPr txBox="1"/>
          <p:nvPr/>
        </p:nvSpPr>
        <p:spPr>
          <a:xfrm>
            <a:off x="233924" y="3834461"/>
            <a:ext cx="1547001" cy="408623"/>
          </a:xfrm>
          <a:prstGeom prst="roundRect">
            <a:avLst/>
          </a:prstGeom>
          <a:solidFill>
            <a:schemeClr val="accent5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24" name="Graphic 23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D1115DDD-6A2C-424B-BE63-B7D19C57D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2949" y="4062225"/>
            <a:ext cx="395274" cy="395274"/>
          </a:xfrm>
          <a:prstGeom prst="rect">
            <a:avLst/>
          </a:prstGeom>
        </p:spPr>
      </p:pic>
      <p:pic>
        <p:nvPicPr>
          <p:cNvPr id="25" name="Graphic 24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E945B14A-43A1-4CFB-8951-3C5715CB0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6295" y="1592999"/>
            <a:ext cx="395274" cy="395274"/>
          </a:xfrm>
          <a:prstGeom prst="rect">
            <a:avLst/>
          </a:prstGeom>
        </p:spPr>
      </p:pic>
      <p:sp>
        <p:nvSpPr>
          <p:cNvPr id="47" name="cancer screening text">
            <a:hlinkClick r:id="rId8" action="ppaction://hlinksldjump"/>
            <a:extLst>
              <a:ext uri="{FF2B5EF4-FFF2-40B4-BE49-F238E27FC236}">
                <a16:creationId xmlns:a16="http://schemas.microsoft.com/office/drawing/2014/main" id="{DE538499-1E8C-477A-B9C4-C2FFDCFFB547}"/>
              </a:ext>
            </a:extLst>
          </p:cNvPr>
          <p:cNvSpPr txBox="1"/>
          <p:nvPr/>
        </p:nvSpPr>
        <p:spPr>
          <a:xfrm>
            <a:off x="233923" y="155448"/>
            <a:ext cx="1554480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D72D90-C58F-496A-8394-5A03197FF1CB}"/>
              </a:ext>
            </a:extLst>
          </p:cNvPr>
          <p:cNvSpPr/>
          <p:nvPr/>
        </p:nvSpPr>
        <p:spPr>
          <a:xfrm>
            <a:off x="3027156" y="653184"/>
            <a:ext cx="6137688" cy="5347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PSI or CURB-65 can be used to determine location of treatment</a:t>
            </a:r>
          </a:p>
        </p:txBody>
      </p:sp>
      <p:sp>
        <p:nvSpPr>
          <p:cNvPr id="46" name="PSI">
            <a:hlinkClick r:id="" action="ppaction://noaction"/>
            <a:extLst>
              <a:ext uri="{FF2B5EF4-FFF2-40B4-BE49-F238E27FC236}">
                <a16:creationId xmlns:a16="http://schemas.microsoft.com/office/drawing/2014/main" id="{7F358F20-C835-479B-A32E-8A6286579B45}"/>
              </a:ext>
            </a:extLst>
          </p:cNvPr>
          <p:cNvSpPr txBox="1"/>
          <p:nvPr/>
        </p:nvSpPr>
        <p:spPr>
          <a:xfrm>
            <a:off x="2642239" y="1373206"/>
            <a:ext cx="117502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PSI</a:t>
            </a:r>
          </a:p>
        </p:txBody>
      </p:sp>
      <p:pic>
        <p:nvPicPr>
          <p:cNvPr id="49" name="Graphic 48" descr="Cursor with solid fill">
            <a:extLst>
              <a:ext uri="{FF2B5EF4-FFF2-40B4-BE49-F238E27FC236}">
                <a16:creationId xmlns:a16="http://schemas.microsoft.com/office/drawing/2014/main" id="{4C35B4A5-2D18-4265-8D15-52E2A1EB0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620" y="1584195"/>
            <a:ext cx="395274" cy="395274"/>
          </a:xfrm>
          <a:prstGeom prst="rect">
            <a:avLst/>
          </a:prstGeom>
        </p:spPr>
      </p:pic>
      <p:sp>
        <p:nvSpPr>
          <p:cNvPr id="50" name="CURB65">
            <a:hlinkClick r:id="" action="ppaction://noaction"/>
            <a:extLst>
              <a:ext uri="{FF2B5EF4-FFF2-40B4-BE49-F238E27FC236}">
                <a16:creationId xmlns:a16="http://schemas.microsoft.com/office/drawing/2014/main" id="{D0BD4B2D-F32B-4252-90F7-16FA2269AF59}"/>
              </a:ext>
            </a:extLst>
          </p:cNvPr>
          <p:cNvSpPr txBox="1"/>
          <p:nvPr/>
        </p:nvSpPr>
        <p:spPr>
          <a:xfrm>
            <a:off x="6585723" y="1376545"/>
            <a:ext cx="1454535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CURB-65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833433B5-71DF-4657-91C1-2FC6935409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2622" y="1580856"/>
            <a:ext cx="395274" cy="395274"/>
          </a:xfrm>
          <a:prstGeom prst="rect">
            <a:avLst/>
          </a:prstGeom>
        </p:spPr>
      </p:pic>
      <p:grpSp>
        <p:nvGrpSpPr>
          <p:cNvPr id="10" name="Curb65 def">
            <a:extLst>
              <a:ext uri="{FF2B5EF4-FFF2-40B4-BE49-F238E27FC236}">
                <a16:creationId xmlns:a16="http://schemas.microsoft.com/office/drawing/2014/main" id="{E346A75D-1331-4AF1-8CBD-86FA6BF0E37E}"/>
              </a:ext>
            </a:extLst>
          </p:cNvPr>
          <p:cNvGrpSpPr/>
          <p:nvPr/>
        </p:nvGrpSpPr>
        <p:grpSpPr>
          <a:xfrm>
            <a:off x="6468759" y="1785168"/>
            <a:ext cx="1677057" cy="1540797"/>
            <a:chOff x="10044174" y="1651231"/>
            <a:chExt cx="1677057" cy="1540797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8D70FCC-AAD5-4FA0-8044-5805C8A34269}"/>
                </a:ext>
              </a:extLst>
            </p:cNvPr>
            <p:cNvCxnSpPr>
              <a:cxnSpLocks/>
              <a:stCxn id="8" idx="0"/>
              <a:endCxn id="50" idx="2"/>
            </p:cNvCxnSpPr>
            <p:nvPr/>
          </p:nvCxnSpPr>
          <p:spPr>
            <a:xfrm flipV="1">
              <a:off x="10882703" y="1651231"/>
              <a:ext cx="5703" cy="189283"/>
            </a:xfrm>
            <a:prstGeom prst="lin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6C7956-2FE2-4554-B04A-3F892A3BA732}"/>
                </a:ext>
              </a:extLst>
            </p:cNvPr>
            <p:cNvSpPr/>
            <p:nvPr/>
          </p:nvSpPr>
          <p:spPr>
            <a:xfrm>
              <a:off x="10044174" y="1840514"/>
              <a:ext cx="1677057" cy="1351514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u="sng" dirty="0">
                  <a:solidFill>
                    <a:schemeClr val="tx1"/>
                  </a:solidFill>
                </a:rPr>
                <a:t>C</a:t>
              </a:r>
              <a:r>
                <a:rPr lang="en-US" sz="1600" dirty="0">
                  <a:solidFill>
                    <a:schemeClr val="tx1"/>
                  </a:solidFill>
                </a:rPr>
                <a:t>onfusion</a:t>
              </a:r>
            </a:p>
            <a:p>
              <a:r>
                <a:rPr lang="en-US" sz="1600" b="1" u="sng" dirty="0">
                  <a:solidFill>
                    <a:schemeClr val="tx1"/>
                  </a:solidFill>
                </a:rPr>
                <a:t>U</a:t>
              </a:r>
              <a:r>
                <a:rPr lang="en-US" sz="1600" dirty="0">
                  <a:solidFill>
                    <a:schemeClr val="tx1"/>
                  </a:solidFill>
                </a:rPr>
                <a:t>rea &gt;20 mg/dL</a:t>
              </a:r>
            </a:p>
            <a:p>
              <a:r>
                <a:rPr lang="en-US" sz="1600" b="1" u="sng" dirty="0">
                  <a:solidFill>
                    <a:schemeClr val="tx1"/>
                  </a:solidFill>
                </a:rPr>
                <a:t>R</a:t>
              </a:r>
              <a:r>
                <a:rPr lang="en-US" sz="1600" dirty="0">
                  <a:solidFill>
                    <a:schemeClr val="tx1"/>
                  </a:solidFill>
                </a:rPr>
                <a:t>R ≥30 </a:t>
              </a:r>
            </a:p>
            <a:p>
              <a:r>
                <a:rPr lang="en-US" sz="1600" b="1" u="sng" dirty="0">
                  <a:solidFill>
                    <a:schemeClr val="tx1"/>
                  </a:solidFill>
                </a:rPr>
                <a:t>B</a:t>
              </a:r>
              <a:r>
                <a:rPr lang="en-US" sz="1600" dirty="0">
                  <a:solidFill>
                    <a:schemeClr val="tx1"/>
                  </a:solidFill>
                </a:rPr>
                <a:t>P &lt;90</a:t>
              </a:r>
            </a:p>
            <a:p>
              <a:r>
                <a:rPr lang="en-US" sz="1600" dirty="0">
                  <a:solidFill>
                    <a:schemeClr val="tx1"/>
                  </a:solidFill>
                </a:rPr>
                <a:t>Age ≥</a:t>
              </a:r>
              <a:r>
                <a:rPr lang="en-US" sz="1600" b="1" u="sng" dirty="0">
                  <a:solidFill>
                    <a:schemeClr val="tx1"/>
                  </a:solidFill>
                </a:rPr>
                <a:t>65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</a:p>
          </p:txBody>
        </p:sp>
      </p:grpSp>
      <p:grpSp>
        <p:nvGrpSpPr>
          <p:cNvPr id="75" name="Curb65 def">
            <a:extLst>
              <a:ext uri="{FF2B5EF4-FFF2-40B4-BE49-F238E27FC236}">
                <a16:creationId xmlns:a16="http://schemas.microsoft.com/office/drawing/2014/main" id="{44E9D01F-6D31-4801-903B-32F4F1A1F071}"/>
              </a:ext>
            </a:extLst>
          </p:cNvPr>
          <p:cNvGrpSpPr/>
          <p:nvPr/>
        </p:nvGrpSpPr>
        <p:grpSpPr>
          <a:xfrm>
            <a:off x="2274571" y="1781829"/>
            <a:ext cx="3687705" cy="1548915"/>
            <a:chOff x="8697091" y="1553118"/>
            <a:chExt cx="2720929" cy="1548915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10429D6-8CD1-4EE6-B06B-56AC825607AB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 flipH="1" flipV="1">
              <a:off x="9401858" y="1553118"/>
              <a:ext cx="1" cy="206444"/>
            </a:xfrm>
            <a:prstGeom prst="lin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337A388-799B-4E53-8AF8-E06874B6A4D0}"/>
                </a:ext>
              </a:extLst>
            </p:cNvPr>
            <p:cNvSpPr/>
            <p:nvPr/>
          </p:nvSpPr>
          <p:spPr>
            <a:xfrm>
              <a:off x="8697091" y="1750519"/>
              <a:ext cx="2720929" cy="1351514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12713" indent="-11271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Demographics</a:t>
              </a:r>
            </a:p>
            <a:p>
              <a:pPr marL="112713" indent="-11271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Comorbidities </a:t>
              </a:r>
              <a:r>
                <a:rPr lang="en-US" sz="1400" dirty="0">
                  <a:solidFill>
                    <a:schemeClr val="tx1"/>
                  </a:solidFill>
                </a:rPr>
                <a:t>(cancer, liver/renal/heart)</a:t>
              </a:r>
            </a:p>
            <a:p>
              <a:pPr marL="112713" indent="-11271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Exam </a:t>
              </a:r>
              <a:r>
                <a:rPr lang="en-US" sz="1400" dirty="0">
                  <a:solidFill>
                    <a:schemeClr val="tx1"/>
                  </a:solidFill>
                </a:rPr>
                <a:t>(AMS, RR ≥ 30, SBP &lt;90, ↑ or ↓ T, HR ≥ 125)</a:t>
              </a:r>
            </a:p>
            <a:p>
              <a:pPr marL="112713" indent="-112713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</a:rPr>
                <a:t>Lab/Radiology </a:t>
              </a:r>
              <a:r>
                <a:rPr lang="en-US" sz="1400" dirty="0">
                  <a:solidFill>
                    <a:schemeClr val="tx1"/>
                  </a:solidFill>
                </a:rPr>
                <a:t>(effusion, SaO</a:t>
              </a:r>
              <a:r>
                <a:rPr lang="en-US" sz="1400" baseline="-25000" dirty="0">
                  <a:solidFill>
                    <a:schemeClr val="tx1"/>
                  </a:solidFill>
                </a:rPr>
                <a:t>2</a:t>
              </a:r>
              <a:r>
                <a:rPr lang="en-US" sz="1400" dirty="0">
                  <a:solidFill>
                    <a:schemeClr val="tx1"/>
                  </a:solidFill>
                </a:rPr>
                <a:t> &lt;90%)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580D764-2A1D-4325-9BF3-E67DA24FC699}"/>
              </a:ext>
            </a:extLst>
          </p:cNvPr>
          <p:cNvGrpSpPr/>
          <p:nvPr/>
        </p:nvGrpSpPr>
        <p:grpSpPr>
          <a:xfrm>
            <a:off x="3503231" y="3458888"/>
            <a:ext cx="3549992" cy="969932"/>
            <a:chOff x="4140200" y="3390900"/>
            <a:chExt cx="4743450" cy="939800"/>
          </a:xfrm>
          <a:solidFill>
            <a:schemeClr val="bg2"/>
          </a:solidFill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9E857D3-C52A-4EA6-BD10-9991795D3E03}"/>
                </a:ext>
              </a:extLst>
            </p:cNvPr>
            <p:cNvSpPr/>
            <p:nvPr/>
          </p:nvSpPr>
          <p:spPr>
            <a:xfrm>
              <a:off x="4140200" y="3390900"/>
              <a:ext cx="4743450" cy="939800"/>
            </a:xfrm>
            <a:custGeom>
              <a:avLst/>
              <a:gdLst>
                <a:gd name="connsiteX0" fmla="*/ 0 w 4743450"/>
                <a:gd name="connsiteY0" fmla="*/ 0 h 939800"/>
                <a:gd name="connsiteX1" fmla="*/ 4743450 w 4743450"/>
                <a:gd name="connsiteY1" fmla="*/ 6350 h 939800"/>
                <a:gd name="connsiteX2" fmla="*/ 4743450 w 4743450"/>
                <a:gd name="connsiteY2" fmla="*/ 603250 h 939800"/>
                <a:gd name="connsiteX3" fmla="*/ 0 w 4743450"/>
                <a:gd name="connsiteY3" fmla="*/ 939800 h 939800"/>
                <a:gd name="connsiteX4" fmla="*/ 0 w 4743450"/>
                <a:gd name="connsiteY4" fmla="*/ 0 h 939800"/>
                <a:gd name="connsiteX0" fmla="*/ 0 w 4743450"/>
                <a:gd name="connsiteY0" fmla="*/ 0 h 939800"/>
                <a:gd name="connsiteX1" fmla="*/ 4743450 w 4743450"/>
                <a:gd name="connsiteY1" fmla="*/ 198 h 939800"/>
                <a:gd name="connsiteX2" fmla="*/ 4743450 w 4743450"/>
                <a:gd name="connsiteY2" fmla="*/ 603250 h 939800"/>
                <a:gd name="connsiteX3" fmla="*/ 0 w 4743450"/>
                <a:gd name="connsiteY3" fmla="*/ 939800 h 939800"/>
                <a:gd name="connsiteX4" fmla="*/ 0 w 4743450"/>
                <a:gd name="connsiteY4" fmla="*/ 0 h 93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3450" h="939800">
                  <a:moveTo>
                    <a:pt x="0" y="0"/>
                  </a:moveTo>
                  <a:lnTo>
                    <a:pt x="4743450" y="198"/>
                  </a:lnTo>
                  <a:lnTo>
                    <a:pt x="4743450" y="603250"/>
                  </a:lnTo>
                  <a:lnTo>
                    <a:pt x="0" y="939800"/>
                  </a:lnTo>
                  <a:cubicBezTo>
                    <a:pt x="2117" y="637117"/>
                    <a:pt x="4233" y="33443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49E4708-D833-43D5-BEE3-AB5F1E5A21C1}"/>
                </a:ext>
              </a:extLst>
            </p:cNvPr>
            <p:cNvSpPr txBox="1"/>
            <p:nvPr/>
          </p:nvSpPr>
          <p:spPr>
            <a:xfrm>
              <a:off x="5016500" y="3647778"/>
              <a:ext cx="2130974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Outpatient</a:t>
              </a:r>
            </a:p>
          </p:txBody>
        </p:sp>
      </p:grpSp>
      <p:grpSp>
        <p:nvGrpSpPr>
          <p:cNvPr id="78" name="Curb65 scale">
            <a:extLst>
              <a:ext uri="{FF2B5EF4-FFF2-40B4-BE49-F238E27FC236}">
                <a16:creationId xmlns:a16="http://schemas.microsoft.com/office/drawing/2014/main" id="{4B3D0CAF-5BD7-498A-8E4E-A04BD57279B3}"/>
              </a:ext>
            </a:extLst>
          </p:cNvPr>
          <p:cNvGrpSpPr/>
          <p:nvPr/>
        </p:nvGrpSpPr>
        <p:grpSpPr>
          <a:xfrm>
            <a:off x="3043066" y="3464429"/>
            <a:ext cx="469618" cy="2370617"/>
            <a:chOff x="7830590" y="2798968"/>
            <a:chExt cx="469618" cy="1981135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17CFA78-C92C-43E9-98F1-EAC32F8EC6E3}"/>
                </a:ext>
              </a:extLst>
            </p:cNvPr>
            <p:cNvSpPr/>
            <p:nvPr/>
          </p:nvSpPr>
          <p:spPr>
            <a:xfrm>
              <a:off x="7830590" y="2798968"/>
              <a:ext cx="469618" cy="28855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C404962-B334-4E2A-9291-6E9CCADA9671}"/>
                </a:ext>
              </a:extLst>
            </p:cNvPr>
            <p:cNvSpPr/>
            <p:nvPr/>
          </p:nvSpPr>
          <p:spPr>
            <a:xfrm>
              <a:off x="7830590" y="3082160"/>
              <a:ext cx="469618" cy="28855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II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6843050-2160-4F7C-858B-D446EBE5FEF2}"/>
                </a:ext>
              </a:extLst>
            </p:cNvPr>
            <p:cNvSpPr/>
            <p:nvPr/>
          </p:nvSpPr>
          <p:spPr>
            <a:xfrm>
              <a:off x="7830590" y="3370719"/>
              <a:ext cx="467994" cy="463133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III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FD9AAB8-3548-4F0D-AD57-CD8F1356F663}"/>
                </a:ext>
              </a:extLst>
            </p:cNvPr>
            <p:cNvSpPr/>
            <p:nvPr/>
          </p:nvSpPr>
          <p:spPr>
            <a:xfrm>
              <a:off x="7830590" y="3836289"/>
              <a:ext cx="467994" cy="47068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IV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2089863-7F65-48A1-9AC2-63DEA1349E72}"/>
                </a:ext>
              </a:extLst>
            </p:cNvPr>
            <p:cNvSpPr/>
            <p:nvPr/>
          </p:nvSpPr>
          <p:spPr>
            <a:xfrm>
              <a:off x="7830590" y="4309414"/>
              <a:ext cx="467994" cy="47068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</p:grpSp>
      <p:grpSp>
        <p:nvGrpSpPr>
          <p:cNvPr id="68" name="Curb65 scale">
            <a:extLst>
              <a:ext uri="{FF2B5EF4-FFF2-40B4-BE49-F238E27FC236}">
                <a16:creationId xmlns:a16="http://schemas.microsoft.com/office/drawing/2014/main" id="{7E13786C-B721-4843-89B7-B700DEDE5337}"/>
              </a:ext>
            </a:extLst>
          </p:cNvPr>
          <p:cNvGrpSpPr/>
          <p:nvPr/>
        </p:nvGrpSpPr>
        <p:grpSpPr>
          <a:xfrm>
            <a:off x="7051298" y="3452778"/>
            <a:ext cx="469618" cy="2376408"/>
            <a:chOff x="7830590" y="2403694"/>
            <a:chExt cx="469618" cy="237640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859B181-3824-43F2-A691-9C4ED70C36FA}"/>
                </a:ext>
              </a:extLst>
            </p:cNvPr>
            <p:cNvSpPr/>
            <p:nvPr/>
          </p:nvSpPr>
          <p:spPr>
            <a:xfrm>
              <a:off x="7832214" y="2403694"/>
              <a:ext cx="467994" cy="39527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EB1CC52-9C4C-4B9D-A00C-BE2A33927561}"/>
                </a:ext>
              </a:extLst>
            </p:cNvPr>
            <p:cNvSpPr/>
            <p:nvPr/>
          </p:nvSpPr>
          <p:spPr>
            <a:xfrm>
              <a:off x="7832214" y="2798968"/>
              <a:ext cx="467994" cy="39527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F45E1A0-F3C0-4C2B-B789-C53C0C1E4F53}"/>
                </a:ext>
              </a:extLst>
            </p:cNvPr>
            <p:cNvSpPr/>
            <p:nvPr/>
          </p:nvSpPr>
          <p:spPr>
            <a:xfrm>
              <a:off x="7832214" y="3183500"/>
              <a:ext cx="467994" cy="39527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04192EC-C3C5-4501-A962-80AB4A8BB9FB}"/>
                </a:ext>
              </a:extLst>
            </p:cNvPr>
            <p:cNvSpPr/>
            <p:nvPr/>
          </p:nvSpPr>
          <p:spPr>
            <a:xfrm>
              <a:off x="7830590" y="3578774"/>
              <a:ext cx="467994" cy="39527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FBED8E3-E7A9-40E6-B3D2-E6D6550D167E}"/>
                </a:ext>
              </a:extLst>
            </p:cNvPr>
            <p:cNvSpPr/>
            <p:nvPr/>
          </p:nvSpPr>
          <p:spPr>
            <a:xfrm>
              <a:off x="7830590" y="3981801"/>
              <a:ext cx="467994" cy="39527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6682174-745C-4511-AB8C-A59157EADE98}"/>
                </a:ext>
              </a:extLst>
            </p:cNvPr>
            <p:cNvSpPr/>
            <p:nvPr/>
          </p:nvSpPr>
          <p:spPr>
            <a:xfrm>
              <a:off x="7830590" y="4384828"/>
              <a:ext cx="467994" cy="395274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</p:grp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B876E927-50A0-4C8E-87B5-2C7BF69A7815}"/>
              </a:ext>
            </a:extLst>
          </p:cNvPr>
          <p:cNvSpPr/>
          <p:nvPr/>
        </p:nvSpPr>
        <p:spPr>
          <a:xfrm rot="16200000" flipH="1">
            <a:off x="1203873" y="4322787"/>
            <a:ext cx="2370616" cy="66549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89000">
                <a:schemeClr val="tx1"/>
              </a:gs>
            </a:gsLst>
            <a:lin ang="0" scaled="0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Severity</a:t>
            </a:r>
          </a:p>
        </p:txBody>
      </p:sp>
      <p:pic>
        <p:nvPicPr>
          <p:cNvPr id="109" name="Graphic 108" descr="Cursor with solid fill">
            <a:extLst>
              <a:ext uri="{FF2B5EF4-FFF2-40B4-BE49-F238E27FC236}">
                <a16:creationId xmlns:a16="http://schemas.microsoft.com/office/drawing/2014/main" id="{F0072DF3-CB33-44FA-84AF-BBD21E90BB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4580" y="6303243"/>
            <a:ext cx="395274" cy="395274"/>
          </a:xfrm>
          <a:prstGeom prst="rect">
            <a:avLst/>
          </a:prstGeom>
        </p:spPr>
      </p:pic>
      <p:pic>
        <p:nvPicPr>
          <p:cNvPr id="119" name="Graphic 118" descr="Cursor with solid fill">
            <a:extLst>
              <a:ext uri="{FF2B5EF4-FFF2-40B4-BE49-F238E27FC236}">
                <a16:creationId xmlns:a16="http://schemas.microsoft.com/office/drawing/2014/main" id="{99C202A4-C84F-4ED4-9D11-31251A2D94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366480"/>
            <a:ext cx="395274" cy="395274"/>
          </a:xfrm>
          <a:prstGeom prst="rect">
            <a:avLst/>
          </a:prstGeom>
        </p:spPr>
      </p:pic>
      <p:sp>
        <p:nvSpPr>
          <p:cNvPr id="54" name="ATS">
            <a:hlinkClick r:id="" action="ppaction://noaction"/>
            <a:extLst>
              <a:ext uri="{FF2B5EF4-FFF2-40B4-BE49-F238E27FC236}">
                <a16:creationId xmlns:a16="http://schemas.microsoft.com/office/drawing/2014/main" id="{B89CC1C5-5626-4155-A0F9-CBC5C3A55A25}"/>
              </a:ext>
            </a:extLst>
          </p:cNvPr>
          <p:cNvSpPr txBox="1"/>
          <p:nvPr/>
        </p:nvSpPr>
        <p:spPr>
          <a:xfrm>
            <a:off x="9706749" y="1373205"/>
            <a:ext cx="1402413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ATS Criteria</a:t>
            </a:r>
          </a:p>
        </p:txBody>
      </p:sp>
      <p:pic>
        <p:nvPicPr>
          <p:cNvPr id="55" name="Graphic 54" descr="Cursor with solid fill">
            <a:extLst>
              <a:ext uri="{FF2B5EF4-FFF2-40B4-BE49-F238E27FC236}">
                <a16:creationId xmlns:a16="http://schemas.microsoft.com/office/drawing/2014/main" id="{C7EC52EB-9061-471C-B298-6BBEFE311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1526" y="1584191"/>
            <a:ext cx="395274" cy="395274"/>
          </a:xfrm>
          <a:prstGeom prst="rect">
            <a:avLst/>
          </a:prstGeom>
        </p:spPr>
      </p:pic>
      <p:graphicFrame>
        <p:nvGraphicFramePr>
          <p:cNvPr id="57" name="Table 114">
            <a:extLst>
              <a:ext uri="{FF2B5EF4-FFF2-40B4-BE49-F238E27FC236}">
                <a16:creationId xmlns:a16="http://schemas.microsoft.com/office/drawing/2014/main" id="{3300685D-31B2-4427-957C-DF90D1A9D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668892"/>
              </p:ext>
            </p:extLst>
          </p:nvPr>
        </p:nvGraphicFramePr>
        <p:xfrm>
          <a:off x="8700222" y="1974451"/>
          <a:ext cx="3211522" cy="140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5303">
                  <a:extLst>
                    <a:ext uri="{9D8B030D-6E8A-4147-A177-3AD203B41FA5}">
                      <a16:colId xmlns:a16="http://schemas.microsoft.com/office/drawing/2014/main" val="2892098266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4200305724"/>
                    </a:ext>
                  </a:extLst>
                </a:gridCol>
                <a:gridCol w="1053244">
                  <a:extLst>
                    <a:ext uri="{9D8B030D-6E8A-4147-A177-3AD203B41FA5}">
                      <a16:colId xmlns:a16="http://schemas.microsoft.com/office/drawing/2014/main" val="2345619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Major</a:t>
                      </a:r>
                    </a:p>
                  </a:txBody>
                  <a:tcPr marB="0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Minor</a:t>
                      </a:r>
                    </a:p>
                  </a:txBody>
                  <a:tcPr marB="0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911340"/>
                  </a:ext>
                </a:extLst>
              </a:tr>
              <a:tr h="172295">
                <a:tc>
                  <a:txBody>
                    <a:bodyPr/>
                    <a:lstStyle/>
                    <a:p>
                      <a:pPr marL="112713" indent="-112713"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Septic shock</a:t>
                      </a:r>
                    </a:p>
                    <a:p>
                      <a:pPr marL="112713" indent="-112713"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MV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P:F &lt;250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BUN &gt;20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WBC &lt;4k</a:t>
                      </a:r>
                    </a:p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Plt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&lt;100k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RR &gt;30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 &lt;36C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Confusion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Multi-lobar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↓ BP</a:t>
                      </a:r>
                    </a:p>
                  </a:txBody>
                  <a:tcPr marT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900606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7D91477-9FD0-498E-B467-3B545917F94E}"/>
              </a:ext>
            </a:extLst>
          </p:cNvPr>
          <p:cNvGraphicFramePr>
            <a:graphicFrameLocks noGrp="1"/>
          </p:cNvGraphicFramePr>
          <p:nvPr/>
        </p:nvGraphicFramePr>
        <p:xfrm>
          <a:off x="10801350" y="4648200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1747668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799711"/>
                  </a:ext>
                </a:extLst>
              </a:tr>
            </a:tbl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4F5FD9-254A-4FD0-A2E9-F3140271D794}"/>
              </a:ext>
            </a:extLst>
          </p:cNvPr>
          <p:cNvCxnSpPr>
            <a:cxnSpLocks/>
            <a:stCxn id="54" idx="2"/>
          </p:cNvCxnSpPr>
          <p:nvPr/>
        </p:nvCxnSpPr>
        <p:spPr>
          <a:xfrm>
            <a:off x="10407956" y="1781828"/>
            <a:ext cx="0" cy="19262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721C46B-7CCD-4F4B-96D1-2F9C4F6A67F4}"/>
              </a:ext>
            </a:extLst>
          </p:cNvPr>
          <p:cNvSpPr/>
          <p:nvPr/>
        </p:nvSpPr>
        <p:spPr>
          <a:xfrm>
            <a:off x="9026622" y="4942976"/>
            <a:ext cx="2508153" cy="88094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Severe  CAP </a:t>
            </a:r>
          </a:p>
          <a:p>
            <a:pPr algn="ctr"/>
            <a:r>
              <a:rPr lang="en-US" sz="1600" dirty="0"/>
              <a:t>(&gt;1 major OR </a:t>
            </a:r>
            <a:r>
              <a:rPr lang="en-US" sz="1600" dirty="0">
                <a:solidFill>
                  <a:schemeClr val="bg1"/>
                </a:solidFill>
              </a:rPr>
              <a:t>≥ 3 minor)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2D35C47-6F4A-465A-B0B0-F3CD78517207}"/>
              </a:ext>
            </a:extLst>
          </p:cNvPr>
          <p:cNvSpPr/>
          <p:nvPr/>
        </p:nvSpPr>
        <p:spPr>
          <a:xfrm>
            <a:off x="9026623" y="3452779"/>
            <a:ext cx="2508152" cy="149019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Non-severe  CAP</a:t>
            </a:r>
          </a:p>
        </p:txBody>
      </p:sp>
    </p:spTree>
    <p:extLst>
      <p:ext uri="{BB962C8B-B14F-4D97-AF65-F5344CB8AC3E}">
        <p14:creationId xmlns:p14="http://schemas.microsoft.com/office/powerpoint/2010/main" val="306193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</p:childTnLst>
        </p:cTn>
      </p:par>
    </p:tnLst>
    <p:bldLst>
      <p:bldP spid="108" grpId="0" animBg="1"/>
      <p:bldP spid="108" grpId="1" animBg="1"/>
      <p:bldP spid="123" grpId="0" animBg="1"/>
      <p:bldP spid="107" grpId="0" animBg="1"/>
      <p:bldP spid="107" grpId="1" animBg="1"/>
      <p:bldP spid="30" grpId="0" animBg="1"/>
      <p:bldP spid="7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F3E1509-A6AD-4270-98C3-353C03029BB7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255506" y="1886072"/>
            <a:ext cx="417609" cy="19277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Question 2">
            <a:hlinkClick r:id="rId2" action="ppaction://hlinksldjump"/>
            <a:extLst>
              <a:ext uri="{FF2B5EF4-FFF2-40B4-BE49-F238E27FC236}">
                <a16:creationId xmlns:a16="http://schemas.microsoft.com/office/drawing/2014/main" id="{AB86087C-0B9F-40CC-915A-F48F81ABCB01}"/>
              </a:ext>
            </a:extLst>
          </p:cNvPr>
          <p:cNvSpPr txBox="1"/>
          <p:nvPr/>
        </p:nvSpPr>
        <p:spPr>
          <a:xfrm>
            <a:off x="234759" y="174741"/>
            <a:ext cx="155368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sp>
        <p:nvSpPr>
          <p:cNvPr id="5" name="cancer screening text">
            <a:hlinkClick r:id="rId3" action="ppaction://hlinksldjump"/>
            <a:extLst>
              <a:ext uri="{FF2B5EF4-FFF2-40B4-BE49-F238E27FC236}">
                <a16:creationId xmlns:a16="http://schemas.microsoft.com/office/drawing/2014/main" id="{8D688120-BF1C-4752-B3CE-8587D04C7899}"/>
              </a:ext>
            </a:extLst>
          </p:cNvPr>
          <p:cNvSpPr txBox="1"/>
          <p:nvPr/>
        </p:nvSpPr>
        <p:spPr>
          <a:xfrm>
            <a:off x="243281" y="798040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Classification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263E53C6-9072-4665-AB81-3DABB0A5AB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1009029"/>
            <a:ext cx="395274" cy="395274"/>
          </a:xfrm>
          <a:prstGeom prst="rect">
            <a:avLst/>
          </a:prstGeom>
        </p:spPr>
      </p:pic>
      <p:sp>
        <p:nvSpPr>
          <p:cNvPr id="8" name="cancer screening text">
            <a:hlinkClick r:id="rId3" action="ppaction://hlinksldjump"/>
            <a:extLst>
              <a:ext uri="{FF2B5EF4-FFF2-40B4-BE49-F238E27FC236}">
                <a16:creationId xmlns:a16="http://schemas.microsoft.com/office/drawing/2014/main" id="{EF671F03-58F0-454E-804F-0CFB9D5ED074}"/>
              </a:ext>
            </a:extLst>
          </p:cNvPr>
          <p:cNvSpPr txBox="1"/>
          <p:nvPr/>
        </p:nvSpPr>
        <p:spPr>
          <a:xfrm>
            <a:off x="251776" y="1421339"/>
            <a:ext cx="1547002" cy="408623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10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975EFC29-8BF2-4ABF-BB04-9FB403D51C40}"/>
              </a:ext>
            </a:extLst>
          </p:cNvPr>
          <p:cNvSpPr txBox="1"/>
          <p:nvPr/>
        </p:nvSpPr>
        <p:spPr>
          <a:xfrm>
            <a:off x="251776" y="3159240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Duration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5B3898A5-0F29-4417-9578-95C39BDF1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3370229"/>
            <a:ext cx="395274" cy="395274"/>
          </a:xfrm>
          <a:prstGeom prst="rect">
            <a:avLst/>
          </a:prstGeom>
        </p:spPr>
      </p:pic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F92F8B8F-7F9C-4377-B108-D72F36D3A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385730"/>
            <a:ext cx="395274" cy="395274"/>
          </a:xfrm>
          <a:prstGeom prst="rect">
            <a:avLst/>
          </a:prstGeom>
        </p:spPr>
      </p:pic>
      <p:sp>
        <p:nvSpPr>
          <p:cNvPr id="13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153F9833-166D-4FC4-96AD-CDE5FD0F1C2B}"/>
              </a:ext>
            </a:extLst>
          </p:cNvPr>
          <p:cNvSpPr txBox="1"/>
          <p:nvPr/>
        </p:nvSpPr>
        <p:spPr>
          <a:xfrm>
            <a:off x="251777" y="3782539"/>
            <a:ext cx="1547001" cy="408623"/>
          </a:xfrm>
          <a:prstGeom prst="roundRect">
            <a:avLst/>
          </a:prstGeom>
          <a:solidFill>
            <a:schemeClr val="accent5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14" name="Graphic 13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4E19F0D4-0480-430E-A4D6-375EBA7524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3993525"/>
            <a:ext cx="395274" cy="395274"/>
          </a:xfrm>
          <a:prstGeom prst="rect">
            <a:avLst/>
          </a:prstGeom>
        </p:spPr>
      </p:pic>
      <p:sp>
        <p:nvSpPr>
          <p:cNvPr id="16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8A3F02E0-C525-4EB9-9DC0-209FC6275373}"/>
              </a:ext>
            </a:extLst>
          </p:cNvPr>
          <p:cNvSpPr txBox="1"/>
          <p:nvPr/>
        </p:nvSpPr>
        <p:spPr>
          <a:xfrm>
            <a:off x="560699" y="1986954"/>
            <a:ext cx="1402412" cy="40862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Inpatient</a:t>
            </a:r>
          </a:p>
        </p:txBody>
      </p:sp>
      <p:sp>
        <p:nvSpPr>
          <p:cNvPr id="17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AE6020A6-834F-4894-A9C4-9E04089657DC}"/>
              </a:ext>
            </a:extLst>
          </p:cNvPr>
          <p:cNvSpPr txBox="1"/>
          <p:nvPr/>
        </p:nvSpPr>
        <p:spPr>
          <a:xfrm>
            <a:off x="583664" y="2564963"/>
            <a:ext cx="140241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Outpatient</a:t>
            </a:r>
          </a:p>
        </p:txBody>
      </p:sp>
      <p:pic>
        <p:nvPicPr>
          <p:cNvPr id="18" name="Graphic 17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4C8246D3-A360-4C07-BE04-81742A649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2096" y="2791941"/>
            <a:ext cx="395274" cy="395274"/>
          </a:xfrm>
          <a:prstGeom prst="rect">
            <a:avLst/>
          </a:prstGeom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6DE7FBF-1CAE-46B3-8526-931A8EB4CD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9197" y="2359631"/>
            <a:ext cx="562581" cy="207879"/>
          </a:xfrm>
          <a:prstGeom prst="bentConnector3">
            <a:avLst>
              <a:gd name="adj1" fmla="val 101436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838AD5-A356-413A-A5EE-B6185AD4AF78}"/>
              </a:ext>
            </a:extLst>
          </p:cNvPr>
          <p:cNvSpPr txBox="1"/>
          <p:nvPr/>
        </p:nvSpPr>
        <p:spPr>
          <a:xfrm>
            <a:off x="3823590" y="102449"/>
            <a:ext cx="4544820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Inpatient Evaluation of CAP</a:t>
            </a:r>
          </a:p>
        </p:txBody>
      </p:sp>
      <p:sp>
        <p:nvSpPr>
          <p:cNvPr id="33" name="Severe disease">
            <a:hlinkClick r:id="" action="ppaction://noaction"/>
            <a:extLst>
              <a:ext uri="{FF2B5EF4-FFF2-40B4-BE49-F238E27FC236}">
                <a16:creationId xmlns:a16="http://schemas.microsoft.com/office/drawing/2014/main" id="{97A4BEE7-6A08-4BA8-9249-BA1935FC1968}"/>
              </a:ext>
            </a:extLst>
          </p:cNvPr>
          <p:cNvSpPr txBox="1"/>
          <p:nvPr/>
        </p:nvSpPr>
        <p:spPr>
          <a:xfrm>
            <a:off x="5360105" y="615364"/>
            <a:ext cx="177462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Severe disease?</a:t>
            </a:r>
          </a:p>
        </p:txBody>
      </p:sp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A7CE5134-24C9-4E2A-BB26-270EE365E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7094" y="826350"/>
            <a:ext cx="395274" cy="395274"/>
          </a:xfrm>
          <a:prstGeom prst="rect">
            <a:avLst/>
          </a:prstGeom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66A896F0-82FF-47D6-9503-54423A0E34A5}"/>
              </a:ext>
            </a:extLst>
          </p:cNvPr>
          <p:cNvCxnSpPr>
            <a:cxnSpLocks/>
            <a:stCxn id="33" idx="2"/>
            <a:endCxn id="44" idx="0"/>
          </p:cNvCxnSpPr>
          <p:nvPr/>
        </p:nvCxnSpPr>
        <p:spPr>
          <a:xfrm rot="5400000">
            <a:off x="4491081" y="-170064"/>
            <a:ext cx="562287" cy="29503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1777FD7-6967-4C1E-8AA6-CFBAEB6A7AE1}"/>
              </a:ext>
            </a:extLst>
          </p:cNvPr>
          <p:cNvCxnSpPr>
            <a:cxnSpLocks/>
            <a:stCxn id="33" idx="2"/>
            <a:endCxn id="38" idx="0"/>
          </p:cNvCxnSpPr>
          <p:nvPr/>
        </p:nvCxnSpPr>
        <p:spPr>
          <a:xfrm rot="16200000" flipH="1">
            <a:off x="6932901" y="338503"/>
            <a:ext cx="560539" cy="19315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PSI">
            <a:hlinkClick r:id="" action="ppaction://noaction"/>
            <a:extLst>
              <a:ext uri="{FF2B5EF4-FFF2-40B4-BE49-F238E27FC236}">
                <a16:creationId xmlns:a16="http://schemas.microsoft.com/office/drawing/2014/main" id="{8F250F61-0B33-4120-99AA-24CB1214EFB2}"/>
              </a:ext>
            </a:extLst>
          </p:cNvPr>
          <p:cNvSpPr txBox="1"/>
          <p:nvPr/>
        </p:nvSpPr>
        <p:spPr>
          <a:xfrm>
            <a:off x="7390428" y="1584526"/>
            <a:ext cx="157699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MDR RF</a:t>
            </a:r>
          </a:p>
        </p:txBody>
      </p:sp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1A7E068B-686F-4139-8F76-88128C5D3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6201" y="1812055"/>
            <a:ext cx="395274" cy="395274"/>
          </a:xfrm>
          <a:prstGeom prst="rect">
            <a:avLst/>
          </a:prstGeom>
        </p:spPr>
      </p:pic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31BFAA0-21A4-4C32-9265-9E29F9A18973}"/>
              </a:ext>
            </a:extLst>
          </p:cNvPr>
          <p:cNvCxnSpPr>
            <a:cxnSpLocks/>
            <a:stCxn id="38" idx="2"/>
            <a:endCxn id="41" idx="0"/>
          </p:cNvCxnSpPr>
          <p:nvPr/>
        </p:nvCxnSpPr>
        <p:spPr>
          <a:xfrm rot="5400000">
            <a:off x="6990530" y="1222004"/>
            <a:ext cx="417249" cy="19595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F742752-9CA1-4422-A441-F684B25E9A9F}"/>
              </a:ext>
            </a:extLst>
          </p:cNvPr>
          <p:cNvSpPr/>
          <p:nvPr/>
        </p:nvSpPr>
        <p:spPr>
          <a:xfrm>
            <a:off x="5346097" y="2410398"/>
            <a:ext cx="1746576" cy="668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Prior MRSA or </a:t>
            </a:r>
            <a:r>
              <a:rPr lang="en-US" i="1" dirty="0"/>
              <a:t>Pseudomonas</a:t>
            </a:r>
            <a:r>
              <a:rPr lang="en-US" dirty="0"/>
              <a:t>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310BD6-B8F9-40DB-B9CC-046F1AE33F10}"/>
              </a:ext>
            </a:extLst>
          </p:cNvPr>
          <p:cNvSpPr/>
          <p:nvPr/>
        </p:nvSpPr>
        <p:spPr>
          <a:xfrm>
            <a:off x="7849452" y="2402955"/>
            <a:ext cx="1746576" cy="668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Hospitalization + IV antibiotics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701586FA-5A63-451F-B5FF-5E3C3C30CB6B}"/>
              </a:ext>
            </a:extLst>
          </p:cNvPr>
          <p:cNvCxnSpPr>
            <a:cxnSpLocks/>
            <a:stCxn id="38" idx="2"/>
            <a:endCxn id="42" idx="0"/>
          </p:cNvCxnSpPr>
          <p:nvPr/>
        </p:nvCxnSpPr>
        <p:spPr>
          <a:xfrm rot="16200000" flipH="1">
            <a:off x="8245928" y="1926143"/>
            <a:ext cx="409806" cy="5438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ultures">
            <a:hlinkClick r:id="" action="ppaction://noaction"/>
            <a:extLst>
              <a:ext uri="{FF2B5EF4-FFF2-40B4-BE49-F238E27FC236}">
                <a16:creationId xmlns:a16="http://schemas.microsoft.com/office/drawing/2014/main" id="{2AD643E6-1333-40E7-A5A8-D89BCFF7CAF2}"/>
              </a:ext>
            </a:extLst>
          </p:cNvPr>
          <p:cNvSpPr txBox="1"/>
          <p:nvPr/>
        </p:nvSpPr>
        <p:spPr>
          <a:xfrm>
            <a:off x="2413073" y="1586274"/>
            <a:ext cx="176791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Obtain cultures</a:t>
            </a:r>
          </a:p>
        </p:txBody>
      </p:sp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0D0ECE9F-CF26-4435-BE52-6EA957BE8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3348" y="1812055"/>
            <a:ext cx="395274" cy="39527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3AA6FD9-6D13-46F1-87E4-C7551149EF07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3297029" y="1994897"/>
            <a:ext cx="0" cy="202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MRSA + PsA">
            <a:extLst>
              <a:ext uri="{FF2B5EF4-FFF2-40B4-BE49-F238E27FC236}">
                <a16:creationId xmlns:a16="http://schemas.microsoft.com/office/drawing/2014/main" id="{22A470B0-9609-4471-BADF-A3EF6D96244B}"/>
              </a:ext>
            </a:extLst>
          </p:cNvPr>
          <p:cNvSpPr/>
          <p:nvPr/>
        </p:nvSpPr>
        <p:spPr>
          <a:xfrm>
            <a:off x="2076039" y="4019342"/>
            <a:ext cx="2460364" cy="719318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Empirically cover MRSA and </a:t>
            </a:r>
            <a:r>
              <a:rPr lang="en-US" i="1" dirty="0">
                <a:solidFill>
                  <a:schemeClr val="tx1"/>
                </a:solidFill>
              </a:rPr>
              <a:t>Pseudomonas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B985258-B408-477B-BC5E-CD6F45BAE467}"/>
              </a:ext>
            </a:extLst>
          </p:cNvPr>
          <p:cNvSpPr/>
          <p:nvPr/>
        </p:nvSpPr>
        <p:spPr>
          <a:xfrm>
            <a:off x="2380501" y="2258410"/>
            <a:ext cx="1896140" cy="137153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Sputum culture</a:t>
            </a:r>
          </a:p>
          <a:p>
            <a:pPr algn="ctr"/>
            <a:r>
              <a:rPr lang="en-US" sz="1600" dirty="0"/>
              <a:t>MRSA swab</a:t>
            </a:r>
          </a:p>
          <a:p>
            <a:pPr algn="ctr"/>
            <a:r>
              <a:rPr lang="en-US" sz="1600" dirty="0"/>
              <a:t>Blood cultures</a:t>
            </a:r>
          </a:p>
          <a:p>
            <a:pPr algn="ctr"/>
            <a:r>
              <a:rPr lang="en-US" sz="1600" i="1" dirty="0"/>
              <a:t>Legionella </a:t>
            </a:r>
            <a:r>
              <a:rPr lang="en-US" sz="1600" dirty="0"/>
              <a:t>and</a:t>
            </a:r>
            <a:r>
              <a:rPr lang="en-US" sz="1600" i="1" dirty="0"/>
              <a:t> S. </a:t>
            </a:r>
            <a:r>
              <a:rPr lang="en-US" sz="1600" i="1" dirty="0" err="1"/>
              <a:t>pneumo</a:t>
            </a:r>
            <a:r>
              <a:rPr lang="en-US" sz="1600" i="1" dirty="0"/>
              <a:t> </a:t>
            </a:r>
            <a:r>
              <a:rPr lang="en-US" sz="1600" dirty="0"/>
              <a:t>urinary Ag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12A44A-FE5A-4BF0-97A1-D50563C1E975}"/>
              </a:ext>
            </a:extLst>
          </p:cNvPr>
          <p:cNvSpPr/>
          <p:nvPr/>
        </p:nvSpPr>
        <p:spPr>
          <a:xfrm>
            <a:off x="4378622" y="1168135"/>
            <a:ext cx="493131" cy="3158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31C5B69-C966-410E-9472-0B89FD4A33A2}"/>
              </a:ext>
            </a:extLst>
          </p:cNvPr>
          <p:cNvSpPr/>
          <p:nvPr/>
        </p:nvSpPr>
        <p:spPr>
          <a:xfrm>
            <a:off x="6897297" y="1168135"/>
            <a:ext cx="493131" cy="3158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no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511600-68E0-4C33-97EA-E68891E2BF19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6216067" y="3079324"/>
            <a:ext cx="3318" cy="947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MRSA + PsA">
            <a:extLst>
              <a:ext uri="{FF2B5EF4-FFF2-40B4-BE49-F238E27FC236}">
                <a16:creationId xmlns:a16="http://schemas.microsoft.com/office/drawing/2014/main" id="{A66A49CB-B882-4472-89D4-AB61C6E301F6}"/>
              </a:ext>
            </a:extLst>
          </p:cNvPr>
          <p:cNvSpPr/>
          <p:nvPr/>
        </p:nvSpPr>
        <p:spPr>
          <a:xfrm>
            <a:off x="4888157" y="4019342"/>
            <a:ext cx="2498613" cy="719318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Empirically cover MRSA </a:t>
            </a:r>
            <a:r>
              <a:rPr lang="en-US" sz="1800" dirty="0">
                <a:solidFill>
                  <a:schemeClr val="tx1"/>
                </a:solidFill>
              </a:rPr>
              <a:t>± </a:t>
            </a:r>
            <a:r>
              <a:rPr lang="en-US" i="1" dirty="0">
                <a:solidFill>
                  <a:schemeClr val="tx1"/>
                </a:solidFill>
              </a:rPr>
              <a:t>Pseudomonas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854AB8F-C095-4D45-93EB-2CD5F845D58E}"/>
              </a:ext>
            </a:extLst>
          </p:cNvPr>
          <p:cNvSpPr/>
          <p:nvPr/>
        </p:nvSpPr>
        <p:spPr>
          <a:xfrm>
            <a:off x="5176492" y="3249729"/>
            <a:ext cx="1896140" cy="56228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Sputum, blood culture, MRSA swab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EB8DA40-DE71-4D07-83DB-3F2A86FC8B45}"/>
              </a:ext>
            </a:extLst>
          </p:cNvPr>
          <p:cNvCxnSpPr>
            <a:cxnSpLocks/>
            <a:stCxn id="42" idx="2"/>
            <a:endCxn id="78" idx="0"/>
          </p:cNvCxnSpPr>
          <p:nvPr/>
        </p:nvCxnSpPr>
        <p:spPr>
          <a:xfrm>
            <a:off x="8722740" y="3071881"/>
            <a:ext cx="26901" cy="940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Standard">
            <a:extLst>
              <a:ext uri="{FF2B5EF4-FFF2-40B4-BE49-F238E27FC236}">
                <a16:creationId xmlns:a16="http://schemas.microsoft.com/office/drawing/2014/main" id="{3B1A869D-C9EB-4DA3-8298-577B1B60A5E0}"/>
              </a:ext>
            </a:extLst>
          </p:cNvPr>
          <p:cNvSpPr/>
          <p:nvPr/>
        </p:nvSpPr>
        <p:spPr>
          <a:xfrm>
            <a:off x="7876353" y="4012071"/>
            <a:ext cx="1746576" cy="71931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Standard CAP treatment</a:t>
            </a:r>
          </a:p>
        </p:txBody>
      </p:sp>
      <p:cxnSp>
        <p:nvCxnSpPr>
          <p:cNvPr id="83" name="MDR RF">
            <a:extLst>
              <a:ext uri="{FF2B5EF4-FFF2-40B4-BE49-F238E27FC236}">
                <a16:creationId xmlns:a16="http://schemas.microsoft.com/office/drawing/2014/main" id="{FF17584D-465E-4285-BA83-570B1E778DD7}"/>
              </a:ext>
            </a:extLst>
          </p:cNvPr>
          <p:cNvCxnSpPr>
            <a:cxnSpLocks/>
            <a:stCxn id="38" idx="2"/>
            <a:endCxn id="84" idx="0"/>
          </p:cNvCxnSpPr>
          <p:nvPr/>
        </p:nvCxnSpPr>
        <p:spPr>
          <a:xfrm rot="16200000" flipH="1">
            <a:off x="9418026" y="754046"/>
            <a:ext cx="409806" cy="28880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C734AF1B-B558-48D1-A7E2-A2ECD5BC4BB1}"/>
              </a:ext>
            </a:extLst>
          </p:cNvPr>
          <p:cNvSpPr/>
          <p:nvPr/>
        </p:nvSpPr>
        <p:spPr>
          <a:xfrm>
            <a:off x="10461925" y="2402955"/>
            <a:ext cx="1210020" cy="4119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 RFs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367BAAD-FFA7-49FC-8DC0-DE043530F2AB}"/>
              </a:ext>
            </a:extLst>
          </p:cNvPr>
          <p:cNvCxnSpPr>
            <a:cxnSpLocks/>
            <a:stCxn id="84" idx="2"/>
          </p:cNvCxnSpPr>
          <p:nvPr/>
        </p:nvCxnSpPr>
        <p:spPr>
          <a:xfrm>
            <a:off x="11066935" y="2814942"/>
            <a:ext cx="0" cy="120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Standard">
            <a:extLst>
              <a:ext uri="{FF2B5EF4-FFF2-40B4-BE49-F238E27FC236}">
                <a16:creationId xmlns:a16="http://schemas.microsoft.com/office/drawing/2014/main" id="{65489D3B-B1D9-43BE-AE3D-473CC74B1112}"/>
              </a:ext>
            </a:extLst>
          </p:cNvPr>
          <p:cNvSpPr/>
          <p:nvPr/>
        </p:nvSpPr>
        <p:spPr>
          <a:xfrm>
            <a:off x="10193647" y="4019342"/>
            <a:ext cx="1746576" cy="72358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Standard CAP treatment</a:t>
            </a:r>
          </a:p>
        </p:txBody>
      </p:sp>
      <p:graphicFrame>
        <p:nvGraphicFramePr>
          <p:cNvPr id="114" name="Table 114">
            <a:extLst>
              <a:ext uri="{FF2B5EF4-FFF2-40B4-BE49-F238E27FC236}">
                <a16:creationId xmlns:a16="http://schemas.microsoft.com/office/drawing/2014/main" id="{ADD97784-49C3-4C45-BB0C-99B78CD31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57232"/>
              </p:ext>
            </p:extLst>
          </p:nvPr>
        </p:nvGraphicFramePr>
        <p:xfrm>
          <a:off x="8715301" y="125299"/>
          <a:ext cx="327979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1514">
                  <a:extLst>
                    <a:ext uri="{9D8B030D-6E8A-4147-A177-3AD203B41FA5}">
                      <a16:colId xmlns:a16="http://schemas.microsoft.com/office/drawing/2014/main" val="2892098266"/>
                    </a:ext>
                  </a:extLst>
                </a:gridCol>
                <a:gridCol w="1097254">
                  <a:extLst>
                    <a:ext uri="{9D8B030D-6E8A-4147-A177-3AD203B41FA5}">
                      <a16:colId xmlns:a16="http://schemas.microsoft.com/office/drawing/2014/main" val="4200305724"/>
                    </a:ext>
                  </a:extLst>
                </a:gridCol>
                <a:gridCol w="1011023">
                  <a:extLst>
                    <a:ext uri="{9D8B030D-6E8A-4147-A177-3AD203B41FA5}">
                      <a16:colId xmlns:a16="http://schemas.microsoft.com/office/drawing/2014/main" val="2345619870"/>
                    </a:ext>
                  </a:extLst>
                </a:gridCol>
              </a:tblGrid>
              <a:tr h="172295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>
                          <a:solidFill>
                            <a:schemeClr val="tx1"/>
                          </a:solidFill>
                        </a:rPr>
                        <a:t>Major (1)</a:t>
                      </a:r>
                    </a:p>
                  </a:txBody>
                  <a:tcPr marB="0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u="sng" dirty="0">
                          <a:solidFill>
                            <a:schemeClr val="tx1"/>
                          </a:solidFill>
                        </a:rPr>
                        <a:t>Minor (≥3)</a:t>
                      </a:r>
                    </a:p>
                  </a:txBody>
                  <a:tcPr marB="0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911340"/>
                  </a:ext>
                </a:extLst>
              </a:tr>
              <a:tr h="172295">
                <a:tc>
                  <a:txBody>
                    <a:bodyPr/>
                    <a:lstStyle/>
                    <a:p>
                      <a:pPr marL="112713" indent="-112713" algn="ctr"/>
                      <a:r>
                        <a:rPr lang="en-US" sz="1400" dirty="0"/>
                        <a:t>Septic shock</a:t>
                      </a:r>
                    </a:p>
                    <a:p>
                      <a:pPr marL="112713" indent="-112713" algn="ctr"/>
                      <a:r>
                        <a:rPr lang="en-US" sz="1400" dirty="0"/>
                        <a:t>MV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P:F &lt;250</a:t>
                      </a:r>
                    </a:p>
                    <a:p>
                      <a:pPr algn="ctr"/>
                      <a:r>
                        <a:rPr lang="en-US" sz="1400" dirty="0"/>
                        <a:t>BUN &gt;20</a:t>
                      </a:r>
                    </a:p>
                    <a:p>
                      <a:pPr algn="ctr"/>
                      <a:r>
                        <a:rPr lang="en-US" sz="1400" dirty="0"/>
                        <a:t>WBC &lt;4k</a:t>
                      </a:r>
                    </a:p>
                    <a:p>
                      <a:pPr algn="ctr"/>
                      <a:r>
                        <a:rPr lang="en-US" sz="1400" dirty="0" err="1"/>
                        <a:t>Plt</a:t>
                      </a:r>
                      <a:r>
                        <a:rPr lang="en-US" sz="1400" dirty="0"/>
                        <a:t> &lt;100k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RR &gt; 30</a:t>
                      </a:r>
                    </a:p>
                    <a:p>
                      <a:pPr algn="ctr"/>
                      <a:r>
                        <a:rPr lang="en-US" sz="1400" dirty="0"/>
                        <a:t>T &lt; 36C</a:t>
                      </a:r>
                    </a:p>
                    <a:p>
                      <a:pPr algn="ctr"/>
                      <a:r>
                        <a:rPr lang="en-US" sz="1400" dirty="0"/>
                        <a:t>Confusion</a:t>
                      </a:r>
                    </a:p>
                    <a:p>
                      <a:pPr algn="ctr"/>
                      <a:r>
                        <a:rPr lang="en-US" sz="1400" dirty="0" err="1"/>
                        <a:t>Multilobar</a:t>
                      </a:r>
                      <a:endParaRPr lang="en-US" sz="1400" dirty="0"/>
                    </a:p>
                    <a:p>
                      <a:pPr algn="ctr"/>
                      <a:r>
                        <a:rPr lang="en-US" sz="1400" dirty="0"/>
                        <a:t>↓ BP</a:t>
                      </a:r>
                    </a:p>
                  </a:txBody>
                  <a:tcPr marT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006067"/>
                  </a:ext>
                </a:extLst>
              </a:tr>
            </a:tbl>
          </a:graphicData>
        </a:graphic>
      </p:graphicFrame>
      <p:sp>
        <p:nvSpPr>
          <p:cNvPr id="126" name="Rectangle 125">
            <a:extLst>
              <a:ext uri="{FF2B5EF4-FFF2-40B4-BE49-F238E27FC236}">
                <a16:creationId xmlns:a16="http://schemas.microsoft.com/office/drawing/2014/main" id="{7A2E9E81-BA98-4F62-B07A-D715B9701C9C}"/>
              </a:ext>
            </a:extLst>
          </p:cNvPr>
          <p:cNvSpPr/>
          <p:nvPr/>
        </p:nvSpPr>
        <p:spPr>
          <a:xfrm>
            <a:off x="7788120" y="3249729"/>
            <a:ext cx="1896140" cy="56228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Sputum, blood culture, MRSA swab</a:t>
            </a:r>
          </a:p>
        </p:txBody>
      </p:sp>
      <p:pic>
        <p:nvPicPr>
          <p:cNvPr id="70" name="Graphic 69" descr="Cursor with solid fill">
            <a:extLst>
              <a:ext uri="{FF2B5EF4-FFF2-40B4-BE49-F238E27FC236}">
                <a16:creationId xmlns:a16="http://schemas.microsoft.com/office/drawing/2014/main" id="{F11D506F-7EA1-4DC6-8EA5-5E831E164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5341" y="4508652"/>
            <a:ext cx="395274" cy="395274"/>
          </a:xfrm>
          <a:prstGeom prst="rect">
            <a:avLst/>
          </a:prstGeom>
        </p:spPr>
      </p:pic>
      <p:pic>
        <p:nvPicPr>
          <p:cNvPr id="71" name="Graphic 70" descr="Cursor with solid fill">
            <a:extLst>
              <a:ext uri="{FF2B5EF4-FFF2-40B4-BE49-F238E27FC236}">
                <a16:creationId xmlns:a16="http://schemas.microsoft.com/office/drawing/2014/main" id="{45C128A8-9595-40ED-842C-9C5087E8C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29325" y="4508652"/>
            <a:ext cx="395274" cy="395274"/>
          </a:xfrm>
          <a:prstGeom prst="rect">
            <a:avLst/>
          </a:prstGeom>
        </p:spPr>
      </p:pic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B6790428-C39D-4505-8409-C389E091E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3105" y="4508652"/>
            <a:ext cx="395274" cy="395274"/>
          </a:xfrm>
          <a:prstGeom prst="rect">
            <a:avLst/>
          </a:prstGeom>
        </p:spPr>
      </p:pic>
      <p:pic>
        <p:nvPicPr>
          <p:cNvPr id="74" name="Graphic 73" descr="Cursor with solid fill">
            <a:extLst>
              <a:ext uri="{FF2B5EF4-FFF2-40B4-BE49-F238E27FC236}">
                <a16:creationId xmlns:a16="http://schemas.microsoft.com/office/drawing/2014/main" id="{0D66F72F-B977-455E-B8E7-5BD25B603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57458" y="4508652"/>
            <a:ext cx="395274" cy="395274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89DB8CB5-ED27-4C0C-84D8-953194FC61F5}"/>
              </a:ext>
            </a:extLst>
          </p:cNvPr>
          <p:cNvSpPr txBox="1"/>
          <p:nvPr/>
        </p:nvSpPr>
        <p:spPr>
          <a:xfrm>
            <a:off x="8084298" y="4931443"/>
            <a:ext cx="37703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IV </a:t>
            </a:r>
            <a:r>
              <a:rPr lang="el-GR" dirty="0"/>
              <a:t>β</a:t>
            </a:r>
            <a:r>
              <a:rPr lang="en-US" dirty="0"/>
              <a:t>-lactam (ampicillin-sulbactam/ ceftriaxone)</a:t>
            </a:r>
          </a:p>
          <a:p>
            <a:pPr algn="ctr"/>
            <a:r>
              <a:rPr lang="en-US" dirty="0"/>
              <a:t>+ </a:t>
            </a:r>
          </a:p>
          <a:p>
            <a:pPr algn="ctr"/>
            <a:r>
              <a:rPr lang="en-US" dirty="0"/>
              <a:t>Azithromycin/ doxycycline</a:t>
            </a:r>
          </a:p>
          <a:p>
            <a:pPr algn="ctr"/>
            <a:r>
              <a:rPr lang="en-US" dirty="0"/>
              <a:t>OR </a:t>
            </a:r>
          </a:p>
          <a:p>
            <a:pPr algn="ctr"/>
            <a:r>
              <a:rPr lang="en-US" dirty="0"/>
              <a:t>Respiratory FQ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FF2F002-7E95-46E3-95D6-188008F1E295}"/>
              </a:ext>
            </a:extLst>
          </p:cNvPr>
          <p:cNvSpPr txBox="1"/>
          <p:nvPr/>
        </p:nvSpPr>
        <p:spPr>
          <a:xfrm>
            <a:off x="2544847" y="4926373"/>
            <a:ext cx="44547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IV vancomycin</a:t>
            </a:r>
          </a:p>
          <a:p>
            <a:pPr algn="ctr"/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IV piperacillin-tazobactam/ cefepime/ ceftazidime/ aztreonam/ meropenem</a:t>
            </a:r>
          </a:p>
          <a:p>
            <a:pPr algn="ctr"/>
            <a:r>
              <a:rPr lang="en-US" sz="1800" dirty="0"/>
              <a:t> +</a:t>
            </a:r>
          </a:p>
          <a:p>
            <a:pPr algn="ctr"/>
            <a:r>
              <a:rPr lang="en-US" dirty="0"/>
              <a:t>Azithromycin/ doxycycline</a:t>
            </a:r>
          </a:p>
        </p:txBody>
      </p:sp>
    </p:spTree>
    <p:extLst>
      <p:ext uri="{BB962C8B-B14F-4D97-AF65-F5344CB8AC3E}">
        <p14:creationId xmlns:p14="http://schemas.microsoft.com/office/powerpoint/2010/main" val="26080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</p:childTnLst>
        </p:cTn>
      </p:par>
    </p:tnLst>
    <p:bldLst>
      <p:bldP spid="38" grpId="0" animBg="1"/>
      <p:bldP spid="41" grpId="0" animBg="1"/>
      <p:bldP spid="42" grpId="0" animBg="1"/>
      <p:bldP spid="44" grpId="0" animBg="1"/>
      <p:bldP spid="46" grpId="0" animBg="1"/>
      <p:bldP spid="48" grpId="0" animBg="1"/>
      <p:bldP spid="51" grpId="0" animBg="1"/>
      <p:bldP spid="52" grpId="0" animBg="1"/>
      <p:bldP spid="57" grpId="0" animBg="1"/>
      <p:bldP spid="73" grpId="0" animBg="1"/>
      <p:bldP spid="78" grpId="0" animBg="1"/>
      <p:bldP spid="84" grpId="0" animBg="1"/>
      <p:bldP spid="95" grpId="0" animBg="1"/>
      <p:bldP spid="126" grpId="0" animBg="1"/>
      <p:bldP spid="79" grpId="0"/>
      <p:bldP spid="79" grpId="1"/>
      <p:bldP spid="80" grpId="0"/>
      <p:bldP spid="8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00230703-B818-4DED-8C25-A93440C445CB}"/>
              </a:ext>
            </a:extLst>
          </p:cNvPr>
          <p:cNvSpPr/>
          <p:nvPr/>
        </p:nvSpPr>
        <p:spPr>
          <a:xfrm>
            <a:off x="8673904" y="175714"/>
            <a:ext cx="2606806" cy="10228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F3E1509-A6AD-4270-98C3-353C03029BB7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255506" y="1886072"/>
            <a:ext cx="417609" cy="19277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Question 2">
            <a:hlinkClick r:id="rId2" action="ppaction://hlinksldjump"/>
            <a:extLst>
              <a:ext uri="{FF2B5EF4-FFF2-40B4-BE49-F238E27FC236}">
                <a16:creationId xmlns:a16="http://schemas.microsoft.com/office/drawing/2014/main" id="{AB86087C-0B9F-40CC-915A-F48F81ABCB01}"/>
              </a:ext>
            </a:extLst>
          </p:cNvPr>
          <p:cNvSpPr txBox="1"/>
          <p:nvPr/>
        </p:nvSpPr>
        <p:spPr>
          <a:xfrm>
            <a:off x="234759" y="174741"/>
            <a:ext cx="155368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sp>
        <p:nvSpPr>
          <p:cNvPr id="5" name="cancer screening text">
            <a:hlinkClick r:id="rId3" action="ppaction://hlinksldjump"/>
            <a:extLst>
              <a:ext uri="{FF2B5EF4-FFF2-40B4-BE49-F238E27FC236}">
                <a16:creationId xmlns:a16="http://schemas.microsoft.com/office/drawing/2014/main" id="{8D688120-BF1C-4752-B3CE-8587D04C7899}"/>
              </a:ext>
            </a:extLst>
          </p:cNvPr>
          <p:cNvSpPr txBox="1"/>
          <p:nvPr/>
        </p:nvSpPr>
        <p:spPr>
          <a:xfrm>
            <a:off x="243281" y="798040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Classification</a:t>
            </a:r>
          </a:p>
        </p:txBody>
      </p:sp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263E53C6-9072-4665-AB81-3DABB0A5AB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1009029"/>
            <a:ext cx="395274" cy="395274"/>
          </a:xfrm>
          <a:prstGeom prst="rect">
            <a:avLst/>
          </a:prstGeom>
        </p:spPr>
      </p:pic>
      <p:sp>
        <p:nvSpPr>
          <p:cNvPr id="8" name="cancer screening text">
            <a:extLst>
              <a:ext uri="{FF2B5EF4-FFF2-40B4-BE49-F238E27FC236}">
                <a16:creationId xmlns:a16="http://schemas.microsoft.com/office/drawing/2014/main" id="{EF671F03-58F0-454E-804F-0CFB9D5ED074}"/>
              </a:ext>
            </a:extLst>
          </p:cNvPr>
          <p:cNvSpPr txBox="1"/>
          <p:nvPr/>
        </p:nvSpPr>
        <p:spPr>
          <a:xfrm>
            <a:off x="251776" y="1421339"/>
            <a:ext cx="1547002" cy="408623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10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975EFC29-8BF2-4ABF-BB04-9FB403D51C40}"/>
              </a:ext>
            </a:extLst>
          </p:cNvPr>
          <p:cNvSpPr txBox="1"/>
          <p:nvPr/>
        </p:nvSpPr>
        <p:spPr>
          <a:xfrm>
            <a:off x="251776" y="3159240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Duration</a:t>
            </a:r>
          </a:p>
        </p:txBody>
      </p: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5B3898A5-0F29-4417-9578-95C39BDF1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3370229"/>
            <a:ext cx="395274" cy="395274"/>
          </a:xfrm>
          <a:prstGeom prst="rect">
            <a:avLst/>
          </a:prstGeom>
        </p:spPr>
      </p:pic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F92F8B8F-7F9C-4377-B108-D72F36D3A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385730"/>
            <a:ext cx="395274" cy="395274"/>
          </a:xfrm>
          <a:prstGeom prst="rect">
            <a:avLst/>
          </a:prstGeom>
        </p:spPr>
      </p:pic>
      <p:sp>
        <p:nvSpPr>
          <p:cNvPr id="13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153F9833-166D-4FC4-96AD-CDE5FD0F1C2B}"/>
              </a:ext>
            </a:extLst>
          </p:cNvPr>
          <p:cNvSpPr txBox="1"/>
          <p:nvPr/>
        </p:nvSpPr>
        <p:spPr>
          <a:xfrm>
            <a:off x="251777" y="3782539"/>
            <a:ext cx="1547001" cy="408623"/>
          </a:xfrm>
          <a:prstGeom prst="roundRect">
            <a:avLst/>
          </a:prstGeom>
          <a:solidFill>
            <a:schemeClr val="accent5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14" name="Graphic 13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4E19F0D4-0480-430E-A4D6-375EBA7524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3993525"/>
            <a:ext cx="395274" cy="395274"/>
          </a:xfrm>
          <a:prstGeom prst="rect">
            <a:avLst/>
          </a:prstGeom>
        </p:spPr>
      </p:pic>
      <p:sp>
        <p:nvSpPr>
          <p:cNvPr id="16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8A3F02E0-C525-4EB9-9DC0-209FC6275373}"/>
              </a:ext>
            </a:extLst>
          </p:cNvPr>
          <p:cNvSpPr txBox="1"/>
          <p:nvPr/>
        </p:nvSpPr>
        <p:spPr>
          <a:xfrm>
            <a:off x="560699" y="1986954"/>
            <a:ext cx="140241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Inpatient</a:t>
            </a:r>
          </a:p>
        </p:txBody>
      </p:sp>
      <p:sp>
        <p:nvSpPr>
          <p:cNvPr id="17" name="Cases">
            <a:extLst>
              <a:ext uri="{FF2B5EF4-FFF2-40B4-BE49-F238E27FC236}">
                <a16:creationId xmlns:a16="http://schemas.microsoft.com/office/drawing/2014/main" id="{AE6020A6-834F-4894-A9C4-9E04089657DC}"/>
              </a:ext>
            </a:extLst>
          </p:cNvPr>
          <p:cNvSpPr txBox="1"/>
          <p:nvPr/>
        </p:nvSpPr>
        <p:spPr>
          <a:xfrm>
            <a:off x="583664" y="2564963"/>
            <a:ext cx="1402412" cy="408623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Outpatient</a:t>
            </a:r>
          </a:p>
        </p:txBody>
      </p:sp>
      <p:pic>
        <p:nvPicPr>
          <p:cNvPr id="18" name="Graphic 17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4C8246D3-A360-4C07-BE04-81742A649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0772" y="2233339"/>
            <a:ext cx="395274" cy="395274"/>
          </a:xfrm>
          <a:prstGeom prst="rect">
            <a:avLst/>
          </a:prstGeom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6DE7FBF-1CAE-46B3-8526-931A8EB4CD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9197" y="2359631"/>
            <a:ext cx="562581" cy="207879"/>
          </a:xfrm>
          <a:prstGeom prst="bentConnector3">
            <a:avLst>
              <a:gd name="adj1" fmla="val 101436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838AD5-A356-413A-A5EE-B6185AD4AF78}"/>
              </a:ext>
            </a:extLst>
          </p:cNvPr>
          <p:cNvSpPr txBox="1"/>
          <p:nvPr/>
        </p:nvSpPr>
        <p:spPr>
          <a:xfrm>
            <a:off x="3823590" y="102449"/>
            <a:ext cx="4544820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Outpatient Evaluation of CAP</a:t>
            </a:r>
          </a:p>
        </p:txBody>
      </p:sp>
      <p:sp>
        <p:nvSpPr>
          <p:cNvPr id="33" name="Severe disease">
            <a:hlinkClick r:id="" action="ppaction://noaction"/>
            <a:extLst>
              <a:ext uri="{FF2B5EF4-FFF2-40B4-BE49-F238E27FC236}">
                <a16:creationId xmlns:a16="http://schemas.microsoft.com/office/drawing/2014/main" id="{97A4BEE7-6A08-4BA8-9249-BA1935FC1968}"/>
              </a:ext>
            </a:extLst>
          </p:cNvPr>
          <p:cNvSpPr txBox="1"/>
          <p:nvPr/>
        </p:nvSpPr>
        <p:spPr>
          <a:xfrm>
            <a:off x="5360105" y="615364"/>
            <a:ext cx="1774626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Comorbidities?</a:t>
            </a:r>
          </a:p>
        </p:txBody>
      </p:sp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A7CE5134-24C9-4E2A-BB26-270EE365E7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7094" y="826350"/>
            <a:ext cx="395274" cy="395274"/>
          </a:xfrm>
          <a:prstGeom prst="rect">
            <a:avLst/>
          </a:prstGeom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66A896F0-82FF-47D6-9503-54423A0E34A5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 rot="5400000">
            <a:off x="4401436" y="59229"/>
            <a:ext cx="881225" cy="2810740"/>
          </a:xfrm>
          <a:prstGeom prst="bentConnector3">
            <a:avLst>
              <a:gd name="adj1" fmla="val 3198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1777FD7-6967-4C1E-8AA6-CFBAEB6A7AE1}"/>
              </a:ext>
            </a:extLst>
          </p:cNvPr>
          <p:cNvCxnSpPr>
            <a:cxnSpLocks/>
            <a:stCxn id="33" idx="2"/>
            <a:endCxn id="38" idx="0"/>
          </p:cNvCxnSpPr>
          <p:nvPr/>
        </p:nvCxnSpPr>
        <p:spPr>
          <a:xfrm rot="16200000" flipH="1">
            <a:off x="6960460" y="310944"/>
            <a:ext cx="560538" cy="19866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PSI">
            <a:hlinkClick r:id="" action="ppaction://noaction"/>
            <a:extLst>
              <a:ext uri="{FF2B5EF4-FFF2-40B4-BE49-F238E27FC236}">
                <a16:creationId xmlns:a16="http://schemas.microsoft.com/office/drawing/2014/main" id="{8F250F61-0B33-4120-99AA-24CB1214EFB2}"/>
              </a:ext>
            </a:extLst>
          </p:cNvPr>
          <p:cNvSpPr txBox="1"/>
          <p:nvPr/>
        </p:nvSpPr>
        <p:spPr>
          <a:xfrm>
            <a:off x="7445546" y="1584525"/>
            <a:ext cx="1576990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MDR RF</a:t>
            </a:r>
          </a:p>
        </p:txBody>
      </p:sp>
      <p:pic>
        <p:nvPicPr>
          <p:cNvPr id="39" name="Graphic 38" descr="Cursor with solid fill">
            <a:extLst>
              <a:ext uri="{FF2B5EF4-FFF2-40B4-BE49-F238E27FC236}">
                <a16:creationId xmlns:a16="http://schemas.microsoft.com/office/drawing/2014/main" id="{1A7E068B-686F-4139-8F76-88128C5D3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6201" y="1812055"/>
            <a:ext cx="395274" cy="395274"/>
          </a:xfrm>
          <a:prstGeom prst="rect">
            <a:avLst/>
          </a:prstGeom>
        </p:spPr>
      </p:pic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31BFAA0-21A4-4C32-9265-9E29F9A18973}"/>
              </a:ext>
            </a:extLst>
          </p:cNvPr>
          <p:cNvCxnSpPr>
            <a:cxnSpLocks/>
            <a:stCxn id="38" idx="2"/>
            <a:endCxn id="41" idx="0"/>
          </p:cNvCxnSpPr>
          <p:nvPr/>
        </p:nvCxnSpPr>
        <p:spPr>
          <a:xfrm rot="5400000">
            <a:off x="6865202" y="1147871"/>
            <a:ext cx="523562" cy="2214117"/>
          </a:xfrm>
          <a:prstGeom prst="bentConnector3">
            <a:avLst>
              <a:gd name="adj1" fmla="val 4287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CF742752-9CA1-4422-A441-F684B25E9A9F}"/>
              </a:ext>
            </a:extLst>
          </p:cNvPr>
          <p:cNvSpPr/>
          <p:nvPr/>
        </p:nvSpPr>
        <p:spPr>
          <a:xfrm>
            <a:off x="5146636" y="2516710"/>
            <a:ext cx="1746576" cy="668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Recent antibiotics (90 d)</a:t>
            </a:r>
          </a:p>
        </p:txBody>
      </p:sp>
      <p:sp>
        <p:nvSpPr>
          <p:cNvPr id="46" name="MRSA + PsA">
            <a:extLst>
              <a:ext uri="{FF2B5EF4-FFF2-40B4-BE49-F238E27FC236}">
                <a16:creationId xmlns:a16="http://schemas.microsoft.com/office/drawing/2014/main" id="{22A470B0-9609-4471-BADF-A3EF6D96244B}"/>
              </a:ext>
            </a:extLst>
          </p:cNvPr>
          <p:cNvSpPr/>
          <p:nvPr/>
        </p:nvSpPr>
        <p:spPr>
          <a:xfrm>
            <a:off x="2126899" y="1905212"/>
            <a:ext cx="2619557" cy="1891921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Amoxicillin-clavulanate/ cephalosporin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+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azithromycin/ doxycycline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OR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Respiratory FQ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12A44A-FE5A-4BF0-97A1-D50563C1E975}"/>
              </a:ext>
            </a:extLst>
          </p:cNvPr>
          <p:cNvSpPr/>
          <p:nvPr/>
        </p:nvSpPr>
        <p:spPr>
          <a:xfrm>
            <a:off x="4378622" y="1168135"/>
            <a:ext cx="493131" cy="3158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31C5B69-C966-410E-9472-0B89FD4A33A2}"/>
              </a:ext>
            </a:extLst>
          </p:cNvPr>
          <p:cNvSpPr/>
          <p:nvPr/>
        </p:nvSpPr>
        <p:spPr>
          <a:xfrm>
            <a:off x="6893212" y="1168135"/>
            <a:ext cx="493131" cy="3158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no</a:t>
            </a:r>
          </a:p>
        </p:txBody>
      </p:sp>
      <p:cxnSp>
        <p:nvCxnSpPr>
          <p:cNvPr id="83" name="MDR RF">
            <a:extLst>
              <a:ext uri="{FF2B5EF4-FFF2-40B4-BE49-F238E27FC236}">
                <a16:creationId xmlns:a16="http://schemas.microsoft.com/office/drawing/2014/main" id="{FF17584D-465E-4285-BA83-570B1E778DD7}"/>
              </a:ext>
            </a:extLst>
          </p:cNvPr>
          <p:cNvCxnSpPr>
            <a:cxnSpLocks/>
            <a:stCxn id="38" idx="2"/>
            <a:endCxn id="84" idx="0"/>
          </p:cNvCxnSpPr>
          <p:nvPr/>
        </p:nvCxnSpPr>
        <p:spPr>
          <a:xfrm rot="16200000" flipH="1">
            <a:off x="9289891" y="937297"/>
            <a:ext cx="523562" cy="2635263"/>
          </a:xfrm>
          <a:prstGeom prst="bentConnector3">
            <a:avLst>
              <a:gd name="adj1" fmla="val 4287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C734AF1B-B558-48D1-A7E2-A2ECD5BC4BB1}"/>
              </a:ext>
            </a:extLst>
          </p:cNvPr>
          <p:cNvSpPr/>
          <p:nvPr/>
        </p:nvSpPr>
        <p:spPr>
          <a:xfrm>
            <a:off x="10264294" y="2516710"/>
            <a:ext cx="1210020" cy="4119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 RFs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367BAAD-FFA7-49FC-8DC0-DE043530F2AB}"/>
              </a:ext>
            </a:extLst>
          </p:cNvPr>
          <p:cNvCxnSpPr>
            <a:cxnSpLocks/>
            <a:stCxn id="84" idx="2"/>
            <a:endCxn id="95" idx="0"/>
          </p:cNvCxnSpPr>
          <p:nvPr/>
        </p:nvCxnSpPr>
        <p:spPr>
          <a:xfrm>
            <a:off x="10869304" y="2928697"/>
            <a:ext cx="7056" cy="752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Standard">
            <a:extLst>
              <a:ext uri="{FF2B5EF4-FFF2-40B4-BE49-F238E27FC236}">
                <a16:creationId xmlns:a16="http://schemas.microsoft.com/office/drawing/2014/main" id="{65489D3B-B1D9-43BE-AE3D-473CC74B1112}"/>
              </a:ext>
            </a:extLst>
          </p:cNvPr>
          <p:cNvSpPr/>
          <p:nvPr/>
        </p:nvSpPr>
        <p:spPr>
          <a:xfrm>
            <a:off x="9795400" y="3680788"/>
            <a:ext cx="2161920" cy="11591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Amoxicillin 1g TID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OR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Doxycycline</a:t>
            </a:r>
          </a:p>
        </p:txBody>
      </p:sp>
      <p:graphicFrame>
        <p:nvGraphicFramePr>
          <p:cNvPr id="114" name="Table 114">
            <a:extLst>
              <a:ext uri="{FF2B5EF4-FFF2-40B4-BE49-F238E27FC236}">
                <a16:creationId xmlns:a16="http://schemas.microsoft.com/office/drawing/2014/main" id="{ADD97784-49C3-4C45-BB0C-99B78CD31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560571"/>
              </p:ext>
            </p:extLst>
          </p:nvPr>
        </p:nvGraphicFramePr>
        <p:xfrm>
          <a:off x="8677449" y="202678"/>
          <a:ext cx="2702767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6657">
                  <a:extLst>
                    <a:ext uri="{9D8B030D-6E8A-4147-A177-3AD203B41FA5}">
                      <a16:colId xmlns:a16="http://schemas.microsoft.com/office/drawing/2014/main" val="4200305724"/>
                    </a:ext>
                  </a:extLst>
                </a:gridCol>
                <a:gridCol w="1296110">
                  <a:extLst>
                    <a:ext uri="{9D8B030D-6E8A-4147-A177-3AD203B41FA5}">
                      <a16:colId xmlns:a16="http://schemas.microsoft.com/office/drawing/2014/main" val="2345619870"/>
                    </a:ext>
                  </a:extLst>
                </a:gridCol>
              </a:tblGrid>
              <a:tr h="7626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Chronic lung, heart, liver, or renal disease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DM</a:t>
                      </a:r>
                    </a:p>
                    <a:p>
                      <a:pPr algn="ctr"/>
                      <a:r>
                        <a:rPr lang="en-US" sz="1400" dirty="0"/>
                        <a:t>Alcoholism</a:t>
                      </a:r>
                    </a:p>
                    <a:p>
                      <a:pPr algn="ctr"/>
                      <a:r>
                        <a:rPr lang="en-US" sz="1400" dirty="0"/>
                        <a:t>Malignancy</a:t>
                      </a:r>
                    </a:p>
                    <a:p>
                      <a:pPr algn="ctr"/>
                      <a:r>
                        <a:rPr lang="en-US" sz="1400" dirty="0"/>
                        <a:t>Asplenia</a:t>
                      </a: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006067"/>
                  </a:ext>
                </a:extLst>
              </a:tr>
            </a:tbl>
          </a:graphicData>
        </a:graphic>
      </p:graphicFrame>
      <p:sp>
        <p:nvSpPr>
          <p:cNvPr id="75" name="Rectangle 74">
            <a:extLst>
              <a:ext uri="{FF2B5EF4-FFF2-40B4-BE49-F238E27FC236}">
                <a16:creationId xmlns:a16="http://schemas.microsoft.com/office/drawing/2014/main" id="{A68E26A0-8398-4AD3-9300-6F5773A6DD62}"/>
              </a:ext>
            </a:extLst>
          </p:cNvPr>
          <p:cNvSpPr/>
          <p:nvPr/>
        </p:nvSpPr>
        <p:spPr>
          <a:xfrm>
            <a:off x="7425607" y="2516710"/>
            <a:ext cx="1746576" cy="668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Prior MRSA or </a:t>
            </a:r>
            <a:r>
              <a:rPr lang="en-US" i="1" dirty="0"/>
              <a:t>Pseudomonas</a:t>
            </a:r>
            <a:r>
              <a:rPr lang="en-US" dirty="0"/>
              <a:t> 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C24B18-FA17-482C-8E85-B6EA50694603}"/>
              </a:ext>
            </a:extLst>
          </p:cNvPr>
          <p:cNvCxnSpPr>
            <a:cxnSpLocks/>
            <a:stCxn id="75" idx="2"/>
            <a:endCxn id="107" idx="0"/>
          </p:cNvCxnSpPr>
          <p:nvPr/>
        </p:nvCxnSpPr>
        <p:spPr>
          <a:xfrm>
            <a:off x="8298895" y="3185636"/>
            <a:ext cx="5266" cy="490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864EEC9-D538-42EC-AB0E-94D7BD1E7CC6}"/>
              </a:ext>
            </a:extLst>
          </p:cNvPr>
          <p:cNvCxnSpPr>
            <a:cxnSpLocks/>
            <a:stCxn id="41" idx="1"/>
            <a:endCxn id="46" idx="3"/>
          </p:cNvCxnSpPr>
          <p:nvPr/>
        </p:nvCxnSpPr>
        <p:spPr>
          <a:xfrm flipH="1">
            <a:off x="4746456" y="2851173"/>
            <a:ext cx="400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034C7DF-EAE5-42A9-97FA-DD253AD0AC9C}"/>
              </a:ext>
            </a:extLst>
          </p:cNvPr>
          <p:cNvSpPr txBox="1"/>
          <p:nvPr/>
        </p:nvSpPr>
        <p:spPr>
          <a:xfrm>
            <a:off x="5050896" y="3277304"/>
            <a:ext cx="18678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Ideally should receive different class than recent exposure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49A67F53-F379-4709-B159-8BF84EE55E23}"/>
              </a:ext>
            </a:extLst>
          </p:cNvPr>
          <p:cNvCxnSpPr>
            <a:stCxn id="38" idx="2"/>
            <a:endCxn id="75" idx="0"/>
          </p:cNvCxnSpPr>
          <p:nvPr/>
        </p:nvCxnSpPr>
        <p:spPr>
          <a:xfrm rot="16200000" flipH="1">
            <a:off x="8004687" y="2222502"/>
            <a:ext cx="523562" cy="64854"/>
          </a:xfrm>
          <a:prstGeom prst="bentConnector3">
            <a:avLst>
              <a:gd name="adj1" fmla="val 428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MRSA + PsA">
            <a:extLst>
              <a:ext uri="{FF2B5EF4-FFF2-40B4-BE49-F238E27FC236}">
                <a16:creationId xmlns:a16="http://schemas.microsoft.com/office/drawing/2014/main" id="{9D27F5B0-EB7C-4E78-870E-159F86985C13}"/>
              </a:ext>
            </a:extLst>
          </p:cNvPr>
          <p:cNvSpPr/>
          <p:nvPr/>
        </p:nvSpPr>
        <p:spPr>
          <a:xfrm>
            <a:off x="7223201" y="3676492"/>
            <a:ext cx="2161920" cy="1159148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Consider empiric coverage for MRSA or </a:t>
            </a:r>
            <a:r>
              <a:rPr lang="en-US" i="1" dirty="0">
                <a:solidFill>
                  <a:schemeClr val="bg1"/>
                </a:solidFill>
              </a:rPr>
              <a:t>Pseudomonas</a:t>
            </a:r>
          </a:p>
        </p:txBody>
      </p:sp>
    </p:spTree>
    <p:extLst>
      <p:ext uri="{BB962C8B-B14F-4D97-AF65-F5344CB8AC3E}">
        <p14:creationId xmlns:p14="http://schemas.microsoft.com/office/powerpoint/2010/main" val="246487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120" grpId="0" animBg="1"/>
      <p:bldP spid="38" grpId="0" animBg="1"/>
      <p:bldP spid="41" grpId="0" animBg="1"/>
      <p:bldP spid="46" grpId="0" animBg="1"/>
      <p:bldP spid="51" grpId="0" animBg="1"/>
      <p:bldP spid="52" grpId="0" animBg="1"/>
      <p:bldP spid="84" grpId="0" animBg="1"/>
      <p:bldP spid="95" grpId="0" animBg="1"/>
      <p:bldP spid="75" grpId="0" animBg="1"/>
      <p:bldP spid="100" grpId="0"/>
      <p:bldP spid="10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8F1691D-116F-4E48-A70F-CFB2758B50B4}"/>
              </a:ext>
            </a:extLst>
          </p:cNvPr>
          <p:cNvSpPr txBox="1"/>
          <p:nvPr/>
        </p:nvSpPr>
        <p:spPr>
          <a:xfrm>
            <a:off x="3823590" y="102449"/>
            <a:ext cx="4544820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Duration of Treatment</a:t>
            </a:r>
          </a:p>
        </p:txBody>
      </p:sp>
      <p:sp>
        <p:nvSpPr>
          <p:cNvPr id="25" name="Question 2">
            <a:hlinkClick r:id="rId2" action="ppaction://hlinksldjump"/>
            <a:extLst>
              <a:ext uri="{FF2B5EF4-FFF2-40B4-BE49-F238E27FC236}">
                <a16:creationId xmlns:a16="http://schemas.microsoft.com/office/drawing/2014/main" id="{FB5E0A9C-B1B7-408A-8231-04CDC8B9D88A}"/>
              </a:ext>
            </a:extLst>
          </p:cNvPr>
          <p:cNvSpPr txBox="1"/>
          <p:nvPr/>
        </p:nvSpPr>
        <p:spPr>
          <a:xfrm>
            <a:off x="234759" y="155491"/>
            <a:ext cx="155368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sp>
        <p:nvSpPr>
          <p:cNvPr id="26" name="cancer screening text">
            <a:hlinkClick r:id="rId3" action="ppaction://hlinksldjump"/>
            <a:extLst>
              <a:ext uri="{FF2B5EF4-FFF2-40B4-BE49-F238E27FC236}">
                <a16:creationId xmlns:a16="http://schemas.microsoft.com/office/drawing/2014/main" id="{E109CB36-1FA7-4551-A65A-5C41BC928671}"/>
              </a:ext>
            </a:extLst>
          </p:cNvPr>
          <p:cNvSpPr txBox="1"/>
          <p:nvPr/>
        </p:nvSpPr>
        <p:spPr>
          <a:xfrm>
            <a:off x="243281" y="778790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Classification</a:t>
            </a:r>
          </a:p>
        </p:txBody>
      </p:sp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A4B2C12D-A66F-43A9-9552-565B3DE7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989779"/>
            <a:ext cx="395274" cy="395274"/>
          </a:xfrm>
          <a:prstGeom prst="rect">
            <a:avLst/>
          </a:prstGeom>
        </p:spPr>
      </p:pic>
      <p:sp>
        <p:nvSpPr>
          <p:cNvPr id="28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8198DE8B-3F1D-40C8-90C5-8B574A0C3337}"/>
              </a:ext>
            </a:extLst>
          </p:cNvPr>
          <p:cNvSpPr txBox="1"/>
          <p:nvPr/>
        </p:nvSpPr>
        <p:spPr>
          <a:xfrm>
            <a:off x="251776" y="1402089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Management</a:t>
            </a:r>
          </a:p>
        </p:txBody>
      </p:sp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851397F9-E248-4887-BA43-41CF37DC3A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1613078"/>
            <a:ext cx="395274" cy="395274"/>
          </a:xfrm>
          <a:prstGeom prst="rect">
            <a:avLst/>
          </a:prstGeom>
        </p:spPr>
      </p:pic>
      <p:sp>
        <p:nvSpPr>
          <p:cNvPr id="30" name="cancer screening text">
            <a:hlinkClick r:id="rId7" action="ppaction://hlinksldjump"/>
            <a:extLst>
              <a:ext uri="{FF2B5EF4-FFF2-40B4-BE49-F238E27FC236}">
                <a16:creationId xmlns:a16="http://schemas.microsoft.com/office/drawing/2014/main" id="{04F2B136-F0F6-4DA0-A21E-C8E0E9FBC1A2}"/>
              </a:ext>
            </a:extLst>
          </p:cNvPr>
          <p:cNvSpPr txBox="1"/>
          <p:nvPr/>
        </p:nvSpPr>
        <p:spPr>
          <a:xfrm>
            <a:off x="251776" y="2025388"/>
            <a:ext cx="1547002" cy="408623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Duration</a:t>
            </a:r>
          </a:p>
        </p:txBody>
      </p:sp>
      <p:pic>
        <p:nvPicPr>
          <p:cNvPr id="32" name="Graphic 31" descr="Cursor with solid fill">
            <a:extLst>
              <a:ext uri="{FF2B5EF4-FFF2-40B4-BE49-F238E27FC236}">
                <a16:creationId xmlns:a16="http://schemas.microsoft.com/office/drawing/2014/main" id="{410A53E6-C804-4EC2-A7F5-66BB43A3F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366480"/>
            <a:ext cx="395274" cy="395274"/>
          </a:xfrm>
          <a:prstGeom prst="rect">
            <a:avLst/>
          </a:prstGeom>
        </p:spPr>
      </p:pic>
      <p:sp>
        <p:nvSpPr>
          <p:cNvPr id="33" name="Cases">
            <a:hlinkClick r:id="rId8" action="ppaction://hlinksldjump"/>
            <a:extLst>
              <a:ext uri="{FF2B5EF4-FFF2-40B4-BE49-F238E27FC236}">
                <a16:creationId xmlns:a16="http://schemas.microsoft.com/office/drawing/2014/main" id="{26EF5A94-C375-4F5B-8D7A-B04F2FECF733}"/>
              </a:ext>
            </a:extLst>
          </p:cNvPr>
          <p:cNvSpPr txBox="1"/>
          <p:nvPr/>
        </p:nvSpPr>
        <p:spPr>
          <a:xfrm>
            <a:off x="251777" y="2648687"/>
            <a:ext cx="1547001" cy="408623"/>
          </a:xfrm>
          <a:prstGeom prst="roundRect">
            <a:avLst/>
          </a:prstGeom>
          <a:solidFill>
            <a:schemeClr val="accent5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pic>
        <p:nvPicPr>
          <p:cNvPr id="34" name="Graphic 33" descr="Cursor with solid fill">
            <a:hlinkClick r:id="" action="ppaction://noaction"/>
            <a:extLst>
              <a:ext uri="{FF2B5EF4-FFF2-40B4-BE49-F238E27FC236}">
                <a16:creationId xmlns:a16="http://schemas.microsoft.com/office/drawing/2014/main" id="{34DB3D1F-B3AE-4298-86D9-48BAE70E6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802" y="2859673"/>
            <a:ext cx="395274" cy="39527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511BCAC-04EF-4F4C-B917-F5750AC31BA0}"/>
              </a:ext>
            </a:extLst>
          </p:cNvPr>
          <p:cNvGrpSpPr/>
          <p:nvPr/>
        </p:nvGrpSpPr>
        <p:grpSpPr>
          <a:xfrm>
            <a:off x="2849350" y="3150538"/>
            <a:ext cx="6338443" cy="369332"/>
            <a:chOff x="3181739" y="2575249"/>
            <a:chExt cx="6338443" cy="3693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B642D71-AE97-4A4A-BFA0-91554AFADCA6}"/>
                </a:ext>
              </a:extLst>
            </p:cNvPr>
            <p:cNvSpPr txBox="1"/>
            <p:nvPr/>
          </p:nvSpPr>
          <p:spPr>
            <a:xfrm>
              <a:off x="3181739" y="2575249"/>
              <a:ext cx="64185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92EF7FE-58AE-4ACE-8DBE-D494596B679C}"/>
                </a:ext>
              </a:extLst>
            </p:cNvPr>
            <p:cNvSpPr txBox="1"/>
            <p:nvPr/>
          </p:nvSpPr>
          <p:spPr>
            <a:xfrm>
              <a:off x="3814694" y="2575249"/>
              <a:ext cx="64185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FAD9E7-925C-4462-A874-C94962165BA6}"/>
                </a:ext>
              </a:extLst>
            </p:cNvPr>
            <p:cNvSpPr txBox="1"/>
            <p:nvPr/>
          </p:nvSpPr>
          <p:spPr>
            <a:xfrm>
              <a:off x="4447649" y="2575249"/>
              <a:ext cx="64185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9FD47B8-A832-4DE7-AF7C-0FD690D23972}"/>
                </a:ext>
              </a:extLst>
            </p:cNvPr>
            <p:cNvSpPr txBox="1"/>
            <p:nvPr/>
          </p:nvSpPr>
          <p:spPr>
            <a:xfrm>
              <a:off x="5080604" y="2575249"/>
              <a:ext cx="64185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B0B5B4F-A2CD-4594-891A-270FB3D61FBB}"/>
                </a:ext>
              </a:extLst>
            </p:cNvPr>
            <p:cNvSpPr txBox="1"/>
            <p:nvPr/>
          </p:nvSpPr>
          <p:spPr>
            <a:xfrm>
              <a:off x="5713559" y="2575249"/>
              <a:ext cx="64185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3F7CFB4-6F1C-4315-8F38-56920ECC3845}"/>
                </a:ext>
              </a:extLst>
            </p:cNvPr>
            <p:cNvSpPr txBox="1"/>
            <p:nvPr/>
          </p:nvSpPr>
          <p:spPr>
            <a:xfrm>
              <a:off x="6346514" y="2575249"/>
              <a:ext cx="64185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9E186F3-1831-4992-B942-86921EC1ED99}"/>
                </a:ext>
              </a:extLst>
            </p:cNvPr>
            <p:cNvSpPr txBox="1"/>
            <p:nvPr/>
          </p:nvSpPr>
          <p:spPr>
            <a:xfrm>
              <a:off x="6979469" y="2575249"/>
              <a:ext cx="64185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0C7DAE7-43F4-4C73-A289-AE14036CE15E}"/>
                </a:ext>
              </a:extLst>
            </p:cNvPr>
            <p:cNvSpPr txBox="1"/>
            <p:nvPr/>
          </p:nvSpPr>
          <p:spPr>
            <a:xfrm>
              <a:off x="7612424" y="2575249"/>
              <a:ext cx="64185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8F79361-CDF0-4EBE-A54A-2305A23BE16E}"/>
                </a:ext>
              </a:extLst>
            </p:cNvPr>
            <p:cNvSpPr txBox="1"/>
            <p:nvPr/>
          </p:nvSpPr>
          <p:spPr>
            <a:xfrm>
              <a:off x="8245379" y="2575249"/>
              <a:ext cx="64185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82C699A-02C8-438E-A32D-7A432DEFA770}"/>
                </a:ext>
              </a:extLst>
            </p:cNvPr>
            <p:cNvSpPr txBox="1"/>
            <p:nvPr/>
          </p:nvSpPr>
          <p:spPr>
            <a:xfrm>
              <a:off x="8878331" y="2575249"/>
              <a:ext cx="64185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10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65460FB-0BE0-4235-8CD8-D6DEE229B9CD}"/>
              </a:ext>
            </a:extLst>
          </p:cNvPr>
          <p:cNvSpPr/>
          <p:nvPr/>
        </p:nvSpPr>
        <p:spPr>
          <a:xfrm rot="16200000">
            <a:off x="1546424" y="2064772"/>
            <a:ext cx="1733989" cy="40862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OUTPATIENT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B7B96BA-4464-4BD4-A87C-FBE9B226C65E}"/>
              </a:ext>
            </a:extLst>
          </p:cNvPr>
          <p:cNvSpPr/>
          <p:nvPr/>
        </p:nvSpPr>
        <p:spPr>
          <a:xfrm rot="16200000">
            <a:off x="1288751" y="4439347"/>
            <a:ext cx="2258635" cy="419678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INPATIENT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4BC16-3268-497F-BBFE-50F4857008C0}"/>
              </a:ext>
            </a:extLst>
          </p:cNvPr>
          <p:cNvSpPr/>
          <p:nvPr/>
        </p:nvSpPr>
        <p:spPr>
          <a:xfrm>
            <a:off x="2849350" y="2364971"/>
            <a:ext cx="1898865" cy="57364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Azithromycin 500 mg daily*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D05FC3E-1969-4DF4-8958-769BF51DB9C3}"/>
              </a:ext>
            </a:extLst>
          </p:cNvPr>
          <p:cNvSpPr/>
          <p:nvPr/>
        </p:nvSpPr>
        <p:spPr>
          <a:xfrm>
            <a:off x="2862770" y="1613079"/>
            <a:ext cx="3160251" cy="5742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Standard CAP treatment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7863B16-205E-4BE8-8E0E-39C32FD2C397}"/>
              </a:ext>
            </a:extLst>
          </p:cNvPr>
          <p:cNvGrpSpPr/>
          <p:nvPr/>
        </p:nvGrpSpPr>
        <p:grpSpPr>
          <a:xfrm>
            <a:off x="6105733" y="1609008"/>
            <a:ext cx="1178853" cy="574212"/>
            <a:chOff x="6923314" y="1298413"/>
            <a:chExt cx="1178853" cy="59073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16ED77-1A85-4806-A7FE-AFAAC7B4C33F}"/>
                </a:ext>
              </a:extLst>
            </p:cNvPr>
            <p:cNvSpPr/>
            <p:nvPr/>
          </p:nvSpPr>
          <p:spPr>
            <a:xfrm>
              <a:off x="6923314" y="1298413"/>
              <a:ext cx="169601" cy="59073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05BFDA7-079E-4055-86BA-06E0085431E6}"/>
                </a:ext>
              </a:extLst>
            </p:cNvPr>
            <p:cNvSpPr/>
            <p:nvPr/>
          </p:nvSpPr>
          <p:spPr>
            <a:xfrm>
              <a:off x="7175627" y="1298413"/>
              <a:ext cx="169601" cy="59073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47F839A-8CFE-4DEA-949F-D170412178A3}"/>
                </a:ext>
              </a:extLst>
            </p:cNvPr>
            <p:cNvSpPr/>
            <p:nvPr/>
          </p:nvSpPr>
          <p:spPr>
            <a:xfrm>
              <a:off x="7427940" y="1298413"/>
              <a:ext cx="169601" cy="59073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F5FC646-F519-47EB-A3C0-3307243E41B6}"/>
                </a:ext>
              </a:extLst>
            </p:cNvPr>
            <p:cNvSpPr/>
            <p:nvPr/>
          </p:nvSpPr>
          <p:spPr>
            <a:xfrm>
              <a:off x="7680253" y="1298413"/>
              <a:ext cx="169601" cy="59073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8D99109-E65D-47BE-8C79-7B3EAF7AC35A}"/>
                </a:ext>
              </a:extLst>
            </p:cNvPr>
            <p:cNvSpPr/>
            <p:nvPr/>
          </p:nvSpPr>
          <p:spPr>
            <a:xfrm>
              <a:off x="7932566" y="1298413"/>
              <a:ext cx="169601" cy="59073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1D0AF244-C64A-4D3D-90C4-6E3B9CBAD749}"/>
              </a:ext>
            </a:extLst>
          </p:cNvPr>
          <p:cNvSpPr/>
          <p:nvPr/>
        </p:nvSpPr>
        <p:spPr>
          <a:xfrm>
            <a:off x="2844828" y="3702035"/>
            <a:ext cx="3160251" cy="513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Standard CAP treatment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AC5B52A-4394-49FC-A2CA-6741D93B7E97}"/>
              </a:ext>
            </a:extLst>
          </p:cNvPr>
          <p:cNvGrpSpPr/>
          <p:nvPr/>
        </p:nvGrpSpPr>
        <p:grpSpPr>
          <a:xfrm>
            <a:off x="6087791" y="3697964"/>
            <a:ext cx="1178853" cy="513975"/>
            <a:chOff x="6923314" y="1298413"/>
            <a:chExt cx="1178853" cy="5907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D2F2ECD-19A0-4F16-BF1B-59D86E48DD67}"/>
                </a:ext>
              </a:extLst>
            </p:cNvPr>
            <p:cNvSpPr/>
            <p:nvPr/>
          </p:nvSpPr>
          <p:spPr>
            <a:xfrm>
              <a:off x="6923314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354E63A-3270-45BF-A24B-CE0E6D294C81}"/>
                </a:ext>
              </a:extLst>
            </p:cNvPr>
            <p:cNvSpPr/>
            <p:nvPr/>
          </p:nvSpPr>
          <p:spPr>
            <a:xfrm>
              <a:off x="7175627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3AE8FBF-DD07-4D8A-A7A5-98CD037F0EDE}"/>
                </a:ext>
              </a:extLst>
            </p:cNvPr>
            <p:cNvSpPr/>
            <p:nvPr/>
          </p:nvSpPr>
          <p:spPr>
            <a:xfrm>
              <a:off x="7427940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A187F31-2663-45CA-B3C6-7E92D5DAF598}"/>
                </a:ext>
              </a:extLst>
            </p:cNvPr>
            <p:cNvSpPr/>
            <p:nvPr/>
          </p:nvSpPr>
          <p:spPr>
            <a:xfrm>
              <a:off x="7680253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5CC37D1-400D-4655-85A1-DE89E7EF52FA}"/>
                </a:ext>
              </a:extLst>
            </p:cNvPr>
            <p:cNvSpPr/>
            <p:nvPr/>
          </p:nvSpPr>
          <p:spPr>
            <a:xfrm>
              <a:off x="7932566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69755B06-91A4-4359-BD5A-04C440FB6CA6}"/>
              </a:ext>
            </a:extLst>
          </p:cNvPr>
          <p:cNvSpPr/>
          <p:nvPr/>
        </p:nvSpPr>
        <p:spPr>
          <a:xfrm>
            <a:off x="2849351" y="4389620"/>
            <a:ext cx="4417293" cy="52111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Suspected MRSA pneumonia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727652-E5C3-41DC-BDA2-0E2C2D277444}"/>
              </a:ext>
            </a:extLst>
          </p:cNvPr>
          <p:cNvSpPr txBox="1"/>
          <p:nvPr/>
        </p:nvSpPr>
        <p:spPr>
          <a:xfrm>
            <a:off x="4837182" y="2390182"/>
            <a:ext cx="4184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*long half life allows for shorter treatment duration but not recommended as monotherapy in the US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908BB2-CD38-4429-B01D-609FE94326ED}"/>
              </a:ext>
            </a:extLst>
          </p:cNvPr>
          <p:cNvSpPr/>
          <p:nvPr/>
        </p:nvSpPr>
        <p:spPr>
          <a:xfrm>
            <a:off x="2862743" y="5060015"/>
            <a:ext cx="4417293" cy="5139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Suspected </a:t>
            </a:r>
            <a:r>
              <a:rPr lang="en-US" i="1" dirty="0"/>
              <a:t>Pseudomonas</a:t>
            </a:r>
            <a:r>
              <a:rPr lang="en-US" dirty="0"/>
              <a:t> pneumonia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091A4EC-DB38-483E-9410-227B22CD6AB5}"/>
              </a:ext>
            </a:extLst>
          </p:cNvPr>
          <p:cNvGrpSpPr/>
          <p:nvPr/>
        </p:nvGrpSpPr>
        <p:grpSpPr>
          <a:xfrm>
            <a:off x="7375989" y="5067275"/>
            <a:ext cx="1178853" cy="506715"/>
            <a:chOff x="6923314" y="1298413"/>
            <a:chExt cx="1178853" cy="5907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AE0921F-E157-4DE6-BF3E-6F297A063A97}"/>
                </a:ext>
              </a:extLst>
            </p:cNvPr>
            <p:cNvSpPr/>
            <p:nvPr/>
          </p:nvSpPr>
          <p:spPr>
            <a:xfrm>
              <a:off x="6923314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009AED2-F6DD-4242-9715-0E75FC5F8B1F}"/>
                </a:ext>
              </a:extLst>
            </p:cNvPr>
            <p:cNvSpPr/>
            <p:nvPr/>
          </p:nvSpPr>
          <p:spPr>
            <a:xfrm>
              <a:off x="7175627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7984497-DAE5-42CD-A59C-CACE16CB1B16}"/>
                </a:ext>
              </a:extLst>
            </p:cNvPr>
            <p:cNvSpPr/>
            <p:nvPr/>
          </p:nvSpPr>
          <p:spPr>
            <a:xfrm>
              <a:off x="7427940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EF03B17-F69E-413D-9EA2-CCBFB42C16D5}"/>
                </a:ext>
              </a:extLst>
            </p:cNvPr>
            <p:cNvSpPr/>
            <p:nvPr/>
          </p:nvSpPr>
          <p:spPr>
            <a:xfrm>
              <a:off x="7680253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43A5405-8396-44AE-AD69-8208B3E6A595}"/>
                </a:ext>
              </a:extLst>
            </p:cNvPr>
            <p:cNvSpPr/>
            <p:nvPr/>
          </p:nvSpPr>
          <p:spPr>
            <a:xfrm>
              <a:off x="7932566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579BD7A-6032-4BA7-854B-F07C01D717D8}"/>
              </a:ext>
            </a:extLst>
          </p:cNvPr>
          <p:cNvGrpSpPr/>
          <p:nvPr/>
        </p:nvGrpSpPr>
        <p:grpSpPr>
          <a:xfrm>
            <a:off x="8637554" y="5067275"/>
            <a:ext cx="1178853" cy="513975"/>
            <a:chOff x="6923314" y="1298413"/>
            <a:chExt cx="1178853" cy="5907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A3F590C-8B86-49A9-9110-BB985B53A3A5}"/>
                </a:ext>
              </a:extLst>
            </p:cNvPr>
            <p:cNvSpPr/>
            <p:nvPr/>
          </p:nvSpPr>
          <p:spPr>
            <a:xfrm>
              <a:off x="6923314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CB52CB1-46EB-4F80-BB37-8A222EA1A362}"/>
                </a:ext>
              </a:extLst>
            </p:cNvPr>
            <p:cNvSpPr/>
            <p:nvPr/>
          </p:nvSpPr>
          <p:spPr>
            <a:xfrm>
              <a:off x="7175627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FC3D56E-1533-4391-9BE7-413FFCF562AD}"/>
                </a:ext>
              </a:extLst>
            </p:cNvPr>
            <p:cNvSpPr/>
            <p:nvPr/>
          </p:nvSpPr>
          <p:spPr>
            <a:xfrm>
              <a:off x="7427940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ECBFB68-BC3D-4FDC-8D6B-CD5DFEC5BC96}"/>
                </a:ext>
              </a:extLst>
            </p:cNvPr>
            <p:cNvSpPr/>
            <p:nvPr/>
          </p:nvSpPr>
          <p:spPr>
            <a:xfrm>
              <a:off x="7680253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5E90991-26A5-4412-A599-07A731F218B3}"/>
                </a:ext>
              </a:extLst>
            </p:cNvPr>
            <p:cNvSpPr/>
            <p:nvPr/>
          </p:nvSpPr>
          <p:spPr>
            <a:xfrm>
              <a:off x="7932566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A6B5454-28BE-4104-A93B-939A2A0C92F2}"/>
              </a:ext>
            </a:extLst>
          </p:cNvPr>
          <p:cNvSpPr txBox="1"/>
          <p:nvPr/>
        </p:nvSpPr>
        <p:spPr>
          <a:xfrm>
            <a:off x="9187793" y="3150538"/>
            <a:ext cx="6418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197738-AE0D-4C2B-80DC-2794243FB75A}"/>
              </a:ext>
            </a:extLst>
          </p:cNvPr>
          <p:cNvSpPr txBox="1"/>
          <p:nvPr/>
        </p:nvSpPr>
        <p:spPr>
          <a:xfrm>
            <a:off x="9820748" y="3150538"/>
            <a:ext cx="6418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7B4787D-20B3-41EB-8140-40FF7C4C5E89}"/>
              </a:ext>
            </a:extLst>
          </p:cNvPr>
          <p:cNvSpPr txBox="1"/>
          <p:nvPr/>
        </p:nvSpPr>
        <p:spPr>
          <a:xfrm>
            <a:off x="10453700" y="3150538"/>
            <a:ext cx="6418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4AFFB8-7A3A-4CB0-A329-21EB7A13B5AC}"/>
              </a:ext>
            </a:extLst>
          </p:cNvPr>
          <p:cNvSpPr txBox="1"/>
          <p:nvPr/>
        </p:nvSpPr>
        <p:spPr>
          <a:xfrm>
            <a:off x="11077756" y="2968372"/>
            <a:ext cx="641851" cy="73366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14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07365C5-7717-41F8-8544-BA857B362802}"/>
              </a:ext>
            </a:extLst>
          </p:cNvPr>
          <p:cNvGrpSpPr/>
          <p:nvPr/>
        </p:nvGrpSpPr>
        <p:grpSpPr>
          <a:xfrm>
            <a:off x="9916699" y="5067275"/>
            <a:ext cx="1178853" cy="513975"/>
            <a:chOff x="6923314" y="1298413"/>
            <a:chExt cx="1178853" cy="5907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B4F026A-9C67-40D3-9D7B-2A41865A7B60}"/>
                </a:ext>
              </a:extLst>
            </p:cNvPr>
            <p:cNvSpPr/>
            <p:nvPr/>
          </p:nvSpPr>
          <p:spPr>
            <a:xfrm>
              <a:off x="6923314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556E973-0843-42F8-9BB7-9C91098BE01D}"/>
                </a:ext>
              </a:extLst>
            </p:cNvPr>
            <p:cNvSpPr/>
            <p:nvPr/>
          </p:nvSpPr>
          <p:spPr>
            <a:xfrm>
              <a:off x="7175627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7793AD8-3669-4DCB-9E55-780B8255D886}"/>
                </a:ext>
              </a:extLst>
            </p:cNvPr>
            <p:cNvSpPr/>
            <p:nvPr/>
          </p:nvSpPr>
          <p:spPr>
            <a:xfrm>
              <a:off x="7427940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BB169D0-2DD5-4720-BD7C-827614BE2100}"/>
                </a:ext>
              </a:extLst>
            </p:cNvPr>
            <p:cNvSpPr/>
            <p:nvPr/>
          </p:nvSpPr>
          <p:spPr>
            <a:xfrm>
              <a:off x="7680253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18B2730-F384-4B34-87AE-E784A7F84318}"/>
                </a:ext>
              </a:extLst>
            </p:cNvPr>
            <p:cNvSpPr/>
            <p:nvPr/>
          </p:nvSpPr>
          <p:spPr>
            <a:xfrm>
              <a:off x="7932566" y="1298413"/>
              <a:ext cx="169601" cy="590738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8EC7DE2-9F22-40C8-A763-8D8AA0E13D7B}"/>
              </a:ext>
            </a:extLst>
          </p:cNvPr>
          <p:cNvGrpSpPr/>
          <p:nvPr/>
        </p:nvGrpSpPr>
        <p:grpSpPr>
          <a:xfrm>
            <a:off x="11184884" y="4957430"/>
            <a:ext cx="534723" cy="733663"/>
            <a:chOff x="6916693" y="1169853"/>
            <a:chExt cx="534723" cy="919423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6BF758-DBFD-4E99-9976-74606F21FDD9}"/>
                </a:ext>
              </a:extLst>
            </p:cNvPr>
            <p:cNvSpPr/>
            <p:nvPr/>
          </p:nvSpPr>
          <p:spPr>
            <a:xfrm>
              <a:off x="6916693" y="1307510"/>
              <a:ext cx="169601" cy="644111"/>
            </a:xfrm>
            <a:prstGeom prst="rect">
              <a:avLst/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Arrow: Right 84">
              <a:extLst>
                <a:ext uri="{FF2B5EF4-FFF2-40B4-BE49-F238E27FC236}">
                  <a16:creationId xmlns:a16="http://schemas.microsoft.com/office/drawing/2014/main" id="{99E44AD0-EB72-44C9-B402-914D1A732F5E}"/>
                </a:ext>
              </a:extLst>
            </p:cNvPr>
            <p:cNvSpPr/>
            <p:nvPr/>
          </p:nvSpPr>
          <p:spPr>
            <a:xfrm>
              <a:off x="7175627" y="1169853"/>
              <a:ext cx="275789" cy="919423"/>
            </a:xfrm>
            <a:prstGeom prst="rightArrow">
              <a:avLst>
                <a:gd name="adj1" fmla="val 72183"/>
                <a:gd name="adj2" fmla="val 50000"/>
              </a:avLst>
            </a:prstGeom>
            <a:grp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45085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 1">
            <a:extLst>
              <a:ext uri="{FF2B5EF4-FFF2-40B4-BE49-F238E27FC236}">
                <a16:creationId xmlns:a16="http://schemas.microsoft.com/office/drawing/2014/main" id="{83AEAFED-9BC8-4029-B733-70D77E0BB4B6}"/>
              </a:ext>
            </a:extLst>
          </p:cNvPr>
          <p:cNvSpPr/>
          <p:nvPr/>
        </p:nvSpPr>
        <p:spPr>
          <a:xfrm>
            <a:off x="3128391" y="152184"/>
            <a:ext cx="1553895" cy="412786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sp>
        <p:nvSpPr>
          <p:cNvPr id="18" name="Case 1 Diagnosis?">
            <a:extLst>
              <a:ext uri="{FF2B5EF4-FFF2-40B4-BE49-F238E27FC236}">
                <a16:creationId xmlns:a16="http://schemas.microsoft.com/office/drawing/2014/main" id="{41A15275-3982-4B8B-AD86-EC00D8FE23FF}"/>
              </a:ext>
            </a:extLst>
          </p:cNvPr>
          <p:cNvSpPr/>
          <p:nvPr/>
        </p:nvSpPr>
        <p:spPr>
          <a:xfrm>
            <a:off x="2322759" y="2074951"/>
            <a:ext cx="3105471" cy="72056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Where should they be managed?</a:t>
            </a:r>
          </a:p>
        </p:txBody>
      </p:sp>
      <p:sp>
        <p:nvSpPr>
          <p:cNvPr id="20" name="Case 1 - diagnosis answer">
            <a:extLst>
              <a:ext uri="{FF2B5EF4-FFF2-40B4-BE49-F238E27FC236}">
                <a16:creationId xmlns:a16="http://schemas.microsoft.com/office/drawing/2014/main" id="{A8830DAE-E348-4672-B8E2-9E9C0BD4D063}"/>
              </a:ext>
            </a:extLst>
          </p:cNvPr>
          <p:cNvSpPr/>
          <p:nvPr/>
        </p:nvSpPr>
        <p:spPr>
          <a:xfrm>
            <a:off x="2317146" y="2074538"/>
            <a:ext cx="3105468" cy="71894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Inpatient</a:t>
            </a:r>
            <a:r>
              <a:rPr lang="en-US" sz="1400" dirty="0"/>
              <a:t>. CURB-65 score is 2 (age, and RR &gt;30). PSI is preferred to CURB-65 to determine site of management.</a:t>
            </a:r>
          </a:p>
        </p:txBody>
      </p:sp>
      <p:sp>
        <p:nvSpPr>
          <p:cNvPr id="6" name="Case 1 text">
            <a:extLst>
              <a:ext uri="{FF2B5EF4-FFF2-40B4-BE49-F238E27FC236}">
                <a16:creationId xmlns:a16="http://schemas.microsoft.com/office/drawing/2014/main" id="{E2838D88-E299-4555-98BC-464F26020CED}"/>
              </a:ext>
            </a:extLst>
          </p:cNvPr>
          <p:cNvSpPr txBox="1"/>
          <p:nvPr/>
        </p:nvSpPr>
        <p:spPr>
          <a:xfrm>
            <a:off x="2279088" y="649316"/>
            <a:ext cx="32174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/>
            <a:r>
              <a:rPr lang="en-US" sz="1400" dirty="0"/>
              <a:t>70 yo presents to ED with 4 d of productive cough, malaise and fevers. T 100.9F, HR 110, BP 99/53, RR 33, SpO2 90%. </a:t>
            </a:r>
          </a:p>
          <a:p>
            <a:pPr marL="115888" indent="-115888"/>
            <a:r>
              <a:rPr lang="en-US" sz="1400" dirty="0"/>
              <a:t>WBC is 17k, lactate is 2.1. CXR is notable for a focal consolidation in the RLL. </a:t>
            </a:r>
          </a:p>
        </p:txBody>
      </p:sp>
      <p:pic>
        <p:nvPicPr>
          <p:cNvPr id="34" name="Graphic 33" descr="Cursor with solid fill">
            <a:extLst>
              <a:ext uri="{FF2B5EF4-FFF2-40B4-BE49-F238E27FC236}">
                <a16:creationId xmlns:a16="http://schemas.microsoft.com/office/drawing/2014/main" id="{E604135A-37BF-4A82-A54E-11FCACE4C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1554" y="2593025"/>
            <a:ext cx="395274" cy="395274"/>
          </a:xfrm>
          <a:prstGeom prst="rect">
            <a:avLst/>
          </a:prstGeom>
        </p:spPr>
      </p:pic>
      <p:sp>
        <p:nvSpPr>
          <p:cNvPr id="35" name="Case 1 Bugs?">
            <a:extLst>
              <a:ext uri="{FF2B5EF4-FFF2-40B4-BE49-F238E27FC236}">
                <a16:creationId xmlns:a16="http://schemas.microsoft.com/office/drawing/2014/main" id="{EE3FD6EF-AEF8-4EAA-A661-19A56AD76F62}"/>
              </a:ext>
            </a:extLst>
          </p:cNvPr>
          <p:cNvSpPr/>
          <p:nvPr/>
        </p:nvSpPr>
        <p:spPr>
          <a:xfrm>
            <a:off x="2322759" y="2907622"/>
            <a:ext cx="3105471" cy="71788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pathogens are likely responsible?</a:t>
            </a:r>
          </a:p>
        </p:txBody>
      </p:sp>
      <p:sp>
        <p:nvSpPr>
          <p:cNvPr id="36" name="Case 1 - Bugs answer">
            <a:extLst>
              <a:ext uri="{FF2B5EF4-FFF2-40B4-BE49-F238E27FC236}">
                <a16:creationId xmlns:a16="http://schemas.microsoft.com/office/drawing/2014/main" id="{7994DF54-DAC7-42F6-B1D4-823EEA0D90EF}"/>
              </a:ext>
            </a:extLst>
          </p:cNvPr>
          <p:cNvSpPr/>
          <p:nvPr/>
        </p:nvSpPr>
        <p:spPr>
          <a:xfrm>
            <a:off x="2317146" y="2907209"/>
            <a:ext cx="3105468" cy="7162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i="1" dirty="0"/>
              <a:t>S. </a:t>
            </a:r>
            <a:r>
              <a:rPr lang="en-US" sz="1400" b="1" i="1" dirty="0" err="1"/>
              <a:t>pneumo</a:t>
            </a:r>
            <a:r>
              <a:rPr lang="en-US" sz="1400" i="1" dirty="0"/>
              <a:t>, </a:t>
            </a:r>
            <a:r>
              <a:rPr lang="en-US" sz="1400" b="1" dirty="0"/>
              <a:t>GNRs</a:t>
            </a:r>
            <a:r>
              <a:rPr lang="en-US" sz="1400" dirty="0"/>
              <a:t> (</a:t>
            </a:r>
            <a:r>
              <a:rPr lang="en-US" sz="1400" i="1" dirty="0"/>
              <a:t>H. flu, Moraxella), </a:t>
            </a:r>
            <a:r>
              <a:rPr lang="en-US" sz="1400" b="1" dirty="0" err="1"/>
              <a:t>atypicals</a:t>
            </a:r>
            <a:r>
              <a:rPr lang="en-US" sz="1400" dirty="0"/>
              <a:t>. Viruses are also a major cause of CAP.</a:t>
            </a:r>
            <a:endParaRPr lang="en-US" sz="1400" i="1" dirty="0"/>
          </a:p>
        </p:txBody>
      </p:sp>
      <p:pic>
        <p:nvPicPr>
          <p:cNvPr id="37" name="Graphic 36" descr="Cursor with solid fill">
            <a:extLst>
              <a:ext uri="{FF2B5EF4-FFF2-40B4-BE49-F238E27FC236}">
                <a16:creationId xmlns:a16="http://schemas.microsoft.com/office/drawing/2014/main" id="{5AF6AEC3-162C-4494-82A3-7B77AC3D1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1554" y="3470515"/>
            <a:ext cx="395274" cy="395274"/>
          </a:xfrm>
          <a:prstGeom prst="rect">
            <a:avLst/>
          </a:prstGeom>
        </p:spPr>
      </p:pic>
      <p:sp>
        <p:nvSpPr>
          <p:cNvPr id="38" name="Case 1 Drugs?">
            <a:extLst>
              <a:ext uri="{FF2B5EF4-FFF2-40B4-BE49-F238E27FC236}">
                <a16:creationId xmlns:a16="http://schemas.microsoft.com/office/drawing/2014/main" id="{21C93876-84EE-4C70-90B8-5571CEA51D95}"/>
              </a:ext>
            </a:extLst>
          </p:cNvPr>
          <p:cNvSpPr/>
          <p:nvPr/>
        </p:nvSpPr>
        <p:spPr>
          <a:xfrm>
            <a:off x="2322759" y="3756937"/>
            <a:ext cx="3105471" cy="101992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additional work-up would you want?</a:t>
            </a:r>
          </a:p>
        </p:txBody>
      </p:sp>
      <p:sp>
        <p:nvSpPr>
          <p:cNvPr id="39" name="Case 1 - Drugs answer">
            <a:extLst>
              <a:ext uri="{FF2B5EF4-FFF2-40B4-BE49-F238E27FC236}">
                <a16:creationId xmlns:a16="http://schemas.microsoft.com/office/drawing/2014/main" id="{DC20ACF8-E438-4BB4-A4BC-698628E7FD19}"/>
              </a:ext>
            </a:extLst>
          </p:cNvPr>
          <p:cNvSpPr/>
          <p:nvPr/>
        </p:nvSpPr>
        <p:spPr>
          <a:xfrm>
            <a:off x="2317146" y="3756524"/>
            <a:ext cx="3105468" cy="10176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None. </a:t>
            </a:r>
            <a:r>
              <a:rPr lang="en-US" sz="1400" dirty="0"/>
              <a:t>In the absence of risk factors for resistant organisms or severe pneumonia, blood and sputum cultures are not needed. </a:t>
            </a:r>
          </a:p>
        </p:txBody>
      </p:sp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F887B006-7245-4091-AC96-10C85BB88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1554" y="4582916"/>
            <a:ext cx="395274" cy="395274"/>
          </a:xfrm>
          <a:prstGeom prst="rect">
            <a:avLst/>
          </a:prstGeom>
        </p:spPr>
      </p:pic>
      <p:sp>
        <p:nvSpPr>
          <p:cNvPr id="41" name="Case 1 QT prolongation?">
            <a:extLst>
              <a:ext uri="{FF2B5EF4-FFF2-40B4-BE49-F238E27FC236}">
                <a16:creationId xmlns:a16="http://schemas.microsoft.com/office/drawing/2014/main" id="{131A0EB4-7434-4890-971D-630405DA28CF}"/>
              </a:ext>
            </a:extLst>
          </p:cNvPr>
          <p:cNvSpPr/>
          <p:nvPr/>
        </p:nvSpPr>
        <p:spPr>
          <a:xfrm>
            <a:off x="2322759" y="4893201"/>
            <a:ext cx="3105471" cy="82826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antibiotics would you use?</a:t>
            </a:r>
          </a:p>
        </p:txBody>
      </p:sp>
      <p:sp>
        <p:nvSpPr>
          <p:cNvPr id="42" name="Case 1 - QTc answer">
            <a:extLst>
              <a:ext uri="{FF2B5EF4-FFF2-40B4-BE49-F238E27FC236}">
                <a16:creationId xmlns:a16="http://schemas.microsoft.com/office/drawing/2014/main" id="{DAFC85CB-269F-40B3-91D7-9587A0CD0418}"/>
              </a:ext>
            </a:extLst>
          </p:cNvPr>
          <p:cNvSpPr/>
          <p:nvPr/>
        </p:nvSpPr>
        <p:spPr>
          <a:xfrm>
            <a:off x="2317146" y="4892828"/>
            <a:ext cx="3105468" cy="82639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Ceftriaxone + azithromycin.</a:t>
            </a:r>
          </a:p>
          <a:p>
            <a:pPr algn="ctr"/>
            <a:r>
              <a:rPr lang="en-US" sz="1400" dirty="0"/>
              <a:t>Doxycycline can be used for atypical coverage when there are QT concerns.</a:t>
            </a:r>
          </a:p>
        </p:txBody>
      </p:sp>
      <p:pic>
        <p:nvPicPr>
          <p:cNvPr id="43" name="Graphic 42" descr="Cursor with solid fill">
            <a:extLst>
              <a:ext uri="{FF2B5EF4-FFF2-40B4-BE49-F238E27FC236}">
                <a16:creationId xmlns:a16="http://schemas.microsoft.com/office/drawing/2014/main" id="{0A1E6FB8-2D74-4232-B256-18A3D92B2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1554" y="5521589"/>
            <a:ext cx="395274" cy="395274"/>
          </a:xfrm>
          <a:prstGeom prst="rect">
            <a:avLst/>
          </a:prstGeom>
        </p:spPr>
      </p:pic>
      <p:sp>
        <p:nvSpPr>
          <p:cNvPr id="44" name="Case 1 HCAP ?">
            <a:extLst>
              <a:ext uri="{FF2B5EF4-FFF2-40B4-BE49-F238E27FC236}">
                <a16:creationId xmlns:a16="http://schemas.microsoft.com/office/drawing/2014/main" id="{44AE2717-5F96-412A-A3DE-FE0930E67FA0}"/>
              </a:ext>
            </a:extLst>
          </p:cNvPr>
          <p:cNvSpPr/>
          <p:nvPr/>
        </p:nvSpPr>
        <p:spPr>
          <a:xfrm>
            <a:off x="2322759" y="5835871"/>
            <a:ext cx="3105471" cy="80852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long should he be treated for?</a:t>
            </a:r>
          </a:p>
        </p:txBody>
      </p:sp>
      <p:sp>
        <p:nvSpPr>
          <p:cNvPr id="45" name="Case 1 - HCAP answer">
            <a:extLst>
              <a:ext uri="{FF2B5EF4-FFF2-40B4-BE49-F238E27FC236}">
                <a16:creationId xmlns:a16="http://schemas.microsoft.com/office/drawing/2014/main" id="{F1A93572-1FD0-496E-8A05-4C0C52A1AAC9}"/>
              </a:ext>
            </a:extLst>
          </p:cNvPr>
          <p:cNvSpPr/>
          <p:nvPr/>
        </p:nvSpPr>
        <p:spPr>
          <a:xfrm>
            <a:off x="2317146" y="5835190"/>
            <a:ext cx="3105468" cy="80852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5-7 d</a:t>
            </a:r>
            <a:r>
              <a:rPr lang="en-US" sz="1400" dirty="0"/>
              <a:t>. Treatment duration should be guided by clinical stability (e.g., resolution of VS). </a:t>
            </a:r>
          </a:p>
        </p:txBody>
      </p:sp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4A084AD3-FDD7-4ED6-A200-7B5CE3981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1554" y="6446076"/>
            <a:ext cx="395274" cy="395274"/>
          </a:xfrm>
          <a:prstGeom prst="rect">
            <a:avLst/>
          </a:prstGeom>
        </p:spPr>
      </p:pic>
      <p:sp>
        <p:nvSpPr>
          <p:cNvPr id="48" name="Case 2">
            <a:extLst>
              <a:ext uri="{FF2B5EF4-FFF2-40B4-BE49-F238E27FC236}">
                <a16:creationId xmlns:a16="http://schemas.microsoft.com/office/drawing/2014/main" id="{1FB24386-8DA8-4019-92F1-A161ECD3824B}"/>
              </a:ext>
            </a:extLst>
          </p:cNvPr>
          <p:cNvSpPr/>
          <p:nvPr/>
        </p:nvSpPr>
        <p:spPr>
          <a:xfrm>
            <a:off x="6352232" y="152184"/>
            <a:ext cx="1640640" cy="412786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sp>
        <p:nvSpPr>
          <p:cNvPr id="49" name="Case 2 Diagnosis?">
            <a:extLst>
              <a:ext uri="{FF2B5EF4-FFF2-40B4-BE49-F238E27FC236}">
                <a16:creationId xmlns:a16="http://schemas.microsoft.com/office/drawing/2014/main" id="{F28DC0D8-F08A-44E9-B649-51EF5FE93CC3}"/>
              </a:ext>
            </a:extLst>
          </p:cNvPr>
          <p:cNvSpPr/>
          <p:nvPr/>
        </p:nvSpPr>
        <p:spPr>
          <a:xfrm>
            <a:off x="5825757" y="2286395"/>
            <a:ext cx="2817610" cy="61601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Where should they be treated?</a:t>
            </a:r>
          </a:p>
        </p:txBody>
      </p:sp>
      <p:sp>
        <p:nvSpPr>
          <p:cNvPr id="50" name="Case 2 - diagnosis answer">
            <a:extLst>
              <a:ext uri="{FF2B5EF4-FFF2-40B4-BE49-F238E27FC236}">
                <a16:creationId xmlns:a16="http://schemas.microsoft.com/office/drawing/2014/main" id="{29BB664B-D81D-42AB-8EFC-05E7A83FBD5A}"/>
              </a:ext>
            </a:extLst>
          </p:cNvPr>
          <p:cNvSpPr/>
          <p:nvPr/>
        </p:nvSpPr>
        <p:spPr>
          <a:xfrm>
            <a:off x="5825759" y="2285714"/>
            <a:ext cx="2817607" cy="61462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Inpatient (ICU). </a:t>
            </a:r>
            <a:r>
              <a:rPr lang="en-US" sz="1400" dirty="0"/>
              <a:t>Patients with septic shock (not responsive to IVF)</a:t>
            </a:r>
          </a:p>
        </p:txBody>
      </p:sp>
      <p:sp>
        <p:nvSpPr>
          <p:cNvPr id="60" name="Case 2 text">
            <a:extLst>
              <a:ext uri="{FF2B5EF4-FFF2-40B4-BE49-F238E27FC236}">
                <a16:creationId xmlns:a16="http://schemas.microsoft.com/office/drawing/2014/main" id="{F747F400-CA88-44A3-ADE2-EFF36760D89E}"/>
              </a:ext>
            </a:extLst>
          </p:cNvPr>
          <p:cNvSpPr txBox="1"/>
          <p:nvPr/>
        </p:nvSpPr>
        <p:spPr>
          <a:xfrm>
            <a:off x="5787403" y="650469"/>
            <a:ext cx="29250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/>
            <a:r>
              <a:rPr lang="en-US" sz="1400" dirty="0"/>
              <a:t>54 </a:t>
            </a:r>
            <a:r>
              <a:rPr lang="en-US" sz="1400" dirty="0" err="1"/>
              <a:t>yo</a:t>
            </a:r>
            <a:r>
              <a:rPr lang="en-US" sz="1400" dirty="0"/>
              <a:t> with DM2 presents with 3 d of fever and cough. He was recently admitted for MRSA cellulitis.</a:t>
            </a:r>
          </a:p>
          <a:p>
            <a:pPr marL="115888" indent="-115888"/>
            <a:r>
              <a:rPr lang="en-US" sz="1400" dirty="0"/>
              <a:t>T is 103F, HR 122, BP 80/53 after 2 L IVF, RR 33, SpO2 88% on 6L NC. CXR shows a LUL cavitary lesion. COVID-19 and flu PCR is negative.</a:t>
            </a:r>
          </a:p>
        </p:txBody>
      </p:sp>
      <p:pic>
        <p:nvPicPr>
          <p:cNvPr id="69" name="Graphic 68" descr="Cursor with solid fill">
            <a:extLst>
              <a:ext uri="{FF2B5EF4-FFF2-40B4-BE49-F238E27FC236}">
                <a16:creationId xmlns:a16="http://schemas.microsoft.com/office/drawing/2014/main" id="{A305965E-1BC5-46A1-A3A7-F5EF0C8B6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5729" y="2686263"/>
            <a:ext cx="395274" cy="395274"/>
          </a:xfrm>
          <a:prstGeom prst="rect">
            <a:avLst/>
          </a:prstGeom>
        </p:spPr>
      </p:pic>
      <p:sp>
        <p:nvSpPr>
          <p:cNvPr id="70" name="Case 2 Bugs?">
            <a:extLst>
              <a:ext uri="{FF2B5EF4-FFF2-40B4-BE49-F238E27FC236}">
                <a16:creationId xmlns:a16="http://schemas.microsoft.com/office/drawing/2014/main" id="{0744E11B-8DEB-43F1-A190-087BD3B2F931}"/>
              </a:ext>
            </a:extLst>
          </p:cNvPr>
          <p:cNvSpPr/>
          <p:nvPr/>
        </p:nvSpPr>
        <p:spPr>
          <a:xfrm>
            <a:off x="5825757" y="3037281"/>
            <a:ext cx="2817610" cy="80844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work-up do you want? </a:t>
            </a:r>
          </a:p>
        </p:txBody>
      </p:sp>
      <p:sp>
        <p:nvSpPr>
          <p:cNvPr id="71" name="Case 2 - Bugs answer">
            <a:extLst>
              <a:ext uri="{FF2B5EF4-FFF2-40B4-BE49-F238E27FC236}">
                <a16:creationId xmlns:a16="http://schemas.microsoft.com/office/drawing/2014/main" id="{54E8F8D8-B7C3-48BB-9307-2E6E09F22DB2}"/>
              </a:ext>
            </a:extLst>
          </p:cNvPr>
          <p:cNvSpPr/>
          <p:nvPr/>
        </p:nvSpPr>
        <p:spPr>
          <a:xfrm>
            <a:off x="5825759" y="3036600"/>
            <a:ext cx="2817607" cy="8084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This is severe CAP. </a:t>
            </a:r>
            <a:r>
              <a:rPr lang="en-US" sz="1400" b="1" dirty="0"/>
              <a:t>Blood and sputum cultures. </a:t>
            </a:r>
            <a:r>
              <a:rPr lang="en-US" sz="1400" i="1" dirty="0"/>
              <a:t>Legionella</a:t>
            </a:r>
            <a:r>
              <a:rPr lang="en-US" sz="1400" dirty="0"/>
              <a:t>/ </a:t>
            </a:r>
            <a:r>
              <a:rPr lang="en-US" sz="1400" i="1" dirty="0"/>
              <a:t>S. </a:t>
            </a:r>
            <a:r>
              <a:rPr lang="en-US" sz="1400" i="1" dirty="0" err="1"/>
              <a:t>pneumo</a:t>
            </a:r>
            <a:r>
              <a:rPr lang="en-US" sz="1400" i="1" dirty="0"/>
              <a:t> </a:t>
            </a:r>
            <a:r>
              <a:rPr lang="en-US" sz="1400" dirty="0"/>
              <a:t>urinary Ag. </a:t>
            </a:r>
            <a:endParaRPr lang="en-US" sz="1400" b="1" dirty="0"/>
          </a:p>
        </p:txBody>
      </p:sp>
      <p:pic>
        <p:nvPicPr>
          <p:cNvPr id="72" name="Graphic 71" descr="Cursor with solid fill">
            <a:extLst>
              <a:ext uri="{FF2B5EF4-FFF2-40B4-BE49-F238E27FC236}">
                <a16:creationId xmlns:a16="http://schemas.microsoft.com/office/drawing/2014/main" id="{C83922B4-2D38-43BD-B751-9F6D9E803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5729" y="3617459"/>
            <a:ext cx="395274" cy="395274"/>
          </a:xfrm>
          <a:prstGeom prst="rect">
            <a:avLst/>
          </a:prstGeom>
        </p:spPr>
      </p:pic>
      <p:sp>
        <p:nvSpPr>
          <p:cNvPr id="73" name="Case 2 Drugs?">
            <a:extLst>
              <a:ext uri="{FF2B5EF4-FFF2-40B4-BE49-F238E27FC236}">
                <a16:creationId xmlns:a16="http://schemas.microsoft.com/office/drawing/2014/main" id="{8EC83673-7972-45AA-96DE-5ECF7A88ECA1}"/>
              </a:ext>
            </a:extLst>
          </p:cNvPr>
          <p:cNvSpPr/>
          <p:nvPr/>
        </p:nvSpPr>
        <p:spPr>
          <a:xfrm>
            <a:off x="5825757" y="4255691"/>
            <a:ext cx="2817610" cy="1044830"/>
          </a:xfrm>
          <a:prstGeom prst="roundRect">
            <a:avLst>
              <a:gd name="adj" fmla="val 1243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Would you initiate antibiotics?</a:t>
            </a:r>
          </a:p>
        </p:txBody>
      </p:sp>
      <p:pic>
        <p:nvPicPr>
          <p:cNvPr id="75" name="Graphic 74" descr="Cursor with solid fill">
            <a:extLst>
              <a:ext uri="{FF2B5EF4-FFF2-40B4-BE49-F238E27FC236}">
                <a16:creationId xmlns:a16="http://schemas.microsoft.com/office/drawing/2014/main" id="{85E3AD32-7F6A-430D-A990-AE60F443C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5729" y="5039396"/>
            <a:ext cx="395274" cy="395274"/>
          </a:xfrm>
          <a:prstGeom prst="rect">
            <a:avLst/>
          </a:prstGeom>
        </p:spPr>
      </p:pic>
      <p:sp>
        <p:nvSpPr>
          <p:cNvPr id="82" name="Case 3">
            <a:extLst>
              <a:ext uri="{FF2B5EF4-FFF2-40B4-BE49-F238E27FC236}">
                <a16:creationId xmlns:a16="http://schemas.microsoft.com/office/drawing/2014/main" id="{16430BE7-AF0E-491F-9C88-0E908606E3AF}"/>
              </a:ext>
            </a:extLst>
          </p:cNvPr>
          <p:cNvSpPr/>
          <p:nvPr/>
        </p:nvSpPr>
        <p:spPr>
          <a:xfrm>
            <a:off x="9645478" y="152184"/>
            <a:ext cx="1559098" cy="412786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sp>
        <p:nvSpPr>
          <p:cNvPr id="94" name="Case 1 text">
            <a:extLst>
              <a:ext uri="{FF2B5EF4-FFF2-40B4-BE49-F238E27FC236}">
                <a16:creationId xmlns:a16="http://schemas.microsoft.com/office/drawing/2014/main" id="{991EDB29-A5D5-42EB-B767-AFC984019771}"/>
              </a:ext>
            </a:extLst>
          </p:cNvPr>
          <p:cNvSpPr txBox="1"/>
          <p:nvPr/>
        </p:nvSpPr>
        <p:spPr>
          <a:xfrm>
            <a:off x="8972366" y="655541"/>
            <a:ext cx="297635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/>
            <a:r>
              <a:rPr lang="en-US" sz="1400" dirty="0"/>
              <a:t>41 </a:t>
            </a:r>
            <a:r>
              <a:rPr lang="en-US" sz="1400" dirty="0" err="1"/>
              <a:t>yo</a:t>
            </a:r>
            <a:r>
              <a:rPr lang="en-US" sz="1400" dirty="0"/>
              <a:t> with no PMH presents with fever, cough x 2 d. T is 99F, HR 93, BP 110/53, RR 33, SpO2 94%. CXR shows diffuse interstitial infiltrates. </a:t>
            </a:r>
          </a:p>
          <a:p>
            <a:pPr marL="115888" indent="-115888"/>
            <a:r>
              <a:rPr lang="en-US" sz="1400" dirty="0"/>
              <a:t>Labs show WBC of 12k, BUN 12, Cr 1.1. COVID-19 and flu PCR is negative.</a:t>
            </a:r>
          </a:p>
        </p:txBody>
      </p:sp>
      <p:sp>
        <p:nvSpPr>
          <p:cNvPr id="104" name="Case 3 Bugs?">
            <a:extLst>
              <a:ext uri="{FF2B5EF4-FFF2-40B4-BE49-F238E27FC236}">
                <a16:creationId xmlns:a16="http://schemas.microsoft.com/office/drawing/2014/main" id="{6AEA305E-8405-4A18-82FD-F18A763FE51B}"/>
              </a:ext>
            </a:extLst>
          </p:cNvPr>
          <p:cNvSpPr/>
          <p:nvPr/>
        </p:nvSpPr>
        <p:spPr>
          <a:xfrm>
            <a:off x="9010691" y="2282509"/>
            <a:ext cx="2929532" cy="59926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Where should they be treated?</a:t>
            </a:r>
          </a:p>
        </p:txBody>
      </p:sp>
      <p:sp>
        <p:nvSpPr>
          <p:cNvPr id="105" name="Case 3 - Bugs answer">
            <a:extLst>
              <a:ext uri="{FF2B5EF4-FFF2-40B4-BE49-F238E27FC236}">
                <a16:creationId xmlns:a16="http://schemas.microsoft.com/office/drawing/2014/main" id="{D60A5F15-2112-445F-BC80-2F8C39A895A4}"/>
              </a:ext>
            </a:extLst>
          </p:cNvPr>
          <p:cNvSpPr/>
          <p:nvPr/>
        </p:nvSpPr>
        <p:spPr>
          <a:xfrm>
            <a:off x="9010690" y="2281828"/>
            <a:ext cx="2929529" cy="5979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Outpatient. </a:t>
            </a:r>
            <a:r>
              <a:rPr lang="en-US" sz="1400" dirty="0"/>
              <a:t>CURB-65 score is 0, PSI class I. </a:t>
            </a:r>
            <a:endParaRPr lang="en-US" sz="1400" i="1" dirty="0"/>
          </a:p>
        </p:txBody>
      </p:sp>
      <p:pic>
        <p:nvPicPr>
          <p:cNvPr id="106" name="Graphic 105" descr="Cursor with solid fill">
            <a:extLst>
              <a:ext uri="{FF2B5EF4-FFF2-40B4-BE49-F238E27FC236}">
                <a16:creationId xmlns:a16="http://schemas.microsoft.com/office/drawing/2014/main" id="{E7906967-CA3F-45B4-AA29-00B8A7092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1294" y="2711603"/>
            <a:ext cx="395274" cy="395274"/>
          </a:xfrm>
          <a:prstGeom prst="rect">
            <a:avLst/>
          </a:prstGeom>
        </p:spPr>
      </p:pic>
      <p:sp>
        <p:nvSpPr>
          <p:cNvPr id="107" name="Case 3 Drugs?">
            <a:extLst>
              <a:ext uri="{FF2B5EF4-FFF2-40B4-BE49-F238E27FC236}">
                <a16:creationId xmlns:a16="http://schemas.microsoft.com/office/drawing/2014/main" id="{80C4484E-286A-4457-A956-6682E4C4A971}"/>
              </a:ext>
            </a:extLst>
          </p:cNvPr>
          <p:cNvSpPr/>
          <p:nvPr/>
        </p:nvSpPr>
        <p:spPr>
          <a:xfrm>
            <a:off x="9006375" y="3050863"/>
            <a:ext cx="2929532" cy="69590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antibiotics would you use?</a:t>
            </a:r>
          </a:p>
        </p:txBody>
      </p:sp>
      <p:sp>
        <p:nvSpPr>
          <p:cNvPr id="108" name="Case 3 - Drugs answer">
            <a:extLst>
              <a:ext uri="{FF2B5EF4-FFF2-40B4-BE49-F238E27FC236}">
                <a16:creationId xmlns:a16="http://schemas.microsoft.com/office/drawing/2014/main" id="{769B892E-668B-450C-A86F-07924E11A4A1}"/>
              </a:ext>
            </a:extLst>
          </p:cNvPr>
          <p:cNvSpPr/>
          <p:nvPr/>
        </p:nvSpPr>
        <p:spPr>
          <a:xfrm>
            <a:off x="9006374" y="3050182"/>
            <a:ext cx="2929529" cy="6943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Amoxicillin 1 g TID for 5 d. </a:t>
            </a:r>
            <a:r>
              <a:rPr lang="en-US" sz="1400" dirty="0"/>
              <a:t>Doxycycline 100 mg BID is an option.</a:t>
            </a:r>
          </a:p>
        </p:txBody>
      </p:sp>
      <p:pic>
        <p:nvPicPr>
          <p:cNvPr id="109" name="Graphic 108" descr="Cursor with solid fill">
            <a:extLst>
              <a:ext uri="{FF2B5EF4-FFF2-40B4-BE49-F238E27FC236}">
                <a16:creationId xmlns:a16="http://schemas.microsoft.com/office/drawing/2014/main" id="{64ED0AC5-B8AF-44F1-AFB2-B62D047B1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1294" y="3524629"/>
            <a:ext cx="395274" cy="395274"/>
          </a:xfrm>
          <a:prstGeom prst="rect">
            <a:avLst/>
          </a:prstGeom>
        </p:spPr>
      </p:pic>
      <p:sp>
        <p:nvSpPr>
          <p:cNvPr id="110" name="Case 3 Hospital acquired">
            <a:extLst>
              <a:ext uri="{FF2B5EF4-FFF2-40B4-BE49-F238E27FC236}">
                <a16:creationId xmlns:a16="http://schemas.microsoft.com/office/drawing/2014/main" id="{FA5FCDF0-A53A-4AD5-A08E-ADEC822E0C3C}"/>
              </a:ext>
            </a:extLst>
          </p:cNvPr>
          <p:cNvSpPr/>
          <p:nvPr/>
        </p:nvSpPr>
        <p:spPr>
          <a:xfrm>
            <a:off x="9028580" y="3939150"/>
            <a:ext cx="2929532" cy="96678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if they had a history of COPD?</a:t>
            </a:r>
          </a:p>
        </p:txBody>
      </p:sp>
      <p:pic>
        <p:nvPicPr>
          <p:cNvPr id="112" name="Graphic 111" descr="Cursor with solid fill">
            <a:extLst>
              <a:ext uri="{FF2B5EF4-FFF2-40B4-BE49-F238E27FC236}">
                <a16:creationId xmlns:a16="http://schemas.microsoft.com/office/drawing/2014/main" id="{560C36FA-590D-4324-823F-7833C2CB2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3503" y="4680328"/>
            <a:ext cx="395274" cy="395274"/>
          </a:xfrm>
          <a:prstGeom prst="rect">
            <a:avLst/>
          </a:prstGeom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1AB9677-70D8-42AA-B658-9ABC10191AB4}"/>
              </a:ext>
            </a:extLst>
          </p:cNvPr>
          <p:cNvCxnSpPr>
            <a:cxnSpLocks/>
          </p:cNvCxnSpPr>
          <p:nvPr/>
        </p:nvCxnSpPr>
        <p:spPr>
          <a:xfrm flipH="1">
            <a:off x="5638461" y="106734"/>
            <a:ext cx="34722" cy="66445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8D8BED-A85F-4E83-8013-0948884B72A3}"/>
              </a:ext>
            </a:extLst>
          </p:cNvPr>
          <p:cNvCxnSpPr>
            <a:cxnSpLocks/>
          </p:cNvCxnSpPr>
          <p:nvPr/>
        </p:nvCxnSpPr>
        <p:spPr>
          <a:xfrm flipH="1">
            <a:off x="8825048" y="71004"/>
            <a:ext cx="34722" cy="66445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Case 3 immunosuppressed">
            <a:extLst>
              <a:ext uri="{FF2B5EF4-FFF2-40B4-BE49-F238E27FC236}">
                <a16:creationId xmlns:a16="http://schemas.microsoft.com/office/drawing/2014/main" id="{80E9E805-8B6C-49C1-9A16-18EA632EDF91}"/>
              </a:ext>
            </a:extLst>
          </p:cNvPr>
          <p:cNvSpPr/>
          <p:nvPr/>
        </p:nvSpPr>
        <p:spPr>
          <a:xfrm>
            <a:off x="9032900" y="5088850"/>
            <a:ext cx="2929532" cy="89765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if they recently received amoxicillin for a UTI?</a:t>
            </a:r>
          </a:p>
        </p:txBody>
      </p:sp>
      <p:pic>
        <p:nvPicPr>
          <p:cNvPr id="124" name="Graphic 123" descr="Cursor with solid fill">
            <a:extLst>
              <a:ext uri="{FF2B5EF4-FFF2-40B4-BE49-F238E27FC236}">
                <a16:creationId xmlns:a16="http://schemas.microsoft.com/office/drawing/2014/main" id="{956B9CE6-2725-4E62-904F-4772484AA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3503" y="5719010"/>
            <a:ext cx="395274" cy="395274"/>
          </a:xfrm>
          <a:prstGeom prst="rect">
            <a:avLst/>
          </a:prstGeom>
        </p:spPr>
      </p:pic>
      <p:pic>
        <p:nvPicPr>
          <p:cNvPr id="146" name="Graphic 145" descr="Cursor with solid fill">
            <a:extLst>
              <a:ext uri="{FF2B5EF4-FFF2-40B4-BE49-F238E27FC236}">
                <a16:creationId xmlns:a16="http://schemas.microsoft.com/office/drawing/2014/main" id="{7E29016B-5661-4875-8AE7-B2530232F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3529" y="371546"/>
            <a:ext cx="395274" cy="395274"/>
          </a:xfrm>
          <a:prstGeom prst="rect">
            <a:avLst/>
          </a:prstGeom>
        </p:spPr>
      </p:pic>
      <p:pic>
        <p:nvPicPr>
          <p:cNvPr id="147" name="Graphic 146" descr="Cursor with solid fill">
            <a:extLst>
              <a:ext uri="{FF2B5EF4-FFF2-40B4-BE49-F238E27FC236}">
                <a16:creationId xmlns:a16="http://schemas.microsoft.com/office/drawing/2014/main" id="{54A24BA0-357B-4129-9152-0B6585A6F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9076" y="371546"/>
            <a:ext cx="395274" cy="395274"/>
          </a:xfrm>
          <a:prstGeom prst="rect">
            <a:avLst/>
          </a:prstGeom>
        </p:spPr>
      </p:pic>
      <p:pic>
        <p:nvPicPr>
          <p:cNvPr id="148" name="Graphic 147" descr="Cursor with solid fill">
            <a:extLst>
              <a:ext uri="{FF2B5EF4-FFF2-40B4-BE49-F238E27FC236}">
                <a16:creationId xmlns:a16="http://schemas.microsoft.com/office/drawing/2014/main" id="{CF136408-6839-4F0D-91CD-484A4EB3A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1556" y="371546"/>
            <a:ext cx="395274" cy="395274"/>
          </a:xfrm>
          <a:prstGeom prst="rect">
            <a:avLst/>
          </a:prstGeom>
        </p:spPr>
      </p:pic>
      <p:sp>
        <p:nvSpPr>
          <p:cNvPr id="81" name="Case 3 - hospital acquired answer">
            <a:extLst>
              <a:ext uri="{FF2B5EF4-FFF2-40B4-BE49-F238E27FC236}">
                <a16:creationId xmlns:a16="http://schemas.microsoft.com/office/drawing/2014/main" id="{62706CFD-C1CF-4DE6-B270-44DFA6B68627}"/>
              </a:ext>
            </a:extLst>
          </p:cNvPr>
          <p:cNvSpPr/>
          <p:nvPr/>
        </p:nvSpPr>
        <p:spPr>
          <a:xfrm>
            <a:off x="9028579" y="3936993"/>
            <a:ext cx="2929529" cy="96678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Amoxicillin-clavulanate/ cefpodoxime + azithromycin. </a:t>
            </a:r>
            <a:r>
              <a:rPr lang="en-US" sz="1400" dirty="0"/>
              <a:t>Patients with comorbidities should receive broader antibiotic coverage.</a:t>
            </a:r>
            <a:r>
              <a:rPr lang="en-US" sz="1400" b="1" dirty="0"/>
              <a:t> </a:t>
            </a:r>
          </a:p>
        </p:txBody>
      </p:sp>
      <p:sp>
        <p:nvSpPr>
          <p:cNvPr id="83" name="Case 3 - immunosuppressed answer">
            <a:extLst>
              <a:ext uri="{FF2B5EF4-FFF2-40B4-BE49-F238E27FC236}">
                <a16:creationId xmlns:a16="http://schemas.microsoft.com/office/drawing/2014/main" id="{1EA3E658-F568-4A5D-B88D-E2B7CA6E1486}"/>
              </a:ext>
            </a:extLst>
          </p:cNvPr>
          <p:cNvSpPr/>
          <p:nvPr/>
        </p:nvSpPr>
        <p:spPr>
          <a:xfrm>
            <a:off x="9032899" y="5088850"/>
            <a:ext cx="2929529" cy="89405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Respiratory</a:t>
            </a:r>
            <a:r>
              <a:rPr lang="en-US" sz="1400" dirty="0"/>
              <a:t> </a:t>
            </a:r>
            <a:r>
              <a:rPr lang="en-US" sz="1400" b="1" dirty="0"/>
              <a:t>FQ </a:t>
            </a:r>
            <a:r>
              <a:rPr lang="en-US" sz="1400" dirty="0"/>
              <a:t>(levofloxacin/ moxifloxacin). Recent antibiotic use broader coverage, ideally with a different class. </a:t>
            </a:r>
          </a:p>
        </p:txBody>
      </p:sp>
      <p:sp>
        <p:nvSpPr>
          <p:cNvPr id="84" name="Case 2 - Drugs answer">
            <a:extLst>
              <a:ext uri="{FF2B5EF4-FFF2-40B4-BE49-F238E27FC236}">
                <a16:creationId xmlns:a16="http://schemas.microsoft.com/office/drawing/2014/main" id="{5941F56E-A070-49BD-A58A-AD84B504ED8E}"/>
              </a:ext>
            </a:extLst>
          </p:cNvPr>
          <p:cNvSpPr/>
          <p:nvPr/>
        </p:nvSpPr>
        <p:spPr>
          <a:xfrm>
            <a:off x="5825759" y="4255012"/>
            <a:ext cx="2817607" cy="1044830"/>
          </a:xfrm>
          <a:prstGeom prst="roundRect">
            <a:avLst>
              <a:gd name="adj" fmla="val 1144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Yes. </a:t>
            </a:r>
            <a:r>
              <a:rPr lang="en-US" sz="1400" dirty="0"/>
              <a:t>2019 IDSA/ATS CAP guidelines recommend </a:t>
            </a:r>
            <a:r>
              <a:rPr lang="en-US" sz="1400" dirty="0" err="1"/>
              <a:t>abx</a:t>
            </a:r>
            <a:r>
              <a:rPr lang="en-US" sz="1400" dirty="0"/>
              <a:t> regardless of procalcitonin level. Sensitivity for detecting bacterial CAP is 38-91%. </a:t>
            </a:r>
          </a:p>
        </p:txBody>
      </p:sp>
      <p:sp>
        <p:nvSpPr>
          <p:cNvPr id="86" name="Case 2 Diagnosis?">
            <a:extLst>
              <a:ext uri="{FF2B5EF4-FFF2-40B4-BE49-F238E27FC236}">
                <a16:creationId xmlns:a16="http://schemas.microsoft.com/office/drawing/2014/main" id="{A8ECA298-64D4-4E07-9B78-08BA1433E031}"/>
              </a:ext>
            </a:extLst>
          </p:cNvPr>
          <p:cNvSpPr/>
          <p:nvPr/>
        </p:nvSpPr>
        <p:spPr>
          <a:xfrm>
            <a:off x="5832673" y="5434626"/>
            <a:ext cx="2817610" cy="127114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antibiotics would you use?</a:t>
            </a:r>
          </a:p>
        </p:txBody>
      </p:sp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8AA63685-7990-42A7-97C0-238AFC3E2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5729" y="6462182"/>
            <a:ext cx="395274" cy="395274"/>
          </a:xfrm>
          <a:prstGeom prst="rect">
            <a:avLst/>
          </a:prstGeom>
        </p:spPr>
      </p:pic>
      <p:sp>
        <p:nvSpPr>
          <p:cNvPr id="91" name="Case 2 - diagnosis answer">
            <a:extLst>
              <a:ext uri="{FF2B5EF4-FFF2-40B4-BE49-F238E27FC236}">
                <a16:creationId xmlns:a16="http://schemas.microsoft.com/office/drawing/2014/main" id="{3024AFB8-A36C-4456-802A-0C7A6D626FDC}"/>
              </a:ext>
            </a:extLst>
          </p:cNvPr>
          <p:cNvSpPr/>
          <p:nvPr/>
        </p:nvSpPr>
        <p:spPr>
          <a:xfrm>
            <a:off x="5832675" y="5434670"/>
            <a:ext cx="2817607" cy="12711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IV </a:t>
            </a:r>
            <a:r>
              <a:rPr lang="en-US" sz="1400" b="1" dirty="0" err="1"/>
              <a:t>vanc</a:t>
            </a:r>
            <a:r>
              <a:rPr lang="en-US" sz="1400" b="1" dirty="0"/>
              <a:t> + piperacillin-tazobactam + azithromycin</a:t>
            </a:r>
            <a:r>
              <a:rPr lang="en-US" sz="1400" dirty="0"/>
              <a:t>. Severe CAP (and prior MRSA) warrants broad </a:t>
            </a:r>
            <a:r>
              <a:rPr lang="en-US" sz="1400" dirty="0" err="1"/>
              <a:t>abx</a:t>
            </a:r>
            <a:r>
              <a:rPr lang="en-US" sz="1400" dirty="0"/>
              <a:t>. Lung abscess raises suspicion for MRSA, anaerobic, or mycobacteria</a:t>
            </a:r>
          </a:p>
        </p:txBody>
      </p:sp>
      <p:sp>
        <p:nvSpPr>
          <p:cNvPr id="74" name="Question 2">
            <a:hlinkClick r:id="" action="ppaction://noaction"/>
            <a:extLst>
              <a:ext uri="{FF2B5EF4-FFF2-40B4-BE49-F238E27FC236}">
                <a16:creationId xmlns:a16="http://schemas.microsoft.com/office/drawing/2014/main" id="{13AE0F3A-12FD-4430-B1E8-983D50F9328C}"/>
              </a:ext>
            </a:extLst>
          </p:cNvPr>
          <p:cNvSpPr txBox="1"/>
          <p:nvPr/>
        </p:nvSpPr>
        <p:spPr>
          <a:xfrm>
            <a:off x="234759" y="155491"/>
            <a:ext cx="1553682" cy="40862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Diagnosis</a:t>
            </a:r>
          </a:p>
        </p:txBody>
      </p:sp>
      <p:sp>
        <p:nvSpPr>
          <p:cNvPr id="77" name="cancer screening text">
            <a:hlinkClick r:id="rId4" action="ppaction://hlinksldjump"/>
            <a:extLst>
              <a:ext uri="{FF2B5EF4-FFF2-40B4-BE49-F238E27FC236}">
                <a16:creationId xmlns:a16="http://schemas.microsoft.com/office/drawing/2014/main" id="{CF96E7C9-F6DD-416B-BFD6-7B886456489B}"/>
              </a:ext>
            </a:extLst>
          </p:cNvPr>
          <p:cNvSpPr txBox="1"/>
          <p:nvPr/>
        </p:nvSpPr>
        <p:spPr>
          <a:xfrm>
            <a:off x="243281" y="778790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Classification</a:t>
            </a:r>
          </a:p>
        </p:txBody>
      </p:sp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A031D718-8A18-464D-AFAA-A6366AECE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0802" y="989779"/>
            <a:ext cx="395274" cy="395274"/>
          </a:xfrm>
          <a:prstGeom prst="rect">
            <a:avLst/>
          </a:prstGeom>
        </p:spPr>
      </p:pic>
      <p:sp>
        <p:nvSpPr>
          <p:cNvPr id="79" name="cancer screening text">
            <a:hlinkClick r:id="rId5" action="ppaction://hlinksldjump"/>
            <a:extLst>
              <a:ext uri="{FF2B5EF4-FFF2-40B4-BE49-F238E27FC236}">
                <a16:creationId xmlns:a16="http://schemas.microsoft.com/office/drawing/2014/main" id="{2BA29247-08E1-44E3-96DA-4CAC3B0C330A}"/>
              </a:ext>
            </a:extLst>
          </p:cNvPr>
          <p:cNvSpPr txBox="1"/>
          <p:nvPr/>
        </p:nvSpPr>
        <p:spPr>
          <a:xfrm>
            <a:off x="251776" y="1402089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Management</a:t>
            </a:r>
          </a:p>
        </p:txBody>
      </p:sp>
      <p:pic>
        <p:nvPicPr>
          <p:cNvPr id="80" name="Graphic 79" descr="Cursor with solid fill">
            <a:extLst>
              <a:ext uri="{FF2B5EF4-FFF2-40B4-BE49-F238E27FC236}">
                <a16:creationId xmlns:a16="http://schemas.microsoft.com/office/drawing/2014/main" id="{0D74FC95-0433-475E-9B96-ED3BDB8B1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0802" y="1613078"/>
            <a:ext cx="395274" cy="395274"/>
          </a:xfrm>
          <a:prstGeom prst="rect">
            <a:avLst/>
          </a:prstGeom>
        </p:spPr>
      </p:pic>
      <p:sp>
        <p:nvSpPr>
          <p:cNvPr id="87" name="cancer screening text">
            <a:hlinkClick r:id="rId6" action="ppaction://hlinksldjump"/>
            <a:extLst>
              <a:ext uri="{FF2B5EF4-FFF2-40B4-BE49-F238E27FC236}">
                <a16:creationId xmlns:a16="http://schemas.microsoft.com/office/drawing/2014/main" id="{CF3CFB02-245B-4BA1-9BBE-959B5F7C3998}"/>
              </a:ext>
            </a:extLst>
          </p:cNvPr>
          <p:cNvSpPr txBox="1"/>
          <p:nvPr/>
        </p:nvSpPr>
        <p:spPr>
          <a:xfrm>
            <a:off x="251776" y="2025388"/>
            <a:ext cx="1547002" cy="408623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Duration</a:t>
            </a:r>
          </a:p>
        </p:txBody>
      </p:sp>
      <p:pic>
        <p:nvPicPr>
          <p:cNvPr id="88" name="Graphic 87" descr="Cursor with solid fill">
            <a:extLst>
              <a:ext uri="{FF2B5EF4-FFF2-40B4-BE49-F238E27FC236}">
                <a16:creationId xmlns:a16="http://schemas.microsoft.com/office/drawing/2014/main" id="{28A1B89E-0A14-4E61-B273-94093EF3F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0802" y="2236377"/>
            <a:ext cx="395274" cy="395274"/>
          </a:xfrm>
          <a:prstGeom prst="rect">
            <a:avLst/>
          </a:prstGeom>
        </p:spPr>
      </p:pic>
      <p:pic>
        <p:nvPicPr>
          <p:cNvPr id="90" name="Graphic 89" descr="Cursor with solid fill">
            <a:extLst>
              <a:ext uri="{FF2B5EF4-FFF2-40B4-BE49-F238E27FC236}">
                <a16:creationId xmlns:a16="http://schemas.microsoft.com/office/drawing/2014/main" id="{05331DA0-DD13-4D99-B5BF-D10F17783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0802" y="366480"/>
            <a:ext cx="395274" cy="395274"/>
          </a:xfrm>
          <a:prstGeom prst="rect">
            <a:avLst/>
          </a:prstGeom>
        </p:spPr>
      </p:pic>
      <p:sp>
        <p:nvSpPr>
          <p:cNvPr id="93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8E1698A7-0EEB-43F2-9097-124B10AE04C5}"/>
              </a:ext>
            </a:extLst>
          </p:cNvPr>
          <p:cNvSpPr txBox="1"/>
          <p:nvPr/>
        </p:nvSpPr>
        <p:spPr>
          <a:xfrm>
            <a:off x="251777" y="2648687"/>
            <a:ext cx="1547001" cy="408623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92" name="Case 2 text">
            <a:extLst>
              <a:ext uri="{FF2B5EF4-FFF2-40B4-BE49-F238E27FC236}">
                <a16:creationId xmlns:a16="http://schemas.microsoft.com/office/drawing/2014/main" id="{B0EBF536-AFFF-45DB-BD16-E0A94FDD2419}"/>
              </a:ext>
            </a:extLst>
          </p:cNvPr>
          <p:cNvSpPr txBox="1"/>
          <p:nvPr/>
        </p:nvSpPr>
        <p:spPr>
          <a:xfrm>
            <a:off x="5787403" y="3919903"/>
            <a:ext cx="307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888" indent="-115888"/>
            <a:r>
              <a:rPr lang="en-US" sz="1400" dirty="0"/>
              <a:t>Procalcitonin is 0.2 </a:t>
            </a:r>
            <a:r>
              <a:rPr lang="el-GR" sz="1400" dirty="0"/>
              <a:t>μ</a:t>
            </a:r>
            <a:r>
              <a:rPr lang="en-US" sz="1400" dirty="0"/>
              <a:t>g/L. </a:t>
            </a:r>
          </a:p>
        </p:txBody>
      </p:sp>
    </p:spTree>
    <p:extLst>
      <p:ext uri="{BB962C8B-B14F-4D97-AF65-F5344CB8AC3E}">
        <p14:creationId xmlns:p14="http://schemas.microsoft.com/office/powerpoint/2010/main" val="279354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6" grpId="0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9" grpId="0" animBg="1"/>
      <p:bldP spid="50" grpId="0" animBg="1"/>
      <p:bldP spid="60" grpId="0"/>
      <p:bldP spid="70" grpId="0" animBg="1"/>
      <p:bldP spid="71" grpId="0" animBg="1"/>
      <p:bldP spid="73" grpId="0" animBg="1"/>
      <p:bldP spid="94" grpId="0"/>
      <p:bldP spid="104" grpId="0" animBg="1"/>
      <p:bldP spid="105" grpId="0" animBg="1"/>
      <p:bldP spid="107" grpId="0" animBg="1"/>
      <p:bldP spid="108" grpId="0" animBg="1"/>
      <p:bldP spid="110" grpId="0" animBg="1"/>
      <p:bldP spid="122" grpId="0" animBg="1"/>
      <p:bldP spid="81" grpId="0" animBg="1"/>
      <p:bldP spid="83" grpId="0" animBg="1"/>
      <p:bldP spid="84" grpId="0" animBg="1"/>
      <p:bldP spid="86" grpId="0" animBg="1"/>
      <p:bldP spid="91" grpId="0" animBg="1"/>
      <p:bldP spid="92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2023-2025 Practice Updates -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2025 ATS CAP guideline update (Am J Respir Crit Care Med 2025):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Corticosteroids - NEW: give for SEVERE CAP (hydrocortisone &lt;400 mg/day x5-7 d) per CAPE COD (NEJM 2023; mortality RR 0.62, NNT ~17). The original deck said "against steroid use" - that applies to NON-severe CAP; use dexamethasone if COVID-19.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Shorter courses reaffirmed - 3-5 days for patients clinically stable by 48-72 h; never &lt;5 d unless procalcitonin-guided per protocol.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More selective empiric broad-spectrum coverage - cover MRSA/Pseudomonas only with validated risk factors; MRSA nares PCR negative supports stopping vancomycin.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Lung ultrasound endorsed as an alternative imaging tool for diagnosis.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Unchanged (verified current): HCAP remains retired (2019); standard CAP = beta-lactam + macrolide (or respiratory FQ); PSI preferred over CURB-65; procalcitonin NOT used to start antibiotics; 5-7 day duration.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CAP pathogens: S. pneumoniae, GNRs (H. flu, Moraxella), atypicals, and viruses. MDR risk = prior MRSA/Pseudomonas OR hospitalization + IV antibiotics within 90 days.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Use PSI (preferred) or CURB-65 for site of care; use ATS major/minor criteria for ICU admission (&gt;1 major or &gt;=3 minor).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Severe CAP and prior MRSA/Pseudomonas: culture and empirically cover MRSA +/- Pseudomonas. Non-severe CAP without risk factors: do not culture.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Standard inpatient CAP: IV beta-lactam (ampicillin-sulbactam/ceftriaxone) + azithromycin/doxycycline, or a respiratory fluoroquinolone.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Outpatient: stratify by comorbidities and MDR risk. No comorbidities: amoxicillin 1 g TID or doxycycline. Treat 5-7 days, guided by clinical stability.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NEW 2025: add corticosteroids for SEVERE CAP; do not give in non-severe CAP.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Adapted from TeachIM "Community Acquired Pneumonia" (teachim.org), published Sept 2021.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Author: Yilin Zhang MD. License: CC BY-NC 4.0 (non-commercial; attribution required).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Source: teachim.org/teaching_material/cap/  |  Deck: CAP-Learner-Presentation.pptx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Corrections (this optimization, 2026-06-10):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Slide 7 (Duration): azithromycin "500 mg TID" -&gt; "500 mg daily" (azithromycin is once-daily; long half-life = shorter, once-daily course). FLAGGED for human review (regimen inferred).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Slide 7: "INTPATIENT" -&gt; "INPATIENT" (spelling).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Slide 8 (Case): outpatient "Amoxicillin 500 mg TID" -&gt; "1 g TID" to match the deck slide 6 standard and IDSA 2019 high-dose. FLAGGED for human review (harmonized value).</a:t>
            </a:r>
          </a:p>
          <a:p>
            <a:pPr>
              <a:spcAft>
                <a:spcPts val="400"/>
              </a:spcAft>
              <a:defRPr sz="1500" b="1">
                <a:solidFill>
                  <a:srgbClr val="0E6E8C"/>
                </a:solidFill>
                <a:latin typeface="Calibri"/>
              </a:defRPr>
            </a:pPr>
            <a:r>
              <a:t>Added: 2023-2025 practice-update slide, take-home slide, this attribution slide. All original click-to-reveal animations and graphics preserved.</a:t>
            </a:r>
          </a:p>
          <a:p>
            <a:pPr lvl="1">
              <a:spcAft>
                <a:spcPts val="400"/>
              </a:spcAft>
              <a:defRPr sz="1300">
                <a:latin typeface="Calibri"/>
              </a:defRPr>
            </a:pPr>
            <a:r>
              <a:t>Companion: Teaching-Script-CAP-1.docx - reviewed, no changes. Newer context source-cited; clinician-review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1931</TotalTime>
  <Words>1133</Words>
  <Application>Microsoft Office PowerPoint</Application>
  <PresentationFormat>Widescreen</PresentationFormat>
  <Paragraphs>273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45</cp:revision>
  <dcterms:created xsi:type="dcterms:W3CDTF">2021-09-21T19:28:38Z</dcterms:created>
  <dcterms:modified xsi:type="dcterms:W3CDTF">2021-09-23T19:43:19Z</dcterms:modified>
</cp:coreProperties>
</file>