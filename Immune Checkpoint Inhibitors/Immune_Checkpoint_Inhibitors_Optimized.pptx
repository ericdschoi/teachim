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339" r:id="rId2"/>
    <p:sldId id="349" r:id="rId3"/>
    <p:sldId id="341" r:id="rId4"/>
    <p:sldId id="342" r:id="rId5"/>
    <p:sldId id="340" r:id="rId6"/>
    <p:sldId id="344" r:id="rId7"/>
    <p:sldId id="346" r:id="rId8"/>
    <p:sldId id="357" r:id="rId9"/>
    <p:sldId id="354" r:id="rId10"/>
    <p:sldId id="355" r:id="rId11"/>
    <p:sldId id="356" r:id="rId12"/>
    <p:sldId id="269" r:id="rId13"/>
    <p:sldId id="358" r:id="rId20"/>
    <p:sldId id="359" r:id="rId21"/>
    <p:sldId id="36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ongino, Natalie" initials="LN" lastIdx="2" clrIdx="0">
    <p:extLst>
      <p:ext uri="{19B8F6BF-5375-455C-9EA6-DF929625EA0E}">
        <p15:presenceInfo xmlns:p15="http://schemas.microsoft.com/office/powerpoint/2012/main" userId="S::natalie.longino@cuanschutz.edu::dad2f855-804a-410f-90d6-c24870b4f9b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EF"/>
    <a:srgbClr val="FAAFB2"/>
    <a:srgbClr val="FFDFE1"/>
    <a:srgbClr val="9E322B"/>
    <a:srgbClr val="C44D53"/>
    <a:srgbClr val="C46875"/>
    <a:srgbClr val="D0CCFF"/>
    <a:srgbClr val="AC4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93"/>
    <p:restoredTop sz="83708"/>
  </p:normalViewPr>
  <p:slideViewPr>
    <p:cSldViewPr snapToGrid="0" snapToObjects="1">
      <p:cViewPr varScale="1">
        <p:scale>
          <a:sx n="102" d="100"/>
          <a:sy n="102" d="100"/>
        </p:scale>
        <p:origin x="94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commentAuthors" Target="commentAuthors.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E6EEE2-D0B3-DC4C-928B-497DE578C1EC}" type="datetimeFigureOut">
              <a:rPr lang="en-US" smtClean="0"/>
              <a:t>11/24/21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05C247-6537-C14F-B8E9-8FD7FADDFD69}" type="slidenum">
              <a:rPr lang="en-US" smtClean="0"/>
              <a:t>‹#›</a:t>
            </a:fld>
            <a:endParaRPr lang="en-US"/>
          </a:p>
        </p:txBody>
      </p:sp>
    </p:spTree>
    <p:extLst>
      <p:ext uri="{BB962C8B-B14F-4D97-AF65-F5344CB8AC3E}">
        <p14:creationId xmlns:p14="http://schemas.microsoft.com/office/powerpoint/2010/main" val="916855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 Home Points</a:t>
            </a:r>
          </a:p>
        </p:txBody>
      </p:sp>
      <p:sp>
        <p:nvSpPr>
          <p:cNvPr id="4" name="Slide Number Placeholder 3"/>
          <p:cNvSpPr>
            <a:spLocks noGrp="1"/>
          </p:cNvSpPr>
          <p:nvPr>
            <p:ph type="sldNum" sz="quarter" idx="5"/>
          </p:nvPr>
        </p:nvSpPr>
        <p:spPr/>
        <p:txBody>
          <a:bodyPr/>
          <a:lstStyle/>
          <a:p>
            <a:fld id="{EF8782A6-F165-4588-9224-AE9ADFA07F53}" type="slidenum">
              <a:rPr lang="en-US" smtClean="0"/>
              <a:t>1</a:t>
            </a:fld>
            <a:endParaRPr lang="en-US"/>
          </a:p>
        </p:txBody>
      </p:sp>
    </p:spTree>
    <p:extLst>
      <p:ext uri="{BB962C8B-B14F-4D97-AF65-F5344CB8AC3E}">
        <p14:creationId xmlns:p14="http://schemas.microsoft.com/office/powerpoint/2010/main" val="2174482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u="sng" kern="1200" dirty="0">
                <a:solidFill>
                  <a:schemeClr val="tx1"/>
                </a:solidFill>
                <a:effectLst/>
                <a:latin typeface="+mn-lt"/>
                <a:ea typeface="+mn-ea"/>
                <a:cs typeface="+mn-cs"/>
              </a:rPr>
              <a:t>Suggested prompt:</a:t>
            </a:r>
            <a:r>
              <a:rPr lang="en-US" sz="1200" b="0" kern="1200" dirty="0">
                <a:solidFill>
                  <a:schemeClr val="tx1"/>
                </a:solidFill>
                <a:effectLst/>
                <a:latin typeface="+mn-lt"/>
                <a:ea typeface="+mn-ea"/>
                <a:cs typeface="+mn-cs"/>
              </a:rPr>
              <a:t> Does anyone remember how your adaptive immune system recognizes infected cells or cancer cells?</a:t>
            </a:r>
            <a:endParaRPr lang="en-US" sz="120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Cancer cells differ from regular cells in that they have undergone mutations in various proteins to allow them to grow in an unregulated manner. On the surface of all cells is a molecule called major histocompatibility complex or MHC for short. This MHC molecule displays pieces of the proteins that cells express to show the immune system whether it is a healthy cell, an infected cell, or a cancerous cell. T cells, part of the adaptive immune system, can recognize cancerous cells that are expressing pieces of these mutated proteins on the MHC molecule which binds to the T cell receptor (TCR). When T cells ‘see’ a cancerous cell through this TCR-MHC interaction, they kill the cancer cell by secreting toxic granules. The immune system is constantly surveying our bodies for cancerous cells and in most cases, successfully destroys these cells before they develop into tumors. When cancer cells figure out a way to ‘hide’ from these T cells, then tumors can develop</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EF8782A6-F165-4588-9224-AE9ADFA07F53}" type="slidenum">
              <a:rPr lang="en-US" smtClean="0"/>
              <a:t>2</a:t>
            </a:fld>
            <a:endParaRPr lang="en-US"/>
          </a:p>
        </p:txBody>
      </p:sp>
    </p:spTree>
    <p:extLst>
      <p:ext uri="{BB962C8B-B14F-4D97-AF65-F5344CB8AC3E}">
        <p14:creationId xmlns:p14="http://schemas.microsoft.com/office/powerpoint/2010/main" val="22492772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Tumor cells can ‘hide’ from the adaptive immune system through various mechanisms.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One of these mechanisms it by expressing a molecule called programmed death ligand 1 (PD-L1) which can bind to programed death 1 (PD-1) on T cells. This interaction ‘puts the breaks’ on the T cells and effectively prevents this T cell from killing the tumor cell. Similarly, tumor cells can express various ligands that bind to cytotoxic T-lymphocyte-associated protein 4 (CTLA-4) on T cells which again ‘puts the breaks’ on the T cell and prevents it from killing the cancer cell. </a:t>
            </a:r>
            <a:endParaRPr lang="en-US" b="0" dirty="0"/>
          </a:p>
        </p:txBody>
      </p:sp>
      <p:sp>
        <p:nvSpPr>
          <p:cNvPr id="4" name="Slide Number Placeholder 3"/>
          <p:cNvSpPr>
            <a:spLocks noGrp="1"/>
          </p:cNvSpPr>
          <p:nvPr>
            <p:ph type="sldNum" sz="quarter" idx="5"/>
          </p:nvPr>
        </p:nvSpPr>
        <p:spPr/>
        <p:txBody>
          <a:bodyPr/>
          <a:lstStyle/>
          <a:p>
            <a:fld id="{EF8782A6-F165-4588-9224-AE9ADFA07F53}" type="slidenum">
              <a:rPr lang="en-US" smtClean="0"/>
              <a:t>3</a:t>
            </a:fld>
            <a:endParaRPr lang="en-US"/>
          </a:p>
        </p:txBody>
      </p:sp>
    </p:spTree>
    <p:extLst>
      <p:ext uri="{BB962C8B-B14F-4D97-AF65-F5344CB8AC3E}">
        <p14:creationId xmlns:p14="http://schemas.microsoft.com/office/powerpoint/2010/main" val="12477904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mechanism of ‘putting the breaks’ on the adaptive immune response is a mechanism that tumors have hijacked from our regular cells. Our normal tissue, expresses these molecules (PD-L1 and ligands for CTLA-4) which are collectively called immune checkpoints. Immune checkpoints help prevent the adaptive immune system from destroying your normal tissue which would lead to autoimmune diseases</a:t>
            </a:r>
          </a:p>
          <a:p>
            <a:endParaRPr lang="en-US" dirty="0"/>
          </a:p>
        </p:txBody>
      </p:sp>
      <p:sp>
        <p:nvSpPr>
          <p:cNvPr id="4" name="Slide Number Placeholder 3"/>
          <p:cNvSpPr>
            <a:spLocks noGrp="1"/>
          </p:cNvSpPr>
          <p:nvPr>
            <p:ph type="sldNum" sz="quarter" idx="5"/>
          </p:nvPr>
        </p:nvSpPr>
        <p:spPr/>
        <p:txBody>
          <a:bodyPr/>
          <a:lstStyle/>
          <a:p>
            <a:fld id="{EF8782A6-F165-4588-9224-AE9ADFA07F53}" type="slidenum">
              <a:rPr lang="en-US" smtClean="0"/>
              <a:t>4</a:t>
            </a:fld>
            <a:endParaRPr lang="en-US"/>
          </a:p>
        </p:txBody>
      </p:sp>
    </p:spTree>
    <p:extLst>
      <p:ext uri="{BB962C8B-B14F-4D97-AF65-F5344CB8AC3E}">
        <p14:creationId xmlns:p14="http://schemas.microsoft.com/office/powerpoint/2010/main" val="41562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u="sng" kern="1200" dirty="0">
                <a:solidFill>
                  <a:schemeClr val="tx1"/>
                </a:solidFill>
                <a:effectLst/>
                <a:latin typeface="+mn-lt"/>
                <a:ea typeface="+mn-ea"/>
                <a:cs typeface="+mn-cs"/>
              </a:rPr>
              <a:t>Suggested prompt:</a:t>
            </a:r>
            <a:r>
              <a:rPr lang="en-US" sz="1200" b="0" kern="1200" dirty="0">
                <a:solidFill>
                  <a:schemeClr val="tx1"/>
                </a:solidFill>
                <a:effectLst/>
                <a:latin typeface="+mn-lt"/>
                <a:ea typeface="+mn-ea"/>
                <a:cs typeface="+mn-cs"/>
              </a:rPr>
              <a:t> What do you think would happen then if we blocked these immune checkpoints?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order to ‘take off the breaks’ and allow T cells to recognize cancer cells, numerous immune checkpoint inhibitors (ICIs) have been developed. These drugs are monoclonal antibodies that can bind to these immune checkpoint proteins, thereby allowing the T cells to remain active and kill cancer cells. The drugs listed on the slide represent the current FDA approved agents as of November 2021. Many more are in development and are likely to be approved in the coming years. </a:t>
            </a:r>
          </a:p>
          <a:p>
            <a:endParaRPr lang="en-US" dirty="0"/>
          </a:p>
        </p:txBody>
      </p:sp>
      <p:sp>
        <p:nvSpPr>
          <p:cNvPr id="4" name="Slide Number Placeholder 3"/>
          <p:cNvSpPr>
            <a:spLocks noGrp="1"/>
          </p:cNvSpPr>
          <p:nvPr>
            <p:ph type="sldNum" sz="quarter" idx="5"/>
          </p:nvPr>
        </p:nvSpPr>
        <p:spPr/>
        <p:txBody>
          <a:bodyPr/>
          <a:lstStyle/>
          <a:p>
            <a:fld id="{EF8782A6-F165-4588-9224-AE9ADFA07F53}" type="slidenum">
              <a:rPr lang="en-US" smtClean="0"/>
              <a:t>5</a:t>
            </a:fld>
            <a:endParaRPr lang="en-US"/>
          </a:p>
        </p:txBody>
      </p:sp>
    </p:spTree>
    <p:extLst>
      <p:ext uri="{BB962C8B-B14F-4D97-AF65-F5344CB8AC3E}">
        <p14:creationId xmlns:p14="http://schemas.microsoft.com/office/powerpoint/2010/main" val="5751070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u="sng" kern="1200" dirty="0">
                <a:solidFill>
                  <a:schemeClr val="tx1"/>
                </a:solidFill>
                <a:effectLst/>
                <a:latin typeface="+mn-lt"/>
                <a:ea typeface="+mn-ea"/>
                <a:cs typeface="+mn-cs"/>
              </a:rPr>
              <a:t>Suggested prompt:</a:t>
            </a:r>
            <a:r>
              <a:rPr lang="en-US" sz="1200" kern="1200" dirty="0">
                <a:solidFill>
                  <a:schemeClr val="tx1"/>
                </a:solidFill>
                <a:effectLst/>
                <a:latin typeface="+mn-lt"/>
                <a:ea typeface="+mn-ea"/>
                <a:cs typeface="+mn-cs"/>
              </a:rPr>
              <a:t> Has any one seen a patient on an immune checkpoint inhibitor? If so what cancer(s) were they treating? </a:t>
            </a:r>
          </a:p>
          <a:p>
            <a:r>
              <a:rPr lang="en-US" sz="1200" kern="1200" dirty="0">
                <a:solidFill>
                  <a:schemeClr val="tx1"/>
                </a:solidFill>
                <a:effectLst/>
                <a:latin typeface="+mn-lt"/>
                <a:ea typeface="+mn-ea"/>
                <a:cs typeface="+mn-cs"/>
              </a:rPr>
              <a:t>In order to understand when these agents are helpful, we need to go back to the concept that our immune system recognizes tumor cells and ‘bad cells’ because of the mutated proteins they express. This is the major way that our immune system can distinguish normal cells from cancerous cells. As a result, cancers that have more mutations are more susceptible to immune destruction because there are more targets for the immune system to see. The dot plot shown at the top of the slide, stratifies cancer types across the X axis based on the number of somatic mutations identified using next generation sequencing along the Y axis. Cancers that arise from exposure to classic mutagens such as UV light causing melanoma and tobacco causing lung and bladder cancer have higher numbers of mutations and are more ‘immunogenic’ or recognizable to the immune system. Therefore, the cancers listed to the right of this graphic are more likely to respond to immune checkpoint inhibitors. At the bottom of the slide are listed all of the cancer types that ICIs are FDA approved to treat. </a:t>
            </a:r>
          </a:p>
          <a:p>
            <a:r>
              <a:rPr lang="en-US" sz="1200" kern="1200" dirty="0">
                <a:solidFill>
                  <a:schemeClr val="tx1"/>
                </a:solidFill>
                <a:effectLst/>
                <a:latin typeface="+mn-lt"/>
                <a:ea typeface="+mn-ea"/>
                <a:cs typeface="+mn-cs"/>
              </a:rPr>
              <a:t>Could tie this concept back into whatever cancer type(s) the audience member stated that they saw being treated with one of these agents</a:t>
            </a:r>
            <a:r>
              <a:rPr lang="en-US" dirty="0">
                <a:effectLst/>
              </a:rPr>
              <a:t> </a:t>
            </a:r>
            <a:endParaRPr lang="en-US" dirty="0"/>
          </a:p>
        </p:txBody>
      </p:sp>
      <p:sp>
        <p:nvSpPr>
          <p:cNvPr id="4" name="Slide Number Placeholder 3"/>
          <p:cNvSpPr>
            <a:spLocks noGrp="1"/>
          </p:cNvSpPr>
          <p:nvPr>
            <p:ph type="sldNum" sz="quarter" idx="5"/>
          </p:nvPr>
        </p:nvSpPr>
        <p:spPr/>
        <p:txBody>
          <a:bodyPr/>
          <a:lstStyle/>
          <a:p>
            <a:fld id="{EF8782A6-F165-4588-9224-AE9ADFA07F53}" type="slidenum">
              <a:rPr lang="en-US" smtClean="0"/>
              <a:t>6</a:t>
            </a:fld>
            <a:endParaRPr lang="en-US"/>
          </a:p>
        </p:txBody>
      </p:sp>
    </p:spTree>
    <p:extLst>
      <p:ext uri="{BB962C8B-B14F-4D97-AF65-F5344CB8AC3E}">
        <p14:creationId xmlns:p14="http://schemas.microsoft.com/office/powerpoint/2010/main" val="11617466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Severe </a:t>
            </a:r>
            <a:r>
              <a:rPr lang="en-US" sz="1200" b="0" i="0" kern="1200" dirty="0" err="1">
                <a:solidFill>
                  <a:schemeClr val="tx1"/>
                </a:solidFill>
                <a:effectLst/>
                <a:latin typeface="+mn-lt"/>
                <a:ea typeface="+mn-ea"/>
                <a:cs typeface="+mn-cs"/>
              </a:rPr>
              <a:t>irAEs</a:t>
            </a:r>
            <a:r>
              <a:rPr lang="en-US" sz="1200" b="0" i="0" kern="1200" dirty="0">
                <a:solidFill>
                  <a:schemeClr val="tx1"/>
                </a:solidFill>
                <a:effectLst/>
                <a:latin typeface="+mn-lt"/>
                <a:ea typeface="+mn-ea"/>
                <a:cs typeface="+mn-cs"/>
              </a:rPr>
              <a:t> are as high as 16% in anti-PD-1 and up to 27% in anti-CTLA-4 antibody treatment. Moreover, in combination, </a:t>
            </a:r>
            <a:r>
              <a:rPr lang="en-US" sz="1200" b="0" i="0" kern="1200" dirty="0" err="1">
                <a:solidFill>
                  <a:schemeClr val="tx1"/>
                </a:solidFill>
                <a:effectLst/>
                <a:latin typeface="+mn-lt"/>
                <a:ea typeface="+mn-ea"/>
                <a:cs typeface="+mn-cs"/>
              </a:rPr>
              <a:t>irAEs</a:t>
            </a:r>
            <a:r>
              <a:rPr lang="en-US" sz="1200" b="0" i="0" kern="1200" dirty="0">
                <a:solidFill>
                  <a:schemeClr val="tx1"/>
                </a:solidFill>
                <a:effectLst/>
                <a:latin typeface="+mn-lt"/>
                <a:ea typeface="+mn-ea"/>
                <a:cs typeface="+mn-cs"/>
              </a:rPr>
              <a:t> rise to as much as 55% of the patients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Most commonly develop 8–12 weeks of commencing treatment, though can occur any time</a:t>
            </a:r>
            <a:endParaRPr lang="en-US" dirty="0"/>
          </a:p>
        </p:txBody>
      </p:sp>
      <p:sp>
        <p:nvSpPr>
          <p:cNvPr id="4" name="Slide Number Placeholder 3"/>
          <p:cNvSpPr>
            <a:spLocks noGrp="1"/>
          </p:cNvSpPr>
          <p:nvPr>
            <p:ph type="sldNum" sz="quarter" idx="5"/>
          </p:nvPr>
        </p:nvSpPr>
        <p:spPr/>
        <p:txBody>
          <a:bodyPr/>
          <a:lstStyle/>
          <a:p>
            <a:fld id="{EF8782A6-F165-4588-9224-AE9ADFA07F53}" type="slidenum">
              <a:rPr lang="en-US" smtClean="0"/>
              <a:t>7</a:t>
            </a:fld>
            <a:endParaRPr lang="en-US"/>
          </a:p>
        </p:txBody>
      </p:sp>
    </p:spTree>
    <p:extLst>
      <p:ext uri="{BB962C8B-B14F-4D97-AF65-F5344CB8AC3E}">
        <p14:creationId xmlns:p14="http://schemas.microsoft.com/office/powerpoint/2010/main" val="7450475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Severe </a:t>
            </a:r>
            <a:r>
              <a:rPr lang="en-US" sz="1200" b="0" i="0" kern="1200" dirty="0" err="1">
                <a:solidFill>
                  <a:schemeClr val="tx1"/>
                </a:solidFill>
                <a:effectLst/>
                <a:latin typeface="+mn-lt"/>
                <a:ea typeface="+mn-ea"/>
                <a:cs typeface="+mn-cs"/>
              </a:rPr>
              <a:t>irAEs</a:t>
            </a:r>
            <a:r>
              <a:rPr lang="en-US" sz="1200" b="0" i="0" kern="1200" dirty="0">
                <a:solidFill>
                  <a:schemeClr val="tx1"/>
                </a:solidFill>
                <a:effectLst/>
                <a:latin typeface="+mn-lt"/>
                <a:ea typeface="+mn-ea"/>
                <a:cs typeface="+mn-cs"/>
              </a:rPr>
              <a:t> are as high as 16% in anti-PD-1 and up to 27% in anti-CTLA-4 antibody treatment. Moreover, in combination, </a:t>
            </a:r>
            <a:r>
              <a:rPr lang="en-US" sz="1200" b="0" i="0" kern="1200" dirty="0" err="1">
                <a:solidFill>
                  <a:schemeClr val="tx1"/>
                </a:solidFill>
                <a:effectLst/>
                <a:latin typeface="+mn-lt"/>
                <a:ea typeface="+mn-ea"/>
                <a:cs typeface="+mn-cs"/>
              </a:rPr>
              <a:t>irAEs</a:t>
            </a:r>
            <a:r>
              <a:rPr lang="en-US" sz="1200" b="0" i="0" kern="1200" dirty="0">
                <a:solidFill>
                  <a:schemeClr val="tx1"/>
                </a:solidFill>
                <a:effectLst/>
                <a:latin typeface="+mn-lt"/>
                <a:ea typeface="+mn-ea"/>
                <a:cs typeface="+mn-cs"/>
              </a:rPr>
              <a:t> rise to as much as 55% of the patients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Most commonly develop 8–12 weeks of commencing treatment, though can occur any time</a:t>
            </a:r>
            <a:endParaRPr lang="en-US" dirty="0"/>
          </a:p>
        </p:txBody>
      </p:sp>
      <p:sp>
        <p:nvSpPr>
          <p:cNvPr id="4" name="Slide Number Placeholder 3"/>
          <p:cNvSpPr>
            <a:spLocks noGrp="1"/>
          </p:cNvSpPr>
          <p:nvPr>
            <p:ph type="sldNum" sz="quarter" idx="5"/>
          </p:nvPr>
        </p:nvSpPr>
        <p:spPr/>
        <p:txBody>
          <a:bodyPr/>
          <a:lstStyle/>
          <a:p>
            <a:fld id="{EF8782A6-F165-4588-9224-AE9ADFA07F53}" type="slidenum">
              <a:rPr lang="en-US" smtClean="0"/>
              <a:t>8</a:t>
            </a:fld>
            <a:endParaRPr lang="en-US"/>
          </a:p>
        </p:txBody>
      </p:sp>
    </p:spTree>
    <p:extLst>
      <p:ext uri="{BB962C8B-B14F-4D97-AF65-F5344CB8AC3E}">
        <p14:creationId xmlns:p14="http://schemas.microsoft.com/office/powerpoint/2010/main" val="39410766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u="sng" kern="1200" dirty="0">
                <a:solidFill>
                  <a:schemeClr val="tx1"/>
                </a:solidFill>
                <a:effectLst/>
                <a:latin typeface="+mn-lt"/>
                <a:ea typeface="+mn-ea"/>
                <a:cs typeface="+mn-cs"/>
              </a:rPr>
              <a:t>Suggested prompt:</a:t>
            </a:r>
            <a:r>
              <a:rPr lang="en-US" sz="1200" b="0" kern="1200" dirty="0">
                <a:solidFill>
                  <a:schemeClr val="tx1"/>
                </a:solidFill>
                <a:effectLst/>
                <a:latin typeface="+mn-lt"/>
                <a:ea typeface="+mn-ea"/>
                <a:cs typeface="+mn-cs"/>
              </a:rPr>
              <a:t> Based on how these agents work, what types of side effects would you expect these drugs to cause? Has anyone seen a patient(s) who had a side effect from an immune checkpoint inhibitor?</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Intuitively, since immune checkpoint inhibitors ‘take the breaks’ off of T cells in a non-specific manner, these drugs can cause autoimmune disease. Essentially any organ can be targeted as seen on the ‘All side effects’ slide. The most commonly effected organs are GI/liver, lungs, skin, thyroid and pituitary. The frequency and severity of these side effects depends upon the immune checkpoint inhibitor used. Notably, while the vast majority of these side effects are reversible with steroids and/or other immunosuppressive agents, there are a few that are irreversible. Specifically, myocarditis, adrenal insufficiency and type 1 diabetes (listed in dark red) are almost always irreversible. Hypo/hyperthyroidism, </a:t>
            </a:r>
            <a:r>
              <a:rPr lang="en-US" sz="1200" kern="1200" dirty="0" err="1">
                <a:solidFill>
                  <a:schemeClr val="tx1"/>
                </a:solidFill>
                <a:effectLst/>
                <a:latin typeface="+mn-lt"/>
                <a:ea typeface="+mn-ea"/>
                <a:cs typeface="+mn-cs"/>
              </a:rPr>
              <a:t>hypophysitis</a:t>
            </a:r>
            <a:r>
              <a:rPr lang="en-US" sz="1200" kern="1200" dirty="0">
                <a:solidFill>
                  <a:schemeClr val="tx1"/>
                </a:solidFill>
                <a:effectLst/>
                <a:latin typeface="+mn-lt"/>
                <a:ea typeface="+mn-ea"/>
                <a:cs typeface="+mn-cs"/>
              </a:rPr>
              <a:t> and hypopituitarism (listed in orange) can be reversible in some cases but, irreversible cases have been reported. Again, while most side effects respond well to immunosuppressive treatment, there are several side effects that have a high mortality, the most significant of which is myocarditis which is fatal ~40% of the time that it develops (though thankfully this side effect is very rare). Is it therefore important to note that these agents can cause a myriad of autoimmune side effects ranging from mild to life threatening. Lastly, these side effects can develop any time during the course of treatment with these agents and even for many months after treatment has stopped, therefore it is important to keep these etiologies on your differential if you see patients who have been treated with ICIs. </a:t>
            </a:r>
            <a:endParaRPr lang="en-US" dirty="0"/>
          </a:p>
        </p:txBody>
      </p:sp>
      <p:sp>
        <p:nvSpPr>
          <p:cNvPr id="4" name="Slide Number Placeholder 3"/>
          <p:cNvSpPr>
            <a:spLocks noGrp="1"/>
          </p:cNvSpPr>
          <p:nvPr>
            <p:ph type="sldNum" sz="quarter" idx="5"/>
          </p:nvPr>
        </p:nvSpPr>
        <p:spPr/>
        <p:txBody>
          <a:bodyPr/>
          <a:lstStyle/>
          <a:p>
            <a:fld id="{EF8782A6-F165-4588-9224-AE9ADFA07F53}" type="slidenum">
              <a:rPr lang="en-US" smtClean="0"/>
              <a:t>9</a:t>
            </a:fld>
            <a:endParaRPr lang="en-US"/>
          </a:p>
        </p:txBody>
      </p:sp>
    </p:spTree>
    <p:extLst>
      <p:ext uri="{BB962C8B-B14F-4D97-AF65-F5344CB8AC3E}">
        <p14:creationId xmlns:p14="http://schemas.microsoft.com/office/powerpoint/2010/main" val="27428022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Severe </a:t>
            </a:r>
            <a:r>
              <a:rPr lang="en-US" sz="1200" b="0" i="0" kern="1200" dirty="0" err="1">
                <a:solidFill>
                  <a:schemeClr val="tx1"/>
                </a:solidFill>
                <a:effectLst/>
                <a:latin typeface="+mn-lt"/>
                <a:ea typeface="+mn-ea"/>
                <a:cs typeface="+mn-cs"/>
              </a:rPr>
              <a:t>irAEs</a:t>
            </a:r>
            <a:r>
              <a:rPr lang="en-US" sz="1200" b="0" i="0" kern="1200" dirty="0">
                <a:solidFill>
                  <a:schemeClr val="tx1"/>
                </a:solidFill>
                <a:effectLst/>
                <a:latin typeface="+mn-lt"/>
                <a:ea typeface="+mn-ea"/>
                <a:cs typeface="+mn-cs"/>
              </a:rPr>
              <a:t> are as high as 16% in anti-PD-1 and up to 27% in anti-CTLA-4 antibody treatment. Moreover, in combination, </a:t>
            </a:r>
            <a:r>
              <a:rPr lang="en-US" sz="1200" b="0" i="0" kern="1200" dirty="0" err="1">
                <a:solidFill>
                  <a:schemeClr val="tx1"/>
                </a:solidFill>
                <a:effectLst/>
                <a:latin typeface="+mn-lt"/>
                <a:ea typeface="+mn-ea"/>
                <a:cs typeface="+mn-cs"/>
              </a:rPr>
              <a:t>irAEs</a:t>
            </a:r>
            <a:r>
              <a:rPr lang="en-US" sz="1200" b="0" i="0" kern="1200" dirty="0">
                <a:solidFill>
                  <a:schemeClr val="tx1"/>
                </a:solidFill>
                <a:effectLst/>
                <a:latin typeface="+mn-lt"/>
                <a:ea typeface="+mn-ea"/>
                <a:cs typeface="+mn-cs"/>
              </a:rPr>
              <a:t> rise to as much as 55% of the patients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Most commonly develop 8–12 weeks of commencing treatment, though can occur any time</a:t>
            </a:r>
            <a:endParaRPr lang="en-US" dirty="0"/>
          </a:p>
        </p:txBody>
      </p:sp>
      <p:sp>
        <p:nvSpPr>
          <p:cNvPr id="4" name="Slide Number Placeholder 3"/>
          <p:cNvSpPr>
            <a:spLocks noGrp="1"/>
          </p:cNvSpPr>
          <p:nvPr>
            <p:ph type="sldNum" sz="quarter" idx="5"/>
          </p:nvPr>
        </p:nvSpPr>
        <p:spPr/>
        <p:txBody>
          <a:bodyPr/>
          <a:lstStyle/>
          <a:p>
            <a:fld id="{EF8782A6-F165-4588-9224-AE9ADFA07F53}" type="slidenum">
              <a:rPr lang="en-US" smtClean="0"/>
              <a:t>10</a:t>
            </a:fld>
            <a:endParaRPr lang="en-US"/>
          </a:p>
        </p:txBody>
      </p:sp>
    </p:spTree>
    <p:extLst>
      <p:ext uri="{BB962C8B-B14F-4D97-AF65-F5344CB8AC3E}">
        <p14:creationId xmlns:p14="http://schemas.microsoft.com/office/powerpoint/2010/main" val="498648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Severe </a:t>
            </a:r>
            <a:r>
              <a:rPr lang="en-US" sz="1200" b="0" i="0" kern="1200" dirty="0" err="1">
                <a:solidFill>
                  <a:schemeClr val="tx1"/>
                </a:solidFill>
                <a:effectLst/>
                <a:latin typeface="+mn-lt"/>
                <a:ea typeface="+mn-ea"/>
                <a:cs typeface="+mn-cs"/>
              </a:rPr>
              <a:t>irAEs</a:t>
            </a:r>
            <a:r>
              <a:rPr lang="en-US" sz="1200" b="0" i="0" kern="1200" dirty="0">
                <a:solidFill>
                  <a:schemeClr val="tx1"/>
                </a:solidFill>
                <a:effectLst/>
                <a:latin typeface="+mn-lt"/>
                <a:ea typeface="+mn-ea"/>
                <a:cs typeface="+mn-cs"/>
              </a:rPr>
              <a:t> are as high as 16% in anti-PD-1 and up to 27% in anti-CTLA-4 antibody treatment. Moreover, in combination, </a:t>
            </a:r>
            <a:r>
              <a:rPr lang="en-US" sz="1200" b="0" i="0" kern="1200" dirty="0" err="1">
                <a:solidFill>
                  <a:schemeClr val="tx1"/>
                </a:solidFill>
                <a:effectLst/>
                <a:latin typeface="+mn-lt"/>
                <a:ea typeface="+mn-ea"/>
                <a:cs typeface="+mn-cs"/>
              </a:rPr>
              <a:t>irAEs</a:t>
            </a:r>
            <a:r>
              <a:rPr lang="en-US" sz="1200" b="0" i="0" kern="1200" dirty="0">
                <a:solidFill>
                  <a:schemeClr val="tx1"/>
                </a:solidFill>
                <a:effectLst/>
                <a:latin typeface="+mn-lt"/>
                <a:ea typeface="+mn-ea"/>
                <a:cs typeface="+mn-cs"/>
              </a:rPr>
              <a:t> rise to as much as 55% of the patients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Most commonly develop 8–12 weeks of commencing treatment, though can occur any time</a:t>
            </a:r>
            <a:endParaRPr lang="en-US" dirty="0"/>
          </a:p>
        </p:txBody>
      </p:sp>
      <p:sp>
        <p:nvSpPr>
          <p:cNvPr id="4" name="Slide Number Placeholder 3"/>
          <p:cNvSpPr>
            <a:spLocks noGrp="1"/>
          </p:cNvSpPr>
          <p:nvPr>
            <p:ph type="sldNum" sz="quarter" idx="5"/>
          </p:nvPr>
        </p:nvSpPr>
        <p:spPr/>
        <p:txBody>
          <a:bodyPr/>
          <a:lstStyle/>
          <a:p>
            <a:fld id="{EF8782A6-F165-4588-9224-AE9ADFA07F53}" type="slidenum">
              <a:rPr lang="en-US" smtClean="0"/>
              <a:t>11</a:t>
            </a:fld>
            <a:endParaRPr lang="en-US"/>
          </a:p>
        </p:txBody>
      </p:sp>
    </p:spTree>
    <p:extLst>
      <p:ext uri="{BB962C8B-B14F-4D97-AF65-F5344CB8AC3E}">
        <p14:creationId xmlns:p14="http://schemas.microsoft.com/office/powerpoint/2010/main" val="6624863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F205C247-6537-C14F-B8E9-8FD7FADDFD69}" type="slidenum">
              <a:rPr lang="en-US" smtClean="0"/>
              <a:t>12</a:t>
            </a:fld>
            <a:endParaRPr lang="en-US"/>
          </a:p>
        </p:txBody>
      </p:sp>
    </p:spTree>
    <p:extLst>
      <p:ext uri="{BB962C8B-B14F-4D97-AF65-F5344CB8AC3E}">
        <p14:creationId xmlns:p14="http://schemas.microsoft.com/office/powerpoint/2010/main" val="28201369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CE9C5-D800-4A4F-81D7-E8C467D011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059DC1-E3C5-EF42-A8D1-069B121309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0B7E039-33D4-DF4E-86C9-FFB808AAB03D}"/>
              </a:ext>
            </a:extLst>
          </p:cNvPr>
          <p:cNvSpPr>
            <a:spLocks noGrp="1"/>
          </p:cNvSpPr>
          <p:nvPr>
            <p:ph type="dt" sz="half" idx="10"/>
          </p:nvPr>
        </p:nvSpPr>
        <p:spPr/>
        <p:txBody>
          <a:bodyPr/>
          <a:lstStyle/>
          <a:p>
            <a:fld id="{8B3DF84C-880C-BF43-BF8D-326E0B1C194A}" type="datetimeFigureOut">
              <a:rPr lang="en-US" smtClean="0"/>
              <a:t>11/24/21</a:t>
            </a:fld>
            <a:endParaRPr lang="en-US"/>
          </a:p>
        </p:txBody>
      </p:sp>
      <p:sp>
        <p:nvSpPr>
          <p:cNvPr id="5" name="Footer Placeholder 4">
            <a:extLst>
              <a:ext uri="{FF2B5EF4-FFF2-40B4-BE49-F238E27FC236}">
                <a16:creationId xmlns:a16="http://schemas.microsoft.com/office/drawing/2014/main" id="{BE759C37-6853-814D-B77C-E783B12944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316FB6-0E05-DD46-8D04-C78AA34FCBB3}"/>
              </a:ext>
            </a:extLst>
          </p:cNvPr>
          <p:cNvSpPr>
            <a:spLocks noGrp="1"/>
          </p:cNvSpPr>
          <p:nvPr>
            <p:ph type="sldNum" sz="quarter" idx="12"/>
          </p:nvPr>
        </p:nvSpPr>
        <p:spPr/>
        <p:txBody>
          <a:bodyPr/>
          <a:lstStyle/>
          <a:p>
            <a:fld id="{76B6D7C8-FC29-BA4B-AFF1-398A54893F07}" type="slidenum">
              <a:rPr lang="en-US" smtClean="0"/>
              <a:t>‹#›</a:t>
            </a:fld>
            <a:endParaRPr lang="en-US"/>
          </a:p>
        </p:txBody>
      </p:sp>
    </p:spTree>
    <p:extLst>
      <p:ext uri="{BB962C8B-B14F-4D97-AF65-F5344CB8AC3E}">
        <p14:creationId xmlns:p14="http://schemas.microsoft.com/office/powerpoint/2010/main" val="478534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4B311-9E76-2142-8AF2-AED4BCDA4B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48F2E9-53D9-9E4A-A783-6FD031ED49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73BACF-7025-854D-87C2-A74641EB8FA9}"/>
              </a:ext>
            </a:extLst>
          </p:cNvPr>
          <p:cNvSpPr>
            <a:spLocks noGrp="1"/>
          </p:cNvSpPr>
          <p:nvPr>
            <p:ph type="dt" sz="half" idx="10"/>
          </p:nvPr>
        </p:nvSpPr>
        <p:spPr/>
        <p:txBody>
          <a:bodyPr/>
          <a:lstStyle/>
          <a:p>
            <a:fld id="{8B3DF84C-880C-BF43-BF8D-326E0B1C194A}" type="datetimeFigureOut">
              <a:rPr lang="en-US" smtClean="0"/>
              <a:t>11/24/21</a:t>
            </a:fld>
            <a:endParaRPr lang="en-US"/>
          </a:p>
        </p:txBody>
      </p:sp>
      <p:sp>
        <p:nvSpPr>
          <p:cNvPr id="5" name="Footer Placeholder 4">
            <a:extLst>
              <a:ext uri="{FF2B5EF4-FFF2-40B4-BE49-F238E27FC236}">
                <a16:creationId xmlns:a16="http://schemas.microsoft.com/office/drawing/2014/main" id="{BAE76322-A1D9-E345-88A3-29E1E8B52B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F56C92-5ADC-0645-AB4F-EAFB2661909C}"/>
              </a:ext>
            </a:extLst>
          </p:cNvPr>
          <p:cNvSpPr>
            <a:spLocks noGrp="1"/>
          </p:cNvSpPr>
          <p:nvPr>
            <p:ph type="sldNum" sz="quarter" idx="12"/>
          </p:nvPr>
        </p:nvSpPr>
        <p:spPr/>
        <p:txBody>
          <a:bodyPr/>
          <a:lstStyle/>
          <a:p>
            <a:fld id="{76B6D7C8-FC29-BA4B-AFF1-398A54893F07}" type="slidenum">
              <a:rPr lang="en-US" smtClean="0"/>
              <a:t>‹#›</a:t>
            </a:fld>
            <a:endParaRPr lang="en-US"/>
          </a:p>
        </p:txBody>
      </p:sp>
    </p:spTree>
    <p:extLst>
      <p:ext uri="{BB962C8B-B14F-4D97-AF65-F5344CB8AC3E}">
        <p14:creationId xmlns:p14="http://schemas.microsoft.com/office/powerpoint/2010/main" val="2248526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175EE-583B-8A4F-9FAB-BEE30FC8A0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38EF4A4-AC37-B443-89B8-05ECAEE6CE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BC3DCA4-58BC-9641-8C51-388C7C8EF0A9}"/>
              </a:ext>
            </a:extLst>
          </p:cNvPr>
          <p:cNvSpPr>
            <a:spLocks noGrp="1"/>
          </p:cNvSpPr>
          <p:nvPr>
            <p:ph type="dt" sz="half" idx="10"/>
          </p:nvPr>
        </p:nvSpPr>
        <p:spPr/>
        <p:txBody>
          <a:bodyPr/>
          <a:lstStyle/>
          <a:p>
            <a:fld id="{8B3DF84C-880C-BF43-BF8D-326E0B1C194A}" type="datetimeFigureOut">
              <a:rPr lang="en-US" smtClean="0"/>
              <a:t>11/24/21</a:t>
            </a:fld>
            <a:endParaRPr lang="en-US"/>
          </a:p>
        </p:txBody>
      </p:sp>
      <p:sp>
        <p:nvSpPr>
          <p:cNvPr id="5" name="Footer Placeholder 4">
            <a:extLst>
              <a:ext uri="{FF2B5EF4-FFF2-40B4-BE49-F238E27FC236}">
                <a16:creationId xmlns:a16="http://schemas.microsoft.com/office/drawing/2014/main" id="{570F215C-93BA-6442-B175-B1E1A38AB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43D59D-ED37-924F-AB88-E976689CB63B}"/>
              </a:ext>
            </a:extLst>
          </p:cNvPr>
          <p:cNvSpPr>
            <a:spLocks noGrp="1"/>
          </p:cNvSpPr>
          <p:nvPr>
            <p:ph type="sldNum" sz="quarter" idx="12"/>
          </p:nvPr>
        </p:nvSpPr>
        <p:spPr/>
        <p:txBody>
          <a:bodyPr/>
          <a:lstStyle/>
          <a:p>
            <a:fld id="{76B6D7C8-FC29-BA4B-AFF1-398A54893F07}" type="slidenum">
              <a:rPr lang="en-US" smtClean="0"/>
              <a:t>‹#›</a:t>
            </a:fld>
            <a:endParaRPr lang="en-US"/>
          </a:p>
        </p:txBody>
      </p:sp>
    </p:spTree>
    <p:extLst>
      <p:ext uri="{BB962C8B-B14F-4D97-AF65-F5344CB8AC3E}">
        <p14:creationId xmlns:p14="http://schemas.microsoft.com/office/powerpoint/2010/main" val="3345337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9C1E7-D5B9-6843-B93F-172B1C501F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A59B21-8F86-BF4A-A8FC-4B966AFB1B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AA95582-5794-844F-A831-362A3E4EA1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436597-C975-0A43-BC46-3D1A2E0C9FF7}"/>
              </a:ext>
            </a:extLst>
          </p:cNvPr>
          <p:cNvSpPr>
            <a:spLocks noGrp="1"/>
          </p:cNvSpPr>
          <p:nvPr>
            <p:ph type="dt" sz="half" idx="10"/>
          </p:nvPr>
        </p:nvSpPr>
        <p:spPr/>
        <p:txBody>
          <a:bodyPr/>
          <a:lstStyle/>
          <a:p>
            <a:fld id="{8B3DF84C-880C-BF43-BF8D-326E0B1C194A}" type="datetimeFigureOut">
              <a:rPr lang="en-US" smtClean="0"/>
              <a:t>11/24/21</a:t>
            </a:fld>
            <a:endParaRPr lang="en-US"/>
          </a:p>
        </p:txBody>
      </p:sp>
      <p:sp>
        <p:nvSpPr>
          <p:cNvPr id="6" name="Footer Placeholder 5">
            <a:extLst>
              <a:ext uri="{FF2B5EF4-FFF2-40B4-BE49-F238E27FC236}">
                <a16:creationId xmlns:a16="http://schemas.microsoft.com/office/drawing/2014/main" id="{E845E934-880E-304E-991B-E5DFE27FF6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38149E-069E-9644-A00F-DA83C12C2F9E}"/>
              </a:ext>
            </a:extLst>
          </p:cNvPr>
          <p:cNvSpPr>
            <a:spLocks noGrp="1"/>
          </p:cNvSpPr>
          <p:nvPr>
            <p:ph type="sldNum" sz="quarter" idx="12"/>
          </p:nvPr>
        </p:nvSpPr>
        <p:spPr/>
        <p:txBody>
          <a:bodyPr/>
          <a:lstStyle/>
          <a:p>
            <a:fld id="{76B6D7C8-FC29-BA4B-AFF1-398A54893F07}" type="slidenum">
              <a:rPr lang="en-US" smtClean="0"/>
              <a:t>‹#›</a:t>
            </a:fld>
            <a:endParaRPr lang="en-US"/>
          </a:p>
        </p:txBody>
      </p:sp>
    </p:spTree>
    <p:extLst>
      <p:ext uri="{BB962C8B-B14F-4D97-AF65-F5344CB8AC3E}">
        <p14:creationId xmlns:p14="http://schemas.microsoft.com/office/powerpoint/2010/main" val="441364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471F8-684C-874C-A0DF-4C071F67B57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2692F4D-3461-B049-8B19-E9B17A735F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2A2884-04E5-9347-BE93-503866F71B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04D2C7C-4537-0D45-BDC2-78DB354930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6EEFBD-2148-064A-A434-433BFD1E17F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C53E769-DD5C-BD45-918C-5DB9D73A318A}"/>
              </a:ext>
            </a:extLst>
          </p:cNvPr>
          <p:cNvSpPr>
            <a:spLocks noGrp="1"/>
          </p:cNvSpPr>
          <p:nvPr>
            <p:ph type="dt" sz="half" idx="10"/>
          </p:nvPr>
        </p:nvSpPr>
        <p:spPr/>
        <p:txBody>
          <a:bodyPr/>
          <a:lstStyle/>
          <a:p>
            <a:fld id="{8B3DF84C-880C-BF43-BF8D-326E0B1C194A}" type="datetimeFigureOut">
              <a:rPr lang="en-US" smtClean="0"/>
              <a:t>11/24/21</a:t>
            </a:fld>
            <a:endParaRPr lang="en-US"/>
          </a:p>
        </p:txBody>
      </p:sp>
      <p:sp>
        <p:nvSpPr>
          <p:cNvPr id="8" name="Footer Placeholder 7">
            <a:extLst>
              <a:ext uri="{FF2B5EF4-FFF2-40B4-BE49-F238E27FC236}">
                <a16:creationId xmlns:a16="http://schemas.microsoft.com/office/drawing/2014/main" id="{689D6E8B-B345-D443-91D4-A6AF139F653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B296EFE-0F67-7E46-887B-622D2FF8917B}"/>
              </a:ext>
            </a:extLst>
          </p:cNvPr>
          <p:cNvSpPr>
            <a:spLocks noGrp="1"/>
          </p:cNvSpPr>
          <p:nvPr>
            <p:ph type="sldNum" sz="quarter" idx="12"/>
          </p:nvPr>
        </p:nvSpPr>
        <p:spPr/>
        <p:txBody>
          <a:bodyPr/>
          <a:lstStyle/>
          <a:p>
            <a:fld id="{76B6D7C8-FC29-BA4B-AFF1-398A54893F07}" type="slidenum">
              <a:rPr lang="en-US" smtClean="0"/>
              <a:t>‹#›</a:t>
            </a:fld>
            <a:endParaRPr lang="en-US"/>
          </a:p>
        </p:txBody>
      </p:sp>
    </p:spTree>
    <p:extLst>
      <p:ext uri="{BB962C8B-B14F-4D97-AF65-F5344CB8AC3E}">
        <p14:creationId xmlns:p14="http://schemas.microsoft.com/office/powerpoint/2010/main" val="1741309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AF6E8-6675-9F41-8041-4BAEB8D0D3F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BE69C3B-CD72-8C44-81C3-6D0DA08EF8E0}"/>
              </a:ext>
            </a:extLst>
          </p:cNvPr>
          <p:cNvSpPr>
            <a:spLocks noGrp="1"/>
          </p:cNvSpPr>
          <p:nvPr>
            <p:ph type="dt" sz="half" idx="10"/>
          </p:nvPr>
        </p:nvSpPr>
        <p:spPr/>
        <p:txBody>
          <a:bodyPr/>
          <a:lstStyle/>
          <a:p>
            <a:fld id="{8B3DF84C-880C-BF43-BF8D-326E0B1C194A}" type="datetimeFigureOut">
              <a:rPr lang="en-US" smtClean="0"/>
              <a:t>11/24/21</a:t>
            </a:fld>
            <a:endParaRPr lang="en-US"/>
          </a:p>
        </p:txBody>
      </p:sp>
      <p:sp>
        <p:nvSpPr>
          <p:cNvPr id="4" name="Footer Placeholder 3">
            <a:extLst>
              <a:ext uri="{FF2B5EF4-FFF2-40B4-BE49-F238E27FC236}">
                <a16:creationId xmlns:a16="http://schemas.microsoft.com/office/drawing/2014/main" id="{2310411D-3348-9945-BC8B-8A383E2BE5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67377E4-8CCF-0F40-AD15-60F5C01843C1}"/>
              </a:ext>
            </a:extLst>
          </p:cNvPr>
          <p:cNvSpPr>
            <a:spLocks noGrp="1"/>
          </p:cNvSpPr>
          <p:nvPr>
            <p:ph type="sldNum" sz="quarter" idx="12"/>
          </p:nvPr>
        </p:nvSpPr>
        <p:spPr/>
        <p:txBody>
          <a:bodyPr/>
          <a:lstStyle/>
          <a:p>
            <a:fld id="{76B6D7C8-FC29-BA4B-AFF1-398A54893F07}" type="slidenum">
              <a:rPr lang="en-US" smtClean="0"/>
              <a:t>‹#›</a:t>
            </a:fld>
            <a:endParaRPr lang="en-US"/>
          </a:p>
        </p:txBody>
      </p:sp>
    </p:spTree>
    <p:extLst>
      <p:ext uri="{BB962C8B-B14F-4D97-AF65-F5344CB8AC3E}">
        <p14:creationId xmlns:p14="http://schemas.microsoft.com/office/powerpoint/2010/main" val="1498127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6A4E5F-E221-BA4D-9A9C-E17D21B6A4DE}"/>
              </a:ext>
            </a:extLst>
          </p:cNvPr>
          <p:cNvSpPr>
            <a:spLocks noGrp="1"/>
          </p:cNvSpPr>
          <p:nvPr>
            <p:ph type="dt" sz="half" idx="10"/>
          </p:nvPr>
        </p:nvSpPr>
        <p:spPr/>
        <p:txBody>
          <a:bodyPr/>
          <a:lstStyle/>
          <a:p>
            <a:fld id="{8B3DF84C-880C-BF43-BF8D-326E0B1C194A}" type="datetimeFigureOut">
              <a:rPr lang="en-US" smtClean="0"/>
              <a:t>11/24/21</a:t>
            </a:fld>
            <a:endParaRPr lang="en-US"/>
          </a:p>
        </p:txBody>
      </p:sp>
      <p:sp>
        <p:nvSpPr>
          <p:cNvPr id="3" name="Footer Placeholder 2">
            <a:extLst>
              <a:ext uri="{FF2B5EF4-FFF2-40B4-BE49-F238E27FC236}">
                <a16:creationId xmlns:a16="http://schemas.microsoft.com/office/drawing/2014/main" id="{EC12FA0A-604A-7B42-8833-AF1C6CB55F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9DA2800-C0E2-274C-9ED1-282C03154C29}"/>
              </a:ext>
            </a:extLst>
          </p:cNvPr>
          <p:cNvSpPr>
            <a:spLocks noGrp="1"/>
          </p:cNvSpPr>
          <p:nvPr>
            <p:ph type="sldNum" sz="quarter" idx="12"/>
          </p:nvPr>
        </p:nvSpPr>
        <p:spPr/>
        <p:txBody>
          <a:bodyPr/>
          <a:lstStyle/>
          <a:p>
            <a:fld id="{76B6D7C8-FC29-BA4B-AFF1-398A54893F07}" type="slidenum">
              <a:rPr lang="en-US" smtClean="0"/>
              <a:t>‹#›</a:t>
            </a:fld>
            <a:endParaRPr lang="en-US"/>
          </a:p>
        </p:txBody>
      </p:sp>
    </p:spTree>
    <p:extLst>
      <p:ext uri="{BB962C8B-B14F-4D97-AF65-F5344CB8AC3E}">
        <p14:creationId xmlns:p14="http://schemas.microsoft.com/office/powerpoint/2010/main" val="3550634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DAADA-2F6E-9C4B-B897-42DA1BA376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7D8E1E0-EEB0-2E49-8C6E-FE2C842BAC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7DF480-C754-E548-A65D-54BF664967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C4F81C-6AEB-524E-9C75-B41C74DA2406}"/>
              </a:ext>
            </a:extLst>
          </p:cNvPr>
          <p:cNvSpPr>
            <a:spLocks noGrp="1"/>
          </p:cNvSpPr>
          <p:nvPr>
            <p:ph type="dt" sz="half" idx="10"/>
          </p:nvPr>
        </p:nvSpPr>
        <p:spPr/>
        <p:txBody>
          <a:bodyPr/>
          <a:lstStyle/>
          <a:p>
            <a:fld id="{8B3DF84C-880C-BF43-BF8D-326E0B1C194A}" type="datetimeFigureOut">
              <a:rPr lang="en-US" smtClean="0"/>
              <a:t>11/24/21</a:t>
            </a:fld>
            <a:endParaRPr lang="en-US"/>
          </a:p>
        </p:txBody>
      </p:sp>
      <p:sp>
        <p:nvSpPr>
          <p:cNvPr id="6" name="Footer Placeholder 5">
            <a:extLst>
              <a:ext uri="{FF2B5EF4-FFF2-40B4-BE49-F238E27FC236}">
                <a16:creationId xmlns:a16="http://schemas.microsoft.com/office/drawing/2014/main" id="{07DC0A08-CEE2-5F42-A088-012F3DA9AD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D73CE2-E64C-304D-83F3-55683F72BAE1}"/>
              </a:ext>
            </a:extLst>
          </p:cNvPr>
          <p:cNvSpPr>
            <a:spLocks noGrp="1"/>
          </p:cNvSpPr>
          <p:nvPr>
            <p:ph type="sldNum" sz="quarter" idx="12"/>
          </p:nvPr>
        </p:nvSpPr>
        <p:spPr/>
        <p:txBody>
          <a:bodyPr/>
          <a:lstStyle/>
          <a:p>
            <a:fld id="{76B6D7C8-FC29-BA4B-AFF1-398A54893F07}" type="slidenum">
              <a:rPr lang="en-US" smtClean="0"/>
              <a:t>‹#›</a:t>
            </a:fld>
            <a:endParaRPr lang="en-US"/>
          </a:p>
        </p:txBody>
      </p:sp>
    </p:spTree>
    <p:extLst>
      <p:ext uri="{BB962C8B-B14F-4D97-AF65-F5344CB8AC3E}">
        <p14:creationId xmlns:p14="http://schemas.microsoft.com/office/powerpoint/2010/main" val="3585268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596E4-DB2E-5D42-ADC0-49A3A51FA5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738869-3A00-9147-90DC-BCEAC9B85A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4145B7E-C3CD-D44D-AE8B-43D894BD4C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B37DD1-4DCA-EE4E-8705-DC3C41CD4BF3}"/>
              </a:ext>
            </a:extLst>
          </p:cNvPr>
          <p:cNvSpPr>
            <a:spLocks noGrp="1"/>
          </p:cNvSpPr>
          <p:nvPr>
            <p:ph type="dt" sz="half" idx="10"/>
          </p:nvPr>
        </p:nvSpPr>
        <p:spPr/>
        <p:txBody>
          <a:bodyPr/>
          <a:lstStyle/>
          <a:p>
            <a:fld id="{8B3DF84C-880C-BF43-BF8D-326E0B1C194A}" type="datetimeFigureOut">
              <a:rPr lang="en-US" smtClean="0"/>
              <a:t>11/24/21</a:t>
            </a:fld>
            <a:endParaRPr lang="en-US"/>
          </a:p>
        </p:txBody>
      </p:sp>
      <p:sp>
        <p:nvSpPr>
          <p:cNvPr id="6" name="Footer Placeholder 5">
            <a:extLst>
              <a:ext uri="{FF2B5EF4-FFF2-40B4-BE49-F238E27FC236}">
                <a16:creationId xmlns:a16="http://schemas.microsoft.com/office/drawing/2014/main" id="{442E9F71-BDBF-6043-936A-2E8A034D3D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F064A1-6207-1148-B4C2-26624EA3BF59}"/>
              </a:ext>
            </a:extLst>
          </p:cNvPr>
          <p:cNvSpPr>
            <a:spLocks noGrp="1"/>
          </p:cNvSpPr>
          <p:nvPr>
            <p:ph type="sldNum" sz="quarter" idx="12"/>
          </p:nvPr>
        </p:nvSpPr>
        <p:spPr/>
        <p:txBody>
          <a:bodyPr/>
          <a:lstStyle/>
          <a:p>
            <a:fld id="{76B6D7C8-FC29-BA4B-AFF1-398A54893F07}" type="slidenum">
              <a:rPr lang="en-US" smtClean="0"/>
              <a:t>‹#›</a:t>
            </a:fld>
            <a:endParaRPr lang="en-US"/>
          </a:p>
        </p:txBody>
      </p:sp>
    </p:spTree>
    <p:extLst>
      <p:ext uri="{BB962C8B-B14F-4D97-AF65-F5344CB8AC3E}">
        <p14:creationId xmlns:p14="http://schemas.microsoft.com/office/powerpoint/2010/main" val="4017905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25F83-59C4-FC4D-A7B8-8B7D32DB9EF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022A05-5D93-E74D-B40B-0568A5873C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134396-9585-C14B-A585-F1725B821B21}"/>
              </a:ext>
            </a:extLst>
          </p:cNvPr>
          <p:cNvSpPr>
            <a:spLocks noGrp="1"/>
          </p:cNvSpPr>
          <p:nvPr>
            <p:ph type="dt" sz="half" idx="10"/>
          </p:nvPr>
        </p:nvSpPr>
        <p:spPr/>
        <p:txBody>
          <a:bodyPr/>
          <a:lstStyle/>
          <a:p>
            <a:fld id="{8B3DF84C-880C-BF43-BF8D-326E0B1C194A}" type="datetimeFigureOut">
              <a:rPr lang="en-US" smtClean="0"/>
              <a:t>11/24/21</a:t>
            </a:fld>
            <a:endParaRPr lang="en-US"/>
          </a:p>
        </p:txBody>
      </p:sp>
      <p:sp>
        <p:nvSpPr>
          <p:cNvPr id="5" name="Footer Placeholder 4">
            <a:extLst>
              <a:ext uri="{FF2B5EF4-FFF2-40B4-BE49-F238E27FC236}">
                <a16:creationId xmlns:a16="http://schemas.microsoft.com/office/drawing/2014/main" id="{BB162C4D-B352-4146-8845-C961A586E4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477145-B361-B84C-9A06-51C09FC057B2}"/>
              </a:ext>
            </a:extLst>
          </p:cNvPr>
          <p:cNvSpPr>
            <a:spLocks noGrp="1"/>
          </p:cNvSpPr>
          <p:nvPr>
            <p:ph type="sldNum" sz="quarter" idx="12"/>
          </p:nvPr>
        </p:nvSpPr>
        <p:spPr/>
        <p:txBody>
          <a:bodyPr/>
          <a:lstStyle/>
          <a:p>
            <a:fld id="{76B6D7C8-FC29-BA4B-AFF1-398A54893F07}" type="slidenum">
              <a:rPr lang="en-US" smtClean="0"/>
              <a:t>‹#›</a:t>
            </a:fld>
            <a:endParaRPr lang="en-US"/>
          </a:p>
        </p:txBody>
      </p:sp>
    </p:spTree>
    <p:extLst>
      <p:ext uri="{BB962C8B-B14F-4D97-AF65-F5344CB8AC3E}">
        <p14:creationId xmlns:p14="http://schemas.microsoft.com/office/powerpoint/2010/main" val="1923089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CCD188-4261-4D40-8B7F-A3558495FCE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4B05AD-7F67-B247-8067-D7CC9D3B7B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9619CA-97FD-3547-9425-0CFCA267F277}"/>
              </a:ext>
            </a:extLst>
          </p:cNvPr>
          <p:cNvSpPr>
            <a:spLocks noGrp="1"/>
          </p:cNvSpPr>
          <p:nvPr>
            <p:ph type="dt" sz="half" idx="10"/>
          </p:nvPr>
        </p:nvSpPr>
        <p:spPr/>
        <p:txBody>
          <a:bodyPr/>
          <a:lstStyle/>
          <a:p>
            <a:fld id="{8B3DF84C-880C-BF43-BF8D-326E0B1C194A}" type="datetimeFigureOut">
              <a:rPr lang="en-US" smtClean="0"/>
              <a:t>11/24/21</a:t>
            </a:fld>
            <a:endParaRPr lang="en-US"/>
          </a:p>
        </p:txBody>
      </p:sp>
      <p:sp>
        <p:nvSpPr>
          <p:cNvPr id="5" name="Footer Placeholder 4">
            <a:extLst>
              <a:ext uri="{FF2B5EF4-FFF2-40B4-BE49-F238E27FC236}">
                <a16:creationId xmlns:a16="http://schemas.microsoft.com/office/drawing/2014/main" id="{B7691427-7C08-954A-8749-C7B8C4F721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6A2289-B462-4F48-84FF-A5E38DA560CD}"/>
              </a:ext>
            </a:extLst>
          </p:cNvPr>
          <p:cNvSpPr>
            <a:spLocks noGrp="1"/>
          </p:cNvSpPr>
          <p:nvPr>
            <p:ph type="sldNum" sz="quarter" idx="12"/>
          </p:nvPr>
        </p:nvSpPr>
        <p:spPr/>
        <p:txBody>
          <a:bodyPr/>
          <a:lstStyle/>
          <a:p>
            <a:fld id="{76B6D7C8-FC29-BA4B-AFF1-398A54893F07}" type="slidenum">
              <a:rPr lang="en-US" smtClean="0"/>
              <a:t>‹#›</a:t>
            </a:fld>
            <a:endParaRPr lang="en-US"/>
          </a:p>
        </p:txBody>
      </p:sp>
    </p:spTree>
    <p:extLst>
      <p:ext uri="{BB962C8B-B14F-4D97-AF65-F5344CB8AC3E}">
        <p14:creationId xmlns:p14="http://schemas.microsoft.com/office/powerpoint/2010/main" val="65026361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C1B2F9-27A5-3A4B-A16F-65A925FA5E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AAA3C3-CC5E-8840-AD5E-9C1CF6C346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736AC5-9255-5C4A-8271-B17BD123C8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3DF84C-880C-BF43-BF8D-326E0B1C194A}" type="datetimeFigureOut">
              <a:rPr lang="en-US" smtClean="0"/>
              <a:t>11/24/21</a:t>
            </a:fld>
            <a:endParaRPr lang="en-US"/>
          </a:p>
        </p:txBody>
      </p:sp>
      <p:sp>
        <p:nvSpPr>
          <p:cNvPr id="5" name="Footer Placeholder 4">
            <a:extLst>
              <a:ext uri="{FF2B5EF4-FFF2-40B4-BE49-F238E27FC236}">
                <a16:creationId xmlns:a16="http://schemas.microsoft.com/office/drawing/2014/main" id="{E5C5298B-F86B-8F4E-A074-C0CA386E51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9587C1D-40D8-3743-8528-B9CA3B5307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B6D7C8-FC29-BA4B-AFF1-398A54893F07}" type="slidenum">
              <a:rPr lang="en-US" smtClean="0"/>
              <a:t>‹#›</a:t>
            </a:fld>
            <a:endParaRPr lang="en-US"/>
          </a:p>
        </p:txBody>
      </p:sp>
    </p:spTree>
    <p:extLst>
      <p:ext uri="{BB962C8B-B14F-4D97-AF65-F5344CB8AC3E}">
        <p14:creationId xmlns:p14="http://schemas.microsoft.com/office/powerpoint/2010/main" val="134729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slide" Target="slide2.xml"/><Relationship Id="rId4" Type="http://schemas.openxmlformats.org/officeDocument/2006/relationships/slide" Target="slide12.xml"/><Relationship Id="rId5" Type="http://schemas.openxmlformats.org/officeDocument/2006/relationships/image" Target="../media/image1.png"/><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5.xml"/><Relationship Id="rId9" Type="http://schemas.openxmlformats.org/officeDocument/2006/relationships/image" Target="../media/image2.png"/><Relationship Id="rId10" Type="http://schemas.openxmlformats.org/officeDocument/2006/relationships/image" Target="../media/image3.svg"/><Relationship Id="rId11" Type="http://schemas.openxmlformats.org/officeDocument/2006/relationships/slide" Target="slide6.xml"/><Relationship Id="rId12" Type="http://schemas.openxmlformats.org/officeDocument/2006/relationships/slide" Target="slide7.xml"/><Relationship Id="rId1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slide" Target="slide2.xml"/><Relationship Id="rId8" Type="http://schemas.openxmlformats.org/officeDocument/2006/relationships/slide" Target="slide12.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5.xml"/><Relationship Id="rId12" Type="http://schemas.openxmlformats.org/officeDocument/2006/relationships/slide" Target="slide6.xml"/><Relationship Id="rId13" Type="http://schemas.openxmlformats.org/officeDocument/2006/relationships/slide" Target="slide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5.xml"/><Relationship Id="rId10" Type="http://schemas.openxmlformats.org/officeDocument/2006/relationships/image" Target="../media/image2.png"/><Relationship Id="rId11" Type="http://schemas.openxmlformats.org/officeDocument/2006/relationships/image" Target="../media/image3.svg"/><Relationship Id="rId12" Type="http://schemas.openxmlformats.org/officeDocument/2006/relationships/slide" Target="slide6.xml"/><Relationship Id="rId13" Type="http://schemas.openxmlformats.org/officeDocument/2006/relationships/slide" Target="slide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5.xml"/><Relationship Id="rId10" Type="http://schemas.openxmlformats.org/officeDocument/2006/relationships/image" Target="../media/image2.png"/><Relationship Id="rId11" Type="http://schemas.openxmlformats.org/officeDocument/2006/relationships/image" Target="../media/image3.svg"/><Relationship Id="rId12" Type="http://schemas.openxmlformats.org/officeDocument/2006/relationships/slide" Target="slide6.xml"/><Relationship Id="rId13" Type="http://schemas.openxmlformats.org/officeDocument/2006/relationships/slide" Target="slide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5.xml"/><Relationship Id="rId10" Type="http://schemas.openxmlformats.org/officeDocument/2006/relationships/image" Target="../media/image2.png"/><Relationship Id="rId11" Type="http://schemas.openxmlformats.org/officeDocument/2006/relationships/image" Target="../media/image3.svg"/><Relationship Id="rId12" Type="http://schemas.openxmlformats.org/officeDocument/2006/relationships/slide" Target="slide6.xml"/><Relationship Id="rId13" Type="http://schemas.openxmlformats.org/officeDocument/2006/relationships/slide" Target="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svg"/><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3.xml"/><Relationship Id="rId9" Type="http://schemas.openxmlformats.org/officeDocument/2006/relationships/slide" Target="slide4.xml"/><Relationship Id="rId10" Type="http://schemas.openxmlformats.org/officeDocument/2006/relationships/slide" Target="slide5.xml"/><Relationship Id="rId11" Type="http://schemas.openxmlformats.org/officeDocument/2006/relationships/slide" Target="slide6.xml"/><Relationship Id="rId12" Type="http://schemas.openxmlformats.org/officeDocument/2006/relationships/slide" Target="slide7.xml"/><Relationship Id="rId1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slide" Target="slide8.xml"/><Relationship Id="rId4" Type="http://schemas.openxmlformats.org/officeDocument/2006/relationships/slide" Target="slide9.xml"/><Relationship Id="rId5" Type="http://schemas.openxmlformats.org/officeDocument/2006/relationships/slide" Target="slide10.xml"/><Relationship Id="rId6" Type="http://schemas.openxmlformats.org/officeDocument/2006/relationships/slide" Target="slide11.xml"/><Relationship Id="rId7" Type="http://schemas.openxmlformats.org/officeDocument/2006/relationships/slide" Target="slide2.xml"/><Relationship Id="rId8" Type="http://schemas.openxmlformats.org/officeDocument/2006/relationships/slide" Target="slide12.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5.xml"/><Relationship Id="rId12" Type="http://schemas.openxmlformats.org/officeDocument/2006/relationships/image" Target="../media/image2.png"/><Relationship Id="rId13" Type="http://schemas.openxmlformats.org/officeDocument/2006/relationships/image" Target="../media/image3.svg"/><Relationship Id="rId14" Type="http://schemas.openxmlformats.org/officeDocument/2006/relationships/slide" Target="slide6.xml"/><Relationship Id="rId15" Type="http://schemas.openxmlformats.org/officeDocument/2006/relationships/slide" Target="slide7.xml"/><Relationship Id="rId16"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slide" Target="slide9.xml"/><Relationship Id="rId4" Type="http://schemas.openxmlformats.org/officeDocument/2006/relationships/slide" Target="slide10.xml"/><Relationship Id="rId5" Type="http://schemas.openxmlformats.org/officeDocument/2006/relationships/slide" Target="slide11.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3.xml"/><Relationship Id="rId9" Type="http://schemas.openxmlformats.org/officeDocument/2006/relationships/slide" Target="slide4.xml"/><Relationship Id="rId10" Type="http://schemas.openxmlformats.org/officeDocument/2006/relationships/slide" Target="slide5.xml"/><Relationship Id="rId11" Type="http://schemas.openxmlformats.org/officeDocument/2006/relationships/image" Target="../media/image2.png"/><Relationship Id="rId12" Type="http://schemas.openxmlformats.org/officeDocument/2006/relationships/image" Target="../media/image3.svg"/><Relationship Id="rId13" Type="http://schemas.openxmlformats.org/officeDocument/2006/relationships/slide" Target="slide6.xml"/><Relationship Id="rId14" Type="http://schemas.openxmlformats.org/officeDocument/2006/relationships/slide" Target="slide7.xml"/><Relationship Id="rId1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slide" Target="slide8.xml"/><Relationship Id="rId4" Type="http://schemas.openxmlformats.org/officeDocument/2006/relationships/slide" Target="slide10.xml"/><Relationship Id="rId5" Type="http://schemas.openxmlformats.org/officeDocument/2006/relationships/slide" Target="slide11.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3.xml"/><Relationship Id="rId9" Type="http://schemas.openxmlformats.org/officeDocument/2006/relationships/slide" Target="slide4.xml"/><Relationship Id="rId10" Type="http://schemas.openxmlformats.org/officeDocument/2006/relationships/slide" Target="slide5.xml"/><Relationship Id="rId11" Type="http://schemas.openxmlformats.org/officeDocument/2006/relationships/image" Target="../media/image2.png"/><Relationship Id="rId12" Type="http://schemas.openxmlformats.org/officeDocument/2006/relationships/image" Target="../media/image3.svg"/><Relationship Id="rId13" Type="http://schemas.openxmlformats.org/officeDocument/2006/relationships/slide" Target="slide6.xml"/><Relationship Id="rId14" Type="http://schemas.openxmlformats.org/officeDocument/2006/relationships/slide" Target="slide7.xml"/><Relationship Id="rId1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slide" Target="slide8.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3.xml"/><Relationship Id="rId9" Type="http://schemas.openxmlformats.org/officeDocument/2006/relationships/slide" Target="slide4.xml"/><Relationship Id="rId10" Type="http://schemas.openxmlformats.org/officeDocument/2006/relationships/slide" Target="slide5.xml"/><Relationship Id="rId11" Type="http://schemas.openxmlformats.org/officeDocument/2006/relationships/image" Target="../media/image2.png"/><Relationship Id="rId12" Type="http://schemas.openxmlformats.org/officeDocument/2006/relationships/image" Target="../media/image3.svg"/><Relationship Id="rId13" Type="http://schemas.openxmlformats.org/officeDocument/2006/relationships/slide" Target="slide6.xml"/><Relationship Id="rId14" Type="http://schemas.openxmlformats.org/officeDocument/2006/relationships/slide" Target="slide7.xml"/><Relationship Id="rId15"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slide" Target="slide8.xml"/><Relationship Id="rId4" Type="http://schemas.openxmlformats.org/officeDocument/2006/relationships/slide" Target="slide9.xml"/><Relationship Id="rId5" Type="http://schemas.openxmlformats.org/officeDocument/2006/relationships/slide" Target="slide10.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3.xml"/><Relationship Id="rId9" Type="http://schemas.openxmlformats.org/officeDocument/2006/relationships/slide" Target="slide4.xml"/><Relationship Id="rId10" Type="http://schemas.openxmlformats.org/officeDocument/2006/relationships/slide" Target="slide5.xml"/><Relationship Id="rId11" Type="http://schemas.openxmlformats.org/officeDocument/2006/relationships/image" Target="../media/image2.png"/><Relationship Id="rId12" Type="http://schemas.openxmlformats.org/officeDocument/2006/relationships/image" Target="../media/image3.svg"/><Relationship Id="rId13" Type="http://schemas.openxmlformats.org/officeDocument/2006/relationships/slide" Target="slide6.xml"/><Relationship Id="rId14" Type="http://schemas.openxmlformats.org/officeDocument/2006/relationships/slide" Target="slide7.xml"/><Relationship Id="rId1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 Id="rId6" Type="http://schemas.openxmlformats.org/officeDocument/2006/relationships/hyperlink" Target="https://drive.google.com/file/d/1Tjz_lI5S3TpbrBs1rB4pK6VqEuE5tGik/view?usp=sharing" TargetMode="External"/><Relationship Id="rId7" Type="http://schemas.openxmlformats.org/officeDocument/2006/relationships/image" Target="../media/image10.png"/><Relationship Id="rId8"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question 1">
            <a:hlinkClick r:id="rId3" action="ppaction://hlinksldjump"/>
            <a:extLst>
              <a:ext uri="{FF2B5EF4-FFF2-40B4-BE49-F238E27FC236}">
                <a16:creationId xmlns:a16="http://schemas.microsoft.com/office/drawing/2014/main" id="{9B816753-F023-4D31-9D82-47CAC9BBD9A0}"/>
              </a:ext>
            </a:extLst>
          </p:cNvPr>
          <p:cNvSpPr txBox="1"/>
          <p:nvPr/>
        </p:nvSpPr>
        <p:spPr>
          <a:xfrm>
            <a:off x="212688" y="529725"/>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t>Immune system basics</a:t>
            </a:r>
            <a:endParaRPr lang="en-US" dirty="0">
              <a:solidFill>
                <a:sysClr val="windowText" lastClr="000000"/>
              </a:solidFill>
            </a:endParaRPr>
          </a:p>
        </p:txBody>
      </p:sp>
      <p:sp>
        <p:nvSpPr>
          <p:cNvPr id="359" name="Cases">
            <a:hlinkClick r:id="rId4" action="ppaction://hlinksldjump"/>
            <a:extLst>
              <a:ext uri="{FF2B5EF4-FFF2-40B4-BE49-F238E27FC236}">
                <a16:creationId xmlns:a16="http://schemas.microsoft.com/office/drawing/2014/main" id="{EB525BD1-6253-423A-9A3E-87D517474861}"/>
              </a:ext>
            </a:extLst>
          </p:cNvPr>
          <p:cNvSpPr txBox="1"/>
          <p:nvPr/>
        </p:nvSpPr>
        <p:spPr>
          <a:xfrm>
            <a:off x="212688" y="5263878"/>
            <a:ext cx="2423423" cy="408623"/>
          </a:xfrm>
          <a:prstGeom prst="roundRect">
            <a:avLst/>
          </a:prstGeom>
          <a:solidFill>
            <a:schemeClr val="accent5"/>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22" name="teachIM logo" descr="Icon&#10;&#10;Description automatically generated">
            <a:extLst>
              <a:ext uri="{FF2B5EF4-FFF2-40B4-BE49-F238E27FC236}">
                <a16:creationId xmlns:a16="http://schemas.microsoft.com/office/drawing/2014/main" id="{9941794D-0E4C-4929-897A-E61CE338C3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70638" y="6361866"/>
            <a:ext cx="1387970" cy="528106"/>
          </a:xfrm>
          <a:prstGeom prst="rect">
            <a:avLst/>
          </a:prstGeom>
        </p:spPr>
      </p:pic>
      <p:sp>
        <p:nvSpPr>
          <p:cNvPr id="40" name="sub-q 1-1">
            <a:hlinkClick r:id="rId6" action="ppaction://hlinksldjump"/>
            <a:extLst>
              <a:ext uri="{FF2B5EF4-FFF2-40B4-BE49-F238E27FC236}">
                <a16:creationId xmlns:a16="http://schemas.microsoft.com/office/drawing/2014/main" id="{A77F682C-DAB9-2B47-9CC5-6AF120CACC47}"/>
              </a:ext>
            </a:extLst>
          </p:cNvPr>
          <p:cNvSpPr txBox="1"/>
          <p:nvPr/>
        </p:nvSpPr>
        <p:spPr>
          <a:xfrm>
            <a:off x="212688" y="1157424"/>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solidFill>
                  <a:sysClr val="windowText" lastClr="000000"/>
                </a:solidFill>
              </a:rPr>
              <a:t>How tumors ‘hide’</a:t>
            </a:r>
          </a:p>
        </p:txBody>
      </p:sp>
      <p:sp>
        <p:nvSpPr>
          <p:cNvPr id="49" name="Sub-q-1-2">
            <a:hlinkClick r:id="rId7" action="ppaction://hlinksldjump"/>
            <a:extLst>
              <a:ext uri="{FF2B5EF4-FFF2-40B4-BE49-F238E27FC236}">
                <a16:creationId xmlns:a16="http://schemas.microsoft.com/office/drawing/2014/main" id="{B15284CC-841A-4D4B-BC80-D3BF49EE1872}"/>
              </a:ext>
            </a:extLst>
          </p:cNvPr>
          <p:cNvSpPr txBox="1"/>
          <p:nvPr/>
        </p:nvSpPr>
        <p:spPr>
          <a:xfrm>
            <a:off x="212688" y="1785123"/>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Immune checkpoints</a:t>
            </a:r>
          </a:p>
        </p:txBody>
      </p:sp>
      <p:sp>
        <p:nvSpPr>
          <p:cNvPr id="198" name="Question 2">
            <a:hlinkClick r:id="rId8" action="ppaction://hlinksldjump"/>
            <a:extLst>
              <a:ext uri="{FF2B5EF4-FFF2-40B4-BE49-F238E27FC236}">
                <a16:creationId xmlns:a16="http://schemas.microsoft.com/office/drawing/2014/main" id="{6996478C-46F4-4F2C-9179-4736A69992E6}"/>
              </a:ext>
            </a:extLst>
          </p:cNvPr>
          <p:cNvSpPr txBox="1"/>
          <p:nvPr/>
        </p:nvSpPr>
        <p:spPr>
          <a:xfrm>
            <a:off x="212688" y="2412822"/>
            <a:ext cx="2423423" cy="71508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Immune checkpoint  inhibitors (ICIs)</a:t>
            </a:r>
            <a:endParaRPr lang="en-US" dirty="0">
              <a:solidFill>
                <a:sysClr val="windowText" lastClr="000000"/>
              </a:solidFill>
            </a:endParaRPr>
          </a:p>
        </p:txBody>
      </p:sp>
      <p:pic>
        <p:nvPicPr>
          <p:cNvPr id="37" name="Graphic 36" descr="Cursor with solid fill">
            <a:extLst>
              <a:ext uri="{FF2B5EF4-FFF2-40B4-BE49-F238E27FC236}">
                <a16:creationId xmlns:a16="http://schemas.microsoft.com/office/drawing/2014/main" id="{1CB02AA6-625F-FD4D-9783-D5AC4379AD7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470301" y="766694"/>
            <a:ext cx="411480" cy="411480"/>
          </a:xfrm>
          <a:prstGeom prst="rect">
            <a:avLst/>
          </a:prstGeom>
        </p:spPr>
      </p:pic>
      <p:pic>
        <p:nvPicPr>
          <p:cNvPr id="38" name="Graphic 37" descr="Cursor with solid fill">
            <a:extLst>
              <a:ext uri="{FF2B5EF4-FFF2-40B4-BE49-F238E27FC236}">
                <a16:creationId xmlns:a16="http://schemas.microsoft.com/office/drawing/2014/main" id="{142C96AD-0693-1A43-B892-F36211CD449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470301" y="5496401"/>
            <a:ext cx="411480" cy="411480"/>
          </a:xfrm>
          <a:prstGeom prst="rect">
            <a:avLst/>
          </a:prstGeom>
        </p:spPr>
      </p:pic>
      <p:pic>
        <p:nvPicPr>
          <p:cNvPr id="39" name="Graphic 38" descr="Cursor with solid fill">
            <a:extLst>
              <a:ext uri="{FF2B5EF4-FFF2-40B4-BE49-F238E27FC236}">
                <a16:creationId xmlns:a16="http://schemas.microsoft.com/office/drawing/2014/main" id="{BF263644-2D85-CC4E-AB6C-1A31EAFF1F2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470301" y="2020349"/>
            <a:ext cx="411480" cy="411480"/>
          </a:xfrm>
          <a:prstGeom prst="rect">
            <a:avLst/>
          </a:prstGeom>
        </p:spPr>
      </p:pic>
      <p:pic>
        <p:nvPicPr>
          <p:cNvPr id="42" name="Graphic 41" descr="Cursor with solid fill">
            <a:extLst>
              <a:ext uri="{FF2B5EF4-FFF2-40B4-BE49-F238E27FC236}">
                <a16:creationId xmlns:a16="http://schemas.microsoft.com/office/drawing/2014/main" id="{1864E865-0445-C142-8C07-8E9F132BBCC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470301" y="2940853"/>
            <a:ext cx="411480" cy="411480"/>
          </a:xfrm>
          <a:prstGeom prst="rect">
            <a:avLst/>
          </a:prstGeom>
        </p:spPr>
      </p:pic>
      <p:pic>
        <p:nvPicPr>
          <p:cNvPr id="43" name="Graphic 42" descr="Cursor with solid fill">
            <a:extLst>
              <a:ext uri="{FF2B5EF4-FFF2-40B4-BE49-F238E27FC236}">
                <a16:creationId xmlns:a16="http://schemas.microsoft.com/office/drawing/2014/main" id="{D0032604-F7AB-A547-87D6-685740C8FF7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470301" y="1395415"/>
            <a:ext cx="411480" cy="411480"/>
          </a:xfrm>
          <a:prstGeom prst="rect">
            <a:avLst/>
          </a:prstGeom>
        </p:spPr>
      </p:pic>
      <p:sp>
        <p:nvSpPr>
          <p:cNvPr id="47" name="Sub-q-1-2">
            <a:hlinkClick r:id="rId11" action="ppaction://hlinksldjump"/>
            <a:extLst>
              <a:ext uri="{FF2B5EF4-FFF2-40B4-BE49-F238E27FC236}">
                <a16:creationId xmlns:a16="http://schemas.microsoft.com/office/drawing/2014/main" id="{255C4999-69FA-5F4E-B4F2-CE81BD09E8E6}"/>
              </a:ext>
            </a:extLst>
          </p:cNvPr>
          <p:cNvSpPr txBox="1"/>
          <p:nvPr/>
        </p:nvSpPr>
        <p:spPr>
          <a:xfrm>
            <a:off x="212688" y="3346987"/>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When do we use ICIs?</a:t>
            </a:r>
          </a:p>
        </p:txBody>
      </p:sp>
      <p:pic>
        <p:nvPicPr>
          <p:cNvPr id="48" name="Graphic 47" descr="Cursor with solid fill">
            <a:extLst>
              <a:ext uri="{FF2B5EF4-FFF2-40B4-BE49-F238E27FC236}">
                <a16:creationId xmlns:a16="http://schemas.microsoft.com/office/drawing/2014/main" id="{9DD79E2B-F038-9240-817F-18827955403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470301" y="3584978"/>
            <a:ext cx="411480" cy="411480"/>
          </a:xfrm>
          <a:prstGeom prst="rect">
            <a:avLst/>
          </a:prstGeom>
        </p:spPr>
      </p:pic>
      <p:sp>
        <p:nvSpPr>
          <p:cNvPr id="41" name="Sub-q-1-2">
            <a:hlinkClick r:id="rId12" action="ppaction://hlinksldjump"/>
            <a:extLst>
              <a:ext uri="{FF2B5EF4-FFF2-40B4-BE49-F238E27FC236}">
                <a16:creationId xmlns:a16="http://schemas.microsoft.com/office/drawing/2014/main" id="{6DA37258-6D7E-5B47-9338-5D367DA9F29E}"/>
              </a:ext>
            </a:extLst>
          </p:cNvPr>
          <p:cNvSpPr txBox="1"/>
          <p:nvPr/>
        </p:nvSpPr>
        <p:spPr>
          <a:xfrm>
            <a:off x="212688" y="3974687"/>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Side effects of ICIs</a:t>
            </a:r>
          </a:p>
        </p:txBody>
      </p:sp>
      <p:pic>
        <p:nvPicPr>
          <p:cNvPr id="51" name="Graphic 50" descr="Cursor with solid fill">
            <a:extLst>
              <a:ext uri="{FF2B5EF4-FFF2-40B4-BE49-F238E27FC236}">
                <a16:creationId xmlns:a16="http://schemas.microsoft.com/office/drawing/2014/main" id="{75EC552F-120C-8A4B-AD72-910787B80A0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470301" y="4219662"/>
            <a:ext cx="411480" cy="411480"/>
          </a:xfrm>
          <a:prstGeom prst="rect">
            <a:avLst/>
          </a:prstGeom>
        </p:spPr>
      </p:pic>
      <p:pic>
        <p:nvPicPr>
          <p:cNvPr id="18" name="TCR" descr="A picture containing clipart&#10;&#10;Description automatically generated">
            <a:extLst>
              <a:ext uri="{FF2B5EF4-FFF2-40B4-BE49-F238E27FC236}">
                <a16:creationId xmlns:a16="http://schemas.microsoft.com/office/drawing/2014/main" id="{21E5E5D8-A0F9-834F-9A45-4FE713067E3B}"/>
              </a:ext>
            </a:extLst>
          </p:cNvPr>
          <p:cNvPicPr>
            <a:picLocks noChangeAspect="1"/>
          </p:cNvPicPr>
          <p:nvPr/>
        </p:nvPicPr>
        <p:blipFill>
          <a:blip r:embed="rId13"/>
          <a:stretch>
            <a:fillRect/>
          </a:stretch>
        </p:blipFill>
        <p:spPr>
          <a:xfrm rot="16200000">
            <a:off x="7839578" y="1124632"/>
            <a:ext cx="480486" cy="599901"/>
          </a:xfrm>
          <a:prstGeom prst="rect">
            <a:avLst/>
          </a:prstGeom>
        </p:spPr>
      </p:pic>
      <p:sp>
        <p:nvSpPr>
          <p:cNvPr id="19" name="Cloud 18">
            <a:extLst>
              <a:ext uri="{FF2B5EF4-FFF2-40B4-BE49-F238E27FC236}">
                <a16:creationId xmlns:a16="http://schemas.microsoft.com/office/drawing/2014/main" id="{B3A90F27-315E-ED48-9B34-A672D83BAE21}"/>
              </a:ext>
            </a:extLst>
          </p:cNvPr>
          <p:cNvSpPr/>
          <p:nvPr/>
        </p:nvSpPr>
        <p:spPr>
          <a:xfrm>
            <a:off x="4893114" y="595854"/>
            <a:ext cx="2452588" cy="1657470"/>
          </a:xfrm>
          <a:prstGeom prst="cloud">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Tumor cell</a:t>
            </a:r>
          </a:p>
        </p:txBody>
      </p:sp>
      <p:grpSp>
        <p:nvGrpSpPr>
          <p:cNvPr id="20" name="HLA">
            <a:extLst>
              <a:ext uri="{FF2B5EF4-FFF2-40B4-BE49-F238E27FC236}">
                <a16:creationId xmlns:a16="http://schemas.microsoft.com/office/drawing/2014/main" id="{4272B35D-5752-774E-9838-51BDFEFAB03E}"/>
              </a:ext>
            </a:extLst>
          </p:cNvPr>
          <p:cNvGrpSpPr/>
          <p:nvPr/>
        </p:nvGrpSpPr>
        <p:grpSpPr>
          <a:xfrm rot="5400000">
            <a:off x="7445916" y="1140790"/>
            <a:ext cx="301619" cy="567587"/>
            <a:chOff x="8511393" y="1228380"/>
            <a:chExt cx="523874" cy="1188072"/>
          </a:xfrm>
        </p:grpSpPr>
        <p:sp>
          <p:nvSpPr>
            <p:cNvPr id="21" name="Rounded Rectangle 20">
              <a:extLst>
                <a:ext uri="{FF2B5EF4-FFF2-40B4-BE49-F238E27FC236}">
                  <a16:creationId xmlns:a16="http://schemas.microsoft.com/office/drawing/2014/main" id="{FE8A41D9-A600-E84E-8292-2B3D6547B345}"/>
                </a:ext>
              </a:extLst>
            </p:cNvPr>
            <p:cNvSpPr/>
            <p:nvPr/>
          </p:nvSpPr>
          <p:spPr>
            <a:xfrm>
              <a:off x="8623053" y="2126256"/>
              <a:ext cx="85781" cy="290196"/>
            </a:xfrm>
            <a:prstGeom prst="round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 name="Rounded Rectangle 22">
              <a:extLst>
                <a:ext uri="{FF2B5EF4-FFF2-40B4-BE49-F238E27FC236}">
                  <a16:creationId xmlns:a16="http://schemas.microsoft.com/office/drawing/2014/main" id="{64991583-7B5C-5641-B85A-AE3588E650F1}"/>
                </a:ext>
              </a:extLst>
            </p:cNvPr>
            <p:cNvSpPr/>
            <p:nvPr/>
          </p:nvSpPr>
          <p:spPr>
            <a:xfrm>
              <a:off x="8511393" y="1361530"/>
              <a:ext cx="523874" cy="814387"/>
            </a:xfrm>
            <a:prstGeom prst="round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4" name="Oval 23">
              <a:extLst>
                <a:ext uri="{FF2B5EF4-FFF2-40B4-BE49-F238E27FC236}">
                  <a16:creationId xmlns:a16="http://schemas.microsoft.com/office/drawing/2014/main" id="{87CD3F9E-7826-1D44-8FCE-B0CBDAB4D4FE}"/>
                </a:ext>
              </a:extLst>
            </p:cNvPr>
            <p:cNvSpPr/>
            <p:nvPr/>
          </p:nvSpPr>
          <p:spPr>
            <a:xfrm>
              <a:off x="8623053" y="1228380"/>
              <a:ext cx="300555" cy="34754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25" name="Peptide">
            <a:extLst>
              <a:ext uri="{FF2B5EF4-FFF2-40B4-BE49-F238E27FC236}">
                <a16:creationId xmlns:a16="http://schemas.microsoft.com/office/drawing/2014/main" id="{591E3881-C5E2-7B47-9C76-4CD1B1B5B144}"/>
              </a:ext>
            </a:extLst>
          </p:cNvPr>
          <p:cNvSpPr/>
          <p:nvPr/>
        </p:nvSpPr>
        <p:spPr>
          <a:xfrm>
            <a:off x="7733891" y="1358108"/>
            <a:ext cx="176907" cy="1331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grpSp>
        <p:nvGrpSpPr>
          <p:cNvPr id="26" name="T cell">
            <a:extLst>
              <a:ext uri="{FF2B5EF4-FFF2-40B4-BE49-F238E27FC236}">
                <a16:creationId xmlns:a16="http://schemas.microsoft.com/office/drawing/2014/main" id="{277DAAB8-0429-294F-8E07-9027C840B2F8}"/>
              </a:ext>
            </a:extLst>
          </p:cNvPr>
          <p:cNvGrpSpPr/>
          <p:nvPr/>
        </p:nvGrpSpPr>
        <p:grpSpPr>
          <a:xfrm>
            <a:off x="8344967" y="781472"/>
            <a:ext cx="1448559" cy="1360176"/>
            <a:chOff x="8547551" y="979091"/>
            <a:chExt cx="1704587" cy="1653198"/>
          </a:xfrm>
        </p:grpSpPr>
        <p:sp>
          <p:nvSpPr>
            <p:cNvPr id="27" name="Oval 26">
              <a:extLst>
                <a:ext uri="{FF2B5EF4-FFF2-40B4-BE49-F238E27FC236}">
                  <a16:creationId xmlns:a16="http://schemas.microsoft.com/office/drawing/2014/main" id="{300431D5-2AA9-EC4A-B665-7DA9D1CD3716}"/>
                </a:ext>
              </a:extLst>
            </p:cNvPr>
            <p:cNvSpPr/>
            <p:nvPr/>
          </p:nvSpPr>
          <p:spPr>
            <a:xfrm>
              <a:off x="8547551" y="979091"/>
              <a:ext cx="1704587" cy="1653198"/>
            </a:xfrm>
            <a:prstGeom prst="ellipse">
              <a:avLst/>
            </a:prstGeom>
            <a:gradFill flip="none" rotWithShape="1">
              <a:gsLst>
                <a:gs pos="0">
                  <a:schemeClr val="accent4">
                    <a:lumMod val="5000"/>
                    <a:lumOff val="95000"/>
                  </a:schemeClr>
                </a:gs>
                <a:gs pos="33000">
                  <a:srgbClr val="D0CCFF"/>
                </a:gs>
                <a:gs pos="100000">
                  <a:srgbClr val="7030A0"/>
                </a:gs>
              </a:gsLst>
              <a:path path="shap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8" name="Oval 27">
              <a:extLst>
                <a:ext uri="{FF2B5EF4-FFF2-40B4-BE49-F238E27FC236}">
                  <a16:creationId xmlns:a16="http://schemas.microsoft.com/office/drawing/2014/main" id="{101677B8-1A6B-2843-ADE6-3A5C8016B4EC}"/>
                </a:ext>
              </a:extLst>
            </p:cNvPr>
            <p:cNvSpPr/>
            <p:nvPr/>
          </p:nvSpPr>
          <p:spPr>
            <a:xfrm>
              <a:off x="8824914" y="1219811"/>
              <a:ext cx="1162050" cy="1171758"/>
            </a:xfrm>
            <a:prstGeom prst="ellipse">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T cell</a:t>
              </a:r>
            </a:p>
          </p:txBody>
        </p:sp>
      </p:grpSp>
      <p:sp>
        <p:nvSpPr>
          <p:cNvPr id="2" name="TextBox 1">
            <a:extLst>
              <a:ext uri="{FF2B5EF4-FFF2-40B4-BE49-F238E27FC236}">
                <a16:creationId xmlns:a16="http://schemas.microsoft.com/office/drawing/2014/main" id="{7306B82B-9A61-FB46-A19D-A97AEDDAE490}"/>
              </a:ext>
            </a:extLst>
          </p:cNvPr>
          <p:cNvSpPr txBox="1"/>
          <p:nvPr/>
        </p:nvSpPr>
        <p:spPr>
          <a:xfrm>
            <a:off x="4781608" y="2683777"/>
            <a:ext cx="5339923" cy="584775"/>
          </a:xfrm>
          <a:prstGeom prst="rect">
            <a:avLst/>
          </a:prstGeom>
          <a:noFill/>
        </p:spPr>
        <p:txBody>
          <a:bodyPr wrap="none" rtlCol="0">
            <a:spAutoFit/>
          </a:bodyPr>
          <a:lstStyle/>
          <a:p>
            <a:r>
              <a:rPr lang="en-US" sz="3200" dirty="0"/>
              <a:t>Immune Checkpoint Inhibitors</a:t>
            </a:r>
          </a:p>
        </p:txBody>
      </p:sp>
    </p:spTree>
    <p:extLst>
      <p:ext uri="{BB962C8B-B14F-4D97-AF65-F5344CB8AC3E}">
        <p14:creationId xmlns:p14="http://schemas.microsoft.com/office/powerpoint/2010/main" val="37912556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teachIM logo" descr="Icon&#10;&#10;Description automatically generated">
            <a:extLst>
              <a:ext uri="{FF2B5EF4-FFF2-40B4-BE49-F238E27FC236}">
                <a16:creationId xmlns:a16="http://schemas.microsoft.com/office/drawing/2014/main" id="{9941794D-0E4C-4929-897A-E61CE338C3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70638" y="6361866"/>
            <a:ext cx="1387970" cy="528106"/>
          </a:xfrm>
          <a:prstGeom prst="rect">
            <a:avLst/>
          </a:prstGeom>
        </p:spPr>
      </p:pic>
      <p:pic>
        <p:nvPicPr>
          <p:cNvPr id="73" name="TCR" descr="A picture containing clipart&#10;&#10;Description automatically generated">
            <a:extLst>
              <a:ext uri="{FF2B5EF4-FFF2-40B4-BE49-F238E27FC236}">
                <a16:creationId xmlns:a16="http://schemas.microsoft.com/office/drawing/2014/main" id="{A749C263-6A90-F943-A335-19B3517C3DCF}"/>
              </a:ext>
            </a:extLst>
          </p:cNvPr>
          <p:cNvPicPr>
            <a:picLocks noChangeAspect="1"/>
          </p:cNvPicPr>
          <p:nvPr/>
        </p:nvPicPr>
        <p:blipFill>
          <a:blip r:embed="rId4"/>
          <a:stretch>
            <a:fillRect/>
          </a:stretch>
        </p:blipFill>
        <p:spPr>
          <a:xfrm rot="16200000">
            <a:off x="7839578" y="1124632"/>
            <a:ext cx="480486" cy="599901"/>
          </a:xfrm>
          <a:prstGeom prst="rect">
            <a:avLst/>
          </a:prstGeom>
        </p:spPr>
      </p:pic>
      <p:sp>
        <p:nvSpPr>
          <p:cNvPr id="74" name="Cloud 73">
            <a:extLst>
              <a:ext uri="{FF2B5EF4-FFF2-40B4-BE49-F238E27FC236}">
                <a16:creationId xmlns:a16="http://schemas.microsoft.com/office/drawing/2014/main" id="{0C5F78B8-7A0F-F341-B6A1-3C72BC77AD96}"/>
              </a:ext>
            </a:extLst>
          </p:cNvPr>
          <p:cNvSpPr/>
          <p:nvPr/>
        </p:nvSpPr>
        <p:spPr>
          <a:xfrm>
            <a:off x="4893114" y="595854"/>
            <a:ext cx="2452588" cy="1657470"/>
          </a:xfrm>
          <a:prstGeom prst="cloud">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Tumor cell</a:t>
            </a:r>
          </a:p>
        </p:txBody>
      </p:sp>
      <p:grpSp>
        <p:nvGrpSpPr>
          <p:cNvPr id="75" name="HLA">
            <a:extLst>
              <a:ext uri="{FF2B5EF4-FFF2-40B4-BE49-F238E27FC236}">
                <a16:creationId xmlns:a16="http://schemas.microsoft.com/office/drawing/2014/main" id="{4C86DCE3-6469-FC44-8718-156E507B2364}"/>
              </a:ext>
            </a:extLst>
          </p:cNvPr>
          <p:cNvGrpSpPr/>
          <p:nvPr/>
        </p:nvGrpSpPr>
        <p:grpSpPr>
          <a:xfrm rot="5400000">
            <a:off x="7445916" y="1140790"/>
            <a:ext cx="301619" cy="567587"/>
            <a:chOff x="8511393" y="1228380"/>
            <a:chExt cx="523874" cy="1188072"/>
          </a:xfrm>
        </p:grpSpPr>
        <p:sp>
          <p:nvSpPr>
            <p:cNvPr id="76" name="Rounded Rectangle 75">
              <a:extLst>
                <a:ext uri="{FF2B5EF4-FFF2-40B4-BE49-F238E27FC236}">
                  <a16:creationId xmlns:a16="http://schemas.microsoft.com/office/drawing/2014/main" id="{8751752F-1B69-A947-BEF5-A9D7B5649221}"/>
                </a:ext>
              </a:extLst>
            </p:cNvPr>
            <p:cNvSpPr/>
            <p:nvPr/>
          </p:nvSpPr>
          <p:spPr>
            <a:xfrm>
              <a:off x="8623053" y="2126256"/>
              <a:ext cx="85781" cy="290196"/>
            </a:xfrm>
            <a:prstGeom prst="round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7" name="Rounded Rectangle 76">
              <a:extLst>
                <a:ext uri="{FF2B5EF4-FFF2-40B4-BE49-F238E27FC236}">
                  <a16:creationId xmlns:a16="http://schemas.microsoft.com/office/drawing/2014/main" id="{E49D97DC-2142-FF4D-AB65-026AB7C550F9}"/>
                </a:ext>
              </a:extLst>
            </p:cNvPr>
            <p:cNvSpPr/>
            <p:nvPr/>
          </p:nvSpPr>
          <p:spPr>
            <a:xfrm>
              <a:off x="8511393" y="1361530"/>
              <a:ext cx="523874" cy="814387"/>
            </a:xfrm>
            <a:prstGeom prst="round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78" name="Oval 77">
              <a:extLst>
                <a:ext uri="{FF2B5EF4-FFF2-40B4-BE49-F238E27FC236}">
                  <a16:creationId xmlns:a16="http://schemas.microsoft.com/office/drawing/2014/main" id="{94DE0E54-48B9-5340-BF0D-13E1B827F6E7}"/>
                </a:ext>
              </a:extLst>
            </p:cNvPr>
            <p:cNvSpPr/>
            <p:nvPr/>
          </p:nvSpPr>
          <p:spPr>
            <a:xfrm>
              <a:off x="8623053" y="1228380"/>
              <a:ext cx="300555" cy="34754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79" name="Peptide">
            <a:extLst>
              <a:ext uri="{FF2B5EF4-FFF2-40B4-BE49-F238E27FC236}">
                <a16:creationId xmlns:a16="http://schemas.microsoft.com/office/drawing/2014/main" id="{77DFE5C3-CFED-5E49-B937-B4D5D9D1928D}"/>
              </a:ext>
            </a:extLst>
          </p:cNvPr>
          <p:cNvSpPr/>
          <p:nvPr/>
        </p:nvSpPr>
        <p:spPr>
          <a:xfrm>
            <a:off x="7733891" y="1358108"/>
            <a:ext cx="176907" cy="1331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grpSp>
        <p:nvGrpSpPr>
          <p:cNvPr id="86" name="T cell">
            <a:extLst>
              <a:ext uri="{FF2B5EF4-FFF2-40B4-BE49-F238E27FC236}">
                <a16:creationId xmlns:a16="http://schemas.microsoft.com/office/drawing/2014/main" id="{25FD581F-C994-5E49-94CB-502BF76AA0B2}"/>
              </a:ext>
            </a:extLst>
          </p:cNvPr>
          <p:cNvGrpSpPr/>
          <p:nvPr/>
        </p:nvGrpSpPr>
        <p:grpSpPr>
          <a:xfrm>
            <a:off x="8344967" y="781472"/>
            <a:ext cx="1448559" cy="1360176"/>
            <a:chOff x="8547551" y="979091"/>
            <a:chExt cx="1704587" cy="1653198"/>
          </a:xfrm>
        </p:grpSpPr>
        <p:sp>
          <p:nvSpPr>
            <p:cNvPr id="87" name="Oval 86">
              <a:extLst>
                <a:ext uri="{FF2B5EF4-FFF2-40B4-BE49-F238E27FC236}">
                  <a16:creationId xmlns:a16="http://schemas.microsoft.com/office/drawing/2014/main" id="{F7D1055A-EA06-DF4A-91A4-5DEF5BCCA88D}"/>
                </a:ext>
              </a:extLst>
            </p:cNvPr>
            <p:cNvSpPr/>
            <p:nvPr/>
          </p:nvSpPr>
          <p:spPr>
            <a:xfrm>
              <a:off x="8547551" y="979091"/>
              <a:ext cx="1704587" cy="1653198"/>
            </a:xfrm>
            <a:prstGeom prst="ellipse">
              <a:avLst/>
            </a:prstGeom>
            <a:gradFill flip="none" rotWithShape="1">
              <a:gsLst>
                <a:gs pos="0">
                  <a:schemeClr val="accent4">
                    <a:lumMod val="5000"/>
                    <a:lumOff val="95000"/>
                  </a:schemeClr>
                </a:gs>
                <a:gs pos="33000">
                  <a:srgbClr val="D0CCFF"/>
                </a:gs>
                <a:gs pos="100000">
                  <a:srgbClr val="7030A0"/>
                </a:gs>
              </a:gsLst>
              <a:path path="shap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88" name="Oval 87">
              <a:extLst>
                <a:ext uri="{FF2B5EF4-FFF2-40B4-BE49-F238E27FC236}">
                  <a16:creationId xmlns:a16="http://schemas.microsoft.com/office/drawing/2014/main" id="{88EB37D1-E3B4-3D45-9DC3-DE0B05BB4BC2}"/>
                </a:ext>
              </a:extLst>
            </p:cNvPr>
            <p:cNvSpPr/>
            <p:nvPr/>
          </p:nvSpPr>
          <p:spPr>
            <a:xfrm>
              <a:off x="8824914" y="1219811"/>
              <a:ext cx="1162050" cy="1171758"/>
            </a:xfrm>
            <a:prstGeom prst="ellipse">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T cell</a:t>
              </a:r>
            </a:p>
          </p:txBody>
        </p:sp>
      </p:grpSp>
      <p:sp>
        <p:nvSpPr>
          <p:cNvPr id="93" name="TextBox 92">
            <a:extLst>
              <a:ext uri="{FF2B5EF4-FFF2-40B4-BE49-F238E27FC236}">
                <a16:creationId xmlns:a16="http://schemas.microsoft.com/office/drawing/2014/main" id="{C9DD8EEF-FD98-0148-960A-A73CB4752A34}"/>
              </a:ext>
            </a:extLst>
          </p:cNvPr>
          <p:cNvSpPr txBox="1"/>
          <p:nvPr/>
        </p:nvSpPr>
        <p:spPr>
          <a:xfrm>
            <a:off x="7321810" y="870447"/>
            <a:ext cx="548482" cy="307777"/>
          </a:xfrm>
          <a:prstGeom prst="rect">
            <a:avLst/>
          </a:prstGeom>
          <a:noFill/>
        </p:spPr>
        <p:txBody>
          <a:bodyPr wrap="square" rtlCol="0">
            <a:spAutoFit/>
          </a:bodyPr>
          <a:lstStyle/>
          <a:p>
            <a:r>
              <a:rPr lang="en-US" sz="1400" dirty="0"/>
              <a:t>MHC</a:t>
            </a:r>
          </a:p>
        </p:txBody>
      </p:sp>
      <p:sp>
        <p:nvSpPr>
          <p:cNvPr id="94" name="TextBox 93">
            <a:extLst>
              <a:ext uri="{FF2B5EF4-FFF2-40B4-BE49-F238E27FC236}">
                <a16:creationId xmlns:a16="http://schemas.microsoft.com/office/drawing/2014/main" id="{079292AC-8727-F24D-B9C8-84194950DFC7}"/>
              </a:ext>
            </a:extLst>
          </p:cNvPr>
          <p:cNvSpPr txBox="1"/>
          <p:nvPr/>
        </p:nvSpPr>
        <p:spPr>
          <a:xfrm>
            <a:off x="7957452" y="864168"/>
            <a:ext cx="459400" cy="307777"/>
          </a:xfrm>
          <a:prstGeom prst="rect">
            <a:avLst/>
          </a:prstGeom>
          <a:noFill/>
        </p:spPr>
        <p:txBody>
          <a:bodyPr wrap="square" rtlCol="0">
            <a:spAutoFit/>
          </a:bodyPr>
          <a:lstStyle/>
          <a:p>
            <a:r>
              <a:rPr lang="en-US" sz="1400" dirty="0"/>
              <a:t>TCR</a:t>
            </a:r>
          </a:p>
        </p:txBody>
      </p:sp>
      <p:cxnSp>
        <p:nvCxnSpPr>
          <p:cNvPr id="95" name="Straight Connector 94">
            <a:extLst>
              <a:ext uri="{FF2B5EF4-FFF2-40B4-BE49-F238E27FC236}">
                <a16:creationId xmlns:a16="http://schemas.microsoft.com/office/drawing/2014/main" id="{6E8E137C-4A87-AD4C-AD13-1340B8368880}"/>
              </a:ext>
            </a:extLst>
          </p:cNvPr>
          <p:cNvCxnSpPr>
            <a:cxnSpLocks/>
          </p:cNvCxnSpPr>
          <p:nvPr/>
        </p:nvCxnSpPr>
        <p:spPr>
          <a:xfrm>
            <a:off x="7593696" y="1121596"/>
            <a:ext cx="45990" cy="16445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1F125CCB-8A24-BE47-BD13-D65E8245B585}"/>
              </a:ext>
            </a:extLst>
          </p:cNvPr>
          <p:cNvCxnSpPr>
            <a:cxnSpLocks/>
          </p:cNvCxnSpPr>
          <p:nvPr/>
        </p:nvCxnSpPr>
        <p:spPr>
          <a:xfrm flipH="1">
            <a:off x="8164276" y="1121596"/>
            <a:ext cx="30615" cy="223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82F0D056-216B-B14D-8593-9279B36DEEE1}"/>
              </a:ext>
            </a:extLst>
          </p:cNvPr>
          <p:cNvCxnSpPr>
            <a:cxnSpLocks/>
          </p:cNvCxnSpPr>
          <p:nvPr/>
        </p:nvCxnSpPr>
        <p:spPr>
          <a:xfrm flipH="1">
            <a:off x="7738208" y="1483910"/>
            <a:ext cx="72278" cy="30779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359BC971-17E9-BD4C-824C-3C7283A134E5}"/>
              </a:ext>
            </a:extLst>
          </p:cNvPr>
          <p:cNvSpPr txBox="1"/>
          <p:nvPr/>
        </p:nvSpPr>
        <p:spPr>
          <a:xfrm>
            <a:off x="7025247" y="1739565"/>
            <a:ext cx="1509245" cy="523220"/>
          </a:xfrm>
          <a:prstGeom prst="rect">
            <a:avLst/>
          </a:prstGeom>
          <a:noFill/>
        </p:spPr>
        <p:txBody>
          <a:bodyPr wrap="square" rtlCol="0">
            <a:spAutoFit/>
          </a:bodyPr>
          <a:lstStyle/>
          <a:p>
            <a:pPr algn="ctr"/>
            <a:r>
              <a:rPr lang="en-US" sz="1400" dirty="0"/>
              <a:t>Mutated peptide</a:t>
            </a:r>
          </a:p>
          <a:p>
            <a:pPr algn="ctr"/>
            <a:r>
              <a:rPr lang="en-US" sz="1400" dirty="0"/>
              <a:t>(‘non-self’)</a:t>
            </a:r>
          </a:p>
        </p:txBody>
      </p:sp>
      <p:sp>
        <p:nvSpPr>
          <p:cNvPr id="71" name="Arc 70">
            <a:extLst>
              <a:ext uri="{FF2B5EF4-FFF2-40B4-BE49-F238E27FC236}">
                <a16:creationId xmlns:a16="http://schemas.microsoft.com/office/drawing/2014/main" id="{02BE11C9-570D-8B44-8E94-9C0D4D739C53}"/>
              </a:ext>
            </a:extLst>
          </p:cNvPr>
          <p:cNvSpPr/>
          <p:nvPr/>
        </p:nvSpPr>
        <p:spPr>
          <a:xfrm rot="17890713">
            <a:off x="7265056" y="189411"/>
            <a:ext cx="1529595" cy="1836914"/>
          </a:xfrm>
          <a:prstGeom prst="arc">
            <a:avLst>
              <a:gd name="adj1" fmla="val 16200000"/>
              <a:gd name="adj2" fmla="val 2190173"/>
            </a:avLst>
          </a:prstGeom>
          <a:ln w="34925">
            <a:solidFill>
              <a:srgbClr val="FF0000"/>
            </a:solidFill>
            <a:headEnd type="triangle" w="lg"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6" name="Cross 125">
            <a:extLst>
              <a:ext uri="{FF2B5EF4-FFF2-40B4-BE49-F238E27FC236}">
                <a16:creationId xmlns:a16="http://schemas.microsoft.com/office/drawing/2014/main" id="{7A392E9B-87E3-3741-B700-E58EE53ED9B4}"/>
              </a:ext>
            </a:extLst>
          </p:cNvPr>
          <p:cNvSpPr/>
          <p:nvPr/>
        </p:nvSpPr>
        <p:spPr>
          <a:xfrm rot="18760539">
            <a:off x="5563779" y="817533"/>
            <a:ext cx="1127760" cy="1156752"/>
          </a:xfrm>
          <a:prstGeom prst="plus">
            <a:avLst>
              <a:gd name="adj" fmla="val 4572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ounded Rectangle 126">
            <a:extLst>
              <a:ext uri="{FF2B5EF4-FFF2-40B4-BE49-F238E27FC236}">
                <a16:creationId xmlns:a16="http://schemas.microsoft.com/office/drawing/2014/main" id="{1E67B182-20A7-154E-BB2E-2D89D37F1B0B}"/>
              </a:ext>
            </a:extLst>
          </p:cNvPr>
          <p:cNvSpPr/>
          <p:nvPr/>
        </p:nvSpPr>
        <p:spPr>
          <a:xfrm>
            <a:off x="6909254" y="797342"/>
            <a:ext cx="1776494" cy="1495835"/>
          </a:xfrm>
          <a:prstGeom prst="roundRect">
            <a:avLst/>
          </a:prstGeom>
          <a:noFill/>
          <a:ln w="60325">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8" name="T cell selection" descr="Cursor with solid fill">
            <a:extLst>
              <a:ext uri="{FF2B5EF4-FFF2-40B4-BE49-F238E27FC236}">
                <a16:creationId xmlns:a16="http://schemas.microsoft.com/office/drawing/2014/main" id="{F7FE6CDA-1ADB-D744-8D16-720F7852D58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35905" y="1825056"/>
            <a:ext cx="411480" cy="411480"/>
          </a:xfrm>
          <a:prstGeom prst="rect">
            <a:avLst/>
          </a:prstGeom>
        </p:spPr>
      </p:pic>
      <p:sp>
        <p:nvSpPr>
          <p:cNvPr id="56" name="question 1">
            <a:hlinkClick r:id="rId7" action="ppaction://hlinksldjump"/>
            <a:extLst>
              <a:ext uri="{FF2B5EF4-FFF2-40B4-BE49-F238E27FC236}">
                <a16:creationId xmlns:a16="http://schemas.microsoft.com/office/drawing/2014/main" id="{A00883D7-5D2B-0442-B51D-1581D9E5384C}"/>
              </a:ext>
            </a:extLst>
          </p:cNvPr>
          <p:cNvSpPr txBox="1"/>
          <p:nvPr/>
        </p:nvSpPr>
        <p:spPr>
          <a:xfrm>
            <a:off x="212688" y="529725"/>
            <a:ext cx="2423423" cy="408623"/>
          </a:xfrm>
          <a:prstGeom prst="roundRect">
            <a:avLst/>
          </a:prstGeom>
          <a:ln w="38100">
            <a:solidFill>
              <a:srgbClr val="0070C0"/>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t>Immune system basics</a:t>
            </a:r>
            <a:endParaRPr lang="en-US" dirty="0">
              <a:solidFill>
                <a:sysClr val="windowText" lastClr="000000"/>
              </a:solidFill>
            </a:endParaRPr>
          </a:p>
        </p:txBody>
      </p:sp>
      <p:sp>
        <p:nvSpPr>
          <p:cNvPr id="57" name="Cases">
            <a:hlinkClick r:id="rId8" action="ppaction://hlinksldjump"/>
            <a:extLst>
              <a:ext uri="{FF2B5EF4-FFF2-40B4-BE49-F238E27FC236}">
                <a16:creationId xmlns:a16="http://schemas.microsoft.com/office/drawing/2014/main" id="{ED935CDA-A1FB-9C48-BEEE-9450E67A461C}"/>
              </a:ext>
            </a:extLst>
          </p:cNvPr>
          <p:cNvSpPr txBox="1"/>
          <p:nvPr/>
        </p:nvSpPr>
        <p:spPr>
          <a:xfrm>
            <a:off x="212688" y="5263878"/>
            <a:ext cx="2423423" cy="408623"/>
          </a:xfrm>
          <a:prstGeom prst="roundRect">
            <a:avLst/>
          </a:prstGeom>
          <a:solidFill>
            <a:schemeClr val="accent5"/>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sp>
        <p:nvSpPr>
          <p:cNvPr id="58" name="sub-q 1-1">
            <a:hlinkClick r:id="rId9" action="ppaction://hlinksldjump"/>
            <a:extLst>
              <a:ext uri="{FF2B5EF4-FFF2-40B4-BE49-F238E27FC236}">
                <a16:creationId xmlns:a16="http://schemas.microsoft.com/office/drawing/2014/main" id="{F63ECECA-D489-4344-9F57-B5FD999C7944}"/>
              </a:ext>
            </a:extLst>
          </p:cNvPr>
          <p:cNvSpPr txBox="1"/>
          <p:nvPr/>
        </p:nvSpPr>
        <p:spPr>
          <a:xfrm>
            <a:off x="212688" y="1157424"/>
            <a:ext cx="2423423" cy="408623"/>
          </a:xfrm>
          <a:prstGeom prst="roundRect">
            <a:avLst/>
          </a:prstGeom>
          <a:ln w="38100">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solidFill>
                  <a:sysClr val="windowText" lastClr="000000"/>
                </a:solidFill>
              </a:rPr>
              <a:t>How tumors ‘hide’</a:t>
            </a:r>
          </a:p>
        </p:txBody>
      </p:sp>
      <p:sp>
        <p:nvSpPr>
          <p:cNvPr id="59" name="Sub-q-1-2">
            <a:hlinkClick r:id="rId10" action="ppaction://hlinksldjump"/>
            <a:extLst>
              <a:ext uri="{FF2B5EF4-FFF2-40B4-BE49-F238E27FC236}">
                <a16:creationId xmlns:a16="http://schemas.microsoft.com/office/drawing/2014/main" id="{51A0F218-0688-AE4B-A20B-A528DAF31199}"/>
              </a:ext>
            </a:extLst>
          </p:cNvPr>
          <p:cNvSpPr txBox="1"/>
          <p:nvPr/>
        </p:nvSpPr>
        <p:spPr>
          <a:xfrm>
            <a:off x="212688" y="1785123"/>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Immune checkpoints</a:t>
            </a:r>
          </a:p>
        </p:txBody>
      </p:sp>
      <p:sp>
        <p:nvSpPr>
          <p:cNvPr id="60" name="Question 2">
            <a:hlinkClick r:id="rId11" action="ppaction://hlinksldjump"/>
            <a:extLst>
              <a:ext uri="{FF2B5EF4-FFF2-40B4-BE49-F238E27FC236}">
                <a16:creationId xmlns:a16="http://schemas.microsoft.com/office/drawing/2014/main" id="{1D12867B-2322-2E41-BE3C-FA863ED2093D}"/>
              </a:ext>
            </a:extLst>
          </p:cNvPr>
          <p:cNvSpPr txBox="1"/>
          <p:nvPr/>
        </p:nvSpPr>
        <p:spPr>
          <a:xfrm>
            <a:off x="212688" y="2412822"/>
            <a:ext cx="2423423" cy="71508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Immune checkpoint  inhibitors (ICIs)</a:t>
            </a:r>
            <a:endParaRPr lang="en-US" dirty="0">
              <a:solidFill>
                <a:sysClr val="windowText" lastClr="000000"/>
              </a:solidFill>
            </a:endParaRPr>
          </a:p>
        </p:txBody>
      </p:sp>
      <p:pic>
        <p:nvPicPr>
          <p:cNvPr id="62" name="Graphic 61" descr="Cursor with solid fill">
            <a:extLst>
              <a:ext uri="{FF2B5EF4-FFF2-40B4-BE49-F238E27FC236}">
                <a16:creationId xmlns:a16="http://schemas.microsoft.com/office/drawing/2014/main" id="{C4F371C0-944C-1241-B68B-7051E52D344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470301" y="5496401"/>
            <a:ext cx="411480" cy="411480"/>
          </a:xfrm>
          <a:prstGeom prst="rect">
            <a:avLst/>
          </a:prstGeom>
        </p:spPr>
      </p:pic>
      <p:pic>
        <p:nvPicPr>
          <p:cNvPr id="63" name="Graphic 62" descr="Cursor with solid fill">
            <a:extLst>
              <a:ext uri="{FF2B5EF4-FFF2-40B4-BE49-F238E27FC236}">
                <a16:creationId xmlns:a16="http://schemas.microsoft.com/office/drawing/2014/main" id="{0EC03EB4-E006-BB4F-A98A-F65EB2163B9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470301" y="2020349"/>
            <a:ext cx="411480" cy="411480"/>
          </a:xfrm>
          <a:prstGeom prst="rect">
            <a:avLst/>
          </a:prstGeom>
        </p:spPr>
      </p:pic>
      <p:pic>
        <p:nvPicPr>
          <p:cNvPr id="64" name="Graphic 63" descr="Cursor with solid fill">
            <a:extLst>
              <a:ext uri="{FF2B5EF4-FFF2-40B4-BE49-F238E27FC236}">
                <a16:creationId xmlns:a16="http://schemas.microsoft.com/office/drawing/2014/main" id="{93979955-D390-1A49-8050-81FA7CD1E14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470301" y="2940853"/>
            <a:ext cx="411480" cy="411480"/>
          </a:xfrm>
          <a:prstGeom prst="rect">
            <a:avLst/>
          </a:prstGeom>
        </p:spPr>
      </p:pic>
      <p:pic>
        <p:nvPicPr>
          <p:cNvPr id="65" name="Graphic 64" descr="Cursor with solid fill">
            <a:extLst>
              <a:ext uri="{FF2B5EF4-FFF2-40B4-BE49-F238E27FC236}">
                <a16:creationId xmlns:a16="http://schemas.microsoft.com/office/drawing/2014/main" id="{1412C2EA-A510-8C43-99FA-A138CB74E81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470301" y="1395415"/>
            <a:ext cx="411480" cy="411480"/>
          </a:xfrm>
          <a:prstGeom prst="rect">
            <a:avLst/>
          </a:prstGeom>
        </p:spPr>
      </p:pic>
      <p:sp>
        <p:nvSpPr>
          <p:cNvPr id="66" name="Sub-q-1-2">
            <a:hlinkClick r:id="rId12" action="ppaction://hlinksldjump"/>
            <a:extLst>
              <a:ext uri="{FF2B5EF4-FFF2-40B4-BE49-F238E27FC236}">
                <a16:creationId xmlns:a16="http://schemas.microsoft.com/office/drawing/2014/main" id="{8722DF0D-8782-DA4F-B9C4-889CE5DD8369}"/>
              </a:ext>
            </a:extLst>
          </p:cNvPr>
          <p:cNvSpPr txBox="1"/>
          <p:nvPr/>
        </p:nvSpPr>
        <p:spPr>
          <a:xfrm>
            <a:off x="212688" y="3346987"/>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When do we use ICIs?</a:t>
            </a:r>
          </a:p>
        </p:txBody>
      </p:sp>
      <p:pic>
        <p:nvPicPr>
          <p:cNvPr id="67" name="Graphic 66" descr="Cursor with solid fill">
            <a:extLst>
              <a:ext uri="{FF2B5EF4-FFF2-40B4-BE49-F238E27FC236}">
                <a16:creationId xmlns:a16="http://schemas.microsoft.com/office/drawing/2014/main" id="{44021A16-63EA-E84C-81E3-7622825FE20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470301" y="3584978"/>
            <a:ext cx="411480" cy="411480"/>
          </a:xfrm>
          <a:prstGeom prst="rect">
            <a:avLst/>
          </a:prstGeom>
        </p:spPr>
      </p:pic>
      <p:sp>
        <p:nvSpPr>
          <p:cNvPr id="68" name="Sub-q-1-2">
            <a:hlinkClick r:id="rId13" action="ppaction://hlinksldjump"/>
            <a:extLst>
              <a:ext uri="{FF2B5EF4-FFF2-40B4-BE49-F238E27FC236}">
                <a16:creationId xmlns:a16="http://schemas.microsoft.com/office/drawing/2014/main" id="{280B96E1-9E53-E141-A1A3-0AE92586714A}"/>
              </a:ext>
            </a:extLst>
          </p:cNvPr>
          <p:cNvSpPr txBox="1"/>
          <p:nvPr/>
        </p:nvSpPr>
        <p:spPr>
          <a:xfrm>
            <a:off x="212688" y="3974687"/>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Side effects of ICIs</a:t>
            </a:r>
          </a:p>
        </p:txBody>
      </p:sp>
      <p:pic>
        <p:nvPicPr>
          <p:cNvPr id="69" name="Graphic 68" descr="Cursor with solid fill">
            <a:extLst>
              <a:ext uri="{FF2B5EF4-FFF2-40B4-BE49-F238E27FC236}">
                <a16:creationId xmlns:a16="http://schemas.microsoft.com/office/drawing/2014/main" id="{C4D89C59-EC1C-9C46-82BE-69C91F44C4F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470301" y="4219662"/>
            <a:ext cx="411480" cy="411480"/>
          </a:xfrm>
          <a:prstGeom prst="rect">
            <a:avLst/>
          </a:prstGeom>
        </p:spPr>
      </p:pic>
    </p:spTree>
    <p:extLst>
      <p:ext uri="{BB962C8B-B14F-4D97-AF65-F5344CB8AC3E}">
        <p14:creationId xmlns:p14="http://schemas.microsoft.com/office/powerpoint/2010/main" val="255835139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6"/>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71"/>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126"/>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127"/>
                                        </p:tgtEl>
                                        <p:attrNameLst>
                                          <p:attrName>style.visibility</p:attrName>
                                        </p:attrNameLst>
                                      </p:cBhvr>
                                      <p:to>
                                        <p:strVal val="hidden"/>
                                      </p:to>
                                    </p:set>
                                  </p:childTnLst>
                                </p:cTn>
                              </p:par>
                            </p:childTnLst>
                          </p:cTn>
                        </p:par>
                      </p:childTnLst>
                    </p:cTn>
                  </p:par>
                </p:childTnLst>
              </p:cTn>
              <p:nextCondLst>
                <p:cond evt="onClick" delay="0">
                  <p:tgtEl>
                    <p:spTgt spid="86"/>
                  </p:tgtEl>
                </p:cond>
              </p:nextCondLst>
            </p:seq>
          </p:childTnLst>
        </p:cTn>
      </p:par>
    </p:tnLst>
    <p:bldLst>
      <p:bldP spid="71" grpId="0" animBg="1"/>
      <p:bldP spid="71" grpId="1" animBg="1"/>
      <p:bldP spid="126" grpId="0" animBg="1"/>
      <p:bldP spid="126" grpId="1" animBg="1"/>
      <p:bldP spid="127" grpId="0" animBg="1"/>
      <p:bldP spid="127"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teachIM logo" descr="Icon&#10;&#10;Description automatically generated">
            <a:extLst>
              <a:ext uri="{FF2B5EF4-FFF2-40B4-BE49-F238E27FC236}">
                <a16:creationId xmlns:a16="http://schemas.microsoft.com/office/drawing/2014/main" id="{9941794D-0E4C-4929-897A-E61CE338C3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70638" y="6361866"/>
            <a:ext cx="1387970" cy="528106"/>
          </a:xfrm>
          <a:prstGeom prst="rect">
            <a:avLst/>
          </a:prstGeom>
        </p:spPr>
      </p:pic>
      <p:sp>
        <p:nvSpPr>
          <p:cNvPr id="130" name="Cloud 129">
            <a:extLst>
              <a:ext uri="{FF2B5EF4-FFF2-40B4-BE49-F238E27FC236}">
                <a16:creationId xmlns:a16="http://schemas.microsoft.com/office/drawing/2014/main" id="{50C5C04E-3901-6547-A11D-13516EB968E7}"/>
              </a:ext>
            </a:extLst>
          </p:cNvPr>
          <p:cNvSpPr/>
          <p:nvPr/>
        </p:nvSpPr>
        <p:spPr>
          <a:xfrm>
            <a:off x="4928535" y="3742563"/>
            <a:ext cx="2468880" cy="1644720"/>
          </a:xfrm>
          <a:prstGeom prst="cloud">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Tumor cell</a:t>
            </a:r>
          </a:p>
        </p:txBody>
      </p:sp>
      <p:pic>
        <p:nvPicPr>
          <p:cNvPr id="131" name="Picture 130" descr="A picture containing clipart&#10;&#10;Description automatically generated">
            <a:extLst>
              <a:ext uri="{FF2B5EF4-FFF2-40B4-BE49-F238E27FC236}">
                <a16:creationId xmlns:a16="http://schemas.microsoft.com/office/drawing/2014/main" id="{11AE46FA-D8E7-E044-B20E-A6639CDC158C}"/>
              </a:ext>
            </a:extLst>
          </p:cNvPr>
          <p:cNvPicPr>
            <a:picLocks noChangeAspect="1"/>
          </p:cNvPicPr>
          <p:nvPr/>
        </p:nvPicPr>
        <p:blipFill>
          <a:blip r:embed="rId4"/>
          <a:stretch>
            <a:fillRect/>
          </a:stretch>
        </p:blipFill>
        <p:spPr>
          <a:xfrm rot="16200000">
            <a:off x="7960379" y="4326154"/>
            <a:ext cx="476790" cy="605123"/>
          </a:xfrm>
          <a:prstGeom prst="rect">
            <a:avLst/>
          </a:prstGeom>
        </p:spPr>
      </p:pic>
      <p:sp>
        <p:nvSpPr>
          <p:cNvPr id="133" name="Rounded Rectangle 132">
            <a:extLst>
              <a:ext uri="{FF2B5EF4-FFF2-40B4-BE49-F238E27FC236}">
                <a16:creationId xmlns:a16="http://schemas.microsoft.com/office/drawing/2014/main" id="{D676EA83-CAEC-FF45-A22A-12D00CD56F88}"/>
              </a:ext>
            </a:extLst>
          </p:cNvPr>
          <p:cNvSpPr/>
          <p:nvPr/>
        </p:nvSpPr>
        <p:spPr>
          <a:xfrm rot="5400000">
            <a:off x="7470627" y="4497443"/>
            <a:ext cx="49008" cy="139844"/>
          </a:xfrm>
          <a:prstGeom prst="round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ounded Rectangle 133">
            <a:extLst>
              <a:ext uri="{FF2B5EF4-FFF2-40B4-BE49-F238E27FC236}">
                <a16:creationId xmlns:a16="http://schemas.microsoft.com/office/drawing/2014/main" id="{6838270F-BCAB-6C4E-8FAB-3C4C38F246FC}"/>
              </a:ext>
            </a:extLst>
          </p:cNvPr>
          <p:cNvSpPr/>
          <p:nvPr/>
        </p:nvSpPr>
        <p:spPr>
          <a:xfrm rot="5400000">
            <a:off x="7587698" y="4432491"/>
            <a:ext cx="299299" cy="392451"/>
          </a:xfrm>
          <a:prstGeom prst="round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5" name="Oval 134">
            <a:extLst>
              <a:ext uri="{FF2B5EF4-FFF2-40B4-BE49-F238E27FC236}">
                <a16:creationId xmlns:a16="http://schemas.microsoft.com/office/drawing/2014/main" id="{E7AF3EC1-E99F-0B4D-A937-D0883CF8E220}"/>
              </a:ext>
            </a:extLst>
          </p:cNvPr>
          <p:cNvSpPr/>
          <p:nvPr/>
        </p:nvSpPr>
        <p:spPr>
          <a:xfrm rot="5400000">
            <a:off x="7828140" y="4544976"/>
            <a:ext cx="171713" cy="16748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a:extLst>
              <a:ext uri="{FF2B5EF4-FFF2-40B4-BE49-F238E27FC236}">
                <a16:creationId xmlns:a16="http://schemas.microsoft.com/office/drawing/2014/main" id="{9EDFB190-0F50-B74A-87A2-1BC3B9DE87BF}"/>
              </a:ext>
            </a:extLst>
          </p:cNvPr>
          <p:cNvSpPr/>
          <p:nvPr/>
        </p:nvSpPr>
        <p:spPr>
          <a:xfrm>
            <a:off x="7849832" y="4562752"/>
            <a:ext cx="178447" cy="13209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0" name="Oval 139">
            <a:extLst>
              <a:ext uri="{FF2B5EF4-FFF2-40B4-BE49-F238E27FC236}">
                <a16:creationId xmlns:a16="http://schemas.microsoft.com/office/drawing/2014/main" id="{8FBD7C97-44E0-C842-8E72-AAF2AC235312}"/>
              </a:ext>
            </a:extLst>
          </p:cNvPr>
          <p:cNvSpPr/>
          <p:nvPr/>
        </p:nvSpPr>
        <p:spPr>
          <a:xfrm>
            <a:off x="8466229" y="3990552"/>
            <a:ext cx="1461170" cy="1349714"/>
          </a:xfrm>
          <a:prstGeom prst="ellipse">
            <a:avLst/>
          </a:prstGeom>
          <a:gradFill flip="none" rotWithShape="1">
            <a:gsLst>
              <a:gs pos="0">
                <a:schemeClr val="accent4">
                  <a:lumMod val="5000"/>
                  <a:lumOff val="95000"/>
                </a:schemeClr>
              </a:gs>
              <a:gs pos="33000">
                <a:srgbClr val="D0CCFF"/>
              </a:gs>
              <a:gs pos="100000">
                <a:srgbClr val="7030A0"/>
              </a:gs>
            </a:gsLst>
            <a:path path="shap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Oval 140">
            <a:extLst>
              <a:ext uri="{FF2B5EF4-FFF2-40B4-BE49-F238E27FC236}">
                <a16:creationId xmlns:a16="http://schemas.microsoft.com/office/drawing/2014/main" id="{90CD1278-B578-9748-B465-DF4BEABEBEC6}"/>
              </a:ext>
            </a:extLst>
          </p:cNvPr>
          <p:cNvSpPr/>
          <p:nvPr/>
        </p:nvSpPr>
        <p:spPr>
          <a:xfrm>
            <a:off x="8703984" y="4187082"/>
            <a:ext cx="996108" cy="956654"/>
          </a:xfrm>
          <a:prstGeom prst="ellipse">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 cell</a:t>
            </a:r>
          </a:p>
        </p:txBody>
      </p:sp>
      <p:grpSp>
        <p:nvGrpSpPr>
          <p:cNvPr id="3" name="Group 2">
            <a:extLst>
              <a:ext uri="{FF2B5EF4-FFF2-40B4-BE49-F238E27FC236}">
                <a16:creationId xmlns:a16="http://schemas.microsoft.com/office/drawing/2014/main" id="{57CDF684-B972-C74C-B986-F7AAC23D6540}"/>
              </a:ext>
            </a:extLst>
          </p:cNvPr>
          <p:cNvGrpSpPr/>
          <p:nvPr/>
        </p:nvGrpSpPr>
        <p:grpSpPr>
          <a:xfrm>
            <a:off x="6931426" y="3461152"/>
            <a:ext cx="901649" cy="513535"/>
            <a:chOff x="7154299" y="3701105"/>
            <a:chExt cx="901649" cy="513535"/>
          </a:xfrm>
        </p:grpSpPr>
        <p:sp>
          <p:nvSpPr>
            <p:cNvPr id="143" name="Rounded Rectangle 142">
              <a:extLst>
                <a:ext uri="{FF2B5EF4-FFF2-40B4-BE49-F238E27FC236}">
                  <a16:creationId xmlns:a16="http://schemas.microsoft.com/office/drawing/2014/main" id="{4A12C84D-FE57-6345-BA60-6BB64D443627}"/>
                </a:ext>
              </a:extLst>
            </p:cNvPr>
            <p:cNvSpPr/>
            <p:nvPr/>
          </p:nvSpPr>
          <p:spPr>
            <a:xfrm rot="5400000">
              <a:off x="7244940" y="4011251"/>
              <a:ext cx="112748" cy="294030"/>
            </a:xfrm>
            <a:prstGeom prst="roundRect">
              <a:avLst/>
            </a:prstGeom>
            <a:solidFill>
              <a:srgbClr val="FAAFB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ounded Rectangle 143">
              <a:extLst>
                <a:ext uri="{FF2B5EF4-FFF2-40B4-BE49-F238E27FC236}">
                  <a16:creationId xmlns:a16="http://schemas.microsoft.com/office/drawing/2014/main" id="{1A335C32-13C4-DB45-8419-876C97907020}"/>
                </a:ext>
              </a:extLst>
            </p:cNvPr>
            <p:cNvSpPr/>
            <p:nvPr/>
          </p:nvSpPr>
          <p:spPr>
            <a:xfrm rot="5400000">
              <a:off x="7548749" y="4011251"/>
              <a:ext cx="112748" cy="294030"/>
            </a:xfrm>
            <a:prstGeom prst="roundRect">
              <a:avLst/>
            </a:prstGeom>
            <a:solidFill>
              <a:srgbClr val="FAAFB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ounded Rectangle 145">
              <a:extLst>
                <a:ext uri="{FF2B5EF4-FFF2-40B4-BE49-F238E27FC236}">
                  <a16:creationId xmlns:a16="http://schemas.microsoft.com/office/drawing/2014/main" id="{E3F66CBE-6C99-C045-A474-E007D77B5057}"/>
                </a:ext>
              </a:extLst>
            </p:cNvPr>
            <p:cNvSpPr/>
            <p:nvPr/>
          </p:nvSpPr>
          <p:spPr>
            <a:xfrm rot="5400000">
              <a:off x="7852559" y="4011251"/>
              <a:ext cx="112748" cy="294030"/>
            </a:xfrm>
            <a:prstGeom prst="roundRect">
              <a:avLst/>
            </a:prstGeom>
            <a:solidFill>
              <a:srgbClr val="FAAFB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TextBox 156">
              <a:extLst>
                <a:ext uri="{FF2B5EF4-FFF2-40B4-BE49-F238E27FC236}">
                  <a16:creationId xmlns:a16="http://schemas.microsoft.com/office/drawing/2014/main" id="{CF47103F-F3E8-874E-A6E5-27073FB036D6}"/>
                </a:ext>
              </a:extLst>
            </p:cNvPr>
            <p:cNvSpPr txBox="1"/>
            <p:nvPr/>
          </p:nvSpPr>
          <p:spPr>
            <a:xfrm>
              <a:off x="7201761" y="3701105"/>
              <a:ext cx="626861" cy="301532"/>
            </a:xfrm>
            <a:prstGeom prst="rect">
              <a:avLst/>
            </a:prstGeom>
            <a:noFill/>
          </p:spPr>
          <p:txBody>
            <a:bodyPr wrap="none" rtlCol="0">
              <a:spAutoFit/>
            </a:bodyPr>
            <a:lstStyle/>
            <a:p>
              <a:r>
                <a:rPr lang="en-US" dirty="0"/>
                <a:t>PD-L1</a:t>
              </a:r>
            </a:p>
          </p:txBody>
        </p:sp>
        <p:cxnSp>
          <p:nvCxnSpPr>
            <p:cNvPr id="158" name="Straight Connector 157">
              <a:extLst>
                <a:ext uri="{FF2B5EF4-FFF2-40B4-BE49-F238E27FC236}">
                  <a16:creationId xmlns:a16="http://schemas.microsoft.com/office/drawing/2014/main" id="{B73FA57B-B737-3D43-80D0-5F317D71D561}"/>
                </a:ext>
              </a:extLst>
            </p:cNvPr>
            <p:cNvCxnSpPr>
              <a:cxnSpLocks/>
            </p:cNvCxnSpPr>
            <p:nvPr/>
          </p:nvCxnSpPr>
          <p:spPr>
            <a:xfrm>
              <a:off x="7523738" y="3962091"/>
              <a:ext cx="65725" cy="15053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EFD27399-E8FC-7949-96D6-D515F3ED9DD5}"/>
              </a:ext>
            </a:extLst>
          </p:cNvPr>
          <p:cNvGrpSpPr/>
          <p:nvPr/>
        </p:nvGrpSpPr>
        <p:grpSpPr>
          <a:xfrm>
            <a:off x="7737349" y="3725426"/>
            <a:ext cx="901648" cy="613310"/>
            <a:chOff x="7737349" y="3725426"/>
            <a:chExt cx="901648" cy="613310"/>
          </a:xfrm>
        </p:grpSpPr>
        <p:sp>
          <p:nvSpPr>
            <p:cNvPr id="148" name="Rounded Rectangle 147">
              <a:extLst>
                <a:ext uri="{FF2B5EF4-FFF2-40B4-BE49-F238E27FC236}">
                  <a16:creationId xmlns:a16="http://schemas.microsoft.com/office/drawing/2014/main" id="{6F2BC074-4BC2-7B43-8CE0-7539758B8920}"/>
                </a:ext>
              </a:extLst>
            </p:cNvPr>
            <p:cNvSpPr/>
            <p:nvPr/>
          </p:nvSpPr>
          <p:spPr>
            <a:xfrm rot="5400000">
              <a:off x="7827990" y="4135347"/>
              <a:ext cx="112748" cy="294030"/>
            </a:xfrm>
            <a:prstGeom prst="roundRect">
              <a:avLst/>
            </a:prstGeom>
            <a:solidFill>
              <a:srgbClr val="C44D5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ounded Rectangle 151">
              <a:extLst>
                <a:ext uri="{FF2B5EF4-FFF2-40B4-BE49-F238E27FC236}">
                  <a16:creationId xmlns:a16="http://schemas.microsoft.com/office/drawing/2014/main" id="{6FC54B4B-30B2-554F-B832-8F70BD70BAF4}"/>
                </a:ext>
              </a:extLst>
            </p:cNvPr>
            <p:cNvSpPr/>
            <p:nvPr/>
          </p:nvSpPr>
          <p:spPr>
            <a:xfrm rot="5400000">
              <a:off x="8131799" y="4135347"/>
              <a:ext cx="112748" cy="294030"/>
            </a:xfrm>
            <a:prstGeom prst="roundRect">
              <a:avLst/>
            </a:prstGeom>
            <a:solidFill>
              <a:srgbClr val="C44D5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ounded Rectangle 154">
              <a:extLst>
                <a:ext uri="{FF2B5EF4-FFF2-40B4-BE49-F238E27FC236}">
                  <a16:creationId xmlns:a16="http://schemas.microsoft.com/office/drawing/2014/main" id="{9636D0C1-14EE-0E49-B916-873CE520294D}"/>
                </a:ext>
              </a:extLst>
            </p:cNvPr>
            <p:cNvSpPr/>
            <p:nvPr/>
          </p:nvSpPr>
          <p:spPr>
            <a:xfrm rot="5400000">
              <a:off x="8435608" y="4135347"/>
              <a:ext cx="112748" cy="294030"/>
            </a:xfrm>
            <a:prstGeom prst="roundRect">
              <a:avLst/>
            </a:prstGeom>
            <a:solidFill>
              <a:srgbClr val="C44D5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9" name="Straight Connector 158">
              <a:extLst>
                <a:ext uri="{FF2B5EF4-FFF2-40B4-BE49-F238E27FC236}">
                  <a16:creationId xmlns:a16="http://schemas.microsoft.com/office/drawing/2014/main" id="{8B7FB80A-195B-9E41-A370-4EE5C025C2BD}"/>
                </a:ext>
              </a:extLst>
            </p:cNvPr>
            <p:cNvCxnSpPr>
              <a:cxnSpLocks/>
            </p:cNvCxnSpPr>
            <p:nvPr/>
          </p:nvCxnSpPr>
          <p:spPr>
            <a:xfrm flipH="1">
              <a:off x="8218071" y="4016271"/>
              <a:ext cx="86187" cy="2167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60" name="TextBox 159">
              <a:extLst>
                <a:ext uri="{FF2B5EF4-FFF2-40B4-BE49-F238E27FC236}">
                  <a16:creationId xmlns:a16="http://schemas.microsoft.com/office/drawing/2014/main" id="{88D20FF2-4519-DA4C-ABE2-9E8FEF92B20D}"/>
                </a:ext>
              </a:extLst>
            </p:cNvPr>
            <p:cNvSpPr txBox="1"/>
            <p:nvPr/>
          </p:nvSpPr>
          <p:spPr>
            <a:xfrm>
              <a:off x="8057200" y="3725426"/>
              <a:ext cx="543042" cy="301532"/>
            </a:xfrm>
            <a:prstGeom prst="rect">
              <a:avLst/>
            </a:prstGeom>
            <a:noFill/>
          </p:spPr>
          <p:txBody>
            <a:bodyPr wrap="none" rtlCol="0">
              <a:spAutoFit/>
            </a:bodyPr>
            <a:lstStyle/>
            <a:p>
              <a:r>
                <a:rPr lang="en-US" dirty="0"/>
                <a:t>PD-1</a:t>
              </a:r>
            </a:p>
          </p:txBody>
        </p:sp>
      </p:grpSp>
      <p:grpSp>
        <p:nvGrpSpPr>
          <p:cNvPr id="7" name="Group 6">
            <a:extLst>
              <a:ext uri="{FF2B5EF4-FFF2-40B4-BE49-F238E27FC236}">
                <a16:creationId xmlns:a16="http://schemas.microsoft.com/office/drawing/2014/main" id="{2B92CC0B-5E48-D14D-A701-773F79DB7BDA}"/>
              </a:ext>
            </a:extLst>
          </p:cNvPr>
          <p:cNvGrpSpPr/>
          <p:nvPr/>
        </p:nvGrpSpPr>
        <p:grpSpPr>
          <a:xfrm>
            <a:off x="6957802" y="4961965"/>
            <a:ext cx="1039597" cy="80877"/>
            <a:chOff x="6957802" y="4961965"/>
            <a:chExt cx="1039597" cy="80877"/>
          </a:xfrm>
        </p:grpSpPr>
        <p:sp>
          <p:nvSpPr>
            <p:cNvPr id="162" name="Oval 161">
              <a:extLst>
                <a:ext uri="{FF2B5EF4-FFF2-40B4-BE49-F238E27FC236}">
                  <a16:creationId xmlns:a16="http://schemas.microsoft.com/office/drawing/2014/main" id="{2014837A-8E19-F64C-B50F-135D256A85C6}"/>
                </a:ext>
              </a:extLst>
            </p:cNvPr>
            <p:cNvSpPr/>
            <p:nvPr/>
          </p:nvSpPr>
          <p:spPr>
            <a:xfrm rot="16200000">
              <a:off x="7789820" y="4835264"/>
              <a:ext cx="80877" cy="334280"/>
            </a:xfrm>
            <a:prstGeom prst="ellipse">
              <a:avLst/>
            </a:prstGeom>
            <a:solidFill>
              <a:srgbClr val="9E322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Oval 162">
              <a:extLst>
                <a:ext uri="{FF2B5EF4-FFF2-40B4-BE49-F238E27FC236}">
                  <a16:creationId xmlns:a16="http://schemas.microsoft.com/office/drawing/2014/main" id="{D2415A4C-4AE9-6A45-9DE6-183ECD702B1F}"/>
                </a:ext>
              </a:extLst>
            </p:cNvPr>
            <p:cNvSpPr/>
            <p:nvPr/>
          </p:nvSpPr>
          <p:spPr>
            <a:xfrm rot="16200000">
              <a:off x="7437161" y="4835264"/>
              <a:ext cx="80877" cy="334280"/>
            </a:xfrm>
            <a:prstGeom prst="ellipse">
              <a:avLst/>
            </a:prstGeom>
            <a:solidFill>
              <a:srgbClr val="9E322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a:extLst>
                <a:ext uri="{FF2B5EF4-FFF2-40B4-BE49-F238E27FC236}">
                  <a16:creationId xmlns:a16="http://schemas.microsoft.com/office/drawing/2014/main" id="{88047E4D-88DF-1E41-8471-7FEBB778C9AC}"/>
                </a:ext>
              </a:extLst>
            </p:cNvPr>
            <p:cNvSpPr/>
            <p:nvPr/>
          </p:nvSpPr>
          <p:spPr>
            <a:xfrm rot="16200000">
              <a:off x="7084503" y="4835264"/>
              <a:ext cx="80877" cy="334280"/>
            </a:xfrm>
            <a:prstGeom prst="ellipse">
              <a:avLst/>
            </a:prstGeom>
            <a:solidFill>
              <a:srgbClr val="9E322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 name="Group 4">
            <a:extLst>
              <a:ext uri="{FF2B5EF4-FFF2-40B4-BE49-F238E27FC236}">
                <a16:creationId xmlns:a16="http://schemas.microsoft.com/office/drawing/2014/main" id="{58F2D2D3-7892-7549-AE49-5EEBA42CC565}"/>
              </a:ext>
            </a:extLst>
          </p:cNvPr>
          <p:cNvGrpSpPr/>
          <p:nvPr/>
        </p:nvGrpSpPr>
        <p:grpSpPr>
          <a:xfrm>
            <a:off x="7766335" y="5213692"/>
            <a:ext cx="1051662" cy="555497"/>
            <a:chOff x="7605124" y="5058939"/>
            <a:chExt cx="1051662" cy="555497"/>
          </a:xfrm>
        </p:grpSpPr>
        <p:sp>
          <p:nvSpPr>
            <p:cNvPr id="165" name="CTLA-4">
              <a:extLst>
                <a:ext uri="{FF2B5EF4-FFF2-40B4-BE49-F238E27FC236}">
                  <a16:creationId xmlns:a16="http://schemas.microsoft.com/office/drawing/2014/main" id="{095E6A3E-FFA1-DE4B-AFD1-1C1CEA55EA94}"/>
                </a:ext>
              </a:extLst>
            </p:cNvPr>
            <p:cNvSpPr/>
            <p:nvPr/>
          </p:nvSpPr>
          <p:spPr>
            <a:xfrm rot="16200000">
              <a:off x="8121073" y="4601983"/>
              <a:ext cx="78757" cy="992669"/>
            </a:xfrm>
            <a:prstGeom prst="roundRect">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6" name="Straight Connector 165">
              <a:extLst>
                <a:ext uri="{FF2B5EF4-FFF2-40B4-BE49-F238E27FC236}">
                  <a16:creationId xmlns:a16="http://schemas.microsoft.com/office/drawing/2014/main" id="{88B1FD5C-0812-2646-885E-05385B754090}"/>
                </a:ext>
              </a:extLst>
            </p:cNvPr>
            <p:cNvCxnSpPr>
              <a:cxnSpLocks/>
            </p:cNvCxnSpPr>
            <p:nvPr/>
          </p:nvCxnSpPr>
          <p:spPr>
            <a:xfrm flipH="1">
              <a:off x="7998064" y="5143736"/>
              <a:ext cx="86187" cy="2167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67" name="TextBox 166">
              <a:extLst>
                <a:ext uri="{FF2B5EF4-FFF2-40B4-BE49-F238E27FC236}">
                  <a16:creationId xmlns:a16="http://schemas.microsoft.com/office/drawing/2014/main" id="{05BB7E8D-1B9E-804F-B581-1E76ABCB72A7}"/>
                </a:ext>
              </a:extLst>
            </p:cNvPr>
            <p:cNvSpPr txBox="1"/>
            <p:nvPr/>
          </p:nvSpPr>
          <p:spPr>
            <a:xfrm>
              <a:off x="7605124" y="5312904"/>
              <a:ext cx="718485" cy="301532"/>
            </a:xfrm>
            <a:prstGeom prst="rect">
              <a:avLst/>
            </a:prstGeom>
            <a:noFill/>
          </p:spPr>
          <p:txBody>
            <a:bodyPr wrap="none" rtlCol="0">
              <a:spAutoFit/>
            </a:bodyPr>
            <a:lstStyle/>
            <a:p>
              <a:r>
                <a:rPr lang="en-US" dirty="0"/>
                <a:t>CTLA-4</a:t>
              </a:r>
            </a:p>
          </p:txBody>
        </p:sp>
      </p:grpSp>
      <p:sp>
        <p:nvSpPr>
          <p:cNvPr id="171" name="Right Brace 170">
            <a:extLst>
              <a:ext uri="{FF2B5EF4-FFF2-40B4-BE49-F238E27FC236}">
                <a16:creationId xmlns:a16="http://schemas.microsoft.com/office/drawing/2014/main" id="{020AA571-8DD5-314D-B18A-6B7053184676}"/>
              </a:ext>
            </a:extLst>
          </p:cNvPr>
          <p:cNvSpPr/>
          <p:nvPr/>
        </p:nvSpPr>
        <p:spPr>
          <a:xfrm rot="6009404">
            <a:off x="7510899" y="5069395"/>
            <a:ext cx="188448" cy="1345942"/>
          </a:xfrm>
          <a:prstGeom prst="rightBrace">
            <a:avLst>
              <a:gd name="adj1" fmla="val 79764"/>
              <a:gd name="adj2" fmla="val 50000"/>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72" name="Straight Connector 171">
            <a:extLst>
              <a:ext uri="{FF2B5EF4-FFF2-40B4-BE49-F238E27FC236}">
                <a16:creationId xmlns:a16="http://schemas.microsoft.com/office/drawing/2014/main" id="{CD6DC254-47E3-6046-9C53-5EE41BC49F49}"/>
              </a:ext>
            </a:extLst>
          </p:cNvPr>
          <p:cNvCxnSpPr>
            <a:cxnSpLocks/>
            <a:endCxn id="171" idx="1"/>
          </p:cNvCxnSpPr>
          <p:nvPr/>
        </p:nvCxnSpPr>
        <p:spPr>
          <a:xfrm flipV="1">
            <a:off x="7556600" y="5835113"/>
            <a:ext cx="31077" cy="13382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73" name="Right Brace 172">
            <a:extLst>
              <a:ext uri="{FF2B5EF4-FFF2-40B4-BE49-F238E27FC236}">
                <a16:creationId xmlns:a16="http://schemas.microsoft.com/office/drawing/2014/main" id="{8EEC5BDE-2050-F342-A7A0-7F9626B7DD7F}"/>
              </a:ext>
            </a:extLst>
          </p:cNvPr>
          <p:cNvSpPr/>
          <p:nvPr/>
        </p:nvSpPr>
        <p:spPr>
          <a:xfrm rot="16627435">
            <a:off x="8092360" y="2877992"/>
            <a:ext cx="188448" cy="1345942"/>
          </a:xfrm>
          <a:prstGeom prst="rightBrace">
            <a:avLst>
              <a:gd name="adj1" fmla="val 79764"/>
              <a:gd name="adj2" fmla="val 50000"/>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75" name="Straight Connector 174">
            <a:extLst>
              <a:ext uri="{FF2B5EF4-FFF2-40B4-BE49-F238E27FC236}">
                <a16:creationId xmlns:a16="http://schemas.microsoft.com/office/drawing/2014/main" id="{28CDDFEC-7C1C-EB45-A8E6-25F7B84BFB55}"/>
              </a:ext>
            </a:extLst>
          </p:cNvPr>
          <p:cNvCxnSpPr>
            <a:cxnSpLocks/>
            <a:endCxn id="173" idx="1"/>
          </p:cNvCxnSpPr>
          <p:nvPr/>
        </p:nvCxnSpPr>
        <p:spPr>
          <a:xfrm flipH="1">
            <a:off x="8198854" y="3315492"/>
            <a:ext cx="16034" cy="1419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79" name="Cross 178">
            <a:extLst>
              <a:ext uri="{FF2B5EF4-FFF2-40B4-BE49-F238E27FC236}">
                <a16:creationId xmlns:a16="http://schemas.microsoft.com/office/drawing/2014/main" id="{E5B4FE9D-7115-B742-88A3-7F75BE41EE2F}"/>
              </a:ext>
            </a:extLst>
          </p:cNvPr>
          <p:cNvSpPr/>
          <p:nvPr/>
        </p:nvSpPr>
        <p:spPr>
          <a:xfrm rot="18760539">
            <a:off x="8658050" y="4089429"/>
            <a:ext cx="1127760" cy="1156752"/>
          </a:xfrm>
          <a:prstGeom prst="plus">
            <a:avLst>
              <a:gd name="adj" fmla="val 4572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1" name="TCR" descr="A picture containing clipart&#10;&#10;Description automatically generated">
            <a:extLst>
              <a:ext uri="{FF2B5EF4-FFF2-40B4-BE49-F238E27FC236}">
                <a16:creationId xmlns:a16="http://schemas.microsoft.com/office/drawing/2014/main" id="{66BBE813-1148-0A42-BD44-1C1AA51DF51B}"/>
              </a:ext>
            </a:extLst>
          </p:cNvPr>
          <p:cNvPicPr>
            <a:picLocks noChangeAspect="1"/>
          </p:cNvPicPr>
          <p:nvPr/>
        </p:nvPicPr>
        <p:blipFill>
          <a:blip r:embed="rId4"/>
          <a:stretch>
            <a:fillRect/>
          </a:stretch>
        </p:blipFill>
        <p:spPr>
          <a:xfrm rot="16200000">
            <a:off x="7839578" y="1124632"/>
            <a:ext cx="480486" cy="599901"/>
          </a:xfrm>
          <a:prstGeom prst="rect">
            <a:avLst/>
          </a:prstGeom>
        </p:spPr>
      </p:pic>
      <p:sp>
        <p:nvSpPr>
          <p:cNvPr id="102" name="Cloud 101">
            <a:extLst>
              <a:ext uri="{FF2B5EF4-FFF2-40B4-BE49-F238E27FC236}">
                <a16:creationId xmlns:a16="http://schemas.microsoft.com/office/drawing/2014/main" id="{AC2A60D1-718D-B44E-A1C3-C514BF7430D8}"/>
              </a:ext>
            </a:extLst>
          </p:cNvPr>
          <p:cNvSpPr/>
          <p:nvPr/>
        </p:nvSpPr>
        <p:spPr>
          <a:xfrm>
            <a:off x="4893114" y="595854"/>
            <a:ext cx="2452588" cy="1657470"/>
          </a:xfrm>
          <a:prstGeom prst="cloud">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Tumor cell</a:t>
            </a:r>
          </a:p>
        </p:txBody>
      </p:sp>
      <p:grpSp>
        <p:nvGrpSpPr>
          <p:cNvPr id="103" name="HLA">
            <a:extLst>
              <a:ext uri="{FF2B5EF4-FFF2-40B4-BE49-F238E27FC236}">
                <a16:creationId xmlns:a16="http://schemas.microsoft.com/office/drawing/2014/main" id="{6A7C9BC5-0E08-B143-8C8A-8304F9A6F5A5}"/>
              </a:ext>
            </a:extLst>
          </p:cNvPr>
          <p:cNvGrpSpPr/>
          <p:nvPr/>
        </p:nvGrpSpPr>
        <p:grpSpPr>
          <a:xfrm rot="5400000">
            <a:off x="7445916" y="1140790"/>
            <a:ext cx="301619" cy="567587"/>
            <a:chOff x="8511393" y="1228380"/>
            <a:chExt cx="523874" cy="1188072"/>
          </a:xfrm>
        </p:grpSpPr>
        <p:sp>
          <p:nvSpPr>
            <p:cNvPr id="104" name="Rounded Rectangle 103">
              <a:extLst>
                <a:ext uri="{FF2B5EF4-FFF2-40B4-BE49-F238E27FC236}">
                  <a16:creationId xmlns:a16="http://schemas.microsoft.com/office/drawing/2014/main" id="{E88999D7-BBC8-FA47-8876-8A5980A36DB7}"/>
                </a:ext>
              </a:extLst>
            </p:cNvPr>
            <p:cNvSpPr/>
            <p:nvPr/>
          </p:nvSpPr>
          <p:spPr>
            <a:xfrm>
              <a:off x="8623053" y="2126256"/>
              <a:ext cx="85781" cy="290196"/>
            </a:xfrm>
            <a:prstGeom prst="round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5" name="Rounded Rectangle 104">
              <a:extLst>
                <a:ext uri="{FF2B5EF4-FFF2-40B4-BE49-F238E27FC236}">
                  <a16:creationId xmlns:a16="http://schemas.microsoft.com/office/drawing/2014/main" id="{D92DF2B5-4B38-4348-86E8-9527FCAB5A8A}"/>
                </a:ext>
              </a:extLst>
            </p:cNvPr>
            <p:cNvSpPr/>
            <p:nvPr/>
          </p:nvSpPr>
          <p:spPr>
            <a:xfrm>
              <a:off x="8511393" y="1361530"/>
              <a:ext cx="523874" cy="814387"/>
            </a:xfrm>
            <a:prstGeom prst="round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06" name="Oval 105">
              <a:extLst>
                <a:ext uri="{FF2B5EF4-FFF2-40B4-BE49-F238E27FC236}">
                  <a16:creationId xmlns:a16="http://schemas.microsoft.com/office/drawing/2014/main" id="{FE290AE2-2A84-0141-8449-847EB53C0468}"/>
                </a:ext>
              </a:extLst>
            </p:cNvPr>
            <p:cNvSpPr/>
            <p:nvPr/>
          </p:nvSpPr>
          <p:spPr>
            <a:xfrm>
              <a:off x="8623053" y="1228380"/>
              <a:ext cx="300555" cy="34754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107" name="Peptide">
            <a:extLst>
              <a:ext uri="{FF2B5EF4-FFF2-40B4-BE49-F238E27FC236}">
                <a16:creationId xmlns:a16="http://schemas.microsoft.com/office/drawing/2014/main" id="{715E33A6-DA35-5D4C-859D-0F51BAFCD149}"/>
              </a:ext>
            </a:extLst>
          </p:cNvPr>
          <p:cNvSpPr/>
          <p:nvPr/>
        </p:nvSpPr>
        <p:spPr>
          <a:xfrm>
            <a:off x="7733891" y="1358108"/>
            <a:ext cx="176907" cy="1331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grpSp>
        <p:nvGrpSpPr>
          <p:cNvPr id="108" name="T cell">
            <a:extLst>
              <a:ext uri="{FF2B5EF4-FFF2-40B4-BE49-F238E27FC236}">
                <a16:creationId xmlns:a16="http://schemas.microsoft.com/office/drawing/2014/main" id="{29495455-78D3-9E4C-B04B-3D4DD2290B12}"/>
              </a:ext>
            </a:extLst>
          </p:cNvPr>
          <p:cNvGrpSpPr/>
          <p:nvPr/>
        </p:nvGrpSpPr>
        <p:grpSpPr>
          <a:xfrm>
            <a:off x="8344967" y="781472"/>
            <a:ext cx="1448559" cy="1360176"/>
            <a:chOff x="8547551" y="979091"/>
            <a:chExt cx="1704587" cy="1653198"/>
          </a:xfrm>
        </p:grpSpPr>
        <p:sp>
          <p:nvSpPr>
            <p:cNvPr id="109" name="Oval 108">
              <a:extLst>
                <a:ext uri="{FF2B5EF4-FFF2-40B4-BE49-F238E27FC236}">
                  <a16:creationId xmlns:a16="http://schemas.microsoft.com/office/drawing/2014/main" id="{12458E6B-DD85-074B-83E3-1786E6075CA0}"/>
                </a:ext>
              </a:extLst>
            </p:cNvPr>
            <p:cNvSpPr/>
            <p:nvPr/>
          </p:nvSpPr>
          <p:spPr>
            <a:xfrm>
              <a:off x="8547551" y="979091"/>
              <a:ext cx="1704587" cy="1653198"/>
            </a:xfrm>
            <a:prstGeom prst="ellipse">
              <a:avLst/>
            </a:prstGeom>
            <a:gradFill flip="none" rotWithShape="1">
              <a:gsLst>
                <a:gs pos="0">
                  <a:schemeClr val="accent4">
                    <a:lumMod val="5000"/>
                    <a:lumOff val="95000"/>
                  </a:schemeClr>
                </a:gs>
                <a:gs pos="33000">
                  <a:srgbClr val="D0CCFF"/>
                </a:gs>
                <a:gs pos="100000">
                  <a:srgbClr val="7030A0"/>
                </a:gs>
              </a:gsLst>
              <a:path path="shap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0" name="Oval 109">
              <a:extLst>
                <a:ext uri="{FF2B5EF4-FFF2-40B4-BE49-F238E27FC236}">
                  <a16:creationId xmlns:a16="http://schemas.microsoft.com/office/drawing/2014/main" id="{15C31C39-33E6-9444-8F3F-93A75FDEC719}"/>
                </a:ext>
              </a:extLst>
            </p:cNvPr>
            <p:cNvSpPr/>
            <p:nvPr/>
          </p:nvSpPr>
          <p:spPr>
            <a:xfrm>
              <a:off x="8824914" y="1219811"/>
              <a:ext cx="1162050" cy="1171758"/>
            </a:xfrm>
            <a:prstGeom prst="ellipse">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T cell</a:t>
              </a:r>
            </a:p>
          </p:txBody>
        </p:sp>
      </p:grpSp>
      <p:sp>
        <p:nvSpPr>
          <p:cNvPr id="111" name="TextBox 110">
            <a:extLst>
              <a:ext uri="{FF2B5EF4-FFF2-40B4-BE49-F238E27FC236}">
                <a16:creationId xmlns:a16="http://schemas.microsoft.com/office/drawing/2014/main" id="{EF521D07-2C6B-E944-BD75-099890C6F729}"/>
              </a:ext>
            </a:extLst>
          </p:cNvPr>
          <p:cNvSpPr txBox="1"/>
          <p:nvPr/>
        </p:nvSpPr>
        <p:spPr>
          <a:xfrm>
            <a:off x="7321810" y="870447"/>
            <a:ext cx="574402" cy="307777"/>
          </a:xfrm>
          <a:prstGeom prst="rect">
            <a:avLst/>
          </a:prstGeom>
          <a:noFill/>
        </p:spPr>
        <p:txBody>
          <a:bodyPr wrap="square" rtlCol="0">
            <a:spAutoFit/>
          </a:bodyPr>
          <a:lstStyle/>
          <a:p>
            <a:r>
              <a:rPr lang="en-US" sz="1400" dirty="0"/>
              <a:t>MHC</a:t>
            </a:r>
          </a:p>
        </p:txBody>
      </p:sp>
      <p:sp>
        <p:nvSpPr>
          <p:cNvPr id="112" name="TextBox 111">
            <a:extLst>
              <a:ext uri="{FF2B5EF4-FFF2-40B4-BE49-F238E27FC236}">
                <a16:creationId xmlns:a16="http://schemas.microsoft.com/office/drawing/2014/main" id="{A570BCCD-E764-9A4C-9ABC-DBADD3DAA86C}"/>
              </a:ext>
            </a:extLst>
          </p:cNvPr>
          <p:cNvSpPr txBox="1"/>
          <p:nvPr/>
        </p:nvSpPr>
        <p:spPr>
          <a:xfrm>
            <a:off x="7957452" y="864168"/>
            <a:ext cx="459400" cy="307777"/>
          </a:xfrm>
          <a:prstGeom prst="rect">
            <a:avLst/>
          </a:prstGeom>
          <a:noFill/>
        </p:spPr>
        <p:txBody>
          <a:bodyPr wrap="square" rtlCol="0">
            <a:spAutoFit/>
          </a:bodyPr>
          <a:lstStyle/>
          <a:p>
            <a:r>
              <a:rPr lang="en-US" sz="1400" dirty="0"/>
              <a:t>TCR</a:t>
            </a:r>
          </a:p>
        </p:txBody>
      </p:sp>
      <p:cxnSp>
        <p:nvCxnSpPr>
          <p:cNvPr id="113" name="Straight Connector 112">
            <a:extLst>
              <a:ext uri="{FF2B5EF4-FFF2-40B4-BE49-F238E27FC236}">
                <a16:creationId xmlns:a16="http://schemas.microsoft.com/office/drawing/2014/main" id="{E7397D45-49B0-C344-B36B-6053E654B048}"/>
              </a:ext>
            </a:extLst>
          </p:cNvPr>
          <p:cNvCxnSpPr>
            <a:cxnSpLocks/>
          </p:cNvCxnSpPr>
          <p:nvPr/>
        </p:nvCxnSpPr>
        <p:spPr>
          <a:xfrm>
            <a:off x="7593696" y="1121596"/>
            <a:ext cx="45990" cy="16445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9D5618A2-7004-7E49-9CF5-8CD860900208}"/>
              </a:ext>
            </a:extLst>
          </p:cNvPr>
          <p:cNvCxnSpPr>
            <a:cxnSpLocks/>
          </p:cNvCxnSpPr>
          <p:nvPr/>
        </p:nvCxnSpPr>
        <p:spPr>
          <a:xfrm flipH="1">
            <a:off x="8164276" y="1121596"/>
            <a:ext cx="30615" cy="223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B9E8313D-856D-924B-B135-11FDFCB4C764}"/>
              </a:ext>
            </a:extLst>
          </p:cNvPr>
          <p:cNvCxnSpPr>
            <a:cxnSpLocks/>
          </p:cNvCxnSpPr>
          <p:nvPr/>
        </p:nvCxnSpPr>
        <p:spPr>
          <a:xfrm flipH="1">
            <a:off x="7738208" y="1483910"/>
            <a:ext cx="72278" cy="30779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EADE0F3C-402F-E846-9F31-8C0D16345FC9}"/>
              </a:ext>
            </a:extLst>
          </p:cNvPr>
          <p:cNvSpPr txBox="1"/>
          <p:nvPr/>
        </p:nvSpPr>
        <p:spPr>
          <a:xfrm>
            <a:off x="7025247" y="1739565"/>
            <a:ext cx="1509245" cy="523220"/>
          </a:xfrm>
          <a:prstGeom prst="rect">
            <a:avLst/>
          </a:prstGeom>
          <a:noFill/>
        </p:spPr>
        <p:txBody>
          <a:bodyPr wrap="square" rtlCol="0">
            <a:spAutoFit/>
          </a:bodyPr>
          <a:lstStyle/>
          <a:p>
            <a:pPr algn="ctr"/>
            <a:r>
              <a:rPr lang="en-US" sz="1400" dirty="0"/>
              <a:t>Mutated peptide</a:t>
            </a:r>
          </a:p>
          <a:p>
            <a:pPr algn="ctr"/>
            <a:r>
              <a:rPr lang="en-US" sz="1400" dirty="0"/>
              <a:t>(‘non-self’)</a:t>
            </a:r>
          </a:p>
        </p:txBody>
      </p:sp>
      <p:sp>
        <p:nvSpPr>
          <p:cNvPr id="74" name="question 1">
            <a:hlinkClick r:id="rId5" action="ppaction://hlinksldjump"/>
            <a:extLst>
              <a:ext uri="{FF2B5EF4-FFF2-40B4-BE49-F238E27FC236}">
                <a16:creationId xmlns:a16="http://schemas.microsoft.com/office/drawing/2014/main" id="{A8F6C5F4-2B0D-E640-9341-AACD44F43441}"/>
              </a:ext>
            </a:extLst>
          </p:cNvPr>
          <p:cNvSpPr txBox="1"/>
          <p:nvPr/>
        </p:nvSpPr>
        <p:spPr>
          <a:xfrm>
            <a:off x="212688" y="529725"/>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t>Immune system basics</a:t>
            </a:r>
            <a:endParaRPr lang="en-US" dirty="0">
              <a:solidFill>
                <a:sysClr val="windowText" lastClr="000000"/>
              </a:solidFill>
            </a:endParaRPr>
          </a:p>
        </p:txBody>
      </p:sp>
      <p:sp>
        <p:nvSpPr>
          <p:cNvPr id="75" name="Cases">
            <a:hlinkClick r:id="rId6" action="ppaction://hlinksldjump"/>
            <a:extLst>
              <a:ext uri="{FF2B5EF4-FFF2-40B4-BE49-F238E27FC236}">
                <a16:creationId xmlns:a16="http://schemas.microsoft.com/office/drawing/2014/main" id="{E7A6BB2E-3C65-154A-AAE7-56ED217EA164}"/>
              </a:ext>
            </a:extLst>
          </p:cNvPr>
          <p:cNvSpPr txBox="1"/>
          <p:nvPr/>
        </p:nvSpPr>
        <p:spPr>
          <a:xfrm>
            <a:off x="212688" y="5263878"/>
            <a:ext cx="2423423" cy="408623"/>
          </a:xfrm>
          <a:prstGeom prst="roundRect">
            <a:avLst/>
          </a:prstGeom>
          <a:solidFill>
            <a:schemeClr val="accent5"/>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sp>
        <p:nvSpPr>
          <p:cNvPr id="76" name="sub-q 1-1">
            <a:hlinkClick r:id="rId7" action="ppaction://hlinksldjump"/>
            <a:extLst>
              <a:ext uri="{FF2B5EF4-FFF2-40B4-BE49-F238E27FC236}">
                <a16:creationId xmlns:a16="http://schemas.microsoft.com/office/drawing/2014/main" id="{6BED23EA-EFEB-F142-9D57-69E58B156F74}"/>
              </a:ext>
            </a:extLst>
          </p:cNvPr>
          <p:cNvSpPr txBox="1"/>
          <p:nvPr/>
        </p:nvSpPr>
        <p:spPr>
          <a:xfrm>
            <a:off x="212688" y="1157424"/>
            <a:ext cx="2423423" cy="408623"/>
          </a:xfrm>
          <a:prstGeom prst="roundRect">
            <a:avLst/>
          </a:prstGeom>
          <a:ln w="38100">
            <a:solidFill>
              <a:srgbClr val="0070C0"/>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solidFill>
                  <a:sysClr val="windowText" lastClr="000000"/>
                </a:solidFill>
              </a:rPr>
              <a:t>How tumors ‘hide’</a:t>
            </a:r>
          </a:p>
        </p:txBody>
      </p:sp>
      <p:sp>
        <p:nvSpPr>
          <p:cNvPr id="77" name="Sub-q-1-2">
            <a:hlinkClick r:id="rId8" action="ppaction://hlinksldjump"/>
            <a:extLst>
              <a:ext uri="{FF2B5EF4-FFF2-40B4-BE49-F238E27FC236}">
                <a16:creationId xmlns:a16="http://schemas.microsoft.com/office/drawing/2014/main" id="{823BC162-8CF0-D849-95F1-36B98FA13B08}"/>
              </a:ext>
            </a:extLst>
          </p:cNvPr>
          <p:cNvSpPr txBox="1"/>
          <p:nvPr/>
        </p:nvSpPr>
        <p:spPr>
          <a:xfrm>
            <a:off x="212688" y="1785123"/>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Immune checkpoints</a:t>
            </a:r>
          </a:p>
        </p:txBody>
      </p:sp>
      <p:sp>
        <p:nvSpPr>
          <p:cNvPr id="78" name="Question 2">
            <a:hlinkClick r:id="rId9" action="ppaction://hlinksldjump"/>
            <a:extLst>
              <a:ext uri="{FF2B5EF4-FFF2-40B4-BE49-F238E27FC236}">
                <a16:creationId xmlns:a16="http://schemas.microsoft.com/office/drawing/2014/main" id="{21AA5E3F-11A1-334C-8389-62DE76E1D773}"/>
              </a:ext>
            </a:extLst>
          </p:cNvPr>
          <p:cNvSpPr txBox="1"/>
          <p:nvPr/>
        </p:nvSpPr>
        <p:spPr>
          <a:xfrm>
            <a:off x="212688" y="2412822"/>
            <a:ext cx="2423423" cy="71508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Immune checkpoint  inhibitors (ICIs)</a:t>
            </a:r>
            <a:endParaRPr lang="en-US" dirty="0">
              <a:solidFill>
                <a:sysClr val="windowText" lastClr="000000"/>
              </a:solidFill>
            </a:endParaRPr>
          </a:p>
        </p:txBody>
      </p:sp>
      <p:pic>
        <p:nvPicPr>
          <p:cNvPr id="79" name="Graphic 78" descr="Cursor with solid fill">
            <a:extLst>
              <a:ext uri="{FF2B5EF4-FFF2-40B4-BE49-F238E27FC236}">
                <a16:creationId xmlns:a16="http://schemas.microsoft.com/office/drawing/2014/main" id="{5E51C563-C6D9-7644-9577-874968F31AF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70301" y="766694"/>
            <a:ext cx="411480" cy="411480"/>
          </a:xfrm>
          <a:prstGeom prst="rect">
            <a:avLst/>
          </a:prstGeom>
        </p:spPr>
      </p:pic>
      <p:pic>
        <p:nvPicPr>
          <p:cNvPr id="80" name="Graphic 79" descr="Cursor with solid fill">
            <a:extLst>
              <a:ext uri="{FF2B5EF4-FFF2-40B4-BE49-F238E27FC236}">
                <a16:creationId xmlns:a16="http://schemas.microsoft.com/office/drawing/2014/main" id="{7C63E84B-CAA7-FD47-82B9-71535581EE2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70301" y="5496401"/>
            <a:ext cx="411480" cy="411480"/>
          </a:xfrm>
          <a:prstGeom prst="rect">
            <a:avLst/>
          </a:prstGeom>
        </p:spPr>
      </p:pic>
      <p:pic>
        <p:nvPicPr>
          <p:cNvPr id="81" name="Graphic 80" descr="Cursor with solid fill">
            <a:extLst>
              <a:ext uri="{FF2B5EF4-FFF2-40B4-BE49-F238E27FC236}">
                <a16:creationId xmlns:a16="http://schemas.microsoft.com/office/drawing/2014/main" id="{CAEC889B-EE5C-3245-B5E5-2E2E2169C3C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70301" y="2020349"/>
            <a:ext cx="411480" cy="411480"/>
          </a:xfrm>
          <a:prstGeom prst="rect">
            <a:avLst/>
          </a:prstGeom>
        </p:spPr>
      </p:pic>
      <p:pic>
        <p:nvPicPr>
          <p:cNvPr id="82" name="Graphic 81" descr="Cursor with solid fill">
            <a:extLst>
              <a:ext uri="{FF2B5EF4-FFF2-40B4-BE49-F238E27FC236}">
                <a16:creationId xmlns:a16="http://schemas.microsoft.com/office/drawing/2014/main" id="{8F391A86-634B-7549-959A-6E6E6B7382C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70301" y="2940853"/>
            <a:ext cx="411480" cy="411480"/>
          </a:xfrm>
          <a:prstGeom prst="rect">
            <a:avLst/>
          </a:prstGeom>
        </p:spPr>
      </p:pic>
      <p:sp>
        <p:nvSpPr>
          <p:cNvPr id="84" name="Sub-q-1-2">
            <a:hlinkClick r:id="rId12" action="ppaction://hlinksldjump"/>
            <a:extLst>
              <a:ext uri="{FF2B5EF4-FFF2-40B4-BE49-F238E27FC236}">
                <a16:creationId xmlns:a16="http://schemas.microsoft.com/office/drawing/2014/main" id="{E06A5D88-CC31-9B49-96DF-4B63D57B49DA}"/>
              </a:ext>
            </a:extLst>
          </p:cNvPr>
          <p:cNvSpPr txBox="1"/>
          <p:nvPr/>
        </p:nvSpPr>
        <p:spPr>
          <a:xfrm>
            <a:off x="212688" y="3346987"/>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When do we use ICIs?</a:t>
            </a:r>
          </a:p>
        </p:txBody>
      </p:sp>
      <p:pic>
        <p:nvPicPr>
          <p:cNvPr id="85" name="Graphic 84" descr="Cursor with solid fill">
            <a:extLst>
              <a:ext uri="{FF2B5EF4-FFF2-40B4-BE49-F238E27FC236}">
                <a16:creationId xmlns:a16="http://schemas.microsoft.com/office/drawing/2014/main" id="{5BA6EBB9-F225-6444-8595-5193F099C3B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70301" y="3584978"/>
            <a:ext cx="411480" cy="411480"/>
          </a:xfrm>
          <a:prstGeom prst="rect">
            <a:avLst/>
          </a:prstGeom>
        </p:spPr>
      </p:pic>
      <p:sp>
        <p:nvSpPr>
          <p:cNvPr id="86" name="Sub-q-1-2">
            <a:hlinkClick r:id="rId13" action="ppaction://hlinksldjump"/>
            <a:extLst>
              <a:ext uri="{FF2B5EF4-FFF2-40B4-BE49-F238E27FC236}">
                <a16:creationId xmlns:a16="http://schemas.microsoft.com/office/drawing/2014/main" id="{F5A3CC92-5697-FC45-B327-1C3B7CAA5BD7}"/>
              </a:ext>
            </a:extLst>
          </p:cNvPr>
          <p:cNvSpPr txBox="1"/>
          <p:nvPr/>
        </p:nvSpPr>
        <p:spPr>
          <a:xfrm>
            <a:off x="212688" y="3974687"/>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Side effects of ICIs</a:t>
            </a:r>
          </a:p>
        </p:txBody>
      </p:sp>
      <p:pic>
        <p:nvPicPr>
          <p:cNvPr id="87" name="Graphic 86" descr="Cursor with solid fill">
            <a:extLst>
              <a:ext uri="{FF2B5EF4-FFF2-40B4-BE49-F238E27FC236}">
                <a16:creationId xmlns:a16="http://schemas.microsoft.com/office/drawing/2014/main" id="{072CAD3F-1F83-754C-92CF-DA111ABEC1C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70301" y="4219662"/>
            <a:ext cx="411480" cy="411480"/>
          </a:xfrm>
          <a:prstGeom prst="rect">
            <a:avLst/>
          </a:prstGeom>
        </p:spPr>
      </p:pic>
      <p:sp>
        <p:nvSpPr>
          <p:cNvPr id="2" name="PD-1 button">
            <a:extLst>
              <a:ext uri="{FF2B5EF4-FFF2-40B4-BE49-F238E27FC236}">
                <a16:creationId xmlns:a16="http://schemas.microsoft.com/office/drawing/2014/main" id="{12127EE8-67C4-C249-A06B-44B0998407C8}"/>
              </a:ext>
            </a:extLst>
          </p:cNvPr>
          <p:cNvSpPr/>
          <p:nvPr/>
        </p:nvSpPr>
        <p:spPr>
          <a:xfrm>
            <a:off x="6425622" y="2654710"/>
            <a:ext cx="3757271" cy="646331"/>
          </a:xfrm>
          <a:prstGeom prst="roundRect">
            <a:avLst/>
          </a:prstGeom>
          <a:solidFill>
            <a:schemeClr val="bg1"/>
          </a:solidFill>
          <a:ln w="2540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PD-L1 and PD-1 interact and induces T cell ‘exhaustion’</a:t>
            </a:r>
          </a:p>
        </p:txBody>
      </p:sp>
      <p:pic>
        <p:nvPicPr>
          <p:cNvPr id="177" name="T cell selection" descr="Cursor with solid fill">
            <a:extLst>
              <a:ext uri="{FF2B5EF4-FFF2-40B4-BE49-F238E27FC236}">
                <a16:creationId xmlns:a16="http://schemas.microsoft.com/office/drawing/2014/main" id="{8A680202-7DAD-5643-AFD3-60D8210337F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931183" y="3137460"/>
            <a:ext cx="411480" cy="411480"/>
          </a:xfrm>
          <a:prstGeom prst="rect">
            <a:avLst/>
          </a:prstGeom>
        </p:spPr>
      </p:pic>
      <p:sp>
        <p:nvSpPr>
          <p:cNvPr id="89" name="CTLA button">
            <a:extLst>
              <a:ext uri="{FF2B5EF4-FFF2-40B4-BE49-F238E27FC236}">
                <a16:creationId xmlns:a16="http://schemas.microsoft.com/office/drawing/2014/main" id="{BB6634F7-CBB7-324F-97CE-3A169F3B1F61}"/>
              </a:ext>
            </a:extLst>
          </p:cNvPr>
          <p:cNvSpPr/>
          <p:nvPr/>
        </p:nvSpPr>
        <p:spPr>
          <a:xfrm>
            <a:off x="5662486" y="5975832"/>
            <a:ext cx="3757271" cy="646331"/>
          </a:xfrm>
          <a:prstGeom prst="roundRect">
            <a:avLst/>
          </a:prstGeom>
          <a:solidFill>
            <a:schemeClr val="bg1"/>
          </a:solidFill>
          <a:ln w="2540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CTLA-4 interacts with several ligands and induces T cell ‘exhaustion’</a:t>
            </a:r>
          </a:p>
        </p:txBody>
      </p:sp>
      <p:pic>
        <p:nvPicPr>
          <p:cNvPr id="178" name="T cell selection" descr="Cursor with solid fill">
            <a:extLst>
              <a:ext uri="{FF2B5EF4-FFF2-40B4-BE49-F238E27FC236}">
                <a16:creationId xmlns:a16="http://schemas.microsoft.com/office/drawing/2014/main" id="{67A226EF-ADFB-4341-B163-4BC530B4650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232763" y="6433154"/>
            <a:ext cx="411480" cy="411480"/>
          </a:xfrm>
          <a:prstGeom prst="rect">
            <a:avLst/>
          </a:prstGeom>
        </p:spPr>
      </p:pic>
    </p:spTree>
    <p:extLst>
      <p:ext uri="{BB962C8B-B14F-4D97-AF65-F5344CB8AC3E}">
        <p14:creationId xmlns:p14="http://schemas.microsoft.com/office/powerpoint/2010/main" val="270035773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0039 0.00046 L 0.02357 0.03449 " pathEditMode="relative" rAng="0" ptsTypes="AA">
                                      <p:cBhvr>
                                        <p:cTn id="6" dur="1000" fill="hold"/>
                                        <p:tgtEl>
                                          <p:spTgt spid="3"/>
                                        </p:tgtEl>
                                        <p:attrNameLst>
                                          <p:attrName>ppt_x</p:attrName>
                                          <p:attrName>ppt_y</p:attrName>
                                        </p:attrNameLst>
                                      </p:cBhvr>
                                      <p:rCtr x="1198" y="1690"/>
                                    </p:animMotion>
                                  </p:childTnLst>
                                </p:cTn>
                              </p:par>
                              <p:par>
                                <p:cTn id="7" presetID="1" presetClass="entr" presetSubtype="0" fill="hold" grpId="0" nodeType="withEffect">
                                  <p:stCondLst>
                                    <p:cond delay="1000"/>
                                  </p:stCondLst>
                                  <p:childTnLst>
                                    <p:set>
                                      <p:cBhvr>
                                        <p:cTn id="8" dur="1" fill="hold">
                                          <p:stCondLst>
                                            <p:cond delay="0"/>
                                          </p:stCondLst>
                                        </p:cTn>
                                        <p:tgtEl>
                                          <p:spTgt spid="179"/>
                                        </p:tgtEl>
                                        <p:attrNameLst>
                                          <p:attrName>style.visibility</p:attrName>
                                        </p:attrNameLst>
                                      </p:cBhvr>
                                      <p:to>
                                        <p:strVal val="visible"/>
                                      </p:to>
                                    </p:set>
                                  </p:childTnLst>
                                </p:cTn>
                              </p:par>
                            </p:childTnLst>
                          </p:cTn>
                        </p:par>
                      </p:childTnLst>
                    </p:cTn>
                  </p:par>
                </p:childTnLst>
              </p:cTn>
              <p:nextCondLst>
                <p:cond evt="onClick" delay="0">
                  <p:tgtEl>
                    <p:spTgt spid="2"/>
                  </p:tgtEl>
                </p:cond>
              </p:nextCondLst>
            </p:seq>
            <p:seq concurrent="1" nextAc="seek">
              <p:cTn id="9" restart="whenNotActive" fill="hold" evtFilter="cancelBubble" nodeType="interactiveSeq">
                <p:stCondLst>
                  <p:cond evt="onClick" delay="0">
                    <p:tgtEl>
                      <p:spTgt spid="89"/>
                    </p:tgtEl>
                  </p:cond>
                </p:stCondLst>
                <p:endSync evt="end" delay="0">
                  <p:rtn val="all"/>
                </p:endSync>
                <p:childTnLst>
                  <p:par>
                    <p:cTn id="10" fill="hold">
                      <p:stCondLst>
                        <p:cond delay="0"/>
                      </p:stCondLst>
                      <p:childTnLst>
                        <p:par>
                          <p:cTn id="11" fill="hold">
                            <p:stCondLst>
                              <p:cond delay="0"/>
                            </p:stCondLst>
                            <p:childTnLst>
                              <p:par>
                                <p:cTn id="12" presetID="0" presetClass="path" presetSubtype="0" accel="50000" decel="50000" fill="hold" nodeType="clickEffect">
                                  <p:stCondLst>
                                    <p:cond delay="0"/>
                                  </p:stCondLst>
                                  <p:childTnLst>
                                    <p:animMotion origin="layout" path="M -0.00065 0.0007 L -0.01081 -0.0243 " pathEditMode="relative" rAng="0" ptsTypes="AA">
                                      <p:cBhvr>
                                        <p:cTn id="13" dur="1000" fill="hold"/>
                                        <p:tgtEl>
                                          <p:spTgt spid="5"/>
                                        </p:tgtEl>
                                        <p:attrNameLst>
                                          <p:attrName>ppt_x</p:attrName>
                                          <p:attrName>ppt_y</p:attrName>
                                        </p:attrNameLst>
                                      </p:cBhvr>
                                      <p:rCtr x="-508" y="-1250"/>
                                    </p:animMotion>
                                  </p:childTnLst>
                                </p:cTn>
                              </p:par>
                              <p:par>
                                <p:cTn id="14" presetID="1" presetClass="entr" presetSubtype="0" fill="hold" grpId="1" nodeType="withEffect">
                                  <p:stCondLst>
                                    <p:cond delay="1000"/>
                                  </p:stCondLst>
                                  <p:childTnLst>
                                    <p:set>
                                      <p:cBhvr>
                                        <p:cTn id="15" dur="1" fill="hold">
                                          <p:stCondLst>
                                            <p:cond delay="0"/>
                                          </p:stCondLst>
                                        </p:cTn>
                                        <p:tgtEl>
                                          <p:spTgt spid="179"/>
                                        </p:tgtEl>
                                        <p:attrNameLst>
                                          <p:attrName>style.visibility</p:attrName>
                                        </p:attrNameLst>
                                      </p:cBhvr>
                                      <p:to>
                                        <p:strVal val="visible"/>
                                      </p:to>
                                    </p:set>
                                  </p:childTnLst>
                                </p:cTn>
                              </p:par>
                            </p:childTnLst>
                          </p:cTn>
                        </p:par>
                      </p:childTnLst>
                    </p:cTn>
                  </p:par>
                </p:childTnLst>
              </p:cTn>
              <p:nextCondLst>
                <p:cond evt="onClick" delay="0">
                  <p:tgtEl>
                    <p:spTgt spid="89"/>
                  </p:tgtEl>
                </p:cond>
              </p:nextCondLst>
            </p:seq>
          </p:childTnLst>
        </p:cTn>
      </p:par>
    </p:tnLst>
    <p:bldLst>
      <p:bldP spid="179" grpId="0" animBg="1"/>
      <p:bldP spid="179"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teachIM logo" descr="Icon&#10;&#10;Description automatically generated">
            <a:extLst>
              <a:ext uri="{FF2B5EF4-FFF2-40B4-BE49-F238E27FC236}">
                <a16:creationId xmlns:a16="http://schemas.microsoft.com/office/drawing/2014/main" id="{9941794D-0E4C-4929-897A-E61CE338C3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70638" y="6361866"/>
            <a:ext cx="1387970" cy="528106"/>
          </a:xfrm>
          <a:prstGeom prst="rect">
            <a:avLst/>
          </a:prstGeom>
        </p:spPr>
      </p:pic>
      <p:sp>
        <p:nvSpPr>
          <p:cNvPr id="130" name="Cloud 129">
            <a:extLst>
              <a:ext uri="{FF2B5EF4-FFF2-40B4-BE49-F238E27FC236}">
                <a16:creationId xmlns:a16="http://schemas.microsoft.com/office/drawing/2014/main" id="{50C5C04E-3901-6547-A11D-13516EB968E7}"/>
              </a:ext>
            </a:extLst>
          </p:cNvPr>
          <p:cNvSpPr/>
          <p:nvPr/>
        </p:nvSpPr>
        <p:spPr>
          <a:xfrm>
            <a:off x="4928535" y="3742563"/>
            <a:ext cx="2468880" cy="1644720"/>
          </a:xfrm>
          <a:prstGeom prst="cloud">
            <a:avLst/>
          </a:prstGeom>
          <a:gradFill flip="none" rotWithShape="1">
            <a:gsLst>
              <a:gs pos="0">
                <a:srgbClr val="FFFFEF"/>
              </a:gs>
              <a:gs pos="74000">
                <a:srgbClr val="FFDFE1"/>
              </a:gs>
              <a:gs pos="100000">
                <a:srgbClr val="FAAFB2"/>
              </a:gs>
            </a:gsLst>
            <a:lin ang="54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Normal cells</a:t>
            </a:r>
          </a:p>
        </p:txBody>
      </p:sp>
      <p:pic>
        <p:nvPicPr>
          <p:cNvPr id="131" name="Picture 130" descr="A picture containing clipart&#10;&#10;Description automatically generated">
            <a:extLst>
              <a:ext uri="{FF2B5EF4-FFF2-40B4-BE49-F238E27FC236}">
                <a16:creationId xmlns:a16="http://schemas.microsoft.com/office/drawing/2014/main" id="{11AE46FA-D8E7-E044-B20E-A6639CDC158C}"/>
              </a:ext>
            </a:extLst>
          </p:cNvPr>
          <p:cNvPicPr>
            <a:picLocks noChangeAspect="1"/>
          </p:cNvPicPr>
          <p:nvPr/>
        </p:nvPicPr>
        <p:blipFill>
          <a:blip r:embed="rId4"/>
          <a:stretch>
            <a:fillRect/>
          </a:stretch>
        </p:blipFill>
        <p:spPr>
          <a:xfrm rot="16200000">
            <a:off x="7960379" y="4326154"/>
            <a:ext cx="476790" cy="605123"/>
          </a:xfrm>
          <a:prstGeom prst="rect">
            <a:avLst/>
          </a:prstGeom>
        </p:spPr>
      </p:pic>
      <p:sp>
        <p:nvSpPr>
          <p:cNvPr id="133" name="Rounded Rectangle 132">
            <a:extLst>
              <a:ext uri="{FF2B5EF4-FFF2-40B4-BE49-F238E27FC236}">
                <a16:creationId xmlns:a16="http://schemas.microsoft.com/office/drawing/2014/main" id="{D676EA83-CAEC-FF45-A22A-12D00CD56F88}"/>
              </a:ext>
            </a:extLst>
          </p:cNvPr>
          <p:cNvSpPr/>
          <p:nvPr/>
        </p:nvSpPr>
        <p:spPr>
          <a:xfrm rot="5400000">
            <a:off x="7470627" y="4497443"/>
            <a:ext cx="49008" cy="139844"/>
          </a:xfrm>
          <a:prstGeom prst="round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ounded Rectangle 133">
            <a:extLst>
              <a:ext uri="{FF2B5EF4-FFF2-40B4-BE49-F238E27FC236}">
                <a16:creationId xmlns:a16="http://schemas.microsoft.com/office/drawing/2014/main" id="{6838270F-BCAB-6C4E-8FAB-3C4C38F246FC}"/>
              </a:ext>
            </a:extLst>
          </p:cNvPr>
          <p:cNvSpPr/>
          <p:nvPr/>
        </p:nvSpPr>
        <p:spPr>
          <a:xfrm rot="5400000">
            <a:off x="7587698" y="4432491"/>
            <a:ext cx="299299" cy="392451"/>
          </a:xfrm>
          <a:prstGeom prst="round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5" name="Oval 134">
            <a:extLst>
              <a:ext uri="{FF2B5EF4-FFF2-40B4-BE49-F238E27FC236}">
                <a16:creationId xmlns:a16="http://schemas.microsoft.com/office/drawing/2014/main" id="{E7AF3EC1-E99F-0B4D-A937-D0883CF8E220}"/>
              </a:ext>
            </a:extLst>
          </p:cNvPr>
          <p:cNvSpPr/>
          <p:nvPr/>
        </p:nvSpPr>
        <p:spPr>
          <a:xfrm rot="5400000">
            <a:off x="7828140" y="4544976"/>
            <a:ext cx="171713" cy="16748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a:extLst>
              <a:ext uri="{FF2B5EF4-FFF2-40B4-BE49-F238E27FC236}">
                <a16:creationId xmlns:a16="http://schemas.microsoft.com/office/drawing/2014/main" id="{9EDFB190-0F50-B74A-87A2-1BC3B9DE87BF}"/>
              </a:ext>
            </a:extLst>
          </p:cNvPr>
          <p:cNvSpPr/>
          <p:nvPr/>
        </p:nvSpPr>
        <p:spPr>
          <a:xfrm>
            <a:off x="7849832" y="4562752"/>
            <a:ext cx="178447" cy="13209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0" name="Oval 139">
            <a:extLst>
              <a:ext uri="{FF2B5EF4-FFF2-40B4-BE49-F238E27FC236}">
                <a16:creationId xmlns:a16="http://schemas.microsoft.com/office/drawing/2014/main" id="{8FBD7C97-44E0-C842-8E72-AAF2AC235312}"/>
              </a:ext>
            </a:extLst>
          </p:cNvPr>
          <p:cNvSpPr/>
          <p:nvPr/>
        </p:nvSpPr>
        <p:spPr>
          <a:xfrm>
            <a:off x="8466229" y="3990552"/>
            <a:ext cx="1461170" cy="1349714"/>
          </a:xfrm>
          <a:prstGeom prst="ellipse">
            <a:avLst/>
          </a:prstGeom>
          <a:gradFill flip="none" rotWithShape="1">
            <a:gsLst>
              <a:gs pos="0">
                <a:schemeClr val="accent4">
                  <a:lumMod val="5000"/>
                  <a:lumOff val="95000"/>
                </a:schemeClr>
              </a:gs>
              <a:gs pos="33000">
                <a:srgbClr val="D0CCFF"/>
              </a:gs>
              <a:gs pos="100000">
                <a:srgbClr val="7030A0"/>
              </a:gs>
            </a:gsLst>
            <a:path path="shap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Oval 140">
            <a:extLst>
              <a:ext uri="{FF2B5EF4-FFF2-40B4-BE49-F238E27FC236}">
                <a16:creationId xmlns:a16="http://schemas.microsoft.com/office/drawing/2014/main" id="{90CD1278-B578-9748-B465-DF4BEABEBEC6}"/>
              </a:ext>
            </a:extLst>
          </p:cNvPr>
          <p:cNvSpPr/>
          <p:nvPr/>
        </p:nvSpPr>
        <p:spPr>
          <a:xfrm>
            <a:off x="8703984" y="4187082"/>
            <a:ext cx="996108" cy="956654"/>
          </a:xfrm>
          <a:prstGeom prst="ellipse">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 cell</a:t>
            </a:r>
          </a:p>
        </p:txBody>
      </p:sp>
      <p:sp>
        <p:nvSpPr>
          <p:cNvPr id="148" name="Rounded Rectangle 147">
            <a:extLst>
              <a:ext uri="{FF2B5EF4-FFF2-40B4-BE49-F238E27FC236}">
                <a16:creationId xmlns:a16="http://schemas.microsoft.com/office/drawing/2014/main" id="{6F2BC074-4BC2-7B43-8CE0-7539758B8920}"/>
              </a:ext>
            </a:extLst>
          </p:cNvPr>
          <p:cNvSpPr/>
          <p:nvPr/>
        </p:nvSpPr>
        <p:spPr>
          <a:xfrm rot="5400000">
            <a:off x="7827990" y="4135347"/>
            <a:ext cx="112748" cy="294030"/>
          </a:xfrm>
          <a:prstGeom prst="roundRect">
            <a:avLst/>
          </a:prstGeom>
          <a:solidFill>
            <a:srgbClr val="C44D5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ounded Rectangle 151">
            <a:extLst>
              <a:ext uri="{FF2B5EF4-FFF2-40B4-BE49-F238E27FC236}">
                <a16:creationId xmlns:a16="http://schemas.microsoft.com/office/drawing/2014/main" id="{6FC54B4B-30B2-554F-B832-8F70BD70BAF4}"/>
              </a:ext>
            </a:extLst>
          </p:cNvPr>
          <p:cNvSpPr/>
          <p:nvPr/>
        </p:nvSpPr>
        <p:spPr>
          <a:xfrm rot="5400000">
            <a:off x="8131799" y="4135347"/>
            <a:ext cx="112748" cy="294030"/>
          </a:xfrm>
          <a:prstGeom prst="roundRect">
            <a:avLst/>
          </a:prstGeom>
          <a:solidFill>
            <a:srgbClr val="C44D5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ounded Rectangle 154">
            <a:extLst>
              <a:ext uri="{FF2B5EF4-FFF2-40B4-BE49-F238E27FC236}">
                <a16:creationId xmlns:a16="http://schemas.microsoft.com/office/drawing/2014/main" id="{9636D0C1-14EE-0E49-B916-873CE520294D}"/>
              </a:ext>
            </a:extLst>
          </p:cNvPr>
          <p:cNvSpPr/>
          <p:nvPr/>
        </p:nvSpPr>
        <p:spPr>
          <a:xfrm rot="5400000">
            <a:off x="8435608" y="4135347"/>
            <a:ext cx="112748" cy="294030"/>
          </a:xfrm>
          <a:prstGeom prst="roundRect">
            <a:avLst/>
          </a:prstGeom>
          <a:solidFill>
            <a:srgbClr val="C44D5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93521EFD-F865-2E41-85DF-9C20C0C71C4A}"/>
              </a:ext>
            </a:extLst>
          </p:cNvPr>
          <p:cNvGrpSpPr/>
          <p:nvPr/>
        </p:nvGrpSpPr>
        <p:grpSpPr>
          <a:xfrm>
            <a:off x="7007531" y="3476334"/>
            <a:ext cx="901649" cy="513535"/>
            <a:chOff x="7154299" y="3701105"/>
            <a:chExt cx="901649" cy="513535"/>
          </a:xfrm>
        </p:grpSpPr>
        <p:sp>
          <p:nvSpPr>
            <p:cNvPr id="143" name="Rounded Rectangle 142">
              <a:extLst>
                <a:ext uri="{FF2B5EF4-FFF2-40B4-BE49-F238E27FC236}">
                  <a16:creationId xmlns:a16="http://schemas.microsoft.com/office/drawing/2014/main" id="{4A12C84D-FE57-6345-BA60-6BB64D443627}"/>
                </a:ext>
              </a:extLst>
            </p:cNvPr>
            <p:cNvSpPr/>
            <p:nvPr/>
          </p:nvSpPr>
          <p:spPr>
            <a:xfrm rot="5400000">
              <a:off x="7244940" y="4011251"/>
              <a:ext cx="112748" cy="294030"/>
            </a:xfrm>
            <a:prstGeom prst="roundRect">
              <a:avLst/>
            </a:prstGeom>
            <a:solidFill>
              <a:srgbClr val="FAAFB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ounded Rectangle 143">
              <a:extLst>
                <a:ext uri="{FF2B5EF4-FFF2-40B4-BE49-F238E27FC236}">
                  <a16:creationId xmlns:a16="http://schemas.microsoft.com/office/drawing/2014/main" id="{1A335C32-13C4-DB45-8419-876C97907020}"/>
                </a:ext>
              </a:extLst>
            </p:cNvPr>
            <p:cNvSpPr/>
            <p:nvPr/>
          </p:nvSpPr>
          <p:spPr>
            <a:xfrm rot="5400000">
              <a:off x="7548749" y="4011251"/>
              <a:ext cx="112748" cy="294030"/>
            </a:xfrm>
            <a:prstGeom prst="roundRect">
              <a:avLst/>
            </a:prstGeom>
            <a:solidFill>
              <a:srgbClr val="FAAFB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ounded Rectangle 145">
              <a:extLst>
                <a:ext uri="{FF2B5EF4-FFF2-40B4-BE49-F238E27FC236}">
                  <a16:creationId xmlns:a16="http://schemas.microsoft.com/office/drawing/2014/main" id="{E3F66CBE-6C99-C045-A474-E007D77B5057}"/>
                </a:ext>
              </a:extLst>
            </p:cNvPr>
            <p:cNvSpPr/>
            <p:nvPr/>
          </p:nvSpPr>
          <p:spPr>
            <a:xfrm rot="5400000">
              <a:off x="7852559" y="4011251"/>
              <a:ext cx="112748" cy="294030"/>
            </a:xfrm>
            <a:prstGeom prst="roundRect">
              <a:avLst/>
            </a:prstGeom>
            <a:solidFill>
              <a:srgbClr val="FAAFB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TextBox 156">
              <a:extLst>
                <a:ext uri="{FF2B5EF4-FFF2-40B4-BE49-F238E27FC236}">
                  <a16:creationId xmlns:a16="http://schemas.microsoft.com/office/drawing/2014/main" id="{CF47103F-F3E8-874E-A6E5-27073FB036D6}"/>
                </a:ext>
              </a:extLst>
            </p:cNvPr>
            <p:cNvSpPr txBox="1"/>
            <p:nvPr/>
          </p:nvSpPr>
          <p:spPr>
            <a:xfrm>
              <a:off x="7201761" y="3701105"/>
              <a:ext cx="626861" cy="301532"/>
            </a:xfrm>
            <a:prstGeom prst="rect">
              <a:avLst/>
            </a:prstGeom>
            <a:noFill/>
          </p:spPr>
          <p:txBody>
            <a:bodyPr wrap="none" rtlCol="0">
              <a:spAutoFit/>
            </a:bodyPr>
            <a:lstStyle/>
            <a:p>
              <a:r>
                <a:rPr lang="en-US" dirty="0"/>
                <a:t>PD-L1</a:t>
              </a:r>
            </a:p>
          </p:txBody>
        </p:sp>
        <p:cxnSp>
          <p:nvCxnSpPr>
            <p:cNvPr id="158" name="Straight Connector 157">
              <a:extLst>
                <a:ext uri="{FF2B5EF4-FFF2-40B4-BE49-F238E27FC236}">
                  <a16:creationId xmlns:a16="http://schemas.microsoft.com/office/drawing/2014/main" id="{B73FA57B-B737-3D43-80D0-5F317D71D561}"/>
                </a:ext>
              </a:extLst>
            </p:cNvPr>
            <p:cNvCxnSpPr>
              <a:cxnSpLocks/>
            </p:cNvCxnSpPr>
            <p:nvPr/>
          </p:nvCxnSpPr>
          <p:spPr>
            <a:xfrm>
              <a:off x="7523738" y="3962091"/>
              <a:ext cx="65725" cy="15053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59" name="Straight Connector 158">
            <a:extLst>
              <a:ext uri="{FF2B5EF4-FFF2-40B4-BE49-F238E27FC236}">
                <a16:creationId xmlns:a16="http://schemas.microsoft.com/office/drawing/2014/main" id="{8B7FB80A-195B-9E41-A370-4EE5C025C2BD}"/>
              </a:ext>
            </a:extLst>
          </p:cNvPr>
          <p:cNvCxnSpPr>
            <a:cxnSpLocks/>
          </p:cNvCxnSpPr>
          <p:nvPr/>
        </p:nvCxnSpPr>
        <p:spPr>
          <a:xfrm flipH="1">
            <a:off x="8218071" y="4016271"/>
            <a:ext cx="86187" cy="2167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60" name="TextBox 159">
            <a:extLst>
              <a:ext uri="{FF2B5EF4-FFF2-40B4-BE49-F238E27FC236}">
                <a16:creationId xmlns:a16="http://schemas.microsoft.com/office/drawing/2014/main" id="{88D20FF2-4519-DA4C-ABE2-9E8FEF92B20D}"/>
              </a:ext>
            </a:extLst>
          </p:cNvPr>
          <p:cNvSpPr txBox="1"/>
          <p:nvPr/>
        </p:nvSpPr>
        <p:spPr>
          <a:xfrm>
            <a:off x="8057200" y="3725426"/>
            <a:ext cx="543042" cy="301532"/>
          </a:xfrm>
          <a:prstGeom prst="rect">
            <a:avLst/>
          </a:prstGeom>
          <a:noFill/>
        </p:spPr>
        <p:txBody>
          <a:bodyPr wrap="none" rtlCol="0">
            <a:spAutoFit/>
          </a:bodyPr>
          <a:lstStyle/>
          <a:p>
            <a:r>
              <a:rPr lang="en-US" dirty="0"/>
              <a:t>PD-1</a:t>
            </a:r>
          </a:p>
        </p:txBody>
      </p:sp>
      <p:sp>
        <p:nvSpPr>
          <p:cNvPr id="162" name="Oval 161">
            <a:extLst>
              <a:ext uri="{FF2B5EF4-FFF2-40B4-BE49-F238E27FC236}">
                <a16:creationId xmlns:a16="http://schemas.microsoft.com/office/drawing/2014/main" id="{2014837A-8E19-F64C-B50F-135D256A85C6}"/>
              </a:ext>
            </a:extLst>
          </p:cNvPr>
          <p:cNvSpPr/>
          <p:nvPr/>
        </p:nvSpPr>
        <p:spPr>
          <a:xfrm rot="16200000">
            <a:off x="7789820" y="4835264"/>
            <a:ext cx="80877" cy="334280"/>
          </a:xfrm>
          <a:prstGeom prst="ellipse">
            <a:avLst/>
          </a:prstGeom>
          <a:solidFill>
            <a:srgbClr val="9E322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Oval 162">
            <a:extLst>
              <a:ext uri="{FF2B5EF4-FFF2-40B4-BE49-F238E27FC236}">
                <a16:creationId xmlns:a16="http://schemas.microsoft.com/office/drawing/2014/main" id="{D2415A4C-4AE9-6A45-9DE6-183ECD702B1F}"/>
              </a:ext>
            </a:extLst>
          </p:cNvPr>
          <p:cNvSpPr/>
          <p:nvPr/>
        </p:nvSpPr>
        <p:spPr>
          <a:xfrm rot="16200000">
            <a:off x="7437161" y="4835264"/>
            <a:ext cx="80877" cy="334280"/>
          </a:xfrm>
          <a:prstGeom prst="ellipse">
            <a:avLst/>
          </a:prstGeom>
          <a:solidFill>
            <a:srgbClr val="9E322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a:extLst>
              <a:ext uri="{FF2B5EF4-FFF2-40B4-BE49-F238E27FC236}">
                <a16:creationId xmlns:a16="http://schemas.microsoft.com/office/drawing/2014/main" id="{88047E4D-88DF-1E41-8471-7FEBB778C9AC}"/>
              </a:ext>
            </a:extLst>
          </p:cNvPr>
          <p:cNvSpPr/>
          <p:nvPr/>
        </p:nvSpPr>
        <p:spPr>
          <a:xfrm rot="16200000">
            <a:off x="7084503" y="4835264"/>
            <a:ext cx="80877" cy="334280"/>
          </a:xfrm>
          <a:prstGeom prst="ellipse">
            <a:avLst/>
          </a:prstGeom>
          <a:solidFill>
            <a:srgbClr val="9E322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 name="Group 2">
            <a:extLst>
              <a:ext uri="{FF2B5EF4-FFF2-40B4-BE49-F238E27FC236}">
                <a16:creationId xmlns:a16="http://schemas.microsoft.com/office/drawing/2014/main" id="{A04413D8-3C1F-104E-B9B5-DB327246FBBF}"/>
              </a:ext>
            </a:extLst>
          </p:cNvPr>
          <p:cNvGrpSpPr/>
          <p:nvPr/>
        </p:nvGrpSpPr>
        <p:grpSpPr>
          <a:xfrm>
            <a:off x="7778427" y="5243422"/>
            <a:ext cx="1051662" cy="555497"/>
            <a:chOff x="7605124" y="5058939"/>
            <a:chExt cx="1051662" cy="555497"/>
          </a:xfrm>
        </p:grpSpPr>
        <p:sp>
          <p:nvSpPr>
            <p:cNvPr id="165" name="CTLA-4">
              <a:extLst>
                <a:ext uri="{FF2B5EF4-FFF2-40B4-BE49-F238E27FC236}">
                  <a16:creationId xmlns:a16="http://schemas.microsoft.com/office/drawing/2014/main" id="{095E6A3E-FFA1-DE4B-AFD1-1C1CEA55EA94}"/>
                </a:ext>
              </a:extLst>
            </p:cNvPr>
            <p:cNvSpPr/>
            <p:nvPr/>
          </p:nvSpPr>
          <p:spPr>
            <a:xfrm rot="16200000">
              <a:off x="8121073" y="4601983"/>
              <a:ext cx="78757" cy="992669"/>
            </a:xfrm>
            <a:prstGeom prst="roundRect">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6" name="Straight Connector 165">
              <a:extLst>
                <a:ext uri="{FF2B5EF4-FFF2-40B4-BE49-F238E27FC236}">
                  <a16:creationId xmlns:a16="http://schemas.microsoft.com/office/drawing/2014/main" id="{88B1FD5C-0812-2646-885E-05385B754090}"/>
                </a:ext>
              </a:extLst>
            </p:cNvPr>
            <p:cNvCxnSpPr>
              <a:cxnSpLocks/>
            </p:cNvCxnSpPr>
            <p:nvPr/>
          </p:nvCxnSpPr>
          <p:spPr>
            <a:xfrm flipH="1">
              <a:off x="7998064" y="5143736"/>
              <a:ext cx="86187" cy="2167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67" name="TextBox 166">
              <a:extLst>
                <a:ext uri="{FF2B5EF4-FFF2-40B4-BE49-F238E27FC236}">
                  <a16:creationId xmlns:a16="http://schemas.microsoft.com/office/drawing/2014/main" id="{05BB7E8D-1B9E-804F-B581-1E76ABCB72A7}"/>
                </a:ext>
              </a:extLst>
            </p:cNvPr>
            <p:cNvSpPr txBox="1"/>
            <p:nvPr/>
          </p:nvSpPr>
          <p:spPr>
            <a:xfrm>
              <a:off x="7605124" y="5312904"/>
              <a:ext cx="718485" cy="301532"/>
            </a:xfrm>
            <a:prstGeom prst="rect">
              <a:avLst/>
            </a:prstGeom>
            <a:noFill/>
          </p:spPr>
          <p:txBody>
            <a:bodyPr wrap="none" rtlCol="0">
              <a:spAutoFit/>
            </a:bodyPr>
            <a:lstStyle/>
            <a:p>
              <a:r>
                <a:rPr lang="en-US" dirty="0"/>
                <a:t>CTLA-4</a:t>
              </a:r>
            </a:p>
          </p:txBody>
        </p:sp>
      </p:grpSp>
      <p:sp>
        <p:nvSpPr>
          <p:cNvPr id="179" name="Cross 178">
            <a:extLst>
              <a:ext uri="{FF2B5EF4-FFF2-40B4-BE49-F238E27FC236}">
                <a16:creationId xmlns:a16="http://schemas.microsoft.com/office/drawing/2014/main" id="{E5B4FE9D-7115-B742-88A3-7F75BE41EE2F}"/>
              </a:ext>
            </a:extLst>
          </p:cNvPr>
          <p:cNvSpPr/>
          <p:nvPr/>
        </p:nvSpPr>
        <p:spPr>
          <a:xfrm rot="18760539">
            <a:off x="8658050" y="4089429"/>
            <a:ext cx="1127760" cy="1156752"/>
          </a:xfrm>
          <a:prstGeom prst="plus">
            <a:avLst>
              <a:gd name="adj" fmla="val 4572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1" name="TCR" descr="A picture containing clipart&#10;&#10;Description automatically generated">
            <a:extLst>
              <a:ext uri="{FF2B5EF4-FFF2-40B4-BE49-F238E27FC236}">
                <a16:creationId xmlns:a16="http://schemas.microsoft.com/office/drawing/2014/main" id="{66BBE813-1148-0A42-BD44-1C1AA51DF51B}"/>
              </a:ext>
            </a:extLst>
          </p:cNvPr>
          <p:cNvPicPr>
            <a:picLocks noChangeAspect="1"/>
          </p:cNvPicPr>
          <p:nvPr/>
        </p:nvPicPr>
        <p:blipFill>
          <a:blip r:embed="rId4"/>
          <a:stretch>
            <a:fillRect/>
          </a:stretch>
        </p:blipFill>
        <p:spPr>
          <a:xfrm rot="16200000">
            <a:off x="7839578" y="1124632"/>
            <a:ext cx="480486" cy="599901"/>
          </a:xfrm>
          <a:prstGeom prst="rect">
            <a:avLst/>
          </a:prstGeom>
        </p:spPr>
      </p:pic>
      <p:sp>
        <p:nvSpPr>
          <p:cNvPr id="102" name="Cloud 101">
            <a:extLst>
              <a:ext uri="{FF2B5EF4-FFF2-40B4-BE49-F238E27FC236}">
                <a16:creationId xmlns:a16="http://schemas.microsoft.com/office/drawing/2014/main" id="{AC2A60D1-718D-B44E-A1C3-C514BF7430D8}"/>
              </a:ext>
            </a:extLst>
          </p:cNvPr>
          <p:cNvSpPr/>
          <p:nvPr/>
        </p:nvSpPr>
        <p:spPr>
          <a:xfrm>
            <a:off x="4893114" y="595854"/>
            <a:ext cx="2452588" cy="1657470"/>
          </a:xfrm>
          <a:prstGeom prst="cloud">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Tumor cell</a:t>
            </a:r>
          </a:p>
        </p:txBody>
      </p:sp>
      <p:grpSp>
        <p:nvGrpSpPr>
          <p:cNvPr id="103" name="HLA">
            <a:extLst>
              <a:ext uri="{FF2B5EF4-FFF2-40B4-BE49-F238E27FC236}">
                <a16:creationId xmlns:a16="http://schemas.microsoft.com/office/drawing/2014/main" id="{6A7C9BC5-0E08-B143-8C8A-8304F9A6F5A5}"/>
              </a:ext>
            </a:extLst>
          </p:cNvPr>
          <p:cNvGrpSpPr/>
          <p:nvPr/>
        </p:nvGrpSpPr>
        <p:grpSpPr>
          <a:xfrm rot="5400000">
            <a:off x="7445916" y="1140790"/>
            <a:ext cx="301619" cy="567587"/>
            <a:chOff x="8511393" y="1228380"/>
            <a:chExt cx="523874" cy="1188072"/>
          </a:xfrm>
        </p:grpSpPr>
        <p:sp>
          <p:nvSpPr>
            <p:cNvPr id="104" name="Rounded Rectangle 103">
              <a:extLst>
                <a:ext uri="{FF2B5EF4-FFF2-40B4-BE49-F238E27FC236}">
                  <a16:creationId xmlns:a16="http://schemas.microsoft.com/office/drawing/2014/main" id="{E88999D7-BBC8-FA47-8876-8A5980A36DB7}"/>
                </a:ext>
              </a:extLst>
            </p:cNvPr>
            <p:cNvSpPr/>
            <p:nvPr/>
          </p:nvSpPr>
          <p:spPr>
            <a:xfrm>
              <a:off x="8623053" y="2126256"/>
              <a:ext cx="85781" cy="290196"/>
            </a:xfrm>
            <a:prstGeom prst="round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5" name="Rounded Rectangle 104">
              <a:extLst>
                <a:ext uri="{FF2B5EF4-FFF2-40B4-BE49-F238E27FC236}">
                  <a16:creationId xmlns:a16="http://schemas.microsoft.com/office/drawing/2014/main" id="{D92DF2B5-4B38-4348-86E8-9527FCAB5A8A}"/>
                </a:ext>
              </a:extLst>
            </p:cNvPr>
            <p:cNvSpPr/>
            <p:nvPr/>
          </p:nvSpPr>
          <p:spPr>
            <a:xfrm>
              <a:off x="8511393" y="1361530"/>
              <a:ext cx="523874" cy="814387"/>
            </a:xfrm>
            <a:prstGeom prst="round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06" name="Oval 105">
              <a:extLst>
                <a:ext uri="{FF2B5EF4-FFF2-40B4-BE49-F238E27FC236}">
                  <a16:creationId xmlns:a16="http://schemas.microsoft.com/office/drawing/2014/main" id="{FE290AE2-2A84-0141-8449-847EB53C0468}"/>
                </a:ext>
              </a:extLst>
            </p:cNvPr>
            <p:cNvSpPr/>
            <p:nvPr/>
          </p:nvSpPr>
          <p:spPr>
            <a:xfrm>
              <a:off x="8623053" y="1228380"/>
              <a:ext cx="300555" cy="34754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107" name="Peptide">
            <a:extLst>
              <a:ext uri="{FF2B5EF4-FFF2-40B4-BE49-F238E27FC236}">
                <a16:creationId xmlns:a16="http://schemas.microsoft.com/office/drawing/2014/main" id="{715E33A6-DA35-5D4C-859D-0F51BAFCD149}"/>
              </a:ext>
            </a:extLst>
          </p:cNvPr>
          <p:cNvSpPr/>
          <p:nvPr/>
        </p:nvSpPr>
        <p:spPr>
          <a:xfrm>
            <a:off x="7733891" y="1358108"/>
            <a:ext cx="176907" cy="1331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grpSp>
        <p:nvGrpSpPr>
          <p:cNvPr id="108" name="T cell">
            <a:extLst>
              <a:ext uri="{FF2B5EF4-FFF2-40B4-BE49-F238E27FC236}">
                <a16:creationId xmlns:a16="http://schemas.microsoft.com/office/drawing/2014/main" id="{29495455-78D3-9E4C-B04B-3D4DD2290B12}"/>
              </a:ext>
            </a:extLst>
          </p:cNvPr>
          <p:cNvGrpSpPr/>
          <p:nvPr/>
        </p:nvGrpSpPr>
        <p:grpSpPr>
          <a:xfrm>
            <a:off x="8344967" y="781472"/>
            <a:ext cx="1448559" cy="1360176"/>
            <a:chOff x="8547551" y="979091"/>
            <a:chExt cx="1704587" cy="1653198"/>
          </a:xfrm>
        </p:grpSpPr>
        <p:sp>
          <p:nvSpPr>
            <p:cNvPr id="109" name="Oval 108">
              <a:extLst>
                <a:ext uri="{FF2B5EF4-FFF2-40B4-BE49-F238E27FC236}">
                  <a16:creationId xmlns:a16="http://schemas.microsoft.com/office/drawing/2014/main" id="{12458E6B-DD85-074B-83E3-1786E6075CA0}"/>
                </a:ext>
              </a:extLst>
            </p:cNvPr>
            <p:cNvSpPr/>
            <p:nvPr/>
          </p:nvSpPr>
          <p:spPr>
            <a:xfrm>
              <a:off x="8547551" y="979091"/>
              <a:ext cx="1704587" cy="1653198"/>
            </a:xfrm>
            <a:prstGeom prst="ellipse">
              <a:avLst/>
            </a:prstGeom>
            <a:gradFill flip="none" rotWithShape="1">
              <a:gsLst>
                <a:gs pos="0">
                  <a:schemeClr val="accent4">
                    <a:lumMod val="5000"/>
                    <a:lumOff val="95000"/>
                  </a:schemeClr>
                </a:gs>
                <a:gs pos="33000">
                  <a:srgbClr val="D0CCFF"/>
                </a:gs>
                <a:gs pos="100000">
                  <a:srgbClr val="7030A0"/>
                </a:gs>
              </a:gsLst>
              <a:path path="shap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0" name="Oval 109">
              <a:extLst>
                <a:ext uri="{FF2B5EF4-FFF2-40B4-BE49-F238E27FC236}">
                  <a16:creationId xmlns:a16="http://schemas.microsoft.com/office/drawing/2014/main" id="{15C31C39-33E6-9444-8F3F-93A75FDEC719}"/>
                </a:ext>
              </a:extLst>
            </p:cNvPr>
            <p:cNvSpPr/>
            <p:nvPr/>
          </p:nvSpPr>
          <p:spPr>
            <a:xfrm>
              <a:off x="8824914" y="1219811"/>
              <a:ext cx="1162050" cy="1171758"/>
            </a:xfrm>
            <a:prstGeom prst="ellipse">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T cell</a:t>
              </a:r>
            </a:p>
          </p:txBody>
        </p:sp>
      </p:grpSp>
      <p:sp>
        <p:nvSpPr>
          <p:cNvPr id="111" name="TextBox 110">
            <a:extLst>
              <a:ext uri="{FF2B5EF4-FFF2-40B4-BE49-F238E27FC236}">
                <a16:creationId xmlns:a16="http://schemas.microsoft.com/office/drawing/2014/main" id="{EF521D07-2C6B-E944-BD75-099890C6F729}"/>
              </a:ext>
            </a:extLst>
          </p:cNvPr>
          <p:cNvSpPr txBox="1"/>
          <p:nvPr/>
        </p:nvSpPr>
        <p:spPr>
          <a:xfrm>
            <a:off x="7321810" y="870447"/>
            <a:ext cx="548482" cy="307777"/>
          </a:xfrm>
          <a:prstGeom prst="rect">
            <a:avLst/>
          </a:prstGeom>
          <a:noFill/>
        </p:spPr>
        <p:txBody>
          <a:bodyPr wrap="square" rtlCol="0">
            <a:spAutoFit/>
          </a:bodyPr>
          <a:lstStyle/>
          <a:p>
            <a:r>
              <a:rPr lang="en-US" sz="1400" dirty="0"/>
              <a:t>MHC</a:t>
            </a:r>
          </a:p>
        </p:txBody>
      </p:sp>
      <p:sp>
        <p:nvSpPr>
          <p:cNvPr id="112" name="TextBox 111">
            <a:extLst>
              <a:ext uri="{FF2B5EF4-FFF2-40B4-BE49-F238E27FC236}">
                <a16:creationId xmlns:a16="http://schemas.microsoft.com/office/drawing/2014/main" id="{A570BCCD-E764-9A4C-9ABC-DBADD3DAA86C}"/>
              </a:ext>
            </a:extLst>
          </p:cNvPr>
          <p:cNvSpPr txBox="1"/>
          <p:nvPr/>
        </p:nvSpPr>
        <p:spPr>
          <a:xfrm>
            <a:off x="7957452" y="864168"/>
            <a:ext cx="459400" cy="307777"/>
          </a:xfrm>
          <a:prstGeom prst="rect">
            <a:avLst/>
          </a:prstGeom>
          <a:noFill/>
        </p:spPr>
        <p:txBody>
          <a:bodyPr wrap="square" rtlCol="0">
            <a:spAutoFit/>
          </a:bodyPr>
          <a:lstStyle/>
          <a:p>
            <a:r>
              <a:rPr lang="en-US" sz="1400" dirty="0"/>
              <a:t>TCR</a:t>
            </a:r>
          </a:p>
        </p:txBody>
      </p:sp>
      <p:cxnSp>
        <p:nvCxnSpPr>
          <p:cNvPr id="113" name="Straight Connector 112">
            <a:extLst>
              <a:ext uri="{FF2B5EF4-FFF2-40B4-BE49-F238E27FC236}">
                <a16:creationId xmlns:a16="http://schemas.microsoft.com/office/drawing/2014/main" id="{E7397D45-49B0-C344-B36B-6053E654B048}"/>
              </a:ext>
            </a:extLst>
          </p:cNvPr>
          <p:cNvCxnSpPr>
            <a:cxnSpLocks/>
          </p:cNvCxnSpPr>
          <p:nvPr/>
        </p:nvCxnSpPr>
        <p:spPr>
          <a:xfrm>
            <a:off x="7593696" y="1121596"/>
            <a:ext cx="45990" cy="16445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9D5618A2-7004-7E49-9CF5-8CD860900208}"/>
              </a:ext>
            </a:extLst>
          </p:cNvPr>
          <p:cNvCxnSpPr>
            <a:cxnSpLocks/>
          </p:cNvCxnSpPr>
          <p:nvPr/>
        </p:nvCxnSpPr>
        <p:spPr>
          <a:xfrm flipH="1">
            <a:off x="8164276" y="1121596"/>
            <a:ext cx="30615" cy="223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B9E8313D-856D-924B-B135-11FDFCB4C764}"/>
              </a:ext>
            </a:extLst>
          </p:cNvPr>
          <p:cNvCxnSpPr>
            <a:cxnSpLocks/>
          </p:cNvCxnSpPr>
          <p:nvPr/>
        </p:nvCxnSpPr>
        <p:spPr>
          <a:xfrm flipH="1">
            <a:off x="7738208" y="1483910"/>
            <a:ext cx="72278" cy="30779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EADE0F3C-402F-E846-9F31-8C0D16345FC9}"/>
              </a:ext>
            </a:extLst>
          </p:cNvPr>
          <p:cNvSpPr txBox="1"/>
          <p:nvPr/>
        </p:nvSpPr>
        <p:spPr>
          <a:xfrm>
            <a:off x="7025247" y="1739565"/>
            <a:ext cx="1509245" cy="523220"/>
          </a:xfrm>
          <a:prstGeom prst="rect">
            <a:avLst/>
          </a:prstGeom>
          <a:noFill/>
        </p:spPr>
        <p:txBody>
          <a:bodyPr wrap="square" rtlCol="0">
            <a:spAutoFit/>
          </a:bodyPr>
          <a:lstStyle/>
          <a:p>
            <a:pPr algn="ctr"/>
            <a:r>
              <a:rPr lang="en-US" sz="1400" dirty="0"/>
              <a:t>Mutated peptide</a:t>
            </a:r>
          </a:p>
          <a:p>
            <a:pPr algn="ctr"/>
            <a:r>
              <a:rPr lang="en-US" sz="1400" dirty="0"/>
              <a:t>(‘non-self’)</a:t>
            </a:r>
          </a:p>
        </p:txBody>
      </p:sp>
      <p:sp>
        <p:nvSpPr>
          <p:cNvPr id="68" name="question 1">
            <a:hlinkClick r:id="rId5" action="ppaction://hlinksldjump"/>
            <a:extLst>
              <a:ext uri="{FF2B5EF4-FFF2-40B4-BE49-F238E27FC236}">
                <a16:creationId xmlns:a16="http://schemas.microsoft.com/office/drawing/2014/main" id="{08C15A28-0A39-9445-BD72-2913920A6A3F}"/>
              </a:ext>
            </a:extLst>
          </p:cNvPr>
          <p:cNvSpPr txBox="1"/>
          <p:nvPr/>
        </p:nvSpPr>
        <p:spPr>
          <a:xfrm>
            <a:off x="212688" y="529725"/>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t>Immune system basics</a:t>
            </a:r>
            <a:endParaRPr lang="en-US" dirty="0">
              <a:solidFill>
                <a:sysClr val="windowText" lastClr="000000"/>
              </a:solidFill>
            </a:endParaRPr>
          </a:p>
        </p:txBody>
      </p:sp>
      <p:sp>
        <p:nvSpPr>
          <p:cNvPr id="69" name="Cases">
            <a:hlinkClick r:id="rId6" action="ppaction://hlinksldjump"/>
            <a:extLst>
              <a:ext uri="{FF2B5EF4-FFF2-40B4-BE49-F238E27FC236}">
                <a16:creationId xmlns:a16="http://schemas.microsoft.com/office/drawing/2014/main" id="{EB647D3D-9ECC-864C-827D-839FA6B2B4B4}"/>
              </a:ext>
            </a:extLst>
          </p:cNvPr>
          <p:cNvSpPr txBox="1"/>
          <p:nvPr/>
        </p:nvSpPr>
        <p:spPr>
          <a:xfrm>
            <a:off x="212688" y="5263878"/>
            <a:ext cx="2423423" cy="408623"/>
          </a:xfrm>
          <a:prstGeom prst="roundRect">
            <a:avLst/>
          </a:prstGeom>
          <a:solidFill>
            <a:schemeClr val="accent5"/>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sp>
        <p:nvSpPr>
          <p:cNvPr id="72" name="sub-q 1-1">
            <a:hlinkClick r:id="rId7" action="ppaction://hlinksldjump"/>
            <a:extLst>
              <a:ext uri="{FF2B5EF4-FFF2-40B4-BE49-F238E27FC236}">
                <a16:creationId xmlns:a16="http://schemas.microsoft.com/office/drawing/2014/main" id="{7D6DBDAD-EA0B-C84F-9BCE-17BEB6F08DF9}"/>
              </a:ext>
            </a:extLst>
          </p:cNvPr>
          <p:cNvSpPr txBox="1"/>
          <p:nvPr/>
        </p:nvSpPr>
        <p:spPr>
          <a:xfrm>
            <a:off x="212688" y="1157424"/>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solidFill>
                  <a:sysClr val="windowText" lastClr="000000"/>
                </a:solidFill>
              </a:rPr>
              <a:t>How tumors ‘hide’</a:t>
            </a:r>
          </a:p>
        </p:txBody>
      </p:sp>
      <p:sp>
        <p:nvSpPr>
          <p:cNvPr id="73" name="Sub-q-1-2">
            <a:hlinkClick r:id="rId8" action="ppaction://hlinksldjump"/>
            <a:extLst>
              <a:ext uri="{FF2B5EF4-FFF2-40B4-BE49-F238E27FC236}">
                <a16:creationId xmlns:a16="http://schemas.microsoft.com/office/drawing/2014/main" id="{E0EB8844-14B9-7848-AF72-FC30FB42F2C9}"/>
              </a:ext>
            </a:extLst>
          </p:cNvPr>
          <p:cNvSpPr txBox="1"/>
          <p:nvPr/>
        </p:nvSpPr>
        <p:spPr>
          <a:xfrm>
            <a:off x="212688" y="1785123"/>
            <a:ext cx="2423423" cy="408623"/>
          </a:xfrm>
          <a:prstGeom prst="roundRect">
            <a:avLst/>
          </a:prstGeom>
          <a:ln w="38100">
            <a:solidFill>
              <a:srgbClr val="0070C0"/>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Immune checkpoints</a:t>
            </a:r>
          </a:p>
        </p:txBody>
      </p:sp>
      <p:sp>
        <p:nvSpPr>
          <p:cNvPr id="74" name="Question 2">
            <a:hlinkClick r:id="rId9" action="ppaction://hlinksldjump"/>
            <a:extLst>
              <a:ext uri="{FF2B5EF4-FFF2-40B4-BE49-F238E27FC236}">
                <a16:creationId xmlns:a16="http://schemas.microsoft.com/office/drawing/2014/main" id="{CD0045CE-47BC-2E4F-ACE8-C5C039F41872}"/>
              </a:ext>
            </a:extLst>
          </p:cNvPr>
          <p:cNvSpPr txBox="1"/>
          <p:nvPr/>
        </p:nvSpPr>
        <p:spPr>
          <a:xfrm>
            <a:off x="212688" y="2412822"/>
            <a:ext cx="2423423" cy="71508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Immune checkpoint  inhibitors (ICIs)</a:t>
            </a:r>
            <a:endParaRPr lang="en-US" dirty="0">
              <a:solidFill>
                <a:sysClr val="windowText" lastClr="000000"/>
              </a:solidFill>
            </a:endParaRPr>
          </a:p>
        </p:txBody>
      </p:sp>
      <p:pic>
        <p:nvPicPr>
          <p:cNvPr id="75" name="Graphic 74" descr="Cursor with solid fill">
            <a:extLst>
              <a:ext uri="{FF2B5EF4-FFF2-40B4-BE49-F238E27FC236}">
                <a16:creationId xmlns:a16="http://schemas.microsoft.com/office/drawing/2014/main" id="{31BFA19E-A2AA-9546-BF24-BBA3E5FD01E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70301" y="766694"/>
            <a:ext cx="411480" cy="411480"/>
          </a:xfrm>
          <a:prstGeom prst="rect">
            <a:avLst/>
          </a:prstGeom>
        </p:spPr>
      </p:pic>
      <p:pic>
        <p:nvPicPr>
          <p:cNvPr id="76" name="Graphic 75" descr="Cursor with solid fill">
            <a:extLst>
              <a:ext uri="{FF2B5EF4-FFF2-40B4-BE49-F238E27FC236}">
                <a16:creationId xmlns:a16="http://schemas.microsoft.com/office/drawing/2014/main" id="{8F27A661-DC5B-4D4E-B4F9-06C730D8B72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70301" y="5496401"/>
            <a:ext cx="411480" cy="411480"/>
          </a:xfrm>
          <a:prstGeom prst="rect">
            <a:avLst/>
          </a:prstGeom>
        </p:spPr>
      </p:pic>
      <p:pic>
        <p:nvPicPr>
          <p:cNvPr id="78" name="Graphic 77" descr="Cursor with solid fill">
            <a:extLst>
              <a:ext uri="{FF2B5EF4-FFF2-40B4-BE49-F238E27FC236}">
                <a16:creationId xmlns:a16="http://schemas.microsoft.com/office/drawing/2014/main" id="{BBC40B56-B041-CE43-8792-DBA683121CA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70301" y="2940853"/>
            <a:ext cx="411480" cy="411480"/>
          </a:xfrm>
          <a:prstGeom prst="rect">
            <a:avLst/>
          </a:prstGeom>
        </p:spPr>
      </p:pic>
      <p:pic>
        <p:nvPicPr>
          <p:cNvPr id="79" name="Graphic 78" descr="Cursor with solid fill">
            <a:extLst>
              <a:ext uri="{FF2B5EF4-FFF2-40B4-BE49-F238E27FC236}">
                <a16:creationId xmlns:a16="http://schemas.microsoft.com/office/drawing/2014/main" id="{E9E6717A-1C22-0F4A-BD7B-C01AD8B45DD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70301" y="1395415"/>
            <a:ext cx="411480" cy="411480"/>
          </a:xfrm>
          <a:prstGeom prst="rect">
            <a:avLst/>
          </a:prstGeom>
        </p:spPr>
      </p:pic>
      <p:sp>
        <p:nvSpPr>
          <p:cNvPr id="80" name="Sub-q-1-2">
            <a:hlinkClick r:id="rId12" action="ppaction://hlinksldjump"/>
            <a:extLst>
              <a:ext uri="{FF2B5EF4-FFF2-40B4-BE49-F238E27FC236}">
                <a16:creationId xmlns:a16="http://schemas.microsoft.com/office/drawing/2014/main" id="{BA0303F2-22E5-E04E-8A89-B9DBBA41B1CE}"/>
              </a:ext>
            </a:extLst>
          </p:cNvPr>
          <p:cNvSpPr txBox="1"/>
          <p:nvPr/>
        </p:nvSpPr>
        <p:spPr>
          <a:xfrm>
            <a:off x="212688" y="3346987"/>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When do we use ICIs?</a:t>
            </a:r>
          </a:p>
        </p:txBody>
      </p:sp>
      <p:pic>
        <p:nvPicPr>
          <p:cNvPr id="81" name="Graphic 80" descr="Cursor with solid fill">
            <a:extLst>
              <a:ext uri="{FF2B5EF4-FFF2-40B4-BE49-F238E27FC236}">
                <a16:creationId xmlns:a16="http://schemas.microsoft.com/office/drawing/2014/main" id="{87F760EE-CA0C-C249-B93D-2E5468223C4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70301" y="3584978"/>
            <a:ext cx="411480" cy="411480"/>
          </a:xfrm>
          <a:prstGeom prst="rect">
            <a:avLst/>
          </a:prstGeom>
        </p:spPr>
      </p:pic>
      <p:sp>
        <p:nvSpPr>
          <p:cNvPr id="82" name="Sub-q-1-2">
            <a:hlinkClick r:id="rId13" action="ppaction://hlinksldjump"/>
            <a:extLst>
              <a:ext uri="{FF2B5EF4-FFF2-40B4-BE49-F238E27FC236}">
                <a16:creationId xmlns:a16="http://schemas.microsoft.com/office/drawing/2014/main" id="{4CAA924F-F457-0248-8141-A71AA786B9B1}"/>
              </a:ext>
            </a:extLst>
          </p:cNvPr>
          <p:cNvSpPr txBox="1"/>
          <p:nvPr/>
        </p:nvSpPr>
        <p:spPr>
          <a:xfrm>
            <a:off x="212688" y="3974687"/>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Side effects of ICIs</a:t>
            </a:r>
          </a:p>
        </p:txBody>
      </p:sp>
      <p:pic>
        <p:nvPicPr>
          <p:cNvPr id="83" name="Graphic 82" descr="Cursor with solid fill">
            <a:extLst>
              <a:ext uri="{FF2B5EF4-FFF2-40B4-BE49-F238E27FC236}">
                <a16:creationId xmlns:a16="http://schemas.microsoft.com/office/drawing/2014/main" id="{29E4B5E7-485C-0F42-BFCD-D43ADAFCD76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70301" y="4219662"/>
            <a:ext cx="411480" cy="411480"/>
          </a:xfrm>
          <a:prstGeom prst="rect">
            <a:avLst/>
          </a:prstGeom>
        </p:spPr>
      </p:pic>
      <p:sp>
        <p:nvSpPr>
          <p:cNvPr id="85" name="PD-1 button">
            <a:extLst>
              <a:ext uri="{FF2B5EF4-FFF2-40B4-BE49-F238E27FC236}">
                <a16:creationId xmlns:a16="http://schemas.microsoft.com/office/drawing/2014/main" id="{A20B8688-43AF-4B44-9D1E-F65EC37F9690}"/>
              </a:ext>
            </a:extLst>
          </p:cNvPr>
          <p:cNvSpPr/>
          <p:nvPr/>
        </p:nvSpPr>
        <p:spPr>
          <a:xfrm>
            <a:off x="5127786" y="5915585"/>
            <a:ext cx="4874534" cy="646331"/>
          </a:xfrm>
          <a:prstGeom prst="roundRect">
            <a:avLst/>
          </a:prstGeom>
          <a:solidFill>
            <a:schemeClr val="bg1"/>
          </a:solidFill>
          <a:ln w="2540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Immune checkpoints are mechanisms by which our immune system prevent autoimmunity</a:t>
            </a:r>
          </a:p>
        </p:txBody>
      </p:sp>
      <p:pic>
        <p:nvPicPr>
          <p:cNvPr id="71" name="Graphic 70" descr="Cursor with solid fill">
            <a:extLst>
              <a:ext uri="{FF2B5EF4-FFF2-40B4-BE49-F238E27FC236}">
                <a16:creationId xmlns:a16="http://schemas.microsoft.com/office/drawing/2014/main" id="{62EA6CD5-D9E6-DA47-B351-F7FF9049651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777371" y="6355275"/>
            <a:ext cx="457200" cy="457200"/>
          </a:xfrm>
          <a:prstGeom prst="rect">
            <a:avLst/>
          </a:prstGeom>
        </p:spPr>
      </p:pic>
    </p:spTree>
    <p:extLst>
      <p:ext uri="{BB962C8B-B14F-4D97-AF65-F5344CB8AC3E}">
        <p14:creationId xmlns:p14="http://schemas.microsoft.com/office/powerpoint/2010/main" val="260867627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85"/>
                    </p:tgtEl>
                  </p:cond>
                </p:stCondLst>
                <p:endSync evt="end" delay="0">
                  <p:rtn val="all"/>
                </p:endSync>
                <p:childTnLst>
                  <p:par>
                    <p:cTn id="3" fill="hold">
                      <p:stCondLst>
                        <p:cond delay="0"/>
                      </p:stCondLst>
                      <p:childTnLst>
                        <p:par>
                          <p:cTn id="4" fill="hold">
                            <p:stCondLst>
                              <p:cond delay="0"/>
                            </p:stCondLst>
                            <p:childTnLst>
                              <p:par>
                                <p:cTn id="5" presetID="0" presetClass="path" presetSubtype="0" accel="50000" decel="50000" fill="hold" nodeType="clickEffect">
                                  <p:stCondLst>
                                    <p:cond delay="0"/>
                                  </p:stCondLst>
                                  <p:childTnLst>
                                    <p:animMotion origin="layout" path="M 1.25E-6 -2.96296E-6 L 0.0237 0.03334 " pathEditMode="relative" rAng="0" ptsTypes="AA">
                                      <p:cBhvr>
                                        <p:cTn id="6" dur="1000" fill="hold"/>
                                        <p:tgtEl>
                                          <p:spTgt spid="2"/>
                                        </p:tgtEl>
                                        <p:attrNameLst>
                                          <p:attrName>ppt_x</p:attrName>
                                          <p:attrName>ppt_y</p:attrName>
                                        </p:attrNameLst>
                                      </p:cBhvr>
                                      <p:rCtr x="1185" y="1667"/>
                                    </p:animMotion>
                                  </p:childTnLst>
                                </p:cTn>
                              </p:par>
                              <p:par>
                                <p:cTn id="7" presetID="0" presetClass="path" presetSubtype="0" accel="50000" decel="50000" fill="hold" nodeType="withEffect">
                                  <p:stCondLst>
                                    <p:cond delay="0"/>
                                  </p:stCondLst>
                                  <p:childTnLst>
                                    <p:animMotion origin="layout" path="M 2.08333E-7 -0.0037 L -0.01341 -0.02824 " pathEditMode="relative" rAng="0" ptsTypes="AA">
                                      <p:cBhvr>
                                        <p:cTn id="8" dur="1000" fill="hold"/>
                                        <p:tgtEl>
                                          <p:spTgt spid="3"/>
                                        </p:tgtEl>
                                        <p:attrNameLst>
                                          <p:attrName>ppt_x</p:attrName>
                                          <p:attrName>ppt_y</p:attrName>
                                        </p:attrNameLst>
                                      </p:cBhvr>
                                      <p:rCtr x="-677" y="-1227"/>
                                    </p:animMotion>
                                  </p:childTnLst>
                                </p:cTn>
                              </p:par>
                              <p:par>
                                <p:cTn id="9" presetID="1" presetClass="entr" presetSubtype="0" fill="hold" grpId="0" nodeType="withEffect">
                                  <p:stCondLst>
                                    <p:cond delay="1000"/>
                                  </p:stCondLst>
                                  <p:childTnLst>
                                    <p:set>
                                      <p:cBhvr>
                                        <p:cTn id="10" dur="1" fill="hold">
                                          <p:stCondLst>
                                            <p:cond delay="0"/>
                                          </p:stCondLst>
                                        </p:cTn>
                                        <p:tgtEl>
                                          <p:spTgt spid="179"/>
                                        </p:tgtEl>
                                        <p:attrNameLst>
                                          <p:attrName>style.visibility</p:attrName>
                                        </p:attrNameLst>
                                      </p:cBhvr>
                                      <p:to>
                                        <p:strVal val="visible"/>
                                      </p:to>
                                    </p:set>
                                  </p:childTnLst>
                                </p:cTn>
                              </p:par>
                            </p:childTnLst>
                          </p:cTn>
                        </p:par>
                      </p:childTnLst>
                    </p:cTn>
                  </p:par>
                </p:childTnLst>
              </p:cTn>
              <p:nextCondLst>
                <p:cond evt="onClick" delay="0">
                  <p:tgtEl>
                    <p:spTgt spid="85"/>
                  </p:tgtEl>
                </p:cond>
              </p:nextCondLst>
            </p:seq>
          </p:childTnLst>
        </p:cTn>
      </p:par>
    </p:tnLst>
    <p:bldLst>
      <p:bldP spid="17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teachIM logo" descr="Icon&#10;&#10;Description automatically generated">
            <a:extLst>
              <a:ext uri="{FF2B5EF4-FFF2-40B4-BE49-F238E27FC236}">
                <a16:creationId xmlns:a16="http://schemas.microsoft.com/office/drawing/2014/main" id="{9941794D-0E4C-4929-897A-E61CE338C3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75629" y="6329894"/>
            <a:ext cx="1387970" cy="528106"/>
          </a:xfrm>
          <a:prstGeom prst="rect">
            <a:avLst/>
          </a:prstGeom>
        </p:spPr>
      </p:pic>
      <p:sp>
        <p:nvSpPr>
          <p:cNvPr id="111" name="Cloud 110">
            <a:extLst>
              <a:ext uri="{FF2B5EF4-FFF2-40B4-BE49-F238E27FC236}">
                <a16:creationId xmlns:a16="http://schemas.microsoft.com/office/drawing/2014/main" id="{1C9C27CD-E9CA-BC40-8BA7-0C8951A74AD1}"/>
              </a:ext>
            </a:extLst>
          </p:cNvPr>
          <p:cNvSpPr/>
          <p:nvPr/>
        </p:nvSpPr>
        <p:spPr>
          <a:xfrm>
            <a:off x="4945550" y="4199308"/>
            <a:ext cx="2407708" cy="1659805"/>
          </a:xfrm>
          <a:prstGeom prst="cloud">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Tumor cell</a:t>
            </a:r>
          </a:p>
        </p:txBody>
      </p:sp>
      <p:pic>
        <p:nvPicPr>
          <p:cNvPr id="112" name="Picture 111" descr="A picture containing clipart&#10;&#10;Description automatically generated">
            <a:extLst>
              <a:ext uri="{FF2B5EF4-FFF2-40B4-BE49-F238E27FC236}">
                <a16:creationId xmlns:a16="http://schemas.microsoft.com/office/drawing/2014/main" id="{4E34066E-84B4-2D48-B552-1D0F24759E01}"/>
              </a:ext>
            </a:extLst>
          </p:cNvPr>
          <p:cNvPicPr>
            <a:picLocks noChangeAspect="1"/>
          </p:cNvPicPr>
          <p:nvPr/>
        </p:nvPicPr>
        <p:blipFill>
          <a:blip r:embed="rId4"/>
          <a:stretch>
            <a:fillRect/>
          </a:stretch>
        </p:blipFill>
        <p:spPr>
          <a:xfrm rot="16200000">
            <a:off x="7887656" y="4799127"/>
            <a:ext cx="481163" cy="588923"/>
          </a:xfrm>
          <a:prstGeom prst="rect">
            <a:avLst/>
          </a:prstGeom>
        </p:spPr>
      </p:pic>
      <p:sp>
        <p:nvSpPr>
          <p:cNvPr id="121" name="TextBox 120">
            <a:extLst>
              <a:ext uri="{FF2B5EF4-FFF2-40B4-BE49-F238E27FC236}">
                <a16:creationId xmlns:a16="http://schemas.microsoft.com/office/drawing/2014/main" id="{CB7C107F-CC7F-2241-81BA-6017FC2E2E94}"/>
              </a:ext>
            </a:extLst>
          </p:cNvPr>
          <p:cNvSpPr txBox="1"/>
          <p:nvPr/>
        </p:nvSpPr>
        <p:spPr>
          <a:xfrm>
            <a:off x="6717943" y="3782007"/>
            <a:ext cx="610079" cy="304298"/>
          </a:xfrm>
          <a:prstGeom prst="rect">
            <a:avLst/>
          </a:prstGeom>
          <a:noFill/>
        </p:spPr>
        <p:txBody>
          <a:bodyPr wrap="none" rtlCol="0">
            <a:spAutoFit/>
          </a:bodyPr>
          <a:lstStyle/>
          <a:p>
            <a:r>
              <a:rPr lang="en-US" dirty="0"/>
              <a:t>PD-L1</a:t>
            </a:r>
          </a:p>
        </p:txBody>
      </p:sp>
      <p:sp>
        <p:nvSpPr>
          <p:cNvPr id="122" name="TextBox 121">
            <a:extLst>
              <a:ext uri="{FF2B5EF4-FFF2-40B4-BE49-F238E27FC236}">
                <a16:creationId xmlns:a16="http://schemas.microsoft.com/office/drawing/2014/main" id="{BDDCB52C-DE9C-CD42-B1CF-DF01293FB471}"/>
              </a:ext>
            </a:extLst>
          </p:cNvPr>
          <p:cNvSpPr txBox="1"/>
          <p:nvPr/>
        </p:nvSpPr>
        <p:spPr>
          <a:xfrm>
            <a:off x="8014377" y="4319879"/>
            <a:ext cx="528503" cy="304298"/>
          </a:xfrm>
          <a:prstGeom prst="rect">
            <a:avLst/>
          </a:prstGeom>
          <a:noFill/>
        </p:spPr>
        <p:txBody>
          <a:bodyPr wrap="none" rtlCol="0">
            <a:spAutoFit/>
          </a:bodyPr>
          <a:lstStyle/>
          <a:p>
            <a:r>
              <a:rPr lang="en-US" dirty="0"/>
              <a:t>PD-1</a:t>
            </a:r>
          </a:p>
        </p:txBody>
      </p:sp>
      <p:sp>
        <p:nvSpPr>
          <p:cNvPr id="123" name="Cross 122">
            <a:extLst>
              <a:ext uri="{FF2B5EF4-FFF2-40B4-BE49-F238E27FC236}">
                <a16:creationId xmlns:a16="http://schemas.microsoft.com/office/drawing/2014/main" id="{8541D835-5B06-604A-BE48-9C6303124636}"/>
              </a:ext>
            </a:extLst>
          </p:cNvPr>
          <p:cNvSpPr/>
          <p:nvPr/>
        </p:nvSpPr>
        <p:spPr>
          <a:xfrm rot="18760539">
            <a:off x="5695154" y="4502973"/>
            <a:ext cx="929177" cy="965020"/>
          </a:xfrm>
          <a:prstGeom prst="plus">
            <a:avLst>
              <a:gd name="adj" fmla="val 4572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TextBox 136">
            <a:extLst>
              <a:ext uri="{FF2B5EF4-FFF2-40B4-BE49-F238E27FC236}">
                <a16:creationId xmlns:a16="http://schemas.microsoft.com/office/drawing/2014/main" id="{4CE14772-D446-204B-8EF9-1EFB8B584C32}"/>
              </a:ext>
            </a:extLst>
          </p:cNvPr>
          <p:cNvSpPr txBox="1"/>
          <p:nvPr/>
        </p:nvSpPr>
        <p:spPr>
          <a:xfrm>
            <a:off x="7820145" y="5645416"/>
            <a:ext cx="699250" cy="304298"/>
          </a:xfrm>
          <a:prstGeom prst="rect">
            <a:avLst/>
          </a:prstGeom>
          <a:noFill/>
        </p:spPr>
        <p:txBody>
          <a:bodyPr wrap="none" rtlCol="0">
            <a:spAutoFit/>
          </a:bodyPr>
          <a:lstStyle/>
          <a:p>
            <a:r>
              <a:rPr lang="en-US" dirty="0"/>
              <a:t>CTLA-4</a:t>
            </a:r>
          </a:p>
        </p:txBody>
      </p:sp>
      <p:sp>
        <p:nvSpPr>
          <p:cNvPr id="114" name="Rounded Rectangle 113">
            <a:extLst>
              <a:ext uri="{FF2B5EF4-FFF2-40B4-BE49-F238E27FC236}">
                <a16:creationId xmlns:a16="http://schemas.microsoft.com/office/drawing/2014/main" id="{9ED44320-6898-BA4B-81D7-2BF5848447A9}"/>
              </a:ext>
            </a:extLst>
          </p:cNvPr>
          <p:cNvSpPr/>
          <p:nvPr/>
        </p:nvSpPr>
        <p:spPr>
          <a:xfrm rot="5400000">
            <a:off x="7418704" y="4963625"/>
            <a:ext cx="49458" cy="136100"/>
          </a:xfrm>
          <a:prstGeom prst="round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ounded Rectangle 114">
            <a:extLst>
              <a:ext uri="{FF2B5EF4-FFF2-40B4-BE49-F238E27FC236}">
                <a16:creationId xmlns:a16="http://schemas.microsoft.com/office/drawing/2014/main" id="{650D9602-FFA7-B14C-842F-467ED81B0E01}"/>
              </a:ext>
            </a:extLst>
          </p:cNvPr>
          <p:cNvSpPr/>
          <p:nvPr/>
        </p:nvSpPr>
        <p:spPr>
          <a:xfrm rot="5400000">
            <a:off x="7528142" y="4902618"/>
            <a:ext cx="302044" cy="381944"/>
          </a:xfrm>
          <a:prstGeom prst="round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9" name="Oval 118">
            <a:extLst>
              <a:ext uri="{FF2B5EF4-FFF2-40B4-BE49-F238E27FC236}">
                <a16:creationId xmlns:a16="http://schemas.microsoft.com/office/drawing/2014/main" id="{0B9F4529-A240-5943-B76E-456867EB8D79}"/>
              </a:ext>
            </a:extLst>
          </p:cNvPr>
          <p:cNvSpPr/>
          <p:nvPr/>
        </p:nvSpPr>
        <p:spPr>
          <a:xfrm>
            <a:off x="8388532" y="4449572"/>
            <a:ext cx="1422051" cy="1362093"/>
          </a:xfrm>
          <a:prstGeom prst="ellipse">
            <a:avLst/>
          </a:prstGeom>
          <a:gradFill flip="none" rotWithShape="1">
            <a:gsLst>
              <a:gs pos="0">
                <a:schemeClr val="accent4">
                  <a:lumMod val="5000"/>
                  <a:lumOff val="95000"/>
                </a:schemeClr>
              </a:gs>
              <a:gs pos="33000">
                <a:srgbClr val="D0CCFF"/>
              </a:gs>
              <a:gs pos="100000">
                <a:srgbClr val="7030A0"/>
              </a:gs>
            </a:gsLst>
            <a:path path="shap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235DD211-1E12-C640-A835-7F4CEF14AAA7}"/>
              </a:ext>
            </a:extLst>
          </p:cNvPr>
          <p:cNvSpPr/>
          <p:nvPr/>
        </p:nvSpPr>
        <p:spPr>
          <a:xfrm>
            <a:off x="8619922" y="4647904"/>
            <a:ext cx="969440" cy="965428"/>
          </a:xfrm>
          <a:prstGeom prst="ellipse">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 cell</a:t>
            </a:r>
          </a:p>
        </p:txBody>
      </p:sp>
      <p:sp>
        <p:nvSpPr>
          <p:cNvPr id="125" name="Oval 124">
            <a:extLst>
              <a:ext uri="{FF2B5EF4-FFF2-40B4-BE49-F238E27FC236}">
                <a16:creationId xmlns:a16="http://schemas.microsoft.com/office/drawing/2014/main" id="{48D0756B-B137-6F45-AA88-36BC0C4F7E08}"/>
              </a:ext>
            </a:extLst>
          </p:cNvPr>
          <p:cNvSpPr/>
          <p:nvPr/>
        </p:nvSpPr>
        <p:spPr>
          <a:xfrm rot="16200000">
            <a:off x="7728778" y="5308039"/>
            <a:ext cx="81619" cy="325331"/>
          </a:xfrm>
          <a:prstGeom prst="ellipse">
            <a:avLst/>
          </a:prstGeom>
          <a:solidFill>
            <a:srgbClr val="9E322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FF014F0B-83E0-0B48-B571-D9DAD0FA4036}"/>
              </a:ext>
            </a:extLst>
          </p:cNvPr>
          <p:cNvSpPr/>
          <p:nvPr/>
        </p:nvSpPr>
        <p:spPr>
          <a:xfrm rot="16200000">
            <a:off x="7385561" y="5308039"/>
            <a:ext cx="81619" cy="325331"/>
          </a:xfrm>
          <a:prstGeom prst="ellipse">
            <a:avLst/>
          </a:prstGeom>
          <a:solidFill>
            <a:srgbClr val="9E322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a:extLst>
              <a:ext uri="{FF2B5EF4-FFF2-40B4-BE49-F238E27FC236}">
                <a16:creationId xmlns:a16="http://schemas.microsoft.com/office/drawing/2014/main" id="{B33288EB-A818-6A49-9251-D2FE90F1B103}"/>
              </a:ext>
            </a:extLst>
          </p:cNvPr>
          <p:cNvSpPr/>
          <p:nvPr/>
        </p:nvSpPr>
        <p:spPr>
          <a:xfrm rot="16200000">
            <a:off x="7042344" y="5308039"/>
            <a:ext cx="81619" cy="325331"/>
          </a:xfrm>
          <a:prstGeom prst="ellipse">
            <a:avLst/>
          </a:prstGeom>
          <a:solidFill>
            <a:srgbClr val="9E322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9" name="Rounded Rectangle 168">
            <a:extLst>
              <a:ext uri="{FF2B5EF4-FFF2-40B4-BE49-F238E27FC236}">
                <a16:creationId xmlns:a16="http://schemas.microsoft.com/office/drawing/2014/main" id="{78924ED0-052F-D04A-83B1-3B8E96F198D1}"/>
              </a:ext>
            </a:extLst>
          </p:cNvPr>
          <p:cNvSpPr/>
          <p:nvPr/>
        </p:nvSpPr>
        <p:spPr>
          <a:xfrm rot="3465884">
            <a:off x="7078510" y="4142952"/>
            <a:ext cx="113782" cy="286159"/>
          </a:xfrm>
          <a:prstGeom prst="roundRect">
            <a:avLst/>
          </a:prstGeom>
          <a:solidFill>
            <a:srgbClr val="FAAFB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ounded Rectangle 173">
            <a:extLst>
              <a:ext uri="{FF2B5EF4-FFF2-40B4-BE49-F238E27FC236}">
                <a16:creationId xmlns:a16="http://schemas.microsoft.com/office/drawing/2014/main" id="{88488516-244B-4E4B-BE43-B5BCBD265EC4}"/>
              </a:ext>
            </a:extLst>
          </p:cNvPr>
          <p:cNvSpPr/>
          <p:nvPr/>
        </p:nvSpPr>
        <p:spPr>
          <a:xfrm rot="3465884">
            <a:off x="7328612" y="3987193"/>
            <a:ext cx="113782" cy="286159"/>
          </a:xfrm>
          <a:prstGeom prst="roundRect">
            <a:avLst/>
          </a:prstGeom>
          <a:solidFill>
            <a:srgbClr val="FAAFB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ounded Rectangle 175">
            <a:extLst>
              <a:ext uri="{FF2B5EF4-FFF2-40B4-BE49-F238E27FC236}">
                <a16:creationId xmlns:a16="http://schemas.microsoft.com/office/drawing/2014/main" id="{BE4F8B38-E42D-3B4C-B828-3D9147BD7CE5}"/>
              </a:ext>
            </a:extLst>
          </p:cNvPr>
          <p:cNvSpPr/>
          <p:nvPr/>
        </p:nvSpPr>
        <p:spPr>
          <a:xfrm rot="3465884">
            <a:off x="7578713" y="3831435"/>
            <a:ext cx="113782" cy="286159"/>
          </a:xfrm>
          <a:prstGeom prst="roundRect">
            <a:avLst/>
          </a:prstGeom>
          <a:solidFill>
            <a:srgbClr val="FAAFB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ounded Rectangle 188">
            <a:extLst>
              <a:ext uri="{FF2B5EF4-FFF2-40B4-BE49-F238E27FC236}">
                <a16:creationId xmlns:a16="http://schemas.microsoft.com/office/drawing/2014/main" id="{97D4784E-BFCC-D641-B0F5-995EA2BFF06E}"/>
              </a:ext>
            </a:extLst>
          </p:cNvPr>
          <p:cNvSpPr/>
          <p:nvPr/>
        </p:nvSpPr>
        <p:spPr>
          <a:xfrm rot="6377270">
            <a:off x="7844501" y="4477958"/>
            <a:ext cx="98581" cy="248266"/>
          </a:xfrm>
          <a:prstGeom prst="roundRect">
            <a:avLst/>
          </a:prstGeom>
          <a:solidFill>
            <a:srgbClr val="C44D5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ounded Rectangle 189">
            <a:extLst>
              <a:ext uri="{FF2B5EF4-FFF2-40B4-BE49-F238E27FC236}">
                <a16:creationId xmlns:a16="http://schemas.microsoft.com/office/drawing/2014/main" id="{4AF07128-EADD-BF46-9DDF-6CAE020F3B9A}"/>
              </a:ext>
            </a:extLst>
          </p:cNvPr>
          <p:cNvSpPr/>
          <p:nvPr/>
        </p:nvSpPr>
        <p:spPr>
          <a:xfrm rot="6377270">
            <a:off x="8336955" y="4620065"/>
            <a:ext cx="98581" cy="248266"/>
          </a:xfrm>
          <a:prstGeom prst="roundRect">
            <a:avLst/>
          </a:prstGeom>
          <a:solidFill>
            <a:srgbClr val="C44D5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ounded Rectangle 190">
            <a:extLst>
              <a:ext uri="{FF2B5EF4-FFF2-40B4-BE49-F238E27FC236}">
                <a16:creationId xmlns:a16="http://schemas.microsoft.com/office/drawing/2014/main" id="{8F8F5B4E-1443-0047-A535-06A8CF43EF50}"/>
              </a:ext>
            </a:extLst>
          </p:cNvPr>
          <p:cNvSpPr/>
          <p:nvPr/>
        </p:nvSpPr>
        <p:spPr>
          <a:xfrm rot="6377270">
            <a:off x="8090728" y="4549012"/>
            <a:ext cx="98581" cy="248266"/>
          </a:xfrm>
          <a:prstGeom prst="roundRect">
            <a:avLst/>
          </a:prstGeom>
          <a:solidFill>
            <a:srgbClr val="C44D5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ounded Rectangle 199">
            <a:extLst>
              <a:ext uri="{FF2B5EF4-FFF2-40B4-BE49-F238E27FC236}">
                <a16:creationId xmlns:a16="http://schemas.microsoft.com/office/drawing/2014/main" id="{CA2C8542-CD5A-2944-B709-C9C58737B9F1}"/>
              </a:ext>
            </a:extLst>
          </p:cNvPr>
          <p:cNvSpPr/>
          <p:nvPr/>
        </p:nvSpPr>
        <p:spPr>
          <a:xfrm>
            <a:off x="7165858" y="4839649"/>
            <a:ext cx="1299982" cy="467154"/>
          </a:xfrm>
          <a:prstGeom prst="roundRect">
            <a:avLst/>
          </a:prstGeom>
          <a:noFill/>
          <a:ln w="60325">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05" name="Straight Connector 204">
            <a:extLst>
              <a:ext uri="{FF2B5EF4-FFF2-40B4-BE49-F238E27FC236}">
                <a16:creationId xmlns:a16="http://schemas.microsoft.com/office/drawing/2014/main" id="{547E1732-A26A-4A43-8111-330BDA115696}"/>
              </a:ext>
            </a:extLst>
          </p:cNvPr>
          <p:cNvCxnSpPr>
            <a:cxnSpLocks/>
            <a:stCxn id="168" idx="2"/>
          </p:cNvCxnSpPr>
          <p:nvPr/>
        </p:nvCxnSpPr>
        <p:spPr>
          <a:xfrm flipH="1">
            <a:off x="6916311" y="5796063"/>
            <a:ext cx="467816" cy="305238"/>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A1577E28-6472-0648-AB8A-736A91EF022B}"/>
              </a:ext>
            </a:extLst>
          </p:cNvPr>
          <p:cNvCxnSpPr>
            <a:cxnSpLocks/>
            <a:endCxn id="167" idx="5"/>
          </p:cNvCxnSpPr>
          <p:nvPr/>
        </p:nvCxnSpPr>
        <p:spPr>
          <a:xfrm flipH="1">
            <a:off x="7727518" y="4094582"/>
            <a:ext cx="853152" cy="301126"/>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CA2AF25E-D296-6941-A559-B8613A2BC8E4}"/>
              </a:ext>
            </a:extLst>
          </p:cNvPr>
          <p:cNvCxnSpPr>
            <a:cxnSpLocks/>
            <a:stCxn id="9" idx="2"/>
          </p:cNvCxnSpPr>
          <p:nvPr/>
        </p:nvCxnSpPr>
        <p:spPr>
          <a:xfrm flipH="1" flipV="1">
            <a:off x="7150219" y="3322813"/>
            <a:ext cx="684002" cy="367808"/>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7" name="Oval 116">
            <a:extLst>
              <a:ext uri="{FF2B5EF4-FFF2-40B4-BE49-F238E27FC236}">
                <a16:creationId xmlns:a16="http://schemas.microsoft.com/office/drawing/2014/main" id="{B8ADB42D-ADB1-3B4A-ADA2-1ED44BEC431D}"/>
              </a:ext>
            </a:extLst>
          </p:cNvPr>
          <p:cNvSpPr/>
          <p:nvPr/>
        </p:nvSpPr>
        <p:spPr>
          <a:xfrm>
            <a:off x="7788638" y="5027020"/>
            <a:ext cx="173670" cy="13330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8" name="TCR" descr="A picture containing clipart&#10;&#10;Description automatically generated">
            <a:extLst>
              <a:ext uri="{FF2B5EF4-FFF2-40B4-BE49-F238E27FC236}">
                <a16:creationId xmlns:a16="http://schemas.microsoft.com/office/drawing/2014/main" id="{9EE05E62-6F7A-0346-B241-46BF66CDA8DD}"/>
              </a:ext>
            </a:extLst>
          </p:cNvPr>
          <p:cNvPicPr>
            <a:picLocks noChangeAspect="1"/>
          </p:cNvPicPr>
          <p:nvPr/>
        </p:nvPicPr>
        <p:blipFill>
          <a:blip r:embed="rId4"/>
          <a:stretch>
            <a:fillRect/>
          </a:stretch>
        </p:blipFill>
        <p:spPr>
          <a:xfrm rot="16200000">
            <a:off x="7839578" y="1124632"/>
            <a:ext cx="480486" cy="599901"/>
          </a:xfrm>
          <a:prstGeom prst="rect">
            <a:avLst/>
          </a:prstGeom>
        </p:spPr>
      </p:pic>
      <p:sp>
        <p:nvSpPr>
          <p:cNvPr id="140" name="Cloud 139">
            <a:extLst>
              <a:ext uri="{FF2B5EF4-FFF2-40B4-BE49-F238E27FC236}">
                <a16:creationId xmlns:a16="http://schemas.microsoft.com/office/drawing/2014/main" id="{40A57A2F-0A5E-FF4F-9F1D-E4F688EA119B}"/>
              </a:ext>
            </a:extLst>
          </p:cNvPr>
          <p:cNvSpPr/>
          <p:nvPr/>
        </p:nvSpPr>
        <p:spPr>
          <a:xfrm>
            <a:off x="4893114" y="595854"/>
            <a:ext cx="2452588" cy="1657470"/>
          </a:xfrm>
          <a:prstGeom prst="cloud">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Tumor cell</a:t>
            </a:r>
          </a:p>
        </p:txBody>
      </p:sp>
      <p:grpSp>
        <p:nvGrpSpPr>
          <p:cNvPr id="141" name="HLA">
            <a:extLst>
              <a:ext uri="{FF2B5EF4-FFF2-40B4-BE49-F238E27FC236}">
                <a16:creationId xmlns:a16="http://schemas.microsoft.com/office/drawing/2014/main" id="{D399F38F-A1CF-AE49-BA41-306BE3D6377C}"/>
              </a:ext>
            </a:extLst>
          </p:cNvPr>
          <p:cNvGrpSpPr/>
          <p:nvPr/>
        </p:nvGrpSpPr>
        <p:grpSpPr>
          <a:xfrm rot="5400000">
            <a:off x="7445916" y="1140790"/>
            <a:ext cx="301619" cy="567587"/>
            <a:chOff x="8511393" y="1228380"/>
            <a:chExt cx="523874" cy="1188072"/>
          </a:xfrm>
        </p:grpSpPr>
        <p:sp>
          <p:nvSpPr>
            <p:cNvPr id="143" name="Rounded Rectangle 142">
              <a:extLst>
                <a:ext uri="{FF2B5EF4-FFF2-40B4-BE49-F238E27FC236}">
                  <a16:creationId xmlns:a16="http://schemas.microsoft.com/office/drawing/2014/main" id="{F9BE695A-3A1A-0543-8126-8E265E0AADEE}"/>
                </a:ext>
              </a:extLst>
            </p:cNvPr>
            <p:cNvSpPr/>
            <p:nvPr/>
          </p:nvSpPr>
          <p:spPr>
            <a:xfrm>
              <a:off x="8623053" y="2126256"/>
              <a:ext cx="85781" cy="290196"/>
            </a:xfrm>
            <a:prstGeom prst="round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44" name="Rounded Rectangle 143">
              <a:extLst>
                <a:ext uri="{FF2B5EF4-FFF2-40B4-BE49-F238E27FC236}">
                  <a16:creationId xmlns:a16="http://schemas.microsoft.com/office/drawing/2014/main" id="{8677C9F2-A902-2C40-9627-163EC4DF551C}"/>
                </a:ext>
              </a:extLst>
            </p:cNvPr>
            <p:cNvSpPr/>
            <p:nvPr/>
          </p:nvSpPr>
          <p:spPr>
            <a:xfrm>
              <a:off x="8511393" y="1361530"/>
              <a:ext cx="523874" cy="814387"/>
            </a:xfrm>
            <a:prstGeom prst="round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45" name="Oval 144">
              <a:extLst>
                <a:ext uri="{FF2B5EF4-FFF2-40B4-BE49-F238E27FC236}">
                  <a16:creationId xmlns:a16="http://schemas.microsoft.com/office/drawing/2014/main" id="{A8DAD15B-F078-AA4E-A94C-6CFEADCA41D3}"/>
                </a:ext>
              </a:extLst>
            </p:cNvPr>
            <p:cNvSpPr/>
            <p:nvPr/>
          </p:nvSpPr>
          <p:spPr>
            <a:xfrm>
              <a:off x="8623053" y="1228380"/>
              <a:ext cx="300555" cy="34754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146" name="Peptide">
            <a:extLst>
              <a:ext uri="{FF2B5EF4-FFF2-40B4-BE49-F238E27FC236}">
                <a16:creationId xmlns:a16="http://schemas.microsoft.com/office/drawing/2014/main" id="{22C0A404-9088-A045-9778-A288452F55A1}"/>
              </a:ext>
            </a:extLst>
          </p:cNvPr>
          <p:cNvSpPr/>
          <p:nvPr/>
        </p:nvSpPr>
        <p:spPr>
          <a:xfrm>
            <a:off x="7733891" y="1358108"/>
            <a:ext cx="176907" cy="1331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grpSp>
        <p:nvGrpSpPr>
          <p:cNvPr id="148" name="T cell">
            <a:extLst>
              <a:ext uri="{FF2B5EF4-FFF2-40B4-BE49-F238E27FC236}">
                <a16:creationId xmlns:a16="http://schemas.microsoft.com/office/drawing/2014/main" id="{41DB699D-7E35-1143-A0FA-C3FE03582166}"/>
              </a:ext>
            </a:extLst>
          </p:cNvPr>
          <p:cNvGrpSpPr/>
          <p:nvPr/>
        </p:nvGrpSpPr>
        <p:grpSpPr>
          <a:xfrm>
            <a:off x="8344967" y="781472"/>
            <a:ext cx="1448559" cy="1360176"/>
            <a:chOff x="8547551" y="979091"/>
            <a:chExt cx="1704587" cy="1653198"/>
          </a:xfrm>
        </p:grpSpPr>
        <p:sp>
          <p:nvSpPr>
            <p:cNvPr id="150" name="Oval 149">
              <a:extLst>
                <a:ext uri="{FF2B5EF4-FFF2-40B4-BE49-F238E27FC236}">
                  <a16:creationId xmlns:a16="http://schemas.microsoft.com/office/drawing/2014/main" id="{A2C2E2DD-12F6-034A-B2FD-7FCA45EF388D}"/>
                </a:ext>
              </a:extLst>
            </p:cNvPr>
            <p:cNvSpPr/>
            <p:nvPr/>
          </p:nvSpPr>
          <p:spPr>
            <a:xfrm>
              <a:off x="8547551" y="979091"/>
              <a:ext cx="1704587" cy="1653198"/>
            </a:xfrm>
            <a:prstGeom prst="ellipse">
              <a:avLst/>
            </a:prstGeom>
            <a:gradFill flip="none" rotWithShape="1">
              <a:gsLst>
                <a:gs pos="0">
                  <a:schemeClr val="accent4">
                    <a:lumMod val="5000"/>
                    <a:lumOff val="95000"/>
                  </a:schemeClr>
                </a:gs>
                <a:gs pos="33000">
                  <a:srgbClr val="D0CCFF"/>
                </a:gs>
                <a:gs pos="100000">
                  <a:srgbClr val="7030A0"/>
                </a:gs>
              </a:gsLst>
              <a:path path="shap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1" name="Oval 150">
              <a:extLst>
                <a:ext uri="{FF2B5EF4-FFF2-40B4-BE49-F238E27FC236}">
                  <a16:creationId xmlns:a16="http://schemas.microsoft.com/office/drawing/2014/main" id="{B86B4978-4000-414A-8076-E97630DAECE2}"/>
                </a:ext>
              </a:extLst>
            </p:cNvPr>
            <p:cNvSpPr/>
            <p:nvPr/>
          </p:nvSpPr>
          <p:spPr>
            <a:xfrm>
              <a:off x="8824914" y="1219811"/>
              <a:ext cx="1162050" cy="1171758"/>
            </a:xfrm>
            <a:prstGeom prst="ellipse">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T cell</a:t>
              </a:r>
            </a:p>
          </p:txBody>
        </p:sp>
      </p:grpSp>
      <p:sp>
        <p:nvSpPr>
          <p:cNvPr id="152" name="TextBox 151">
            <a:extLst>
              <a:ext uri="{FF2B5EF4-FFF2-40B4-BE49-F238E27FC236}">
                <a16:creationId xmlns:a16="http://schemas.microsoft.com/office/drawing/2014/main" id="{CA43B2B2-1C09-2D43-97E9-F36E7BABE0AC}"/>
              </a:ext>
            </a:extLst>
          </p:cNvPr>
          <p:cNvSpPr txBox="1"/>
          <p:nvPr/>
        </p:nvSpPr>
        <p:spPr>
          <a:xfrm>
            <a:off x="7321810" y="870447"/>
            <a:ext cx="588988" cy="307777"/>
          </a:xfrm>
          <a:prstGeom prst="rect">
            <a:avLst/>
          </a:prstGeom>
          <a:noFill/>
        </p:spPr>
        <p:txBody>
          <a:bodyPr wrap="square" rtlCol="0">
            <a:spAutoFit/>
          </a:bodyPr>
          <a:lstStyle/>
          <a:p>
            <a:r>
              <a:rPr lang="en-US" sz="1400" dirty="0"/>
              <a:t>MHC</a:t>
            </a:r>
          </a:p>
        </p:txBody>
      </p:sp>
      <p:sp>
        <p:nvSpPr>
          <p:cNvPr id="155" name="TextBox 154">
            <a:extLst>
              <a:ext uri="{FF2B5EF4-FFF2-40B4-BE49-F238E27FC236}">
                <a16:creationId xmlns:a16="http://schemas.microsoft.com/office/drawing/2014/main" id="{4F80985D-4A87-1449-8587-19D1EB036630}"/>
              </a:ext>
            </a:extLst>
          </p:cNvPr>
          <p:cNvSpPr txBox="1"/>
          <p:nvPr/>
        </p:nvSpPr>
        <p:spPr>
          <a:xfrm>
            <a:off x="7957452" y="864168"/>
            <a:ext cx="459400" cy="307777"/>
          </a:xfrm>
          <a:prstGeom prst="rect">
            <a:avLst/>
          </a:prstGeom>
          <a:noFill/>
        </p:spPr>
        <p:txBody>
          <a:bodyPr wrap="square" rtlCol="0">
            <a:spAutoFit/>
          </a:bodyPr>
          <a:lstStyle/>
          <a:p>
            <a:r>
              <a:rPr lang="en-US" sz="1400" dirty="0"/>
              <a:t>TCR</a:t>
            </a:r>
          </a:p>
        </p:txBody>
      </p:sp>
      <p:cxnSp>
        <p:nvCxnSpPr>
          <p:cNvPr id="156" name="Straight Connector 155">
            <a:extLst>
              <a:ext uri="{FF2B5EF4-FFF2-40B4-BE49-F238E27FC236}">
                <a16:creationId xmlns:a16="http://schemas.microsoft.com/office/drawing/2014/main" id="{AE712984-E528-0446-B7DF-8B8D15DB2721}"/>
              </a:ext>
            </a:extLst>
          </p:cNvPr>
          <p:cNvCxnSpPr>
            <a:cxnSpLocks/>
          </p:cNvCxnSpPr>
          <p:nvPr/>
        </p:nvCxnSpPr>
        <p:spPr>
          <a:xfrm>
            <a:off x="7593696" y="1121596"/>
            <a:ext cx="45990" cy="16445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DA08D916-737D-D24A-A614-5DD5841F318D}"/>
              </a:ext>
            </a:extLst>
          </p:cNvPr>
          <p:cNvCxnSpPr>
            <a:cxnSpLocks/>
          </p:cNvCxnSpPr>
          <p:nvPr/>
        </p:nvCxnSpPr>
        <p:spPr>
          <a:xfrm flipH="1">
            <a:off x="8164276" y="1121596"/>
            <a:ext cx="30615" cy="223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606DC3E3-3BF8-2F48-9AB4-EC0F14137A98}"/>
              </a:ext>
            </a:extLst>
          </p:cNvPr>
          <p:cNvCxnSpPr>
            <a:cxnSpLocks/>
          </p:cNvCxnSpPr>
          <p:nvPr/>
        </p:nvCxnSpPr>
        <p:spPr>
          <a:xfrm flipH="1">
            <a:off x="7738208" y="1483910"/>
            <a:ext cx="72278" cy="30779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59" name="TextBox 158">
            <a:extLst>
              <a:ext uri="{FF2B5EF4-FFF2-40B4-BE49-F238E27FC236}">
                <a16:creationId xmlns:a16="http://schemas.microsoft.com/office/drawing/2014/main" id="{77C1E0EC-D7C6-5D4D-93E8-F29B7D910993}"/>
              </a:ext>
            </a:extLst>
          </p:cNvPr>
          <p:cNvSpPr txBox="1"/>
          <p:nvPr/>
        </p:nvSpPr>
        <p:spPr>
          <a:xfrm>
            <a:off x="7025247" y="1739565"/>
            <a:ext cx="1509245" cy="523220"/>
          </a:xfrm>
          <a:prstGeom prst="rect">
            <a:avLst/>
          </a:prstGeom>
          <a:noFill/>
        </p:spPr>
        <p:txBody>
          <a:bodyPr wrap="square" rtlCol="0">
            <a:spAutoFit/>
          </a:bodyPr>
          <a:lstStyle/>
          <a:p>
            <a:pPr algn="ctr"/>
            <a:r>
              <a:rPr lang="en-US" sz="1400" dirty="0"/>
              <a:t>Mutated peptide</a:t>
            </a:r>
          </a:p>
          <a:p>
            <a:pPr algn="ctr"/>
            <a:r>
              <a:rPr lang="en-US" sz="1400" dirty="0"/>
              <a:t>(‘non-self’)</a:t>
            </a:r>
          </a:p>
        </p:txBody>
      </p:sp>
      <p:sp>
        <p:nvSpPr>
          <p:cNvPr id="199" name="Rounded Rectangle 198">
            <a:extLst>
              <a:ext uri="{FF2B5EF4-FFF2-40B4-BE49-F238E27FC236}">
                <a16:creationId xmlns:a16="http://schemas.microsoft.com/office/drawing/2014/main" id="{4FCE7A94-6F1D-C94C-8435-21CB0A592CE5}"/>
              </a:ext>
            </a:extLst>
          </p:cNvPr>
          <p:cNvSpPr/>
          <p:nvPr/>
        </p:nvSpPr>
        <p:spPr>
          <a:xfrm rot="14998347">
            <a:off x="7980958" y="5130925"/>
            <a:ext cx="79480" cy="966093"/>
          </a:xfrm>
          <a:prstGeom prst="roundRect">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a:extLst>
              <a:ext uri="{FF2B5EF4-FFF2-40B4-BE49-F238E27FC236}">
                <a16:creationId xmlns:a16="http://schemas.microsoft.com/office/drawing/2014/main" id="{61AC06C8-1249-F448-AB50-ED7EC609C81B}"/>
              </a:ext>
            </a:extLst>
          </p:cNvPr>
          <p:cNvSpPr/>
          <p:nvPr/>
        </p:nvSpPr>
        <p:spPr>
          <a:xfrm rot="13205762">
            <a:off x="7668518" y="3466437"/>
            <a:ext cx="396935" cy="521094"/>
          </a:xfrm>
          <a:custGeom>
            <a:avLst/>
            <a:gdLst>
              <a:gd name="connsiteX0" fmla="*/ 509735 w 889167"/>
              <a:gd name="connsiteY0" fmla="*/ 465165 h 1477189"/>
              <a:gd name="connsiteX1" fmla="*/ 884489 w 889167"/>
              <a:gd name="connsiteY1" fmla="*/ 470 h 1477189"/>
              <a:gd name="connsiteX2" fmla="*/ 704607 w 889167"/>
              <a:gd name="connsiteY2" fmla="*/ 540116 h 1477189"/>
              <a:gd name="connsiteX3" fmla="*/ 479754 w 889167"/>
              <a:gd name="connsiteY3" fmla="*/ 824929 h 1477189"/>
              <a:gd name="connsiteX4" fmla="*/ 494745 w 889167"/>
              <a:gd name="connsiteY4" fmla="*/ 1454516 h 1477189"/>
              <a:gd name="connsiteX5" fmla="*/ 314863 w 889167"/>
              <a:gd name="connsiteY5" fmla="*/ 1289624 h 1477189"/>
              <a:gd name="connsiteX6" fmla="*/ 314863 w 889167"/>
              <a:gd name="connsiteY6" fmla="*/ 824929 h 1477189"/>
              <a:gd name="connsiteX7" fmla="*/ 69 w 889167"/>
              <a:gd name="connsiteY7" fmla="*/ 60430 h 1477189"/>
              <a:gd name="connsiteX8" fmla="*/ 344843 w 889167"/>
              <a:gd name="connsiteY8" fmla="*/ 240312 h 1477189"/>
              <a:gd name="connsiteX9" fmla="*/ 374823 w 889167"/>
              <a:gd name="connsiteY9" fmla="*/ 510135 h 1477189"/>
              <a:gd name="connsiteX10" fmla="*/ 569695 w 889167"/>
              <a:gd name="connsiteY10" fmla="*/ 420194 h 1477189"/>
              <a:gd name="connsiteX0" fmla="*/ 510087 w 889519"/>
              <a:gd name="connsiteY0" fmla="*/ 465165 h 1477189"/>
              <a:gd name="connsiteX1" fmla="*/ 884841 w 889519"/>
              <a:gd name="connsiteY1" fmla="*/ 470 h 1477189"/>
              <a:gd name="connsiteX2" fmla="*/ 704959 w 889519"/>
              <a:gd name="connsiteY2" fmla="*/ 540116 h 1477189"/>
              <a:gd name="connsiteX3" fmla="*/ 480106 w 889519"/>
              <a:gd name="connsiteY3" fmla="*/ 824929 h 1477189"/>
              <a:gd name="connsiteX4" fmla="*/ 495097 w 889519"/>
              <a:gd name="connsiteY4" fmla="*/ 1454516 h 1477189"/>
              <a:gd name="connsiteX5" fmla="*/ 315215 w 889519"/>
              <a:gd name="connsiteY5" fmla="*/ 1289624 h 1477189"/>
              <a:gd name="connsiteX6" fmla="*/ 315215 w 889519"/>
              <a:gd name="connsiteY6" fmla="*/ 824929 h 1477189"/>
              <a:gd name="connsiteX7" fmla="*/ 421 w 889519"/>
              <a:gd name="connsiteY7" fmla="*/ 60430 h 1477189"/>
              <a:gd name="connsiteX8" fmla="*/ 250602 w 889519"/>
              <a:gd name="connsiteY8" fmla="*/ 271843 h 1477189"/>
              <a:gd name="connsiteX9" fmla="*/ 375175 w 889519"/>
              <a:gd name="connsiteY9" fmla="*/ 510135 h 1477189"/>
              <a:gd name="connsiteX10" fmla="*/ 570047 w 889519"/>
              <a:gd name="connsiteY10" fmla="*/ 420194 h 1477189"/>
              <a:gd name="connsiteX0" fmla="*/ 510185 w 889617"/>
              <a:gd name="connsiteY0" fmla="*/ 465165 h 1477189"/>
              <a:gd name="connsiteX1" fmla="*/ 884939 w 889617"/>
              <a:gd name="connsiteY1" fmla="*/ 470 h 1477189"/>
              <a:gd name="connsiteX2" fmla="*/ 705057 w 889617"/>
              <a:gd name="connsiteY2" fmla="*/ 540116 h 1477189"/>
              <a:gd name="connsiteX3" fmla="*/ 480204 w 889617"/>
              <a:gd name="connsiteY3" fmla="*/ 824929 h 1477189"/>
              <a:gd name="connsiteX4" fmla="*/ 495195 w 889617"/>
              <a:gd name="connsiteY4" fmla="*/ 1454516 h 1477189"/>
              <a:gd name="connsiteX5" fmla="*/ 315313 w 889617"/>
              <a:gd name="connsiteY5" fmla="*/ 1289624 h 1477189"/>
              <a:gd name="connsiteX6" fmla="*/ 315313 w 889617"/>
              <a:gd name="connsiteY6" fmla="*/ 824929 h 1477189"/>
              <a:gd name="connsiteX7" fmla="*/ 519 w 889617"/>
              <a:gd name="connsiteY7" fmla="*/ 60430 h 1477189"/>
              <a:gd name="connsiteX8" fmla="*/ 250700 w 889617"/>
              <a:gd name="connsiteY8" fmla="*/ 271843 h 1477189"/>
              <a:gd name="connsiteX9" fmla="*/ 375273 w 889617"/>
              <a:gd name="connsiteY9" fmla="*/ 510135 h 1477189"/>
              <a:gd name="connsiteX10" fmla="*/ 570145 w 889617"/>
              <a:gd name="connsiteY10" fmla="*/ 420194 h 1477189"/>
              <a:gd name="connsiteX0" fmla="*/ 486537 w 890593"/>
              <a:gd name="connsiteY0" fmla="*/ 519903 h 1476748"/>
              <a:gd name="connsiteX1" fmla="*/ 884939 w 890593"/>
              <a:gd name="connsiteY1" fmla="*/ 29 h 1476748"/>
              <a:gd name="connsiteX2" fmla="*/ 705057 w 890593"/>
              <a:gd name="connsiteY2" fmla="*/ 539675 h 1476748"/>
              <a:gd name="connsiteX3" fmla="*/ 480204 w 890593"/>
              <a:gd name="connsiteY3" fmla="*/ 824488 h 1476748"/>
              <a:gd name="connsiteX4" fmla="*/ 495195 w 890593"/>
              <a:gd name="connsiteY4" fmla="*/ 1454075 h 1476748"/>
              <a:gd name="connsiteX5" fmla="*/ 315313 w 890593"/>
              <a:gd name="connsiteY5" fmla="*/ 1289183 h 1476748"/>
              <a:gd name="connsiteX6" fmla="*/ 315313 w 890593"/>
              <a:gd name="connsiteY6" fmla="*/ 824488 h 1476748"/>
              <a:gd name="connsiteX7" fmla="*/ 519 w 890593"/>
              <a:gd name="connsiteY7" fmla="*/ 59989 h 1476748"/>
              <a:gd name="connsiteX8" fmla="*/ 250700 w 890593"/>
              <a:gd name="connsiteY8" fmla="*/ 271402 h 1476748"/>
              <a:gd name="connsiteX9" fmla="*/ 375273 w 890593"/>
              <a:gd name="connsiteY9" fmla="*/ 509694 h 1476748"/>
              <a:gd name="connsiteX10" fmla="*/ 570145 w 890593"/>
              <a:gd name="connsiteY10" fmla="*/ 419753 h 1476748"/>
              <a:gd name="connsiteX0" fmla="*/ 549599 w 888130"/>
              <a:gd name="connsiteY0" fmla="*/ 434202 h 1477757"/>
              <a:gd name="connsiteX1" fmla="*/ 884939 w 888130"/>
              <a:gd name="connsiteY1" fmla="*/ 1038 h 1477757"/>
              <a:gd name="connsiteX2" fmla="*/ 705057 w 888130"/>
              <a:gd name="connsiteY2" fmla="*/ 540684 h 1477757"/>
              <a:gd name="connsiteX3" fmla="*/ 480204 w 888130"/>
              <a:gd name="connsiteY3" fmla="*/ 825497 h 1477757"/>
              <a:gd name="connsiteX4" fmla="*/ 495195 w 888130"/>
              <a:gd name="connsiteY4" fmla="*/ 1455084 h 1477757"/>
              <a:gd name="connsiteX5" fmla="*/ 315313 w 888130"/>
              <a:gd name="connsiteY5" fmla="*/ 1290192 h 1477757"/>
              <a:gd name="connsiteX6" fmla="*/ 315313 w 888130"/>
              <a:gd name="connsiteY6" fmla="*/ 825497 h 1477757"/>
              <a:gd name="connsiteX7" fmla="*/ 519 w 888130"/>
              <a:gd name="connsiteY7" fmla="*/ 60998 h 1477757"/>
              <a:gd name="connsiteX8" fmla="*/ 250700 w 888130"/>
              <a:gd name="connsiteY8" fmla="*/ 272411 h 1477757"/>
              <a:gd name="connsiteX9" fmla="*/ 375273 w 888130"/>
              <a:gd name="connsiteY9" fmla="*/ 510703 h 1477757"/>
              <a:gd name="connsiteX10" fmla="*/ 570145 w 888130"/>
              <a:gd name="connsiteY10" fmla="*/ 420762 h 1477757"/>
              <a:gd name="connsiteX0" fmla="*/ 549599 w 888130"/>
              <a:gd name="connsiteY0" fmla="*/ 434277 h 1477832"/>
              <a:gd name="connsiteX1" fmla="*/ 884939 w 888130"/>
              <a:gd name="connsiteY1" fmla="*/ 1113 h 1477832"/>
              <a:gd name="connsiteX2" fmla="*/ 705057 w 888130"/>
              <a:gd name="connsiteY2" fmla="*/ 540759 h 1477832"/>
              <a:gd name="connsiteX3" fmla="*/ 480204 w 888130"/>
              <a:gd name="connsiteY3" fmla="*/ 825572 h 1477832"/>
              <a:gd name="connsiteX4" fmla="*/ 495195 w 888130"/>
              <a:gd name="connsiteY4" fmla="*/ 1455159 h 1477832"/>
              <a:gd name="connsiteX5" fmla="*/ 315313 w 888130"/>
              <a:gd name="connsiteY5" fmla="*/ 1290267 h 1477832"/>
              <a:gd name="connsiteX6" fmla="*/ 315313 w 888130"/>
              <a:gd name="connsiteY6" fmla="*/ 825572 h 1477832"/>
              <a:gd name="connsiteX7" fmla="*/ 519 w 888130"/>
              <a:gd name="connsiteY7" fmla="*/ 61073 h 1477832"/>
              <a:gd name="connsiteX8" fmla="*/ 250700 w 888130"/>
              <a:gd name="connsiteY8" fmla="*/ 272486 h 1477832"/>
              <a:gd name="connsiteX9" fmla="*/ 375273 w 888130"/>
              <a:gd name="connsiteY9" fmla="*/ 510778 h 1477832"/>
              <a:gd name="connsiteX10" fmla="*/ 570145 w 888130"/>
              <a:gd name="connsiteY10" fmla="*/ 420837 h 1477832"/>
              <a:gd name="connsiteX0" fmla="*/ 549599 w 888130"/>
              <a:gd name="connsiteY0" fmla="*/ 434277 h 1477832"/>
              <a:gd name="connsiteX1" fmla="*/ 884939 w 888130"/>
              <a:gd name="connsiteY1" fmla="*/ 1113 h 1477832"/>
              <a:gd name="connsiteX2" fmla="*/ 705057 w 888130"/>
              <a:gd name="connsiteY2" fmla="*/ 540759 h 1477832"/>
              <a:gd name="connsiteX3" fmla="*/ 480204 w 888130"/>
              <a:gd name="connsiteY3" fmla="*/ 825572 h 1477832"/>
              <a:gd name="connsiteX4" fmla="*/ 495195 w 888130"/>
              <a:gd name="connsiteY4" fmla="*/ 1455159 h 1477832"/>
              <a:gd name="connsiteX5" fmla="*/ 315313 w 888130"/>
              <a:gd name="connsiteY5" fmla="*/ 1290267 h 1477832"/>
              <a:gd name="connsiteX6" fmla="*/ 315313 w 888130"/>
              <a:gd name="connsiteY6" fmla="*/ 825572 h 1477832"/>
              <a:gd name="connsiteX7" fmla="*/ 519 w 888130"/>
              <a:gd name="connsiteY7" fmla="*/ 61073 h 1477832"/>
              <a:gd name="connsiteX8" fmla="*/ 250700 w 888130"/>
              <a:gd name="connsiteY8" fmla="*/ 272486 h 1477832"/>
              <a:gd name="connsiteX9" fmla="*/ 375273 w 888130"/>
              <a:gd name="connsiteY9" fmla="*/ 510778 h 1477832"/>
              <a:gd name="connsiteX10" fmla="*/ 522848 w 888130"/>
              <a:gd name="connsiteY10" fmla="*/ 460251 h 1477832"/>
              <a:gd name="connsiteX0" fmla="*/ 884939 w 888130"/>
              <a:gd name="connsiteY0" fmla="*/ 0 h 1476719"/>
              <a:gd name="connsiteX1" fmla="*/ 705057 w 888130"/>
              <a:gd name="connsiteY1" fmla="*/ 539646 h 1476719"/>
              <a:gd name="connsiteX2" fmla="*/ 480204 w 888130"/>
              <a:gd name="connsiteY2" fmla="*/ 824459 h 1476719"/>
              <a:gd name="connsiteX3" fmla="*/ 495195 w 888130"/>
              <a:gd name="connsiteY3" fmla="*/ 1454046 h 1476719"/>
              <a:gd name="connsiteX4" fmla="*/ 315313 w 888130"/>
              <a:gd name="connsiteY4" fmla="*/ 1289154 h 1476719"/>
              <a:gd name="connsiteX5" fmla="*/ 315313 w 888130"/>
              <a:gd name="connsiteY5" fmla="*/ 824459 h 1476719"/>
              <a:gd name="connsiteX6" fmla="*/ 519 w 888130"/>
              <a:gd name="connsiteY6" fmla="*/ 59960 h 1476719"/>
              <a:gd name="connsiteX7" fmla="*/ 250700 w 888130"/>
              <a:gd name="connsiteY7" fmla="*/ 271373 h 1476719"/>
              <a:gd name="connsiteX8" fmla="*/ 375273 w 888130"/>
              <a:gd name="connsiteY8" fmla="*/ 509665 h 1476719"/>
              <a:gd name="connsiteX9" fmla="*/ 522848 w 888130"/>
              <a:gd name="connsiteY9" fmla="*/ 459138 h 1476719"/>
              <a:gd name="connsiteX0" fmla="*/ 884939 w 888130"/>
              <a:gd name="connsiteY0" fmla="*/ 0 h 1476719"/>
              <a:gd name="connsiteX1" fmla="*/ 705057 w 888130"/>
              <a:gd name="connsiteY1" fmla="*/ 539646 h 1476719"/>
              <a:gd name="connsiteX2" fmla="*/ 480204 w 888130"/>
              <a:gd name="connsiteY2" fmla="*/ 824459 h 1476719"/>
              <a:gd name="connsiteX3" fmla="*/ 495195 w 888130"/>
              <a:gd name="connsiteY3" fmla="*/ 1454046 h 1476719"/>
              <a:gd name="connsiteX4" fmla="*/ 315313 w 888130"/>
              <a:gd name="connsiteY4" fmla="*/ 1289154 h 1476719"/>
              <a:gd name="connsiteX5" fmla="*/ 315313 w 888130"/>
              <a:gd name="connsiteY5" fmla="*/ 824459 h 1476719"/>
              <a:gd name="connsiteX6" fmla="*/ 519 w 888130"/>
              <a:gd name="connsiteY6" fmla="*/ 59960 h 1476719"/>
              <a:gd name="connsiteX7" fmla="*/ 250700 w 888130"/>
              <a:gd name="connsiteY7" fmla="*/ 271373 h 1476719"/>
              <a:gd name="connsiteX8" fmla="*/ 375273 w 888130"/>
              <a:gd name="connsiteY8" fmla="*/ 509665 h 1476719"/>
              <a:gd name="connsiteX9" fmla="*/ 522848 w 888130"/>
              <a:gd name="connsiteY9" fmla="*/ 459138 h 1476719"/>
              <a:gd name="connsiteX10" fmla="*/ 529827 w 888130"/>
              <a:gd name="connsiteY10" fmla="*/ 469993 h 1476719"/>
              <a:gd name="connsiteX0" fmla="*/ 884939 w 888130"/>
              <a:gd name="connsiteY0" fmla="*/ 0 h 1476719"/>
              <a:gd name="connsiteX1" fmla="*/ 705057 w 888130"/>
              <a:gd name="connsiteY1" fmla="*/ 539646 h 1476719"/>
              <a:gd name="connsiteX2" fmla="*/ 480204 w 888130"/>
              <a:gd name="connsiteY2" fmla="*/ 824459 h 1476719"/>
              <a:gd name="connsiteX3" fmla="*/ 495195 w 888130"/>
              <a:gd name="connsiteY3" fmla="*/ 1454046 h 1476719"/>
              <a:gd name="connsiteX4" fmla="*/ 315313 w 888130"/>
              <a:gd name="connsiteY4" fmla="*/ 1289154 h 1476719"/>
              <a:gd name="connsiteX5" fmla="*/ 315313 w 888130"/>
              <a:gd name="connsiteY5" fmla="*/ 824459 h 1476719"/>
              <a:gd name="connsiteX6" fmla="*/ 519 w 888130"/>
              <a:gd name="connsiteY6" fmla="*/ 59960 h 1476719"/>
              <a:gd name="connsiteX7" fmla="*/ 250700 w 888130"/>
              <a:gd name="connsiteY7" fmla="*/ 271373 h 1476719"/>
              <a:gd name="connsiteX8" fmla="*/ 375273 w 888130"/>
              <a:gd name="connsiteY8" fmla="*/ 509665 h 1476719"/>
              <a:gd name="connsiteX9" fmla="*/ 522848 w 888130"/>
              <a:gd name="connsiteY9" fmla="*/ 459138 h 1476719"/>
              <a:gd name="connsiteX10" fmla="*/ 529827 w 888130"/>
              <a:gd name="connsiteY10" fmla="*/ 469993 h 1476719"/>
              <a:gd name="connsiteX11" fmla="*/ 884939 w 888130"/>
              <a:gd name="connsiteY11" fmla="*/ 0 h 1476719"/>
              <a:gd name="connsiteX0" fmla="*/ 884939 w 888130"/>
              <a:gd name="connsiteY0" fmla="*/ 0 h 1476719"/>
              <a:gd name="connsiteX1" fmla="*/ 705057 w 888130"/>
              <a:gd name="connsiteY1" fmla="*/ 539646 h 1476719"/>
              <a:gd name="connsiteX2" fmla="*/ 480204 w 888130"/>
              <a:gd name="connsiteY2" fmla="*/ 824459 h 1476719"/>
              <a:gd name="connsiteX3" fmla="*/ 495195 w 888130"/>
              <a:gd name="connsiteY3" fmla="*/ 1454046 h 1476719"/>
              <a:gd name="connsiteX4" fmla="*/ 315313 w 888130"/>
              <a:gd name="connsiteY4" fmla="*/ 1289154 h 1476719"/>
              <a:gd name="connsiteX5" fmla="*/ 315313 w 888130"/>
              <a:gd name="connsiteY5" fmla="*/ 824459 h 1476719"/>
              <a:gd name="connsiteX6" fmla="*/ 519 w 888130"/>
              <a:gd name="connsiteY6" fmla="*/ 59960 h 1476719"/>
              <a:gd name="connsiteX7" fmla="*/ 250700 w 888130"/>
              <a:gd name="connsiteY7" fmla="*/ 271373 h 1476719"/>
              <a:gd name="connsiteX8" fmla="*/ 375273 w 888130"/>
              <a:gd name="connsiteY8" fmla="*/ 509665 h 1476719"/>
              <a:gd name="connsiteX9" fmla="*/ 522848 w 888130"/>
              <a:gd name="connsiteY9" fmla="*/ 459138 h 1476719"/>
              <a:gd name="connsiteX10" fmla="*/ 529827 w 888130"/>
              <a:gd name="connsiteY10" fmla="*/ 469993 h 1476719"/>
              <a:gd name="connsiteX11" fmla="*/ 884939 w 888130"/>
              <a:gd name="connsiteY11" fmla="*/ 0 h 1476719"/>
              <a:gd name="connsiteX0" fmla="*/ 884939 w 918163"/>
              <a:gd name="connsiteY0" fmla="*/ 27453 h 1504172"/>
              <a:gd name="connsiteX1" fmla="*/ 705057 w 918163"/>
              <a:gd name="connsiteY1" fmla="*/ 567099 h 1504172"/>
              <a:gd name="connsiteX2" fmla="*/ 480204 w 918163"/>
              <a:gd name="connsiteY2" fmla="*/ 851912 h 1504172"/>
              <a:gd name="connsiteX3" fmla="*/ 495195 w 918163"/>
              <a:gd name="connsiteY3" fmla="*/ 1481499 h 1504172"/>
              <a:gd name="connsiteX4" fmla="*/ 315313 w 918163"/>
              <a:gd name="connsiteY4" fmla="*/ 1316607 h 1504172"/>
              <a:gd name="connsiteX5" fmla="*/ 315313 w 918163"/>
              <a:gd name="connsiteY5" fmla="*/ 851912 h 1504172"/>
              <a:gd name="connsiteX6" fmla="*/ 519 w 918163"/>
              <a:gd name="connsiteY6" fmla="*/ 87413 h 1504172"/>
              <a:gd name="connsiteX7" fmla="*/ 250700 w 918163"/>
              <a:gd name="connsiteY7" fmla="*/ 298826 h 1504172"/>
              <a:gd name="connsiteX8" fmla="*/ 375273 w 918163"/>
              <a:gd name="connsiteY8" fmla="*/ 537118 h 1504172"/>
              <a:gd name="connsiteX9" fmla="*/ 522848 w 918163"/>
              <a:gd name="connsiteY9" fmla="*/ 486591 h 1504172"/>
              <a:gd name="connsiteX10" fmla="*/ 529827 w 918163"/>
              <a:gd name="connsiteY10" fmla="*/ 497446 h 1504172"/>
              <a:gd name="connsiteX11" fmla="*/ 884939 w 918163"/>
              <a:gd name="connsiteY11" fmla="*/ 27453 h 1504172"/>
              <a:gd name="connsiteX0" fmla="*/ 884939 w 936824"/>
              <a:gd name="connsiteY0" fmla="*/ 1539 h 1478258"/>
              <a:gd name="connsiteX1" fmla="*/ 705057 w 936824"/>
              <a:gd name="connsiteY1" fmla="*/ 541185 h 1478258"/>
              <a:gd name="connsiteX2" fmla="*/ 480204 w 936824"/>
              <a:gd name="connsiteY2" fmla="*/ 825998 h 1478258"/>
              <a:gd name="connsiteX3" fmla="*/ 495195 w 936824"/>
              <a:gd name="connsiteY3" fmla="*/ 1455585 h 1478258"/>
              <a:gd name="connsiteX4" fmla="*/ 315313 w 936824"/>
              <a:gd name="connsiteY4" fmla="*/ 1290693 h 1478258"/>
              <a:gd name="connsiteX5" fmla="*/ 315313 w 936824"/>
              <a:gd name="connsiteY5" fmla="*/ 825998 h 1478258"/>
              <a:gd name="connsiteX6" fmla="*/ 519 w 936824"/>
              <a:gd name="connsiteY6" fmla="*/ 61499 h 1478258"/>
              <a:gd name="connsiteX7" fmla="*/ 250700 w 936824"/>
              <a:gd name="connsiteY7" fmla="*/ 272912 h 1478258"/>
              <a:gd name="connsiteX8" fmla="*/ 375273 w 936824"/>
              <a:gd name="connsiteY8" fmla="*/ 511204 h 1478258"/>
              <a:gd name="connsiteX9" fmla="*/ 522848 w 936824"/>
              <a:gd name="connsiteY9" fmla="*/ 460677 h 1478258"/>
              <a:gd name="connsiteX10" fmla="*/ 529827 w 936824"/>
              <a:gd name="connsiteY10" fmla="*/ 471532 h 1478258"/>
              <a:gd name="connsiteX11" fmla="*/ 884939 w 936824"/>
              <a:gd name="connsiteY11" fmla="*/ 1539 h 1478258"/>
              <a:gd name="connsiteX0" fmla="*/ 884939 w 936824"/>
              <a:gd name="connsiteY0" fmla="*/ 8628 h 1485347"/>
              <a:gd name="connsiteX1" fmla="*/ 705057 w 936824"/>
              <a:gd name="connsiteY1" fmla="*/ 548274 h 1485347"/>
              <a:gd name="connsiteX2" fmla="*/ 480204 w 936824"/>
              <a:gd name="connsiteY2" fmla="*/ 833087 h 1485347"/>
              <a:gd name="connsiteX3" fmla="*/ 495195 w 936824"/>
              <a:gd name="connsiteY3" fmla="*/ 1462674 h 1485347"/>
              <a:gd name="connsiteX4" fmla="*/ 315313 w 936824"/>
              <a:gd name="connsiteY4" fmla="*/ 1297782 h 1485347"/>
              <a:gd name="connsiteX5" fmla="*/ 315313 w 936824"/>
              <a:gd name="connsiteY5" fmla="*/ 833087 h 1485347"/>
              <a:gd name="connsiteX6" fmla="*/ 519 w 936824"/>
              <a:gd name="connsiteY6" fmla="*/ 68588 h 1485347"/>
              <a:gd name="connsiteX7" fmla="*/ 250700 w 936824"/>
              <a:gd name="connsiteY7" fmla="*/ 280001 h 1485347"/>
              <a:gd name="connsiteX8" fmla="*/ 375273 w 936824"/>
              <a:gd name="connsiteY8" fmla="*/ 518293 h 1485347"/>
              <a:gd name="connsiteX9" fmla="*/ 522848 w 936824"/>
              <a:gd name="connsiteY9" fmla="*/ 467766 h 1485347"/>
              <a:gd name="connsiteX10" fmla="*/ 529827 w 936824"/>
              <a:gd name="connsiteY10" fmla="*/ 478621 h 1485347"/>
              <a:gd name="connsiteX11" fmla="*/ 545592 w 936824"/>
              <a:gd name="connsiteY11" fmla="*/ 234256 h 1485347"/>
              <a:gd name="connsiteX12" fmla="*/ 884939 w 936824"/>
              <a:gd name="connsiteY12" fmla="*/ 8628 h 1485347"/>
              <a:gd name="connsiteX0" fmla="*/ 884939 w 885606"/>
              <a:gd name="connsiteY0" fmla="*/ 9976 h 1486695"/>
              <a:gd name="connsiteX1" fmla="*/ 705057 w 885606"/>
              <a:gd name="connsiteY1" fmla="*/ 549622 h 1486695"/>
              <a:gd name="connsiteX2" fmla="*/ 480204 w 885606"/>
              <a:gd name="connsiteY2" fmla="*/ 834435 h 1486695"/>
              <a:gd name="connsiteX3" fmla="*/ 495195 w 885606"/>
              <a:gd name="connsiteY3" fmla="*/ 1464022 h 1486695"/>
              <a:gd name="connsiteX4" fmla="*/ 315313 w 885606"/>
              <a:gd name="connsiteY4" fmla="*/ 1299130 h 1486695"/>
              <a:gd name="connsiteX5" fmla="*/ 315313 w 885606"/>
              <a:gd name="connsiteY5" fmla="*/ 834435 h 1486695"/>
              <a:gd name="connsiteX6" fmla="*/ 519 w 885606"/>
              <a:gd name="connsiteY6" fmla="*/ 69936 h 1486695"/>
              <a:gd name="connsiteX7" fmla="*/ 250700 w 885606"/>
              <a:gd name="connsiteY7" fmla="*/ 281349 h 1486695"/>
              <a:gd name="connsiteX8" fmla="*/ 375273 w 885606"/>
              <a:gd name="connsiteY8" fmla="*/ 519641 h 1486695"/>
              <a:gd name="connsiteX9" fmla="*/ 522848 w 885606"/>
              <a:gd name="connsiteY9" fmla="*/ 469114 h 1486695"/>
              <a:gd name="connsiteX10" fmla="*/ 529827 w 885606"/>
              <a:gd name="connsiteY10" fmla="*/ 479969 h 1486695"/>
              <a:gd name="connsiteX11" fmla="*/ 640185 w 885606"/>
              <a:gd name="connsiteY11" fmla="*/ 219838 h 1486695"/>
              <a:gd name="connsiteX12" fmla="*/ 884939 w 885606"/>
              <a:gd name="connsiteY12" fmla="*/ 9976 h 1486695"/>
              <a:gd name="connsiteX0" fmla="*/ 884939 w 886358"/>
              <a:gd name="connsiteY0" fmla="*/ 4829 h 1481548"/>
              <a:gd name="connsiteX1" fmla="*/ 728706 w 886358"/>
              <a:gd name="connsiteY1" fmla="*/ 426233 h 1481548"/>
              <a:gd name="connsiteX2" fmla="*/ 480204 w 886358"/>
              <a:gd name="connsiteY2" fmla="*/ 829288 h 1481548"/>
              <a:gd name="connsiteX3" fmla="*/ 495195 w 886358"/>
              <a:gd name="connsiteY3" fmla="*/ 1458875 h 1481548"/>
              <a:gd name="connsiteX4" fmla="*/ 315313 w 886358"/>
              <a:gd name="connsiteY4" fmla="*/ 1293983 h 1481548"/>
              <a:gd name="connsiteX5" fmla="*/ 315313 w 886358"/>
              <a:gd name="connsiteY5" fmla="*/ 829288 h 1481548"/>
              <a:gd name="connsiteX6" fmla="*/ 519 w 886358"/>
              <a:gd name="connsiteY6" fmla="*/ 64789 h 1481548"/>
              <a:gd name="connsiteX7" fmla="*/ 250700 w 886358"/>
              <a:gd name="connsiteY7" fmla="*/ 276202 h 1481548"/>
              <a:gd name="connsiteX8" fmla="*/ 375273 w 886358"/>
              <a:gd name="connsiteY8" fmla="*/ 514494 h 1481548"/>
              <a:gd name="connsiteX9" fmla="*/ 522848 w 886358"/>
              <a:gd name="connsiteY9" fmla="*/ 463967 h 1481548"/>
              <a:gd name="connsiteX10" fmla="*/ 529827 w 886358"/>
              <a:gd name="connsiteY10" fmla="*/ 474822 h 1481548"/>
              <a:gd name="connsiteX11" fmla="*/ 640185 w 886358"/>
              <a:gd name="connsiteY11" fmla="*/ 214691 h 1481548"/>
              <a:gd name="connsiteX12" fmla="*/ 884939 w 886358"/>
              <a:gd name="connsiteY12" fmla="*/ 4829 h 1481548"/>
              <a:gd name="connsiteX0" fmla="*/ 884565 w 885984"/>
              <a:gd name="connsiteY0" fmla="*/ 4829 h 1484122"/>
              <a:gd name="connsiteX1" fmla="*/ 728332 w 885984"/>
              <a:gd name="connsiteY1" fmla="*/ 426233 h 1484122"/>
              <a:gd name="connsiteX2" fmla="*/ 479830 w 885984"/>
              <a:gd name="connsiteY2" fmla="*/ 829288 h 1484122"/>
              <a:gd name="connsiteX3" fmla="*/ 494821 w 885984"/>
              <a:gd name="connsiteY3" fmla="*/ 1458875 h 1484122"/>
              <a:gd name="connsiteX4" fmla="*/ 314939 w 885984"/>
              <a:gd name="connsiteY4" fmla="*/ 1293983 h 1484122"/>
              <a:gd name="connsiteX5" fmla="*/ 283408 w 885984"/>
              <a:gd name="connsiteY5" fmla="*/ 687399 h 1484122"/>
              <a:gd name="connsiteX6" fmla="*/ 145 w 885984"/>
              <a:gd name="connsiteY6" fmla="*/ 64789 h 1484122"/>
              <a:gd name="connsiteX7" fmla="*/ 250326 w 885984"/>
              <a:gd name="connsiteY7" fmla="*/ 276202 h 1484122"/>
              <a:gd name="connsiteX8" fmla="*/ 374899 w 885984"/>
              <a:gd name="connsiteY8" fmla="*/ 514494 h 1484122"/>
              <a:gd name="connsiteX9" fmla="*/ 522474 w 885984"/>
              <a:gd name="connsiteY9" fmla="*/ 463967 h 1484122"/>
              <a:gd name="connsiteX10" fmla="*/ 529453 w 885984"/>
              <a:gd name="connsiteY10" fmla="*/ 474822 h 1484122"/>
              <a:gd name="connsiteX11" fmla="*/ 639811 w 885984"/>
              <a:gd name="connsiteY11" fmla="*/ 214691 h 1484122"/>
              <a:gd name="connsiteX12" fmla="*/ 884565 w 885984"/>
              <a:gd name="connsiteY12" fmla="*/ 4829 h 1484122"/>
              <a:gd name="connsiteX0" fmla="*/ 884565 w 885984"/>
              <a:gd name="connsiteY0" fmla="*/ 4829 h 1547050"/>
              <a:gd name="connsiteX1" fmla="*/ 728332 w 885984"/>
              <a:gd name="connsiteY1" fmla="*/ 426233 h 1547050"/>
              <a:gd name="connsiteX2" fmla="*/ 479830 w 885984"/>
              <a:gd name="connsiteY2" fmla="*/ 829288 h 1547050"/>
              <a:gd name="connsiteX3" fmla="*/ 494821 w 885984"/>
              <a:gd name="connsiteY3" fmla="*/ 1458875 h 1547050"/>
              <a:gd name="connsiteX4" fmla="*/ 354353 w 885984"/>
              <a:gd name="connsiteY4" fmla="*/ 1459521 h 1547050"/>
              <a:gd name="connsiteX5" fmla="*/ 283408 w 885984"/>
              <a:gd name="connsiteY5" fmla="*/ 687399 h 1547050"/>
              <a:gd name="connsiteX6" fmla="*/ 145 w 885984"/>
              <a:gd name="connsiteY6" fmla="*/ 64789 h 1547050"/>
              <a:gd name="connsiteX7" fmla="*/ 250326 w 885984"/>
              <a:gd name="connsiteY7" fmla="*/ 276202 h 1547050"/>
              <a:gd name="connsiteX8" fmla="*/ 374899 w 885984"/>
              <a:gd name="connsiteY8" fmla="*/ 514494 h 1547050"/>
              <a:gd name="connsiteX9" fmla="*/ 522474 w 885984"/>
              <a:gd name="connsiteY9" fmla="*/ 463967 h 1547050"/>
              <a:gd name="connsiteX10" fmla="*/ 529453 w 885984"/>
              <a:gd name="connsiteY10" fmla="*/ 474822 h 1547050"/>
              <a:gd name="connsiteX11" fmla="*/ 639811 w 885984"/>
              <a:gd name="connsiteY11" fmla="*/ 214691 h 1547050"/>
              <a:gd name="connsiteX12" fmla="*/ 884565 w 885984"/>
              <a:gd name="connsiteY12" fmla="*/ 4829 h 1547050"/>
              <a:gd name="connsiteX0" fmla="*/ 884565 w 885984"/>
              <a:gd name="connsiteY0" fmla="*/ 4829 h 1547050"/>
              <a:gd name="connsiteX1" fmla="*/ 728332 w 885984"/>
              <a:gd name="connsiteY1" fmla="*/ 426233 h 1547050"/>
              <a:gd name="connsiteX2" fmla="*/ 479830 w 885984"/>
              <a:gd name="connsiteY2" fmla="*/ 829288 h 1547050"/>
              <a:gd name="connsiteX3" fmla="*/ 494821 w 885984"/>
              <a:gd name="connsiteY3" fmla="*/ 1458875 h 1547050"/>
              <a:gd name="connsiteX4" fmla="*/ 354353 w 885984"/>
              <a:gd name="connsiteY4" fmla="*/ 1459521 h 1547050"/>
              <a:gd name="connsiteX5" fmla="*/ 283408 w 885984"/>
              <a:gd name="connsiteY5" fmla="*/ 687399 h 1547050"/>
              <a:gd name="connsiteX6" fmla="*/ 145 w 885984"/>
              <a:gd name="connsiteY6" fmla="*/ 64789 h 1547050"/>
              <a:gd name="connsiteX7" fmla="*/ 250326 w 885984"/>
              <a:gd name="connsiteY7" fmla="*/ 276202 h 1547050"/>
              <a:gd name="connsiteX8" fmla="*/ 374899 w 885984"/>
              <a:gd name="connsiteY8" fmla="*/ 514494 h 1547050"/>
              <a:gd name="connsiteX9" fmla="*/ 522474 w 885984"/>
              <a:gd name="connsiteY9" fmla="*/ 463967 h 1547050"/>
              <a:gd name="connsiteX10" fmla="*/ 505804 w 885984"/>
              <a:gd name="connsiteY10" fmla="*/ 545767 h 1547050"/>
              <a:gd name="connsiteX11" fmla="*/ 639811 w 885984"/>
              <a:gd name="connsiteY11" fmla="*/ 214691 h 1547050"/>
              <a:gd name="connsiteX12" fmla="*/ 884565 w 885984"/>
              <a:gd name="connsiteY12" fmla="*/ 4829 h 1547050"/>
              <a:gd name="connsiteX0" fmla="*/ 884565 w 885984"/>
              <a:gd name="connsiteY0" fmla="*/ 4829 h 1547050"/>
              <a:gd name="connsiteX1" fmla="*/ 728332 w 885984"/>
              <a:gd name="connsiteY1" fmla="*/ 426233 h 1547050"/>
              <a:gd name="connsiteX2" fmla="*/ 479830 w 885984"/>
              <a:gd name="connsiteY2" fmla="*/ 829288 h 1547050"/>
              <a:gd name="connsiteX3" fmla="*/ 494821 w 885984"/>
              <a:gd name="connsiteY3" fmla="*/ 1458875 h 1547050"/>
              <a:gd name="connsiteX4" fmla="*/ 354353 w 885984"/>
              <a:gd name="connsiteY4" fmla="*/ 1459521 h 1547050"/>
              <a:gd name="connsiteX5" fmla="*/ 283408 w 885984"/>
              <a:gd name="connsiteY5" fmla="*/ 687399 h 1547050"/>
              <a:gd name="connsiteX6" fmla="*/ 145 w 885984"/>
              <a:gd name="connsiteY6" fmla="*/ 64789 h 1547050"/>
              <a:gd name="connsiteX7" fmla="*/ 250326 w 885984"/>
              <a:gd name="connsiteY7" fmla="*/ 276202 h 1547050"/>
              <a:gd name="connsiteX8" fmla="*/ 374899 w 885984"/>
              <a:gd name="connsiteY8" fmla="*/ 514494 h 1547050"/>
              <a:gd name="connsiteX9" fmla="*/ 522474 w 885984"/>
              <a:gd name="connsiteY9" fmla="*/ 463967 h 1547050"/>
              <a:gd name="connsiteX10" fmla="*/ 521570 w 885984"/>
              <a:gd name="connsiteY10" fmla="*/ 490588 h 1547050"/>
              <a:gd name="connsiteX11" fmla="*/ 639811 w 885984"/>
              <a:gd name="connsiteY11" fmla="*/ 214691 h 1547050"/>
              <a:gd name="connsiteX12" fmla="*/ 884565 w 885984"/>
              <a:gd name="connsiteY12" fmla="*/ 4829 h 1547050"/>
              <a:gd name="connsiteX0" fmla="*/ 884565 w 885856"/>
              <a:gd name="connsiteY0" fmla="*/ 4829 h 1549397"/>
              <a:gd name="connsiteX1" fmla="*/ 728332 w 885856"/>
              <a:gd name="connsiteY1" fmla="*/ 426233 h 1549397"/>
              <a:gd name="connsiteX2" fmla="*/ 550775 w 885856"/>
              <a:gd name="connsiteY2" fmla="*/ 789874 h 1549397"/>
              <a:gd name="connsiteX3" fmla="*/ 494821 w 885856"/>
              <a:gd name="connsiteY3" fmla="*/ 1458875 h 1549397"/>
              <a:gd name="connsiteX4" fmla="*/ 354353 w 885856"/>
              <a:gd name="connsiteY4" fmla="*/ 1459521 h 1549397"/>
              <a:gd name="connsiteX5" fmla="*/ 283408 w 885856"/>
              <a:gd name="connsiteY5" fmla="*/ 687399 h 1549397"/>
              <a:gd name="connsiteX6" fmla="*/ 145 w 885856"/>
              <a:gd name="connsiteY6" fmla="*/ 64789 h 1549397"/>
              <a:gd name="connsiteX7" fmla="*/ 250326 w 885856"/>
              <a:gd name="connsiteY7" fmla="*/ 276202 h 1549397"/>
              <a:gd name="connsiteX8" fmla="*/ 374899 w 885856"/>
              <a:gd name="connsiteY8" fmla="*/ 514494 h 1549397"/>
              <a:gd name="connsiteX9" fmla="*/ 522474 w 885856"/>
              <a:gd name="connsiteY9" fmla="*/ 463967 h 1549397"/>
              <a:gd name="connsiteX10" fmla="*/ 521570 w 885856"/>
              <a:gd name="connsiteY10" fmla="*/ 490588 h 1549397"/>
              <a:gd name="connsiteX11" fmla="*/ 639811 w 885856"/>
              <a:gd name="connsiteY11" fmla="*/ 214691 h 1549397"/>
              <a:gd name="connsiteX12" fmla="*/ 884565 w 885856"/>
              <a:gd name="connsiteY12" fmla="*/ 4829 h 1549397"/>
              <a:gd name="connsiteX0" fmla="*/ 885510 w 886801"/>
              <a:gd name="connsiteY0" fmla="*/ 4829 h 1543855"/>
              <a:gd name="connsiteX1" fmla="*/ 729277 w 886801"/>
              <a:gd name="connsiteY1" fmla="*/ 426233 h 1543855"/>
              <a:gd name="connsiteX2" fmla="*/ 551720 w 886801"/>
              <a:gd name="connsiteY2" fmla="*/ 789874 h 1543855"/>
              <a:gd name="connsiteX3" fmla="*/ 495766 w 886801"/>
              <a:gd name="connsiteY3" fmla="*/ 1458875 h 1543855"/>
              <a:gd name="connsiteX4" fmla="*/ 355298 w 886801"/>
              <a:gd name="connsiteY4" fmla="*/ 1459521 h 1543855"/>
              <a:gd name="connsiteX5" fmla="*/ 347415 w 886801"/>
              <a:gd name="connsiteY5" fmla="*/ 774110 h 1543855"/>
              <a:gd name="connsiteX6" fmla="*/ 1090 w 886801"/>
              <a:gd name="connsiteY6" fmla="*/ 64789 h 1543855"/>
              <a:gd name="connsiteX7" fmla="*/ 251271 w 886801"/>
              <a:gd name="connsiteY7" fmla="*/ 276202 h 1543855"/>
              <a:gd name="connsiteX8" fmla="*/ 375844 w 886801"/>
              <a:gd name="connsiteY8" fmla="*/ 514494 h 1543855"/>
              <a:gd name="connsiteX9" fmla="*/ 523419 w 886801"/>
              <a:gd name="connsiteY9" fmla="*/ 463967 h 1543855"/>
              <a:gd name="connsiteX10" fmla="*/ 522515 w 886801"/>
              <a:gd name="connsiteY10" fmla="*/ 490588 h 1543855"/>
              <a:gd name="connsiteX11" fmla="*/ 640756 w 886801"/>
              <a:gd name="connsiteY11" fmla="*/ 214691 h 1543855"/>
              <a:gd name="connsiteX12" fmla="*/ 885510 w 886801"/>
              <a:gd name="connsiteY12" fmla="*/ 4829 h 1543855"/>
              <a:gd name="connsiteX0" fmla="*/ 885510 w 886801"/>
              <a:gd name="connsiteY0" fmla="*/ 4829 h 1548329"/>
              <a:gd name="connsiteX1" fmla="*/ 729277 w 886801"/>
              <a:gd name="connsiteY1" fmla="*/ 426233 h 1548329"/>
              <a:gd name="connsiteX2" fmla="*/ 551720 w 886801"/>
              <a:gd name="connsiteY2" fmla="*/ 789874 h 1548329"/>
              <a:gd name="connsiteX3" fmla="*/ 543063 w 886801"/>
              <a:gd name="connsiteY3" fmla="*/ 1466758 h 1548329"/>
              <a:gd name="connsiteX4" fmla="*/ 355298 w 886801"/>
              <a:gd name="connsiteY4" fmla="*/ 1459521 h 1548329"/>
              <a:gd name="connsiteX5" fmla="*/ 347415 w 886801"/>
              <a:gd name="connsiteY5" fmla="*/ 774110 h 1548329"/>
              <a:gd name="connsiteX6" fmla="*/ 1090 w 886801"/>
              <a:gd name="connsiteY6" fmla="*/ 64789 h 1548329"/>
              <a:gd name="connsiteX7" fmla="*/ 251271 w 886801"/>
              <a:gd name="connsiteY7" fmla="*/ 276202 h 1548329"/>
              <a:gd name="connsiteX8" fmla="*/ 375844 w 886801"/>
              <a:gd name="connsiteY8" fmla="*/ 514494 h 1548329"/>
              <a:gd name="connsiteX9" fmla="*/ 523419 w 886801"/>
              <a:gd name="connsiteY9" fmla="*/ 463967 h 1548329"/>
              <a:gd name="connsiteX10" fmla="*/ 522515 w 886801"/>
              <a:gd name="connsiteY10" fmla="*/ 490588 h 1548329"/>
              <a:gd name="connsiteX11" fmla="*/ 640756 w 886801"/>
              <a:gd name="connsiteY11" fmla="*/ 214691 h 1548329"/>
              <a:gd name="connsiteX12" fmla="*/ 885510 w 886801"/>
              <a:gd name="connsiteY12" fmla="*/ 4829 h 1548329"/>
              <a:gd name="connsiteX0" fmla="*/ 885510 w 886801"/>
              <a:gd name="connsiteY0" fmla="*/ 4829 h 1540065"/>
              <a:gd name="connsiteX1" fmla="*/ 729277 w 886801"/>
              <a:gd name="connsiteY1" fmla="*/ 426233 h 1540065"/>
              <a:gd name="connsiteX2" fmla="*/ 551720 w 886801"/>
              <a:gd name="connsiteY2" fmla="*/ 789874 h 1540065"/>
              <a:gd name="connsiteX3" fmla="*/ 543063 w 886801"/>
              <a:gd name="connsiteY3" fmla="*/ 1466758 h 1540065"/>
              <a:gd name="connsiteX4" fmla="*/ 410477 w 886801"/>
              <a:gd name="connsiteY4" fmla="*/ 1443756 h 1540065"/>
              <a:gd name="connsiteX5" fmla="*/ 347415 w 886801"/>
              <a:gd name="connsiteY5" fmla="*/ 774110 h 1540065"/>
              <a:gd name="connsiteX6" fmla="*/ 1090 w 886801"/>
              <a:gd name="connsiteY6" fmla="*/ 64789 h 1540065"/>
              <a:gd name="connsiteX7" fmla="*/ 251271 w 886801"/>
              <a:gd name="connsiteY7" fmla="*/ 276202 h 1540065"/>
              <a:gd name="connsiteX8" fmla="*/ 375844 w 886801"/>
              <a:gd name="connsiteY8" fmla="*/ 514494 h 1540065"/>
              <a:gd name="connsiteX9" fmla="*/ 523419 w 886801"/>
              <a:gd name="connsiteY9" fmla="*/ 463967 h 1540065"/>
              <a:gd name="connsiteX10" fmla="*/ 522515 w 886801"/>
              <a:gd name="connsiteY10" fmla="*/ 490588 h 1540065"/>
              <a:gd name="connsiteX11" fmla="*/ 640756 w 886801"/>
              <a:gd name="connsiteY11" fmla="*/ 214691 h 1540065"/>
              <a:gd name="connsiteX12" fmla="*/ 885510 w 886801"/>
              <a:gd name="connsiteY12" fmla="*/ 4829 h 154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801" h="1540065">
                <a:moveTo>
                  <a:pt x="885510" y="4829"/>
                </a:moveTo>
                <a:cubicBezTo>
                  <a:pt x="900263" y="40086"/>
                  <a:pt x="784909" y="295392"/>
                  <a:pt x="729277" y="426233"/>
                </a:cubicBezTo>
                <a:cubicBezTo>
                  <a:pt x="673645" y="557074"/>
                  <a:pt x="582756" y="616453"/>
                  <a:pt x="551720" y="789874"/>
                </a:cubicBezTo>
                <a:cubicBezTo>
                  <a:pt x="520684" y="963295"/>
                  <a:pt x="566604" y="1357778"/>
                  <a:pt x="543063" y="1466758"/>
                </a:cubicBezTo>
                <a:cubicBezTo>
                  <a:pt x="519522" y="1575738"/>
                  <a:pt x="443085" y="1559197"/>
                  <a:pt x="410477" y="1443756"/>
                </a:cubicBezTo>
                <a:cubicBezTo>
                  <a:pt x="377869" y="1328315"/>
                  <a:pt x="415646" y="1003938"/>
                  <a:pt x="347415" y="774110"/>
                </a:cubicBezTo>
                <a:cubicBezTo>
                  <a:pt x="279184" y="544282"/>
                  <a:pt x="17114" y="147774"/>
                  <a:pt x="1090" y="64789"/>
                </a:cubicBezTo>
                <a:cubicBezTo>
                  <a:pt x="-14934" y="-18196"/>
                  <a:pt x="149398" y="67245"/>
                  <a:pt x="251271" y="276202"/>
                </a:cubicBezTo>
                <a:cubicBezTo>
                  <a:pt x="353144" y="485159"/>
                  <a:pt x="338369" y="484514"/>
                  <a:pt x="375844" y="514494"/>
                </a:cubicBezTo>
                <a:cubicBezTo>
                  <a:pt x="413319" y="544474"/>
                  <a:pt x="444720" y="523927"/>
                  <a:pt x="523419" y="463967"/>
                </a:cubicBezTo>
                <a:cubicBezTo>
                  <a:pt x="549178" y="457355"/>
                  <a:pt x="521061" y="488327"/>
                  <a:pt x="522515" y="490588"/>
                </a:cubicBezTo>
                <a:cubicBezTo>
                  <a:pt x="526306" y="451670"/>
                  <a:pt x="581571" y="293023"/>
                  <a:pt x="640756" y="214691"/>
                </a:cubicBezTo>
                <a:cubicBezTo>
                  <a:pt x="699941" y="136359"/>
                  <a:pt x="870757" y="-30428"/>
                  <a:pt x="885510" y="4829"/>
                </a:cubicBezTo>
                <a:close/>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7" name="Freeform 166">
            <a:extLst>
              <a:ext uri="{FF2B5EF4-FFF2-40B4-BE49-F238E27FC236}">
                <a16:creationId xmlns:a16="http://schemas.microsoft.com/office/drawing/2014/main" id="{71190F1A-C986-3845-8524-9F4DAF4F78F6}"/>
              </a:ext>
            </a:extLst>
          </p:cNvPr>
          <p:cNvSpPr/>
          <p:nvPr/>
        </p:nvSpPr>
        <p:spPr>
          <a:xfrm rot="8646748">
            <a:off x="7495052" y="4161464"/>
            <a:ext cx="396935" cy="521094"/>
          </a:xfrm>
          <a:custGeom>
            <a:avLst/>
            <a:gdLst>
              <a:gd name="connsiteX0" fmla="*/ 509735 w 889167"/>
              <a:gd name="connsiteY0" fmla="*/ 465165 h 1477189"/>
              <a:gd name="connsiteX1" fmla="*/ 884489 w 889167"/>
              <a:gd name="connsiteY1" fmla="*/ 470 h 1477189"/>
              <a:gd name="connsiteX2" fmla="*/ 704607 w 889167"/>
              <a:gd name="connsiteY2" fmla="*/ 540116 h 1477189"/>
              <a:gd name="connsiteX3" fmla="*/ 479754 w 889167"/>
              <a:gd name="connsiteY3" fmla="*/ 824929 h 1477189"/>
              <a:gd name="connsiteX4" fmla="*/ 494745 w 889167"/>
              <a:gd name="connsiteY4" fmla="*/ 1454516 h 1477189"/>
              <a:gd name="connsiteX5" fmla="*/ 314863 w 889167"/>
              <a:gd name="connsiteY5" fmla="*/ 1289624 h 1477189"/>
              <a:gd name="connsiteX6" fmla="*/ 314863 w 889167"/>
              <a:gd name="connsiteY6" fmla="*/ 824929 h 1477189"/>
              <a:gd name="connsiteX7" fmla="*/ 69 w 889167"/>
              <a:gd name="connsiteY7" fmla="*/ 60430 h 1477189"/>
              <a:gd name="connsiteX8" fmla="*/ 344843 w 889167"/>
              <a:gd name="connsiteY8" fmla="*/ 240312 h 1477189"/>
              <a:gd name="connsiteX9" fmla="*/ 374823 w 889167"/>
              <a:gd name="connsiteY9" fmla="*/ 510135 h 1477189"/>
              <a:gd name="connsiteX10" fmla="*/ 569695 w 889167"/>
              <a:gd name="connsiteY10" fmla="*/ 420194 h 1477189"/>
              <a:gd name="connsiteX0" fmla="*/ 510087 w 889519"/>
              <a:gd name="connsiteY0" fmla="*/ 465165 h 1477189"/>
              <a:gd name="connsiteX1" fmla="*/ 884841 w 889519"/>
              <a:gd name="connsiteY1" fmla="*/ 470 h 1477189"/>
              <a:gd name="connsiteX2" fmla="*/ 704959 w 889519"/>
              <a:gd name="connsiteY2" fmla="*/ 540116 h 1477189"/>
              <a:gd name="connsiteX3" fmla="*/ 480106 w 889519"/>
              <a:gd name="connsiteY3" fmla="*/ 824929 h 1477189"/>
              <a:gd name="connsiteX4" fmla="*/ 495097 w 889519"/>
              <a:gd name="connsiteY4" fmla="*/ 1454516 h 1477189"/>
              <a:gd name="connsiteX5" fmla="*/ 315215 w 889519"/>
              <a:gd name="connsiteY5" fmla="*/ 1289624 h 1477189"/>
              <a:gd name="connsiteX6" fmla="*/ 315215 w 889519"/>
              <a:gd name="connsiteY6" fmla="*/ 824929 h 1477189"/>
              <a:gd name="connsiteX7" fmla="*/ 421 w 889519"/>
              <a:gd name="connsiteY7" fmla="*/ 60430 h 1477189"/>
              <a:gd name="connsiteX8" fmla="*/ 250602 w 889519"/>
              <a:gd name="connsiteY8" fmla="*/ 271843 h 1477189"/>
              <a:gd name="connsiteX9" fmla="*/ 375175 w 889519"/>
              <a:gd name="connsiteY9" fmla="*/ 510135 h 1477189"/>
              <a:gd name="connsiteX10" fmla="*/ 570047 w 889519"/>
              <a:gd name="connsiteY10" fmla="*/ 420194 h 1477189"/>
              <a:gd name="connsiteX0" fmla="*/ 510185 w 889617"/>
              <a:gd name="connsiteY0" fmla="*/ 465165 h 1477189"/>
              <a:gd name="connsiteX1" fmla="*/ 884939 w 889617"/>
              <a:gd name="connsiteY1" fmla="*/ 470 h 1477189"/>
              <a:gd name="connsiteX2" fmla="*/ 705057 w 889617"/>
              <a:gd name="connsiteY2" fmla="*/ 540116 h 1477189"/>
              <a:gd name="connsiteX3" fmla="*/ 480204 w 889617"/>
              <a:gd name="connsiteY3" fmla="*/ 824929 h 1477189"/>
              <a:gd name="connsiteX4" fmla="*/ 495195 w 889617"/>
              <a:gd name="connsiteY4" fmla="*/ 1454516 h 1477189"/>
              <a:gd name="connsiteX5" fmla="*/ 315313 w 889617"/>
              <a:gd name="connsiteY5" fmla="*/ 1289624 h 1477189"/>
              <a:gd name="connsiteX6" fmla="*/ 315313 w 889617"/>
              <a:gd name="connsiteY6" fmla="*/ 824929 h 1477189"/>
              <a:gd name="connsiteX7" fmla="*/ 519 w 889617"/>
              <a:gd name="connsiteY7" fmla="*/ 60430 h 1477189"/>
              <a:gd name="connsiteX8" fmla="*/ 250700 w 889617"/>
              <a:gd name="connsiteY8" fmla="*/ 271843 h 1477189"/>
              <a:gd name="connsiteX9" fmla="*/ 375273 w 889617"/>
              <a:gd name="connsiteY9" fmla="*/ 510135 h 1477189"/>
              <a:gd name="connsiteX10" fmla="*/ 570145 w 889617"/>
              <a:gd name="connsiteY10" fmla="*/ 420194 h 1477189"/>
              <a:gd name="connsiteX0" fmla="*/ 486537 w 890593"/>
              <a:gd name="connsiteY0" fmla="*/ 519903 h 1476748"/>
              <a:gd name="connsiteX1" fmla="*/ 884939 w 890593"/>
              <a:gd name="connsiteY1" fmla="*/ 29 h 1476748"/>
              <a:gd name="connsiteX2" fmla="*/ 705057 w 890593"/>
              <a:gd name="connsiteY2" fmla="*/ 539675 h 1476748"/>
              <a:gd name="connsiteX3" fmla="*/ 480204 w 890593"/>
              <a:gd name="connsiteY3" fmla="*/ 824488 h 1476748"/>
              <a:gd name="connsiteX4" fmla="*/ 495195 w 890593"/>
              <a:gd name="connsiteY4" fmla="*/ 1454075 h 1476748"/>
              <a:gd name="connsiteX5" fmla="*/ 315313 w 890593"/>
              <a:gd name="connsiteY5" fmla="*/ 1289183 h 1476748"/>
              <a:gd name="connsiteX6" fmla="*/ 315313 w 890593"/>
              <a:gd name="connsiteY6" fmla="*/ 824488 h 1476748"/>
              <a:gd name="connsiteX7" fmla="*/ 519 w 890593"/>
              <a:gd name="connsiteY7" fmla="*/ 59989 h 1476748"/>
              <a:gd name="connsiteX8" fmla="*/ 250700 w 890593"/>
              <a:gd name="connsiteY8" fmla="*/ 271402 h 1476748"/>
              <a:gd name="connsiteX9" fmla="*/ 375273 w 890593"/>
              <a:gd name="connsiteY9" fmla="*/ 509694 h 1476748"/>
              <a:gd name="connsiteX10" fmla="*/ 570145 w 890593"/>
              <a:gd name="connsiteY10" fmla="*/ 419753 h 1476748"/>
              <a:gd name="connsiteX0" fmla="*/ 549599 w 888130"/>
              <a:gd name="connsiteY0" fmla="*/ 434202 h 1477757"/>
              <a:gd name="connsiteX1" fmla="*/ 884939 w 888130"/>
              <a:gd name="connsiteY1" fmla="*/ 1038 h 1477757"/>
              <a:gd name="connsiteX2" fmla="*/ 705057 w 888130"/>
              <a:gd name="connsiteY2" fmla="*/ 540684 h 1477757"/>
              <a:gd name="connsiteX3" fmla="*/ 480204 w 888130"/>
              <a:gd name="connsiteY3" fmla="*/ 825497 h 1477757"/>
              <a:gd name="connsiteX4" fmla="*/ 495195 w 888130"/>
              <a:gd name="connsiteY4" fmla="*/ 1455084 h 1477757"/>
              <a:gd name="connsiteX5" fmla="*/ 315313 w 888130"/>
              <a:gd name="connsiteY5" fmla="*/ 1290192 h 1477757"/>
              <a:gd name="connsiteX6" fmla="*/ 315313 w 888130"/>
              <a:gd name="connsiteY6" fmla="*/ 825497 h 1477757"/>
              <a:gd name="connsiteX7" fmla="*/ 519 w 888130"/>
              <a:gd name="connsiteY7" fmla="*/ 60998 h 1477757"/>
              <a:gd name="connsiteX8" fmla="*/ 250700 w 888130"/>
              <a:gd name="connsiteY8" fmla="*/ 272411 h 1477757"/>
              <a:gd name="connsiteX9" fmla="*/ 375273 w 888130"/>
              <a:gd name="connsiteY9" fmla="*/ 510703 h 1477757"/>
              <a:gd name="connsiteX10" fmla="*/ 570145 w 888130"/>
              <a:gd name="connsiteY10" fmla="*/ 420762 h 1477757"/>
              <a:gd name="connsiteX0" fmla="*/ 549599 w 888130"/>
              <a:gd name="connsiteY0" fmla="*/ 434277 h 1477832"/>
              <a:gd name="connsiteX1" fmla="*/ 884939 w 888130"/>
              <a:gd name="connsiteY1" fmla="*/ 1113 h 1477832"/>
              <a:gd name="connsiteX2" fmla="*/ 705057 w 888130"/>
              <a:gd name="connsiteY2" fmla="*/ 540759 h 1477832"/>
              <a:gd name="connsiteX3" fmla="*/ 480204 w 888130"/>
              <a:gd name="connsiteY3" fmla="*/ 825572 h 1477832"/>
              <a:gd name="connsiteX4" fmla="*/ 495195 w 888130"/>
              <a:gd name="connsiteY4" fmla="*/ 1455159 h 1477832"/>
              <a:gd name="connsiteX5" fmla="*/ 315313 w 888130"/>
              <a:gd name="connsiteY5" fmla="*/ 1290267 h 1477832"/>
              <a:gd name="connsiteX6" fmla="*/ 315313 w 888130"/>
              <a:gd name="connsiteY6" fmla="*/ 825572 h 1477832"/>
              <a:gd name="connsiteX7" fmla="*/ 519 w 888130"/>
              <a:gd name="connsiteY7" fmla="*/ 61073 h 1477832"/>
              <a:gd name="connsiteX8" fmla="*/ 250700 w 888130"/>
              <a:gd name="connsiteY8" fmla="*/ 272486 h 1477832"/>
              <a:gd name="connsiteX9" fmla="*/ 375273 w 888130"/>
              <a:gd name="connsiteY9" fmla="*/ 510778 h 1477832"/>
              <a:gd name="connsiteX10" fmla="*/ 570145 w 888130"/>
              <a:gd name="connsiteY10" fmla="*/ 420837 h 1477832"/>
              <a:gd name="connsiteX0" fmla="*/ 549599 w 888130"/>
              <a:gd name="connsiteY0" fmla="*/ 434277 h 1477832"/>
              <a:gd name="connsiteX1" fmla="*/ 884939 w 888130"/>
              <a:gd name="connsiteY1" fmla="*/ 1113 h 1477832"/>
              <a:gd name="connsiteX2" fmla="*/ 705057 w 888130"/>
              <a:gd name="connsiteY2" fmla="*/ 540759 h 1477832"/>
              <a:gd name="connsiteX3" fmla="*/ 480204 w 888130"/>
              <a:gd name="connsiteY3" fmla="*/ 825572 h 1477832"/>
              <a:gd name="connsiteX4" fmla="*/ 495195 w 888130"/>
              <a:gd name="connsiteY4" fmla="*/ 1455159 h 1477832"/>
              <a:gd name="connsiteX5" fmla="*/ 315313 w 888130"/>
              <a:gd name="connsiteY5" fmla="*/ 1290267 h 1477832"/>
              <a:gd name="connsiteX6" fmla="*/ 315313 w 888130"/>
              <a:gd name="connsiteY6" fmla="*/ 825572 h 1477832"/>
              <a:gd name="connsiteX7" fmla="*/ 519 w 888130"/>
              <a:gd name="connsiteY7" fmla="*/ 61073 h 1477832"/>
              <a:gd name="connsiteX8" fmla="*/ 250700 w 888130"/>
              <a:gd name="connsiteY8" fmla="*/ 272486 h 1477832"/>
              <a:gd name="connsiteX9" fmla="*/ 375273 w 888130"/>
              <a:gd name="connsiteY9" fmla="*/ 510778 h 1477832"/>
              <a:gd name="connsiteX10" fmla="*/ 522848 w 888130"/>
              <a:gd name="connsiteY10" fmla="*/ 460251 h 1477832"/>
              <a:gd name="connsiteX0" fmla="*/ 884939 w 888130"/>
              <a:gd name="connsiteY0" fmla="*/ 0 h 1476719"/>
              <a:gd name="connsiteX1" fmla="*/ 705057 w 888130"/>
              <a:gd name="connsiteY1" fmla="*/ 539646 h 1476719"/>
              <a:gd name="connsiteX2" fmla="*/ 480204 w 888130"/>
              <a:gd name="connsiteY2" fmla="*/ 824459 h 1476719"/>
              <a:gd name="connsiteX3" fmla="*/ 495195 w 888130"/>
              <a:gd name="connsiteY3" fmla="*/ 1454046 h 1476719"/>
              <a:gd name="connsiteX4" fmla="*/ 315313 w 888130"/>
              <a:gd name="connsiteY4" fmla="*/ 1289154 h 1476719"/>
              <a:gd name="connsiteX5" fmla="*/ 315313 w 888130"/>
              <a:gd name="connsiteY5" fmla="*/ 824459 h 1476719"/>
              <a:gd name="connsiteX6" fmla="*/ 519 w 888130"/>
              <a:gd name="connsiteY6" fmla="*/ 59960 h 1476719"/>
              <a:gd name="connsiteX7" fmla="*/ 250700 w 888130"/>
              <a:gd name="connsiteY7" fmla="*/ 271373 h 1476719"/>
              <a:gd name="connsiteX8" fmla="*/ 375273 w 888130"/>
              <a:gd name="connsiteY8" fmla="*/ 509665 h 1476719"/>
              <a:gd name="connsiteX9" fmla="*/ 522848 w 888130"/>
              <a:gd name="connsiteY9" fmla="*/ 459138 h 1476719"/>
              <a:gd name="connsiteX0" fmla="*/ 884939 w 888130"/>
              <a:gd name="connsiteY0" fmla="*/ 0 h 1476719"/>
              <a:gd name="connsiteX1" fmla="*/ 705057 w 888130"/>
              <a:gd name="connsiteY1" fmla="*/ 539646 h 1476719"/>
              <a:gd name="connsiteX2" fmla="*/ 480204 w 888130"/>
              <a:gd name="connsiteY2" fmla="*/ 824459 h 1476719"/>
              <a:gd name="connsiteX3" fmla="*/ 495195 w 888130"/>
              <a:gd name="connsiteY3" fmla="*/ 1454046 h 1476719"/>
              <a:gd name="connsiteX4" fmla="*/ 315313 w 888130"/>
              <a:gd name="connsiteY4" fmla="*/ 1289154 h 1476719"/>
              <a:gd name="connsiteX5" fmla="*/ 315313 w 888130"/>
              <a:gd name="connsiteY5" fmla="*/ 824459 h 1476719"/>
              <a:gd name="connsiteX6" fmla="*/ 519 w 888130"/>
              <a:gd name="connsiteY6" fmla="*/ 59960 h 1476719"/>
              <a:gd name="connsiteX7" fmla="*/ 250700 w 888130"/>
              <a:gd name="connsiteY7" fmla="*/ 271373 h 1476719"/>
              <a:gd name="connsiteX8" fmla="*/ 375273 w 888130"/>
              <a:gd name="connsiteY8" fmla="*/ 509665 h 1476719"/>
              <a:gd name="connsiteX9" fmla="*/ 522848 w 888130"/>
              <a:gd name="connsiteY9" fmla="*/ 459138 h 1476719"/>
              <a:gd name="connsiteX10" fmla="*/ 529827 w 888130"/>
              <a:gd name="connsiteY10" fmla="*/ 469993 h 1476719"/>
              <a:gd name="connsiteX0" fmla="*/ 884939 w 888130"/>
              <a:gd name="connsiteY0" fmla="*/ 0 h 1476719"/>
              <a:gd name="connsiteX1" fmla="*/ 705057 w 888130"/>
              <a:gd name="connsiteY1" fmla="*/ 539646 h 1476719"/>
              <a:gd name="connsiteX2" fmla="*/ 480204 w 888130"/>
              <a:gd name="connsiteY2" fmla="*/ 824459 h 1476719"/>
              <a:gd name="connsiteX3" fmla="*/ 495195 w 888130"/>
              <a:gd name="connsiteY3" fmla="*/ 1454046 h 1476719"/>
              <a:gd name="connsiteX4" fmla="*/ 315313 w 888130"/>
              <a:gd name="connsiteY4" fmla="*/ 1289154 h 1476719"/>
              <a:gd name="connsiteX5" fmla="*/ 315313 w 888130"/>
              <a:gd name="connsiteY5" fmla="*/ 824459 h 1476719"/>
              <a:gd name="connsiteX6" fmla="*/ 519 w 888130"/>
              <a:gd name="connsiteY6" fmla="*/ 59960 h 1476719"/>
              <a:gd name="connsiteX7" fmla="*/ 250700 w 888130"/>
              <a:gd name="connsiteY7" fmla="*/ 271373 h 1476719"/>
              <a:gd name="connsiteX8" fmla="*/ 375273 w 888130"/>
              <a:gd name="connsiteY8" fmla="*/ 509665 h 1476719"/>
              <a:gd name="connsiteX9" fmla="*/ 522848 w 888130"/>
              <a:gd name="connsiteY9" fmla="*/ 459138 h 1476719"/>
              <a:gd name="connsiteX10" fmla="*/ 529827 w 888130"/>
              <a:gd name="connsiteY10" fmla="*/ 469993 h 1476719"/>
              <a:gd name="connsiteX11" fmla="*/ 884939 w 888130"/>
              <a:gd name="connsiteY11" fmla="*/ 0 h 1476719"/>
              <a:gd name="connsiteX0" fmla="*/ 884939 w 888130"/>
              <a:gd name="connsiteY0" fmla="*/ 0 h 1476719"/>
              <a:gd name="connsiteX1" fmla="*/ 705057 w 888130"/>
              <a:gd name="connsiteY1" fmla="*/ 539646 h 1476719"/>
              <a:gd name="connsiteX2" fmla="*/ 480204 w 888130"/>
              <a:gd name="connsiteY2" fmla="*/ 824459 h 1476719"/>
              <a:gd name="connsiteX3" fmla="*/ 495195 w 888130"/>
              <a:gd name="connsiteY3" fmla="*/ 1454046 h 1476719"/>
              <a:gd name="connsiteX4" fmla="*/ 315313 w 888130"/>
              <a:gd name="connsiteY4" fmla="*/ 1289154 h 1476719"/>
              <a:gd name="connsiteX5" fmla="*/ 315313 w 888130"/>
              <a:gd name="connsiteY5" fmla="*/ 824459 h 1476719"/>
              <a:gd name="connsiteX6" fmla="*/ 519 w 888130"/>
              <a:gd name="connsiteY6" fmla="*/ 59960 h 1476719"/>
              <a:gd name="connsiteX7" fmla="*/ 250700 w 888130"/>
              <a:gd name="connsiteY7" fmla="*/ 271373 h 1476719"/>
              <a:gd name="connsiteX8" fmla="*/ 375273 w 888130"/>
              <a:gd name="connsiteY8" fmla="*/ 509665 h 1476719"/>
              <a:gd name="connsiteX9" fmla="*/ 522848 w 888130"/>
              <a:gd name="connsiteY9" fmla="*/ 459138 h 1476719"/>
              <a:gd name="connsiteX10" fmla="*/ 529827 w 888130"/>
              <a:gd name="connsiteY10" fmla="*/ 469993 h 1476719"/>
              <a:gd name="connsiteX11" fmla="*/ 884939 w 888130"/>
              <a:gd name="connsiteY11" fmla="*/ 0 h 1476719"/>
              <a:gd name="connsiteX0" fmla="*/ 884939 w 918163"/>
              <a:gd name="connsiteY0" fmla="*/ 27453 h 1504172"/>
              <a:gd name="connsiteX1" fmla="*/ 705057 w 918163"/>
              <a:gd name="connsiteY1" fmla="*/ 567099 h 1504172"/>
              <a:gd name="connsiteX2" fmla="*/ 480204 w 918163"/>
              <a:gd name="connsiteY2" fmla="*/ 851912 h 1504172"/>
              <a:gd name="connsiteX3" fmla="*/ 495195 w 918163"/>
              <a:gd name="connsiteY3" fmla="*/ 1481499 h 1504172"/>
              <a:gd name="connsiteX4" fmla="*/ 315313 w 918163"/>
              <a:gd name="connsiteY4" fmla="*/ 1316607 h 1504172"/>
              <a:gd name="connsiteX5" fmla="*/ 315313 w 918163"/>
              <a:gd name="connsiteY5" fmla="*/ 851912 h 1504172"/>
              <a:gd name="connsiteX6" fmla="*/ 519 w 918163"/>
              <a:gd name="connsiteY6" fmla="*/ 87413 h 1504172"/>
              <a:gd name="connsiteX7" fmla="*/ 250700 w 918163"/>
              <a:gd name="connsiteY7" fmla="*/ 298826 h 1504172"/>
              <a:gd name="connsiteX8" fmla="*/ 375273 w 918163"/>
              <a:gd name="connsiteY8" fmla="*/ 537118 h 1504172"/>
              <a:gd name="connsiteX9" fmla="*/ 522848 w 918163"/>
              <a:gd name="connsiteY9" fmla="*/ 486591 h 1504172"/>
              <a:gd name="connsiteX10" fmla="*/ 529827 w 918163"/>
              <a:gd name="connsiteY10" fmla="*/ 497446 h 1504172"/>
              <a:gd name="connsiteX11" fmla="*/ 884939 w 918163"/>
              <a:gd name="connsiteY11" fmla="*/ 27453 h 1504172"/>
              <a:gd name="connsiteX0" fmla="*/ 884939 w 936824"/>
              <a:gd name="connsiteY0" fmla="*/ 1539 h 1478258"/>
              <a:gd name="connsiteX1" fmla="*/ 705057 w 936824"/>
              <a:gd name="connsiteY1" fmla="*/ 541185 h 1478258"/>
              <a:gd name="connsiteX2" fmla="*/ 480204 w 936824"/>
              <a:gd name="connsiteY2" fmla="*/ 825998 h 1478258"/>
              <a:gd name="connsiteX3" fmla="*/ 495195 w 936824"/>
              <a:gd name="connsiteY3" fmla="*/ 1455585 h 1478258"/>
              <a:gd name="connsiteX4" fmla="*/ 315313 w 936824"/>
              <a:gd name="connsiteY4" fmla="*/ 1290693 h 1478258"/>
              <a:gd name="connsiteX5" fmla="*/ 315313 w 936824"/>
              <a:gd name="connsiteY5" fmla="*/ 825998 h 1478258"/>
              <a:gd name="connsiteX6" fmla="*/ 519 w 936824"/>
              <a:gd name="connsiteY6" fmla="*/ 61499 h 1478258"/>
              <a:gd name="connsiteX7" fmla="*/ 250700 w 936824"/>
              <a:gd name="connsiteY7" fmla="*/ 272912 h 1478258"/>
              <a:gd name="connsiteX8" fmla="*/ 375273 w 936824"/>
              <a:gd name="connsiteY8" fmla="*/ 511204 h 1478258"/>
              <a:gd name="connsiteX9" fmla="*/ 522848 w 936824"/>
              <a:gd name="connsiteY9" fmla="*/ 460677 h 1478258"/>
              <a:gd name="connsiteX10" fmla="*/ 529827 w 936824"/>
              <a:gd name="connsiteY10" fmla="*/ 471532 h 1478258"/>
              <a:gd name="connsiteX11" fmla="*/ 884939 w 936824"/>
              <a:gd name="connsiteY11" fmla="*/ 1539 h 1478258"/>
              <a:gd name="connsiteX0" fmla="*/ 884939 w 936824"/>
              <a:gd name="connsiteY0" fmla="*/ 8628 h 1485347"/>
              <a:gd name="connsiteX1" fmla="*/ 705057 w 936824"/>
              <a:gd name="connsiteY1" fmla="*/ 548274 h 1485347"/>
              <a:gd name="connsiteX2" fmla="*/ 480204 w 936824"/>
              <a:gd name="connsiteY2" fmla="*/ 833087 h 1485347"/>
              <a:gd name="connsiteX3" fmla="*/ 495195 w 936824"/>
              <a:gd name="connsiteY3" fmla="*/ 1462674 h 1485347"/>
              <a:gd name="connsiteX4" fmla="*/ 315313 w 936824"/>
              <a:gd name="connsiteY4" fmla="*/ 1297782 h 1485347"/>
              <a:gd name="connsiteX5" fmla="*/ 315313 w 936824"/>
              <a:gd name="connsiteY5" fmla="*/ 833087 h 1485347"/>
              <a:gd name="connsiteX6" fmla="*/ 519 w 936824"/>
              <a:gd name="connsiteY6" fmla="*/ 68588 h 1485347"/>
              <a:gd name="connsiteX7" fmla="*/ 250700 w 936824"/>
              <a:gd name="connsiteY7" fmla="*/ 280001 h 1485347"/>
              <a:gd name="connsiteX8" fmla="*/ 375273 w 936824"/>
              <a:gd name="connsiteY8" fmla="*/ 518293 h 1485347"/>
              <a:gd name="connsiteX9" fmla="*/ 522848 w 936824"/>
              <a:gd name="connsiteY9" fmla="*/ 467766 h 1485347"/>
              <a:gd name="connsiteX10" fmla="*/ 529827 w 936824"/>
              <a:gd name="connsiteY10" fmla="*/ 478621 h 1485347"/>
              <a:gd name="connsiteX11" fmla="*/ 545592 w 936824"/>
              <a:gd name="connsiteY11" fmla="*/ 234256 h 1485347"/>
              <a:gd name="connsiteX12" fmla="*/ 884939 w 936824"/>
              <a:gd name="connsiteY12" fmla="*/ 8628 h 1485347"/>
              <a:gd name="connsiteX0" fmla="*/ 884939 w 885606"/>
              <a:gd name="connsiteY0" fmla="*/ 9976 h 1486695"/>
              <a:gd name="connsiteX1" fmla="*/ 705057 w 885606"/>
              <a:gd name="connsiteY1" fmla="*/ 549622 h 1486695"/>
              <a:gd name="connsiteX2" fmla="*/ 480204 w 885606"/>
              <a:gd name="connsiteY2" fmla="*/ 834435 h 1486695"/>
              <a:gd name="connsiteX3" fmla="*/ 495195 w 885606"/>
              <a:gd name="connsiteY3" fmla="*/ 1464022 h 1486695"/>
              <a:gd name="connsiteX4" fmla="*/ 315313 w 885606"/>
              <a:gd name="connsiteY4" fmla="*/ 1299130 h 1486695"/>
              <a:gd name="connsiteX5" fmla="*/ 315313 w 885606"/>
              <a:gd name="connsiteY5" fmla="*/ 834435 h 1486695"/>
              <a:gd name="connsiteX6" fmla="*/ 519 w 885606"/>
              <a:gd name="connsiteY6" fmla="*/ 69936 h 1486695"/>
              <a:gd name="connsiteX7" fmla="*/ 250700 w 885606"/>
              <a:gd name="connsiteY7" fmla="*/ 281349 h 1486695"/>
              <a:gd name="connsiteX8" fmla="*/ 375273 w 885606"/>
              <a:gd name="connsiteY8" fmla="*/ 519641 h 1486695"/>
              <a:gd name="connsiteX9" fmla="*/ 522848 w 885606"/>
              <a:gd name="connsiteY9" fmla="*/ 469114 h 1486695"/>
              <a:gd name="connsiteX10" fmla="*/ 529827 w 885606"/>
              <a:gd name="connsiteY10" fmla="*/ 479969 h 1486695"/>
              <a:gd name="connsiteX11" fmla="*/ 640185 w 885606"/>
              <a:gd name="connsiteY11" fmla="*/ 219838 h 1486695"/>
              <a:gd name="connsiteX12" fmla="*/ 884939 w 885606"/>
              <a:gd name="connsiteY12" fmla="*/ 9976 h 1486695"/>
              <a:gd name="connsiteX0" fmla="*/ 884939 w 886358"/>
              <a:gd name="connsiteY0" fmla="*/ 4829 h 1481548"/>
              <a:gd name="connsiteX1" fmla="*/ 728706 w 886358"/>
              <a:gd name="connsiteY1" fmla="*/ 426233 h 1481548"/>
              <a:gd name="connsiteX2" fmla="*/ 480204 w 886358"/>
              <a:gd name="connsiteY2" fmla="*/ 829288 h 1481548"/>
              <a:gd name="connsiteX3" fmla="*/ 495195 w 886358"/>
              <a:gd name="connsiteY3" fmla="*/ 1458875 h 1481548"/>
              <a:gd name="connsiteX4" fmla="*/ 315313 w 886358"/>
              <a:gd name="connsiteY4" fmla="*/ 1293983 h 1481548"/>
              <a:gd name="connsiteX5" fmla="*/ 315313 w 886358"/>
              <a:gd name="connsiteY5" fmla="*/ 829288 h 1481548"/>
              <a:gd name="connsiteX6" fmla="*/ 519 w 886358"/>
              <a:gd name="connsiteY6" fmla="*/ 64789 h 1481548"/>
              <a:gd name="connsiteX7" fmla="*/ 250700 w 886358"/>
              <a:gd name="connsiteY7" fmla="*/ 276202 h 1481548"/>
              <a:gd name="connsiteX8" fmla="*/ 375273 w 886358"/>
              <a:gd name="connsiteY8" fmla="*/ 514494 h 1481548"/>
              <a:gd name="connsiteX9" fmla="*/ 522848 w 886358"/>
              <a:gd name="connsiteY9" fmla="*/ 463967 h 1481548"/>
              <a:gd name="connsiteX10" fmla="*/ 529827 w 886358"/>
              <a:gd name="connsiteY10" fmla="*/ 474822 h 1481548"/>
              <a:gd name="connsiteX11" fmla="*/ 640185 w 886358"/>
              <a:gd name="connsiteY11" fmla="*/ 214691 h 1481548"/>
              <a:gd name="connsiteX12" fmla="*/ 884939 w 886358"/>
              <a:gd name="connsiteY12" fmla="*/ 4829 h 1481548"/>
              <a:gd name="connsiteX0" fmla="*/ 884565 w 885984"/>
              <a:gd name="connsiteY0" fmla="*/ 4829 h 1484122"/>
              <a:gd name="connsiteX1" fmla="*/ 728332 w 885984"/>
              <a:gd name="connsiteY1" fmla="*/ 426233 h 1484122"/>
              <a:gd name="connsiteX2" fmla="*/ 479830 w 885984"/>
              <a:gd name="connsiteY2" fmla="*/ 829288 h 1484122"/>
              <a:gd name="connsiteX3" fmla="*/ 494821 w 885984"/>
              <a:gd name="connsiteY3" fmla="*/ 1458875 h 1484122"/>
              <a:gd name="connsiteX4" fmla="*/ 314939 w 885984"/>
              <a:gd name="connsiteY4" fmla="*/ 1293983 h 1484122"/>
              <a:gd name="connsiteX5" fmla="*/ 283408 w 885984"/>
              <a:gd name="connsiteY5" fmla="*/ 687399 h 1484122"/>
              <a:gd name="connsiteX6" fmla="*/ 145 w 885984"/>
              <a:gd name="connsiteY6" fmla="*/ 64789 h 1484122"/>
              <a:gd name="connsiteX7" fmla="*/ 250326 w 885984"/>
              <a:gd name="connsiteY7" fmla="*/ 276202 h 1484122"/>
              <a:gd name="connsiteX8" fmla="*/ 374899 w 885984"/>
              <a:gd name="connsiteY8" fmla="*/ 514494 h 1484122"/>
              <a:gd name="connsiteX9" fmla="*/ 522474 w 885984"/>
              <a:gd name="connsiteY9" fmla="*/ 463967 h 1484122"/>
              <a:gd name="connsiteX10" fmla="*/ 529453 w 885984"/>
              <a:gd name="connsiteY10" fmla="*/ 474822 h 1484122"/>
              <a:gd name="connsiteX11" fmla="*/ 639811 w 885984"/>
              <a:gd name="connsiteY11" fmla="*/ 214691 h 1484122"/>
              <a:gd name="connsiteX12" fmla="*/ 884565 w 885984"/>
              <a:gd name="connsiteY12" fmla="*/ 4829 h 1484122"/>
              <a:gd name="connsiteX0" fmla="*/ 884565 w 885984"/>
              <a:gd name="connsiteY0" fmla="*/ 4829 h 1547050"/>
              <a:gd name="connsiteX1" fmla="*/ 728332 w 885984"/>
              <a:gd name="connsiteY1" fmla="*/ 426233 h 1547050"/>
              <a:gd name="connsiteX2" fmla="*/ 479830 w 885984"/>
              <a:gd name="connsiteY2" fmla="*/ 829288 h 1547050"/>
              <a:gd name="connsiteX3" fmla="*/ 494821 w 885984"/>
              <a:gd name="connsiteY3" fmla="*/ 1458875 h 1547050"/>
              <a:gd name="connsiteX4" fmla="*/ 354353 w 885984"/>
              <a:gd name="connsiteY4" fmla="*/ 1459521 h 1547050"/>
              <a:gd name="connsiteX5" fmla="*/ 283408 w 885984"/>
              <a:gd name="connsiteY5" fmla="*/ 687399 h 1547050"/>
              <a:gd name="connsiteX6" fmla="*/ 145 w 885984"/>
              <a:gd name="connsiteY6" fmla="*/ 64789 h 1547050"/>
              <a:gd name="connsiteX7" fmla="*/ 250326 w 885984"/>
              <a:gd name="connsiteY7" fmla="*/ 276202 h 1547050"/>
              <a:gd name="connsiteX8" fmla="*/ 374899 w 885984"/>
              <a:gd name="connsiteY8" fmla="*/ 514494 h 1547050"/>
              <a:gd name="connsiteX9" fmla="*/ 522474 w 885984"/>
              <a:gd name="connsiteY9" fmla="*/ 463967 h 1547050"/>
              <a:gd name="connsiteX10" fmla="*/ 529453 w 885984"/>
              <a:gd name="connsiteY10" fmla="*/ 474822 h 1547050"/>
              <a:gd name="connsiteX11" fmla="*/ 639811 w 885984"/>
              <a:gd name="connsiteY11" fmla="*/ 214691 h 1547050"/>
              <a:gd name="connsiteX12" fmla="*/ 884565 w 885984"/>
              <a:gd name="connsiteY12" fmla="*/ 4829 h 1547050"/>
              <a:gd name="connsiteX0" fmla="*/ 884565 w 885984"/>
              <a:gd name="connsiteY0" fmla="*/ 4829 h 1547050"/>
              <a:gd name="connsiteX1" fmla="*/ 728332 w 885984"/>
              <a:gd name="connsiteY1" fmla="*/ 426233 h 1547050"/>
              <a:gd name="connsiteX2" fmla="*/ 479830 w 885984"/>
              <a:gd name="connsiteY2" fmla="*/ 829288 h 1547050"/>
              <a:gd name="connsiteX3" fmla="*/ 494821 w 885984"/>
              <a:gd name="connsiteY3" fmla="*/ 1458875 h 1547050"/>
              <a:gd name="connsiteX4" fmla="*/ 354353 w 885984"/>
              <a:gd name="connsiteY4" fmla="*/ 1459521 h 1547050"/>
              <a:gd name="connsiteX5" fmla="*/ 283408 w 885984"/>
              <a:gd name="connsiteY5" fmla="*/ 687399 h 1547050"/>
              <a:gd name="connsiteX6" fmla="*/ 145 w 885984"/>
              <a:gd name="connsiteY6" fmla="*/ 64789 h 1547050"/>
              <a:gd name="connsiteX7" fmla="*/ 250326 w 885984"/>
              <a:gd name="connsiteY7" fmla="*/ 276202 h 1547050"/>
              <a:gd name="connsiteX8" fmla="*/ 374899 w 885984"/>
              <a:gd name="connsiteY8" fmla="*/ 514494 h 1547050"/>
              <a:gd name="connsiteX9" fmla="*/ 522474 w 885984"/>
              <a:gd name="connsiteY9" fmla="*/ 463967 h 1547050"/>
              <a:gd name="connsiteX10" fmla="*/ 505804 w 885984"/>
              <a:gd name="connsiteY10" fmla="*/ 545767 h 1547050"/>
              <a:gd name="connsiteX11" fmla="*/ 639811 w 885984"/>
              <a:gd name="connsiteY11" fmla="*/ 214691 h 1547050"/>
              <a:gd name="connsiteX12" fmla="*/ 884565 w 885984"/>
              <a:gd name="connsiteY12" fmla="*/ 4829 h 1547050"/>
              <a:gd name="connsiteX0" fmla="*/ 884565 w 885984"/>
              <a:gd name="connsiteY0" fmla="*/ 4829 h 1547050"/>
              <a:gd name="connsiteX1" fmla="*/ 728332 w 885984"/>
              <a:gd name="connsiteY1" fmla="*/ 426233 h 1547050"/>
              <a:gd name="connsiteX2" fmla="*/ 479830 w 885984"/>
              <a:gd name="connsiteY2" fmla="*/ 829288 h 1547050"/>
              <a:gd name="connsiteX3" fmla="*/ 494821 w 885984"/>
              <a:gd name="connsiteY3" fmla="*/ 1458875 h 1547050"/>
              <a:gd name="connsiteX4" fmla="*/ 354353 w 885984"/>
              <a:gd name="connsiteY4" fmla="*/ 1459521 h 1547050"/>
              <a:gd name="connsiteX5" fmla="*/ 283408 w 885984"/>
              <a:gd name="connsiteY5" fmla="*/ 687399 h 1547050"/>
              <a:gd name="connsiteX6" fmla="*/ 145 w 885984"/>
              <a:gd name="connsiteY6" fmla="*/ 64789 h 1547050"/>
              <a:gd name="connsiteX7" fmla="*/ 250326 w 885984"/>
              <a:gd name="connsiteY7" fmla="*/ 276202 h 1547050"/>
              <a:gd name="connsiteX8" fmla="*/ 374899 w 885984"/>
              <a:gd name="connsiteY8" fmla="*/ 514494 h 1547050"/>
              <a:gd name="connsiteX9" fmla="*/ 522474 w 885984"/>
              <a:gd name="connsiteY9" fmla="*/ 463967 h 1547050"/>
              <a:gd name="connsiteX10" fmla="*/ 521570 w 885984"/>
              <a:gd name="connsiteY10" fmla="*/ 490588 h 1547050"/>
              <a:gd name="connsiteX11" fmla="*/ 639811 w 885984"/>
              <a:gd name="connsiteY11" fmla="*/ 214691 h 1547050"/>
              <a:gd name="connsiteX12" fmla="*/ 884565 w 885984"/>
              <a:gd name="connsiteY12" fmla="*/ 4829 h 1547050"/>
              <a:gd name="connsiteX0" fmla="*/ 884565 w 885856"/>
              <a:gd name="connsiteY0" fmla="*/ 4829 h 1549397"/>
              <a:gd name="connsiteX1" fmla="*/ 728332 w 885856"/>
              <a:gd name="connsiteY1" fmla="*/ 426233 h 1549397"/>
              <a:gd name="connsiteX2" fmla="*/ 550775 w 885856"/>
              <a:gd name="connsiteY2" fmla="*/ 789874 h 1549397"/>
              <a:gd name="connsiteX3" fmla="*/ 494821 w 885856"/>
              <a:gd name="connsiteY3" fmla="*/ 1458875 h 1549397"/>
              <a:gd name="connsiteX4" fmla="*/ 354353 w 885856"/>
              <a:gd name="connsiteY4" fmla="*/ 1459521 h 1549397"/>
              <a:gd name="connsiteX5" fmla="*/ 283408 w 885856"/>
              <a:gd name="connsiteY5" fmla="*/ 687399 h 1549397"/>
              <a:gd name="connsiteX6" fmla="*/ 145 w 885856"/>
              <a:gd name="connsiteY6" fmla="*/ 64789 h 1549397"/>
              <a:gd name="connsiteX7" fmla="*/ 250326 w 885856"/>
              <a:gd name="connsiteY7" fmla="*/ 276202 h 1549397"/>
              <a:gd name="connsiteX8" fmla="*/ 374899 w 885856"/>
              <a:gd name="connsiteY8" fmla="*/ 514494 h 1549397"/>
              <a:gd name="connsiteX9" fmla="*/ 522474 w 885856"/>
              <a:gd name="connsiteY9" fmla="*/ 463967 h 1549397"/>
              <a:gd name="connsiteX10" fmla="*/ 521570 w 885856"/>
              <a:gd name="connsiteY10" fmla="*/ 490588 h 1549397"/>
              <a:gd name="connsiteX11" fmla="*/ 639811 w 885856"/>
              <a:gd name="connsiteY11" fmla="*/ 214691 h 1549397"/>
              <a:gd name="connsiteX12" fmla="*/ 884565 w 885856"/>
              <a:gd name="connsiteY12" fmla="*/ 4829 h 1549397"/>
              <a:gd name="connsiteX0" fmla="*/ 885510 w 886801"/>
              <a:gd name="connsiteY0" fmla="*/ 4829 h 1543855"/>
              <a:gd name="connsiteX1" fmla="*/ 729277 w 886801"/>
              <a:gd name="connsiteY1" fmla="*/ 426233 h 1543855"/>
              <a:gd name="connsiteX2" fmla="*/ 551720 w 886801"/>
              <a:gd name="connsiteY2" fmla="*/ 789874 h 1543855"/>
              <a:gd name="connsiteX3" fmla="*/ 495766 w 886801"/>
              <a:gd name="connsiteY3" fmla="*/ 1458875 h 1543855"/>
              <a:gd name="connsiteX4" fmla="*/ 355298 w 886801"/>
              <a:gd name="connsiteY4" fmla="*/ 1459521 h 1543855"/>
              <a:gd name="connsiteX5" fmla="*/ 347415 w 886801"/>
              <a:gd name="connsiteY5" fmla="*/ 774110 h 1543855"/>
              <a:gd name="connsiteX6" fmla="*/ 1090 w 886801"/>
              <a:gd name="connsiteY6" fmla="*/ 64789 h 1543855"/>
              <a:gd name="connsiteX7" fmla="*/ 251271 w 886801"/>
              <a:gd name="connsiteY7" fmla="*/ 276202 h 1543855"/>
              <a:gd name="connsiteX8" fmla="*/ 375844 w 886801"/>
              <a:gd name="connsiteY8" fmla="*/ 514494 h 1543855"/>
              <a:gd name="connsiteX9" fmla="*/ 523419 w 886801"/>
              <a:gd name="connsiteY9" fmla="*/ 463967 h 1543855"/>
              <a:gd name="connsiteX10" fmla="*/ 522515 w 886801"/>
              <a:gd name="connsiteY10" fmla="*/ 490588 h 1543855"/>
              <a:gd name="connsiteX11" fmla="*/ 640756 w 886801"/>
              <a:gd name="connsiteY11" fmla="*/ 214691 h 1543855"/>
              <a:gd name="connsiteX12" fmla="*/ 885510 w 886801"/>
              <a:gd name="connsiteY12" fmla="*/ 4829 h 1543855"/>
              <a:gd name="connsiteX0" fmla="*/ 885510 w 886801"/>
              <a:gd name="connsiteY0" fmla="*/ 4829 h 1548329"/>
              <a:gd name="connsiteX1" fmla="*/ 729277 w 886801"/>
              <a:gd name="connsiteY1" fmla="*/ 426233 h 1548329"/>
              <a:gd name="connsiteX2" fmla="*/ 551720 w 886801"/>
              <a:gd name="connsiteY2" fmla="*/ 789874 h 1548329"/>
              <a:gd name="connsiteX3" fmla="*/ 543063 w 886801"/>
              <a:gd name="connsiteY3" fmla="*/ 1466758 h 1548329"/>
              <a:gd name="connsiteX4" fmla="*/ 355298 w 886801"/>
              <a:gd name="connsiteY4" fmla="*/ 1459521 h 1548329"/>
              <a:gd name="connsiteX5" fmla="*/ 347415 w 886801"/>
              <a:gd name="connsiteY5" fmla="*/ 774110 h 1548329"/>
              <a:gd name="connsiteX6" fmla="*/ 1090 w 886801"/>
              <a:gd name="connsiteY6" fmla="*/ 64789 h 1548329"/>
              <a:gd name="connsiteX7" fmla="*/ 251271 w 886801"/>
              <a:gd name="connsiteY7" fmla="*/ 276202 h 1548329"/>
              <a:gd name="connsiteX8" fmla="*/ 375844 w 886801"/>
              <a:gd name="connsiteY8" fmla="*/ 514494 h 1548329"/>
              <a:gd name="connsiteX9" fmla="*/ 523419 w 886801"/>
              <a:gd name="connsiteY9" fmla="*/ 463967 h 1548329"/>
              <a:gd name="connsiteX10" fmla="*/ 522515 w 886801"/>
              <a:gd name="connsiteY10" fmla="*/ 490588 h 1548329"/>
              <a:gd name="connsiteX11" fmla="*/ 640756 w 886801"/>
              <a:gd name="connsiteY11" fmla="*/ 214691 h 1548329"/>
              <a:gd name="connsiteX12" fmla="*/ 885510 w 886801"/>
              <a:gd name="connsiteY12" fmla="*/ 4829 h 1548329"/>
              <a:gd name="connsiteX0" fmla="*/ 885510 w 886801"/>
              <a:gd name="connsiteY0" fmla="*/ 4829 h 1540065"/>
              <a:gd name="connsiteX1" fmla="*/ 729277 w 886801"/>
              <a:gd name="connsiteY1" fmla="*/ 426233 h 1540065"/>
              <a:gd name="connsiteX2" fmla="*/ 551720 w 886801"/>
              <a:gd name="connsiteY2" fmla="*/ 789874 h 1540065"/>
              <a:gd name="connsiteX3" fmla="*/ 543063 w 886801"/>
              <a:gd name="connsiteY3" fmla="*/ 1466758 h 1540065"/>
              <a:gd name="connsiteX4" fmla="*/ 410477 w 886801"/>
              <a:gd name="connsiteY4" fmla="*/ 1443756 h 1540065"/>
              <a:gd name="connsiteX5" fmla="*/ 347415 w 886801"/>
              <a:gd name="connsiteY5" fmla="*/ 774110 h 1540065"/>
              <a:gd name="connsiteX6" fmla="*/ 1090 w 886801"/>
              <a:gd name="connsiteY6" fmla="*/ 64789 h 1540065"/>
              <a:gd name="connsiteX7" fmla="*/ 251271 w 886801"/>
              <a:gd name="connsiteY7" fmla="*/ 276202 h 1540065"/>
              <a:gd name="connsiteX8" fmla="*/ 375844 w 886801"/>
              <a:gd name="connsiteY8" fmla="*/ 514494 h 1540065"/>
              <a:gd name="connsiteX9" fmla="*/ 523419 w 886801"/>
              <a:gd name="connsiteY9" fmla="*/ 463967 h 1540065"/>
              <a:gd name="connsiteX10" fmla="*/ 522515 w 886801"/>
              <a:gd name="connsiteY10" fmla="*/ 490588 h 1540065"/>
              <a:gd name="connsiteX11" fmla="*/ 640756 w 886801"/>
              <a:gd name="connsiteY11" fmla="*/ 214691 h 1540065"/>
              <a:gd name="connsiteX12" fmla="*/ 885510 w 886801"/>
              <a:gd name="connsiteY12" fmla="*/ 4829 h 154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801" h="1540065">
                <a:moveTo>
                  <a:pt x="885510" y="4829"/>
                </a:moveTo>
                <a:cubicBezTo>
                  <a:pt x="900263" y="40086"/>
                  <a:pt x="784909" y="295392"/>
                  <a:pt x="729277" y="426233"/>
                </a:cubicBezTo>
                <a:cubicBezTo>
                  <a:pt x="673645" y="557074"/>
                  <a:pt x="582756" y="616453"/>
                  <a:pt x="551720" y="789874"/>
                </a:cubicBezTo>
                <a:cubicBezTo>
                  <a:pt x="520684" y="963295"/>
                  <a:pt x="566604" y="1357778"/>
                  <a:pt x="543063" y="1466758"/>
                </a:cubicBezTo>
                <a:cubicBezTo>
                  <a:pt x="519522" y="1575738"/>
                  <a:pt x="443085" y="1559197"/>
                  <a:pt x="410477" y="1443756"/>
                </a:cubicBezTo>
                <a:cubicBezTo>
                  <a:pt x="377869" y="1328315"/>
                  <a:pt x="415646" y="1003938"/>
                  <a:pt x="347415" y="774110"/>
                </a:cubicBezTo>
                <a:cubicBezTo>
                  <a:pt x="279184" y="544282"/>
                  <a:pt x="17114" y="147774"/>
                  <a:pt x="1090" y="64789"/>
                </a:cubicBezTo>
                <a:cubicBezTo>
                  <a:pt x="-14934" y="-18196"/>
                  <a:pt x="149398" y="67245"/>
                  <a:pt x="251271" y="276202"/>
                </a:cubicBezTo>
                <a:cubicBezTo>
                  <a:pt x="353144" y="485159"/>
                  <a:pt x="338369" y="484514"/>
                  <a:pt x="375844" y="514494"/>
                </a:cubicBezTo>
                <a:cubicBezTo>
                  <a:pt x="413319" y="544474"/>
                  <a:pt x="444720" y="523927"/>
                  <a:pt x="523419" y="463967"/>
                </a:cubicBezTo>
                <a:cubicBezTo>
                  <a:pt x="549178" y="457355"/>
                  <a:pt x="521061" y="488327"/>
                  <a:pt x="522515" y="490588"/>
                </a:cubicBezTo>
                <a:cubicBezTo>
                  <a:pt x="526306" y="451670"/>
                  <a:pt x="581571" y="293023"/>
                  <a:pt x="640756" y="214691"/>
                </a:cubicBezTo>
                <a:cubicBezTo>
                  <a:pt x="699941" y="136359"/>
                  <a:pt x="870757" y="-30428"/>
                  <a:pt x="885510" y="4829"/>
                </a:cubicBezTo>
                <a:close/>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8" name="Freeform 167">
            <a:extLst>
              <a:ext uri="{FF2B5EF4-FFF2-40B4-BE49-F238E27FC236}">
                <a16:creationId xmlns:a16="http://schemas.microsoft.com/office/drawing/2014/main" id="{2F850AA4-BE3F-0042-B6FA-3CF3467C652D}"/>
              </a:ext>
            </a:extLst>
          </p:cNvPr>
          <p:cNvSpPr/>
          <p:nvPr/>
        </p:nvSpPr>
        <p:spPr>
          <a:xfrm rot="5915845">
            <a:off x="7199546" y="5488580"/>
            <a:ext cx="396935" cy="521094"/>
          </a:xfrm>
          <a:custGeom>
            <a:avLst/>
            <a:gdLst>
              <a:gd name="connsiteX0" fmla="*/ 509735 w 889167"/>
              <a:gd name="connsiteY0" fmla="*/ 465165 h 1477189"/>
              <a:gd name="connsiteX1" fmla="*/ 884489 w 889167"/>
              <a:gd name="connsiteY1" fmla="*/ 470 h 1477189"/>
              <a:gd name="connsiteX2" fmla="*/ 704607 w 889167"/>
              <a:gd name="connsiteY2" fmla="*/ 540116 h 1477189"/>
              <a:gd name="connsiteX3" fmla="*/ 479754 w 889167"/>
              <a:gd name="connsiteY3" fmla="*/ 824929 h 1477189"/>
              <a:gd name="connsiteX4" fmla="*/ 494745 w 889167"/>
              <a:gd name="connsiteY4" fmla="*/ 1454516 h 1477189"/>
              <a:gd name="connsiteX5" fmla="*/ 314863 w 889167"/>
              <a:gd name="connsiteY5" fmla="*/ 1289624 h 1477189"/>
              <a:gd name="connsiteX6" fmla="*/ 314863 w 889167"/>
              <a:gd name="connsiteY6" fmla="*/ 824929 h 1477189"/>
              <a:gd name="connsiteX7" fmla="*/ 69 w 889167"/>
              <a:gd name="connsiteY7" fmla="*/ 60430 h 1477189"/>
              <a:gd name="connsiteX8" fmla="*/ 344843 w 889167"/>
              <a:gd name="connsiteY8" fmla="*/ 240312 h 1477189"/>
              <a:gd name="connsiteX9" fmla="*/ 374823 w 889167"/>
              <a:gd name="connsiteY9" fmla="*/ 510135 h 1477189"/>
              <a:gd name="connsiteX10" fmla="*/ 569695 w 889167"/>
              <a:gd name="connsiteY10" fmla="*/ 420194 h 1477189"/>
              <a:gd name="connsiteX0" fmla="*/ 510087 w 889519"/>
              <a:gd name="connsiteY0" fmla="*/ 465165 h 1477189"/>
              <a:gd name="connsiteX1" fmla="*/ 884841 w 889519"/>
              <a:gd name="connsiteY1" fmla="*/ 470 h 1477189"/>
              <a:gd name="connsiteX2" fmla="*/ 704959 w 889519"/>
              <a:gd name="connsiteY2" fmla="*/ 540116 h 1477189"/>
              <a:gd name="connsiteX3" fmla="*/ 480106 w 889519"/>
              <a:gd name="connsiteY3" fmla="*/ 824929 h 1477189"/>
              <a:gd name="connsiteX4" fmla="*/ 495097 w 889519"/>
              <a:gd name="connsiteY4" fmla="*/ 1454516 h 1477189"/>
              <a:gd name="connsiteX5" fmla="*/ 315215 w 889519"/>
              <a:gd name="connsiteY5" fmla="*/ 1289624 h 1477189"/>
              <a:gd name="connsiteX6" fmla="*/ 315215 w 889519"/>
              <a:gd name="connsiteY6" fmla="*/ 824929 h 1477189"/>
              <a:gd name="connsiteX7" fmla="*/ 421 w 889519"/>
              <a:gd name="connsiteY7" fmla="*/ 60430 h 1477189"/>
              <a:gd name="connsiteX8" fmla="*/ 250602 w 889519"/>
              <a:gd name="connsiteY8" fmla="*/ 271843 h 1477189"/>
              <a:gd name="connsiteX9" fmla="*/ 375175 w 889519"/>
              <a:gd name="connsiteY9" fmla="*/ 510135 h 1477189"/>
              <a:gd name="connsiteX10" fmla="*/ 570047 w 889519"/>
              <a:gd name="connsiteY10" fmla="*/ 420194 h 1477189"/>
              <a:gd name="connsiteX0" fmla="*/ 510185 w 889617"/>
              <a:gd name="connsiteY0" fmla="*/ 465165 h 1477189"/>
              <a:gd name="connsiteX1" fmla="*/ 884939 w 889617"/>
              <a:gd name="connsiteY1" fmla="*/ 470 h 1477189"/>
              <a:gd name="connsiteX2" fmla="*/ 705057 w 889617"/>
              <a:gd name="connsiteY2" fmla="*/ 540116 h 1477189"/>
              <a:gd name="connsiteX3" fmla="*/ 480204 w 889617"/>
              <a:gd name="connsiteY3" fmla="*/ 824929 h 1477189"/>
              <a:gd name="connsiteX4" fmla="*/ 495195 w 889617"/>
              <a:gd name="connsiteY4" fmla="*/ 1454516 h 1477189"/>
              <a:gd name="connsiteX5" fmla="*/ 315313 w 889617"/>
              <a:gd name="connsiteY5" fmla="*/ 1289624 h 1477189"/>
              <a:gd name="connsiteX6" fmla="*/ 315313 w 889617"/>
              <a:gd name="connsiteY6" fmla="*/ 824929 h 1477189"/>
              <a:gd name="connsiteX7" fmla="*/ 519 w 889617"/>
              <a:gd name="connsiteY7" fmla="*/ 60430 h 1477189"/>
              <a:gd name="connsiteX8" fmla="*/ 250700 w 889617"/>
              <a:gd name="connsiteY8" fmla="*/ 271843 h 1477189"/>
              <a:gd name="connsiteX9" fmla="*/ 375273 w 889617"/>
              <a:gd name="connsiteY9" fmla="*/ 510135 h 1477189"/>
              <a:gd name="connsiteX10" fmla="*/ 570145 w 889617"/>
              <a:gd name="connsiteY10" fmla="*/ 420194 h 1477189"/>
              <a:gd name="connsiteX0" fmla="*/ 486537 w 890593"/>
              <a:gd name="connsiteY0" fmla="*/ 519903 h 1476748"/>
              <a:gd name="connsiteX1" fmla="*/ 884939 w 890593"/>
              <a:gd name="connsiteY1" fmla="*/ 29 h 1476748"/>
              <a:gd name="connsiteX2" fmla="*/ 705057 w 890593"/>
              <a:gd name="connsiteY2" fmla="*/ 539675 h 1476748"/>
              <a:gd name="connsiteX3" fmla="*/ 480204 w 890593"/>
              <a:gd name="connsiteY3" fmla="*/ 824488 h 1476748"/>
              <a:gd name="connsiteX4" fmla="*/ 495195 w 890593"/>
              <a:gd name="connsiteY4" fmla="*/ 1454075 h 1476748"/>
              <a:gd name="connsiteX5" fmla="*/ 315313 w 890593"/>
              <a:gd name="connsiteY5" fmla="*/ 1289183 h 1476748"/>
              <a:gd name="connsiteX6" fmla="*/ 315313 w 890593"/>
              <a:gd name="connsiteY6" fmla="*/ 824488 h 1476748"/>
              <a:gd name="connsiteX7" fmla="*/ 519 w 890593"/>
              <a:gd name="connsiteY7" fmla="*/ 59989 h 1476748"/>
              <a:gd name="connsiteX8" fmla="*/ 250700 w 890593"/>
              <a:gd name="connsiteY8" fmla="*/ 271402 h 1476748"/>
              <a:gd name="connsiteX9" fmla="*/ 375273 w 890593"/>
              <a:gd name="connsiteY9" fmla="*/ 509694 h 1476748"/>
              <a:gd name="connsiteX10" fmla="*/ 570145 w 890593"/>
              <a:gd name="connsiteY10" fmla="*/ 419753 h 1476748"/>
              <a:gd name="connsiteX0" fmla="*/ 549599 w 888130"/>
              <a:gd name="connsiteY0" fmla="*/ 434202 h 1477757"/>
              <a:gd name="connsiteX1" fmla="*/ 884939 w 888130"/>
              <a:gd name="connsiteY1" fmla="*/ 1038 h 1477757"/>
              <a:gd name="connsiteX2" fmla="*/ 705057 w 888130"/>
              <a:gd name="connsiteY2" fmla="*/ 540684 h 1477757"/>
              <a:gd name="connsiteX3" fmla="*/ 480204 w 888130"/>
              <a:gd name="connsiteY3" fmla="*/ 825497 h 1477757"/>
              <a:gd name="connsiteX4" fmla="*/ 495195 w 888130"/>
              <a:gd name="connsiteY4" fmla="*/ 1455084 h 1477757"/>
              <a:gd name="connsiteX5" fmla="*/ 315313 w 888130"/>
              <a:gd name="connsiteY5" fmla="*/ 1290192 h 1477757"/>
              <a:gd name="connsiteX6" fmla="*/ 315313 w 888130"/>
              <a:gd name="connsiteY6" fmla="*/ 825497 h 1477757"/>
              <a:gd name="connsiteX7" fmla="*/ 519 w 888130"/>
              <a:gd name="connsiteY7" fmla="*/ 60998 h 1477757"/>
              <a:gd name="connsiteX8" fmla="*/ 250700 w 888130"/>
              <a:gd name="connsiteY8" fmla="*/ 272411 h 1477757"/>
              <a:gd name="connsiteX9" fmla="*/ 375273 w 888130"/>
              <a:gd name="connsiteY9" fmla="*/ 510703 h 1477757"/>
              <a:gd name="connsiteX10" fmla="*/ 570145 w 888130"/>
              <a:gd name="connsiteY10" fmla="*/ 420762 h 1477757"/>
              <a:gd name="connsiteX0" fmla="*/ 549599 w 888130"/>
              <a:gd name="connsiteY0" fmla="*/ 434277 h 1477832"/>
              <a:gd name="connsiteX1" fmla="*/ 884939 w 888130"/>
              <a:gd name="connsiteY1" fmla="*/ 1113 h 1477832"/>
              <a:gd name="connsiteX2" fmla="*/ 705057 w 888130"/>
              <a:gd name="connsiteY2" fmla="*/ 540759 h 1477832"/>
              <a:gd name="connsiteX3" fmla="*/ 480204 w 888130"/>
              <a:gd name="connsiteY3" fmla="*/ 825572 h 1477832"/>
              <a:gd name="connsiteX4" fmla="*/ 495195 w 888130"/>
              <a:gd name="connsiteY4" fmla="*/ 1455159 h 1477832"/>
              <a:gd name="connsiteX5" fmla="*/ 315313 w 888130"/>
              <a:gd name="connsiteY5" fmla="*/ 1290267 h 1477832"/>
              <a:gd name="connsiteX6" fmla="*/ 315313 w 888130"/>
              <a:gd name="connsiteY6" fmla="*/ 825572 h 1477832"/>
              <a:gd name="connsiteX7" fmla="*/ 519 w 888130"/>
              <a:gd name="connsiteY7" fmla="*/ 61073 h 1477832"/>
              <a:gd name="connsiteX8" fmla="*/ 250700 w 888130"/>
              <a:gd name="connsiteY8" fmla="*/ 272486 h 1477832"/>
              <a:gd name="connsiteX9" fmla="*/ 375273 w 888130"/>
              <a:gd name="connsiteY9" fmla="*/ 510778 h 1477832"/>
              <a:gd name="connsiteX10" fmla="*/ 570145 w 888130"/>
              <a:gd name="connsiteY10" fmla="*/ 420837 h 1477832"/>
              <a:gd name="connsiteX0" fmla="*/ 549599 w 888130"/>
              <a:gd name="connsiteY0" fmla="*/ 434277 h 1477832"/>
              <a:gd name="connsiteX1" fmla="*/ 884939 w 888130"/>
              <a:gd name="connsiteY1" fmla="*/ 1113 h 1477832"/>
              <a:gd name="connsiteX2" fmla="*/ 705057 w 888130"/>
              <a:gd name="connsiteY2" fmla="*/ 540759 h 1477832"/>
              <a:gd name="connsiteX3" fmla="*/ 480204 w 888130"/>
              <a:gd name="connsiteY3" fmla="*/ 825572 h 1477832"/>
              <a:gd name="connsiteX4" fmla="*/ 495195 w 888130"/>
              <a:gd name="connsiteY4" fmla="*/ 1455159 h 1477832"/>
              <a:gd name="connsiteX5" fmla="*/ 315313 w 888130"/>
              <a:gd name="connsiteY5" fmla="*/ 1290267 h 1477832"/>
              <a:gd name="connsiteX6" fmla="*/ 315313 w 888130"/>
              <a:gd name="connsiteY6" fmla="*/ 825572 h 1477832"/>
              <a:gd name="connsiteX7" fmla="*/ 519 w 888130"/>
              <a:gd name="connsiteY7" fmla="*/ 61073 h 1477832"/>
              <a:gd name="connsiteX8" fmla="*/ 250700 w 888130"/>
              <a:gd name="connsiteY8" fmla="*/ 272486 h 1477832"/>
              <a:gd name="connsiteX9" fmla="*/ 375273 w 888130"/>
              <a:gd name="connsiteY9" fmla="*/ 510778 h 1477832"/>
              <a:gd name="connsiteX10" fmla="*/ 522848 w 888130"/>
              <a:gd name="connsiteY10" fmla="*/ 460251 h 1477832"/>
              <a:gd name="connsiteX0" fmla="*/ 884939 w 888130"/>
              <a:gd name="connsiteY0" fmla="*/ 0 h 1476719"/>
              <a:gd name="connsiteX1" fmla="*/ 705057 w 888130"/>
              <a:gd name="connsiteY1" fmla="*/ 539646 h 1476719"/>
              <a:gd name="connsiteX2" fmla="*/ 480204 w 888130"/>
              <a:gd name="connsiteY2" fmla="*/ 824459 h 1476719"/>
              <a:gd name="connsiteX3" fmla="*/ 495195 w 888130"/>
              <a:gd name="connsiteY3" fmla="*/ 1454046 h 1476719"/>
              <a:gd name="connsiteX4" fmla="*/ 315313 w 888130"/>
              <a:gd name="connsiteY4" fmla="*/ 1289154 h 1476719"/>
              <a:gd name="connsiteX5" fmla="*/ 315313 w 888130"/>
              <a:gd name="connsiteY5" fmla="*/ 824459 h 1476719"/>
              <a:gd name="connsiteX6" fmla="*/ 519 w 888130"/>
              <a:gd name="connsiteY6" fmla="*/ 59960 h 1476719"/>
              <a:gd name="connsiteX7" fmla="*/ 250700 w 888130"/>
              <a:gd name="connsiteY7" fmla="*/ 271373 h 1476719"/>
              <a:gd name="connsiteX8" fmla="*/ 375273 w 888130"/>
              <a:gd name="connsiteY8" fmla="*/ 509665 h 1476719"/>
              <a:gd name="connsiteX9" fmla="*/ 522848 w 888130"/>
              <a:gd name="connsiteY9" fmla="*/ 459138 h 1476719"/>
              <a:gd name="connsiteX0" fmla="*/ 884939 w 888130"/>
              <a:gd name="connsiteY0" fmla="*/ 0 h 1476719"/>
              <a:gd name="connsiteX1" fmla="*/ 705057 w 888130"/>
              <a:gd name="connsiteY1" fmla="*/ 539646 h 1476719"/>
              <a:gd name="connsiteX2" fmla="*/ 480204 w 888130"/>
              <a:gd name="connsiteY2" fmla="*/ 824459 h 1476719"/>
              <a:gd name="connsiteX3" fmla="*/ 495195 w 888130"/>
              <a:gd name="connsiteY3" fmla="*/ 1454046 h 1476719"/>
              <a:gd name="connsiteX4" fmla="*/ 315313 w 888130"/>
              <a:gd name="connsiteY4" fmla="*/ 1289154 h 1476719"/>
              <a:gd name="connsiteX5" fmla="*/ 315313 w 888130"/>
              <a:gd name="connsiteY5" fmla="*/ 824459 h 1476719"/>
              <a:gd name="connsiteX6" fmla="*/ 519 w 888130"/>
              <a:gd name="connsiteY6" fmla="*/ 59960 h 1476719"/>
              <a:gd name="connsiteX7" fmla="*/ 250700 w 888130"/>
              <a:gd name="connsiteY7" fmla="*/ 271373 h 1476719"/>
              <a:gd name="connsiteX8" fmla="*/ 375273 w 888130"/>
              <a:gd name="connsiteY8" fmla="*/ 509665 h 1476719"/>
              <a:gd name="connsiteX9" fmla="*/ 522848 w 888130"/>
              <a:gd name="connsiteY9" fmla="*/ 459138 h 1476719"/>
              <a:gd name="connsiteX10" fmla="*/ 529827 w 888130"/>
              <a:gd name="connsiteY10" fmla="*/ 469993 h 1476719"/>
              <a:gd name="connsiteX0" fmla="*/ 884939 w 888130"/>
              <a:gd name="connsiteY0" fmla="*/ 0 h 1476719"/>
              <a:gd name="connsiteX1" fmla="*/ 705057 w 888130"/>
              <a:gd name="connsiteY1" fmla="*/ 539646 h 1476719"/>
              <a:gd name="connsiteX2" fmla="*/ 480204 w 888130"/>
              <a:gd name="connsiteY2" fmla="*/ 824459 h 1476719"/>
              <a:gd name="connsiteX3" fmla="*/ 495195 w 888130"/>
              <a:gd name="connsiteY3" fmla="*/ 1454046 h 1476719"/>
              <a:gd name="connsiteX4" fmla="*/ 315313 w 888130"/>
              <a:gd name="connsiteY4" fmla="*/ 1289154 h 1476719"/>
              <a:gd name="connsiteX5" fmla="*/ 315313 w 888130"/>
              <a:gd name="connsiteY5" fmla="*/ 824459 h 1476719"/>
              <a:gd name="connsiteX6" fmla="*/ 519 w 888130"/>
              <a:gd name="connsiteY6" fmla="*/ 59960 h 1476719"/>
              <a:gd name="connsiteX7" fmla="*/ 250700 w 888130"/>
              <a:gd name="connsiteY7" fmla="*/ 271373 h 1476719"/>
              <a:gd name="connsiteX8" fmla="*/ 375273 w 888130"/>
              <a:gd name="connsiteY8" fmla="*/ 509665 h 1476719"/>
              <a:gd name="connsiteX9" fmla="*/ 522848 w 888130"/>
              <a:gd name="connsiteY9" fmla="*/ 459138 h 1476719"/>
              <a:gd name="connsiteX10" fmla="*/ 529827 w 888130"/>
              <a:gd name="connsiteY10" fmla="*/ 469993 h 1476719"/>
              <a:gd name="connsiteX11" fmla="*/ 884939 w 888130"/>
              <a:gd name="connsiteY11" fmla="*/ 0 h 1476719"/>
              <a:gd name="connsiteX0" fmla="*/ 884939 w 888130"/>
              <a:gd name="connsiteY0" fmla="*/ 0 h 1476719"/>
              <a:gd name="connsiteX1" fmla="*/ 705057 w 888130"/>
              <a:gd name="connsiteY1" fmla="*/ 539646 h 1476719"/>
              <a:gd name="connsiteX2" fmla="*/ 480204 w 888130"/>
              <a:gd name="connsiteY2" fmla="*/ 824459 h 1476719"/>
              <a:gd name="connsiteX3" fmla="*/ 495195 w 888130"/>
              <a:gd name="connsiteY3" fmla="*/ 1454046 h 1476719"/>
              <a:gd name="connsiteX4" fmla="*/ 315313 w 888130"/>
              <a:gd name="connsiteY4" fmla="*/ 1289154 h 1476719"/>
              <a:gd name="connsiteX5" fmla="*/ 315313 w 888130"/>
              <a:gd name="connsiteY5" fmla="*/ 824459 h 1476719"/>
              <a:gd name="connsiteX6" fmla="*/ 519 w 888130"/>
              <a:gd name="connsiteY6" fmla="*/ 59960 h 1476719"/>
              <a:gd name="connsiteX7" fmla="*/ 250700 w 888130"/>
              <a:gd name="connsiteY7" fmla="*/ 271373 h 1476719"/>
              <a:gd name="connsiteX8" fmla="*/ 375273 w 888130"/>
              <a:gd name="connsiteY8" fmla="*/ 509665 h 1476719"/>
              <a:gd name="connsiteX9" fmla="*/ 522848 w 888130"/>
              <a:gd name="connsiteY9" fmla="*/ 459138 h 1476719"/>
              <a:gd name="connsiteX10" fmla="*/ 529827 w 888130"/>
              <a:gd name="connsiteY10" fmla="*/ 469993 h 1476719"/>
              <a:gd name="connsiteX11" fmla="*/ 884939 w 888130"/>
              <a:gd name="connsiteY11" fmla="*/ 0 h 1476719"/>
              <a:gd name="connsiteX0" fmla="*/ 884939 w 918163"/>
              <a:gd name="connsiteY0" fmla="*/ 27453 h 1504172"/>
              <a:gd name="connsiteX1" fmla="*/ 705057 w 918163"/>
              <a:gd name="connsiteY1" fmla="*/ 567099 h 1504172"/>
              <a:gd name="connsiteX2" fmla="*/ 480204 w 918163"/>
              <a:gd name="connsiteY2" fmla="*/ 851912 h 1504172"/>
              <a:gd name="connsiteX3" fmla="*/ 495195 w 918163"/>
              <a:gd name="connsiteY3" fmla="*/ 1481499 h 1504172"/>
              <a:gd name="connsiteX4" fmla="*/ 315313 w 918163"/>
              <a:gd name="connsiteY4" fmla="*/ 1316607 h 1504172"/>
              <a:gd name="connsiteX5" fmla="*/ 315313 w 918163"/>
              <a:gd name="connsiteY5" fmla="*/ 851912 h 1504172"/>
              <a:gd name="connsiteX6" fmla="*/ 519 w 918163"/>
              <a:gd name="connsiteY6" fmla="*/ 87413 h 1504172"/>
              <a:gd name="connsiteX7" fmla="*/ 250700 w 918163"/>
              <a:gd name="connsiteY7" fmla="*/ 298826 h 1504172"/>
              <a:gd name="connsiteX8" fmla="*/ 375273 w 918163"/>
              <a:gd name="connsiteY8" fmla="*/ 537118 h 1504172"/>
              <a:gd name="connsiteX9" fmla="*/ 522848 w 918163"/>
              <a:gd name="connsiteY9" fmla="*/ 486591 h 1504172"/>
              <a:gd name="connsiteX10" fmla="*/ 529827 w 918163"/>
              <a:gd name="connsiteY10" fmla="*/ 497446 h 1504172"/>
              <a:gd name="connsiteX11" fmla="*/ 884939 w 918163"/>
              <a:gd name="connsiteY11" fmla="*/ 27453 h 1504172"/>
              <a:gd name="connsiteX0" fmla="*/ 884939 w 936824"/>
              <a:gd name="connsiteY0" fmla="*/ 1539 h 1478258"/>
              <a:gd name="connsiteX1" fmla="*/ 705057 w 936824"/>
              <a:gd name="connsiteY1" fmla="*/ 541185 h 1478258"/>
              <a:gd name="connsiteX2" fmla="*/ 480204 w 936824"/>
              <a:gd name="connsiteY2" fmla="*/ 825998 h 1478258"/>
              <a:gd name="connsiteX3" fmla="*/ 495195 w 936824"/>
              <a:gd name="connsiteY3" fmla="*/ 1455585 h 1478258"/>
              <a:gd name="connsiteX4" fmla="*/ 315313 w 936824"/>
              <a:gd name="connsiteY4" fmla="*/ 1290693 h 1478258"/>
              <a:gd name="connsiteX5" fmla="*/ 315313 w 936824"/>
              <a:gd name="connsiteY5" fmla="*/ 825998 h 1478258"/>
              <a:gd name="connsiteX6" fmla="*/ 519 w 936824"/>
              <a:gd name="connsiteY6" fmla="*/ 61499 h 1478258"/>
              <a:gd name="connsiteX7" fmla="*/ 250700 w 936824"/>
              <a:gd name="connsiteY7" fmla="*/ 272912 h 1478258"/>
              <a:gd name="connsiteX8" fmla="*/ 375273 w 936824"/>
              <a:gd name="connsiteY8" fmla="*/ 511204 h 1478258"/>
              <a:gd name="connsiteX9" fmla="*/ 522848 w 936824"/>
              <a:gd name="connsiteY9" fmla="*/ 460677 h 1478258"/>
              <a:gd name="connsiteX10" fmla="*/ 529827 w 936824"/>
              <a:gd name="connsiteY10" fmla="*/ 471532 h 1478258"/>
              <a:gd name="connsiteX11" fmla="*/ 884939 w 936824"/>
              <a:gd name="connsiteY11" fmla="*/ 1539 h 1478258"/>
              <a:gd name="connsiteX0" fmla="*/ 884939 w 936824"/>
              <a:gd name="connsiteY0" fmla="*/ 8628 h 1485347"/>
              <a:gd name="connsiteX1" fmla="*/ 705057 w 936824"/>
              <a:gd name="connsiteY1" fmla="*/ 548274 h 1485347"/>
              <a:gd name="connsiteX2" fmla="*/ 480204 w 936824"/>
              <a:gd name="connsiteY2" fmla="*/ 833087 h 1485347"/>
              <a:gd name="connsiteX3" fmla="*/ 495195 w 936824"/>
              <a:gd name="connsiteY3" fmla="*/ 1462674 h 1485347"/>
              <a:gd name="connsiteX4" fmla="*/ 315313 w 936824"/>
              <a:gd name="connsiteY4" fmla="*/ 1297782 h 1485347"/>
              <a:gd name="connsiteX5" fmla="*/ 315313 w 936824"/>
              <a:gd name="connsiteY5" fmla="*/ 833087 h 1485347"/>
              <a:gd name="connsiteX6" fmla="*/ 519 w 936824"/>
              <a:gd name="connsiteY6" fmla="*/ 68588 h 1485347"/>
              <a:gd name="connsiteX7" fmla="*/ 250700 w 936824"/>
              <a:gd name="connsiteY7" fmla="*/ 280001 h 1485347"/>
              <a:gd name="connsiteX8" fmla="*/ 375273 w 936824"/>
              <a:gd name="connsiteY8" fmla="*/ 518293 h 1485347"/>
              <a:gd name="connsiteX9" fmla="*/ 522848 w 936824"/>
              <a:gd name="connsiteY9" fmla="*/ 467766 h 1485347"/>
              <a:gd name="connsiteX10" fmla="*/ 529827 w 936824"/>
              <a:gd name="connsiteY10" fmla="*/ 478621 h 1485347"/>
              <a:gd name="connsiteX11" fmla="*/ 545592 w 936824"/>
              <a:gd name="connsiteY11" fmla="*/ 234256 h 1485347"/>
              <a:gd name="connsiteX12" fmla="*/ 884939 w 936824"/>
              <a:gd name="connsiteY12" fmla="*/ 8628 h 1485347"/>
              <a:gd name="connsiteX0" fmla="*/ 884939 w 885606"/>
              <a:gd name="connsiteY0" fmla="*/ 9976 h 1486695"/>
              <a:gd name="connsiteX1" fmla="*/ 705057 w 885606"/>
              <a:gd name="connsiteY1" fmla="*/ 549622 h 1486695"/>
              <a:gd name="connsiteX2" fmla="*/ 480204 w 885606"/>
              <a:gd name="connsiteY2" fmla="*/ 834435 h 1486695"/>
              <a:gd name="connsiteX3" fmla="*/ 495195 w 885606"/>
              <a:gd name="connsiteY3" fmla="*/ 1464022 h 1486695"/>
              <a:gd name="connsiteX4" fmla="*/ 315313 w 885606"/>
              <a:gd name="connsiteY4" fmla="*/ 1299130 h 1486695"/>
              <a:gd name="connsiteX5" fmla="*/ 315313 w 885606"/>
              <a:gd name="connsiteY5" fmla="*/ 834435 h 1486695"/>
              <a:gd name="connsiteX6" fmla="*/ 519 w 885606"/>
              <a:gd name="connsiteY6" fmla="*/ 69936 h 1486695"/>
              <a:gd name="connsiteX7" fmla="*/ 250700 w 885606"/>
              <a:gd name="connsiteY7" fmla="*/ 281349 h 1486695"/>
              <a:gd name="connsiteX8" fmla="*/ 375273 w 885606"/>
              <a:gd name="connsiteY8" fmla="*/ 519641 h 1486695"/>
              <a:gd name="connsiteX9" fmla="*/ 522848 w 885606"/>
              <a:gd name="connsiteY9" fmla="*/ 469114 h 1486695"/>
              <a:gd name="connsiteX10" fmla="*/ 529827 w 885606"/>
              <a:gd name="connsiteY10" fmla="*/ 479969 h 1486695"/>
              <a:gd name="connsiteX11" fmla="*/ 640185 w 885606"/>
              <a:gd name="connsiteY11" fmla="*/ 219838 h 1486695"/>
              <a:gd name="connsiteX12" fmla="*/ 884939 w 885606"/>
              <a:gd name="connsiteY12" fmla="*/ 9976 h 1486695"/>
              <a:gd name="connsiteX0" fmla="*/ 884939 w 886358"/>
              <a:gd name="connsiteY0" fmla="*/ 4829 h 1481548"/>
              <a:gd name="connsiteX1" fmla="*/ 728706 w 886358"/>
              <a:gd name="connsiteY1" fmla="*/ 426233 h 1481548"/>
              <a:gd name="connsiteX2" fmla="*/ 480204 w 886358"/>
              <a:gd name="connsiteY2" fmla="*/ 829288 h 1481548"/>
              <a:gd name="connsiteX3" fmla="*/ 495195 w 886358"/>
              <a:gd name="connsiteY3" fmla="*/ 1458875 h 1481548"/>
              <a:gd name="connsiteX4" fmla="*/ 315313 w 886358"/>
              <a:gd name="connsiteY4" fmla="*/ 1293983 h 1481548"/>
              <a:gd name="connsiteX5" fmla="*/ 315313 w 886358"/>
              <a:gd name="connsiteY5" fmla="*/ 829288 h 1481548"/>
              <a:gd name="connsiteX6" fmla="*/ 519 w 886358"/>
              <a:gd name="connsiteY6" fmla="*/ 64789 h 1481548"/>
              <a:gd name="connsiteX7" fmla="*/ 250700 w 886358"/>
              <a:gd name="connsiteY7" fmla="*/ 276202 h 1481548"/>
              <a:gd name="connsiteX8" fmla="*/ 375273 w 886358"/>
              <a:gd name="connsiteY8" fmla="*/ 514494 h 1481548"/>
              <a:gd name="connsiteX9" fmla="*/ 522848 w 886358"/>
              <a:gd name="connsiteY9" fmla="*/ 463967 h 1481548"/>
              <a:gd name="connsiteX10" fmla="*/ 529827 w 886358"/>
              <a:gd name="connsiteY10" fmla="*/ 474822 h 1481548"/>
              <a:gd name="connsiteX11" fmla="*/ 640185 w 886358"/>
              <a:gd name="connsiteY11" fmla="*/ 214691 h 1481548"/>
              <a:gd name="connsiteX12" fmla="*/ 884939 w 886358"/>
              <a:gd name="connsiteY12" fmla="*/ 4829 h 1481548"/>
              <a:gd name="connsiteX0" fmla="*/ 884565 w 885984"/>
              <a:gd name="connsiteY0" fmla="*/ 4829 h 1484122"/>
              <a:gd name="connsiteX1" fmla="*/ 728332 w 885984"/>
              <a:gd name="connsiteY1" fmla="*/ 426233 h 1484122"/>
              <a:gd name="connsiteX2" fmla="*/ 479830 w 885984"/>
              <a:gd name="connsiteY2" fmla="*/ 829288 h 1484122"/>
              <a:gd name="connsiteX3" fmla="*/ 494821 w 885984"/>
              <a:gd name="connsiteY3" fmla="*/ 1458875 h 1484122"/>
              <a:gd name="connsiteX4" fmla="*/ 314939 w 885984"/>
              <a:gd name="connsiteY4" fmla="*/ 1293983 h 1484122"/>
              <a:gd name="connsiteX5" fmla="*/ 283408 w 885984"/>
              <a:gd name="connsiteY5" fmla="*/ 687399 h 1484122"/>
              <a:gd name="connsiteX6" fmla="*/ 145 w 885984"/>
              <a:gd name="connsiteY6" fmla="*/ 64789 h 1484122"/>
              <a:gd name="connsiteX7" fmla="*/ 250326 w 885984"/>
              <a:gd name="connsiteY7" fmla="*/ 276202 h 1484122"/>
              <a:gd name="connsiteX8" fmla="*/ 374899 w 885984"/>
              <a:gd name="connsiteY8" fmla="*/ 514494 h 1484122"/>
              <a:gd name="connsiteX9" fmla="*/ 522474 w 885984"/>
              <a:gd name="connsiteY9" fmla="*/ 463967 h 1484122"/>
              <a:gd name="connsiteX10" fmla="*/ 529453 w 885984"/>
              <a:gd name="connsiteY10" fmla="*/ 474822 h 1484122"/>
              <a:gd name="connsiteX11" fmla="*/ 639811 w 885984"/>
              <a:gd name="connsiteY11" fmla="*/ 214691 h 1484122"/>
              <a:gd name="connsiteX12" fmla="*/ 884565 w 885984"/>
              <a:gd name="connsiteY12" fmla="*/ 4829 h 1484122"/>
              <a:gd name="connsiteX0" fmla="*/ 884565 w 885984"/>
              <a:gd name="connsiteY0" fmla="*/ 4829 h 1547050"/>
              <a:gd name="connsiteX1" fmla="*/ 728332 w 885984"/>
              <a:gd name="connsiteY1" fmla="*/ 426233 h 1547050"/>
              <a:gd name="connsiteX2" fmla="*/ 479830 w 885984"/>
              <a:gd name="connsiteY2" fmla="*/ 829288 h 1547050"/>
              <a:gd name="connsiteX3" fmla="*/ 494821 w 885984"/>
              <a:gd name="connsiteY3" fmla="*/ 1458875 h 1547050"/>
              <a:gd name="connsiteX4" fmla="*/ 354353 w 885984"/>
              <a:gd name="connsiteY4" fmla="*/ 1459521 h 1547050"/>
              <a:gd name="connsiteX5" fmla="*/ 283408 w 885984"/>
              <a:gd name="connsiteY5" fmla="*/ 687399 h 1547050"/>
              <a:gd name="connsiteX6" fmla="*/ 145 w 885984"/>
              <a:gd name="connsiteY6" fmla="*/ 64789 h 1547050"/>
              <a:gd name="connsiteX7" fmla="*/ 250326 w 885984"/>
              <a:gd name="connsiteY7" fmla="*/ 276202 h 1547050"/>
              <a:gd name="connsiteX8" fmla="*/ 374899 w 885984"/>
              <a:gd name="connsiteY8" fmla="*/ 514494 h 1547050"/>
              <a:gd name="connsiteX9" fmla="*/ 522474 w 885984"/>
              <a:gd name="connsiteY9" fmla="*/ 463967 h 1547050"/>
              <a:gd name="connsiteX10" fmla="*/ 529453 w 885984"/>
              <a:gd name="connsiteY10" fmla="*/ 474822 h 1547050"/>
              <a:gd name="connsiteX11" fmla="*/ 639811 w 885984"/>
              <a:gd name="connsiteY11" fmla="*/ 214691 h 1547050"/>
              <a:gd name="connsiteX12" fmla="*/ 884565 w 885984"/>
              <a:gd name="connsiteY12" fmla="*/ 4829 h 1547050"/>
              <a:gd name="connsiteX0" fmla="*/ 884565 w 885984"/>
              <a:gd name="connsiteY0" fmla="*/ 4829 h 1547050"/>
              <a:gd name="connsiteX1" fmla="*/ 728332 w 885984"/>
              <a:gd name="connsiteY1" fmla="*/ 426233 h 1547050"/>
              <a:gd name="connsiteX2" fmla="*/ 479830 w 885984"/>
              <a:gd name="connsiteY2" fmla="*/ 829288 h 1547050"/>
              <a:gd name="connsiteX3" fmla="*/ 494821 w 885984"/>
              <a:gd name="connsiteY3" fmla="*/ 1458875 h 1547050"/>
              <a:gd name="connsiteX4" fmla="*/ 354353 w 885984"/>
              <a:gd name="connsiteY4" fmla="*/ 1459521 h 1547050"/>
              <a:gd name="connsiteX5" fmla="*/ 283408 w 885984"/>
              <a:gd name="connsiteY5" fmla="*/ 687399 h 1547050"/>
              <a:gd name="connsiteX6" fmla="*/ 145 w 885984"/>
              <a:gd name="connsiteY6" fmla="*/ 64789 h 1547050"/>
              <a:gd name="connsiteX7" fmla="*/ 250326 w 885984"/>
              <a:gd name="connsiteY7" fmla="*/ 276202 h 1547050"/>
              <a:gd name="connsiteX8" fmla="*/ 374899 w 885984"/>
              <a:gd name="connsiteY8" fmla="*/ 514494 h 1547050"/>
              <a:gd name="connsiteX9" fmla="*/ 522474 w 885984"/>
              <a:gd name="connsiteY9" fmla="*/ 463967 h 1547050"/>
              <a:gd name="connsiteX10" fmla="*/ 505804 w 885984"/>
              <a:gd name="connsiteY10" fmla="*/ 545767 h 1547050"/>
              <a:gd name="connsiteX11" fmla="*/ 639811 w 885984"/>
              <a:gd name="connsiteY11" fmla="*/ 214691 h 1547050"/>
              <a:gd name="connsiteX12" fmla="*/ 884565 w 885984"/>
              <a:gd name="connsiteY12" fmla="*/ 4829 h 1547050"/>
              <a:gd name="connsiteX0" fmla="*/ 884565 w 885984"/>
              <a:gd name="connsiteY0" fmla="*/ 4829 h 1547050"/>
              <a:gd name="connsiteX1" fmla="*/ 728332 w 885984"/>
              <a:gd name="connsiteY1" fmla="*/ 426233 h 1547050"/>
              <a:gd name="connsiteX2" fmla="*/ 479830 w 885984"/>
              <a:gd name="connsiteY2" fmla="*/ 829288 h 1547050"/>
              <a:gd name="connsiteX3" fmla="*/ 494821 w 885984"/>
              <a:gd name="connsiteY3" fmla="*/ 1458875 h 1547050"/>
              <a:gd name="connsiteX4" fmla="*/ 354353 w 885984"/>
              <a:gd name="connsiteY4" fmla="*/ 1459521 h 1547050"/>
              <a:gd name="connsiteX5" fmla="*/ 283408 w 885984"/>
              <a:gd name="connsiteY5" fmla="*/ 687399 h 1547050"/>
              <a:gd name="connsiteX6" fmla="*/ 145 w 885984"/>
              <a:gd name="connsiteY6" fmla="*/ 64789 h 1547050"/>
              <a:gd name="connsiteX7" fmla="*/ 250326 w 885984"/>
              <a:gd name="connsiteY7" fmla="*/ 276202 h 1547050"/>
              <a:gd name="connsiteX8" fmla="*/ 374899 w 885984"/>
              <a:gd name="connsiteY8" fmla="*/ 514494 h 1547050"/>
              <a:gd name="connsiteX9" fmla="*/ 522474 w 885984"/>
              <a:gd name="connsiteY9" fmla="*/ 463967 h 1547050"/>
              <a:gd name="connsiteX10" fmla="*/ 521570 w 885984"/>
              <a:gd name="connsiteY10" fmla="*/ 490588 h 1547050"/>
              <a:gd name="connsiteX11" fmla="*/ 639811 w 885984"/>
              <a:gd name="connsiteY11" fmla="*/ 214691 h 1547050"/>
              <a:gd name="connsiteX12" fmla="*/ 884565 w 885984"/>
              <a:gd name="connsiteY12" fmla="*/ 4829 h 1547050"/>
              <a:gd name="connsiteX0" fmla="*/ 884565 w 885856"/>
              <a:gd name="connsiteY0" fmla="*/ 4829 h 1549397"/>
              <a:gd name="connsiteX1" fmla="*/ 728332 w 885856"/>
              <a:gd name="connsiteY1" fmla="*/ 426233 h 1549397"/>
              <a:gd name="connsiteX2" fmla="*/ 550775 w 885856"/>
              <a:gd name="connsiteY2" fmla="*/ 789874 h 1549397"/>
              <a:gd name="connsiteX3" fmla="*/ 494821 w 885856"/>
              <a:gd name="connsiteY3" fmla="*/ 1458875 h 1549397"/>
              <a:gd name="connsiteX4" fmla="*/ 354353 w 885856"/>
              <a:gd name="connsiteY4" fmla="*/ 1459521 h 1549397"/>
              <a:gd name="connsiteX5" fmla="*/ 283408 w 885856"/>
              <a:gd name="connsiteY5" fmla="*/ 687399 h 1549397"/>
              <a:gd name="connsiteX6" fmla="*/ 145 w 885856"/>
              <a:gd name="connsiteY6" fmla="*/ 64789 h 1549397"/>
              <a:gd name="connsiteX7" fmla="*/ 250326 w 885856"/>
              <a:gd name="connsiteY7" fmla="*/ 276202 h 1549397"/>
              <a:gd name="connsiteX8" fmla="*/ 374899 w 885856"/>
              <a:gd name="connsiteY8" fmla="*/ 514494 h 1549397"/>
              <a:gd name="connsiteX9" fmla="*/ 522474 w 885856"/>
              <a:gd name="connsiteY9" fmla="*/ 463967 h 1549397"/>
              <a:gd name="connsiteX10" fmla="*/ 521570 w 885856"/>
              <a:gd name="connsiteY10" fmla="*/ 490588 h 1549397"/>
              <a:gd name="connsiteX11" fmla="*/ 639811 w 885856"/>
              <a:gd name="connsiteY11" fmla="*/ 214691 h 1549397"/>
              <a:gd name="connsiteX12" fmla="*/ 884565 w 885856"/>
              <a:gd name="connsiteY12" fmla="*/ 4829 h 1549397"/>
              <a:gd name="connsiteX0" fmla="*/ 885510 w 886801"/>
              <a:gd name="connsiteY0" fmla="*/ 4829 h 1543855"/>
              <a:gd name="connsiteX1" fmla="*/ 729277 w 886801"/>
              <a:gd name="connsiteY1" fmla="*/ 426233 h 1543855"/>
              <a:gd name="connsiteX2" fmla="*/ 551720 w 886801"/>
              <a:gd name="connsiteY2" fmla="*/ 789874 h 1543855"/>
              <a:gd name="connsiteX3" fmla="*/ 495766 w 886801"/>
              <a:gd name="connsiteY3" fmla="*/ 1458875 h 1543855"/>
              <a:gd name="connsiteX4" fmla="*/ 355298 w 886801"/>
              <a:gd name="connsiteY4" fmla="*/ 1459521 h 1543855"/>
              <a:gd name="connsiteX5" fmla="*/ 347415 w 886801"/>
              <a:gd name="connsiteY5" fmla="*/ 774110 h 1543855"/>
              <a:gd name="connsiteX6" fmla="*/ 1090 w 886801"/>
              <a:gd name="connsiteY6" fmla="*/ 64789 h 1543855"/>
              <a:gd name="connsiteX7" fmla="*/ 251271 w 886801"/>
              <a:gd name="connsiteY7" fmla="*/ 276202 h 1543855"/>
              <a:gd name="connsiteX8" fmla="*/ 375844 w 886801"/>
              <a:gd name="connsiteY8" fmla="*/ 514494 h 1543855"/>
              <a:gd name="connsiteX9" fmla="*/ 523419 w 886801"/>
              <a:gd name="connsiteY9" fmla="*/ 463967 h 1543855"/>
              <a:gd name="connsiteX10" fmla="*/ 522515 w 886801"/>
              <a:gd name="connsiteY10" fmla="*/ 490588 h 1543855"/>
              <a:gd name="connsiteX11" fmla="*/ 640756 w 886801"/>
              <a:gd name="connsiteY11" fmla="*/ 214691 h 1543855"/>
              <a:gd name="connsiteX12" fmla="*/ 885510 w 886801"/>
              <a:gd name="connsiteY12" fmla="*/ 4829 h 1543855"/>
              <a:gd name="connsiteX0" fmla="*/ 885510 w 886801"/>
              <a:gd name="connsiteY0" fmla="*/ 4829 h 1548329"/>
              <a:gd name="connsiteX1" fmla="*/ 729277 w 886801"/>
              <a:gd name="connsiteY1" fmla="*/ 426233 h 1548329"/>
              <a:gd name="connsiteX2" fmla="*/ 551720 w 886801"/>
              <a:gd name="connsiteY2" fmla="*/ 789874 h 1548329"/>
              <a:gd name="connsiteX3" fmla="*/ 543063 w 886801"/>
              <a:gd name="connsiteY3" fmla="*/ 1466758 h 1548329"/>
              <a:gd name="connsiteX4" fmla="*/ 355298 w 886801"/>
              <a:gd name="connsiteY4" fmla="*/ 1459521 h 1548329"/>
              <a:gd name="connsiteX5" fmla="*/ 347415 w 886801"/>
              <a:gd name="connsiteY5" fmla="*/ 774110 h 1548329"/>
              <a:gd name="connsiteX6" fmla="*/ 1090 w 886801"/>
              <a:gd name="connsiteY6" fmla="*/ 64789 h 1548329"/>
              <a:gd name="connsiteX7" fmla="*/ 251271 w 886801"/>
              <a:gd name="connsiteY7" fmla="*/ 276202 h 1548329"/>
              <a:gd name="connsiteX8" fmla="*/ 375844 w 886801"/>
              <a:gd name="connsiteY8" fmla="*/ 514494 h 1548329"/>
              <a:gd name="connsiteX9" fmla="*/ 523419 w 886801"/>
              <a:gd name="connsiteY9" fmla="*/ 463967 h 1548329"/>
              <a:gd name="connsiteX10" fmla="*/ 522515 w 886801"/>
              <a:gd name="connsiteY10" fmla="*/ 490588 h 1548329"/>
              <a:gd name="connsiteX11" fmla="*/ 640756 w 886801"/>
              <a:gd name="connsiteY11" fmla="*/ 214691 h 1548329"/>
              <a:gd name="connsiteX12" fmla="*/ 885510 w 886801"/>
              <a:gd name="connsiteY12" fmla="*/ 4829 h 1548329"/>
              <a:gd name="connsiteX0" fmla="*/ 885510 w 886801"/>
              <a:gd name="connsiteY0" fmla="*/ 4829 h 1540065"/>
              <a:gd name="connsiteX1" fmla="*/ 729277 w 886801"/>
              <a:gd name="connsiteY1" fmla="*/ 426233 h 1540065"/>
              <a:gd name="connsiteX2" fmla="*/ 551720 w 886801"/>
              <a:gd name="connsiteY2" fmla="*/ 789874 h 1540065"/>
              <a:gd name="connsiteX3" fmla="*/ 543063 w 886801"/>
              <a:gd name="connsiteY3" fmla="*/ 1466758 h 1540065"/>
              <a:gd name="connsiteX4" fmla="*/ 410477 w 886801"/>
              <a:gd name="connsiteY4" fmla="*/ 1443756 h 1540065"/>
              <a:gd name="connsiteX5" fmla="*/ 347415 w 886801"/>
              <a:gd name="connsiteY5" fmla="*/ 774110 h 1540065"/>
              <a:gd name="connsiteX6" fmla="*/ 1090 w 886801"/>
              <a:gd name="connsiteY6" fmla="*/ 64789 h 1540065"/>
              <a:gd name="connsiteX7" fmla="*/ 251271 w 886801"/>
              <a:gd name="connsiteY7" fmla="*/ 276202 h 1540065"/>
              <a:gd name="connsiteX8" fmla="*/ 375844 w 886801"/>
              <a:gd name="connsiteY8" fmla="*/ 514494 h 1540065"/>
              <a:gd name="connsiteX9" fmla="*/ 523419 w 886801"/>
              <a:gd name="connsiteY9" fmla="*/ 463967 h 1540065"/>
              <a:gd name="connsiteX10" fmla="*/ 522515 w 886801"/>
              <a:gd name="connsiteY10" fmla="*/ 490588 h 1540065"/>
              <a:gd name="connsiteX11" fmla="*/ 640756 w 886801"/>
              <a:gd name="connsiteY11" fmla="*/ 214691 h 1540065"/>
              <a:gd name="connsiteX12" fmla="*/ 885510 w 886801"/>
              <a:gd name="connsiteY12" fmla="*/ 4829 h 154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801" h="1540065">
                <a:moveTo>
                  <a:pt x="885510" y="4829"/>
                </a:moveTo>
                <a:cubicBezTo>
                  <a:pt x="900263" y="40086"/>
                  <a:pt x="784909" y="295392"/>
                  <a:pt x="729277" y="426233"/>
                </a:cubicBezTo>
                <a:cubicBezTo>
                  <a:pt x="673645" y="557074"/>
                  <a:pt x="582756" y="616453"/>
                  <a:pt x="551720" y="789874"/>
                </a:cubicBezTo>
                <a:cubicBezTo>
                  <a:pt x="520684" y="963295"/>
                  <a:pt x="566604" y="1357778"/>
                  <a:pt x="543063" y="1466758"/>
                </a:cubicBezTo>
                <a:cubicBezTo>
                  <a:pt x="519522" y="1575738"/>
                  <a:pt x="443085" y="1559197"/>
                  <a:pt x="410477" y="1443756"/>
                </a:cubicBezTo>
                <a:cubicBezTo>
                  <a:pt x="377869" y="1328315"/>
                  <a:pt x="415646" y="1003938"/>
                  <a:pt x="347415" y="774110"/>
                </a:cubicBezTo>
                <a:cubicBezTo>
                  <a:pt x="279184" y="544282"/>
                  <a:pt x="17114" y="147774"/>
                  <a:pt x="1090" y="64789"/>
                </a:cubicBezTo>
                <a:cubicBezTo>
                  <a:pt x="-14934" y="-18196"/>
                  <a:pt x="149398" y="67245"/>
                  <a:pt x="251271" y="276202"/>
                </a:cubicBezTo>
                <a:cubicBezTo>
                  <a:pt x="353144" y="485159"/>
                  <a:pt x="338369" y="484514"/>
                  <a:pt x="375844" y="514494"/>
                </a:cubicBezTo>
                <a:cubicBezTo>
                  <a:pt x="413319" y="544474"/>
                  <a:pt x="444720" y="523927"/>
                  <a:pt x="523419" y="463967"/>
                </a:cubicBezTo>
                <a:cubicBezTo>
                  <a:pt x="549178" y="457355"/>
                  <a:pt x="521061" y="488327"/>
                  <a:pt x="522515" y="490588"/>
                </a:cubicBezTo>
                <a:cubicBezTo>
                  <a:pt x="526306" y="451670"/>
                  <a:pt x="581571" y="293023"/>
                  <a:pt x="640756" y="214691"/>
                </a:cubicBezTo>
                <a:cubicBezTo>
                  <a:pt x="699941" y="136359"/>
                  <a:pt x="870757" y="-30428"/>
                  <a:pt x="885510" y="4829"/>
                </a:cubicBezTo>
                <a:close/>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question 1">
            <a:hlinkClick r:id="rId5" action="ppaction://hlinksldjump"/>
            <a:extLst>
              <a:ext uri="{FF2B5EF4-FFF2-40B4-BE49-F238E27FC236}">
                <a16:creationId xmlns:a16="http://schemas.microsoft.com/office/drawing/2014/main" id="{8ECEEB9D-C5F3-F94C-907B-8F5A272D2FA5}"/>
              </a:ext>
            </a:extLst>
          </p:cNvPr>
          <p:cNvSpPr txBox="1"/>
          <p:nvPr/>
        </p:nvSpPr>
        <p:spPr>
          <a:xfrm>
            <a:off x="212688" y="529725"/>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t>Immune system basics</a:t>
            </a:r>
            <a:endParaRPr lang="en-US" dirty="0">
              <a:solidFill>
                <a:sysClr val="windowText" lastClr="000000"/>
              </a:solidFill>
            </a:endParaRPr>
          </a:p>
        </p:txBody>
      </p:sp>
      <p:sp>
        <p:nvSpPr>
          <p:cNvPr id="76" name="Cases">
            <a:hlinkClick r:id="rId6" action="ppaction://hlinksldjump"/>
            <a:extLst>
              <a:ext uri="{FF2B5EF4-FFF2-40B4-BE49-F238E27FC236}">
                <a16:creationId xmlns:a16="http://schemas.microsoft.com/office/drawing/2014/main" id="{39A6A6A9-FA35-EC48-B6E7-599657965D3C}"/>
              </a:ext>
            </a:extLst>
          </p:cNvPr>
          <p:cNvSpPr txBox="1"/>
          <p:nvPr/>
        </p:nvSpPr>
        <p:spPr>
          <a:xfrm>
            <a:off x="212688" y="5263878"/>
            <a:ext cx="2423423" cy="408623"/>
          </a:xfrm>
          <a:prstGeom prst="roundRect">
            <a:avLst/>
          </a:prstGeom>
          <a:solidFill>
            <a:schemeClr val="accent5"/>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sp>
        <p:nvSpPr>
          <p:cNvPr id="77" name="sub-q 1-1">
            <a:hlinkClick r:id="rId7" action="ppaction://hlinksldjump"/>
            <a:extLst>
              <a:ext uri="{FF2B5EF4-FFF2-40B4-BE49-F238E27FC236}">
                <a16:creationId xmlns:a16="http://schemas.microsoft.com/office/drawing/2014/main" id="{BFAD5327-311F-C64F-92EC-04BDBCB7B330}"/>
              </a:ext>
            </a:extLst>
          </p:cNvPr>
          <p:cNvSpPr txBox="1"/>
          <p:nvPr/>
        </p:nvSpPr>
        <p:spPr>
          <a:xfrm>
            <a:off x="212688" y="1157424"/>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solidFill>
                  <a:sysClr val="windowText" lastClr="000000"/>
                </a:solidFill>
              </a:rPr>
              <a:t>How tumors ‘hide’</a:t>
            </a:r>
          </a:p>
        </p:txBody>
      </p:sp>
      <p:sp>
        <p:nvSpPr>
          <p:cNvPr id="78" name="Sub-q-1-2">
            <a:hlinkClick r:id="rId8" action="ppaction://hlinksldjump"/>
            <a:extLst>
              <a:ext uri="{FF2B5EF4-FFF2-40B4-BE49-F238E27FC236}">
                <a16:creationId xmlns:a16="http://schemas.microsoft.com/office/drawing/2014/main" id="{E5EF474A-2D50-9349-BAFA-FA0AAC00D28C}"/>
              </a:ext>
            </a:extLst>
          </p:cNvPr>
          <p:cNvSpPr txBox="1"/>
          <p:nvPr/>
        </p:nvSpPr>
        <p:spPr>
          <a:xfrm>
            <a:off x="212688" y="1785123"/>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Immune checkpoints</a:t>
            </a:r>
          </a:p>
        </p:txBody>
      </p:sp>
      <p:sp>
        <p:nvSpPr>
          <p:cNvPr id="79" name="Question 2">
            <a:hlinkClick r:id="rId9" action="ppaction://hlinksldjump"/>
            <a:extLst>
              <a:ext uri="{FF2B5EF4-FFF2-40B4-BE49-F238E27FC236}">
                <a16:creationId xmlns:a16="http://schemas.microsoft.com/office/drawing/2014/main" id="{C5A4264D-038A-ED40-A136-717CB376E882}"/>
              </a:ext>
            </a:extLst>
          </p:cNvPr>
          <p:cNvSpPr txBox="1"/>
          <p:nvPr/>
        </p:nvSpPr>
        <p:spPr>
          <a:xfrm>
            <a:off x="212688" y="2412822"/>
            <a:ext cx="2423423" cy="715089"/>
          </a:xfrm>
          <a:prstGeom prst="roundRect">
            <a:avLst/>
          </a:prstGeom>
          <a:ln w="38100">
            <a:solidFill>
              <a:srgbClr val="0070C0"/>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Immune checkpoint  inhibitors (ICIs)</a:t>
            </a:r>
            <a:endParaRPr lang="en-US" dirty="0">
              <a:solidFill>
                <a:sysClr val="windowText" lastClr="000000"/>
              </a:solidFill>
            </a:endParaRPr>
          </a:p>
        </p:txBody>
      </p:sp>
      <p:pic>
        <p:nvPicPr>
          <p:cNvPr id="80" name="Graphic 79" descr="Cursor with solid fill">
            <a:extLst>
              <a:ext uri="{FF2B5EF4-FFF2-40B4-BE49-F238E27FC236}">
                <a16:creationId xmlns:a16="http://schemas.microsoft.com/office/drawing/2014/main" id="{1A301F3C-10BE-6A42-B0CD-986E6159F17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70301" y="766694"/>
            <a:ext cx="411480" cy="411480"/>
          </a:xfrm>
          <a:prstGeom prst="rect">
            <a:avLst/>
          </a:prstGeom>
        </p:spPr>
      </p:pic>
      <p:pic>
        <p:nvPicPr>
          <p:cNvPr id="81" name="Graphic 80" descr="Cursor with solid fill">
            <a:extLst>
              <a:ext uri="{FF2B5EF4-FFF2-40B4-BE49-F238E27FC236}">
                <a16:creationId xmlns:a16="http://schemas.microsoft.com/office/drawing/2014/main" id="{C50397E8-9986-D946-8C96-F9BEDF45906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70301" y="5496401"/>
            <a:ext cx="411480" cy="411480"/>
          </a:xfrm>
          <a:prstGeom prst="rect">
            <a:avLst/>
          </a:prstGeom>
        </p:spPr>
      </p:pic>
      <p:pic>
        <p:nvPicPr>
          <p:cNvPr id="82" name="Graphic 81" descr="Cursor with solid fill">
            <a:extLst>
              <a:ext uri="{FF2B5EF4-FFF2-40B4-BE49-F238E27FC236}">
                <a16:creationId xmlns:a16="http://schemas.microsoft.com/office/drawing/2014/main" id="{7906159F-99F3-A948-9AC9-8B3A3A5E483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70301" y="2020349"/>
            <a:ext cx="411480" cy="411480"/>
          </a:xfrm>
          <a:prstGeom prst="rect">
            <a:avLst/>
          </a:prstGeom>
        </p:spPr>
      </p:pic>
      <p:pic>
        <p:nvPicPr>
          <p:cNvPr id="84" name="Graphic 83" descr="Cursor with solid fill">
            <a:extLst>
              <a:ext uri="{FF2B5EF4-FFF2-40B4-BE49-F238E27FC236}">
                <a16:creationId xmlns:a16="http://schemas.microsoft.com/office/drawing/2014/main" id="{4C42ACD4-C067-444F-9F0F-CB7342B36EE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70301" y="1395415"/>
            <a:ext cx="411480" cy="411480"/>
          </a:xfrm>
          <a:prstGeom prst="rect">
            <a:avLst/>
          </a:prstGeom>
        </p:spPr>
      </p:pic>
      <p:sp>
        <p:nvSpPr>
          <p:cNvPr id="85" name="Sub-q-1-2">
            <a:hlinkClick r:id="rId12" action="ppaction://hlinksldjump"/>
            <a:extLst>
              <a:ext uri="{FF2B5EF4-FFF2-40B4-BE49-F238E27FC236}">
                <a16:creationId xmlns:a16="http://schemas.microsoft.com/office/drawing/2014/main" id="{D10E35B6-5A2F-E74E-9F1A-58239E2B1764}"/>
              </a:ext>
            </a:extLst>
          </p:cNvPr>
          <p:cNvSpPr txBox="1"/>
          <p:nvPr/>
        </p:nvSpPr>
        <p:spPr>
          <a:xfrm>
            <a:off x="212688" y="3346987"/>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When do we use ICIs?</a:t>
            </a:r>
          </a:p>
        </p:txBody>
      </p:sp>
      <p:pic>
        <p:nvPicPr>
          <p:cNvPr id="86" name="Graphic 85" descr="Cursor with solid fill">
            <a:extLst>
              <a:ext uri="{FF2B5EF4-FFF2-40B4-BE49-F238E27FC236}">
                <a16:creationId xmlns:a16="http://schemas.microsoft.com/office/drawing/2014/main" id="{92BBEF32-4779-5C4F-94C6-B2E99B6E852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70301" y="3584978"/>
            <a:ext cx="411480" cy="411480"/>
          </a:xfrm>
          <a:prstGeom prst="rect">
            <a:avLst/>
          </a:prstGeom>
        </p:spPr>
      </p:pic>
      <p:sp>
        <p:nvSpPr>
          <p:cNvPr id="87" name="Sub-q-1-2">
            <a:hlinkClick r:id="rId13" action="ppaction://hlinksldjump"/>
            <a:extLst>
              <a:ext uri="{FF2B5EF4-FFF2-40B4-BE49-F238E27FC236}">
                <a16:creationId xmlns:a16="http://schemas.microsoft.com/office/drawing/2014/main" id="{DEC48732-FF43-784A-BBDC-301D4987BE5C}"/>
              </a:ext>
            </a:extLst>
          </p:cNvPr>
          <p:cNvSpPr txBox="1"/>
          <p:nvPr/>
        </p:nvSpPr>
        <p:spPr>
          <a:xfrm>
            <a:off x="212688" y="3974687"/>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Side effects of ICIs</a:t>
            </a:r>
          </a:p>
        </p:txBody>
      </p:sp>
      <p:pic>
        <p:nvPicPr>
          <p:cNvPr id="88" name="Graphic 87" descr="Cursor with solid fill">
            <a:extLst>
              <a:ext uri="{FF2B5EF4-FFF2-40B4-BE49-F238E27FC236}">
                <a16:creationId xmlns:a16="http://schemas.microsoft.com/office/drawing/2014/main" id="{BC679900-B88F-904A-8BD7-95E97960596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70301" y="4219662"/>
            <a:ext cx="411480" cy="411480"/>
          </a:xfrm>
          <a:prstGeom prst="rect">
            <a:avLst/>
          </a:prstGeom>
        </p:spPr>
      </p:pic>
      <p:sp>
        <p:nvSpPr>
          <p:cNvPr id="89" name="PD-L1 button">
            <a:extLst>
              <a:ext uri="{FF2B5EF4-FFF2-40B4-BE49-F238E27FC236}">
                <a16:creationId xmlns:a16="http://schemas.microsoft.com/office/drawing/2014/main" id="{1E448F46-8867-7C49-AF1B-F7955FED8313}"/>
              </a:ext>
            </a:extLst>
          </p:cNvPr>
          <p:cNvSpPr/>
          <p:nvPr/>
        </p:nvSpPr>
        <p:spPr>
          <a:xfrm>
            <a:off x="3819906" y="2653297"/>
            <a:ext cx="4874534" cy="646331"/>
          </a:xfrm>
          <a:prstGeom prst="roundRect">
            <a:avLst/>
          </a:prstGeom>
          <a:solidFill>
            <a:schemeClr val="bg1"/>
          </a:solidFill>
          <a:ln w="254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Anti-PD-L1</a:t>
            </a:r>
          </a:p>
          <a:p>
            <a:pPr algn="ctr"/>
            <a:r>
              <a:rPr lang="en-US" dirty="0">
                <a:solidFill>
                  <a:schemeClr val="tx1"/>
                </a:solidFill>
              </a:rPr>
              <a:t>(avelumab, atezolizumab, durvalumab) </a:t>
            </a:r>
          </a:p>
        </p:txBody>
      </p:sp>
      <p:pic>
        <p:nvPicPr>
          <p:cNvPr id="164" name="Graphic 163" descr="Cursor with solid fill">
            <a:extLst>
              <a:ext uri="{FF2B5EF4-FFF2-40B4-BE49-F238E27FC236}">
                <a16:creationId xmlns:a16="http://schemas.microsoft.com/office/drawing/2014/main" id="{11FD2994-6088-F045-A006-530FD6A30CA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465840" y="3066780"/>
            <a:ext cx="457200" cy="457200"/>
          </a:xfrm>
          <a:prstGeom prst="rect">
            <a:avLst/>
          </a:prstGeom>
        </p:spPr>
      </p:pic>
      <p:sp>
        <p:nvSpPr>
          <p:cNvPr id="90" name="PD-1 button">
            <a:extLst>
              <a:ext uri="{FF2B5EF4-FFF2-40B4-BE49-F238E27FC236}">
                <a16:creationId xmlns:a16="http://schemas.microsoft.com/office/drawing/2014/main" id="{DC85CA2D-9CC1-5444-B9D0-D64E9016FE81}"/>
              </a:ext>
            </a:extLst>
          </p:cNvPr>
          <p:cNvSpPr/>
          <p:nvPr/>
        </p:nvSpPr>
        <p:spPr>
          <a:xfrm>
            <a:off x="8542570" y="3501448"/>
            <a:ext cx="2974542" cy="890236"/>
          </a:xfrm>
          <a:prstGeom prst="roundRect">
            <a:avLst/>
          </a:prstGeom>
          <a:solidFill>
            <a:schemeClr val="bg1"/>
          </a:solidFill>
          <a:ln w="254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Anti-PD-1</a:t>
            </a:r>
          </a:p>
          <a:p>
            <a:pPr algn="ctr"/>
            <a:r>
              <a:rPr lang="en-US" dirty="0">
                <a:solidFill>
                  <a:schemeClr val="tx1"/>
                </a:solidFill>
              </a:rPr>
              <a:t>(nivolumab, pembrolizumab, </a:t>
            </a:r>
            <a:r>
              <a:rPr lang="en-US" dirty="0" err="1">
                <a:solidFill>
                  <a:schemeClr val="tx1"/>
                </a:solidFill>
              </a:rPr>
              <a:t>cemiplimab</a:t>
            </a:r>
            <a:r>
              <a:rPr lang="en-US" dirty="0">
                <a:solidFill>
                  <a:schemeClr val="tx1"/>
                </a:solidFill>
              </a:rPr>
              <a:t>)</a:t>
            </a:r>
          </a:p>
        </p:txBody>
      </p:sp>
      <p:pic>
        <p:nvPicPr>
          <p:cNvPr id="165" name="Graphic 164" descr="Cursor with solid fill">
            <a:extLst>
              <a:ext uri="{FF2B5EF4-FFF2-40B4-BE49-F238E27FC236}">
                <a16:creationId xmlns:a16="http://schemas.microsoft.com/office/drawing/2014/main" id="{17AE7717-5BE6-1C47-96FC-56775B40FD0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1319558" y="4204962"/>
            <a:ext cx="457200" cy="457200"/>
          </a:xfrm>
          <a:prstGeom prst="rect">
            <a:avLst/>
          </a:prstGeom>
        </p:spPr>
      </p:pic>
      <p:sp>
        <p:nvSpPr>
          <p:cNvPr id="91" name="CTLA-4 button">
            <a:extLst>
              <a:ext uri="{FF2B5EF4-FFF2-40B4-BE49-F238E27FC236}">
                <a16:creationId xmlns:a16="http://schemas.microsoft.com/office/drawing/2014/main" id="{C7185903-E91E-7E4C-BDAA-8F80B32B03B3}"/>
              </a:ext>
            </a:extLst>
          </p:cNvPr>
          <p:cNvSpPr/>
          <p:nvPr/>
        </p:nvSpPr>
        <p:spPr>
          <a:xfrm>
            <a:off x="5529645" y="6052589"/>
            <a:ext cx="1757128" cy="647997"/>
          </a:xfrm>
          <a:prstGeom prst="roundRect">
            <a:avLst/>
          </a:prstGeom>
          <a:solidFill>
            <a:schemeClr val="bg1"/>
          </a:solidFill>
          <a:ln w="254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Anti-CTLA-4</a:t>
            </a:r>
          </a:p>
          <a:p>
            <a:pPr algn="ctr"/>
            <a:r>
              <a:rPr lang="en-US" dirty="0">
                <a:solidFill>
                  <a:schemeClr val="tx1"/>
                </a:solidFill>
              </a:rPr>
              <a:t>(ipilimumab)</a:t>
            </a:r>
          </a:p>
        </p:txBody>
      </p:sp>
      <p:pic>
        <p:nvPicPr>
          <p:cNvPr id="166" name="Graphic 165" descr="Cursor with solid fill">
            <a:extLst>
              <a:ext uri="{FF2B5EF4-FFF2-40B4-BE49-F238E27FC236}">
                <a16:creationId xmlns:a16="http://schemas.microsoft.com/office/drawing/2014/main" id="{A121A355-F388-3B4D-88B5-6A701EDE560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083153" y="6475198"/>
            <a:ext cx="457200" cy="457200"/>
          </a:xfrm>
          <a:prstGeom prst="rect">
            <a:avLst/>
          </a:prstGeom>
        </p:spPr>
      </p:pic>
    </p:spTree>
    <p:extLst>
      <p:ext uri="{BB962C8B-B14F-4D97-AF65-F5344CB8AC3E}">
        <p14:creationId xmlns:p14="http://schemas.microsoft.com/office/powerpoint/2010/main" val="396374223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89"/>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207"/>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9"/>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200"/>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123"/>
                                        </p:tgtEl>
                                        <p:attrNameLst>
                                          <p:attrName>style.visibility</p:attrName>
                                        </p:attrNameLst>
                                      </p:cBhvr>
                                      <p:to>
                                        <p:strVal val="hidden"/>
                                      </p:to>
                                    </p:set>
                                  </p:childTnLst>
                                </p:cTn>
                              </p:par>
                            </p:childTnLst>
                          </p:cTn>
                        </p:par>
                      </p:childTnLst>
                    </p:cTn>
                  </p:par>
                </p:childTnLst>
              </p:cTn>
              <p:nextCondLst>
                <p:cond evt="onClick" delay="0">
                  <p:tgtEl>
                    <p:spTgt spid="89"/>
                  </p:tgtEl>
                </p:cond>
              </p:nextCondLst>
            </p:seq>
            <p:seq concurrent="1" nextAc="seek">
              <p:cTn id="23" restart="whenNotActive" fill="hold" evtFilter="cancelBubble" nodeType="interactiveSeq">
                <p:stCondLst>
                  <p:cond evt="onClick" delay="0">
                    <p:tgtEl>
                      <p:spTgt spid="90"/>
                    </p:tgtEl>
                  </p:cond>
                </p:stCondLst>
                <p:endSync evt="end" delay="0">
                  <p:rtn val="all"/>
                </p:endSync>
                <p:childTnLst>
                  <p:par>
                    <p:cTn id="24" fill="hold">
                      <p:stCondLst>
                        <p:cond delay="0"/>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06"/>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67"/>
                                        </p:tgtEl>
                                        <p:attrNameLst>
                                          <p:attrName>style.visibility</p:attrName>
                                        </p:attrNameLst>
                                      </p:cBhvr>
                                      <p:to>
                                        <p:strVal val="visible"/>
                                      </p:to>
                                    </p:set>
                                  </p:childTnLst>
                                </p:cTn>
                              </p:par>
                              <p:par>
                                <p:cTn id="30" presetID="1" presetClass="entr" presetSubtype="0" fill="hold" grpId="2" nodeType="withEffect">
                                  <p:stCondLst>
                                    <p:cond delay="0"/>
                                  </p:stCondLst>
                                  <p:childTnLst>
                                    <p:set>
                                      <p:cBhvr>
                                        <p:cTn id="31" dur="1" fill="hold">
                                          <p:stCondLst>
                                            <p:cond delay="0"/>
                                          </p:stCondLst>
                                        </p:cTn>
                                        <p:tgtEl>
                                          <p:spTgt spid="200"/>
                                        </p:tgtEl>
                                        <p:attrNameLst>
                                          <p:attrName>style.visibility</p:attrName>
                                        </p:attrNameLst>
                                      </p:cBhvr>
                                      <p:to>
                                        <p:strVal val="visible"/>
                                      </p:to>
                                    </p:set>
                                  </p:childTnLst>
                                </p:cTn>
                              </p:par>
                              <p:par>
                                <p:cTn id="32" presetID="1" presetClass="entr" presetSubtype="0" fill="hold" grpId="2" nodeType="withEffect">
                                  <p:stCondLst>
                                    <p:cond delay="0"/>
                                  </p:stCondLst>
                                  <p:childTnLst>
                                    <p:set>
                                      <p:cBhvr>
                                        <p:cTn id="33" dur="1" fill="hold">
                                          <p:stCondLst>
                                            <p:cond delay="0"/>
                                          </p:stCondLst>
                                        </p:cTn>
                                        <p:tgtEl>
                                          <p:spTgt spid="12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nodeType="clickEffect">
                                  <p:stCondLst>
                                    <p:cond delay="0"/>
                                  </p:stCondLst>
                                  <p:childTnLst>
                                    <p:set>
                                      <p:cBhvr>
                                        <p:cTn id="37" dur="1" fill="hold">
                                          <p:stCondLst>
                                            <p:cond delay="0"/>
                                          </p:stCondLst>
                                        </p:cTn>
                                        <p:tgtEl>
                                          <p:spTgt spid="206"/>
                                        </p:tgtEl>
                                        <p:attrNameLst>
                                          <p:attrName>style.visibility</p:attrName>
                                        </p:attrNameLst>
                                      </p:cBhvr>
                                      <p:to>
                                        <p:strVal val="hidden"/>
                                      </p:to>
                                    </p:set>
                                  </p:childTnLst>
                                </p:cTn>
                              </p:par>
                              <p:par>
                                <p:cTn id="38" presetID="1" presetClass="exit" presetSubtype="0" fill="hold" grpId="1" nodeType="withEffect">
                                  <p:stCondLst>
                                    <p:cond delay="0"/>
                                  </p:stCondLst>
                                  <p:childTnLst>
                                    <p:set>
                                      <p:cBhvr>
                                        <p:cTn id="39" dur="1" fill="hold">
                                          <p:stCondLst>
                                            <p:cond delay="0"/>
                                          </p:stCondLst>
                                        </p:cTn>
                                        <p:tgtEl>
                                          <p:spTgt spid="167"/>
                                        </p:tgtEl>
                                        <p:attrNameLst>
                                          <p:attrName>style.visibility</p:attrName>
                                        </p:attrNameLst>
                                      </p:cBhvr>
                                      <p:to>
                                        <p:strVal val="hidden"/>
                                      </p:to>
                                    </p:set>
                                  </p:childTnLst>
                                </p:cTn>
                              </p:par>
                              <p:par>
                                <p:cTn id="40" presetID="1" presetClass="exit" presetSubtype="0" fill="hold" grpId="3" nodeType="withEffect">
                                  <p:stCondLst>
                                    <p:cond delay="0"/>
                                  </p:stCondLst>
                                  <p:childTnLst>
                                    <p:set>
                                      <p:cBhvr>
                                        <p:cTn id="41" dur="1" fill="hold">
                                          <p:stCondLst>
                                            <p:cond delay="0"/>
                                          </p:stCondLst>
                                        </p:cTn>
                                        <p:tgtEl>
                                          <p:spTgt spid="200"/>
                                        </p:tgtEl>
                                        <p:attrNameLst>
                                          <p:attrName>style.visibility</p:attrName>
                                        </p:attrNameLst>
                                      </p:cBhvr>
                                      <p:to>
                                        <p:strVal val="hidden"/>
                                      </p:to>
                                    </p:set>
                                  </p:childTnLst>
                                </p:cTn>
                              </p:par>
                              <p:par>
                                <p:cTn id="42" presetID="1" presetClass="exit" presetSubtype="0" fill="hold" grpId="3" nodeType="withEffect">
                                  <p:stCondLst>
                                    <p:cond delay="0"/>
                                  </p:stCondLst>
                                  <p:childTnLst>
                                    <p:set>
                                      <p:cBhvr>
                                        <p:cTn id="43" dur="1" fill="hold">
                                          <p:stCondLst>
                                            <p:cond delay="0"/>
                                          </p:stCondLst>
                                        </p:cTn>
                                        <p:tgtEl>
                                          <p:spTgt spid="123"/>
                                        </p:tgtEl>
                                        <p:attrNameLst>
                                          <p:attrName>style.visibility</p:attrName>
                                        </p:attrNameLst>
                                      </p:cBhvr>
                                      <p:to>
                                        <p:strVal val="hidden"/>
                                      </p:to>
                                    </p:set>
                                  </p:childTnLst>
                                </p:cTn>
                              </p:par>
                            </p:childTnLst>
                          </p:cTn>
                        </p:par>
                      </p:childTnLst>
                    </p:cTn>
                  </p:par>
                </p:childTnLst>
              </p:cTn>
              <p:nextCondLst>
                <p:cond evt="onClick" delay="0">
                  <p:tgtEl>
                    <p:spTgt spid="90"/>
                  </p:tgtEl>
                </p:cond>
              </p:nextCondLst>
            </p:seq>
            <p:seq concurrent="1" nextAc="seek">
              <p:cTn id="44" restart="whenNotActive" fill="hold" evtFilter="cancelBubble" nodeType="interactiveSeq">
                <p:stCondLst>
                  <p:cond evt="onClick" delay="0">
                    <p:tgtEl>
                      <p:spTgt spid="91"/>
                    </p:tgtEl>
                  </p:cond>
                </p:stCondLst>
                <p:endSync evt="end" delay="0">
                  <p:rtn val="all"/>
                </p:endSync>
                <p:childTnLst>
                  <p:par>
                    <p:cTn id="45" fill="hold">
                      <p:stCondLst>
                        <p:cond delay="0"/>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0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68"/>
                                        </p:tgtEl>
                                        <p:attrNameLst>
                                          <p:attrName>style.visibility</p:attrName>
                                        </p:attrNameLst>
                                      </p:cBhvr>
                                      <p:to>
                                        <p:strVal val="visible"/>
                                      </p:to>
                                    </p:set>
                                  </p:childTnLst>
                                </p:cTn>
                              </p:par>
                              <p:par>
                                <p:cTn id="51" presetID="1" presetClass="entr" presetSubtype="0" fill="hold" grpId="4" nodeType="withEffect">
                                  <p:stCondLst>
                                    <p:cond delay="0"/>
                                  </p:stCondLst>
                                  <p:childTnLst>
                                    <p:set>
                                      <p:cBhvr>
                                        <p:cTn id="52" dur="1" fill="hold">
                                          <p:stCondLst>
                                            <p:cond delay="0"/>
                                          </p:stCondLst>
                                        </p:cTn>
                                        <p:tgtEl>
                                          <p:spTgt spid="200"/>
                                        </p:tgtEl>
                                        <p:attrNameLst>
                                          <p:attrName>style.visibility</p:attrName>
                                        </p:attrNameLst>
                                      </p:cBhvr>
                                      <p:to>
                                        <p:strVal val="visible"/>
                                      </p:to>
                                    </p:set>
                                  </p:childTnLst>
                                </p:cTn>
                              </p:par>
                              <p:par>
                                <p:cTn id="53" presetID="1" presetClass="entr" presetSubtype="0" fill="hold" grpId="4" nodeType="withEffect">
                                  <p:stCondLst>
                                    <p:cond delay="0"/>
                                  </p:stCondLst>
                                  <p:childTnLst>
                                    <p:set>
                                      <p:cBhvr>
                                        <p:cTn id="54" dur="1" fill="hold">
                                          <p:stCondLst>
                                            <p:cond delay="0"/>
                                          </p:stCondLst>
                                        </p:cTn>
                                        <p:tgtEl>
                                          <p:spTgt spid="12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0"/>
                                          </p:stCondLst>
                                        </p:cTn>
                                        <p:tgtEl>
                                          <p:spTgt spid="205"/>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168"/>
                                        </p:tgtEl>
                                        <p:attrNameLst>
                                          <p:attrName>style.visibility</p:attrName>
                                        </p:attrNameLst>
                                      </p:cBhvr>
                                      <p:to>
                                        <p:strVal val="hidden"/>
                                      </p:to>
                                    </p:set>
                                  </p:childTnLst>
                                </p:cTn>
                              </p:par>
                              <p:par>
                                <p:cTn id="61" presetID="1" presetClass="exit" presetSubtype="0" fill="hold" grpId="5" nodeType="withEffect">
                                  <p:stCondLst>
                                    <p:cond delay="0"/>
                                  </p:stCondLst>
                                  <p:childTnLst>
                                    <p:set>
                                      <p:cBhvr>
                                        <p:cTn id="62" dur="1" fill="hold">
                                          <p:stCondLst>
                                            <p:cond delay="0"/>
                                          </p:stCondLst>
                                        </p:cTn>
                                        <p:tgtEl>
                                          <p:spTgt spid="200"/>
                                        </p:tgtEl>
                                        <p:attrNameLst>
                                          <p:attrName>style.visibility</p:attrName>
                                        </p:attrNameLst>
                                      </p:cBhvr>
                                      <p:to>
                                        <p:strVal val="hidden"/>
                                      </p:to>
                                    </p:set>
                                  </p:childTnLst>
                                </p:cTn>
                              </p:par>
                              <p:par>
                                <p:cTn id="63" presetID="1" presetClass="exit" presetSubtype="0" fill="hold" grpId="5" nodeType="withEffect">
                                  <p:stCondLst>
                                    <p:cond delay="0"/>
                                  </p:stCondLst>
                                  <p:childTnLst>
                                    <p:set>
                                      <p:cBhvr>
                                        <p:cTn id="64" dur="1" fill="hold">
                                          <p:stCondLst>
                                            <p:cond delay="0"/>
                                          </p:stCondLst>
                                        </p:cTn>
                                        <p:tgtEl>
                                          <p:spTgt spid="123"/>
                                        </p:tgtEl>
                                        <p:attrNameLst>
                                          <p:attrName>style.visibility</p:attrName>
                                        </p:attrNameLst>
                                      </p:cBhvr>
                                      <p:to>
                                        <p:strVal val="hidden"/>
                                      </p:to>
                                    </p:set>
                                  </p:childTnLst>
                                </p:cTn>
                              </p:par>
                            </p:childTnLst>
                          </p:cTn>
                        </p:par>
                      </p:childTnLst>
                    </p:cTn>
                  </p:par>
                </p:childTnLst>
              </p:cTn>
              <p:nextCondLst>
                <p:cond evt="onClick" delay="0">
                  <p:tgtEl>
                    <p:spTgt spid="91"/>
                  </p:tgtEl>
                </p:cond>
              </p:nextCondLst>
            </p:seq>
          </p:childTnLst>
        </p:cTn>
      </p:par>
    </p:tnLst>
    <p:bldLst>
      <p:bldP spid="123" grpId="0" animBg="1"/>
      <p:bldP spid="123" grpId="1" animBg="1"/>
      <p:bldP spid="123" grpId="2" animBg="1"/>
      <p:bldP spid="123" grpId="3" animBg="1"/>
      <p:bldP spid="123" grpId="4" animBg="1"/>
      <p:bldP spid="123" grpId="5" animBg="1"/>
      <p:bldP spid="200" grpId="0" animBg="1"/>
      <p:bldP spid="200" grpId="1" animBg="1"/>
      <p:bldP spid="200" grpId="2" animBg="1"/>
      <p:bldP spid="200" grpId="3" animBg="1"/>
      <p:bldP spid="200" grpId="4" animBg="1"/>
      <p:bldP spid="200" grpId="5" animBg="1"/>
      <p:bldP spid="9" grpId="0" animBg="1"/>
      <p:bldP spid="9" grpId="1" animBg="1"/>
      <p:bldP spid="167" grpId="0" animBg="1"/>
      <p:bldP spid="167" grpId="1" animBg="1"/>
      <p:bldP spid="168" grpId="0" animBg="1"/>
      <p:bldP spid="168"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TCR" descr="A picture containing clipart&#10;&#10;Description automatically generated">
            <a:extLst>
              <a:ext uri="{FF2B5EF4-FFF2-40B4-BE49-F238E27FC236}">
                <a16:creationId xmlns:a16="http://schemas.microsoft.com/office/drawing/2014/main" id="{A749C263-6A90-F943-A335-19B3517C3DCF}"/>
              </a:ext>
            </a:extLst>
          </p:cNvPr>
          <p:cNvPicPr>
            <a:picLocks noChangeAspect="1"/>
          </p:cNvPicPr>
          <p:nvPr/>
        </p:nvPicPr>
        <p:blipFill>
          <a:blip r:embed="rId3"/>
          <a:stretch>
            <a:fillRect/>
          </a:stretch>
        </p:blipFill>
        <p:spPr>
          <a:xfrm rot="16200000">
            <a:off x="7360605" y="1124632"/>
            <a:ext cx="480486" cy="599901"/>
          </a:xfrm>
          <a:prstGeom prst="rect">
            <a:avLst/>
          </a:prstGeom>
        </p:spPr>
      </p:pic>
      <p:sp>
        <p:nvSpPr>
          <p:cNvPr id="74" name="Cloud 73">
            <a:extLst>
              <a:ext uri="{FF2B5EF4-FFF2-40B4-BE49-F238E27FC236}">
                <a16:creationId xmlns:a16="http://schemas.microsoft.com/office/drawing/2014/main" id="{0C5F78B8-7A0F-F341-B6A1-3C72BC77AD96}"/>
              </a:ext>
            </a:extLst>
          </p:cNvPr>
          <p:cNvSpPr/>
          <p:nvPr/>
        </p:nvSpPr>
        <p:spPr>
          <a:xfrm>
            <a:off x="4414141" y="595854"/>
            <a:ext cx="2452588" cy="1657470"/>
          </a:xfrm>
          <a:prstGeom prst="cloud">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Tumor cell</a:t>
            </a:r>
          </a:p>
        </p:txBody>
      </p:sp>
      <p:grpSp>
        <p:nvGrpSpPr>
          <p:cNvPr id="75" name="HLA">
            <a:extLst>
              <a:ext uri="{FF2B5EF4-FFF2-40B4-BE49-F238E27FC236}">
                <a16:creationId xmlns:a16="http://schemas.microsoft.com/office/drawing/2014/main" id="{4C86DCE3-6469-FC44-8718-156E507B2364}"/>
              </a:ext>
            </a:extLst>
          </p:cNvPr>
          <p:cNvGrpSpPr/>
          <p:nvPr/>
        </p:nvGrpSpPr>
        <p:grpSpPr>
          <a:xfrm rot="5400000">
            <a:off x="6966943" y="1140790"/>
            <a:ext cx="301619" cy="567587"/>
            <a:chOff x="8511393" y="1228380"/>
            <a:chExt cx="523874" cy="1188072"/>
          </a:xfrm>
        </p:grpSpPr>
        <p:sp>
          <p:nvSpPr>
            <p:cNvPr id="76" name="Rounded Rectangle 75">
              <a:extLst>
                <a:ext uri="{FF2B5EF4-FFF2-40B4-BE49-F238E27FC236}">
                  <a16:creationId xmlns:a16="http://schemas.microsoft.com/office/drawing/2014/main" id="{8751752F-1B69-A947-BEF5-A9D7B5649221}"/>
                </a:ext>
              </a:extLst>
            </p:cNvPr>
            <p:cNvSpPr/>
            <p:nvPr/>
          </p:nvSpPr>
          <p:spPr>
            <a:xfrm>
              <a:off x="8623053" y="2126256"/>
              <a:ext cx="85781" cy="290196"/>
            </a:xfrm>
            <a:prstGeom prst="round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7" name="Rounded Rectangle 76">
              <a:extLst>
                <a:ext uri="{FF2B5EF4-FFF2-40B4-BE49-F238E27FC236}">
                  <a16:creationId xmlns:a16="http://schemas.microsoft.com/office/drawing/2014/main" id="{E49D97DC-2142-FF4D-AB65-026AB7C550F9}"/>
                </a:ext>
              </a:extLst>
            </p:cNvPr>
            <p:cNvSpPr/>
            <p:nvPr/>
          </p:nvSpPr>
          <p:spPr>
            <a:xfrm>
              <a:off x="8511393" y="1361530"/>
              <a:ext cx="523874" cy="814387"/>
            </a:xfrm>
            <a:prstGeom prst="round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78" name="Oval 77">
              <a:extLst>
                <a:ext uri="{FF2B5EF4-FFF2-40B4-BE49-F238E27FC236}">
                  <a16:creationId xmlns:a16="http://schemas.microsoft.com/office/drawing/2014/main" id="{94DE0E54-48B9-5340-BF0D-13E1B827F6E7}"/>
                </a:ext>
              </a:extLst>
            </p:cNvPr>
            <p:cNvSpPr/>
            <p:nvPr/>
          </p:nvSpPr>
          <p:spPr>
            <a:xfrm>
              <a:off x="8623053" y="1228380"/>
              <a:ext cx="300555" cy="34754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79" name="Peptide">
            <a:extLst>
              <a:ext uri="{FF2B5EF4-FFF2-40B4-BE49-F238E27FC236}">
                <a16:creationId xmlns:a16="http://schemas.microsoft.com/office/drawing/2014/main" id="{77DFE5C3-CFED-5E49-B937-B4D5D9D1928D}"/>
              </a:ext>
            </a:extLst>
          </p:cNvPr>
          <p:cNvSpPr/>
          <p:nvPr/>
        </p:nvSpPr>
        <p:spPr>
          <a:xfrm>
            <a:off x="7254918" y="1358108"/>
            <a:ext cx="176907" cy="1331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grpSp>
        <p:nvGrpSpPr>
          <p:cNvPr id="86" name="T cell">
            <a:extLst>
              <a:ext uri="{FF2B5EF4-FFF2-40B4-BE49-F238E27FC236}">
                <a16:creationId xmlns:a16="http://schemas.microsoft.com/office/drawing/2014/main" id="{25FD581F-C994-5E49-94CB-502BF76AA0B2}"/>
              </a:ext>
            </a:extLst>
          </p:cNvPr>
          <p:cNvGrpSpPr/>
          <p:nvPr/>
        </p:nvGrpSpPr>
        <p:grpSpPr>
          <a:xfrm>
            <a:off x="7865994" y="781472"/>
            <a:ext cx="1448559" cy="1360176"/>
            <a:chOff x="8547551" y="979091"/>
            <a:chExt cx="1704587" cy="1653198"/>
          </a:xfrm>
        </p:grpSpPr>
        <p:sp>
          <p:nvSpPr>
            <p:cNvPr id="87" name="Oval 86">
              <a:extLst>
                <a:ext uri="{FF2B5EF4-FFF2-40B4-BE49-F238E27FC236}">
                  <a16:creationId xmlns:a16="http://schemas.microsoft.com/office/drawing/2014/main" id="{F7D1055A-EA06-DF4A-91A4-5DEF5BCCA88D}"/>
                </a:ext>
              </a:extLst>
            </p:cNvPr>
            <p:cNvSpPr/>
            <p:nvPr/>
          </p:nvSpPr>
          <p:spPr>
            <a:xfrm>
              <a:off x="8547551" y="979091"/>
              <a:ext cx="1704587" cy="1653198"/>
            </a:xfrm>
            <a:prstGeom prst="ellipse">
              <a:avLst/>
            </a:prstGeom>
            <a:gradFill flip="none" rotWithShape="1">
              <a:gsLst>
                <a:gs pos="0">
                  <a:schemeClr val="accent4">
                    <a:lumMod val="5000"/>
                    <a:lumOff val="95000"/>
                  </a:schemeClr>
                </a:gs>
                <a:gs pos="33000">
                  <a:srgbClr val="D0CCFF"/>
                </a:gs>
                <a:gs pos="100000">
                  <a:srgbClr val="7030A0"/>
                </a:gs>
              </a:gsLst>
              <a:path path="shap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88" name="Oval 87">
              <a:extLst>
                <a:ext uri="{FF2B5EF4-FFF2-40B4-BE49-F238E27FC236}">
                  <a16:creationId xmlns:a16="http://schemas.microsoft.com/office/drawing/2014/main" id="{88EB37D1-E3B4-3D45-9DC3-DE0B05BB4BC2}"/>
                </a:ext>
              </a:extLst>
            </p:cNvPr>
            <p:cNvSpPr/>
            <p:nvPr/>
          </p:nvSpPr>
          <p:spPr>
            <a:xfrm>
              <a:off x="8824914" y="1219811"/>
              <a:ext cx="1162050" cy="1171758"/>
            </a:xfrm>
            <a:prstGeom prst="ellipse">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T cell</a:t>
              </a:r>
            </a:p>
          </p:txBody>
        </p:sp>
      </p:grpSp>
      <p:sp>
        <p:nvSpPr>
          <p:cNvPr id="93" name="TextBox 92">
            <a:extLst>
              <a:ext uri="{FF2B5EF4-FFF2-40B4-BE49-F238E27FC236}">
                <a16:creationId xmlns:a16="http://schemas.microsoft.com/office/drawing/2014/main" id="{C9DD8EEF-FD98-0148-960A-A73CB4752A34}"/>
              </a:ext>
            </a:extLst>
          </p:cNvPr>
          <p:cNvSpPr txBox="1"/>
          <p:nvPr/>
        </p:nvSpPr>
        <p:spPr>
          <a:xfrm>
            <a:off x="6842836" y="870447"/>
            <a:ext cx="558709" cy="307777"/>
          </a:xfrm>
          <a:prstGeom prst="rect">
            <a:avLst/>
          </a:prstGeom>
          <a:noFill/>
        </p:spPr>
        <p:txBody>
          <a:bodyPr wrap="square" rtlCol="0">
            <a:spAutoFit/>
          </a:bodyPr>
          <a:lstStyle/>
          <a:p>
            <a:r>
              <a:rPr lang="en-US" sz="1400" dirty="0"/>
              <a:t>MHC</a:t>
            </a:r>
          </a:p>
        </p:txBody>
      </p:sp>
      <p:sp>
        <p:nvSpPr>
          <p:cNvPr id="94" name="TextBox 93">
            <a:extLst>
              <a:ext uri="{FF2B5EF4-FFF2-40B4-BE49-F238E27FC236}">
                <a16:creationId xmlns:a16="http://schemas.microsoft.com/office/drawing/2014/main" id="{079292AC-8727-F24D-B9C8-84194950DFC7}"/>
              </a:ext>
            </a:extLst>
          </p:cNvPr>
          <p:cNvSpPr txBox="1"/>
          <p:nvPr/>
        </p:nvSpPr>
        <p:spPr>
          <a:xfrm>
            <a:off x="7478479" y="864168"/>
            <a:ext cx="459400" cy="307777"/>
          </a:xfrm>
          <a:prstGeom prst="rect">
            <a:avLst/>
          </a:prstGeom>
          <a:noFill/>
        </p:spPr>
        <p:txBody>
          <a:bodyPr wrap="square" rtlCol="0">
            <a:spAutoFit/>
          </a:bodyPr>
          <a:lstStyle/>
          <a:p>
            <a:r>
              <a:rPr lang="en-US" sz="1400" dirty="0"/>
              <a:t>TCR</a:t>
            </a:r>
          </a:p>
        </p:txBody>
      </p:sp>
      <p:cxnSp>
        <p:nvCxnSpPr>
          <p:cNvPr id="95" name="Straight Connector 94">
            <a:extLst>
              <a:ext uri="{FF2B5EF4-FFF2-40B4-BE49-F238E27FC236}">
                <a16:creationId xmlns:a16="http://schemas.microsoft.com/office/drawing/2014/main" id="{6E8E137C-4A87-AD4C-AD13-1340B8368880}"/>
              </a:ext>
            </a:extLst>
          </p:cNvPr>
          <p:cNvCxnSpPr>
            <a:cxnSpLocks/>
          </p:cNvCxnSpPr>
          <p:nvPr/>
        </p:nvCxnSpPr>
        <p:spPr>
          <a:xfrm>
            <a:off x="7114723" y="1121596"/>
            <a:ext cx="45990" cy="16445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1F125CCB-8A24-BE47-BD13-D65E8245B585}"/>
              </a:ext>
            </a:extLst>
          </p:cNvPr>
          <p:cNvCxnSpPr>
            <a:cxnSpLocks/>
          </p:cNvCxnSpPr>
          <p:nvPr/>
        </p:nvCxnSpPr>
        <p:spPr>
          <a:xfrm flipH="1">
            <a:off x="7685303" y="1121596"/>
            <a:ext cx="30615" cy="223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82F0D056-216B-B14D-8593-9279B36DEEE1}"/>
              </a:ext>
            </a:extLst>
          </p:cNvPr>
          <p:cNvCxnSpPr>
            <a:cxnSpLocks/>
          </p:cNvCxnSpPr>
          <p:nvPr/>
        </p:nvCxnSpPr>
        <p:spPr>
          <a:xfrm flipH="1">
            <a:off x="7259235" y="1483910"/>
            <a:ext cx="72278" cy="30779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359BC971-17E9-BD4C-824C-3C7283A134E5}"/>
              </a:ext>
            </a:extLst>
          </p:cNvPr>
          <p:cNvSpPr txBox="1"/>
          <p:nvPr/>
        </p:nvSpPr>
        <p:spPr>
          <a:xfrm>
            <a:off x="6546274" y="1739565"/>
            <a:ext cx="1509245" cy="523220"/>
          </a:xfrm>
          <a:prstGeom prst="rect">
            <a:avLst/>
          </a:prstGeom>
          <a:noFill/>
        </p:spPr>
        <p:txBody>
          <a:bodyPr wrap="square" rtlCol="0">
            <a:spAutoFit/>
          </a:bodyPr>
          <a:lstStyle/>
          <a:p>
            <a:pPr algn="ctr"/>
            <a:r>
              <a:rPr lang="en-US" sz="1400" dirty="0"/>
              <a:t>Mutated peptide</a:t>
            </a:r>
          </a:p>
          <a:p>
            <a:pPr algn="ctr"/>
            <a:r>
              <a:rPr lang="en-US" sz="1400" dirty="0"/>
              <a:t>(‘non-self’)</a:t>
            </a:r>
          </a:p>
        </p:txBody>
      </p:sp>
      <p:sp>
        <p:nvSpPr>
          <p:cNvPr id="34" name="Case 1 - 1 question">
            <a:extLst>
              <a:ext uri="{FF2B5EF4-FFF2-40B4-BE49-F238E27FC236}">
                <a16:creationId xmlns:a16="http://schemas.microsoft.com/office/drawing/2014/main" id="{3845DD90-EE94-2C43-B256-B9DABB71B1CC}"/>
              </a:ext>
            </a:extLst>
          </p:cNvPr>
          <p:cNvSpPr/>
          <p:nvPr/>
        </p:nvSpPr>
        <p:spPr>
          <a:xfrm>
            <a:off x="4256492" y="3801379"/>
            <a:ext cx="7031809" cy="56428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Which cancers have a lot of mutations? </a:t>
            </a:r>
            <a:r>
              <a:rPr lang="en-US" b="1" baseline="30000" dirty="0">
                <a:solidFill>
                  <a:schemeClr val="tx1"/>
                </a:solidFill>
              </a:rPr>
              <a:t>2</a:t>
            </a:r>
            <a:endParaRPr lang="en-US" b="1" dirty="0">
              <a:solidFill>
                <a:schemeClr val="tx1"/>
              </a:solidFill>
            </a:endParaRPr>
          </a:p>
        </p:txBody>
      </p:sp>
      <p:sp>
        <p:nvSpPr>
          <p:cNvPr id="35" name="Case 1 - 1 answer">
            <a:extLst>
              <a:ext uri="{FF2B5EF4-FFF2-40B4-BE49-F238E27FC236}">
                <a16:creationId xmlns:a16="http://schemas.microsoft.com/office/drawing/2014/main" id="{8888EE99-6CB5-6446-8767-036B4035F546}"/>
              </a:ext>
            </a:extLst>
          </p:cNvPr>
          <p:cNvSpPr/>
          <p:nvPr/>
        </p:nvSpPr>
        <p:spPr>
          <a:xfrm>
            <a:off x="4256492" y="4440877"/>
            <a:ext cx="7031809" cy="592829"/>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Tumors that developed from recurrent exposure to mutagens such as melanoma (UV light), lung cancer (smoking)</a:t>
            </a:r>
          </a:p>
        </p:txBody>
      </p:sp>
      <p:pic>
        <p:nvPicPr>
          <p:cNvPr id="36" name="Graphic 35" descr="Cursor with solid fill">
            <a:extLst>
              <a:ext uri="{FF2B5EF4-FFF2-40B4-BE49-F238E27FC236}">
                <a16:creationId xmlns:a16="http://schemas.microsoft.com/office/drawing/2014/main" id="{7E57E317-009E-2842-A936-EA5C997C562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137048" y="4217920"/>
            <a:ext cx="302506" cy="302506"/>
          </a:xfrm>
          <a:prstGeom prst="rect">
            <a:avLst/>
          </a:prstGeom>
        </p:spPr>
      </p:pic>
      <p:sp>
        <p:nvSpPr>
          <p:cNvPr id="37" name="Case 1 - 2 question">
            <a:extLst>
              <a:ext uri="{FF2B5EF4-FFF2-40B4-BE49-F238E27FC236}">
                <a16:creationId xmlns:a16="http://schemas.microsoft.com/office/drawing/2014/main" id="{03AA3EE8-B9CF-C84A-B243-483DBE5C07D1}"/>
              </a:ext>
            </a:extLst>
          </p:cNvPr>
          <p:cNvSpPr/>
          <p:nvPr/>
        </p:nvSpPr>
        <p:spPr>
          <a:xfrm>
            <a:off x="4209698" y="5220809"/>
            <a:ext cx="7078603" cy="459792"/>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Which cancers have immunotherapy FDA approval?</a:t>
            </a:r>
          </a:p>
        </p:txBody>
      </p:sp>
      <p:sp>
        <p:nvSpPr>
          <p:cNvPr id="38" name="Case 1 - 2 answer">
            <a:extLst>
              <a:ext uri="{FF2B5EF4-FFF2-40B4-BE49-F238E27FC236}">
                <a16:creationId xmlns:a16="http://schemas.microsoft.com/office/drawing/2014/main" id="{84F057DC-0610-3445-85A8-812845129A80}"/>
              </a:ext>
            </a:extLst>
          </p:cNvPr>
          <p:cNvSpPr/>
          <p:nvPr/>
        </p:nvSpPr>
        <p:spPr>
          <a:xfrm>
            <a:off x="4209698" y="5736404"/>
            <a:ext cx="7078603" cy="858249"/>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Head &amp; neck cancer, melanoma, Merkel cell carcinoma, hepatocellular carcinoma, renal cell carcinoma, endometrial carcinoma, cervical cancer, lung cancer (small cell and non-small cell),  malignant pleural mesothelioma, triple negative breast cancer, gastric &amp; GEJ cancer, classical </a:t>
            </a:r>
            <a:r>
              <a:rPr lang="en-US" sz="1400" dirty="0" err="1"/>
              <a:t>Hodgkin’s</a:t>
            </a:r>
            <a:r>
              <a:rPr lang="en-US" sz="1400" dirty="0"/>
              <a:t> lymphoma, urothelial carcinoma (BCG-unresponsive). </a:t>
            </a:r>
          </a:p>
        </p:txBody>
      </p:sp>
      <p:pic>
        <p:nvPicPr>
          <p:cNvPr id="39" name="Graphic 38" descr="Cursor with solid fill">
            <a:extLst>
              <a:ext uri="{FF2B5EF4-FFF2-40B4-BE49-F238E27FC236}">
                <a16:creationId xmlns:a16="http://schemas.microsoft.com/office/drawing/2014/main" id="{CCAD68E3-C9EF-C349-80A0-B76BEC7E6AA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174651" y="5525755"/>
            <a:ext cx="302506" cy="302506"/>
          </a:xfrm>
          <a:prstGeom prst="rect">
            <a:avLst/>
          </a:prstGeom>
        </p:spPr>
      </p:pic>
      <p:sp>
        <p:nvSpPr>
          <p:cNvPr id="42" name="TextBox 41">
            <a:extLst>
              <a:ext uri="{FF2B5EF4-FFF2-40B4-BE49-F238E27FC236}">
                <a16:creationId xmlns:a16="http://schemas.microsoft.com/office/drawing/2014/main" id="{4C7A637C-7AB2-E444-9A41-3F3A535DAAE8}"/>
              </a:ext>
            </a:extLst>
          </p:cNvPr>
          <p:cNvSpPr txBox="1"/>
          <p:nvPr/>
        </p:nvSpPr>
        <p:spPr>
          <a:xfrm>
            <a:off x="4836580" y="2297724"/>
            <a:ext cx="5190489" cy="584775"/>
          </a:xfrm>
          <a:prstGeom prst="rect">
            <a:avLst/>
          </a:prstGeom>
          <a:noFill/>
        </p:spPr>
        <p:txBody>
          <a:bodyPr wrap="square" rtlCol="0">
            <a:spAutoFit/>
          </a:bodyPr>
          <a:lstStyle/>
          <a:p>
            <a:pPr algn="ctr"/>
            <a:r>
              <a:rPr lang="en-US" sz="1600" dirty="0"/>
              <a:t>Tumors with more mutations have more ‘mutated peptides’ that allow the immune system to ‘see’ the tumor cells</a:t>
            </a:r>
          </a:p>
        </p:txBody>
      </p:sp>
      <p:sp>
        <p:nvSpPr>
          <p:cNvPr id="47" name="question 1">
            <a:hlinkClick r:id="rId6" action="ppaction://hlinksldjump"/>
            <a:extLst>
              <a:ext uri="{FF2B5EF4-FFF2-40B4-BE49-F238E27FC236}">
                <a16:creationId xmlns:a16="http://schemas.microsoft.com/office/drawing/2014/main" id="{3F01EB8D-A777-CB45-99D7-0479AED71AB6}"/>
              </a:ext>
            </a:extLst>
          </p:cNvPr>
          <p:cNvSpPr txBox="1"/>
          <p:nvPr/>
        </p:nvSpPr>
        <p:spPr>
          <a:xfrm>
            <a:off x="212688" y="529725"/>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t>Immune system basics</a:t>
            </a:r>
            <a:endParaRPr lang="en-US" dirty="0">
              <a:solidFill>
                <a:sysClr val="windowText" lastClr="000000"/>
              </a:solidFill>
            </a:endParaRPr>
          </a:p>
        </p:txBody>
      </p:sp>
      <p:sp>
        <p:nvSpPr>
          <p:cNvPr id="48" name="Cases">
            <a:hlinkClick r:id="rId7" action="ppaction://hlinksldjump"/>
            <a:extLst>
              <a:ext uri="{FF2B5EF4-FFF2-40B4-BE49-F238E27FC236}">
                <a16:creationId xmlns:a16="http://schemas.microsoft.com/office/drawing/2014/main" id="{79764CCC-3359-0E46-8F36-30F3A1415D08}"/>
              </a:ext>
            </a:extLst>
          </p:cNvPr>
          <p:cNvSpPr txBox="1"/>
          <p:nvPr/>
        </p:nvSpPr>
        <p:spPr>
          <a:xfrm>
            <a:off x="212688" y="5263878"/>
            <a:ext cx="2423423" cy="408623"/>
          </a:xfrm>
          <a:prstGeom prst="roundRect">
            <a:avLst/>
          </a:prstGeom>
          <a:solidFill>
            <a:schemeClr val="accent5"/>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sp>
        <p:nvSpPr>
          <p:cNvPr id="49" name="sub-q 1-1">
            <a:hlinkClick r:id="rId8" action="ppaction://hlinksldjump"/>
            <a:extLst>
              <a:ext uri="{FF2B5EF4-FFF2-40B4-BE49-F238E27FC236}">
                <a16:creationId xmlns:a16="http://schemas.microsoft.com/office/drawing/2014/main" id="{9F7AA313-DF22-5B40-8208-EBE97B64F950}"/>
              </a:ext>
            </a:extLst>
          </p:cNvPr>
          <p:cNvSpPr txBox="1"/>
          <p:nvPr/>
        </p:nvSpPr>
        <p:spPr>
          <a:xfrm>
            <a:off x="212688" y="1157424"/>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solidFill>
                  <a:sysClr val="windowText" lastClr="000000"/>
                </a:solidFill>
              </a:rPr>
              <a:t>How tumors ‘hide’</a:t>
            </a:r>
          </a:p>
        </p:txBody>
      </p:sp>
      <p:sp>
        <p:nvSpPr>
          <p:cNvPr id="50" name="Sub-q-1-2">
            <a:hlinkClick r:id="rId9" action="ppaction://hlinksldjump"/>
            <a:extLst>
              <a:ext uri="{FF2B5EF4-FFF2-40B4-BE49-F238E27FC236}">
                <a16:creationId xmlns:a16="http://schemas.microsoft.com/office/drawing/2014/main" id="{038758CA-1E78-B54A-A5C9-399916148C40}"/>
              </a:ext>
            </a:extLst>
          </p:cNvPr>
          <p:cNvSpPr txBox="1"/>
          <p:nvPr/>
        </p:nvSpPr>
        <p:spPr>
          <a:xfrm>
            <a:off x="212688" y="1785123"/>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Immune checkpoints</a:t>
            </a:r>
          </a:p>
        </p:txBody>
      </p:sp>
      <p:sp>
        <p:nvSpPr>
          <p:cNvPr id="51" name="Question 2">
            <a:hlinkClick r:id="rId10" action="ppaction://hlinksldjump"/>
            <a:extLst>
              <a:ext uri="{FF2B5EF4-FFF2-40B4-BE49-F238E27FC236}">
                <a16:creationId xmlns:a16="http://schemas.microsoft.com/office/drawing/2014/main" id="{9DC53625-0B3A-0248-8A74-B45513779FD2}"/>
              </a:ext>
            </a:extLst>
          </p:cNvPr>
          <p:cNvSpPr txBox="1"/>
          <p:nvPr/>
        </p:nvSpPr>
        <p:spPr>
          <a:xfrm>
            <a:off x="212688" y="2412822"/>
            <a:ext cx="2423423" cy="71508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Immune checkpoint  inhibitors (ICIs)</a:t>
            </a:r>
            <a:endParaRPr lang="en-US" dirty="0">
              <a:solidFill>
                <a:sysClr val="windowText" lastClr="000000"/>
              </a:solidFill>
            </a:endParaRPr>
          </a:p>
        </p:txBody>
      </p:sp>
      <p:pic>
        <p:nvPicPr>
          <p:cNvPr id="52" name="Graphic 51" descr="Cursor with solid fill">
            <a:extLst>
              <a:ext uri="{FF2B5EF4-FFF2-40B4-BE49-F238E27FC236}">
                <a16:creationId xmlns:a16="http://schemas.microsoft.com/office/drawing/2014/main" id="{236BE177-9A12-4443-B8F0-173E1078D1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70301" y="766694"/>
            <a:ext cx="411480" cy="411480"/>
          </a:xfrm>
          <a:prstGeom prst="rect">
            <a:avLst/>
          </a:prstGeom>
        </p:spPr>
      </p:pic>
      <p:pic>
        <p:nvPicPr>
          <p:cNvPr id="53" name="Graphic 52" descr="Cursor with solid fill">
            <a:extLst>
              <a:ext uri="{FF2B5EF4-FFF2-40B4-BE49-F238E27FC236}">
                <a16:creationId xmlns:a16="http://schemas.microsoft.com/office/drawing/2014/main" id="{969F40DD-C1F6-944E-810B-C73A2E3A4C9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70301" y="5496401"/>
            <a:ext cx="411480" cy="411480"/>
          </a:xfrm>
          <a:prstGeom prst="rect">
            <a:avLst/>
          </a:prstGeom>
        </p:spPr>
      </p:pic>
      <p:pic>
        <p:nvPicPr>
          <p:cNvPr id="54" name="Graphic 53" descr="Cursor with solid fill">
            <a:extLst>
              <a:ext uri="{FF2B5EF4-FFF2-40B4-BE49-F238E27FC236}">
                <a16:creationId xmlns:a16="http://schemas.microsoft.com/office/drawing/2014/main" id="{910D4896-8AEF-364C-800F-BECAA55A4C2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70301" y="2020349"/>
            <a:ext cx="411480" cy="411480"/>
          </a:xfrm>
          <a:prstGeom prst="rect">
            <a:avLst/>
          </a:prstGeom>
        </p:spPr>
      </p:pic>
      <p:pic>
        <p:nvPicPr>
          <p:cNvPr id="55" name="Graphic 54" descr="Cursor with solid fill">
            <a:extLst>
              <a:ext uri="{FF2B5EF4-FFF2-40B4-BE49-F238E27FC236}">
                <a16:creationId xmlns:a16="http://schemas.microsoft.com/office/drawing/2014/main" id="{12CDB0F9-0152-6046-AD9F-321B8BC3127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70301" y="2940853"/>
            <a:ext cx="411480" cy="411480"/>
          </a:xfrm>
          <a:prstGeom prst="rect">
            <a:avLst/>
          </a:prstGeom>
        </p:spPr>
      </p:pic>
      <p:pic>
        <p:nvPicPr>
          <p:cNvPr id="56" name="Graphic 55" descr="Cursor with solid fill">
            <a:extLst>
              <a:ext uri="{FF2B5EF4-FFF2-40B4-BE49-F238E27FC236}">
                <a16:creationId xmlns:a16="http://schemas.microsoft.com/office/drawing/2014/main" id="{0CF5461E-81CD-164B-BD6F-F7454E0890A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70301" y="1395415"/>
            <a:ext cx="411480" cy="411480"/>
          </a:xfrm>
          <a:prstGeom prst="rect">
            <a:avLst/>
          </a:prstGeom>
        </p:spPr>
      </p:pic>
      <p:sp>
        <p:nvSpPr>
          <p:cNvPr id="57" name="Sub-q-1-2">
            <a:hlinkClick r:id="rId11" action="ppaction://hlinksldjump"/>
            <a:extLst>
              <a:ext uri="{FF2B5EF4-FFF2-40B4-BE49-F238E27FC236}">
                <a16:creationId xmlns:a16="http://schemas.microsoft.com/office/drawing/2014/main" id="{82EC08E9-9BD9-7D4F-9AB8-90FA78C5E74C}"/>
              </a:ext>
            </a:extLst>
          </p:cNvPr>
          <p:cNvSpPr txBox="1"/>
          <p:nvPr/>
        </p:nvSpPr>
        <p:spPr>
          <a:xfrm>
            <a:off x="212688" y="3346987"/>
            <a:ext cx="2423423" cy="408623"/>
          </a:xfrm>
          <a:prstGeom prst="roundRect">
            <a:avLst/>
          </a:prstGeom>
          <a:ln w="38100">
            <a:solidFill>
              <a:srgbClr val="0070C0"/>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When do we use ICIs?</a:t>
            </a:r>
          </a:p>
        </p:txBody>
      </p:sp>
      <p:sp>
        <p:nvSpPr>
          <p:cNvPr id="59" name="Sub-q-1-2">
            <a:hlinkClick r:id="rId12" action="ppaction://hlinksldjump"/>
            <a:extLst>
              <a:ext uri="{FF2B5EF4-FFF2-40B4-BE49-F238E27FC236}">
                <a16:creationId xmlns:a16="http://schemas.microsoft.com/office/drawing/2014/main" id="{6A203B4C-5BF7-7848-A86D-26E81C382317}"/>
              </a:ext>
            </a:extLst>
          </p:cNvPr>
          <p:cNvSpPr txBox="1"/>
          <p:nvPr/>
        </p:nvSpPr>
        <p:spPr>
          <a:xfrm>
            <a:off x="212688" y="3974687"/>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Side effects of ICIs</a:t>
            </a:r>
          </a:p>
        </p:txBody>
      </p:sp>
      <p:pic>
        <p:nvPicPr>
          <p:cNvPr id="60" name="Graphic 59" descr="Cursor with solid fill">
            <a:extLst>
              <a:ext uri="{FF2B5EF4-FFF2-40B4-BE49-F238E27FC236}">
                <a16:creationId xmlns:a16="http://schemas.microsoft.com/office/drawing/2014/main" id="{B9B0171C-98B1-7843-91C6-C756BEB30DA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70301" y="4219662"/>
            <a:ext cx="411480" cy="411480"/>
          </a:xfrm>
          <a:prstGeom prst="rect">
            <a:avLst/>
          </a:prstGeom>
        </p:spPr>
      </p:pic>
      <p:sp>
        <p:nvSpPr>
          <p:cNvPr id="64" name="Rectangle 63">
            <a:extLst>
              <a:ext uri="{FF2B5EF4-FFF2-40B4-BE49-F238E27FC236}">
                <a16:creationId xmlns:a16="http://schemas.microsoft.com/office/drawing/2014/main" id="{F452D98E-19E4-7848-AC03-9B1639CBEFCD}"/>
              </a:ext>
            </a:extLst>
          </p:cNvPr>
          <p:cNvSpPr/>
          <p:nvPr/>
        </p:nvSpPr>
        <p:spPr>
          <a:xfrm>
            <a:off x="11591755" y="1"/>
            <a:ext cx="600245" cy="593194"/>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8EA7BD07-FDB1-C34E-BB1B-895913B58947}"/>
              </a:ext>
            </a:extLst>
          </p:cNvPr>
          <p:cNvGrpSpPr/>
          <p:nvPr/>
        </p:nvGrpSpPr>
        <p:grpSpPr>
          <a:xfrm>
            <a:off x="4256492" y="433979"/>
            <a:ext cx="7031809" cy="3321631"/>
            <a:chOff x="4256492" y="433979"/>
            <a:chExt cx="7031809" cy="3321631"/>
          </a:xfrm>
        </p:grpSpPr>
        <p:grpSp>
          <p:nvGrpSpPr>
            <p:cNvPr id="10" name="Group 9">
              <a:extLst>
                <a:ext uri="{FF2B5EF4-FFF2-40B4-BE49-F238E27FC236}">
                  <a16:creationId xmlns:a16="http://schemas.microsoft.com/office/drawing/2014/main" id="{30702E61-384F-8B41-8CC7-B2F3E20F11D7}"/>
                </a:ext>
              </a:extLst>
            </p:cNvPr>
            <p:cNvGrpSpPr/>
            <p:nvPr/>
          </p:nvGrpSpPr>
          <p:grpSpPr>
            <a:xfrm>
              <a:off x="4256492" y="433979"/>
              <a:ext cx="7031809" cy="3321631"/>
              <a:chOff x="4735465" y="263347"/>
              <a:chExt cx="7031809" cy="3321631"/>
            </a:xfrm>
          </p:grpSpPr>
          <p:sp>
            <p:nvSpPr>
              <p:cNvPr id="4" name="Rectangle 3">
                <a:extLst>
                  <a:ext uri="{FF2B5EF4-FFF2-40B4-BE49-F238E27FC236}">
                    <a16:creationId xmlns:a16="http://schemas.microsoft.com/office/drawing/2014/main" id="{D5807A6E-2813-864A-AFFC-CD50FF99B742}"/>
                  </a:ext>
                </a:extLst>
              </p:cNvPr>
              <p:cNvSpPr/>
              <p:nvPr/>
            </p:nvSpPr>
            <p:spPr>
              <a:xfrm>
                <a:off x="4735465" y="263347"/>
                <a:ext cx="7031809" cy="3321631"/>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pic>
            <p:nvPicPr>
              <p:cNvPr id="3" name="Picture 2" descr="A picture containing diagram&#10;&#10;Description automatically generated">
                <a:extLst>
                  <a:ext uri="{FF2B5EF4-FFF2-40B4-BE49-F238E27FC236}">
                    <a16:creationId xmlns:a16="http://schemas.microsoft.com/office/drawing/2014/main" id="{0C447313-1860-2B4C-8664-3E8E103D6DDB}"/>
                  </a:ext>
                </a:extLst>
              </p:cNvPr>
              <p:cNvPicPr>
                <a:picLocks noChangeAspect="1"/>
              </p:cNvPicPr>
              <p:nvPr/>
            </p:nvPicPr>
            <p:blipFill rotWithShape="1">
              <a:blip r:embed="rId13"/>
              <a:srcRect l="765" t="2625" r="1105" b="15568"/>
              <a:stretch/>
            </p:blipFill>
            <p:spPr>
              <a:xfrm>
                <a:off x="4767625" y="710739"/>
                <a:ext cx="6983024" cy="2859410"/>
              </a:xfrm>
              <a:prstGeom prst="rect">
                <a:avLst/>
              </a:prstGeom>
            </p:spPr>
          </p:pic>
          <p:sp>
            <p:nvSpPr>
              <p:cNvPr id="66" name="TextBox 65">
                <a:extLst>
                  <a:ext uri="{FF2B5EF4-FFF2-40B4-BE49-F238E27FC236}">
                    <a16:creationId xmlns:a16="http://schemas.microsoft.com/office/drawing/2014/main" id="{A273999A-2607-834D-A61B-B99C532C045D}"/>
                  </a:ext>
                </a:extLst>
              </p:cNvPr>
              <p:cNvSpPr txBox="1"/>
              <p:nvPr/>
            </p:nvSpPr>
            <p:spPr>
              <a:xfrm>
                <a:off x="5261919" y="285405"/>
                <a:ext cx="2662908" cy="369332"/>
              </a:xfrm>
              <a:prstGeom prst="rect">
                <a:avLst/>
              </a:prstGeom>
              <a:noFill/>
            </p:spPr>
            <p:txBody>
              <a:bodyPr wrap="none" rtlCol="0">
                <a:spAutoFit/>
              </a:bodyPr>
              <a:lstStyle/>
              <a:p>
                <a:r>
                  <a:rPr lang="en-US" b="1" dirty="0">
                    <a:solidFill>
                      <a:srgbClr val="0070C0"/>
                    </a:solidFill>
                  </a:rPr>
                  <a:t>Low number of mutations</a:t>
                </a:r>
              </a:p>
            </p:txBody>
          </p:sp>
          <p:cxnSp>
            <p:nvCxnSpPr>
              <p:cNvPr id="7" name="Straight Arrow Connector 6">
                <a:extLst>
                  <a:ext uri="{FF2B5EF4-FFF2-40B4-BE49-F238E27FC236}">
                    <a16:creationId xmlns:a16="http://schemas.microsoft.com/office/drawing/2014/main" id="{4BA63DA0-514C-D043-B08F-AC0B325FF168}"/>
                  </a:ext>
                </a:extLst>
              </p:cNvPr>
              <p:cNvCxnSpPr>
                <a:cxnSpLocks/>
              </p:cNvCxnSpPr>
              <p:nvPr/>
            </p:nvCxnSpPr>
            <p:spPr>
              <a:xfrm>
                <a:off x="5315553" y="661538"/>
                <a:ext cx="6269194" cy="2043"/>
              </a:xfrm>
              <a:prstGeom prst="straightConnector1">
                <a:avLst/>
              </a:prstGeom>
              <a:ln w="222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BD168506-5D70-E140-B7A3-A92F7FD4DE32}"/>
                  </a:ext>
                </a:extLst>
              </p:cNvPr>
              <p:cNvSpPr txBox="1"/>
              <p:nvPr/>
            </p:nvSpPr>
            <p:spPr>
              <a:xfrm rot="16200000">
                <a:off x="3805919" y="2251238"/>
                <a:ext cx="2246577" cy="323165"/>
              </a:xfrm>
              <a:prstGeom prst="rect">
                <a:avLst/>
              </a:prstGeom>
              <a:solidFill>
                <a:schemeClr val="bg1"/>
              </a:solidFill>
            </p:spPr>
            <p:txBody>
              <a:bodyPr wrap="none" tIns="0" rtlCol="0">
                <a:spAutoFit/>
              </a:bodyPr>
              <a:lstStyle/>
              <a:p>
                <a:r>
                  <a:rPr lang="en-US" b="1" dirty="0"/>
                  <a:t>Number of mutations</a:t>
                </a:r>
              </a:p>
            </p:txBody>
          </p:sp>
          <p:sp>
            <p:nvSpPr>
              <p:cNvPr id="72" name="TextBox 71">
                <a:extLst>
                  <a:ext uri="{FF2B5EF4-FFF2-40B4-BE49-F238E27FC236}">
                    <a16:creationId xmlns:a16="http://schemas.microsoft.com/office/drawing/2014/main" id="{CA4A8493-4821-334C-B3C5-2A70EC584059}"/>
                  </a:ext>
                </a:extLst>
              </p:cNvPr>
              <p:cNvSpPr txBox="1"/>
              <p:nvPr/>
            </p:nvSpPr>
            <p:spPr>
              <a:xfrm>
                <a:off x="8945472" y="285405"/>
                <a:ext cx="2705036" cy="369332"/>
              </a:xfrm>
              <a:prstGeom prst="rect">
                <a:avLst/>
              </a:prstGeom>
              <a:noFill/>
            </p:spPr>
            <p:txBody>
              <a:bodyPr wrap="none" rtlCol="0">
                <a:spAutoFit/>
              </a:bodyPr>
              <a:lstStyle/>
              <a:p>
                <a:r>
                  <a:rPr lang="en-US" b="1" dirty="0">
                    <a:solidFill>
                      <a:srgbClr val="0070C0"/>
                    </a:solidFill>
                  </a:rPr>
                  <a:t>High number of mutations</a:t>
                </a:r>
              </a:p>
            </p:txBody>
          </p:sp>
        </p:grpSp>
        <p:sp>
          <p:nvSpPr>
            <p:cNvPr id="61" name="TextBox 60">
              <a:extLst>
                <a:ext uri="{FF2B5EF4-FFF2-40B4-BE49-F238E27FC236}">
                  <a16:creationId xmlns:a16="http://schemas.microsoft.com/office/drawing/2014/main" id="{D18642D8-DBD8-E149-AEAB-8BAD96973094}"/>
                </a:ext>
              </a:extLst>
            </p:cNvPr>
            <p:cNvSpPr txBox="1"/>
            <p:nvPr/>
          </p:nvSpPr>
          <p:spPr>
            <a:xfrm rot="2841948">
              <a:off x="10589225" y="1254541"/>
              <a:ext cx="687770" cy="184666"/>
            </a:xfrm>
            <a:prstGeom prst="rect">
              <a:avLst/>
            </a:prstGeom>
            <a:solidFill>
              <a:schemeClr val="bg1"/>
            </a:solidFill>
          </p:spPr>
          <p:txBody>
            <a:bodyPr wrap="square" lIns="0" tIns="0" rIns="0" bIns="0" rtlCol="0">
              <a:spAutoFit/>
            </a:bodyPr>
            <a:lstStyle/>
            <a:p>
              <a:pPr algn="r"/>
              <a:r>
                <a:rPr lang="en-US" sz="1200" b="1" dirty="0">
                  <a:solidFill>
                    <a:srgbClr val="FF0000"/>
                  </a:solidFill>
                </a:rPr>
                <a:t>Melanoma</a:t>
              </a:r>
            </a:p>
          </p:txBody>
        </p:sp>
        <p:sp>
          <p:nvSpPr>
            <p:cNvPr id="62" name="TextBox 61">
              <a:extLst>
                <a:ext uri="{FF2B5EF4-FFF2-40B4-BE49-F238E27FC236}">
                  <a16:creationId xmlns:a16="http://schemas.microsoft.com/office/drawing/2014/main" id="{0E3629A4-25F7-714C-95C9-B97F2F74D5AB}"/>
                </a:ext>
              </a:extLst>
            </p:cNvPr>
            <p:cNvSpPr txBox="1"/>
            <p:nvPr/>
          </p:nvSpPr>
          <p:spPr>
            <a:xfrm rot="2765259">
              <a:off x="10195595" y="1193466"/>
              <a:ext cx="862751" cy="184666"/>
            </a:xfrm>
            <a:prstGeom prst="rect">
              <a:avLst/>
            </a:prstGeom>
            <a:solidFill>
              <a:schemeClr val="bg1"/>
            </a:solidFill>
          </p:spPr>
          <p:txBody>
            <a:bodyPr wrap="square" lIns="0" tIns="0" rIns="0" bIns="0" rtlCol="0">
              <a:spAutoFit/>
            </a:bodyPr>
            <a:lstStyle/>
            <a:p>
              <a:pPr algn="r"/>
              <a:r>
                <a:rPr lang="en-US" sz="1200" b="1" dirty="0">
                  <a:solidFill>
                    <a:srgbClr val="FF0000"/>
                  </a:solidFill>
                </a:rPr>
                <a:t>Lung cancer</a:t>
              </a:r>
            </a:p>
          </p:txBody>
        </p:sp>
        <p:sp>
          <p:nvSpPr>
            <p:cNvPr id="63" name="TextBox 62">
              <a:extLst>
                <a:ext uri="{FF2B5EF4-FFF2-40B4-BE49-F238E27FC236}">
                  <a16:creationId xmlns:a16="http://schemas.microsoft.com/office/drawing/2014/main" id="{DD01B24A-104E-864A-8AB3-CD026239499F}"/>
                </a:ext>
              </a:extLst>
            </p:cNvPr>
            <p:cNvSpPr txBox="1"/>
            <p:nvPr/>
          </p:nvSpPr>
          <p:spPr>
            <a:xfrm rot="2663449">
              <a:off x="9871588" y="1260162"/>
              <a:ext cx="722927" cy="184666"/>
            </a:xfrm>
            <a:prstGeom prst="rect">
              <a:avLst/>
            </a:prstGeom>
            <a:solidFill>
              <a:schemeClr val="bg1"/>
            </a:solidFill>
          </p:spPr>
          <p:txBody>
            <a:bodyPr wrap="square" lIns="0" tIns="0" rIns="0" bIns="0" rtlCol="0">
              <a:spAutoFit/>
            </a:bodyPr>
            <a:lstStyle/>
            <a:p>
              <a:pPr algn="r"/>
              <a:r>
                <a:rPr lang="en-US" sz="1200" b="1" dirty="0">
                  <a:solidFill>
                    <a:srgbClr val="FF0000"/>
                  </a:solidFill>
                </a:rPr>
                <a:t>Bladder</a:t>
              </a:r>
            </a:p>
          </p:txBody>
        </p:sp>
      </p:grpSp>
    </p:spTree>
    <p:extLst>
      <p:ext uri="{BB962C8B-B14F-4D97-AF65-F5344CB8AC3E}">
        <p14:creationId xmlns:p14="http://schemas.microsoft.com/office/powerpoint/2010/main" val="396849234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37"/>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childTnLst>
              </p:cTn>
              <p:nextCondLst>
                <p:cond evt="onClick" delay="0">
                  <p:tgtEl>
                    <p:spTgt spid="37"/>
                  </p:tgtEl>
                </p:cond>
              </p:nextCondLst>
            </p:seq>
            <p:seq concurrent="1" nextAc="seek">
              <p:cTn id="7" restart="whenNotActive" fill="hold" evtFilter="cancelBubble" nodeType="interactiveSeq">
                <p:stCondLst>
                  <p:cond evt="onClick" delay="0">
                    <p:tgtEl>
                      <p:spTgt spid="34"/>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2"/>
                                        </p:tgtEl>
                                        <p:attrNameLst>
                                          <p:attrName>style.visibility</p:attrName>
                                        </p:attrNameLst>
                                      </p:cBhvr>
                                      <p:to>
                                        <p:strVal val="visible"/>
                                      </p:to>
                                    </p:set>
                                  </p:childTnLst>
                                </p:cTn>
                              </p:par>
                            </p:childTnLst>
                          </p:cTn>
                        </p:par>
                      </p:childTnLst>
                    </p:cTn>
                  </p:par>
                </p:childTnLst>
              </p:cTn>
              <p:nextCondLst>
                <p:cond evt="onClick" delay="0">
                  <p:tgtEl>
                    <p:spTgt spid="34"/>
                  </p:tgtEl>
                </p:cond>
              </p:nextCondLst>
            </p:seq>
          </p:childTnLst>
        </p:cTn>
      </p:par>
    </p:tnLst>
    <p:bldLst>
      <p:bldP spid="35" grpId="0" animBg="1"/>
      <p:bldP spid="3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All side effects">
            <a:hlinkClick r:id="rId3" action="ppaction://hlinksldjump"/>
            <a:extLst>
              <a:ext uri="{FF2B5EF4-FFF2-40B4-BE49-F238E27FC236}">
                <a16:creationId xmlns:a16="http://schemas.microsoft.com/office/drawing/2014/main" id="{8A8250DF-D38B-6C4B-9D01-23B9812C67AC}"/>
              </a:ext>
            </a:extLst>
          </p:cNvPr>
          <p:cNvSpPr txBox="1"/>
          <p:nvPr/>
        </p:nvSpPr>
        <p:spPr>
          <a:xfrm>
            <a:off x="4586279" y="156907"/>
            <a:ext cx="1509721"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t>All Side Effects</a:t>
            </a:r>
            <a:endParaRPr lang="en-US" dirty="0">
              <a:solidFill>
                <a:sysClr val="windowText" lastClr="000000"/>
              </a:solidFill>
            </a:endParaRPr>
          </a:p>
        </p:txBody>
      </p:sp>
      <p:sp>
        <p:nvSpPr>
          <p:cNvPr id="44" name="Most common">
            <a:hlinkClick r:id="rId4" action="ppaction://hlinksldjump"/>
            <a:extLst>
              <a:ext uri="{FF2B5EF4-FFF2-40B4-BE49-F238E27FC236}">
                <a16:creationId xmlns:a16="http://schemas.microsoft.com/office/drawing/2014/main" id="{FAF87EB7-5D45-EB46-A1A6-C8DF094DE84C}"/>
              </a:ext>
            </a:extLst>
          </p:cNvPr>
          <p:cNvSpPr txBox="1"/>
          <p:nvPr/>
        </p:nvSpPr>
        <p:spPr>
          <a:xfrm>
            <a:off x="6262679" y="156907"/>
            <a:ext cx="1509721"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solidFill>
                  <a:sysClr val="windowText" lastClr="000000"/>
                </a:solidFill>
              </a:rPr>
              <a:t>Most common</a:t>
            </a:r>
          </a:p>
        </p:txBody>
      </p:sp>
      <p:sp>
        <p:nvSpPr>
          <p:cNvPr id="45" name="Irriversible">
            <a:hlinkClick r:id="rId5" action="ppaction://hlinksldjump"/>
            <a:extLst>
              <a:ext uri="{FF2B5EF4-FFF2-40B4-BE49-F238E27FC236}">
                <a16:creationId xmlns:a16="http://schemas.microsoft.com/office/drawing/2014/main" id="{E995BCE7-BAD5-9947-852F-6B07D69447A6}"/>
              </a:ext>
            </a:extLst>
          </p:cNvPr>
          <p:cNvSpPr txBox="1"/>
          <p:nvPr/>
        </p:nvSpPr>
        <p:spPr>
          <a:xfrm>
            <a:off x="7898348" y="156907"/>
            <a:ext cx="1509721"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solidFill>
                  <a:sysClr val="windowText" lastClr="000000"/>
                </a:solidFill>
              </a:rPr>
              <a:t>Irreversible</a:t>
            </a:r>
          </a:p>
        </p:txBody>
      </p:sp>
      <p:sp>
        <p:nvSpPr>
          <p:cNvPr id="46" name="Deadly">
            <a:hlinkClick r:id="rId6" action="ppaction://hlinksldjump"/>
            <a:extLst>
              <a:ext uri="{FF2B5EF4-FFF2-40B4-BE49-F238E27FC236}">
                <a16:creationId xmlns:a16="http://schemas.microsoft.com/office/drawing/2014/main" id="{8E90FC5F-EEF4-1744-A6A4-A4A56227152F}"/>
              </a:ext>
            </a:extLst>
          </p:cNvPr>
          <p:cNvSpPr txBox="1"/>
          <p:nvPr/>
        </p:nvSpPr>
        <p:spPr>
          <a:xfrm>
            <a:off x="9534017" y="156907"/>
            <a:ext cx="1509721"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solidFill>
                  <a:sysClr val="windowText" lastClr="000000"/>
                </a:solidFill>
              </a:rPr>
              <a:t>Most Deadly</a:t>
            </a:r>
          </a:p>
        </p:txBody>
      </p:sp>
      <p:sp>
        <p:nvSpPr>
          <p:cNvPr id="30" name="question 1">
            <a:hlinkClick r:id="rId7" action="ppaction://hlinksldjump"/>
            <a:extLst>
              <a:ext uri="{FF2B5EF4-FFF2-40B4-BE49-F238E27FC236}">
                <a16:creationId xmlns:a16="http://schemas.microsoft.com/office/drawing/2014/main" id="{6D8C0D20-E24E-3745-9B71-9062241F8D56}"/>
              </a:ext>
            </a:extLst>
          </p:cNvPr>
          <p:cNvSpPr txBox="1"/>
          <p:nvPr/>
        </p:nvSpPr>
        <p:spPr>
          <a:xfrm>
            <a:off x="212688" y="529725"/>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t>Immune system basics</a:t>
            </a:r>
            <a:endParaRPr lang="en-US" dirty="0">
              <a:solidFill>
                <a:sysClr val="windowText" lastClr="000000"/>
              </a:solidFill>
            </a:endParaRPr>
          </a:p>
        </p:txBody>
      </p:sp>
      <p:sp>
        <p:nvSpPr>
          <p:cNvPr id="31" name="Cases">
            <a:hlinkClick r:id="rId8" action="ppaction://hlinksldjump"/>
            <a:extLst>
              <a:ext uri="{FF2B5EF4-FFF2-40B4-BE49-F238E27FC236}">
                <a16:creationId xmlns:a16="http://schemas.microsoft.com/office/drawing/2014/main" id="{4618BEC6-5FB1-D444-9D68-45525377E4F2}"/>
              </a:ext>
            </a:extLst>
          </p:cNvPr>
          <p:cNvSpPr txBox="1"/>
          <p:nvPr/>
        </p:nvSpPr>
        <p:spPr>
          <a:xfrm>
            <a:off x="212688" y="5263878"/>
            <a:ext cx="2423423" cy="408623"/>
          </a:xfrm>
          <a:prstGeom prst="roundRect">
            <a:avLst/>
          </a:prstGeom>
          <a:solidFill>
            <a:schemeClr val="accent5"/>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sp>
        <p:nvSpPr>
          <p:cNvPr id="32" name="sub-q 1-1">
            <a:hlinkClick r:id="rId9" action="ppaction://hlinksldjump"/>
            <a:extLst>
              <a:ext uri="{FF2B5EF4-FFF2-40B4-BE49-F238E27FC236}">
                <a16:creationId xmlns:a16="http://schemas.microsoft.com/office/drawing/2014/main" id="{0C2B7D34-4A6B-8B42-BC33-D818AC8949C0}"/>
              </a:ext>
            </a:extLst>
          </p:cNvPr>
          <p:cNvSpPr txBox="1"/>
          <p:nvPr/>
        </p:nvSpPr>
        <p:spPr>
          <a:xfrm>
            <a:off x="212688" y="1157424"/>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solidFill>
                  <a:sysClr val="windowText" lastClr="000000"/>
                </a:solidFill>
              </a:rPr>
              <a:t>How tumors ‘hide’</a:t>
            </a:r>
          </a:p>
        </p:txBody>
      </p:sp>
      <p:sp>
        <p:nvSpPr>
          <p:cNvPr id="33" name="Sub-q-1-2">
            <a:hlinkClick r:id="rId10" action="ppaction://hlinksldjump"/>
            <a:extLst>
              <a:ext uri="{FF2B5EF4-FFF2-40B4-BE49-F238E27FC236}">
                <a16:creationId xmlns:a16="http://schemas.microsoft.com/office/drawing/2014/main" id="{2CA9FA85-C9E3-F542-AD4C-DCE93352AD69}"/>
              </a:ext>
            </a:extLst>
          </p:cNvPr>
          <p:cNvSpPr txBox="1"/>
          <p:nvPr/>
        </p:nvSpPr>
        <p:spPr>
          <a:xfrm>
            <a:off x="212688" y="1785123"/>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Immune checkpoints</a:t>
            </a:r>
          </a:p>
        </p:txBody>
      </p:sp>
      <p:sp>
        <p:nvSpPr>
          <p:cNvPr id="34" name="Question 2">
            <a:hlinkClick r:id="rId11" action="ppaction://hlinksldjump"/>
            <a:extLst>
              <a:ext uri="{FF2B5EF4-FFF2-40B4-BE49-F238E27FC236}">
                <a16:creationId xmlns:a16="http://schemas.microsoft.com/office/drawing/2014/main" id="{0900B885-5B96-8B44-84FC-9AF1CC50B64D}"/>
              </a:ext>
            </a:extLst>
          </p:cNvPr>
          <p:cNvSpPr txBox="1"/>
          <p:nvPr/>
        </p:nvSpPr>
        <p:spPr>
          <a:xfrm>
            <a:off x="212688" y="2412822"/>
            <a:ext cx="2423423" cy="71508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Immune checkpoint  inhibitors (ICIs)</a:t>
            </a:r>
            <a:endParaRPr lang="en-US" dirty="0">
              <a:solidFill>
                <a:sysClr val="windowText" lastClr="000000"/>
              </a:solidFill>
            </a:endParaRPr>
          </a:p>
        </p:txBody>
      </p:sp>
      <p:pic>
        <p:nvPicPr>
          <p:cNvPr id="35" name="Graphic 34" descr="Cursor with solid fill">
            <a:extLst>
              <a:ext uri="{FF2B5EF4-FFF2-40B4-BE49-F238E27FC236}">
                <a16:creationId xmlns:a16="http://schemas.microsoft.com/office/drawing/2014/main" id="{02549F9C-3BDD-2A46-821B-DE8A2715418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470301" y="766694"/>
            <a:ext cx="411480" cy="411480"/>
          </a:xfrm>
          <a:prstGeom prst="rect">
            <a:avLst/>
          </a:prstGeom>
        </p:spPr>
      </p:pic>
      <p:pic>
        <p:nvPicPr>
          <p:cNvPr id="36" name="Graphic 35" descr="Cursor with solid fill">
            <a:extLst>
              <a:ext uri="{FF2B5EF4-FFF2-40B4-BE49-F238E27FC236}">
                <a16:creationId xmlns:a16="http://schemas.microsoft.com/office/drawing/2014/main" id="{87C7AA39-22DF-D449-9445-983D2F862AC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470301" y="5496401"/>
            <a:ext cx="411480" cy="411480"/>
          </a:xfrm>
          <a:prstGeom prst="rect">
            <a:avLst/>
          </a:prstGeom>
        </p:spPr>
      </p:pic>
      <p:pic>
        <p:nvPicPr>
          <p:cNvPr id="37" name="Graphic 36" descr="Cursor with solid fill">
            <a:extLst>
              <a:ext uri="{FF2B5EF4-FFF2-40B4-BE49-F238E27FC236}">
                <a16:creationId xmlns:a16="http://schemas.microsoft.com/office/drawing/2014/main" id="{3C37F9AC-BB1A-F84E-9C7D-D48ADB932E8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470301" y="2020349"/>
            <a:ext cx="411480" cy="411480"/>
          </a:xfrm>
          <a:prstGeom prst="rect">
            <a:avLst/>
          </a:prstGeom>
        </p:spPr>
      </p:pic>
      <p:pic>
        <p:nvPicPr>
          <p:cNvPr id="38" name="Graphic 37" descr="Cursor with solid fill">
            <a:extLst>
              <a:ext uri="{FF2B5EF4-FFF2-40B4-BE49-F238E27FC236}">
                <a16:creationId xmlns:a16="http://schemas.microsoft.com/office/drawing/2014/main" id="{E17E81D4-CC88-A94F-8F3A-76E217DE10C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470301" y="2940853"/>
            <a:ext cx="411480" cy="411480"/>
          </a:xfrm>
          <a:prstGeom prst="rect">
            <a:avLst/>
          </a:prstGeom>
        </p:spPr>
      </p:pic>
      <p:pic>
        <p:nvPicPr>
          <p:cNvPr id="39" name="Graphic 38" descr="Cursor with solid fill">
            <a:extLst>
              <a:ext uri="{FF2B5EF4-FFF2-40B4-BE49-F238E27FC236}">
                <a16:creationId xmlns:a16="http://schemas.microsoft.com/office/drawing/2014/main" id="{A33FFD05-534A-4D41-9256-8939EA749D2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470301" y="1395415"/>
            <a:ext cx="411480" cy="411480"/>
          </a:xfrm>
          <a:prstGeom prst="rect">
            <a:avLst/>
          </a:prstGeom>
        </p:spPr>
      </p:pic>
      <p:sp>
        <p:nvSpPr>
          <p:cNvPr id="40" name="Sub-q-1-2">
            <a:hlinkClick r:id="rId14" action="ppaction://hlinksldjump"/>
            <a:extLst>
              <a:ext uri="{FF2B5EF4-FFF2-40B4-BE49-F238E27FC236}">
                <a16:creationId xmlns:a16="http://schemas.microsoft.com/office/drawing/2014/main" id="{23BBBE51-4D46-984D-996A-1515151E671B}"/>
              </a:ext>
            </a:extLst>
          </p:cNvPr>
          <p:cNvSpPr txBox="1"/>
          <p:nvPr/>
        </p:nvSpPr>
        <p:spPr>
          <a:xfrm>
            <a:off x="212688" y="3346987"/>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When do we use ICIs?</a:t>
            </a:r>
          </a:p>
        </p:txBody>
      </p:sp>
      <p:pic>
        <p:nvPicPr>
          <p:cNvPr id="41" name="Graphic 40" descr="Cursor with solid fill">
            <a:extLst>
              <a:ext uri="{FF2B5EF4-FFF2-40B4-BE49-F238E27FC236}">
                <a16:creationId xmlns:a16="http://schemas.microsoft.com/office/drawing/2014/main" id="{7E48AE89-3B49-AC48-944D-C3F5E6CC722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470301" y="3584978"/>
            <a:ext cx="411480" cy="411480"/>
          </a:xfrm>
          <a:prstGeom prst="rect">
            <a:avLst/>
          </a:prstGeom>
        </p:spPr>
      </p:pic>
      <p:sp>
        <p:nvSpPr>
          <p:cNvPr id="42" name="Sub-q-1-2">
            <a:hlinkClick r:id="rId15" action="ppaction://hlinksldjump"/>
            <a:extLst>
              <a:ext uri="{FF2B5EF4-FFF2-40B4-BE49-F238E27FC236}">
                <a16:creationId xmlns:a16="http://schemas.microsoft.com/office/drawing/2014/main" id="{B0B7A84B-1419-5141-823B-DE1A02649A75}"/>
              </a:ext>
            </a:extLst>
          </p:cNvPr>
          <p:cNvSpPr txBox="1"/>
          <p:nvPr/>
        </p:nvSpPr>
        <p:spPr>
          <a:xfrm>
            <a:off x="212688" y="3974687"/>
            <a:ext cx="2423423" cy="408623"/>
          </a:xfrm>
          <a:prstGeom prst="roundRect">
            <a:avLst/>
          </a:prstGeom>
          <a:ln w="38100">
            <a:solidFill>
              <a:srgbClr val="0070C0"/>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Side effects of ICIs</a:t>
            </a:r>
          </a:p>
        </p:txBody>
      </p:sp>
      <p:sp>
        <p:nvSpPr>
          <p:cNvPr id="48" name="TextBox 47">
            <a:extLst>
              <a:ext uri="{FF2B5EF4-FFF2-40B4-BE49-F238E27FC236}">
                <a16:creationId xmlns:a16="http://schemas.microsoft.com/office/drawing/2014/main" id="{F67B3119-AB62-D240-BB10-5D0178396163}"/>
              </a:ext>
            </a:extLst>
          </p:cNvPr>
          <p:cNvSpPr txBox="1"/>
          <p:nvPr/>
        </p:nvSpPr>
        <p:spPr>
          <a:xfrm>
            <a:off x="9274629" y="6551300"/>
            <a:ext cx="2847852" cy="246221"/>
          </a:xfrm>
          <a:prstGeom prst="rect">
            <a:avLst/>
          </a:prstGeom>
          <a:noFill/>
        </p:spPr>
        <p:txBody>
          <a:bodyPr wrap="square">
            <a:spAutoFit/>
          </a:bodyPr>
          <a:lstStyle/>
          <a:p>
            <a:pPr algn="r"/>
            <a:r>
              <a:rPr lang="en-US" sz="1000" i="1" dirty="0"/>
              <a:t>Reference: 3-5; Created with </a:t>
            </a:r>
            <a:r>
              <a:rPr lang="en-US" sz="1000" i="1" dirty="0" err="1"/>
              <a:t>BioRender.com</a:t>
            </a:r>
            <a:endParaRPr lang="en-US" sz="1000" i="1" dirty="0"/>
          </a:p>
        </p:txBody>
      </p:sp>
      <p:pic>
        <p:nvPicPr>
          <p:cNvPr id="49" name="Graphic 48" descr="Cursor with solid fill">
            <a:extLst>
              <a:ext uri="{FF2B5EF4-FFF2-40B4-BE49-F238E27FC236}">
                <a16:creationId xmlns:a16="http://schemas.microsoft.com/office/drawing/2014/main" id="{0D537EF0-80C1-EF49-A9E9-ADEA9CDDF87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890260" y="384764"/>
            <a:ext cx="411480" cy="411480"/>
          </a:xfrm>
          <a:prstGeom prst="rect">
            <a:avLst/>
          </a:prstGeom>
        </p:spPr>
      </p:pic>
      <p:pic>
        <p:nvPicPr>
          <p:cNvPr id="50" name="Graphic 49" descr="Cursor with solid fill">
            <a:extLst>
              <a:ext uri="{FF2B5EF4-FFF2-40B4-BE49-F238E27FC236}">
                <a16:creationId xmlns:a16="http://schemas.microsoft.com/office/drawing/2014/main" id="{44C5CE37-E023-3A41-A510-DC8E099647A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566660" y="384764"/>
            <a:ext cx="411480" cy="411480"/>
          </a:xfrm>
          <a:prstGeom prst="rect">
            <a:avLst/>
          </a:prstGeom>
        </p:spPr>
      </p:pic>
      <p:pic>
        <p:nvPicPr>
          <p:cNvPr id="51" name="Graphic 50" descr="Cursor with solid fill">
            <a:extLst>
              <a:ext uri="{FF2B5EF4-FFF2-40B4-BE49-F238E27FC236}">
                <a16:creationId xmlns:a16="http://schemas.microsoft.com/office/drawing/2014/main" id="{BE94060E-BBED-9542-8B0B-C84604580EF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243060" y="384764"/>
            <a:ext cx="411480" cy="411480"/>
          </a:xfrm>
          <a:prstGeom prst="rect">
            <a:avLst/>
          </a:prstGeom>
        </p:spPr>
      </p:pic>
      <p:pic>
        <p:nvPicPr>
          <p:cNvPr id="52" name="Graphic 51" descr="Cursor with solid fill">
            <a:extLst>
              <a:ext uri="{FF2B5EF4-FFF2-40B4-BE49-F238E27FC236}">
                <a16:creationId xmlns:a16="http://schemas.microsoft.com/office/drawing/2014/main" id="{CAD40DAB-CA20-E245-A6E0-2DD5BD91851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888299" y="384764"/>
            <a:ext cx="411480" cy="411480"/>
          </a:xfrm>
          <a:prstGeom prst="rect">
            <a:avLst/>
          </a:prstGeom>
        </p:spPr>
      </p:pic>
      <p:pic>
        <p:nvPicPr>
          <p:cNvPr id="3" name="Picture 2" descr="Diagram&#10;&#10;Description automatically generated">
            <a:extLst>
              <a:ext uri="{FF2B5EF4-FFF2-40B4-BE49-F238E27FC236}">
                <a16:creationId xmlns:a16="http://schemas.microsoft.com/office/drawing/2014/main" id="{A498D8F6-7821-EF4F-B54E-D5392867ECF3}"/>
              </a:ext>
            </a:extLst>
          </p:cNvPr>
          <p:cNvPicPr>
            <a:picLocks noChangeAspect="1"/>
          </p:cNvPicPr>
          <p:nvPr/>
        </p:nvPicPr>
        <p:blipFill>
          <a:blip r:embed="rId16"/>
          <a:stretch>
            <a:fillRect/>
          </a:stretch>
        </p:blipFill>
        <p:spPr>
          <a:xfrm>
            <a:off x="4958171" y="793387"/>
            <a:ext cx="5833454" cy="5760720"/>
          </a:xfrm>
          <a:prstGeom prst="rect">
            <a:avLst/>
          </a:prstGeom>
        </p:spPr>
      </p:pic>
    </p:spTree>
    <p:extLst>
      <p:ext uri="{BB962C8B-B14F-4D97-AF65-F5344CB8AC3E}">
        <p14:creationId xmlns:p14="http://schemas.microsoft.com/office/powerpoint/2010/main" val="319590922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3"/>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nextCondLst>
                <p:cond evt="onClick" delay="0">
                  <p:tgtEl>
                    <p:spTgt spid="43"/>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All side effects">
            <a:extLst>
              <a:ext uri="{FF2B5EF4-FFF2-40B4-BE49-F238E27FC236}">
                <a16:creationId xmlns:a16="http://schemas.microsoft.com/office/drawing/2014/main" id="{8A8250DF-D38B-6C4B-9D01-23B9812C67AC}"/>
              </a:ext>
            </a:extLst>
          </p:cNvPr>
          <p:cNvSpPr txBox="1"/>
          <p:nvPr/>
        </p:nvSpPr>
        <p:spPr>
          <a:xfrm>
            <a:off x="4586279" y="156907"/>
            <a:ext cx="1509721" cy="408623"/>
          </a:xfrm>
          <a:prstGeom prst="roundRect">
            <a:avLst/>
          </a:prstGeom>
          <a:solidFill>
            <a:schemeClr val="accent4">
              <a:lumMod val="20000"/>
              <a:lumOff val="80000"/>
            </a:schemeClr>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t>All Side Effects</a:t>
            </a:r>
            <a:endParaRPr lang="en-US" dirty="0">
              <a:solidFill>
                <a:sysClr val="windowText" lastClr="000000"/>
              </a:solidFill>
            </a:endParaRPr>
          </a:p>
        </p:txBody>
      </p:sp>
      <p:sp>
        <p:nvSpPr>
          <p:cNvPr id="44" name="Most common">
            <a:hlinkClick r:id="rId3" action="ppaction://hlinksldjump"/>
            <a:extLst>
              <a:ext uri="{FF2B5EF4-FFF2-40B4-BE49-F238E27FC236}">
                <a16:creationId xmlns:a16="http://schemas.microsoft.com/office/drawing/2014/main" id="{FAF87EB7-5D45-EB46-A1A6-C8DF094DE84C}"/>
              </a:ext>
            </a:extLst>
          </p:cNvPr>
          <p:cNvSpPr txBox="1"/>
          <p:nvPr/>
        </p:nvSpPr>
        <p:spPr>
          <a:xfrm>
            <a:off x="6262679" y="156907"/>
            <a:ext cx="1509721"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solidFill>
                  <a:sysClr val="windowText" lastClr="000000"/>
                </a:solidFill>
              </a:rPr>
              <a:t>Most common</a:t>
            </a:r>
          </a:p>
        </p:txBody>
      </p:sp>
      <p:sp>
        <p:nvSpPr>
          <p:cNvPr id="45" name="Irriversible">
            <a:hlinkClick r:id="rId4" action="ppaction://hlinksldjump"/>
            <a:extLst>
              <a:ext uri="{FF2B5EF4-FFF2-40B4-BE49-F238E27FC236}">
                <a16:creationId xmlns:a16="http://schemas.microsoft.com/office/drawing/2014/main" id="{E995BCE7-BAD5-9947-852F-6B07D69447A6}"/>
              </a:ext>
            </a:extLst>
          </p:cNvPr>
          <p:cNvSpPr txBox="1"/>
          <p:nvPr/>
        </p:nvSpPr>
        <p:spPr>
          <a:xfrm>
            <a:off x="7898348" y="156907"/>
            <a:ext cx="1509721"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solidFill>
                  <a:sysClr val="windowText" lastClr="000000"/>
                </a:solidFill>
              </a:rPr>
              <a:t>Irreversible</a:t>
            </a:r>
          </a:p>
        </p:txBody>
      </p:sp>
      <p:sp>
        <p:nvSpPr>
          <p:cNvPr id="46" name="Deadly">
            <a:hlinkClick r:id="rId5" action="ppaction://hlinksldjump"/>
            <a:extLst>
              <a:ext uri="{FF2B5EF4-FFF2-40B4-BE49-F238E27FC236}">
                <a16:creationId xmlns:a16="http://schemas.microsoft.com/office/drawing/2014/main" id="{8E90FC5F-EEF4-1744-A6A4-A4A56227152F}"/>
              </a:ext>
            </a:extLst>
          </p:cNvPr>
          <p:cNvSpPr txBox="1"/>
          <p:nvPr/>
        </p:nvSpPr>
        <p:spPr>
          <a:xfrm>
            <a:off x="9534017" y="156907"/>
            <a:ext cx="1509721"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solidFill>
                  <a:sysClr val="windowText" lastClr="000000"/>
                </a:solidFill>
              </a:rPr>
              <a:t>Most Deadly</a:t>
            </a:r>
          </a:p>
        </p:txBody>
      </p:sp>
      <p:sp>
        <p:nvSpPr>
          <p:cNvPr id="30" name="question 1">
            <a:hlinkClick r:id="rId6" action="ppaction://hlinksldjump"/>
            <a:extLst>
              <a:ext uri="{FF2B5EF4-FFF2-40B4-BE49-F238E27FC236}">
                <a16:creationId xmlns:a16="http://schemas.microsoft.com/office/drawing/2014/main" id="{6D8C0D20-E24E-3745-9B71-9062241F8D56}"/>
              </a:ext>
            </a:extLst>
          </p:cNvPr>
          <p:cNvSpPr txBox="1"/>
          <p:nvPr/>
        </p:nvSpPr>
        <p:spPr>
          <a:xfrm>
            <a:off x="212688" y="529725"/>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t>Immune system basics</a:t>
            </a:r>
            <a:endParaRPr lang="en-US" dirty="0">
              <a:solidFill>
                <a:sysClr val="windowText" lastClr="000000"/>
              </a:solidFill>
            </a:endParaRPr>
          </a:p>
        </p:txBody>
      </p:sp>
      <p:sp>
        <p:nvSpPr>
          <p:cNvPr id="31" name="Cases">
            <a:hlinkClick r:id="rId7" action="ppaction://hlinksldjump"/>
            <a:extLst>
              <a:ext uri="{FF2B5EF4-FFF2-40B4-BE49-F238E27FC236}">
                <a16:creationId xmlns:a16="http://schemas.microsoft.com/office/drawing/2014/main" id="{4618BEC6-5FB1-D444-9D68-45525377E4F2}"/>
              </a:ext>
            </a:extLst>
          </p:cNvPr>
          <p:cNvSpPr txBox="1"/>
          <p:nvPr/>
        </p:nvSpPr>
        <p:spPr>
          <a:xfrm>
            <a:off x="212688" y="5263878"/>
            <a:ext cx="2423423" cy="408623"/>
          </a:xfrm>
          <a:prstGeom prst="roundRect">
            <a:avLst/>
          </a:prstGeom>
          <a:solidFill>
            <a:schemeClr val="accent5"/>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sp>
        <p:nvSpPr>
          <p:cNvPr id="32" name="sub-q 1-1">
            <a:hlinkClick r:id="rId8" action="ppaction://hlinksldjump"/>
            <a:extLst>
              <a:ext uri="{FF2B5EF4-FFF2-40B4-BE49-F238E27FC236}">
                <a16:creationId xmlns:a16="http://schemas.microsoft.com/office/drawing/2014/main" id="{0C2B7D34-4A6B-8B42-BC33-D818AC8949C0}"/>
              </a:ext>
            </a:extLst>
          </p:cNvPr>
          <p:cNvSpPr txBox="1"/>
          <p:nvPr/>
        </p:nvSpPr>
        <p:spPr>
          <a:xfrm>
            <a:off x="212688" y="1157424"/>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solidFill>
                  <a:sysClr val="windowText" lastClr="000000"/>
                </a:solidFill>
              </a:rPr>
              <a:t>How tumors ‘hide’</a:t>
            </a:r>
          </a:p>
        </p:txBody>
      </p:sp>
      <p:sp>
        <p:nvSpPr>
          <p:cNvPr id="33" name="Sub-q-1-2">
            <a:hlinkClick r:id="rId9" action="ppaction://hlinksldjump"/>
            <a:extLst>
              <a:ext uri="{FF2B5EF4-FFF2-40B4-BE49-F238E27FC236}">
                <a16:creationId xmlns:a16="http://schemas.microsoft.com/office/drawing/2014/main" id="{2CA9FA85-C9E3-F542-AD4C-DCE93352AD69}"/>
              </a:ext>
            </a:extLst>
          </p:cNvPr>
          <p:cNvSpPr txBox="1"/>
          <p:nvPr/>
        </p:nvSpPr>
        <p:spPr>
          <a:xfrm>
            <a:off x="212688" y="1785123"/>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Immune checkpoints</a:t>
            </a:r>
          </a:p>
        </p:txBody>
      </p:sp>
      <p:sp>
        <p:nvSpPr>
          <p:cNvPr id="34" name="Question 2">
            <a:hlinkClick r:id="rId10" action="ppaction://hlinksldjump"/>
            <a:extLst>
              <a:ext uri="{FF2B5EF4-FFF2-40B4-BE49-F238E27FC236}">
                <a16:creationId xmlns:a16="http://schemas.microsoft.com/office/drawing/2014/main" id="{0900B885-5B96-8B44-84FC-9AF1CC50B64D}"/>
              </a:ext>
            </a:extLst>
          </p:cNvPr>
          <p:cNvSpPr txBox="1"/>
          <p:nvPr/>
        </p:nvSpPr>
        <p:spPr>
          <a:xfrm>
            <a:off x="212688" y="2412822"/>
            <a:ext cx="2423423" cy="71508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Immune checkpoint  inhibitors (ICIs)</a:t>
            </a:r>
            <a:endParaRPr lang="en-US" dirty="0">
              <a:solidFill>
                <a:sysClr val="windowText" lastClr="000000"/>
              </a:solidFill>
            </a:endParaRPr>
          </a:p>
        </p:txBody>
      </p:sp>
      <p:pic>
        <p:nvPicPr>
          <p:cNvPr id="35" name="Graphic 34" descr="Cursor with solid fill">
            <a:extLst>
              <a:ext uri="{FF2B5EF4-FFF2-40B4-BE49-F238E27FC236}">
                <a16:creationId xmlns:a16="http://schemas.microsoft.com/office/drawing/2014/main" id="{02549F9C-3BDD-2A46-821B-DE8A2715418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70301" y="766694"/>
            <a:ext cx="411480" cy="411480"/>
          </a:xfrm>
          <a:prstGeom prst="rect">
            <a:avLst/>
          </a:prstGeom>
        </p:spPr>
      </p:pic>
      <p:pic>
        <p:nvPicPr>
          <p:cNvPr id="36" name="Graphic 35" descr="Cursor with solid fill">
            <a:extLst>
              <a:ext uri="{FF2B5EF4-FFF2-40B4-BE49-F238E27FC236}">
                <a16:creationId xmlns:a16="http://schemas.microsoft.com/office/drawing/2014/main" id="{87C7AA39-22DF-D449-9445-983D2F862AC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70301" y="5496401"/>
            <a:ext cx="411480" cy="411480"/>
          </a:xfrm>
          <a:prstGeom prst="rect">
            <a:avLst/>
          </a:prstGeom>
        </p:spPr>
      </p:pic>
      <p:pic>
        <p:nvPicPr>
          <p:cNvPr id="37" name="Graphic 36" descr="Cursor with solid fill">
            <a:extLst>
              <a:ext uri="{FF2B5EF4-FFF2-40B4-BE49-F238E27FC236}">
                <a16:creationId xmlns:a16="http://schemas.microsoft.com/office/drawing/2014/main" id="{3C37F9AC-BB1A-F84E-9C7D-D48ADB932E8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70301" y="2020349"/>
            <a:ext cx="411480" cy="411480"/>
          </a:xfrm>
          <a:prstGeom prst="rect">
            <a:avLst/>
          </a:prstGeom>
        </p:spPr>
      </p:pic>
      <p:pic>
        <p:nvPicPr>
          <p:cNvPr id="38" name="Graphic 37" descr="Cursor with solid fill">
            <a:extLst>
              <a:ext uri="{FF2B5EF4-FFF2-40B4-BE49-F238E27FC236}">
                <a16:creationId xmlns:a16="http://schemas.microsoft.com/office/drawing/2014/main" id="{E17E81D4-CC88-A94F-8F3A-76E217DE10C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70301" y="2940853"/>
            <a:ext cx="411480" cy="411480"/>
          </a:xfrm>
          <a:prstGeom prst="rect">
            <a:avLst/>
          </a:prstGeom>
        </p:spPr>
      </p:pic>
      <p:pic>
        <p:nvPicPr>
          <p:cNvPr id="39" name="Graphic 38" descr="Cursor with solid fill">
            <a:extLst>
              <a:ext uri="{FF2B5EF4-FFF2-40B4-BE49-F238E27FC236}">
                <a16:creationId xmlns:a16="http://schemas.microsoft.com/office/drawing/2014/main" id="{A33FFD05-534A-4D41-9256-8939EA749D2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70301" y="1395415"/>
            <a:ext cx="411480" cy="411480"/>
          </a:xfrm>
          <a:prstGeom prst="rect">
            <a:avLst/>
          </a:prstGeom>
        </p:spPr>
      </p:pic>
      <p:sp>
        <p:nvSpPr>
          <p:cNvPr id="40" name="Sub-q-1-2">
            <a:hlinkClick r:id="rId13" action="ppaction://hlinksldjump"/>
            <a:extLst>
              <a:ext uri="{FF2B5EF4-FFF2-40B4-BE49-F238E27FC236}">
                <a16:creationId xmlns:a16="http://schemas.microsoft.com/office/drawing/2014/main" id="{23BBBE51-4D46-984D-996A-1515151E671B}"/>
              </a:ext>
            </a:extLst>
          </p:cNvPr>
          <p:cNvSpPr txBox="1"/>
          <p:nvPr/>
        </p:nvSpPr>
        <p:spPr>
          <a:xfrm>
            <a:off x="212688" y="3346987"/>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When do we use ICIs?</a:t>
            </a:r>
          </a:p>
        </p:txBody>
      </p:sp>
      <p:pic>
        <p:nvPicPr>
          <p:cNvPr id="41" name="Graphic 40" descr="Cursor with solid fill">
            <a:extLst>
              <a:ext uri="{FF2B5EF4-FFF2-40B4-BE49-F238E27FC236}">
                <a16:creationId xmlns:a16="http://schemas.microsoft.com/office/drawing/2014/main" id="{7E48AE89-3B49-AC48-944D-C3F5E6CC722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70301" y="3584978"/>
            <a:ext cx="411480" cy="411480"/>
          </a:xfrm>
          <a:prstGeom prst="rect">
            <a:avLst/>
          </a:prstGeom>
        </p:spPr>
      </p:pic>
      <p:sp>
        <p:nvSpPr>
          <p:cNvPr id="42" name="Sub-q-1-2">
            <a:hlinkClick r:id="rId14" action="ppaction://hlinksldjump"/>
            <a:extLst>
              <a:ext uri="{FF2B5EF4-FFF2-40B4-BE49-F238E27FC236}">
                <a16:creationId xmlns:a16="http://schemas.microsoft.com/office/drawing/2014/main" id="{B0B7A84B-1419-5141-823B-DE1A02649A75}"/>
              </a:ext>
            </a:extLst>
          </p:cNvPr>
          <p:cNvSpPr txBox="1"/>
          <p:nvPr/>
        </p:nvSpPr>
        <p:spPr>
          <a:xfrm>
            <a:off x="212688" y="3974687"/>
            <a:ext cx="2423423" cy="408623"/>
          </a:xfrm>
          <a:prstGeom prst="roundRect">
            <a:avLst/>
          </a:prstGeom>
          <a:ln w="38100">
            <a:solidFill>
              <a:srgbClr val="0070C0"/>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Side effects of ICIs</a:t>
            </a:r>
          </a:p>
        </p:txBody>
      </p:sp>
      <p:pic>
        <p:nvPicPr>
          <p:cNvPr id="50" name="Graphic 49" descr="Cursor with solid fill">
            <a:extLst>
              <a:ext uri="{FF2B5EF4-FFF2-40B4-BE49-F238E27FC236}">
                <a16:creationId xmlns:a16="http://schemas.microsoft.com/office/drawing/2014/main" id="{44C5CE37-E023-3A41-A510-DC8E099647A4}"/>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566660" y="384764"/>
            <a:ext cx="411480" cy="411480"/>
          </a:xfrm>
          <a:prstGeom prst="rect">
            <a:avLst/>
          </a:prstGeom>
        </p:spPr>
      </p:pic>
      <p:pic>
        <p:nvPicPr>
          <p:cNvPr id="51" name="Graphic 50" descr="Cursor with solid fill">
            <a:extLst>
              <a:ext uri="{FF2B5EF4-FFF2-40B4-BE49-F238E27FC236}">
                <a16:creationId xmlns:a16="http://schemas.microsoft.com/office/drawing/2014/main" id="{BE94060E-BBED-9542-8B0B-C84604580EF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243060" y="384764"/>
            <a:ext cx="411480" cy="411480"/>
          </a:xfrm>
          <a:prstGeom prst="rect">
            <a:avLst/>
          </a:prstGeom>
        </p:spPr>
      </p:pic>
      <p:pic>
        <p:nvPicPr>
          <p:cNvPr id="52" name="Graphic 51" descr="Cursor with solid fill">
            <a:extLst>
              <a:ext uri="{FF2B5EF4-FFF2-40B4-BE49-F238E27FC236}">
                <a16:creationId xmlns:a16="http://schemas.microsoft.com/office/drawing/2014/main" id="{CAD40DAB-CA20-E245-A6E0-2DD5BD91851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888299" y="384764"/>
            <a:ext cx="411480" cy="411480"/>
          </a:xfrm>
          <a:prstGeom prst="rect">
            <a:avLst/>
          </a:prstGeom>
        </p:spPr>
      </p:pic>
      <p:pic>
        <p:nvPicPr>
          <p:cNvPr id="3" name="Picture 2" descr="Diagram&#10;&#10;Description automatically generated">
            <a:extLst>
              <a:ext uri="{FF2B5EF4-FFF2-40B4-BE49-F238E27FC236}">
                <a16:creationId xmlns:a16="http://schemas.microsoft.com/office/drawing/2014/main" id="{A498D8F6-7821-EF4F-B54E-D5392867ECF3}"/>
              </a:ext>
            </a:extLst>
          </p:cNvPr>
          <p:cNvPicPr>
            <a:picLocks noChangeAspect="1"/>
          </p:cNvPicPr>
          <p:nvPr/>
        </p:nvPicPr>
        <p:blipFill>
          <a:blip r:embed="rId15"/>
          <a:stretch>
            <a:fillRect/>
          </a:stretch>
        </p:blipFill>
        <p:spPr>
          <a:xfrm>
            <a:off x="4958171" y="793387"/>
            <a:ext cx="5833454" cy="5760720"/>
          </a:xfrm>
          <a:prstGeom prst="rect">
            <a:avLst/>
          </a:prstGeom>
          <a:ln w="19050">
            <a:solidFill>
              <a:schemeClr val="accent4">
                <a:lumMod val="40000"/>
                <a:lumOff val="60000"/>
              </a:schemeClr>
            </a:solidFill>
          </a:ln>
        </p:spPr>
      </p:pic>
      <p:sp>
        <p:nvSpPr>
          <p:cNvPr id="53" name="TextBox 52">
            <a:extLst>
              <a:ext uri="{FF2B5EF4-FFF2-40B4-BE49-F238E27FC236}">
                <a16:creationId xmlns:a16="http://schemas.microsoft.com/office/drawing/2014/main" id="{E95A9952-11A5-614D-8015-AD4F80F0E4E0}"/>
              </a:ext>
            </a:extLst>
          </p:cNvPr>
          <p:cNvSpPr txBox="1"/>
          <p:nvPr/>
        </p:nvSpPr>
        <p:spPr>
          <a:xfrm>
            <a:off x="9367699" y="6599007"/>
            <a:ext cx="2847852" cy="246221"/>
          </a:xfrm>
          <a:prstGeom prst="rect">
            <a:avLst/>
          </a:prstGeom>
          <a:noFill/>
        </p:spPr>
        <p:txBody>
          <a:bodyPr wrap="square">
            <a:spAutoFit/>
          </a:bodyPr>
          <a:lstStyle/>
          <a:p>
            <a:pPr algn="r"/>
            <a:r>
              <a:rPr lang="en-US" sz="1000" i="1" dirty="0"/>
              <a:t>Reference: 3-5; Created with </a:t>
            </a:r>
            <a:r>
              <a:rPr lang="en-US" sz="1000" i="1" dirty="0" err="1"/>
              <a:t>BioRender.com</a:t>
            </a:r>
            <a:endParaRPr lang="en-US" sz="1000" i="1" dirty="0"/>
          </a:p>
        </p:txBody>
      </p:sp>
    </p:spTree>
    <p:extLst>
      <p:ext uri="{BB962C8B-B14F-4D97-AF65-F5344CB8AC3E}">
        <p14:creationId xmlns:p14="http://schemas.microsoft.com/office/powerpoint/2010/main" val="90752621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All side effects">
            <a:hlinkClick r:id="rId3" action="ppaction://hlinksldjump"/>
            <a:extLst>
              <a:ext uri="{FF2B5EF4-FFF2-40B4-BE49-F238E27FC236}">
                <a16:creationId xmlns:a16="http://schemas.microsoft.com/office/drawing/2014/main" id="{8A8250DF-D38B-6C4B-9D01-23B9812C67AC}"/>
              </a:ext>
            </a:extLst>
          </p:cNvPr>
          <p:cNvSpPr txBox="1"/>
          <p:nvPr/>
        </p:nvSpPr>
        <p:spPr>
          <a:xfrm>
            <a:off x="4586279" y="156907"/>
            <a:ext cx="1509721"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t>All Side Effects</a:t>
            </a:r>
            <a:endParaRPr lang="en-US" dirty="0">
              <a:solidFill>
                <a:sysClr val="windowText" lastClr="000000"/>
              </a:solidFill>
            </a:endParaRPr>
          </a:p>
        </p:txBody>
      </p:sp>
      <p:sp>
        <p:nvSpPr>
          <p:cNvPr id="44" name="Most common">
            <a:extLst>
              <a:ext uri="{FF2B5EF4-FFF2-40B4-BE49-F238E27FC236}">
                <a16:creationId xmlns:a16="http://schemas.microsoft.com/office/drawing/2014/main" id="{FAF87EB7-5D45-EB46-A1A6-C8DF094DE84C}"/>
              </a:ext>
            </a:extLst>
          </p:cNvPr>
          <p:cNvSpPr txBox="1"/>
          <p:nvPr/>
        </p:nvSpPr>
        <p:spPr>
          <a:xfrm>
            <a:off x="6262679" y="156907"/>
            <a:ext cx="1509721" cy="408623"/>
          </a:xfrm>
          <a:prstGeom prst="roundRect">
            <a:avLst/>
          </a:prstGeom>
          <a:solidFill>
            <a:schemeClr val="accent4">
              <a:lumMod val="40000"/>
              <a:lumOff val="60000"/>
            </a:schemeClr>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solidFill>
                  <a:sysClr val="windowText" lastClr="000000"/>
                </a:solidFill>
              </a:rPr>
              <a:t>Most common</a:t>
            </a:r>
          </a:p>
        </p:txBody>
      </p:sp>
      <p:sp>
        <p:nvSpPr>
          <p:cNvPr id="45" name="Irriversible">
            <a:hlinkClick r:id="rId4" action="ppaction://hlinksldjump"/>
            <a:extLst>
              <a:ext uri="{FF2B5EF4-FFF2-40B4-BE49-F238E27FC236}">
                <a16:creationId xmlns:a16="http://schemas.microsoft.com/office/drawing/2014/main" id="{E995BCE7-BAD5-9947-852F-6B07D69447A6}"/>
              </a:ext>
            </a:extLst>
          </p:cNvPr>
          <p:cNvSpPr txBox="1"/>
          <p:nvPr/>
        </p:nvSpPr>
        <p:spPr>
          <a:xfrm>
            <a:off x="7898348" y="156907"/>
            <a:ext cx="1509721"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solidFill>
                  <a:sysClr val="windowText" lastClr="000000"/>
                </a:solidFill>
              </a:rPr>
              <a:t>Irreversible</a:t>
            </a:r>
          </a:p>
        </p:txBody>
      </p:sp>
      <p:sp>
        <p:nvSpPr>
          <p:cNvPr id="46" name="Deadly">
            <a:hlinkClick r:id="rId5" action="ppaction://hlinksldjump"/>
            <a:extLst>
              <a:ext uri="{FF2B5EF4-FFF2-40B4-BE49-F238E27FC236}">
                <a16:creationId xmlns:a16="http://schemas.microsoft.com/office/drawing/2014/main" id="{8E90FC5F-EEF4-1744-A6A4-A4A56227152F}"/>
              </a:ext>
            </a:extLst>
          </p:cNvPr>
          <p:cNvSpPr txBox="1"/>
          <p:nvPr/>
        </p:nvSpPr>
        <p:spPr>
          <a:xfrm>
            <a:off x="9534017" y="156907"/>
            <a:ext cx="1509721"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solidFill>
                  <a:sysClr val="windowText" lastClr="000000"/>
                </a:solidFill>
              </a:rPr>
              <a:t>Most Deadly</a:t>
            </a:r>
          </a:p>
        </p:txBody>
      </p:sp>
      <p:sp>
        <p:nvSpPr>
          <p:cNvPr id="30" name="question 1">
            <a:hlinkClick r:id="rId6" action="ppaction://hlinksldjump"/>
            <a:extLst>
              <a:ext uri="{FF2B5EF4-FFF2-40B4-BE49-F238E27FC236}">
                <a16:creationId xmlns:a16="http://schemas.microsoft.com/office/drawing/2014/main" id="{6D8C0D20-E24E-3745-9B71-9062241F8D56}"/>
              </a:ext>
            </a:extLst>
          </p:cNvPr>
          <p:cNvSpPr txBox="1"/>
          <p:nvPr/>
        </p:nvSpPr>
        <p:spPr>
          <a:xfrm>
            <a:off x="212688" y="529725"/>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t>Immune system basics</a:t>
            </a:r>
            <a:endParaRPr lang="en-US" dirty="0">
              <a:solidFill>
                <a:sysClr val="windowText" lastClr="000000"/>
              </a:solidFill>
            </a:endParaRPr>
          </a:p>
        </p:txBody>
      </p:sp>
      <p:sp>
        <p:nvSpPr>
          <p:cNvPr id="31" name="Cases">
            <a:hlinkClick r:id="rId7" action="ppaction://hlinksldjump"/>
            <a:extLst>
              <a:ext uri="{FF2B5EF4-FFF2-40B4-BE49-F238E27FC236}">
                <a16:creationId xmlns:a16="http://schemas.microsoft.com/office/drawing/2014/main" id="{4618BEC6-5FB1-D444-9D68-45525377E4F2}"/>
              </a:ext>
            </a:extLst>
          </p:cNvPr>
          <p:cNvSpPr txBox="1"/>
          <p:nvPr/>
        </p:nvSpPr>
        <p:spPr>
          <a:xfrm>
            <a:off x="212688" y="5263878"/>
            <a:ext cx="2423423" cy="408623"/>
          </a:xfrm>
          <a:prstGeom prst="roundRect">
            <a:avLst/>
          </a:prstGeom>
          <a:solidFill>
            <a:schemeClr val="accent5"/>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sp>
        <p:nvSpPr>
          <p:cNvPr id="32" name="sub-q 1-1">
            <a:hlinkClick r:id="rId8" action="ppaction://hlinksldjump"/>
            <a:extLst>
              <a:ext uri="{FF2B5EF4-FFF2-40B4-BE49-F238E27FC236}">
                <a16:creationId xmlns:a16="http://schemas.microsoft.com/office/drawing/2014/main" id="{0C2B7D34-4A6B-8B42-BC33-D818AC8949C0}"/>
              </a:ext>
            </a:extLst>
          </p:cNvPr>
          <p:cNvSpPr txBox="1"/>
          <p:nvPr/>
        </p:nvSpPr>
        <p:spPr>
          <a:xfrm>
            <a:off x="212688" y="1157424"/>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solidFill>
                  <a:sysClr val="windowText" lastClr="000000"/>
                </a:solidFill>
              </a:rPr>
              <a:t>How tumors ‘hide’</a:t>
            </a:r>
          </a:p>
        </p:txBody>
      </p:sp>
      <p:sp>
        <p:nvSpPr>
          <p:cNvPr id="33" name="Sub-q-1-2">
            <a:hlinkClick r:id="rId9" action="ppaction://hlinksldjump"/>
            <a:extLst>
              <a:ext uri="{FF2B5EF4-FFF2-40B4-BE49-F238E27FC236}">
                <a16:creationId xmlns:a16="http://schemas.microsoft.com/office/drawing/2014/main" id="{2CA9FA85-C9E3-F542-AD4C-DCE93352AD69}"/>
              </a:ext>
            </a:extLst>
          </p:cNvPr>
          <p:cNvSpPr txBox="1"/>
          <p:nvPr/>
        </p:nvSpPr>
        <p:spPr>
          <a:xfrm>
            <a:off x="212688" y="1785123"/>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Immune checkpoints</a:t>
            </a:r>
          </a:p>
        </p:txBody>
      </p:sp>
      <p:sp>
        <p:nvSpPr>
          <p:cNvPr id="34" name="Question 2">
            <a:hlinkClick r:id="rId10" action="ppaction://hlinksldjump"/>
            <a:extLst>
              <a:ext uri="{FF2B5EF4-FFF2-40B4-BE49-F238E27FC236}">
                <a16:creationId xmlns:a16="http://schemas.microsoft.com/office/drawing/2014/main" id="{0900B885-5B96-8B44-84FC-9AF1CC50B64D}"/>
              </a:ext>
            </a:extLst>
          </p:cNvPr>
          <p:cNvSpPr txBox="1"/>
          <p:nvPr/>
        </p:nvSpPr>
        <p:spPr>
          <a:xfrm>
            <a:off x="212688" y="2412822"/>
            <a:ext cx="2423423" cy="71508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Immune checkpoint  inhibitors (ICIs)</a:t>
            </a:r>
            <a:endParaRPr lang="en-US" dirty="0">
              <a:solidFill>
                <a:sysClr val="windowText" lastClr="000000"/>
              </a:solidFill>
            </a:endParaRPr>
          </a:p>
        </p:txBody>
      </p:sp>
      <p:pic>
        <p:nvPicPr>
          <p:cNvPr id="35" name="Graphic 34" descr="Cursor with solid fill">
            <a:extLst>
              <a:ext uri="{FF2B5EF4-FFF2-40B4-BE49-F238E27FC236}">
                <a16:creationId xmlns:a16="http://schemas.microsoft.com/office/drawing/2014/main" id="{02549F9C-3BDD-2A46-821B-DE8A2715418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70301" y="766694"/>
            <a:ext cx="411480" cy="411480"/>
          </a:xfrm>
          <a:prstGeom prst="rect">
            <a:avLst/>
          </a:prstGeom>
        </p:spPr>
      </p:pic>
      <p:pic>
        <p:nvPicPr>
          <p:cNvPr id="36" name="Graphic 35" descr="Cursor with solid fill">
            <a:extLst>
              <a:ext uri="{FF2B5EF4-FFF2-40B4-BE49-F238E27FC236}">
                <a16:creationId xmlns:a16="http://schemas.microsoft.com/office/drawing/2014/main" id="{87C7AA39-22DF-D449-9445-983D2F862AC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70301" y="5496401"/>
            <a:ext cx="411480" cy="411480"/>
          </a:xfrm>
          <a:prstGeom prst="rect">
            <a:avLst/>
          </a:prstGeom>
        </p:spPr>
      </p:pic>
      <p:pic>
        <p:nvPicPr>
          <p:cNvPr id="37" name="Graphic 36" descr="Cursor with solid fill">
            <a:extLst>
              <a:ext uri="{FF2B5EF4-FFF2-40B4-BE49-F238E27FC236}">
                <a16:creationId xmlns:a16="http://schemas.microsoft.com/office/drawing/2014/main" id="{3C37F9AC-BB1A-F84E-9C7D-D48ADB932E8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70301" y="2020349"/>
            <a:ext cx="411480" cy="411480"/>
          </a:xfrm>
          <a:prstGeom prst="rect">
            <a:avLst/>
          </a:prstGeom>
        </p:spPr>
      </p:pic>
      <p:pic>
        <p:nvPicPr>
          <p:cNvPr id="38" name="Graphic 37" descr="Cursor with solid fill">
            <a:extLst>
              <a:ext uri="{FF2B5EF4-FFF2-40B4-BE49-F238E27FC236}">
                <a16:creationId xmlns:a16="http://schemas.microsoft.com/office/drawing/2014/main" id="{E17E81D4-CC88-A94F-8F3A-76E217DE10C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70301" y="2940853"/>
            <a:ext cx="411480" cy="411480"/>
          </a:xfrm>
          <a:prstGeom prst="rect">
            <a:avLst/>
          </a:prstGeom>
        </p:spPr>
      </p:pic>
      <p:pic>
        <p:nvPicPr>
          <p:cNvPr id="39" name="Graphic 38" descr="Cursor with solid fill">
            <a:extLst>
              <a:ext uri="{FF2B5EF4-FFF2-40B4-BE49-F238E27FC236}">
                <a16:creationId xmlns:a16="http://schemas.microsoft.com/office/drawing/2014/main" id="{A33FFD05-534A-4D41-9256-8939EA749D2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70301" y="1395415"/>
            <a:ext cx="411480" cy="411480"/>
          </a:xfrm>
          <a:prstGeom prst="rect">
            <a:avLst/>
          </a:prstGeom>
        </p:spPr>
      </p:pic>
      <p:sp>
        <p:nvSpPr>
          <p:cNvPr id="40" name="Sub-q-1-2">
            <a:hlinkClick r:id="rId13" action="ppaction://hlinksldjump"/>
            <a:extLst>
              <a:ext uri="{FF2B5EF4-FFF2-40B4-BE49-F238E27FC236}">
                <a16:creationId xmlns:a16="http://schemas.microsoft.com/office/drawing/2014/main" id="{23BBBE51-4D46-984D-996A-1515151E671B}"/>
              </a:ext>
            </a:extLst>
          </p:cNvPr>
          <p:cNvSpPr txBox="1"/>
          <p:nvPr/>
        </p:nvSpPr>
        <p:spPr>
          <a:xfrm>
            <a:off x="212688" y="3346987"/>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When do we use ICIs?</a:t>
            </a:r>
          </a:p>
        </p:txBody>
      </p:sp>
      <p:pic>
        <p:nvPicPr>
          <p:cNvPr id="41" name="Graphic 40" descr="Cursor with solid fill">
            <a:extLst>
              <a:ext uri="{FF2B5EF4-FFF2-40B4-BE49-F238E27FC236}">
                <a16:creationId xmlns:a16="http://schemas.microsoft.com/office/drawing/2014/main" id="{7E48AE89-3B49-AC48-944D-C3F5E6CC722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70301" y="3584978"/>
            <a:ext cx="411480" cy="411480"/>
          </a:xfrm>
          <a:prstGeom prst="rect">
            <a:avLst/>
          </a:prstGeom>
        </p:spPr>
      </p:pic>
      <p:sp>
        <p:nvSpPr>
          <p:cNvPr id="42" name="Sub-q-1-2">
            <a:hlinkClick r:id="rId14" action="ppaction://hlinksldjump"/>
            <a:extLst>
              <a:ext uri="{FF2B5EF4-FFF2-40B4-BE49-F238E27FC236}">
                <a16:creationId xmlns:a16="http://schemas.microsoft.com/office/drawing/2014/main" id="{B0B7A84B-1419-5141-823B-DE1A02649A75}"/>
              </a:ext>
            </a:extLst>
          </p:cNvPr>
          <p:cNvSpPr txBox="1"/>
          <p:nvPr/>
        </p:nvSpPr>
        <p:spPr>
          <a:xfrm>
            <a:off x="212688" y="3974687"/>
            <a:ext cx="2423423" cy="408623"/>
          </a:xfrm>
          <a:prstGeom prst="roundRect">
            <a:avLst/>
          </a:prstGeom>
          <a:ln w="38100">
            <a:solidFill>
              <a:srgbClr val="0070C0"/>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Side effects of ICIs</a:t>
            </a:r>
          </a:p>
        </p:txBody>
      </p:sp>
      <p:pic>
        <p:nvPicPr>
          <p:cNvPr id="49" name="Graphic 48" descr="Cursor with solid fill">
            <a:extLst>
              <a:ext uri="{FF2B5EF4-FFF2-40B4-BE49-F238E27FC236}">
                <a16:creationId xmlns:a16="http://schemas.microsoft.com/office/drawing/2014/main" id="{0D537EF0-80C1-EF49-A9E9-ADEA9CDDF87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890260" y="384764"/>
            <a:ext cx="411480" cy="411480"/>
          </a:xfrm>
          <a:prstGeom prst="rect">
            <a:avLst/>
          </a:prstGeom>
        </p:spPr>
      </p:pic>
      <p:pic>
        <p:nvPicPr>
          <p:cNvPr id="51" name="Graphic 50" descr="Cursor with solid fill">
            <a:extLst>
              <a:ext uri="{FF2B5EF4-FFF2-40B4-BE49-F238E27FC236}">
                <a16:creationId xmlns:a16="http://schemas.microsoft.com/office/drawing/2014/main" id="{BE94060E-BBED-9542-8B0B-C84604580EF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243060" y="384764"/>
            <a:ext cx="411480" cy="411480"/>
          </a:xfrm>
          <a:prstGeom prst="rect">
            <a:avLst/>
          </a:prstGeom>
        </p:spPr>
      </p:pic>
      <p:pic>
        <p:nvPicPr>
          <p:cNvPr id="52" name="Graphic 51" descr="Cursor with solid fill">
            <a:extLst>
              <a:ext uri="{FF2B5EF4-FFF2-40B4-BE49-F238E27FC236}">
                <a16:creationId xmlns:a16="http://schemas.microsoft.com/office/drawing/2014/main" id="{CAD40DAB-CA20-E245-A6E0-2DD5BD91851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888299" y="384764"/>
            <a:ext cx="411480" cy="411480"/>
          </a:xfrm>
          <a:prstGeom prst="rect">
            <a:avLst/>
          </a:prstGeom>
        </p:spPr>
      </p:pic>
      <p:pic>
        <p:nvPicPr>
          <p:cNvPr id="5" name="Picture 4" descr="Diagram&#10;&#10;Description automatically generated">
            <a:extLst>
              <a:ext uri="{FF2B5EF4-FFF2-40B4-BE49-F238E27FC236}">
                <a16:creationId xmlns:a16="http://schemas.microsoft.com/office/drawing/2014/main" id="{244B8F90-5EF9-204E-9ACE-F922AD972493}"/>
              </a:ext>
            </a:extLst>
          </p:cNvPr>
          <p:cNvPicPr>
            <a:picLocks noChangeAspect="1"/>
          </p:cNvPicPr>
          <p:nvPr/>
        </p:nvPicPr>
        <p:blipFill>
          <a:blip r:embed="rId15"/>
          <a:stretch>
            <a:fillRect/>
          </a:stretch>
        </p:blipFill>
        <p:spPr>
          <a:xfrm>
            <a:off x="4958124" y="815516"/>
            <a:ext cx="5833548" cy="5760720"/>
          </a:xfrm>
          <a:prstGeom prst="rect">
            <a:avLst/>
          </a:prstGeom>
          <a:ln w="25400">
            <a:solidFill>
              <a:schemeClr val="accent4">
                <a:lumMod val="40000"/>
                <a:lumOff val="60000"/>
              </a:schemeClr>
            </a:solidFill>
          </a:ln>
        </p:spPr>
      </p:pic>
      <p:sp>
        <p:nvSpPr>
          <p:cNvPr id="54" name="TextBox 53">
            <a:extLst>
              <a:ext uri="{FF2B5EF4-FFF2-40B4-BE49-F238E27FC236}">
                <a16:creationId xmlns:a16="http://schemas.microsoft.com/office/drawing/2014/main" id="{20437D6A-597B-2B4E-8B53-43214061553A}"/>
              </a:ext>
            </a:extLst>
          </p:cNvPr>
          <p:cNvSpPr txBox="1"/>
          <p:nvPr/>
        </p:nvSpPr>
        <p:spPr>
          <a:xfrm>
            <a:off x="9367699" y="6599007"/>
            <a:ext cx="2847852" cy="246221"/>
          </a:xfrm>
          <a:prstGeom prst="rect">
            <a:avLst/>
          </a:prstGeom>
          <a:noFill/>
        </p:spPr>
        <p:txBody>
          <a:bodyPr wrap="square">
            <a:spAutoFit/>
          </a:bodyPr>
          <a:lstStyle/>
          <a:p>
            <a:pPr algn="r"/>
            <a:r>
              <a:rPr lang="en-US" sz="1000" i="1" dirty="0"/>
              <a:t>Reference: 3-5; Created with </a:t>
            </a:r>
            <a:r>
              <a:rPr lang="en-US" sz="1000" i="1" dirty="0" err="1"/>
              <a:t>BioRender.com</a:t>
            </a:r>
            <a:endParaRPr lang="en-US" sz="1000" i="1" dirty="0"/>
          </a:p>
        </p:txBody>
      </p:sp>
    </p:spTree>
    <p:extLst>
      <p:ext uri="{BB962C8B-B14F-4D97-AF65-F5344CB8AC3E}">
        <p14:creationId xmlns:p14="http://schemas.microsoft.com/office/powerpoint/2010/main" val="211093031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All side effects">
            <a:hlinkClick r:id="rId3" action="ppaction://hlinksldjump"/>
            <a:extLst>
              <a:ext uri="{FF2B5EF4-FFF2-40B4-BE49-F238E27FC236}">
                <a16:creationId xmlns:a16="http://schemas.microsoft.com/office/drawing/2014/main" id="{8A8250DF-D38B-6C4B-9D01-23B9812C67AC}"/>
              </a:ext>
            </a:extLst>
          </p:cNvPr>
          <p:cNvSpPr txBox="1"/>
          <p:nvPr/>
        </p:nvSpPr>
        <p:spPr>
          <a:xfrm>
            <a:off x="4586279" y="156907"/>
            <a:ext cx="1509721"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t>All Side Effects</a:t>
            </a:r>
            <a:endParaRPr lang="en-US" dirty="0">
              <a:solidFill>
                <a:sysClr val="windowText" lastClr="000000"/>
              </a:solidFill>
            </a:endParaRPr>
          </a:p>
        </p:txBody>
      </p:sp>
      <p:sp>
        <p:nvSpPr>
          <p:cNvPr id="44" name="Most common">
            <a:hlinkClick r:id="rId4" action="ppaction://hlinksldjump"/>
            <a:extLst>
              <a:ext uri="{FF2B5EF4-FFF2-40B4-BE49-F238E27FC236}">
                <a16:creationId xmlns:a16="http://schemas.microsoft.com/office/drawing/2014/main" id="{FAF87EB7-5D45-EB46-A1A6-C8DF094DE84C}"/>
              </a:ext>
            </a:extLst>
          </p:cNvPr>
          <p:cNvSpPr txBox="1"/>
          <p:nvPr/>
        </p:nvSpPr>
        <p:spPr>
          <a:xfrm>
            <a:off x="6262679" y="156907"/>
            <a:ext cx="1509721"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solidFill>
                  <a:sysClr val="windowText" lastClr="000000"/>
                </a:solidFill>
              </a:rPr>
              <a:t>Most common</a:t>
            </a:r>
          </a:p>
        </p:txBody>
      </p:sp>
      <p:sp>
        <p:nvSpPr>
          <p:cNvPr id="45" name="Irriversible">
            <a:extLst>
              <a:ext uri="{FF2B5EF4-FFF2-40B4-BE49-F238E27FC236}">
                <a16:creationId xmlns:a16="http://schemas.microsoft.com/office/drawing/2014/main" id="{E995BCE7-BAD5-9947-852F-6B07D69447A6}"/>
              </a:ext>
            </a:extLst>
          </p:cNvPr>
          <p:cNvSpPr txBox="1"/>
          <p:nvPr/>
        </p:nvSpPr>
        <p:spPr>
          <a:xfrm>
            <a:off x="7898348" y="156907"/>
            <a:ext cx="1509721" cy="408623"/>
          </a:xfrm>
          <a:prstGeom prst="roundRect">
            <a:avLst/>
          </a:prstGeom>
          <a:solidFill>
            <a:schemeClr val="accent2"/>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solidFill>
                  <a:sysClr val="windowText" lastClr="000000"/>
                </a:solidFill>
              </a:rPr>
              <a:t>Irreversible</a:t>
            </a:r>
          </a:p>
        </p:txBody>
      </p:sp>
      <p:sp>
        <p:nvSpPr>
          <p:cNvPr id="46" name="Deadly">
            <a:hlinkClick r:id="rId5" action="ppaction://hlinksldjump"/>
            <a:extLst>
              <a:ext uri="{FF2B5EF4-FFF2-40B4-BE49-F238E27FC236}">
                <a16:creationId xmlns:a16="http://schemas.microsoft.com/office/drawing/2014/main" id="{8E90FC5F-EEF4-1744-A6A4-A4A56227152F}"/>
              </a:ext>
            </a:extLst>
          </p:cNvPr>
          <p:cNvSpPr txBox="1"/>
          <p:nvPr/>
        </p:nvSpPr>
        <p:spPr>
          <a:xfrm>
            <a:off x="9534017" y="156907"/>
            <a:ext cx="1509721"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solidFill>
                  <a:sysClr val="windowText" lastClr="000000"/>
                </a:solidFill>
              </a:rPr>
              <a:t>Most Deadly</a:t>
            </a:r>
          </a:p>
        </p:txBody>
      </p:sp>
      <p:sp>
        <p:nvSpPr>
          <p:cNvPr id="30" name="question 1">
            <a:hlinkClick r:id="rId6" action="ppaction://hlinksldjump"/>
            <a:extLst>
              <a:ext uri="{FF2B5EF4-FFF2-40B4-BE49-F238E27FC236}">
                <a16:creationId xmlns:a16="http://schemas.microsoft.com/office/drawing/2014/main" id="{6D8C0D20-E24E-3745-9B71-9062241F8D56}"/>
              </a:ext>
            </a:extLst>
          </p:cNvPr>
          <p:cNvSpPr txBox="1"/>
          <p:nvPr/>
        </p:nvSpPr>
        <p:spPr>
          <a:xfrm>
            <a:off x="212688" y="529725"/>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t>Immune system basics</a:t>
            </a:r>
            <a:endParaRPr lang="en-US" dirty="0">
              <a:solidFill>
                <a:sysClr val="windowText" lastClr="000000"/>
              </a:solidFill>
            </a:endParaRPr>
          </a:p>
        </p:txBody>
      </p:sp>
      <p:sp>
        <p:nvSpPr>
          <p:cNvPr id="31" name="Cases">
            <a:hlinkClick r:id="rId7" action="ppaction://hlinksldjump"/>
            <a:extLst>
              <a:ext uri="{FF2B5EF4-FFF2-40B4-BE49-F238E27FC236}">
                <a16:creationId xmlns:a16="http://schemas.microsoft.com/office/drawing/2014/main" id="{4618BEC6-5FB1-D444-9D68-45525377E4F2}"/>
              </a:ext>
            </a:extLst>
          </p:cNvPr>
          <p:cNvSpPr txBox="1"/>
          <p:nvPr/>
        </p:nvSpPr>
        <p:spPr>
          <a:xfrm>
            <a:off x="212688" y="5263878"/>
            <a:ext cx="2423423" cy="408623"/>
          </a:xfrm>
          <a:prstGeom prst="roundRect">
            <a:avLst/>
          </a:prstGeom>
          <a:solidFill>
            <a:schemeClr val="accent5"/>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sp>
        <p:nvSpPr>
          <p:cNvPr id="32" name="sub-q 1-1">
            <a:hlinkClick r:id="rId8" action="ppaction://hlinksldjump"/>
            <a:extLst>
              <a:ext uri="{FF2B5EF4-FFF2-40B4-BE49-F238E27FC236}">
                <a16:creationId xmlns:a16="http://schemas.microsoft.com/office/drawing/2014/main" id="{0C2B7D34-4A6B-8B42-BC33-D818AC8949C0}"/>
              </a:ext>
            </a:extLst>
          </p:cNvPr>
          <p:cNvSpPr txBox="1"/>
          <p:nvPr/>
        </p:nvSpPr>
        <p:spPr>
          <a:xfrm>
            <a:off x="212688" y="1157424"/>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solidFill>
                  <a:sysClr val="windowText" lastClr="000000"/>
                </a:solidFill>
              </a:rPr>
              <a:t>How tumors ‘hide’</a:t>
            </a:r>
          </a:p>
        </p:txBody>
      </p:sp>
      <p:sp>
        <p:nvSpPr>
          <p:cNvPr id="33" name="Sub-q-1-2">
            <a:hlinkClick r:id="rId9" action="ppaction://hlinksldjump"/>
            <a:extLst>
              <a:ext uri="{FF2B5EF4-FFF2-40B4-BE49-F238E27FC236}">
                <a16:creationId xmlns:a16="http://schemas.microsoft.com/office/drawing/2014/main" id="{2CA9FA85-C9E3-F542-AD4C-DCE93352AD69}"/>
              </a:ext>
            </a:extLst>
          </p:cNvPr>
          <p:cNvSpPr txBox="1"/>
          <p:nvPr/>
        </p:nvSpPr>
        <p:spPr>
          <a:xfrm>
            <a:off x="212688" y="1785123"/>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Immune checkpoints</a:t>
            </a:r>
          </a:p>
        </p:txBody>
      </p:sp>
      <p:sp>
        <p:nvSpPr>
          <p:cNvPr id="34" name="Question 2">
            <a:hlinkClick r:id="rId10" action="ppaction://hlinksldjump"/>
            <a:extLst>
              <a:ext uri="{FF2B5EF4-FFF2-40B4-BE49-F238E27FC236}">
                <a16:creationId xmlns:a16="http://schemas.microsoft.com/office/drawing/2014/main" id="{0900B885-5B96-8B44-84FC-9AF1CC50B64D}"/>
              </a:ext>
            </a:extLst>
          </p:cNvPr>
          <p:cNvSpPr txBox="1"/>
          <p:nvPr/>
        </p:nvSpPr>
        <p:spPr>
          <a:xfrm>
            <a:off x="212688" y="2412822"/>
            <a:ext cx="2423423" cy="71508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Immune checkpoint  inhibitors (ICIs)</a:t>
            </a:r>
            <a:endParaRPr lang="en-US" dirty="0">
              <a:solidFill>
                <a:sysClr val="windowText" lastClr="000000"/>
              </a:solidFill>
            </a:endParaRPr>
          </a:p>
        </p:txBody>
      </p:sp>
      <p:pic>
        <p:nvPicPr>
          <p:cNvPr id="35" name="Graphic 34" descr="Cursor with solid fill">
            <a:extLst>
              <a:ext uri="{FF2B5EF4-FFF2-40B4-BE49-F238E27FC236}">
                <a16:creationId xmlns:a16="http://schemas.microsoft.com/office/drawing/2014/main" id="{02549F9C-3BDD-2A46-821B-DE8A2715418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70301" y="766694"/>
            <a:ext cx="411480" cy="411480"/>
          </a:xfrm>
          <a:prstGeom prst="rect">
            <a:avLst/>
          </a:prstGeom>
        </p:spPr>
      </p:pic>
      <p:pic>
        <p:nvPicPr>
          <p:cNvPr id="36" name="Graphic 35" descr="Cursor with solid fill">
            <a:extLst>
              <a:ext uri="{FF2B5EF4-FFF2-40B4-BE49-F238E27FC236}">
                <a16:creationId xmlns:a16="http://schemas.microsoft.com/office/drawing/2014/main" id="{87C7AA39-22DF-D449-9445-983D2F862AC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70301" y="5496401"/>
            <a:ext cx="411480" cy="411480"/>
          </a:xfrm>
          <a:prstGeom prst="rect">
            <a:avLst/>
          </a:prstGeom>
        </p:spPr>
      </p:pic>
      <p:pic>
        <p:nvPicPr>
          <p:cNvPr id="37" name="Graphic 36" descr="Cursor with solid fill">
            <a:extLst>
              <a:ext uri="{FF2B5EF4-FFF2-40B4-BE49-F238E27FC236}">
                <a16:creationId xmlns:a16="http://schemas.microsoft.com/office/drawing/2014/main" id="{3C37F9AC-BB1A-F84E-9C7D-D48ADB932E8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70301" y="2020349"/>
            <a:ext cx="411480" cy="411480"/>
          </a:xfrm>
          <a:prstGeom prst="rect">
            <a:avLst/>
          </a:prstGeom>
        </p:spPr>
      </p:pic>
      <p:pic>
        <p:nvPicPr>
          <p:cNvPr id="38" name="Graphic 37" descr="Cursor with solid fill">
            <a:extLst>
              <a:ext uri="{FF2B5EF4-FFF2-40B4-BE49-F238E27FC236}">
                <a16:creationId xmlns:a16="http://schemas.microsoft.com/office/drawing/2014/main" id="{E17E81D4-CC88-A94F-8F3A-76E217DE10C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70301" y="2940853"/>
            <a:ext cx="411480" cy="411480"/>
          </a:xfrm>
          <a:prstGeom prst="rect">
            <a:avLst/>
          </a:prstGeom>
        </p:spPr>
      </p:pic>
      <p:pic>
        <p:nvPicPr>
          <p:cNvPr id="39" name="Graphic 38" descr="Cursor with solid fill">
            <a:extLst>
              <a:ext uri="{FF2B5EF4-FFF2-40B4-BE49-F238E27FC236}">
                <a16:creationId xmlns:a16="http://schemas.microsoft.com/office/drawing/2014/main" id="{A33FFD05-534A-4D41-9256-8939EA749D2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70301" y="1395415"/>
            <a:ext cx="411480" cy="411480"/>
          </a:xfrm>
          <a:prstGeom prst="rect">
            <a:avLst/>
          </a:prstGeom>
        </p:spPr>
      </p:pic>
      <p:sp>
        <p:nvSpPr>
          <p:cNvPr id="40" name="Sub-q-1-2">
            <a:hlinkClick r:id="rId13" action="ppaction://hlinksldjump"/>
            <a:extLst>
              <a:ext uri="{FF2B5EF4-FFF2-40B4-BE49-F238E27FC236}">
                <a16:creationId xmlns:a16="http://schemas.microsoft.com/office/drawing/2014/main" id="{23BBBE51-4D46-984D-996A-1515151E671B}"/>
              </a:ext>
            </a:extLst>
          </p:cNvPr>
          <p:cNvSpPr txBox="1"/>
          <p:nvPr/>
        </p:nvSpPr>
        <p:spPr>
          <a:xfrm>
            <a:off x="212688" y="3346987"/>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When do we use ICIs?</a:t>
            </a:r>
          </a:p>
        </p:txBody>
      </p:sp>
      <p:pic>
        <p:nvPicPr>
          <p:cNvPr id="41" name="Graphic 40" descr="Cursor with solid fill">
            <a:extLst>
              <a:ext uri="{FF2B5EF4-FFF2-40B4-BE49-F238E27FC236}">
                <a16:creationId xmlns:a16="http://schemas.microsoft.com/office/drawing/2014/main" id="{7E48AE89-3B49-AC48-944D-C3F5E6CC722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70301" y="3584978"/>
            <a:ext cx="411480" cy="411480"/>
          </a:xfrm>
          <a:prstGeom prst="rect">
            <a:avLst/>
          </a:prstGeom>
        </p:spPr>
      </p:pic>
      <p:sp>
        <p:nvSpPr>
          <p:cNvPr id="42" name="Sub-q-1-2">
            <a:hlinkClick r:id="rId14" action="ppaction://hlinksldjump"/>
            <a:extLst>
              <a:ext uri="{FF2B5EF4-FFF2-40B4-BE49-F238E27FC236}">
                <a16:creationId xmlns:a16="http://schemas.microsoft.com/office/drawing/2014/main" id="{B0B7A84B-1419-5141-823B-DE1A02649A75}"/>
              </a:ext>
            </a:extLst>
          </p:cNvPr>
          <p:cNvSpPr txBox="1"/>
          <p:nvPr/>
        </p:nvSpPr>
        <p:spPr>
          <a:xfrm>
            <a:off x="212688" y="3974687"/>
            <a:ext cx="2423423" cy="408623"/>
          </a:xfrm>
          <a:prstGeom prst="roundRect">
            <a:avLst/>
          </a:prstGeom>
          <a:ln w="38100">
            <a:solidFill>
              <a:srgbClr val="0070C0"/>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Side effects of ICIs</a:t>
            </a:r>
          </a:p>
        </p:txBody>
      </p:sp>
      <p:pic>
        <p:nvPicPr>
          <p:cNvPr id="49" name="Graphic 48" descr="Cursor with solid fill">
            <a:extLst>
              <a:ext uri="{FF2B5EF4-FFF2-40B4-BE49-F238E27FC236}">
                <a16:creationId xmlns:a16="http://schemas.microsoft.com/office/drawing/2014/main" id="{0D537EF0-80C1-EF49-A9E9-ADEA9CDDF87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890260" y="384764"/>
            <a:ext cx="411480" cy="411480"/>
          </a:xfrm>
          <a:prstGeom prst="rect">
            <a:avLst/>
          </a:prstGeom>
        </p:spPr>
      </p:pic>
      <p:pic>
        <p:nvPicPr>
          <p:cNvPr id="50" name="Graphic 49" descr="Cursor with solid fill">
            <a:extLst>
              <a:ext uri="{FF2B5EF4-FFF2-40B4-BE49-F238E27FC236}">
                <a16:creationId xmlns:a16="http://schemas.microsoft.com/office/drawing/2014/main" id="{44C5CE37-E023-3A41-A510-DC8E099647A4}"/>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566660" y="384764"/>
            <a:ext cx="411480" cy="411480"/>
          </a:xfrm>
          <a:prstGeom prst="rect">
            <a:avLst/>
          </a:prstGeom>
        </p:spPr>
      </p:pic>
      <p:pic>
        <p:nvPicPr>
          <p:cNvPr id="52" name="Graphic 51" descr="Cursor with solid fill">
            <a:extLst>
              <a:ext uri="{FF2B5EF4-FFF2-40B4-BE49-F238E27FC236}">
                <a16:creationId xmlns:a16="http://schemas.microsoft.com/office/drawing/2014/main" id="{CAD40DAB-CA20-E245-A6E0-2DD5BD91851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888299" y="384764"/>
            <a:ext cx="411480" cy="411480"/>
          </a:xfrm>
          <a:prstGeom prst="rect">
            <a:avLst/>
          </a:prstGeom>
        </p:spPr>
      </p:pic>
      <p:sp>
        <p:nvSpPr>
          <p:cNvPr id="53" name="TextBox 52">
            <a:extLst>
              <a:ext uri="{FF2B5EF4-FFF2-40B4-BE49-F238E27FC236}">
                <a16:creationId xmlns:a16="http://schemas.microsoft.com/office/drawing/2014/main" id="{968F5162-4935-AE43-8063-E7DCCA0ECA0D}"/>
              </a:ext>
            </a:extLst>
          </p:cNvPr>
          <p:cNvSpPr txBox="1"/>
          <p:nvPr/>
        </p:nvSpPr>
        <p:spPr>
          <a:xfrm>
            <a:off x="9367699" y="6599007"/>
            <a:ext cx="2847852" cy="246221"/>
          </a:xfrm>
          <a:prstGeom prst="rect">
            <a:avLst/>
          </a:prstGeom>
          <a:noFill/>
        </p:spPr>
        <p:txBody>
          <a:bodyPr wrap="square">
            <a:spAutoFit/>
          </a:bodyPr>
          <a:lstStyle/>
          <a:p>
            <a:pPr algn="r"/>
            <a:r>
              <a:rPr lang="en-US" sz="1000" i="1" dirty="0"/>
              <a:t>Reference: 3-5; Created with </a:t>
            </a:r>
            <a:r>
              <a:rPr lang="en-US" sz="1000" i="1" dirty="0" err="1"/>
              <a:t>BioRender.com</a:t>
            </a:r>
            <a:endParaRPr lang="en-US" sz="1000" i="1" dirty="0"/>
          </a:p>
        </p:txBody>
      </p:sp>
      <p:pic>
        <p:nvPicPr>
          <p:cNvPr id="4" name="Picture 3" descr="Diagram&#10;&#10;Description automatically generated">
            <a:extLst>
              <a:ext uri="{FF2B5EF4-FFF2-40B4-BE49-F238E27FC236}">
                <a16:creationId xmlns:a16="http://schemas.microsoft.com/office/drawing/2014/main" id="{AD34EA7E-9506-7441-8591-D61DFD2A7227}"/>
              </a:ext>
            </a:extLst>
          </p:cNvPr>
          <p:cNvPicPr>
            <a:picLocks noChangeAspect="1"/>
          </p:cNvPicPr>
          <p:nvPr/>
        </p:nvPicPr>
        <p:blipFill>
          <a:blip r:embed="rId15"/>
          <a:stretch>
            <a:fillRect/>
          </a:stretch>
        </p:blipFill>
        <p:spPr>
          <a:xfrm>
            <a:off x="4926964" y="747266"/>
            <a:ext cx="5913861" cy="5851741"/>
          </a:xfrm>
          <a:prstGeom prst="rect">
            <a:avLst/>
          </a:prstGeom>
          <a:ln w="25400">
            <a:solidFill>
              <a:schemeClr val="accent2"/>
            </a:solidFill>
          </a:ln>
        </p:spPr>
      </p:pic>
    </p:spTree>
    <p:extLst>
      <p:ext uri="{BB962C8B-B14F-4D97-AF65-F5344CB8AC3E}">
        <p14:creationId xmlns:p14="http://schemas.microsoft.com/office/powerpoint/2010/main" val="267638874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All side effects">
            <a:hlinkClick r:id="rId3" action="ppaction://hlinksldjump"/>
            <a:extLst>
              <a:ext uri="{FF2B5EF4-FFF2-40B4-BE49-F238E27FC236}">
                <a16:creationId xmlns:a16="http://schemas.microsoft.com/office/drawing/2014/main" id="{8A8250DF-D38B-6C4B-9D01-23B9812C67AC}"/>
              </a:ext>
            </a:extLst>
          </p:cNvPr>
          <p:cNvSpPr txBox="1"/>
          <p:nvPr/>
        </p:nvSpPr>
        <p:spPr>
          <a:xfrm>
            <a:off x="4586279" y="156907"/>
            <a:ext cx="1509721"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t>All Side Effects</a:t>
            </a:r>
            <a:endParaRPr lang="en-US" dirty="0">
              <a:solidFill>
                <a:sysClr val="windowText" lastClr="000000"/>
              </a:solidFill>
            </a:endParaRPr>
          </a:p>
        </p:txBody>
      </p:sp>
      <p:sp>
        <p:nvSpPr>
          <p:cNvPr id="44" name="Most common">
            <a:hlinkClick r:id="rId4" action="ppaction://hlinksldjump"/>
            <a:extLst>
              <a:ext uri="{FF2B5EF4-FFF2-40B4-BE49-F238E27FC236}">
                <a16:creationId xmlns:a16="http://schemas.microsoft.com/office/drawing/2014/main" id="{FAF87EB7-5D45-EB46-A1A6-C8DF094DE84C}"/>
              </a:ext>
            </a:extLst>
          </p:cNvPr>
          <p:cNvSpPr txBox="1"/>
          <p:nvPr/>
        </p:nvSpPr>
        <p:spPr>
          <a:xfrm>
            <a:off x="6262679" y="156907"/>
            <a:ext cx="1509721"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solidFill>
                  <a:sysClr val="windowText" lastClr="000000"/>
                </a:solidFill>
              </a:rPr>
              <a:t>Most common</a:t>
            </a:r>
          </a:p>
        </p:txBody>
      </p:sp>
      <p:sp>
        <p:nvSpPr>
          <p:cNvPr id="45" name="Irriversible">
            <a:hlinkClick r:id="rId5" action="ppaction://hlinksldjump"/>
            <a:extLst>
              <a:ext uri="{FF2B5EF4-FFF2-40B4-BE49-F238E27FC236}">
                <a16:creationId xmlns:a16="http://schemas.microsoft.com/office/drawing/2014/main" id="{E995BCE7-BAD5-9947-852F-6B07D69447A6}"/>
              </a:ext>
            </a:extLst>
          </p:cNvPr>
          <p:cNvSpPr txBox="1"/>
          <p:nvPr/>
        </p:nvSpPr>
        <p:spPr>
          <a:xfrm>
            <a:off x="7898348" y="156907"/>
            <a:ext cx="1509721"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solidFill>
                  <a:sysClr val="windowText" lastClr="000000"/>
                </a:solidFill>
              </a:rPr>
              <a:t>Irreversible</a:t>
            </a:r>
          </a:p>
        </p:txBody>
      </p:sp>
      <p:sp>
        <p:nvSpPr>
          <p:cNvPr id="46" name="Deadly">
            <a:extLst>
              <a:ext uri="{FF2B5EF4-FFF2-40B4-BE49-F238E27FC236}">
                <a16:creationId xmlns:a16="http://schemas.microsoft.com/office/drawing/2014/main" id="{8E90FC5F-EEF4-1744-A6A4-A4A56227152F}"/>
              </a:ext>
            </a:extLst>
          </p:cNvPr>
          <p:cNvSpPr txBox="1"/>
          <p:nvPr/>
        </p:nvSpPr>
        <p:spPr>
          <a:xfrm>
            <a:off x="9534017" y="156907"/>
            <a:ext cx="1509721" cy="408623"/>
          </a:xfrm>
          <a:prstGeom prst="roundRect">
            <a:avLst/>
          </a:prstGeom>
          <a:solidFill>
            <a:srgbClr val="FF0000"/>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solidFill>
                  <a:sysClr val="windowText" lastClr="000000"/>
                </a:solidFill>
              </a:rPr>
              <a:t>Most Deadly</a:t>
            </a:r>
          </a:p>
        </p:txBody>
      </p:sp>
      <p:sp>
        <p:nvSpPr>
          <p:cNvPr id="30" name="question 1">
            <a:hlinkClick r:id="rId6" action="ppaction://hlinksldjump"/>
            <a:extLst>
              <a:ext uri="{FF2B5EF4-FFF2-40B4-BE49-F238E27FC236}">
                <a16:creationId xmlns:a16="http://schemas.microsoft.com/office/drawing/2014/main" id="{6D8C0D20-E24E-3745-9B71-9062241F8D56}"/>
              </a:ext>
            </a:extLst>
          </p:cNvPr>
          <p:cNvSpPr txBox="1"/>
          <p:nvPr/>
        </p:nvSpPr>
        <p:spPr>
          <a:xfrm>
            <a:off x="212688" y="529725"/>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t>Immune system basics</a:t>
            </a:r>
            <a:endParaRPr lang="en-US" dirty="0">
              <a:solidFill>
                <a:sysClr val="windowText" lastClr="000000"/>
              </a:solidFill>
            </a:endParaRPr>
          </a:p>
        </p:txBody>
      </p:sp>
      <p:sp>
        <p:nvSpPr>
          <p:cNvPr id="31" name="Cases">
            <a:hlinkClick r:id="rId7" action="ppaction://hlinksldjump"/>
            <a:extLst>
              <a:ext uri="{FF2B5EF4-FFF2-40B4-BE49-F238E27FC236}">
                <a16:creationId xmlns:a16="http://schemas.microsoft.com/office/drawing/2014/main" id="{4618BEC6-5FB1-D444-9D68-45525377E4F2}"/>
              </a:ext>
            </a:extLst>
          </p:cNvPr>
          <p:cNvSpPr txBox="1"/>
          <p:nvPr/>
        </p:nvSpPr>
        <p:spPr>
          <a:xfrm>
            <a:off x="212688" y="5263878"/>
            <a:ext cx="2423423" cy="408623"/>
          </a:xfrm>
          <a:prstGeom prst="roundRect">
            <a:avLst/>
          </a:prstGeom>
          <a:solidFill>
            <a:schemeClr val="accent5"/>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sp>
        <p:nvSpPr>
          <p:cNvPr id="32" name="sub-q 1-1">
            <a:hlinkClick r:id="rId8" action="ppaction://hlinksldjump"/>
            <a:extLst>
              <a:ext uri="{FF2B5EF4-FFF2-40B4-BE49-F238E27FC236}">
                <a16:creationId xmlns:a16="http://schemas.microsoft.com/office/drawing/2014/main" id="{0C2B7D34-4A6B-8B42-BC33-D818AC8949C0}"/>
              </a:ext>
            </a:extLst>
          </p:cNvPr>
          <p:cNvSpPr txBox="1"/>
          <p:nvPr/>
        </p:nvSpPr>
        <p:spPr>
          <a:xfrm>
            <a:off x="212688" y="1157424"/>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45720" rtlCol="0">
            <a:spAutoFit/>
          </a:bodyPr>
          <a:lstStyle/>
          <a:p>
            <a:pPr algn="ctr"/>
            <a:r>
              <a:rPr lang="en-US" dirty="0">
                <a:solidFill>
                  <a:sysClr val="windowText" lastClr="000000"/>
                </a:solidFill>
              </a:rPr>
              <a:t>How tumors ‘hide’</a:t>
            </a:r>
          </a:p>
        </p:txBody>
      </p:sp>
      <p:sp>
        <p:nvSpPr>
          <p:cNvPr id="33" name="Sub-q-1-2">
            <a:hlinkClick r:id="rId9" action="ppaction://hlinksldjump"/>
            <a:extLst>
              <a:ext uri="{FF2B5EF4-FFF2-40B4-BE49-F238E27FC236}">
                <a16:creationId xmlns:a16="http://schemas.microsoft.com/office/drawing/2014/main" id="{2CA9FA85-C9E3-F542-AD4C-DCE93352AD69}"/>
              </a:ext>
            </a:extLst>
          </p:cNvPr>
          <p:cNvSpPr txBox="1"/>
          <p:nvPr/>
        </p:nvSpPr>
        <p:spPr>
          <a:xfrm>
            <a:off x="212688" y="1785123"/>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Immune checkpoints</a:t>
            </a:r>
          </a:p>
        </p:txBody>
      </p:sp>
      <p:sp>
        <p:nvSpPr>
          <p:cNvPr id="34" name="Question 2">
            <a:hlinkClick r:id="rId10" action="ppaction://hlinksldjump"/>
            <a:extLst>
              <a:ext uri="{FF2B5EF4-FFF2-40B4-BE49-F238E27FC236}">
                <a16:creationId xmlns:a16="http://schemas.microsoft.com/office/drawing/2014/main" id="{0900B885-5B96-8B44-84FC-9AF1CC50B64D}"/>
              </a:ext>
            </a:extLst>
          </p:cNvPr>
          <p:cNvSpPr txBox="1"/>
          <p:nvPr/>
        </p:nvSpPr>
        <p:spPr>
          <a:xfrm>
            <a:off x="212688" y="2412822"/>
            <a:ext cx="2423423" cy="71508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Immune checkpoint  inhibitors (ICIs)</a:t>
            </a:r>
            <a:endParaRPr lang="en-US" dirty="0">
              <a:solidFill>
                <a:sysClr val="windowText" lastClr="000000"/>
              </a:solidFill>
            </a:endParaRPr>
          </a:p>
        </p:txBody>
      </p:sp>
      <p:pic>
        <p:nvPicPr>
          <p:cNvPr id="35" name="Graphic 34" descr="Cursor with solid fill">
            <a:extLst>
              <a:ext uri="{FF2B5EF4-FFF2-40B4-BE49-F238E27FC236}">
                <a16:creationId xmlns:a16="http://schemas.microsoft.com/office/drawing/2014/main" id="{02549F9C-3BDD-2A46-821B-DE8A2715418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70301" y="766694"/>
            <a:ext cx="411480" cy="411480"/>
          </a:xfrm>
          <a:prstGeom prst="rect">
            <a:avLst/>
          </a:prstGeom>
        </p:spPr>
      </p:pic>
      <p:pic>
        <p:nvPicPr>
          <p:cNvPr id="36" name="Graphic 35" descr="Cursor with solid fill">
            <a:extLst>
              <a:ext uri="{FF2B5EF4-FFF2-40B4-BE49-F238E27FC236}">
                <a16:creationId xmlns:a16="http://schemas.microsoft.com/office/drawing/2014/main" id="{87C7AA39-22DF-D449-9445-983D2F862AC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70301" y="5496401"/>
            <a:ext cx="411480" cy="411480"/>
          </a:xfrm>
          <a:prstGeom prst="rect">
            <a:avLst/>
          </a:prstGeom>
        </p:spPr>
      </p:pic>
      <p:pic>
        <p:nvPicPr>
          <p:cNvPr id="37" name="Graphic 36" descr="Cursor with solid fill">
            <a:extLst>
              <a:ext uri="{FF2B5EF4-FFF2-40B4-BE49-F238E27FC236}">
                <a16:creationId xmlns:a16="http://schemas.microsoft.com/office/drawing/2014/main" id="{3C37F9AC-BB1A-F84E-9C7D-D48ADB932E8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70301" y="2020349"/>
            <a:ext cx="411480" cy="411480"/>
          </a:xfrm>
          <a:prstGeom prst="rect">
            <a:avLst/>
          </a:prstGeom>
        </p:spPr>
      </p:pic>
      <p:pic>
        <p:nvPicPr>
          <p:cNvPr id="38" name="Graphic 37" descr="Cursor with solid fill">
            <a:extLst>
              <a:ext uri="{FF2B5EF4-FFF2-40B4-BE49-F238E27FC236}">
                <a16:creationId xmlns:a16="http://schemas.microsoft.com/office/drawing/2014/main" id="{E17E81D4-CC88-A94F-8F3A-76E217DE10C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70301" y="2940853"/>
            <a:ext cx="411480" cy="411480"/>
          </a:xfrm>
          <a:prstGeom prst="rect">
            <a:avLst/>
          </a:prstGeom>
        </p:spPr>
      </p:pic>
      <p:pic>
        <p:nvPicPr>
          <p:cNvPr id="39" name="Graphic 38" descr="Cursor with solid fill">
            <a:extLst>
              <a:ext uri="{FF2B5EF4-FFF2-40B4-BE49-F238E27FC236}">
                <a16:creationId xmlns:a16="http://schemas.microsoft.com/office/drawing/2014/main" id="{A33FFD05-534A-4D41-9256-8939EA749D2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70301" y="1395415"/>
            <a:ext cx="411480" cy="411480"/>
          </a:xfrm>
          <a:prstGeom prst="rect">
            <a:avLst/>
          </a:prstGeom>
        </p:spPr>
      </p:pic>
      <p:sp>
        <p:nvSpPr>
          <p:cNvPr id="40" name="Sub-q-1-2">
            <a:hlinkClick r:id="rId13" action="ppaction://hlinksldjump"/>
            <a:extLst>
              <a:ext uri="{FF2B5EF4-FFF2-40B4-BE49-F238E27FC236}">
                <a16:creationId xmlns:a16="http://schemas.microsoft.com/office/drawing/2014/main" id="{23BBBE51-4D46-984D-996A-1515151E671B}"/>
              </a:ext>
            </a:extLst>
          </p:cNvPr>
          <p:cNvSpPr txBox="1"/>
          <p:nvPr/>
        </p:nvSpPr>
        <p:spPr>
          <a:xfrm>
            <a:off x="212688" y="3346987"/>
            <a:ext cx="242342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When do we use ICIs?</a:t>
            </a:r>
          </a:p>
        </p:txBody>
      </p:sp>
      <p:pic>
        <p:nvPicPr>
          <p:cNvPr id="41" name="Graphic 40" descr="Cursor with solid fill">
            <a:extLst>
              <a:ext uri="{FF2B5EF4-FFF2-40B4-BE49-F238E27FC236}">
                <a16:creationId xmlns:a16="http://schemas.microsoft.com/office/drawing/2014/main" id="{7E48AE89-3B49-AC48-944D-C3F5E6CC722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70301" y="3584978"/>
            <a:ext cx="411480" cy="411480"/>
          </a:xfrm>
          <a:prstGeom prst="rect">
            <a:avLst/>
          </a:prstGeom>
        </p:spPr>
      </p:pic>
      <p:sp>
        <p:nvSpPr>
          <p:cNvPr id="42" name="Sub-q-1-2">
            <a:hlinkClick r:id="rId14" action="ppaction://hlinksldjump"/>
            <a:extLst>
              <a:ext uri="{FF2B5EF4-FFF2-40B4-BE49-F238E27FC236}">
                <a16:creationId xmlns:a16="http://schemas.microsoft.com/office/drawing/2014/main" id="{B0B7A84B-1419-5141-823B-DE1A02649A75}"/>
              </a:ext>
            </a:extLst>
          </p:cNvPr>
          <p:cNvSpPr txBox="1"/>
          <p:nvPr/>
        </p:nvSpPr>
        <p:spPr>
          <a:xfrm>
            <a:off x="212688" y="3974687"/>
            <a:ext cx="2423423" cy="408623"/>
          </a:xfrm>
          <a:prstGeom prst="roundRect">
            <a:avLst/>
          </a:prstGeom>
          <a:ln w="38100">
            <a:solidFill>
              <a:srgbClr val="0070C0"/>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45720" rIns="18288" rtlCol="0">
            <a:spAutoFit/>
          </a:bodyPr>
          <a:lstStyle/>
          <a:p>
            <a:pPr algn="ctr"/>
            <a:r>
              <a:rPr lang="en-US" dirty="0">
                <a:solidFill>
                  <a:sysClr val="windowText" lastClr="000000"/>
                </a:solidFill>
              </a:rPr>
              <a:t>Side effects of ICIs</a:t>
            </a:r>
          </a:p>
        </p:txBody>
      </p:sp>
      <p:pic>
        <p:nvPicPr>
          <p:cNvPr id="49" name="Graphic 48" descr="Cursor with solid fill">
            <a:extLst>
              <a:ext uri="{FF2B5EF4-FFF2-40B4-BE49-F238E27FC236}">
                <a16:creationId xmlns:a16="http://schemas.microsoft.com/office/drawing/2014/main" id="{0D537EF0-80C1-EF49-A9E9-ADEA9CDDF87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890260" y="384764"/>
            <a:ext cx="411480" cy="411480"/>
          </a:xfrm>
          <a:prstGeom prst="rect">
            <a:avLst/>
          </a:prstGeom>
        </p:spPr>
      </p:pic>
      <p:pic>
        <p:nvPicPr>
          <p:cNvPr id="50" name="Graphic 49" descr="Cursor with solid fill">
            <a:extLst>
              <a:ext uri="{FF2B5EF4-FFF2-40B4-BE49-F238E27FC236}">
                <a16:creationId xmlns:a16="http://schemas.microsoft.com/office/drawing/2014/main" id="{44C5CE37-E023-3A41-A510-DC8E099647A4}"/>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566660" y="384764"/>
            <a:ext cx="411480" cy="411480"/>
          </a:xfrm>
          <a:prstGeom prst="rect">
            <a:avLst/>
          </a:prstGeom>
        </p:spPr>
      </p:pic>
      <p:pic>
        <p:nvPicPr>
          <p:cNvPr id="51" name="Graphic 50" descr="Cursor with solid fill">
            <a:extLst>
              <a:ext uri="{FF2B5EF4-FFF2-40B4-BE49-F238E27FC236}">
                <a16:creationId xmlns:a16="http://schemas.microsoft.com/office/drawing/2014/main" id="{BE94060E-BBED-9542-8B0B-C84604580EF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243060" y="384764"/>
            <a:ext cx="411480" cy="411480"/>
          </a:xfrm>
          <a:prstGeom prst="rect">
            <a:avLst/>
          </a:prstGeom>
        </p:spPr>
      </p:pic>
      <p:sp>
        <p:nvSpPr>
          <p:cNvPr id="53" name="TextBox 52">
            <a:extLst>
              <a:ext uri="{FF2B5EF4-FFF2-40B4-BE49-F238E27FC236}">
                <a16:creationId xmlns:a16="http://schemas.microsoft.com/office/drawing/2014/main" id="{98262459-6D0C-E143-AEBF-04DB6BA6E89C}"/>
              </a:ext>
            </a:extLst>
          </p:cNvPr>
          <p:cNvSpPr txBox="1"/>
          <p:nvPr/>
        </p:nvSpPr>
        <p:spPr>
          <a:xfrm>
            <a:off x="9367699" y="6599007"/>
            <a:ext cx="2847852" cy="246221"/>
          </a:xfrm>
          <a:prstGeom prst="rect">
            <a:avLst/>
          </a:prstGeom>
          <a:noFill/>
        </p:spPr>
        <p:txBody>
          <a:bodyPr wrap="square">
            <a:spAutoFit/>
          </a:bodyPr>
          <a:lstStyle/>
          <a:p>
            <a:pPr algn="r"/>
            <a:r>
              <a:rPr lang="en-US" sz="1000" i="1" dirty="0"/>
              <a:t>Reference: 3-5; Created with </a:t>
            </a:r>
            <a:r>
              <a:rPr lang="en-US" sz="1000" i="1" dirty="0" err="1"/>
              <a:t>BioRender.com</a:t>
            </a:r>
            <a:endParaRPr lang="en-US" sz="1000" i="1" dirty="0"/>
          </a:p>
        </p:txBody>
      </p:sp>
      <p:pic>
        <p:nvPicPr>
          <p:cNvPr id="8" name="Picture 7" descr="Diagram&#10;&#10;Description automatically generated">
            <a:extLst>
              <a:ext uri="{FF2B5EF4-FFF2-40B4-BE49-F238E27FC236}">
                <a16:creationId xmlns:a16="http://schemas.microsoft.com/office/drawing/2014/main" id="{41747CCF-47A4-8844-9F25-593418636E7C}"/>
              </a:ext>
            </a:extLst>
          </p:cNvPr>
          <p:cNvPicPr>
            <a:picLocks noChangeAspect="1"/>
          </p:cNvPicPr>
          <p:nvPr/>
        </p:nvPicPr>
        <p:blipFill>
          <a:blip r:embed="rId15"/>
          <a:stretch>
            <a:fillRect/>
          </a:stretch>
        </p:blipFill>
        <p:spPr>
          <a:xfrm>
            <a:off x="4972239" y="813989"/>
            <a:ext cx="5800287" cy="5740118"/>
          </a:xfrm>
          <a:prstGeom prst="rect">
            <a:avLst/>
          </a:prstGeom>
          <a:ln w="25400">
            <a:solidFill>
              <a:srgbClr val="FF0000"/>
            </a:solidFill>
          </a:ln>
        </p:spPr>
      </p:pic>
    </p:spTree>
    <p:extLst>
      <p:ext uri="{BB962C8B-B14F-4D97-AF65-F5344CB8AC3E}">
        <p14:creationId xmlns:p14="http://schemas.microsoft.com/office/powerpoint/2010/main" val="203674038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7B20797-FA42-4BBA-ABF2-5CF06A40D43C}"/>
              </a:ext>
            </a:extLst>
          </p:cNvPr>
          <p:cNvCxnSpPr>
            <a:cxnSpLocks/>
          </p:cNvCxnSpPr>
          <p:nvPr/>
        </p:nvCxnSpPr>
        <p:spPr>
          <a:xfrm flipH="1">
            <a:off x="7692363" y="0"/>
            <a:ext cx="8590" cy="685800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66ED83D-4D37-4A82-8C3A-63919FF9C74A}"/>
              </a:ext>
            </a:extLst>
          </p:cNvPr>
          <p:cNvCxnSpPr>
            <a:cxnSpLocks/>
          </p:cNvCxnSpPr>
          <p:nvPr/>
        </p:nvCxnSpPr>
        <p:spPr>
          <a:xfrm flipH="1">
            <a:off x="3199634" y="0"/>
            <a:ext cx="14406" cy="685800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1" name="Case 1">
            <a:extLst>
              <a:ext uri="{FF2B5EF4-FFF2-40B4-BE49-F238E27FC236}">
                <a16:creationId xmlns:a16="http://schemas.microsoft.com/office/drawing/2014/main" id="{D2B7E91F-D4C0-4BE2-8AA9-79828559D719}"/>
              </a:ext>
            </a:extLst>
          </p:cNvPr>
          <p:cNvSpPr/>
          <p:nvPr/>
        </p:nvSpPr>
        <p:spPr>
          <a:xfrm>
            <a:off x="4402341" y="197650"/>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Case 1</a:t>
            </a:r>
          </a:p>
        </p:txBody>
      </p:sp>
      <p:sp>
        <p:nvSpPr>
          <p:cNvPr id="13" name="Case 1 text">
            <a:extLst>
              <a:ext uri="{FF2B5EF4-FFF2-40B4-BE49-F238E27FC236}">
                <a16:creationId xmlns:a16="http://schemas.microsoft.com/office/drawing/2014/main" id="{28FAF219-B0F0-4D6F-A011-8C6E213E6DC1}"/>
              </a:ext>
            </a:extLst>
          </p:cNvPr>
          <p:cNvSpPr txBox="1"/>
          <p:nvPr/>
        </p:nvSpPr>
        <p:spPr>
          <a:xfrm>
            <a:off x="3333156" y="685276"/>
            <a:ext cx="4367797" cy="1384995"/>
          </a:xfrm>
          <a:prstGeom prst="rect">
            <a:avLst/>
          </a:prstGeom>
          <a:noFill/>
        </p:spPr>
        <p:txBody>
          <a:bodyPr wrap="square" lIns="91440" tIns="45720" rIns="91440" bIns="45720" rtlCol="0" anchor="t">
            <a:spAutoFit/>
          </a:bodyPr>
          <a:lstStyle/>
          <a:p>
            <a:r>
              <a:rPr lang="en-US" sz="1400" b="1" dirty="0">
                <a:ea typeface="+mn-lt"/>
                <a:cs typeface="+mn-lt"/>
              </a:rPr>
              <a:t>Case 1: </a:t>
            </a:r>
            <a:r>
              <a:rPr lang="en-US" sz="1400" dirty="0">
                <a:ea typeface="+mn-lt"/>
                <a:cs typeface="+mn-lt"/>
              </a:rPr>
              <a:t>A 46 </a:t>
            </a:r>
            <a:r>
              <a:rPr lang="en-US" sz="1400" dirty="0" err="1">
                <a:ea typeface="+mn-lt"/>
                <a:cs typeface="+mn-lt"/>
              </a:rPr>
              <a:t>yo</a:t>
            </a:r>
            <a:r>
              <a:rPr lang="en-US" sz="1400" dirty="0">
                <a:ea typeface="+mn-lt"/>
                <a:cs typeface="+mn-lt"/>
              </a:rPr>
              <a:t> woman w/hx of metastatic melanoma being treated with nivolumab (anti-PD-1) and ipilimumab (anti-CTLA-4) presents to your primary care office with new onset diarrhea. </a:t>
            </a:r>
            <a:r>
              <a:rPr lang="en-US" sz="1400">
                <a:ea typeface="+mn-lt"/>
                <a:cs typeface="+mn-lt"/>
              </a:rPr>
              <a:t>Having 5-6 </a:t>
            </a:r>
            <a:r>
              <a:rPr lang="en-US" sz="1400" dirty="0">
                <a:ea typeface="+mn-lt"/>
                <a:cs typeface="+mn-lt"/>
              </a:rPr>
              <a:t>BMs per day, not interfering with her ADLs/IADLs</a:t>
            </a:r>
          </a:p>
          <a:p>
            <a:endParaRPr lang="en-US" sz="1400" dirty="0">
              <a:ea typeface="+mn-lt"/>
              <a:cs typeface="+mn-lt"/>
            </a:endParaRPr>
          </a:p>
        </p:txBody>
      </p:sp>
      <p:sp>
        <p:nvSpPr>
          <p:cNvPr id="28" name="Case 1 - 1 question">
            <a:extLst>
              <a:ext uri="{FF2B5EF4-FFF2-40B4-BE49-F238E27FC236}">
                <a16:creationId xmlns:a16="http://schemas.microsoft.com/office/drawing/2014/main" id="{A720D17D-CBB7-401A-B329-CE14FDF24C03}"/>
              </a:ext>
            </a:extLst>
          </p:cNvPr>
          <p:cNvSpPr/>
          <p:nvPr/>
        </p:nvSpPr>
        <p:spPr>
          <a:xfrm>
            <a:off x="3486033" y="1888779"/>
            <a:ext cx="4016079" cy="401059"/>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What work up should you do?</a:t>
            </a:r>
          </a:p>
        </p:txBody>
      </p:sp>
      <p:sp>
        <p:nvSpPr>
          <p:cNvPr id="31" name="Case 1 - 3 question">
            <a:extLst>
              <a:ext uri="{FF2B5EF4-FFF2-40B4-BE49-F238E27FC236}">
                <a16:creationId xmlns:a16="http://schemas.microsoft.com/office/drawing/2014/main" id="{FC95995F-E4E4-4637-AB4F-6B3EE9F47547}"/>
              </a:ext>
            </a:extLst>
          </p:cNvPr>
          <p:cNvSpPr/>
          <p:nvPr/>
        </p:nvSpPr>
        <p:spPr>
          <a:xfrm>
            <a:off x="3474574" y="4302355"/>
            <a:ext cx="4027529" cy="616615"/>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Infectious w/up comes back negative.</a:t>
            </a:r>
          </a:p>
          <a:p>
            <a:pPr algn="ctr"/>
            <a:r>
              <a:rPr lang="en-US" sz="1600" dirty="0"/>
              <a:t>What treatment should you offer?</a:t>
            </a:r>
            <a:endParaRPr lang="en-US" sz="1600" b="1" dirty="0"/>
          </a:p>
        </p:txBody>
      </p:sp>
      <p:sp>
        <p:nvSpPr>
          <p:cNvPr id="33" name="Case 1 - 1 answer">
            <a:extLst>
              <a:ext uri="{FF2B5EF4-FFF2-40B4-BE49-F238E27FC236}">
                <a16:creationId xmlns:a16="http://schemas.microsoft.com/office/drawing/2014/main" id="{8E93BC3D-9A48-4519-87F0-DC82D5777AEB}"/>
              </a:ext>
            </a:extLst>
          </p:cNvPr>
          <p:cNvSpPr/>
          <p:nvPr/>
        </p:nvSpPr>
        <p:spPr>
          <a:xfrm>
            <a:off x="3481722" y="2324359"/>
            <a:ext cx="4022675" cy="68119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marL="285750" indent="-285750">
              <a:buFont typeface="Arial" panose="020B0604020202020204" pitchFamily="34" charset="0"/>
              <a:buChar char="•"/>
            </a:pPr>
            <a:r>
              <a:rPr lang="en-US" sz="1400" dirty="0"/>
              <a:t>Check stool PCR (r/o C diff and other infectious causes)</a:t>
            </a:r>
          </a:p>
          <a:p>
            <a:pPr marL="285750" indent="-285750">
              <a:buFont typeface="Arial" panose="020B0604020202020204" pitchFamily="34" charset="0"/>
              <a:buChar char="•"/>
            </a:pPr>
            <a:r>
              <a:rPr lang="en-US" sz="1400" dirty="0"/>
              <a:t>Lactoferrin/calprotectin</a:t>
            </a:r>
          </a:p>
        </p:txBody>
      </p:sp>
      <p:sp>
        <p:nvSpPr>
          <p:cNvPr id="34" name="Case 1 - 2 answer">
            <a:extLst>
              <a:ext uri="{FF2B5EF4-FFF2-40B4-BE49-F238E27FC236}">
                <a16:creationId xmlns:a16="http://schemas.microsoft.com/office/drawing/2014/main" id="{78D59F4F-3EF0-4B50-B0DE-BD1DB0BEC628}"/>
              </a:ext>
            </a:extLst>
          </p:cNvPr>
          <p:cNvSpPr/>
          <p:nvPr/>
        </p:nvSpPr>
        <p:spPr>
          <a:xfrm>
            <a:off x="3486032" y="4948486"/>
            <a:ext cx="4029809" cy="1127732"/>
          </a:xfrm>
          <a:prstGeom prst="roundRect">
            <a:avLst>
              <a:gd name="adj" fmla="val 11507"/>
            </a:avLst>
          </a:prstGeom>
        </p:spPr>
        <p:style>
          <a:lnRef idx="2">
            <a:schemeClr val="accent1"/>
          </a:lnRef>
          <a:fillRef idx="1">
            <a:schemeClr val="lt1"/>
          </a:fillRef>
          <a:effectRef idx="0">
            <a:schemeClr val="accent1"/>
          </a:effectRef>
          <a:fontRef idx="minor">
            <a:schemeClr val="dk1"/>
          </a:fontRef>
        </p:style>
        <p:txBody>
          <a:bodyPr rtlCol="0" anchor="ctr"/>
          <a:lstStyle/>
          <a:p>
            <a:pPr marL="285750" indent="-285750">
              <a:buFont typeface="Arial" panose="020B0604020202020204" pitchFamily="34" charset="0"/>
              <a:buChar char="•"/>
            </a:pPr>
            <a:r>
              <a:rPr lang="en-US" sz="1400" dirty="0"/>
              <a:t>Hold nivolumab and ipilimumab</a:t>
            </a:r>
          </a:p>
          <a:p>
            <a:pPr marL="285750" indent="-285750">
              <a:buFont typeface="Arial" panose="020B0604020202020204" pitchFamily="34" charset="0"/>
              <a:buChar char="•"/>
            </a:pPr>
            <a:r>
              <a:rPr lang="en-US" sz="1400" dirty="0"/>
              <a:t>Prednisone 1-2 mg/kg/day</a:t>
            </a:r>
          </a:p>
          <a:p>
            <a:pPr marL="285750" indent="-285750">
              <a:buFont typeface="Arial" panose="020B0604020202020204" pitchFamily="34" charset="0"/>
              <a:buChar char="•"/>
            </a:pPr>
            <a:r>
              <a:rPr lang="en-US" sz="1400" dirty="0"/>
              <a:t>If no response in 2-3 days, continue steroids and consider adding infliximab or vedolizumab within 2 weeks</a:t>
            </a:r>
          </a:p>
        </p:txBody>
      </p:sp>
      <p:sp>
        <p:nvSpPr>
          <p:cNvPr id="129" name="Case 2">
            <a:extLst>
              <a:ext uri="{FF2B5EF4-FFF2-40B4-BE49-F238E27FC236}">
                <a16:creationId xmlns:a16="http://schemas.microsoft.com/office/drawing/2014/main" id="{41FEB336-49CA-4EC0-AC0A-587C0CD09C68}"/>
              </a:ext>
            </a:extLst>
          </p:cNvPr>
          <p:cNvSpPr/>
          <p:nvPr/>
        </p:nvSpPr>
        <p:spPr>
          <a:xfrm>
            <a:off x="8852517" y="197650"/>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Case 2</a:t>
            </a:r>
          </a:p>
        </p:txBody>
      </p:sp>
      <p:sp>
        <p:nvSpPr>
          <p:cNvPr id="131" name="Case 1 text">
            <a:extLst>
              <a:ext uri="{FF2B5EF4-FFF2-40B4-BE49-F238E27FC236}">
                <a16:creationId xmlns:a16="http://schemas.microsoft.com/office/drawing/2014/main" id="{83105C6D-94DC-444D-A80F-80E89A1ED833}"/>
              </a:ext>
            </a:extLst>
          </p:cNvPr>
          <p:cNvSpPr txBox="1"/>
          <p:nvPr/>
        </p:nvSpPr>
        <p:spPr>
          <a:xfrm>
            <a:off x="7809166" y="685276"/>
            <a:ext cx="4281262" cy="1169551"/>
          </a:xfrm>
          <a:prstGeom prst="rect">
            <a:avLst/>
          </a:prstGeom>
          <a:noFill/>
        </p:spPr>
        <p:txBody>
          <a:bodyPr wrap="square" lIns="91440" tIns="45720" rIns="91440" bIns="45720" rtlCol="0" anchor="t">
            <a:spAutoFit/>
          </a:bodyPr>
          <a:lstStyle/>
          <a:p>
            <a:pPr marL="0" indent="0">
              <a:spcBef>
                <a:spcPts val="0"/>
              </a:spcBef>
              <a:buNone/>
            </a:pPr>
            <a:r>
              <a:rPr lang="en-US" sz="1400" b="1" dirty="0"/>
              <a:t>Case 2</a:t>
            </a:r>
            <a:r>
              <a:rPr lang="en-US" sz="1400" dirty="0"/>
              <a:t>: A 68 </a:t>
            </a:r>
            <a:r>
              <a:rPr lang="en-US" sz="1400" dirty="0" err="1"/>
              <a:t>yo</a:t>
            </a:r>
            <a:r>
              <a:rPr lang="en-US" sz="1400" dirty="0"/>
              <a:t> gentleman with stage IV NSCLC on single agent pembrolizumab (anti-PD-1). On his 5</a:t>
            </a:r>
            <a:r>
              <a:rPr lang="en-US" sz="1400" baseline="30000" dirty="0"/>
              <a:t>th</a:t>
            </a:r>
            <a:r>
              <a:rPr lang="en-US" sz="1400" dirty="0"/>
              <a:t> cycle he develops a worsening cough and dyspnea on exertion and comes into your office to be examined found to have SpO2 of  88% on RA with coarse </a:t>
            </a:r>
            <a:r>
              <a:rPr lang="en-US" sz="1400" dirty="0" err="1"/>
              <a:t>b/l</a:t>
            </a:r>
            <a:r>
              <a:rPr lang="en-US" sz="1400" dirty="0"/>
              <a:t> crackles. </a:t>
            </a:r>
          </a:p>
        </p:txBody>
      </p:sp>
      <p:pic>
        <p:nvPicPr>
          <p:cNvPr id="51" name="Picture 50" descr="Icon&#10;&#10;Description automatically generated">
            <a:extLst>
              <a:ext uri="{FF2B5EF4-FFF2-40B4-BE49-F238E27FC236}">
                <a16:creationId xmlns:a16="http://schemas.microsoft.com/office/drawing/2014/main" id="{37D5A2D8-B76E-4A99-9941-02913E7046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208" y="6329894"/>
            <a:ext cx="1387970" cy="528106"/>
          </a:xfrm>
          <a:prstGeom prst="rect">
            <a:avLst/>
          </a:prstGeom>
        </p:spPr>
      </p:pic>
      <p:pic>
        <p:nvPicPr>
          <p:cNvPr id="56" name="Graphic 55" descr="Cursor with solid fill">
            <a:extLst>
              <a:ext uri="{FF2B5EF4-FFF2-40B4-BE49-F238E27FC236}">
                <a16:creationId xmlns:a16="http://schemas.microsoft.com/office/drawing/2014/main" id="{7F468C7A-552C-4BB3-995C-8675315955E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37135" y="475341"/>
            <a:ext cx="302506" cy="302506"/>
          </a:xfrm>
          <a:prstGeom prst="rect">
            <a:avLst/>
          </a:prstGeom>
        </p:spPr>
      </p:pic>
      <p:sp>
        <p:nvSpPr>
          <p:cNvPr id="57" name="Case 2 - question1">
            <a:extLst>
              <a:ext uri="{FF2B5EF4-FFF2-40B4-BE49-F238E27FC236}">
                <a16:creationId xmlns:a16="http://schemas.microsoft.com/office/drawing/2014/main" id="{FC7CA112-FAF7-4731-AC02-423927DB914D}"/>
              </a:ext>
            </a:extLst>
          </p:cNvPr>
          <p:cNvSpPr/>
          <p:nvPr/>
        </p:nvSpPr>
        <p:spPr>
          <a:xfrm>
            <a:off x="7918972" y="1854827"/>
            <a:ext cx="4061651" cy="363273"/>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What initial work up should you do?</a:t>
            </a:r>
          </a:p>
        </p:txBody>
      </p:sp>
      <p:sp>
        <p:nvSpPr>
          <p:cNvPr id="59" name="Case 2 - question3">
            <a:extLst>
              <a:ext uri="{FF2B5EF4-FFF2-40B4-BE49-F238E27FC236}">
                <a16:creationId xmlns:a16="http://schemas.microsoft.com/office/drawing/2014/main" id="{102D4C4C-A02D-4E4C-ADFC-63F9708B9654}"/>
              </a:ext>
            </a:extLst>
          </p:cNvPr>
          <p:cNvSpPr/>
          <p:nvPr/>
        </p:nvSpPr>
        <p:spPr>
          <a:xfrm>
            <a:off x="7902249" y="5104022"/>
            <a:ext cx="4095097" cy="330280"/>
          </a:xfrm>
          <a:prstGeom prst="roundRect">
            <a:avLst>
              <a:gd name="adj" fmla="val 13824"/>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What treatment should you offer?</a:t>
            </a:r>
          </a:p>
        </p:txBody>
      </p:sp>
      <p:sp>
        <p:nvSpPr>
          <p:cNvPr id="61" name="Case 2 - answer1">
            <a:extLst>
              <a:ext uri="{FF2B5EF4-FFF2-40B4-BE49-F238E27FC236}">
                <a16:creationId xmlns:a16="http://schemas.microsoft.com/office/drawing/2014/main" id="{E9E14381-F561-4E85-8173-20AB47B470CD}"/>
              </a:ext>
            </a:extLst>
          </p:cNvPr>
          <p:cNvSpPr/>
          <p:nvPr/>
        </p:nvSpPr>
        <p:spPr>
          <a:xfrm>
            <a:off x="7918974" y="2232045"/>
            <a:ext cx="4061647" cy="89964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marL="285750" indent="-285750">
              <a:buFont typeface="Arial" panose="020B0604020202020204" pitchFamily="34" charset="0"/>
              <a:buChar char="•"/>
            </a:pPr>
            <a:r>
              <a:rPr lang="en-US" sz="1400" dirty="0"/>
              <a:t>Nasal swab to eval for viral infections</a:t>
            </a:r>
          </a:p>
          <a:p>
            <a:pPr marL="285750" indent="-285750">
              <a:buFont typeface="Arial" panose="020B0604020202020204" pitchFamily="34" charset="0"/>
              <a:buChar char="•"/>
            </a:pPr>
            <a:r>
              <a:rPr lang="en-US" sz="1400" dirty="0"/>
              <a:t>Sputum culture</a:t>
            </a:r>
          </a:p>
          <a:p>
            <a:pPr marL="285750" indent="-285750">
              <a:buFont typeface="Arial" panose="020B0604020202020204" pitchFamily="34" charset="0"/>
              <a:buChar char="•"/>
            </a:pPr>
            <a:r>
              <a:rPr lang="en-US" sz="1400" dirty="0"/>
              <a:t>CT-chest with contrast</a:t>
            </a:r>
          </a:p>
          <a:p>
            <a:pPr marL="285750" indent="-285750">
              <a:buFont typeface="Arial" panose="020B0604020202020204" pitchFamily="34" charset="0"/>
              <a:buChar char="•"/>
            </a:pPr>
            <a:r>
              <a:rPr lang="en-US" sz="1400" dirty="0"/>
              <a:t>Consider </a:t>
            </a:r>
            <a:r>
              <a:rPr lang="en-US" sz="1400" dirty="0" err="1"/>
              <a:t>pulm</a:t>
            </a:r>
            <a:r>
              <a:rPr lang="en-US" sz="1400" dirty="0"/>
              <a:t> consult</a:t>
            </a:r>
          </a:p>
        </p:txBody>
      </p:sp>
      <p:sp>
        <p:nvSpPr>
          <p:cNvPr id="63" name="Case 2 - answer 3">
            <a:extLst>
              <a:ext uri="{FF2B5EF4-FFF2-40B4-BE49-F238E27FC236}">
                <a16:creationId xmlns:a16="http://schemas.microsoft.com/office/drawing/2014/main" id="{4ACA8447-EDC8-465C-B71B-62F13CBE21A9}"/>
              </a:ext>
            </a:extLst>
          </p:cNvPr>
          <p:cNvSpPr/>
          <p:nvPr/>
        </p:nvSpPr>
        <p:spPr>
          <a:xfrm>
            <a:off x="7902249" y="5475810"/>
            <a:ext cx="4095096" cy="1145569"/>
          </a:xfrm>
          <a:prstGeom prst="roundRect">
            <a:avLst>
              <a:gd name="adj" fmla="val 12177"/>
            </a:avLst>
          </a:prstGeom>
        </p:spPr>
        <p:style>
          <a:lnRef idx="2">
            <a:schemeClr val="accent1"/>
          </a:lnRef>
          <a:fillRef idx="1">
            <a:schemeClr val="lt1"/>
          </a:fillRef>
          <a:effectRef idx="0">
            <a:schemeClr val="accent1"/>
          </a:effectRef>
          <a:fontRef idx="minor">
            <a:schemeClr val="dk1"/>
          </a:fontRef>
        </p:style>
        <p:txBody>
          <a:bodyPr rtlCol="0" anchor="ctr"/>
          <a:lstStyle/>
          <a:p>
            <a:pPr marL="285750" indent="-285750">
              <a:buFont typeface="Arial" panose="020B0604020202020204" pitchFamily="34" charset="0"/>
              <a:buChar char="•"/>
            </a:pPr>
            <a:r>
              <a:rPr lang="en-US" sz="1400" dirty="0"/>
              <a:t>Hold pembrolizumab</a:t>
            </a:r>
          </a:p>
          <a:p>
            <a:pPr marL="285750" indent="-285750">
              <a:buFont typeface="Arial" panose="020B0604020202020204" pitchFamily="34" charset="0"/>
              <a:buChar char="•"/>
            </a:pPr>
            <a:r>
              <a:rPr lang="en-US" sz="1400" dirty="0"/>
              <a:t>Prednisone 1-2 mg/kg/day</a:t>
            </a:r>
          </a:p>
          <a:p>
            <a:pPr marL="285750" indent="-285750">
              <a:buFont typeface="Arial" panose="020B0604020202020204" pitchFamily="34" charset="0"/>
              <a:buChar char="•"/>
            </a:pPr>
            <a:r>
              <a:rPr lang="en-US" sz="1400" dirty="0"/>
              <a:t>Consider </a:t>
            </a:r>
            <a:r>
              <a:rPr lang="en-US" sz="1400" dirty="0" err="1"/>
              <a:t>abx</a:t>
            </a:r>
            <a:r>
              <a:rPr lang="en-US" sz="1400" dirty="0"/>
              <a:t> if infection not ruled out</a:t>
            </a:r>
          </a:p>
          <a:p>
            <a:pPr marL="285750" indent="-285750">
              <a:buFont typeface="Arial" panose="020B0604020202020204" pitchFamily="34" charset="0"/>
              <a:buChar char="•"/>
            </a:pPr>
            <a:r>
              <a:rPr lang="en-US" sz="1400" dirty="0"/>
              <a:t>If no response in 48 </a:t>
            </a:r>
            <a:r>
              <a:rPr lang="en-US" sz="1400" dirty="0" err="1"/>
              <a:t>hrs</a:t>
            </a:r>
            <a:r>
              <a:rPr lang="en-US" sz="1400" dirty="0"/>
              <a:t>, consider infliximab, IVIG or </a:t>
            </a:r>
            <a:r>
              <a:rPr lang="en-US" sz="1400" dirty="0" err="1"/>
              <a:t>mycophenylate</a:t>
            </a:r>
            <a:endParaRPr lang="en-US" sz="1400" dirty="0"/>
          </a:p>
        </p:txBody>
      </p:sp>
      <p:pic>
        <p:nvPicPr>
          <p:cNvPr id="65" name="Graphic 64" descr="Cursor with solid fill">
            <a:extLst>
              <a:ext uri="{FF2B5EF4-FFF2-40B4-BE49-F238E27FC236}">
                <a16:creationId xmlns:a16="http://schemas.microsoft.com/office/drawing/2014/main" id="{4DAAE46E-C1C8-4BAD-8D6E-8E91E2E5171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852303" y="2080792"/>
            <a:ext cx="302506" cy="302506"/>
          </a:xfrm>
          <a:prstGeom prst="rect">
            <a:avLst/>
          </a:prstGeom>
        </p:spPr>
      </p:pic>
      <p:pic>
        <p:nvPicPr>
          <p:cNvPr id="67" name="Graphic 66" descr="Cursor with solid fill">
            <a:extLst>
              <a:ext uri="{FF2B5EF4-FFF2-40B4-BE49-F238E27FC236}">
                <a16:creationId xmlns:a16="http://schemas.microsoft.com/office/drawing/2014/main" id="{80F59731-A935-4D08-B316-C5017E06F66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852303" y="5294750"/>
            <a:ext cx="302506" cy="302506"/>
          </a:xfrm>
          <a:prstGeom prst="rect">
            <a:avLst/>
          </a:prstGeom>
        </p:spPr>
      </p:pic>
      <p:pic>
        <p:nvPicPr>
          <p:cNvPr id="81" name="Graphic 80" descr="Cursor with solid fill">
            <a:extLst>
              <a:ext uri="{FF2B5EF4-FFF2-40B4-BE49-F238E27FC236}">
                <a16:creationId xmlns:a16="http://schemas.microsoft.com/office/drawing/2014/main" id="{956F63E8-63DB-4A08-A83A-19CFAA44097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934051" y="469356"/>
            <a:ext cx="302506" cy="302506"/>
          </a:xfrm>
          <a:prstGeom prst="rect">
            <a:avLst/>
          </a:prstGeom>
        </p:spPr>
      </p:pic>
      <p:sp>
        <p:nvSpPr>
          <p:cNvPr id="39" name="Opening question">
            <a:extLst>
              <a:ext uri="{FF2B5EF4-FFF2-40B4-BE49-F238E27FC236}">
                <a16:creationId xmlns:a16="http://schemas.microsoft.com/office/drawing/2014/main" id="{E9D3EEFD-602E-4B0B-9C9A-A0F3A5A386E4}"/>
              </a:ext>
            </a:extLst>
          </p:cNvPr>
          <p:cNvSpPr/>
          <p:nvPr/>
        </p:nvSpPr>
        <p:spPr>
          <a:xfrm>
            <a:off x="146788" y="227304"/>
            <a:ext cx="2895038" cy="628404"/>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How do I treat immunotherapy toxicities?</a:t>
            </a:r>
          </a:p>
        </p:txBody>
      </p:sp>
      <p:pic>
        <p:nvPicPr>
          <p:cNvPr id="47" name="Graphic 46" descr="Cursor with solid fill">
            <a:extLst>
              <a:ext uri="{FF2B5EF4-FFF2-40B4-BE49-F238E27FC236}">
                <a16:creationId xmlns:a16="http://schemas.microsoft.com/office/drawing/2014/main" id="{6DE9CF0D-6C7A-4173-B99C-6059A6E74E5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11534" y="725132"/>
            <a:ext cx="302506" cy="302506"/>
          </a:xfrm>
          <a:prstGeom prst="rect">
            <a:avLst/>
          </a:prstGeom>
        </p:spPr>
      </p:pic>
      <p:sp>
        <p:nvSpPr>
          <p:cNvPr id="7" name="TextBox 6">
            <a:extLst>
              <a:ext uri="{FF2B5EF4-FFF2-40B4-BE49-F238E27FC236}">
                <a16:creationId xmlns:a16="http://schemas.microsoft.com/office/drawing/2014/main" id="{58B66086-25E1-5745-BBBF-B9694111CA7F}"/>
              </a:ext>
            </a:extLst>
          </p:cNvPr>
          <p:cNvSpPr txBox="1"/>
          <p:nvPr/>
        </p:nvSpPr>
        <p:spPr>
          <a:xfrm>
            <a:off x="-37247" y="3124557"/>
            <a:ext cx="3263109" cy="646331"/>
          </a:xfrm>
          <a:prstGeom prst="rect">
            <a:avLst/>
          </a:prstGeom>
          <a:noFill/>
        </p:spPr>
        <p:txBody>
          <a:bodyPr wrap="square" rtlCol="0">
            <a:spAutoFit/>
          </a:bodyPr>
          <a:lstStyle/>
          <a:p>
            <a:pPr algn="ctr"/>
            <a:r>
              <a:rPr lang="en-US" dirty="0">
                <a:solidFill>
                  <a:srgbClr val="0070C0"/>
                </a:solidFill>
                <a:hlinkClick r:id="rId6"/>
              </a:rPr>
              <a:t>NCCN-Immunotherapy Toxicity Treatment Guidelines</a:t>
            </a:r>
            <a:endParaRPr lang="en-US" dirty="0">
              <a:solidFill>
                <a:srgbClr val="0070C0"/>
              </a:solidFill>
            </a:endParaRPr>
          </a:p>
        </p:txBody>
      </p:sp>
      <p:sp>
        <p:nvSpPr>
          <p:cNvPr id="40" name="Case 1 - 2 question">
            <a:extLst>
              <a:ext uri="{FF2B5EF4-FFF2-40B4-BE49-F238E27FC236}">
                <a16:creationId xmlns:a16="http://schemas.microsoft.com/office/drawing/2014/main" id="{9EC78B4F-DB2D-444C-B7FB-9CBB7F17FFD0}"/>
              </a:ext>
            </a:extLst>
          </p:cNvPr>
          <p:cNvSpPr/>
          <p:nvPr/>
        </p:nvSpPr>
        <p:spPr>
          <a:xfrm>
            <a:off x="3481723" y="3283931"/>
            <a:ext cx="4020389" cy="401059"/>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What grade colitis does she have?</a:t>
            </a:r>
          </a:p>
        </p:txBody>
      </p:sp>
      <p:sp>
        <p:nvSpPr>
          <p:cNvPr id="42" name="Case 1 - 1 answer">
            <a:extLst>
              <a:ext uri="{FF2B5EF4-FFF2-40B4-BE49-F238E27FC236}">
                <a16:creationId xmlns:a16="http://schemas.microsoft.com/office/drawing/2014/main" id="{8BDD6BEA-09AF-6D4A-BE6A-68F27F3EA3CF}"/>
              </a:ext>
            </a:extLst>
          </p:cNvPr>
          <p:cNvSpPr/>
          <p:nvPr/>
        </p:nvSpPr>
        <p:spPr>
          <a:xfrm>
            <a:off x="3474575" y="3705893"/>
            <a:ext cx="4029816" cy="35741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marL="285750" indent="-285750">
              <a:buFont typeface="Arial" panose="020B0604020202020204" pitchFamily="34" charset="0"/>
              <a:buChar char="•"/>
            </a:pPr>
            <a:r>
              <a:rPr lang="en-US" sz="1400" dirty="0"/>
              <a:t>Grade 2</a:t>
            </a:r>
          </a:p>
        </p:txBody>
      </p:sp>
      <p:pic>
        <p:nvPicPr>
          <p:cNvPr id="3" name="Graphic 2" descr="Cursor with solid fill">
            <a:extLst>
              <a:ext uri="{FF2B5EF4-FFF2-40B4-BE49-F238E27FC236}">
                <a16:creationId xmlns:a16="http://schemas.microsoft.com/office/drawing/2014/main" id="{118C5D7E-E126-4BC6-B677-A96FE8D544B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34407" y="2140656"/>
            <a:ext cx="302506" cy="302506"/>
          </a:xfrm>
          <a:prstGeom prst="rect">
            <a:avLst/>
          </a:prstGeom>
        </p:spPr>
      </p:pic>
      <p:pic>
        <p:nvPicPr>
          <p:cNvPr id="52" name="Graphic 51" descr="Cursor with solid fill">
            <a:extLst>
              <a:ext uri="{FF2B5EF4-FFF2-40B4-BE49-F238E27FC236}">
                <a16:creationId xmlns:a16="http://schemas.microsoft.com/office/drawing/2014/main" id="{9DBF686D-ADBD-45BD-B2A8-ED386C519D7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73747" y="4806282"/>
            <a:ext cx="302506" cy="302506"/>
          </a:xfrm>
          <a:prstGeom prst="rect">
            <a:avLst/>
          </a:prstGeom>
        </p:spPr>
      </p:pic>
      <p:pic>
        <p:nvPicPr>
          <p:cNvPr id="41" name="Graphic 40" descr="Cursor with solid fill">
            <a:extLst>
              <a:ext uri="{FF2B5EF4-FFF2-40B4-BE49-F238E27FC236}">
                <a16:creationId xmlns:a16="http://schemas.microsoft.com/office/drawing/2014/main" id="{49835609-A11A-D945-B632-DA4498FD51F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44776" y="3535808"/>
            <a:ext cx="302506" cy="302506"/>
          </a:xfrm>
          <a:prstGeom prst="rect">
            <a:avLst/>
          </a:prstGeom>
        </p:spPr>
      </p:pic>
      <p:sp>
        <p:nvSpPr>
          <p:cNvPr id="46" name="Case 2 - question 2">
            <a:extLst>
              <a:ext uri="{FF2B5EF4-FFF2-40B4-BE49-F238E27FC236}">
                <a16:creationId xmlns:a16="http://schemas.microsoft.com/office/drawing/2014/main" id="{2FDF2A52-D5E6-584F-95A7-30FE9BE0F05C}"/>
              </a:ext>
            </a:extLst>
          </p:cNvPr>
          <p:cNvSpPr/>
          <p:nvPr/>
        </p:nvSpPr>
        <p:spPr>
          <a:xfrm>
            <a:off x="7918972" y="3206987"/>
            <a:ext cx="4061651" cy="363273"/>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CT-scan looks like this…</a:t>
            </a:r>
          </a:p>
        </p:txBody>
      </p:sp>
      <p:sp>
        <p:nvSpPr>
          <p:cNvPr id="48" name="Case 2 - answer1">
            <a:extLst>
              <a:ext uri="{FF2B5EF4-FFF2-40B4-BE49-F238E27FC236}">
                <a16:creationId xmlns:a16="http://schemas.microsoft.com/office/drawing/2014/main" id="{E38CFF98-330F-744E-B6FE-FE2B27103023}"/>
              </a:ext>
            </a:extLst>
          </p:cNvPr>
          <p:cNvSpPr/>
          <p:nvPr/>
        </p:nvSpPr>
        <p:spPr>
          <a:xfrm>
            <a:off x="7918974" y="3598493"/>
            <a:ext cx="4061647" cy="139258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endParaRPr lang="en-US" sz="1400" dirty="0"/>
          </a:p>
        </p:txBody>
      </p:sp>
      <p:pic>
        <p:nvPicPr>
          <p:cNvPr id="49" name="Graphic 48" descr="Cursor with solid fill">
            <a:extLst>
              <a:ext uri="{FF2B5EF4-FFF2-40B4-BE49-F238E27FC236}">
                <a16:creationId xmlns:a16="http://schemas.microsoft.com/office/drawing/2014/main" id="{88CBDCE6-6627-BE4E-8FF4-1130BDDA5CE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852303" y="3432952"/>
            <a:ext cx="302506" cy="302506"/>
          </a:xfrm>
          <a:prstGeom prst="rect">
            <a:avLst/>
          </a:prstGeom>
        </p:spPr>
      </p:pic>
      <p:pic>
        <p:nvPicPr>
          <p:cNvPr id="14" name="Picture 13" descr="A picture containing text, watch, clock&#10;&#10;Description automatically generated">
            <a:extLst>
              <a:ext uri="{FF2B5EF4-FFF2-40B4-BE49-F238E27FC236}">
                <a16:creationId xmlns:a16="http://schemas.microsoft.com/office/drawing/2014/main" id="{360DC6A7-9BA0-E146-A121-AB142B2DF5B8}"/>
              </a:ext>
            </a:extLst>
          </p:cNvPr>
          <p:cNvPicPr>
            <a:picLocks noChangeAspect="1"/>
          </p:cNvPicPr>
          <p:nvPr/>
        </p:nvPicPr>
        <p:blipFill>
          <a:blip r:embed="rId7"/>
          <a:stretch>
            <a:fillRect/>
          </a:stretch>
        </p:blipFill>
        <p:spPr>
          <a:xfrm>
            <a:off x="8210600" y="3609159"/>
            <a:ext cx="1906753" cy="1369900"/>
          </a:xfrm>
          <a:prstGeom prst="rect">
            <a:avLst/>
          </a:prstGeom>
        </p:spPr>
      </p:pic>
      <p:sp>
        <p:nvSpPr>
          <p:cNvPr id="15" name="TextBox 14">
            <a:extLst>
              <a:ext uri="{FF2B5EF4-FFF2-40B4-BE49-F238E27FC236}">
                <a16:creationId xmlns:a16="http://schemas.microsoft.com/office/drawing/2014/main" id="{1C63BB73-30D4-3E41-A755-4A8A5A084A22}"/>
              </a:ext>
            </a:extLst>
          </p:cNvPr>
          <p:cNvSpPr txBox="1"/>
          <p:nvPr/>
        </p:nvSpPr>
        <p:spPr>
          <a:xfrm>
            <a:off x="10088777" y="3802517"/>
            <a:ext cx="1980304" cy="954107"/>
          </a:xfrm>
          <a:prstGeom prst="rect">
            <a:avLst/>
          </a:prstGeom>
          <a:noFill/>
        </p:spPr>
        <p:txBody>
          <a:bodyPr wrap="square" rtlCol="0">
            <a:spAutoFit/>
          </a:bodyPr>
          <a:lstStyle/>
          <a:p>
            <a:r>
              <a:rPr lang="en-US" sz="1400" dirty="0"/>
              <a:t>multifocal peripheral and subpleural mid- and lower-lung airspace consolidations (arrows)</a:t>
            </a:r>
            <a:r>
              <a:rPr lang="en-US" sz="1400" baseline="30000" dirty="0"/>
              <a:t>6</a:t>
            </a:r>
            <a:endParaRPr lang="en-US" sz="1400" dirty="0"/>
          </a:p>
        </p:txBody>
      </p:sp>
      <p:sp>
        <p:nvSpPr>
          <p:cNvPr id="37" name="Framework question">
            <a:extLst>
              <a:ext uri="{FF2B5EF4-FFF2-40B4-BE49-F238E27FC236}">
                <a16:creationId xmlns:a16="http://schemas.microsoft.com/office/drawing/2014/main" id="{151441CC-1B98-D440-8381-81631E4D2C7B}"/>
              </a:ext>
            </a:extLst>
          </p:cNvPr>
          <p:cNvSpPr/>
          <p:nvPr/>
        </p:nvSpPr>
        <p:spPr>
          <a:xfrm>
            <a:off x="146788" y="3874585"/>
            <a:ext cx="2895038" cy="628404"/>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Basic framework to treat</a:t>
            </a:r>
          </a:p>
          <a:p>
            <a:pPr algn="ctr"/>
            <a:r>
              <a:rPr lang="en-US" sz="1600" dirty="0"/>
              <a:t>ICI toxicity</a:t>
            </a:r>
          </a:p>
        </p:txBody>
      </p:sp>
      <p:sp>
        <p:nvSpPr>
          <p:cNvPr id="38" name="Framework answer">
            <a:extLst>
              <a:ext uri="{FF2B5EF4-FFF2-40B4-BE49-F238E27FC236}">
                <a16:creationId xmlns:a16="http://schemas.microsoft.com/office/drawing/2014/main" id="{F01C503E-BDDE-884A-BBE1-AF57566F2BBC}"/>
              </a:ext>
            </a:extLst>
          </p:cNvPr>
          <p:cNvSpPr/>
          <p:nvPr/>
        </p:nvSpPr>
        <p:spPr>
          <a:xfrm>
            <a:off x="146788" y="4547260"/>
            <a:ext cx="2895038" cy="136644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marL="285750" indent="-285750">
              <a:buFont typeface="Arial" panose="020B0604020202020204" pitchFamily="34" charset="0"/>
              <a:buChar char="•"/>
            </a:pPr>
            <a:r>
              <a:rPr lang="en-US" sz="1400" dirty="0"/>
              <a:t>Rule out other causes </a:t>
            </a:r>
          </a:p>
          <a:p>
            <a:pPr marL="285750" indent="-285750">
              <a:buFont typeface="Arial" panose="020B0604020202020204" pitchFamily="34" charset="0"/>
              <a:buChar char="•"/>
            </a:pPr>
            <a:r>
              <a:rPr lang="en-US" sz="1400" dirty="0"/>
              <a:t>Stop checkpoint inhibitor</a:t>
            </a:r>
          </a:p>
          <a:p>
            <a:pPr marL="285750" indent="-285750">
              <a:buFont typeface="Arial" panose="020B0604020202020204" pitchFamily="34" charset="0"/>
              <a:buChar char="•"/>
            </a:pPr>
            <a:r>
              <a:rPr lang="en-US" sz="1400" dirty="0"/>
              <a:t>Grade severity</a:t>
            </a:r>
          </a:p>
          <a:p>
            <a:pPr marL="285750" indent="-285750">
              <a:buFont typeface="Arial" panose="020B0604020202020204" pitchFamily="34" charset="0"/>
              <a:buChar char="•"/>
            </a:pPr>
            <a:r>
              <a:rPr lang="en-US" sz="1400" dirty="0"/>
              <a:t>Prednisone 1-2 mg/kg/day</a:t>
            </a:r>
          </a:p>
          <a:p>
            <a:pPr marL="285750" indent="-285750">
              <a:buFont typeface="Arial" panose="020B0604020202020204" pitchFamily="34" charset="0"/>
              <a:buChar char="•"/>
            </a:pPr>
            <a:r>
              <a:rPr lang="en-US" sz="1400" dirty="0"/>
              <a:t>If not improving in a few days consider additional agents</a:t>
            </a:r>
          </a:p>
        </p:txBody>
      </p:sp>
      <p:pic>
        <p:nvPicPr>
          <p:cNvPr id="44" name="Graphic 43" descr="Cursor with solid fill">
            <a:extLst>
              <a:ext uri="{FF2B5EF4-FFF2-40B4-BE49-F238E27FC236}">
                <a16:creationId xmlns:a16="http://schemas.microsoft.com/office/drawing/2014/main" id="{53353EAB-74E4-6B4D-8528-6A69348B64A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02568" y="4341782"/>
            <a:ext cx="302506" cy="302506"/>
          </a:xfrm>
          <a:prstGeom prst="rect">
            <a:avLst/>
          </a:prstGeom>
        </p:spPr>
      </p:pic>
      <p:pic>
        <p:nvPicPr>
          <p:cNvPr id="8" name="Picture 7" descr="Qr code&#10;&#10;Description automatically generated">
            <a:extLst>
              <a:ext uri="{FF2B5EF4-FFF2-40B4-BE49-F238E27FC236}">
                <a16:creationId xmlns:a16="http://schemas.microsoft.com/office/drawing/2014/main" id="{C3C583E8-8A8F-7C47-B9CC-5B57D134F891}"/>
              </a:ext>
            </a:extLst>
          </p:cNvPr>
          <p:cNvPicPr>
            <a:picLocks noChangeAspect="1"/>
          </p:cNvPicPr>
          <p:nvPr/>
        </p:nvPicPr>
        <p:blipFill>
          <a:blip r:embed="rId8"/>
          <a:stretch>
            <a:fillRect/>
          </a:stretch>
        </p:blipFill>
        <p:spPr>
          <a:xfrm>
            <a:off x="547385" y="994401"/>
            <a:ext cx="2093844" cy="2081947"/>
          </a:xfrm>
          <a:prstGeom prst="rect">
            <a:avLst/>
          </a:prstGeom>
        </p:spPr>
      </p:pic>
    </p:spTree>
    <p:extLst>
      <p:ext uri="{BB962C8B-B14F-4D97-AF65-F5344CB8AC3E}">
        <p14:creationId xmlns:p14="http://schemas.microsoft.com/office/powerpoint/2010/main" val="8144857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childTnLst>
              </p:cTn>
              <p:nextCondLst>
                <p:cond evt="onClick" delay="0">
                  <p:tgtEl>
                    <p:spTgt spid="11"/>
                  </p:tgtEl>
                </p:cond>
              </p:nextCondLst>
            </p:seq>
            <p:seq concurrent="1" nextAc="seek">
              <p:cTn id="19" restart="whenNotActive" fill="hold" evtFilter="cancelBubble" nodeType="interactiveSeq">
                <p:stCondLst>
                  <p:cond evt="onClick" delay="0">
                    <p:tgtEl>
                      <p:spTgt spid="28"/>
                    </p:tgtEl>
                  </p:cond>
                </p:stCondLst>
                <p:endSync evt="end" delay="0">
                  <p:rtn val="all"/>
                </p:endSync>
                <p:childTnLst>
                  <p:par>
                    <p:cTn id="20" fill="hold">
                      <p:stCondLst>
                        <p:cond delay="0"/>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3"/>
                                        </p:tgtEl>
                                        <p:attrNameLst>
                                          <p:attrName>style.visibility</p:attrName>
                                        </p:attrNameLst>
                                      </p:cBhvr>
                                      <p:to>
                                        <p:strVal val="visible"/>
                                      </p:to>
                                    </p:set>
                                  </p:childTnLst>
                                </p:cTn>
                              </p:par>
                            </p:childTnLst>
                          </p:cTn>
                        </p:par>
                      </p:childTnLst>
                    </p:cTn>
                  </p:par>
                </p:childTnLst>
              </p:cTn>
              <p:nextCondLst>
                <p:cond evt="onClick" delay="0">
                  <p:tgtEl>
                    <p:spTgt spid="28"/>
                  </p:tgtEl>
                </p:cond>
              </p:nextCondLst>
            </p:seq>
            <p:seq concurrent="1" nextAc="seek">
              <p:cTn id="24" restart="whenNotActive" fill="hold" evtFilter="cancelBubble" nodeType="interactiveSeq">
                <p:stCondLst>
                  <p:cond evt="onClick" delay="0">
                    <p:tgtEl>
                      <p:spTgt spid="40"/>
                    </p:tgtEl>
                  </p:cond>
                </p:stCondLst>
                <p:endSync evt="end" delay="0">
                  <p:rtn val="all"/>
                </p:endSync>
                <p:childTnLst>
                  <p:par>
                    <p:cTn id="25" fill="hold">
                      <p:stCondLst>
                        <p:cond delay="0"/>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childTnLst>
                          </p:cTn>
                        </p:par>
                      </p:childTnLst>
                    </p:cTn>
                  </p:par>
                </p:childTnLst>
              </p:cTn>
              <p:nextCondLst>
                <p:cond evt="onClick" delay="0">
                  <p:tgtEl>
                    <p:spTgt spid="40"/>
                  </p:tgtEl>
                </p:cond>
              </p:nextCondLst>
            </p:seq>
            <p:seq concurrent="1" nextAc="seek">
              <p:cTn id="29" restart="whenNotActive" fill="hold" evtFilter="cancelBubble" nodeType="interactiveSeq">
                <p:stCondLst>
                  <p:cond evt="onClick" delay="0">
                    <p:tgtEl>
                      <p:spTgt spid="31"/>
                    </p:tgtEl>
                  </p:cond>
                </p:stCondLst>
                <p:endSync evt="end" delay="0">
                  <p:rtn val="all"/>
                </p:endSync>
                <p:childTnLst>
                  <p:par>
                    <p:cTn id="30" fill="hold">
                      <p:stCondLst>
                        <p:cond delay="0"/>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34"/>
                                        </p:tgtEl>
                                        <p:attrNameLst>
                                          <p:attrName>style.visibility</p:attrName>
                                        </p:attrNameLst>
                                      </p:cBhvr>
                                      <p:to>
                                        <p:strVal val="visible"/>
                                      </p:to>
                                    </p:set>
                                  </p:childTnLst>
                                </p:cTn>
                              </p:par>
                            </p:childTnLst>
                          </p:cTn>
                        </p:par>
                      </p:childTnLst>
                    </p:cTn>
                  </p:par>
                </p:childTnLst>
              </p:cTn>
              <p:nextCondLst>
                <p:cond evt="onClick" delay="0">
                  <p:tgtEl>
                    <p:spTgt spid="31"/>
                  </p:tgtEl>
                </p:cond>
              </p:nextCondLst>
            </p:seq>
            <p:seq concurrent="1" nextAc="seek">
              <p:cTn id="34" restart="whenNotActive" fill="hold" evtFilter="cancelBubble" nodeType="interactiveSeq">
                <p:stCondLst>
                  <p:cond evt="onClick" delay="0">
                    <p:tgtEl>
                      <p:spTgt spid="39"/>
                    </p:tgtEl>
                  </p:cond>
                </p:stCondLst>
                <p:endSync evt="end" delay="0">
                  <p:rtn val="all"/>
                </p:endSync>
                <p:childTnLst>
                  <p:par>
                    <p:cTn id="35" fill="hold">
                      <p:stCondLst>
                        <p:cond delay="0"/>
                      </p:stCondLst>
                      <p:childTnLst>
                        <p:par>
                          <p:cTn id="36" fill="hold">
                            <p:stCondLst>
                              <p:cond delay="0"/>
                            </p:stCondLst>
                            <p:childTnLst>
                              <p:par>
                                <p:cTn id="37" presetID="1" presetClass="entr" presetSubtype="0" fill="hold" grpId="0" nodeType="with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nextCondLst>
                <p:cond evt="onClick" delay="0">
                  <p:tgtEl>
                    <p:spTgt spid="39"/>
                  </p:tgtEl>
                </p:cond>
              </p:nextCondLst>
            </p:seq>
            <p:seq concurrent="1" nextAc="seek">
              <p:cTn id="39" restart="whenNotActive" fill="hold" evtFilter="cancelBubble" nodeType="interactiveSeq">
                <p:stCondLst>
                  <p:cond evt="onClick" delay="0">
                    <p:tgtEl>
                      <p:spTgt spid="129"/>
                    </p:tgtEl>
                  </p:cond>
                </p:stCondLst>
                <p:endSync evt="end" delay="0">
                  <p:rtn val="all"/>
                </p:endSync>
                <p:childTnLst>
                  <p:par>
                    <p:cTn id="40" fill="hold">
                      <p:stCondLst>
                        <p:cond delay="0"/>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31"/>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49"/>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46"/>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59"/>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67"/>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65"/>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57"/>
                                        </p:tgtEl>
                                        <p:attrNameLst>
                                          <p:attrName>style.visibility</p:attrName>
                                        </p:attrNameLst>
                                      </p:cBhvr>
                                      <p:to>
                                        <p:strVal val="visible"/>
                                      </p:to>
                                    </p:set>
                                  </p:childTnLst>
                                </p:cTn>
                              </p:par>
                            </p:childTnLst>
                          </p:cTn>
                        </p:par>
                      </p:childTnLst>
                    </p:cTn>
                  </p:par>
                </p:childTnLst>
              </p:cTn>
              <p:nextCondLst>
                <p:cond evt="onClick" delay="0">
                  <p:tgtEl>
                    <p:spTgt spid="129"/>
                  </p:tgtEl>
                </p:cond>
              </p:nextCondLst>
            </p:seq>
            <p:seq concurrent="1" nextAc="seek">
              <p:cTn id="56" restart="whenNotActive" fill="hold" evtFilter="cancelBubble" nodeType="interactiveSeq">
                <p:stCondLst>
                  <p:cond evt="onClick" delay="0">
                    <p:tgtEl>
                      <p:spTgt spid="57"/>
                    </p:tgtEl>
                  </p:cond>
                </p:stCondLst>
                <p:endSync evt="end" delay="0">
                  <p:rtn val="all"/>
                </p:endSync>
                <p:childTnLst>
                  <p:par>
                    <p:cTn id="57" fill="hold">
                      <p:stCondLst>
                        <p:cond delay="0"/>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61"/>
                                        </p:tgtEl>
                                        <p:attrNameLst>
                                          <p:attrName>style.visibility</p:attrName>
                                        </p:attrNameLst>
                                      </p:cBhvr>
                                      <p:to>
                                        <p:strVal val="visible"/>
                                      </p:to>
                                    </p:set>
                                  </p:childTnLst>
                                </p:cTn>
                              </p:par>
                            </p:childTnLst>
                          </p:cTn>
                        </p:par>
                      </p:childTnLst>
                    </p:cTn>
                  </p:par>
                </p:childTnLst>
              </p:cTn>
              <p:nextCondLst>
                <p:cond evt="onClick" delay="0">
                  <p:tgtEl>
                    <p:spTgt spid="57"/>
                  </p:tgtEl>
                </p:cond>
              </p:nextCondLst>
            </p:seq>
            <p:seq concurrent="1" nextAc="seek">
              <p:cTn id="61" restart="whenNotActive" fill="hold" evtFilter="cancelBubble" nodeType="interactiveSeq">
                <p:stCondLst>
                  <p:cond evt="onClick" delay="0">
                    <p:tgtEl>
                      <p:spTgt spid="46"/>
                    </p:tgtEl>
                  </p:cond>
                </p:stCondLst>
                <p:endSync evt="end" delay="0">
                  <p:rtn val="all"/>
                </p:endSync>
                <p:childTnLst>
                  <p:par>
                    <p:cTn id="62" fill="hold">
                      <p:stCondLst>
                        <p:cond delay="0"/>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15"/>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14"/>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48"/>
                                        </p:tgtEl>
                                        <p:attrNameLst>
                                          <p:attrName>style.visibility</p:attrName>
                                        </p:attrNameLst>
                                      </p:cBhvr>
                                      <p:to>
                                        <p:strVal val="visible"/>
                                      </p:to>
                                    </p:set>
                                  </p:childTnLst>
                                </p:cTn>
                              </p:par>
                            </p:childTnLst>
                          </p:cTn>
                        </p:par>
                      </p:childTnLst>
                    </p:cTn>
                  </p:par>
                </p:childTnLst>
              </p:cTn>
              <p:nextCondLst>
                <p:cond evt="onClick" delay="0">
                  <p:tgtEl>
                    <p:spTgt spid="46"/>
                  </p:tgtEl>
                </p:cond>
              </p:nextCondLst>
            </p:seq>
            <p:seq concurrent="1" nextAc="seek">
              <p:cTn id="70" restart="whenNotActive" fill="hold" evtFilter="cancelBubble" nodeType="interactiveSeq">
                <p:stCondLst>
                  <p:cond evt="onClick" delay="0">
                    <p:tgtEl>
                      <p:spTgt spid="59"/>
                    </p:tgtEl>
                  </p:cond>
                </p:stCondLst>
                <p:endSync evt="end" delay="0">
                  <p:rtn val="all"/>
                </p:endSync>
                <p:childTnLst>
                  <p:par>
                    <p:cTn id="71" fill="hold">
                      <p:stCondLst>
                        <p:cond delay="0"/>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63"/>
                                        </p:tgtEl>
                                        <p:attrNameLst>
                                          <p:attrName>style.visibility</p:attrName>
                                        </p:attrNameLst>
                                      </p:cBhvr>
                                      <p:to>
                                        <p:strVal val="visible"/>
                                      </p:to>
                                    </p:set>
                                  </p:childTnLst>
                                </p:cTn>
                              </p:par>
                            </p:childTnLst>
                          </p:cTn>
                        </p:par>
                      </p:childTnLst>
                    </p:cTn>
                  </p:par>
                </p:childTnLst>
              </p:cTn>
              <p:nextCondLst>
                <p:cond evt="onClick" delay="0">
                  <p:tgtEl>
                    <p:spTgt spid="59"/>
                  </p:tgtEl>
                </p:cond>
              </p:nextCondLst>
            </p:seq>
            <p:seq concurrent="1" nextAc="seek">
              <p:cTn id="75" restart="whenNotActive" fill="hold" evtFilter="cancelBubble" nodeType="interactiveSeq">
                <p:stCondLst>
                  <p:cond evt="onClick" delay="0">
                    <p:tgtEl>
                      <p:spTgt spid="37"/>
                    </p:tgtEl>
                  </p:cond>
                </p:stCondLst>
                <p:endSync evt="end" delay="0">
                  <p:rtn val="all"/>
                </p:endSync>
                <p:childTnLst>
                  <p:par>
                    <p:cTn id="76" fill="hold">
                      <p:stCondLst>
                        <p:cond delay="0"/>
                      </p:stCondLst>
                      <p:childTnLst>
                        <p:par>
                          <p:cTn id="77" fill="hold">
                            <p:stCondLst>
                              <p:cond delay="0"/>
                            </p:stCondLst>
                            <p:childTnLst>
                              <p:par>
                                <p:cTn id="78" presetID="1" presetClass="entr" presetSubtype="0" fill="hold" grpId="1" nodeType="clickEffect">
                                  <p:stCondLst>
                                    <p:cond delay="0"/>
                                  </p:stCondLst>
                                  <p:childTnLst>
                                    <p:set>
                                      <p:cBhvr>
                                        <p:cTn id="79" dur="1" fill="hold">
                                          <p:stCondLst>
                                            <p:cond delay="0"/>
                                          </p:stCondLst>
                                        </p:cTn>
                                        <p:tgtEl>
                                          <p:spTgt spid="38"/>
                                        </p:tgtEl>
                                        <p:attrNameLst>
                                          <p:attrName>style.visibility</p:attrName>
                                        </p:attrNameLst>
                                      </p:cBhvr>
                                      <p:to>
                                        <p:strVal val="visible"/>
                                      </p:to>
                                    </p:set>
                                  </p:childTnLst>
                                </p:cTn>
                              </p:par>
                            </p:childTnLst>
                          </p:cTn>
                        </p:par>
                      </p:childTnLst>
                    </p:cTn>
                  </p:par>
                </p:childTnLst>
              </p:cTn>
              <p:nextCondLst>
                <p:cond evt="onClick" delay="0">
                  <p:tgtEl>
                    <p:spTgt spid="37"/>
                  </p:tgtEl>
                </p:cond>
              </p:nextCondLst>
            </p:seq>
          </p:childTnLst>
        </p:cTn>
      </p:par>
    </p:tnLst>
    <p:bldLst>
      <p:bldP spid="13" grpId="0"/>
      <p:bldP spid="28" grpId="0" animBg="1"/>
      <p:bldP spid="31" grpId="0" animBg="1"/>
      <p:bldP spid="33" grpId="0" animBg="1"/>
      <p:bldP spid="34" grpId="0" animBg="1"/>
      <p:bldP spid="131" grpId="0"/>
      <p:bldP spid="57" grpId="0" animBg="1"/>
      <p:bldP spid="59" grpId="0" animBg="1"/>
      <p:bldP spid="61" grpId="0" animBg="1"/>
      <p:bldP spid="63" grpId="0" animBg="1"/>
      <p:bldP spid="7" grpId="0"/>
      <p:bldP spid="40" grpId="0" animBg="1"/>
      <p:bldP spid="42" grpId="0" animBg="1"/>
      <p:bldP spid="46" grpId="0" animBg="1"/>
      <p:bldP spid="48" grpId="0" animBg="1"/>
      <p:bldP spid="15" grpId="0"/>
      <p:bldP spid="38" grpId="1"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00000"/>
          </a:xfrm>
          <a:prstGeom prst="rect">
            <a:avLst/>
          </a:prstGeom>
          <a:solidFill>
            <a:srgbClr val="0E6E8C"/>
          </a:solidFill>
          <a:ln>
            <a:noFill/>
          </a:ln>
          <a:effectLst/>
        </p:spPr>
        <p:style>
          <a:lnRef idx="1">
            <a:schemeClr val="accent1"/>
          </a:lnRef>
          <a:fillRef idx="3">
            <a:schemeClr val="accent1"/>
          </a:fillRef>
          <a:effectRef idx="2">
            <a:schemeClr val="accent1"/>
          </a:effectRef>
          <a:fontRef idx="minor">
            <a:schemeClr val="lt1"/>
          </a:fontRef>
        </p:style>
        <p:txBody>
          <a:bodyPr rtlCol="0" anchor="ctr" lIns="300000" tIns="80000" wrap="square"/>
          <a:lstStyle/>
          <a:p>
            <a:pPr algn="ctr">
              <a:defRPr sz="2600" b="1">
                <a:solidFill>
                  <a:srgbClr val="FFFFFF"/>
                </a:solidFill>
                <a:latin typeface="Calibri"/>
              </a:defRPr>
            </a:pPr>
            <a:r>
              <a:t>2022–25 Update — New ICI Classes &amp; irAE Guidance</a:t>
            </a:r>
          </a:p>
        </p:txBody>
      </p:sp>
      <p:sp>
        <p:nvSpPr>
          <p:cNvPr id="3" name="TextBox 2"/>
          <p:cNvSpPr txBox="1"/>
          <p:nvPr/>
        </p:nvSpPr>
        <p:spPr>
          <a:xfrm>
            <a:off x="450000" y="950000"/>
            <a:ext cx="11292000" cy="5608000"/>
          </a:xfrm>
          <a:prstGeom prst="rect">
            <a:avLst/>
          </a:prstGeom>
          <a:noFill/>
        </p:spPr>
        <p:txBody>
          <a:bodyPr wrap="square">
            <a:spAutoFit/>
          </a:bodyPr>
          <a:lstStyle/>
          <a:p>
            <a:pPr>
              <a:spcAft>
                <a:spcPts val="500"/>
              </a:spcAft>
            </a:pPr>
            <a:r>
              <a:rPr sz="1700" b="1">
                <a:solidFill>
                  <a:srgbClr val="1A2433"/>
                </a:solidFill>
                <a:latin typeface="Calibri"/>
              </a:rPr>
              <a:t>New checkpoint target (3rd class): LAG-3.</a:t>
            </a:r>
          </a:p>
          <a:p>
            <a:pPr lvl="1">
              <a:spcAft>
                <a:spcPts val="500"/>
              </a:spcAft>
            </a:pPr>
            <a:r>
              <a:rPr sz="1450" b="0">
                <a:solidFill>
                  <a:srgbClr val="555555"/>
                </a:solidFill>
                <a:latin typeface="Calibri"/>
              </a:rPr>
              <a:t>Relatlimab+nivolumab (Opdualag) — first LAG-3-blocking combo; FDA approved Mar 2022 for unresectable/metastatic melanoma (RELATIVITY-047: median PFS 10.1 vs 4.6 mo).</a:t>
            </a:r>
          </a:p>
          <a:p>
            <a:pPr>
              <a:spcAft>
                <a:spcPts val="500"/>
              </a:spcAft>
            </a:pPr>
            <a:r>
              <a:rPr sz="1700" b="1">
                <a:solidFill>
                  <a:srgbClr val="1A2433"/>
                </a:solidFill>
                <a:latin typeface="Calibri"/>
              </a:rPr>
              <a:t>More agents since the deck (Nov 2021):</a:t>
            </a:r>
          </a:p>
          <a:p>
            <a:pPr lvl="1">
              <a:spcAft>
                <a:spcPts val="500"/>
              </a:spcAft>
            </a:pPr>
            <a:r>
              <a:rPr sz="1450" b="0">
                <a:solidFill>
                  <a:srgbClr val="555555"/>
                </a:solidFill>
                <a:latin typeface="Calibri"/>
              </a:rPr>
              <a:t>Tremelimumab (anti-CTLA-4) + durvalumab — FDA approved 2022 (unresectable HCC, metastatic NSCLC). Dostarlimab (anti-PD-1) — dMMR endometrial/solid tumors.</a:t>
            </a:r>
          </a:p>
          <a:p>
            <a:pPr>
              <a:spcAft>
                <a:spcPts val="500"/>
              </a:spcAft>
            </a:pPr>
            <a:r>
              <a:rPr sz="1700" b="1">
                <a:solidFill>
                  <a:srgbClr val="1A2433"/>
                </a:solidFill>
                <a:latin typeface="Calibri"/>
              </a:rPr>
              <a:t>irAE management framework unchanged (ASCO/NCCN, current):</a:t>
            </a:r>
          </a:p>
          <a:p>
            <a:pPr lvl="1">
              <a:spcAft>
                <a:spcPts val="500"/>
              </a:spcAft>
            </a:pPr>
            <a:r>
              <a:rPr sz="1450" b="0">
                <a:solidFill>
                  <a:srgbClr val="555555"/>
                </a:solidFill>
                <a:latin typeface="Calibri"/>
              </a:rPr>
              <a:t>G1 — continue ICI + monitor (exceptions: neuro/some heme). G2 — hold ICI, prednisone ~1 mg/kg, resume when ≤G1.</a:t>
            </a:r>
          </a:p>
          <a:p>
            <a:pPr lvl="1">
              <a:spcAft>
                <a:spcPts val="500"/>
              </a:spcAft>
            </a:pPr>
            <a:r>
              <a:rPr sz="1450" b="0">
                <a:solidFill>
                  <a:srgbClr val="555555"/>
                </a:solidFill>
                <a:latin typeface="Calibri"/>
              </a:rPr>
              <a:t>G3 — hold + high-dose steroid (prednisone/methylpred 1–2 mg/kg), taper ≥4–6 wk; add steroid-refractory agent (e.g. infliximab) if no response in 48–72 h.</a:t>
            </a:r>
          </a:p>
          <a:p>
            <a:pPr lvl="1">
              <a:spcAft>
                <a:spcPts val="500"/>
              </a:spcAft>
            </a:pPr>
            <a:r>
              <a:rPr sz="1450" b="0">
                <a:solidFill>
                  <a:srgbClr val="555555"/>
                </a:solidFill>
                <a:latin typeface="Calibri"/>
              </a:rPr>
              <a:t>G4 — permanently discontinue ICI (exception: endocrinopathies controlled on hormone replacement).</a:t>
            </a:r>
          </a:p>
          <a:p>
            <a:pPr>
              <a:spcAft>
                <a:spcPts val="500"/>
              </a:spcAft>
            </a:pPr>
            <a:r>
              <a:rPr sz="1700" b="1">
                <a:solidFill>
                  <a:srgbClr val="1A2433"/>
                </a:solidFill>
                <a:latin typeface="Calibri"/>
              </a:rPr>
              <a:t>Irreversible/most-deadly irAEs to flag: myocarditis (~40–50% fatal), type 1 DM, primary adrenal insufficiency; check TSH/FT4 at baseline &amp; q4–6 wk.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00000"/>
          </a:xfrm>
          <a:prstGeom prst="rect">
            <a:avLst/>
          </a:prstGeom>
          <a:solidFill>
            <a:srgbClr val="0E6E8C"/>
          </a:solidFill>
          <a:ln>
            <a:noFill/>
          </a:ln>
          <a:effectLst/>
        </p:spPr>
        <p:style>
          <a:lnRef idx="1">
            <a:schemeClr val="accent1"/>
          </a:lnRef>
          <a:fillRef idx="3">
            <a:schemeClr val="accent1"/>
          </a:fillRef>
          <a:effectRef idx="2">
            <a:schemeClr val="accent1"/>
          </a:effectRef>
          <a:fontRef idx="minor">
            <a:schemeClr val="lt1"/>
          </a:fontRef>
        </p:style>
        <p:txBody>
          <a:bodyPr rtlCol="0" anchor="ctr" lIns="300000" tIns="80000" wrap="square"/>
          <a:lstStyle/>
          <a:p>
            <a:pPr algn="ctr">
              <a:defRPr sz="2600" b="1">
                <a:solidFill>
                  <a:srgbClr val="FFFFFF"/>
                </a:solidFill>
                <a:latin typeface="Calibri"/>
              </a:defRPr>
            </a:pPr>
            <a:r>
              <a:t>Take-Home Points</a:t>
            </a:r>
          </a:p>
        </p:txBody>
      </p:sp>
      <p:sp>
        <p:nvSpPr>
          <p:cNvPr id="3" name="TextBox 2"/>
          <p:cNvSpPr txBox="1"/>
          <p:nvPr/>
        </p:nvSpPr>
        <p:spPr>
          <a:xfrm>
            <a:off x="450000" y="950000"/>
            <a:ext cx="11292000" cy="5608000"/>
          </a:xfrm>
          <a:prstGeom prst="rect">
            <a:avLst/>
          </a:prstGeom>
          <a:noFill/>
        </p:spPr>
        <p:txBody>
          <a:bodyPr wrap="square">
            <a:spAutoFit/>
          </a:bodyPr>
          <a:lstStyle/>
          <a:p>
            <a:pPr>
              <a:spcAft>
                <a:spcPts val="500"/>
              </a:spcAft>
            </a:pPr>
            <a:r>
              <a:rPr sz="1700" b="0">
                <a:solidFill>
                  <a:srgbClr val="1A2433"/>
                </a:solidFill>
                <a:latin typeface="Calibri"/>
              </a:rPr>
              <a:t>Tumors evade T cells by engaging immune checkpoints (PD-L1→PD-1, ligands→CTLA-4) that put the brakes on the immune response.</a:t>
            </a:r>
          </a:p>
          <a:p>
            <a:pPr>
              <a:spcAft>
                <a:spcPts val="500"/>
              </a:spcAft>
            </a:pPr>
            <a:r>
              <a:rPr sz="1700" b="0">
                <a:solidFill>
                  <a:srgbClr val="1A2433"/>
                </a:solidFill>
                <a:latin typeface="Calibri"/>
              </a:rPr>
              <a:t>ICIs (anti-PD-1/PD-L1, anti-CTLA-4, and now anti-LAG-3) release those brakes; best in high-mutation-burden cancers (melanoma, lung, bladder).</a:t>
            </a:r>
          </a:p>
          <a:p>
            <a:pPr>
              <a:spcAft>
                <a:spcPts val="500"/>
              </a:spcAft>
            </a:pPr>
            <a:r>
              <a:rPr sz="1700" b="0">
                <a:solidFill>
                  <a:srgbClr val="1A2433"/>
                </a:solidFill>
                <a:latin typeface="Calibri"/>
              </a:rPr>
              <a:t>irAEs are autoimmune, can hit any organ, and may appear during or months after therapy — keep ICIs on the differential.</a:t>
            </a:r>
          </a:p>
          <a:p>
            <a:pPr>
              <a:spcAft>
                <a:spcPts val="500"/>
              </a:spcAft>
            </a:pPr>
            <a:r>
              <a:rPr sz="1700" b="0">
                <a:solidFill>
                  <a:srgbClr val="1A2433"/>
                </a:solidFill>
                <a:latin typeface="Calibri"/>
              </a:rPr>
              <a:t>Management framework: rule out other causes → stop ICI → grade severity → prednisone 1–2 mg/kg → add 2nd agent if no improvement in a few days.</a:t>
            </a:r>
          </a:p>
          <a:p>
            <a:pPr>
              <a:spcAft>
                <a:spcPts val="500"/>
              </a:spcAft>
            </a:pPr>
            <a:r>
              <a:rPr sz="1700" b="0">
                <a:solidFill>
                  <a:srgbClr val="1A2433"/>
                </a:solidFill>
                <a:latin typeface="Calibri"/>
              </a:rPr>
              <a:t>Use the NCCN/ASCO irAE guidelines as your go-to resource at the bedside.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00000"/>
          </a:xfrm>
          <a:prstGeom prst="rect">
            <a:avLst/>
          </a:prstGeom>
          <a:solidFill>
            <a:srgbClr val="0E6E8C"/>
          </a:solidFill>
          <a:ln>
            <a:noFill/>
          </a:ln>
          <a:effectLst/>
        </p:spPr>
        <p:style>
          <a:lnRef idx="1">
            <a:schemeClr val="accent1"/>
          </a:lnRef>
          <a:fillRef idx="3">
            <a:schemeClr val="accent1"/>
          </a:fillRef>
          <a:effectRef idx="2">
            <a:schemeClr val="accent1"/>
          </a:effectRef>
          <a:fontRef idx="minor">
            <a:schemeClr val="lt1"/>
          </a:fontRef>
        </p:style>
        <p:txBody>
          <a:bodyPr rtlCol="0" anchor="ctr" lIns="300000" tIns="80000" wrap="square"/>
          <a:lstStyle/>
          <a:p>
            <a:pPr algn="ctr">
              <a:defRPr sz="2600" b="1">
                <a:solidFill>
                  <a:srgbClr val="FFFFFF"/>
                </a:solidFill>
                <a:latin typeface="Calibri"/>
              </a:defRPr>
            </a:pPr>
            <a:r>
              <a:t>Attribution &amp; Optimization Note</a:t>
            </a:r>
          </a:p>
        </p:txBody>
      </p:sp>
      <p:sp>
        <p:nvSpPr>
          <p:cNvPr id="3" name="TextBox 2"/>
          <p:cNvSpPr txBox="1"/>
          <p:nvPr/>
        </p:nvSpPr>
        <p:spPr>
          <a:xfrm>
            <a:off x="450000" y="950000"/>
            <a:ext cx="11292000" cy="5608000"/>
          </a:xfrm>
          <a:prstGeom prst="rect">
            <a:avLst/>
          </a:prstGeom>
          <a:noFill/>
        </p:spPr>
        <p:txBody>
          <a:bodyPr wrap="square">
            <a:spAutoFit/>
          </a:bodyPr>
          <a:lstStyle/>
          <a:p>
            <a:pPr>
              <a:spcAft>
                <a:spcPts val="500"/>
              </a:spcAft>
            </a:pPr>
            <a:r>
              <a:rPr sz="1700" b="0">
                <a:solidFill>
                  <a:srgbClr val="1A2433"/>
                </a:solidFill>
                <a:latin typeface="Calibri"/>
              </a:rPr>
              <a:t>Adapted from TeachIM.org — “Immune Checkpoint Inhibitors” (Natalie Longino MD, Christopher Geiger MD, Erin Schenk MD; exec. ed. Brandon Fainstad MD). Published Nov 2021.</a:t>
            </a:r>
          </a:p>
          <a:p>
            <a:pPr>
              <a:spcAft>
                <a:spcPts val="500"/>
              </a:spcAft>
            </a:pPr>
            <a:r>
              <a:rPr sz="1700" b="0">
                <a:solidFill>
                  <a:srgbClr val="1A2433"/>
                </a:solidFill>
                <a:latin typeface="Calibri"/>
              </a:rPr>
              <a:t>Source: teachim.org/teaching_material/immune-checkpoint-inhibitors-2/  ·  License: CC BY-NC 4.0 (attribution, non-commercial only).</a:t>
            </a:r>
          </a:p>
          <a:p>
            <a:pPr>
              <a:spcAft>
                <a:spcPts val="500"/>
              </a:spcAft>
            </a:pPr>
            <a:r>
              <a:rPr sz="1700" b="0">
                <a:solidFill>
                  <a:srgbClr val="1A2433"/>
                </a:solidFill>
                <a:latin typeface="Calibri"/>
              </a:rPr>
              <a:t>Correction made (this copy): slide 6 — “Hodkin’s” → “Hodgkin’s” (FDA-approved-cancers list). All original animations/BioRender graphics preserved; no other slide content altered.</a:t>
            </a:r>
          </a:p>
          <a:p>
            <a:pPr>
              <a:spcAft>
                <a:spcPts val="500"/>
              </a:spcAft>
            </a:pPr>
            <a:r>
              <a:rPr sz="1700" b="0">
                <a:solidFill>
                  <a:srgbClr val="1A2433"/>
                </a:solidFill>
                <a:latin typeface="Calibri"/>
              </a:rPr>
              <a:t>Added context (source-cited, 2022–25): LAG-3 inhibitor class (relatlimab/Opdualag, FDA Mar 2022); tremelimumab+durvalumab; dostarlimab; ASCO/NCCN irAE grading framework.</a:t>
            </a:r>
          </a:p>
          <a:p>
            <a:pPr>
              <a:spcAft>
                <a:spcPts val="500"/>
              </a:spcAft>
            </a:pPr>
            <a:r>
              <a:rPr sz="1700" b="0">
                <a:solidFill>
                  <a:srgbClr val="1A2433"/>
                </a:solidFill>
                <a:latin typeface="Calibri"/>
              </a:rPr>
              <a:t>Companion file: LearnerHandout.pdf (cases). Educational use only; not medical advice — oncology therapy evolves, have content clinician-reviewed before teaching.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10390</TotalTime>
  <Words>2220</Words>
  <Application>Microsoft Macintosh PowerPoint</Application>
  <PresentationFormat>Widescreen</PresentationFormat>
  <Paragraphs>242</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Longino, Natalie</dc:creator>
  <cp:lastModifiedBy>Longino, Natalie</cp:lastModifiedBy>
  <cp:revision>85</cp:revision>
  <dcterms:created xsi:type="dcterms:W3CDTF">2021-03-16T19:08:33Z</dcterms:created>
  <dcterms:modified xsi:type="dcterms:W3CDTF">2021-11-24T10:48:00Z</dcterms:modified>
</cp:coreProperties>
</file>