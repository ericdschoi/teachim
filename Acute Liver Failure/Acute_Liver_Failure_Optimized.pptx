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_115_A8C35DD6.xml" ContentType="application/vnd.ms-powerpoint.comment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4" r:id="rId6"/>
    <p:sldId id="276" r:id="rId7"/>
    <p:sldId id="271" r:id="rId8"/>
    <p:sldId id="282" r:id="rId9"/>
    <p:sldId id="278" r:id="rId10"/>
    <p:sldId id="277" r:id="rId11"/>
    <p:sldId id="279" r:id="rId12"/>
    <p:sldId id="283" r:id="rId13"/>
    <p:sldId id="273" r:id="rId14"/>
    <p:sldId id="284" r:id="rId3"/>
    <p:sldId id="285" r:id="rId2"/>
    <p:sldId id="286" r:id="rId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EAC7C31-9E3A-38A6-5B05-46172D23485C}" name="Mowry, Christopher" initials="MC" userId="S-1-5-21-3931225680-1871015619-2963001510-1976997" providerId="AD"/>
  <p188:author id="{C6EAB242-24F4-D3E7-39A4-836E2CE32846}" name="Fainstad, Brandon" initials="FB" userId="Fainstad, Brandon" providerId="None"/>
  <p188:author id="{B715E842-6D06-8F9C-BF35-4183A2C54995}" name="Kriss, Michael" initials="KM" userId="S::michael.kriss@cuanschutz.edu::b6c34074-fbd0-4525-9b85-7047211523f3" providerId="AD"/>
  <p188:author id="{AB810968-D91D-C19B-3655-B4D2DE7FDBEE}" name="Yilin Zhang" initials="YZ" userId="S::Yilin_Zhang@valleymed.org::40a11026-a9ab-441d-8256-d37e38926e9e" providerId="AD"/>
  <p188:author id="{0F32C275-B4C9-2A30-3D9B-1AE333B634C7}" name="Yilin Zhang" initials="YZ" userId="Yilin Zhang" providerId="None"/>
  <p188:author id="{4D5A32E6-68EF-D711-91A3-7DFA1E25449D}" name="CJ Mowry" initials="CM" userId="ebe3e7ecebd89231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B3B3"/>
    <a:srgbClr val="D15757"/>
    <a:srgbClr val="D97575"/>
    <a:srgbClr val="CB8282"/>
    <a:srgbClr val="E7CFCF"/>
    <a:srgbClr val="D8B0B0"/>
    <a:srgbClr val="F8CFCF"/>
    <a:srgbClr val="EDA1A1"/>
    <a:srgbClr val="E57D7D"/>
    <a:srgbClr val="DE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" Target="slides/slide13.xml"/><Relationship Id="rId2" Type="http://schemas.openxmlformats.org/officeDocument/2006/relationships/slide" Target="slides/slide12.xml"/><Relationship Id="rId3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comments/modernComment_115_A8C35DD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89B964D-3E9A-4F7C-9FFE-BDE7B225341C}" authorId="{0F32C275-B4C9-2A30-3D9B-1AE333B634C7}" created="2022-02-18T17:39:23.35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31375830" sldId="277"/>
      <ac:spMk id="58" creationId="{794F96D9-271B-49E1-A9E3-F0C19F9DD847}"/>
    </ac:deMkLst>
    <p188:replyLst>
      <p188:reply id="{FA5D3953-04DE-4CCA-BDE5-9746243535AD}" authorId="{0F32C275-B4C9-2A30-3D9B-1AE333B634C7}" created="2022-02-18T18:24:27.422">
        <p188:txBody>
          <a:bodyPr/>
          <a:lstStyle/>
          <a:p>
            <a:r>
              <a:rPr lang="en-US"/>
              <a:t>However, in reading the article: 17902129, it seemed to suggest empiric acyclovir should be given to everyone with ALF? Not just those who are febrile. Is there any nuance to this?</a:t>
            </a:r>
          </a:p>
        </p188:txBody>
      </p188:reply>
      <p188:reply id="{8B140A96-95BA-4366-96CC-ED3DCA2D75E2}" authorId="{4D5A32E6-68EF-D711-91A3-7DFA1E25449D}" created="2022-04-01T12:17:31.931">
        <p188:txBody>
          <a:bodyPr/>
          <a:lstStyle/>
          <a:p>
            <a:r>
              <a:rPr lang="en-US"/>
              <a:t>I also wonder about this given many patients with cirrhosis won't develop a fever when infected. </a:t>
            </a:r>
          </a:p>
        </p188:txBody>
      </p188:reply>
    </p188:replyLst>
    <p188:txBody>
      <a:bodyPr/>
      <a:lstStyle/>
      <a:p>
        <a:r>
          <a:rPr lang="en-US"/>
          <a:t>Updated to add some explanations to the wrong answers to emphasize some of the points from the talk. 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3F4B24-528A-4D7D-A9E5-1EE9EFF286EC}" type="doc">
      <dgm:prSet loTypeId="urn:microsoft.com/office/officeart/2005/8/layout/pyramid3" loCatId="pyramid" qsTypeId="urn:microsoft.com/office/officeart/2005/8/quickstyle/simple1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E48BD186-1D5B-4F88-8693-01AC0E87AEB7}">
      <dgm:prSet phldrT="[Text]" custT="1"/>
      <dgm:spPr>
        <a:solidFill>
          <a:srgbClr val="D15757"/>
        </a:solidFill>
        <a:ln w="38100"/>
        <a:effectLst/>
      </dgm:spPr>
      <dgm:t>
        <a:bodyPr/>
        <a:lstStyle/>
        <a:p>
          <a:r>
            <a:rPr lang="en-US" sz="3200" dirty="0"/>
            <a:t>Drugs/Toxins</a:t>
          </a:r>
        </a:p>
      </dgm:t>
    </dgm:pt>
    <dgm:pt modelId="{7116636C-DD44-4A45-8D52-88E1CC6DD05C}" type="parTrans" cxnId="{5A21D368-C3FD-44F8-B7CF-5E24F6B632D6}">
      <dgm:prSet/>
      <dgm:spPr/>
      <dgm:t>
        <a:bodyPr/>
        <a:lstStyle/>
        <a:p>
          <a:endParaRPr lang="en-US"/>
        </a:p>
      </dgm:t>
    </dgm:pt>
    <dgm:pt modelId="{9EC4252F-7907-4B1D-9784-F6881E350E28}" type="sibTrans" cxnId="{5A21D368-C3FD-44F8-B7CF-5E24F6B632D6}">
      <dgm:prSet/>
      <dgm:spPr/>
      <dgm:t>
        <a:bodyPr/>
        <a:lstStyle/>
        <a:p>
          <a:endParaRPr lang="en-US"/>
        </a:p>
      </dgm:t>
    </dgm:pt>
    <dgm:pt modelId="{E5B01B6D-729D-409E-AD4E-BCF0397142B5}">
      <dgm:prSet phldrT="[Text]" custT="1"/>
      <dgm:spPr>
        <a:solidFill>
          <a:srgbClr val="D15757">
            <a:alpha val="82000"/>
          </a:srgbClr>
        </a:solidFill>
        <a:ln w="38100"/>
        <a:effectLst/>
      </dgm:spPr>
      <dgm:t>
        <a:bodyPr/>
        <a:lstStyle/>
        <a:p>
          <a:r>
            <a:rPr lang="en-US" sz="2800" dirty="0"/>
            <a:t>Viral</a:t>
          </a:r>
        </a:p>
      </dgm:t>
    </dgm:pt>
    <dgm:pt modelId="{0392CC93-7AF1-438B-9ECB-69B878E7C123}" type="parTrans" cxnId="{CDC32147-8B2D-42C7-BD27-4D0D4810513C}">
      <dgm:prSet/>
      <dgm:spPr/>
      <dgm:t>
        <a:bodyPr/>
        <a:lstStyle/>
        <a:p>
          <a:endParaRPr lang="en-US"/>
        </a:p>
      </dgm:t>
    </dgm:pt>
    <dgm:pt modelId="{290FC109-A886-4CE2-95C1-E79CEB07AD73}" type="sibTrans" cxnId="{CDC32147-8B2D-42C7-BD27-4D0D4810513C}">
      <dgm:prSet/>
      <dgm:spPr/>
      <dgm:t>
        <a:bodyPr/>
        <a:lstStyle/>
        <a:p>
          <a:endParaRPr lang="en-US"/>
        </a:p>
      </dgm:t>
    </dgm:pt>
    <dgm:pt modelId="{664DCACB-20CC-4184-8287-AD259B6C5BA1}">
      <dgm:prSet phldrT="[Text]"/>
      <dgm:spPr>
        <a:solidFill>
          <a:srgbClr val="DAB3B3"/>
        </a:solidFill>
        <a:ln w="38100"/>
        <a:effectLst/>
      </dgm:spPr>
      <dgm:t>
        <a:bodyPr anchor="t"/>
        <a:lstStyle/>
        <a:p>
          <a:pPr rtl="0"/>
          <a:endParaRPr lang="en-US" dirty="0">
            <a:latin typeface="Calibri Light" panose="020F0302020204030204"/>
          </a:endParaRPr>
        </a:p>
        <a:p>
          <a:pPr rtl="0"/>
          <a:r>
            <a:rPr lang="en-US" dirty="0">
              <a:latin typeface="Calibri Light" panose="020F0302020204030204"/>
            </a:rPr>
            <a:t>    Other    </a:t>
          </a:r>
          <a:endParaRPr lang="en-US" dirty="0"/>
        </a:p>
      </dgm:t>
    </dgm:pt>
    <dgm:pt modelId="{16FF4DD0-E04F-4146-B82C-18C63DCC1930}" type="parTrans" cxnId="{E380CC64-1D4A-4711-AC36-9633FBAA32AF}">
      <dgm:prSet/>
      <dgm:spPr/>
      <dgm:t>
        <a:bodyPr/>
        <a:lstStyle/>
        <a:p>
          <a:endParaRPr lang="en-US"/>
        </a:p>
      </dgm:t>
    </dgm:pt>
    <dgm:pt modelId="{7086EB48-4308-45EE-944C-4CD8D3A4962E}" type="sibTrans" cxnId="{E380CC64-1D4A-4711-AC36-9633FBAA32AF}">
      <dgm:prSet/>
      <dgm:spPr/>
      <dgm:t>
        <a:bodyPr/>
        <a:lstStyle/>
        <a:p>
          <a:endParaRPr lang="en-US"/>
        </a:p>
      </dgm:t>
    </dgm:pt>
    <dgm:pt modelId="{4EECBBF7-5C09-4834-A8B8-AE4D9F4F0D36}">
      <dgm:prSet custT="1"/>
      <dgm:spPr>
        <a:solidFill>
          <a:srgbClr val="CB8282"/>
        </a:solidFill>
        <a:ln w="38100"/>
        <a:effectLst/>
      </dgm:spPr>
      <dgm:t>
        <a:bodyPr/>
        <a:lstStyle/>
        <a:p>
          <a:pPr rtl="0"/>
          <a:r>
            <a:rPr lang="en-US" sz="2400" dirty="0">
              <a:latin typeface="Calibri Light" panose="020F0302020204030204"/>
            </a:rPr>
            <a:t>Ischemia</a:t>
          </a:r>
          <a:endParaRPr lang="en-US" sz="2400" dirty="0"/>
        </a:p>
      </dgm:t>
    </dgm:pt>
    <dgm:pt modelId="{2878241C-1550-42C7-B5A1-C52F2EAB18C0}" type="parTrans" cxnId="{202A9AE0-4523-4C58-B6E0-FFAFB9105959}">
      <dgm:prSet/>
      <dgm:spPr/>
      <dgm:t>
        <a:bodyPr/>
        <a:lstStyle/>
        <a:p>
          <a:endParaRPr lang="en-US"/>
        </a:p>
      </dgm:t>
    </dgm:pt>
    <dgm:pt modelId="{42E8BEDE-2820-4157-9303-4F6469F354B1}" type="sibTrans" cxnId="{202A9AE0-4523-4C58-B6E0-FFAFB9105959}">
      <dgm:prSet/>
      <dgm:spPr/>
      <dgm:t>
        <a:bodyPr/>
        <a:lstStyle/>
        <a:p>
          <a:endParaRPr lang="en-US"/>
        </a:p>
      </dgm:t>
    </dgm:pt>
    <dgm:pt modelId="{E4E7A907-7A66-4DE2-B48D-6534BB9D8AA4}" type="pres">
      <dgm:prSet presAssocID="{0D3F4B24-528A-4D7D-A9E5-1EE9EFF286EC}" presName="Name0" presStyleCnt="0">
        <dgm:presLayoutVars>
          <dgm:dir/>
          <dgm:animLvl val="lvl"/>
          <dgm:resizeHandles val="exact"/>
        </dgm:presLayoutVars>
      </dgm:prSet>
      <dgm:spPr/>
    </dgm:pt>
    <dgm:pt modelId="{3F4A916C-623E-4B0E-8CEC-0B2A3C2E8F40}" type="pres">
      <dgm:prSet presAssocID="{E48BD186-1D5B-4F88-8693-01AC0E87AEB7}" presName="Name8" presStyleCnt="0"/>
      <dgm:spPr/>
    </dgm:pt>
    <dgm:pt modelId="{EA9D4365-E2FB-4C10-827E-E0278E6B1D5A}" type="pres">
      <dgm:prSet presAssocID="{E48BD186-1D5B-4F88-8693-01AC0E87AEB7}" presName="level" presStyleLbl="node1" presStyleIdx="0" presStyleCnt="4" custLinFactNeighborX="1973" custLinFactNeighborY="-20031">
        <dgm:presLayoutVars>
          <dgm:chMax val="1"/>
          <dgm:bulletEnabled val="1"/>
        </dgm:presLayoutVars>
      </dgm:prSet>
      <dgm:spPr/>
    </dgm:pt>
    <dgm:pt modelId="{B015E4C3-6148-4DCB-872F-CE660B6AADCA}" type="pres">
      <dgm:prSet presAssocID="{E48BD186-1D5B-4F88-8693-01AC0E87AEB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838E57C-3A0E-4226-BCA2-F4A68F0DC6A2}" type="pres">
      <dgm:prSet presAssocID="{E5B01B6D-729D-409E-AD4E-BCF0397142B5}" presName="Name8" presStyleCnt="0"/>
      <dgm:spPr/>
    </dgm:pt>
    <dgm:pt modelId="{8C89731C-C28E-44D2-97AC-69F0D6834245}" type="pres">
      <dgm:prSet presAssocID="{E5B01B6D-729D-409E-AD4E-BCF0397142B5}" presName="level" presStyleLbl="node1" presStyleIdx="1" presStyleCnt="4">
        <dgm:presLayoutVars>
          <dgm:chMax val="1"/>
          <dgm:bulletEnabled val="1"/>
        </dgm:presLayoutVars>
      </dgm:prSet>
      <dgm:spPr/>
    </dgm:pt>
    <dgm:pt modelId="{45C2D908-27A2-4716-8A9E-4D27D3BE5F21}" type="pres">
      <dgm:prSet presAssocID="{E5B01B6D-729D-409E-AD4E-BCF0397142B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38F6A46-35BD-48D7-9F5C-DF0E7A871717}" type="pres">
      <dgm:prSet presAssocID="{4EECBBF7-5C09-4834-A8B8-AE4D9F4F0D36}" presName="Name8" presStyleCnt="0"/>
      <dgm:spPr/>
    </dgm:pt>
    <dgm:pt modelId="{66A90423-3951-4387-BB19-5E8D3C3B5587}" type="pres">
      <dgm:prSet presAssocID="{4EECBBF7-5C09-4834-A8B8-AE4D9F4F0D36}" presName="level" presStyleLbl="node1" presStyleIdx="2" presStyleCnt="4">
        <dgm:presLayoutVars>
          <dgm:chMax val="1"/>
          <dgm:bulletEnabled val="1"/>
        </dgm:presLayoutVars>
      </dgm:prSet>
      <dgm:spPr/>
    </dgm:pt>
    <dgm:pt modelId="{1456AF6C-89C3-4948-9D9D-9FDAE429B62D}" type="pres">
      <dgm:prSet presAssocID="{4EECBBF7-5C09-4834-A8B8-AE4D9F4F0D3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E717BEC-4155-47A2-9D56-DE96F8A6849F}" type="pres">
      <dgm:prSet presAssocID="{664DCACB-20CC-4184-8287-AD259B6C5BA1}" presName="Name8" presStyleCnt="0"/>
      <dgm:spPr/>
    </dgm:pt>
    <dgm:pt modelId="{7EAD72E9-C682-4826-BFBD-F3D2C9246529}" type="pres">
      <dgm:prSet presAssocID="{664DCACB-20CC-4184-8287-AD259B6C5BA1}" presName="level" presStyleLbl="node1" presStyleIdx="3" presStyleCnt="4">
        <dgm:presLayoutVars>
          <dgm:chMax val="1"/>
          <dgm:bulletEnabled val="1"/>
        </dgm:presLayoutVars>
      </dgm:prSet>
      <dgm:spPr/>
    </dgm:pt>
    <dgm:pt modelId="{37B74A7B-5824-4A4A-9D5E-900DF534AD3F}" type="pres">
      <dgm:prSet presAssocID="{664DCACB-20CC-4184-8287-AD259B6C5BA1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9D30EB06-111A-40C8-930D-549BCCA702F0}" type="presOf" srcId="{4EECBBF7-5C09-4834-A8B8-AE4D9F4F0D36}" destId="{1456AF6C-89C3-4948-9D9D-9FDAE429B62D}" srcOrd="1" destOrd="0" presId="urn:microsoft.com/office/officeart/2005/8/layout/pyramid3"/>
    <dgm:cxn modelId="{CDC6A40D-FCAF-41B7-BDE3-C401FC2D4ED1}" type="presOf" srcId="{664DCACB-20CC-4184-8287-AD259B6C5BA1}" destId="{37B74A7B-5824-4A4A-9D5E-900DF534AD3F}" srcOrd="1" destOrd="0" presId="urn:microsoft.com/office/officeart/2005/8/layout/pyramid3"/>
    <dgm:cxn modelId="{18C26420-4BA7-43A5-9AAC-99A9654692E4}" type="presOf" srcId="{664DCACB-20CC-4184-8287-AD259B6C5BA1}" destId="{7EAD72E9-C682-4826-BFBD-F3D2C9246529}" srcOrd="0" destOrd="0" presId="urn:microsoft.com/office/officeart/2005/8/layout/pyramid3"/>
    <dgm:cxn modelId="{64DA6338-135A-4C78-971D-DD0F7AC762FB}" type="presOf" srcId="{E48BD186-1D5B-4F88-8693-01AC0E87AEB7}" destId="{B015E4C3-6148-4DCB-872F-CE660B6AADCA}" srcOrd="1" destOrd="0" presId="urn:microsoft.com/office/officeart/2005/8/layout/pyramid3"/>
    <dgm:cxn modelId="{E380CC64-1D4A-4711-AC36-9633FBAA32AF}" srcId="{0D3F4B24-528A-4D7D-A9E5-1EE9EFF286EC}" destId="{664DCACB-20CC-4184-8287-AD259B6C5BA1}" srcOrd="3" destOrd="0" parTransId="{16FF4DD0-E04F-4146-B82C-18C63DCC1930}" sibTransId="{7086EB48-4308-45EE-944C-4CD8D3A4962E}"/>
    <dgm:cxn modelId="{CDC32147-8B2D-42C7-BD27-4D0D4810513C}" srcId="{0D3F4B24-528A-4D7D-A9E5-1EE9EFF286EC}" destId="{E5B01B6D-729D-409E-AD4E-BCF0397142B5}" srcOrd="1" destOrd="0" parTransId="{0392CC93-7AF1-438B-9ECB-69B878E7C123}" sibTransId="{290FC109-A886-4CE2-95C1-E79CEB07AD73}"/>
    <dgm:cxn modelId="{5A21D368-C3FD-44F8-B7CF-5E24F6B632D6}" srcId="{0D3F4B24-528A-4D7D-A9E5-1EE9EFF286EC}" destId="{E48BD186-1D5B-4F88-8693-01AC0E87AEB7}" srcOrd="0" destOrd="0" parTransId="{7116636C-DD44-4A45-8D52-88E1CC6DD05C}" sibTransId="{9EC4252F-7907-4B1D-9784-F6881E350E28}"/>
    <dgm:cxn modelId="{BFFA40A8-5B80-419B-A9F4-599517BF3615}" type="presOf" srcId="{E48BD186-1D5B-4F88-8693-01AC0E87AEB7}" destId="{EA9D4365-E2FB-4C10-827E-E0278E6B1D5A}" srcOrd="0" destOrd="0" presId="urn:microsoft.com/office/officeart/2005/8/layout/pyramid3"/>
    <dgm:cxn modelId="{5ACC6AB1-F709-4EE1-A2F4-AFC29777A83C}" type="presOf" srcId="{E5B01B6D-729D-409E-AD4E-BCF0397142B5}" destId="{8C89731C-C28E-44D2-97AC-69F0D6834245}" srcOrd="0" destOrd="0" presId="urn:microsoft.com/office/officeart/2005/8/layout/pyramid3"/>
    <dgm:cxn modelId="{0F8540C4-5ABC-4C71-A6FB-FE0F67F66C62}" type="presOf" srcId="{E5B01B6D-729D-409E-AD4E-BCF0397142B5}" destId="{45C2D908-27A2-4716-8A9E-4D27D3BE5F21}" srcOrd="1" destOrd="0" presId="urn:microsoft.com/office/officeart/2005/8/layout/pyramid3"/>
    <dgm:cxn modelId="{202A9AE0-4523-4C58-B6E0-FFAFB9105959}" srcId="{0D3F4B24-528A-4D7D-A9E5-1EE9EFF286EC}" destId="{4EECBBF7-5C09-4834-A8B8-AE4D9F4F0D36}" srcOrd="2" destOrd="0" parTransId="{2878241C-1550-42C7-B5A1-C52F2EAB18C0}" sibTransId="{42E8BEDE-2820-4157-9303-4F6469F354B1}"/>
    <dgm:cxn modelId="{43457EE6-04B5-413A-9210-9C53C198851E}" type="presOf" srcId="{0D3F4B24-528A-4D7D-A9E5-1EE9EFF286EC}" destId="{E4E7A907-7A66-4DE2-B48D-6534BB9D8AA4}" srcOrd="0" destOrd="0" presId="urn:microsoft.com/office/officeart/2005/8/layout/pyramid3"/>
    <dgm:cxn modelId="{AC3F3FEA-6D73-453A-B5FF-10FECCA0A9D1}" type="presOf" srcId="{4EECBBF7-5C09-4834-A8B8-AE4D9F4F0D36}" destId="{66A90423-3951-4387-BB19-5E8D3C3B5587}" srcOrd="0" destOrd="0" presId="urn:microsoft.com/office/officeart/2005/8/layout/pyramid3"/>
    <dgm:cxn modelId="{44936D3F-7BB2-4D04-AADA-A04DE79AE428}" type="presParOf" srcId="{E4E7A907-7A66-4DE2-B48D-6534BB9D8AA4}" destId="{3F4A916C-623E-4B0E-8CEC-0B2A3C2E8F40}" srcOrd="0" destOrd="0" presId="urn:microsoft.com/office/officeart/2005/8/layout/pyramid3"/>
    <dgm:cxn modelId="{5C4DAE71-3407-4999-9737-C668F1FEC52B}" type="presParOf" srcId="{3F4A916C-623E-4B0E-8CEC-0B2A3C2E8F40}" destId="{EA9D4365-E2FB-4C10-827E-E0278E6B1D5A}" srcOrd="0" destOrd="0" presId="urn:microsoft.com/office/officeart/2005/8/layout/pyramid3"/>
    <dgm:cxn modelId="{20E8CDD0-F837-426A-BA80-C8BE56AD85D2}" type="presParOf" srcId="{3F4A916C-623E-4B0E-8CEC-0B2A3C2E8F40}" destId="{B015E4C3-6148-4DCB-872F-CE660B6AADCA}" srcOrd="1" destOrd="0" presId="urn:microsoft.com/office/officeart/2005/8/layout/pyramid3"/>
    <dgm:cxn modelId="{1A064C36-C687-4ACD-B0FB-763C92473AAF}" type="presParOf" srcId="{E4E7A907-7A66-4DE2-B48D-6534BB9D8AA4}" destId="{B838E57C-3A0E-4226-BCA2-F4A68F0DC6A2}" srcOrd="1" destOrd="0" presId="urn:microsoft.com/office/officeart/2005/8/layout/pyramid3"/>
    <dgm:cxn modelId="{0C4FBEBE-DEA8-4C47-90C8-3B893E9564ED}" type="presParOf" srcId="{B838E57C-3A0E-4226-BCA2-F4A68F0DC6A2}" destId="{8C89731C-C28E-44D2-97AC-69F0D6834245}" srcOrd="0" destOrd="0" presId="urn:microsoft.com/office/officeart/2005/8/layout/pyramid3"/>
    <dgm:cxn modelId="{45577294-623F-4E4D-9538-6AA09EA9304B}" type="presParOf" srcId="{B838E57C-3A0E-4226-BCA2-F4A68F0DC6A2}" destId="{45C2D908-27A2-4716-8A9E-4D27D3BE5F21}" srcOrd="1" destOrd="0" presId="urn:microsoft.com/office/officeart/2005/8/layout/pyramid3"/>
    <dgm:cxn modelId="{B849F3EE-6F60-4882-B3B5-AB96BBDF0695}" type="presParOf" srcId="{E4E7A907-7A66-4DE2-B48D-6534BB9D8AA4}" destId="{C38F6A46-35BD-48D7-9F5C-DF0E7A871717}" srcOrd="2" destOrd="0" presId="urn:microsoft.com/office/officeart/2005/8/layout/pyramid3"/>
    <dgm:cxn modelId="{617FED45-1267-46C2-8917-8A72FADCF148}" type="presParOf" srcId="{C38F6A46-35BD-48D7-9F5C-DF0E7A871717}" destId="{66A90423-3951-4387-BB19-5E8D3C3B5587}" srcOrd="0" destOrd="0" presId="urn:microsoft.com/office/officeart/2005/8/layout/pyramid3"/>
    <dgm:cxn modelId="{255A5D4B-F076-42AB-B120-DBAA5C4C5AB3}" type="presParOf" srcId="{C38F6A46-35BD-48D7-9F5C-DF0E7A871717}" destId="{1456AF6C-89C3-4948-9D9D-9FDAE429B62D}" srcOrd="1" destOrd="0" presId="urn:microsoft.com/office/officeart/2005/8/layout/pyramid3"/>
    <dgm:cxn modelId="{079BD31D-9239-406A-81AA-8D43F29DDDBF}" type="presParOf" srcId="{E4E7A907-7A66-4DE2-B48D-6534BB9D8AA4}" destId="{2E717BEC-4155-47A2-9D56-DE96F8A6849F}" srcOrd="3" destOrd="0" presId="urn:microsoft.com/office/officeart/2005/8/layout/pyramid3"/>
    <dgm:cxn modelId="{9681CFFE-E7E8-40BD-84D2-A57A64DEC4DA}" type="presParOf" srcId="{2E717BEC-4155-47A2-9D56-DE96F8A6849F}" destId="{7EAD72E9-C682-4826-BFBD-F3D2C9246529}" srcOrd="0" destOrd="0" presId="urn:microsoft.com/office/officeart/2005/8/layout/pyramid3"/>
    <dgm:cxn modelId="{7079BE53-829A-41FD-8339-B03E24E06151}" type="presParOf" srcId="{2E717BEC-4155-47A2-9D56-DE96F8A6849F}" destId="{37B74A7B-5824-4A4A-9D5E-900DF534AD3F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3F4B24-528A-4D7D-A9E5-1EE9EFF286EC}" type="doc">
      <dgm:prSet loTypeId="urn:microsoft.com/office/officeart/2005/8/layout/pyramid3" loCatId="pyramid" qsTypeId="urn:microsoft.com/office/officeart/2005/8/quickstyle/simple1" qsCatId="simple" csTypeId="urn:microsoft.com/office/officeart/2005/8/colors/accent6_3" csCatId="accent6" phldr="1"/>
      <dgm:spPr/>
    </dgm:pt>
    <dgm:pt modelId="{E48BD186-1D5B-4F88-8693-01AC0E87AEB7}">
      <dgm:prSet phldrT="[Text]" custT="1"/>
      <dgm:spPr>
        <a:solidFill>
          <a:srgbClr val="D15757"/>
        </a:solidFill>
      </dgm:spPr>
      <dgm:t>
        <a:bodyPr/>
        <a:lstStyle/>
        <a:p>
          <a:r>
            <a:rPr lang="en-US" sz="2000" dirty="0"/>
            <a:t>Drugs/Toxins</a:t>
          </a:r>
        </a:p>
      </dgm:t>
    </dgm:pt>
    <dgm:pt modelId="{7116636C-DD44-4A45-8D52-88E1CC6DD05C}" type="parTrans" cxnId="{5A21D368-C3FD-44F8-B7CF-5E24F6B632D6}">
      <dgm:prSet/>
      <dgm:spPr/>
      <dgm:t>
        <a:bodyPr/>
        <a:lstStyle/>
        <a:p>
          <a:endParaRPr lang="en-US"/>
        </a:p>
      </dgm:t>
    </dgm:pt>
    <dgm:pt modelId="{9EC4252F-7907-4B1D-9784-F6881E350E28}" type="sibTrans" cxnId="{5A21D368-C3FD-44F8-B7CF-5E24F6B632D6}">
      <dgm:prSet/>
      <dgm:spPr/>
      <dgm:t>
        <a:bodyPr/>
        <a:lstStyle/>
        <a:p>
          <a:endParaRPr lang="en-US"/>
        </a:p>
      </dgm:t>
    </dgm:pt>
    <dgm:pt modelId="{E5B01B6D-729D-409E-AD4E-BCF0397142B5}">
      <dgm:prSet phldrT="[Text]" custT="1"/>
      <dgm:spPr>
        <a:solidFill>
          <a:srgbClr val="D15757">
            <a:alpha val="82000"/>
          </a:srgbClr>
        </a:solidFill>
      </dgm:spPr>
      <dgm:t>
        <a:bodyPr/>
        <a:lstStyle/>
        <a:p>
          <a:r>
            <a:rPr lang="en-US" sz="2000" dirty="0"/>
            <a:t>Viral</a:t>
          </a:r>
        </a:p>
      </dgm:t>
    </dgm:pt>
    <dgm:pt modelId="{0392CC93-7AF1-438B-9ECB-69B878E7C123}" type="parTrans" cxnId="{CDC32147-8B2D-42C7-BD27-4D0D4810513C}">
      <dgm:prSet/>
      <dgm:spPr/>
      <dgm:t>
        <a:bodyPr/>
        <a:lstStyle/>
        <a:p>
          <a:endParaRPr lang="en-US"/>
        </a:p>
      </dgm:t>
    </dgm:pt>
    <dgm:pt modelId="{290FC109-A886-4CE2-95C1-E79CEB07AD73}" type="sibTrans" cxnId="{CDC32147-8B2D-42C7-BD27-4D0D4810513C}">
      <dgm:prSet/>
      <dgm:spPr/>
      <dgm:t>
        <a:bodyPr/>
        <a:lstStyle/>
        <a:p>
          <a:endParaRPr lang="en-US"/>
        </a:p>
      </dgm:t>
    </dgm:pt>
    <dgm:pt modelId="{664DCACB-20CC-4184-8287-AD259B6C5BA1}">
      <dgm:prSet phldrT="[Text]"/>
      <dgm:spPr>
        <a:solidFill>
          <a:srgbClr val="D15757">
            <a:alpha val="32000"/>
          </a:srgbClr>
        </a:solidFill>
      </dgm:spPr>
      <dgm:t>
        <a:bodyPr/>
        <a:lstStyle/>
        <a:p>
          <a:pPr rtl="0"/>
          <a:r>
            <a:rPr lang="en-US" dirty="0">
              <a:latin typeface="Calibri Light" panose="020F0302020204030204"/>
            </a:rPr>
            <a:t>    Other    </a:t>
          </a:r>
          <a:endParaRPr lang="en-US" dirty="0"/>
        </a:p>
      </dgm:t>
    </dgm:pt>
    <dgm:pt modelId="{16FF4DD0-E04F-4146-B82C-18C63DCC1930}" type="parTrans" cxnId="{E380CC64-1D4A-4711-AC36-9633FBAA32AF}">
      <dgm:prSet/>
      <dgm:spPr/>
      <dgm:t>
        <a:bodyPr/>
        <a:lstStyle/>
        <a:p>
          <a:endParaRPr lang="en-US"/>
        </a:p>
      </dgm:t>
    </dgm:pt>
    <dgm:pt modelId="{7086EB48-4308-45EE-944C-4CD8D3A4962E}" type="sibTrans" cxnId="{E380CC64-1D4A-4711-AC36-9633FBAA32AF}">
      <dgm:prSet/>
      <dgm:spPr/>
      <dgm:t>
        <a:bodyPr/>
        <a:lstStyle/>
        <a:p>
          <a:endParaRPr lang="en-US"/>
        </a:p>
      </dgm:t>
    </dgm:pt>
    <dgm:pt modelId="{4EECBBF7-5C09-4834-A8B8-AE4D9F4F0D36}">
      <dgm:prSet custT="1"/>
      <dgm:spPr>
        <a:solidFill>
          <a:srgbClr val="D15757">
            <a:alpha val="60000"/>
          </a:srgbClr>
        </a:solidFill>
      </dgm:spPr>
      <dgm:t>
        <a:bodyPr/>
        <a:lstStyle/>
        <a:p>
          <a:pPr rtl="0"/>
          <a:r>
            <a:rPr lang="en-US" sz="1600" dirty="0">
              <a:latin typeface="Calibri Light" panose="020F0302020204030204"/>
            </a:rPr>
            <a:t>Ischemia</a:t>
          </a:r>
          <a:endParaRPr lang="en-US" sz="1600" dirty="0"/>
        </a:p>
      </dgm:t>
    </dgm:pt>
    <dgm:pt modelId="{2878241C-1550-42C7-B5A1-C52F2EAB18C0}" type="parTrans" cxnId="{202A9AE0-4523-4C58-B6E0-FFAFB9105959}">
      <dgm:prSet/>
      <dgm:spPr/>
      <dgm:t>
        <a:bodyPr/>
        <a:lstStyle/>
        <a:p>
          <a:endParaRPr lang="en-US"/>
        </a:p>
      </dgm:t>
    </dgm:pt>
    <dgm:pt modelId="{42E8BEDE-2820-4157-9303-4F6469F354B1}" type="sibTrans" cxnId="{202A9AE0-4523-4C58-B6E0-FFAFB9105959}">
      <dgm:prSet/>
      <dgm:spPr/>
      <dgm:t>
        <a:bodyPr/>
        <a:lstStyle/>
        <a:p>
          <a:endParaRPr lang="en-US"/>
        </a:p>
      </dgm:t>
    </dgm:pt>
    <dgm:pt modelId="{E4E7A907-7A66-4DE2-B48D-6534BB9D8AA4}" type="pres">
      <dgm:prSet presAssocID="{0D3F4B24-528A-4D7D-A9E5-1EE9EFF286EC}" presName="Name0" presStyleCnt="0">
        <dgm:presLayoutVars>
          <dgm:dir/>
          <dgm:animLvl val="lvl"/>
          <dgm:resizeHandles val="exact"/>
        </dgm:presLayoutVars>
      </dgm:prSet>
      <dgm:spPr/>
    </dgm:pt>
    <dgm:pt modelId="{3F4A916C-623E-4B0E-8CEC-0B2A3C2E8F40}" type="pres">
      <dgm:prSet presAssocID="{E48BD186-1D5B-4F88-8693-01AC0E87AEB7}" presName="Name8" presStyleCnt="0"/>
      <dgm:spPr/>
    </dgm:pt>
    <dgm:pt modelId="{EA9D4365-E2FB-4C10-827E-E0278E6B1D5A}" type="pres">
      <dgm:prSet presAssocID="{E48BD186-1D5B-4F88-8693-01AC0E87AEB7}" presName="level" presStyleLbl="node1" presStyleIdx="0" presStyleCnt="4" custLinFactY="-100000" custLinFactNeighborX="-3622" custLinFactNeighborY="-112158">
        <dgm:presLayoutVars>
          <dgm:chMax val="1"/>
          <dgm:bulletEnabled val="1"/>
        </dgm:presLayoutVars>
      </dgm:prSet>
      <dgm:spPr/>
    </dgm:pt>
    <dgm:pt modelId="{B015E4C3-6148-4DCB-872F-CE660B6AADCA}" type="pres">
      <dgm:prSet presAssocID="{E48BD186-1D5B-4F88-8693-01AC0E87AEB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838E57C-3A0E-4226-BCA2-F4A68F0DC6A2}" type="pres">
      <dgm:prSet presAssocID="{E5B01B6D-729D-409E-AD4E-BCF0397142B5}" presName="Name8" presStyleCnt="0"/>
      <dgm:spPr/>
    </dgm:pt>
    <dgm:pt modelId="{8C89731C-C28E-44D2-97AC-69F0D6834245}" type="pres">
      <dgm:prSet presAssocID="{E5B01B6D-729D-409E-AD4E-BCF0397142B5}" presName="level" presStyleLbl="node1" presStyleIdx="1" presStyleCnt="4">
        <dgm:presLayoutVars>
          <dgm:chMax val="1"/>
          <dgm:bulletEnabled val="1"/>
        </dgm:presLayoutVars>
      </dgm:prSet>
      <dgm:spPr/>
    </dgm:pt>
    <dgm:pt modelId="{45C2D908-27A2-4716-8A9E-4D27D3BE5F21}" type="pres">
      <dgm:prSet presAssocID="{E5B01B6D-729D-409E-AD4E-BCF0397142B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38F6A46-35BD-48D7-9F5C-DF0E7A871717}" type="pres">
      <dgm:prSet presAssocID="{4EECBBF7-5C09-4834-A8B8-AE4D9F4F0D36}" presName="Name8" presStyleCnt="0"/>
      <dgm:spPr/>
    </dgm:pt>
    <dgm:pt modelId="{66A90423-3951-4387-BB19-5E8D3C3B5587}" type="pres">
      <dgm:prSet presAssocID="{4EECBBF7-5C09-4834-A8B8-AE4D9F4F0D36}" presName="level" presStyleLbl="node1" presStyleIdx="2" presStyleCnt="4">
        <dgm:presLayoutVars>
          <dgm:chMax val="1"/>
          <dgm:bulletEnabled val="1"/>
        </dgm:presLayoutVars>
      </dgm:prSet>
      <dgm:spPr/>
    </dgm:pt>
    <dgm:pt modelId="{1456AF6C-89C3-4948-9D9D-9FDAE429B62D}" type="pres">
      <dgm:prSet presAssocID="{4EECBBF7-5C09-4834-A8B8-AE4D9F4F0D3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E717BEC-4155-47A2-9D56-DE96F8A6849F}" type="pres">
      <dgm:prSet presAssocID="{664DCACB-20CC-4184-8287-AD259B6C5BA1}" presName="Name8" presStyleCnt="0"/>
      <dgm:spPr/>
    </dgm:pt>
    <dgm:pt modelId="{7EAD72E9-C682-4826-BFBD-F3D2C9246529}" type="pres">
      <dgm:prSet presAssocID="{664DCACB-20CC-4184-8287-AD259B6C5BA1}" presName="level" presStyleLbl="node1" presStyleIdx="3" presStyleCnt="4">
        <dgm:presLayoutVars>
          <dgm:chMax val="1"/>
          <dgm:bulletEnabled val="1"/>
        </dgm:presLayoutVars>
      </dgm:prSet>
      <dgm:spPr/>
    </dgm:pt>
    <dgm:pt modelId="{37B74A7B-5824-4A4A-9D5E-900DF534AD3F}" type="pres">
      <dgm:prSet presAssocID="{664DCACB-20CC-4184-8287-AD259B6C5BA1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9D30EB06-111A-40C8-930D-549BCCA702F0}" type="presOf" srcId="{4EECBBF7-5C09-4834-A8B8-AE4D9F4F0D36}" destId="{1456AF6C-89C3-4948-9D9D-9FDAE429B62D}" srcOrd="1" destOrd="0" presId="urn:microsoft.com/office/officeart/2005/8/layout/pyramid3"/>
    <dgm:cxn modelId="{CDC6A40D-FCAF-41B7-BDE3-C401FC2D4ED1}" type="presOf" srcId="{664DCACB-20CC-4184-8287-AD259B6C5BA1}" destId="{37B74A7B-5824-4A4A-9D5E-900DF534AD3F}" srcOrd="1" destOrd="0" presId="urn:microsoft.com/office/officeart/2005/8/layout/pyramid3"/>
    <dgm:cxn modelId="{18C26420-4BA7-43A5-9AAC-99A9654692E4}" type="presOf" srcId="{664DCACB-20CC-4184-8287-AD259B6C5BA1}" destId="{7EAD72E9-C682-4826-BFBD-F3D2C9246529}" srcOrd="0" destOrd="0" presId="urn:microsoft.com/office/officeart/2005/8/layout/pyramid3"/>
    <dgm:cxn modelId="{64DA6338-135A-4C78-971D-DD0F7AC762FB}" type="presOf" srcId="{E48BD186-1D5B-4F88-8693-01AC0E87AEB7}" destId="{B015E4C3-6148-4DCB-872F-CE660B6AADCA}" srcOrd="1" destOrd="0" presId="urn:microsoft.com/office/officeart/2005/8/layout/pyramid3"/>
    <dgm:cxn modelId="{E380CC64-1D4A-4711-AC36-9633FBAA32AF}" srcId="{0D3F4B24-528A-4D7D-A9E5-1EE9EFF286EC}" destId="{664DCACB-20CC-4184-8287-AD259B6C5BA1}" srcOrd="3" destOrd="0" parTransId="{16FF4DD0-E04F-4146-B82C-18C63DCC1930}" sibTransId="{7086EB48-4308-45EE-944C-4CD8D3A4962E}"/>
    <dgm:cxn modelId="{CDC32147-8B2D-42C7-BD27-4D0D4810513C}" srcId="{0D3F4B24-528A-4D7D-A9E5-1EE9EFF286EC}" destId="{E5B01B6D-729D-409E-AD4E-BCF0397142B5}" srcOrd="1" destOrd="0" parTransId="{0392CC93-7AF1-438B-9ECB-69B878E7C123}" sibTransId="{290FC109-A886-4CE2-95C1-E79CEB07AD73}"/>
    <dgm:cxn modelId="{5A21D368-C3FD-44F8-B7CF-5E24F6B632D6}" srcId="{0D3F4B24-528A-4D7D-A9E5-1EE9EFF286EC}" destId="{E48BD186-1D5B-4F88-8693-01AC0E87AEB7}" srcOrd="0" destOrd="0" parTransId="{7116636C-DD44-4A45-8D52-88E1CC6DD05C}" sibTransId="{9EC4252F-7907-4B1D-9784-F6881E350E28}"/>
    <dgm:cxn modelId="{BFFA40A8-5B80-419B-A9F4-599517BF3615}" type="presOf" srcId="{E48BD186-1D5B-4F88-8693-01AC0E87AEB7}" destId="{EA9D4365-E2FB-4C10-827E-E0278E6B1D5A}" srcOrd="0" destOrd="0" presId="urn:microsoft.com/office/officeart/2005/8/layout/pyramid3"/>
    <dgm:cxn modelId="{5ACC6AB1-F709-4EE1-A2F4-AFC29777A83C}" type="presOf" srcId="{E5B01B6D-729D-409E-AD4E-BCF0397142B5}" destId="{8C89731C-C28E-44D2-97AC-69F0D6834245}" srcOrd="0" destOrd="0" presId="urn:microsoft.com/office/officeart/2005/8/layout/pyramid3"/>
    <dgm:cxn modelId="{0F8540C4-5ABC-4C71-A6FB-FE0F67F66C62}" type="presOf" srcId="{E5B01B6D-729D-409E-AD4E-BCF0397142B5}" destId="{45C2D908-27A2-4716-8A9E-4D27D3BE5F21}" srcOrd="1" destOrd="0" presId="urn:microsoft.com/office/officeart/2005/8/layout/pyramid3"/>
    <dgm:cxn modelId="{202A9AE0-4523-4C58-B6E0-FFAFB9105959}" srcId="{0D3F4B24-528A-4D7D-A9E5-1EE9EFF286EC}" destId="{4EECBBF7-5C09-4834-A8B8-AE4D9F4F0D36}" srcOrd="2" destOrd="0" parTransId="{2878241C-1550-42C7-B5A1-C52F2EAB18C0}" sibTransId="{42E8BEDE-2820-4157-9303-4F6469F354B1}"/>
    <dgm:cxn modelId="{43457EE6-04B5-413A-9210-9C53C198851E}" type="presOf" srcId="{0D3F4B24-528A-4D7D-A9E5-1EE9EFF286EC}" destId="{E4E7A907-7A66-4DE2-B48D-6534BB9D8AA4}" srcOrd="0" destOrd="0" presId="urn:microsoft.com/office/officeart/2005/8/layout/pyramid3"/>
    <dgm:cxn modelId="{AC3F3FEA-6D73-453A-B5FF-10FECCA0A9D1}" type="presOf" srcId="{4EECBBF7-5C09-4834-A8B8-AE4D9F4F0D36}" destId="{66A90423-3951-4387-BB19-5E8D3C3B5587}" srcOrd="0" destOrd="0" presId="urn:microsoft.com/office/officeart/2005/8/layout/pyramid3"/>
    <dgm:cxn modelId="{44936D3F-7BB2-4D04-AADA-A04DE79AE428}" type="presParOf" srcId="{E4E7A907-7A66-4DE2-B48D-6534BB9D8AA4}" destId="{3F4A916C-623E-4B0E-8CEC-0B2A3C2E8F40}" srcOrd="0" destOrd="0" presId="urn:microsoft.com/office/officeart/2005/8/layout/pyramid3"/>
    <dgm:cxn modelId="{5C4DAE71-3407-4999-9737-C668F1FEC52B}" type="presParOf" srcId="{3F4A916C-623E-4B0E-8CEC-0B2A3C2E8F40}" destId="{EA9D4365-E2FB-4C10-827E-E0278E6B1D5A}" srcOrd="0" destOrd="0" presId="urn:microsoft.com/office/officeart/2005/8/layout/pyramid3"/>
    <dgm:cxn modelId="{20E8CDD0-F837-426A-BA80-C8BE56AD85D2}" type="presParOf" srcId="{3F4A916C-623E-4B0E-8CEC-0B2A3C2E8F40}" destId="{B015E4C3-6148-4DCB-872F-CE660B6AADCA}" srcOrd="1" destOrd="0" presId="urn:microsoft.com/office/officeart/2005/8/layout/pyramid3"/>
    <dgm:cxn modelId="{1A064C36-C687-4ACD-B0FB-763C92473AAF}" type="presParOf" srcId="{E4E7A907-7A66-4DE2-B48D-6534BB9D8AA4}" destId="{B838E57C-3A0E-4226-BCA2-F4A68F0DC6A2}" srcOrd="1" destOrd="0" presId="urn:microsoft.com/office/officeart/2005/8/layout/pyramid3"/>
    <dgm:cxn modelId="{0C4FBEBE-DEA8-4C47-90C8-3B893E9564ED}" type="presParOf" srcId="{B838E57C-3A0E-4226-BCA2-F4A68F0DC6A2}" destId="{8C89731C-C28E-44D2-97AC-69F0D6834245}" srcOrd="0" destOrd="0" presId="urn:microsoft.com/office/officeart/2005/8/layout/pyramid3"/>
    <dgm:cxn modelId="{45577294-623F-4E4D-9538-6AA09EA9304B}" type="presParOf" srcId="{B838E57C-3A0E-4226-BCA2-F4A68F0DC6A2}" destId="{45C2D908-27A2-4716-8A9E-4D27D3BE5F21}" srcOrd="1" destOrd="0" presId="urn:microsoft.com/office/officeart/2005/8/layout/pyramid3"/>
    <dgm:cxn modelId="{B849F3EE-6F60-4882-B3B5-AB96BBDF0695}" type="presParOf" srcId="{E4E7A907-7A66-4DE2-B48D-6534BB9D8AA4}" destId="{C38F6A46-35BD-48D7-9F5C-DF0E7A871717}" srcOrd="2" destOrd="0" presId="urn:microsoft.com/office/officeart/2005/8/layout/pyramid3"/>
    <dgm:cxn modelId="{617FED45-1267-46C2-8917-8A72FADCF148}" type="presParOf" srcId="{C38F6A46-35BD-48D7-9F5C-DF0E7A871717}" destId="{66A90423-3951-4387-BB19-5E8D3C3B5587}" srcOrd="0" destOrd="0" presId="urn:microsoft.com/office/officeart/2005/8/layout/pyramid3"/>
    <dgm:cxn modelId="{255A5D4B-F076-42AB-B120-DBAA5C4C5AB3}" type="presParOf" srcId="{C38F6A46-35BD-48D7-9F5C-DF0E7A871717}" destId="{1456AF6C-89C3-4948-9D9D-9FDAE429B62D}" srcOrd="1" destOrd="0" presId="urn:microsoft.com/office/officeart/2005/8/layout/pyramid3"/>
    <dgm:cxn modelId="{079BD31D-9239-406A-81AA-8D43F29DDDBF}" type="presParOf" srcId="{E4E7A907-7A66-4DE2-B48D-6534BB9D8AA4}" destId="{2E717BEC-4155-47A2-9D56-DE96F8A6849F}" srcOrd="3" destOrd="0" presId="urn:microsoft.com/office/officeart/2005/8/layout/pyramid3"/>
    <dgm:cxn modelId="{9681CFFE-E7E8-40BD-84D2-A57A64DEC4DA}" type="presParOf" srcId="{2E717BEC-4155-47A2-9D56-DE96F8A6849F}" destId="{7EAD72E9-C682-4826-BFBD-F3D2C9246529}" srcOrd="0" destOrd="0" presId="urn:microsoft.com/office/officeart/2005/8/layout/pyramid3"/>
    <dgm:cxn modelId="{7079BE53-829A-41FD-8339-B03E24E06151}" type="presParOf" srcId="{2E717BEC-4155-47A2-9D56-DE96F8A6849F}" destId="{37B74A7B-5824-4A4A-9D5E-900DF534AD3F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D3F4B24-528A-4D7D-A9E5-1EE9EFF286EC}" type="doc">
      <dgm:prSet loTypeId="urn:microsoft.com/office/officeart/2005/8/layout/pyramid3" loCatId="pyramid" qsTypeId="urn:microsoft.com/office/officeart/2005/8/quickstyle/simple1" qsCatId="simple" csTypeId="urn:microsoft.com/office/officeart/2005/8/colors/accent6_3" csCatId="accent6" phldr="1"/>
      <dgm:spPr/>
    </dgm:pt>
    <dgm:pt modelId="{E48BD186-1D5B-4F88-8693-01AC0E87AEB7}">
      <dgm:prSet phldrT="[Text]" custT="1"/>
      <dgm:spPr>
        <a:solidFill>
          <a:srgbClr val="D15757"/>
        </a:solidFill>
      </dgm:spPr>
      <dgm:t>
        <a:bodyPr/>
        <a:lstStyle/>
        <a:p>
          <a:r>
            <a:rPr lang="en-US" sz="2000" dirty="0"/>
            <a:t>Drugs/Toxins</a:t>
          </a:r>
        </a:p>
      </dgm:t>
    </dgm:pt>
    <dgm:pt modelId="{7116636C-DD44-4A45-8D52-88E1CC6DD05C}" type="parTrans" cxnId="{5A21D368-C3FD-44F8-B7CF-5E24F6B632D6}">
      <dgm:prSet/>
      <dgm:spPr/>
      <dgm:t>
        <a:bodyPr/>
        <a:lstStyle/>
        <a:p>
          <a:endParaRPr lang="en-US"/>
        </a:p>
      </dgm:t>
    </dgm:pt>
    <dgm:pt modelId="{9EC4252F-7907-4B1D-9784-F6881E350E28}" type="sibTrans" cxnId="{5A21D368-C3FD-44F8-B7CF-5E24F6B632D6}">
      <dgm:prSet/>
      <dgm:spPr/>
      <dgm:t>
        <a:bodyPr/>
        <a:lstStyle/>
        <a:p>
          <a:endParaRPr lang="en-US"/>
        </a:p>
      </dgm:t>
    </dgm:pt>
    <dgm:pt modelId="{E5B01B6D-729D-409E-AD4E-BCF0397142B5}">
      <dgm:prSet phldrT="[Text]" custT="1"/>
      <dgm:spPr>
        <a:solidFill>
          <a:srgbClr val="D15757">
            <a:alpha val="82000"/>
          </a:srgbClr>
        </a:solidFill>
      </dgm:spPr>
      <dgm:t>
        <a:bodyPr/>
        <a:lstStyle/>
        <a:p>
          <a:r>
            <a:rPr lang="en-US" sz="2000" dirty="0"/>
            <a:t>Viral</a:t>
          </a:r>
        </a:p>
      </dgm:t>
    </dgm:pt>
    <dgm:pt modelId="{0392CC93-7AF1-438B-9ECB-69B878E7C123}" type="parTrans" cxnId="{CDC32147-8B2D-42C7-BD27-4D0D4810513C}">
      <dgm:prSet/>
      <dgm:spPr/>
      <dgm:t>
        <a:bodyPr/>
        <a:lstStyle/>
        <a:p>
          <a:endParaRPr lang="en-US"/>
        </a:p>
      </dgm:t>
    </dgm:pt>
    <dgm:pt modelId="{290FC109-A886-4CE2-95C1-E79CEB07AD73}" type="sibTrans" cxnId="{CDC32147-8B2D-42C7-BD27-4D0D4810513C}">
      <dgm:prSet/>
      <dgm:spPr/>
      <dgm:t>
        <a:bodyPr/>
        <a:lstStyle/>
        <a:p>
          <a:endParaRPr lang="en-US"/>
        </a:p>
      </dgm:t>
    </dgm:pt>
    <dgm:pt modelId="{664DCACB-20CC-4184-8287-AD259B6C5BA1}">
      <dgm:prSet phldrT="[Text]"/>
      <dgm:spPr>
        <a:solidFill>
          <a:srgbClr val="D15757">
            <a:alpha val="32000"/>
          </a:srgbClr>
        </a:solidFill>
      </dgm:spPr>
      <dgm:t>
        <a:bodyPr/>
        <a:lstStyle/>
        <a:p>
          <a:pPr rtl="0"/>
          <a:r>
            <a:rPr lang="en-US" dirty="0">
              <a:latin typeface="Calibri Light" panose="020F0302020204030204"/>
            </a:rPr>
            <a:t>    Other    </a:t>
          </a:r>
          <a:endParaRPr lang="en-US" dirty="0"/>
        </a:p>
      </dgm:t>
    </dgm:pt>
    <dgm:pt modelId="{16FF4DD0-E04F-4146-B82C-18C63DCC1930}" type="parTrans" cxnId="{E380CC64-1D4A-4711-AC36-9633FBAA32AF}">
      <dgm:prSet/>
      <dgm:spPr/>
      <dgm:t>
        <a:bodyPr/>
        <a:lstStyle/>
        <a:p>
          <a:endParaRPr lang="en-US"/>
        </a:p>
      </dgm:t>
    </dgm:pt>
    <dgm:pt modelId="{7086EB48-4308-45EE-944C-4CD8D3A4962E}" type="sibTrans" cxnId="{E380CC64-1D4A-4711-AC36-9633FBAA32AF}">
      <dgm:prSet/>
      <dgm:spPr/>
      <dgm:t>
        <a:bodyPr/>
        <a:lstStyle/>
        <a:p>
          <a:endParaRPr lang="en-US"/>
        </a:p>
      </dgm:t>
    </dgm:pt>
    <dgm:pt modelId="{4EECBBF7-5C09-4834-A8B8-AE4D9F4F0D36}">
      <dgm:prSet custT="1"/>
      <dgm:spPr>
        <a:solidFill>
          <a:srgbClr val="D15757">
            <a:alpha val="60000"/>
          </a:srgbClr>
        </a:solidFill>
      </dgm:spPr>
      <dgm:t>
        <a:bodyPr/>
        <a:lstStyle/>
        <a:p>
          <a:pPr rtl="0"/>
          <a:r>
            <a:rPr lang="en-US" sz="1600" dirty="0">
              <a:latin typeface="Calibri Light" panose="020F0302020204030204"/>
            </a:rPr>
            <a:t>Ischemia</a:t>
          </a:r>
          <a:endParaRPr lang="en-US" sz="1600" dirty="0"/>
        </a:p>
      </dgm:t>
    </dgm:pt>
    <dgm:pt modelId="{2878241C-1550-42C7-B5A1-C52F2EAB18C0}" type="parTrans" cxnId="{202A9AE0-4523-4C58-B6E0-FFAFB9105959}">
      <dgm:prSet/>
      <dgm:spPr/>
      <dgm:t>
        <a:bodyPr/>
        <a:lstStyle/>
        <a:p>
          <a:endParaRPr lang="en-US"/>
        </a:p>
      </dgm:t>
    </dgm:pt>
    <dgm:pt modelId="{42E8BEDE-2820-4157-9303-4F6469F354B1}" type="sibTrans" cxnId="{202A9AE0-4523-4C58-B6E0-FFAFB9105959}">
      <dgm:prSet/>
      <dgm:spPr/>
      <dgm:t>
        <a:bodyPr/>
        <a:lstStyle/>
        <a:p>
          <a:endParaRPr lang="en-US"/>
        </a:p>
      </dgm:t>
    </dgm:pt>
    <dgm:pt modelId="{E4E7A907-7A66-4DE2-B48D-6534BB9D8AA4}" type="pres">
      <dgm:prSet presAssocID="{0D3F4B24-528A-4D7D-A9E5-1EE9EFF286EC}" presName="Name0" presStyleCnt="0">
        <dgm:presLayoutVars>
          <dgm:dir/>
          <dgm:animLvl val="lvl"/>
          <dgm:resizeHandles val="exact"/>
        </dgm:presLayoutVars>
      </dgm:prSet>
      <dgm:spPr/>
    </dgm:pt>
    <dgm:pt modelId="{3F4A916C-623E-4B0E-8CEC-0B2A3C2E8F40}" type="pres">
      <dgm:prSet presAssocID="{E48BD186-1D5B-4F88-8693-01AC0E87AEB7}" presName="Name8" presStyleCnt="0"/>
      <dgm:spPr/>
    </dgm:pt>
    <dgm:pt modelId="{EA9D4365-E2FB-4C10-827E-E0278E6B1D5A}" type="pres">
      <dgm:prSet presAssocID="{E48BD186-1D5B-4F88-8693-01AC0E87AEB7}" presName="level" presStyleLbl="node1" presStyleIdx="0" presStyleCnt="4" custLinFactY="-100000" custLinFactNeighborX="-3622" custLinFactNeighborY="-112158">
        <dgm:presLayoutVars>
          <dgm:chMax val="1"/>
          <dgm:bulletEnabled val="1"/>
        </dgm:presLayoutVars>
      </dgm:prSet>
      <dgm:spPr/>
    </dgm:pt>
    <dgm:pt modelId="{B015E4C3-6148-4DCB-872F-CE660B6AADCA}" type="pres">
      <dgm:prSet presAssocID="{E48BD186-1D5B-4F88-8693-01AC0E87AEB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838E57C-3A0E-4226-BCA2-F4A68F0DC6A2}" type="pres">
      <dgm:prSet presAssocID="{E5B01B6D-729D-409E-AD4E-BCF0397142B5}" presName="Name8" presStyleCnt="0"/>
      <dgm:spPr/>
    </dgm:pt>
    <dgm:pt modelId="{8C89731C-C28E-44D2-97AC-69F0D6834245}" type="pres">
      <dgm:prSet presAssocID="{E5B01B6D-729D-409E-AD4E-BCF0397142B5}" presName="level" presStyleLbl="node1" presStyleIdx="1" presStyleCnt="4">
        <dgm:presLayoutVars>
          <dgm:chMax val="1"/>
          <dgm:bulletEnabled val="1"/>
        </dgm:presLayoutVars>
      </dgm:prSet>
      <dgm:spPr/>
    </dgm:pt>
    <dgm:pt modelId="{45C2D908-27A2-4716-8A9E-4D27D3BE5F21}" type="pres">
      <dgm:prSet presAssocID="{E5B01B6D-729D-409E-AD4E-BCF0397142B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38F6A46-35BD-48D7-9F5C-DF0E7A871717}" type="pres">
      <dgm:prSet presAssocID="{4EECBBF7-5C09-4834-A8B8-AE4D9F4F0D36}" presName="Name8" presStyleCnt="0"/>
      <dgm:spPr/>
    </dgm:pt>
    <dgm:pt modelId="{66A90423-3951-4387-BB19-5E8D3C3B5587}" type="pres">
      <dgm:prSet presAssocID="{4EECBBF7-5C09-4834-A8B8-AE4D9F4F0D36}" presName="level" presStyleLbl="node1" presStyleIdx="2" presStyleCnt="4">
        <dgm:presLayoutVars>
          <dgm:chMax val="1"/>
          <dgm:bulletEnabled val="1"/>
        </dgm:presLayoutVars>
      </dgm:prSet>
      <dgm:spPr/>
    </dgm:pt>
    <dgm:pt modelId="{1456AF6C-89C3-4948-9D9D-9FDAE429B62D}" type="pres">
      <dgm:prSet presAssocID="{4EECBBF7-5C09-4834-A8B8-AE4D9F4F0D3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E717BEC-4155-47A2-9D56-DE96F8A6849F}" type="pres">
      <dgm:prSet presAssocID="{664DCACB-20CC-4184-8287-AD259B6C5BA1}" presName="Name8" presStyleCnt="0"/>
      <dgm:spPr/>
    </dgm:pt>
    <dgm:pt modelId="{7EAD72E9-C682-4826-BFBD-F3D2C9246529}" type="pres">
      <dgm:prSet presAssocID="{664DCACB-20CC-4184-8287-AD259B6C5BA1}" presName="level" presStyleLbl="node1" presStyleIdx="3" presStyleCnt="4">
        <dgm:presLayoutVars>
          <dgm:chMax val="1"/>
          <dgm:bulletEnabled val="1"/>
        </dgm:presLayoutVars>
      </dgm:prSet>
      <dgm:spPr/>
    </dgm:pt>
    <dgm:pt modelId="{37B74A7B-5824-4A4A-9D5E-900DF534AD3F}" type="pres">
      <dgm:prSet presAssocID="{664DCACB-20CC-4184-8287-AD259B6C5BA1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9D30EB06-111A-40C8-930D-549BCCA702F0}" type="presOf" srcId="{4EECBBF7-5C09-4834-A8B8-AE4D9F4F0D36}" destId="{1456AF6C-89C3-4948-9D9D-9FDAE429B62D}" srcOrd="1" destOrd="0" presId="urn:microsoft.com/office/officeart/2005/8/layout/pyramid3"/>
    <dgm:cxn modelId="{CDC6A40D-FCAF-41B7-BDE3-C401FC2D4ED1}" type="presOf" srcId="{664DCACB-20CC-4184-8287-AD259B6C5BA1}" destId="{37B74A7B-5824-4A4A-9D5E-900DF534AD3F}" srcOrd="1" destOrd="0" presId="urn:microsoft.com/office/officeart/2005/8/layout/pyramid3"/>
    <dgm:cxn modelId="{18C26420-4BA7-43A5-9AAC-99A9654692E4}" type="presOf" srcId="{664DCACB-20CC-4184-8287-AD259B6C5BA1}" destId="{7EAD72E9-C682-4826-BFBD-F3D2C9246529}" srcOrd="0" destOrd="0" presId="urn:microsoft.com/office/officeart/2005/8/layout/pyramid3"/>
    <dgm:cxn modelId="{64DA6338-135A-4C78-971D-DD0F7AC762FB}" type="presOf" srcId="{E48BD186-1D5B-4F88-8693-01AC0E87AEB7}" destId="{B015E4C3-6148-4DCB-872F-CE660B6AADCA}" srcOrd="1" destOrd="0" presId="urn:microsoft.com/office/officeart/2005/8/layout/pyramid3"/>
    <dgm:cxn modelId="{E380CC64-1D4A-4711-AC36-9633FBAA32AF}" srcId="{0D3F4B24-528A-4D7D-A9E5-1EE9EFF286EC}" destId="{664DCACB-20CC-4184-8287-AD259B6C5BA1}" srcOrd="3" destOrd="0" parTransId="{16FF4DD0-E04F-4146-B82C-18C63DCC1930}" sibTransId="{7086EB48-4308-45EE-944C-4CD8D3A4962E}"/>
    <dgm:cxn modelId="{CDC32147-8B2D-42C7-BD27-4D0D4810513C}" srcId="{0D3F4B24-528A-4D7D-A9E5-1EE9EFF286EC}" destId="{E5B01B6D-729D-409E-AD4E-BCF0397142B5}" srcOrd="1" destOrd="0" parTransId="{0392CC93-7AF1-438B-9ECB-69B878E7C123}" sibTransId="{290FC109-A886-4CE2-95C1-E79CEB07AD73}"/>
    <dgm:cxn modelId="{5A21D368-C3FD-44F8-B7CF-5E24F6B632D6}" srcId="{0D3F4B24-528A-4D7D-A9E5-1EE9EFF286EC}" destId="{E48BD186-1D5B-4F88-8693-01AC0E87AEB7}" srcOrd="0" destOrd="0" parTransId="{7116636C-DD44-4A45-8D52-88E1CC6DD05C}" sibTransId="{9EC4252F-7907-4B1D-9784-F6881E350E28}"/>
    <dgm:cxn modelId="{BFFA40A8-5B80-419B-A9F4-599517BF3615}" type="presOf" srcId="{E48BD186-1D5B-4F88-8693-01AC0E87AEB7}" destId="{EA9D4365-E2FB-4C10-827E-E0278E6B1D5A}" srcOrd="0" destOrd="0" presId="urn:microsoft.com/office/officeart/2005/8/layout/pyramid3"/>
    <dgm:cxn modelId="{5ACC6AB1-F709-4EE1-A2F4-AFC29777A83C}" type="presOf" srcId="{E5B01B6D-729D-409E-AD4E-BCF0397142B5}" destId="{8C89731C-C28E-44D2-97AC-69F0D6834245}" srcOrd="0" destOrd="0" presId="urn:microsoft.com/office/officeart/2005/8/layout/pyramid3"/>
    <dgm:cxn modelId="{0F8540C4-5ABC-4C71-A6FB-FE0F67F66C62}" type="presOf" srcId="{E5B01B6D-729D-409E-AD4E-BCF0397142B5}" destId="{45C2D908-27A2-4716-8A9E-4D27D3BE5F21}" srcOrd="1" destOrd="0" presId="urn:microsoft.com/office/officeart/2005/8/layout/pyramid3"/>
    <dgm:cxn modelId="{202A9AE0-4523-4C58-B6E0-FFAFB9105959}" srcId="{0D3F4B24-528A-4D7D-A9E5-1EE9EFF286EC}" destId="{4EECBBF7-5C09-4834-A8B8-AE4D9F4F0D36}" srcOrd="2" destOrd="0" parTransId="{2878241C-1550-42C7-B5A1-C52F2EAB18C0}" sibTransId="{42E8BEDE-2820-4157-9303-4F6469F354B1}"/>
    <dgm:cxn modelId="{43457EE6-04B5-413A-9210-9C53C198851E}" type="presOf" srcId="{0D3F4B24-528A-4D7D-A9E5-1EE9EFF286EC}" destId="{E4E7A907-7A66-4DE2-B48D-6534BB9D8AA4}" srcOrd="0" destOrd="0" presId="urn:microsoft.com/office/officeart/2005/8/layout/pyramid3"/>
    <dgm:cxn modelId="{AC3F3FEA-6D73-453A-B5FF-10FECCA0A9D1}" type="presOf" srcId="{4EECBBF7-5C09-4834-A8B8-AE4D9F4F0D36}" destId="{66A90423-3951-4387-BB19-5E8D3C3B5587}" srcOrd="0" destOrd="0" presId="urn:microsoft.com/office/officeart/2005/8/layout/pyramid3"/>
    <dgm:cxn modelId="{44936D3F-7BB2-4D04-AADA-A04DE79AE428}" type="presParOf" srcId="{E4E7A907-7A66-4DE2-B48D-6534BB9D8AA4}" destId="{3F4A916C-623E-4B0E-8CEC-0B2A3C2E8F40}" srcOrd="0" destOrd="0" presId="urn:microsoft.com/office/officeart/2005/8/layout/pyramid3"/>
    <dgm:cxn modelId="{5C4DAE71-3407-4999-9737-C668F1FEC52B}" type="presParOf" srcId="{3F4A916C-623E-4B0E-8CEC-0B2A3C2E8F40}" destId="{EA9D4365-E2FB-4C10-827E-E0278E6B1D5A}" srcOrd="0" destOrd="0" presId="urn:microsoft.com/office/officeart/2005/8/layout/pyramid3"/>
    <dgm:cxn modelId="{20E8CDD0-F837-426A-BA80-C8BE56AD85D2}" type="presParOf" srcId="{3F4A916C-623E-4B0E-8CEC-0B2A3C2E8F40}" destId="{B015E4C3-6148-4DCB-872F-CE660B6AADCA}" srcOrd="1" destOrd="0" presId="urn:microsoft.com/office/officeart/2005/8/layout/pyramid3"/>
    <dgm:cxn modelId="{1A064C36-C687-4ACD-B0FB-763C92473AAF}" type="presParOf" srcId="{E4E7A907-7A66-4DE2-B48D-6534BB9D8AA4}" destId="{B838E57C-3A0E-4226-BCA2-F4A68F0DC6A2}" srcOrd="1" destOrd="0" presId="urn:microsoft.com/office/officeart/2005/8/layout/pyramid3"/>
    <dgm:cxn modelId="{0C4FBEBE-DEA8-4C47-90C8-3B893E9564ED}" type="presParOf" srcId="{B838E57C-3A0E-4226-BCA2-F4A68F0DC6A2}" destId="{8C89731C-C28E-44D2-97AC-69F0D6834245}" srcOrd="0" destOrd="0" presId="urn:microsoft.com/office/officeart/2005/8/layout/pyramid3"/>
    <dgm:cxn modelId="{45577294-623F-4E4D-9538-6AA09EA9304B}" type="presParOf" srcId="{B838E57C-3A0E-4226-BCA2-F4A68F0DC6A2}" destId="{45C2D908-27A2-4716-8A9E-4D27D3BE5F21}" srcOrd="1" destOrd="0" presId="urn:microsoft.com/office/officeart/2005/8/layout/pyramid3"/>
    <dgm:cxn modelId="{B849F3EE-6F60-4882-B3B5-AB96BBDF0695}" type="presParOf" srcId="{E4E7A907-7A66-4DE2-B48D-6534BB9D8AA4}" destId="{C38F6A46-35BD-48D7-9F5C-DF0E7A871717}" srcOrd="2" destOrd="0" presId="urn:microsoft.com/office/officeart/2005/8/layout/pyramid3"/>
    <dgm:cxn modelId="{617FED45-1267-46C2-8917-8A72FADCF148}" type="presParOf" srcId="{C38F6A46-35BD-48D7-9F5C-DF0E7A871717}" destId="{66A90423-3951-4387-BB19-5E8D3C3B5587}" srcOrd="0" destOrd="0" presId="urn:microsoft.com/office/officeart/2005/8/layout/pyramid3"/>
    <dgm:cxn modelId="{255A5D4B-F076-42AB-B120-DBAA5C4C5AB3}" type="presParOf" srcId="{C38F6A46-35BD-48D7-9F5C-DF0E7A871717}" destId="{1456AF6C-89C3-4948-9D9D-9FDAE429B62D}" srcOrd="1" destOrd="0" presId="urn:microsoft.com/office/officeart/2005/8/layout/pyramid3"/>
    <dgm:cxn modelId="{079BD31D-9239-406A-81AA-8D43F29DDDBF}" type="presParOf" srcId="{E4E7A907-7A66-4DE2-B48D-6534BB9D8AA4}" destId="{2E717BEC-4155-47A2-9D56-DE96F8A6849F}" srcOrd="3" destOrd="0" presId="urn:microsoft.com/office/officeart/2005/8/layout/pyramid3"/>
    <dgm:cxn modelId="{9681CFFE-E7E8-40BD-84D2-A57A64DEC4DA}" type="presParOf" srcId="{2E717BEC-4155-47A2-9D56-DE96F8A6849F}" destId="{7EAD72E9-C682-4826-BFBD-F3D2C9246529}" srcOrd="0" destOrd="0" presId="urn:microsoft.com/office/officeart/2005/8/layout/pyramid3"/>
    <dgm:cxn modelId="{7079BE53-829A-41FD-8339-B03E24E06151}" type="presParOf" srcId="{2E717BEC-4155-47A2-9D56-DE96F8A6849F}" destId="{37B74A7B-5824-4A4A-9D5E-900DF534AD3F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9D4365-E2FB-4C10-827E-E0278E6B1D5A}">
      <dsp:nvSpPr>
        <dsp:cNvPr id="0" name=""/>
        <dsp:cNvSpPr/>
      </dsp:nvSpPr>
      <dsp:spPr>
        <a:xfrm rot="10800000">
          <a:off x="0" y="0"/>
          <a:ext cx="3591902" cy="1308095"/>
        </a:xfrm>
        <a:prstGeom prst="trapezoid">
          <a:avLst>
            <a:gd name="adj" fmla="val 34324"/>
          </a:avLst>
        </a:prstGeom>
        <a:solidFill>
          <a:srgbClr val="D15757"/>
        </a:solidFill>
        <a:ln w="381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Drugs/Toxins</a:t>
          </a:r>
        </a:p>
      </dsp:txBody>
      <dsp:txXfrm rot="-10800000">
        <a:off x="628582" y="0"/>
        <a:ext cx="2334736" cy="1308095"/>
      </dsp:txXfrm>
    </dsp:sp>
    <dsp:sp modelId="{8C89731C-C28E-44D2-97AC-69F0D6834245}">
      <dsp:nvSpPr>
        <dsp:cNvPr id="0" name=""/>
        <dsp:cNvSpPr/>
      </dsp:nvSpPr>
      <dsp:spPr>
        <a:xfrm rot="10800000">
          <a:off x="448987" y="1308095"/>
          <a:ext cx="2693926" cy="1308095"/>
        </a:xfrm>
        <a:prstGeom prst="trapezoid">
          <a:avLst>
            <a:gd name="adj" fmla="val 34324"/>
          </a:avLst>
        </a:prstGeom>
        <a:solidFill>
          <a:srgbClr val="D15757">
            <a:alpha val="82000"/>
          </a:srgbClr>
        </a:solidFill>
        <a:ln w="381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Viral</a:t>
          </a:r>
        </a:p>
      </dsp:txBody>
      <dsp:txXfrm rot="-10800000">
        <a:off x="920424" y="1308095"/>
        <a:ext cx="1751052" cy="1308095"/>
      </dsp:txXfrm>
    </dsp:sp>
    <dsp:sp modelId="{66A90423-3951-4387-BB19-5E8D3C3B5587}">
      <dsp:nvSpPr>
        <dsp:cNvPr id="0" name=""/>
        <dsp:cNvSpPr/>
      </dsp:nvSpPr>
      <dsp:spPr>
        <a:xfrm rot="10800000">
          <a:off x="897975" y="2616190"/>
          <a:ext cx="1795951" cy="1308095"/>
        </a:xfrm>
        <a:prstGeom prst="trapezoid">
          <a:avLst>
            <a:gd name="adj" fmla="val 34324"/>
          </a:avLst>
        </a:prstGeom>
        <a:solidFill>
          <a:srgbClr val="CB8282"/>
        </a:solidFill>
        <a:ln w="381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Calibri Light" panose="020F0302020204030204"/>
            </a:rPr>
            <a:t>Ischemia</a:t>
          </a:r>
          <a:endParaRPr lang="en-US" sz="2400" kern="1200" dirty="0"/>
        </a:p>
      </dsp:txBody>
      <dsp:txXfrm rot="-10800000">
        <a:off x="1212266" y="2616190"/>
        <a:ext cx="1167368" cy="1308095"/>
      </dsp:txXfrm>
    </dsp:sp>
    <dsp:sp modelId="{7EAD72E9-C682-4826-BFBD-F3D2C9246529}">
      <dsp:nvSpPr>
        <dsp:cNvPr id="0" name=""/>
        <dsp:cNvSpPr/>
      </dsp:nvSpPr>
      <dsp:spPr>
        <a:xfrm rot="10800000">
          <a:off x="1346963" y="3924285"/>
          <a:ext cx="897975" cy="1308095"/>
        </a:xfrm>
        <a:prstGeom prst="trapezoid">
          <a:avLst>
            <a:gd name="adj" fmla="val 50000"/>
          </a:avLst>
        </a:prstGeom>
        <a:solidFill>
          <a:srgbClr val="DAB3B3"/>
        </a:solidFill>
        <a:ln w="381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t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>
            <a:latin typeface="Calibri Light" panose="020F0302020204030204"/>
          </a:endParaRPr>
        </a:p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alibri Light" panose="020F0302020204030204"/>
            </a:rPr>
            <a:t>    Other    </a:t>
          </a:r>
          <a:endParaRPr lang="en-US" sz="1600" kern="1200" dirty="0"/>
        </a:p>
      </dsp:txBody>
      <dsp:txXfrm rot="-10800000">
        <a:off x="1346963" y="3924285"/>
        <a:ext cx="897975" cy="13080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9D4365-E2FB-4C10-827E-E0278E6B1D5A}">
      <dsp:nvSpPr>
        <dsp:cNvPr id="0" name=""/>
        <dsp:cNvSpPr/>
      </dsp:nvSpPr>
      <dsp:spPr>
        <a:xfrm rot="10800000">
          <a:off x="0" y="0"/>
          <a:ext cx="2398383" cy="866984"/>
        </a:xfrm>
        <a:prstGeom prst="trapezoid">
          <a:avLst>
            <a:gd name="adj" fmla="val 34579"/>
          </a:avLst>
        </a:prstGeom>
        <a:solidFill>
          <a:srgbClr val="D1575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Drugs/Toxins</a:t>
          </a:r>
        </a:p>
      </dsp:txBody>
      <dsp:txXfrm rot="-10800000">
        <a:off x="419717" y="0"/>
        <a:ext cx="1558948" cy="866984"/>
      </dsp:txXfrm>
    </dsp:sp>
    <dsp:sp modelId="{8C89731C-C28E-44D2-97AC-69F0D6834245}">
      <dsp:nvSpPr>
        <dsp:cNvPr id="0" name=""/>
        <dsp:cNvSpPr/>
      </dsp:nvSpPr>
      <dsp:spPr>
        <a:xfrm rot="10800000">
          <a:off x="299797" y="866984"/>
          <a:ext cx="1798787" cy="866984"/>
        </a:xfrm>
        <a:prstGeom prst="trapezoid">
          <a:avLst>
            <a:gd name="adj" fmla="val 34579"/>
          </a:avLst>
        </a:prstGeom>
        <a:solidFill>
          <a:srgbClr val="D15757">
            <a:alpha val="82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Viral</a:t>
          </a:r>
        </a:p>
      </dsp:txBody>
      <dsp:txXfrm rot="-10800000">
        <a:off x="614585" y="866984"/>
        <a:ext cx="1169211" cy="866984"/>
      </dsp:txXfrm>
    </dsp:sp>
    <dsp:sp modelId="{66A90423-3951-4387-BB19-5E8D3C3B5587}">
      <dsp:nvSpPr>
        <dsp:cNvPr id="0" name=""/>
        <dsp:cNvSpPr/>
      </dsp:nvSpPr>
      <dsp:spPr>
        <a:xfrm rot="10800000">
          <a:off x="599595" y="1733968"/>
          <a:ext cx="1199191" cy="866984"/>
        </a:xfrm>
        <a:prstGeom prst="trapezoid">
          <a:avLst>
            <a:gd name="adj" fmla="val 34579"/>
          </a:avLst>
        </a:prstGeom>
        <a:solidFill>
          <a:srgbClr val="D15757">
            <a:alpha val="6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alibri Light" panose="020F0302020204030204"/>
            </a:rPr>
            <a:t>Ischemia</a:t>
          </a:r>
          <a:endParaRPr lang="en-US" sz="1600" kern="1200" dirty="0"/>
        </a:p>
      </dsp:txBody>
      <dsp:txXfrm rot="-10800000">
        <a:off x="809454" y="1733968"/>
        <a:ext cx="779474" cy="866984"/>
      </dsp:txXfrm>
    </dsp:sp>
    <dsp:sp modelId="{7EAD72E9-C682-4826-BFBD-F3D2C9246529}">
      <dsp:nvSpPr>
        <dsp:cNvPr id="0" name=""/>
        <dsp:cNvSpPr/>
      </dsp:nvSpPr>
      <dsp:spPr>
        <a:xfrm rot="10800000">
          <a:off x="899393" y="2600952"/>
          <a:ext cx="599595" cy="866984"/>
        </a:xfrm>
        <a:prstGeom prst="trapezoid">
          <a:avLst>
            <a:gd name="adj" fmla="val 50000"/>
          </a:avLst>
        </a:prstGeom>
        <a:solidFill>
          <a:srgbClr val="D15757">
            <a:alpha val="32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Calibri Light" panose="020F0302020204030204"/>
            </a:rPr>
            <a:t>    Other    </a:t>
          </a:r>
          <a:endParaRPr lang="en-US" sz="1000" kern="1200" dirty="0"/>
        </a:p>
      </dsp:txBody>
      <dsp:txXfrm rot="-10800000">
        <a:off x="899393" y="2600952"/>
        <a:ext cx="599595" cy="8669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9D4365-E2FB-4C10-827E-E0278E6B1D5A}">
      <dsp:nvSpPr>
        <dsp:cNvPr id="0" name=""/>
        <dsp:cNvSpPr/>
      </dsp:nvSpPr>
      <dsp:spPr>
        <a:xfrm rot="10800000">
          <a:off x="0" y="0"/>
          <a:ext cx="2398383" cy="866984"/>
        </a:xfrm>
        <a:prstGeom prst="trapezoid">
          <a:avLst>
            <a:gd name="adj" fmla="val 34579"/>
          </a:avLst>
        </a:prstGeom>
        <a:solidFill>
          <a:srgbClr val="D1575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Drugs/Toxins</a:t>
          </a:r>
        </a:p>
      </dsp:txBody>
      <dsp:txXfrm rot="-10800000">
        <a:off x="419717" y="0"/>
        <a:ext cx="1558948" cy="866984"/>
      </dsp:txXfrm>
    </dsp:sp>
    <dsp:sp modelId="{8C89731C-C28E-44D2-97AC-69F0D6834245}">
      <dsp:nvSpPr>
        <dsp:cNvPr id="0" name=""/>
        <dsp:cNvSpPr/>
      </dsp:nvSpPr>
      <dsp:spPr>
        <a:xfrm rot="10800000">
          <a:off x="299797" y="866984"/>
          <a:ext cx="1798787" cy="866984"/>
        </a:xfrm>
        <a:prstGeom prst="trapezoid">
          <a:avLst>
            <a:gd name="adj" fmla="val 34579"/>
          </a:avLst>
        </a:prstGeom>
        <a:solidFill>
          <a:srgbClr val="D15757">
            <a:alpha val="82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Viral</a:t>
          </a:r>
        </a:p>
      </dsp:txBody>
      <dsp:txXfrm rot="-10800000">
        <a:off x="614585" y="866984"/>
        <a:ext cx="1169211" cy="866984"/>
      </dsp:txXfrm>
    </dsp:sp>
    <dsp:sp modelId="{66A90423-3951-4387-BB19-5E8D3C3B5587}">
      <dsp:nvSpPr>
        <dsp:cNvPr id="0" name=""/>
        <dsp:cNvSpPr/>
      </dsp:nvSpPr>
      <dsp:spPr>
        <a:xfrm rot="10800000">
          <a:off x="599595" y="1733968"/>
          <a:ext cx="1199191" cy="866984"/>
        </a:xfrm>
        <a:prstGeom prst="trapezoid">
          <a:avLst>
            <a:gd name="adj" fmla="val 34579"/>
          </a:avLst>
        </a:prstGeom>
        <a:solidFill>
          <a:srgbClr val="D15757">
            <a:alpha val="6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alibri Light" panose="020F0302020204030204"/>
            </a:rPr>
            <a:t>Ischemia</a:t>
          </a:r>
          <a:endParaRPr lang="en-US" sz="1600" kern="1200" dirty="0"/>
        </a:p>
      </dsp:txBody>
      <dsp:txXfrm rot="-10800000">
        <a:off x="809454" y="1733968"/>
        <a:ext cx="779474" cy="866984"/>
      </dsp:txXfrm>
    </dsp:sp>
    <dsp:sp modelId="{7EAD72E9-C682-4826-BFBD-F3D2C9246529}">
      <dsp:nvSpPr>
        <dsp:cNvPr id="0" name=""/>
        <dsp:cNvSpPr/>
      </dsp:nvSpPr>
      <dsp:spPr>
        <a:xfrm rot="10800000">
          <a:off x="899393" y="2600952"/>
          <a:ext cx="599595" cy="866984"/>
        </a:xfrm>
        <a:prstGeom prst="trapezoid">
          <a:avLst>
            <a:gd name="adj" fmla="val 50000"/>
          </a:avLst>
        </a:prstGeom>
        <a:solidFill>
          <a:srgbClr val="D15757">
            <a:alpha val="32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Calibri Light" panose="020F0302020204030204"/>
            </a:rPr>
            <a:t>    Other    </a:t>
          </a:r>
          <a:endParaRPr lang="en-US" sz="1000" kern="1200" dirty="0"/>
        </a:p>
      </dsp:txBody>
      <dsp:txXfrm rot="-10800000">
        <a:off x="899393" y="2600952"/>
        <a:ext cx="599595" cy="8669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A47A9-D53B-43D9-8708-4A4F9CD95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6AC791-CF7B-4E5A-829B-C1FEA7278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A3820-9C64-4254-B706-D7655C887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A3BB0-232D-4C30-81EA-22F168436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54119-109B-45F1-AE71-24E5326E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81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4F50C-21F5-4629-9EC6-785D86A73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8CE0E-9445-461F-9ECE-DDFCB30DE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AAB52-45BA-4DA5-8D42-A08F5258C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2237F-3FF5-4808-8FD5-00EF68EB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A63D9-4B9C-4C5F-9F78-072EDC35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301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EFD5A-4224-4D3C-B1F1-B90A847A5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B6431-F589-4041-83A9-477647B3D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6F8E7-1AA6-4BD7-A388-9A352EFFA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54B6F-EDE8-4FBE-9CCD-D1DA25653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CB8CD-7770-4694-A186-17FB1A04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745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1048C-8CE6-4F5C-9D54-EEF648B5D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A9E7-68D0-4CAE-8EED-7E16296A61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3C60E-E3A3-43C5-9B70-2947682C4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61302-CA24-440A-B4FF-2A215B803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EEBFF-4BF8-4D9A-877C-4E5B15B3B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3C224-531D-4D5F-B138-C8C2DF558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82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275BB-BA8C-4CC9-93B3-4A118DAD3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6F770-99FF-4877-A6E4-801BCDCA7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73736-8DED-4689-9646-4FBAC9D97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48A43-C6BB-4B91-88F4-AA4F08A7F1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F14354-CC40-406E-99F5-5BC15D383A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7D4896-9FCB-4EF0-BFDF-E1D1B2FC7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12BA49-F00F-4AFE-AB38-3A00DBD12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F7A29B-38B0-4F09-BE1C-9FA194FAB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EDF8A-24FB-44E0-9F17-99FE2945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4F6B9C-BC36-4C97-A0C2-298B31B7F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75006E-543E-470E-A609-8F2C7C4FA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B6329-5671-4FC1-9965-4613377B2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071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27B9BC-B772-43F8-B4FC-CF88D87B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8AABF-8B66-415F-B026-058588D73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94FAD-0F36-4D49-8D81-BC7EBBED3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563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4225D-6212-45BF-9127-F3496C195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76053-9083-4DB1-AC75-EEAFE66D1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CAA03-47AC-448C-BD62-44DFDB1CA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466D0-E4EF-4DF9-8096-64AA0A648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45805-0774-4915-B57B-553C8A9B7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4D829-266E-48F1-BED7-DD6BB3E4B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342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66985-27E5-4F8C-BF91-22DEDCF51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4F96F4-60CE-40AC-AE3F-7773EA444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837F7-B670-4DDC-AFE1-EBA1784FB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39E62-6360-48A5-B5FE-258587AB4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28423-8843-4CD6-A271-610D9232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C43CA-DAE0-4E68-99E5-FF49B44A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71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8CC0A-32B2-4D6B-A976-152A5A6BB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C7FAE1-E8C3-4A04-99E1-FC26CF51F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D4EBF-9BC0-48F9-BBA1-256AA7B44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FBAC2-A8AA-4365-8035-E8139DCAB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C765-A941-41A8-ACE1-FC7EEB923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57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BA6490-5CB4-4007-BF9C-C0B9BBFD82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EA637B-55D1-4FD6-8826-8107FE695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3F6E6-4340-45E1-8E17-57FEF9878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51AFE-9DEF-42C3-B256-8BF6A263A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1D9F0-0590-4283-85CE-FDF9A9299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0854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8B2958-4B36-4099-B770-95CB160AB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95D57-598D-40AC-A83B-119200F92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F33C1-0465-4F25-B77C-BB92D54D44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F14A-D76B-40B9-B3E4-3854EC9865A5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183EC-0D02-4E7B-AF4B-BCEBEC804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5E90E-61B1-441D-88BB-8B212DF7D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62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slide" Target="slide4.xml"/><Relationship Id="rId7" Type="http://schemas.openxmlformats.org/officeDocument/2006/relationships/slide" Target="slide6.xml"/><Relationship Id="rId8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" Target="slide10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6.xml"/><Relationship Id="rId8" Type="http://schemas.openxmlformats.org/officeDocument/2006/relationships/image" Target="../media/image4.png"/><Relationship Id="rId9" Type="http://schemas.microsoft.com/office/2007/relationships/hdphoto" Target="../media/hdphoto1.wdp"/><Relationship Id="rId10" Type="http://schemas.openxmlformats.org/officeDocument/2006/relationships/image" Target="../media/image5.png"/><Relationship Id="rId11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slide" Target="slide2.xml"/><Relationship Id="rId8" Type="http://schemas.openxmlformats.org/officeDocument/2006/relationships/slide" Target="slide3.xml"/><Relationship Id="rId9" Type="http://schemas.openxmlformats.org/officeDocument/2006/relationships/image" Target="../media/image1.png"/><Relationship Id="rId10" Type="http://schemas.openxmlformats.org/officeDocument/2006/relationships/image" Target="../media/image2.svg"/><Relationship Id="rId11" Type="http://schemas.openxmlformats.org/officeDocument/2006/relationships/slide" Target="slide4.xml"/><Relationship Id="rId12" Type="http://schemas.openxmlformats.org/officeDocument/2006/relationships/slide" Target="slide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6.xml"/><Relationship Id="rId8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slide" Target="slide4.xml"/><Relationship Id="rId7" Type="http://schemas.openxmlformats.org/officeDocument/2006/relationships/slide" Target="slide6.xml"/><Relationship Id="rId8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8/10/relationships/comments" Target="../comments/modernComment_115_A8C35DD6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" Target="slide4.xml"/><Relationship Id="rId8" Type="http://schemas.openxmlformats.org/officeDocument/2006/relationships/slide" Target="slide6.xml"/><Relationship Id="rId9" Type="http://schemas.openxmlformats.org/officeDocument/2006/relationships/slide" Target="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slide" Target="slide4.xml"/><Relationship Id="rId7" Type="http://schemas.openxmlformats.org/officeDocument/2006/relationships/slide" Target="slide6.xml"/><Relationship Id="rId8" Type="http://schemas.openxmlformats.org/officeDocument/2006/relationships/slide" Target="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3.xml"/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 1">
            <a:hlinkClick r:id="rId2" action="ppaction://hlinksldjump"/>
            <a:extLst>
              <a:ext uri="{FF2B5EF4-FFF2-40B4-BE49-F238E27FC236}">
                <a16:creationId xmlns:a16="http://schemas.microsoft.com/office/drawing/2014/main" id="{6E40EF01-40C8-4BBA-9302-094310544EE5}"/>
              </a:ext>
            </a:extLst>
          </p:cNvPr>
          <p:cNvSpPr/>
          <p:nvPr/>
        </p:nvSpPr>
        <p:spPr>
          <a:xfrm>
            <a:off x="156307" y="153787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Definition</a:t>
            </a:r>
          </a:p>
        </p:txBody>
      </p:sp>
      <p:sp>
        <p:nvSpPr>
          <p:cNvPr id="5" name="Obj 2">
            <a:hlinkClick r:id="rId3" action="ppaction://hlinksldjump"/>
            <a:extLst>
              <a:ext uri="{FF2B5EF4-FFF2-40B4-BE49-F238E27FC236}">
                <a16:creationId xmlns:a16="http://schemas.microsoft.com/office/drawing/2014/main" id="{18AA5CC9-2F52-44F8-95A8-EF1288A442A3}"/>
              </a:ext>
            </a:extLst>
          </p:cNvPr>
          <p:cNvSpPr/>
          <p:nvPr/>
        </p:nvSpPr>
        <p:spPr>
          <a:xfrm>
            <a:off x="167950" y="681861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Etiologies</a:t>
            </a:r>
          </a:p>
        </p:txBody>
      </p:sp>
      <p:pic>
        <p:nvPicPr>
          <p:cNvPr id="6" name="Graphic 5" descr="Cursor with solid fill">
            <a:extLst>
              <a:ext uri="{FF2B5EF4-FFF2-40B4-BE49-F238E27FC236}">
                <a16:creationId xmlns:a16="http://schemas.microsoft.com/office/drawing/2014/main" id="{A70CEF10-430A-40AB-9918-5B1C846489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3565" y="400149"/>
            <a:ext cx="301752" cy="301752"/>
          </a:xfrm>
          <a:prstGeom prst="rect">
            <a:avLst/>
          </a:prstGeom>
        </p:spPr>
      </p:pic>
      <p:pic>
        <p:nvPicPr>
          <p:cNvPr id="7" name="Graphic 6" descr="Cursor with solid fill">
            <a:extLst>
              <a:ext uri="{FF2B5EF4-FFF2-40B4-BE49-F238E27FC236}">
                <a16:creationId xmlns:a16="http://schemas.microsoft.com/office/drawing/2014/main" id="{5733B8FF-EE79-4DF6-B11B-E377500EC5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3565" y="914504"/>
            <a:ext cx="301752" cy="301752"/>
          </a:xfrm>
          <a:prstGeom prst="rect">
            <a:avLst/>
          </a:prstGeom>
        </p:spPr>
      </p:pic>
      <p:sp>
        <p:nvSpPr>
          <p:cNvPr id="8" name="Obj 3">
            <a:hlinkClick r:id="rId6" action="ppaction://hlinksldjump"/>
            <a:extLst>
              <a:ext uri="{FF2B5EF4-FFF2-40B4-BE49-F238E27FC236}">
                <a16:creationId xmlns:a16="http://schemas.microsoft.com/office/drawing/2014/main" id="{EBAB0FC3-94FB-41EF-84AD-D21B7DE4FC38}"/>
              </a:ext>
            </a:extLst>
          </p:cNvPr>
          <p:cNvSpPr/>
          <p:nvPr/>
        </p:nvSpPr>
        <p:spPr>
          <a:xfrm>
            <a:off x="156307" y="1213511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pic>
        <p:nvPicPr>
          <p:cNvPr id="9" name="Graphic 8" descr="Cursor with solid fill">
            <a:extLst>
              <a:ext uri="{FF2B5EF4-FFF2-40B4-BE49-F238E27FC236}">
                <a16:creationId xmlns:a16="http://schemas.microsoft.com/office/drawing/2014/main" id="{D765C619-19B9-476D-997A-233D70149E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3565" y="1446154"/>
            <a:ext cx="301752" cy="301752"/>
          </a:xfrm>
          <a:prstGeom prst="rect">
            <a:avLst/>
          </a:prstGeom>
        </p:spPr>
      </p:pic>
      <p:sp>
        <p:nvSpPr>
          <p:cNvPr id="10" name="Cases">
            <a:hlinkClick r:id="rId7" action="ppaction://hlinksldjump"/>
            <a:extLst>
              <a:ext uri="{FF2B5EF4-FFF2-40B4-BE49-F238E27FC236}">
                <a16:creationId xmlns:a16="http://schemas.microsoft.com/office/drawing/2014/main" id="{5115A06E-BC1E-4DC8-9B58-81221D9D6B8D}"/>
              </a:ext>
            </a:extLst>
          </p:cNvPr>
          <p:cNvSpPr/>
          <p:nvPr/>
        </p:nvSpPr>
        <p:spPr>
          <a:xfrm>
            <a:off x="156307" y="176547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11" name="Graphic 10" descr="Cursor with solid fill">
            <a:extLst>
              <a:ext uri="{FF2B5EF4-FFF2-40B4-BE49-F238E27FC236}">
                <a16:creationId xmlns:a16="http://schemas.microsoft.com/office/drawing/2014/main" id="{0D725135-1B94-4345-8972-A55A78703A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3565" y="2001883"/>
            <a:ext cx="301752" cy="3017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AFB72A1-C019-4ADE-A4C3-117AF97FE617}"/>
              </a:ext>
            </a:extLst>
          </p:cNvPr>
          <p:cNvSpPr txBox="1"/>
          <p:nvPr/>
        </p:nvSpPr>
        <p:spPr>
          <a:xfrm>
            <a:off x="3975011" y="399083"/>
            <a:ext cx="52286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Acute Liver Failure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1B8641D-90A0-4A8D-9767-D0C07D2657B4}"/>
              </a:ext>
            </a:extLst>
          </p:cNvPr>
          <p:cNvCxnSpPr>
            <a:cxnSpLocks/>
          </p:cNvCxnSpPr>
          <p:nvPr/>
        </p:nvCxnSpPr>
        <p:spPr>
          <a:xfrm flipH="1">
            <a:off x="1709854" y="364820"/>
            <a:ext cx="4197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0733F8F-1493-4B82-9106-3E2F0D969953}"/>
              </a:ext>
            </a:extLst>
          </p:cNvPr>
          <p:cNvSpPr txBox="1"/>
          <p:nvPr/>
        </p:nvSpPr>
        <p:spPr>
          <a:xfrm>
            <a:off x="2003812" y="173827"/>
            <a:ext cx="1474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/>
              <a:t>Use the table of contents to navigate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36DC51-B6D5-476E-865A-1B0B625F5A3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628" y="1230080"/>
            <a:ext cx="5486411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342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Button 1">
            <a:extLst>
              <a:ext uri="{FF2B5EF4-FFF2-40B4-BE49-F238E27FC236}">
                <a16:creationId xmlns:a16="http://schemas.microsoft.com/office/drawing/2014/main" id="{49E81B1D-0F49-473E-8B57-7554114FC92E}"/>
              </a:ext>
            </a:extLst>
          </p:cNvPr>
          <p:cNvSpPr/>
          <p:nvPr/>
        </p:nvSpPr>
        <p:spPr>
          <a:xfrm>
            <a:off x="2210794" y="1548613"/>
            <a:ext cx="447317" cy="461663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6" name="Button 2">
            <a:extLst>
              <a:ext uri="{FF2B5EF4-FFF2-40B4-BE49-F238E27FC236}">
                <a16:creationId xmlns:a16="http://schemas.microsoft.com/office/drawing/2014/main" id="{357DAF9F-24AE-45B2-B72C-AB93C2FDA209}"/>
              </a:ext>
            </a:extLst>
          </p:cNvPr>
          <p:cNvSpPr/>
          <p:nvPr/>
        </p:nvSpPr>
        <p:spPr>
          <a:xfrm>
            <a:off x="2217761" y="2935427"/>
            <a:ext cx="447317" cy="437777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7" name="Button 3">
            <a:extLst>
              <a:ext uri="{FF2B5EF4-FFF2-40B4-BE49-F238E27FC236}">
                <a16:creationId xmlns:a16="http://schemas.microsoft.com/office/drawing/2014/main" id="{DE8F122C-A369-483A-BFCE-BE2E601590FA}"/>
              </a:ext>
            </a:extLst>
          </p:cNvPr>
          <p:cNvSpPr/>
          <p:nvPr/>
        </p:nvSpPr>
        <p:spPr>
          <a:xfrm>
            <a:off x="2210794" y="3743107"/>
            <a:ext cx="447317" cy="463294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7" name="Must meet all">
            <a:extLst>
              <a:ext uri="{FF2B5EF4-FFF2-40B4-BE49-F238E27FC236}">
                <a16:creationId xmlns:a16="http://schemas.microsoft.com/office/drawing/2014/main" id="{70733F8F-1493-4B82-9106-3E2F0D969953}"/>
              </a:ext>
            </a:extLst>
          </p:cNvPr>
          <p:cNvSpPr txBox="1"/>
          <p:nvPr/>
        </p:nvSpPr>
        <p:spPr>
          <a:xfrm>
            <a:off x="5053693" y="736479"/>
            <a:ext cx="3075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rgbClr val="FF0000"/>
                </a:solidFill>
              </a:rPr>
              <a:t>Must meet all three criteria</a:t>
            </a:r>
          </a:p>
        </p:txBody>
      </p:sp>
      <p:sp>
        <p:nvSpPr>
          <p:cNvPr id="16" name="Button 1">
            <a:extLst>
              <a:ext uri="{FF2B5EF4-FFF2-40B4-BE49-F238E27FC236}">
                <a16:creationId xmlns:a16="http://schemas.microsoft.com/office/drawing/2014/main" id="{DD3AD050-A12E-4914-988B-B8D63176609C}"/>
              </a:ext>
            </a:extLst>
          </p:cNvPr>
          <p:cNvSpPr/>
          <p:nvPr/>
        </p:nvSpPr>
        <p:spPr>
          <a:xfrm>
            <a:off x="2829731" y="1568810"/>
            <a:ext cx="2658493" cy="461663"/>
          </a:xfrm>
          <a:prstGeom prst="round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Acute Liver Inflammation</a:t>
            </a:r>
          </a:p>
        </p:txBody>
      </p:sp>
      <p:sp>
        <p:nvSpPr>
          <p:cNvPr id="21" name="Button 3">
            <a:extLst>
              <a:ext uri="{FF2B5EF4-FFF2-40B4-BE49-F238E27FC236}">
                <a16:creationId xmlns:a16="http://schemas.microsoft.com/office/drawing/2014/main" id="{1E3F2488-C9A0-499E-87C7-45A3A28F3919}"/>
              </a:ext>
            </a:extLst>
          </p:cNvPr>
          <p:cNvSpPr/>
          <p:nvPr/>
        </p:nvSpPr>
        <p:spPr>
          <a:xfrm>
            <a:off x="2930712" y="3743922"/>
            <a:ext cx="2557512" cy="46329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Hepatic Encephalopathy</a:t>
            </a:r>
          </a:p>
        </p:txBody>
      </p:sp>
      <p:sp>
        <p:nvSpPr>
          <p:cNvPr id="37" name="HE text">
            <a:extLst>
              <a:ext uri="{FF2B5EF4-FFF2-40B4-BE49-F238E27FC236}">
                <a16:creationId xmlns:a16="http://schemas.microsoft.com/office/drawing/2014/main" id="{DFECB58D-2F16-41B0-9AE4-5B51CCAE5A05}"/>
              </a:ext>
            </a:extLst>
          </p:cNvPr>
          <p:cNvSpPr txBox="1"/>
          <p:nvPr/>
        </p:nvSpPr>
        <p:spPr>
          <a:xfrm>
            <a:off x="5521353" y="3669292"/>
            <a:ext cx="3894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/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Severity corresponds with risk of cerebral edema. </a:t>
            </a: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ALI text">
            <a:extLst>
              <a:ext uri="{FF2B5EF4-FFF2-40B4-BE49-F238E27FC236}">
                <a16:creationId xmlns:a16="http://schemas.microsoft.com/office/drawing/2014/main" id="{FB101683-0E94-4A67-A944-08E5F1BC291F}"/>
              </a:ext>
            </a:extLst>
          </p:cNvPr>
          <p:cNvSpPr txBox="1"/>
          <p:nvPr/>
        </p:nvSpPr>
        <p:spPr>
          <a:xfrm>
            <a:off x="5530885" y="1564939"/>
            <a:ext cx="26921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Onset &lt; 26 weeks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↑AST, ALT, and bilirubin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No chronic liver disease 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t>(exception HBV, AIH, &amp; Wilson’s)</a:t>
            </a:r>
            <a:endParaRPr lang="en-US" dirty="0"/>
          </a:p>
        </p:txBody>
      </p:sp>
      <p:sp>
        <p:nvSpPr>
          <p:cNvPr id="27" name="Button 1">
            <a:extLst>
              <a:ext uri="{FF2B5EF4-FFF2-40B4-BE49-F238E27FC236}">
                <a16:creationId xmlns:a16="http://schemas.microsoft.com/office/drawing/2014/main" id="{5BD53A45-756E-435A-9325-DE94EAC375C4}"/>
              </a:ext>
            </a:extLst>
          </p:cNvPr>
          <p:cNvSpPr/>
          <p:nvPr/>
        </p:nvSpPr>
        <p:spPr>
          <a:xfrm>
            <a:off x="2208255" y="1549428"/>
            <a:ext cx="447317" cy="46166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pic>
        <p:nvPicPr>
          <p:cNvPr id="18" name="Graphic 17" descr="Cursor with solid fill">
            <a:extLst>
              <a:ext uri="{FF2B5EF4-FFF2-40B4-BE49-F238E27FC236}">
                <a16:creationId xmlns:a16="http://schemas.microsoft.com/office/drawing/2014/main" id="{A941ED74-B273-466C-94FE-012B67F63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0236" y="1879866"/>
            <a:ext cx="270672" cy="270672"/>
          </a:xfrm>
          <a:prstGeom prst="rect">
            <a:avLst/>
          </a:prstGeom>
        </p:spPr>
      </p:pic>
      <p:sp>
        <p:nvSpPr>
          <p:cNvPr id="28" name="Button 2">
            <a:extLst>
              <a:ext uri="{FF2B5EF4-FFF2-40B4-BE49-F238E27FC236}">
                <a16:creationId xmlns:a16="http://schemas.microsoft.com/office/drawing/2014/main" id="{790FA55B-85B9-4FFA-A67D-38A11CBEA738}"/>
              </a:ext>
            </a:extLst>
          </p:cNvPr>
          <p:cNvSpPr/>
          <p:nvPr/>
        </p:nvSpPr>
        <p:spPr>
          <a:xfrm>
            <a:off x="2215222" y="2936242"/>
            <a:ext cx="447317" cy="43777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pic>
        <p:nvPicPr>
          <p:cNvPr id="20" name="Graphic 19" descr="Cursor with solid fill">
            <a:extLst>
              <a:ext uri="{FF2B5EF4-FFF2-40B4-BE49-F238E27FC236}">
                <a16:creationId xmlns:a16="http://schemas.microsoft.com/office/drawing/2014/main" id="{5B70A7F3-83C6-4E69-BE7A-AF4589D80B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0236" y="3238683"/>
            <a:ext cx="270672" cy="270672"/>
          </a:xfrm>
          <a:prstGeom prst="rect">
            <a:avLst/>
          </a:prstGeom>
        </p:spPr>
      </p:pic>
      <p:sp>
        <p:nvSpPr>
          <p:cNvPr id="30" name="Button 3">
            <a:extLst>
              <a:ext uri="{FF2B5EF4-FFF2-40B4-BE49-F238E27FC236}">
                <a16:creationId xmlns:a16="http://schemas.microsoft.com/office/drawing/2014/main" id="{75550384-DBD0-43DE-825F-D6B71DC377EC}"/>
              </a:ext>
            </a:extLst>
          </p:cNvPr>
          <p:cNvSpPr/>
          <p:nvPr/>
        </p:nvSpPr>
        <p:spPr>
          <a:xfrm>
            <a:off x="2208255" y="3743922"/>
            <a:ext cx="447317" cy="46329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pic>
        <p:nvPicPr>
          <p:cNvPr id="22" name="Graphic 21" descr="Cursor with solid fill">
            <a:extLst>
              <a:ext uri="{FF2B5EF4-FFF2-40B4-BE49-F238E27FC236}">
                <a16:creationId xmlns:a16="http://schemas.microsoft.com/office/drawing/2014/main" id="{AD8E19FD-6FFB-4D03-A0B1-B8952AB4B0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0236" y="4078188"/>
            <a:ext cx="270672" cy="270672"/>
          </a:xfrm>
          <a:prstGeom prst="rect">
            <a:avLst/>
          </a:prstGeom>
        </p:spPr>
      </p:pic>
      <p:sp>
        <p:nvSpPr>
          <p:cNvPr id="31" name="Obj 1">
            <a:hlinkClick r:id="rId4" action="ppaction://hlinksldjump"/>
            <a:extLst>
              <a:ext uri="{FF2B5EF4-FFF2-40B4-BE49-F238E27FC236}">
                <a16:creationId xmlns:a16="http://schemas.microsoft.com/office/drawing/2014/main" id="{1E419165-2C72-4A4E-B1F5-B6B87FCA585E}"/>
              </a:ext>
            </a:extLst>
          </p:cNvPr>
          <p:cNvSpPr/>
          <p:nvPr/>
        </p:nvSpPr>
        <p:spPr>
          <a:xfrm>
            <a:off x="156307" y="153787"/>
            <a:ext cx="1474237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Definition</a:t>
            </a:r>
          </a:p>
        </p:txBody>
      </p:sp>
      <p:sp>
        <p:nvSpPr>
          <p:cNvPr id="32" name="Obj 2">
            <a:hlinkClick r:id="rId5" action="ppaction://hlinksldjump"/>
            <a:extLst>
              <a:ext uri="{FF2B5EF4-FFF2-40B4-BE49-F238E27FC236}">
                <a16:creationId xmlns:a16="http://schemas.microsoft.com/office/drawing/2014/main" id="{2BE96D8C-E41F-4066-8AFE-EBF7C67DE7F9}"/>
              </a:ext>
            </a:extLst>
          </p:cNvPr>
          <p:cNvSpPr/>
          <p:nvPr/>
        </p:nvSpPr>
        <p:spPr>
          <a:xfrm>
            <a:off x="167950" y="681861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Etiologies</a:t>
            </a:r>
          </a:p>
        </p:txBody>
      </p:sp>
      <p:pic>
        <p:nvPicPr>
          <p:cNvPr id="38" name="Graphic 37" descr="Cursor with solid fill">
            <a:extLst>
              <a:ext uri="{FF2B5EF4-FFF2-40B4-BE49-F238E27FC236}">
                <a16:creationId xmlns:a16="http://schemas.microsoft.com/office/drawing/2014/main" id="{D05E3AD1-5740-4986-9238-C28AC7060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3565" y="914504"/>
            <a:ext cx="301752" cy="301752"/>
          </a:xfrm>
          <a:prstGeom prst="rect">
            <a:avLst/>
          </a:prstGeom>
        </p:spPr>
      </p:pic>
      <p:sp>
        <p:nvSpPr>
          <p:cNvPr id="39" name="Obj 3">
            <a:hlinkClick r:id="rId6" action="ppaction://hlinksldjump"/>
            <a:extLst>
              <a:ext uri="{FF2B5EF4-FFF2-40B4-BE49-F238E27FC236}">
                <a16:creationId xmlns:a16="http://schemas.microsoft.com/office/drawing/2014/main" id="{A7E6F68B-FB16-48D9-AB82-AD3BFA585F14}"/>
              </a:ext>
            </a:extLst>
          </p:cNvPr>
          <p:cNvSpPr/>
          <p:nvPr/>
        </p:nvSpPr>
        <p:spPr>
          <a:xfrm>
            <a:off x="156307" y="1213511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pic>
        <p:nvPicPr>
          <p:cNvPr id="40" name="Graphic 39" descr="Cursor with solid fill">
            <a:extLst>
              <a:ext uri="{FF2B5EF4-FFF2-40B4-BE49-F238E27FC236}">
                <a16:creationId xmlns:a16="http://schemas.microsoft.com/office/drawing/2014/main" id="{E6E48309-04F4-4F2E-81AB-35DEA4911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3565" y="1446154"/>
            <a:ext cx="301752" cy="301752"/>
          </a:xfrm>
          <a:prstGeom prst="rect">
            <a:avLst/>
          </a:prstGeom>
        </p:spPr>
      </p:pic>
      <p:sp>
        <p:nvSpPr>
          <p:cNvPr id="41" name="Cases">
            <a:hlinkClick r:id="rId7" action="ppaction://hlinksldjump"/>
            <a:extLst>
              <a:ext uri="{FF2B5EF4-FFF2-40B4-BE49-F238E27FC236}">
                <a16:creationId xmlns:a16="http://schemas.microsoft.com/office/drawing/2014/main" id="{C13452C4-6AC9-49C8-BB37-B51BE9FAD8EB}"/>
              </a:ext>
            </a:extLst>
          </p:cNvPr>
          <p:cNvSpPr/>
          <p:nvPr/>
        </p:nvSpPr>
        <p:spPr>
          <a:xfrm>
            <a:off x="156307" y="176547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44" name="Graphic 43" descr="Cursor with solid fill">
            <a:extLst>
              <a:ext uri="{FF2B5EF4-FFF2-40B4-BE49-F238E27FC236}">
                <a16:creationId xmlns:a16="http://schemas.microsoft.com/office/drawing/2014/main" id="{5ECBFA80-C46C-4562-94A8-D75DD857D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3565" y="2001568"/>
            <a:ext cx="301752" cy="301752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C75510B2-E40E-4AE1-AB31-170A03FF3500}"/>
              </a:ext>
            </a:extLst>
          </p:cNvPr>
          <p:cNvSpPr txBox="1"/>
          <p:nvPr/>
        </p:nvSpPr>
        <p:spPr>
          <a:xfrm>
            <a:off x="3922765" y="175930"/>
            <a:ext cx="5228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DEFINITION AND CRITERIA FOR ALF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2CD203-9B46-4877-9AEB-283AD1DFED37}"/>
              </a:ext>
            </a:extLst>
          </p:cNvPr>
          <p:cNvSpPr txBox="1"/>
          <p:nvPr/>
        </p:nvSpPr>
        <p:spPr>
          <a:xfrm>
            <a:off x="2937679" y="2970464"/>
            <a:ext cx="26584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Coagulopathy (INR &gt;1.5)</a:t>
            </a:r>
            <a:endParaRPr lang="en-US" b="1" dirty="0"/>
          </a:p>
        </p:txBody>
      </p:sp>
      <p:sp>
        <p:nvSpPr>
          <p:cNvPr id="46" name="INR">
            <a:extLst>
              <a:ext uri="{FF2B5EF4-FFF2-40B4-BE49-F238E27FC236}">
                <a16:creationId xmlns:a16="http://schemas.microsoft.com/office/drawing/2014/main" id="{E54A1562-6FEF-4E6E-9F87-19981375F535}"/>
              </a:ext>
            </a:extLst>
          </p:cNvPr>
          <p:cNvSpPr txBox="1"/>
          <p:nvPr/>
        </p:nvSpPr>
        <p:spPr>
          <a:xfrm>
            <a:off x="5528320" y="2988366"/>
            <a:ext cx="3837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Marker of liver synthetic dysfunction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E9BDEC0-454E-414A-8220-2EF298AD7805}"/>
              </a:ext>
            </a:extLst>
          </p:cNvPr>
          <p:cNvGrpSpPr/>
          <p:nvPr/>
        </p:nvGrpSpPr>
        <p:grpSpPr>
          <a:xfrm>
            <a:off x="7585812" y="4873969"/>
            <a:ext cx="1677426" cy="2048402"/>
            <a:chOff x="8129514" y="4332856"/>
            <a:chExt cx="1804232" cy="2123137"/>
          </a:xfrm>
        </p:grpSpPr>
        <p:pic>
          <p:nvPicPr>
            <p:cNvPr id="34" name="HE picture">
              <a:extLst>
                <a:ext uri="{FF2B5EF4-FFF2-40B4-BE49-F238E27FC236}">
                  <a16:creationId xmlns:a16="http://schemas.microsoft.com/office/drawing/2014/main" id="{A80B5910-8075-4471-8895-1122E5A596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43452" b="94382" l="9948" r="92321">
                          <a14:foregroundMark x1="66318" y1="44139" x2="19546" y2="61116"/>
                          <a14:foregroundMark x1="19546" y1="61116" x2="15794" y2="81730"/>
                          <a14:foregroundMark x1="15794" y1="81730" x2="50349" y2="94503"/>
                          <a14:foregroundMark x1="50349" y1="94503" x2="78098" y2="86702"/>
                          <a14:foregroundMark x1="78098" y1="86702" x2="92496" y2="61884"/>
                          <a14:foregroundMark x1="92496" y1="61884" x2="88394" y2="44543"/>
                          <a14:foregroundMark x1="88394" y1="44543" x2="73839" y2="44068"/>
                          <a14:foregroundMark x1="70476" y1="50877" x2="69441" y2="51691"/>
                          <a14:foregroundMark x1="75221" y1="47144" x2="71066" y2="50413"/>
                          <a14:foregroundMark x1="80017" y1="43371" x2="76696" y2="45984"/>
                          <a14:foregroundMark x1="84205" y1="46811" x2="92321" y2="43452"/>
                          <a14:foregroundMark x1="92321" y1="43452" x2="78970" y2="44382"/>
                          <a14:foregroundMark x1="72339" y1="50995" x2="70950" y2="50678"/>
                          <a14:foregroundMark x1="68473" y1="57646" x2="66318" y2="59943"/>
                          <a14:foregroundMark x1="64660" y1="55618" x2="55846" y2="58407"/>
                          <a14:foregroundMark x1="56370" y1="57154" x2="39267" y2="57882"/>
                          <a14:foregroundMark x1="59162" y1="55861" x2="47557" y2="58165"/>
                          <a14:foregroundMark x1="74945" y1="59855" x2="51309" y2="62126"/>
                          <a14:foregroundMark x1="79494" y1="59418" x2="77461" y2="59613"/>
                          <a14:foregroundMark x1="51309" y1="62126" x2="66272" y2="56596"/>
                          <a14:foregroundMark x1="75131" y1="56629" x2="61693" y2="67906"/>
                          <a14:foregroundMark x1="70455" y1="51909" x2="70593" y2="51657"/>
                          <a14:foregroundMark x1="61693" y1="67906" x2="67318" y2="57636"/>
                          <a14:foregroundMark x1="66515" y1="50634" x2="56894" y2="48222"/>
                          <a14:foregroundMark x1="70180" y1="51553" x2="69454" y2="51371"/>
                          <a14:foregroundMark x1="70593" y1="51657" x2="70529" y2="51641"/>
                          <a14:backgroundMark x1="68237" y1="44786" x2="67714" y2="57639"/>
                          <a14:backgroundMark x1="67714" y1="57639" x2="73473" y2="44462"/>
                          <a14:backgroundMark x1="73473" y1="44462" x2="66579" y2="44018"/>
                          <a14:backgroundMark x1="81326" y1="46564" x2="70768" y2="46564"/>
                          <a14:backgroundMark x1="70419" y1="48707" x2="69110" y2="50283"/>
                          <a14:backgroundMark x1="67452" y1="53800" x2="67801" y2="54163"/>
                          <a14:backgroundMark x1="67801" y1="54002" x2="67801" y2="53395"/>
                          <a14:backgroundMark x1="81326" y1="45554" x2="68848" y2="56912"/>
                          <a14:backgroundMark x1="68848" y1="56912" x2="80541" y2="45958"/>
                          <a14:backgroundMark x1="83508" y1="46564" x2="65183" y2="55457"/>
                          <a14:backgroundMark x1="65183" y1="55457" x2="81763" y2="46362"/>
                          <a14:backgroundMark x1="67801" y1="54972" x2="73298" y2="54770"/>
                          <a14:backgroundMark x1="75480" y1="59660" x2="77574" y2="6063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376"/>
            <a:stretch/>
          </p:blipFill>
          <p:spPr>
            <a:xfrm>
              <a:off x="8129514" y="4601363"/>
              <a:ext cx="1804232" cy="1854630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B011E7D-8FC6-4E09-9397-F969E3788FEA}"/>
                </a:ext>
              </a:extLst>
            </p:cNvPr>
            <p:cNvSpPr txBox="1"/>
            <p:nvPr/>
          </p:nvSpPr>
          <p:spPr>
            <a:xfrm>
              <a:off x="9216547" y="4587031"/>
              <a:ext cx="196012" cy="382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E228280-B84E-4085-9504-6DD58CE94D4C}"/>
                </a:ext>
              </a:extLst>
            </p:cNvPr>
            <p:cNvSpPr txBox="1"/>
            <p:nvPr/>
          </p:nvSpPr>
          <p:spPr>
            <a:xfrm>
              <a:off x="9394078" y="4507634"/>
              <a:ext cx="2743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z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E34675C-12BF-4F81-A4AF-3A6D9E1FF374}"/>
                </a:ext>
              </a:extLst>
            </p:cNvPr>
            <p:cNvSpPr txBox="1"/>
            <p:nvPr/>
          </p:nvSpPr>
          <p:spPr>
            <a:xfrm>
              <a:off x="9555535" y="4332856"/>
              <a:ext cx="2743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z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BE012740-A46E-45C7-A318-7FAD97413FDE}"/>
              </a:ext>
            </a:extLst>
          </p:cNvPr>
          <p:cNvSpPr txBox="1"/>
          <p:nvPr/>
        </p:nvSpPr>
        <p:spPr>
          <a:xfrm>
            <a:off x="5340504" y="4720081"/>
            <a:ext cx="10882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dirty="0"/>
              <a:t>Altered sleep/wake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DBD037A-7BA2-45D0-B1A4-A935EF21AF21}"/>
              </a:ext>
            </a:extLst>
          </p:cNvPr>
          <p:cNvSpPr txBox="1"/>
          <p:nvPr/>
        </p:nvSpPr>
        <p:spPr>
          <a:xfrm>
            <a:off x="6309151" y="4720081"/>
            <a:ext cx="10882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dirty="0"/>
              <a:t>Asterixis </a:t>
            </a:r>
            <a:r>
              <a:rPr lang="en-US" sz="1400" dirty="0"/>
              <a:t>L</a:t>
            </a:r>
            <a:r>
              <a:rPr lang="en-US" sz="1400" b="0" dirty="0"/>
              <a:t>ethargy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AFD6F0A-67F5-49B7-83F6-229DF0927B48}"/>
              </a:ext>
            </a:extLst>
          </p:cNvPr>
          <p:cNvSpPr txBox="1"/>
          <p:nvPr/>
        </p:nvSpPr>
        <p:spPr>
          <a:xfrm>
            <a:off x="7284609" y="4720081"/>
            <a:ext cx="10606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dirty="0"/>
              <a:t>Severe lethargy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17939F8-47E7-4A5D-B0C0-996597E28610}"/>
              </a:ext>
            </a:extLst>
          </p:cNvPr>
          <p:cNvSpPr txBox="1"/>
          <p:nvPr/>
        </p:nvSpPr>
        <p:spPr>
          <a:xfrm>
            <a:off x="8366007" y="4720081"/>
            <a:ext cx="9822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dirty="0"/>
              <a:t>Coma</a:t>
            </a:r>
          </a:p>
        </p:txBody>
      </p:sp>
      <p:grpSp>
        <p:nvGrpSpPr>
          <p:cNvPr id="54" name="HE grade arrow">
            <a:extLst>
              <a:ext uri="{FF2B5EF4-FFF2-40B4-BE49-F238E27FC236}">
                <a16:creationId xmlns:a16="http://schemas.microsoft.com/office/drawing/2014/main" id="{C5C9A27F-F6D1-467A-A0C4-0BF6AF7932EC}"/>
              </a:ext>
            </a:extLst>
          </p:cNvPr>
          <p:cNvGrpSpPr/>
          <p:nvPr/>
        </p:nvGrpSpPr>
        <p:grpSpPr>
          <a:xfrm>
            <a:off x="5422577" y="4373968"/>
            <a:ext cx="3923847" cy="327991"/>
            <a:chOff x="7119469" y="4313420"/>
            <a:chExt cx="1967951" cy="327991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7BBB2DF-14E0-4281-80F8-17D245A20A0D}"/>
                </a:ext>
              </a:extLst>
            </p:cNvPr>
            <p:cNvSpPr/>
            <p:nvPr/>
          </p:nvSpPr>
          <p:spPr>
            <a:xfrm>
              <a:off x="8550707" y="4313420"/>
              <a:ext cx="536713" cy="327991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IV</a:t>
              </a: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B99DD475-54D5-467F-885E-359A90A6776E}"/>
                </a:ext>
              </a:extLst>
            </p:cNvPr>
            <p:cNvGrpSpPr/>
            <p:nvPr/>
          </p:nvGrpSpPr>
          <p:grpSpPr>
            <a:xfrm>
              <a:off x="7119469" y="4313420"/>
              <a:ext cx="1431238" cy="327991"/>
              <a:chOff x="7119469" y="4313420"/>
              <a:chExt cx="1431238" cy="327991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C0272679-272C-435F-B648-CB0F7D05D828}"/>
                  </a:ext>
                </a:extLst>
              </p:cNvPr>
              <p:cNvSpPr/>
              <p:nvPr/>
            </p:nvSpPr>
            <p:spPr>
              <a:xfrm>
                <a:off x="8073628" y="4313420"/>
                <a:ext cx="477079" cy="32799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III</a:t>
                </a: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966A993D-5A6A-40C8-9D90-CC70420996A2}"/>
                  </a:ext>
                </a:extLst>
              </p:cNvPr>
              <p:cNvSpPr/>
              <p:nvPr/>
            </p:nvSpPr>
            <p:spPr>
              <a:xfrm>
                <a:off x="7596549" y="4313420"/>
                <a:ext cx="477079" cy="327991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II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6C10C88A-1414-4628-B142-C167DA64A336}"/>
                  </a:ext>
                </a:extLst>
              </p:cNvPr>
              <p:cNvSpPr/>
              <p:nvPr/>
            </p:nvSpPr>
            <p:spPr>
              <a:xfrm>
                <a:off x="7119469" y="4313420"/>
                <a:ext cx="477079" cy="32799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I</a:t>
                </a: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911A25D-3CF8-495A-905F-0E61FE049BD2}"/>
              </a:ext>
            </a:extLst>
          </p:cNvPr>
          <p:cNvGrpSpPr/>
          <p:nvPr/>
        </p:nvGrpSpPr>
        <p:grpSpPr>
          <a:xfrm>
            <a:off x="8269586" y="1475397"/>
            <a:ext cx="3916778" cy="957350"/>
            <a:chOff x="8275222" y="1057974"/>
            <a:chExt cx="3916778" cy="95735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63C9784-09C8-48B1-818C-CDF3BAACE1E5}"/>
                </a:ext>
              </a:extLst>
            </p:cNvPr>
            <p:cNvGrpSpPr/>
            <p:nvPr/>
          </p:nvGrpSpPr>
          <p:grpSpPr>
            <a:xfrm>
              <a:off x="8488128" y="1397500"/>
              <a:ext cx="3499056" cy="327991"/>
              <a:chOff x="7119469" y="4313420"/>
              <a:chExt cx="1754903" cy="327991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40071DB-C775-4D40-A05F-D2ECF42055D5}"/>
                  </a:ext>
                </a:extLst>
              </p:cNvPr>
              <p:cNvSpPr/>
              <p:nvPr/>
            </p:nvSpPr>
            <p:spPr>
              <a:xfrm>
                <a:off x="8073628" y="4313420"/>
                <a:ext cx="800744" cy="327991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B175F884-3523-420B-BF49-5E216695A0DB}"/>
                  </a:ext>
                </a:extLst>
              </p:cNvPr>
              <p:cNvSpPr/>
              <p:nvPr/>
            </p:nvSpPr>
            <p:spPr>
              <a:xfrm>
                <a:off x="7503544" y="4313420"/>
                <a:ext cx="570085" cy="327991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571E6F92-5A3F-4A52-AC20-66269C050350}"/>
                  </a:ext>
                </a:extLst>
              </p:cNvPr>
              <p:cNvSpPr/>
              <p:nvPr/>
            </p:nvSpPr>
            <p:spPr>
              <a:xfrm>
                <a:off x="7119469" y="4313420"/>
                <a:ext cx="384075" cy="32799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60AAF38-B5A0-4228-8592-6DDF9C09DE9D}"/>
                </a:ext>
              </a:extLst>
            </p:cNvPr>
            <p:cNvSpPr txBox="1"/>
            <p:nvPr/>
          </p:nvSpPr>
          <p:spPr>
            <a:xfrm>
              <a:off x="9031396" y="1707547"/>
              <a:ext cx="5213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1 </a:t>
              </a:r>
              <a:r>
                <a:rPr lang="en-US" sz="1400" dirty="0" err="1"/>
                <a:t>wk</a:t>
              </a:r>
              <a:endParaRPr lang="en-US" sz="1400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F6A0045-5A76-43E1-BAC0-41042CF61284}"/>
                </a:ext>
              </a:extLst>
            </p:cNvPr>
            <p:cNvSpPr txBox="1"/>
            <p:nvPr/>
          </p:nvSpPr>
          <p:spPr>
            <a:xfrm>
              <a:off x="10129903" y="1707545"/>
              <a:ext cx="5213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3 </a:t>
              </a:r>
              <a:r>
                <a:rPr lang="en-US" sz="1400" dirty="0" err="1"/>
                <a:t>wk</a:t>
              </a:r>
              <a:endParaRPr lang="en-US" sz="1400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F1CE4F8-9F9A-4D51-AC33-4803C8B4D93F}"/>
                </a:ext>
              </a:extLst>
            </p:cNvPr>
            <p:cNvSpPr txBox="1"/>
            <p:nvPr/>
          </p:nvSpPr>
          <p:spPr>
            <a:xfrm>
              <a:off x="11527277" y="1707546"/>
              <a:ext cx="6647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26 </a:t>
              </a:r>
              <a:r>
                <a:rPr lang="en-US" sz="1400" dirty="0" err="1"/>
                <a:t>wk</a:t>
              </a:r>
              <a:endParaRPr lang="en-US" sz="14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A145CCD-2A2E-4CDE-AA9B-C174DC824003}"/>
                </a:ext>
              </a:extLst>
            </p:cNvPr>
            <p:cNvSpPr txBox="1"/>
            <p:nvPr/>
          </p:nvSpPr>
          <p:spPr>
            <a:xfrm>
              <a:off x="10708083" y="1057974"/>
              <a:ext cx="9616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Subacute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E3F6EA9-DF03-47C0-9E22-9F5452368E77}"/>
                </a:ext>
              </a:extLst>
            </p:cNvPr>
            <p:cNvSpPr txBox="1"/>
            <p:nvPr/>
          </p:nvSpPr>
          <p:spPr>
            <a:xfrm>
              <a:off x="9521730" y="1063355"/>
              <a:ext cx="6652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Acute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3CCA712-EA24-4151-8B96-FE9B4655C50F}"/>
                </a:ext>
              </a:extLst>
            </p:cNvPr>
            <p:cNvSpPr txBox="1"/>
            <p:nvPr/>
          </p:nvSpPr>
          <p:spPr>
            <a:xfrm>
              <a:off x="8275222" y="1057974"/>
              <a:ext cx="11195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Fulminant</a:t>
              </a:r>
            </a:p>
          </p:txBody>
        </p:sp>
      </p:grpSp>
      <p:pic>
        <p:nvPicPr>
          <p:cNvPr id="7" name="Picture 6" descr="A picture containing silhouette, light&#10;&#10;Description automatically generated">
            <a:extLst>
              <a:ext uri="{FF2B5EF4-FFF2-40B4-BE49-F238E27FC236}">
                <a16:creationId xmlns:a16="http://schemas.microsoft.com/office/drawing/2014/main" id="{B16F087D-2F90-412C-840E-BD07E30A224E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42" t="20426" r="50354" b="15559"/>
          <a:stretch/>
        </p:blipFill>
        <p:spPr>
          <a:xfrm>
            <a:off x="5456922" y="5214824"/>
            <a:ext cx="864247" cy="1451904"/>
          </a:xfrm>
          <a:prstGeom prst="rect">
            <a:avLst/>
          </a:prstGeom>
        </p:spPr>
      </p:pic>
      <p:pic>
        <p:nvPicPr>
          <p:cNvPr id="64" name="HE picture">
            <a:extLst>
              <a:ext uri="{FF2B5EF4-FFF2-40B4-BE49-F238E27FC236}">
                <a16:creationId xmlns:a16="http://schemas.microsoft.com/office/drawing/2014/main" id="{4870A793-E1EC-44DA-8858-FDF4ED5DFD2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821"/>
          <a:stretch/>
        </p:blipFill>
        <p:spPr>
          <a:xfrm>
            <a:off x="6211663" y="5096676"/>
            <a:ext cx="1557870" cy="145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924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  <p:bldLst>
      <p:bldP spid="16" grpId="0"/>
      <p:bldP spid="21" grpId="0" animBg="1"/>
      <p:bldP spid="37" grpId="0"/>
      <p:bldP spid="43" grpId="0"/>
      <p:bldP spid="27" grpId="0" animBg="1"/>
      <p:bldP spid="28" grpId="0" animBg="1"/>
      <p:bldP spid="30" grpId="0" animBg="1"/>
      <p:bldP spid="35" grpId="0"/>
      <p:bldP spid="46" grpId="0"/>
      <p:bldP spid="50" grpId="0"/>
      <p:bldP spid="51" grpId="0"/>
      <p:bldP spid="52" grpId="0"/>
      <p:bldP spid="5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pezoid 1">
            <a:extLst>
              <a:ext uri="{FF2B5EF4-FFF2-40B4-BE49-F238E27FC236}">
                <a16:creationId xmlns:a16="http://schemas.microsoft.com/office/drawing/2014/main" id="{6C75E9F8-F2C4-4756-8826-B0CA79055C35}"/>
              </a:ext>
            </a:extLst>
          </p:cNvPr>
          <p:cNvSpPr/>
          <p:nvPr/>
        </p:nvSpPr>
        <p:spPr>
          <a:xfrm rot="16200000">
            <a:off x="4625251" y="4748022"/>
            <a:ext cx="1309822" cy="2536872"/>
          </a:xfrm>
          <a:prstGeom prst="trapezoid">
            <a:avLst/>
          </a:prstGeom>
          <a:gradFill flip="none" rotWithShape="1">
            <a:gsLst>
              <a:gs pos="0">
                <a:schemeClr val="bg1"/>
              </a:gs>
              <a:gs pos="82000">
                <a:srgbClr val="F8CFC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A874E883-9F15-4728-B9DB-3AA162D1D3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6682572"/>
              </p:ext>
            </p:extLst>
          </p:nvPr>
        </p:nvGraphicFramePr>
        <p:xfrm>
          <a:off x="1784661" y="1438990"/>
          <a:ext cx="3591902" cy="52323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9" name="Autoimmune">
            <a:extLst>
              <a:ext uri="{FF2B5EF4-FFF2-40B4-BE49-F238E27FC236}">
                <a16:creationId xmlns:a16="http://schemas.microsoft.com/office/drawing/2014/main" id="{F14C00BE-7A78-4A62-9449-A2EC223E0B57}"/>
              </a:ext>
            </a:extLst>
          </p:cNvPr>
          <p:cNvSpPr/>
          <p:nvPr/>
        </p:nvSpPr>
        <p:spPr>
          <a:xfrm>
            <a:off x="3176059" y="5357276"/>
            <a:ext cx="809325" cy="1307153"/>
          </a:xfrm>
          <a:custGeom>
            <a:avLst/>
            <a:gdLst>
              <a:gd name="connsiteX0" fmla="*/ 0 w 1023086"/>
              <a:gd name="connsiteY0" fmla="*/ 170518 h 1211903"/>
              <a:gd name="connsiteX1" fmla="*/ 170518 w 1023086"/>
              <a:gd name="connsiteY1" fmla="*/ 0 h 1211903"/>
              <a:gd name="connsiteX2" fmla="*/ 852568 w 1023086"/>
              <a:gd name="connsiteY2" fmla="*/ 0 h 1211903"/>
              <a:gd name="connsiteX3" fmla="*/ 1023086 w 1023086"/>
              <a:gd name="connsiteY3" fmla="*/ 170518 h 1211903"/>
              <a:gd name="connsiteX4" fmla="*/ 1023086 w 1023086"/>
              <a:gd name="connsiteY4" fmla="*/ 1041385 h 1211903"/>
              <a:gd name="connsiteX5" fmla="*/ 852568 w 1023086"/>
              <a:gd name="connsiteY5" fmla="*/ 1211903 h 1211903"/>
              <a:gd name="connsiteX6" fmla="*/ 170518 w 1023086"/>
              <a:gd name="connsiteY6" fmla="*/ 1211903 h 1211903"/>
              <a:gd name="connsiteX7" fmla="*/ 0 w 1023086"/>
              <a:gd name="connsiteY7" fmla="*/ 1041385 h 1211903"/>
              <a:gd name="connsiteX8" fmla="*/ 0 w 1023086"/>
              <a:gd name="connsiteY8" fmla="*/ 170518 h 1211903"/>
              <a:gd name="connsiteX0" fmla="*/ 0 w 1023086"/>
              <a:gd name="connsiteY0" fmla="*/ 170518 h 1211903"/>
              <a:gd name="connsiteX1" fmla="*/ 170518 w 1023086"/>
              <a:gd name="connsiteY1" fmla="*/ 0 h 1211903"/>
              <a:gd name="connsiteX2" fmla="*/ 852568 w 1023086"/>
              <a:gd name="connsiteY2" fmla="*/ 0 h 1211903"/>
              <a:gd name="connsiteX3" fmla="*/ 1023086 w 1023086"/>
              <a:gd name="connsiteY3" fmla="*/ 170518 h 1211903"/>
              <a:gd name="connsiteX4" fmla="*/ 1023086 w 1023086"/>
              <a:gd name="connsiteY4" fmla="*/ 1041385 h 1211903"/>
              <a:gd name="connsiteX5" fmla="*/ 852568 w 1023086"/>
              <a:gd name="connsiteY5" fmla="*/ 1211903 h 1211903"/>
              <a:gd name="connsiteX6" fmla="*/ 170518 w 1023086"/>
              <a:gd name="connsiteY6" fmla="*/ 1211903 h 1211903"/>
              <a:gd name="connsiteX7" fmla="*/ 0 w 1023086"/>
              <a:gd name="connsiteY7" fmla="*/ 170518 h 1211903"/>
              <a:gd name="connsiteX0" fmla="*/ 0 w 1023086"/>
              <a:gd name="connsiteY0" fmla="*/ 170518 h 1297628"/>
              <a:gd name="connsiteX1" fmla="*/ 170518 w 1023086"/>
              <a:gd name="connsiteY1" fmla="*/ 0 h 1297628"/>
              <a:gd name="connsiteX2" fmla="*/ 852568 w 1023086"/>
              <a:gd name="connsiteY2" fmla="*/ 0 h 1297628"/>
              <a:gd name="connsiteX3" fmla="*/ 1023086 w 1023086"/>
              <a:gd name="connsiteY3" fmla="*/ 170518 h 1297628"/>
              <a:gd name="connsiteX4" fmla="*/ 1023086 w 1023086"/>
              <a:gd name="connsiteY4" fmla="*/ 1041385 h 1297628"/>
              <a:gd name="connsiteX5" fmla="*/ 852568 w 1023086"/>
              <a:gd name="connsiteY5" fmla="*/ 1211903 h 1297628"/>
              <a:gd name="connsiteX6" fmla="*/ 475318 w 1023086"/>
              <a:gd name="connsiteY6" fmla="*/ 1297628 h 1297628"/>
              <a:gd name="connsiteX7" fmla="*/ 0 w 1023086"/>
              <a:gd name="connsiteY7" fmla="*/ 170518 h 1297628"/>
              <a:gd name="connsiteX0" fmla="*/ 22813 w 903024"/>
              <a:gd name="connsiteY0" fmla="*/ 160993 h 1297628"/>
              <a:gd name="connsiteX1" fmla="*/ 50456 w 903024"/>
              <a:gd name="connsiteY1" fmla="*/ 0 h 1297628"/>
              <a:gd name="connsiteX2" fmla="*/ 732506 w 903024"/>
              <a:gd name="connsiteY2" fmla="*/ 0 h 1297628"/>
              <a:gd name="connsiteX3" fmla="*/ 903024 w 903024"/>
              <a:gd name="connsiteY3" fmla="*/ 170518 h 1297628"/>
              <a:gd name="connsiteX4" fmla="*/ 903024 w 903024"/>
              <a:gd name="connsiteY4" fmla="*/ 1041385 h 1297628"/>
              <a:gd name="connsiteX5" fmla="*/ 732506 w 903024"/>
              <a:gd name="connsiteY5" fmla="*/ 1211903 h 1297628"/>
              <a:gd name="connsiteX6" fmla="*/ 355256 w 903024"/>
              <a:gd name="connsiteY6" fmla="*/ 1297628 h 1297628"/>
              <a:gd name="connsiteX7" fmla="*/ 22813 w 903024"/>
              <a:gd name="connsiteY7" fmla="*/ 160993 h 1297628"/>
              <a:gd name="connsiteX0" fmla="*/ 22813 w 903024"/>
              <a:gd name="connsiteY0" fmla="*/ 160993 h 1307153"/>
              <a:gd name="connsiteX1" fmla="*/ 50456 w 903024"/>
              <a:gd name="connsiteY1" fmla="*/ 0 h 1307153"/>
              <a:gd name="connsiteX2" fmla="*/ 732506 w 903024"/>
              <a:gd name="connsiteY2" fmla="*/ 0 h 1307153"/>
              <a:gd name="connsiteX3" fmla="*/ 903024 w 903024"/>
              <a:gd name="connsiteY3" fmla="*/ 170518 h 1307153"/>
              <a:gd name="connsiteX4" fmla="*/ 903024 w 903024"/>
              <a:gd name="connsiteY4" fmla="*/ 1041385 h 1307153"/>
              <a:gd name="connsiteX5" fmla="*/ 732506 w 903024"/>
              <a:gd name="connsiteY5" fmla="*/ 1211903 h 1307153"/>
              <a:gd name="connsiteX6" fmla="*/ 421931 w 903024"/>
              <a:gd name="connsiteY6" fmla="*/ 1307153 h 1307153"/>
              <a:gd name="connsiteX7" fmla="*/ 22813 w 903024"/>
              <a:gd name="connsiteY7" fmla="*/ 160993 h 1307153"/>
              <a:gd name="connsiteX0" fmla="*/ 22813 w 903024"/>
              <a:gd name="connsiteY0" fmla="*/ 160993 h 1307153"/>
              <a:gd name="connsiteX1" fmla="*/ 50456 w 903024"/>
              <a:gd name="connsiteY1" fmla="*/ 0 h 1307153"/>
              <a:gd name="connsiteX2" fmla="*/ 732506 w 903024"/>
              <a:gd name="connsiteY2" fmla="*/ 0 h 1307153"/>
              <a:gd name="connsiteX3" fmla="*/ 903024 w 903024"/>
              <a:gd name="connsiteY3" fmla="*/ 170518 h 1307153"/>
              <a:gd name="connsiteX4" fmla="*/ 903024 w 903024"/>
              <a:gd name="connsiteY4" fmla="*/ 1041385 h 1307153"/>
              <a:gd name="connsiteX5" fmla="*/ 732506 w 903024"/>
              <a:gd name="connsiteY5" fmla="*/ 1211903 h 1307153"/>
              <a:gd name="connsiteX6" fmla="*/ 421931 w 903024"/>
              <a:gd name="connsiteY6" fmla="*/ 1307153 h 1307153"/>
              <a:gd name="connsiteX7" fmla="*/ 22813 w 903024"/>
              <a:gd name="connsiteY7" fmla="*/ 160993 h 1307153"/>
              <a:gd name="connsiteX0" fmla="*/ 22813 w 903024"/>
              <a:gd name="connsiteY0" fmla="*/ 160993 h 1354631"/>
              <a:gd name="connsiteX1" fmla="*/ 50456 w 903024"/>
              <a:gd name="connsiteY1" fmla="*/ 0 h 1354631"/>
              <a:gd name="connsiteX2" fmla="*/ 732506 w 903024"/>
              <a:gd name="connsiteY2" fmla="*/ 0 h 1354631"/>
              <a:gd name="connsiteX3" fmla="*/ 903024 w 903024"/>
              <a:gd name="connsiteY3" fmla="*/ 170518 h 1354631"/>
              <a:gd name="connsiteX4" fmla="*/ 903024 w 903024"/>
              <a:gd name="connsiteY4" fmla="*/ 1041385 h 1354631"/>
              <a:gd name="connsiteX5" fmla="*/ 421931 w 903024"/>
              <a:gd name="connsiteY5" fmla="*/ 1307153 h 1354631"/>
              <a:gd name="connsiteX6" fmla="*/ 22813 w 903024"/>
              <a:gd name="connsiteY6" fmla="*/ 160993 h 1354631"/>
              <a:gd name="connsiteX0" fmla="*/ 22813 w 903024"/>
              <a:gd name="connsiteY0" fmla="*/ 160993 h 1307153"/>
              <a:gd name="connsiteX1" fmla="*/ 50456 w 903024"/>
              <a:gd name="connsiteY1" fmla="*/ 0 h 1307153"/>
              <a:gd name="connsiteX2" fmla="*/ 732506 w 903024"/>
              <a:gd name="connsiteY2" fmla="*/ 0 h 1307153"/>
              <a:gd name="connsiteX3" fmla="*/ 903024 w 903024"/>
              <a:gd name="connsiteY3" fmla="*/ 170518 h 1307153"/>
              <a:gd name="connsiteX4" fmla="*/ 421931 w 903024"/>
              <a:gd name="connsiteY4" fmla="*/ 1307153 h 1307153"/>
              <a:gd name="connsiteX5" fmla="*/ 22813 w 903024"/>
              <a:gd name="connsiteY5" fmla="*/ 160993 h 1307153"/>
              <a:gd name="connsiteX0" fmla="*/ 22813 w 809325"/>
              <a:gd name="connsiteY0" fmla="*/ 160993 h 1307153"/>
              <a:gd name="connsiteX1" fmla="*/ 50456 w 809325"/>
              <a:gd name="connsiteY1" fmla="*/ 0 h 1307153"/>
              <a:gd name="connsiteX2" fmla="*/ 732506 w 809325"/>
              <a:gd name="connsiteY2" fmla="*/ 0 h 1307153"/>
              <a:gd name="connsiteX3" fmla="*/ 807774 w 809325"/>
              <a:gd name="connsiteY3" fmla="*/ 151468 h 1307153"/>
              <a:gd name="connsiteX4" fmla="*/ 421931 w 809325"/>
              <a:gd name="connsiteY4" fmla="*/ 1307153 h 1307153"/>
              <a:gd name="connsiteX5" fmla="*/ 22813 w 809325"/>
              <a:gd name="connsiteY5" fmla="*/ 160993 h 130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9325" h="1307153">
                <a:moveTo>
                  <a:pt x="22813" y="160993"/>
                </a:moveTo>
                <a:cubicBezTo>
                  <a:pt x="22813" y="66819"/>
                  <a:pt x="-43718" y="0"/>
                  <a:pt x="50456" y="0"/>
                </a:cubicBezTo>
                <a:lnTo>
                  <a:pt x="732506" y="0"/>
                </a:lnTo>
                <a:cubicBezTo>
                  <a:pt x="826680" y="0"/>
                  <a:pt x="807774" y="57294"/>
                  <a:pt x="807774" y="151468"/>
                </a:cubicBezTo>
                <a:lnTo>
                  <a:pt x="421931" y="1307153"/>
                </a:lnTo>
                <a:cubicBezTo>
                  <a:pt x="279836" y="1133589"/>
                  <a:pt x="22813" y="362977"/>
                  <a:pt x="22813" y="160993"/>
                </a:cubicBezTo>
                <a:close/>
              </a:path>
            </a:pathLst>
          </a:custGeom>
          <a:solidFill>
            <a:srgbClr val="D15757">
              <a:alpha val="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endParaRPr lang="en-US" sz="1400" b="1">
              <a:cs typeface="Calibri"/>
            </a:endParaRPr>
          </a:p>
        </p:txBody>
      </p:sp>
      <p:sp>
        <p:nvSpPr>
          <p:cNvPr id="20" name="Drug/Toxin">
            <a:extLst>
              <a:ext uri="{FF2B5EF4-FFF2-40B4-BE49-F238E27FC236}">
                <a16:creationId xmlns:a16="http://schemas.microsoft.com/office/drawing/2014/main" id="{015ACA8F-0732-4428-A25E-CEA1DE80265D}"/>
              </a:ext>
            </a:extLst>
          </p:cNvPr>
          <p:cNvSpPr/>
          <p:nvPr/>
        </p:nvSpPr>
        <p:spPr>
          <a:xfrm>
            <a:off x="1798388" y="1480564"/>
            <a:ext cx="3498678" cy="1239518"/>
          </a:xfrm>
          <a:custGeom>
            <a:avLst/>
            <a:gdLst>
              <a:gd name="connsiteX0" fmla="*/ 0 w 2860503"/>
              <a:gd name="connsiteY0" fmla="*/ 205917 h 1235477"/>
              <a:gd name="connsiteX1" fmla="*/ 205917 w 2860503"/>
              <a:gd name="connsiteY1" fmla="*/ 0 h 1235477"/>
              <a:gd name="connsiteX2" fmla="*/ 2654586 w 2860503"/>
              <a:gd name="connsiteY2" fmla="*/ 0 h 1235477"/>
              <a:gd name="connsiteX3" fmla="*/ 2860503 w 2860503"/>
              <a:gd name="connsiteY3" fmla="*/ 205917 h 1235477"/>
              <a:gd name="connsiteX4" fmla="*/ 2860503 w 2860503"/>
              <a:gd name="connsiteY4" fmla="*/ 1029560 h 1235477"/>
              <a:gd name="connsiteX5" fmla="*/ 2654586 w 2860503"/>
              <a:gd name="connsiteY5" fmla="*/ 1235477 h 1235477"/>
              <a:gd name="connsiteX6" fmla="*/ 205917 w 2860503"/>
              <a:gd name="connsiteY6" fmla="*/ 1235477 h 1235477"/>
              <a:gd name="connsiteX7" fmla="*/ 0 w 2860503"/>
              <a:gd name="connsiteY7" fmla="*/ 1029560 h 1235477"/>
              <a:gd name="connsiteX8" fmla="*/ 0 w 2860503"/>
              <a:gd name="connsiteY8" fmla="*/ 205917 h 1235477"/>
              <a:gd name="connsiteX0" fmla="*/ 0 w 3203403"/>
              <a:gd name="connsiteY0" fmla="*/ 86133 h 1239518"/>
              <a:gd name="connsiteX1" fmla="*/ 548817 w 3203403"/>
              <a:gd name="connsiteY1" fmla="*/ 4041 h 1239518"/>
              <a:gd name="connsiteX2" fmla="*/ 2997486 w 3203403"/>
              <a:gd name="connsiteY2" fmla="*/ 4041 h 1239518"/>
              <a:gd name="connsiteX3" fmla="*/ 3203403 w 3203403"/>
              <a:gd name="connsiteY3" fmla="*/ 209958 h 1239518"/>
              <a:gd name="connsiteX4" fmla="*/ 3203403 w 3203403"/>
              <a:gd name="connsiteY4" fmla="*/ 1033601 h 1239518"/>
              <a:gd name="connsiteX5" fmla="*/ 2997486 w 3203403"/>
              <a:gd name="connsiteY5" fmla="*/ 1239518 h 1239518"/>
              <a:gd name="connsiteX6" fmla="*/ 548817 w 3203403"/>
              <a:gd name="connsiteY6" fmla="*/ 1239518 h 1239518"/>
              <a:gd name="connsiteX7" fmla="*/ 342900 w 3203403"/>
              <a:gd name="connsiteY7" fmla="*/ 1033601 h 1239518"/>
              <a:gd name="connsiteX8" fmla="*/ 0 w 3203403"/>
              <a:gd name="connsiteY8" fmla="*/ 86133 h 1239518"/>
              <a:gd name="connsiteX0" fmla="*/ 0 w 3498678"/>
              <a:gd name="connsiteY0" fmla="*/ 86133 h 1239518"/>
              <a:gd name="connsiteX1" fmla="*/ 548817 w 3498678"/>
              <a:gd name="connsiteY1" fmla="*/ 4041 h 1239518"/>
              <a:gd name="connsiteX2" fmla="*/ 2997486 w 3498678"/>
              <a:gd name="connsiteY2" fmla="*/ 4041 h 1239518"/>
              <a:gd name="connsiteX3" fmla="*/ 3498678 w 3498678"/>
              <a:gd name="connsiteY3" fmla="*/ 105183 h 1239518"/>
              <a:gd name="connsiteX4" fmla="*/ 3203403 w 3498678"/>
              <a:gd name="connsiteY4" fmla="*/ 1033601 h 1239518"/>
              <a:gd name="connsiteX5" fmla="*/ 2997486 w 3498678"/>
              <a:gd name="connsiteY5" fmla="*/ 1239518 h 1239518"/>
              <a:gd name="connsiteX6" fmla="*/ 548817 w 3498678"/>
              <a:gd name="connsiteY6" fmla="*/ 1239518 h 1239518"/>
              <a:gd name="connsiteX7" fmla="*/ 342900 w 3498678"/>
              <a:gd name="connsiteY7" fmla="*/ 1033601 h 1239518"/>
              <a:gd name="connsiteX8" fmla="*/ 0 w 3498678"/>
              <a:gd name="connsiteY8" fmla="*/ 86133 h 1239518"/>
              <a:gd name="connsiteX0" fmla="*/ 0 w 3498678"/>
              <a:gd name="connsiteY0" fmla="*/ 86133 h 1239518"/>
              <a:gd name="connsiteX1" fmla="*/ 548817 w 3498678"/>
              <a:gd name="connsiteY1" fmla="*/ 4041 h 1239518"/>
              <a:gd name="connsiteX2" fmla="*/ 2997486 w 3498678"/>
              <a:gd name="connsiteY2" fmla="*/ 4041 h 1239518"/>
              <a:gd name="connsiteX3" fmla="*/ 3498678 w 3498678"/>
              <a:gd name="connsiteY3" fmla="*/ 105183 h 1239518"/>
              <a:gd name="connsiteX4" fmla="*/ 3136728 w 3498678"/>
              <a:gd name="connsiteY4" fmla="*/ 1033601 h 1239518"/>
              <a:gd name="connsiteX5" fmla="*/ 2997486 w 3498678"/>
              <a:gd name="connsiteY5" fmla="*/ 1239518 h 1239518"/>
              <a:gd name="connsiteX6" fmla="*/ 548817 w 3498678"/>
              <a:gd name="connsiteY6" fmla="*/ 1239518 h 1239518"/>
              <a:gd name="connsiteX7" fmla="*/ 342900 w 3498678"/>
              <a:gd name="connsiteY7" fmla="*/ 1033601 h 1239518"/>
              <a:gd name="connsiteX8" fmla="*/ 0 w 3498678"/>
              <a:gd name="connsiteY8" fmla="*/ 86133 h 1239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98678" h="1239518">
                <a:moveTo>
                  <a:pt x="0" y="86133"/>
                </a:moveTo>
                <a:cubicBezTo>
                  <a:pt x="0" y="-27592"/>
                  <a:pt x="435092" y="4041"/>
                  <a:pt x="548817" y="4041"/>
                </a:cubicBezTo>
                <a:lnTo>
                  <a:pt x="2997486" y="4041"/>
                </a:lnTo>
                <a:cubicBezTo>
                  <a:pt x="3111211" y="4041"/>
                  <a:pt x="3498678" y="-8542"/>
                  <a:pt x="3498678" y="105183"/>
                </a:cubicBezTo>
                <a:lnTo>
                  <a:pt x="3136728" y="1033601"/>
                </a:lnTo>
                <a:cubicBezTo>
                  <a:pt x="3136728" y="1147326"/>
                  <a:pt x="3111211" y="1239518"/>
                  <a:pt x="2997486" y="1239518"/>
                </a:cubicBezTo>
                <a:lnTo>
                  <a:pt x="548817" y="1239518"/>
                </a:lnTo>
                <a:cubicBezTo>
                  <a:pt x="435092" y="1239518"/>
                  <a:pt x="342900" y="1147326"/>
                  <a:pt x="342900" y="1033601"/>
                </a:cubicBezTo>
                <a:cubicBezTo>
                  <a:pt x="342900" y="759053"/>
                  <a:pt x="0" y="360681"/>
                  <a:pt x="0" y="86133"/>
                </a:cubicBezTo>
                <a:close/>
              </a:path>
            </a:pathLst>
          </a:custGeom>
          <a:solidFill>
            <a:srgbClr val="D15757">
              <a:alpha val="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1" name="Viral">
            <a:extLst>
              <a:ext uri="{FF2B5EF4-FFF2-40B4-BE49-F238E27FC236}">
                <a16:creationId xmlns:a16="http://schemas.microsoft.com/office/drawing/2014/main" id="{E154CBAB-38EF-4DFC-97FD-9AA008917902}"/>
              </a:ext>
            </a:extLst>
          </p:cNvPr>
          <p:cNvSpPr/>
          <p:nvPr/>
        </p:nvSpPr>
        <p:spPr>
          <a:xfrm>
            <a:off x="2181900" y="2720082"/>
            <a:ext cx="2671330" cy="1319529"/>
          </a:xfrm>
          <a:custGeom>
            <a:avLst/>
            <a:gdLst>
              <a:gd name="connsiteX0" fmla="*/ 0 w 2061730"/>
              <a:gd name="connsiteY0" fmla="*/ 217845 h 1307045"/>
              <a:gd name="connsiteX1" fmla="*/ 217845 w 2061730"/>
              <a:gd name="connsiteY1" fmla="*/ 0 h 1307045"/>
              <a:gd name="connsiteX2" fmla="*/ 1843885 w 2061730"/>
              <a:gd name="connsiteY2" fmla="*/ 0 h 1307045"/>
              <a:gd name="connsiteX3" fmla="*/ 2061730 w 2061730"/>
              <a:gd name="connsiteY3" fmla="*/ 217845 h 1307045"/>
              <a:gd name="connsiteX4" fmla="*/ 2061730 w 2061730"/>
              <a:gd name="connsiteY4" fmla="*/ 1089200 h 1307045"/>
              <a:gd name="connsiteX5" fmla="*/ 1843885 w 2061730"/>
              <a:gd name="connsiteY5" fmla="*/ 1307045 h 1307045"/>
              <a:gd name="connsiteX6" fmla="*/ 217845 w 2061730"/>
              <a:gd name="connsiteY6" fmla="*/ 1307045 h 1307045"/>
              <a:gd name="connsiteX7" fmla="*/ 0 w 2061730"/>
              <a:gd name="connsiteY7" fmla="*/ 1089200 h 1307045"/>
              <a:gd name="connsiteX8" fmla="*/ 0 w 2061730"/>
              <a:gd name="connsiteY8" fmla="*/ 217845 h 1307045"/>
              <a:gd name="connsiteX0" fmla="*/ 0 w 2385580"/>
              <a:gd name="connsiteY0" fmla="*/ 77929 h 1319529"/>
              <a:gd name="connsiteX1" fmla="*/ 541695 w 2385580"/>
              <a:gd name="connsiteY1" fmla="*/ 12484 h 1319529"/>
              <a:gd name="connsiteX2" fmla="*/ 2167735 w 2385580"/>
              <a:gd name="connsiteY2" fmla="*/ 12484 h 1319529"/>
              <a:gd name="connsiteX3" fmla="*/ 2385580 w 2385580"/>
              <a:gd name="connsiteY3" fmla="*/ 230329 h 1319529"/>
              <a:gd name="connsiteX4" fmla="*/ 2385580 w 2385580"/>
              <a:gd name="connsiteY4" fmla="*/ 1101684 h 1319529"/>
              <a:gd name="connsiteX5" fmla="*/ 2167735 w 2385580"/>
              <a:gd name="connsiteY5" fmla="*/ 1319529 h 1319529"/>
              <a:gd name="connsiteX6" fmla="*/ 541695 w 2385580"/>
              <a:gd name="connsiteY6" fmla="*/ 1319529 h 1319529"/>
              <a:gd name="connsiteX7" fmla="*/ 323850 w 2385580"/>
              <a:gd name="connsiteY7" fmla="*/ 1101684 h 1319529"/>
              <a:gd name="connsiteX8" fmla="*/ 0 w 2385580"/>
              <a:gd name="connsiteY8" fmla="*/ 77929 h 1319529"/>
              <a:gd name="connsiteX0" fmla="*/ 0 w 2671330"/>
              <a:gd name="connsiteY0" fmla="*/ 77929 h 1319529"/>
              <a:gd name="connsiteX1" fmla="*/ 541695 w 2671330"/>
              <a:gd name="connsiteY1" fmla="*/ 12484 h 1319529"/>
              <a:gd name="connsiteX2" fmla="*/ 2167735 w 2671330"/>
              <a:gd name="connsiteY2" fmla="*/ 12484 h 1319529"/>
              <a:gd name="connsiteX3" fmla="*/ 2671330 w 2671330"/>
              <a:gd name="connsiteY3" fmla="*/ 106504 h 1319529"/>
              <a:gd name="connsiteX4" fmla="*/ 2385580 w 2671330"/>
              <a:gd name="connsiteY4" fmla="*/ 1101684 h 1319529"/>
              <a:gd name="connsiteX5" fmla="*/ 2167735 w 2671330"/>
              <a:gd name="connsiteY5" fmla="*/ 1319529 h 1319529"/>
              <a:gd name="connsiteX6" fmla="*/ 541695 w 2671330"/>
              <a:gd name="connsiteY6" fmla="*/ 1319529 h 1319529"/>
              <a:gd name="connsiteX7" fmla="*/ 323850 w 2671330"/>
              <a:gd name="connsiteY7" fmla="*/ 1101684 h 1319529"/>
              <a:gd name="connsiteX8" fmla="*/ 0 w 2671330"/>
              <a:gd name="connsiteY8" fmla="*/ 77929 h 1319529"/>
              <a:gd name="connsiteX0" fmla="*/ 0 w 2671330"/>
              <a:gd name="connsiteY0" fmla="*/ 77929 h 1319529"/>
              <a:gd name="connsiteX1" fmla="*/ 541695 w 2671330"/>
              <a:gd name="connsiteY1" fmla="*/ 12484 h 1319529"/>
              <a:gd name="connsiteX2" fmla="*/ 2167735 w 2671330"/>
              <a:gd name="connsiteY2" fmla="*/ 12484 h 1319529"/>
              <a:gd name="connsiteX3" fmla="*/ 2671330 w 2671330"/>
              <a:gd name="connsiteY3" fmla="*/ 106504 h 1319529"/>
              <a:gd name="connsiteX4" fmla="*/ 2271280 w 2671330"/>
              <a:gd name="connsiteY4" fmla="*/ 1092159 h 1319529"/>
              <a:gd name="connsiteX5" fmla="*/ 2167735 w 2671330"/>
              <a:gd name="connsiteY5" fmla="*/ 1319529 h 1319529"/>
              <a:gd name="connsiteX6" fmla="*/ 541695 w 2671330"/>
              <a:gd name="connsiteY6" fmla="*/ 1319529 h 1319529"/>
              <a:gd name="connsiteX7" fmla="*/ 323850 w 2671330"/>
              <a:gd name="connsiteY7" fmla="*/ 1101684 h 1319529"/>
              <a:gd name="connsiteX8" fmla="*/ 0 w 2671330"/>
              <a:gd name="connsiteY8" fmla="*/ 77929 h 1319529"/>
              <a:gd name="connsiteX0" fmla="*/ 0 w 2671330"/>
              <a:gd name="connsiteY0" fmla="*/ 77929 h 1319529"/>
              <a:gd name="connsiteX1" fmla="*/ 541695 w 2671330"/>
              <a:gd name="connsiteY1" fmla="*/ 12484 h 1319529"/>
              <a:gd name="connsiteX2" fmla="*/ 2167735 w 2671330"/>
              <a:gd name="connsiteY2" fmla="*/ 12484 h 1319529"/>
              <a:gd name="connsiteX3" fmla="*/ 2671330 w 2671330"/>
              <a:gd name="connsiteY3" fmla="*/ 106504 h 1319529"/>
              <a:gd name="connsiteX4" fmla="*/ 2271280 w 2671330"/>
              <a:gd name="connsiteY4" fmla="*/ 1092159 h 1319529"/>
              <a:gd name="connsiteX5" fmla="*/ 2148685 w 2671330"/>
              <a:gd name="connsiteY5" fmla="*/ 1310004 h 1319529"/>
              <a:gd name="connsiteX6" fmla="*/ 541695 w 2671330"/>
              <a:gd name="connsiteY6" fmla="*/ 1319529 h 1319529"/>
              <a:gd name="connsiteX7" fmla="*/ 323850 w 2671330"/>
              <a:gd name="connsiteY7" fmla="*/ 1101684 h 1319529"/>
              <a:gd name="connsiteX8" fmla="*/ 0 w 2671330"/>
              <a:gd name="connsiteY8" fmla="*/ 77929 h 1319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71330" h="1319529">
                <a:moveTo>
                  <a:pt x="0" y="77929"/>
                </a:moveTo>
                <a:cubicBezTo>
                  <a:pt x="0" y="-42383"/>
                  <a:pt x="421383" y="12484"/>
                  <a:pt x="541695" y="12484"/>
                </a:cubicBezTo>
                <a:lnTo>
                  <a:pt x="2167735" y="12484"/>
                </a:lnTo>
                <a:cubicBezTo>
                  <a:pt x="2288047" y="12484"/>
                  <a:pt x="2671330" y="-13808"/>
                  <a:pt x="2671330" y="106504"/>
                </a:cubicBezTo>
                <a:lnTo>
                  <a:pt x="2271280" y="1092159"/>
                </a:lnTo>
                <a:cubicBezTo>
                  <a:pt x="2271280" y="1212471"/>
                  <a:pt x="2268997" y="1310004"/>
                  <a:pt x="2148685" y="1310004"/>
                </a:cubicBezTo>
                <a:lnTo>
                  <a:pt x="541695" y="1319529"/>
                </a:lnTo>
                <a:cubicBezTo>
                  <a:pt x="421383" y="1319529"/>
                  <a:pt x="323850" y="1221996"/>
                  <a:pt x="323850" y="1101684"/>
                </a:cubicBezTo>
                <a:cubicBezTo>
                  <a:pt x="323850" y="811232"/>
                  <a:pt x="0" y="368381"/>
                  <a:pt x="0" y="77929"/>
                </a:cubicBezTo>
                <a:close/>
              </a:path>
            </a:pathLst>
          </a:custGeom>
          <a:solidFill>
            <a:srgbClr val="D15757">
              <a:alpha val="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2" name="Vascular">
            <a:extLst>
              <a:ext uri="{FF2B5EF4-FFF2-40B4-BE49-F238E27FC236}">
                <a16:creationId xmlns:a16="http://schemas.microsoft.com/office/drawing/2014/main" id="{2AD9D62C-111E-4746-8412-5B1914C9751E}"/>
              </a:ext>
            </a:extLst>
          </p:cNvPr>
          <p:cNvSpPr/>
          <p:nvPr/>
        </p:nvSpPr>
        <p:spPr>
          <a:xfrm>
            <a:off x="2724411" y="4095306"/>
            <a:ext cx="1686260" cy="1240478"/>
          </a:xfrm>
          <a:custGeom>
            <a:avLst/>
            <a:gdLst>
              <a:gd name="connsiteX0" fmla="*/ 0 w 1787879"/>
              <a:gd name="connsiteY0" fmla="*/ 201988 h 1211903"/>
              <a:gd name="connsiteX1" fmla="*/ 201988 w 1787879"/>
              <a:gd name="connsiteY1" fmla="*/ 0 h 1211903"/>
              <a:gd name="connsiteX2" fmla="*/ 1585891 w 1787879"/>
              <a:gd name="connsiteY2" fmla="*/ 0 h 1211903"/>
              <a:gd name="connsiteX3" fmla="*/ 1787879 w 1787879"/>
              <a:gd name="connsiteY3" fmla="*/ 201988 h 1211903"/>
              <a:gd name="connsiteX4" fmla="*/ 1787879 w 1787879"/>
              <a:gd name="connsiteY4" fmla="*/ 1009915 h 1211903"/>
              <a:gd name="connsiteX5" fmla="*/ 1585891 w 1787879"/>
              <a:gd name="connsiteY5" fmla="*/ 1211903 h 1211903"/>
              <a:gd name="connsiteX6" fmla="*/ 201988 w 1787879"/>
              <a:gd name="connsiteY6" fmla="*/ 1211903 h 1211903"/>
              <a:gd name="connsiteX7" fmla="*/ 0 w 1787879"/>
              <a:gd name="connsiteY7" fmla="*/ 1009915 h 1211903"/>
              <a:gd name="connsiteX8" fmla="*/ 0 w 1787879"/>
              <a:gd name="connsiteY8" fmla="*/ 201988 h 1211903"/>
              <a:gd name="connsiteX0" fmla="*/ 0 w 1787879"/>
              <a:gd name="connsiteY0" fmla="*/ 211513 h 1221428"/>
              <a:gd name="connsiteX1" fmla="*/ 201988 w 1787879"/>
              <a:gd name="connsiteY1" fmla="*/ 9525 h 1221428"/>
              <a:gd name="connsiteX2" fmla="*/ 1633516 w 1787879"/>
              <a:gd name="connsiteY2" fmla="*/ 0 h 1221428"/>
              <a:gd name="connsiteX3" fmla="*/ 1787879 w 1787879"/>
              <a:gd name="connsiteY3" fmla="*/ 211513 h 1221428"/>
              <a:gd name="connsiteX4" fmla="*/ 1787879 w 1787879"/>
              <a:gd name="connsiteY4" fmla="*/ 1019440 h 1221428"/>
              <a:gd name="connsiteX5" fmla="*/ 1585891 w 1787879"/>
              <a:gd name="connsiteY5" fmla="*/ 1221428 h 1221428"/>
              <a:gd name="connsiteX6" fmla="*/ 201988 w 1787879"/>
              <a:gd name="connsiteY6" fmla="*/ 1221428 h 1221428"/>
              <a:gd name="connsiteX7" fmla="*/ 0 w 1787879"/>
              <a:gd name="connsiteY7" fmla="*/ 1019440 h 1221428"/>
              <a:gd name="connsiteX8" fmla="*/ 0 w 1787879"/>
              <a:gd name="connsiteY8" fmla="*/ 211513 h 1221428"/>
              <a:gd name="connsiteX0" fmla="*/ 0 w 1787879"/>
              <a:gd name="connsiteY0" fmla="*/ 230563 h 1240478"/>
              <a:gd name="connsiteX1" fmla="*/ 116263 w 1787879"/>
              <a:gd name="connsiteY1" fmla="*/ 0 h 1240478"/>
              <a:gd name="connsiteX2" fmla="*/ 1633516 w 1787879"/>
              <a:gd name="connsiteY2" fmla="*/ 19050 h 1240478"/>
              <a:gd name="connsiteX3" fmla="*/ 1787879 w 1787879"/>
              <a:gd name="connsiteY3" fmla="*/ 230563 h 1240478"/>
              <a:gd name="connsiteX4" fmla="*/ 1787879 w 1787879"/>
              <a:gd name="connsiteY4" fmla="*/ 1038490 h 1240478"/>
              <a:gd name="connsiteX5" fmla="*/ 1585891 w 1787879"/>
              <a:gd name="connsiteY5" fmla="*/ 1240478 h 1240478"/>
              <a:gd name="connsiteX6" fmla="*/ 201988 w 1787879"/>
              <a:gd name="connsiteY6" fmla="*/ 1240478 h 1240478"/>
              <a:gd name="connsiteX7" fmla="*/ 0 w 1787879"/>
              <a:gd name="connsiteY7" fmla="*/ 1038490 h 1240478"/>
              <a:gd name="connsiteX8" fmla="*/ 0 w 1787879"/>
              <a:gd name="connsiteY8" fmla="*/ 230563 h 1240478"/>
              <a:gd name="connsiteX0" fmla="*/ 60 w 1787939"/>
              <a:gd name="connsiteY0" fmla="*/ 230563 h 1240478"/>
              <a:gd name="connsiteX1" fmla="*/ 116323 w 1787939"/>
              <a:gd name="connsiteY1" fmla="*/ 0 h 1240478"/>
              <a:gd name="connsiteX2" fmla="*/ 1633576 w 1787939"/>
              <a:gd name="connsiteY2" fmla="*/ 19050 h 1240478"/>
              <a:gd name="connsiteX3" fmla="*/ 1787939 w 1787939"/>
              <a:gd name="connsiteY3" fmla="*/ 230563 h 1240478"/>
              <a:gd name="connsiteX4" fmla="*/ 1787939 w 1787939"/>
              <a:gd name="connsiteY4" fmla="*/ 1038490 h 1240478"/>
              <a:gd name="connsiteX5" fmla="*/ 1585951 w 1787939"/>
              <a:gd name="connsiteY5" fmla="*/ 1240478 h 1240478"/>
              <a:gd name="connsiteX6" fmla="*/ 202048 w 1787939"/>
              <a:gd name="connsiteY6" fmla="*/ 1240478 h 1240478"/>
              <a:gd name="connsiteX7" fmla="*/ 60 w 1787939"/>
              <a:gd name="connsiteY7" fmla="*/ 230563 h 1240478"/>
              <a:gd name="connsiteX0" fmla="*/ 0 w 1787879"/>
              <a:gd name="connsiteY0" fmla="*/ 230563 h 1240478"/>
              <a:gd name="connsiteX1" fmla="*/ 116263 w 1787879"/>
              <a:gd name="connsiteY1" fmla="*/ 0 h 1240478"/>
              <a:gd name="connsiteX2" fmla="*/ 1633516 w 1787879"/>
              <a:gd name="connsiteY2" fmla="*/ 19050 h 1240478"/>
              <a:gd name="connsiteX3" fmla="*/ 1787879 w 1787879"/>
              <a:gd name="connsiteY3" fmla="*/ 230563 h 1240478"/>
              <a:gd name="connsiteX4" fmla="*/ 1787879 w 1787879"/>
              <a:gd name="connsiteY4" fmla="*/ 1038490 h 1240478"/>
              <a:gd name="connsiteX5" fmla="*/ 1585891 w 1787879"/>
              <a:gd name="connsiteY5" fmla="*/ 1240478 h 1240478"/>
              <a:gd name="connsiteX6" fmla="*/ 440113 w 1787879"/>
              <a:gd name="connsiteY6" fmla="*/ 1240478 h 1240478"/>
              <a:gd name="connsiteX7" fmla="*/ 0 w 1787879"/>
              <a:gd name="connsiteY7" fmla="*/ 230563 h 1240478"/>
              <a:gd name="connsiteX0" fmla="*/ 0 w 1787879"/>
              <a:gd name="connsiteY0" fmla="*/ 230563 h 1240478"/>
              <a:gd name="connsiteX1" fmla="*/ 116263 w 1787879"/>
              <a:gd name="connsiteY1" fmla="*/ 0 h 1240478"/>
              <a:gd name="connsiteX2" fmla="*/ 1633516 w 1787879"/>
              <a:gd name="connsiteY2" fmla="*/ 19050 h 1240478"/>
              <a:gd name="connsiteX3" fmla="*/ 1787879 w 1787879"/>
              <a:gd name="connsiteY3" fmla="*/ 230563 h 1240478"/>
              <a:gd name="connsiteX4" fmla="*/ 1787879 w 1787879"/>
              <a:gd name="connsiteY4" fmla="*/ 1038490 h 1240478"/>
              <a:gd name="connsiteX5" fmla="*/ 1585891 w 1787879"/>
              <a:gd name="connsiteY5" fmla="*/ 1240478 h 1240478"/>
              <a:gd name="connsiteX6" fmla="*/ 440113 w 1787879"/>
              <a:gd name="connsiteY6" fmla="*/ 1240478 h 1240478"/>
              <a:gd name="connsiteX7" fmla="*/ 0 w 1787879"/>
              <a:gd name="connsiteY7" fmla="*/ 230563 h 1240478"/>
              <a:gd name="connsiteX0" fmla="*/ 0 w 1787879"/>
              <a:gd name="connsiteY0" fmla="*/ 230563 h 1240478"/>
              <a:gd name="connsiteX1" fmla="*/ 116263 w 1787879"/>
              <a:gd name="connsiteY1" fmla="*/ 0 h 1240478"/>
              <a:gd name="connsiteX2" fmla="*/ 1633516 w 1787879"/>
              <a:gd name="connsiteY2" fmla="*/ 19050 h 1240478"/>
              <a:gd name="connsiteX3" fmla="*/ 1787879 w 1787879"/>
              <a:gd name="connsiteY3" fmla="*/ 230563 h 1240478"/>
              <a:gd name="connsiteX4" fmla="*/ 1787879 w 1787879"/>
              <a:gd name="connsiteY4" fmla="*/ 1038490 h 1240478"/>
              <a:gd name="connsiteX5" fmla="*/ 1585891 w 1787879"/>
              <a:gd name="connsiteY5" fmla="*/ 1240478 h 1240478"/>
              <a:gd name="connsiteX6" fmla="*/ 440113 w 1787879"/>
              <a:gd name="connsiteY6" fmla="*/ 1240478 h 1240478"/>
              <a:gd name="connsiteX7" fmla="*/ 0 w 1787879"/>
              <a:gd name="connsiteY7" fmla="*/ 230563 h 1240478"/>
              <a:gd name="connsiteX0" fmla="*/ 0 w 1787879"/>
              <a:gd name="connsiteY0" fmla="*/ 230563 h 1240478"/>
              <a:gd name="connsiteX1" fmla="*/ 116263 w 1787879"/>
              <a:gd name="connsiteY1" fmla="*/ 0 h 1240478"/>
              <a:gd name="connsiteX2" fmla="*/ 1633516 w 1787879"/>
              <a:gd name="connsiteY2" fmla="*/ 19050 h 1240478"/>
              <a:gd name="connsiteX3" fmla="*/ 1787879 w 1787879"/>
              <a:gd name="connsiteY3" fmla="*/ 230563 h 1240478"/>
              <a:gd name="connsiteX4" fmla="*/ 1585891 w 1787879"/>
              <a:gd name="connsiteY4" fmla="*/ 1240478 h 1240478"/>
              <a:gd name="connsiteX5" fmla="*/ 440113 w 1787879"/>
              <a:gd name="connsiteY5" fmla="*/ 1240478 h 1240478"/>
              <a:gd name="connsiteX6" fmla="*/ 0 w 1787879"/>
              <a:gd name="connsiteY6" fmla="*/ 230563 h 1240478"/>
              <a:gd name="connsiteX0" fmla="*/ 0 w 1787879"/>
              <a:gd name="connsiteY0" fmla="*/ 230563 h 1240478"/>
              <a:gd name="connsiteX1" fmla="*/ 116263 w 1787879"/>
              <a:gd name="connsiteY1" fmla="*/ 0 h 1240478"/>
              <a:gd name="connsiteX2" fmla="*/ 1633516 w 1787879"/>
              <a:gd name="connsiteY2" fmla="*/ 19050 h 1240478"/>
              <a:gd name="connsiteX3" fmla="*/ 1787879 w 1787879"/>
              <a:gd name="connsiteY3" fmla="*/ 230563 h 1240478"/>
              <a:gd name="connsiteX4" fmla="*/ 1290616 w 1787879"/>
              <a:gd name="connsiteY4" fmla="*/ 1221428 h 1240478"/>
              <a:gd name="connsiteX5" fmla="*/ 440113 w 1787879"/>
              <a:gd name="connsiteY5" fmla="*/ 1240478 h 1240478"/>
              <a:gd name="connsiteX6" fmla="*/ 0 w 1787879"/>
              <a:gd name="connsiteY6" fmla="*/ 230563 h 1240478"/>
              <a:gd name="connsiteX0" fmla="*/ 0 w 1686260"/>
              <a:gd name="connsiteY0" fmla="*/ 230563 h 1240478"/>
              <a:gd name="connsiteX1" fmla="*/ 116263 w 1686260"/>
              <a:gd name="connsiteY1" fmla="*/ 0 h 1240478"/>
              <a:gd name="connsiteX2" fmla="*/ 1633516 w 1686260"/>
              <a:gd name="connsiteY2" fmla="*/ 19050 h 1240478"/>
              <a:gd name="connsiteX3" fmla="*/ 1645004 w 1686260"/>
              <a:gd name="connsiteY3" fmla="*/ 192463 h 1240478"/>
              <a:gd name="connsiteX4" fmla="*/ 1290616 w 1686260"/>
              <a:gd name="connsiteY4" fmla="*/ 1221428 h 1240478"/>
              <a:gd name="connsiteX5" fmla="*/ 440113 w 1686260"/>
              <a:gd name="connsiteY5" fmla="*/ 1240478 h 1240478"/>
              <a:gd name="connsiteX6" fmla="*/ 0 w 1686260"/>
              <a:gd name="connsiteY6" fmla="*/ 230563 h 1240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86260" h="1240478">
                <a:moveTo>
                  <a:pt x="0" y="230563"/>
                </a:moveTo>
                <a:cubicBezTo>
                  <a:pt x="0" y="119008"/>
                  <a:pt x="4708" y="0"/>
                  <a:pt x="116263" y="0"/>
                </a:cubicBezTo>
                <a:lnTo>
                  <a:pt x="1633516" y="19050"/>
                </a:lnTo>
                <a:cubicBezTo>
                  <a:pt x="1745071" y="19050"/>
                  <a:pt x="1645004" y="80908"/>
                  <a:pt x="1645004" y="192463"/>
                </a:cubicBezTo>
                <a:lnTo>
                  <a:pt x="1290616" y="1221428"/>
                </a:lnTo>
                <a:lnTo>
                  <a:pt x="440113" y="1240478"/>
                </a:lnTo>
                <a:cubicBezTo>
                  <a:pt x="280573" y="910234"/>
                  <a:pt x="119062" y="437309"/>
                  <a:pt x="0" y="230563"/>
                </a:cubicBezTo>
                <a:close/>
              </a:path>
            </a:pathLst>
          </a:custGeom>
          <a:solidFill>
            <a:srgbClr val="D15757">
              <a:alpha val="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F28392-B7B2-4F40-A127-619DCF9B3266}"/>
              </a:ext>
            </a:extLst>
          </p:cNvPr>
          <p:cNvSpPr/>
          <p:nvPr/>
        </p:nvSpPr>
        <p:spPr>
          <a:xfrm>
            <a:off x="6548597" y="5357275"/>
            <a:ext cx="2703425" cy="1314095"/>
          </a:xfrm>
          <a:prstGeom prst="rect">
            <a:avLst/>
          </a:prstGeom>
          <a:solidFill>
            <a:srgbClr val="F8CF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2860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Autoimmune Hepatitis</a:t>
            </a:r>
          </a:p>
          <a:p>
            <a:pPr marL="285750" indent="-228600">
              <a:buFont typeface="Wingdings,Sans-Serif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Pregnancy-related (</a:t>
            </a:r>
            <a:r>
              <a:rPr lang="en-US" sz="1600" dirty="0" err="1">
                <a:solidFill>
                  <a:schemeClr val="tx1"/>
                </a:solidFill>
                <a:ea typeface="+mn-lt"/>
                <a:cs typeface="+mn-lt"/>
              </a:rPr>
              <a:t>ie</a:t>
            </a:r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. HELLP, AFLP)</a:t>
            </a:r>
          </a:p>
          <a:p>
            <a:pPr marL="285750" indent="-228600">
              <a:buFont typeface="Wingdings,Sans-Serif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Wilson's Disease</a:t>
            </a:r>
          </a:p>
        </p:txBody>
      </p:sp>
      <p:sp>
        <p:nvSpPr>
          <p:cNvPr id="31" name="Trapezoid 30">
            <a:extLst>
              <a:ext uri="{FF2B5EF4-FFF2-40B4-BE49-F238E27FC236}">
                <a16:creationId xmlns:a16="http://schemas.microsoft.com/office/drawing/2014/main" id="{5BE7A830-AEE1-4DE6-BF4E-FBB79CD34E9E}"/>
              </a:ext>
            </a:extLst>
          </p:cNvPr>
          <p:cNvSpPr/>
          <p:nvPr/>
        </p:nvSpPr>
        <p:spPr>
          <a:xfrm rot="16200000">
            <a:off x="4909520" y="3650660"/>
            <a:ext cx="1241877" cy="2087316"/>
          </a:xfrm>
          <a:prstGeom prst="trapezoid">
            <a:avLst/>
          </a:prstGeom>
          <a:gradFill flip="none" rotWithShape="1">
            <a:gsLst>
              <a:gs pos="13000">
                <a:srgbClr val="EDA1A1"/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5658C9-F6C4-404D-900D-47A6DEC34CBC}"/>
              </a:ext>
            </a:extLst>
          </p:cNvPr>
          <p:cNvSpPr/>
          <p:nvPr/>
        </p:nvSpPr>
        <p:spPr>
          <a:xfrm>
            <a:off x="6561434" y="4074827"/>
            <a:ext cx="2678820" cy="1240429"/>
          </a:xfrm>
          <a:prstGeom prst="rect">
            <a:avLst/>
          </a:prstGeom>
          <a:solidFill>
            <a:srgbClr val="EDA1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038" indent="-115888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Budd-Chiari</a:t>
            </a:r>
          </a:p>
          <a:p>
            <a:pPr marL="173038" indent="-115888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Shock liver / Ischemic hepatitis</a:t>
            </a:r>
          </a:p>
        </p:txBody>
      </p:sp>
      <p:sp>
        <p:nvSpPr>
          <p:cNvPr id="33" name="Trapezoid 32">
            <a:extLst>
              <a:ext uri="{FF2B5EF4-FFF2-40B4-BE49-F238E27FC236}">
                <a16:creationId xmlns:a16="http://schemas.microsoft.com/office/drawing/2014/main" id="{33893778-F14C-4E33-B292-046517E5265F}"/>
              </a:ext>
            </a:extLst>
          </p:cNvPr>
          <p:cNvSpPr/>
          <p:nvPr/>
        </p:nvSpPr>
        <p:spPr>
          <a:xfrm rot="16200000">
            <a:off x="5107518" y="2552258"/>
            <a:ext cx="1275363" cy="1657842"/>
          </a:xfrm>
          <a:prstGeom prst="trapezoid">
            <a:avLst/>
          </a:prstGeom>
          <a:gradFill flip="none" rotWithShape="1">
            <a:gsLst>
              <a:gs pos="15000">
                <a:srgbClr val="E57D7D"/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BD18137-FEC2-4CA2-8923-6105F0F64B13}"/>
              </a:ext>
            </a:extLst>
          </p:cNvPr>
          <p:cNvSpPr/>
          <p:nvPr/>
        </p:nvSpPr>
        <p:spPr>
          <a:xfrm>
            <a:off x="6574117" y="2743501"/>
            <a:ext cx="2667633" cy="1275362"/>
          </a:xfrm>
          <a:prstGeom prst="rect">
            <a:avLst/>
          </a:prstGeom>
          <a:solidFill>
            <a:srgbClr val="E57D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038" indent="-115888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Hepatitis A, B, D, &amp; E</a:t>
            </a:r>
          </a:p>
          <a:p>
            <a:pPr marL="173038" indent="-115888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Rarely: HSV, VZV</a:t>
            </a:r>
          </a:p>
        </p:txBody>
      </p:sp>
      <p:sp>
        <p:nvSpPr>
          <p:cNvPr id="36" name="Trapezoid 35">
            <a:extLst>
              <a:ext uri="{FF2B5EF4-FFF2-40B4-BE49-F238E27FC236}">
                <a16:creationId xmlns:a16="http://schemas.microsoft.com/office/drawing/2014/main" id="{2CD2DAAE-1765-47E4-B7E8-30F3ED383DE3}"/>
              </a:ext>
            </a:extLst>
          </p:cNvPr>
          <p:cNvSpPr/>
          <p:nvPr/>
        </p:nvSpPr>
        <p:spPr>
          <a:xfrm rot="16200000">
            <a:off x="5331442" y="1485928"/>
            <a:ext cx="1250510" cy="1160268"/>
          </a:xfrm>
          <a:prstGeom prst="trapezoid">
            <a:avLst/>
          </a:prstGeom>
          <a:gradFill flip="none" rotWithShape="1">
            <a:gsLst>
              <a:gs pos="15000">
                <a:srgbClr val="DE5F5F"/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C3F3987-46D4-4F9C-B412-F80F44ACAB15}"/>
              </a:ext>
            </a:extLst>
          </p:cNvPr>
          <p:cNvSpPr/>
          <p:nvPr/>
        </p:nvSpPr>
        <p:spPr>
          <a:xfrm>
            <a:off x="6536828" y="1446155"/>
            <a:ext cx="2703425" cy="1250512"/>
          </a:xfrm>
          <a:prstGeom prst="rect">
            <a:avLst/>
          </a:prstGeom>
          <a:solidFill>
            <a:srgbClr val="DE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72720" indent="-11557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Acetaminophen</a:t>
            </a:r>
            <a:endParaRPr lang="en-US" dirty="0"/>
          </a:p>
          <a:p>
            <a:pPr marL="172720" indent="-11557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Statins, AEDs, antibiotics</a:t>
            </a:r>
            <a:endParaRPr lang="en-US" sz="1600" dirty="0">
              <a:solidFill>
                <a:schemeClr val="tx1"/>
              </a:solidFill>
              <a:cs typeface="Calibri" panose="020F0502020204030204"/>
            </a:endParaRPr>
          </a:p>
          <a:p>
            <a:pPr marL="172720" indent="-11557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Supplements</a:t>
            </a:r>
            <a:endParaRPr lang="en-US" sz="1600" dirty="0">
              <a:solidFill>
                <a:schemeClr val="tx1"/>
              </a:solidFill>
              <a:cs typeface="Calibri" panose="020F0502020204030204"/>
            </a:endParaRPr>
          </a:p>
          <a:p>
            <a:pPr marL="172720" indent="-11557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Mushrooms (e.g., </a:t>
            </a:r>
            <a:r>
              <a:rPr lang="en-US" sz="1600" i="1" dirty="0">
                <a:solidFill>
                  <a:schemeClr val="tx1"/>
                </a:solidFill>
              </a:rPr>
              <a:t>Amanita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  <a:endParaRPr lang="en-US" sz="1600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F72C9B-6A46-4673-9B15-CDA565DB08F2}"/>
              </a:ext>
            </a:extLst>
          </p:cNvPr>
          <p:cNvSpPr/>
          <p:nvPr/>
        </p:nvSpPr>
        <p:spPr>
          <a:xfrm>
            <a:off x="9453127" y="1458683"/>
            <a:ext cx="2359427" cy="1214456"/>
          </a:xfrm>
          <a:prstGeom prst="rect">
            <a:avLst/>
          </a:prstGeom>
          <a:solidFill>
            <a:schemeClr val="bg1"/>
          </a:solidFill>
          <a:ln w="28575">
            <a:solidFill>
              <a:srgbClr val="DE5F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038" indent="-115888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ysClr val="windowText" lastClr="000000"/>
                </a:solidFill>
              </a:rPr>
              <a:t>APAP, salicylate level</a:t>
            </a:r>
          </a:p>
          <a:p>
            <a:pPr marL="173038" indent="-115888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ysClr val="windowText" lastClr="000000"/>
                </a:solidFill>
              </a:rPr>
              <a:t>Toxicology screen</a:t>
            </a:r>
          </a:p>
          <a:p>
            <a:pPr marL="173038" indent="-115888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ysClr val="windowText" lastClr="000000"/>
                </a:solidFill>
              </a:rPr>
              <a:t>Review NIH </a:t>
            </a:r>
            <a:r>
              <a:rPr lang="en-US" sz="1600" dirty="0" err="1">
                <a:solidFill>
                  <a:sysClr val="windowText" lastClr="000000"/>
                </a:solidFill>
              </a:rPr>
              <a:t>LiverTox</a:t>
            </a:r>
            <a:endParaRPr 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0128A09-F175-4640-B4E2-FF9D378FAA67}"/>
              </a:ext>
            </a:extLst>
          </p:cNvPr>
          <p:cNvSpPr/>
          <p:nvPr/>
        </p:nvSpPr>
        <p:spPr>
          <a:xfrm>
            <a:off x="9453128" y="2743501"/>
            <a:ext cx="2359427" cy="1275361"/>
          </a:xfrm>
          <a:prstGeom prst="rect">
            <a:avLst/>
          </a:prstGeom>
          <a:solidFill>
            <a:schemeClr val="bg1"/>
          </a:solidFill>
          <a:ln w="28575">
            <a:solidFill>
              <a:srgbClr val="E57D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038" indent="-115888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ysClr val="windowText" lastClr="000000"/>
                </a:solidFill>
              </a:rPr>
              <a:t>Viral hepatitis serologies &amp; PCRs</a:t>
            </a:r>
          </a:p>
          <a:p>
            <a:pPr marL="173038" indent="-115888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ysClr val="windowText" lastClr="000000"/>
                </a:solidFill>
              </a:rPr>
              <a:t>HIV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F8DD853-410C-42E8-B2A7-BB39F4F4D2DF}"/>
              </a:ext>
            </a:extLst>
          </p:cNvPr>
          <p:cNvSpPr/>
          <p:nvPr/>
        </p:nvSpPr>
        <p:spPr>
          <a:xfrm>
            <a:off x="9453126" y="4071866"/>
            <a:ext cx="2359427" cy="1214618"/>
          </a:xfrm>
          <a:prstGeom prst="rect">
            <a:avLst/>
          </a:prstGeom>
          <a:solidFill>
            <a:schemeClr val="bg1"/>
          </a:solidFill>
          <a:ln w="28575">
            <a:solidFill>
              <a:srgbClr val="EDA1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038" indent="-115888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ysClr val="windowText" lastClr="000000"/>
                </a:solidFill>
              </a:rPr>
              <a:t>Liver US with doppler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0F930FE-E968-4513-83FD-263D7FF1D4C4}"/>
              </a:ext>
            </a:extLst>
          </p:cNvPr>
          <p:cNvSpPr/>
          <p:nvPr/>
        </p:nvSpPr>
        <p:spPr>
          <a:xfrm>
            <a:off x="9453128" y="5357276"/>
            <a:ext cx="2359427" cy="1305530"/>
          </a:xfrm>
          <a:prstGeom prst="rect">
            <a:avLst/>
          </a:prstGeom>
          <a:solidFill>
            <a:schemeClr val="bg1"/>
          </a:solidFill>
          <a:ln w="28575">
            <a:solidFill>
              <a:srgbClr val="F8C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72720" indent="-11557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ysClr val="windowText" lastClr="000000"/>
                </a:solidFill>
              </a:rPr>
              <a:t>ANA, anti-smooth muscle Ab, IgG</a:t>
            </a:r>
            <a:endParaRPr lang="en-US"/>
          </a:p>
          <a:p>
            <a:pPr marL="172720" indent="-11557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ysClr val="windowText" lastClr="000000"/>
                </a:solidFill>
              </a:rPr>
              <a:t>Pregnancy test</a:t>
            </a:r>
            <a:endParaRPr lang="en-US" sz="1600">
              <a:cs typeface="Calibri" panose="020F0502020204030204"/>
            </a:endParaRPr>
          </a:p>
          <a:p>
            <a:pPr marL="172720" indent="-11557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  <a:cs typeface="Calibri"/>
              </a:rPr>
              <a:t>Ceruloplasmin, 24 </a:t>
            </a:r>
            <a:r>
              <a:rPr lang="en-US" sz="1600" dirty="0" err="1">
                <a:solidFill>
                  <a:schemeClr val="tx1"/>
                </a:solidFill>
                <a:cs typeface="Calibri"/>
              </a:rPr>
              <a:t>hr</a:t>
            </a:r>
            <a:r>
              <a:rPr lang="en-US" sz="1600" dirty="0">
                <a:solidFill>
                  <a:schemeClr val="tx1"/>
                </a:solidFill>
                <a:cs typeface="Calibri"/>
              </a:rPr>
              <a:t> Cu</a:t>
            </a:r>
          </a:p>
          <a:p>
            <a:pPr marL="172720" indent="-11557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  <a:cs typeface="Calibri"/>
              </a:rPr>
              <a:t>Liver biopsy</a:t>
            </a:r>
          </a:p>
        </p:txBody>
      </p:sp>
      <p:sp>
        <p:nvSpPr>
          <p:cNvPr id="38" name="Obj 1">
            <a:hlinkClick r:id="rId7" action="ppaction://hlinksldjump"/>
            <a:extLst>
              <a:ext uri="{FF2B5EF4-FFF2-40B4-BE49-F238E27FC236}">
                <a16:creationId xmlns:a16="http://schemas.microsoft.com/office/drawing/2014/main" id="{B63E8970-B28A-40F7-B061-267A52AC6614}"/>
              </a:ext>
            </a:extLst>
          </p:cNvPr>
          <p:cNvSpPr/>
          <p:nvPr/>
        </p:nvSpPr>
        <p:spPr>
          <a:xfrm>
            <a:off x="156307" y="153787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Definition</a:t>
            </a:r>
          </a:p>
        </p:txBody>
      </p:sp>
      <p:sp>
        <p:nvSpPr>
          <p:cNvPr id="39" name="Obj 2">
            <a:hlinkClick r:id="rId8" action="ppaction://hlinksldjump"/>
            <a:extLst>
              <a:ext uri="{FF2B5EF4-FFF2-40B4-BE49-F238E27FC236}">
                <a16:creationId xmlns:a16="http://schemas.microsoft.com/office/drawing/2014/main" id="{F75957E2-8272-40D3-A585-BF49F7CB320A}"/>
              </a:ext>
            </a:extLst>
          </p:cNvPr>
          <p:cNvSpPr/>
          <p:nvPr/>
        </p:nvSpPr>
        <p:spPr>
          <a:xfrm>
            <a:off x="167950" y="681861"/>
            <a:ext cx="1474237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Etiologies</a:t>
            </a:r>
          </a:p>
        </p:txBody>
      </p:sp>
      <p:pic>
        <p:nvPicPr>
          <p:cNvPr id="45" name="Graphic 44" descr="Cursor with solid fill">
            <a:extLst>
              <a:ext uri="{FF2B5EF4-FFF2-40B4-BE49-F238E27FC236}">
                <a16:creationId xmlns:a16="http://schemas.microsoft.com/office/drawing/2014/main" id="{8E8A86D3-3E4B-4688-BDEC-C42290E26D7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83565" y="400149"/>
            <a:ext cx="301752" cy="301752"/>
          </a:xfrm>
          <a:prstGeom prst="rect">
            <a:avLst/>
          </a:prstGeom>
        </p:spPr>
      </p:pic>
      <p:sp>
        <p:nvSpPr>
          <p:cNvPr id="46" name="Obj 3">
            <a:hlinkClick r:id="rId11" action="ppaction://hlinksldjump"/>
            <a:extLst>
              <a:ext uri="{FF2B5EF4-FFF2-40B4-BE49-F238E27FC236}">
                <a16:creationId xmlns:a16="http://schemas.microsoft.com/office/drawing/2014/main" id="{11047530-5331-4884-AE9D-8F8C75068FE7}"/>
              </a:ext>
            </a:extLst>
          </p:cNvPr>
          <p:cNvSpPr/>
          <p:nvPr/>
        </p:nvSpPr>
        <p:spPr>
          <a:xfrm>
            <a:off x="156307" y="1213511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pic>
        <p:nvPicPr>
          <p:cNvPr id="47" name="Graphic 46" descr="Cursor with solid fill">
            <a:extLst>
              <a:ext uri="{FF2B5EF4-FFF2-40B4-BE49-F238E27FC236}">
                <a16:creationId xmlns:a16="http://schemas.microsoft.com/office/drawing/2014/main" id="{ACC6A50C-6B73-47E4-B1A5-EBD6FC56B7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83565" y="1446154"/>
            <a:ext cx="301752" cy="301752"/>
          </a:xfrm>
          <a:prstGeom prst="rect">
            <a:avLst/>
          </a:prstGeom>
        </p:spPr>
      </p:pic>
      <p:sp>
        <p:nvSpPr>
          <p:cNvPr id="48" name="Cases">
            <a:hlinkClick r:id="rId12" action="ppaction://hlinksldjump"/>
            <a:extLst>
              <a:ext uri="{FF2B5EF4-FFF2-40B4-BE49-F238E27FC236}">
                <a16:creationId xmlns:a16="http://schemas.microsoft.com/office/drawing/2014/main" id="{8FEEECE7-EBE6-46CF-8758-EA6BAA481E38}"/>
              </a:ext>
            </a:extLst>
          </p:cNvPr>
          <p:cNvSpPr/>
          <p:nvPr/>
        </p:nvSpPr>
        <p:spPr>
          <a:xfrm>
            <a:off x="156307" y="176547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49" name="Graphic 48" descr="Cursor with solid fill">
            <a:extLst>
              <a:ext uri="{FF2B5EF4-FFF2-40B4-BE49-F238E27FC236}">
                <a16:creationId xmlns:a16="http://schemas.microsoft.com/office/drawing/2014/main" id="{1118BD04-4878-45F8-8854-D4DDE1D80B7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83565" y="2000938"/>
            <a:ext cx="301752" cy="301752"/>
          </a:xfrm>
          <a:prstGeom prst="rect">
            <a:avLst/>
          </a:prstGeom>
        </p:spPr>
      </p:pic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78EBFAD-3735-4948-A8B4-9E61B27E7614}"/>
              </a:ext>
            </a:extLst>
          </p:cNvPr>
          <p:cNvCxnSpPr>
            <a:cxnSpLocks/>
          </p:cNvCxnSpPr>
          <p:nvPr/>
        </p:nvCxnSpPr>
        <p:spPr>
          <a:xfrm flipV="1">
            <a:off x="1820458" y="2382272"/>
            <a:ext cx="191336" cy="454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D7A2401B-480E-4FE9-BF45-917BD413D653}"/>
              </a:ext>
            </a:extLst>
          </p:cNvPr>
          <p:cNvSpPr txBox="1"/>
          <p:nvPr/>
        </p:nvSpPr>
        <p:spPr>
          <a:xfrm>
            <a:off x="121860" y="2562366"/>
            <a:ext cx="1674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/>
              <a:t>Click to reveal differential. Then click again to reveal work-up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6015A97-BCF3-446E-A149-AE08FADB7602}"/>
              </a:ext>
            </a:extLst>
          </p:cNvPr>
          <p:cNvSpPr txBox="1"/>
          <p:nvPr/>
        </p:nvSpPr>
        <p:spPr>
          <a:xfrm>
            <a:off x="3922765" y="175930"/>
            <a:ext cx="5228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ETIOLOGIES AND EVALUATION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010074-3951-43DE-8D0D-6192549AB05D}"/>
              </a:ext>
            </a:extLst>
          </p:cNvPr>
          <p:cNvSpPr txBox="1"/>
          <p:nvPr/>
        </p:nvSpPr>
        <p:spPr>
          <a:xfrm>
            <a:off x="6679656" y="959265"/>
            <a:ext cx="2280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ETIOLOGIES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CD12DF-DE41-4319-A4F4-8A108A396418}"/>
              </a:ext>
            </a:extLst>
          </p:cNvPr>
          <p:cNvSpPr txBox="1"/>
          <p:nvPr/>
        </p:nvSpPr>
        <p:spPr>
          <a:xfrm>
            <a:off x="9492543" y="959265"/>
            <a:ext cx="2280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WORK-UP</a:t>
            </a:r>
          </a:p>
        </p:txBody>
      </p:sp>
      <p:grpSp>
        <p:nvGrpSpPr>
          <p:cNvPr id="59" name="Drugs/Toxins">
            <a:extLst>
              <a:ext uri="{FF2B5EF4-FFF2-40B4-BE49-F238E27FC236}">
                <a16:creationId xmlns:a16="http://schemas.microsoft.com/office/drawing/2014/main" id="{0C61C0F3-BEBA-4C96-805C-F644E320D861}"/>
              </a:ext>
            </a:extLst>
          </p:cNvPr>
          <p:cNvGrpSpPr/>
          <p:nvPr/>
        </p:nvGrpSpPr>
        <p:grpSpPr>
          <a:xfrm>
            <a:off x="1784661" y="1413126"/>
            <a:ext cx="3591902" cy="1308095"/>
            <a:chOff x="0" y="0"/>
            <a:chExt cx="3591902" cy="1308095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0" name="Trapezoid 59">
              <a:extLst>
                <a:ext uri="{FF2B5EF4-FFF2-40B4-BE49-F238E27FC236}">
                  <a16:creationId xmlns:a16="http://schemas.microsoft.com/office/drawing/2014/main" id="{9B975809-82AB-4133-B7F9-F04E6CA2BADC}"/>
                </a:ext>
              </a:extLst>
            </p:cNvPr>
            <p:cNvSpPr/>
            <p:nvPr/>
          </p:nvSpPr>
          <p:spPr>
            <a:xfrm rot="10800000">
              <a:off x="0" y="0"/>
              <a:ext cx="3591902" cy="1308095"/>
            </a:xfrm>
            <a:prstGeom prst="trapezoid">
              <a:avLst>
                <a:gd name="adj" fmla="val 34324"/>
              </a:avLst>
            </a:prstGeom>
            <a:grpFill/>
            <a:ln w="38100">
              <a:solidFill>
                <a:srgbClr val="D15757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61" name="Trapezoid 4">
              <a:extLst>
                <a:ext uri="{FF2B5EF4-FFF2-40B4-BE49-F238E27FC236}">
                  <a16:creationId xmlns:a16="http://schemas.microsoft.com/office/drawing/2014/main" id="{88EDF4CD-7AC4-4DA1-BB23-972E8ACC70A5}"/>
                </a:ext>
              </a:extLst>
            </p:cNvPr>
            <p:cNvSpPr txBox="1"/>
            <p:nvPr/>
          </p:nvSpPr>
          <p:spPr>
            <a:xfrm>
              <a:off x="628582" y="0"/>
              <a:ext cx="2334736" cy="1308095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40640" rIns="40640" bIns="40640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kern="1200" dirty="0">
                  <a:solidFill>
                    <a:schemeClr val="tx1"/>
                  </a:solidFill>
                </a:rPr>
                <a:t>Drugs/Toxins</a:t>
              </a:r>
            </a:p>
          </p:txBody>
        </p:sp>
      </p:grpSp>
      <p:pic>
        <p:nvPicPr>
          <p:cNvPr id="40" name="Graphic 39" descr="Cursor with solid fill">
            <a:extLst>
              <a:ext uri="{FF2B5EF4-FFF2-40B4-BE49-F238E27FC236}">
                <a16:creationId xmlns:a16="http://schemas.microsoft.com/office/drawing/2014/main" id="{C95897B1-12C9-4A14-8DB8-9B80B919082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68442" y="2507622"/>
            <a:ext cx="301752" cy="301752"/>
          </a:xfrm>
          <a:prstGeom prst="rect">
            <a:avLst/>
          </a:prstGeom>
        </p:spPr>
      </p:pic>
      <p:grpSp>
        <p:nvGrpSpPr>
          <p:cNvPr id="68" name="Viral button">
            <a:extLst>
              <a:ext uri="{FF2B5EF4-FFF2-40B4-BE49-F238E27FC236}">
                <a16:creationId xmlns:a16="http://schemas.microsoft.com/office/drawing/2014/main" id="{472AA41D-F4E5-4F2F-B44F-6F7FF0A37100}"/>
              </a:ext>
            </a:extLst>
          </p:cNvPr>
          <p:cNvGrpSpPr/>
          <p:nvPr/>
        </p:nvGrpSpPr>
        <p:grpSpPr>
          <a:xfrm>
            <a:off x="2233648" y="2768051"/>
            <a:ext cx="2693926" cy="1311655"/>
            <a:chOff x="448987" y="1308095"/>
            <a:chExt cx="2693926" cy="1308095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92EF9839-50B0-431C-8028-7F61DB534EB8}"/>
                </a:ext>
              </a:extLst>
            </p:cNvPr>
            <p:cNvSpPr/>
            <p:nvPr/>
          </p:nvSpPr>
          <p:spPr>
            <a:xfrm rot="10800000">
              <a:off x="448987" y="1308095"/>
              <a:ext cx="2693926" cy="1308095"/>
            </a:xfrm>
            <a:prstGeom prst="trapezoid">
              <a:avLst>
                <a:gd name="adj" fmla="val 34324"/>
              </a:avLst>
            </a:prstGeom>
            <a:grpFill/>
            <a:ln w="38100">
              <a:solidFill>
                <a:srgbClr val="D97575"/>
              </a:solidFill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70" name="Trapezoid 4">
              <a:extLst>
                <a:ext uri="{FF2B5EF4-FFF2-40B4-BE49-F238E27FC236}">
                  <a16:creationId xmlns:a16="http://schemas.microsoft.com/office/drawing/2014/main" id="{72C2BCD9-D2D2-459C-8812-5966B78ABC42}"/>
                </a:ext>
              </a:extLst>
            </p:cNvPr>
            <p:cNvSpPr txBox="1"/>
            <p:nvPr/>
          </p:nvSpPr>
          <p:spPr>
            <a:xfrm>
              <a:off x="920424" y="1308095"/>
              <a:ext cx="1751052" cy="1308095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5560" tIns="35560" rIns="35560" bIns="3556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kern="1200" dirty="0">
                  <a:solidFill>
                    <a:schemeClr val="tx1"/>
                  </a:solidFill>
                </a:rPr>
                <a:t>Viral</a:t>
              </a:r>
            </a:p>
          </p:txBody>
        </p:sp>
      </p:grpSp>
      <p:pic>
        <p:nvPicPr>
          <p:cNvPr id="41" name="Graphic 40" descr="Cursor with solid fill">
            <a:extLst>
              <a:ext uri="{FF2B5EF4-FFF2-40B4-BE49-F238E27FC236}">
                <a16:creationId xmlns:a16="http://schemas.microsoft.com/office/drawing/2014/main" id="{A0953338-603D-46AC-BC9D-5FD1CD7ECF2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23061" y="3818552"/>
            <a:ext cx="301752" cy="301752"/>
          </a:xfrm>
          <a:prstGeom prst="rect">
            <a:avLst/>
          </a:prstGeom>
        </p:spPr>
      </p:pic>
      <p:grpSp>
        <p:nvGrpSpPr>
          <p:cNvPr id="75" name="Ishcemia button">
            <a:extLst>
              <a:ext uri="{FF2B5EF4-FFF2-40B4-BE49-F238E27FC236}">
                <a16:creationId xmlns:a16="http://schemas.microsoft.com/office/drawing/2014/main" id="{43B2FEBB-4B8A-4619-81F2-A7AF2F66C67D}"/>
              </a:ext>
            </a:extLst>
          </p:cNvPr>
          <p:cNvGrpSpPr/>
          <p:nvPr/>
        </p:nvGrpSpPr>
        <p:grpSpPr>
          <a:xfrm>
            <a:off x="2677676" y="4081313"/>
            <a:ext cx="1795953" cy="1282448"/>
            <a:chOff x="897974" y="2616189"/>
            <a:chExt cx="1795951" cy="130809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6" name="Trapezoid 75">
              <a:extLst>
                <a:ext uri="{FF2B5EF4-FFF2-40B4-BE49-F238E27FC236}">
                  <a16:creationId xmlns:a16="http://schemas.microsoft.com/office/drawing/2014/main" id="{659F8322-CA92-43F5-B889-58C5FB6D2F0C}"/>
                </a:ext>
              </a:extLst>
            </p:cNvPr>
            <p:cNvSpPr/>
            <p:nvPr/>
          </p:nvSpPr>
          <p:spPr>
            <a:xfrm rot="10800000">
              <a:off x="897974" y="2616189"/>
              <a:ext cx="1795951" cy="1308095"/>
            </a:xfrm>
            <a:prstGeom prst="trapezoid">
              <a:avLst>
                <a:gd name="adj" fmla="val 34324"/>
              </a:avLst>
            </a:prstGeom>
            <a:solidFill>
              <a:schemeClr val="bg1"/>
            </a:solidFill>
            <a:ln w="38100">
              <a:solidFill>
                <a:srgbClr val="CB8282"/>
              </a:solidFill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77" name="Trapezoid 4">
              <a:extLst>
                <a:ext uri="{FF2B5EF4-FFF2-40B4-BE49-F238E27FC236}">
                  <a16:creationId xmlns:a16="http://schemas.microsoft.com/office/drawing/2014/main" id="{2B21D231-1EDC-4C15-A3C7-3BBE9909144E}"/>
                </a:ext>
              </a:extLst>
            </p:cNvPr>
            <p:cNvSpPr txBox="1"/>
            <p:nvPr/>
          </p:nvSpPr>
          <p:spPr>
            <a:xfrm>
              <a:off x="1212266" y="2616190"/>
              <a:ext cx="1167368" cy="1308095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0480" tIns="30480" rIns="30480" bIns="30480" numCol="1" spcCol="1270" anchor="ctr" anchorCtr="0">
              <a:noAutofit/>
            </a:bodyPr>
            <a:lstStyle/>
            <a:p>
              <a:pPr marL="0" lvl="0" indent="0" algn="ctr" defTabSz="10668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>
                  <a:solidFill>
                    <a:schemeClr val="tx1"/>
                  </a:solidFill>
                  <a:latin typeface="Calibri Light" panose="020F0302020204030204"/>
                </a:rPr>
                <a:t>Ischemia</a:t>
              </a:r>
              <a:endParaRPr lang="en-US" sz="2400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9" name="Other button">
            <a:extLst>
              <a:ext uri="{FF2B5EF4-FFF2-40B4-BE49-F238E27FC236}">
                <a16:creationId xmlns:a16="http://schemas.microsoft.com/office/drawing/2014/main" id="{CDA491E3-C4E1-40CA-8C64-B7B8EE514D8A}"/>
              </a:ext>
            </a:extLst>
          </p:cNvPr>
          <p:cNvGrpSpPr/>
          <p:nvPr/>
        </p:nvGrpSpPr>
        <p:grpSpPr>
          <a:xfrm>
            <a:off x="3146671" y="5382073"/>
            <a:ext cx="865055" cy="1366250"/>
            <a:chOff x="1346963" y="3924285"/>
            <a:chExt cx="897975" cy="1308095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0" name="Trapezoid 79">
              <a:extLst>
                <a:ext uri="{FF2B5EF4-FFF2-40B4-BE49-F238E27FC236}">
                  <a16:creationId xmlns:a16="http://schemas.microsoft.com/office/drawing/2014/main" id="{74376524-A8FB-46BD-B124-7B08F19306F2}"/>
                </a:ext>
              </a:extLst>
            </p:cNvPr>
            <p:cNvSpPr/>
            <p:nvPr/>
          </p:nvSpPr>
          <p:spPr>
            <a:xfrm rot="10800000">
              <a:off x="1346963" y="3924285"/>
              <a:ext cx="897975" cy="1308095"/>
            </a:xfrm>
            <a:prstGeom prst="trapezoid">
              <a:avLst>
                <a:gd name="adj" fmla="val 50000"/>
              </a:avLst>
            </a:prstGeom>
            <a:grpFill/>
            <a:ln w="38100">
              <a:solidFill>
                <a:srgbClr val="DAB3B3"/>
              </a:solidFill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81" name="Trapezoid 4">
              <a:extLst>
                <a:ext uri="{FF2B5EF4-FFF2-40B4-BE49-F238E27FC236}">
                  <a16:creationId xmlns:a16="http://schemas.microsoft.com/office/drawing/2014/main" id="{3945B0BB-A699-4CBF-8E68-0D456F6AB24C}"/>
                </a:ext>
              </a:extLst>
            </p:cNvPr>
            <p:cNvSpPr txBox="1"/>
            <p:nvPr/>
          </p:nvSpPr>
          <p:spPr>
            <a:xfrm>
              <a:off x="1346963" y="3924285"/>
              <a:ext cx="741696" cy="1308095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320" tIns="20320" rIns="20320" bIns="20320" numCol="1" spcCol="1270" anchor="t" anchorCtr="0">
              <a:noAutofit/>
            </a:bodyPr>
            <a:lstStyle/>
            <a:p>
              <a:pPr marL="0" lvl="0" indent="0" algn="ctr" defTabSz="7112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kern="1200" dirty="0">
                <a:solidFill>
                  <a:schemeClr val="tx1"/>
                </a:solidFill>
                <a:latin typeface="Calibri Light" panose="020F0302020204030204"/>
              </a:endParaRPr>
            </a:p>
            <a:p>
              <a:pPr marL="0" lvl="0" indent="0" algn="ctr" defTabSz="7112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>
                  <a:solidFill>
                    <a:schemeClr val="tx1"/>
                  </a:solidFill>
                  <a:latin typeface="Calibri Light" panose="020F0302020204030204"/>
                </a:rPr>
                <a:t>    Other    </a:t>
              </a:r>
              <a:endParaRPr lang="en-US" sz="1600" kern="12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56" name="Graphic 55" descr="Cursor with solid fill">
            <a:extLst>
              <a:ext uri="{FF2B5EF4-FFF2-40B4-BE49-F238E27FC236}">
                <a16:creationId xmlns:a16="http://schemas.microsoft.com/office/drawing/2014/main" id="{A5985A98-C47B-4E49-88D4-53979AA9E5F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92836" y="6261891"/>
            <a:ext cx="301752" cy="301752"/>
          </a:xfrm>
          <a:prstGeom prst="rect">
            <a:avLst/>
          </a:prstGeom>
        </p:spPr>
      </p:pic>
      <p:pic>
        <p:nvPicPr>
          <p:cNvPr id="55" name="Graphic 54" descr="Cursor with solid fill">
            <a:extLst>
              <a:ext uri="{FF2B5EF4-FFF2-40B4-BE49-F238E27FC236}">
                <a16:creationId xmlns:a16="http://schemas.microsoft.com/office/drawing/2014/main" id="{A86ACE76-4F59-47DF-9C1B-966CF9CDF96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85384" y="5143793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403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31" grpId="0" animBg="1"/>
      <p:bldP spid="32" grpId="0" animBg="1"/>
      <p:bldP spid="33" grpId="0" animBg="1"/>
      <p:bldP spid="35" grpId="0" animBg="1"/>
      <p:bldP spid="36" grpId="0" animBg="1"/>
      <p:bldP spid="37" grpId="0" animBg="1"/>
      <p:bldP spid="7" grpId="0" animBg="1"/>
      <p:bldP spid="42" grpId="0" animBg="1"/>
      <p:bldP spid="43" grpId="0" animBg="1"/>
      <p:bldP spid="44" grpId="0" animBg="1"/>
      <p:bldP spid="5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erebral Edema">
            <a:extLst>
              <a:ext uri="{FF2B5EF4-FFF2-40B4-BE49-F238E27FC236}">
                <a16:creationId xmlns:a16="http://schemas.microsoft.com/office/drawing/2014/main" id="{063C6D35-CA76-4ECC-A242-9208643AE03C}"/>
              </a:ext>
            </a:extLst>
          </p:cNvPr>
          <p:cNvSpPr/>
          <p:nvPr/>
        </p:nvSpPr>
        <p:spPr>
          <a:xfrm>
            <a:off x="4036951" y="737525"/>
            <a:ext cx="2696466" cy="458646"/>
          </a:xfrm>
          <a:prstGeom prst="roundRect">
            <a:avLst/>
          </a:prstGeom>
          <a:solidFill>
            <a:srgbClr val="E7CFCF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Cerebral Edema</a:t>
            </a:r>
          </a:p>
        </p:txBody>
      </p:sp>
      <p:sp>
        <p:nvSpPr>
          <p:cNvPr id="58" name="Hypoglycemia">
            <a:extLst>
              <a:ext uri="{FF2B5EF4-FFF2-40B4-BE49-F238E27FC236}">
                <a16:creationId xmlns:a16="http://schemas.microsoft.com/office/drawing/2014/main" id="{A4A0BEF6-6E49-4E85-8564-C2DE4CA53424}"/>
              </a:ext>
            </a:extLst>
          </p:cNvPr>
          <p:cNvSpPr/>
          <p:nvPr/>
        </p:nvSpPr>
        <p:spPr>
          <a:xfrm>
            <a:off x="4032293" y="1435246"/>
            <a:ext cx="2696466" cy="468108"/>
          </a:xfrm>
          <a:prstGeom prst="roundRect">
            <a:avLst/>
          </a:prstGeom>
          <a:solidFill>
            <a:srgbClr val="D8B0B0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Hypoglycemia</a:t>
            </a:r>
          </a:p>
        </p:txBody>
      </p:sp>
      <p:sp>
        <p:nvSpPr>
          <p:cNvPr id="60" name="MOF">
            <a:extLst>
              <a:ext uri="{FF2B5EF4-FFF2-40B4-BE49-F238E27FC236}">
                <a16:creationId xmlns:a16="http://schemas.microsoft.com/office/drawing/2014/main" id="{C19D6266-193C-47D0-AFD4-FFEE2A5AAEEA}"/>
              </a:ext>
            </a:extLst>
          </p:cNvPr>
          <p:cNvSpPr/>
          <p:nvPr/>
        </p:nvSpPr>
        <p:spPr>
          <a:xfrm>
            <a:off x="4036952" y="2142429"/>
            <a:ext cx="2696465" cy="458646"/>
          </a:xfrm>
          <a:prstGeom prst="roundRect">
            <a:avLst/>
          </a:prstGeom>
          <a:solidFill>
            <a:srgbClr val="E7CFCF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Multiorgan Failure</a:t>
            </a:r>
          </a:p>
        </p:txBody>
      </p:sp>
      <p:sp>
        <p:nvSpPr>
          <p:cNvPr id="61" name="Coagulopathy">
            <a:extLst>
              <a:ext uri="{FF2B5EF4-FFF2-40B4-BE49-F238E27FC236}">
                <a16:creationId xmlns:a16="http://schemas.microsoft.com/office/drawing/2014/main" id="{F90E16DC-778F-4DEF-A603-2B37D564CA37}"/>
              </a:ext>
            </a:extLst>
          </p:cNvPr>
          <p:cNvSpPr/>
          <p:nvPr/>
        </p:nvSpPr>
        <p:spPr>
          <a:xfrm>
            <a:off x="4036952" y="2840150"/>
            <a:ext cx="2696465" cy="458646"/>
          </a:xfrm>
          <a:prstGeom prst="roundRect">
            <a:avLst/>
          </a:prstGeom>
          <a:solidFill>
            <a:srgbClr val="D8B0B0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Coagulopathy</a:t>
            </a:r>
          </a:p>
        </p:txBody>
      </p:sp>
      <p:sp>
        <p:nvSpPr>
          <p:cNvPr id="63" name="Infection">
            <a:extLst>
              <a:ext uri="{FF2B5EF4-FFF2-40B4-BE49-F238E27FC236}">
                <a16:creationId xmlns:a16="http://schemas.microsoft.com/office/drawing/2014/main" id="{D60B0D90-0682-4941-B6AA-500A52504C19}"/>
              </a:ext>
            </a:extLst>
          </p:cNvPr>
          <p:cNvSpPr/>
          <p:nvPr/>
        </p:nvSpPr>
        <p:spPr>
          <a:xfrm>
            <a:off x="4036952" y="3537871"/>
            <a:ext cx="2696465" cy="458646"/>
          </a:xfrm>
          <a:prstGeom prst="roundRect">
            <a:avLst/>
          </a:prstGeom>
          <a:solidFill>
            <a:srgbClr val="E7CFCF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Infection</a:t>
            </a:r>
          </a:p>
        </p:txBody>
      </p:sp>
      <p:sp>
        <p:nvSpPr>
          <p:cNvPr id="51" name="Complicatoins">
            <a:extLst>
              <a:ext uri="{FF2B5EF4-FFF2-40B4-BE49-F238E27FC236}">
                <a16:creationId xmlns:a16="http://schemas.microsoft.com/office/drawing/2014/main" id="{1EE93177-F008-482D-8519-2765417A7B01}"/>
              </a:ext>
            </a:extLst>
          </p:cNvPr>
          <p:cNvSpPr/>
          <p:nvPr/>
        </p:nvSpPr>
        <p:spPr>
          <a:xfrm>
            <a:off x="1964252" y="705818"/>
            <a:ext cx="1807759" cy="65670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1775" indent="-231775" algn="ctr"/>
            <a:r>
              <a:rPr lang="en-US" sz="2000" dirty="0">
                <a:solidFill>
                  <a:schemeClr val="tx1"/>
                </a:solidFill>
              </a:rPr>
              <a:t>Address</a:t>
            </a:r>
          </a:p>
          <a:p>
            <a:pPr marL="231775" indent="-231775" algn="ctr"/>
            <a:r>
              <a:rPr lang="en-US" sz="2000" dirty="0">
                <a:solidFill>
                  <a:schemeClr val="tx1"/>
                </a:solidFill>
              </a:rPr>
              <a:t>Complications</a:t>
            </a:r>
          </a:p>
        </p:txBody>
      </p:sp>
      <p:sp>
        <p:nvSpPr>
          <p:cNvPr id="52" name="NAC">
            <a:extLst>
              <a:ext uri="{FF2B5EF4-FFF2-40B4-BE49-F238E27FC236}">
                <a16:creationId xmlns:a16="http://schemas.microsoft.com/office/drawing/2014/main" id="{38D19AA5-9F14-48C8-964B-145B33062B72}"/>
              </a:ext>
            </a:extLst>
          </p:cNvPr>
          <p:cNvSpPr/>
          <p:nvPr/>
        </p:nvSpPr>
        <p:spPr>
          <a:xfrm>
            <a:off x="1986744" y="4207237"/>
            <a:ext cx="1791499" cy="46166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Give NAC</a:t>
            </a:r>
          </a:p>
        </p:txBody>
      </p:sp>
      <p:sp>
        <p:nvSpPr>
          <p:cNvPr id="55" name="Transfer">
            <a:extLst>
              <a:ext uri="{FF2B5EF4-FFF2-40B4-BE49-F238E27FC236}">
                <a16:creationId xmlns:a16="http://schemas.microsoft.com/office/drawing/2014/main" id="{1EFC699D-E814-482D-B254-C2A17003D785}"/>
              </a:ext>
            </a:extLst>
          </p:cNvPr>
          <p:cNvSpPr/>
          <p:nvPr/>
        </p:nvSpPr>
        <p:spPr>
          <a:xfrm>
            <a:off x="1986744" y="6055137"/>
            <a:ext cx="1791499" cy="46166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Transfer</a:t>
            </a:r>
          </a:p>
        </p:txBody>
      </p:sp>
      <p:sp>
        <p:nvSpPr>
          <p:cNvPr id="56" name="Prognosticate">
            <a:extLst>
              <a:ext uri="{FF2B5EF4-FFF2-40B4-BE49-F238E27FC236}">
                <a16:creationId xmlns:a16="http://schemas.microsoft.com/office/drawing/2014/main" id="{58B44414-E61B-4DA0-A172-C7EC1CB6B662}"/>
              </a:ext>
            </a:extLst>
          </p:cNvPr>
          <p:cNvSpPr/>
          <p:nvPr/>
        </p:nvSpPr>
        <p:spPr>
          <a:xfrm>
            <a:off x="1998116" y="5168800"/>
            <a:ext cx="1791499" cy="46166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Prognosticate</a:t>
            </a:r>
          </a:p>
        </p:txBody>
      </p:sp>
      <p:sp>
        <p:nvSpPr>
          <p:cNvPr id="16" name="Complicatoins">
            <a:extLst>
              <a:ext uri="{FF2B5EF4-FFF2-40B4-BE49-F238E27FC236}">
                <a16:creationId xmlns:a16="http://schemas.microsoft.com/office/drawing/2014/main" id="{B87C257D-F96F-4821-BDEC-00EB9DDBC86B}"/>
              </a:ext>
            </a:extLst>
          </p:cNvPr>
          <p:cNvSpPr/>
          <p:nvPr/>
        </p:nvSpPr>
        <p:spPr>
          <a:xfrm>
            <a:off x="1962778" y="708792"/>
            <a:ext cx="1807759" cy="65670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1775" indent="-231775" algn="ctr"/>
            <a:r>
              <a:rPr lang="en-US" sz="2000" dirty="0">
                <a:solidFill>
                  <a:schemeClr val="tx1"/>
                </a:solidFill>
              </a:rPr>
              <a:t>Address</a:t>
            </a:r>
          </a:p>
          <a:p>
            <a:pPr marL="231775" indent="-231775" algn="ctr"/>
            <a:r>
              <a:rPr lang="en-US" sz="2000" dirty="0">
                <a:solidFill>
                  <a:schemeClr val="tx1"/>
                </a:solidFill>
              </a:rPr>
              <a:t>Complications</a:t>
            </a:r>
          </a:p>
        </p:txBody>
      </p:sp>
      <p:sp>
        <p:nvSpPr>
          <p:cNvPr id="18" name="NAC">
            <a:extLst>
              <a:ext uri="{FF2B5EF4-FFF2-40B4-BE49-F238E27FC236}">
                <a16:creationId xmlns:a16="http://schemas.microsoft.com/office/drawing/2014/main" id="{8CDB9ABA-F6C4-41B6-A1F1-961A2929616E}"/>
              </a:ext>
            </a:extLst>
          </p:cNvPr>
          <p:cNvSpPr/>
          <p:nvPr/>
        </p:nvSpPr>
        <p:spPr>
          <a:xfrm>
            <a:off x="1985270" y="4210211"/>
            <a:ext cx="1791499" cy="46166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Give NAC</a:t>
            </a:r>
          </a:p>
        </p:txBody>
      </p:sp>
      <p:sp>
        <p:nvSpPr>
          <p:cNvPr id="19" name="Transfer">
            <a:extLst>
              <a:ext uri="{FF2B5EF4-FFF2-40B4-BE49-F238E27FC236}">
                <a16:creationId xmlns:a16="http://schemas.microsoft.com/office/drawing/2014/main" id="{2B96CE20-9302-4592-8C3D-69F853067D49}"/>
              </a:ext>
            </a:extLst>
          </p:cNvPr>
          <p:cNvSpPr/>
          <p:nvPr/>
        </p:nvSpPr>
        <p:spPr>
          <a:xfrm>
            <a:off x="1985270" y="6058111"/>
            <a:ext cx="1791499" cy="46166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Transfer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9CE935-4A58-41BC-8502-3854B7C3770C}"/>
              </a:ext>
            </a:extLst>
          </p:cNvPr>
          <p:cNvSpPr txBox="1"/>
          <p:nvPr/>
        </p:nvSpPr>
        <p:spPr>
          <a:xfrm>
            <a:off x="4039264" y="6107185"/>
            <a:ext cx="62806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Liver transplant centers allow for early transplant listing</a:t>
            </a:r>
          </a:p>
        </p:txBody>
      </p:sp>
      <p:sp>
        <p:nvSpPr>
          <p:cNvPr id="22" name="NAC">
            <a:extLst>
              <a:ext uri="{FF2B5EF4-FFF2-40B4-BE49-F238E27FC236}">
                <a16:creationId xmlns:a16="http://schemas.microsoft.com/office/drawing/2014/main" id="{E1C694B4-09B8-4BE0-A0AB-2CD06A84BE33}"/>
              </a:ext>
            </a:extLst>
          </p:cNvPr>
          <p:cNvSpPr txBox="1"/>
          <p:nvPr/>
        </p:nvSpPr>
        <p:spPr>
          <a:xfrm>
            <a:off x="3956632" y="4255156"/>
            <a:ext cx="80233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tabLst>
                <a:tab pos="1597025" algn="l"/>
              </a:tabLst>
            </a:pPr>
            <a:r>
              <a:rPr lang="en-US" sz="2000" dirty="0">
                <a:solidFill>
                  <a:schemeClr val="tx1"/>
                </a:solidFill>
              </a:rPr>
              <a:t>NAC improves </a:t>
            </a:r>
            <a:r>
              <a:rPr lang="en-US" sz="2000" dirty="0"/>
              <a:t>liver transplant</a:t>
            </a:r>
            <a:r>
              <a:rPr lang="en-US" sz="2000" dirty="0">
                <a:solidFill>
                  <a:schemeClr val="tx1"/>
                </a:solidFill>
              </a:rPr>
              <a:t>-free survival (even in non-APAP induced ALF)</a:t>
            </a:r>
          </a:p>
        </p:txBody>
      </p:sp>
      <p:pic>
        <p:nvPicPr>
          <p:cNvPr id="23" name="Graphic 22" descr="Cursor with solid fill">
            <a:extLst>
              <a:ext uri="{FF2B5EF4-FFF2-40B4-BE49-F238E27FC236}">
                <a16:creationId xmlns:a16="http://schemas.microsoft.com/office/drawing/2014/main" id="{0FCD1573-0470-45FC-B643-3905DEB72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7169" y="1202162"/>
            <a:ext cx="301752" cy="301752"/>
          </a:xfrm>
          <a:prstGeom prst="rect">
            <a:avLst/>
          </a:prstGeom>
        </p:spPr>
      </p:pic>
      <p:pic>
        <p:nvPicPr>
          <p:cNvPr id="24" name="Graphic 23" descr="Cursor with solid fill">
            <a:extLst>
              <a:ext uri="{FF2B5EF4-FFF2-40B4-BE49-F238E27FC236}">
                <a16:creationId xmlns:a16="http://schemas.microsoft.com/office/drawing/2014/main" id="{CF074BE5-EAD5-44C0-9E64-A7F2AECF83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7169" y="4542079"/>
            <a:ext cx="301752" cy="301752"/>
          </a:xfrm>
          <a:prstGeom prst="rect">
            <a:avLst/>
          </a:prstGeom>
        </p:spPr>
      </p:pic>
      <p:pic>
        <p:nvPicPr>
          <p:cNvPr id="25" name="Graphic 24" descr="Cursor with solid fill">
            <a:extLst>
              <a:ext uri="{FF2B5EF4-FFF2-40B4-BE49-F238E27FC236}">
                <a16:creationId xmlns:a16="http://schemas.microsoft.com/office/drawing/2014/main" id="{52148F8A-0468-4434-87E6-942C500BB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7169" y="6377813"/>
            <a:ext cx="301752" cy="301752"/>
          </a:xfrm>
          <a:prstGeom prst="rect">
            <a:avLst/>
          </a:prstGeom>
        </p:spPr>
      </p:pic>
      <p:sp>
        <p:nvSpPr>
          <p:cNvPr id="2" name="Cerebral Edema">
            <a:extLst>
              <a:ext uri="{FF2B5EF4-FFF2-40B4-BE49-F238E27FC236}">
                <a16:creationId xmlns:a16="http://schemas.microsoft.com/office/drawing/2014/main" id="{AA5D0362-2AAB-4269-82ED-7BE33D460C90}"/>
              </a:ext>
            </a:extLst>
          </p:cNvPr>
          <p:cNvSpPr/>
          <p:nvPr/>
        </p:nvSpPr>
        <p:spPr>
          <a:xfrm>
            <a:off x="4043922" y="737525"/>
            <a:ext cx="2696466" cy="45864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Cerebral Edema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41B2F0-4F99-499D-B58B-B5A98A086E34}"/>
              </a:ext>
            </a:extLst>
          </p:cNvPr>
          <p:cNvSpPr/>
          <p:nvPr/>
        </p:nvSpPr>
        <p:spPr>
          <a:xfrm>
            <a:off x="7049850" y="705818"/>
            <a:ext cx="1632998" cy="529317"/>
          </a:xfrm>
          <a:prstGeom prst="rect">
            <a:avLst/>
          </a:prstGeom>
          <a:solidFill>
            <a:srgbClr val="E7CFC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0" dirty="0">
                <a:solidFill>
                  <a:schemeClr val="tx1"/>
                </a:solidFill>
              </a:rPr>
              <a:t>Arterial ammonia &gt; 150</a:t>
            </a:r>
          </a:p>
        </p:txBody>
      </p:sp>
      <p:sp>
        <p:nvSpPr>
          <p:cNvPr id="27" name="Hypoglycemia">
            <a:extLst>
              <a:ext uri="{FF2B5EF4-FFF2-40B4-BE49-F238E27FC236}">
                <a16:creationId xmlns:a16="http://schemas.microsoft.com/office/drawing/2014/main" id="{DEF0B676-BEF5-46C9-B371-84BA2EE9A713}"/>
              </a:ext>
            </a:extLst>
          </p:cNvPr>
          <p:cNvSpPr/>
          <p:nvPr/>
        </p:nvSpPr>
        <p:spPr>
          <a:xfrm>
            <a:off x="4039264" y="1435246"/>
            <a:ext cx="2696466" cy="468108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Hypoglycemia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EE450DA-E259-4949-AA67-3043A09D26FE}"/>
              </a:ext>
            </a:extLst>
          </p:cNvPr>
          <p:cNvSpPr/>
          <p:nvPr/>
        </p:nvSpPr>
        <p:spPr>
          <a:xfrm>
            <a:off x="7049850" y="1365419"/>
            <a:ext cx="4755374" cy="599591"/>
          </a:xfrm>
          <a:prstGeom prst="rect">
            <a:avLst/>
          </a:prstGeom>
          <a:solidFill>
            <a:srgbClr val="D8B0B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BG q1-2 hours</a:t>
            </a:r>
          </a:p>
          <a:p>
            <a:r>
              <a:rPr lang="en-US" sz="1600" dirty="0">
                <a:solidFill>
                  <a:schemeClr val="tx1"/>
                </a:solidFill>
              </a:rPr>
              <a:t>Continuous dextrose infusion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9" name="MOF">
            <a:extLst>
              <a:ext uri="{FF2B5EF4-FFF2-40B4-BE49-F238E27FC236}">
                <a16:creationId xmlns:a16="http://schemas.microsoft.com/office/drawing/2014/main" id="{42D0E8FD-B2CC-43DC-94D1-E38D84E80AA3}"/>
              </a:ext>
            </a:extLst>
          </p:cNvPr>
          <p:cNvSpPr/>
          <p:nvPr/>
        </p:nvSpPr>
        <p:spPr>
          <a:xfrm>
            <a:off x="4043923" y="2142429"/>
            <a:ext cx="2696465" cy="45864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Multiorgan Failure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D22E59C-1B02-4163-AA31-6A06BA4CBBC1}"/>
              </a:ext>
            </a:extLst>
          </p:cNvPr>
          <p:cNvSpPr/>
          <p:nvPr/>
        </p:nvSpPr>
        <p:spPr>
          <a:xfrm>
            <a:off x="7049850" y="2066245"/>
            <a:ext cx="4755374" cy="608809"/>
          </a:xfrm>
          <a:prstGeom prst="rect">
            <a:avLst/>
          </a:prstGeom>
          <a:solidFill>
            <a:srgbClr val="E7CFC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ICU monitoring, q4-6 hour labs</a:t>
            </a:r>
          </a:p>
          <a:p>
            <a:r>
              <a:rPr lang="en-US" sz="1600" dirty="0">
                <a:solidFill>
                  <a:schemeClr val="tx1"/>
                </a:solidFill>
              </a:rPr>
              <a:t>Intubation, vasopressors, RRT if needed</a:t>
            </a:r>
          </a:p>
        </p:txBody>
      </p:sp>
      <p:sp>
        <p:nvSpPr>
          <p:cNvPr id="31" name="Coagulopathy">
            <a:extLst>
              <a:ext uri="{FF2B5EF4-FFF2-40B4-BE49-F238E27FC236}">
                <a16:creationId xmlns:a16="http://schemas.microsoft.com/office/drawing/2014/main" id="{C40E1250-9524-4D67-97F4-0D24F186830C}"/>
              </a:ext>
            </a:extLst>
          </p:cNvPr>
          <p:cNvSpPr/>
          <p:nvPr/>
        </p:nvSpPr>
        <p:spPr>
          <a:xfrm>
            <a:off x="4043923" y="2840150"/>
            <a:ext cx="2696465" cy="45864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Coagulopathy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FB7B690-1DAB-47C6-B5CF-7C693FB1CCF3}"/>
              </a:ext>
            </a:extLst>
          </p:cNvPr>
          <p:cNvSpPr/>
          <p:nvPr/>
        </p:nvSpPr>
        <p:spPr>
          <a:xfrm>
            <a:off x="7049850" y="2788819"/>
            <a:ext cx="4755374" cy="566915"/>
          </a:xfrm>
          <a:prstGeom prst="rect">
            <a:avLst/>
          </a:prstGeom>
          <a:solidFill>
            <a:srgbClr val="D8B0B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Reversal only if bleeding</a:t>
            </a:r>
          </a:p>
        </p:txBody>
      </p:sp>
      <p:sp>
        <p:nvSpPr>
          <p:cNvPr id="33" name="Infection">
            <a:extLst>
              <a:ext uri="{FF2B5EF4-FFF2-40B4-BE49-F238E27FC236}">
                <a16:creationId xmlns:a16="http://schemas.microsoft.com/office/drawing/2014/main" id="{D71718CF-8C4A-4FC9-BCDE-96F911273587}"/>
              </a:ext>
            </a:extLst>
          </p:cNvPr>
          <p:cNvSpPr/>
          <p:nvPr/>
        </p:nvSpPr>
        <p:spPr>
          <a:xfrm>
            <a:off x="4043923" y="3537871"/>
            <a:ext cx="2696465" cy="45864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Infection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EC879E3-0FB7-4724-85CC-1F46DFBBCACC}"/>
              </a:ext>
            </a:extLst>
          </p:cNvPr>
          <p:cNvSpPr/>
          <p:nvPr/>
        </p:nvSpPr>
        <p:spPr>
          <a:xfrm>
            <a:off x="7049850" y="3490032"/>
            <a:ext cx="4755374" cy="553434"/>
          </a:xfrm>
          <a:prstGeom prst="rect">
            <a:avLst/>
          </a:prstGeom>
          <a:solidFill>
            <a:srgbClr val="E7CFC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± prophylactic/empiric antibiotics, antivirals </a:t>
            </a:r>
          </a:p>
        </p:txBody>
      </p:sp>
      <p:pic>
        <p:nvPicPr>
          <p:cNvPr id="35" name="Graphic 34" descr="Cursor with solid fill">
            <a:extLst>
              <a:ext uri="{FF2B5EF4-FFF2-40B4-BE49-F238E27FC236}">
                <a16:creationId xmlns:a16="http://schemas.microsoft.com/office/drawing/2014/main" id="{9FF18A0C-3C56-45A3-A95A-DEE9217C66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0394" y="1060835"/>
            <a:ext cx="270672" cy="270672"/>
          </a:xfrm>
          <a:prstGeom prst="rect">
            <a:avLst/>
          </a:prstGeom>
        </p:spPr>
      </p:pic>
      <p:pic>
        <p:nvPicPr>
          <p:cNvPr id="36" name="Graphic 35" descr="Cursor with solid fill">
            <a:extLst>
              <a:ext uri="{FF2B5EF4-FFF2-40B4-BE49-F238E27FC236}">
                <a16:creationId xmlns:a16="http://schemas.microsoft.com/office/drawing/2014/main" id="{29C04C3E-2620-4FD7-990C-BF570D016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0394" y="1783371"/>
            <a:ext cx="270672" cy="270672"/>
          </a:xfrm>
          <a:prstGeom prst="rect">
            <a:avLst/>
          </a:prstGeom>
        </p:spPr>
      </p:pic>
      <p:pic>
        <p:nvPicPr>
          <p:cNvPr id="37" name="Graphic 36" descr="Cursor with solid fill">
            <a:extLst>
              <a:ext uri="{FF2B5EF4-FFF2-40B4-BE49-F238E27FC236}">
                <a16:creationId xmlns:a16="http://schemas.microsoft.com/office/drawing/2014/main" id="{1DDAB86E-3A2F-45D8-AE42-D7E965A593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0394" y="2480153"/>
            <a:ext cx="270672" cy="270672"/>
          </a:xfrm>
          <a:prstGeom prst="rect">
            <a:avLst/>
          </a:prstGeom>
        </p:spPr>
      </p:pic>
      <p:pic>
        <p:nvPicPr>
          <p:cNvPr id="38" name="Graphic 37" descr="Cursor with solid fill">
            <a:extLst>
              <a:ext uri="{FF2B5EF4-FFF2-40B4-BE49-F238E27FC236}">
                <a16:creationId xmlns:a16="http://schemas.microsoft.com/office/drawing/2014/main" id="{8C337A88-E86A-44DD-BDB1-E96FECE10D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0394" y="3156267"/>
            <a:ext cx="270672" cy="270672"/>
          </a:xfrm>
          <a:prstGeom prst="rect">
            <a:avLst/>
          </a:prstGeom>
        </p:spPr>
      </p:pic>
      <p:pic>
        <p:nvPicPr>
          <p:cNvPr id="39" name="Graphic 38" descr="Cursor with solid fill">
            <a:extLst>
              <a:ext uri="{FF2B5EF4-FFF2-40B4-BE49-F238E27FC236}">
                <a16:creationId xmlns:a16="http://schemas.microsoft.com/office/drawing/2014/main" id="{359F8E54-86CD-4254-8B60-613FFB1BE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9826" y="3868072"/>
            <a:ext cx="270672" cy="270672"/>
          </a:xfrm>
          <a:prstGeom prst="rect">
            <a:avLst/>
          </a:prstGeom>
        </p:spPr>
      </p:pic>
      <p:sp>
        <p:nvSpPr>
          <p:cNvPr id="42" name="Obj 1">
            <a:hlinkClick r:id="rId4" action="ppaction://hlinksldjump"/>
            <a:extLst>
              <a:ext uri="{FF2B5EF4-FFF2-40B4-BE49-F238E27FC236}">
                <a16:creationId xmlns:a16="http://schemas.microsoft.com/office/drawing/2014/main" id="{B3FE81BE-A6EB-4BCC-BD15-0DA7B3C865FA}"/>
              </a:ext>
            </a:extLst>
          </p:cNvPr>
          <p:cNvSpPr/>
          <p:nvPr/>
        </p:nvSpPr>
        <p:spPr>
          <a:xfrm>
            <a:off x="156307" y="153787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Definition</a:t>
            </a:r>
          </a:p>
        </p:txBody>
      </p:sp>
      <p:sp>
        <p:nvSpPr>
          <p:cNvPr id="43" name="Obj 2">
            <a:hlinkClick r:id="rId5" action="ppaction://hlinksldjump"/>
            <a:extLst>
              <a:ext uri="{FF2B5EF4-FFF2-40B4-BE49-F238E27FC236}">
                <a16:creationId xmlns:a16="http://schemas.microsoft.com/office/drawing/2014/main" id="{49EBCE3F-3963-4EF1-A124-5C5C29FF63D4}"/>
              </a:ext>
            </a:extLst>
          </p:cNvPr>
          <p:cNvSpPr/>
          <p:nvPr/>
        </p:nvSpPr>
        <p:spPr>
          <a:xfrm>
            <a:off x="167950" y="681861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Etiologies</a:t>
            </a:r>
          </a:p>
        </p:txBody>
      </p:sp>
      <p:pic>
        <p:nvPicPr>
          <p:cNvPr id="44" name="Graphic 43" descr="Cursor with solid fill">
            <a:extLst>
              <a:ext uri="{FF2B5EF4-FFF2-40B4-BE49-F238E27FC236}">
                <a16:creationId xmlns:a16="http://schemas.microsoft.com/office/drawing/2014/main" id="{1CE9FECF-1BD7-41B8-BE78-59C31A5F1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3565" y="400149"/>
            <a:ext cx="301752" cy="301752"/>
          </a:xfrm>
          <a:prstGeom prst="rect">
            <a:avLst/>
          </a:prstGeom>
        </p:spPr>
      </p:pic>
      <p:pic>
        <p:nvPicPr>
          <p:cNvPr id="45" name="Graphic 44" descr="Cursor with solid fill">
            <a:extLst>
              <a:ext uri="{FF2B5EF4-FFF2-40B4-BE49-F238E27FC236}">
                <a16:creationId xmlns:a16="http://schemas.microsoft.com/office/drawing/2014/main" id="{E064D53E-E9BF-41F7-81EB-B9100A739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3565" y="914504"/>
            <a:ext cx="301752" cy="301752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AD5D6BBF-77D3-4415-A0FD-FBA9B3522478}"/>
              </a:ext>
            </a:extLst>
          </p:cNvPr>
          <p:cNvSpPr txBox="1"/>
          <p:nvPr/>
        </p:nvSpPr>
        <p:spPr>
          <a:xfrm>
            <a:off x="3922765" y="175930"/>
            <a:ext cx="5228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MANAGEMENT OF ALF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54C2721-992B-4C99-8699-9ACF51449050}"/>
              </a:ext>
            </a:extLst>
          </p:cNvPr>
          <p:cNvCxnSpPr>
            <a:cxnSpLocks/>
          </p:cNvCxnSpPr>
          <p:nvPr/>
        </p:nvCxnSpPr>
        <p:spPr>
          <a:xfrm>
            <a:off x="6740388" y="966848"/>
            <a:ext cx="309462" cy="362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13C6A0AC-58E3-4638-A268-0261A4E6E420}"/>
              </a:ext>
            </a:extLst>
          </p:cNvPr>
          <p:cNvSpPr/>
          <p:nvPr/>
        </p:nvSpPr>
        <p:spPr>
          <a:xfrm>
            <a:off x="9015083" y="521766"/>
            <a:ext cx="2799472" cy="752699"/>
          </a:xfrm>
          <a:prstGeom prst="rect">
            <a:avLst/>
          </a:prstGeom>
          <a:solidFill>
            <a:srgbClr val="E7CFC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0" dirty="0">
                <a:solidFill>
                  <a:schemeClr val="tx1"/>
                </a:solidFill>
              </a:rPr>
              <a:t>CT head, ICP monitoring</a:t>
            </a:r>
          </a:p>
          <a:p>
            <a:r>
              <a:rPr lang="en-US" sz="1600" dirty="0">
                <a:solidFill>
                  <a:schemeClr val="tx1"/>
                </a:solidFill>
              </a:rPr>
              <a:t>Intubation (airway protection)</a:t>
            </a:r>
          </a:p>
          <a:p>
            <a:r>
              <a:rPr lang="en-US" sz="1600" dirty="0">
                <a:solidFill>
                  <a:schemeClr val="tx1"/>
                </a:solidFill>
              </a:rPr>
              <a:t>↑HOB, </a:t>
            </a:r>
            <a:r>
              <a:rPr lang="en-US" sz="1600" dirty="0" err="1">
                <a:solidFill>
                  <a:schemeClr val="tx1"/>
                </a:solidFill>
              </a:rPr>
              <a:t>Hypertonics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D46B433-42FE-439B-814D-02AEBA225587}"/>
              </a:ext>
            </a:extLst>
          </p:cNvPr>
          <p:cNvCxnSpPr>
            <a:cxnSpLocks/>
          </p:cNvCxnSpPr>
          <p:nvPr/>
        </p:nvCxnSpPr>
        <p:spPr>
          <a:xfrm>
            <a:off x="8671474" y="970477"/>
            <a:ext cx="323057" cy="107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7A37535-30AF-4FAE-93A0-7C63B35B0F4B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 flipV="1">
            <a:off x="6735730" y="1665215"/>
            <a:ext cx="314120" cy="408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8E29992-7F5C-49DE-B0B5-BFE37CD55FFE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 flipV="1">
            <a:off x="6740388" y="2370650"/>
            <a:ext cx="309462" cy="1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4CAD535-8D59-4A42-AACA-FE6E8DBCB865}"/>
              </a:ext>
            </a:extLst>
          </p:cNvPr>
          <p:cNvCxnSpPr>
            <a:cxnSpLocks/>
            <a:stCxn id="31" idx="3"/>
            <a:endCxn id="32" idx="1"/>
          </p:cNvCxnSpPr>
          <p:nvPr/>
        </p:nvCxnSpPr>
        <p:spPr>
          <a:xfrm>
            <a:off x="6740388" y="3069473"/>
            <a:ext cx="309462" cy="280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CA41725-9AB6-44CB-A797-FA6FD866E6CA}"/>
              </a:ext>
            </a:extLst>
          </p:cNvPr>
          <p:cNvCxnSpPr>
            <a:cxnSpLocks/>
            <a:stCxn id="34" idx="1"/>
            <a:endCxn id="33" idx="3"/>
          </p:cNvCxnSpPr>
          <p:nvPr/>
        </p:nvCxnSpPr>
        <p:spPr>
          <a:xfrm flipH="1">
            <a:off x="6740388" y="3766749"/>
            <a:ext cx="309462" cy="4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Prognosticate">
            <a:extLst>
              <a:ext uri="{FF2B5EF4-FFF2-40B4-BE49-F238E27FC236}">
                <a16:creationId xmlns:a16="http://schemas.microsoft.com/office/drawing/2014/main" id="{C2607B3E-7637-425E-BCA0-83FB42719B23}"/>
              </a:ext>
            </a:extLst>
          </p:cNvPr>
          <p:cNvSpPr/>
          <p:nvPr/>
        </p:nvSpPr>
        <p:spPr>
          <a:xfrm>
            <a:off x="1996642" y="5171774"/>
            <a:ext cx="1791499" cy="46166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Prognosticate</a:t>
            </a:r>
          </a:p>
        </p:txBody>
      </p:sp>
      <p:pic>
        <p:nvPicPr>
          <p:cNvPr id="3" name="Arrow 3" descr="Cursor with solid fill">
            <a:extLst>
              <a:ext uri="{FF2B5EF4-FFF2-40B4-BE49-F238E27FC236}">
                <a16:creationId xmlns:a16="http://schemas.microsoft.com/office/drawing/2014/main" id="{D46ABAA3-7D68-45A7-8253-A54B25983C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7169" y="5503903"/>
            <a:ext cx="301752" cy="301752"/>
          </a:xfrm>
          <a:prstGeom prst="rect">
            <a:avLst/>
          </a:prstGeom>
        </p:spPr>
      </p:pic>
      <p:sp>
        <p:nvSpPr>
          <p:cNvPr id="4" name="KCC Text">
            <a:extLst>
              <a:ext uri="{FF2B5EF4-FFF2-40B4-BE49-F238E27FC236}">
                <a16:creationId xmlns:a16="http://schemas.microsoft.com/office/drawing/2014/main" id="{4BD6D736-853A-4995-A08E-310A786D3367}"/>
              </a:ext>
            </a:extLst>
          </p:cNvPr>
          <p:cNvSpPr txBox="1"/>
          <p:nvPr/>
        </p:nvSpPr>
        <p:spPr>
          <a:xfrm>
            <a:off x="3956632" y="4915682"/>
            <a:ext cx="7857923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000" dirty="0"/>
              <a:t>Use King’s College Criteria (±MELD) to identify patients unlikely to recover spontaneously and more likely to benefit from a liver transplant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6B1AE38-C3BF-4DA2-951A-06F3D6E0CDE8}"/>
              </a:ext>
            </a:extLst>
          </p:cNvPr>
          <p:cNvSpPr/>
          <p:nvPr/>
        </p:nvSpPr>
        <p:spPr>
          <a:xfrm>
            <a:off x="1776273" y="580082"/>
            <a:ext cx="355558" cy="36797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6324EC82-D338-4B5E-A50D-D08AFB586395}"/>
              </a:ext>
            </a:extLst>
          </p:cNvPr>
          <p:cNvSpPr/>
          <p:nvPr/>
        </p:nvSpPr>
        <p:spPr>
          <a:xfrm>
            <a:off x="1776273" y="4043466"/>
            <a:ext cx="355558" cy="36797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C93555F5-8DDF-4B85-95A8-CE19FDE66325}"/>
              </a:ext>
            </a:extLst>
          </p:cNvPr>
          <p:cNvSpPr/>
          <p:nvPr/>
        </p:nvSpPr>
        <p:spPr>
          <a:xfrm>
            <a:off x="1776273" y="5067150"/>
            <a:ext cx="355558" cy="36797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74F577C-D35C-4974-B027-407AF473E33A}"/>
              </a:ext>
            </a:extLst>
          </p:cNvPr>
          <p:cNvSpPr/>
          <p:nvPr/>
        </p:nvSpPr>
        <p:spPr>
          <a:xfrm>
            <a:off x="1776273" y="5859802"/>
            <a:ext cx="355558" cy="36797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67" name="Obj 3">
            <a:hlinkClick r:id="rId6" action="ppaction://hlinksldjump"/>
            <a:extLst>
              <a:ext uri="{FF2B5EF4-FFF2-40B4-BE49-F238E27FC236}">
                <a16:creationId xmlns:a16="http://schemas.microsoft.com/office/drawing/2014/main" id="{8A4AAEFC-8034-4BBD-BC78-54A5F0F57E31}"/>
              </a:ext>
            </a:extLst>
          </p:cNvPr>
          <p:cNvSpPr/>
          <p:nvPr/>
        </p:nvSpPr>
        <p:spPr>
          <a:xfrm>
            <a:off x="156307" y="1213511"/>
            <a:ext cx="1474237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Management</a:t>
            </a:r>
          </a:p>
        </p:txBody>
      </p:sp>
      <p:sp>
        <p:nvSpPr>
          <p:cNvPr id="68" name="Cases">
            <a:hlinkClick r:id="rId7" action="ppaction://hlinksldjump"/>
            <a:extLst>
              <a:ext uri="{FF2B5EF4-FFF2-40B4-BE49-F238E27FC236}">
                <a16:creationId xmlns:a16="http://schemas.microsoft.com/office/drawing/2014/main" id="{072B8BA8-A888-4A94-B4D6-72927124CF7C}"/>
              </a:ext>
            </a:extLst>
          </p:cNvPr>
          <p:cNvSpPr/>
          <p:nvPr/>
        </p:nvSpPr>
        <p:spPr>
          <a:xfrm>
            <a:off x="156307" y="1741585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69" name="Graphic 68" descr="Cursor with solid fill">
            <a:extLst>
              <a:ext uri="{FF2B5EF4-FFF2-40B4-BE49-F238E27FC236}">
                <a16:creationId xmlns:a16="http://schemas.microsoft.com/office/drawing/2014/main" id="{D9D0943C-1F54-4332-B964-A07CCB195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3565" y="1977044"/>
            <a:ext cx="301752" cy="301752"/>
          </a:xfrm>
          <a:prstGeom prst="rect">
            <a:avLst/>
          </a:prstGeom>
        </p:spPr>
      </p:pic>
      <p:sp>
        <p:nvSpPr>
          <p:cNvPr id="74" name="Cases">
            <a:hlinkClick r:id="rId8" action="ppaction://hlinksldjump"/>
            <a:extLst>
              <a:ext uri="{FF2B5EF4-FFF2-40B4-BE49-F238E27FC236}">
                <a16:creationId xmlns:a16="http://schemas.microsoft.com/office/drawing/2014/main" id="{8E9E9FF0-5123-48DF-8980-477946B4C771}"/>
              </a:ext>
            </a:extLst>
          </p:cNvPr>
          <p:cNvSpPr/>
          <p:nvPr/>
        </p:nvSpPr>
        <p:spPr>
          <a:xfrm>
            <a:off x="6096000" y="5639239"/>
            <a:ext cx="3221049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Bonus: Learn more about KCC</a:t>
            </a:r>
          </a:p>
        </p:txBody>
      </p:sp>
      <p:pic>
        <p:nvPicPr>
          <p:cNvPr id="75" name="Graphic 74" descr="Cursor with solid fill">
            <a:extLst>
              <a:ext uri="{FF2B5EF4-FFF2-40B4-BE49-F238E27FC236}">
                <a16:creationId xmlns:a16="http://schemas.microsoft.com/office/drawing/2014/main" id="{B8058F2F-7802-4A90-8C33-1582E834C6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96543" y="5871882"/>
            <a:ext cx="270672" cy="27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864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94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  <p:bldLst>
      <p:bldP spid="57" grpId="0" animBg="1"/>
      <p:bldP spid="58" grpId="0" animBg="1"/>
      <p:bldP spid="60" grpId="0" animBg="1"/>
      <p:bldP spid="61" grpId="0" animBg="1"/>
      <p:bldP spid="63" grpId="0" animBg="1"/>
      <p:bldP spid="16" grpId="0" animBg="1"/>
      <p:bldP spid="18" grpId="0" animBg="1"/>
      <p:bldP spid="19" grpId="0" animBg="1"/>
      <p:bldP spid="21" grpId="0"/>
      <p:bldP spid="22" grpId="0"/>
      <p:bldP spid="2" grpId="0" animBg="1"/>
      <p:bldP spid="2" grpId="1" animBg="1"/>
      <p:bldP spid="26" grpId="0" animBg="1"/>
      <p:bldP spid="27" grpId="0" animBg="1"/>
      <p:bldP spid="27" grpId="1" animBg="1"/>
      <p:bldP spid="28" grpId="0" animBg="1"/>
      <p:bldP spid="29" grpId="0" animBg="1"/>
      <p:bldP spid="29" grpId="1" animBg="1"/>
      <p:bldP spid="30" grpId="0" animBg="1"/>
      <p:bldP spid="31" grpId="0" animBg="1"/>
      <p:bldP spid="31" grpId="1" animBg="1"/>
      <p:bldP spid="32" grpId="0" animBg="1"/>
      <p:bldP spid="33" grpId="0" animBg="1"/>
      <p:bldP spid="33" grpId="1" animBg="1"/>
      <p:bldP spid="34" grpId="0" animBg="1"/>
      <p:bldP spid="53" grpId="0" animBg="1"/>
      <p:bldP spid="40" grpId="0" animBg="1"/>
      <p:bldP spid="4" grpId="0"/>
      <p:bldP spid="7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Other prognostic markers">
            <a:extLst>
              <a:ext uri="{FF2B5EF4-FFF2-40B4-BE49-F238E27FC236}">
                <a16:creationId xmlns:a16="http://schemas.microsoft.com/office/drawing/2014/main" id="{8C54EE2A-3BA8-4683-A7CC-43D11265CB6E}"/>
              </a:ext>
            </a:extLst>
          </p:cNvPr>
          <p:cNvSpPr/>
          <p:nvPr/>
        </p:nvSpPr>
        <p:spPr>
          <a:xfrm>
            <a:off x="1632856" y="6090304"/>
            <a:ext cx="3324221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Other markers of poor prognosis</a:t>
            </a:r>
          </a:p>
        </p:txBody>
      </p:sp>
      <p:sp>
        <p:nvSpPr>
          <p:cNvPr id="58" name="Interpret">
            <a:extLst>
              <a:ext uri="{FF2B5EF4-FFF2-40B4-BE49-F238E27FC236}">
                <a16:creationId xmlns:a16="http://schemas.microsoft.com/office/drawing/2014/main" id="{E2F2591B-2414-472B-B108-D9A7E0EF816A}"/>
              </a:ext>
            </a:extLst>
          </p:cNvPr>
          <p:cNvSpPr/>
          <p:nvPr/>
        </p:nvSpPr>
        <p:spPr>
          <a:xfrm>
            <a:off x="2105864" y="2490172"/>
            <a:ext cx="1920240" cy="39318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to interpret?</a:t>
            </a:r>
          </a:p>
        </p:txBody>
      </p:sp>
      <p:sp>
        <p:nvSpPr>
          <p:cNvPr id="59" name="What is KCC?">
            <a:extLst>
              <a:ext uri="{FF2B5EF4-FFF2-40B4-BE49-F238E27FC236}">
                <a16:creationId xmlns:a16="http://schemas.microsoft.com/office/drawing/2014/main" id="{E64FEAB4-80FD-4084-AEC4-3E6DFF39CDE0}"/>
              </a:ext>
            </a:extLst>
          </p:cNvPr>
          <p:cNvSpPr/>
          <p:nvPr/>
        </p:nvSpPr>
        <p:spPr>
          <a:xfrm>
            <a:off x="2105864" y="975928"/>
            <a:ext cx="1920240" cy="39011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is KCC?</a:t>
            </a:r>
          </a:p>
        </p:txBody>
      </p:sp>
      <p:sp>
        <p:nvSpPr>
          <p:cNvPr id="62" name="When to use KCC?">
            <a:extLst>
              <a:ext uri="{FF2B5EF4-FFF2-40B4-BE49-F238E27FC236}">
                <a16:creationId xmlns:a16="http://schemas.microsoft.com/office/drawing/2014/main" id="{6C20D145-4690-467A-9570-17F33B065465}"/>
              </a:ext>
            </a:extLst>
          </p:cNvPr>
          <p:cNvSpPr/>
          <p:nvPr/>
        </p:nvSpPr>
        <p:spPr>
          <a:xfrm>
            <a:off x="2105864" y="1725456"/>
            <a:ext cx="1920240" cy="39318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When to use KCC</a:t>
            </a:r>
          </a:p>
        </p:txBody>
      </p:sp>
      <p:graphicFrame>
        <p:nvGraphicFramePr>
          <p:cNvPr id="4" name="KCC Criteria table">
            <a:extLst>
              <a:ext uri="{FF2B5EF4-FFF2-40B4-BE49-F238E27FC236}">
                <a16:creationId xmlns:a16="http://schemas.microsoft.com/office/drawing/2014/main" id="{9130DEE3-794F-460E-BC5A-867B9B824B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302914"/>
              </p:ext>
            </p:extLst>
          </p:nvPr>
        </p:nvGraphicFramePr>
        <p:xfrm>
          <a:off x="5753377" y="2469662"/>
          <a:ext cx="5749648" cy="2682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82733">
                  <a:extLst>
                    <a:ext uri="{9D8B030D-6E8A-4147-A177-3AD203B41FA5}">
                      <a16:colId xmlns:a16="http://schemas.microsoft.com/office/drawing/2014/main" val="1490779570"/>
                    </a:ext>
                  </a:extLst>
                </a:gridCol>
                <a:gridCol w="3266915">
                  <a:extLst>
                    <a:ext uri="{9D8B030D-6E8A-4147-A177-3AD203B41FA5}">
                      <a16:colId xmlns:a16="http://schemas.microsoft.com/office/drawing/2014/main" val="4161178672"/>
                    </a:ext>
                  </a:extLst>
                </a:gridCol>
              </a:tblGrid>
              <a:tr h="29786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King’s College Criteria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668133"/>
                  </a:ext>
                </a:extLst>
              </a:tr>
              <a:tr h="21519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APAP toxicity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Non-APAP ALF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3426163"/>
                  </a:ext>
                </a:extLst>
              </a:tr>
              <a:tr h="21519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 &lt; 7.3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INR &gt; 6.5  (PT &gt; 100)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778476"/>
                  </a:ext>
                </a:extLst>
              </a:tr>
              <a:tr h="21519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OR  </a:t>
                      </a:r>
                      <a:r>
                        <a:rPr lang="en-US" sz="1600" b="0" dirty="0"/>
                        <a:t>all of the below: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OR</a:t>
                      </a:r>
                      <a:r>
                        <a:rPr lang="en-US" sz="1600" dirty="0"/>
                        <a:t> at least 3 of the following: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491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68275" indent="-168275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INR &gt; 6.5  (PT &gt; 100)</a:t>
                      </a:r>
                    </a:p>
                  </a:txBody>
                  <a:tcPr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68275" indent="-168275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Age &lt; 10 or &gt; 40</a:t>
                      </a:r>
                    </a:p>
                  </a:txBody>
                  <a:tcPr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656004"/>
                  </a:ext>
                </a:extLst>
              </a:tr>
              <a:tr h="29684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Cr &gt; 3.3 mg/dL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68275" marR="0" lvl="0" indent="-1682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HAV, HBV, drug-related ALF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484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230188" algn="l"/>
                        </a:tabLst>
                        <a:defRPr/>
                      </a:pPr>
                      <a:r>
                        <a:rPr lang="en-US" sz="1600" dirty="0"/>
                        <a:t>Grade III or IV HE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68275" marR="0" lvl="0" indent="-1682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Jaundice precedes HE by &gt;7 d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531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68275" marR="0" lvl="0" indent="-1682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INR &gt; 3.5 (PT &gt; 50)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105197"/>
                  </a:ext>
                </a:extLst>
              </a:tr>
              <a:tr h="156508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sz="16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68275" marR="0" lvl="0" indent="-1682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 err="1"/>
                        <a:t>Tbili</a:t>
                      </a:r>
                      <a:r>
                        <a:rPr lang="en-US" sz="1600" dirty="0"/>
                        <a:t> &gt; 18 mg/dL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884420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A51B8D6-6EC6-45C2-A75E-33CE9819BA66}"/>
              </a:ext>
            </a:extLst>
          </p:cNvPr>
          <p:cNvSpPr txBox="1"/>
          <p:nvPr/>
        </p:nvSpPr>
        <p:spPr>
          <a:xfrm>
            <a:off x="2808739" y="211928"/>
            <a:ext cx="7466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PROGNOSTICATION IN ALF (KING’S COLLEGE CRITERIA)</a:t>
            </a:r>
          </a:p>
        </p:txBody>
      </p:sp>
      <p:sp>
        <p:nvSpPr>
          <p:cNvPr id="34" name="Other prognostic markers">
            <a:extLst>
              <a:ext uri="{FF2B5EF4-FFF2-40B4-BE49-F238E27FC236}">
                <a16:creationId xmlns:a16="http://schemas.microsoft.com/office/drawing/2014/main" id="{8B3BE265-CEAB-4D0C-96B9-B24FA4F07649}"/>
              </a:ext>
            </a:extLst>
          </p:cNvPr>
          <p:cNvSpPr/>
          <p:nvPr/>
        </p:nvSpPr>
        <p:spPr>
          <a:xfrm>
            <a:off x="1630544" y="6089872"/>
            <a:ext cx="3324221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Other markers of poor prognosis</a:t>
            </a:r>
          </a:p>
        </p:txBody>
      </p:sp>
      <p:pic>
        <p:nvPicPr>
          <p:cNvPr id="35" name="Graphic 34" descr="Cursor with solid fill">
            <a:extLst>
              <a:ext uri="{FF2B5EF4-FFF2-40B4-BE49-F238E27FC236}">
                <a16:creationId xmlns:a16="http://schemas.microsoft.com/office/drawing/2014/main" id="{8D4292A5-AE88-4B24-B222-D0A88485E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19429" y="6342266"/>
            <a:ext cx="270672" cy="270672"/>
          </a:xfrm>
          <a:prstGeom prst="rect">
            <a:avLst/>
          </a:prstGeom>
        </p:spPr>
      </p:pic>
      <p:sp>
        <p:nvSpPr>
          <p:cNvPr id="45" name="Prognostic markers">
            <a:extLst>
              <a:ext uri="{FF2B5EF4-FFF2-40B4-BE49-F238E27FC236}">
                <a16:creationId xmlns:a16="http://schemas.microsoft.com/office/drawing/2014/main" id="{3AB99B06-2FCF-4BD7-9FC8-78A8D535345F}"/>
              </a:ext>
            </a:extLst>
          </p:cNvPr>
          <p:cNvSpPr txBox="1"/>
          <p:nvPr/>
        </p:nvSpPr>
        <p:spPr>
          <a:xfrm>
            <a:off x="5539324" y="5801230"/>
            <a:ext cx="61777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á"/>
            </a:pPr>
            <a:r>
              <a:rPr lang="en-US" dirty="0"/>
              <a:t>MELD</a:t>
            </a:r>
          </a:p>
          <a:p>
            <a:pPr marL="285750" indent="-285750">
              <a:buFont typeface="Wingdings" panose="05000000000000000000" pitchFamily="2" charset="2"/>
              <a:buChar char="á"/>
            </a:pPr>
            <a:r>
              <a:rPr lang="en-US" dirty="0"/>
              <a:t>end organ damage </a:t>
            </a:r>
            <a:r>
              <a:rPr lang="en-US" sz="1600" dirty="0"/>
              <a:t>(</a:t>
            </a:r>
            <a:r>
              <a:rPr lang="en-US" sz="1600" dirty="0">
                <a:sym typeface="Wingdings" panose="05000000000000000000" pitchFamily="2" charset="2"/>
              </a:rPr>
              <a:t> lactate, phosphate, Cr, </a:t>
            </a:r>
            <a:r>
              <a:rPr lang="en-US" sz="1600" dirty="0" err="1">
                <a:sym typeface="Wingdings" panose="05000000000000000000" pitchFamily="2" charset="2"/>
              </a:rPr>
              <a:t>Tbili</a:t>
            </a:r>
            <a:r>
              <a:rPr lang="en-US" sz="1600" dirty="0">
                <a:sym typeface="Wingdings" panose="05000000000000000000" pitchFamily="2" charset="2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â"/>
            </a:pPr>
            <a:r>
              <a:rPr lang="en-US" dirty="0"/>
              <a:t>synthetic dysfunction </a:t>
            </a:r>
            <a:r>
              <a:rPr lang="en-US" sz="1600" dirty="0"/>
              <a:t>(INR is most important prognostic marker!)</a:t>
            </a:r>
          </a:p>
        </p:txBody>
      </p:sp>
      <p:sp>
        <p:nvSpPr>
          <p:cNvPr id="46" name="Interpret">
            <a:extLst>
              <a:ext uri="{FF2B5EF4-FFF2-40B4-BE49-F238E27FC236}">
                <a16:creationId xmlns:a16="http://schemas.microsoft.com/office/drawing/2014/main" id="{E350EC8C-CBEE-4EB0-8610-E6C1E776F34E}"/>
              </a:ext>
            </a:extLst>
          </p:cNvPr>
          <p:cNvSpPr/>
          <p:nvPr/>
        </p:nvSpPr>
        <p:spPr>
          <a:xfrm>
            <a:off x="2111959" y="2486500"/>
            <a:ext cx="1920240" cy="39318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to interpret?</a:t>
            </a:r>
          </a:p>
        </p:txBody>
      </p:sp>
      <p:pic>
        <p:nvPicPr>
          <p:cNvPr id="47" name="Graphic 46" descr="Cursor with solid fill">
            <a:extLst>
              <a:ext uri="{FF2B5EF4-FFF2-40B4-BE49-F238E27FC236}">
                <a16:creationId xmlns:a16="http://schemas.microsoft.com/office/drawing/2014/main" id="{2B5E4A88-78D8-4392-A76B-6DAD775AE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1361" y="2763453"/>
            <a:ext cx="301752" cy="301752"/>
          </a:xfrm>
          <a:prstGeom prst="rect">
            <a:avLst/>
          </a:prstGeom>
        </p:spPr>
      </p:pic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A91AAF59-D097-4113-8EA3-DF665BC341A9}"/>
              </a:ext>
            </a:extLst>
          </p:cNvPr>
          <p:cNvCxnSpPr>
            <a:cxnSpLocks/>
            <a:stCxn id="49" idx="2"/>
            <a:endCxn id="50" idx="0"/>
          </p:cNvCxnSpPr>
          <p:nvPr/>
        </p:nvCxnSpPr>
        <p:spPr>
          <a:xfrm rot="5400000">
            <a:off x="1962879" y="3467322"/>
            <a:ext cx="1085574" cy="11305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CABEF1C4-B71B-4573-9761-103E377612B2}"/>
              </a:ext>
            </a:extLst>
          </p:cNvPr>
          <p:cNvSpPr txBox="1"/>
          <p:nvPr/>
        </p:nvSpPr>
        <p:spPr>
          <a:xfrm>
            <a:off x="2245977" y="3120469"/>
            <a:ext cx="164991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Meet criteria?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A3ADAC5-1849-449A-9E39-DD02A4BD8D8D}"/>
              </a:ext>
            </a:extLst>
          </p:cNvPr>
          <p:cNvSpPr txBox="1"/>
          <p:nvPr/>
        </p:nvSpPr>
        <p:spPr>
          <a:xfrm>
            <a:off x="866927" y="4575375"/>
            <a:ext cx="21469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Spontaneous recovery more likely, continue supportive treatment</a:t>
            </a: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D58FE175-D846-439C-93A8-9365C12DB544}"/>
              </a:ext>
            </a:extLst>
          </p:cNvPr>
          <p:cNvCxnSpPr>
            <a:cxnSpLocks/>
          </p:cNvCxnSpPr>
          <p:nvPr/>
        </p:nvCxnSpPr>
        <p:spPr>
          <a:xfrm rot="16200000" flipH="1">
            <a:off x="3194824" y="3418367"/>
            <a:ext cx="1126325" cy="1259986"/>
          </a:xfrm>
          <a:prstGeom prst="bentConnector3">
            <a:avLst>
              <a:gd name="adj1" fmla="val 4859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93ABB04-88E1-4B08-82F6-FE0039FA7E02}"/>
              </a:ext>
            </a:extLst>
          </p:cNvPr>
          <p:cNvCxnSpPr>
            <a:cxnSpLocks/>
            <a:stCxn id="46" idx="2"/>
            <a:endCxn id="49" idx="0"/>
          </p:cNvCxnSpPr>
          <p:nvPr/>
        </p:nvCxnSpPr>
        <p:spPr>
          <a:xfrm flipH="1">
            <a:off x="3070932" y="2879683"/>
            <a:ext cx="1147" cy="2407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KCC Text">
            <a:extLst>
              <a:ext uri="{FF2B5EF4-FFF2-40B4-BE49-F238E27FC236}">
                <a16:creationId xmlns:a16="http://schemas.microsoft.com/office/drawing/2014/main" id="{D2C5ECD6-28D6-4196-B674-7741955CD580}"/>
              </a:ext>
            </a:extLst>
          </p:cNvPr>
          <p:cNvSpPr txBox="1"/>
          <p:nvPr/>
        </p:nvSpPr>
        <p:spPr>
          <a:xfrm>
            <a:off x="2236837" y="3858462"/>
            <a:ext cx="57190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No </a:t>
            </a:r>
          </a:p>
        </p:txBody>
      </p:sp>
      <p:sp>
        <p:nvSpPr>
          <p:cNvPr id="54" name="KCC Text">
            <a:extLst>
              <a:ext uri="{FF2B5EF4-FFF2-40B4-BE49-F238E27FC236}">
                <a16:creationId xmlns:a16="http://schemas.microsoft.com/office/drawing/2014/main" id="{D12A73FF-482B-4130-88C2-E1564E1C9573}"/>
              </a:ext>
            </a:extLst>
          </p:cNvPr>
          <p:cNvSpPr txBox="1"/>
          <p:nvPr/>
        </p:nvSpPr>
        <p:spPr>
          <a:xfrm>
            <a:off x="3417165" y="3847922"/>
            <a:ext cx="57190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Yes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FF2D674-B3E3-410B-A1D1-3AEBA13E02A7}"/>
              </a:ext>
            </a:extLst>
          </p:cNvPr>
          <p:cNvSpPr txBox="1"/>
          <p:nvPr/>
        </p:nvSpPr>
        <p:spPr>
          <a:xfrm>
            <a:off x="3236633" y="4616126"/>
            <a:ext cx="23026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Consider early transfer to LT center and/or liver transplant</a:t>
            </a:r>
          </a:p>
        </p:txBody>
      </p:sp>
      <p:sp>
        <p:nvSpPr>
          <p:cNvPr id="56" name="What is KCC?">
            <a:extLst>
              <a:ext uri="{FF2B5EF4-FFF2-40B4-BE49-F238E27FC236}">
                <a16:creationId xmlns:a16="http://schemas.microsoft.com/office/drawing/2014/main" id="{595C1D6C-C906-491B-9989-470A43BB0DAD}"/>
              </a:ext>
            </a:extLst>
          </p:cNvPr>
          <p:cNvSpPr/>
          <p:nvPr/>
        </p:nvSpPr>
        <p:spPr>
          <a:xfrm>
            <a:off x="2111959" y="972256"/>
            <a:ext cx="1920240" cy="39011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is KCC?</a:t>
            </a:r>
          </a:p>
        </p:txBody>
      </p:sp>
      <p:sp>
        <p:nvSpPr>
          <p:cNvPr id="57" name="When to use KCC?">
            <a:extLst>
              <a:ext uri="{FF2B5EF4-FFF2-40B4-BE49-F238E27FC236}">
                <a16:creationId xmlns:a16="http://schemas.microsoft.com/office/drawing/2014/main" id="{23C80CD7-2E79-48C9-AE3A-2E28060AE27C}"/>
              </a:ext>
            </a:extLst>
          </p:cNvPr>
          <p:cNvSpPr/>
          <p:nvPr/>
        </p:nvSpPr>
        <p:spPr>
          <a:xfrm>
            <a:off x="2111959" y="1721784"/>
            <a:ext cx="1920240" cy="39318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When to use KCC</a:t>
            </a:r>
          </a:p>
        </p:txBody>
      </p:sp>
      <p:sp>
        <p:nvSpPr>
          <p:cNvPr id="60" name="What answer">
            <a:extLst>
              <a:ext uri="{FF2B5EF4-FFF2-40B4-BE49-F238E27FC236}">
                <a16:creationId xmlns:a16="http://schemas.microsoft.com/office/drawing/2014/main" id="{F2185E8F-3F08-4906-A1AA-B081A768E72E}"/>
              </a:ext>
            </a:extLst>
          </p:cNvPr>
          <p:cNvSpPr txBox="1"/>
          <p:nvPr/>
        </p:nvSpPr>
        <p:spPr>
          <a:xfrm>
            <a:off x="4183113" y="912509"/>
            <a:ext cx="7840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Criteria developed to identify patients with ALF who are unlikely to recover spontaneously</a:t>
            </a:r>
          </a:p>
        </p:txBody>
      </p:sp>
      <p:pic>
        <p:nvPicPr>
          <p:cNvPr id="29" name="Graphic 28" descr="Cursor with solid fill">
            <a:extLst>
              <a:ext uri="{FF2B5EF4-FFF2-40B4-BE49-F238E27FC236}">
                <a16:creationId xmlns:a16="http://schemas.microsoft.com/office/drawing/2014/main" id="{02FE71A8-9B02-483C-95EF-1DFC787AF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1361" y="1238667"/>
            <a:ext cx="301752" cy="301752"/>
          </a:xfrm>
          <a:prstGeom prst="rect">
            <a:avLst/>
          </a:prstGeom>
        </p:spPr>
      </p:pic>
      <p:pic>
        <p:nvPicPr>
          <p:cNvPr id="37" name="Graphic 36" descr="Cursor with solid fill">
            <a:extLst>
              <a:ext uri="{FF2B5EF4-FFF2-40B4-BE49-F238E27FC236}">
                <a16:creationId xmlns:a16="http://schemas.microsoft.com/office/drawing/2014/main" id="{DA50F7E4-6D04-4705-B45E-3A3FC83D75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1361" y="1988962"/>
            <a:ext cx="301752" cy="301752"/>
          </a:xfrm>
          <a:prstGeom prst="rect">
            <a:avLst/>
          </a:prstGeom>
        </p:spPr>
      </p:pic>
      <p:sp>
        <p:nvSpPr>
          <p:cNvPr id="61" name="When answer">
            <a:extLst>
              <a:ext uri="{FF2B5EF4-FFF2-40B4-BE49-F238E27FC236}">
                <a16:creationId xmlns:a16="http://schemas.microsoft.com/office/drawing/2014/main" id="{22B0BA6A-67E1-4A5B-9B07-6F839FACFD0B}"/>
              </a:ext>
            </a:extLst>
          </p:cNvPr>
          <p:cNvSpPr txBox="1"/>
          <p:nvPr/>
        </p:nvSpPr>
        <p:spPr>
          <a:xfrm>
            <a:off x="4387978" y="1741204"/>
            <a:ext cx="7466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APAP or non-APAP ALF to determine likelihood of requiring liver transplant.</a:t>
            </a:r>
          </a:p>
        </p:txBody>
      </p:sp>
      <p:sp>
        <p:nvSpPr>
          <p:cNvPr id="36" name="Obj 1">
            <a:hlinkClick r:id="rId4" action="ppaction://hlinksldjump"/>
            <a:extLst>
              <a:ext uri="{FF2B5EF4-FFF2-40B4-BE49-F238E27FC236}">
                <a16:creationId xmlns:a16="http://schemas.microsoft.com/office/drawing/2014/main" id="{4698FDC9-952C-4882-A198-B218EAD7EBF1}"/>
              </a:ext>
            </a:extLst>
          </p:cNvPr>
          <p:cNvSpPr/>
          <p:nvPr/>
        </p:nvSpPr>
        <p:spPr>
          <a:xfrm>
            <a:off x="156307" y="153787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Definition</a:t>
            </a:r>
          </a:p>
        </p:txBody>
      </p:sp>
      <p:sp>
        <p:nvSpPr>
          <p:cNvPr id="38" name="Obj 2">
            <a:hlinkClick r:id="rId5" action="ppaction://hlinksldjump"/>
            <a:extLst>
              <a:ext uri="{FF2B5EF4-FFF2-40B4-BE49-F238E27FC236}">
                <a16:creationId xmlns:a16="http://schemas.microsoft.com/office/drawing/2014/main" id="{54A71EFF-7FDE-4C2A-9674-B0822C374839}"/>
              </a:ext>
            </a:extLst>
          </p:cNvPr>
          <p:cNvSpPr/>
          <p:nvPr/>
        </p:nvSpPr>
        <p:spPr>
          <a:xfrm>
            <a:off x="167950" y="681861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Etiologies</a:t>
            </a:r>
          </a:p>
        </p:txBody>
      </p:sp>
      <p:pic>
        <p:nvPicPr>
          <p:cNvPr id="39" name="Graphic 38" descr="Cursor with solid fill">
            <a:extLst>
              <a:ext uri="{FF2B5EF4-FFF2-40B4-BE49-F238E27FC236}">
                <a16:creationId xmlns:a16="http://schemas.microsoft.com/office/drawing/2014/main" id="{223CFA34-C596-4CE8-BA54-C3B455417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3565" y="400149"/>
            <a:ext cx="301752" cy="301752"/>
          </a:xfrm>
          <a:prstGeom prst="rect">
            <a:avLst/>
          </a:prstGeom>
        </p:spPr>
      </p:pic>
      <p:pic>
        <p:nvPicPr>
          <p:cNvPr id="40" name="Graphic 39" descr="Cursor with solid fill">
            <a:extLst>
              <a:ext uri="{FF2B5EF4-FFF2-40B4-BE49-F238E27FC236}">
                <a16:creationId xmlns:a16="http://schemas.microsoft.com/office/drawing/2014/main" id="{62F0AD46-8EAC-4DDA-B94F-30EB602CE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3565" y="914504"/>
            <a:ext cx="301752" cy="301752"/>
          </a:xfrm>
          <a:prstGeom prst="rect">
            <a:avLst/>
          </a:prstGeom>
        </p:spPr>
      </p:pic>
      <p:sp>
        <p:nvSpPr>
          <p:cNvPr id="41" name="Obj 3">
            <a:hlinkClick r:id="rId6" action="ppaction://hlinksldjump"/>
            <a:extLst>
              <a:ext uri="{FF2B5EF4-FFF2-40B4-BE49-F238E27FC236}">
                <a16:creationId xmlns:a16="http://schemas.microsoft.com/office/drawing/2014/main" id="{73D6A05C-EED9-4A3C-83EF-EA4F4D066888}"/>
              </a:ext>
            </a:extLst>
          </p:cNvPr>
          <p:cNvSpPr/>
          <p:nvPr/>
        </p:nvSpPr>
        <p:spPr>
          <a:xfrm>
            <a:off x="156307" y="1213511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pic>
        <p:nvPicPr>
          <p:cNvPr id="42" name="Graphic 41" descr="Cursor with solid fill">
            <a:extLst>
              <a:ext uri="{FF2B5EF4-FFF2-40B4-BE49-F238E27FC236}">
                <a16:creationId xmlns:a16="http://schemas.microsoft.com/office/drawing/2014/main" id="{5B51371F-61E6-47A8-85DB-A394751AC9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3565" y="1446154"/>
            <a:ext cx="301752" cy="301752"/>
          </a:xfrm>
          <a:prstGeom prst="rect">
            <a:avLst/>
          </a:prstGeom>
        </p:spPr>
      </p:pic>
      <p:sp>
        <p:nvSpPr>
          <p:cNvPr id="43" name="Cases">
            <a:hlinkClick r:id="rId7" action="ppaction://hlinksldjump"/>
            <a:extLst>
              <a:ext uri="{FF2B5EF4-FFF2-40B4-BE49-F238E27FC236}">
                <a16:creationId xmlns:a16="http://schemas.microsoft.com/office/drawing/2014/main" id="{8D455D94-69B3-42B8-BDE0-9AAE23DF06EE}"/>
              </a:ext>
            </a:extLst>
          </p:cNvPr>
          <p:cNvSpPr/>
          <p:nvPr/>
        </p:nvSpPr>
        <p:spPr>
          <a:xfrm>
            <a:off x="156307" y="176547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44" name="Graphic 43" descr="Cursor with solid fill">
            <a:extLst>
              <a:ext uri="{FF2B5EF4-FFF2-40B4-BE49-F238E27FC236}">
                <a16:creationId xmlns:a16="http://schemas.microsoft.com/office/drawing/2014/main" id="{10117309-E770-43B7-A4B8-341C51D6F2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3565" y="2001883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4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</p:childTnLst>
        </p:cTn>
      </p:par>
    </p:tnLst>
    <p:bldLst>
      <p:bldP spid="34" grpId="0" animBg="1"/>
      <p:bldP spid="45" grpId="0"/>
      <p:bldP spid="46" grpId="0" animBg="1"/>
      <p:bldP spid="49" grpId="0" animBg="1"/>
      <p:bldP spid="50" grpId="0"/>
      <p:bldP spid="53" grpId="0" animBg="1"/>
      <p:bldP spid="54" grpId="0" animBg="1"/>
      <p:bldP spid="55" grpId="0"/>
      <p:bldP spid="56" grpId="0" animBg="1"/>
      <p:bldP spid="57" grpId="0" animBg="1"/>
      <p:bldP spid="60" grpId="0"/>
      <p:bldP spid="6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Q3A Answer">
            <a:extLst>
              <a:ext uri="{FF2B5EF4-FFF2-40B4-BE49-F238E27FC236}">
                <a16:creationId xmlns:a16="http://schemas.microsoft.com/office/drawing/2014/main" id="{AD5D39BB-9F39-43AC-9313-2C2682B234E7}"/>
              </a:ext>
            </a:extLst>
          </p:cNvPr>
          <p:cNvSpPr/>
          <p:nvPr/>
        </p:nvSpPr>
        <p:spPr>
          <a:xfrm>
            <a:off x="6654104" y="5342721"/>
            <a:ext cx="2588834" cy="338554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1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A) Administer NAC</a:t>
            </a:r>
          </a:p>
        </p:txBody>
      </p:sp>
      <p:sp>
        <p:nvSpPr>
          <p:cNvPr id="110" name="Q3A Response">
            <a:extLst>
              <a:ext uri="{FF2B5EF4-FFF2-40B4-BE49-F238E27FC236}">
                <a16:creationId xmlns:a16="http://schemas.microsoft.com/office/drawing/2014/main" id="{63525780-B1AD-41BA-BE18-EDF3E34DFDDC}"/>
              </a:ext>
            </a:extLst>
          </p:cNvPr>
          <p:cNvSpPr/>
          <p:nvPr/>
        </p:nvSpPr>
        <p:spPr>
          <a:xfrm>
            <a:off x="6654104" y="5346535"/>
            <a:ext cx="2588834" cy="338554"/>
          </a:xfrm>
          <a:prstGeom prst="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550" dirty="0">
                <a:solidFill>
                  <a:srgbClr val="00B050"/>
                </a:solidFill>
              </a:rPr>
              <a:t>NAC improves LT-free survival</a:t>
            </a:r>
          </a:p>
        </p:txBody>
      </p:sp>
      <p:sp>
        <p:nvSpPr>
          <p:cNvPr id="119" name="Q3D Answer">
            <a:extLst>
              <a:ext uri="{FF2B5EF4-FFF2-40B4-BE49-F238E27FC236}">
                <a16:creationId xmlns:a16="http://schemas.microsoft.com/office/drawing/2014/main" id="{E7F76D55-7CBD-4732-9429-ABDC390F88D1}"/>
              </a:ext>
            </a:extLst>
          </p:cNvPr>
          <p:cNvSpPr/>
          <p:nvPr/>
        </p:nvSpPr>
        <p:spPr>
          <a:xfrm>
            <a:off x="9450090" y="5840532"/>
            <a:ext cx="2588834" cy="338554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1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D) Obtain echocardiogram</a:t>
            </a:r>
          </a:p>
        </p:txBody>
      </p:sp>
      <p:sp>
        <p:nvSpPr>
          <p:cNvPr id="115" name="Q3C Answer">
            <a:extLst>
              <a:ext uri="{FF2B5EF4-FFF2-40B4-BE49-F238E27FC236}">
                <a16:creationId xmlns:a16="http://schemas.microsoft.com/office/drawing/2014/main" id="{75DC8A6F-D1C5-4E4D-8C80-521115C2E21F}"/>
              </a:ext>
            </a:extLst>
          </p:cNvPr>
          <p:cNvSpPr/>
          <p:nvPr/>
        </p:nvSpPr>
        <p:spPr>
          <a:xfrm>
            <a:off x="6655408" y="5840532"/>
            <a:ext cx="2588834" cy="338554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1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C) Heparin infusion</a:t>
            </a:r>
          </a:p>
        </p:txBody>
      </p:sp>
      <p:sp>
        <p:nvSpPr>
          <p:cNvPr id="94" name="Q3B Answer">
            <a:extLst>
              <a:ext uri="{FF2B5EF4-FFF2-40B4-BE49-F238E27FC236}">
                <a16:creationId xmlns:a16="http://schemas.microsoft.com/office/drawing/2014/main" id="{A3D5A202-1785-47F7-B266-3C64D17CF9E7}"/>
              </a:ext>
            </a:extLst>
          </p:cNvPr>
          <p:cNvSpPr/>
          <p:nvPr/>
        </p:nvSpPr>
        <p:spPr>
          <a:xfrm>
            <a:off x="9446297" y="5342721"/>
            <a:ext cx="2590489" cy="338554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1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B) Liver US with doppler</a:t>
            </a:r>
          </a:p>
        </p:txBody>
      </p:sp>
      <p:sp>
        <p:nvSpPr>
          <p:cNvPr id="84" name="Q5D">
            <a:extLst>
              <a:ext uri="{FF2B5EF4-FFF2-40B4-BE49-F238E27FC236}">
                <a16:creationId xmlns:a16="http://schemas.microsoft.com/office/drawing/2014/main" id="{EE4C8EA7-9C4D-4E30-BECC-B0158A1C07DA}"/>
              </a:ext>
            </a:extLst>
          </p:cNvPr>
          <p:cNvSpPr/>
          <p:nvPr/>
        </p:nvSpPr>
        <p:spPr>
          <a:xfrm>
            <a:off x="9457955" y="3775176"/>
            <a:ext cx="2445634" cy="339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1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D) Ethanol level </a:t>
            </a:r>
          </a:p>
        </p:txBody>
      </p:sp>
      <p:sp>
        <p:nvSpPr>
          <p:cNvPr id="10" name="Obj 1">
            <a:hlinkClick r:id="rId2" action="ppaction://hlinksldjump"/>
            <a:extLst>
              <a:ext uri="{FF2B5EF4-FFF2-40B4-BE49-F238E27FC236}">
                <a16:creationId xmlns:a16="http://schemas.microsoft.com/office/drawing/2014/main" id="{F4937110-C810-4394-AE36-68613C454B5F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Definition</a:t>
            </a:r>
          </a:p>
        </p:txBody>
      </p:sp>
      <p:sp>
        <p:nvSpPr>
          <p:cNvPr id="11" name="Obj 2">
            <a:hlinkClick r:id="rId3" action="ppaction://hlinksldjump"/>
            <a:extLst>
              <a:ext uri="{FF2B5EF4-FFF2-40B4-BE49-F238E27FC236}">
                <a16:creationId xmlns:a16="http://schemas.microsoft.com/office/drawing/2014/main" id="{8C90D514-00F5-4D1C-B7B5-5A6968DD0211}"/>
              </a:ext>
            </a:extLst>
          </p:cNvPr>
          <p:cNvSpPr/>
          <p:nvPr/>
        </p:nvSpPr>
        <p:spPr>
          <a:xfrm>
            <a:off x="167950" y="67445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Etiologies</a:t>
            </a:r>
          </a:p>
        </p:txBody>
      </p:sp>
      <p:pic>
        <p:nvPicPr>
          <p:cNvPr id="12" name="Graphic 11" descr="Cursor with solid fill">
            <a:extLst>
              <a:ext uri="{FF2B5EF4-FFF2-40B4-BE49-F238E27FC236}">
                <a16:creationId xmlns:a16="http://schemas.microsoft.com/office/drawing/2014/main" id="{D56ABAA9-56B8-4347-93E5-0652E05C5E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1834" y="381235"/>
            <a:ext cx="270672" cy="270672"/>
          </a:xfrm>
          <a:prstGeom prst="rect">
            <a:avLst/>
          </a:prstGeom>
        </p:spPr>
      </p:pic>
      <p:pic>
        <p:nvPicPr>
          <p:cNvPr id="13" name="Graphic 12" descr="Cursor with solid fill">
            <a:extLst>
              <a:ext uri="{FF2B5EF4-FFF2-40B4-BE49-F238E27FC236}">
                <a16:creationId xmlns:a16="http://schemas.microsoft.com/office/drawing/2014/main" id="{33722F5E-0706-4D26-AE90-299D710218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1834" y="907100"/>
            <a:ext cx="270672" cy="270672"/>
          </a:xfrm>
          <a:prstGeom prst="rect">
            <a:avLst/>
          </a:prstGeom>
        </p:spPr>
      </p:pic>
      <p:sp>
        <p:nvSpPr>
          <p:cNvPr id="14" name="Obj 3">
            <a:hlinkClick r:id="rId6" action="ppaction://hlinksldjump"/>
            <a:extLst>
              <a:ext uri="{FF2B5EF4-FFF2-40B4-BE49-F238E27FC236}">
                <a16:creationId xmlns:a16="http://schemas.microsoft.com/office/drawing/2014/main" id="{493DFF77-839A-49DA-9C42-EDA5187F97CB}"/>
              </a:ext>
            </a:extLst>
          </p:cNvPr>
          <p:cNvSpPr/>
          <p:nvPr/>
        </p:nvSpPr>
        <p:spPr>
          <a:xfrm>
            <a:off x="167950" y="120031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pic>
        <p:nvPicPr>
          <p:cNvPr id="15" name="Graphic 14" descr="Cursor with solid fill">
            <a:extLst>
              <a:ext uri="{FF2B5EF4-FFF2-40B4-BE49-F238E27FC236}">
                <a16:creationId xmlns:a16="http://schemas.microsoft.com/office/drawing/2014/main" id="{A1F0A433-75DC-4594-A2CD-AACC4023DC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1834" y="1432965"/>
            <a:ext cx="270672" cy="270672"/>
          </a:xfrm>
          <a:prstGeom prst="rect">
            <a:avLst/>
          </a:prstGeom>
        </p:spPr>
      </p:pic>
      <p:sp>
        <p:nvSpPr>
          <p:cNvPr id="16" name="Cases">
            <a:hlinkClick r:id="" action="ppaction://noaction"/>
            <a:extLst>
              <a:ext uri="{FF2B5EF4-FFF2-40B4-BE49-F238E27FC236}">
                <a16:creationId xmlns:a16="http://schemas.microsoft.com/office/drawing/2014/main" id="{28173898-C489-4914-B96C-559A0CCBF77B}"/>
              </a:ext>
            </a:extLst>
          </p:cNvPr>
          <p:cNvSpPr/>
          <p:nvPr/>
        </p:nvSpPr>
        <p:spPr>
          <a:xfrm>
            <a:off x="167950" y="1726184"/>
            <a:ext cx="1474237" cy="367979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Cases</a:t>
            </a:r>
          </a:p>
        </p:txBody>
      </p:sp>
      <p:sp>
        <p:nvSpPr>
          <p:cNvPr id="6" name="Case 1 stem">
            <a:extLst>
              <a:ext uri="{FF2B5EF4-FFF2-40B4-BE49-F238E27FC236}">
                <a16:creationId xmlns:a16="http://schemas.microsoft.com/office/drawing/2014/main" id="{EE5CF056-B12F-4BAB-8EAA-A4A1F99EBB4D}"/>
              </a:ext>
            </a:extLst>
          </p:cNvPr>
          <p:cNvSpPr txBox="1"/>
          <p:nvPr/>
        </p:nvSpPr>
        <p:spPr>
          <a:xfrm>
            <a:off x="1841300" y="805603"/>
            <a:ext cx="4461108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29-year-old with recurrent pancreatitis presents with progressive abdominal pain x 4 d. They take 1000 mg of APAP q4h for pain. Over the past 24h, they developed nausea, vomiting, anorexia, and RUQ pain. Denies fevers, chills, or ill contacts.</a:t>
            </a:r>
            <a:r>
              <a:rPr lang="en-US" sz="1600" u="sng" dirty="0"/>
              <a:t> </a:t>
            </a:r>
          </a:p>
          <a:p>
            <a:endParaRPr lang="en-US" sz="600" u="sng" dirty="0"/>
          </a:p>
          <a:p>
            <a:r>
              <a:rPr lang="en-US" sz="1600" u="sng" dirty="0"/>
              <a:t>Exam</a:t>
            </a:r>
            <a:r>
              <a:rPr lang="en-US" sz="1600" dirty="0"/>
              <a:t>: Vital signs stable. </a:t>
            </a:r>
          </a:p>
          <a:p>
            <a:pPr marL="114300"/>
            <a:r>
              <a:rPr lang="en-US" sz="1600" dirty="0"/>
              <a:t>Alert and oriented x 4. No asterixis. </a:t>
            </a:r>
          </a:p>
          <a:p>
            <a:pPr marL="114300"/>
            <a:r>
              <a:rPr lang="en-US" sz="1600" dirty="0"/>
              <a:t>Epigastric and RUQ tenderness to palpation, but otherwise is unremarkable. </a:t>
            </a:r>
          </a:p>
          <a:p>
            <a:r>
              <a:rPr lang="en-US" sz="1600" u="sng" dirty="0"/>
              <a:t>Labs</a:t>
            </a:r>
            <a:r>
              <a:rPr lang="en-US" sz="1600" dirty="0"/>
              <a:t>: AST 9290, ALT 4550, ALP 118, total bilirubin 2.3, and INR 2.3. </a:t>
            </a:r>
          </a:p>
          <a:p>
            <a:r>
              <a:rPr lang="en-US" sz="1600" dirty="0"/>
              <a:t> </a:t>
            </a:r>
          </a:p>
        </p:txBody>
      </p: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41BC8FF8-CB5A-4823-95BA-F2499DC64F9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3063" y="1906919"/>
            <a:ext cx="194103" cy="18039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Q5A">
            <a:extLst>
              <a:ext uri="{FF2B5EF4-FFF2-40B4-BE49-F238E27FC236}">
                <a16:creationId xmlns:a16="http://schemas.microsoft.com/office/drawing/2014/main" id="{DC6F45F2-9BE3-4636-8C07-9106CDE40701}"/>
              </a:ext>
            </a:extLst>
          </p:cNvPr>
          <p:cNvSpPr/>
          <p:nvPr/>
        </p:nvSpPr>
        <p:spPr>
          <a:xfrm>
            <a:off x="6661396" y="3235362"/>
            <a:ext cx="2445630" cy="339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1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A) Acetaminophen level</a:t>
            </a:r>
          </a:p>
        </p:txBody>
      </p:sp>
      <p:sp>
        <p:nvSpPr>
          <p:cNvPr id="82" name="Q5C">
            <a:extLst>
              <a:ext uri="{FF2B5EF4-FFF2-40B4-BE49-F238E27FC236}">
                <a16:creationId xmlns:a16="http://schemas.microsoft.com/office/drawing/2014/main" id="{0DAB187D-ED22-4D81-B1BE-8B25A55F15F3}"/>
              </a:ext>
            </a:extLst>
          </p:cNvPr>
          <p:cNvSpPr/>
          <p:nvPr/>
        </p:nvSpPr>
        <p:spPr>
          <a:xfrm>
            <a:off x="6661137" y="3770286"/>
            <a:ext cx="2452666" cy="339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1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C) Viral hepatitis serologies</a:t>
            </a:r>
          </a:p>
        </p:txBody>
      </p:sp>
      <p:sp>
        <p:nvSpPr>
          <p:cNvPr id="83" name="Q5B">
            <a:extLst>
              <a:ext uri="{FF2B5EF4-FFF2-40B4-BE49-F238E27FC236}">
                <a16:creationId xmlns:a16="http://schemas.microsoft.com/office/drawing/2014/main" id="{7B069671-A164-43DF-B47B-09CD1ED007F5}"/>
              </a:ext>
            </a:extLst>
          </p:cNvPr>
          <p:cNvSpPr/>
          <p:nvPr/>
        </p:nvSpPr>
        <p:spPr>
          <a:xfrm>
            <a:off x="9446297" y="3237824"/>
            <a:ext cx="2430421" cy="339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1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B) Liver US with doppler</a:t>
            </a:r>
          </a:p>
        </p:txBody>
      </p:sp>
      <p:sp>
        <p:nvSpPr>
          <p:cNvPr id="93" name="Q5D Answer">
            <a:extLst>
              <a:ext uri="{FF2B5EF4-FFF2-40B4-BE49-F238E27FC236}">
                <a16:creationId xmlns:a16="http://schemas.microsoft.com/office/drawing/2014/main" id="{0CADC420-DA4F-4EE1-9CDC-0D257D63ED52}"/>
              </a:ext>
            </a:extLst>
          </p:cNvPr>
          <p:cNvSpPr/>
          <p:nvPr/>
        </p:nvSpPr>
        <p:spPr>
          <a:xfrm>
            <a:off x="9457955" y="3770286"/>
            <a:ext cx="2452666" cy="339430"/>
          </a:xfrm>
          <a:prstGeom prst="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1550" dirty="0">
                <a:solidFill>
                  <a:srgbClr val="00B050"/>
                </a:solidFill>
              </a:rPr>
              <a:t>Ethanol does not cause ALF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6CA1ED8-C674-4261-B0D6-D373E0559367}"/>
              </a:ext>
            </a:extLst>
          </p:cNvPr>
          <p:cNvSpPr txBox="1"/>
          <p:nvPr/>
        </p:nvSpPr>
        <p:spPr>
          <a:xfrm>
            <a:off x="5219983" y="221913"/>
            <a:ext cx="2042320" cy="408623"/>
          </a:xfrm>
          <a:prstGeom prst="round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 1</a:t>
            </a:r>
          </a:p>
        </p:txBody>
      </p:sp>
      <p:sp>
        <p:nvSpPr>
          <p:cNvPr id="104" name="Question 5 prompt">
            <a:extLst>
              <a:ext uri="{FF2B5EF4-FFF2-40B4-BE49-F238E27FC236}">
                <a16:creationId xmlns:a16="http://schemas.microsoft.com/office/drawing/2014/main" id="{94D66DA5-FAD5-4C56-81E5-974A753B1340}"/>
              </a:ext>
            </a:extLst>
          </p:cNvPr>
          <p:cNvSpPr/>
          <p:nvPr/>
        </p:nvSpPr>
        <p:spPr>
          <a:xfrm>
            <a:off x="7291076" y="2719827"/>
            <a:ext cx="4048367" cy="365760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sz="1600" dirty="0"/>
              <a:t>Which is NOT part of the work-up for ALF?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7" name="Case 1 Question 3">
            <a:extLst>
              <a:ext uri="{FF2B5EF4-FFF2-40B4-BE49-F238E27FC236}">
                <a16:creationId xmlns:a16="http://schemas.microsoft.com/office/drawing/2014/main" id="{47FA6A81-7F9B-43A0-BE49-A68C687D9115}"/>
              </a:ext>
            </a:extLst>
          </p:cNvPr>
          <p:cNvSpPr/>
          <p:nvPr/>
        </p:nvSpPr>
        <p:spPr>
          <a:xfrm>
            <a:off x="7291076" y="4518586"/>
            <a:ext cx="4048367" cy="646986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</a:rPr>
              <a:t>Which </a:t>
            </a:r>
            <a:r>
              <a:rPr lang="en-US" sz="16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of the following is the best next step in evaluation and management?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8" name="Q2 prompt">
            <a:extLst>
              <a:ext uri="{FF2B5EF4-FFF2-40B4-BE49-F238E27FC236}">
                <a16:creationId xmlns:a16="http://schemas.microsoft.com/office/drawing/2014/main" id="{066D2577-8D20-467E-B1DB-C2C2E603DB1E}"/>
              </a:ext>
            </a:extLst>
          </p:cNvPr>
          <p:cNvSpPr/>
          <p:nvPr/>
        </p:nvSpPr>
        <p:spPr>
          <a:xfrm>
            <a:off x="1952088" y="5153791"/>
            <a:ext cx="4048367" cy="646986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Which lab abnormalities represents synthetic dysfunction?</a:t>
            </a:r>
          </a:p>
        </p:txBody>
      </p:sp>
      <p:sp>
        <p:nvSpPr>
          <p:cNvPr id="59" name="Q1 prompt">
            <a:extLst>
              <a:ext uri="{FF2B5EF4-FFF2-40B4-BE49-F238E27FC236}">
                <a16:creationId xmlns:a16="http://schemas.microsoft.com/office/drawing/2014/main" id="{C19CD2B5-9E41-45A5-A917-2B42B5F3AE94}"/>
              </a:ext>
            </a:extLst>
          </p:cNvPr>
          <p:cNvSpPr/>
          <p:nvPr/>
        </p:nvSpPr>
        <p:spPr>
          <a:xfrm>
            <a:off x="1952088" y="3850687"/>
            <a:ext cx="4047819" cy="365760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sz="1600" dirty="0"/>
              <a:t>What is the diagnosis?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0" name="Q4 prompt">
            <a:extLst>
              <a:ext uri="{FF2B5EF4-FFF2-40B4-BE49-F238E27FC236}">
                <a16:creationId xmlns:a16="http://schemas.microsoft.com/office/drawing/2014/main" id="{E44E5193-E1B3-420C-8B15-024F0A72F8BD}"/>
              </a:ext>
            </a:extLst>
          </p:cNvPr>
          <p:cNvSpPr/>
          <p:nvPr/>
        </p:nvSpPr>
        <p:spPr>
          <a:xfrm>
            <a:off x="7291076" y="1565418"/>
            <a:ext cx="4048367" cy="365760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What is the diagnosis?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1" name="Q1 answer">
            <a:extLst>
              <a:ext uri="{FF2B5EF4-FFF2-40B4-BE49-F238E27FC236}">
                <a16:creationId xmlns:a16="http://schemas.microsoft.com/office/drawing/2014/main" id="{0E338AE5-1CBF-45F3-92FD-E293C6724EC0}"/>
              </a:ext>
            </a:extLst>
          </p:cNvPr>
          <p:cNvSpPr/>
          <p:nvPr/>
        </p:nvSpPr>
        <p:spPr>
          <a:xfrm>
            <a:off x="1883885" y="4305816"/>
            <a:ext cx="4234674" cy="646986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Acute liver injury. </a:t>
            </a:r>
            <a:r>
              <a:rPr lang="en-US" sz="1600" dirty="0">
                <a:solidFill>
                  <a:schemeClr val="tx1"/>
                </a:solidFill>
              </a:rPr>
              <a:t>Without encephalopathy, they do not meet criteria for ALF. </a:t>
            </a:r>
          </a:p>
        </p:txBody>
      </p:sp>
      <p:pic>
        <p:nvPicPr>
          <p:cNvPr id="62" name="Graphic 61" descr="Cursor with solid fill">
            <a:extLst>
              <a:ext uri="{FF2B5EF4-FFF2-40B4-BE49-F238E27FC236}">
                <a16:creationId xmlns:a16="http://schemas.microsoft.com/office/drawing/2014/main" id="{54BCB02C-0D9A-4379-B1B8-80E555AB6C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67236" y="4110422"/>
            <a:ext cx="270672" cy="270672"/>
          </a:xfrm>
          <a:prstGeom prst="rect">
            <a:avLst/>
          </a:prstGeom>
        </p:spPr>
      </p:pic>
      <p:pic>
        <p:nvPicPr>
          <p:cNvPr id="63" name="Graphic 62" descr="Cursor with solid fill">
            <a:extLst>
              <a:ext uri="{FF2B5EF4-FFF2-40B4-BE49-F238E27FC236}">
                <a16:creationId xmlns:a16="http://schemas.microsoft.com/office/drawing/2014/main" id="{AC5E989B-F8E4-41B1-97EF-59AD40B7EE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32411" y="1822403"/>
            <a:ext cx="270672" cy="270672"/>
          </a:xfrm>
          <a:prstGeom prst="rect">
            <a:avLst/>
          </a:prstGeom>
        </p:spPr>
      </p:pic>
      <p:sp>
        <p:nvSpPr>
          <p:cNvPr id="64" name="Q2 answer">
            <a:extLst>
              <a:ext uri="{FF2B5EF4-FFF2-40B4-BE49-F238E27FC236}">
                <a16:creationId xmlns:a16="http://schemas.microsoft.com/office/drawing/2014/main" id="{05E0521D-CF4C-48EA-B35A-EE68548A0192}"/>
              </a:ext>
            </a:extLst>
          </p:cNvPr>
          <p:cNvSpPr/>
          <p:nvPr/>
        </p:nvSpPr>
        <p:spPr>
          <a:xfrm>
            <a:off x="1952088" y="5839082"/>
            <a:ext cx="4012466" cy="374571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Elevated INR</a:t>
            </a:r>
          </a:p>
        </p:txBody>
      </p:sp>
      <p:pic>
        <p:nvPicPr>
          <p:cNvPr id="65" name="Graphic 64" descr="Cursor with solid fill">
            <a:extLst>
              <a:ext uri="{FF2B5EF4-FFF2-40B4-BE49-F238E27FC236}">
                <a16:creationId xmlns:a16="http://schemas.microsoft.com/office/drawing/2014/main" id="{52B6BB02-1696-4A48-88B7-6797BF954C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64571" y="5665441"/>
            <a:ext cx="270672" cy="270672"/>
          </a:xfrm>
          <a:prstGeom prst="rect">
            <a:avLst/>
          </a:prstGeom>
        </p:spPr>
      </p:pic>
      <p:sp>
        <p:nvSpPr>
          <p:cNvPr id="66" name="Interval history">
            <a:extLst>
              <a:ext uri="{FF2B5EF4-FFF2-40B4-BE49-F238E27FC236}">
                <a16:creationId xmlns:a16="http://schemas.microsoft.com/office/drawing/2014/main" id="{B51D7494-C655-463A-BC98-B2A86893ACD6}"/>
              </a:ext>
            </a:extLst>
          </p:cNvPr>
          <p:cNvSpPr txBox="1"/>
          <p:nvPr/>
        </p:nvSpPr>
        <p:spPr>
          <a:xfrm>
            <a:off x="6611607" y="848190"/>
            <a:ext cx="52651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…On HD2, they are confused, oriented to self only. Exam shows asterixis.  </a:t>
            </a:r>
          </a:p>
        </p:txBody>
      </p:sp>
      <p:sp>
        <p:nvSpPr>
          <p:cNvPr id="67" name="Q4 Answer">
            <a:extLst>
              <a:ext uri="{FF2B5EF4-FFF2-40B4-BE49-F238E27FC236}">
                <a16:creationId xmlns:a16="http://schemas.microsoft.com/office/drawing/2014/main" id="{AD76AC13-6CFB-4469-9616-02172D70AE3A}"/>
              </a:ext>
            </a:extLst>
          </p:cNvPr>
          <p:cNvSpPr/>
          <p:nvPr/>
        </p:nvSpPr>
        <p:spPr>
          <a:xfrm>
            <a:off x="7321904" y="1998827"/>
            <a:ext cx="4022238" cy="397737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Acute liver failure 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429313C-A826-42A1-918C-19639F040FFA}"/>
              </a:ext>
            </a:extLst>
          </p:cNvPr>
          <p:cNvCxnSpPr>
            <a:cxnSpLocks/>
          </p:cNvCxnSpPr>
          <p:nvPr/>
        </p:nvCxnSpPr>
        <p:spPr>
          <a:xfrm>
            <a:off x="6371772" y="907100"/>
            <a:ext cx="0" cy="54524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1" name="Graphic 70" descr="Cursor with solid fill">
            <a:extLst>
              <a:ext uri="{FF2B5EF4-FFF2-40B4-BE49-F238E27FC236}">
                <a16:creationId xmlns:a16="http://schemas.microsoft.com/office/drawing/2014/main" id="{E5EDAA66-72B6-4389-B493-C4D7F9131C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07949" y="2965202"/>
            <a:ext cx="270672" cy="270672"/>
          </a:xfrm>
          <a:prstGeom prst="rect">
            <a:avLst/>
          </a:prstGeom>
        </p:spPr>
      </p:pic>
      <p:pic>
        <p:nvPicPr>
          <p:cNvPr id="76" name="Graphic 75" descr="Cursor with solid fill">
            <a:extLst>
              <a:ext uri="{FF2B5EF4-FFF2-40B4-BE49-F238E27FC236}">
                <a16:creationId xmlns:a16="http://schemas.microsoft.com/office/drawing/2014/main" id="{E970DE70-E85C-43CD-8691-AA836D8B01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05200" y="5058400"/>
            <a:ext cx="270672" cy="270672"/>
          </a:xfrm>
          <a:prstGeom prst="rect">
            <a:avLst/>
          </a:prstGeom>
        </p:spPr>
      </p:pic>
      <p:sp>
        <p:nvSpPr>
          <p:cNvPr id="54" name="Obj 3b">
            <a:hlinkClick r:id="rId7" action="ppaction://hlinksldjump"/>
            <a:extLst>
              <a:ext uri="{FF2B5EF4-FFF2-40B4-BE49-F238E27FC236}">
                <a16:creationId xmlns:a16="http://schemas.microsoft.com/office/drawing/2014/main" id="{11CED9FD-7268-4921-B9B4-C14D9D753AB0}"/>
              </a:ext>
            </a:extLst>
          </p:cNvPr>
          <p:cNvSpPr/>
          <p:nvPr/>
        </p:nvSpPr>
        <p:spPr>
          <a:xfrm>
            <a:off x="468416" y="2241937"/>
            <a:ext cx="1176109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5" name="Obj 3b">
            <a:hlinkClick r:id="rId8" action="ppaction://hlinksldjump"/>
            <a:extLst>
              <a:ext uri="{FF2B5EF4-FFF2-40B4-BE49-F238E27FC236}">
                <a16:creationId xmlns:a16="http://schemas.microsoft.com/office/drawing/2014/main" id="{8805C2BB-8751-40F9-B5BB-574FDECA19DE}"/>
              </a:ext>
            </a:extLst>
          </p:cNvPr>
          <p:cNvSpPr/>
          <p:nvPr/>
        </p:nvSpPr>
        <p:spPr>
          <a:xfrm>
            <a:off x="466078" y="2780817"/>
            <a:ext cx="1176109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2 - 3</a:t>
            </a:r>
          </a:p>
        </p:txBody>
      </p:sp>
      <p:pic>
        <p:nvPicPr>
          <p:cNvPr id="56" name="Graphic 55" descr="Cursor with solid fill">
            <a:extLst>
              <a:ext uri="{FF2B5EF4-FFF2-40B4-BE49-F238E27FC236}">
                <a16:creationId xmlns:a16="http://schemas.microsoft.com/office/drawing/2014/main" id="{11BFFD96-16E3-4AFF-B6C1-19406C1C45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2029" y="3008440"/>
            <a:ext cx="301752" cy="301752"/>
          </a:xfrm>
          <a:prstGeom prst="rect">
            <a:avLst/>
          </a:prstGeom>
        </p:spPr>
      </p:pic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0882C846-5AE2-4712-B494-929CE4D77633}"/>
              </a:ext>
            </a:extLst>
          </p:cNvPr>
          <p:cNvCxnSpPr>
            <a:cxnSpLocks/>
            <a:endCxn id="55" idx="1"/>
          </p:cNvCxnSpPr>
          <p:nvPr/>
        </p:nvCxnSpPr>
        <p:spPr>
          <a:xfrm rot="16200000" flipH="1">
            <a:off x="75296" y="2574025"/>
            <a:ext cx="582514" cy="19905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Obj 3b">
            <a:hlinkClick r:id="rId7" action="ppaction://hlinksldjump"/>
            <a:extLst>
              <a:ext uri="{FF2B5EF4-FFF2-40B4-BE49-F238E27FC236}">
                <a16:creationId xmlns:a16="http://schemas.microsoft.com/office/drawing/2014/main" id="{EB6516CB-D895-4137-8001-0123911AFA9B}"/>
              </a:ext>
            </a:extLst>
          </p:cNvPr>
          <p:cNvSpPr/>
          <p:nvPr/>
        </p:nvSpPr>
        <p:spPr>
          <a:xfrm>
            <a:off x="468416" y="3319697"/>
            <a:ext cx="1176109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73E7F80A-6993-4C2E-ACB8-B245F51987FA}"/>
              </a:ext>
            </a:extLst>
          </p:cNvPr>
          <p:cNvCxnSpPr>
            <a:cxnSpLocks/>
            <a:endCxn id="69" idx="1"/>
          </p:cNvCxnSpPr>
          <p:nvPr/>
        </p:nvCxnSpPr>
        <p:spPr>
          <a:xfrm rot="16200000" flipH="1">
            <a:off x="60821" y="3096091"/>
            <a:ext cx="612633" cy="20255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2" name="Graphic 71" descr="Cursor with solid fill">
            <a:extLst>
              <a:ext uri="{FF2B5EF4-FFF2-40B4-BE49-F238E27FC236}">
                <a16:creationId xmlns:a16="http://schemas.microsoft.com/office/drawing/2014/main" id="{71E78039-61E6-4322-BDC9-B861BA1199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294" y="3571736"/>
            <a:ext cx="301752" cy="301752"/>
          </a:xfrm>
          <a:prstGeom prst="rect">
            <a:avLst/>
          </a:prstGeom>
        </p:spPr>
      </p:pic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A69EC65B-9D75-4022-8E3B-843B044CE813}"/>
              </a:ext>
            </a:extLst>
          </p:cNvPr>
          <p:cNvCxnSpPr>
            <a:cxnSpLocks/>
            <a:endCxn id="54" idx="1"/>
          </p:cNvCxnSpPr>
          <p:nvPr/>
        </p:nvCxnSpPr>
        <p:spPr>
          <a:xfrm rot="16200000" flipH="1">
            <a:off x="81473" y="2038984"/>
            <a:ext cx="573808" cy="20007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9150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</p:childTnLst>
        </p:cTn>
      </p:par>
    </p:tnLst>
    <p:bldLst>
      <p:bldP spid="111" grpId="0" animBg="1"/>
      <p:bldP spid="110" grpId="0" animBg="1"/>
      <p:bldP spid="119" grpId="0" animBg="1"/>
      <p:bldP spid="115" grpId="0" animBg="1"/>
      <p:bldP spid="94" grpId="0" animBg="1"/>
      <p:bldP spid="84" grpId="0" animBg="1"/>
      <p:bldP spid="81" grpId="0" animBg="1"/>
      <p:bldP spid="82" grpId="0" animBg="1"/>
      <p:bldP spid="83" grpId="0" animBg="1"/>
      <p:bldP spid="93" grpId="0" animBg="1"/>
      <p:bldP spid="104" grpId="0" animBg="1"/>
      <p:bldP spid="47" grpId="0" animBg="1"/>
      <p:bldP spid="60" grpId="0" animBg="1"/>
      <p:bldP spid="61" grpId="0"/>
      <p:bldP spid="64" grpId="0" animBg="1"/>
      <p:bldP spid="66" grpId="0"/>
      <p:bldP spid="6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3Q2D">
            <a:extLst>
              <a:ext uri="{FF2B5EF4-FFF2-40B4-BE49-F238E27FC236}">
                <a16:creationId xmlns:a16="http://schemas.microsoft.com/office/drawing/2014/main" id="{FE57AB68-752F-47D8-929F-9A9569171ADD}"/>
              </a:ext>
            </a:extLst>
          </p:cNvPr>
          <p:cNvSpPr/>
          <p:nvPr/>
        </p:nvSpPr>
        <p:spPr>
          <a:xfrm>
            <a:off x="9290486" y="6308268"/>
            <a:ext cx="2476742" cy="338554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1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D) Vasopressors/inotropy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B1C97DF-3936-4C68-8C45-09FA3E187812}"/>
              </a:ext>
            </a:extLst>
          </p:cNvPr>
          <p:cNvSpPr/>
          <p:nvPr/>
        </p:nvSpPr>
        <p:spPr>
          <a:xfrm>
            <a:off x="9290486" y="6313035"/>
            <a:ext cx="2467398" cy="338554"/>
          </a:xfrm>
          <a:prstGeom prst="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Vasopressors/inotropes</a:t>
            </a:r>
          </a:p>
        </p:txBody>
      </p:sp>
      <p:sp>
        <p:nvSpPr>
          <p:cNvPr id="47" name="C3Q2A">
            <a:extLst>
              <a:ext uri="{FF2B5EF4-FFF2-40B4-BE49-F238E27FC236}">
                <a16:creationId xmlns:a16="http://schemas.microsoft.com/office/drawing/2014/main" id="{A93D4C62-8FDB-40B0-A7E7-806F43393513}"/>
              </a:ext>
            </a:extLst>
          </p:cNvPr>
          <p:cNvSpPr/>
          <p:nvPr/>
        </p:nvSpPr>
        <p:spPr>
          <a:xfrm>
            <a:off x="6613101" y="5865763"/>
            <a:ext cx="2467395" cy="338554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1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A) FFP </a:t>
            </a:r>
          </a:p>
        </p:txBody>
      </p:sp>
      <p:sp>
        <p:nvSpPr>
          <p:cNvPr id="83" name="C3Q1B">
            <a:extLst>
              <a:ext uri="{FF2B5EF4-FFF2-40B4-BE49-F238E27FC236}">
                <a16:creationId xmlns:a16="http://schemas.microsoft.com/office/drawing/2014/main" id="{7B069671-A164-43DF-B47B-09CD1ED007F5}"/>
              </a:ext>
            </a:extLst>
          </p:cNvPr>
          <p:cNvSpPr/>
          <p:nvPr/>
        </p:nvSpPr>
        <p:spPr>
          <a:xfrm>
            <a:off x="9291655" y="4088021"/>
            <a:ext cx="2476103" cy="338554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1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B) Drug Overdose</a:t>
            </a:r>
          </a:p>
        </p:txBody>
      </p:sp>
      <p:sp>
        <p:nvSpPr>
          <p:cNvPr id="81" name="C3Q1A">
            <a:extLst>
              <a:ext uri="{FF2B5EF4-FFF2-40B4-BE49-F238E27FC236}">
                <a16:creationId xmlns:a16="http://schemas.microsoft.com/office/drawing/2014/main" id="{DC6F45F2-9BE3-4636-8C07-9106CDE40701}"/>
              </a:ext>
            </a:extLst>
          </p:cNvPr>
          <p:cNvSpPr/>
          <p:nvPr/>
        </p:nvSpPr>
        <p:spPr>
          <a:xfrm>
            <a:off x="6600461" y="4083753"/>
            <a:ext cx="2476103" cy="338554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1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A) Hepatitis C</a:t>
            </a:r>
          </a:p>
        </p:txBody>
      </p:sp>
      <p:sp>
        <p:nvSpPr>
          <p:cNvPr id="82" name="C3Q1C">
            <a:extLst>
              <a:ext uri="{FF2B5EF4-FFF2-40B4-BE49-F238E27FC236}">
                <a16:creationId xmlns:a16="http://schemas.microsoft.com/office/drawing/2014/main" id="{0DAB187D-ED22-4D81-B1BE-8B25A55F15F3}"/>
              </a:ext>
            </a:extLst>
          </p:cNvPr>
          <p:cNvSpPr/>
          <p:nvPr/>
        </p:nvSpPr>
        <p:spPr>
          <a:xfrm>
            <a:off x="6604920" y="4527763"/>
            <a:ext cx="2457528" cy="338554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1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C) Autoimmune hepatitis</a:t>
            </a:r>
          </a:p>
        </p:txBody>
      </p:sp>
      <p:sp>
        <p:nvSpPr>
          <p:cNvPr id="84" name="C3Q1D">
            <a:extLst>
              <a:ext uri="{FF2B5EF4-FFF2-40B4-BE49-F238E27FC236}">
                <a16:creationId xmlns:a16="http://schemas.microsoft.com/office/drawing/2014/main" id="{EE4C8EA7-9C4D-4E30-BECC-B0158A1C07DA}"/>
              </a:ext>
            </a:extLst>
          </p:cNvPr>
          <p:cNvSpPr/>
          <p:nvPr/>
        </p:nvSpPr>
        <p:spPr>
          <a:xfrm>
            <a:off x="9291656" y="4531174"/>
            <a:ext cx="2457528" cy="338554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1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D) Cardiogenic Shock</a:t>
            </a:r>
          </a:p>
        </p:txBody>
      </p:sp>
      <p:sp>
        <p:nvSpPr>
          <p:cNvPr id="93" name="C3Q1D response">
            <a:extLst>
              <a:ext uri="{FF2B5EF4-FFF2-40B4-BE49-F238E27FC236}">
                <a16:creationId xmlns:a16="http://schemas.microsoft.com/office/drawing/2014/main" id="{0CADC420-DA4F-4EE1-9CDC-0D257D63ED52}"/>
              </a:ext>
            </a:extLst>
          </p:cNvPr>
          <p:cNvSpPr/>
          <p:nvPr/>
        </p:nvSpPr>
        <p:spPr>
          <a:xfrm>
            <a:off x="9291770" y="4525614"/>
            <a:ext cx="2468880" cy="338328"/>
          </a:xfrm>
          <a:prstGeom prst="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400" dirty="0">
                <a:solidFill>
                  <a:srgbClr val="00B050"/>
                </a:solidFill>
                <a:sym typeface="Wingdings" panose="05000000000000000000" pitchFamily="2" charset="2"/>
              </a:rPr>
              <a:t> BPs likely suggest</a:t>
            </a:r>
            <a:r>
              <a:rPr lang="en-US" sz="1400" dirty="0">
                <a:solidFill>
                  <a:srgbClr val="00B050"/>
                </a:solidFill>
              </a:rPr>
              <a:t> shock liver.</a:t>
            </a:r>
          </a:p>
        </p:txBody>
      </p:sp>
      <p:sp>
        <p:nvSpPr>
          <p:cNvPr id="37" name="Case 1 Question 1">
            <a:extLst>
              <a:ext uri="{FF2B5EF4-FFF2-40B4-BE49-F238E27FC236}">
                <a16:creationId xmlns:a16="http://schemas.microsoft.com/office/drawing/2014/main" id="{3D504DDE-A211-4E97-B1BE-94AD60053F65}"/>
              </a:ext>
            </a:extLst>
          </p:cNvPr>
          <p:cNvSpPr/>
          <p:nvPr/>
        </p:nvSpPr>
        <p:spPr>
          <a:xfrm>
            <a:off x="6551845" y="3592782"/>
            <a:ext cx="5301334" cy="365760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600" dirty="0"/>
              <a:t>What is the most likely cause of this patient’s elevated LFTs? 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4" name="C2Q1">
            <a:extLst>
              <a:ext uri="{FF2B5EF4-FFF2-40B4-BE49-F238E27FC236}">
                <a16:creationId xmlns:a16="http://schemas.microsoft.com/office/drawing/2014/main" id="{27CD699D-5524-4807-8DDF-CFFCE617F7A3}"/>
              </a:ext>
            </a:extLst>
          </p:cNvPr>
          <p:cNvSpPr/>
          <p:nvPr/>
        </p:nvSpPr>
        <p:spPr>
          <a:xfrm>
            <a:off x="1913033" y="3544069"/>
            <a:ext cx="4054934" cy="365760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What is the next step in evaluation? 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5" name="C2Q2">
            <a:extLst>
              <a:ext uri="{FF2B5EF4-FFF2-40B4-BE49-F238E27FC236}">
                <a16:creationId xmlns:a16="http://schemas.microsoft.com/office/drawing/2014/main" id="{93F8FB37-44DA-414B-BB3E-C70C4913C929}"/>
              </a:ext>
            </a:extLst>
          </p:cNvPr>
          <p:cNvSpPr/>
          <p:nvPr/>
        </p:nvSpPr>
        <p:spPr>
          <a:xfrm>
            <a:off x="460310" y="5429007"/>
            <a:ext cx="5507657" cy="365760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What is the next step in management?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Obj 1">
            <a:hlinkClick r:id="rId3" action="ppaction://hlinksldjump"/>
            <a:extLst>
              <a:ext uri="{FF2B5EF4-FFF2-40B4-BE49-F238E27FC236}">
                <a16:creationId xmlns:a16="http://schemas.microsoft.com/office/drawing/2014/main" id="{F4937110-C810-4394-AE36-68613C454B5F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Definition</a:t>
            </a:r>
          </a:p>
        </p:txBody>
      </p:sp>
      <p:sp>
        <p:nvSpPr>
          <p:cNvPr id="11" name="Obj 2">
            <a:hlinkClick r:id="rId4" action="ppaction://hlinksldjump"/>
            <a:extLst>
              <a:ext uri="{FF2B5EF4-FFF2-40B4-BE49-F238E27FC236}">
                <a16:creationId xmlns:a16="http://schemas.microsoft.com/office/drawing/2014/main" id="{8C90D514-00F5-4D1C-B7B5-5A6968DD0211}"/>
              </a:ext>
            </a:extLst>
          </p:cNvPr>
          <p:cNvSpPr/>
          <p:nvPr/>
        </p:nvSpPr>
        <p:spPr>
          <a:xfrm>
            <a:off x="167950" y="67445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Etiologies</a:t>
            </a:r>
          </a:p>
        </p:txBody>
      </p:sp>
      <p:pic>
        <p:nvPicPr>
          <p:cNvPr id="12" name="Graphic 11" descr="Cursor with solid fill">
            <a:extLst>
              <a:ext uri="{FF2B5EF4-FFF2-40B4-BE49-F238E27FC236}">
                <a16:creationId xmlns:a16="http://schemas.microsoft.com/office/drawing/2014/main" id="{D56ABAA9-56B8-4347-93E5-0652E05C5E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1834" y="381235"/>
            <a:ext cx="301752" cy="301752"/>
          </a:xfrm>
          <a:prstGeom prst="rect">
            <a:avLst/>
          </a:prstGeom>
        </p:spPr>
      </p:pic>
      <p:pic>
        <p:nvPicPr>
          <p:cNvPr id="13" name="Graphic 12" descr="Cursor with solid fill">
            <a:extLst>
              <a:ext uri="{FF2B5EF4-FFF2-40B4-BE49-F238E27FC236}">
                <a16:creationId xmlns:a16="http://schemas.microsoft.com/office/drawing/2014/main" id="{33722F5E-0706-4D26-AE90-299D710218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1834" y="907100"/>
            <a:ext cx="301752" cy="301752"/>
          </a:xfrm>
          <a:prstGeom prst="rect">
            <a:avLst/>
          </a:prstGeom>
        </p:spPr>
      </p:pic>
      <p:sp>
        <p:nvSpPr>
          <p:cNvPr id="14" name="Obj 3">
            <a:hlinkClick r:id="rId7" action="ppaction://hlinksldjump"/>
            <a:extLst>
              <a:ext uri="{FF2B5EF4-FFF2-40B4-BE49-F238E27FC236}">
                <a16:creationId xmlns:a16="http://schemas.microsoft.com/office/drawing/2014/main" id="{493DFF77-839A-49DA-9C42-EDA5187F97CB}"/>
              </a:ext>
            </a:extLst>
          </p:cNvPr>
          <p:cNvSpPr/>
          <p:nvPr/>
        </p:nvSpPr>
        <p:spPr>
          <a:xfrm>
            <a:off x="167950" y="120031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pic>
        <p:nvPicPr>
          <p:cNvPr id="15" name="Graphic 14" descr="Cursor with solid fill">
            <a:extLst>
              <a:ext uri="{FF2B5EF4-FFF2-40B4-BE49-F238E27FC236}">
                <a16:creationId xmlns:a16="http://schemas.microsoft.com/office/drawing/2014/main" id="{A1F0A433-75DC-4594-A2CD-AACC4023DC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1834" y="1432965"/>
            <a:ext cx="301752" cy="301752"/>
          </a:xfrm>
          <a:prstGeom prst="rect">
            <a:avLst/>
          </a:prstGeom>
        </p:spPr>
      </p:pic>
      <p:sp>
        <p:nvSpPr>
          <p:cNvPr id="16" name="Cases">
            <a:hlinkClick r:id="" action="ppaction://noaction"/>
            <a:extLst>
              <a:ext uri="{FF2B5EF4-FFF2-40B4-BE49-F238E27FC236}">
                <a16:creationId xmlns:a16="http://schemas.microsoft.com/office/drawing/2014/main" id="{28173898-C489-4914-B96C-559A0CCBF77B}"/>
              </a:ext>
            </a:extLst>
          </p:cNvPr>
          <p:cNvSpPr/>
          <p:nvPr/>
        </p:nvSpPr>
        <p:spPr>
          <a:xfrm>
            <a:off x="167950" y="1726184"/>
            <a:ext cx="1474237" cy="367979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Cases</a:t>
            </a:r>
          </a:p>
        </p:txBody>
      </p:sp>
      <p:sp>
        <p:nvSpPr>
          <p:cNvPr id="18" name="Case 2">
            <a:extLst>
              <a:ext uri="{FF2B5EF4-FFF2-40B4-BE49-F238E27FC236}">
                <a16:creationId xmlns:a16="http://schemas.microsoft.com/office/drawing/2014/main" id="{54FE0069-BD5E-4E9C-8F47-D4DBE66EB2AC}"/>
              </a:ext>
            </a:extLst>
          </p:cNvPr>
          <p:cNvSpPr/>
          <p:nvPr/>
        </p:nvSpPr>
        <p:spPr>
          <a:xfrm>
            <a:off x="3116423" y="201682"/>
            <a:ext cx="1474237" cy="367979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 2</a:t>
            </a:r>
          </a:p>
        </p:txBody>
      </p:sp>
      <p:pic>
        <p:nvPicPr>
          <p:cNvPr id="19" name="Graphic 18" descr="Cursor with solid fill">
            <a:extLst>
              <a:ext uri="{FF2B5EF4-FFF2-40B4-BE49-F238E27FC236}">
                <a16:creationId xmlns:a16="http://schemas.microsoft.com/office/drawing/2014/main" id="{257E0209-6A64-4BD1-A5E0-F2EEEBA639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6479" y="434325"/>
            <a:ext cx="301752" cy="301752"/>
          </a:xfrm>
          <a:prstGeom prst="rect">
            <a:avLst/>
          </a:prstGeom>
        </p:spPr>
      </p:pic>
      <p:sp>
        <p:nvSpPr>
          <p:cNvPr id="6" name="Case 2 stem">
            <a:extLst>
              <a:ext uri="{FF2B5EF4-FFF2-40B4-BE49-F238E27FC236}">
                <a16:creationId xmlns:a16="http://schemas.microsoft.com/office/drawing/2014/main" id="{EE5CF056-B12F-4BAB-8EAA-A4A1F99EBB4D}"/>
              </a:ext>
            </a:extLst>
          </p:cNvPr>
          <p:cNvSpPr txBox="1"/>
          <p:nvPr/>
        </p:nvSpPr>
        <p:spPr>
          <a:xfrm>
            <a:off x="1826866" y="700563"/>
            <a:ext cx="438732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35-year-old presents with acute liver failure due to fulminant hepatitis B. Initially, they had grade 1 HE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. CT head was normal. ​</a:t>
            </a:r>
          </a:p>
          <a:p>
            <a:pPr marL="114300" indent="-114300" fontAlgn="base"/>
            <a:endParaRPr lang="en-US" sz="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rtl="0" fontAlgn="base"/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On HD2, they develop new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nausea and vomiting not responsive to antiemetics. </a:t>
            </a:r>
          </a:p>
          <a:p>
            <a:pPr rtl="0" fontAlgn="base"/>
            <a:endParaRPr lang="en-US" sz="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114300" indent="-114300" rtl="0" fontAlgn="base"/>
            <a:r>
              <a:rPr lang="en-US" sz="1600" b="0" i="0" u="sng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VS</a:t>
            </a:r>
            <a:r>
              <a:rPr lang="en-US" sz="1600" b="0" i="0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HR 58, BP 160/88, RR 20, SpO2 94% on 2L NC.</a:t>
            </a:r>
          </a:p>
          <a:p>
            <a:pPr marL="114300" indent="-114300" rtl="0" fontAlgn="base"/>
            <a:r>
              <a:rPr lang="en-US" sz="1600" u="sng" dirty="0">
                <a:solidFill>
                  <a:srgbClr val="000000"/>
                </a:solidFill>
                <a:latin typeface="Calibri" panose="020F0502020204030204" pitchFamily="34" charset="0"/>
              </a:rPr>
              <a:t>Exam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: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Somnolent but arousable, oriented to self, mild asterixis. No focal neurologic deficits. </a:t>
            </a:r>
          </a:p>
          <a:p>
            <a:pPr marL="114300" indent="-114300" rtl="0" fontAlgn="base"/>
            <a:r>
              <a:rPr lang="en-US" sz="1600" u="sng" dirty="0">
                <a:solidFill>
                  <a:srgbClr val="000000"/>
                </a:solidFill>
                <a:latin typeface="Calibri" panose="020F0502020204030204" pitchFamily="34" charset="0"/>
              </a:rPr>
              <a:t>Labs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: Glucose 180. ABG 7.2/54/80/23. Ammonia 202. </a:t>
            </a:r>
            <a:endParaRPr lang="en-US" sz="16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41BC8FF8-CB5A-4823-95BA-F2499DC64F9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3063" y="1906919"/>
            <a:ext cx="194103" cy="18039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AD8140A7-304E-4B6D-8CB9-5B6C58A0FCC0}"/>
              </a:ext>
            </a:extLst>
          </p:cNvPr>
          <p:cNvSpPr/>
          <p:nvPr/>
        </p:nvSpPr>
        <p:spPr>
          <a:xfrm>
            <a:off x="1777523" y="3925445"/>
            <a:ext cx="4246002" cy="77693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Repeat </a:t>
            </a:r>
            <a:r>
              <a:rPr lang="en-US" sz="1600" b="1" dirty="0">
                <a:solidFill>
                  <a:schemeClr val="tx1"/>
                </a:solidFill>
              </a:rPr>
              <a:t>CT head </a:t>
            </a:r>
            <a:r>
              <a:rPr lang="en-US" sz="1600" dirty="0">
                <a:solidFill>
                  <a:schemeClr val="tx1"/>
                </a:solidFill>
              </a:rPr>
              <a:t>to evaluate for </a:t>
            </a:r>
            <a:r>
              <a:rPr lang="en-US" sz="1600" dirty="0">
                <a:solidFill>
                  <a:schemeClr val="tx1"/>
                </a:solidFill>
                <a:sym typeface="Wingdings" panose="05000000000000000000" pitchFamily="2" charset="2"/>
              </a:rPr>
              <a:t> ICP</a:t>
            </a:r>
            <a:r>
              <a:rPr lang="en-US" sz="1600" dirty="0">
                <a:solidFill>
                  <a:schemeClr val="tx1"/>
                </a:solidFill>
              </a:rPr>
              <a:t>. Ammonia &gt; 200 predicts intracranial hypertension.</a:t>
            </a:r>
          </a:p>
        </p:txBody>
      </p:sp>
      <p:pic>
        <p:nvPicPr>
          <p:cNvPr id="88" name="Graphic 87" descr="Cursor with solid fill">
            <a:extLst>
              <a:ext uri="{FF2B5EF4-FFF2-40B4-BE49-F238E27FC236}">
                <a16:creationId xmlns:a16="http://schemas.microsoft.com/office/drawing/2014/main" id="{82E5F4C3-4983-4D28-ABD5-89B0DCFAE8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41722" y="3771579"/>
            <a:ext cx="301752" cy="301752"/>
          </a:xfrm>
          <a:prstGeom prst="rect">
            <a:avLst/>
          </a:prstGeom>
        </p:spPr>
      </p:pic>
      <p:sp>
        <p:nvSpPr>
          <p:cNvPr id="97" name="Rectangle 96">
            <a:extLst>
              <a:ext uri="{FF2B5EF4-FFF2-40B4-BE49-F238E27FC236}">
                <a16:creationId xmlns:a16="http://schemas.microsoft.com/office/drawing/2014/main" id="{D4AF0AC3-696D-478E-A621-89ECADECAC82}"/>
              </a:ext>
            </a:extLst>
          </p:cNvPr>
          <p:cNvSpPr/>
          <p:nvPr/>
        </p:nvSpPr>
        <p:spPr>
          <a:xfrm>
            <a:off x="2740647" y="5882856"/>
            <a:ext cx="3472893" cy="881119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Q1h neuro checks</a:t>
            </a:r>
          </a:p>
          <a:p>
            <a:pPr marL="285750" indent="-1714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</a:rPr>
              <a:t>Hypertonics</a:t>
            </a:r>
            <a:r>
              <a:rPr lang="en-US" sz="1600" dirty="0">
                <a:solidFill>
                  <a:schemeClr val="tx1"/>
                </a:solidFill>
              </a:rPr>
              <a:t> (hypertonic saline or mannitol)</a:t>
            </a:r>
          </a:p>
        </p:txBody>
      </p:sp>
      <p:pic>
        <p:nvPicPr>
          <p:cNvPr id="98" name="Graphic 97" descr="Cursor with solid fill">
            <a:extLst>
              <a:ext uri="{FF2B5EF4-FFF2-40B4-BE49-F238E27FC236}">
                <a16:creationId xmlns:a16="http://schemas.microsoft.com/office/drawing/2014/main" id="{F2D82E02-642B-48A1-AFA0-40576F39F8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41722" y="5690128"/>
            <a:ext cx="301752" cy="301752"/>
          </a:xfrm>
          <a:prstGeom prst="rect">
            <a:avLst/>
          </a:prstGeom>
        </p:spPr>
      </p:pic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30EB61C0-9252-498C-8CEF-F5BF47FC9123}"/>
              </a:ext>
            </a:extLst>
          </p:cNvPr>
          <p:cNvCxnSpPr>
            <a:cxnSpLocks/>
          </p:cNvCxnSpPr>
          <p:nvPr/>
        </p:nvCxnSpPr>
        <p:spPr>
          <a:xfrm>
            <a:off x="6259906" y="319863"/>
            <a:ext cx="0" cy="645120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Case 3 stem">
            <a:extLst>
              <a:ext uri="{FF2B5EF4-FFF2-40B4-BE49-F238E27FC236}">
                <a16:creationId xmlns:a16="http://schemas.microsoft.com/office/drawing/2014/main" id="{91C39927-94DF-4B96-AF44-7E4EDD32A8A1}"/>
              </a:ext>
            </a:extLst>
          </p:cNvPr>
          <p:cNvSpPr txBox="1"/>
          <p:nvPr/>
        </p:nvSpPr>
        <p:spPr>
          <a:xfrm>
            <a:off x="6380434" y="651907"/>
            <a:ext cx="565711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69-year-old with PMH of CHF, HTN, and 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type II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DM is admitted with abdominal pain and fatigue.</a:t>
            </a:r>
          </a:p>
          <a:p>
            <a:endParaRPr lang="en-US" sz="600" b="0" i="0" u="sng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r>
              <a:rPr lang="en-US" sz="1600" b="0" i="0" u="sng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VS</a:t>
            </a:r>
            <a:r>
              <a:rPr lang="en-US" sz="1600" b="0" i="0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37.5C, H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 145, BP 82/52, T 36.5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°C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114300" indent="-114300"/>
            <a:r>
              <a:rPr lang="en-US" sz="1600" b="0" i="0" u="sng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Exam</a:t>
            </a:r>
            <a:r>
              <a:rPr lang="en-US" sz="1600" b="0" i="0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Moderate distress, cold distal extremities with 2+ pitting edema to bilateral knees. Oriented only to self, + asterixis. 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1600" b="0" i="0" u="sng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Diagnostics:</a:t>
            </a:r>
            <a:r>
              <a:rPr lang="en-US" sz="1600" b="0" i="0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</a:p>
          <a:p>
            <a:pPr marL="231775" indent="-115888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BMP: Cr 2.4 (baseline 0.9)</a:t>
            </a:r>
          </a:p>
          <a:p>
            <a:pPr marL="231775" indent="-115888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ALT 3600, AST 5600, INR 2.2</a:t>
            </a:r>
          </a:p>
          <a:p>
            <a:pPr marL="231775" indent="-115888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EKG shows sinus tachycardia. T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roponin &lt;0.04, BNP 2400. 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TTE shows LVEF of 10-20%. </a:t>
            </a:r>
            <a:endParaRPr lang="en-US" sz="16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231775" indent="-115888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HAV IgM -, HBc IgM -, HBsAg -, HBs Ab +, HCV Ab -</a:t>
            </a:r>
            <a:endParaRPr lang="en-US" sz="16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04" name="Case 3">
            <a:extLst>
              <a:ext uri="{FF2B5EF4-FFF2-40B4-BE49-F238E27FC236}">
                <a16:creationId xmlns:a16="http://schemas.microsoft.com/office/drawing/2014/main" id="{03C0DA32-FBDE-4775-BEC7-A63D69D5193C}"/>
              </a:ext>
            </a:extLst>
          </p:cNvPr>
          <p:cNvSpPr/>
          <p:nvPr/>
        </p:nvSpPr>
        <p:spPr>
          <a:xfrm>
            <a:off x="8704557" y="197245"/>
            <a:ext cx="1474237" cy="367979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 3</a:t>
            </a:r>
          </a:p>
        </p:txBody>
      </p:sp>
      <p:pic>
        <p:nvPicPr>
          <p:cNvPr id="105" name="Graphic 104" descr="Cursor with solid fill">
            <a:extLst>
              <a:ext uri="{FF2B5EF4-FFF2-40B4-BE49-F238E27FC236}">
                <a16:creationId xmlns:a16="http://schemas.microsoft.com/office/drawing/2014/main" id="{2F4FE074-1E89-43E8-A4D7-7EB106693A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43457" y="429891"/>
            <a:ext cx="301752" cy="301752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95FA14B-A282-4BE7-A399-ABBD1AD5BB79}"/>
              </a:ext>
            </a:extLst>
          </p:cNvPr>
          <p:cNvSpPr txBox="1"/>
          <p:nvPr/>
        </p:nvSpPr>
        <p:spPr>
          <a:xfrm>
            <a:off x="338819" y="4806292"/>
            <a:ext cx="56859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…CT head shows early cerebral edema without midline shift or herniation. </a:t>
            </a:r>
          </a:p>
        </p:txBody>
      </p:sp>
      <p:sp>
        <p:nvSpPr>
          <p:cNvPr id="49" name="C3Q2C">
            <a:extLst>
              <a:ext uri="{FF2B5EF4-FFF2-40B4-BE49-F238E27FC236}">
                <a16:creationId xmlns:a16="http://schemas.microsoft.com/office/drawing/2014/main" id="{BBCC3595-5994-4C80-933C-4E36161FAD38}"/>
              </a:ext>
            </a:extLst>
          </p:cNvPr>
          <p:cNvSpPr/>
          <p:nvPr/>
        </p:nvSpPr>
        <p:spPr>
          <a:xfrm>
            <a:off x="6613100" y="6312085"/>
            <a:ext cx="2467398" cy="338554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1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C) Paracentesis </a:t>
            </a:r>
          </a:p>
        </p:txBody>
      </p:sp>
      <p:sp>
        <p:nvSpPr>
          <p:cNvPr id="53" name="C3Q2B">
            <a:extLst>
              <a:ext uri="{FF2B5EF4-FFF2-40B4-BE49-F238E27FC236}">
                <a16:creationId xmlns:a16="http://schemas.microsoft.com/office/drawing/2014/main" id="{352C0599-046C-4F23-8AAF-01E8B4E1930A}"/>
              </a:ext>
            </a:extLst>
          </p:cNvPr>
          <p:cNvSpPr/>
          <p:nvPr/>
        </p:nvSpPr>
        <p:spPr>
          <a:xfrm>
            <a:off x="9278913" y="5858053"/>
            <a:ext cx="2467395" cy="338328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1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B) Acyclovir</a:t>
            </a:r>
          </a:p>
        </p:txBody>
      </p:sp>
      <p:sp>
        <p:nvSpPr>
          <p:cNvPr id="54" name="Case 1 Question 2">
            <a:extLst>
              <a:ext uri="{FF2B5EF4-FFF2-40B4-BE49-F238E27FC236}">
                <a16:creationId xmlns:a16="http://schemas.microsoft.com/office/drawing/2014/main" id="{B7A7AE1D-206B-4492-9C1F-730361504730}"/>
              </a:ext>
            </a:extLst>
          </p:cNvPr>
          <p:cNvSpPr/>
          <p:nvPr/>
        </p:nvSpPr>
        <p:spPr>
          <a:xfrm>
            <a:off x="6604922" y="5067574"/>
            <a:ext cx="5248259" cy="646986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600" dirty="0"/>
              <a:t>Which of the following is the most appropriate next step in management? 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60" name="Graphic 59" descr="Cursor with solid fill">
            <a:extLst>
              <a:ext uri="{FF2B5EF4-FFF2-40B4-BE49-F238E27FC236}">
                <a16:creationId xmlns:a16="http://schemas.microsoft.com/office/drawing/2014/main" id="{43E8017E-4EC8-4DB5-82BC-23EE22C9FA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17843" y="5599934"/>
            <a:ext cx="301752" cy="301752"/>
          </a:xfrm>
          <a:prstGeom prst="rect">
            <a:avLst/>
          </a:prstGeom>
        </p:spPr>
      </p:pic>
      <p:pic>
        <p:nvPicPr>
          <p:cNvPr id="63" name="Graphic 62" descr="Cursor with solid fill">
            <a:extLst>
              <a:ext uri="{FF2B5EF4-FFF2-40B4-BE49-F238E27FC236}">
                <a16:creationId xmlns:a16="http://schemas.microsoft.com/office/drawing/2014/main" id="{875B1EA1-3E05-49B8-A7B2-E38699CDE4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17843" y="3832017"/>
            <a:ext cx="301752" cy="301752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794F96D9-271B-49E1-A9E3-F0C19F9DD847}"/>
              </a:ext>
            </a:extLst>
          </p:cNvPr>
          <p:cNvSpPr/>
          <p:nvPr/>
        </p:nvSpPr>
        <p:spPr>
          <a:xfrm>
            <a:off x="6613099" y="5865763"/>
            <a:ext cx="2467398" cy="338328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Reverse INR only if bleeding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83FB8F9-4A66-464D-9136-FA03A6BF1B14}"/>
              </a:ext>
            </a:extLst>
          </p:cNvPr>
          <p:cNvSpPr/>
          <p:nvPr/>
        </p:nvSpPr>
        <p:spPr>
          <a:xfrm>
            <a:off x="9278913" y="5856470"/>
            <a:ext cx="2467398" cy="338328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Empirically treat only if febrile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D10423-F2BC-4515-B96F-2628465D2B1E}"/>
              </a:ext>
            </a:extLst>
          </p:cNvPr>
          <p:cNvSpPr txBox="1"/>
          <p:nvPr/>
        </p:nvSpPr>
        <p:spPr>
          <a:xfrm>
            <a:off x="8097963" y="1231153"/>
            <a:ext cx="888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82/52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AC32283-C1AF-4FEB-9D83-B79F086AA931}"/>
              </a:ext>
            </a:extLst>
          </p:cNvPr>
          <p:cNvSpPr txBox="1"/>
          <p:nvPr/>
        </p:nvSpPr>
        <p:spPr>
          <a:xfrm>
            <a:off x="250367" y="5907918"/>
            <a:ext cx="28136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Elevate head of bed &gt;30</a:t>
            </a:r>
            <a:r>
              <a:rPr lang="en-US" sz="1600" baseline="30000" dirty="0">
                <a:solidFill>
                  <a:schemeClr val="tx1"/>
                </a:solidFill>
              </a:rPr>
              <a:t>o</a:t>
            </a:r>
            <a:endParaRPr lang="en-US" sz="1600" dirty="0">
              <a:solidFill>
                <a:schemeClr val="tx1"/>
              </a:solidFill>
            </a:endParaRPr>
          </a:p>
          <a:p>
            <a:pPr marL="2857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Consider direct ICP monitoring</a:t>
            </a:r>
          </a:p>
        </p:txBody>
      </p:sp>
      <p:sp>
        <p:nvSpPr>
          <p:cNvPr id="52" name="Obj 3b">
            <a:hlinkClick r:id="rId8" action="ppaction://hlinksldjump"/>
            <a:extLst>
              <a:ext uri="{FF2B5EF4-FFF2-40B4-BE49-F238E27FC236}">
                <a16:creationId xmlns:a16="http://schemas.microsoft.com/office/drawing/2014/main" id="{24BCE051-B480-4601-8640-08973E732BE4}"/>
              </a:ext>
            </a:extLst>
          </p:cNvPr>
          <p:cNvSpPr/>
          <p:nvPr/>
        </p:nvSpPr>
        <p:spPr>
          <a:xfrm>
            <a:off x="468416" y="2241937"/>
            <a:ext cx="1176109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5" name="Obj 3b">
            <a:hlinkClick r:id="rId9" action="ppaction://hlinksldjump"/>
            <a:extLst>
              <a:ext uri="{FF2B5EF4-FFF2-40B4-BE49-F238E27FC236}">
                <a16:creationId xmlns:a16="http://schemas.microsoft.com/office/drawing/2014/main" id="{7888E277-9BE2-4953-889C-E7EE237CDA10}"/>
              </a:ext>
            </a:extLst>
          </p:cNvPr>
          <p:cNvSpPr/>
          <p:nvPr/>
        </p:nvSpPr>
        <p:spPr>
          <a:xfrm>
            <a:off x="466078" y="2780817"/>
            <a:ext cx="1176109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2 - 3</a:t>
            </a:r>
          </a:p>
        </p:txBody>
      </p:sp>
      <p:pic>
        <p:nvPicPr>
          <p:cNvPr id="56" name="Graphic 55" descr="Cursor with solid fill">
            <a:extLst>
              <a:ext uri="{FF2B5EF4-FFF2-40B4-BE49-F238E27FC236}">
                <a16:creationId xmlns:a16="http://schemas.microsoft.com/office/drawing/2014/main" id="{374C79C8-272E-4276-8D85-2343141550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9658" y="2480695"/>
            <a:ext cx="301752" cy="301752"/>
          </a:xfrm>
          <a:prstGeom prst="rect">
            <a:avLst/>
          </a:prstGeom>
        </p:spPr>
      </p:pic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FDBE7519-067E-4CFE-8994-F4FC389075CC}"/>
              </a:ext>
            </a:extLst>
          </p:cNvPr>
          <p:cNvCxnSpPr>
            <a:cxnSpLocks/>
            <a:endCxn id="55" idx="1"/>
          </p:cNvCxnSpPr>
          <p:nvPr/>
        </p:nvCxnSpPr>
        <p:spPr>
          <a:xfrm rot="16200000" flipH="1">
            <a:off x="75296" y="2574025"/>
            <a:ext cx="582514" cy="19905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Obj 3b">
            <a:hlinkClick r:id="rId8" action="ppaction://hlinksldjump"/>
            <a:extLst>
              <a:ext uri="{FF2B5EF4-FFF2-40B4-BE49-F238E27FC236}">
                <a16:creationId xmlns:a16="http://schemas.microsoft.com/office/drawing/2014/main" id="{DEB80523-3062-4012-80B4-914E9FC1F4BA}"/>
              </a:ext>
            </a:extLst>
          </p:cNvPr>
          <p:cNvSpPr/>
          <p:nvPr/>
        </p:nvSpPr>
        <p:spPr>
          <a:xfrm>
            <a:off x="468416" y="3319697"/>
            <a:ext cx="1176109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67C88E54-1FFB-42E0-9BA7-E4E910877170}"/>
              </a:ext>
            </a:extLst>
          </p:cNvPr>
          <p:cNvCxnSpPr>
            <a:cxnSpLocks/>
            <a:endCxn id="62" idx="1"/>
          </p:cNvCxnSpPr>
          <p:nvPr/>
        </p:nvCxnSpPr>
        <p:spPr>
          <a:xfrm rot="16200000" flipH="1">
            <a:off x="60821" y="3096091"/>
            <a:ext cx="612633" cy="20255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6" name="Graphic 65" descr="Cursor with solid fill">
            <a:extLst>
              <a:ext uri="{FF2B5EF4-FFF2-40B4-BE49-F238E27FC236}">
                <a16:creationId xmlns:a16="http://schemas.microsoft.com/office/drawing/2014/main" id="{F10AE85B-AB1F-4126-B218-06CCAD6BEB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6294" y="3571736"/>
            <a:ext cx="301752" cy="301752"/>
          </a:xfrm>
          <a:prstGeom prst="rect">
            <a:avLst/>
          </a:prstGeom>
        </p:spPr>
      </p:pic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384485E8-3872-4707-BBD2-765B6E70F138}"/>
              </a:ext>
            </a:extLst>
          </p:cNvPr>
          <p:cNvCxnSpPr>
            <a:cxnSpLocks/>
          </p:cNvCxnSpPr>
          <p:nvPr/>
        </p:nvCxnSpPr>
        <p:spPr>
          <a:xfrm rot="16200000" flipH="1">
            <a:off x="74127" y="2046708"/>
            <a:ext cx="582514" cy="19905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1375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47" grpId="0" animBg="1"/>
      <p:bldP spid="83" grpId="0" animBg="1"/>
      <p:bldP spid="81" grpId="0" animBg="1"/>
      <p:bldP spid="82" grpId="0" animBg="1"/>
      <p:bldP spid="84" grpId="0" animBg="1"/>
      <p:bldP spid="93" grpId="0" animBg="1"/>
      <p:bldP spid="37" grpId="0" animBg="1"/>
      <p:bldP spid="34" grpId="0" animBg="1"/>
      <p:bldP spid="95" grpId="0" animBg="1"/>
      <p:bldP spid="6" grpId="0"/>
      <p:bldP spid="72" grpId="0"/>
      <p:bldP spid="97" grpId="0"/>
      <p:bldP spid="103" grpId="0"/>
      <p:bldP spid="44" grpId="0"/>
      <p:bldP spid="49" grpId="0" animBg="1"/>
      <p:bldP spid="53" grpId="0" animBg="1"/>
      <p:bldP spid="54" grpId="0" animBg="1"/>
      <p:bldP spid="58" grpId="0" animBg="1"/>
      <p:bldP spid="59" grpId="0" animBg="1"/>
      <p:bldP spid="2" grpId="0"/>
      <p:bldP spid="61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3Q1B">
            <a:extLst>
              <a:ext uri="{FF2B5EF4-FFF2-40B4-BE49-F238E27FC236}">
                <a16:creationId xmlns:a16="http://schemas.microsoft.com/office/drawing/2014/main" id="{7B069671-A164-43DF-B47B-09CD1ED007F5}"/>
              </a:ext>
            </a:extLst>
          </p:cNvPr>
          <p:cNvSpPr/>
          <p:nvPr/>
        </p:nvSpPr>
        <p:spPr>
          <a:xfrm>
            <a:off x="9282392" y="1764154"/>
            <a:ext cx="2518876" cy="338554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1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B) Acyclovir</a:t>
            </a:r>
          </a:p>
        </p:txBody>
      </p:sp>
      <p:sp>
        <p:nvSpPr>
          <p:cNvPr id="81" name="C3Q1A">
            <a:extLst>
              <a:ext uri="{FF2B5EF4-FFF2-40B4-BE49-F238E27FC236}">
                <a16:creationId xmlns:a16="http://schemas.microsoft.com/office/drawing/2014/main" id="{DC6F45F2-9BE3-4636-8C07-9106CDE40701}"/>
              </a:ext>
            </a:extLst>
          </p:cNvPr>
          <p:cNvSpPr/>
          <p:nvPr/>
        </p:nvSpPr>
        <p:spPr>
          <a:xfrm>
            <a:off x="6648648" y="1778470"/>
            <a:ext cx="2537917" cy="338554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1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A) Tylenol</a:t>
            </a:r>
          </a:p>
        </p:txBody>
      </p:sp>
      <p:sp>
        <p:nvSpPr>
          <p:cNvPr id="82" name="C3Q1C">
            <a:extLst>
              <a:ext uri="{FF2B5EF4-FFF2-40B4-BE49-F238E27FC236}">
                <a16:creationId xmlns:a16="http://schemas.microsoft.com/office/drawing/2014/main" id="{0DAB187D-ED22-4D81-B1BE-8B25A55F15F3}"/>
              </a:ext>
            </a:extLst>
          </p:cNvPr>
          <p:cNvSpPr/>
          <p:nvPr/>
        </p:nvSpPr>
        <p:spPr>
          <a:xfrm>
            <a:off x="6653100" y="2412813"/>
            <a:ext cx="2518878" cy="338554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1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C) Prednisone</a:t>
            </a:r>
          </a:p>
        </p:txBody>
      </p:sp>
      <p:sp>
        <p:nvSpPr>
          <p:cNvPr id="84" name="C3Q1D">
            <a:extLst>
              <a:ext uri="{FF2B5EF4-FFF2-40B4-BE49-F238E27FC236}">
                <a16:creationId xmlns:a16="http://schemas.microsoft.com/office/drawing/2014/main" id="{EE4C8EA7-9C4D-4E30-BECC-B0158A1C07DA}"/>
              </a:ext>
            </a:extLst>
          </p:cNvPr>
          <p:cNvSpPr/>
          <p:nvPr/>
        </p:nvSpPr>
        <p:spPr>
          <a:xfrm>
            <a:off x="9294801" y="2412813"/>
            <a:ext cx="2494058" cy="338554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1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D) Activated Charcoal</a:t>
            </a:r>
          </a:p>
        </p:txBody>
      </p:sp>
      <p:sp>
        <p:nvSpPr>
          <p:cNvPr id="93" name="C3Q1D response">
            <a:extLst>
              <a:ext uri="{FF2B5EF4-FFF2-40B4-BE49-F238E27FC236}">
                <a16:creationId xmlns:a16="http://schemas.microsoft.com/office/drawing/2014/main" id="{0CADC420-DA4F-4EE1-9CDC-0D257D63ED52}"/>
              </a:ext>
            </a:extLst>
          </p:cNvPr>
          <p:cNvSpPr/>
          <p:nvPr/>
        </p:nvSpPr>
        <p:spPr>
          <a:xfrm>
            <a:off x="9267809" y="1764154"/>
            <a:ext cx="2533455" cy="584775"/>
          </a:xfrm>
          <a:prstGeom prst="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Empiric acyclovir given </a:t>
            </a:r>
            <a:r>
              <a:rPr lang="en-US" sz="1600" dirty="0" err="1">
                <a:solidFill>
                  <a:srgbClr val="00B050"/>
                </a:solidFill>
              </a:rPr>
              <a:t>pt</a:t>
            </a:r>
            <a:r>
              <a:rPr lang="en-US" sz="1600" dirty="0">
                <a:solidFill>
                  <a:srgbClr val="00B050"/>
                </a:solidFill>
              </a:rPr>
              <a:t> febrile until HSV PCR returns</a:t>
            </a:r>
          </a:p>
        </p:txBody>
      </p:sp>
      <p:sp>
        <p:nvSpPr>
          <p:cNvPr id="37" name="Case 1 Question 1">
            <a:extLst>
              <a:ext uri="{FF2B5EF4-FFF2-40B4-BE49-F238E27FC236}">
                <a16:creationId xmlns:a16="http://schemas.microsoft.com/office/drawing/2014/main" id="{3D504DDE-A211-4E97-B1BE-94AD60053F65}"/>
              </a:ext>
            </a:extLst>
          </p:cNvPr>
          <p:cNvSpPr/>
          <p:nvPr/>
        </p:nvSpPr>
        <p:spPr>
          <a:xfrm>
            <a:off x="6579650" y="921312"/>
            <a:ext cx="5301331" cy="646986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600" dirty="0"/>
              <a:t>In addition to starting NAC, which of the following treatments is warranted while waiting for laboratory results?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5" name="C2Q2">
            <a:extLst>
              <a:ext uri="{FF2B5EF4-FFF2-40B4-BE49-F238E27FC236}">
                <a16:creationId xmlns:a16="http://schemas.microsoft.com/office/drawing/2014/main" id="{93F8FB37-44DA-414B-BB3E-C70C4913C929}"/>
              </a:ext>
            </a:extLst>
          </p:cNvPr>
          <p:cNvSpPr/>
          <p:nvPr/>
        </p:nvSpPr>
        <p:spPr>
          <a:xfrm>
            <a:off x="6578475" y="3047703"/>
            <a:ext cx="5301333" cy="660604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What tools can be used to risk-stratify this patient and in what location should this patient be cared for?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Obj 1">
            <a:hlinkClick r:id="rId2" action="ppaction://hlinksldjump"/>
            <a:extLst>
              <a:ext uri="{FF2B5EF4-FFF2-40B4-BE49-F238E27FC236}">
                <a16:creationId xmlns:a16="http://schemas.microsoft.com/office/drawing/2014/main" id="{F4937110-C810-4394-AE36-68613C454B5F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Definition</a:t>
            </a:r>
          </a:p>
        </p:txBody>
      </p:sp>
      <p:sp>
        <p:nvSpPr>
          <p:cNvPr id="11" name="Obj 2">
            <a:hlinkClick r:id="rId3" action="ppaction://hlinksldjump"/>
            <a:extLst>
              <a:ext uri="{FF2B5EF4-FFF2-40B4-BE49-F238E27FC236}">
                <a16:creationId xmlns:a16="http://schemas.microsoft.com/office/drawing/2014/main" id="{8C90D514-00F5-4D1C-B7B5-5A6968DD0211}"/>
              </a:ext>
            </a:extLst>
          </p:cNvPr>
          <p:cNvSpPr/>
          <p:nvPr/>
        </p:nvSpPr>
        <p:spPr>
          <a:xfrm>
            <a:off x="167950" y="67445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Etiologies</a:t>
            </a:r>
          </a:p>
        </p:txBody>
      </p:sp>
      <p:pic>
        <p:nvPicPr>
          <p:cNvPr id="12" name="Graphic 11" descr="Cursor with solid fill">
            <a:extLst>
              <a:ext uri="{FF2B5EF4-FFF2-40B4-BE49-F238E27FC236}">
                <a16:creationId xmlns:a16="http://schemas.microsoft.com/office/drawing/2014/main" id="{D56ABAA9-56B8-4347-93E5-0652E05C5E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9658" y="381235"/>
            <a:ext cx="301752" cy="301752"/>
          </a:xfrm>
          <a:prstGeom prst="rect">
            <a:avLst/>
          </a:prstGeom>
        </p:spPr>
      </p:pic>
      <p:pic>
        <p:nvPicPr>
          <p:cNvPr id="13" name="Graphic 12" descr="Cursor with solid fill">
            <a:extLst>
              <a:ext uri="{FF2B5EF4-FFF2-40B4-BE49-F238E27FC236}">
                <a16:creationId xmlns:a16="http://schemas.microsoft.com/office/drawing/2014/main" id="{33722F5E-0706-4D26-AE90-299D710218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9658" y="907100"/>
            <a:ext cx="301752" cy="301752"/>
          </a:xfrm>
          <a:prstGeom prst="rect">
            <a:avLst/>
          </a:prstGeom>
        </p:spPr>
      </p:pic>
      <p:sp>
        <p:nvSpPr>
          <p:cNvPr id="14" name="Obj 3">
            <a:hlinkClick r:id="rId6" action="ppaction://hlinksldjump"/>
            <a:extLst>
              <a:ext uri="{FF2B5EF4-FFF2-40B4-BE49-F238E27FC236}">
                <a16:creationId xmlns:a16="http://schemas.microsoft.com/office/drawing/2014/main" id="{493DFF77-839A-49DA-9C42-EDA5187F97CB}"/>
              </a:ext>
            </a:extLst>
          </p:cNvPr>
          <p:cNvSpPr/>
          <p:nvPr/>
        </p:nvSpPr>
        <p:spPr>
          <a:xfrm>
            <a:off x="167950" y="120031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pic>
        <p:nvPicPr>
          <p:cNvPr id="15" name="Graphic 14" descr="Cursor with solid fill">
            <a:extLst>
              <a:ext uri="{FF2B5EF4-FFF2-40B4-BE49-F238E27FC236}">
                <a16:creationId xmlns:a16="http://schemas.microsoft.com/office/drawing/2014/main" id="{A1F0A433-75DC-4594-A2CD-AACC4023DC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9658" y="1432965"/>
            <a:ext cx="301752" cy="301752"/>
          </a:xfrm>
          <a:prstGeom prst="rect">
            <a:avLst/>
          </a:prstGeom>
        </p:spPr>
      </p:pic>
      <p:sp>
        <p:nvSpPr>
          <p:cNvPr id="16" name="Cases">
            <a:hlinkClick r:id="" action="ppaction://noaction"/>
            <a:extLst>
              <a:ext uri="{FF2B5EF4-FFF2-40B4-BE49-F238E27FC236}">
                <a16:creationId xmlns:a16="http://schemas.microsoft.com/office/drawing/2014/main" id="{28173898-C489-4914-B96C-559A0CCBF77B}"/>
              </a:ext>
            </a:extLst>
          </p:cNvPr>
          <p:cNvSpPr/>
          <p:nvPr/>
        </p:nvSpPr>
        <p:spPr>
          <a:xfrm>
            <a:off x="170288" y="1726184"/>
            <a:ext cx="1474237" cy="367979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Cases</a:t>
            </a:r>
          </a:p>
        </p:txBody>
      </p:sp>
      <p:sp>
        <p:nvSpPr>
          <p:cNvPr id="18" name="Case 2">
            <a:extLst>
              <a:ext uri="{FF2B5EF4-FFF2-40B4-BE49-F238E27FC236}">
                <a16:creationId xmlns:a16="http://schemas.microsoft.com/office/drawing/2014/main" id="{54FE0069-BD5E-4E9C-8F47-D4DBE66EB2AC}"/>
              </a:ext>
            </a:extLst>
          </p:cNvPr>
          <p:cNvSpPr/>
          <p:nvPr/>
        </p:nvSpPr>
        <p:spPr>
          <a:xfrm>
            <a:off x="5634653" y="158756"/>
            <a:ext cx="1474237" cy="367979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 4</a:t>
            </a:r>
          </a:p>
        </p:txBody>
      </p:sp>
      <p:sp>
        <p:nvSpPr>
          <p:cNvPr id="6" name="Case 2 stem">
            <a:extLst>
              <a:ext uri="{FF2B5EF4-FFF2-40B4-BE49-F238E27FC236}">
                <a16:creationId xmlns:a16="http://schemas.microsoft.com/office/drawing/2014/main" id="{EE5CF056-B12F-4BAB-8EAA-A4A1F99EBB4D}"/>
              </a:ext>
            </a:extLst>
          </p:cNvPr>
          <p:cNvSpPr txBox="1"/>
          <p:nvPr/>
        </p:nvSpPr>
        <p:spPr>
          <a:xfrm>
            <a:off x="2057249" y="855449"/>
            <a:ext cx="396914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59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year-old with a history of ESRD s/p kidney transplant 5 years ago on chronic immunosuppression presents to a small community hospital with fever, chills, and ALF.</a:t>
            </a:r>
          </a:p>
          <a:p>
            <a:pPr fontAlgn="base"/>
            <a:endParaRPr lang="en-US" sz="6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114300" indent="-114300" fontAlgn="base"/>
            <a:r>
              <a:rPr lang="en-US" sz="1600" b="0" i="0" u="sng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VS</a:t>
            </a:r>
            <a:r>
              <a:rPr lang="en-US" sz="1600" b="0" i="0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T 38.8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°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C,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HR 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9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8, BP 117/58, RR 18, SpO2 95% on RA.</a:t>
            </a:r>
          </a:p>
          <a:p>
            <a:pPr marL="114300" indent="-114300" rtl="0" fontAlgn="base"/>
            <a:r>
              <a:rPr lang="en-US" sz="1600" u="sng" dirty="0">
                <a:solidFill>
                  <a:srgbClr val="000000"/>
                </a:solidFill>
                <a:latin typeface="Calibri" panose="020F0502020204030204" pitchFamily="34" charset="0"/>
              </a:rPr>
              <a:t>Exam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: Jaundiced, lethargic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mild asterixis.</a:t>
            </a:r>
          </a:p>
          <a:p>
            <a:pPr marL="114300" indent="-114300" rtl="0" fontAlgn="base"/>
            <a:r>
              <a:rPr lang="en-US" sz="1600" u="sng" dirty="0">
                <a:solidFill>
                  <a:srgbClr val="000000"/>
                </a:solidFill>
                <a:latin typeface="Calibri" panose="020F0502020204030204" pitchFamily="34" charset="0"/>
              </a:rPr>
              <a:t>Labs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: WBC 13K, AST 2300, ALT 1960, </a:t>
            </a:r>
            <a:r>
              <a:rPr lang="en-US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Tbili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22, INR 4.2, Cr 1.8 (unknown baseline).</a:t>
            </a:r>
          </a:p>
          <a:p>
            <a:pPr marL="114300" indent="-114300" rtl="0" fontAlgn="base"/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APAP level and urine </a:t>
            </a:r>
            <a:r>
              <a:rPr lang="en-US" sz="1600">
                <a:solidFill>
                  <a:srgbClr val="000000"/>
                </a:solidFill>
                <a:latin typeface="Calibri" panose="020F0502020204030204" pitchFamily="34" charset="0"/>
              </a:rPr>
              <a:t>tox is negative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</p:txBody>
      </p:sp>
      <p:sp>
        <p:nvSpPr>
          <p:cNvPr id="73" name="Obj 3b">
            <a:hlinkClick r:id="rId7" action="ppaction://hlinksldjump"/>
            <a:extLst>
              <a:ext uri="{FF2B5EF4-FFF2-40B4-BE49-F238E27FC236}">
                <a16:creationId xmlns:a16="http://schemas.microsoft.com/office/drawing/2014/main" id="{CD4D9DA5-4633-4216-A8AA-AF56058F7B02}"/>
              </a:ext>
            </a:extLst>
          </p:cNvPr>
          <p:cNvSpPr/>
          <p:nvPr/>
        </p:nvSpPr>
        <p:spPr>
          <a:xfrm>
            <a:off x="468416" y="2241937"/>
            <a:ext cx="1176109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41BC8FF8-CB5A-4823-95BA-F2499DC64F9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457278" y="1906919"/>
            <a:ext cx="194103" cy="18039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Obj 3b">
            <a:hlinkClick r:id="rId8" action="ppaction://hlinksldjump"/>
            <a:extLst>
              <a:ext uri="{FF2B5EF4-FFF2-40B4-BE49-F238E27FC236}">
                <a16:creationId xmlns:a16="http://schemas.microsoft.com/office/drawing/2014/main" id="{35FB9A34-8970-48B9-87DA-5E59FF2D892F}"/>
              </a:ext>
            </a:extLst>
          </p:cNvPr>
          <p:cNvSpPr/>
          <p:nvPr/>
        </p:nvSpPr>
        <p:spPr>
          <a:xfrm>
            <a:off x="466078" y="2780817"/>
            <a:ext cx="1176109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2 - 3</a:t>
            </a:r>
          </a:p>
        </p:txBody>
      </p:sp>
      <p:pic>
        <p:nvPicPr>
          <p:cNvPr id="78" name="Graphic 77" descr="Cursor with solid fill">
            <a:extLst>
              <a:ext uri="{FF2B5EF4-FFF2-40B4-BE49-F238E27FC236}">
                <a16:creationId xmlns:a16="http://schemas.microsoft.com/office/drawing/2014/main" id="{7D8ADF5C-1B0D-48CB-BDC8-9584C747B8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9658" y="2480695"/>
            <a:ext cx="301752" cy="301752"/>
          </a:xfrm>
          <a:prstGeom prst="rect">
            <a:avLst/>
          </a:prstGeom>
        </p:spPr>
      </p:pic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27077DE4-1B34-4474-9896-A5C4190CCA7B}"/>
              </a:ext>
            </a:extLst>
          </p:cNvPr>
          <p:cNvCxnSpPr>
            <a:cxnSpLocks/>
            <a:endCxn id="77" idx="1"/>
          </p:cNvCxnSpPr>
          <p:nvPr/>
        </p:nvCxnSpPr>
        <p:spPr>
          <a:xfrm rot="16200000" flipH="1">
            <a:off x="75296" y="2574025"/>
            <a:ext cx="582514" cy="19905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D4AF0AC3-696D-478E-A621-89ECADECAC82}"/>
              </a:ext>
            </a:extLst>
          </p:cNvPr>
          <p:cNvSpPr/>
          <p:nvPr/>
        </p:nvSpPr>
        <p:spPr>
          <a:xfrm>
            <a:off x="6560918" y="3778358"/>
            <a:ext cx="2721474" cy="2762142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14300"/>
            <a:r>
              <a:rPr lang="en-US" sz="1600" b="1" dirty="0">
                <a:solidFill>
                  <a:schemeClr val="tx1"/>
                </a:solidFill>
              </a:rPr>
              <a:t>King’s College Criteria </a:t>
            </a:r>
            <a:r>
              <a:rPr lang="en-US" sz="1600" dirty="0">
                <a:solidFill>
                  <a:schemeClr val="tx1"/>
                </a:solidFill>
              </a:rPr>
              <a:t>(or MELD)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can help identify patients who are unlikely to spontaneously recover. </a:t>
            </a:r>
          </a:p>
          <a:p>
            <a:pPr indent="114300"/>
            <a:r>
              <a:rPr lang="en-US" sz="1600" dirty="0">
                <a:solidFill>
                  <a:schemeClr val="tx1"/>
                </a:solidFill>
              </a:rPr>
              <a:t>This patient meets non-APAP KCC criteria and is high risk for needing a liver transplant. </a:t>
            </a:r>
            <a:r>
              <a:rPr lang="en-US" sz="1600" b="1" dirty="0">
                <a:solidFill>
                  <a:schemeClr val="tx1"/>
                </a:solidFill>
              </a:rPr>
              <a:t>Transfer early to a liver transplant capable center. </a:t>
            </a:r>
          </a:p>
        </p:txBody>
      </p:sp>
      <p:pic>
        <p:nvPicPr>
          <p:cNvPr id="98" name="Graphic 97" descr="Cursor with solid fill">
            <a:extLst>
              <a:ext uri="{FF2B5EF4-FFF2-40B4-BE49-F238E27FC236}">
                <a16:creationId xmlns:a16="http://schemas.microsoft.com/office/drawing/2014/main" id="{F2D82E02-642B-48A1-AFA0-40576F39F8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69164" y="3578933"/>
            <a:ext cx="301752" cy="301752"/>
          </a:xfrm>
          <a:prstGeom prst="rect">
            <a:avLst/>
          </a:prstGeom>
        </p:spPr>
      </p:pic>
      <p:pic>
        <p:nvPicPr>
          <p:cNvPr id="63" name="Graphic 62" descr="Cursor with solid fill">
            <a:extLst>
              <a:ext uri="{FF2B5EF4-FFF2-40B4-BE49-F238E27FC236}">
                <a16:creationId xmlns:a16="http://schemas.microsoft.com/office/drawing/2014/main" id="{875B1EA1-3E05-49B8-A7B2-E38699CDE4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44472" y="1432962"/>
            <a:ext cx="301752" cy="301752"/>
          </a:xfrm>
          <a:prstGeom prst="rect">
            <a:avLst/>
          </a:prstGeom>
        </p:spPr>
      </p:pic>
      <p:sp>
        <p:nvSpPr>
          <p:cNvPr id="48" name="Obj 3b">
            <a:hlinkClick r:id="rId7" action="ppaction://hlinksldjump"/>
            <a:extLst>
              <a:ext uri="{FF2B5EF4-FFF2-40B4-BE49-F238E27FC236}">
                <a16:creationId xmlns:a16="http://schemas.microsoft.com/office/drawing/2014/main" id="{9F1F20F8-129A-497D-9643-23F03C8EFE45}"/>
              </a:ext>
            </a:extLst>
          </p:cNvPr>
          <p:cNvSpPr/>
          <p:nvPr/>
        </p:nvSpPr>
        <p:spPr>
          <a:xfrm>
            <a:off x="468416" y="3319697"/>
            <a:ext cx="1176109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C2F783E6-8A1E-4DDA-8AE4-5BCED1CBDA58}"/>
              </a:ext>
            </a:extLst>
          </p:cNvPr>
          <p:cNvCxnSpPr>
            <a:cxnSpLocks/>
            <a:endCxn id="48" idx="1"/>
          </p:cNvCxnSpPr>
          <p:nvPr/>
        </p:nvCxnSpPr>
        <p:spPr>
          <a:xfrm rot="16200000" flipH="1">
            <a:off x="60821" y="3096091"/>
            <a:ext cx="612633" cy="20255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5" name="Graphic 54" descr="Cursor with solid fill">
            <a:extLst>
              <a:ext uri="{FF2B5EF4-FFF2-40B4-BE49-F238E27FC236}">
                <a16:creationId xmlns:a16="http://schemas.microsoft.com/office/drawing/2014/main" id="{B1864338-878C-40E0-91E9-DBB0F01E66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9658" y="3001983"/>
            <a:ext cx="301752" cy="301752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15AADED-70FE-4BDF-9855-FF604AB1AC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033809"/>
              </p:ext>
            </p:extLst>
          </p:nvPr>
        </p:nvGraphicFramePr>
        <p:xfrm>
          <a:off x="9282392" y="3951641"/>
          <a:ext cx="2597416" cy="2407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97416">
                  <a:extLst>
                    <a:ext uri="{9D8B030D-6E8A-4147-A177-3AD203B41FA5}">
                      <a16:colId xmlns:a16="http://schemas.microsoft.com/office/drawing/2014/main" val="827341924"/>
                    </a:ext>
                  </a:extLst>
                </a:gridCol>
              </a:tblGrid>
              <a:tr h="21519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King’s College Criteria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739282"/>
                  </a:ext>
                </a:extLst>
              </a:tr>
              <a:tr h="21519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Non-APAP toxicity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053216"/>
                  </a:ext>
                </a:extLst>
              </a:tr>
              <a:tr h="21519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INR &gt; 6.5  (PT &gt; 100)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18903"/>
                  </a:ext>
                </a:extLst>
              </a:tr>
              <a:tr h="21519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OR</a:t>
                      </a:r>
                      <a:r>
                        <a:rPr lang="en-US" sz="1400" dirty="0"/>
                        <a:t> at least 3 of the following: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380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68275" indent="-168275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Age &lt; 10 or &gt; 40</a:t>
                      </a:r>
                    </a:p>
                  </a:txBody>
                  <a:tcPr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921998"/>
                  </a:ext>
                </a:extLst>
              </a:tr>
              <a:tr h="29684">
                <a:tc>
                  <a:txBody>
                    <a:bodyPr/>
                    <a:lstStyle/>
                    <a:p>
                      <a:pPr marL="168275" marR="0" lvl="0" indent="-1682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HAV, HBV, drug-related ALF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174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68275" marR="0" lvl="0" indent="-1682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Jaundice precedes HE by &gt;7 d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093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68275" marR="0" lvl="0" indent="-1682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>
                          <a:highlight>
                            <a:srgbClr val="FFFF00"/>
                          </a:highlight>
                        </a:rPr>
                        <a:t>INR &gt; 3.5 (PT &gt; 50)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009860"/>
                  </a:ext>
                </a:extLst>
              </a:tr>
              <a:tr h="156508">
                <a:tc>
                  <a:txBody>
                    <a:bodyPr/>
                    <a:lstStyle/>
                    <a:p>
                      <a:pPr marL="168275" marR="0" lvl="0" indent="-1682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err="1"/>
                        <a:t>Tbili</a:t>
                      </a:r>
                      <a:r>
                        <a:rPr lang="en-US" sz="1400" dirty="0"/>
                        <a:t> &gt; 18 mg/dL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216572"/>
                  </a:ext>
                </a:extLst>
              </a:tr>
            </a:tbl>
          </a:graphicData>
        </a:graphic>
      </p:graphicFrame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0C91465-FEA6-4C98-86BE-A96529AAE5C0}"/>
              </a:ext>
            </a:extLst>
          </p:cNvPr>
          <p:cNvCxnSpPr>
            <a:cxnSpLocks/>
          </p:cNvCxnSpPr>
          <p:nvPr/>
        </p:nvCxnSpPr>
        <p:spPr>
          <a:xfrm>
            <a:off x="6371772" y="907100"/>
            <a:ext cx="0" cy="54524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C2Q1">
            <a:extLst>
              <a:ext uri="{FF2B5EF4-FFF2-40B4-BE49-F238E27FC236}">
                <a16:creationId xmlns:a16="http://schemas.microsoft.com/office/drawing/2014/main" id="{AD2953AB-4D23-4FEA-85A0-31E236A72431}"/>
              </a:ext>
            </a:extLst>
          </p:cNvPr>
          <p:cNvSpPr/>
          <p:nvPr/>
        </p:nvSpPr>
        <p:spPr>
          <a:xfrm>
            <a:off x="2090179" y="3686354"/>
            <a:ext cx="4000265" cy="953130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What online resource can be used to determine if this patient’s could have caused ALF? 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38" name="Graphic 37" descr="Cursor with solid fill">
            <a:extLst>
              <a:ext uri="{FF2B5EF4-FFF2-40B4-BE49-F238E27FC236}">
                <a16:creationId xmlns:a16="http://schemas.microsoft.com/office/drawing/2014/main" id="{F1EC2654-E853-4B26-AA36-7822B0FE68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18419" y="4488608"/>
            <a:ext cx="301752" cy="301752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23E266F7-47D7-4403-AC51-E58D96B30573}"/>
              </a:ext>
            </a:extLst>
          </p:cNvPr>
          <p:cNvSpPr/>
          <p:nvPr/>
        </p:nvSpPr>
        <p:spPr>
          <a:xfrm>
            <a:off x="2090179" y="4639484"/>
            <a:ext cx="3896319" cy="1342741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14300"/>
            <a:r>
              <a:rPr lang="en-US" sz="1600" dirty="0">
                <a:solidFill>
                  <a:schemeClr val="tx1"/>
                </a:solidFill>
              </a:rPr>
              <a:t>The NIH website, </a:t>
            </a:r>
            <a:r>
              <a:rPr lang="en-US" sz="1600" b="1" dirty="0" err="1">
                <a:solidFill>
                  <a:schemeClr val="tx1"/>
                </a:solidFill>
              </a:rPr>
              <a:t>LiverTox</a:t>
            </a:r>
            <a:r>
              <a:rPr lang="en-US" sz="1600" dirty="0">
                <a:solidFill>
                  <a:schemeClr val="tx1"/>
                </a:solidFill>
              </a:rPr>
              <a:t>, can be used to review liver injury patterns and potential severity for most medications and supplements  (livertox.nih.gov)  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B4E42B80-0D31-46AF-8D72-4B7A49CCC233}"/>
              </a:ext>
            </a:extLst>
          </p:cNvPr>
          <p:cNvCxnSpPr>
            <a:cxnSpLocks/>
          </p:cNvCxnSpPr>
          <p:nvPr/>
        </p:nvCxnSpPr>
        <p:spPr>
          <a:xfrm rot="16200000" flipH="1">
            <a:off x="74127" y="2046708"/>
            <a:ext cx="582514" cy="19905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8420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</p:childTnLst>
        </p:cTn>
      </p:par>
    </p:tnLst>
    <p:bldLst>
      <p:bldP spid="93" grpId="0" animBg="1"/>
      <p:bldP spid="97" grpId="0"/>
      <p:bldP spid="4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1E82FA-9E41-408C-8808-FA9C860A4253}"/>
              </a:ext>
            </a:extLst>
          </p:cNvPr>
          <p:cNvSpPr/>
          <p:nvPr/>
        </p:nvSpPr>
        <p:spPr>
          <a:xfrm>
            <a:off x="6779875" y="710397"/>
            <a:ext cx="5228623" cy="6034198"/>
          </a:xfrm>
          <a:prstGeom prst="roundRect">
            <a:avLst>
              <a:gd name="adj" fmla="val 8577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Button 1">
            <a:extLst>
              <a:ext uri="{FF2B5EF4-FFF2-40B4-BE49-F238E27FC236}">
                <a16:creationId xmlns:a16="http://schemas.microsoft.com/office/drawing/2014/main" id="{61E541AF-2C75-4346-9A53-04AD6378EBD6}"/>
              </a:ext>
            </a:extLst>
          </p:cNvPr>
          <p:cNvSpPr/>
          <p:nvPr/>
        </p:nvSpPr>
        <p:spPr>
          <a:xfrm>
            <a:off x="936297" y="916308"/>
            <a:ext cx="4086224" cy="165249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DEFINITION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1) </a:t>
            </a:r>
          </a:p>
          <a:p>
            <a:endParaRPr lang="en-US" sz="600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2)</a:t>
            </a:r>
          </a:p>
          <a:p>
            <a:endParaRPr lang="en-US" sz="500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3)</a:t>
            </a:r>
            <a:endParaRPr lang="en-US" sz="1200" dirty="0">
              <a:solidFill>
                <a:schemeClr val="tx1"/>
              </a:solidFill>
            </a:endParaRPr>
          </a:p>
        </p:txBody>
      </p:sp>
      <p:graphicFrame>
        <p:nvGraphicFramePr>
          <p:cNvPr id="23" name="Diagram 22">
            <a:extLst>
              <a:ext uri="{FF2B5EF4-FFF2-40B4-BE49-F238E27FC236}">
                <a16:creationId xmlns:a16="http://schemas.microsoft.com/office/drawing/2014/main" id="{B5C81D35-F7CA-47CB-B987-AAC9EEDD3DCB}"/>
              </a:ext>
            </a:extLst>
          </p:cNvPr>
          <p:cNvGraphicFramePr/>
          <p:nvPr/>
        </p:nvGraphicFramePr>
        <p:xfrm>
          <a:off x="353287" y="3209082"/>
          <a:ext cx="2398383" cy="34679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2" name="Button 1">
            <a:extLst>
              <a:ext uri="{FF2B5EF4-FFF2-40B4-BE49-F238E27FC236}">
                <a16:creationId xmlns:a16="http://schemas.microsoft.com/office/drawing/2014/main" id="{E0AD7FE6-E23F-47E9-B62F-8BB86404795F}"/>
              </a:ext>
            </a:extLst>
          </p:cNvPr>
          <p:cNvSpPr/>
          <p:nvPr/>
        </p:nvSpPr>
        <p:spPr>
          <a:xfrm>
            <a:off x="6994346" y="1234506"/>
            <a:ext cx="4086224" cy="424882"/>
          </a:xfrm>
          <a:prstGeom prst="round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1)</a:t>
            </a:r>
          </a:p>
        </p:txBody>
      </p:sp>
      <p:sp>
        <p:nvSpPr>
          <p:cNvPr id="33" name="Button 2">
            <a:extLst>
              <a:ext uri="{FF2B5EF4-FFF2-40B4-BE49-F238E27FC236}">
                <a16:creationId xmlns:a16="http://schemas.microsoft.com/office/drawing/2014/main" id="{DE8C4456-4C0F-40C5-BACF-C7C813477807}"/>
              </a:ext>
            </a:extLst>
          </p:cNvPr>
          <p:cNvSpPr/>
          <p:nvPr/>
        </p:nvSpPr>
        <p:spPr>
          <a:xfrm>
            <a:off x="6997408" y="5509074"/>
            <a:ext cx="1444457" cy="461663"/>
          </a:xfrm>
          <a:prstGeom prst="round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2)</a:t>
            </a:r>
          </a:p>
        </p:txBody>
      </p:sp>
      <p:sp>
        <p:nvSpPr>
          <p:cNvPr id="34" name="Button 3">
            <a:extLst>
              <a:ext uri="{FF2B5EF4-FFF2-40B4-BE49-F238E27FC236}">
                <a16:creationId xmlns:a16="http://schemas.microsoft.com/office/drawing/2014/main" id="{B661DD9A-378D-4EAC-ABE2-B41E463C3186}"/>
              </a:ext>
            </a:extLst>
          </p:cNvPr>
          <p:cNvSpPr/>
          <p:nvPr/>
        </p:nvSpPr>
        <p:spPr>
          <a:xfrm>
            <a:off x="6994346" y="6073470"/>
            <a:ext cx="4368780" cy="564956"/>
          </a:xfrm>
          <a:prstGeom prst="round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4)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5CA280-9896-4881-93DE-74CF5AD63A0D}"/>
              </a:ext>
            </a:extLst>
          </p:cNvPr>
          <p:cNvSpPr txBox="1"/>
          <p:nvPr/>
        </p:nvSpPr>
        <p:spPr>
          <a:xfrm>
            <a:off x="3697880" y="91426"/>
            <a:ext cx="52286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Acute Liver Failure - Summary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9D0E94-8CF0-4AF6-B825-6DF6C809950E}"/>
              </a:ext>
            </a:extLst>
          </p:cNvPr>
          <p:cNvSpPr txBox="1"/>
          <p:nvPr/>
        </p:nvSpPr>
        <p:spPr>
          <a:xfrm>
            <a:off x="2047303" y="2808914"/>
            <a:ext cx="1933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ETIOLOGIES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432999-E579-4FB8-8723-D14230E40BC6}"/>
              </a:ext>
            </a:extLst>
          </p:cNvPr>
          <p:cNvSpPr/>
          <p:nvPr/>
        </p:nvSpPr>
        <p:spPr>
          <a:xfrm>
            <a:off x="2265403" y="3250949"/>
            <a:ext cx="2363698" cy="814410"/>
          </a:xfrm>
          <a:prstGeom prst="rect">
            <a:avLst/>
          </a:prstGeom>
          <a:solidFill>
            <a:schemeClr val="bg1"/>
          </a:solidFill>
          <a:ln w="38100">
            <a:solidFill>
              <a:srgbClr val="DE5F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8720FC-207B-41DF-B467-490456797E77}"/>
              </a:ext>
            </a:extLst>
          </p:cNvPr>
          <p:cNvSpPr/>
          <p:nvPr/>
        </p:nvSpPr>
        <p:spPr>
          <a:xfrm>
            <a:off x="2254464" y="4127031"/>
            <a:ext cx="2377474" cy="797563"/>
          </a:xfrm>
          <a:prstGeom prst="rect">
            <a:avLst/>
          </a:prstGeom>
          <a:solidFill>
            <a:schemeClr val="bg1"/>
          </a:solidFill>
          <a:ln w="38100">
            <a:solidFill>
              <a:srgbClr val="E57D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023605-D0E2-4DC6-91E5-D73C1A53B83F}"/>
              </a:ext>
            </a:extLst>
          </p:cNvPr>
          <p:cNvSpPr/>
          <p:nvPr/>
        </p:nvSpPr>
        <p:spPr>
          <a:xfrm>
            <a:off x="2244559" y="4986267"/>
            <a:ext cx="2377474" cy="797563"/>
          </a:xfrm>
          <a:prstGeom prst="rect">
            <a:avLst/>
          </a:prstGeom>
          <a:solidFill>
            <a:schemeClr val="bg1"/>
          </a:solidFill>
          <a:ln w="38100">
            <a:solidFill>
              <a:srgbClr val="EDA1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C66C9B9-0387-49B4-BDA8-C0D561732B96}"/>
              </a:ext>
            </a:extLst>
          </p:cNvPr>
          <p:cNvSpPr/>
          <p:nvPr/>
        </p:nvSpPr>
        <p:spPr>
          <a:xfrm>
            <a:off x="2248070" y="5828608"/>
            <a:ext cx="2373963" cy="937317"/>
          </a:xfrm>
          <a:prstGeom prst="rect">
            <a:avLst/>
          </a:prstGeom>
          <a:noFill/>
          <a:ln w="38100">
            <a:solidFill>
              <a:srgbClr val="F8C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1400" dirty="0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C565BB-032D-482B-AD2B-88FBDA57F248}"/>
              </a:ext>
            </a:extLst>
          </p:cNvPr>
          <p:cNvSpPr/>
          <p:nvPr/>
        </p:nvSpPr>
        <p:spPr>
          <a:xfrm>
            <a:off x="4714362" y="3236802"/>
            <a:ext cx="1579566" cy="828558"/>
          </a:xfrm>
          <a:prstGeom prst="rect">
            <a:avLst/>
          </a:prstGeom>
          <a:solidFill>
            <a:schemeClr val="bg1"/>
          </a:solidFill>
          <a:ln w="38100">
            <a:solidFill>
              <a:srgbClr val="DE5F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A4D7B3-9DDC-4206-882A-736FCF9153B1}"/>
              </a:ext>
            </a:extLst>
          </p:cNvPr>
          <p:cNvSpPr/>
          <p:nvPr/>
        </p:nvSpPr>
        <p:spPr>
          <a:xfrm>
            <a:off x="4721302" y="4119559"/>
            <a:ext cx="1572626" cy="797563"/>
          </a:xfrm>
          <a:prstGeom prst="rect">
            <a:avLst/>
          </a:prstGeom>
          <a:solidFill>
            <a:schemeClr val="bg1"/>
          </a:solidFill>
          <a:ln w="38100">
            <a:solidFill>
              <a:srgbClr val="E57D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5562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6E5E1D9-31D5-4E82-ADC1-2BC3E1E52220}"/>
              </a:ext>
            </a:extLst>
          </p:cNvPr>
          <p:cNvSpPr/>
          <p:nvPr/>
        </p:nvSpPr>
        <p:spPr>
          <a:xfrm>
            <a:off x="4721303" y="4984290"/>
            <a:ext cx="1572626" cy="797563"/>
          </a:xfrm>
          <a:prstGeom prst="rect">
            <a:avLst/>
          </a:prstGeom>
          <a:solidFill>
            <a:schemeClr val="bg1"/>
          </a:solidFill>
          <a:ln w="38100">
            <a:solidFill>
              <a:srgbClr val="EDA1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5562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2311F0-A366-4A11-8CA3-53A4A4534A95}"/>
              </a:ext>
            </a:extLst>
          </p:cNvPr>
          <p:cNvSpPr/>
          <p:nvPr/>
        </p:nvSpPr>
        <p:spPr>
          <a:xfrm>
            <a:off x="4714362" y="5849022"/>
            <a:ext cx="1579566" cy="916903"/>
          </a:xfrm>
          <a:prstGeom prst="rect">
            <a:avLst/>
          </a:prstGeom>
          <a:solidFill>
            <a:schemeClr val="bg1"/>
          </a:solidFill>
          <a:ln w="38100">
            <a:solidFill>
              <a:srgbClr val="F8C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1400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14F9559-A2EE-4976-A06F-F4415B1B3288}"/>
              </a:ext>
            </a:extLst>
          </p:cNvPr>
          <p:cNvSpPr txBox="1"/>
          <p:nvPr/>
        </p:nvSpPr>
        <p:spPr>
          <a:xfrm>
            <a:off x="8317569" y="814362"/>
            <a:ext cx="1933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MANAGEMENT</a:t>
            </a:r>
          </a:p>
        </p:txBody>
      </p:sp>
      <p:sp>
        <p:nvSpPr>
          <p:cNvPr id="20" name="Button 2">
            <a:extLst>
              <a:ext uri="{FF2B5EF4-FFF2-40B4-BE49-F238E27FC236}">
                <a16:creationId xmlns:a16="http://schemas.microsoft.com/office/drawing/2014/main" id="{DA179054-27EB-4A06-87F3-395160FC8D73}"/>
              </a:ext>
            </a:extLst>
          </p:cNvPr>
          <p:cNvSpPr/>
          <p:nvPr/>
        </p:nvSpPr>
        <p:spPr>
          <a:xfrm>
            <a:off x="6994345" y="5812806"/>
            <a:ext cx="4191105" cy="461663"/>
          </a:xfrm>
          <a:prstGeom prst="round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3)</a:t>
            </a:r>
          </a:p>
        </p:txBody>
      </p:sp>
    </p:spTree>
    <p:extLst>
      <p:ext uri="{BB962C8B-B14F-4D97-AF65-F5344CB8AC3E}">
        <p14:creationId xmlns:p14="http://schemas.microsoft.com/office/powerpoint/2010/main" val="3679503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1E82FA-9E41-408C-8808-FA9C860A4253}"/>
              </a:ext>
            </a:extLst>
          </p:cNvPr>
          <p:cNvSpPr/>
          <p:nvPr/>
        </p:nvSpPr>
        <p:spPr>
          <a:xfrm>
            <a:off x="6779875" y="710397"/>
            <a:ext cx="5228623" cy="6034198"/>
          </a:xfrm>
          <a:prstGeom prst="roundRect">
            <a:avLst>
              <a:gd name="adj" fmla="val 8577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Button 1">
            <a:extLst>
              <a:ext uri="{FF2B5EF4-FFF2-40B4-BE49-F238E27FC236}">
                <a16:creationId xmlns:a16="http://schemas.microsoft.com/office/drawing/2014/main" id="{61E541AF-2C75-4346-9A53-04AD6378EBD6}"/>
              </a:ext>
            </a:extLst>
          </p:cNvPr>
          <p:cNvSpPr/>
          <p:nvPr/>
        </p:nvSpPr>
        <p:spPr>
          <a:xfrm>
            <a:off x="936297" y="916308"/>
            <a:ext cx="4086224" cy="165249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DEFINITION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1) Acute liver inflammation*</a:t>
            </a:r>
          </a:p>
          <a:p>
            <a:r>
              <a:rPr lang="en-US" sz="1600" dirty="0">
                <a:solidFill>
                  <a:schemeClr val="tx1"/>
                </a:solidFill>
              </a:rPr>
              <a:t>2) Coagulopathy (INR &gt; 1.5)</a:t>
            </a:r>
          </a:p>
          <a:p>
            <a:r>
              <a:rPr lang="en-US" sz="1600" dirty="0">
                <a:solidFill>
                  <a:schemeClr val="tx1"/>
                </a:solidFill>
              </a:rPr>
              <a:t>3) Hepatic Encephalopathy</a:t>
            </a:r>
          </a:p>
          <a:p>
            <a:r>
              <a:rPr lang="en-US" sz="1200" dirty="0">
                <a:solidFill>
                  <a:schemeClr val="tx1"/>
                </a:solidFill>
              </a:rPr>
              <a:t>           *Without underlying liver disease</a:t>
            </a:r>
          </a:p>
        </p:txBody>
      </p:sp>
      <p:graphicFrame>
        <p:nvGraphicFramePr>
          <p:cNvPr id="23" name="Diagram 22">
            <a:extLst>
              <a:ext uri="{FF2B5EF4-FFF2-40B4-BE49-F238E27FC236}">
                <a16:creationId xmlns:a16="http://schemas.microsoft.com/office/drawing/2014/main" id="{B5C81D35-F7CA-47CB-B987-AAC9EEDD3D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5206121"/>
              </p:ext>
            </p:extLst>
          </p:nvPr>
        </p:nvGraphicFramePr>
        <p:xfrm>
          <a:off x="353287" y="3209082"/>
          <a:ext cx="2398383" cy="34679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2" name="Button 1">
            <a:extLst>
              <a:ext uri="{FF2B5EF4-FFF2-40B4-BE49-F238E27FC236}">
                <a16:creationId xmlns:a16="http://schemas.microsoft.com/office/drawing/2014/main" id="{E0AD7FE6-E23F-47E9-B62F-8BB86404795F}"/>
              </a:ext>
            </a:extLst>
          </p:cNvPr>
          <p:cNvSpPr/>
          <p:nvPr/>
        </p:nvSpPr>
        <p:spPr>
          <a:xfrm>
            <a:off x="6994346" y="1234506"/>
            <a:ext cx="4086224" cy="424882"/>
          </a:xfrm>
          <a:prstGeom prst="round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1) Treat and prevent complications</a:t>
            </a:r>
          </a:p>
        </p:txBody>
      </p:sp>
      <p:sp>
        <p:nvSpPr>
          <p:cNvPr id="33" name="Button 2">
            <a:extLst>
              <a:ext uri="{FF2B5EF4-FFF2-40B4-BE49-F238E27FC236}">
                <a16:creationId xmlns:a16="http://schemas.microsoft.com/office/drawing/2014/main" id="{DE8C4456-4C0F-40C5-BACF-C7C813477807}"/>
              </a:ext>
            </a:extLst>
          </p:cNvPr>
          <p:cNvSpPr/>
          <p:nvPr/>
        </p:nvSpPr>
        <p:spPr>
          <a:xfrm>
            <a:off x="6997408" y="5509074"/>
            <a:ext cx="1444457" cy="461663"/>
          </a:xfrm>
          <a:prstGeom prst="round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2) NAC</a:t>
            </a:r>
          </a:p>
        </p:txBody>
      </p:sp>
      <p:sp>
        <p:nvSpPr>
          <p:cNvPr id="34" name="Button 3">
            <a:extLst>
              <a:ext uri="{FF2B5EF4-FFF2-40B4-BE49-F238E27FC236}">
                <a16:creationId xmlns:a16="http://schemas.microsoft.com/office/drawing/2014/main" id="{B661DD9A-378D-4EAC-ABE2-B41E463C3186}"/>
              </a:ext>
            </a:extLst>
          </p:cNvPr>
          <p:cNvSpPr/>
          <p:nvPr/>
        </p:nvSpPr>
        <p:spPr>
          <a:xfrm>
            <a:off x="6994346" y="6073470"/>
            <a:ext cx="4368780" cy="564956"/>
          </a:xfrm>
          <a:prstGeom prst="round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4) Transfer to Liver Transplant (LT) Center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5CA280-9896-4881-93DE-74CF5AD63A0D}"/>
              </a:ext>
            </a:extLst>
          </p:cNvPr>
          <p:cNvSpPr txBox="1"/>
          <p:nvPr/>
        </p:nvSpPr>
        <p:spPr>
          <a:xfrm>
            <a:off x="3697880" y="91426"/>
            <a:ext cx="52286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Acute Liver Failure - Summary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9D0E94-8CF0-4AF6-B825-6DF6C809950E}"/>
              </a:ext>
            </a:extLst>
          </p:cNvPr>
          <p:cNvSpPr txBox="1"/>
          <p:nvPr/>
        </p:nvSpPr>
        <p:spPr>
          <a:xfrm>
            <a:off x="2047303" y="2808914"/>
            <a:ext cx="1933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ETIOLOGIES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432999-E579-4FB8-8723-D14230E40BC6}"/>
              </a:ext>
            </a:extLst>
          </p:cNvPr>
          <p:cNvSpPr/>
          <p:nvPr/>
        </p:nvSpPr>
        <p:spPr>
          <a:xfrm>
            <a:off x="2265403" y="3250949"/>
            <a:ext cx="2363698" cy="814410"/>
          </a:xfrm>
          <a:prstGeom prst="rect">
            <a:avLst/>
          </a:prstGeom>
          <a:solidFill>
            <a:schemeClr val="bg1"/>
          </a:solidFill>
          <a:ln w="38100">
            <a:solidFill>
              <a:srgbClr val="DE5F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68275" indent="-168275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APAP, statins, AED, </a:t>
            </a:r>
            <a:r>
              <a:rPr lang="en-US" sz="1400" dirty="0" err="1">
                <a:solidFill>
                  <a:schemeClr val="tx1"/>
                </a:solidFill>
              </a:rPr>
              <a:t>abx</a:t>
            </a:r>
            <a:endParaRPr lang="en-US" sz="1400" dirty="0">
              <a:solidFill>
                <a:schemeClr val="tx1"/>
              </a:solidFill>
            </a:endParaRPr>
          </a:p>
          <a:p>
            <a:pPr marL="168275" indent="-168275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Supplements, mushrooms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8720FC-207B-41DF-B467-490456797E77}"/>
              </a:ext>
            </a:extLst>
          </p:cNvPr>
          <p:cNvSpPr/>
          <p:nvPr/>
        </p:nvSpPr>
        <p:spPr>
          <a:xfrm>
            <a:off x="2254464" y="4127031"/>
            <a:ext cx="2377474" cy="797563"/>
          </a:xfrm>
          <a:prstGeom prst="rect">
            <a:avLst/>
          </a:prstGeom>
          <a:solidFill>
            <a:schemeClr val="bg1"/>
          </a:solidFill>
          <a:ln w="38100">
            <a:solidFill>
              <a:srgbClr val="E57D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68275" indent="-168275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Hepatitis A, B, D, &amp; E</a:t>
            </a:r>
          </a:p>
          <a:p>
            <a:pPr marL="168275" indent="-168275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Rarely: HSV, VZV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023605-D0E2-4DC6-91E5-D73C1A53B83F}"/>
              </a:ext>
            </a:extLst>
          </p:cNvPr>
          <p:cNvSpPr/>
          <p:nvPr/>
        </p:nvSpPr>
        <p:spPr>
          <a:xfrm>
            <a:off x="2244559" y="4986267"/>
            <a:ext cx="2377474" cy="797563"/>
          </a:xfrm>
          <a:prstGeom prst="rect">
            <a:avLst/>
          </a:prstGeom>
          <a:solidFill>
            <a:schemeClr val="bg1"/>
          </a:solidFill>
          <a:ln w="38100">
            <a:solidFill>
              <a:srgbClr val="EDA1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68275" indent="-168275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Budd-Chiari</a:t>
            </a:r>
          </a:p>
          <a:p>
            <a:pPr marL="168275" indent="-168275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Shock liver / Ischemic hepatitis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C66C9B9-0387-49B4-BDA8-C0D561732B96}"/>
              </a:ext>
            </a:extLst>
          </p:cNvPr>
          <p:cNvSpPr/>
          <p:nvPr/>
        </p:nvSpPr>
        <p:spPr>
          <a:xfrm>
            <a:off x="2248070" y="5828608"/>
            <a:ext cx="2373963" cy="937317"/>
          </a:xfrm>
          <a:prstGeom prst="rect">
            <a:avLst/>
          </a:prstGeom>
          <a:noFill/>
          <a:ln w="38100">
            <a:solidFill>
              <a:srgbClr val="F8C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68275" indent="-168275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Autoimmune Hepatitis</a:t>
            </a:r>
          </a:p>
          <a:p>
            <a:pPr marL="168275" indent="-168275">
              <a:buFont typeface="Wingdings,Sans-Serif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Pregnancy-related </a:t>
            </a:r>
          </a:p>
          <a:p>
            <a:pPr marL="168275" indent="-168275">
              <a:buFont typeface="Wingdings,Sans-Serif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Wilson’s Disease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C565BB-032D-482B-AD2B-88FBDA57F248}"/>
              </a:ext>
            </a:extLst>
          </p:cNvPr>
          <p:cNvSpPr/>
          <p:nvPr/>
        </p:nvSpPr>
        <p:spPr>
          <a:xfrm>
            <a:off x="4714362" y="3236802"/>
            <a:ext cx="1579566" cy="828558"/>
          </a:xfrm>
          <a:prstGeom prst="rect">
            <a:avLst/>
          </a:prstGeom>
          <a:solidFill>
            <a:schemeClr val="bg1"/>
          </a:solidFill>
          <a:ln w="38100">
            <a:solidFill>
              <a:srgbClr val="DE5F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68275" indent="-168275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APAP, salicylate level</a:t>
            </a:r>
          </a:p>
          <a:p>
            <a:pPr marL="168275" indent="-168275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Urine tox screen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A4D7B3-9DDC-4206-882A-736FCF9153B1}"/>
              </a:ext>
            </a:extLst>
          </p:cNvPr>
          <p:cNvSpPr/>
          <p:nvPr/>
        </p:nvSpPr>
        <p:spPr>
          <a:xfrm>
            <a:off x="4721302" y="4119559"/>
            <a:ext cx="1572626" cy="797563"/>
          </a:xfrm>
          <a:prstGeom prst="rect">
            <a:avLst/>
          </a:prstGeom>
          <a:solidFill>
            <a:schemeClr val="bg1"/>
          </a:solidFill>
          <a:ln w="38100">
            <a:solidFill>
              <a:srgbClr val="E57D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68275" indent="-112713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Viral serologies and PCRs</a:t>
            </a:r>
          </a:p>
          <a:p>
            <a:pPr marL="168275" indent="-112713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HIV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6E5E1D9-31D5-4E82-ADC1-2BC3E1E52220}"/>
              </a:ext>
            </a:extLst>
          </p:cNvPr>
          <p:cNvSpPr/>
          <p:nvPr/>
        </p:nvSpPr>
        <p:spPr>
          <a:xfrm>
            <a:off x="4721303" y="4984290"/>
            <a:ext cx="1572626" cy="797563"/>
          </a:xfrm>
          <a:prstGeom prst="rect">
            <a:avLst/>
          </a:prstGeom>
          <a:solidFill>
            <a:schemeClr val="bg1"/>
          </a:solidFill>
          <a:ln w="38100">
            <a:solidFill>
              <a:srgbClr val="EDA1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68275" indent="-112713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Liver ultrasound with doppler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2311F0-A366-4A11-8CA3-53A4A4534A95}"/>
              </a:ext>
            </a:extLst>
          </p:cNvPr>
          <p:cNvSpPr/>
          <p:nvPr/>
        </p:nvSpPr>
        <p:spPr>
          <a:xfrm>
            <a:off x="4714362" y="5849022"/>
            <a:ext cx="1579566" cy="916903"/>
          </a:xfrm>
          <a:prstGeom prst="rect">
            <a:avLst/>
          </a:prstGeom>
          <a:solidFill>
            <a:schemeClr val="bg1"/>
          </a:solidFill>
          <a:ln w="38100">
            <a:solidFill>
              <a:srgbClr val="F8C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68275" indent="-168275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ANA, AMSA, IgG</a:t>
            </a:r>
          </a:p>
          <a:p>
            <a:pPr marL="168275" indent="-168275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  <a:cs typeface="Calibri"/>
              </a:rPr>
              <a:t>Pregnancy test</a:t>
            </a:r>
          </a:p>
          <a:p>
            <a:pPr marL="168275" indent="-168275">
              <a:buFont typeface="Wingdings" panose="05000000000000000000" pitchFamily="2" charset="2"/>
              <a:buChar char="§"/>
            </a:pPr>
            <a:r>
              <a:rPr lang="en-US" sz="1400" dirty="0" err="1">
                <a:solidFill>
                  <a:schemeClr val="tx1"/>
                </a:solidFill>
                <a:cs typeface="Calibri"/>
              </a:rPr>
              <a:t>Ceruloplasmin</a:t>
            </a:r>
            <a:endParaRPr lang="en-US" sz="1400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14F9559-A2EE-4976-A06F-F4415B1B3288}"/>
              </a:ext>
            </a:extLst>
          </p:cNvPr>
          <p:cNvSpPr txBox="1"/>
          <p:nvPr/>
        </p:nvSpPr>
        <p:spPr>
          <a:xfrm>
            <a:off x="8317569" y="814362"/>
            <a:ext cx="1933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MANAGEMENT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916AA7B-4FB7-4A5B-B7D5-5E4572A48B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618900"/>
              </p:ext>
            </p:extLst>
          </p:nvPr>
        </p:nvGraphicFramePr>
        <p:xfrm>
          <a:off x="7042296" y="1738581"/>
          <a:ext cx="4747874" cy="366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1904">
                  <a:extLst>
                    <a:ext uri="{9D8B030D-6E8A-4147-A177-3AD203B41FA5}">
                      <a16:colId xmlns:a16="http://schemas.microsoft.com/office/drawing/2014/main" val="2517507652"/>
                    </a:ext>
                  </a:extLst>
                </a:gridCol>
                <a:gridCol w="2955970">
                  <a:extLst>
                    <a:ext uri="{9D8B030D-6E8A-4147-A177-3AD203B41FA5}">
                      <a16:colId xmlns:a16="http://schemas.microsoft.com/office/drawing/2014/main" val="21115725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Complication</a:t>
                      </a:r>
                    </a:p>
                  </a:txBody>
                  <a:tcPr>
                    <a:solidFill>
                      <a:srgbClr val="D8B0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Monitoring/ Treatment</a:t>
                      </a:r>
                    </a:p>
                  </a:txBody>
                  <a:tcPr>
                    <a:solidFill>
                      <a:srgbClr val="D8B0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689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Cerebral Edema</a:t>
                      </a:r>
                    </a:p>
                  </a:txBody>
                  <a:tcPr>
                    <a:solidFill>
                      <a:srgbClr val="E7C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CT head</a:t>
                      </a:r>
                    </a:p>
                    <a:p>
                      <a:pPr algn="l"/>
                      <a:r>
                        <a:rPr lang="en-US" sz="1400" dirty="0"/>
                        <a:t>Q1-4h </a:t>
                      </a:r>
                      <a:r>
                        <a:rPr lang="en-US" sz="1400" dirty="0" err="1"/>
                        <a:t>neurochecks</a:t>
                      </a:r>
                      <a:endParaRPr lang="en-US" sz="1400" dirty="0"/>
                    </a:p>
                    <a:p>
                      <a:pPr algn="l"/>
                      <a:r>
                        <a:rPr lang="en-US" sz="1400" dirty="0"/>
                        <a:t>Intubation (airway protection)</a:t>
                      </a:r>
                    </a:p>
                    <a:p>
                      <a:pPr algn="l"/>
                      <a:r>
                        <a:rPr lang="en-US" sz="1400" dirty="0"/>
                        <a:t>HOB &gt; 30</a:t>
                      </a:r>
                      <a:r>
                        <a:rPr lang="en-US" sz="1400" baseline="30000" dirty="0"/>
                        <a:t>o</a:t>
                      </a:r>
                      <a:r>
                        <a:rPr lang="en-US" sz="1400" baseline="0" dirty="0"/>
                        <a:t>, hypertonic saline, mannitol</a:t>
                      </a:r>
                    </a:p>
                  </a:txBody>
                  <a:tcPr>
                    <a:solidFill>
                      <a:srgbClr val="E7C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122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Hypoglycemia</a:t>
                      </a:r>
                    </a:p>
                  </a:txBody>
                  <a:tcPr>
                    <a:solidFill>
                      <a:srgbClr val="D8B0B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From lack of gluconeogenesis</a:t>
                      </a:r>
                    </a:p>
                    <a:p>
                      <a:pPr algn="l"/>
                      <a:r>
                        <a:rPr lang="en-US" sz="1400" dirty="0"/>
                        <a:t>Q1-2h blood glucose</a:t>
                      </a:r>
                    </a:p>
                    <a:p>
                      <a:pPr algn="l"/>
                      <a:r>
                        <a:rPr lang="en-US" sz="1400" dirty="0"/>
                        <a:t>D5W infusion</a:t>
                      </a:r>
                    </a:p>
                  </a:txBody>
                  <a:tcPr>
                    <a:solidFill>
                      <a:srgbClr val="D8B0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050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Multiorgan failure</a:t>
                      </a:r>
                    </a:p>
                  </a:txBody>
                  <a:tcPr>
                    <a:solidFill>
                      <a:srgbClr val="E7C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Intubation, vasopressors</a:t>
                      </a:r>
                    </a:p>
                    <a:p>
                      <a:pPr algn="l"/>
                      <a:r>
                        <a:rPr lang="en-US" sz="1400" dirty="0"/>
                        <a:t>Renal replacement therapy</a:t>
                      </a:r>
                    </a:p>
                  </a:txBody>
                  <a:tcPr>
                    <a:solidFill>
                      <a:srgbClr val="E7C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903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Coagulopathy</a:t>
                      </a:r>
                    </a:p>
                  </a:txBody>
                  <a:tcPr>
                    <a:solidFill>
                      <a:srgbClr val="E7C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FFP and IV vitamin K only if bleeding</a:t>
                      </a:r>
                    </a:p>
                  </a:txBody>
                  <a:tcPr>
                    <a:solidFill>
                      <a:srgbClr val="E7C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781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Infection</a:t>
                      </a:r>
                    </a:p>
                  </a:txBody>
                  <a:tcPr>
                    <a:solidFill>
                      <a:srgbClr val="E7C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Consider prophylactic antibiotics/ antivirals</a:t>
                      </a:r>
                    </a:p>
                  </a:txBody>
                  <a:tcPr>
                    <a:solidFill>
                      <a:srgbClr val="E7C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555413"/>
                  </a:ext>
                </a:extLst>
              </a:tr>
            </a:tbl>
          </a:graphicData>
        </a:graphic>
      </p:graphicFrame>
      <p:sp>
        <p:nvSpPr>
          <p:cNvPr id="20" name="Button 2">
            <a:extLst>
              <a:ext uri="{FF2B5EF4-FFF2-40B4-BE49-F238E27FC236}">
                <a16:creationId xmlns:a16="http://schemas.microsoft.com/office/drawing/2014/main" id="{DA179054-27EB-4A06-87F3-395160FC8D73}"/>
              </a:ext>
            </a:extLst>
          </p:cNvPr>
          <p:cNvSpPr/>
          <p:nvPr/>
        </p:nvSpPr>
        <p:spPr>
          <a:xfrm>
            <a:off x="6994345" y="5812806"/>
            <a:ext cx="4191105" cy="461663"/>
          </a:xfrm>
          <a:prstGeom prst="round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3) Risk calculators (KCC) to prognosticate </a:t>
            </a:r>
          </a:p>
        </p:txBody>
      </p:sp>
    </p:spTree>
    <p:extLst>
      <p:ext uri="{BB962C8B-B14F-4D97-AF65-F5344CB8AC3E}">
        <p14:creationId xmlns:p14="http://schemas.microsoft.com/office/powerpoint/2010/main" val="168952024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txBody>
          <a:bodyPr wrap="square" lIns="365760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Currency Note &amp; Framing Update (2026)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Standing teaching verified current against AASLD acute liver failure practice guidance. The 3-criteria definition, etiology categories, "NAC for all ALF," King’s College Criteria, and early transfer are unchanged.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NAC nuance: the transplant-free survival benefit in NON-acetaminophen ALF is greatest in EARLY-stage disease with low-grade (I–II) hepatic encephalopathy; benefit is not established in advanced (grade III–IV) HE (Lee et al., Gastroenterology 2009). Still give NAC empirically to all ALF.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Cerebral edema risk: arterial ammonia &gt;150–200 µmol/L predicts intracranial hypertension and severe HE — a marker for heightened neuro-monitoring (consistent with the deck’s ammonia &gt;150 / &gt;200 cues).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•  Prognostication: MELD is increasingly used alongside (and in some centers instead of) King’s College Criteria; both should be applied with hepatology input. KCC remains specific but not sensitive — do not use a negative KCC to defer transplant-center transfer.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•  Acetaminophen remains the single most common cause of ALF in the US/Europe (~50%); alcohol alone does NOT cause ALF.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txBody>
          <a:bodyPr wrap="square" lIns="365760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ALF = acute liver injury (&lt;26 wks, no chronic liver disease*) + coagulopathy (INR &gt;1.5) + hepatic encephalopathy. All three are required; HE is what separates ALF from acute liver INJURY. (*exceptions: HBV, AIH, Wilson’s.)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Drugs/toxins (esp. acetaminophen) and viral hepatitis account for &gt;50% of cases; also screen for ischemic/vascular, autoimmune, pregnancy-related, and Wilson’s causes. Send the etiology work-up in parallel.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Manage in the ICU: address complications (cerebral edema, hypoglycemia, multiorgan failure, coagulopathy, infection). Reverse coagulopathy ONLY for active bleeding — INR is a key prognostic marker.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Start NAC early in all ALF — it improves transplant-free survival even in non-acetaminophen cases (greatest benefit in early/low-grade HE).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Consider transplant candidacy early and TRANSFER to a liver-transplant center as soon as possible — especially if King’s College Criteria are met — before progression precludes safe transfer.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txBody>
          <a:bodyPr wrap="square" lIns="365760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Attribution, License &amp; Changelog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Adapted from the TeachIM original "Acute Liver Failure" (published April 2022).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 Authors: CJ Mowry, MD; Michael Kriss, MD. Section Editors: Elijah Mun, MD; John Haydek, MD. Executive Editor: Yilin Zhang, MD.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 Source: https://teachim.org/teaching_material/alf/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 License: Creative Commons Attribution-NonCommercial 4.0 International (CC BY-NC 4.0). Non-commercial educational use only.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 Optimization (June 2026): two surgical typo corrections — Case 2 slide "Acyclovir`1q1" → "Acyclovir"; Summary slide "Cerulopasmin" → "Ceruloplasmin". All original click-to-reveal animations and graphics preserved.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 Added: currency-note slide (NAC/HE-grade nuance, ammonia threshold, MELD vs KCC) + take-home slide. Companion files: ALF teaching guide (ALF-Learning-Guide-Final-Draft-4.3.docx), learner worksheet (ALF-learner-worksheet.pdf), completed board (ALF-teacher-worksheet-and-board-set-up.pdf) — reviewed, no changes needed.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Medical content should be clinician-reviewed before teaching.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12591</TotalTime>
  <Words>1664</Words>
  <Application>Microsoft Office PowerPoint</Application>
  <PresentationFormat>Widescreen</PresentationFormat>
  <Paragraphs>347</Paragraphs>
  <Slides>10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Wingdings,Sans-Serif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Brandon Fainstad</dc:creator>
  <cp:lastModifiedBy>Yilin Zhang</cp:lastModifiedBy>
  <cp:revision>208</cp:revision>
  <dcterms:created xsi:type="dcterms:W3CDTF">2020-12-09T20:37:45Z</dcterms:created>
  <dcterms:modified xsi:type="dcterms:W3CDTF">2022-04-22T19:26:09Z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0x0101003DAD2A20F1EFBC4187333CA7E8889039</vt:lpwstr>
  </property>
</Properties>
</file>