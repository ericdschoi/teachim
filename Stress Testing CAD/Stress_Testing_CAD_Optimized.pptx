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63" r:id="rId2"/>
    <p:sldId id="264" r:id="rId3"/>
    <p:sldId id="269" r:id="rId4"/>
    <p:sldId id="272" r:id="rId5"/>
    <p:sldId id="273" r:id="rId13"/>
    <p:sldId id="274" r:id="rId14"/>
    <p:sldId id="275" r:id="rId15"/>
  </p:sldIdLst>
  <p:sldSz cx="12192000" cy="6858000"/>
  <p:notesSz cx="7077075" cy="9363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A6FA0A-339E-4927-844A-3DDDB12182F1}" v="629" dt="2020-11-25T20:32:01.3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57" autoAdjust="0"/>
  </p:normalViewPr>
  <p:slideViewPr>
    <p:cSldViewPr snapToGrid="0">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ch" userId="8ae8df808a00c05c" providerId="LiveId" clId="{2BA6FA0A-339E-4927-844A-3DDDB12182F1}"/>
    <pc:docChg chg="undo redo custSel modSld">
      <pc:chgData name="Teach" userId="8ae8df808a00c05c" providerId="LiveId" clId="{2BA6FA0A-339E-4927-844A-3DDDB12182F1}" dt="2020-12-11T20:09:07.361" v="1838" actId="1076"/>
      <pc:docMkLst>
        <pc:docMk/>
      </pc:docMkLst>
      <pc:sldChg chg="modAnim">
        <pc:chgData name="Teach" userId="8ae8df808a00c05c" providerId="LiveId" clId="{2BA6FA0A-339E-4927-844A-3DDDB12182F1}" dt="2020-11-25T19:38:29.696" v="1234"/>
        <pc:sldMkLst>
          <pc:docMk/>
          <pc:sldMk cId="1453139936" sldId="263"/>
        </pc:sldMkLst>
      </pc:sldChg>
      <pc:sldChg chg="addSp delSp modSp mod modAnim">
        <pc:chgData name="Teach" userId="8ae8df808a00c05c" providerId="LiveId" clId="{2BA6FA0A-339E-4927-844A-3DDDB12182F1}" dt="2020-12-11T20:09:07.361" v="1838" actId="1076"/>
        <pc:sldMkLst>
          <pc:docMk/>
          <pc:sldMk cId="1599047372" sldId="264"/>
        </pc:sldMkLst>
        <pc:spChg chg="mod">
          <ac:chgData name="Teach" userId="8ae8df808a00c05c" providerId="LiveId" clId="{2BA6FA0A-339E-4927-844A-3DDDB12182F1}" dt="2020-11-25T19:33:21.875" v="1214" actId="1035"/>
          <ac:spMkLst>
            <pc:docMk/>
            <pc:sldMk cId="1599047372" sldId="264"/>
            <ac:spMk id="14" creationId="{EBDABE47-FD1D-4AE4-8DC1-E2473206920E}"/>
          </ac:spMkLst>
        </pc:spChg>
        <pc:spChg chg="mod">
          <ac:chgData name="Teach" userId="8ae8df808a00c05c" providerId="LiveId" clId="{2BA6FA0A-339E-4927-844A-3DDDB12182F1}" dt="2020-11-25T19:40:55.203" v="1244" actId="1036"/>
          <ac:spMkLst>
            <pc:docMk/>
            <pc:sldMk cId="1599047372" sldId="264"/>
            <ac:spMk id="25" creationId="{C866198E-4F9E-4555-B9DD-32624A2DD73F}"/>
          </ac:spMkLst>
        </pc:spChg>
        <pc:spChg chg="mod">
          <ac:chgData name="Teach" userId="8ae8df808a00c05c" providerId="LiveId" clId="{2BA6FA0A-339E-4927-844A-3DDDB12182F1}" dt="2020-11-25T19:28:34.884" v="1027" actId="1076"/>
          <ac:spMkLst>
            <pc:docMk/>
            <pc:sldMk cId="1599047372" sldId="264"/>
            <ac:spMk id="26" creationId="{5CC0303C-5D64-44FA-83D7-ECD772F4C3D3}"/>
          </ac:spMkLst>
        </pc:spChg>
        <pc:spChg chg="mod">
          <ac:chgData name="Teach" userId="8ae8df808a00c05c" providerId="LiveId" clId="{2BA6FA0A-339E-4927-844A-3DDDB12182F1}" dt="2020-11-25T18:27:26.484" v="68" actId="20577"/>
          <ac:spMkLst>
            <pc:docMk/>
            <pc:sldMk cId="1599047372" sldId="264"/>
            <ac:spMk id="31" creationId="{4B0F78CE-D1EC-4B78-B1EB-393481CC998C}"/>
          </ac:spMkLst>
        </pc:spChg>
        <pc:spChg chg="mod">
          <ac:chgData name="Teach" userId="8ae8df808a00c05c" providerId="LiveId" clId="{2BA6FA0A-339E-4927-844A-3DDDB12182F1}" dt="2020-11-25T19:14:18.357" v="627" actId="1037"/>
          <ac:spMkLst>
            <pc:docMk/>
            <pc:sldMk cId="1599047372" sldId="264"/>
            <ac:spMk id="33" creationId="{DC1A7431-A7CC-4A8B-BCF2-EF6EB76B5CC7}"/>
          </ac:spMkLst>
        </pc:spChg>
        <pc:spChg chg="mod">
          <ac:chgData name="Teach" userId="8ae8df808a00c05c" providerId="LiveId" clId="{2BA6FA0A-339E-4927-844A-3DDDB12182F1}" dt="2020-11-25T19:14:23.605" v="630" actId="1038"/>
          <ac:spMkLst>
            <pc:docMk/>
            <pc:sldMk cId="1599047372" sldId="264"/>
            <ac:spMk id="34" creationId="{1BC04FAB-76C2-4927-AA5E-5C08AA31845E}"/>
          </ac:spMkLst>
        </pc:spChg>
        <pc:spChg chg="mod">
          <ac:chgData name="Teach" userId="8ae8df808a00c05c" providerId="LiveId" clId="{2BA6FA0A-339E-4927-844A-3DDDB12182F1}" dt="2020-12-11T20:09:07.361" v="1838" actId="1076"/>
          <ac:spMkLst>
            <pc:docMk/>
            <pc:sldMk cId="1599047372" sldId="264"/>
            <ac:spMk id="89" creationId="{252A6F3B-58C4-4A05-88AD-A3F6E65AA0E3}"/>
          </ac:spMkLst>
        </pc:spChg>
        <pc:spChg chg="mod topLvl">
          <ac:chgData name="Teach" userId="8ae8df808a00c05c" providerId="LiveId" clId="{2BA6FA0A-339E-4927-844A-3DDDB12182F1}" dt="2020-11-25T19:36:47.724" v="1228" actId="165"/>
          <ac:spMkLst>
            <pc:docMk/>
            <pc:sldMk cId="1599047372" sldId="264"/>
            <ac:spMk id="90" creationId="{E7F29DD4-5D7E-4B1B-9DD4-050AF71EAA9D}"/>
          </ac:spMkLst>
        </pc:spChg>
        <pc:spChg chg="add del mod">
          <ac:chgData name="Teach" userId="8ae8df808a00c05c" providerId="LiveId" clId="{2BA6FA0A-339E-4927-844A-3DDDB12182F1}" dt="2020-11-25T19:12:47.488" v="603" actId="478"/>
          <ac:spMkLst>
            <pc:docMk/>
            <pc:sldMk cId="1599047372" sldId="264"/>
            <ac:spMk id="94" creationId="{EAB8001D-8AC7-4A88-8B91-DD670E5CEA49}"/>
          </ac:spMkLst>
        </pc:spChg>
        <pc:spChg chg="add del mod">
          <ac:chgData name="Teach" userId="8ae8df808a00c05c" providerId="LiveId" clId="{2BA6FA0A-339E-4927-844A-3DDDB12182F1}" dt="2020-11-25T19:21:14.437" v="839" actId="478"/>
          <ac:spMkLst>
            <pc:docMk/>
            <pc:sldMk cId="1599047372" sldId="264"/>
            <ac:spMk id="97" creationId="{A864F657-7440-417A-8788-E27DDD42D1CE}"/>
          </ac:spMkLst>
        </pc:spChg>
        <pc:spChg chg="del mod">
          <ac:chgData name="Teach" userId="8ae8df808a00c05c" providerId="LiveId" clId="{2BA6FA0A-339E-4927-844A-3DDDB12182F1}" dt="2020-11-25T19:13:31.180" v="614" actId="478"/>
          <ac:spMkLst>
            <pc:docMk/>
            <pc:sldMk cId="1599047372" sldId="264"/>
            <ac:spMk id="105" creationId="{6DF83CCF-4347-46A8-8C70-1C706E8C4A54}"/>
          </ac:spMkLst>
        </pc:spChg>
        <pc:spChg chg="mod topLvl">
          <ac:chgData name="Teach" userId="8ae8df808a00c05c" providerId="LiveId" clId="{2BA6FA0A-339E-4927-844A-3DDDB12182F1}" dt="2020-11-25T19:36:47.724" v="1228" actId="165"/>
          <ac:spMkLst>
            <pc:docMk/>
            <pc:sldMk cId="1599047372" sldId="264"/>
            <ac:spMk id="114" creationId="{E1867DC5-E091-4C22-8347-4C41C4BA38A0}"/>
          </ac:spMkLst>
        </pc:spChg>
        <pc:spChg chg="mod">
          <ac:chgData name="Teach" userId="8ae8df808a00c05c" providerId="LiveId" clId="{2BA6FA0A-339E-4927-844A-3DDDB12182F1}" dt="2020-11-25T19:21:58.895" v="888" actId="1038"/>
          <ac:spMkLst>
            <pc:docMk/>
            <pc:sldMk cId="1599047372" sldId="264"/>
            <ac:spMk id="118" creationId="{ACDE82EC-33D6-43F5-AC77-BECEC7454765}"/>
          </ac:spMkLst>
        </pc:spChg>
        <pc:spChg chg="add del mod">
          <ac:chgData name="Teach" userId="8ae8df808a00c05c" providerId="LiveId" clId="{2BA6FA0A-339E-4927-844A-3DDDB12182F1}" dt="2020-11-25T19:27:49.512" v="940" actId="478"/>
          <ac:spMkLst>
            <pc:docMk/>
            <pc:sldMk cId="1599047372" sldId="264"/>
            <ac:spMk id="141" creationId="{1C0AB1E6-8710-486F-B59C-EC1D4F3171F5}"/>
          </ac:spMkLst>
        </pc:spChg>
        <pc:spChg chg="add mod ord">
          <ac:chgData name="Teach" userId="8ae8df808a00c05c" providerId="LiveId" clId="{2BA6FA0A-339E-4927-844A-3DDDB12182F1}" dt="2020-11-25T19:43:19.144" v="1251" actId="20577"/>
          <ac:spMkLst>
            <pc:docMk/>
            <pc:sldMk cId="1599047372" sldId="264"/>
            <ac:spMk id="142" creationId="{2DFDC494-891B-4A16-B7BA-6C9A4C19A3CD}"/>
          </ac:spMkLst>
        </pc:spChg>
        <pc:spChg chg="mod">
          <ac:chgData name="Teach" userId="8ae8df808a00c05c" providerId="LiveId" clId="{2BA6FA0A-339E-4927-844A-3DDDB12182F1}" dt="2020-11-25T19:32:28.738" v="1164" actId="1037"/>
          <ac:spMkLst>
            <pc:docMk/>
            <pc:sldMk cId="1599047372" sldId="264"/>
            <ac:spMk id="233" creationId="{83629AC8-B31D-4B92-9858-E86918C39F70}"/>
          </ac:spMkLst>
        </pc:spChg>
        <pc:grpChg chg="mod">
          <ac:chgData name="Teach" userId="8ae8df808a00c05c" providerId="LiveId" clId="{2BA6FA0A-339E-4927-844A-3DDDB12182F1}" dt="2020-11-25T18:21:27.876" v="2" actId="1076"/>
          <ac:grpSpMkLst>
            <pc:docMk/>
            <pc:sldMk cId="1599047372" sldId="264"/>
            <ac:grpSpMk id="2" creationId="{2CA4C8B1-EAF5-42B4-A0A7-6FC42A31316B}"/>
          </ac:grpSpMkLst>
        </pc:grpChg>
        <pc:grpChg chg="del mod">
          <ac:chgData name="Teach" userId="8ae8df808a00c05c" providerId="LiveId" clId="{2BA6FA0A-339E-4927-844A-3DDDB12182F1}" dt="2020-11-25T19:32:04.580" v="1147" actId="165"/>
          <ac:grpSpMkLst>
            <pc:docMk/>
            <pc:sldMk cId="1599047372" sldId="264"/>
            <ac:grpSpMk id="10" creationId="{1879B1BA-852C-4E01-AD22-95AB25F4F67B}"/>
          </ac:grpSpMkLst>
        </pc:grpChg>
        <pc:grpChg chg="add del mod">
          <ac:chgData name="Teach" userId="8ae8df808a00c05c" providerId="LiveId" clId="{2BA6FA0A-339E-4927-844A-3DDDB12182F1}" dt="2020-11-25T19:36:47.724" v="1228" actId="165"/>
          <ac:grpSpMkLst>
            <pc:docMk/>
            <pc:sldMk cId="1599047372" sldId="264"/>
            <ac:grpSpMk id="78" creationId="{C2E6D036-5671-4CF6-80B6-D6DEF7302CC8}"/>
          </ac:grpSpMkLst>
        </pc:grpChg>
        <pc:grpChg chg="mod ord">
          <ac:chgData name="Teach" userId="8ae8df808a00c05c" providerId="LiveId" clId="{2BA6FA0A-339E-4927-844A-3DDDB12182F1}" dt="2020-11-25T19:43:30.637" v="1252" actId="1076"/>
          <ac:grpSpMkLst>
            <pc:docMk/>
            <pc:sldMk cId="1599047372" sldId="264"/>
            <ac:grpSpMk id="143" creationId="{80A2664D-1D37-4E33-9C25-896B0EE6EBA1}"/>
          </ac:grpSpMkLst>
        </pc:grpChg>
        <pc:grpChg chg="mod">
          <ac:chgData name="Teach" userId="8ae8df808a00c05c" providerId="LiveId" clId="{2BA6FA0A-339E-4927-844A-3DDDB12182F1}" dt="2020-11-25T19:30:27.727" v="1125" actId="1076"/>
          <ac:grpSpMkLst>
            <pc:docMk/>
            <pc:sldMk cId="1599047372" sldId="264"/>
            <ac:grpSpMk id="230" creationId="{EDA8B6D6-EB54-4829-9238-B93E09ADF98A}"/>
          </ac:grpSpMkLst>
        </pc:grpChg>
        <pc:cxnChg chg="del mod">
          <ac:chgData name="Teach" userId="8ae8df808a00c05c" providerId="LiveId" clId="{2BA6FA0A-339E-4927-844A-3DDDB12182F1}" dt="2020-11-25T19:16:06.967" v="652" actId="478"/>
          <ac:cxnSpMkLst>
            <pc:docMk/>
            <pc:sldMk cId="1599047372" sldId="264"/>
            <ac:cxnSpMk id="11" creationId="{8ED7AFD1-63B9-4988-9996-F137836643A8}"/>
          </ac:cxnSpMkLst>
        </pc:cxnChg>
        <pc:cxnChg chg="add mod ord modVis">
          <ac:chgData name="Teach" userId="8ae8df808a00c05c" providerId="LiveId" clId="{2BA6FA0A-339E-4927-844A-3DDDB12182F1}" dt="2020-11-25T19:33:00.115" v="1197" actId="14100"/>
          <ac:cxnSpMkLst>
            <pc:docMk/>
            <pc:sldMk cId="1599047372" sldId="264"/>
            <ac:cxnSpMk id="58" creationId="{D1FFB075-C675-4CA1-92BA-03D3F06764A3}"/>
          </ac:cxnSpMkLst>
        </pc:cxnChg>
        <pc:cxnChg chg="add mod ord topLvl">
          <ac:chgData name="Teach" userId="8ae8df808a00c05c" providerId="LiveId" clId="{2BA6FA0A-339E-4927-844A-3DDDB12182F1}" dt="2020-11-25T19:36:47.724" v="1228" actId="165"/>
          <ac:cxnSpMkLst>
            <pc:docMk/>
            <pc:sldMk cId="1599047372" sldId="264"/>
            <ac:cxnSpMk id="62" creationId="{7F55CB63-CD99-4ECB-9973-5A1AC6ED8654}"/>
          </ac:cxnSpMkLst>
        </pc:cxnChg>
        <pc:cxnChg chg="del mod">
          <ac:chgData name="Teach" userId="8ae8df808a00c05c" providerId="LiveId" clId="{2BA6FA0A-339E-4927-844A-3DDDB12182F1}" dt="2020-11-25T19:15:00.918" v="632" actId="478"/>
          <ac:cxnSpMkLst>
            <pc:docMk/>
            <pc:sldMk cId="1599047372" sldId="264"/>
            <ac:cxnSpMk id="67" creationId="{0CA5CDF1-3DB3-4E2B-9133-5F006A1E8585}"/>
          </ac:cxnSpMkLst>
        </pc:cxnChg>
        <pc:cxnChg chg="del mod">
          <ac:chgData name="Teach" userId="8ae8df808a00c05c" providerId="LiveId" clId="{2BA6FA0A-339E-4927-844A-3DDDB12182F1}" dt="2020-11-25T19:25:49.460" v="927" actId="478"/>
          <ac:cxnSpMkLst>
            <pc:docMk/>
            <pc:sldMk cId="1599047372" sldId="264"/>
            <ac:cxnSpMk id="70" creationId="{19B47799-C2BF-4E00-B8F1-BF8D04D11593}"/>
          </ac:cxnSpMkLst>
        </pc:cxnChg>
        <pc:cxnChg chg="mod">
          <ac:chgData name="Teach" userId="8ae8df808a00c05c" providerId="LiveId" clId="{2BA6FA0A-339E-4927-844A-3DDDB12182F1}" dt="2020-11-25T18:21:39.942" v="4" actId="14100"/>
          <ac:cxnSpMkLst>
            <pc:docMk/>
            <pc:sldMk cId="1599047372" sldId="264"/>
            <ac:cxnSpMk id="75" creationId="{90F5C4C0-92F3-4FE5-9EE0-8846D1222A1C}"/>
          </ac:cxnSpMkLst>
        </pc:cxnChg>
        <pc:cxnChg chg="del">
          <ac:chgData name="Teach" userId="8ae8df808a00c05c" providerId="LiveId" clId="{2BA6FA0A-339E-4927-844A-3DDDB12182F1}" dt="2020-11-25T19:15:03.926" v="633" actId="478"/>
          <ac:cxnSpMkLst>
            <pc:docMk/>
            <pc:sldMk cId="1599047372" sldId="264"/>
            <ac:cxnSpMk id="80" creationId="{58D0F70A-1ED2-44D8-9927-D6B347C43BB4}"/>
          </ac:cxnSpMkLst>
        </pc:cxnChg>
        <pc:cxnChg chg="del mod">
          <ac:chgData name="Teach" userId="8ae8df808a00c05c" providerId="LiveId" clId="{2BA6FA0A-339E-4927-844A-3DDDB12182F1}" dt="2020-11-25T19:25:25.250" v="922" actId="478"/>
          <ac:cxnSpMkLst>
            <pc:docMk/>
            <pc:sldMk cId="1599047372" sldId="264"/>
            <ac:cxnSpMk id="82" creationId="{4C67749E-03B8-45D8-94BC-CE2CBFCBFFB7}"/>
          </ac:cxnSpMkLst>
        </pc:cxnChg>
        <pc:cxnChg chg="mod">
          <ac:chgData name="Teach" userId="8ae8df808a00c05c" providerId="LiveId" clId="{2BA6FA0A-339E-4927-844A-3DDDB12182F1}" dt="2020-11-25T19:14:18.357" v="627" actId="1037"/>
          <ac:cxnSpMkLst>
            <pc:docMk/>
            <pc:sldMk cId="1599047372" sldId="264"/>
            <ac:cxnSpMk id="85" creationId="{BBED5971-FBA5-4DA4-B258-76B6106A026C}"/>
          </ac:cxnSpMkLst>
        </pc:cxnChg>
        <pc:cxnChg chg="del mod">
          <ac:chgData name="Teach" userId="8ae8df808a00c05c" providerId="LiveId" clId="{2BA6FA0A-339E-4927-844A-3DDDB12182F1}" dt="2020-11-25T19:12:49.984" v="604" actId="478"/>
          <ac:cxnSpMkLst>
            <pc:docMk/>
            <pc:sldMk cId="1599047372" sldId="264"/>
            <ac:cxnSpMk id="86" creationId="{28ECB424-1027-4B36-8E24-CA36DEAE25B5}"/>
          </ac:cxnSpMkLst>
        </pc:cxnChg>
        <pc:cxnChg chg="del mod">
          <ac:chgData name="Teach" userId="8ae8df808a00c05c" providerId="LiveId" clId="{2BA6FA0A-339E-4927-844A-3DDDB12182F1}" dt="2020-11-25T19:26:01.170" v="929" actId="478"/>
          <ac:cxnSpMkLst>
            <pc:docMk/>
            <pc:sldMk cId="1599047372" sldId="264"/>
            <ac:cxnSpMk id="87" creationId="{F8E2284D-5C83-4B75-B42C-F434C8EB84B1}"/>
          </ac:cxnSpMkLst>
        </pc:cxnChg>
        <pc:cxnChg chg="mod">
          <ac:chgData name="Teach" userId="8ae8df808a00c05c" providerId="LiveId" clId="{2BA6FA0A-339E-4927-844A-3DDDB12182F1}" dt="2020-11-25T19:14:23.605" v="630" actId="1038"/>
          <ac:cxnSpMkLst>
            <pc:docMk/>
            <pc:sldMk cId="1599047372" sldId="264"/>
            <ac:cxnSpMk id="92" creationId="{D2D147F4-FFA3-4421-876D-F78F6006F201}"/>
          </ac:cxnSpMkLst>
        </pc:cxnChg>
        <pc:cxnChg chg="del mod">
          <ac:chgData name="Teach" userId="8ae8df808a00c05c" providerId="LiveId" clId="{2BA6FA0A-339E-4927-844A-3DDDB12182F1}" dt="2020-11-25T19:12:52.797" v="605" actId="478"/>
          <ac:cxnSpMkLst>
            <pc:docMk/>
            <pc:sldMk cId="1599047372" sldId="264"/>
            <ac:cxnSpMk id="93" creationId="{6753B9E1-20F8-42DA-AF28-DB4B023E7AF3}"/>
          </ac:cxnSpMkLst>
        </pc:cxnChg>
        <pc:cxnChg chg="del mod">
          <ac:chgData name="Teach" userId="8ae8df808a00c05c" providerId="LiveId" clId="{2BA6FA0A-339E-4927-844A-3DDDB12182F1}" dt="2020-11-25T19:25:27.700" v="923" actId="478"/>
          <ac:cxnSpMkLst>
            <pc:docMk/>
            <pc:sldMk cId="1599047372" sldId="264"/>
            <ac:cxnSpMk id="95" creationId="{D25821BC-CADA-4B02-8DD5-E69BA0B1A3F4}"/>
          </ac:cxnSpMkLst>
        </pc:cxnChg>
        <pc:cxnChg chg="mod">
          <ac:chgData name="Teach" userId="8ae8df808a00c05c" providerId="LiveId" clId="{2BA6FA0A-339E-4927-844A-3DDDB12182F1}" dt="2020-11-25T19:14:23.605" v="630" actId="1038"/>
          <ac:cxnSpMkLst>
            <pc:docMk/>
            <pc:sldMk cId="1599047372" sldId="264"/>
            <ac:cxnSpMk id="98" creationId="{8E1712BE-CAD6-45D3-8085-8037922DFF76}"/>
          </ac:cxnSpMkLst>
        </pc:cxnChg>
        <pc:cxnChg chg="del mod">
          <ac:chgData name="Teach" userId="8ae8df808a00c05c" providerId="LiveId" clId="{2BA6FA0A-339E-4927-844A-3DDDB12182F1}" dt="2020-11-25T19:17:30.903" v="661" actId="478"/>
          <ac:cxnSpMkLst>
            <pc:docMk/>
            <pc:sldMk cId="1599047372" sldId="264"/>
            <ac:cxnSpMk id="99" creationId="{FEA32DB4-0BBB-4A80-B4B4-60A5CE00171B}"/>
          </ac:cxnSpMkLst>
        </pc:cxnChg>
        <pc:cxnChg chg="mod topLvl">
          <ac:chgData name="Teach" userId="8ae8df808a00c05c" providerId="LiveId" clId="{2BA6FA0A-339E-4927-844A-3DDDB12182F1}" dt="2020-11-25T19:36:47.724" v="1228" actId="165"/>
          <ac:cxnSpMkLst>
            <pc:docMk/>
            <pc:sldMk cId="1599047372" sldId="264"/>
            <ac:cxnSpMk id="102" creationId="{F9475CCF-458B-48F8-8183-404C9B0B80BC}"/>
          </ac:cxnSpMkLst>
        </pc:cxnChg>
        <pc:cxnChg chg="del mod">
          <ac:chgData name="Teach" userId="8ae8df808a00c05c" providerId="LiveId" clId="{2BA6FA0A-339E-4927-844A-3DDDB12182F1}" dt="2020-11-25T19:13:10.289" v="609" actId="478"/>
          <ac:cxnSpMkLst>
            <pc:docMk/>
            <pc:sldMk cId="1599047372" sldId="264"/>
            <ac:cxnSpMk id="110" creationId="{A5EF38BB-5024-40B7-828F-8ECABD733139}"/>
          </ac:cxnSpMkLst>
        </pc:cxnChg>
        <pc:cxnChg chg="mod topLvl">
          <ac:chgData name="Teach" userId="8ae8df808a00c05c" providerId="LiveId" clId="{2BA6FA0A-339E-4927-844A-3DDDB12182F1}" dt="2020-11-25T19:36:47.724" v="1228" actId="165"/>
          <ac:cxnSpMkLst>
            <pc:docMk/>
            <pc:sldMk cId="1599047372" sldId="264"/>
            <ac:cxnSpMk id="111" creationId="{80F867D9-7B5A-4561-ADEC-4F4CD3FDFB4C}"/>
          </ac:cxnSpMkLst>
        </pc:cxnChg>
        <pc:cxnChg chg="add mod">
          <ac:chgData name="Teach" userId="8ae8df808a00c05c" providerId="LiveId" clId="{2BA6FA0A-339E-4927-844A-3DDDB12182F1}" dt="2020-11-25T19:33:12.535" v="1199" actId="14100"/>
          <ac:cxnSpMkLst>
            <pc:docMk/>
            <pc:sldMk cId="1599047372" sldId="264"/>
            <ac:cxnSpMk id="129" creationId="{D44BBD6E-5CA5-45F5-9FEF-768DA8511748}"/>
          </ac:cxnSpMkLst>
        </pc:cxnChg>
        <pc:cxnChg chg="mod">
          <ac:chgData name="Teach" userId="8ae8df808a00c05c" providerId="LiveId" clId="{2BA6FA0A-339E-4927-844A-3DDDB12182F1}" dt="2020-11-25T19:43:38.877" v="1253" actId="14100"/>
          <ac:cxnSpMkLst>
            <pc:docMk/>
            <pc:sldMk cId="1599047372" sldId="264"/>
            <ac:cxnSpMk id="139" creationId="{4EE715B0-2A7B-4519-BF73-1A7851CE5F0C}"/>
          </ac:cxnSpMkLst>
        </pc:cxnChg>
        <pc:cxnChg chg="mod">
          <ac:chgData name="Teach" userId="8ae8df808a00c05c" providerId="LiveId" clId="{2BA6FA0A-339E-4927-844A-3DDDB12182F1}" dt="2020-11-25T19:41:01.093" v="1245" actId="14100"/>
          <ac:cxnSpMkLst>
            <pc:docMk/>
            <pc:sldMk cId="1599047372" sldId="264"/>
            <ac:cxnSpMk id="154" creationId="{902ED845-8A55-4383-A185-DFF3DB21A472}"/>
          </ac:cxnSpMkLst>
        </pc:cxnChg>
        <pc:cxnChg chg="del mod">
          <ac:chgData name="Teach" userId="8ae8df808a00c05c" providerId="LiveId" clId="{2BA6FA0A-339E-4927-844A-3DDDB12182F1}" dt="2020-11-25T19:25:52.095" v="928" actId="478"/>
          <ac:cxnSpMkLst>
            <pc:docMk/>
            <pc:sldMk cId="1599047372" sldId="264"/>
            <ac:cxnSpMk id="203" creationId="{97469F42-7589-4581-BCB2-F61DE73FBCC1}"/>
          </ac:cxnSpMkLst>
        </pc:cxnChg>
        <pc:cxnChg chg="mod">
          <ac:chgData name="Teach" userId="8ae8df808a00c05c" providerId="LiveId" clId="{2BA6FA0A-339E-4927-844A-3DDDB12182F1}" dt="2020-11-25T19:32:28.738" v="1164" actId="1037"/>
          <ac:cxnSpMkLst>
            <pc:docMk/>
            <pc:sldMk cId="1599047372" sldId="264"/>
            <ac:cxnSpMk id="235" creationId="{5622AFB0-CD38-47E4-8A6C-CC62D8B687E6}"/>
          </ac:cxnSpMkLst>
        </pc:cxnChg>
      </pc:sldChg>
      <pc:sldChg chg="modSp mod">
        <pc:chgData name="Teach" userId="8ae8df808a00c05c" providerId="LiveId" clId="{2BA6FA0A-339E-4927-844A-3DDDB12182F1}" dt="2020-11-25T20:32:01.377" v="1807" actId="20577"/>
        <pc:sldMkLst>
          <pc:docMk/>
          <pc:sldMk cId="3352204269" sldId="269"/>
        </pc:sldMkLst>
        <pc:spChg chg="mod">
          <ac:chgData name="Teach" userId="8ae8df808a00c05c" providerId="LiveId" clId="{2BA6FA0A-339E-4927-844A-3DDDB12182F1}" dt="2020-11-25T20:14:40.067" v="1672" actId="1035"/>
          <ac:spMkLst>
            <pc:docMk/>
            <pc:sldMk cId="3352204269" sldId="269"/>
            <ac:spMk id="156" creationId="{26CFAD94-462F-41D2-AB60-F86C0FC09520}"/>
          </ac:spMkLst>
        </pc:spChg>
        <pc:spChg chg="mod">
          <ac:chgData name="Teach" userId="8ae8df808a00c05c" providerId="LiveId" clId="{2BA6FA0A-339E-4927-844A-3DDDB12182F1}" dt="2020-11-25T20:32:01.377" v="1807" actId="20577"/>
          <ac:spMkLst>
            <pc:docMk/>
            <pc:sldMk cId="3352204269" sldId="269"/>
            <ac:spMk id="158" creationId="{2D7DA197-3092-4A44-84A7-52D48BE1FDFA}"/>
          </ac:spMkLst>
        </pc:spChg>
      </pc:sldChg>
      <pc:sldChg chg="modSp mod">
        <pc:chgData name="Teach" userId="8ae8df808a00c05c" providerId="LiveId" clId="{2BA6FA0A-339E-4927-844A-3DDDB12182F1}" dt="2020-11-25T20:11:20.971" v="1671" actId="20577"/>
        <pc:sldMkLst>
          <pc:docMk/>
          <pc:sldMk cId="3700507841" sldId="272"/>
        </pc:sldMkLst>
        <pc:spChg chg="mod">
          <ac:chgData name="Teach" userId="8ae8df808a00c05c" providerId="LiveId" clId="{2BA6FA0A-339E-4927-844A-3DDDB12182F1}" dt="2020-11-25T19:46:41.476" v="1340" actId="1035"/>
          <ac:spMkLst>
            <pc:docMk/>
            <pc:sldMk cId="3700507841" sldId="272"/>
            <ac:spMk id="36" creationId="{F597A406-81A5-40AC-9888-C00B46C26B0C}"/>
          </ac:spMkLst>
        </pc:spChg>
        <pc:spChg chg="mod">
          <ac:chgData name="Teach" userId="8ae8df808a00c05c" providerId="LiveId" clId="{2BA6FA0A-339E-4927-844A-3DDDB12182F1}" dt="2020-11-25T19:45:22.057" v="1264" actId="20577"/>
          <ac:spMkLst>
            <pc:docMk/>
            <pc:sldMk cId="3700507841" sldId="272"/>
            <ac:spMk id="91" creationId="{9088D581-1DAD-428F-A9E7-AF02AC247B3B}"/>
          </ac:spMkLst>
        </pc:spChg>
        <pc:spChg chg="mod">
          <ac:chgData name="Teach" userId="8ae8df808a00c05c" providerId="LiveId" clId="{2BA6FA0A-339E-4927-844A-3DDDB12182F1}" dt="2020-11-25T20:02:11.761" v="1411" actId="1035"/>
          <ac:spMkLst>
            <pc:docMk/>
            <pc:sldMk cId="3700507841" sldId="272"/>
            <ac:spMk id="140" creationId="{F8EC5410-24D8-433E-AA8C-B3E0D80477F9}"/>
          </ac:spMkLst>
        </pc:spChg>
        <pc:spChg chg="mod">
          <ac:chgData name="Teach" userId="8ae8df808a00c05c" providerId="LiveId" clId="{2BA6FA0A-339E-4927-844A-3DDDB12182F1}" dt="2020-11-25T20:07:01.852" v="1433" actId="20577"/>
          <ac:spMkLst>
            <pc:docMk/>
            <pc:sldMk cId="3700507841" sldId="272"/>
            <ac:spMk id="155" creationId="{0EC0B138-4A26-4769-AF28-992F229F32E5}"/>
          </ac:spMkLst>
        </pc:spChg>
        <pc:spChg chg="mod">
          <ac:chgData name="Teach" userId="8ae8df808a00c05c" providerId="LiveId" clId="{2BA6FA0A-339E-4927-844A-3DDDB12182F1}" dt="2020-11-25T20:08:38.450" v="1464" actId="404"/>
          <ac:spMkLst>
            <pc:docMk/>
            <pc:sldMk cId="3700507841" sldId="272"/>
            <ac:spMk id="156" creationId="{26CFAD94-462F-41D2-AB60-F86C0FC09520}"/>
          </ac:spMkLst>
        </pc:spChg>
        <pc:spChg chg="mod">
          <ac:chgData name="Teach" userId="8ae8df808a00c05c" providerId="LiveId" clId="{2BA6FA0A-339E-4927-844A-3DDDB12182F1}" dt="2020-11-25T20:11:20.971" v="1671" actId="20577"/>
          <ac:spMkLst>
            <pc:docMk/>
            <pc:sldMk cId="3700507841" sldId="272"/>
            <ac:spMk id="158" creationId="{2D7DA197-3092-4A44-84A7-52D48BE1FDFA}"/>
          </ac:spMkLst>
        </pc:spChg>
      </pc:sldChg>
    </pc:docChg>
  </pc:docChgLst>
  <pc:docChgLst>
    <pc:chgData name="Fainstad, Brandon" userId="aac92477-536e-4d21-9f70-fa5cd941f380" providerId="ADAL" clId="{6D5D973D-8D75-460A-A4F0-AD6216F5BF42}"/>
    <pc:docChg chg="undo custSel addSld delSld">
      <pc:chgData name="Fainstad, Brandon" userId="aac92477-536e-4d21-9f70-fa5cd941f380" providerId="ADAL" clId="{6D5D973D-8D75-460A-A4F0-AD6216F5BF42}" dt="2020-11-18T18:25:45.710" v="5" actId="47"/>
      <pc:docMkLst>
        <pc:docMk/>
      </pc:docMkLst>
      <pc:sldChg chg="add del">
        <pc:chgData name="Fainstad, Brandon" userId="aac92477-536e-4d21-9f70-fa5cd941f380" providerId="ADAL" clId="{6D5D973D-8D75-460A-A4F0-AD6216F5BF42}" dt="2020-11-18T18:25:45.710" v="5" actId="47"/>
        <pc:sldMkLst>
          <pc:docMk/>
          <pc:sldMk cId="3700507841" sldId="272"/>
        </pc:sldMkLst>
      </pc:sldChg>
      <pc:sldChg chg="del">
        <pc:chgData name="Fainstad, Brandon" userId="aac92477-536e-4d21-9f70-fa5cd941f380" providerId="ADAL" clId="{6D5D973D-8D75-460A-A4F0-AD6216F5BF42}" dt="2020-11-18T18:25:43.803" v="3" actId="47"/>
        <pc:sldMkLst>
          <pc:docMk/>
          <pc:sldMk cId="4206281924" sldId="273"/>
        </pc:sldMkLst>
      </pc:sldChg>
      <pc:sldChg chg="del">
        <pc:chgData name="Fainstad, Brandon" userId="aac92477-536e-4d21-9f70-fa5cd941f380" providerId="ADAL" clId="{6D5D973D-8D75-460A-A4F0-AD6216F5BF42}" dt="2020-11-18T18:25:43.564" v="2" actId="47"/>
        <pc:sldMkLst>
          <pc:docMk/>
          <pc:sldMk cId="1639813339" sldId="274"/>
        </pc:sldMkLst>
      </pc:sldChg>
      <pc:sldChg chg="del">
        <pc:chgData name="Fainstad, Brandon" userId="aac92477-536e-4d21-9f70-fa5cd941f380" providerId="ADAL" clId="{6D5D973D-8D75-460A-A4F0-AD6216F5BF42}" dt="2020-11-18T18:25:42.751" v="0" actId="47"/>
        <pc:sldMkLst>
          <pc:docMk/>
          <pc:sldMk cId="3726946187" sldId="275"/>
        </pc:sldMkLst>
      </pc:sldChg>
      <pc:sldChg chg="del">
        <pc:chgData name="Fainstad, Brandon" userId="aac92477-536e-4d21-9f70-fa5cd941f380" providerId="ADAL" clId="{6D5D973D-8D75-460A-A4F0-AD6216F5BF42}" dt="2020-11-18T18:25:43.243" v="1" actId="47"/>
        <pc:sldMkLst>
          <pc:docMk/>
          <pc:sldMk cId="2695099032" sldId="277"/>
        </pc:sldMkLst>
      </pc:sldChg>
    </pc:docChg>
  </pc:docChgLst>
  <pc:docChgLst>
    <pc:chgData name="Fainstad, Brandon" userId="aac92477-536e-4d21-9f70-fa5cd941f380" providerId="ADAL" clId="{8B3DDB12-B0A4-444E-B939-0E9EE0838C59}"/>
    <pc:docChg chg="custSel modSld">
      <pc:chgData name="Fainstad, Brandon" userId="aac92477-536e-4d21-9f70-fa5cd941f380" providerId="ADAL" clId="{8B3DDB12-B0A4-444E-B939-0E9EE0838C59}" dt="2020-11-22T22:34:06.301" v="66" actId="33935"/>
      <pc:docMkLst>
        <pc:docMk/>
      </pc:docMkLst>
      <pc:sldChg chg="addSp modSp mod">
        <pc:chgData name="Fainstad, Brandon" userId="aac92477-536e-4d21-9f70-fa5cd941f380" providerId="ADAL" clId="{8B3DDB12-B0A4-444E-B939-0E9EE0838C59}" dt="2020-11-18T19:00:27.543" v="50" actId="20577"/>
        <pc:sldMkLst>
          <pc:docMk/>
          <pc:sldMk cId="1453139936" sldId="263"/>
        </pc:sldMkLst>
        <pc:spChg chg="add mod">
          <ac:chgData name="Fainstad, Brandon" userId="aac92477-536e-4d21-9f70-fa5cd941f380" providerId="ADAL" clId="{8B3DDB12-B0A4-444E-B939-0E9EE0838C59}" dt="2020-11-18T19:00:27.543" v="50" actId="20577"/>
          <ac:spMkLst>
            <pc:docMk/>
            <pc:sldMk cId="1453139936" sldId="263"/>
            <ac:spMk id="2" creationId="{439482DF-EBD6-4171-9216-E4728A8CA294}"/>
          </ac:spMkLst>
        </pc:spChg>
      </pc:sldChg>
      <pc:sldChg chg="modSp mod">
        <pc:chgData name="Fainstad, Brandon" userId="aac92477-536e-4d21-9f70-fa5cd941f380" providerId="ADAL" clId="{8B3DDB12-B0A4-444E-B939-0E9EE0838C59}" dt="2020-11-22T22:34:06.301" v="66" actId="33935"/>
        <pc:sldMkLst>
          <pc:docMk/>
          <pc:sldMk cId="3352204269" sldId="269"/>
        </pc:sldMkLst>
        <pc:spChg chg="mod modVis">
          <ac:chgData name="Fainstad, Brandon" userId="aac92477-536e-4d21-9f70-fa5cd941f380" providerId="ADAL" clId="{8B3DDB12-B0A4-444E-B939-0E9EE0838C59}" dt="2020-11-22T22:34:06.301" v="66" actId="33935"/>
          <ac:spMkLst>
            <pc:docMk/>
            <pc:sldMk cId="3352204269" sldId="269"/>
            <ac:spMk id="33" creationId="{8E93BC3D-9A48-4519-87F0-DC82D5777AEB}"/>
          </ac:spMkLst>
        </pc:spChg>
        <pc:spChg chg="mod modVis">
          <ac:chgData name="Fainstad, Brandon" userId="aac92477-536e-4d21-9f70-fa5cd941f380" providerId="ADAL" clId="{8B3DDB12-B0A4-444E-B939-0E9EE0838C59}" dt="2020-11-22T22:34:06.301" v="66" actId="33935"/>
          <ac:spMkLst>
            <pc:docMk/>
            <pc:sldMk cId="3352204269" sldId="269"/>
            <ac:spMk id="34" creationId="{78D59F4F-3EF0-4B50-B0DE-BD1DB0BEC628}"/>
          </ac:spMkLst>
        </pc:spChg>
        <pc:spChg chg="mod modVis">
          <ac:chgData name="Fainstad, Brandon" userId="aac92477-536e-4d21-9f70-fa5cd941f380" providerId="ADAL" clId="{8B3DDB12-B0A4-444E-B939-0E9EE0838C59}" dt="2020-11-22T22:34:06.301" v="66" actId="33935"/>
          <ac:spMkLst>
            <pc:docMk/>
            <pc:sldMk cId="3352204269" sldId="269"/>
            <ac:spMk id="35" creationId="{DB2F2D18-103A-4622-B071-CE4836C07EAE}"/>
          </ac:spMkLst>
        </pc:spChg>
        <pc:spChg chg="mod modVis">
          <ac:chgData name="Fainstad, Brandon" userId="aac92477-536e-4d21-9f70-fa5cd941f380" providerId="ADAL" clId="{8B3DDB12-B0A4-444E-B939-0E9EE0838C59}" dt="2020-11-22T22:34:06.301" v="66" actId="33935"/>
          <ac:spMkLst>
            <pc:docMk/>
            <pc:sldMk cId="3352204269" sldId="269"/>
            <ac:spMk id="36" creationId="{F597A406-81A5-40AC-9888-C00B46C26B0C}"/>
          </ac:spMkLst>
        </pc:spChg>
        <pc:spChg chg="mod modVis">
          <ac:chgData name="Fainstad, Brandon" userId="aac92477-536e-4d21-9f70-fa5cd941f380" providerId="ADAL" clId="{8B3DDB12-B0A4-444E-B939-0E9EE0838C59}" dt="2020-11-22T22:34:06.301" v="66" actId="33935"/>
          <ac:spMkLst>
            <pc:docMk/>
            <pc:sldMk cId="3352204269" sldId="269"/>
            <ac:spMk id="91" creationId="{9088D581-1DAD-428F-A9E7-AF02AC247B3B}"/>
          </ac:spMkLst>
        </pc:spChg>
        <pc:spChg chg="mod modVis">
          <ac:chgData name="Fainstad, Brandon" userId="aac92477-536e-4d21-9f70-fa5cd941f380" providerId="ADAL" clId="{8B3DDB12-B0A4-444E-B939-0E9EE0838C59}" dt="2020-11-22T22:34:06.301" v="66" actId="33935"/>
          <ac:spMkLst>
            <pc:docMk/>
            <pc:sldMk cId="3352204269" sldId="269"/>
            <ac:spMk id="137" creationId="{CFE9643E-4E1C-4106-88E9-AE7C30BF2726}"/>
          </ac:spMkLst>
        </pc:spChg>
        <pc:spChg chg="mod modVis">
          <ac:chgData name="Fainstad, Brandon" userId="aac92477-536e-4d21-9f70-fa5cd941f380" providerId="ADAL" clId="{8B3DDB12-B0A4-444E-B939-0E9EE0838C59}" dt="2020-11-22T22:34:06.301" v="66" actId="33935"/>
          <ac:spMkLst>
            <pc:docMk/>
            <pc:sldMk cId="3352204269" sldId="269"/>
            <ac:spMk id="138" creationId="{7A073A5F-8988-455D-81A5-C527520DE1D3}"/>
          </ac:spMkLst>
        </pc:spChg>
        <pc:spChg chg="mod modVis">
          <ac:chgData name="Fainstad, Brandon" userId="aac92477-536e-4d21-9f70-fa5cd941f380" providerId="ADAL" clId="{8B3DDB12-B0A4-444E-B939-0E9EE0838C59}" dt="2020-11-22T22:34:06.301" v="66" actId="33935"/>
          <ac:spMkLst>
            <pc:docMk/>
            <pc:sldMk cId="3352204269" sldId="269"/>
            <ac:spMk id="139" creationId="{A6D4523C-271F-4BBF-8419-C2FFFB155074}"/>
          </ac:spMkLst>
        </pc:spChg>
        <pc:spChg chg="mod modVis">
          <ac:chgData name="Fainstad, Brandon" userId="aac92477-536e-4d21-9f70-fa5cd941f380" providerId="ADAL" clId="{8B3DDB12-B0A4-444E-B939-0E9EE0838C59}" dt="2020-11-22T22:34:06.301" v="66" actId="33935"/>
          <ac:spMkLst>
            <pc:docMk/>
            <pc:sldMk cId="3352204269" sldId="269"/>
            <ac:spMk id="140" creationId="{F8EC5410-24D8-433E-AA8C-B3E0D80477F9}"/>
          </ac:spMkLst>
        </pc:spChg>
        <pc:spChg chg="mod modVis">
          <ac:chgData name="Fainstad, Brandon" userId="aac92477-536e-4d21-9f70-fa5cd941f380" providerId="ADAL" clId="{8B3DDB12-B0A4-444E-B939-0E9EE0838C59}" dt="2020-11-22T22:34:06.301" v="66" actId="33935"/>
          <ac:spMkLst>
            <pc:docMk/>
            <pc:sldMk cId="3352204269" sldId="269"/>
            <ac:spMk id="141" creationId="{D4435F36-9602-4885-B3E5-1539C1970D5B}"/>
          </ac:spMkLst>
        </pc:spChg>
        <pc:spChg chg="mod modVis">
          <ac:chgData name="Fainstad, Brandon" userId="aac92477-536e-4d21-9f70-fa5cd941f380" providerId="ADAL" clId="{8B3DDB12-B0A4-444E-B939-0E9EE0838C59}" dt="2020-11-22T22:34:06.301" v="66" actId="33935"/>
          <ac:spMkLst>
            <pc:docMk/>
            <pc:sldMk cId="3352204269" sldId="269"/>
            <ac:spMk id="154" creationId="{FA2230BE-0292-43FF-A91B-8E54B5D6D5CA}"/>
          </ac:spMkLst>
        </pc:spChg>
        <pc:spChg chg="mod modVis">
          <ac:chgData name="Fainstad, Brandon" userId="aac92477-536e-4d21-9f70-fa5cd941f380" providerId="ADAL" clId="{8B3DDB12-B0A4-444E-B939-0E9EE0838C59}" dt="2020-11-22T22:34:06.301" v="66" actId="33935"/>
          <ac:spMkLst>
            <pc:docMk/>
            <pc:sldMk cId="3352204269" sldId="269"/>
            <ac:spMk id="155" creationId="{0EC0B138-4A26-4769-AF28-992F229F32E5}"/>
          </ac:spMkLst>
        </pc:spChg>
        <pc:spChg chg="mod modVis">
          <ac:chgData name="Fainstad, Brandon" userId="aac92477-536e-4d21-9f70-fa5cd941f380" providerId="ADAL" clId="{8B3DDB12-B0A4-444E-B939-0E9EE0838C59}" dt="2020-11-22T22:34:06.301" v="66" actId="33935"/>
          <ac:spMkLst>
            <pc:docMk/>
            <pc:sldMk cId="3352204269" sldId="269"/>
            <ac:spMk id="156" creationId="{26CFAD94-462F-41D2-AB60-F86C0FC09520}"/>
          </ac:spMkLst>
        </pc:spChg>
        <pc:spChg chg="mod modVis">
          <ac:chgData name="Fainstad, Brandon" userId="aac92477-536e-4d21-9f70-fa5cd941f380" providerId="ADAL" clId="{8B3DDB12-B0A4-444E-B939-0E9EE0838C59}" dt="2020-11-22T22:34:06.301" v="66" actId="33935"/>
          <ac:spMkLst>
            <pc:docMk/>
            <pc:sldMk cId="3352204269" sldId="269"/>
            <ac:spMk id="157" creationId="{717D2317-371D-4AF8-B59D-AEE8B7202E9F}"/>
          </ac:spMkLst>
        </pc:spChg>
        <pc:spChg chg="mod modVis">
          <ac:chgData name="Fainstad, Brandon" userId="aac92477-536e-4d21-9f70-fa5cd941f380" providerId="ADAL" clId="{8B3DDB12-B0A4-444E-B939-0E9EE0838C59}" dt="2020-11-22T22:34:06.301" v="66" actId="33935"/>
          <ac:spMkLst>
            <pc:docMk/>
            <pc:sldMk cId="3352204269" sldId="269"/>
            <ac:spMk id="158" creationId="{2D7DA197-3092-4A44-84A7-52D48BE1FD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a:p>
        </p:txBody>
      </p:sp>
      <p:sp>
        <p:nvSpPr>
          <p:cNvPr id="3" name="Date Placeholder 2"/>
          <p:cNvSpPr>
            <a:spLocks noGrp="1"/>
          </p:cNvSpPr>
          <p:nvPr>
            <p:ph type="dt" idx="1"/>
          </p:nvPr>
        </p:nvSpPr>
        <p:spPr>
          <a:xfrm>
            <a:off x="4008705" y="0"/>
            <a:ext cx="3066733" cy="469780"/>
          </a:xfrm>
          <a:prstGeom prst="rect">
            <a:avLst/>
          </a:prstGeom>
        </p:spPr>
        <p:txBody>
          <a:bodyPr vert="horz" lIns="93936" tIns="46968" rIns="93936" bIns="46968" rtlCol="0"/>
          <a:lstStyle>
            <a:lvl1pPr algn="r">
              <a:defRPr sz="1200"/>
            </a:lvl1pPr>
          </a:lstStyle>
          <a:p>
            <a:fld id="{CA79DAEB-5CD6-4F48-BC09-26C0EF601F5C}" type="datetimeFigureOut">
              <a:rPr lang="en-US" smtClean="0"/>
              <a:t>12/11/2020</a:t>
            </a:fld>
            <a:endParaRPr lang="en-US"/>
          </a:p>
        </p:txBody>
      </p:sp>
      <p:sp>
        <p:nvSpPr>
          <p:cNvPr id="4" name="Slide Image Placeholder 3"/>
          <p:cNvSpPr>
            <a:spLocks noGrp="1" noRot="1" noChangeAspect="1"/>
          </p:cNvSpPr>
          <p:nvPr>
            <p:ph type="sldImg" idx="2"/>
          </p:nvPr>
        </p:nvSpPr>
        <p:spPr>
          <a:xfrm>
            <a:off x="728663" y="1169988"/>
            <a:ext cx="5619750" cy="3160712"/>
          </a:xfrm>
          <a:prstGeom prst="rect">
            <a:avLst/>
          </a:prstGeom>
          <a:noFill/>
          <a:ln w="12700">
            <a:solidFill>
              <a:prstClr val="black"/>
            </a:solidFill>
          </a:ln>
        </p:spPr>
        <p:txBody>
          <a:bodyPr vert="horz" lIns="93936" tIns="46968" rIns="93936" bIns="46968" rtlCol="0" anchor="ctr"/>
          <a:lstStyle/>
          <a:p>
            <a:endParaRPr lang="en-US"/>
          </a:p>
        </p:txBody>
      </p:sp>
      <p:sp>
        <p:nvSpPr>
          <p:cNvPr id="5" name="Notes Placeholder 4"/>
          <p:cNvSpPr>
            <a:spLocks noGrp="1"/>
          </p:cNvSpPr>
          <p:nvPr>
            <p:ph type="body" sz="quarter" idx="3"/>
          </p:nvPr>
        </p:nvSpPr>
        <p:spPr>
          <a:xfrm>
            <a:off x="707708" y="4505980"/>
            <a:ext cx="5661660" cy="3686711"/>
          </a:xfrm>
          <a:prstGeom prst="rect">
            <a:avLst/>
          </a:prstGeom>
        </p:spPr>
        <p:txBody>
          <a:bodyPr vert="horz" lIns="93936" tIns="46968" rIns="93936" bIns="469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a:p>
        </p:txBody>
      </p:sp>
      <p:sp>
        <p:nvSpPr>
          <p:cNvPr id="7" name="Slide Number Placeholder 6"/>
          <p:cNvSpPr>
            <a:spLocks noGrp="1"/>
          </p:cNvSpPr>
          <p:nvPr>
            <p:ph type="sldNum" sz="quarter" idx="5"/>
          </p:nvPr>
        </p:nvSpPr>
        <p:spPr>
          <a:xfrm>
            <a:off x="4008705" y="8893297"/>
            <a:ext cx="3066733" cy="469779"/>
          </a:xfrm>
          <a:prstGeom prst="rect">
            <a:avLst/>
          </a:prstGeom>
        </p:spPr>
        <p:txBody>
          <a:bodyPr vert="horz" lIns="93936" tIns="46968" rIns="93936" bIns="46968" rtlCol="0" anchor="b"/>
          <a:lstStyle>
            <a:lvl1pPr algn="r">
              <a:defRPr sz="1200"/>
            </a:lvl1pPr>
          </a:lstStyle>
          <a:p>
            <a:fld id="{A45F7E79-21A1-4606-AF29-FE65116DE6E7}" type="slidenum">
              <a:rPr lang="en-US" smtClean="0"/>
              <a:t>‹#›</a:t>
            </a:fld>
            <a:endParaRPr lang="en-US"/>
          </a:p>
        </p:txBody>
      </p:sp>
    </p:spTree>
    <p:extLst>
      <p:ext uri="{BB962C8B-B14F-4D97-AF65-F5344CB8AC3E}">
        <p14:creationId xmlns:p14="http://schemas.microsoft.com/office/powerpoint/2010/main" val="2827996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Heart score </a:t>
            </a:r>
          </a:p>
          <a:p>
            <a:r>
              <a:rPr lang="en-US"/>
              <a:t>Six AJ, Backus BE, </a:t>
            </a:r>
            <a:r>
              <a:rPr lang="en-US" err="1"/>
              <a:t>Kelder</a:t>
            </a:r>
            <a:r>
              <a:rPr lang="en-US"/>
              <a:t> JC. Chest pain in the emergency room: value of the HEART score. </a:t>
            </a:r>
            <a:r>
              <a:rPr lang="en-US" i="1" err="1"/>
              <a:t>Neth</a:t>
            </a:r>
            <a:r>
              <a:rPr lang="en-US" i="1"/>
              <a:t> Heart J</a:t>
            </a:r>
            <a:r>
              <a:rPr lang="en-US"/>
              <a:t>. 2008;16(6):191-196. doi:10.1007/BF03086144</a:t>
            </a:r>
          </a:p>
          <a:p>
            <a:endParaRPr lang="en-US"/>
          </a:p>
          <a:p>
            <a:r>
              <a:rPr lang="en-US"/>
              <a:t>CAD consortium</a:t>
            </a:r>
          </a:p>
          <a:p>
            <a:r>
              <a:rPr lang="en-US" err="1"/>
              <a:t>Bittencourt</a:t>
            </a:r>
            <a:r>
              <a:rPr lang="en-US"/>
              <a:t> MS, </a:t>
            </a:r>
            <a:r>
              <a:rPr lang="en-US" err="1"/>
              <a:t>Hulten</a:t>
            </a:r>
            <a:r>
              <a:rPr lang="en-US"/>
              <a:t> E, Polonsky TS, et al. European Society of Cardiology-Recommended Coronary Artery Disease Consortium Pretest Probability Scores More Accurately Predict Obstructive Coronary Disease and Cardiovascular Events Than the Diamond and Forrester Score: The Partners Registry [published correction appears in Circulation. 2018 Jul 31;138(5):e80]. </a:t>
            </a:r>
            <a:r>
              <a:rPr lang="en-US" i="1"/>
              <a:t>Circulation</a:t>
            </a:r>
            <a:r>
              <a:rPr lang="en-US"/>
              <a:t>. 2016;134(3):201-211. doi:10.1161/CIRCULATIONAHA.116.023396</a:t>
            </a:r>
          </a:p>
          <a:p>
            <a:endParaRPr lang="en-US"/>
          </a:p>
          <a:p>
            <a:r>
              <a:rPr lang="en-US"/>
              <a:t>European society guidelines</a:t>
            </a:r>
          </a:p>
          <a:p>
            <a:r>
              <a:rPr lang="en-US" err="1"/>
              <a:t>Knuuti</a:t>
            </a:r>
            <a:r>
              <a:rPr lang="en-US"/>
              <a:t> J, </a:t>
            </a:r>
            <a:r>
              <a:rPr lang="en-US" err="1"/>
              <a:t>Wijns</a:t>
            </a:r>
            <a:r>
              <a:rPr lang="en-US"/>
              <a:t> W, </a:t>
            </a:r>
            <a:r>
              <a:rPr lang="en-US" err="1"/>
              <a:t>Saraste</a:t>
            </a:r>
            <a:r>
              <a:rPr lang="en-US"/>
              <a:t> A, et al. 2019 ESC Guidelines for the diagnosis and management of chronic coronary syndromes. </a:t>
            </a:r>
            <a:r>
              <a:rPr lang="en-US" i="1"/>
              <a:t>Eur Heart J</a:t>
            </a:r>
            <a:r>
              <a:rPr lang="en-US"/>
              <a:t>. 2020;41(3):407-477. doi:10.1093/</a:t>
            </a:r>
            <a:r>
              <a:rPr lang="en-US" err="1"/>
              <a:t>eurheartj</a:t>
            </a:r>
            <a:r>
              <a:rPr lang="en-US"/>
              <a:t>/ehz425</a:t>
            </a:r>
          </a:p>
        </p:txBody>
      </p:sp>
      <p:sp>
        <p:nvSpPr>
          <p:cNvPr id="4" name="Slide Number Placeholder 3"/>
          <p:cNvSpPr>
            <a:spLocks noGrp="1"/>
          </p:cNvSpPr>
          <p:nvPr>
            <p:ph type="sldNum" sz="quarter" idx="5"/>
          </p:nvPr>
        </p:nvSpPr>
        <p:spPr/>
        <p:txBody>
          <a:bodyPr/>
          <a:lstStyle/>
          <a:p>
            <a:fld id="{A45F7E79-21A1-4606-AF29-FE65116DE6E7}" type="slidenum">
              <a:rPr lang="en-US" smtClean="0"/>
              <a:t>1</a:t>
            </a:fld>
            <a:endParaRPr lang="en-US"/>
          </a:p>
        </p:txBody>
      </p:sp>
    </p:spTree>
    <p:extLst>
      <p:ext uri="{BB962C8B-B14F-4D97-AF65-F5344CB8AC3E}">
        <p14:creationId xmlns:p14="http://schemas.microsoft.com/office/powerpoint/2010/main" val="4246382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Kelsey</a:t>
            </a:r>
          </a:p>
          <a:p>
            <a:r>
              <a:rPr lang="en-US" dirty="0"/>
              <a:t>Case 4 – how would you have stressed this patient? What would you have managed them with these MPI findings. </a:t>
            </a:r>
          </a:p>
          <a:p>
            <a:endParaRPr lang="en-US" dirty="0"/>
          </a:p>
          <a:p>
            <a:r>
              <a:rPr lang="en-US" dirty="0"/>
              <a:t>Case 5 – this story sounds far more concerning to me than the CAD consortium score indicates. What do you think?  I guess it doesn’t really matter because I would want to stress her either way.  Just thought it was interesting the score was different than my </a:t>
            </a:r>
            <a:r>
              <a:rPr lang="en-US" dirty="0" err="1"/>
              <a:t>gestault</a:t>
            </a:r>
            <a:r>
              <a:rPr lang="en-US" dirty="0"/>
              <a:t> </a:t>
            </a:r>
          </a:p>
          <a:p>
            <a:endParaRPr lang="en-US" dirty="0"/>
          </a:p>
        </p:txBody>
      </p:sp>
      <p:sp>
        <p:nvSpPr>
          <p:cNvPr id="4" name="Slide Number Placeholder 3"/>
          <p:cNvSpPr>
            <a:spLocks noGrp="1"/>
          </p:cNvSpPr>
          <p:nvPr>
            <p:ph type="sldNum" sz="quarter" idx="5"/>
          </p:nvPr>
        </p:nvSpPr>
        <p:spPr/>
        <p:txBody>
          <a:bodyPr/>
          <a:lstStyle/>
          <a:p>
            <a:fld id="{A45F7E79-21A1-4606-AF29-FE65116DE6E7}" type="slidenum">
              <a:rPr lang="en-US" smtClean="0"/>
              <a:t>4</a:t>
            </a:fld>
            <a:endParaRPr lang="en-US"/>
          </a:p>
        </p:txBody>
      </p:sp>
    </p:spTree>
    <p:extLst>
      <p:ext uri="{BB962C8B-B14F-4D97-AF65-F5344CB8AC3E}">
        <p14:creationId xmlns:p14="http://schemas.microsoft.com/office/powerpoint/2010/main" val="722318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79201-DB0F-45F8-87DF-DEA82588A9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0D096A-44B7-43EE-B644-62E0D06A40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768DB6-FDF0-4B89-9BB9-BBD4FB6246A0}"/>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5" name="Footer Placeholder 4">
            <a:extLst>
              <a:ext uri="{FF2B5EF4-FFF2-40B4-BE49-F238E27FC236}">
                <a16:creationId xmlns:a16="http://schemas.microsoft.com/office/drawing/2014/main" id="{81177EC6-D347-4269-AACE-FEE4914394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4CB360-B9D9-4302-BF8A-9D7A82531D1D}"/>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1461293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29A73-F97A-40A8-8088-C880611F63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8AD2C-F084-411C-AFC3-91E0DD707A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53FF78-1AD8-4321-9C8B-458CC9A5B01E}"/>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5" name="Footer Placeholder 4">
            <a:extLst>
              <a:ext uri="{FF2B5EF4-FFF2-40B4-BE49-F238E27FC236}">
                <a16:creationId xmlns:a16="http://schemas.microsoft.com/office/drawing/2014/main" id="{BDC45383-6C50-4A91-BAC1-C13F04A0C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54B4F7-392D-4B2F-BADA-E21881120E3B}"/>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119842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8813-C4B1-4027-8570-3908EA361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C15C40-C11C-4231-8C8A-55DBC18DF9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BCDE99-FBA6-4A0E-BD8C-AAB17A0281B2}"/>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5" name="Footer Placeholder 4">
            <a:extLst>
              <a:ext uri="{FF2B5EF4-FFF2-40B4-BE49-F238E27FC236}">
                <a16:creationId xmlns:a16="http://schemas.microsoft.com/office/drawing/2014/main" id="{A1249E11-4C94-421F-870A-D3CF34556E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C8D364-121F-4677-B47B-E9F9125C4C97}"/>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3295907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B51C-37FD-47F0-A0F9-AB6184C8DE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A8D338-4A59-4DCD-8DA7-32F55CAA40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38A717-56AE-4A1C-9EC6-CD58762149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55CAF2-61F4-4ED4-9C8D-248BD0933A51}"/>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6" name="Footer Placeholder 5">
            <a:extLst>
              <a:ext uri="{FF2B5EF4-FFF2-40B4-BE49-F238E27FC236}">
                <a16:creationId xmlns:a16="http://schemas.microsoft.com/office/drawing/2014/main" id="{E765F0F4-EB86-4DC1-BFCF-5ADB888177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6D953B-B54A-47E1-9D39-8F3E207A6FD9}"/>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2829097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BE30E-94B9-4CA0-93D9-F5CA4F2977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E1BD71-DFE4-43F4-B059-703BDE2351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700C18-BFEF-4E9A-BDF6-503253D748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A5306-E8D2-46EA-9C25-FF64416F2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967AAA-B4D4-4BF4-8B14-93E8230EC7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028ACF-5E51-490F-88CC-65B657FFD3C4}"/>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8" name="Footer Placeholder 7">
            <a:extLst>
              <a:ext uri="{FF2B5EF4-FFF2-40B4-BE49-F238E27FC236}">
                <a16:creationId xmlns:a16="http://schemas.microsoft.com/office/drawing/2014/main" id="{0E3E3165-6D10-4BD8-B3E4-6BE3E2B569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CC32B0-46E1-492D-B5B1-6FFCC8CDE813}"/>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3995091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E1FA-850B-4EC1-B355-CE0FB74C45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C27E6B-677A-46DB-A3AF-0CB82BD2F277}"/>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4" name="Footer Placeholder 3">
            <a:extLst>
              <a:ext uri="{FF2B5EF4-FFF2-40B4-BE49-F238E27FC236}">
                <a16:creationId xmlns:a16="http://schemas.microsoft.com/office/drawing/2014/main" id="{583C227E-0033-4844-802C-C33E374246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30BEA5-59E0-49C5-BF33-A51DA0F8248C}"/>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2699027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EAD9CF-7C07-4C8F-B5D2-56047F37F273}"/>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3" name="Footer Placeholder 2">
            <a:extLst>
              <a:ext uri="{FF2B5EF4-FFF2-40B4-BE49-F238E27FC236}">
                <a16:creationId xmlns:a16="http://schemas.microsoft.com/office/drawing/2014/main" id="{12094E55-C73E-4995-8F42-0D6E106EF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63AB7D-AA8A-408B-AC5A-71A59AEEF8F9}"/>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1091602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1A690-C8C9-419D-87EE-848358B7B6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38CC14-9A35-4CF4-B5C5-C63BDE226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36F73E-2A8E-40A9-B2F7-863F922C5D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3ED85-AA7D-4BA4-A395-58B73AFE63CF}"/>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6" name="Footer Placeholder 5">
            <a:extLst>
              <a:ext uri="{FF2B5EF4-FFF2-40B4-BE49-F238E27FC236}">
                <a16:creationId xmlns:a16="http://schemas.microsoft.com/office/drawing/2014/main" id="{5AD1B89B-C6DD-40C1-A785-1E57CB7D8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FAEEE5-C5C5-4D70-AEFE-6571693DB213}"/>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1812205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8A4F4-2643-4D4C-8A63-F9B6255662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E48D37-6A70-4D0B-94FF-89EA9D2296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2E2073-C16E-4447-AA23-A5B5BA4B48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8CBAE-0E82-4755-BFE8-C4572031DC67}"/>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6" name="Footer Placeholder 5">
            <a:extLst>
              <a:ext uri="{FF2B5EF4-FFF2-40B4-BE49-F238E27FC236}">
                <a16:creationId xmlns:a16="http://schemas.microsoft.com/office/drawing/2014/main" id="{BB759F86-E0B8-4FC9-BF08-67E0C0F6BC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775A11-58C2-4CB8-AEA9-80B5788C5E85}"/>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2424766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B4F23-A820-45B4-BB17-BBA57B6349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2CC388-3657-4B1E-9213-864F788C24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3DF251-F927-4A33-8FF0-28EC103143F2}"/>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5" name="Footer Placeholder 4">
            <a:extLst>
              <a:ext uri="{FF2B5EF4-FFF2-40B4-BE49-F238E27FC236}">
                <a16:creationId xmlns:a16="http://schemas.microsoft.com/office/drawing/2014/main" id="{3F8E08E8-CE0E-497C-ABA7-B7D24A96B3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489266-A650-4498-A128-601A99D0A18B}"/>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171900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5E4186-A2DB-405D-81AC-39FD79760B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B1F96A-FA8E-4132-80C9-042E1C2C9A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FDDFA5-E3DE-4692-8EE6-DA968F63EA8A}"/>
              </a:ext>
            </a:extLst>
          </p:cNvPr>
          <p:cNvSpPr>
            <a:spLocks noGrp="1"/>
          </p:cNvSpPr>
          <p:nvPr>
            <p:ph type="dt" sz="half" idx="10"/>
          </p:nvPr>
        </p:nvSpPr>
        <p:spPr/>
        <p:txBody>
          <a:bodyPr/>
          <a:lstStyle/>
          <a:p>
            <a:fld id="{D142E7C0-5415-4753-8509-6B8C39F76EB0}" type="datetimeFigureOut">
              <a:rPr lang="en-US" smtClean="0"/>
              <a:t>12/11/2020</a:t>
            </a:fld>
            <a:endParaRPr lang="en-US"/>
          </a:p>
        </p:txBody>
      </p:sp>
      <p:sp>
        <p:nvSpPr>
          <p:cNvPr id="5" name="Footer Placeholder 4">
            <a:extLst>
              <a:ext uri="{FF2B5EF4-FFF2-40B4-BE49-F238E27FC236}">
                <a16:creationId xmlns:a16="http://schemas.microsoft.com/office/drawing/2014/main" id="{A417E735-3D68-440F-81CE-BDD5B1068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64E3F-0F53-4B1C-9E87-A290B53A2786}"/>
              </a:ext>
            </a:extLst>
          </p:cNvPr>
          <p:cNvSpPr>
            <a:spLocks noGrp="1"/>
          </p:cNvSpPr>
          <p:nvPr>
            <p:ph type="sldNum" sz="quarter" idx="12"/>
          </p:nvPr>
        </p:nvSpPr>
        <p:spPr/>
        <p:txBody>
          <a:bodyPr/>
          <a:lstStyle/>
          <a:p>
            <a:fld id="{0E488A7B-C183-4C17-B0FE-97B4BD94814F}" type="slidenum">
              <a:rPr lang="en-US" smtClean="0"/>
              <a:t>‹#›</a:t>
            </a:fld>
            <a:endParaRPr lang="en-US"/>
          </a:p>
        </p:txBody>
      </p:sp>
    </p:spTree>
    <p:extLst>
      <p:ext uri="{BB962C8B-B14F-4D97-AF65-F5344CB8AC3E}">
        <p14:creationId xmlns:p14="http://schemas.microsoft.com/office/powerpoint/2010/main" val="37268007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B8197A-41C1-42B5-9949-986246FBF7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751C5F-7482-4ABC-9AA8-9C8CB07007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9C8016-6402-483F-B505-DACD2E7F5E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42E7C0-5415-4753-8509-6B8C39F76EB0}" type="datetimeFigureOut">
              <a:rPr lang="en-US" smtClean="0"/>
              <a:t>12/11/2020</a:t>
            </a:fld>
            <a:endParaRPr lang="en-US"/>
          </a:p>
        </p:txBody>
      </p:sp>
      <p:sp>
        <p:nvSpPr>
          <p:cNvPr id="5" name="Footer Placeholder 4">
            <a:extLst>
              <a:ext uri="{FF2B5EF4-FFF2-40B4-BE49-F238E27FC236}">
                <a16:creationId xmlns:a16="http://schemas.microsoft.com/office/drawing/2014/main" id="{2A69CB1C-FB70-44BC-A724-72C30D7055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203C0A-A903-4703-91B6-AC53209F4C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88A7B-C183-4C17-B0FE-97B4BD94814F}" type="slidenum">
              <a:rPr lang="en-US" smtClean="0"/>
              <a:t>‹#›</a:t>
            </a:fld>
            <a:endParaRPr lang="en-US"/>
          </a:p>
        </p:txBody>
      </p:sp>
    </p:spTree>
    <p:extLst>
      <p:ext uri="{BB962C8B-B14F-4D97-AF65-F5344CB8AC3E}">
        <p14:creationId xmlns:p14="http://schemas.microsoft.com/office/powerpoint/2010/main" val="4280380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qxmd.com/calculate/calculator_35/heart-score--chest-pain-in-the-er" TargetMode="External"/><Relationship Id="rId4" Type="http://schemas.openxmlformats.org/officeDocument/2006/relationships/hyperlink" Target="https://qxmd.com/calculate/calculator_287/pre-test-probability-of-cad-cad-consortiumhttps:/qxmd.com/calculate/calculator_287/pre-test-probability-of-cad-cad-consortium" TargetMode="External"/><Relationship Id="rId5" Type="http://schemas.openxmlformats.org/officeDocument/2006/relationships/image" Target="../media/image1.png"/><Relationship Id="rId6"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1.xml"/><Relationship Id="rId5" Type="http://schemas.openxmlformats.org/officeDocument/2006/relationships/image" Target="../media/image2.png"/><Relationship Id="rId6"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Heart" hidden="1">
            <a:extLst>
              <a:ext uri="{FF2B5EF4-FFF2-40B4-BE49-F238E27FC236}">
                <a16:creationId xmlns:a16="http://schemas.microsoft.com/office/drawing/2014/main" id="{02CBAF25-5824-403F-9C0C-008A7E347A3A}"/>
              </a:ext>
            </a:extLst>
          </p:cNvPr>
          <p:cNvGrpSpPr/>
          <p:nvPr/>
        </p:nvGrpSpPr>
        <p:grpSpPr>
          <a:xfrm>
            <a:off x="3424746" y="1859330"/>
            <a:ext cx="5803888" cy="4761317"/>
            <a:chOff x="3656046" y="1162806"/>
            <a:chExt cx="4709426" cy="3836456"/>
          </a:xfrm>
        </p:grpSpPr>
        <p:grpSp>
          <p:nvGrpSpPr>
            <p:cNvPr id="12" name="Group 11">
              <a:extLst>
                <a:ext uri="{FF2B5EF4-FFF2-40B4-BE49-F238E27FC236}">
                  <a16:creationId xmlns:a16="http://schemas.microsoft.com/office/drawing/2014/main" id="{5E6DC3AF-AC57-49B3-9834-BA57CD9E7AD5}"/>
                </a:ext>
              </a:extLst>
            </p:cNvPr>
            <p:cNvGrpSpPr/>
            <p:nvPr/>
          </p:nvGrpSpPr>
          <p:grpSpPr>
            <a:xfrm>
              <a:off x="3656046" y="1162806"/>
              <a:ext cx="4709426" cy="3836456"/>
              <a:chOff x="6066771" y="1151893"/>
              <a:chExt cx="4897641" cy="3873527"/>
            </a:xfrm>
          </p:grpSpPr>
          <p:sp>
            <p:nvSpPr>
              <p:cNvPr id="23" name="Freeform: Shape 22">
                <a:extLst>
                  <a:ext uri="{FF2B5EF4-FFF2-40B4-BE49-F238E27FC236}">
                    <a16:creationId xmlns:a16="http://schemas.microsoft.com/office/drawing/2014/main" id="{EBB97017-28BD-4CBD-AF98-268DFB86EE8E}"/>
                  </a:ext>
                </a:extLst>
              </p:cNvPr>
              <p:cNvSpPr/>
              <p:nvPr/>
            </p:nvSpPr>
            <p:spPr>
              <a:xfrm>
                <a:off x="6066771" y="1227666"/>
                <a:ext cx="4897641" cy="3797754"/>
              </a:xfrm>
              <a:custGeom>
                <a:avLst/>
                <a:gdLst>
                  <a:gd name="connsiteX0" fmla="*/ 407515 w 4896121"/>
                  <a:gd name="connsiteY0" fmla="*/ 143933 h 3812052"/>
                  <a:gd name="connsiteX1" fmla="*/ 263581 w 4896121"/>
                  <a:gd name="connsiteY1" fmla="*/ 812800 h 3812052"/>
                  <a:gd name="connsiteX2" fmla="*/ 1115 w 4896121"/>
                  <a:gd name="connsiteY2" fmla="*/ 1854200 h 3812052"/>
                  <a:gd name="connsiteX3" fmla="*/ 373648 w 4896121"/>
                  <a:gd name="connsiteY3" fmla="*/ 2785533 h 3812052"/>
                  <a:gd name="connsiteX4" fmla="*/ 1990781 w 4896121"/>
                  <a:gd name="connsiteY4" fmla="*/ 3691466 h 3812052"/>
                  <a:gd name="connsiteX5" fmla="*/ 4242915 w 4896121"/>
                  <a:gd name="connsiteY5" fmla="*/ 3742266 h 3812052"/>
                  <a:gd name="connsiteX6" fmla="*/ 4886381 w 4896121"/>
                  <a:gd name="connsiteY6" fmla="*/ 3132666 h 3812052"/>
                  <a:gd name="connsiteX7" fmla="*/ 4581581 w 4896121"/>
                  <a:gd name="connsiteY7" fmla="*/ 1998133 h 3812052"/>
                  <a:gd name="connsiteX8" fmla="*/ 3921181 w 4896121"/>
                  <a:gd name="connsiteY8" fmla="*/ 897466 h 3812052"/>
                  <a:gd name="connsiteX9" fmla="*/ 2845915 w 4896121"/>
                  <a:gd name="connsiteY9" fmla="*/ 287866 h 3812052"/>
                  <a:gd name="connsiteX10" fmla="*/ 1906115 w 4896121"/>
                  <a:gd name="connsiteY10" fmla="*/ 42333 h 3812052"/>
                  <a:gd name="connsiteX11" fmla="*/ 1584381 w 4896121"/>
                  <a:gd name="connsiteY11" fmla="*/ 8466 h 3812052"/>
                  <a:gd name="connsiteX12" fmla="*/ 1491248 w 4896121"/>
                  <a:gd name="connsiteY12" fmla="*/ 0 h 3812052"/>
                  <a:gd name="connsiteX0" fmla="*/ 407515 w 4896121"/>
                  <a:gd name="connsiteY0" fmla="*/ 143933 h 3809631"/>
                  <a:gd name="connsiteX1" fmla="*/ 263581 w 4896121"/>
                  <a:gd name="connsiteY1" fmla="*/ 812800 h 3809631"/>
                  <a:gd name="connsiteX2" fmla="*/ 1115 w 4896121"/>
                  <a:gd name="connsiteY2" fmla="*/ 1854200 h 3809631"/>
                  <a:gd name="connsiteX3" fmla="*/ 373648 w 4896121"/>
                  <a:gd name="connsiteY3" fmla="*/ 2827867 h 3809631"/>
                  <a:gd name="connsiteX4" fmla="*/ 1990781 w 4896121"/>
                  <a:gd name="connsiteY4" fmla="*/ 3691466 h 3809631"/>
                  <a:gd name="connsiteX5" fmla="*/ 4242915 w 4896121"/>
                  <a:gd name="connsiteY5" fmla="*/ 3742266 h 3809631"/>
                  <a:gd name="connsiteX6" fmla="*/ 4886381 w 4896121"/>
                  <a:gd name="connsiteY6" fmla="*/ 3132666 h 3809631"/>
                  <a:gd name="connsiteX7" fmla="*/ 4581581 w 4896121"/>
                  <a:gd name="connsiteY7" fmla="*/ 1998133 h 3809631"/>
                  <a:gd name="connsiteX8" fmla="*/ 3921181 w 4896121"/>
                  <a:gd name="connsiteY8" fmla="*/ 897466 h 3809631"/>
                  <a:gd name="connsiteX9" fmla="*/ 2845915 w 4896121"/>
                  <a:gd name="connsiteY9" fmla="*/ 287866 h 3809631"/>
                  <a:gd name="connsiteX10" fmla="*/ 1906115 w 4896121"/>
                  <a:gd name="connsiteY10" fmla="*/ 42333 h 3809631"/>
                  <a:gd name="connsiteX11" fmla="*/ 1584381 w 4896121"/>
                  <a:gd name="connsiteY11" fmla="*/ 8466 h 3809631"/>
                  <a:gd name="connsiteX12" fmla="*/ 1491248 w 4896121"/>
                  <a:gd name="connsiteY12" fmla="*/ 0 h 3809631"/>
                  <a:gd name="connsiteX0" fmla="*/ 407515 w 4896121"/>
                  <a:gd name="connsiteY0" fmla="*/ 143933 h 3797754"/>
                  <a:gd name="connsiteX1" fmla="*/ 263581 w 4896121"/>
                  <a:gd name="connsiteY1" fmla="*/ 812800 h 3797754"/>
                  <a:gd name="connsiteX2" fmla="*/ 1115 w 4896121"/>
                  <a:gd name="connsiteY2" fmla="*/ 1854200 h 3797754"/>
                  <a:gd name="connsiteX3" fmla="*/ 373648 w 4896121"/>
                  <a:gd name="connsiteY3" fmla="*/ 2827867 h 3797754"/>
                  <a:gd name="connsiteX4" fmla="*/ 2016181 w 4896121"/>
                  <a:gd name="connsiteY4" fmla="*/ 3666066 h 3797754"/>
                  <a:gd name="connsiteX5" fmla="*/ 4242915 w 4896121"/>
                  <a:gd name="connsiteY5" fmla="*/ 3742266 h 3797754"/>
                  <a:gd name="connsiteX6" fmla="*/ 4886381 w 4896121"/>
                  <a:gd name="connsiteY6" fmla="*/ 3132666 h 3797754"/>
                  <a:gd name="connsiteX7" fmla="*/ 4581581 w 4896121"/>
                  <a:gd name="connsiteY7" fmla="*/ 1998133 h 3797754"/>
                  <a:gd name="connsiteX8" fmla="*/ 3921181 w 4896121"/>
                  <a:gd name="connsiteY8" fmla="*/ 897466 h 3797754"/>
                  <a:gd name="connsiteX9" fmla="*/ 2845915 w 4896121"/>
                  <a:gd name="connsiteY9" fmla="*/ 287866 h 3797754"/>
                  <a:gd name="connsiteX10" fmla="*/ 1906115 w 4896121"/>
                  <a:gd name="connsiteY10" fmla="*/ 42333 h 3797754"/>
                  <a:gd name="connsiteX11" fmla="*/ 1584381 w 4896121"/>
                  <a:gd name="connsiteY11" fmla="*/ 8466 h 3797754"/>
                  <a:gd name="connsiteX12" fmla="*/ 1491248 w 4896121"/>
                  <a:gd name="connsiteY12" fmla="*/ 0 h 3797754"/>
                  <a:gd name="connsiteX0" fmla="*/ 407515 w 4897641"/>
                  <a:gd name="connsiteY0" fmla="*/ 143933 h 3797754"/>
                  <a:gd name="connsiteX1" fmla="*/ 263581 w 4897641"/>
                  <a:gd name="connsiteY1" fmla="*/ 812800 h 3797754"/>
                  <a:gd name="connsiteX2" fmla="*/ 1115 w 4897641"/>
                  <a:gd name="connsiteY2" fmla="*/ 1854200 h 3797754"/>
                  <a:gd name="connsiteX3" fmla="*/ 373648 w 4897641"/>
                  <a:gd name="connsiteY3" fmla="*/ 2827867 h 3797754"/>
                  <a:gd name="connsiteX4" fmla="*/ 2016181 w 4897641"/>
                  <a:gd name="connsiteY4" fmla="*/ 3666066 h 3797754"/>
                  <a:gd name="connsiteX5" fmla="*/ 4242915 w 4897641"/>
                  <a:gd name="connsiteY5" fmla="*/ 3742266 h 3797754"/>
                  <a:gd name="connsiteX6" fmla="*/ 4886381 w 4897641"/>
                  <a:gd name="connsiteY6" fmla="*/ 3132666 h 3797754"/>
                  <a:gd name="connsiteX7" fmla="*/ 4598514 w 4897641"/>
                  <a:gd name="connsiteY7" fmla="*/ 1947333 h 3797754"/>
                  <a:gd name="connsiteX8" fmla="*/ 3921181 w 4897641"/>
                  <a:gd name="connsiteY8" fmla="*/ 897466 h 3797754"/>
                  <a:gd name="connsiteX9" fmla="*/ 2845915 w 4897641"/>
                  <a:gd name="connsiteY9" fmla="*/ 287866 h 3797754"/>
                  <a:gd name="connsiteX10" fmla="*/ 1906115 w 4897641"/>
                  <a:gd name="connsiteY10" fmla="*/ 42333 h 3797754"/>
                  <a:gd name="connsiteX11" fmla="*/ 1584381 w 4897641"/>
                  <a:gd name="connsiteY11" fmla="*/ 8466 h 3797754"/>
                  <a:gd name="connsiteX12" fmla="*/ 1491248 w 4897641"/>
                  <a:gd name="connsiteY12" fmla="*/ 0 h 379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7641" h="3797754">
                    <a:moveTo>
                      <a:pt x="407515" y="143933"/>
                    </a:moveTo>
                    <a:cubicBezTo>
                      <a:pt x="369414" y="335844"/>
                      <a:pt x="331314" y="527756"/>
                      <a:pt x="263581" y="812800"/>
                    </a:cubicBezTo>
                    <a:cubicBezTo>
                      <a:pt x="195848" y="1097844"/>
                      <a:pt x="-17229" y="1518356"/>
                      <a:pt x="1115" y="1854200"/>
                    </a:cubicBezTo>
                    <a:cubicBezTo>
                      <a:pt x="19459" y="2190044"/>
                      <a:pt x="37804" y="2525889"/>
                      <a:pt x="373648" y="2827867"/>
                    </a:cubicBezTo>
                    <a:cubicBezTo>
                      <a:pt x="709492" y="3129845"/>
                      <a:pt x="1371303" y="3513666"/>
                      <a:pt x="2016181" y="3666066"/>
                    </a:cubicBezTo>
                    <a:cubicBezTo>
                      <a:pt x="2661059" y="3818466"/>
                      <a:pt x="3764548" y="3831166"/>
                      <a:pt x="4242915" y="3742266"/>
                    </a:cubicBezTo>
                    <a:cubicBezTo>
                      <a:pt x="4721282" y="3653366"/>
                      <a:pt x="4827115" y="3431821"/>
                      <a:pt x="4886381" y="3132666"/>
                    </a:cubicBezTo>
                    <a:cubicBezTo>
                      <a:pt x="4945647" y="2833511"/>
                      <a:pt x="4759381" y="2319866"/>
                      <a:pt x="4598514" y="1947333"/>
                    </a:cubicBezTo>
                    <a:cubicBezTo>
                      <a:pt x="4437647" y="1574800"/>
                      <a:pt x="4213281" y="1174044"/>
                      <a:pt x="3921181" y="897466"/>
                    </a:cubicBezTo>
                    <a:cubicBezTo>
                      <a:pt x="3629081" y="620888"/>
                      <a:pt x="3181759" y="430388"/>
                      <a:pt x="2845915" y="287866"/>
                    </a:cubicBezTo>
                    <a:cubicBezTo>
                      <a:pt x="2510071" y="145344"/>
                      <a:pt x="2116371" y="88900"/>
                      <a:pt x="1906115" y="42333"/>
                    </a:cubicBezTo>
                    <a:cubicBezTo>
                      <a:pt x="1695859" y="-4234"/>
                      <a:pt x="1653525" y="15521"/>
                      <a:pt x="1584381" y="8466"/>
                    </a:cubicBezTo>
                    <a:cubicBezTo>
                      <a:pt x="1515237" y="1411"/>
                      <a:pt x="1503242" y="705"/>
                      <a:pt x="1491248" y="0"/>
                    </a:cubicBezTo>
                  </a:path>
                </a:pathLst>
              </a:custGeom>
              <a:solidFill>
                <a:schemeClr val="bg1"/>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5B02A3C2-9774-4B8B-87EE-F9330C2166B4}"/>
                  </a:ext>
                </a:extLst>
              </p:cNvPr>
              <p:cNvSpPr/>
              <p:nvPr/>
            </p:nvSpPr>
            <p:spPr>
              <a:xfrm>
                <a:off x="6932105" y="2579099"/>
                <a:ext cx="381000" cy="381000"/>
              </a:xfrm>
              <a:custGeom>
                <a:avLst/>
                <a:gdLst>
                  <a:gd name="connsiteX0" fmla="*/ 0 w 381000"/>
                  <a:gd name="connsiteY0" fmla="*/ 0 h 381000"/>
                  <a:gd name="connsiteX1" fmla="*/ 110067 w 381000"/>
                  <a:gd name="connsiteY1" fmla="*/ 220133 h 381000"/>
                  <a:gd name="connsiteX2" fmla="*/ 279400 w 381000"/>
                  <a:gd name="connsiteY2" fmla="*/ 254000 h 381000"/>
                  <a:gd name="connsiteX3" fmla="*/ 381000 w 381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381000" h="381000">
                    <a:moveTo>
                      <a:pt x="0" y="0"/>
                    </a:moveTo>
                    <a:cubicBezTo>
                      <a:pt x="31750" y="88900"/>
                      <a:pt x="63500" y="177800"/>
                      <a:pt x="110067" y="220133"/>
                    </a:cubicBezTo>
                    <a:cubicBezTo>
                      <a:pt x="156634" y="262466"/>
                      <a:pt x="234245" y="227189"/>
                      <a:pt x="279400" y="254000"/>
                    </a:cubicBezTo>
                    <a:cubicBezTo>
                      <a:pt x="324555" y="280811"/>
                      <a:pt x="352777" y="330905"/>
                      <a:pt x="381000" y="381000"/>
                    </a:cubicBezTo>
                  </a:path>
                </a:pathLst>
              </a:custGeom>
              <a:noFill/>
              <a:ln w="5715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3A74E649-35E3-4990-9B32-602DE341FC0C}"/>
                  </a:ext>
                </a:extLst>
              </p:cNvPr>
              <p:cNvSpPr/>
              <p:nvPr/>
            </p:nvSpPr>
            <p:spPr>
              <a:xfrm>
                <a:off x="6103308" y="2082801"/>
                <a:ext cx="1008692" cy="1286932"/>
              </a:xfrm>
              <a:custGeom>
                <a:avLst/>
                <a:gdLst>
                  <a:gd name="connsiteX0" fmla="*/ 999067 w 999067"/>
                  <a:gd name="connsiteY0" fmla="*/ 0 h 1286933"/>
                  <a:gd name="connsiteX1" fmla="*/ 846667 w 999067"/>
                  <a:gd name="connsiteY1" fmla="*/ 508000 h 1286933"/>
                  <a:gd name="connsiteX2" fmla="*/ 304800 w 999067"/>
                  <a:gd name="connsiteY2" fmla="*/ 1066800 h 1286933"/>
                  <a:gd name="connsiteX3" fmla="*/ 0 w 999067"/>
                  <a:gd name="connsiteY3" fmla="*/ 1286933 h 1286933"/>
                  <a:gd name="connsiteX0" fmla="*/ 999067 w 999067"/>
                  <a:gd name="connsiteY0" fmla="*/ 0 h 1296558"/>
                  <a:gd name="connsiteX1" fmla="*/ 846667 w 999067"/>
                  <a:gd name="connsiteY1" fmla="*/ 508000 h 1296558"/>
                  <a:gd name="connsiteX2" fmla="*/ 304800 w 999067"/>
                  <a:gd name="connsiteY2" fmla="*/ 1066800 h 1296558"/>
                  <a:gd name="connsiteX3" fmla="*/ 0 w 999067"/>
                  <a:gd name="connsiteY3" fmla="*/ 1296558 h 1296558"/>
                  <a:gd name="connsiteX0" fmla="*/ 999067 w 999067"/>
                  <a:gd name="connsiteY0" fmla="*/ 0 h 1296558"/>
                  <a:gd name="connsiteX1" fmla="*/ 846667 w 999067"/>
                  <a:gd name="connsiteY1" fmla="*/ 508000 h 1296558"/>
                  <a:gd name="connsiteX2" fmla="*/ 304800 w 999067"/>
                  <a:gd name="connsiteY2" fmla="*/ 1066800 h 1296558"/>
                  <a:gd name="connsiteX3" fmla="*/ 0 w 999067"/>
                  <a:gd name="connsiteY3" fmla="*/ 1296558 h 1296558"/>
                  <a:gd name="connsiteX0" fmla="*/ 1008692 w 1008692"/>
                  <a:gd name="connsiteY0" fmla="*/ 0 h 1248431"/>
                  <a:gd name="connsiteX1" fmla="*/ 856292 w 1008692"/>
                  <a:gd name="connsiteY1" fmla="*/ 508000 h 1248431"/>
                  <a:gd name="connsiteX2" fmla="*/ 314425 w 1008692"/>
                  <a:gd name="connsiteY2" fmla="*/ 1066800 h 1248431"/>
                  <a:gd name="connsiteX3" fmla="*/ 0 w 1008692"/>
                  <a:gd name="connsiteY3" fmla="*/ 1248431 h 1248431"/>
                  <a:gd name="connsiteX0" fmla="*/ 1008692 w 1008692"/>
                  <a:gd name="connsiteY0" fmla="*/ 0 h 1286932"/>
                  <a:gd name="connsiteX1" fmla="*/ 856292 w 1008692"/>
                  <a:gd name="connsiteY1" fmla="*/ 508000 h 1286932"/>
                  <a:gd name="connsiteX2" fmla="*/ 314425 w 1008692"/>
                  <a:gd name="connsiteY2" fmla="*/ 1066800 h 1286932"/>
                  <a:gd name="connsiteX3" fmla="*/ 0 w 1008692"/>
                  <a:gd name="connsiteY3" fmla="*/ 1286932 h 1286932"/>
                </a:gdLst>
                <a:ahLst/>
                <a:cxnLst>
                  <a:cxn ang="0">
                    <a:pos x="connsiteX0" y="connsiteY0"/>
                  </a:cxn>
                  <a:cxn ang="0">
                    <a:pos x="connsiteX1" y="connsiteY1"/>
                  </a:cxn>
                  <a:cxn ang="0">
                    <a:pos x="connsiteX2" y="connsiteY2"/>
                  </a:cxn>
                  <a:cxn ang="0">
                    <a:pos x="connsiteX3" y="connsiteY3"/>
                  </a:cxn>
                </a:cxnLst>
                <a:rect l="l" t="t" r="r" b="b"/>
                <a:pathLst>
                  <a:path w="1008692" h="1286932">
                    <a:moveTo>
                      <a:pt x="1008692" y="0"/>
                    </a:moveTo>
                    <a:cubicBezTo>
                      <a:pt x="990347" y="165100"/>
                      <a:pt x="972003" y="330200"/>
                      <a:pt x="856292" y="508000"/>
                    </a:cubicBezTo>
                    <a:cubicBezTo>
                      <a:pt x="740581" y="685800"/>
                      <a:pt x="457140" y="936978"/>
                      <a:pt x="314425" y="1066800"/>
                    </a:cubicBezTo>
                    <a:cubicBezTo>
                      <a:pt x="171710" y="1196622"/>
                      <a:pt x="4842" y="1222526"/>
                      <a:pt x="0" y="1286932"/>
                    </a:cubicBezTo>
                  </a:path>
                </a:pathLst>
              </a:custGeom>
              <a:noFill/>
              <a:ln w="762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3D42F0C-057A-48E3-BCFC-681E747FE761}"/>
                  </a:ext>
                </a:extLst>
              </p:cNvPr>
              <p:cNvSpPr/>
              <p:nvPr/>
            </p:nvSpPr>
            <p:spPr>
              <a:xfrm flipV="1">
                <a:off x="6739171" y="3394287"/>
                <a:ext cx="1227667" cy="228057"/>
              </a:xfrm>
              <a:custGeom>
                <a:avLst/>
                <a:gdLst>
                  <a:gd name="connsiteX0" fmla="*/ 0 w 2252133"/>
                  <a:gd name="connsiteY0" fmla="*/ 0 h 1143000"/>
                  <a:gd name="connsiteX1" fmla="*/ 287866 w 2252133"/>
                  <a:gd name="connsiteY1" fmla="*/ 67733 h 1143000"/>
                  <a:gd name="connsiteX2" fmla="*/ 812800 w 2252133"/>
                  <a:gd name="connsiteY2" fmla="*/ 321733 h 1143000"/>
                  <a:gd name="connsiteX3" fmla="*/ 1202266 w 2252133"/>
                  <a:gd name="connsiteY3" fmla="*/ 584200 h 1143000"/>
                  <a:gd name="connsiteX4" fmla="*/ 1803400 w 2252133"/>
                  <a:gd name="connsiteY4" fmla="*/ 897467 h 1143000"/>
                  <a:gd name="connsiteX5" fmla="*/ 2252133 w 2252133"/>
                  <a:gd name="connsiteY5" fmla="*/ 1143000 h 1143000"/>
                  <a:gd name="connsiteX0" fmla="*/ 0 w 2252133"/>
                  <a:gd name="connsiteY0" fmla="*/ 930818 h 2073818"/>
                  <a:gd name="connsiteX1" fmla="*/ 287866 w 2252133"/>
                  <a:gd name="connsiteY1" fmla="*/ 998551 h 2073818"/>
                  <a:gd name="connsiteX2" fmla="*/ 889404 w 2252133"/>
                  <a:gd name="connsiteY2" fmla="*/ 5645 h 2073818"/>
                  <a:gd name="connsiteX3" fmla="*/ 1202266 w 2252133"/>
                  <a:gd name="connsiteY3" fmla="*/ 1515018 h 2073818"/>
                  <a:gd name="connsiteX4" fmla="*/ 1803400 w 2252133"/>
                  <a:gd name="connsiteY4" fmla="*/ 1828285 h 2073818"/>
                  <a:gd name="connsiteX5" fmla="*/ 2252133 w 2252133"/>
                  <a:gd name="connsiteY5" fmla="*/ 2073818 h 2073818"/>
                  <a:gd name="connsiteX0" fmla="*/ 0 w 2252133"/>
                  <a:gd name="connsiteY0" fmla="*/ 929591 h 2072591"/>
                  <a:gd name="connsiteX1" fmla="*/ 287866 w 2252133"/>
                  <a:gd name="connsiteY1" fmla="*/ 997324 h 2072591"/>
                  <a:gd name="connsiteX2" fmla="*/ 889404 w 2252133"/>
                  <a:gd name="connsiteY2" fmla="*/ 4418 h 2072591"/>
                  <a:gd name="connsiteX3" fmla="*/ 1324830 w 2252133"/>
                  <a:gd name="connsiteY3" fmla="*/ 682518 h 2072591"/>
                  <a:gd name="connsiteX4" fmla="*/ 1803400 w 2252133"/>
                  <a:gd name="connsiteY4" fmla="*/ 1827058 h 2072591"/>
                  <a:gd name="connsiteX5" fmla="*/ 2252133 w 2252133"/>
                  <a:gd name="connsiteY5" fmla="*/ 2072591 h 2072591"/>
                  <a:gd name="connsiteX0" fmla="*/ 0 w 2252133"/>
                  <a:gd name="connsiteY0" fmla="*/ 928499 h 2071499"/>
                  <a:gd name="connsiteX1" fmla="*/ 287866 w 2252133"/>
                  <a:gd name="connsiteY1" fmla="*/ 996232 h 2071499"/>
                  <a:gd name="connsiteX2" fmla="*/ 889404 w 2252133"/>
                  <a:gd name="connsiteY2" fmla="*/ 3326 h 2071499"/>
                  <a:gd name="connsiteX3" fmla="*/ 1324830 w 2252133"/>
                  <a:gd name="connsiteY3" fmla="*/ 681426 h 2071499"/>
                  <a:gd name="connsiteX4" fmla="*/ 1818721 w 2252133"/>
                  <a:gd name="connsiteY4" fmla="*/ 890785 h 2071499"/>
                  <a:gd name="connsiteX5" fmla="*/ 2252133 w 2252133"/>
                  <a:gd name="connsiteY5" fmla="*/ 2071499 h 2071499"/>
                  <a:gd name="connsiteX0" fmla="*/ 0 w 2221492"/>
                  <a:gd name="connsiteY0" fmla="*/ 928499 h 2798862"/>
                  <a:gd name="connsiteX1" fmla="*/ 287866 w 2221492"/>
                  <a:gd name="connsiteY1" fmla="*/ 996232 h 2798862"/>
                  <a:gd name="connsiteX2" fmla="*/ 889404 w 2221492"/>
                  <a:gd name="connsiteY2" fmla="*/ 3326 h 2798862"/>
                  <a:gd name="connsiteX3" fmla="*/ 1324830 w 2221492"/>
                  <a:gd name="connsiteY3" fmla="*/ 681426 h 2798862"/>
                  <a:gd name="connsiteX4" fmla="*/ 1818721 w 2221492"/>
                  <a:gd name="connsiteY4" fmla="*/ 890785 h 2798862"/>
                  <a:gd name="connsiteX5" fmla="*/ 2221492 w 2221492"/>
                  <a:gd name="connsiteY5" fmla="*/ 2798862 h 279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1492" h="2798862">
                    <a:moveTo>
                      <a:pt x="0" y="928499"/>
                    </a:moveTo>
                    <a:cubicBezTo>
                      <a:pt x="76199" y="935554"/>
                      <a:pt x="139632" y="1150427"/>
                      <a:pt x="287866" y="996232"/>
                    </a:cubicBezTo>
                    <a:cubicBezTo>
                      <a:pt x="436100" y="842037"/>
                      <a:pt x="716577" y="55794"/>
                      <a:pt x="889404" y="3326"/>
                    </a:cubicBezTo>
                    <a:cubicBezTo>
                      <a:pt x="1062231" y="-49142"/>
                      <a:pt x="1169944" y="533516"/>
                      <a:pt x="1324830" y="681426"/>
                    </a:cubicBezTo>
                    <a:cubicBezTo>
                      <a:pt x="1479716" y="829336"/>
                      <a:pt x="1669277" y="537879"/>
                      <a:pt x="1818721" y="890785"/>
                    </a:cubicBezTo>
                    <a:cubicBezTo>
                      <a:pt x="1968165" y="1243691"/>
                      <a:pt x="2084614" y="2722662"/>
                      <a:pt x="2221492" y="2798862"/>
                    </a:cubicBezTo>
                  </a:path>
                </a:pathLst>
              </a:custGeom>
              <a:noFill/>
              <a:ln w="57150">
                <a:solidFill>
                  <a:schemeClr val="accent1">
                    <a:alpha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A72E294-F697-413C-AC94-9211F533BC67}"/>
                  </a:ext>
                </a:extLst>
              </p:cNvPr>
              <p:cNvSpPr/>
              <p:nvPr/>
            </p:nvSpPr>
            <p:spPr>
              <a:xfrm rot="1765970">
                <a:off x="8523438" y="2174240"/>
                <a:ext cx="338128" cy="550661"/>
              </a:xfrm>
              <a:custGeom>
                <a:avLst/>
                <a:gdLst>
                  <a:gd name="connsiteX0" fmla="*/ 0 w 381000"/>
                  <a:gd name="connsiteY0" fmla="*/ 0 h 381000"/>
                  <a:gd name="connsiteX1" fmla="*/ 110067 w 381000"/>
                  <a:gd name="connsiteY1" fmla="*/ 220133 h 381000"/>
                  <a:gd name="connsiteX2" fmla="*/ 279400 w 381000"/>
                  <a:gd name="connsiteY2" fmla="*/ 254000 h 381000"/>
                  <a:gd name="connsiteX3" fmla="*/ 381000 w 381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381000" h="381000">
                    <a:moveTo>
                      <a:pt x="0" y="0"/>
                    </a:moveTo>
                    <a:cubicBezTo>
                      <a:pt x="31750" y="88900"/>
                      <a:pt x="63500" y="177800"/>
                      <a:pt x="110067" y="220133"/>
                    </a:cubicBezTo>
                    <a:cubicBezTo>
                      <a:pt x="156634" y="262466"/>
                      <a:pt x="234245" y="227189"/>
                      <a:pt x="279400" y="254000"/>
                    </a:cubicBezTo>
                    <a:cubicBezTo>
                      <a:pt x="324555" y="280811"/>
                      <a:pt x="352777" y="330905"/>
                      <a:pt x="381000" y="381000"/>
                    </a:cubicBezTo>
                  </a:path>
                </a:pathLst>
              </a:custGeom>
              <a:noFill/>
              <a:ln w="381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ACFFA997-7860-4BCF-8994-E5E19D7B6A2C}"/>
                  </a:ext>
                </a:extLst>
              </p:cNvPr>
              <p:cNvSpPr/>
              <p:nvPr/>
            </p:nvSpPr>
            <p:spPr>
              <a:xfrm rot="3817468">
                <a:off x="9369820" y="3983719"/>
                <a:ext cx="381000" cy="381000"/>
              </a:xfrm>
              <a:custGeom>
                <a:avLst/>
                <a:gdLst>
                  <a:gd name="connsiteX0" fmla="*/ 0 w 381000"/>
                  <a:gd name="connsiteY0" fmla="*/ 0 h 381000"/>
                  <a:gd name="connsiteX1" fmla="*/ 110067 w 381000"/>
                  <a:gd name="connsiteY1" fmla="*/ 220133 h 381000"/>
                  <a:gd name="connsiteX2" fmla="*/ 279400 w 381000"/>
                  <a:gd name="connsiteY2" fmla="*/ 254000 h 381000"/>
                  <a:gd name="connsiteX3" fmla="*/ 381000 w 381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381000" h="381000">
                    <a:moveTo>
                      <a:pt x="0" y="0"/>
                    </a:moveTo>
                    <a:cubicBezTo>
                      <a:pt x="31750" y="88900"/>
                      <a:pt x="63500" y="177800"/>
                      <a:pt x="110067" y="220133"/>
                    </a:cubicBezTo>
                    <a:cubicBezTo>
                      <a:pt x="156634" y="262466"/>
                      <a:pt x="234245" y="227189"/>
                      <a:pt x="279400" y="254000"/>
                    </a:cubicBezTo>
                    <a:cubicBezTo>
                      <a:pt x="324555" y="280811"/>
                      <a:pt x="352777" y="330905"/>
                      <a:pt x="381000" y="381000"/>
                    </a:cubicBezTo>
                  </a:path>
                </a:pathLst>
              </a:custGeom>
              <a:noFill/>
              <a:ln w="381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3374342A-4623-4546-AB76-0D769BB130F3}"/>
                  </a:ext>
                </a:extLst>
              </p:cNvPr>
              <p:cNvSpPr/>
              <p:nvPr/>
            </p:nvSpPr>
            <p:spPr>
              <a:xfrm rot="3817468">
                <a:off x="8889908" y="3282867"/>
                <a:ext cx="580924" cy="467787"/>
              </a:xfrm>
              <a:custGeom>
                <a:avLst/>
                <a:gdLst>
                  <a:gd name="connsiteX0" fmla="*/ 0 w 381000"/>
                  <a:gd name="connsiteY0" fmla="*/ 0 h 381000"/>
                  <a:gd name="connsiteX1" fmla="*/ 110067 w 381000"/>
                  <a:gd name="connsiteY1" fmla="*/ 220133 h 381000"/>
                  <a:gd name="connsiteX2" fmla="*/ 279400 w 381000"/>
                  <a:gd name="connsiteY2" fmla="*/ 254000 h 381000"/>
                  <a:gd name="connsiteX3" fmla="*/ 381000 w 381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381000" h="381000">
                    <a:moveTo>
                      <a:pt x="0" y="0"/>
                    </a:moveTo>
                    <a:cubicBezTo>
                      <a:pt x="31750" y="88900"/>
                      <a:pt x="63500" y="177800"/>
                      <a:pt x="110067" y="220133"/>
                    </a:cubicBezTo>
                    <a:cubicBezTo>
                      <a:pt x="156634" y="262466"/>
                      <a:pt x="234245" y="227189"/>
                      <a:pt x="279400" y="254000"/>
                    </a:cubicBezTo>
                    <a:cubicBezTo>
                      <a:pt x="324555" y="280811"/>
                      <a:pt x="352777" y="330905"/>
                      <a:pt x="381000" y="381000"/>
                    </a:cubicBezTo>
                  </a:path>
                </a:pathLst>
              </a:custGeom>
              <a:noFill/>
              <a:ln w="381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CF99EAA-8A1C-4441-AF8B-84CC51233212}"/>
                  </a:ext>
                </a:extLst>
              </p:cNvPr>
              <p:cNvSpPr/>
              <p:nvPr/>
            </p:nvSpPr>
            <p:spPr>
              <a:xfrm rot="4644564">
                <a:off x="9210152" y="1796516"/>
                <a:ext cx="1328892" cy="1028058"/>
              </a:xfrm>
              <a:custGeom>
                <a:avLst/>
                <a:gdLst>
                  <a:gd name="connsiteX0" fmla="*/ 999067 w 999067"/>
                  <a:gd name="connsiteY0" fmla="*/ 0 h 1286933"/>
                  <a:gd name="connsiteX1" fmla="*/ 846667 w 999067"/>
                  <a:gd name="connsiteY1" fmla="*/ 508000 h 1286933"/>
                  <a:gd name="connsiteX2" fmla="*/ 304800 w 999067"/>
                  <a:gd name="connsiteY2" fmla="*/ 1066800 h 1286933"/>
                  <a:gd name="connsiteX3" fmla="*/ 0 w 999067"/>
                  <a:gd name="connsiteY3" fmla="*/ 1286933 h 1286933"/>
                  <a:gd name="connsiteX0" fmla="*/ 2878667 w 2878667"/>
                  <a:gd name="connsiteY0" fmla="*/ 0 h 1989666"/>
                  <a:gd name="connsiteX1" fmla="*/ 846667 w 2878667"/>
                  <a:gd name="connsiteY1" fmla="*/ 1210733 h 1989666"/>
                  <a:gd name="connsiteX2" fmla="*/ 304800 w 2878667"/>
                  <a:gd name="connsiteY2" fmla="*/ 1769533 h 1989666"/>
                  <a:gd name="connsiteX3" fmla="*/ 0 w 2878667"/>
                  <a:gd name="connsiteY3" fmla="*/ 1989666 h 1989666"/>
                  <a:gd name="connsiteX0" fmla="*/ 3132670 w 3132670"/>
                  <a:gd name="connsiteY0" fmla="*/ 0 h 1617133"/>
                  <a:gd name="connsiteX1" fmla="*/ 846667 w 3132670"/>
                  <a:gd name="connsiteY1" fmla="*/ 838200 h 1617133"/>
                  <a:gd name="connsiteX2" fmla="*/ 304800 w 3132670"/>
                  <a:gd name="connsiteY2" fmla="*/ 1397000 h 1617133"/>
                  <a:gd name="connsiteX3" fmla="*/ 0 w 3132670"/>
                  <a:gd name="connsiteY3" fmla="*/ 1617133 h 1617133"/>
                  <a:gd name="connsiteX0" fmla="*/ 3132670 w 3132670"/>
                  <a:gd name="connsiteY0" fmla="*/ 0 h 1617133"/>
                  <a:gd name="connsiteX1" fmla="*/ 2395685 w 3132670"/>
                  <a:gd name="connsiteY1" fmla="*/ 342702 h 1617133"/>
                  <a:gd name="connsiteX2" fmla="*/ 846667 w 3132670"/>
                  <a:gd name="connsiteY2" fmla="*/ 838200 h 1617133"/>
                  <a:gd name="connsiteX3" fmla="*/ 304800 w 3132670"/>
                  <a:gd name="connsiteY3" fmla="*/ 1397000 h 1617133"/>
                  <a:gd name="connsiteX4" fmla="*/ 0 w 3132670"/>
                  <a:gd name="connsiteY4" fmla="*/ 1617133 h 1617133"/>
                  <a:gd name="connsiteX0" fmla="*/ 3132670 w 3132670"/>
                  <a:gd name="connsiteY0" fmla="*/ 0 h 1617133"/>
                  <a:gd name="connsiteX1" fmla="*/ 2395685 w 3132670"/>
                  <a:gd name="connsiteY1" fmla="*/ 342702 h 1617133"/>
                  <a:gd name="connsiteX2" fmla="*/ 1201884 w 3132670"/>
                  <a:gd name="connsiteY2" fmla="*/ 605169 h 1617133"/>
                  <a:gd name="connsiteX3" fmla="*/ 846667 w 3132670"/>
                  <a:gd name="connsiteY3" fmla="*/ 838200 h 1617133"/>
                  <a:gd name="connsiteX4" fmla="*/ 304800 w 3132670"/>
                  <a:gd name="connsiteY4" fmla="*/ 1397000 h 1617133"/>
                  <a:gd name="connsiteX5" fmla="*/ 0 w 3132670"/>
                  <a:gd name="connsiteY5" fmla="*/ 1617133 h 1617133"/>
                  <a:gd name="connsiteX0" fmla="*/ 3132670 w 3132670"/>
                  <a:gd name="connsiteY0" fmla="*/ 0 h 1617133"/>
                  <a:gd name="connsiteX1" fmla="*/ 2438021 w 3132670"/>
                  <a:gd name="connsiteY1" fmla="*/ 368102 h 1617133"/>
                  <a:gd name="connsiteX2" fmla="*/ 1201884 w 3132670"/>
                  <a:gd name="connsiteY2" fmla="*/ 605169 h 1617133"/>
                  <a:gd name="connsiteX3" fmla="*/ 846667 w 3132670"/>
                  <a:gd name="connsiteY3" fmla="*/ 838200 h 1617133"/>
                  <a:gd name="connsiteX4" fmla="*/ 304800 w 3132670"/>
                  <a:gd name="connsiteY4" fmla="*/ 1397000 h 1617133"/>
                  <a:gd name="connsiteX5" fmla="*/ 0 w 3132670"/>
                  <a:gd name="connsiteY5" fmla="*/ 1617133 h 1617133"/>
                  <a:gd name="connsiteX0" fmla="*/ 3132670 w 3132670"/>
                  <a:gd name="connsiteY0" fmla="*/ 0 h 1617133"/>
                  <a:gd name="connsiteX1" fmla="*/ 2438021 w 3132670"/>
                  <a:gd name="connsiteY1" fmla="*/ 368102 h 1617133"/>
                  <a:gd name="connsiteX2" fmla="*/ 846667 w 3132670"/>
                  <a:gd name="connsiteY2" fmla="*/ 838200 h 1617133"/>
                  <a:gd name="connsiteX3" fmla="*/ 304800 w 3132670"/>
                  <a:gd name="connsiteY3" fmla="*/ 1397000 h 1617133"/>
                  <a:gd name="connsiteX4" fmla="*/ 0 w 3132670"/>
                  <a:gd name="connsiteY4" fmla="*/ 1617133 h 1617133"/>
                  <a:gd name="connsiteX0" fmla="*/ 3132670 w 3132670"/>
                  <a:gd name="connsiteY0" fmla="*/ 0 h 1617133"/>
                  <a:gd name="connsiteX1" fmla="*/ 846667 w 3132670"/>
                  <a:gd name="connsiteY1" fmla="*/ 838200 h 1617133"/>
                  <a:gd name="connsiteX2" fmla="*/ 304800 w 3132670"/>
                  <a:gd name="connsiteY2" fmla="*/ 1397000 h 1617133"/>
                  <a:gd name="connsiteX3" fmla="*/ 0 w 3132670"/>
                  <a:gd name="connsiteY3" fmla="*/ 1617133 h 1617133"/>
                  <a:gd name="connsiteX0" fmla="*/ 1342181 w 1342181"/>
                  <a:gd name="connsiteY0" fmla="*/ 0 h 1019388"/>
                  <a:gd name="connsiteX1" fmla="*/ 846667 w 1342181"/>
                  <a:gd name="connsiteY1" fmla="*/ 240455 h 1019388"/>
                  <a:gd name="connsiteX2" fmla="*/ 304800 w 1342181"/>
                  <a:gd name="connsiteY2" fmla="*/ 799255 h 1019388"/>
                  <a:gd name="connsiteX3" fmla="*/ 0 w 1342181"/>
                  <a:gd name="connsiteY3" fmla="*/ 1019388 h 1019388"/>
                </a:gdLst>
                <a:ahLst/>
                <a:cxnLst>
                  <a:cxn ang="0">
                    <a:pos x="connsiteX0" y="connsiteY0"/>
                  </a:cxn>
                  <a:cxn ang="0">
                    <a:pos x="connsiteX1" y="connsiteY1"/>
                  </a:cxn>
                  <a:cxn ang="0">
                    <a:pos x="connsiteX2" y="connsiteY2"/>
                  </a:cxn>
                  <a:cxn ang="0">
                    <a:pos x="connsiteX3" y="connsiteY3"/>
                  </a:cxn>
                </a:cxnLst>
                <a:rect l="l" t="t" r="r" b="b"/>
                <a:pathLst>
                  <a:path w="1342181" h="1019388">
                    <a:moveTo>
                      <a:pt x="1342181" y="0"/>
                    </a:moveTo>
                    <a:cubicBezTo>
                      <a:pt x="865931" y="174625"/>
                      <a:pt x="1019564" y="107246"/>
                      <a:pt x="846667" y="240455"/>
                    </a:cubicBezTo>
                    <a:cubicBezTo>
                      <a:pt x="673770" y="373664"/>
                      <a:pt x="445911" y="669433"/>
                      <a:pt x="304800" y="799255"/>
                    </a:cubicBezTo>
                    <a:cubicBezTo>
                      <a:pt x="163689" y="929077"/>
                      <a:pt x="81844" y="974232"/>
                      <a:pt x="0" y="1019388"/>
                    </a:cubicBezTo>
                  </a:path>
                </a:pathLst>
              </a:custGeom>
              <a:noFill/>
              <a:ln w="5715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5D55886B-0B27-45EC-8D94-8B03D47FCA13}"/>
                  </a:ext>
                </a:extLst>
              </p:cNvPr>
              <p:cNvSpPr/>
              <p:nvPr/>
            </p:nvSpPr>
            <p:spPr>
              <a:xfrm rot="4170786">
                <a:off x="8191200" y="1910983"/>
                <a:ext cx="1505651" cy="1489767"/>
              </a:xfrm>
              <a:custGeom>
                <a:avLst/>
                <a:gdLst>
                  <a:gd name="connsiteX0" fmla="*/ 0 w 2252133"/>
                  <a:gd name="connsiteY0" fmla="*/ 0 h 1143000"/>
                  <a:gd name="connsiteX1" fmla="*/ 287866 w 2252133"/>
                  <a:gd name="connsiteY1" fmla="*/ 67733 h 1143000"/>
                  <a:gd name="connsiteX2" fmla="*/ 812800 w 2252133"/>
                  <a:gd name="connsiteY2" fmla="*/ 321733 h 1143000"/>
                  <a:gd name="connsiteX3" fmla="*/ 1202266 w 2252133"/>
                  <a:gd name="connsiteY3" fmla="*/ 584200 h 1143000"/>
                  <a:gd name="connsiteX4" fmla="*/ 1803400 w 2252133"/>
                  <a:gd name="connsiteY4" fmla="*/ 897467 h 1143000"/>
                  <a:gd name="connsiteX5" fmla="*/ 2252133 w 2252133"/>
                  <a:gd name="connsiteY5" fmla="*/ 1143000 h 1143000"/>
                  <a:gd name="connsiteX0" fmla="*/ 0 w 2252133"/>
                  <a:gd name="connsiteY0" fmla="*/ 0 h 1430867"/>
                  <a:gd name="connsiteX1" fmla="*/ 287866 w 2252133"/>
                  <a:gd name="connsiteY1" fmla="*/ 67733 h 1430867"/>
                  <a:gd name="connsiteX2" fmla="*/ 812800 w 2252133"/>
                  <a:gd name="connsiteY2" fmla="*/ 321733 h 1430867"/>
                  <a:gd name="connsiteX3" fmla="*/ 1202266 w 2252133"/>
                  <a:gd name="connsiteY3" fmla="*/ 584200 h 1430867"/>
                  <a:gd name="connsiteX4" fmla="*/ 1803400 w 2252133"/>
                  <a:gd name="connsiteY4" fmla="*/ 897467 h 1430867"/>
                  <a:gd name="connsiteX5" fmla="*/ 2252133 w 2252133"/>
                  <a:gd name="connsiteY5" fmla="*/ 1430867 h 1430867"/>
                  <a:gd name="connsiteX0" fmla="*/ 0 w 2252133"/>
                  <a:gd name="connsiteY0" fmla="*/ 27777 h 1458644"/>
                  <a:gd name="connsiteX1" fmla="*/ 235850 w 2252133"/>
                  <a:gd name="connsiteY1" fmla="*/ 20841 h 1458644"/>
                  <a:gd name="connsiteX2" fmla="*/ 812800 w 2252133"/>
                  <a:gd name="connsiteY2" fmla="*/ 349510 h 1458644"/>
                  <a:gd name="connsiteX3" fmla="*/ 1202266 w 2252133"/>
                  <a:gd name="connsiteY3" fmla="*/ 611977 h 1458644"/>
                  <a:gd name="connsiteX4" fmla="*/ 1803400 w 2252133"/>
                  <a:gd name="connsiteY4" fmla="*/ 925244 h 1458644"/>
                  <a:gd name="connsiteX5" fmla="*/ 2252133 w 2252133"/>
                  <a:gd name="connsiteY5" fmla="*/ 1458644 h 1458644"/>
                  <a:gd name="connsiteX0" fmla="*/ 0 w 2252133"/>
                  <a:gd name="connsiteY0" fmla="*/ 27778 h 1458644"/>
                  <a:gd name="connsiteX1" fmla="*/ 235850 w 2252133"/>
                  <a:gd name="connsiteY1" fmla="*/ 20841 h 1458644"/>
                  <a:gd name="connsiteX2" fmla="*/ 812800 w 2252133"/>
                  <a:gd name="connsiteY2" fmla="*/ 349510 h 1458644"/>
                  <a:gd name="connsiteX3" fmla="*/ 1202266 w 2252133"/>
                  <a:gd name="connsiteY3" fmla="*/ 611977 h 1458644"/>
                  <a:gd name="connsiteX4" fmla="*/ 1803400 w 2252133"/>
                  <a:gd name="connsiteY4" fmla="*/ 925244 h 1458644"/>
                  <a:gd name="connsiteX5" fmla="*/ 2252133 w 2252133"/>
                  <a:gd name="connsiteY5" fmla="*/ 1458644 h 145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2133" h="1458644">
                    <a:moveTo>
                      <a:pt x="0" y="27778"/>
                    </a:moveTo>
                    <a:cubicBezTo>
                      <a:pt x="76199" y="34833"/>
                      <a:pt x="100383" y="-32781"/>
                      <a:pt x="235850" y="20841"/>
                    </a:cubicBezTo>
                    <a:cubicBezTo>
                      <a:pt x="371317" y="74463"/>
                      <a:pt x="651731" y="250987"/>
                      <a:pt x="812800" y="349510"/>
                    </a:cubicBezTo>
                    <a:cubicBezTo>
                      <a:pt x="973869" y="448033"/>
                      <a:pt x="1037166" y="516021"/>
                      <a:pt x="1202266" y="611977"/>
                    </a:cubicBezTo>
                    <a:cubicBezTo>
                      <a:pt x="1367366" y="707933"/>
                      <a:pt x="1628422" y="784133"/>
                      <a:pt x="1803400" y="925244"/>
                    </a:cubicBezTo>
                    <a:cubicBezTo>
                      <a:pt x="1978378" y="1066355"/>
                      <a:pt x="2115255" y="1382444"/>
                      <a:pt x="2252133" y="1458644"/>
                    </a:cubicBezTo>
                  </a:path>
                </a:pathLst>
              </a:custGeom>
              <a:noFill/>
              <a:ln w="57150">
                <a:solidFill>
                  <a:schemeClr val="accent1">
                    <a:alpha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8A2120E-0779-4700-9BB5-9CB60EB86D8E}"/>
                  </a:ext>
                </a:extLst>
              </p:cNvPr>
              <p:cNvSpPr/>
              <p:nvPr/>
            </p:nvSpPr>
            <p:spPr>
              <a:xfrm rot="5400000">
                <a:off x="8031441" y="1921315"/>
                <a:ext cx="1368491" cy="1082635"/>
              </a:xfrm>
              <a:custGeom>
                <a:avLst/>
                <a:gdLst>
                  <a:gd name="connsiteX0" fmla="*/ 999067 w 999067"/>
                  <a:gd name="connsiteY0" fmla="*/ 0 h 1286933"/>
                  <a:gd name="connsiteX1" fmla="*/ 846667 w 999067"/>
                  <a:gd name="connsiteY1" fmla="*/ 508000 h 1286933"/>
                  <a:gd name="connsiteX2" fmla="*/ 304800 w 999067"/>
                  <a:gd name="connsiteY2" fmla="*/ 1066800 h 1286933"/>
                  <a:gd name="connsiteX3" fmla="*/ 0 w 999067"/>
                  <a:gd name="connsiteY3" fmla="*/ 1286933 h 1286933"/>
                  <a:gd name="connsiteX0" fmla="*/ 2878667 w 2878667"/>
                  <a:gd name="connsiteY0" fmla="*/ 0 h 1989666"/>
                  <a:gd name="connsiteX1" fmla="*/ 846667 w 2878667"/>
                  <a:gd name="connsiteY1" fmla="*/ 1210733 h 1989666"/>
                  <a:gd name="connsiteX2" fmla="*/ 304800 w 2878667"/>
                  <a:gd name="connsiteY2" fmla="*/ 1769533 h 1989666"/>
                  <a:gd name="connsiteX3" fmla="*/ 0 w 2878667"/>
                  <a:gd name="connsiteY3" fmla="*/ 1989666 h 1989666"/>
                  <a:gd name="connsiteX0" fmla="*/ 3132670 w 3132670"/>
                  <a:gd name="connsiteY0" fmla="*/ 0 h 1617133"/>
                  <a:gd name="connsiteX1" fmla="*/ 846667 w 3132670"/>
                  <a:gd name="connsiteY1" fmla="*/ 838200 h 1617133"/>
                  <a:gd name="connsiteX2" fmla="*/ 304800 w 3132670"/>
                  <a:gd name="connsiteY2" fmla="*/ 1397000 h 1617133"/>
                  <a:gd name="connsiteX3" fmla="*/ 0 w 3132670"/>
                  <a:gd name="connsiteY3" fmla="*/ 1617133 h 1617133"/>
                  <a:gd name="connsiteX0" fmla="*/ 3132670 w 3132670"/>
                  <a:gd name="connsiteY0" fmla="*/ 0 h 1617133"/>
                  <a:gd name="connsiteX1" fmla="*/ 2395685 w 3132670"/>
                  <a:gd name="connsiteY1" fmla="*/ 342702 h 1617133"/>
                  <a:gd name="connsiteX2" fmla="*/ 846667 w 3132670"/>
                  <a:gd name="connsiteY2" fmla="*/ 838200 h 1617133"/>
                  <a:gd name="connsiteX3" fmla="*/ 304800 w 3132670"/>
                  <a:gd name="connsiteY3" fmla="*/ 1397000 h 1617133"/>
                  <a:gd name="connsiteX4" fmla="*/ 0 w 3132670"/>
                  <a:gd name="connsiteY4" fmla="*/ 1617133 h 1617133"/>
                  <a:gd name="connsiteX0" fmla="*/ 3132670 w 3132670"/>
                  <a:gd name="connsiteY0" fmla="*/ 0 h 1617133"/>
                  <a:gd name="connsiteX1" fmla="*/ 2395685 w 3132670"/>
                  <a:gd name="connsiteY1" fmla="*/ 342702 h 1617133"/>
                  <a:gd name="connsiteX2" fmla="*/ 1201884 w 3132670"/>
                  <a:gd name="connsiteY2" fmla="*/ 605169 h 1617133"/>
                  <a:gd name="connsiteX3" fmla="*/ 846667 w 3132670"/>
                  <a:gd name="connsiteY3" fmla="*/ 838200 h 1617133"/>
                  <a:gd name="connsiteX4" fmla="*/ 304800 w 3132670"/>
                  <a:gd name="connsiteY4" fmla="*/ 1397000 h 1617133"/>
                  <a:gd name="connsiteX5" fmla="*/ 0 w 3132670"/>
                  <a:gd name="connsiteY5" fmla="*/ 1617133 h 1617133"/>
                  <a:gd name="connsiteX0" fmla="*/ 3132670 w 3132670"/>
                  <a:gd name="connsiteY0" fmla="*/ 0 h 1617133"/>
                  <a:gd name="connsiteX1" fmla="*/ 2438021 w 3132670"/>
                  <a:gd name="connsiteY1" fmla="*/ 368102 h 1617133"/>
                  <a:gd name="connsiteX2" fmla="*/ 1201884 w 3132670"/>
                  <a:gd name="connsiteY2" fmla="*/ 605169 h 1617133"/>
                  <a:gd name="connsiteX3" fmla="*/ 846667 w 3132670"/>
                  <a:gd name="connsiteY3" fmla="*/ 838200 h 1617133"/>
                  <a:gd name="connsiteX4" fmla="*/ 304800 w 3132670"/>
                  <a:gd name="connsiteY4" fmla="*/ 1397000 h 1617133"/>
                  <a:gd name="connsiteX5" fmla="*/ 0 w 3132670"/>
                  <a:gd name="connsiteY5" fmla="*/ 1617133 h 161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2670" h="1617133">
                    <a:moveTo>
                      <a:pt x="3132670" y="0"/>
                    </a:moveTo>
                    <a:cubicBezTo>
                      <a:pt x="2764305" y="137550"/>
                      <a:pt x="2819021" y="228402"/>
                      <a:pt x="2438021" y="368102"/>
                    </a:cubicBezTo>
                    <a:cubicBezTo>
                      <a:pt x="2071067" y="501419"/>
                      <a:pt x="1460054" y="522586"/>
                      <a:pt x="1201884" y="605169"/>
                    </a:cubicBezTo>
                    <a:cubicBezTo>
                      <a:pt x="943714" y="687752"/>
                      <a:pt x="996181" y="706228"/>
                      <a:pt x="846667" y="838200"/>
                    </a:cubicBezTo>
                    <a:cubicBezTo>
                      <a:pt x="697153" y="970172"/>
                      <a:pt x="445911" y="1267178"/>
                      <a:pt x="304800" y="1397000"/>
                    </a:cubicBezTo>
                    <a:cubicBezTo>
                      <a:pt x="163689" y="1526822"/>
                      <a:pt x="81844" y="1571977"/>
                      <a:pt x="0" y="1617133"/>
                    </a:cubicBezTo>
                  </a:path>
                </a:pathLst>
              </a:custGeom>
              <a:noFill/>
              <a:ln w="762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EDF1B00B-D587-445F-98AA-F68B4F7684EB}"/>
                  </a:ext>
                </a:extLst>
              </p:cNvPr>
              <p:cNvSpPr/>
              <p:nvPr/>
            </p:nvSpPr>
            <p:spPr>
              <a:xfrm rot="19227177">
                <a:off x="9017915" y="2420981"/>
                <a:ext cx="381000" cy="381000"/>
              </a:xfrm>
              <a:custGeom>
                <a:avLst/>
                <a:gdLst>
                  <a:gd name="connsiteX0" fmla="*/ 0 w 381000"/>
                  <a:gd name="connsiteY0" fmla="*/ 0 h 381000"/>
                  <a:gd name="connsiteX1" fmla="*/ 110067 w 381000"/>
                  <a:gd name="connsiteY1" fmla="*/ 220133 h 381000"/>
                  <a:gd name="connsiteX2" fmla="*/ 279400 w 381000"/>
                  <a:gd name="connsiteY2" fmla="*/ 254000 h 381000"/>
                  <a:gd name="connsiteX3" fmla="*/ 381000 w 381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381000" h="381000">
                    <a:moveTo>
                      <a:pt x="0" y="0"/>
                    </a:moveTo>
                    <a:cubicBezTo>
                      <a:pt x="31750" y="88900"/>
                      <a:pt x="63500" y="177800"/>
                      <a:pt x="110067" y="220133"/>
                    </a:cubicBezTo>
                    <a:cubicBezTo>
                      <a:pt x="156634" y="262466"/>
                      <a:pt x="234245" y="227189"/>
                      <a:pt x="279400" y="254000"/>
                    </a:cubicBezTo>
                    <a:cubicBezTo>
                      <a:pt x="324555" y="280811"/>
                      <a:pt x="352777" y="330905"/>
                      <a:pt x="381000" y="381000"/>
                    </a:cubicBezTo>
                  </a:path>
                </a:pathLst>
              </a:custGeom>
              <a:noFill/>
              <a:ln w="381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75601038-6F76-46CF-B25B-CB34C0BC7E5C}"/>
                  </a:ext>
                </a:extLst>
              </p:cNvPr>
              <p:cNvSpPr/>
              <p:nvPr/>
            </p:nvSpPr>
            <p:spPr>
              <a:xfrm rot="16644344" flipV="1">
                <a:off x="9932826" y="3365699"/>
                <a:ext cx="1227667" cy="228057"/>
              </a:xfrm>
              <a:custGeom>
                <a:avLst/>
                <a:gdLst>
                  <a:gd name="connsiteX0" fmla="*/ 0 w 2252133"/>
                  <a:gd name="connsiteY0" fmla="*/ 0 h 1143000"/>
                  <a:gd name="connsiteX1" fmla="*/ 287866 w 2252133"/>
                  <a:gd name="connsiteY1" fmla="*/ 67733 h 1143000"/>
                  <a:gd name="connsiteX2" fmla="*/ 812800 w 2252133"/>
                  <a:gd name="connsiteY2" fmla="*/ 321733 h 1143000"/>
                  <a:gd name="connsiteX3" fmla="*/ 1202266 w 2252133"/>
                  <a:gd name="connsiteY3" fmla="*/ 584200 h 1143000"/>
                  <a:gd name="connsiteX4" fmla="*/ 1803400 w 2252133"/>
                  <a:gd name="connsiteY4" fmla="*/ 897467 h 1143000"/>
                  <a:gd name="connsiteX5" fmla="*/ 2252133 w 2252133"/>
                  <a:gd name="connsiteY5" fmla="*/ 1143000 h 1143000"/>
                  <a:gd name="connsiteX0" fmla="*/ 0 w 2252133"/>
                  <a:gd name="connsiteY0" fmla="*/ 930818 h 2073818"/>
                  <a:gd name="connsiteX1" fmla="*/ 287866 w 2252133"/>
                  <a:gd name="connsiteY1" fmla="*/ 998551 h 2073818"/>
                  <a:gd name="connsiteX2" fmla="*/ 889404 w 2252133"/>
                  <a:gd name="connsiteY2" fmla="*/ 5645 h 2073818"/>
                  <a:gd name="connsiteX3" fmla="*/ 1202266 w 2252133"/>
                  <a:gd name="connsiteY3" fmla="*/ 1515018 h 2073818"/>
                  <a:gd name="connsiteX4" fmla="*/ 1803400 w 2252133"/>
                  <a:gd name="connsiteY4" fmla="*/ 1828285 h 2073818"/>
                  <a:gd name="connsiteX5" fmla="*/ 2252133 w 2252133"/>
                  <a:gd name="connsiteY5" fmla="*/ 2073818 h 2073818"/>
                  <a:gd name="connsiteX0" fmla="*/ 0 w 2252133"/>
                  <a:gd name="connsiteY0" fmla="*/ 929591 h 2072591"/>
                  <a:gd name="connsiteX1" fmla="*/ 287866 w 2252133"/>
                  <a:gd name="connsiteY1" fmla="*/ 997324 h 2072591"/>
                  <a:gd name="connsiteX2" fmla="*/ 889404 w 2252133"/>
                  <a:gd name="connsiteY2" fmla="*/ 4418 h 2072591"/>
                  <a:gd name="connsiteX3" fmla="*/ 1324830 w 2252133"/>
                  <a:gd name="connsiteY3" fmla="*/ 682518 h 2072591"/>
                  <a:gd name="connsiteX4" fmla="*/ 1803400 w 2252133"/>
                  <a:gd name="connsiteY4" fmla="*/ 1827058 h 2072591"/>
                  <a:gd name="connsiteX5" fmla="*/ 2252133 w 2252133"/>
                  <a:gd name="connsiteY5" fmla="*/ 2072591 h 2072591"/>
                  <a:gd name="connsiteX0" fmla="*/ 0 w 2252133"/>
                  <a:gd name="connsiteY0" fmla="*/ 928499 h 2071499"/>
                  <a:gd name="connsiteX1" fmla="*/ 287866 w 2252133"/>
                  <a:gd name="connsiteY1" fmla="*/ 996232 h 2071499"/>
                  <a:gd name="connsiteX2" fmla="*/ 889404 w 2252133"/>
                  <a:gd name="connsiteY2" fmla="*/ 3326 h 2071499"/>
                  <a:gd name="connsiteX3" fmla="*/ 1324830 w 2252133"/>
                  <a:gd name="connsiteY3" fmla="*/ 681426 h 2071499"/>
                  <a:gd name="connsiteX4" fmla="*/ 1818721 w 2252133"/>
                  <a:gd name="connsiteY4" fmla="*/ 890785 h 2071499"/>
                  <a:gd name="connsiteX5" fmla="*/ 2252133 w 2252133"/>
                  <a:gd name="connsiteY5" fmla="*/ 2071499 h 2071499"/>
                  <a:gd name="connsiteX0" fmla="*/ 0 w 2221492"/>
                  <a:gd name="connsiteY0" fmla="*/ 928499 h 2798862"/>
                  <a:gd name="connsiteX1" fmla="*/ 287866 w 2221492"/>
                  <a:gd name="connsiteY1" fmla="*/ 996232 h 2798862"/>
                  <a:gd name="connsiteX2" fmla="*/ 889404 w 2221492"/>
                  <a:gd name="connsiteY2" fmla="*/ 3326 h 2798862"/>
                  <a:gd name="connsiteX3" fmla="*/ 1324830 w 2221492"/>
                  <a:gd name="connsiteY3" fmla="*/ 681426 h 2798862"/>
                  <a:gd name="connsiteX4" fmla="*/ 1818721 w 2221492"/>
                  <a:gd name="connsiteY4" fmla="*/ 890785 h 2798862"/>
                  <a:gd name="connsiteX5" fmla="*/ 2221492 w 2221492"/>
                  <a:gd name="connsiteY5" fmla="*/ 2798862 h 279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1492" h="2798862">
                    <a:moveTo>
                      <a:pt x="0" y="928499"/>
                    </a:moveTo>
                    <a:cubicBezTo>
                      <a:pt x="76199" y="935554"/>
                      <a:pt x="139632" y="1150427"/>
                      <a:pt x="287866" y="996232"/>
                    </a:cubicBezTo>
                    <a:cubicBezTo>
                      <a:pt x="436100" y="842037"/>
                      <a:pt x="716577" y="55794"/>
                      <a:pt x="889404" y="3326"/>
                    </a:cubicBezTo>
                    <a:cubicBezTo>
                      <a:pt x="1062231" y="-49142"/>
                      <a:pt x="1169944" y="533516"/>
                      <a:pt x="1324830" y="681426"/>
                    </a:cubicBezTo>
                    <a:cubicBezTo>
                      <a:pt x="1479716" y="829336"/>
                      <a:pt x="1669277" y="537879"/>
                      <a:pt x="1818721" y="890785"/>
                    </a:cubicBezTo>
                    <a:cubicBezTo>
                      <a:pt x="1968165" y="1243691"/>
                      <a:pt x="2084614" y="2722662"/>
                      <a:pt x="2221492" y="2798862"/>
                    </a:cubicBezTo>
                  </a:path>
                </a:pathLst>
              </a:custGeom>
              <a:noFill/>
              <a:ln w="57150">
                <a:solidFill>
                  <a:schemeClr val="accent1">
                    <a:alpha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96656506-84FB-48FB-BE16-3F2778668EED}"/>
                  </a:ext>
                </a:extLst>
              </p:cNvPr>
              <p:cNvSpPr/>
              <p:nvPr/>
            </p:nvSpPr>
            <p:spPr>
              <a:xfrm rot="3240362">
                <a:off x="8028290" y="1011062"/>
                <a:ext cx="1020846" cy="1302508"/>
              </a:xfrm>
              <a:custGeom>
                <a:avLst/>
                <a:gdLst>
                  <a:gd name="connsiteX0" fmla="*/ 999067 w 999067"/>
                  <a:gd name="connsiteY0" fmla="*/ 0 h 1286933"/>
                  <a:gd name="connsiteX1" fmla="*/ 846667 w 999067"/>
                  <a:gd name="connsiteY1" fmla="*/ 508000 h 1286933"/>
                  <a:gd name="connsiteX2" fmla="*/ 304800 w 999067"/>
                  <a:gd name="connsiteY2" fmla="*/ 1066800 h 1286933"/>
                  <a:gd name="connsiteX3" fmla="*/ 0 w 999067"/>
                  <a:gd name="connsiteY3" fmla="*/ 1286933 h 1286933"/>
                  <a:gd name="connsiteX0" fmla="*/ 1048247 w 1048247"/>
                  <a:gd name="connsiteY0" fmla="*/ 0 h 1282604"/>
                  <a:gd name="connsiteX1" fmla="*/ 846667 w 1048247"/>
                  <a:gd name="connsiteY1" fmla="*/ 503671 h 1282604"/>
                  <a:gd name="connsiteX2" fmla="*/ 304800 w 1048247"/>
                  <a:gd name="connsiteY2" fmla="*/ 1062471 h 1282604"/>
                  <a:gd name="connsiteX3" fmla="*/ 0 w 1048247"/>
                  <a:gd name="connsiteY3" fmla="*/ 1282604 h 1282604"/>
                  <a:gd name="connsiteX0" fmla="*/ 1048247 w 1048247"/>
                  <a:gd name="connsiteY0" fmla="*/ 0 h 1282604"/>
                  <a:gd name="connsiteX1" fmla="*/ 846667 w 1048247"/>
                  <a:gd name="connsiteY1" fmla="*/ 503671 h 1282604"/>
                  <a:gd name="connsiteX2" fmla="*/ 304800 w 1048247"/>
                  <a:gd name="connsiteY2" fmla="*/ 1062471 h 1282604"/>
                  <a:gd name="connsiteX3" fmla="*/ 0 w 1048247"/>
                  <a:gd name="connsiteY3" fmla="*/ 1282604 h 1282604"/>
                  <a:gd name="connsiteX0" fmla="*/ 1020846 w 1020846"/>
                  <a:gd name="connsiteY0" fmla="*/ 0 h 1302508"/>
                  <a:gd name="connsiteX1" fmla="*/ 846667 w 1020846"/>
                  <a:gd name="connsiteY1" fmla="*/ 523575 h 1302508"/>
                  <a:gd name="connsiteX2" fmla="*/ 304800 w 1020846"/>
                  <a:gd name="connsiteY2" fmla="*/ 1082375 h 1302508"/>
                  <a:gd name="connsiteX3" fmla="*/ 0 w 1020846"/>
                  <a:gd name="connsiteY3" fmla="*/ 1302508 h 1302508"/>
                </a:gdLst>
                <a:ahLst/>
                <a:cxnLst>
                  <a:cxn ang="0">
                    <a:pos x="connsiteX0" y="connsiteY0"/>
                  </a:cxn>
                  <a:cxn ang="0">
                    <a:pos x="connsiteX1" y="connsiteY1"/>
                  </a:cxn>
                  <a:cxn ang="0">
                    <a:pos x="connsiteX2" y="connsiteY2"/>
                  </a:cxn>
                  <a:cxn ang="0">
                    <a:pos x="connsiteX3" y="connsiteY3"/>
                  </a:cxn>
                </a:cxnLst>
                <a:rect l="l" t="t" r="r" b="b"/>
                <a:pathLst>
                  <a:path w="1020846" h="1302508">
                    <a:moveTo>
                      <a:pt x="1020846" y="0"/>
                    </a:moveTo>
                    <a:cubicBezTo>
                      <a:pt x="940849" y="120318"/>
                      <a:pt x="966008" y="343179"/>
                      <a:pt x="846667" y="523575"/>
                    </a:cubicBezTo>
                    <a:cubicBezTo>
                      <a:pt x="727326" y="703971"/>
                      <a:pt x="445911" y="952553"/>
                      <a:pt x="304800" y="1082375"/>
                    </a:cubicBezTo>
                    <a:cubicBezTo>
                      <a:pt x="163689" y="1212197"/>
                      <a:pt x="81844" y="1257352"/>
                      <a:pt x="0" y="1302508"/>
                    </a:cubicBezTo>
                  </a:path>
                </a:pathLst>
              </a:custGeom>
              <a:noFill/>
              <a:ln w="762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ADFA336F-C951-4A55-8620-9761CAE03EE0}"/>
                  </a:ext>
                </a:extLst>
              </p:cNvPr>
              <p:cNvSpPr/>
              <p:nvPr/>
            </p:nvSpPr>
            <p:spPr>
              <a:xfrm>
                <a:off x="6109815" y="3414028"/>
                <a:ext cx="2348385" cy="1344240"/>
              </a:xfrm>
              <a:custGeom>
                <a:avLst/>
                <a:gdLst>
                  <a:gd name="connsiteX0" fmla="*/ 0 w 2252133"/>
                  <a:gd name="connsiteY0" fmla="*/ 0 h 1143000"/>
                  <a:gd name="connsiteX1" fmla="*/ 287866 w 2252133"/>
                  <a:gd name="connsiteY1" fmla="*/ 67733 h 1143000"/>
                  <a:gd name="connsiteX2" fmla="*/ 812800 w 2252133"/>
                  <a:gd name="connsiteY2" fmla="*/ 321733 h 1143000"/>
                  <a:gd name="connsiteX3" fmla="*/ 1202266 w 2252133"/>
                  <a:gd name="connsiteY3" fmla="*/ 584200 h 1143000"/>
                  <a:gd name="connsiteX4" fmla="*/ 1803400 w 2252133"/>
                  <a:gd name="connsiteY4" fmla="*/ 897467 h 1143000"/>
                  <a:gd name="connsiteX5" fmla="*/ 2252133 w 2252133"/>
                  <a:gd name="connsiteY5" fmla="*/ 1143000 h 1143000"/>
                  <a:gd name="connsiteX0" fmla="*/ 0 w 2252133"/>
                  <a:gd name="connsiteY0" fmla="*/ 0 h 1430867"/>
                  <a:gd name="connsiteX1" fmla="*/ 287866 w 2252133"/>
                  <a:gd name="connsiteY1" fmla="*/ 67733 h 1430867"/>
                  <a:gd name="connsiteX2" fmla="*/ 812800 w 2252133"/>
                  <a:gd name="connsiteY2" fmla="*/ 321733 h 1430867"/>
                  <a:gd name="connsiteX3" fmla="*/ 1202266 w 2252133"/>
                  <a:gd name="connsiteY3" fmla="*/ 584200 h 1430867"/>
                  <a:gd name="connsiteX4" fmla="*/ 1803400 w 2252133"/>
                  <a:gd name="connsiteY4" fmla="*/ 897467 h 1430867"/>
                  <a:gd name="connsiteX5" fmla="*/ 2252133 w 2252133"/>
                  <a:gd name="connsiteY5" fmla="*/ 1430867 h 1430867"/>
                  <a:gd name="connsiteX0" fmla="*/ 0 w 2348385"/>
                  <a:gd name="connsiteY0" fmla="*/ 31527 h 1375767"/>
                  <a:gd name="connsiteX1" fmla="*/ 384118 w 2348385"/>
                  <a:gd name="connsiteY1" fmla="*/ 12633 h 1375767"/>
                  <a:gd name="connsiteX2" fmla="*/ 909052 w 2348385"/>
                  <a:gd name="connsiteY2" fmla="*/ 266633 h 1375767"/>
                  <a:gd name="connsiteX3" fmla="*/ 1298518 w 2348385"/>
                  <a:gd name="connsiteY3" fmla="*/ 529100 h 1375767"/>
                  <a:gd name="connsiteX4" fmla="*/ 1899652 w 2348385"/>
                  <a:gd name="connsiteY4" fmla="*/ 842367 h 1375767"/>
                  <a:gd name="connsiteX5" fmla="*/ 2348385 w 2348385"/>
                  <a:gd name="connsiteY5" fmla="*/ 1375767 h 1375767"/>
                  <a:gd name="connsiteX0" fmla="*/ 0 w 2348385"/>
                  <a:gd name="connsiteY0" fmla="*/ 0 h 1344240"/>
                  <a:gd name="connsiteX1" fmla="*/ 316741 w 2348385"/>
                  <a:gd name="connsiteY1" fmla="*/ 125485 h 1344240"/>
                  <a:gd name="connsiteX2" fmla="*/ 909052 w 2348385"/>
                  <a:gd name="connsiteY2" fmla="*/ 235106 h 1344240"/>
                  <a:gd name="connsiteX3" fmla="*/ 1298518 w 2348385"/>
                  <a:gd name="connsiteY3" fmla="*/ 497573 h 1344240"/>
                  <a:gd name="connsiteX4" fmla="*/ 1899652 w 2348385"/>
                  <a:gd name="connsiteY4" fmla="*/ 810840 h 1344240"/>
                  <a:gd name="connsiteX5" fmla="*/ 2348385 w 2348385"/>
                  <a:gd name="connsiteY5" fmla="*/ 1344240 h 134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48385" h="1344240">
                    <a:moveTo>
                      <a:pt x="0" y="0"/>
                    </a:moveTo>
                    <a:cubicBezTo>
                      <a:pt x="76199" y="7055"/>
                      <a:pt x="165232" y="86301"/>
                      <a:pt x="316741" y="125485"/>
                    </a:cubicBezTo>
                    <a:cubicBezTo>
                      <a:pt x="468250" y="164669"/>
                      <a:pt x="745423" y="173091"/>
                      <a:pt x="909052" y="235106"/>
                    </a:cubicBezTo>
                    <a:cubicBezTo>
                      <a:pt x="1072681" y="297121"/>
                      <a:pt x="1133418" y="401617"/>
                      <a:pt x="1298518" y="497573"/>
                    </a:cubicBezTo>
                    <a:cubicBezTo>
                      <a:pt x="1463618" y="593529"/>
                      <a:pt x="1724674" y="669729"/>
                      <a:pt x="1899652" y="810840"/>
                    </a:cubicBezTo>
                    <a:cubicBezTo>
                      <a:pt x="2074630" y="951951"/>
                      <a:pt x="2211507" y="1268040"/>
                      <a:pt x="2348385" y="1344240"/>
                    </a:cubicBezTo>
                  </a:path>
                </a:pathLst>
              </a:custGeom>
              <a:noFill/>
              <a:ln w="57150">
                <a:solidFill>
                  <a:schemeClr val="accent1">
                    <a:alpha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C07494AA-922B-4B13-9D42-7A921BFCFB36}"/>
                  </a:ext>
                </a:extLst>
              </p:cNvPr>
              <p:cNvSpPr/>
              <p:nvPr/>
            </p:nvSpPr>
            <p:spPr>
              <a:xfrm>
                <a:off x="6189133" y="3310467"/>
                <a:ext cx="804334" cy="1134533"/>
              </a:xfrm>
              <a:custGeom>
                <a:avLst/>
                <a:gdLst>
                  <a:gd name="connsiteX0" fmla="*/ 0 w 804334"/>
                  <a:gd name="connsiteY0" fmla="*/ 0 h 1134533"/>
                  <a:gd name="connsiteX1" fmla="*/ 118534 w 804334"/>
                  <a:gd name="connsiteY1" fmla="*/ 448733 h 1134533"/>
                  <a:gd name="connsiteX2" fmla="*/ 406400 w 804334"/>
                  <a:gd name="connsiteY2" fmla="*/ 626533 h 1134533"/>
                  <a:gd name="connsiteX3" fmla="*/ 677334 w 804334"/>
                  <a:gd name="connsiteY3" fmla="*/ 863600 h 1134533"/>
                  <a:gd name="connsiteX4" fmla="*/ 804334 w 804334"/>
                  <a:gd name="connsiteY4" fmla="*/ 1134533 h 1134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334" h="1134533">
                    <a:moveTo>
                      <a:pt x="0" y="0"/>
                    </a:moveTo>
                    <a:cubicBezTo>
                      <a:pt x="25400" y="172155"/>
                      <a:pt x="50801" y="344311"/>
                      <a:pt x="118534" y="448733"/>
                    </a:cubicBezTo>
                    <a:cubicBezTo>
                      <a:pt x="186267" y="553155"/>
                      <a:pt x="313267" y="557389"/>
                      <a:pt x="406400" y="626533"/>
                    </a:cubicBezTo>
                    <a:cubicBezTo>
                      <a:pt x="499533" y="695677"/>
                      <a:pt x="611012" y="778933"/>
                      <a:pt x="677334" y="863600"/>
                    </a:cubicBezTo>
                    <a:cubicBezTo>
                      <a:pt x="743656" y="948267"/>
                      <a:pt x="773995" y="1041400"/>
                      <a:pt x="804334" y="1134533"/>
                    </a:cubicBezTo>
                  </a:path>
                </a:pathLst>
              </a:custGeom>
              <a:noFill/>
              <a:ln w="5715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Shape 37">
              <a:extLst>
                <a:ext uri="{FF2B5EF4-FFF2-40B4-BE49-F238E27FC236}">
                  <a16:creationId xmlns:a16="http://schemas.microsoft.com/office/drawing/2014/main" id="{0F6218BD-2D31-4428-A441-BEEFAE2857F1}"/>
                </a:ext>
              </a:extLst>
            </p:cNvPr>
            <p:cNvSpPr/>
            <p:nvPr/>
          </p:nvSpPr>
          <p:spPr>
            <a:xfrm>
              <a:off x="6711504" y="3108726"/>
              <a:ext cx="993719" cy="1841902"/>
            </a:xfrm>
            <a:custGeom>
              <a:avLst/>
              <a:gdLst>
                <a:gd name="connsiteX0" fmla="*/ 0 w 948267"/>
                <a:gd name="connsiteY0" fmla="*/ 0 h 1778000"/>
                <a:gd name="connsiteX1" fmla="*/ 203200 w 948267"/>
                <a:gd name="connsiteY1" fmla="*/ 296333 h 1778000"/>
                <a:gd name="connsiteX2" fmla="*/ 364067 w 948267"/>
                <a:gd name="connsiteY2" fmla="*/ 999066 h 1778000"/>
                <a:gd name="connsiteX3" fmla="*/ 643467 w 948267"/>
                <a:gd name="connsiteY3" fmla="*/ 1574800 h 1778000"/>
                <a:gd name="connsiteX4" fmla="*/ 948267 w 948267"/>
                <a:gd name="connsiteY4" fmla="*/ 1778000 h 1778000"/>
                <a:gd name="connsiteX0" fmla="*/ 0 w 897467"/>
                <a:gd name="connsiteY0" fmla="*/ 0 h 1803400"/>
                <a:gd name="connsiteX1" fmla="*/ 152400 w 897467"/>
                <a:gd name="connsiteY1" fmla="*/ 321733 h 1803400"/>
                <a:gd name="connsiteX2" fmla="*/ 313267 w 897467"/>
                <a:gd name="connsiteY2" fmla="*/ 1024466 h 1803400"/>
                <a:gd name="connsiteX3" fmla="*/ 592667 w 897467"/>
                <a:gd name="connsiteY3" fmla="*/ 1600200 h 1803400"/>
                <a:gd name="connsiteX4" fmla="*/ 897467 w 897467"/>
                <a:gd name="connsiteY4" fmla="*/ 1803400 h 1803400"/>
                <a:gd name="connsiteX0" fmla="*/ 0 w 724212"/>
                <a:gd name="connsiteY0" fmla="*/ 0 h 1870777"/>
                <a:gd name="connsiteX1" fmla="*/ 152400 w 724212"/>
                <a:gd name="connsiteY1" fmla="*/ 321733 h 1870777"/>
                <a:gd name="connsiteX2" fmla="*/ 313267 w 724212"/>
                <a:gd name="connsiteY2" fmla="*/ 1024466 h 1870777"/>
                <a:gd name="connsiteX3" fmla="*/ 592667 w 724212"/>
                <a:gd name="connsiteY3" fmla="*/ 1600200 h 1870777"/>
                <a:gd name="connsiteX4" fmla="*/ 724212 w 724212"/>
                <a:gd name="connsiteY4" fmla="*/ 1870777 h 1870777"/>
                <a:gd name="connsiteX0" fmla="*/ 0 w 752678"/>
                <a:gd name="connsiteY0" fmla="*/ 0 h 1870777"/>
                <a:gd name="connsiteX1" fmla="*/ 152400 w 752678"/>
                <a:gd name="connsiteY1" fmla="*/ 321733 h 1870777"/>
                <a:gd name="connsiteX2" fmla="*/ 313267 w 752678"/>
                <a:gd name="connsiteY2" fmla="*/ 1024466 h 1870777"/>
                <a:gd name="connsiteX3" fmla="*/ 737046 w 752678"/>
                <a:gd name="connsiteY3" fmla="*/ 1600200 h 1870777"/>
                <a:gd name="connsiteX4" fmla="*/ 724212 w 752678"/>
                <a:gd name="connsiteY4" fmla="*/ 1870777 h 1870777"/>
                <a:gd name="connsiteX0" fmla="*/ 0 w 747409"/>
                <a:gd name="connsiteY0" fmla="*/ 0 h 1870777"/>
                <a:gd name="connsiteX1" fmla="*/ 152400 w 747409"/>
                <a:gd name="connsiteY1" fmla="*/ 321733 h 1870777"/>
                <a:gd name="connsiteX2" fmla="*/ 409520 w 747409"/>
                <a:gd name="connsiteY2" fmla="*/ 995590 h 1870777"/>
                <a:gd name="connsiteX3" fmla="*/ 737046 w 747409"/>
                <a:gd name="connsiteY3" fmla="*/ 1600200 h 1870777"/>
                <a:gd name="connsiteX4" fmla="*/ 724212 w 747409"/>
                <a:gd name="connsiteY4" fmla="*/ 1870777 h 1870777"/>
                <a:gd name="connsiteX0" fmla="*/ 0 w 840242"/>
                <a:gd name="connsiteY0" fmla="*/ 0 h 1870777"/>
                <a:gd name="connsiteX1" fmla="*/ 152400 w 840242"/>
                <a:gd name="connsiteY1" fmla="*/ 321733 h 1870777"/>
                <a:gd name="connsiteX2" fmla="*/ 409520 w 840242"/>
                <a:gd name="connsiteY2" fmla="*/ 995590 h 1870777"/>
                <a:gd name="connsiteX3" fmla="*/ 833299 w 840242"/>
                <a:gd name="connsiteY3" fmla="*/ 1523198 h 1870777"/>
                <a:gd name="connsiteX4" fmla="*/ 724212 w 840242"/>
                <a:gd name="connsiteY4" fmla="*/ 1870777 h 1870777"/>
                <a:gd name="connsiteX0" fmla="*/ 0 w 838509"/>
                <a:gd name="connsiteY0" fmla="*/ 0 h 1870777"/>
                <a:gd name="connsiteX1" fmla="*/ 152400 w 838509"/>
                <a:gd name="connsiteY1" fmla="*/ 321733 h 1870777"/>
                <a:gd name="connsiteX2" fmla="*/ 457646 w 838509"/>
                <a:gd name="connsiteY2" fmla="*/ 908962 h 1870777"/>
                <a:gd name="connsiteX3" fmla="*/ 833299 w 838509"/>
                <a:gd name="connsiteY3" fmla="*/ 1523198 h 1870777"/>
                <a:gd name="connsiteX4" fmla="*/ 724212 w 838509"/>
                <a:gd name="connsiteY4" fmla="*/ 1870777 h 1870777"/>
                <a:gd name="connsiteX0" fmla="*/ 0 w 916717"/>
                <a:gd name="connsiteY0" fmla="*/ 0 h 1851527"/>
                <a:gd name="connsiteX1" fmla="*/ 152400 w 916717"/>
                <a:gd name="connsiteY1" fmla="*/ 321733 h 1851527"/>
                <a:gd name="connsiteX2" fmla="*/ 457646 w 916717"/>
                <a:gd name="connsiteY2" fmla="*/ 908962 h 1851527"/>
                <a:gd name="connsiteX3" fmla="*/ 833299 w 916717"/>
                <a:gd name="connsiteY3" fmla="*/ 1523198 h 1851527"/>
                <a:gd name="connsiteX4" fmla="*/ 916717 w 916717"/>
                <a:gd name="connsiteY4" fmla="*/ 1851527 h 1851527"/>
                <a:gd name="connsiteX0" fmla="*/ 0 w 993719"/>
                <a:gd name="connsiteY0" fmla="*/ 0 h 1841902"/>
                <a:gd name="connsiteX1" fmla="*/ 152400 w 993719"/>
                <a:gd name="connsiteY1" fmla="*/ 321733 h 1841902"/>
                <a:gd name="connsiteX2" fmla="*/ 457646 w 993719"/>
                <a:gd name="connsiteY2" fmla="*/ 908962 h 1841902"/>
                <a:gd name="connsiteX3" fmla="*/ 833299 w 993719"/>
                <a:gd name="connsiteY3" fmla="*/ 1523198 h 1841902"/>
                <a:gd name="connsiteX4" fmla="*/ 993719 w 993719"/>
                <a:gd name="connsiteY4" fmla="*/ 1841902 h 1841902"/>
                <a:gd name="connsiteX0" fmla="*/ 0 w 993719"/>
                <a:gd name="connsiteY0" fmla="*/ 0 h 1841902"/>
                <a:gd name="connsiteX1" fmla="*/ 152400 w 993719"/>
                <a:gd name="connsiteY1" fmla="*/ 321733 h 1841902"/>
                <a:gd name="connsiteX2" fmla="*/ 457646 w 993719"/>
                <a:gd name="connsiteY2" fmla="*/ 908962 h 1841902"/>
                <a:gd name="connsiteX3" fmla="*/ 833299 w 993719"/>
                <a:gd name="connsiteY3" fmla="*/ 1523198 h 1841902"/>
                <a:gd name="connsiteX4" fmla="*/ 906380 w 993719"/>
                <a:gd name="connsiteY4" fmla="*/ 1573285 h 1841902"/>
                <a:gd name="connsiteX5" fmla="*/ 993719 w 993719"/>
                <a:gd name="connsiteY5" fmla="*/ 1841902 h 1841902"/>
                <a:gd name="connsiteX0" fmla="*/ 0 w 993719"/>
                <a:gd name="connsiteY0" fmla="*/ 0 h 1841902"/>
                <a:gd name="connsiteX1" fmla="*/ 152400 w 993719"/>
                <a:gd name="connsiteY1" fmla="*/ 321733 h 1841902"/>
                <a:gd name="connsiteX2" fmla="*/ 457646 w 993719"/>
                <a:gd name="connsiteY2" fmla="*/ 908962 h 1841902"/>
                <a:gd name="connsiteX3" fmla="*/ 804424 w 993719"/>
                <a:gd name="connsiteY3" fmla="*/ 1292192 h 1841902"/>
                <a:gd name="connsiteX4" fmla="*/ 906380 w 993719"/>
                <a:gd name="connsiteY4" fmla="*/ 1573285 h 1841902"/>
                <a:gd name="connsiteX5" fmla="*/ 993719 w 993719"/>
                <a:gd name="connsiteY5" fmla="*/ 1841902 h 1841902"/>
                <a:gd name="connsiteX0" fmla="*/ 0 w 993719"/>
                <a:gd name="connsiteY0" fmla="*/ 0 h 1841902"/>
                <a:gd name="connsiteX1" fmla="*/ 152400 w 993719"/>
                <a:gd name="connsiteY1" fmla="*/ 321733 h 1841902"/>
                <a:gd name="connsiteX2" fmla="*/ 467271 w 993719"/>
                <a:gd name="connsiteY2" fmla="*/ 870461 h 1841902"/>
                <a:gd name="connsiteX3" fmla="*/ 804424 w 993719"/>
                <a:gd name="connsiteY3" fmla="*/ 1292192 h 1841902"/>
                <a:gd name="connsiteX4" fmla="*/ 906380 w 993719"/>
                <a:gd name="connsiteY4" fmla="*/ 1573285 h 1841902"/>
                <a:gd name="connsiteX5" fmla="*/ 993719 w 993719"/>
                <a:gd name="connsiteY5" fmla="*/ 1841902 h 1841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3719" h="1841902">
                  <a:moveTo>
                    <a:pt x="0" y="0"/>
                  </a:moveTo>
                  <a:cubicBezTo>
                    <a:pt x="71261" y="64911"/>
                    <a:pt x="74522" y="176656"/>
                    <a:pt x="152400" y="321733"/>
                  </a:cubicBezTo>
                  <a:cubicBezTo>
                    <a:pt x="230278" y="466810"/>
                    <a:pt x="358600" y="708718"/>
                    <a:pt x="467271" y="870461"/>
                  </a:cubicBezTo>
                  <a:cubicBezTo>
                    <a:pt x="575942" y="1032204"/>
                    <a:pt x="731239" y="1175055"/>
                    <a:pt x="804424" y="1292192"/>
                  </a:cubicBezTo>
                  <a:cubicBezTo>
                    <a:pt x="877609" y="1409329"/>
                    <a:pt x="879643" y="1520168"/>
                    <a:pt x="906380" y="1573285"/>
                  </a:cubicBezTo>
                  <a:cubicBezTo>
                    <a:pt x="933117" y="1626402"/>
                    <a:pt x="971142" y="1803549"/>
                    <a:pt x="993719" y="1841902"/>
                  </a:cubicBezTo>
                </a:path>
              </a:pathLst>
            </a:custGeom>
            <a:noFill/>
            <a:ln w="5715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ECG leads" hidden="1">
            <a:extLst>
              <a:ext uri="{FF2B5EF4-FFF2-40B4-BE49-F238E27FC236}">
                <a16:creationId xmlns:a16="http://schemas.microsoft.com/office/drawing/2014/main" id="{331B5549-57BE-4238-BEE2-449F5D40E3D2}"/>
              </a:ext>
            </a:extLst>
          </p:cNvPr>
          <p:cNvGrpSpPr/>
          <p:nvPr/>
        </p:nvGrpSpPr>
        <p:grpSpPr>
          <a:xfrm>
            <a:off x="3413989" y="1726162"/>
            <a:ext cx="4638482" cy="3651558"/>
            <a:chOff x="2661161" y="537767"/>
            <a:chExt cx="6361694" cy="4973127"/>
          </a:xfrm>
        </p:grpSpPr>
        <p:cxnSp>
          <p:nvCxnSpPr>
            <p:cNvPr id="11" name="Straight Arrow Connector 10">
              <a:extLst>
                <a:ext uri="{FF2B5EF4-FFF2-40B4-BE49-F238E27FC236}">
                  <a16:creationId xmlns:a16="http://schemas.microsoft.com/office/drawing/2014/main" id="{99EDD4F2-6B99-4A78-BF83-69388FF243C7}"/>
                </a:ext>
              </a:extLst>
            </p:cNvPr>
            <p:cNvCxnSpPr>
              <a:cxnSpLocks/>
            </p:cNvCxnSpPr>
            <p:nvPr/>
          </p:nvCxnSpPr>
          <p:spPr>
            <a:xfrm flipH="1">
              <a:off x="7073320" y="3307802"/>
              <a:ext cx="1130898" cy="1893580"/>
            </a:xfrm>
            <a:prstGeom prst="straightConnector1">
              <a:avLst/>
            </a:prstGeom>
            <a:ln>
              <a:solidFill>
                <a:schemeClr val="bg2">
                  <a:lumMod val="50000"/>
                </a:schemeClr>
              </a:solidFill>
              <a:tailEnd type="triangle"/>
            </a:ln>
          </p:spPr>
          <p:style>
            <a:lnRef idx="3">
              <a:schemeClr val="dk1"/>
            </a:lnRef>
            <a:fillRef idx="0">
              <a:schemeClr val="dk1"/>
            </a:fillRef>
            <a:effectRef idx="2">
              <a:schemeClr val="dk1"/>
            </a:effectRef>
            <a:fontRef idx="minor">
              <a:schemeClr val="tx1"/>
            </a:fontRef>
          </p:style>
        </p:cxnSp>
        <p:cxnSp>
          <p:nvCxnSpPr>
            <p:cNvPr id="7" name="Straight Arrow Connector 6">
              <a:extLst>
                <a:ext uri="{FF2B5EF4-FFF2-40B4-BE49-F238E27FC236}">
                  <a16:creationId xmlns:a16="http://schemas.microsoft.com/office/drawing/2014/main" id="{3F6B3DC2-8C92-4812-A427-A2D42BA53784}"/>
                </a:ext>
              </a:extLst>
            </p:cNvPr>
            <p:cNvCxnSpPr>
              <a:cxnSpLocks/>
            </p:cNvCxnSpPr>
            <p:nvPr/>
          </p:nvCxnSpPr>
          <p:spPr>
            <a:xfrm>
              <a:off x="3395052" y="3428377"/>
              <a:ext cx="1168579" cy="1694222"/>
            </a:xfrm>
            <a:prstGeom prst="straightConnector1">
              <a:avLst/>
            </a:prstGeom>
            <a:ln>
              <a:solidFill>
                <a:schemeClr val="bg2">
                  <a:lumMod val="50000"/>
                </a:schemeClr>
              </a:solidFill>
              <a:tailEnd type="triangle"/>
            </a:ln>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6D012DDA-4A0F-4B29-B3CE-79413D735D80}"/>
                </a:ext>
              </a:extLst>
            </p:cNvPr>
            <p:cNvSpPr txBox="1"/>
            <p:nvPr/>
          </p:nvSpPr>
          <p:spPr>
            <a:xfrm>
              <a:off x="2661161" y="1727763"/>
              <a:ext cx="763457" cy="276999"/>
            </a:xfrm>
            <a:prstGeom prst="rect">
              <a:avLst/>
            </a:prstGeom>
            <a:noFill/>
          </p:spPr>
          <p:txBody>
            <a:bodyPr wrap="square" rtlCol="0">
              <a:spAutoFit/>
            </a:bodyPr>
            <a:lstStyle/>
            <a:p>
              <a:pPr algn="ctr"/>
              <a:r>
                <a:rPr lang="en-US" sz="1200" err="1">
                  <a:solidFill>
                    <a:schemeClr val="bg1">
                      <a:lumMod val="50000"/>
                    </a:schemeClr>
                  </a:solidFill>
                  <a:cs typeface="Times New Roman" panose="02020603050405020304" pitchFamily="18" charset="0"/>
                </a:rPr>
                <a:t>aVR</a:t>
              </a:r>
              <a:endParaRPr lang="en-US" sz="1200">
                <a:solidFill>
                  <a:schemeClr val="bg1">
                    <a:lumMod val="50000"/>
                  </a:schemeClr>
                </a:solidFill>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F65181D4-5ACA-420B-879E-8162E097448E}"/>
                </a:ext>
              </a:extLst>
            </p:cNvPr>
            <p:cNvCxnSpPr>
              <a:cxnSpLocks/>
            </p:cNvCxnSpPr>
            <p:nvPr/>
          </p:nvCxnSpPr>
          <p:spPr>
            <a:xfrm flipH="1" flipV="1">
              <a:off x="3418097" y="2015732"/>
              <a:ext cx="391692" cy="216647"/>
            </a:xfrm>
            <a:prstGeom prst="straightConnector1">
              <a:avLst/>
            </a:prstGeom>
            <a:ln>
              <a:solidFill>
                <a:schemeClr val="bg2">
                  <a:lumMod val="50000"/>
                </a:schemeClr>
              </a:solidFill>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E5AA9D75-FFFC-4159-8CFD-775E9E373418}"/>
                </a:ext>
              </a:extLst>
            </p:cNvPr>
            <p:cNvCxnSpPr>
              <a:cxnSpLocks/>
            </p:cNvCxnSpPr>
            <p:nvPr/>
          </p:nvCxnSpPr>
          <p:spPr>
            <a:xfrm flipV="1">
              <a:off x="7660650" y="1900069"/>
              <a:ext cx="462537" cy="359851"/>
            </a:xfrm>
            <a:prstGeom prst="straightConnector1">
              <a:avLst/>
            </a:prstGeom>
            <a:ln>
              <a:solidFill>
                <a:schemeClr val="bg2">
                  <a:lumMod val="50000"/>
                </a:schemeClr>
              </a:solidFill>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AEA80187-501E-4DB5-B897-94495D0A77F3}"/>
                </a:ext>
              </a:extLst>
            </p:cNvPr>
            <p:cNvCxnSpPr>
              <a:cxnSpLocks/>
            </p:cNvCxnSpPr>
            <p:nvPr/>
          </p:nvCxnSpPr>
          <p:spPr>
            <a:xfrm>
              <a:off x="5724068" y="4511496"/>
              <a:ext cx="0" cy="578598"/>
            </a:xfrm>
            <a:prstGeom prst="straightConnector1">
              <a:avLst/>
            </a:prstGeom>
            <a:ln>
              <a:solidFill>
                <a:schemeClr val="bg2">
                  <a:lumMod val="50000"/>
                </a:schemeClr>
              </a:solidFill>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5F8E71BE-1D8E-4F09-AA79-EC7D1A585185}"/>
                </a:ext>
              </a:extLst>
            </p:cNvPr>
            <p:cNvSpPr txBox="1"/>
            <p:nvPr/>
          </p:nvSpPr>
          <p:spPr>
            <a:xfrm>
              <a:off x="3541421" y="4372997"/>
              <a:ext cx="536735" cy="276999"/>
            </a:xfrm>
            <a:prstGeom prst="rect">
              <a:avLst/>
            </a:prstGeom>
            <a:noFill/>
          </p:spPr>
          <p:txBody>
            <a:bodyPr wrap="square" rtlCol="0">
              <a:spAutoFit/>
            </a:bodyPr>
            <a:lstStyle/>
            <a:p>
              <a:pPr algn="ctr"/>
              <a:r>
                <a:rPr lang="en-US" sz="1200">
                  <a:solidFill>
                    <a:schemeClr val="bg2">
                      <a:lumMod val="50000"/>
                    </a:schemeClr>
                  </a:solidFill>
                  <a:latin typeface="Times New Roman" panose="02020603050405020304" pitchFamily="18" charset="0"/>
                  <a:cs typeface="Times New Roman" panose="02020603050405020304" pitchFamily="18" charset="0"/>
                </a:rPr>
                <a:t>II</a:t>
              </a:r>
            </a:p>
          </p:txBody>
        </p:sp>
        <p:sp>
          <p:nvSpPr>
            <p:cNvPr id="14" name="TextBox 13">
              <a:extLst>
                <a:ext uri="{FF2B5EF4-FFF2-40B4-BE49-F238E27FC236}">
                  <a16:creationId xmlns:a16="http://schemas.microsoft.com/office/drawing/2014/main" id="{019DC29E-7192-4761-92C2-B5977F995C53}"/>
                </a:ext>
              </a:extLst>
            </p:cNvPr>
            <p:cNvSpPr txBox="1"/>
            <p:nvPr/>
          </p:nvSpPr>
          <p:spPr>
            <a:xfrm>
              <a:off x="7221404" y="4729867"/>
              <a:ext cx="540564" cy="276999"/>
            </a:xfrm>
            <a:prstGeom prst="rect">
              <a:avLst/>
            </a:prstGeom>
            <a:noFill/>
          </p:spPr>
          <p:txBody>
            <a:bodyPr wrap="square" rtlCol="0">
              <a:spAutoFit/>
            </a:bodyPr>
            <a:lstStyle/>
            <a:p>
              <a:pPr algn="ctr"/>
              <a:r>
                <a:rPr lang="en-US" sz="1200">
                  <a:solidFill>
                    <a:schemeClr val="bg2">
                      <a:lumMod val="50000"/>
                    </a:schemeClr>
                  </a:solidFill>
                  <a:latin typeface="Times New Roman" panose="02020603050405020304" pitchFamily="18" charset="0"/>
                  <a:cs typeface="Times New Roman" panose="02020603050405020304" pitchFamily="18" charset="0"/>
                </a:rPr>
                <a:t>III</a:t>
              </a:r>
            </a:p>
          </p:txBody>
        </p:sp>
        <p:sp>
          <p:nvSpPr>
            <p:cNvPr id="15" name="TextBox 14">
              <a:extLst>
                <a:ext uri="{FF2B5EF4-FFF2-40B4-BE49-F238E27FC236}">
                  <a16:creationId xmlns:a16="http://schemas.microsoft.com/office/drawing/2014/main" id="{4DC16423-842E-4A93-AD14-81B9E02DD268}"/>
                </a:ext>
              </a:extLst>
            </p:cNvPr>
            <p:cNvSpPr txBox="1"/>
            <p:nvPr/>
          </p:nvSpPr>
          <p:spPr>
            <a:xfrm>
              <a:off x="5371180" y="5233895"/>
              <a:ext cx="763457" cy="276999"/>
            </a:xfrm>
            <a:prstGeom prst="rect">
              <a:avLst/>
            </a:prstGeom>
            <a:noFill/>
          </p:spPr>
          <p:txBody>
            <a:bodyPr wrap="square" rtlCol="0">
              <a:spAutoFit/>
            </a:bodyPr>
            <a:lstStyle/>
            <a:p>
              <a:pPr algn="ctr"/>
              <a:r>
                <a:rPr lang="en-US" sz="1200" err="1">
                  <a:solidFill>
                    <a:schemeClr val="bg2">
                      <a:lumMod val="50000"/>
                    </a:schemeClr>
                  </a:solidFill>
                  <a:cs typeface="Times New Roman" panose="02020603050405020304" pitchFamily="18" charset="0"/>
                </a:rPr>
                <a:t>aVF</a:t>
              </a:r>
              <a:endParaRPr lang="en-US" sz="1200">
                <a:solidFill>
                  <a:schemeClr val="bg2">
                    <a:lumMod val="50000"/>
                  </a:schemeClr>
                </a:solidFill>
                <a:cs typeface="Times New Roman" panose="02020603050405020304" pitchFamily="18" charset="0"/>
              </a:endParaRPr>
            </a:p>
          </p:txBody>
        </p:sp>
        <p:sp>
          <p:nvSpPr>
            <p:cNvPr id="16" name="TextBox 15">
              <a:extLst>
                <a:ext uri="{FF2B5EF4-FFF2-40B4-BE49-F238E27FC236}">
                  <a16:creationId xmlns:a16="http://schemas.microsoft.com/office/drawing/2014/main" id="{5854208D-5EE9-4BFE-9361-AA408B164233}"/>
                </a:ext>
              </a:extLst>
            </p:cNvPr>
            <p:cNvSpPr txBox="1"/>
            <p:nvPr/>
          </p:nvSpPr>
          <p:spPr>
            <a:xfrm>
              <a:off x="8083452" y="1649934"/>
              <a:ext cx="763457" cy="276999"/>
            </a:xfrm>
            <a:prstGeom prst="rect">
              <a:avLst/>
            </a:prstGeom>
            <a:noFill/>
          </p:spPr>
          <p:txBody>
            <a:bodyPr wrap="square" rtlCol="0">
              <a:spAutoFit/>
            </a:bodyPr>
            <a:lstStyle/>
            <a:p>
              <a:pPr algn="ctr"/>
              <a:r>
                <a:rPr lang="en-US" sz="1200" err="1">
                  <a:solidFill>
                    <a:schemeClr val="bg1">
                      <a:lumMod val="50000"/>
                    </a:schemeClr>
                  </a:solidFill>
                  <a:cs typeface="Times New Roman" panose="02020603050405020304" pitchFamily="18" charset="0"/>
                </a:rPr>
                <a:t>aVL</a:t>
              </a:r>
              <a:endParaRPr lang="en-US" sz="1200">
                <a:solidFill>
                  <a:schemeClr val="bg1">
                    <a:lumMod val="50000"/>
                  </a:schemeClr>
                </a:solidFill>
                <a:cs typeface="Times New Roman" panose="02020603050405020304" pitchFamily="18" charset="0"/>
              </a:endParaRPr>
            </a:p>
          </p:txBody>
        </p:sp>
        <p:sp>
          <p:nvSpPr>
            <p:cNvPr id="17" name="TextBox 16">
              <a:extLst>
                <a:ext uri="{FF2B5EF4-FFF2-40B4-BE49-F238E27FC236}">
                  <a16:creationId xmlns:a16="http://schemas.microsoft.com/office/drawing/2014/main" id="{3BF1BC9A-C6DD-4F01-9321-7A9C9F23CC9F}"/>
                </a:ext>
              </a:extLst>
            </p:cNvPr>
            <p:cNvSpPr txBox="1"/>
            <p:nvPr/>
          </p:nvSpPr>
          <p:spPr>
            <a:xfrm>
              <a:off x="5181999" y="2548507"/>
              <a:ext cx="589041" cy="307777"/>
            </a:xfrm>
            <a:prstGeom prst="rect">
              <a:avLst/>
            </a:prstGeom>
            <a:noFill/>
          </p:spPr>
          <p:txBody>
            <a:bodyPr wrap="square" rtlCol="0">
              <a:spAutoFit/>
            </a:bodyPr>
            <a:lstStyle/>
            <a:p>
              <a:pPr algn="ctr"/>
              <a:r>
                <a:rPr lang="en-US" sz="1400">
                  <a:solidFill>
                    <a:srgbClr val="FF0000"/>
                  </a:solidFill>
                </a:rPr>
                <a:t>V</a:t>
              </a:r>
              <a:r>
                <a:rPr lang="en-US" sz="1400" baseline="-25000">
                  <a:solidFill>
                    <a:srgbClr val="FF0000"/>
                  </a:solidFill>
                </a:rPr>
                <a:t>1</a:t>
              </a:r>
              <a:endParaRPr lang="en-US" sz="1400">
                <a:solidFill>
                  <a:srgbClr val="FF0000"/>
                </a:solidFill>
              </a:endParaRPr>
            </a:p>
          </p:txBody>
        </p:sp>
        <p:sp>
          <p:nvSpPr>
            <p:cNvPr id="18" name="TextBox 17">
              <a:extLst>
                <a:ext uri="{FF2B5EF4-FFF2-40B4-BE49-F238E27FC236}">
                  <a16:creationId xmlns:a16="http://schemas.microsoft.com/office/drawing/2014/main" id="{7669BD45-0140-479D-8D89-7F8930281390}"/>
                </a:ext>
              </a:extLst>
            </p:cNvPr>
            <p:cNvSpPr txBox="1"/>
            <p:nvPr/>
          </p:nvSpPr>
          <p:spPr>
            <a:xfrm>
              <a:off x="5978759" y="2548507"/>
              <a:ext cx="589041" cy="307777"/>
            </a:xfrm>
            <a:prstGeom prst="rect">
              <a:avLst/>
            </a:prstGeom>
            <a:noFill/>
          </p:spPr>
          <p:txBody>
            <a:bodyPr wrap="square" rtlCol="0">
              <a:spAutoFit/>
            </a:bodyPr>
            <a:lstStyle/>
            <a:p>
              <a:pPr algn="ctr"/>
              <a:r>
                <a:rPr lang="en-US" sz="1400">
                  <a:solidFill>
                    <a:srgbClr val="FF0000"/>
                  </a:solidFill>
                </a:rPr>
                <a:t>V</a:t>
              </a:r>
              <a:r>
                <a:rPr lang="en-US" sz="1400" baseline="-25000">
                  <a:solidFill>
                    <a:srgbClr val="FF0000"/>
                  </a:solidFill>
                </a:rPr>
                <a:t>2</a:t>
              </a:r>
              <a:endParaRPr lang="en-US" sz="1400">
                <a:solidFill>
                  <a:srgbClr val="FF0000"/>
                </a:solidFill>
              </a:endParaRPr>
            </a:p>
          </p:txBody>
        </p:sp>
        <p:sp>
          <p:nvSpPr>
            <p:cNvPr id="19" name="TextBox 18">
              <a:extLst>
                <a:ext uri="{FF2B5EF4-FFF2-40B4-BE49-F238E27FC236}">
                  <a16:creationId xmlns:a16="http://schemas.microsoft.com/office/drawing/2014/main" id="{EB99346C-85E4-4049-A1EF-6DDE7C11270C}"/>
                </a:ext>
              </a:extLst>
            </p:cNvPr>
            <p:cNvSpPr txBox="1"/>
            <p:nvPr/>
          </p:nvSpPr>
          <p:spPr>
            <a:xfrm>
              <a:off x="6134637" y="3472080"/>
              <a:ext cx="589041" cy="307777"/>
            </a:xfrm>
            <a:prstGeom prst="rect">
              <a:avLst/>
            </a:prstGeom>
            <a:noFill/>
          </p:spPr>
          <p:txBody>
            <a:bodyPr wrap="square" rtlCol="0">
              <a:spAutoFit/>
            </a:bodyPr>
            <a:lstStyle/>
            <a:p>
              <a:pPr algn="ctr"/>
              <a:r>
                <a:rPr lang="en-US" sz="1400">
                  <a:solidFill>
                    <a:srgbClr val="FF0000"/>
                  </a:solidFill>
                </a:rPr>
                <a:t>V</a:t>
              </a:r>
              <a:r>
                <a:rPr lang="en-US" sz="1400" baseline="-25000">
                  <a:solidFill>
                    <a:srgbClr val="FF0000"/>
                  </a:solidFill>
                </a:rPr>
                <a:t>3</a:t>
              </a:r>
              <a:endParaRPr lang="en-US" sz="1400">
                <a:solidFill>
                  <a:srgbClr val="FF0000"/>
                </a:solidFill>
              </a:endParaRPr>
            </a:p>
          </p:txBody>
        </p:sp>
        <p:sp>
          <p:nvSpPr>
            <p:cNvPr id="20" name="TextBox 19">
              <a:extLst>
                <a:ext uri="{FF2B5EF4-FFF2-40B4-BE49-F238E27FC236}">
                  <a16:creationId xmlns:a16="http://schemas.microsoft.com/office/drawing/2014/main" id="{403433D6-51C5-4DC6-9EC1-3930BB489737}"/>
                </a:ext>
              </a:extLst>
            </p:cNvPr>
            <p:cNvSpPr txBox="1"/>
            <p:nvPr/>
          </p:nvSpPr>
          <p:spPr>
            <a:xfrm>
              <a:off x="6938341" y="4094394"/>
              <a:ext cx="529507" cy="307777"/>
            </a:xfrm>
            <a:prstGeom prst="rect">
              <a:avLst/>
            </a:prstGeom>
            <a:noFill/>
          </p:spPr>
          <p:txBody>
            <a:bodyPr wrap="square" rtlCol="0">
              <a:spAutoFit/>
            </a:bodyPr>
            <a:lstStyle/>
            <a:p>
              <a:pPr algn="ctr"/>
              <a:r>
                <a:rPr lang="en-US" sz="1400">
                  <a:solidFill>
                    <a:srgbClr val="FF0000"/>
                  </a:solidFill>
                </a:rPr>
                <a:t>V</a:t>
              </a:r>
              <a:r>
                <a:rPr lang="en-US" sz="1400" baseline="-25000">
                  <a:solidFill>
                    <a:srgbClr val="FF0000"/>
                  </a:solidFill>
                </a:rPr>
                <a:t>4</a:t>
              </a:r>
              <a:endParaRPr lang="en-US" sz="1400">
                <a:solidFill>
                  <a:srgbClr val="FF0000"/>
                </a:solidFill>
              </a:endParaRPr>
            </a:p>
          </p:txBody>
        </p:sp>
        <p:sp>
          <p:nvSpPr>
            <p:cNvPr id="21" name="TextBox 20">
              <a:extLst>
                <a:ext uri="{FF2B5EF4-FFF2-40B4-BE49-F238E27FC236}">
                  <a16:creationId xmlns:a16="http://schemas.microsoft.com/office/drawing/2014/main" id="{645F1ED8-6C90-4140-B715-9225B218E371}"/>
                </a:ext>
              </a:extLst>
            </p:cNvPr>
            <p:cNvSpPr txBox="1"/>
            <p:nvPr/>
          </p:nvSpPr>
          <p:spPr>
            <a:xfrm>
              <a:off x="7660650" y="4171533"/>
              <a:ext cx="589041" cy="307777"/>
            </a:xfrm>
            <a:prstGeom prst="rect">
              <a:avLst/>
            </a:prstGeom>
            <a:noFill/>
          </p:spPr>
          <p:txBody>
            <a:bodyPr wrap="square" rtlCol="0">
              <a:spAutoFit/>
            </a:bodyPr>
            <a:lstStyle/>
            <a:p>
              <a:pPr algn="ctr"/>
              <a:r>
                <a:rPr lang="en-US" sz="1400">
                  <a:solidFill>
                    <a:srgbClr val="FF0000"/>
                  </a:solidFill>
                </a:rPr>
                <a:t>V</a:t>
              </a:r>
              <a:r>
                <a:rPr lang="en-US" sz="1400" baseline="-25000">
                  <a:solidFill>
                    <a:srgbClr val="FF0000"/>
                  </a:solidFill>
                </a:rPr>
                <a:t>5</a:t>
              </a:r>
              <a:endParaRPr lang="en-US" sz="1400">
                <a:solidFill>
                  <a:srgbClr val="FF0000"/>
                </a:solidFill>
              </a:endParaRPr>
            </a:p>
          </p:txBody>
        </p:sp>
        <p:sp>
          <p:nvSpPr>
            <p:cNvPr id="22" name="TextBox 21">
              <a:extLst>
                <a:ext uri="{FF2B5EF4-FFF2-40B4-BE49-F238E27FC236}">
                  <a16:creationId xmlns:a16="http://schemas.microsoft.com/office/drawing/2014/main" id="{5C07B43D-8736-47A7-ABE6-19476E72197D}"/>
                </a:ext>
              </a:extLst>
            </p:cNvPr>
            <p:cNvSpPr txBox="1"/>
            <p:nvPr/>
          </p:nvSpPr>
          <p:spPr>
            <a:xfrm>
              <a:off x="8433814" y="4085808"/>
              <a:ext cx="589041" cy="307777"/>
            </a:xfrm>
            <a:prstGeom prst="rect">
              <a:avLst/>
            </a:prstGeom>
            <a:noFill/>
          </p:spPr>
          <p:txBody>
            <a:bodyPr wrap="square" rtlCol="0">
              <a:spAutoFit/>
            </a:bodyPr>
            <a:lstStyle/>
            <a:p>
              <a:pPr algn="ctr"/>
              <a:r>
                <a:rPr lang="en-US" sz="1400">
                  <a:solidFill>
                    <a:srgbClr val="FF0000"/>
                  </a:solidFill>
                </a:rPr>
                <a:t>V</a:t>
              </a:r>
              <a:r>
                <a:rPr lang="en-US" sz="1400" baseline="-25000">
                  <a:solidFill>
                    <a:srgbClr val="FF0000"/>
                  </a:solidFill>
                </a:rPr>
                <a:t>6</a:t>
              </a:r>
              <a:endParaRPr lang="en-US" sz="1400">
                <a:solidFill>
                  <a:srgbClr val="FF0000"/>
                </a:solidFill>
              </a:endParaRPr>
            </a:p>
          </p:txBody>
        </p:sp>
        <p:cxnSp>
          <p:nvCxnSpPr>
            <p:cNvPr id="39" name="Straight Arrow Connector 38">
              <a:extLst>
                <a:ext uri="{FF2B5EF4-FFF2-40B4-BE49-F238E27FC236}">
                  <a16:creationId xmlns:a16="http://schemas.microsoft.com/office/drawing/2014/main" id="{0DACC0AD-158F-4918-82E3-1494979386FF}"/>
                </a:ext>
              </a:extLst>
            </p:cNvPr>
            <p:cNvCxnSpPr>
              <a:cxnSpLocks/>
            </p:cNvCxnSpPr>
            <p:nvPr/>
          </p:nvCxnSpPr>
          <p:spPr>
            <a:xfrm>
              <a:off x="3991746" y="888587"/>
              <a:ext cx="3366793" cy="0"/>
            </a:xfrm>
            <a:prstGeom prst="straightConnector1">
              <a:avLst/>
            </a:prstGeom>
            <a:ln>
              <a:solidFill>
                <a:schemeClr val="bg2">
                  <a:lumMod val="50000"/>
                </a:schemeClr>
              </a:solidFill>
              <a:tailEnd type="triangle"/>
            </a:ln>
          </p:spPr>
          <p:style>
            <a:lnRef idx="3">
              <a:schemeClr val="dk1"/>
            </a:lnRef>
            <a:fillRef idx="0">
              <a:schemeClr val="dk1"/>
            </a:fillRef>
            <a:effectRef idx="2">
              <a:schemeClr val="dk1"/>
            </a:effectRef>
            <a:fontRef idx="minor">
              <a:schemeClr val="tx1"/>
            </a:fontRef>
          </p:style>
        </p:cxnSp>
        <p:sp>
          <p:nvSpPr>
            <p:cNvPr id="40" name="TextBox 39">
              <a:extLst>
                <a:ext uri="{FF2B5EF4-FFF2-40B4-BE49-F238E27FC236}">
                  <a16:creationId xmlns:a16="http://schemas.microsoft.com/office/drawing/2014/main" id="{B8F003BB-2C4D-45BC-91CE-8DFCC6EB88FA}"/>
                </a:ext>
              </a:extLst>
            </p:cNvPr>
            <p:cNvSpPr txBox="1"/>
            <p:nvPr/>
          </p:nvSpPr>
          <p:spPr>
            <a:xfrm>
              <a:off x="5519031" y="537767"/>
              <a:ext cx="327234" cy="276999"/>
            </a:xfrm>
            <a:prstGeom prst="rect">
              <a:avLst/>
            </a:prstGeom>
            <a:noFill/>
          </p:spPr>
          <p:txBody>
            <a:bodyPr wrap="square" rtlCol="0">
              <a:spAutoFit/>
            </a:bodyPr>
            <a:lstStyle/>
            <a:p>
              <a:pPr algn="ctr"/>
              <a:r>
                <a:rPr lang="en-US" sz="1200">
                  <a:solidFill>
                    <a:schemeClr val="bg2">
                      <a:lumMod val="50000"/>
                    </a:schemeClr>
                  </a:solidFill>
                  <a:latin typeface="Times New Roman" panose="02020603050405020304" pitchFamily="18" charset="0"/>
                  <a:cs typeface="Times New Roman" panose="02020603050405020304" pitchFamily="18" charset="0"/>
                </a:rPr>
                <a:t>I</a:t>
              </a:r>
            </a:p>
          </p:txBody>
        </p:sp>
      </p:grpSp>
      <p:sp>
        <p:nvSpPr>
          <p:cNvPr id="58" name="Rectangle 57">
            <a:extLst>
              <a:ext uri="{FF2B5EF4-FFF2-40B4-BE49-F238E27FC236}">
                <a16:creationId xmlns:a16="http://schemas.microsoft.com/office/drawing/2014/main" id="{7F4DCC75-947F-4613-990E-47EA3FC60087}"/>
              </a:ext>
            </a:extLst>
          </p:cNvPr>
          <p:cNvSpPr/>
          <p:nvPr/>
        </p:nvSpPr>
        <p:spPr>
          <a:xfrm>
            <a:off x="271349" y="1326534"/>
            <a:ext cx="622927" cy="496573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wordArtVert" wrap="square" rtlCol="0" anchor="ctr">
            <a:spAutoFit/>
          </a:bodyPr>
          <a:lstStyle/>
          <a:p>
            <a:pPr algn="ctr"/>
            <a:r>
              <a:rPr lang="en-US" sz="2400" b="1"/>
              <a:t>CHEST PAIN</a:t>
            </a:r>
          </a:p>
        </p:txBody>
      </p:sp>
      <p:sp>
        <p:nvSpPr>
          <p:cNvPr id="63" name="Rectangle 62">
            <a:extLst>
              <a:ext uri="{FF2B5EF4-FFF2-40B4-BE49-F238E27FC236}">
                <a16:creationId xmlns:a16="http://schemas.microsoft.com/office/drawing/2014/main" id="{F3902360-F2E4-4899-B2B0-8970801C7A5F}"/>
              </a:ext>
            </a:extLst>
          </p:cNvPr>
          <p:cNvSpPr/>
          <p:nvPr/>
        </p:nvSpPr>
        <p:spPr>
          <a:xfrm>
            <a:off x="10094976" y="2403701"/>
            <a:ext cx="1808040" cy="728102"/>
          </a:xfrm>
          <a:prstGeom prst="rect">
            <a:avLst/>
          </a:prstGeom>
          <a:solidFill>
            <a:schemeClr val="bg1"/>
          </a:solidFill>
          <a:ln w="38100">
            <a:solidFill>
              <a:srgbClr val="C00000"/>
            </a:solid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ysClr val="windowText" lastClr="000000"/>
                </a:solidFill>
              </a:rPr>
              <a:t>MACE</a:t>
            </a:r>
          </a:p>
        </p:txBody>
      </p:sp>
      <p:sp>
        <p:nvSpPr>
          <p:cNvPr id="65" name="Rectangle 64">
            <a:extLst>
              <a:ext uri="{FF2B5EF4-FFF2-40B4-BE49-F238E27FC236}">
                <a16:creationId xmlns:a16="http://schemas.microsoft.com/office/drawing/2014/main" id="{E0CA6DB0-2408-462E-B999-35B34F699D55}"/>
              </a:ext>
            </a:extLst>
          </p:cNvPr>
          <p:cNvSpPr/>
          <p:nvPr/>
        </p:nvSpPr>
        <p:spPr>
          <a:xfrm>
            <a:off x="10094977" y="3442277"/>
            <a:ext cx="1808040" cy="728102"/>
          </a:xfrm>
          <a:prstGeom prst="rect">
            <a:avLst/>
          </a:prstGeom>
          <a:solidFill>
            <a:schemeClr val="bg1"/>
          </a:solidFill>
          <a:ln w="38100">
            <a:solidFill>
              <a:srgbClr val="C00000"/>
            </a:solid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ysClr val="windowText" lastClr="000000"/>
                </a:solidFill>
              </a:rPr>
              <a:t>Heart Failure</a:t>
            </a:r>
          </a:p>
        </p:txBody>
      </p:sp>
      <p:sp>
        <p:nvSpPr>
          <p:cNvPr id="66" name="Rectangle 65">
            <a:extLst>
              <a:ext uri="{FF2B5EF4-FFF2-40B4-BE49-F238E27FC236}">
                <a16:creationId xmlns:a16="http://schemas.microsoft.com/office/drawing/2014/main" id="{FF94529E-DFB4-4D3A-BF99-377052757EA4}"/>
              </a:ext>
            </a:extLst>
          </p:cNvPr>
          <p:cNvSpPr/>
          <p:nvPr/>
        </p:nvSpPr>
        <p:spPr>
          <a:xfrm>
            <a:off x="10094976" y="4480853"/>
            <a:ext cx="1808040" cy="728102"/>
          </a:xfrm>
          <a:prstGeom prst="rect">
            <a:avLst/>
          </a:prstGeom>
          <a:solidFill>
            <a:schemeClr val="bg1"/>
          </a:solidFill>
          <a:ln w="38100">
            <a:solidFill>
              <a:srgbClr val="C00000"/>
            </a:solid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ysClr val="windowText" lastClr="000000"/>
                </a:solidFill>
              </a:rPr>
              <a:t>Angina</a:t>
            </a:r>
          </a:p>
        </p:txBody>
      </p:sp>
      <p:sp>
        <p:nvSpPr>
          <p:cNvPr id="61" name="Rectangle 60">
            <a:extLst>
              <a:ext uri="{FF2B5EF4-FFF2-40B4-BE49-F238E27FC236}">
                <a16:creationId xmlns:a16="http://schemas.microsoft.com/office/drawing/2014/main" id="{53B4A059-1F02-41A2-B54B-3A3FCD88420E}"/>
              </a:ext>
            </a:extLst>
          </p:cNvPr>
          <p:cNvSpPr/>
          <p:nvPr/>
        </p:nvSpPr>
        <p:spPr>
          <a:xfrm>
            <a:off x="6318096" y="4223867"/>
            <a:ext cx="3174851" cy="1498818"/>
          </a:xfrm>
          <a:prstGeom prst="rect">
            <a:avLst/>
          </a:prstGeom>
          <a:solidFill>
            <a:schemeClr val="bg1"/>
          </a:solidFill>
          <a:ln w="38100">
            <a:solidFill>
              <a:schemeClr val="accent6"/>
            </a:solidFill>
          </a:ln>
        </p:spPr>
        <p:style>
          <a:lnRef idx="0">
            <a:schemeClr val="accent2"/>
          </a:lnRef>
          <a:fillRef idx="3">
            <a:schemeClr val="accent2"/>
          </a:fillRef>
          <a:effectRef idx="3">
            <a:schemeClr val="accent2"/>
          </a:effectRef>
          <a:fontRef idx="minor">
            <a:schemeClr val="lt1"/>
          </a:fontRef>
        </p:style>
        <p:txBody>
          <a:bodyPr wrap="square" rtlCol="0" anchor="ctr">
            <a:noAutofit/>
          </a:bodyPr>
          <a:lstStyle/>
          <a:p>
            <a:pPr algn="ctr"/>
            <a:endParaRPr lang="en-US">
              <a:solidFill>
                <a:sysClr val="windowText" lastClr="000000"/>
              </a:solidFill>
            </a:endParaRPr>
          </a:p>
        </p:txBody>
      </p:sp>
      <p:sp>
        <p:nvSpPr>
          <p:cNvPr id="54" name="TextBox 53">
            <a:extLst>
              <a:ext uri="{FF2B5EF4-FFF2-40B4-BE49-F238E27FC236}">
                <a16:creationId xmlns:a16="http://schemas.microsoft.com/office/drawing/2014/main" id="{304D673E-E367-45BE-8E8B-C8C58D604475}"/>
              </a:ext>
            </a:extLst>
          </p:cNvPr>
          <p:cNvSpPr txBox="1"/>
          <p:nvPr/>
        </p:nvSpPr>
        <p:spPr>
          <a:xfrm>
            <a:off x="1148125" y="4130335"/>
            <a:ext cx="2347094" cy="1733379"/>
          </a:xfrm>
          <a:prstGeom prst="rect">
            <a:avLst/>
          </a:prstGeom>
          <a:noFill/>
          <a:ln w="19050">
            <a:solidFill>
              <a:schemeClr val="accent1"/>
            </a:solidFill>
          </a:ln>
        </p:spPr>
        <p:txBody>
          <a:bodyPr wrap="square" rtlCol="0">
            <a:noAutofit/>
          </a:bodyPr>
          <a:lstStyle/>
          <a:p>
            <a:pPr algn="ctr"/>
            <a:r>
              <a:rPr lang="en-US" dirty="0"/>
              <a:t>Will Aggressive Measures Reduce Risk of Short-Term MACE?</a:t>
            </a:r>
          </a:p>
        </p:txBody>
      </p:sp>
      <p:sp>
        <p:nvSpPr>
          <p:cNvPr id="4" name="Rectangle 3">
            <a:extLst>
              <a:ext uri="{FF2B5EF4-FFF2-40B4-BE49-F238E27FC236}">
                <a16:creationId xmlns:a16="http://schemas.microsoft.com/office/drawing/2014/main" id="{0C411117-17F0-4B7A-BB7D-9B0A33652053}"/>
              </a:ext>
            </a:extLst>
          </p:cNvPr>
          <p:cNvSpPr/>
          <p:nvPr/>
        </p:nvSpPr>
        <p:spPr>
          <a:xfrm>
            <a:off x="6121436" y="3784434"/>
            <a:ext cx="3501529" cy="369332"/>
          </a:xfrm>
          <a:prstGeom prst="rect">
            <a:avLst/>
          </a:prstGeom>
        </p:spPr>
        <p:txBody>
          <a:bodyPr wrap="square">
            <a:spAutoFit/>
          </a:bodyPr>
          <a:lstStyle/>
          <a:p>
            <a:pPr algn="ctr"/>
            <a:r>
              <a:rPr lang="en-US" dirty="0">
                <a:solidFill>
                  <a:sysClr val="windowText" lastClr="000000"/>
                </a:solidFill>
              </a:rPr>
              <a:t>Acute Coronary Syndrome (ACS)</a:t>
            </a:r>
          </a:p>
        </p:txBody>
      </p:sp>
      <p:cxnSp>
        <p:nvCxnSpPr>
          <p:cNvPr id="62" name="Straight Arrow Connector 61">
            <a:extLst>
              <a:ext uri="{FF2B5EF4-FFF2-40B4-BE49-F238E27FC236}">
                <a16:creationId xmlns:a16="http://schemas.microsoft.com/office/drawing/2014/main" id="{07E62159-D721-4404-82E2-DD7843A9CB59}"/>
              </a:ext>
            </a:extLst>
          </p:cNvPr>
          <p:cNvCxnSpPr>
            <a:cxnSpLocks/>
            <a:stCxn id="54" idx="3"/>
            <a:endCxn id="61" idx="1"/>
          </p:cNvCxnSpPr>
          <p:nvPr/>
        </p:nvCxnSpPr>
        <p:spPr>
          <a:xfrm flipV="1">
            <a:off x="3495219" y="4973276"/>
            <a:ext cx="2822877" cy="237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5" name="HEART score calculator">
            <a:extLst>
              <a:ext uri="{FF2B5EF4-FFF2-40B4-BE49-F238E27FC236}">
                <a16:creationId xmlns:a16="http://schemas.microsoft.com/office/drawing/2014/main" id="{51395FB8-8622-443B-BB1F-30AB9222B633}"/>
              </a:ext>
            </a:extLst>
          </p:cNvPr>
          <p:cNvSpPr/>
          <p:nvPr/>
        </p:nvSpPr>
        <p:spPr>
          <a:xfrm>
            <a:off x="3711972" y="4118530"/>
            <a:ext cx="2267242" cy="1785104"/>
          </a:xfrm>
          <a:prstGeom prst="rect">
            <a:avLst/>
          </a:prstGeom>
          <a:solidFill>
            <a:schemeClr val="bg1"/>
          </a:solidFill>
          <a:ln w="19050">
            <a:solidFill>
              <a:schemeClr val="accent1"/>
            </a:solidFill>
          </a:ln>
          <a:effectLst/>
        </p:spPr>
        <p:style>
          <a:lnRef idx="0">
            <a:schemeClr val="accent2"/>
          </a:lnRef>
          <a:fillRef idx="3">
            <a:schemeClr val="accent2"/>
          </a:fillRef>
          <a:effectRef idx="3">
            <a:schemeClr val="accent2"/>
          </a:effectRef>
          <a:fontRef idx="minor">
            <a:schemeClr val="lt1"/>
          </a:fontRef>
        </p:style>
        <p:txBody>
          <a:bodyPr wrap="square" rtlCol="0" anchor="ctr">
            <a:spAutoFit/>
          </a:bodyPr>
          <a:lstStyle/>
          <a:p>
            <a:r>
              <a:rPr lang="en-US" sz="1600" b="1">
                <a:solidFill>
                  <a:sysClr val="windowText" lastClr="000000"/>
                </a:solidFill>
              </a:rPr>
              <a:t>Six-week risk of MACE</a:t>
            </a:r>
          </a:p>
          <a:p>
            <a:r>
              <a:rPr lang="en-US" sz="1600" b="1">
                <a:solidFill>
                  <a:sysClr val="windowText" lastClr="000000"/>
                </a:solidFill>
              </a:rPr>
              <a:t>H</a:t>
            </a:r>
            <a:r>
              <a:rPr lang="en-US" sz="1400">
                <a:solidFill>
                  <a:sysClr val="windowText" lastClr="000000"/>
                </a:solidFill>
              </a:rPr>
              <a:t>istory</a:t>
            </a:r>
          </a:p>
          <a:p>
            <a:r>
              <a:rPr lang="en-US" sz="1600" b="1">
                <a:solidFill>
                  <a:sysClr val="windowText" lastClr="000000"/>
                </a:solidFill>
              </a:rPr>
              <a:t>E</a:t>
            </a:r>
            <a:r>
              <a:rPr lang="en-US" sz="1400">
                <a:solidFill>
                  <a:sysClr val="windowText" lastClr="000000"/>
                </a:solidFill>
              </a:rPr>
              <a:t>CG</a:t>
            </a:r>
          </a:p>
          <a:p>
            <a:r>
              <a:rPr lang="en-US" sz="1600" b="1">
                <a:solidFill>
                  <a:sysClr val="windowText" lastClr="000000"/>
                </a:solidFill>
              </a:rPr>
              <a:t>A</a:t>
            </a:r>
            <a:r>
              <a:rPr lang="en-US" sz="1400">
                <a:solidFill>
                  <a:sysClr val="windowText" lastClr="000000"/>
                </a:solidFill>
              </a:rPr>
              <a:t>ge</a:t>
            </a:r>
          </a:p>
          <a:p>
            <a:r>
              <a:rPr lang="en-US" sz="1600" b="1">
                <a:solidFill>
                  <a:sysClr val="windowText" lastClr="000000"/>
                </a:solidFill>
              </a:rPr>
              <a:t>R</a:t>
            </a:r>
            <a:r>
              <a:rPr lang="en-US" sz="1400">
                <a:solidFill>
                  <a:sysClr val="windowText" lastClr="000000"/>
                </a:solidFill>
              </a:rPr>
              <a:t>isk Factors</a:t>
            </a:r>
          </a:p>
          <a:p>
            <a:r>
              <a:rPr lang="en-US" sz="1600" b="1">
                <a:solidFill>
                  <a:sysClr val="windowText" lastClr="000000"/>
                </a:solidFill>
              </a:rPr>
              <a:t>T</a:t>
            </a:r>
            <a:r>
              <a:rPr lang="en-US" sz="1400">
                <a:solidFill>
                  <a:sysClr val="windowText" lastClr="000000"/>
                </a:solidFill>
              </a:rPr>
              <a:t>roponin</a:t>
            </a:r>
          </a:p>
          <a:p>
            <a:r>
              <a:rPr lang="en-US" sz="1400">
                <a:solidFill>
                  <a:sysClr val="windowText" lastClr="000000"/>
                </a:solidFill>
                <a:hlinkClick r:id="rId3"/>
              </a:rPr>
              <a:t>Link to Calculator</a:t>
            </a:r>
            <a:endParaRPr lang="en-US" sz="1400">
              <a:solidFill>
                <a:sysClr val="windowText" lastClr="000000"/>
              </a:solidFill>
            </a:endParaRPr>
          </a:p>
        </p:txBody>
      </p:sp>
      <p:sp>
        <p:nvSpPr>
          <p:cNvPr id="67" name="Clinical Question button">
            <a:extLst>
              <a:ext uri="{FF2B5EF4-FFF2-40B4-BE49-F238E27FC236}">
                <a16:creationId xmlns:a16="http://schemas.microsoft.com/office/drawing/2014/main" id="{5131002D-7474-4AD5-8433-2DADE8657372}"/>
              </a:ext>
            </a:extLst>
          </p:cNvPr>
          <p:cNvSpPr txBox="1"/>
          <p:nvPr/>
        </p:nvSpPr>
        <p:spPr>
          <a:xfrm>
            <a:off x="1115825" y="387771"/>
            <a:ext cx="4806503" cy="530417"/>
          </a:xfrm>
          <a:prstGeom prst="roundRect">
            <a:avLst/>
          </a:prstGeom>
          <a:solidFill>
            <a:schemeClr val="bg1"/>
          </a:solidFill>
          <a:ln w="38100">
            <a:solidFill>
              <a:schemeClr val="accent1"/>
            </a:solidFill>
          </a:ln>
          <a:effectLst>
            <a:outerShdw blurRad="50800" dist="38100" dir="8100000" algn="tr" rotWithShape="0">
              <a:prstClr val="black">
                <a:alpha val="40000"/>
              </a:prstClr>
            </a:outerShdw>
          </a:effectLst>
        </p:spPr>
        <p:txBody>
          <a:bodyPr wrap="square" rtlCol="0" anchor="ctr">
            <a:noAutofit/>
          </a:bodyPr>
          <a:lstStyle/>
          <a:p>
            <a:pPr algn="ctr"/>
            <a:r>
              <a:rPr lang="en-US" dirty="0"/>
              <a:t>Clinical Question</a:t>
            </a:r>
          </a:p>
        </p:txBody>
      </p:sp>
      <p:sp>
        <p:nvSpPr>
          <p:cNvPr id="68" name="Diagnosis and mgmt button">
            <a:extLst>
              <a:ext uri="{FF2B5EF4-FFF2-40B4-BE49-F238E27FC236}">
                <a16:creationId xmlns:a16="http://schemas.microsoft.com/office/drawing/2014/main" id="{B94F5A74-F0A7-41EE-AF30-B19996FDD022}"/>
              </a:ext>
            </a:extLst>
          </p:cNvPr>
          <p:cNvSpPr txBox="1"/>
          <p:nvPr/>
        </p:nvSpPr>
        <p:spPr>
          <a:xfrm>
            <a:off x="6161338" y="390700"/>
            <a:ext cx="3216592" cy="530417"/>
          </a:xfrm>
          <a:prstGeom prst="roundRect">
            <a:avLst/>
          </a:prstGeom>
          <a:solidFill>
            <a:schemeClr val="bg1"/>
          </a:solidFill>
          <a:ln w="38100">
            <a:solidFill>
              <a:schemeClr val="accent6"/>
            </a:solidFill>
          </a:ln>
          <a:effectLst>
            <a:outerShdw blurRad="50800" dist="38100" dir="8100000" algn="tr" rotWithShape="0">
              <a:prstClr val="black">
                <a:alpha val="40000"/>
              </a:prstClr>
            </a:outerShdw>
          </a:effectLst>
        </p:spPr>
        <p:txBody>
          <a:bodyPr wrap="square" rtlCol="0" anchor="ctr">
            <a:noAutofit/>
          </a:bodyPr>
          <a:lstStyle/>
          <a:p>
            <a:pPr algn="ctr"/>
            <a:r>
              <a:rPr lang="en-US" dirty="0"/>
              <a:t>Diagnosis and Management</a:t>
            </a:r>
          </a:p>
        </p:txBody>
      </p:sp>
      <p:sp>
        <p:nvSpPr>
          <p:cNvPr id="74" name="Goals of therapy button">
            <a:extLst>
              <a:ext uri="{FF2B5EF4-FFF2-40B4-BE49-F238E27FC236}">
                <a16:creationId xmlns:a16="http://schemas.microsoft.com/office/drawing/2014/main" id="{A683882F-89F6-4E50-A5B2-A758405065A4}"/>
              </a:ext>
            </a:extLst>
          </p:cNvPr>
          <p:cNvSpPr txBox="1"/>
          <p:nvPr/>
        </p:nvSpPr>
        <p:spPr>
          <a:xfrm>
            <a:off x="10094976" y="387771"/>
            <a:ext cx="1808039" cy="530417"/>
          </a:xfrm>
          <a:prstGeom prst="roundRect">
            <a:avLst/>
          </a:prstGeom>
          <a:solidFill>
            <a:schemeClr val="bg1"/>
          </a:solidFill>
          <a:ln w="38100">
            <a:solidFill>
              <a:srgbClr val="C00000"/>
            </a:solidFill>
          </a:ln>
          <a:effectLst>
            <a:outerShdw blurRad="50800" dist="38100" dir="8100000" algn="tr" rotWithShape="0">
              <a:prstClr val="black">
                <a:alpha val="40000"/>
              </a:prstClr>
            </a:outerShdw>
          </a:effectLst>
        </p:spPr>
        <p:txBody>
          <a:bodyPr wrap="square" rtlCol="0" anchor="ctr">
            <a:noAutofit/>
          </a:bodyPr>
          <a:lstStyle/>
          <a:p>
            <a:pPr algn="ctr"/>
            <a:r>
              <a:rPr lang="en-US" dirty="0"/>
              <a:t>Goals of Therapy</a:t>
            </a:r>
          </a:p>
        </p:txBody>
      </p:sp>
      <p:cxnSp>
        <p:nvCxnSpPr>
          <p:cNvPr id="78" name="Straight Arrow Connector 77">
            <a:extLst>
              <a:ext uri="{FF2B5EF4-FFF2-40B4-BE49-F238E27FC236}">
                <a16:creationId xmlns:a16="http://schemas.microsoft.com/office/drawing/2014/main" id="{F298F3B2-9BB3-4646-B22C-C5DB53FAA472}"/>
              </a:ext>
            </a:extLst>
          </p:cNvPr>
          <p:cNvCxnSpPr>
            <a:cxnSpLocks/>
          </p:cNvCxnSpPr>
          <p:nvPr/>
        </p:nvCxnSpPr>
        <p:spPr>
          <a:xfrm flipH="1">
            <a:off x="10998993" y="918188"/>
            <a:ext cx="3" cy="131678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C20492E6-7FE5-4BDA-8952-6B5CB0213D6D}"/>
              </a:ext>
            </a:extLst>
          </p:cNvPr>
          <p:cNvSpPr txBox="1"/>
          <p:nvPr/>
        </p:nvSpPr>
        <p:spPr>
          <a:xfrm>
            <a:off x="10049075" y="1188035"/>
            <a:ext cx="1899837" cy="646331"/>
          </a:xfrm>
          <a:prstGeom prst="rect">
            <a:avLst/>
          </a:prstGeom>
          <a:solidFill>
            <a:schemeClr val="bg1"/>
          </a:solidFill>
        </p:spPr>
        <p:txBody>
          <a:bodyPr wrap="square" rtlCol="0">
            <a:spAutoFit/>
          </a:bodyPr>
          <a:lstStyle/>
          <a:p>
            <a:pPr algn="ctr"/>
            <a:r>
              <a:rPr lang="en-US" dirty="0"/>
              <a:t>Prevent </a:t>
            </a:r>
          </a:p>
          <a:p>
            <a:pPr algn="ctr"/>
            <a:r>
              <a:rPr lang="en-US" dirty="0"/>
              <a:t>&amp; Treat</a:t>
            </a:r>
          </a:p>
        </p:txBody>
      </p:sp>
      <p:sp>
        <p:nvSpPr>
          <p:cNvPr id="80" name="HEART score button">
            <a:extLst>
              <a:ext uri="{FF2B5EF4-FFF2-40B4-BE49-F238E27FC236}">
                <a16:creationId xmlns:a16="http://schemas.microsoft.com/office/drawing/2014/main" id="{20603828-26BB-498F-9CF3-DCBF585E134A}"/>
              </a:ext>
            </a:extLst>
          </p:cNvPr>
          <p:cNvSpPr/>
          <p:nvPr/>
        </p:nvSpPr>
        <p:spPr>
          <a:xfrm>
            <a:off x="1589860" y="5015427"/>
            <a:ext cx="1494540" cy="728102"/>
          </a:xfrm>
          <a:prstGeom prst="roundRect">
            <a:avLst/>
          </a:prstGeom>
          <a:solidFill>
            <a:schemeClr val="bg1"/>
          </a:solidFill>
          <a:ln w="38100">
            <a:solidFill>
              <a:schemeClr val="accent1"/>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solidFill>
                  <a:sysClr val="windowText" lastClr="000000"/>
                </a:solidFill>
              </a:rPr>
              <a:t>HEART Score</a:t>
            </a:r>
          </a:p>
        </p:txBody>
      </p:sp>
      <p:sp>
        <p:nvSpPr>
          <p:cNvPr id="60" name="TextBox 59">
            <a:extLst>
              <a:ext uri="{FF2B5EF4-FFF2-40B4-BE49-F238E27FC236}">
                <a16:creationId xmlns:a16="http://schemas.microsoft.com/office/drawing/2014/main" id="{6EBBCA39-342F-4D9D-A813-170467FC95B0}"/>
              </a:ext>
            </a:extLst>
          </p:cNvPr>
          <p:cNvSpPr txBox="1"/>
          <p:nvPr/>
        </p:nvSpPr>
        <p:spPr>
          <a:xfrm>
            <a:off x="1147617" y="1827528"/>
            <a:ext cx="2328138" cy="1581889"/>
          </a:xfrm>
          <a:prstGeom prst="rect">
            <a:avLst/>
          </a:prstGeom>
          <a:noFill/>
          <a:ln w="19050">
            <a:solidFill>
              <a:schemeClr val="accent1"/>
            </a:solidFill>
          </a:ln>
        </p:spPr>
        <p:txBody>
          <a:bodyPr wrap="square" rtlCol="0">
            <a:noAutofit/>
          </a:bodyPr>
          <a:lstStyle/>
          <a:p>
            <a:pPr algn="ctr"/>
            <a:r>
              <a:rPr lang="en-US" dirty="0"/>
              <a:t>Is the chest pain due to obstructive CAD? </a:t>
            </a:r>
          </a:p>
        </p:txBody>
      </p:sp>
      <p:sp>
        <p:nvSpPr>
          <p:cNvPr id="64" name="TextBox 63">
            <a:extLst>
              <a:ext uri="{FF2B5EF4-FFF2-40B4-BE49-F238E27FC236}">
                <a16:creationId xmlns:a16="http://schemas.microsoft.com/office/drawing/2014/main" id="{35A630DB-EA25-47F8-A342-D3570E67146E}"/>
              </a:ext>
            </a:extLst>
          </p:cNvPr>
          <p:cNvSpPr txBox="1"/>
          <p:nvPr/>
        </p:nvSpPr>
        <p:spPr>
          <a:xfrm>
            <a:off x="6227246" y="1306245"/>
            <a:ext cx="3321149" cy="369332"/>
          </a:xfrm>
          <a:prstGeom prst="rect">
            <a:avLst/>
          </a:prstGeom>
          <a:noFill/>
        </p:spPr>
        <p:txBody>
          <a:bodyPr wrap="square" rtlCol="0">
            <a:spAutoFit/>
          </a:bodyPr>
          <a:lstStyle/>
          <a:p>
            <a:pPr algn="ctr"/>
            <a:r>
              <a:rPr lang="en-US" dirty="0"/>
              <a:t>Chronic Coronary Artery Disease</a:t>
            </a:r>
          </a:p>
        </p:txBody>
      </p:sp>
      <p:cxnSp>
        <p:nvCxnSpPr>
          <p:cNvPr id="69" name="Straight Arrow Connector 68">
            <a:extLst>
              <a:ext uri="{FF2B5EF4-FFF2-40B4-BE49-F238E27FC236}">
                <a16:creationId xmlns:a16="http://schemas.microsoft.com/office/drawing/2014/main" id="{51344E3B-D65C-449C-BB65-98D6F31B8846}"/>
              </a:ext>
            </a:extLst>
          </p:cNvPr>
          <p:cNvCxnSpPr>
            <a:cxnSpLocks/>
            <a:stCxn id="60" idx="3"/>
            <a:endCxn id="73" idx="1"/>
          </p:cNvCxnSpPr>
          <p:nvPr/>
        </p:nvCxnSpPr>
        <p:spPr>
          <a:xfrm>
            <a:off x="3475755" y="2618473"/>
            <a:ext cx="2869328" cy="9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0" name="CAD consortium cacluator">
            <a:extLst>
              <a:ext uri="{FF2B5EF4-FFF2-40B4-BE49-F238E27FC236}">
                <a16:creationId xmlns:a16="http://schemas.microsoft.com/office/drawing/2014/main" id="{6E1ACB5D-B1E3-402F-B11C-634EDDCA4CF4}"/>
              </a:ext>
            </a:extLst>
          </p:cNvPr>
          <p:cNvSpPr/>
          <p:nvPr/>
        </p:nvSpPr>
        <p:spPr>
          <a:xfrm>
            <a:off x="3692069" y="1523401"/>
            <a:ext cx="2285308" cy="2092881"/>
          </a:xfrm>
          <a:prstGeom prst="rect">
            <a:avLst/>
          </a:prstGeom>
          <a:solidFill>
            <a:schemeClr val="bg1"/>
          </a:solidFill>
          <a:ln w="28575">
            <a:solidFill>
              <a:schemeClr val="accent1"/>
            </a:solidFill>
          </a:ln>
          <a:effectLst/>
        </p:spPr>
        <p:style>
          <a:lnRef idx="0">
            <a:schemeClr val="accent2"/>
          </a:lnRef>
          <a:fillRef idx="3">
            <a:schemeClr val="accent2"/>
          </a:fillRef>
          <a:effectRef idx="3">
            <a:schemeClr val="accent2"/>
          </a:effectRef>
          <a:fontRef idx="minor">
            <a:schemeClr val="lt1"/>
          </a:fontRef>
        </p:style>
        <p:txBody>
          <a:bodyPr wrap="square" rtlCol="0" anchor="ctr">
            <a:spAutoFit/>
          </a:bodyPr>
          <a:lstStyle/>
          <a:p>
            <a:r>
              <a:rPr lang="en-US" sz="1600" b="1" dirty="0">
                <a:solidFill>
                  <a:sysClr val="windowText" lastClr="000000"/>
                </a:solidFill>
              </a:rPr>
              <a:t>Pre-test Probability of Obstructive (&gt;50%) CAD: </a:t>
            </a:r>
            <a:r>
              <a:rPr lang="en-US" sz="1400" dirty="0">
                <a:solidFill>
                  <a:sysClr val="windowText" lastClr="000000"/>
                </a:solidFill>
              </a:rPr>
              <a:t>Age, Sex</a:t>
            </a:r>
          </a:p>
          <a:p>
            <a:r>
              <a:rPr lang="en-US" sz="1400" dirty="0">
                <a:solidFill>
                  <a:sysClr val="windowText" lastClr="000000"/>
                </a:solidFill>
              </a:rPr>
              <a:t>Chest Pain Character</a:t>
            </a:r>
          </a:p>
          <a:p>
            <a:r>
              <a:rPr lang="en-US" sz="1400" dirty="0">
                <a:solidFill>
                  <a:sysClr val="windowText" lastClr="000000"/>
                </a:solidFill>
              </a:rPr>
              <a:t>Diabetes</a:t>
            </a:r>
          </a:p>
          <a:p>
            <a:r>
              <a:rPr lang="en-US" sz="1400" dirty="0">
                <a:solidFill>
                  <a:sysClr val="windowText" lastClr="000000"/>
                </a:solidFill>
              </a:rPr>
              <a:t>Hypertension</a:t>
            </a:r>
          </a:p>
          <a:p>
            <a:r>
              <a:rPr lang="en-US" sz="1400" dirty="0">
                <a:solidFill>
                  <a:sysClr val="windowText" lastClr="000000"/>
                </a:solidFill>
              </a:rPr>
              <a:t>Dyslipidemia</a:t>
            </a:r>
          </a:p>
          <a:p>
            <a:r>
              <a:rPr lang="en-US" sz="1400" dirty="0">
                <a:solidFill>
                  <a:sysClr val="windowText" lastClr="000000"/>
                </a:solidFill>
              </a:rPr>
              <a:t>Smoking History</a:t>
            </a:r>
          </a:p>
          <a:p>
            <a:r>
              <a:rPr lang="en-US" sz="1400" dirty="0">
                <a:solidFill>
                  <a:sysClr val="windowText" lastClr="000000"/>
                </a:solidFill>
                <a:hlinkClick r:id="rId4"/>
              </a:rPr>
              <a:t>Link to Calculator</a:t>
            </a:r>
            <a:endParaRPr lang="en-US" sz="1400" dirty="0">
              <a:solidFill>
                <a:sysClr val="windowText" lastClr="000000"/>
              </a:solidFill>
            </a:endParaRPr>
          </a:p>
        </p:txBody>
      </p:sp>
      <mc:AlternateContent xmlns:mc="http://schemas.openxmlformats.org/markup-compatibility/2006" xmlns:pslz="http://schemas.microsoft.com/office/powerpoint/2016/slidezoom">
        <mc:Choice Requires="pslz">
          <p:graphicFrame>
            <p:nvGraphicFramePr>
              <p:cNvPr id="73" name="Slide Zoom 72">
                <a:extLst>
                  <a:ext uri="{FF2B5EF4-FFF2-40B4-BE49-F238E27FC236}">
                    <a16:creationId xmlns:a16="http://schemas.microsoft.com/office/drawing/2014/main" id="{59FDAD9C-7105-4F04-BEB1-AD3ECEAF56CA}"/>
                  </a:ext>
                </a:extLst>
              </p:cNvPr>
              <p:cNvGraphicFramePr>
                <a:graphicFrameLocks noChangeAspect="1"/>
              </p:cNvGraphicFramePr>
              <p:nvPr>
                <p:extLst>
                  <p:ext uri="{D42A27DB-BD31-4B8C-83A1-F6EECF244321}">
                    <p14:modId xmlns:p14="http://schemas.microsoft.com/office/powerpoint/2010/main" val="843680067"/>
                  </p:ext>
                </p:extLst>
              </p:nvPr>
            </p:nvGraphicFramePr>
            <p:xfrm>
              <a:off x="6345083" y="1762149"/>
              <a:ext cx="3048000" cy="1714500"/>
            </p:xfrm>
            <a:graphic>
              <a:graphicData uri="http://schemas.microsoft.com/office/powerpoint/2016/slidezoom">
                <pslz:sldZm>
                  <pslz:sldZmObj sldId="264" cId="1599047372">
                    <pslz:zmPr id="{03D1F9EE-1F6E-479E-A9A2-07D8D703789E}" returnToParent="0"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8100">
                          <a:solidFill>
                            <a:schemeClr val="accent6"/>
                          </a:solidFill>
                        </a:ln>
                        <a:effectLst>
                          <a:outerShdw blurRad="50800" dist="38100" dir="5400000" algn="t" rotWithShape="0">
                            <a:prstClr val="black">
                              <a:alpha val="40000"/>
                            </a:prstClr>
                          </a:outerShdw>
                        </a:effectLst>
                      </p166:spPr>
                    </pslz:zmPr>
                  </pslz:sldZmObj>
                </pslz:sldZm>
              </a:graphicData>
            </a:graphic>
          </p:graphicFrame>
        </mc:Choice>
        <mc:Fallback xmlns="">
          <p:pic>
            <p:nvPicPr>
              <p:cNvPr id="73" name="Slide Zoom 72">
                <a:extLst>
                  <a:ext uri="{FF2B5EF4-FFF2-40B4-BE49-F238E27FC236}">
                    <a16:creationId xmlns:a16="http://schemas.microsoft.com/office/drawing/2014/main" id="{59FDAD9C-7105-4F04-BEB1-AD3ECEAF56CA}"/>
                  </a:ext>
                </a:extLst>
              </p:cNvPr>
              <p:cNvPicPr>
                <a:picLocks noGrp="1" noRot="1" noChangeAspect="1" noMove="1" noResize="1" noEditPoints="1" noAdjustHandles="1" noChangeArrowheads="1" noChangeShapeType="1"/>
              </p:cNvPicPr>
              <p:nvPr/>
            </p:nvPicPr>
            <p:blipFill>
              <a:blip r:embed="rId6"/>
              <a:stretch>
                <a:fillRect/>
              </a:stretch>
            </p:blipFill>
            <p:spPr>
              <a:xfrm>
                <a:off x="6345083" y="1762149"/>
                <a:ext cx="3048000" cy="1714500"/>
              </a:xfrm>
              <a:prstGeom prst="rect">
                <a:avLst/>
              </a:prstGeom>
              <a:ln w="38100">
                <a:solidFill>
                  <a:schemeClr val="accent6"/>
                </a:solidFill>
              </a:ln>
              <a:effectLst>
                <a:outerShdw blurRad="50800" dist="38100" dir="5400000" algn="t" rotWithShape="0">
                  <a:prstClr val="black">
                    <a:alpha val="40000"/>
                  </a:prstClr>
                </a:outerShdw>
              </a:effectLst>
            </p:spPr>
          </p:pic>
        </mc:Fallback>
      </mc:AlternateContent>
      <p:sp>
        <p:nvSpPr>
          <p:cNvPr id="76" name="CAD consortium button">
            <a:extLst>
              <a:ext uri="{FF2B5EF4-FFF2-40B4-BE49-F238E27FC236}">
                <a16:creationId xmlns:a16="http://schemas.microsoft.com/office/drawing/2014/main" id="{8ECADAD2-8CAF-450B-8435-134CF1C50257}"/>
              </a:ext>
            </a:extLst>
          </p:cNvPr>
          <p:cNvSpPr/>
          <p:nvPr/>
        </p:nvSpPr>
        <p:spPr>
          <a:xfrm>
            <a:off x="1358755" y="2544331"/>
            <a:ext cx="1913343" cy="715089"/>
          </a:xfrm>
          <a:prstGeom prst="roundRect">
            <a:avLst/>
          </a:prstGeom>
          <a:solidFill>
            <a:schemeClr val="bg1"/>
          </a:solidFill>
          <a:ln w="38100">
            <a:solidFill>
              <a:schemeClr val="accent1"/>
            </a:solidFill>
          </a:ln>
        </p:spPr>
        <p:style>
          <a:lnRef idx="0">
            <a:schemeClr val="accent2"/>
          </a:lnRef>
          <a:fillRef idx="3">
            <a:schemeClr val="accent2"/>
          </a:fillRef>
          <a:effectRef idx="3">
            <a:schemeClr val="accent2"/>
          </a:effectRef>
          <a:fontRef idx="minor">
            <a:schemeClr val="lt1"/>
          </a:fontRef>
        </p:style>
        <p:txBody>
          <a:bodyPr wrap="square" rtlCol="0" anchor="ctr">
            <a:spAutoFit/>
          </a:bodyPr>
          <a:lstStyle/>
          <a:p>
            <a:pPr algn="ctr"/>
            <a:r>
              <a:rPr lang="en-US">
                <a:solidFill>
                  <a:sysClr val="windowText" lastClr="000000"/>
                </a:solidFill>
              </a:rPr>
              <a:t>CAD Consortium Clinical Score</a:t>
            </a:r>
          </a:p>
        </p:txBody>
      </p:sp>
      <p:sp>
        <p:nvSpPr>
          <p:cNvPr id="2" name="TextBox 1">
            <a:extLst>
              <a:ext uri="{FF2B5EF4-FFF2-40B4-BE49-F238E27FC236}">
                <a16:creationId xmlns:a16="http://schemas.microsoft.com/office/drawing/2014/main" id="{439482DF-EBD6-4171-9216-E4728A8CA294}"/>
              </a:ext>
            </a:extLst>
          </p:cNvPr>
          <p:cNvSpPr txBox="1"/>
          <p:nvPr/>
        </p:nvSpPr>
        <p:spPr>
          <a:xfrm>
            <a:off x="6877132" y="4585486"/>
            <a:ext cx="2128288" cy="646331"/>
          </a:xfrm>
          <a:prstGeom prst="rect">
            <a:avLst/>
          </a:prstGeom>
          <a:noFill/>
        </p:spPr>
        <p:txBody>
          <a:bodyPr wrap="square" rtlCol="0">
            <a:spAutoFit/>
          </a:bodyPr>
          <a:lstStyle/>
          <a:p>
            <a:r>
              <a:rPr lang="en-US" dirty="0"/>
              <a:t>Coming soon, as a separate talk…</a:t>
            </a:r>
          </a:p>
        </p:txBody>
      </p:sp>
    </p:spTree>
    <p:extLst>
      <p:ext uri="{BB962C8B-B14F-4D97-AF65-F5344CB8AC3E}">
        <p14:creationId xmlns:p14="http://schemas.microsoft.com/office/powerpoint/2010/main" val="14531399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childTnLst>
              </p:cTn>
              <p:nextCondLst>
                <p:cond evt="onClick" delay="0">
                  <p:tgtEl>
                    <p:spTgt spid="80"/>
                  </p:tgtEl>
                </p:cond>
              </p:nextCondLst>
            </p:seq>
            <p:seq concurrent="1" nextAc="seek">
              <p:cTn id="7" restart="whenNotActive" fill="hold" evtFilter="cancelBubble" nodeType="interactiveSeq">
                <p:stCondLst>
                  <p:cond evt="onClick" delay="0">
                    <p:tgtEl>
                      <p:spTgt spid="75"/>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75"/>
                                        </p:tgtEl>
                                        <p:attrNameLst>
                                          <p:attrName>style.visibility</p:attrName>
                                        </p:attrNameLst>
                                      </p:cBhvr>
                                      <p:to>
                                        <p:strVal val="hidden"/>
                                      </p:to>
                                    </p:set>
                                  </p:childTnLst>
                                </p:cTn>
                              </p:par>
                            </p:childTnLst>
                          </p:cTn>
                        </p:par>
                      </p:childTnLst>
                    </p:cTn>
                  </p:par>
                </p:childTnLst>
              </p:cTn>
              <p:nextCondLst>
                <p:cond evt="onClick" delay="0">
                  <p:tgtEl>
                    <p:spTgt spid="75"/>
                  </p:tgtEl>
                </p:cond>
              </p:nextCondLst>
            </p:seq>
            <p:seq concurrent="1" nextAc="seek">
              <p:cTn id="12" restart="whenNotActive" fill="hold" evtFilter="cancelBubble" nodeType="interactiveSeq">
                <p:stCondLst>
                  <p:cond evt="onClick" delay="0">
                    <p:tgtEl>
                      <p:spTgt spid="67"/>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childTnLst>
              </p:cTn>
              <p:nextCondLst>
                <p:cond evt="onClick" delay="0">
                  <p:tgtEl>
                    <p:spTgt spid="67"/>
                  </p:tgtEl>
                </p:cond>
              </p:nextCondLst>
            </p:seq>
            <p:seq concurrent="1" nextAc="seek">
              <p:cTn id="27" restart="whenNotActive" fill="hold" evtFilter="cancelBubble" nodeType="interactiveSeq">
                <p:stCondLst>
                  <p:cond evt="onClick" delay="0">
                    <p:tgtEl>
                      <p:spTgt spid="68"/>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64"/>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7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childTnLst>
              </p:cTn>
              <p:nextCondLst>
                <p:cond evt="onClick" delay="0">
                  <p:tgtEl>
                    <p:spTgt spid="68"/>
                  </p:tgtEl>
                </p:cond>
              </p:nextCondLst>
            </p:seq>
            <p:seq concurrent="1" nextAc="seek">
              <p:cTn id="42" restart="whenNotActive" fill="hold" evtFilter="cancelBubble" nodeType="interactiveSeq">
                <p:stCondLst>
                  <p:cond evt="onClick" delay="0">
                    <p:tgtEl>
                      <p:spTgt spid="74"/>
                    </p:tgtEl>
                  </p:cond>
                </p:stCondLst>
                <p:endSync evt="end" delay="0">
                  <p:rtn val="all"/>
                </p:endSync>
                <p:childTnLst>
                  <p:par>
                    <p:cTn id="43" fill="hold">
                      <p:stCondLst>
                        <p:cond delay="0"/>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6"/>
                                        </p:tgtEl>
                                        <p:attrNameLst>
                                          <p:attrName>style.visibility</p:attrName>
                                        </p:attrNameLst>
                                      </p:cBhvr>
                                      <p:to>
                                        <p:strVal val="visible"/>
                                      </p:to>
                                    </p:set>
                                  </p:childTnLst>
                                </p:cTn>
                              </p:par>
                            </p:childTnLst>
                          </p:cTn>
                        </p:par>
                      </p:childTnLst>
                    </p:cTn>
                  </p:par>
                </p:childTnLst>
              </p:cTn>
              <p:nextCondLst>
                <p:cond evt="onClick" delay="0">
                  <p:tgtEl>
                    <p:spTgt spid="74"/>
                  </p:tgtEl>
                </p:cond>
              </p:nextCondLst>
            </p:seq>
            <p:seq concurrent="1" nextAc="seek">
              <p:cTn id="55" restart="whenNotActive" fill="hold" evtFilter="cancelBubble" nodeType="interactiveSeq">
                <p:stCondLst>
                  <p:cond evt="onClick" delay="0">
                    <p:tgtEl>
                      <p:spTgt spid="76"/>
                    </p:tgtEl>
                  </p:cond>
                </p:stCondLst>
                <p:endSync evt="end" delay="0">
                  <p:rtn val="all"/>
                </p:endSync>
                <p:childTnLst>
                  <p:par>
                    <p:cTn id="56" fill="hold">
                      <p:stCondLst>
                        <p:cond delay="0"/>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7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1" nodeType="clickEffect">
                                  <p:stCondLst>
                                    <p:cond delay="0"/>
                                  </p:stCondLst>
                                  <p:childTnLst>
                                    <p:set>
                                      <p:cBhvr>
                                        <p:cTn id="63" dur="1" fill="hold">
                                          <p:stCondLst>
                                            <p:cond delay="0"/>
                                          </p:stCondLst>
                                        </p:cTn>
                                        <p:tgtEl>
                                          <p:spTgt spid="70"/>
                                        </p:tgtEl>
                                        <p:attrNameLst>
                                          <p:attrName>style.visibility</p:attrName>
                                        </p:attrNameLst>
                                      </p:cBhvr>
                                      <p:to>
                                        <p:strVal val="hidden"/>
                                      </p:to>
                                    </p:set>
                                  </p:childTnLst>
                                </p:cTn>
                              </p:par>
                            </p:childTnLst>
                          </p:cTn>
                        </p:par>
                      </p:childTnLst>
                    </p:cTn>
                  </p:par>
                </p:childTnLst>
              </p:cTn>
              <p:nextCondLst>
                <p:cond evt="onClick" delay="0">
                  <p:tgtEl>
                    <p:spTgt spid="76"/>
                  </p:tgtEl>
                </p:cond>
              </p:nextCondLst>
            </p:seq>
          </p:childTnLst>
        </p:cTn>
      </p:par>
    </p:tnLst>
    <p:bldLst>
      <p:bldP spid="63" grpId="0" animBg="1"/>
      <p:bldP spid="65" grpId="0" animBg="1"/>
      <p:bldP spid="66" grpId="0" animBg="1"/>
      <p:bldP spid="61" grpId="0" animBg="1"/>
      <p:bldP spid="54" grpId="0" animBg="1"/>
      <p:bldP spid="4" grpId="0"/>
      <p:bldP spid="75" grpId="0" animBg="1"/>
      <p:bldP spid="75" grpId="1" animBg="1"/>
      <p:bldP spid="72" grpId="0" animBg="1"/>
      <p:bldP spid="80" grpId="0" animBg="1"/>
      <p:bldP spid="60" grpId="0" animBg="1"/>
      <p:bldP spid="64" grpId="0"/>
      <p:bldP spid="70" grpId="0" animBg="1"/>
      <p:bldP spid="70" grpId="1" animBg="1"/>
      <p:bldP spid="76"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 name="med mgmt obstrucive cad box">
            <a:extLst>
              <a:ext uri="{FF2B5EF4-FFF2-40B4-BE49-F238E27FC236}">
                <a16:creationId xmlns:a16="http://schemas.microsoft.com/office/drawing/2014/main" id="{80A2664D-1D37-4E33-9C25-896B0EE6EBA1}"/>
              </a:ext>
            </a:extLst>
          </p:cNvPr>
          <p:cNvGrpSpPr/>
          <p:nvPr/>
        </p:nvGrpSpPr>
        <p:grpSpPr>
          <a:xfrm>
            <a:off x="6883202" y="1819326"/>
            <a:ext cx="5073808" cy="3231654"/>
            <a:chOff x="8750929" y="3601783"/>
            <a:chExt cx="5073808" cy="3231654"/>
          </a:xfrm>
        </p:grpSpPr>
        <p:cxnSp>
          <p:nvCxnSpPr>
            <p:cNvPr id="139" name="Straight Connector 138">
              <a:extLst>
                <a:ext uri="{FF2B5EF4-FFF2-40B4-BE49-F238E27FC236}">
                  <a16:creationId xmlns:a16="http://schemas.microsoft.com/office/drawing/2014/main" id="{4EE715B0-2A7B-4519-BF73-1A7851CE5F0C}"/>
                </a:ext>
              </a:extLst>
            </p:cNvPr>
            <p:cNvCxnSpPr>
              <a:cxnSpLocks/>
              <a:stCxn id="33" idx="3"/>
              <a:endCxn id="14" idx="1"/>
            </p:cNvCxnSpPr>
            <p:nvPr/>
          </p:nvCxnSpPr>
          <p:spPr>
            <a:xfrm flipV="1">
              <a:off x="8750929" y="5217610"/>
              <a:ext cx="3037427" cy="58884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Stable Angina Med Management">
              <a:extLst>
                <a:ext uri="{FF2B5EF4-FFF2-40B4-BE49-F238E27FC236}">
                  <a16:creationId xmlns:a16="http://schemas.microsoft.com/office/drawing/2014/main" id="{EBDABE47-FD1D-4AE4-8DC1-E2473206920E}"/>
                </a:ext>
              </a:extLst>
            </p:cNvPr>
            <p:cNvSpPr/>
            <p:nvPr/>
          </p:nvSpPr>
          <p:spPr>
            <a:xfrm>
              <a:off x="11788356" y="3601783"/>
              <a:ext cx="2036381" cy="3231654"/>
            </a:xfrm>
            <a:prstGeom prst="rect">
              <a:avLst/>
            </a:prstGeom>
            <a:solidFill>
              <a:schemeClr val="bg1"/>
            </a:solid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nchor="ctr">
              <a:spAutoFit/>
            </a:bodyPr>
            <a:lstStyle/>
            <a:p>
              <a:r>
                <a:rPr lang="en-US" sz="1200" b="1" dirty="0"/>
                <a:t>Risk Modifications</a:t>
              </a:r>
            </a:p>
            <a:p>
              <a:pPr marL="285750" indent="-285750">
                <a:buFontTx/>
                <a:buChar char="-"/>
              </a:pPr>
              <a:r>
                <a:rPr lang="en-US" sz="1200" dirty="0"/>
                <a:t>Diet/Exercise</a:t>
              </a:r>
            </a:p>
            <a:p>
              <a:pPr marL="285750" indent="-285750">
                <a:buFontTx/>
                <a:buChar char="-"/>
              </a:pPr>
              <a:r>
                <a:rPr lang="en-US" sz="1200" dirty="0"/>
                <a:t>Smoking cessation</a:t>
              </a:r>
            </a:p>
            <a:p>
              <a:pPr marL="285750" indent="-285750">
                <a:buFontTx/>
                <a:buChar char="-"/>
              </a:pPr>
              <a:r>
                <a:rPr lang="en-US" sz="1200" dirty="0"/>
                <a:t>A1c &lt; 7.0</a:t>
              </a:r>
            </a:p>
            <a:p>
              <a:pPr marL="285750" indent="-285750">
                <a:buFontTx/>
                <a:buChar char="-"/>
              </a:pPr>
              <a:r>
                <a:rPr lang="en-US" sz="1200" dirty="0"/>
                <a:t>BP &lt;130/80</a:t>
              </a:r>
            </a:p>
            <a:p>
              <a:r>
                <a:rPr lang="en-US" sz="1200" b="1" dirty="0"/>
                <a:t>Cardioprotective</a:t>
              </a:r>
            </a:p>
            <a:p>
              <a:pPr marL="285750" indent="-285750">
                <a:buFontTx/>
                <a:buChar char="-"/>
              </a:pPr>
              <a:r>
                <a:rPr lang="en-US" sz="1200" dirty="0"/>
                <a:t>ASA 81mg daily</a:t>
              </a:r>
            </a:p>
            <a:p>
              <a:pPr marL="285750" indent="-285750">
                <a:buFontTx/>
                <a:buChar char="-"/>
              </a:pPr>
              <a:r>
                <a:rPr lang="en-US" sz="1200" dirty="0"/>
                <a:t>High dose statin</a:t>
              </a:r>
            </a:p>
            <a:p>
              <a:pPr marL="285750" indent="-285750">
                <a:buFontTx/>
                <a:buChar char="-"/>
              </a:pPr>
              <a:r>
                <a:rPr lang="en-US" sz="1200" dirty="0"/>
                <a:t>ACE-I/ARB if DM, CKD or EF&lt;40%</a:t>
              </a:r>
            </a:p>
            <a:p>
              <a:r>
                <a:rPr lang="en-US" sz="1200" b="1" dirty="0"/>
                <a:t>Anti-anginal</a:t>
              </a:r>
            </a:p>
            <a:p>
              <a:pPr marL="285750" indent="-285750">
                <a:buFontTx/>
                <a:buChar char="-"/>
              </a:pPr>
              <a:r>
                <a:rPr lang="en-US" sz="1200" dirty="0"/>
                <a:t>Sublingual nitroglycerin prn</a:t>
              </a:r>
            </a:p>
            <a:p>
              <a:pPr marL="285750" indent="-285750">
                <a:buFontTx/>
                <a:buChar char="-"/>
              </a:pPr>
              <a:r>
                <a:rPr lang="en-US" sz="1200" dirty="0"/>
                <a:t>β-blocker (HR&lt;60)</a:t>
              </a:r>
            </a:p>
            <a:p>
              <a:pPr marL="285750" indent="-285750">
                <a:buFontTx/>
                <a:buChar char="-"/>
              </a:pPr>
              <a:r>
                <a:rPr lang="en-US" sz="1200" dirty="0"/>
                <a:t>Add long acting nitrate or CCB</a:t>
              </a:r>
            </a:p>
            <a:p>
              <a:pPr marL="285750" indent="-285750">
                <a:buFontTx/>
                <a:buChar char="-"/>
              </a:pPr>
              <a:r>
                <a:rPr lang="en-US" sz="1200" dirty="0"/>
                <a:t>Consider Ranolazine</a:t>
              </a:r>
            </a:p>
          </p:txBody>
        </p:sp>
      </p:grpSp>
      <p:cxnSp>
        <p:nvCxnSpPr>
          <p:cNvPr id="58" name="Connector: Elbow 57">
            <a:extLst>
              <a:ext uri="{FF2B5EF4-FFF2-40B4-BE49-F238E27FC236}">
                <a16:creationId xmlns:a16="http://schemas.microsoft.com/office/drawing/2014/main" id="{D1FFB075-C675-4CA1-92BA-03D3F06764A3}"/>
              </a:ext>
            </a:extLst>
          </p:cNvPr>
          <p:cNvCxnSpPr>
            <a:cxnSpLocks/>
            <a:endCxn id="34" idx="3"/>
          </p:cNvCxnSpPr>
          <p:nvPr/>
        </p:nvCxnSpPr>
        <p:spPr>
          <a:xfrm rot="5400000">
            <a:off x="5865699" y="2367277"/>
            <a:ext cx="5269254" cy="1890633"/>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30" name="High Risk arrows">
            <a:extLst>
              <a:ext uri="{FF2B5EF4-FFF2-40B4-BE49-F238E27FC236}">
                <a16:creationId xmlns:a16="http://schemas.microsoft.com/office/drawing/2014/main" id="{EDA8B6D6-EB54-4829-9238-B93E09ADF98A}"/>
              </a:ext>
            </a:extLst>
          </p:cNvPr>
          <p:cNvGrpSpPr/>
          <p:nvPr/>
        </p:nvGrpSpPr>
        <p:grpSpPr>
          <a:xfrm>
            <a:off x="6883200" y="1146386"/>
            <a:ext cx="3847647" cy="3253241"/>
            <a:chOff x="7772830" y="1101374"/>
            <a:chExt cx="3859103" cy="3253241"/>
          </a:xfrm>
        </p:grpSpPr>
        <p:sp>
          <p:nvSpPr>
            <p:cNvPr id="89" name="high risk tte box">
              <a:extLst>
                <a:ext uri="{FF2B5EF4-FFF2-40B4-BE49-F238E27FC236}">
                  <a16:creationId xmlns:a16="http://schemas.microsoft.com/office/drawing/2014/main" id="{252A6F3B-58C4-4A05-88AD-A3F6E65AA0E3}"/>
                </a:ext>
              </a:extLst>
            </p:cNvPr>
            <p:cNvSpPr/>
            <p:nvPr/>
          </p:nvSpPr>
          <p:spPr>
            <a:xfrm>
              <a:off x="9915948" y="1101374"/>
              <a:ext cx="1715985" cy="523220"/>
            </a:xfrm>
            <a:prstGeom prst="rect">
              <a:avLst/>
            </a:prstGeom>
            <a:solidFill>
              <a:schemeClr val="bg1"/>
            </a:solidFill>
            <a:ln>
              <a:solidFill>
                <a:schemeClr val="accent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square" lIns="0" rIns="0" rtlCol="0" anchor="ctr">
              <a:spAutoFit/>
            </a:bodyPr>
            <a:lstStyle/>
            <a:p>
              <a:pPr algn="ctr"/>
              <a:r>
                <a:rPr lang="en-US" sz="1400" dirty="0"/>
                <a:t>Obtain ECG &amp;</a:t>
              </a:r>
            </a:p>
            <a:p>
              <a:pPr algn="ctr"/>
              <a:r>
                <a:rPr lang="en-US" sz="1400" dirty="0"/>
                <a:t>Imaging Stress Test</a:t>
              </a:r>
            </a:p>
          </p:txBody>
        </p:sp>
        <p:cxnSp>
          <p:nvCxnSpPr>
            <p:cNvPr id="129" name="Straight Connector 128">
              <a:extLst>
                <a:ext uri="{FF2B5EF4-FFF2-40B4-BE49-F238E27FC236}">
                  <a16:creationId xmlns:a16="http://schemas.microsoft.com/office/drawing/2014/main" id="{D44BBD6E-5CA5-45F5-9FEF-768DA8511748}"/>
                </a:ext>
              </a:extLst>
            </p:cNvPr>
            <p:cNvCxnSpPr>
              <a:cxnSpLocks/>
              <a:endCxn id="33" idx="3"/>
            </p:cNvCxnSpPr>
            <p:nvPr/>
          </p:nvCxnSpPr>
          <p:spPr>
            <a:xfrm flipH="1" flipV="1">
              <a:off x="7772830" y="3978986"/>
              <a:ext cx="2570071" cy="2"/>
            </a:xfrm>
            <a:prstGeom prst="line">
              <a:avLst/>
            </a:prstGeom>
            <a:ln w="28575">
              <a:solidFill>
                <a:schemeClr val="accent6"/>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42" name="high risk tte box">
              <a:extLst>
                <a:ext uri="{FF2B5EF4-FFF2-40B4-BE49-F238E27FC236}">
                  <a16:creationId xmlns:a16="http://schemas.microsoft.com/office/drawing/2014/main" id="{2DFDC494-891B-4A16-B7BA-6C9A4C19A3CD}"/>
                </a:ext>
              </a:extLst>
            </p:cNvPr>
            <p:cNvSpPr/>
            <p:nvPr/>
          </p:nvSpPr>
          <p:spPr>
            <a:xfrm>
              <a:off x="8072229" y="3615951"/>
              <a:ext cx="1846988" cy="738664"/>
            </a:xfrm>
            <a:prstGeom prst="rect">
              <a:avLst/>
            </a:prstGeom>
            <a:solidFill>
              <a:schemeClr val="bg1"/>
            </a:solidFill>
            <a:ln>
              <a:solidFill>
                <a:schemeClr val="accent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square" lIns="0" rIns="0" rtlCol="0" anchor="ctr">
              <a:spAutoFit/>
            </a:bodyPr>
            <a:lstStyle/>
            <a:p>
              <a:pPr algn="ctr"/>
              <a:r>
                <a:rPr lang="en-US" sz="1400" dirty="0"/>
                <a:t>Confirmed CAD with no evidence of Left Main, </a:t>
              </a:r>
              <a:r>
                <a:rPr lang="en-US" sz="1400" dirty="0" err="1"/>
                <a:t>Prox</a:t>
              </a:r>
              <a:r>
                <a:rPr lang="en-US" sz="1400" dirty="0"/>
                <a:t> LAD or 3v disease</a:t>
              </a:r>
            </a:p>
          </p:txBody>
        </p:sp>
      </p:grpSp>
      <p:sp>
        <p:nvSpPr>
          <p:cNvPr id="34" name="Rectangle 33">
            <a:extLst>
              <a:ext uri="{FF2B5EF4-FFF2-40B4-BE49-F238E27FC236}">
                <a16:creationId xmlns:a16="http://schemas.microsoft.com/office/drawing/2014/main" id="{1BC04FAB-76C2-4927-AA5E-5C08AA31845E}"/>
              </a:ext>
            </a:extLst>
          </p:cNvPr>
          <p:cNvSpPr/>
          <p:nvPr/>
        </p:nvSpPr>
        <p:spPr>
          <a:xfrm>
            <a:off x="4657326" y="5587877"/>
            <a:ext cx="2897683" cy="718686"/>
          </a:xfrm>
          <a:prstGeom prst="rect">
            <a:avLst/>
          </a:prstGeom>
          <a:solidFill>
            <a:schemeClr val="bg1"/>
          </a:solid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100" dirty="0"/>
              <a:t>Medical Therapy </a:t>
            </a:r>
            <a:r>
              <a:rPr lang="en-US" sz="1100" b="1" dirty="0"/>
              <a:t>PLUS</a:t>
            </a:r>
            <a:r>
              <a:rPr lang="en-US" sz="1100" dirty="0"/>
              <a:t> </a:t>
            </a:r>
            <a:r>
              <a:rPr lang="en-US" sz="1100" u="sng" dirty="0"/>
              <a:t>Define the Anatomy</a:t>
            </a:r>
            <a:r>
              <a:rPr lang="en-US" sz="1100" dirty="0"/>
              <a:t> by:</a:t>
            </a:r>
          </a:p>
          <a:p>
            <a:pPr algn="ctr"/>
            <a:r>
              <a:rPr lang="en-US" sz="1600" dirty="0"/>
              <a:t>Left Heart Catheterization </a:t>
            </a:r>
          </a:p>
          <a:p>
            <a:pPr algn="ctr"/>
            <a:r>
              <a:rPr lang="en-US" sz="1600" dirty="0"/>
              <a:t>vs Coronary CT</a:t>
            </a:r>
          </a:p>
        </p:txBody>
      </p:sp>
      <p:grpSp>
        <p:nvGrpSpPr>
          <p:cNvPr id="22" name="Low risk outcome">
            <a:extLst>
              <a:ext uri="{FF2B5EF4-FFF2-40B4-BE49-F238E27FC236}">
                <a16:creationId xmlns:a16="http://schemas.microsoft.com/office/drawing/2014/main" id="{903F9DC0-71A7-4661-BDFE-DE4EC2EC8839}"/>
              </a:ext>
            </a:extLst>
          </p:cNvPr>
          <p:cNvGrpSpPr/>
          <p:nvPr/>
        </p:nvGrpSpPr>
        <p:grpSpPr>
          <a:xfrm>
            <a:off x="149742" y="164034"/>
            <a:ext cx="1777102" cy="523220"/>
            <a:chOff x="149742" y="164034"/>
            <a:chExt cx="1777102" cy="523220"/>
          </a:xfrm>
        </p:grpSpPr>
        <p:cxnSp>
          <p:nvCxnSpPr>
            <p:cNvPr id="72" name="Straight Arrow Connector 71">
              <a:extLst>
                <a:ext uri="{FF2B5EF4-FFF2-40B4-BE49-F238E27FC236}">
                  <a16:creationId xmlns:a16="http://schemas.microsoft.com/office/drawing/2014/main" id="{8EDAF3D1-A5E0-415A-A435-9686893481EA}"/>
                </a:ext>
              </a:extLst>
            </p:cNvPr>
            <p:cNvCxnSpPr>
              <a:cxnSpLocks/>
              <a:endCxn id="73" idx="3"/>
            </p:cNvCxnSpPr>
            <p:nvPr/>
          </p:nvCxnSpPr>
          <p:spPr>
            <a:xfrm flipH="1" flipV="1">
              <a:off x="1462466" y="425644"/>
              <a:ext cx="464378" cy="5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80708821-C0EB-4798-8643-1A9677348233}"/>
                </a:ext>
              </a:extLst>
            </p:cNvPr>
            <p:cNvSpPr/>
            <p:nvPr/>
          </p:nvSpPr>
          <p:spPr>
            <a:xfrm>
              <a:off x="149742" y="164034"/>
              <a:ext cx="1312724" cy="5232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spAutoFit/>
            </a:bodyPr>
            <a:lstStyle/>
            <a:p>
              <a:pPr algn="ctr"/>
              <a:r>
                <a:rPr lang="en-US" sz="1400"/>
                <a:t>Evaluate for other cause</a:t>
              </a:r>
            </a:p>
          </p:txBody>
        </p:sp>
      </p:grpSp>
      <p:grpSp>
        <p:nvGrpSpPr>
          <p:cNvPr id="2" name="ETT arrows">
            <a:extLst>
              <a:ext uri="{FF2B5EF4-FFF2-40B4-BE49-F238E27FC236}">
                <a16:creationId xmlns:a16="http://schemas.microsoft.com/office/drawing/2014/main" id="{2CA4C8B1-EAF5-42B4-A0A7-6FC42A31316B}"/>
              </a:ext>
            </a:extLst>
          </p:cNvPr>
          <p:cNvGrpSpPr/>
          <p:nvPr/>
        </p:nvGrpSpPr>
        <p:grpSpPr>
          <a:xfrm>
            <a:off x="598697" y="2340458"/>
            <a:ext cx="5509927" cy="3608094"/>
            <a:chOff x="600609" y="2331837"/>
            <a:chExt cx="5509927" cy="3608094"/>
          </a:xfrm>
        </p:grpSpPr>
        <p:cxnSp>
          <p:nvCxnSpPr>
            <p:cNvPr id="66" name="Straight Connector 65">
              <a:extLst>
                <a:ext uri="{FF2B5EF4-FFF2-40B4-BE49-F238E27FC236}">
                  <a16:creationId xmlns:a16="http://schemas.microsoft.com/office/drawing/2014/main" id="{9C5DC352-2261-4D88-B450-4E521E53AE01}"/>
                </a:ext>
              </a:extLst>
            </p:cNvPr>
            <p:cNvCxnSpPr>
              <a:cxnSpLocks/>
            </p:cNvCxnSpPr>
            <p:nvPr/>
          </p:nvCxnSpPr>
          <p:spPr>
            <a:xfrm>
              <a:off x="1335314" y="2348190"/>
              <a:ext cx="0" cy="934870"/>
            </a:xfrm>
            <a:prstGeom prst="line">
              <a:avLst/>
            </a:prstGeom>
            <a:ln w="28575">
              <a:solidFill>
                <a:schemeClr val="accent6"/>
              </a:solidFill>
            </a:ln>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E069CEC9-69EE-49CE-BBDE-A34368DC0B8F}"/>
                </a:ext>
              </a:extLst>
            </p:cNvPr>
            <p:cNvCxnSpPr>
              <a:cxnSpLocks/>
            </p:cNvCxnSpPr>
            <p:nvPr/>
          </p:nvCxnSpPr>
          <p:spPr>
            <a:xfrm>
              <a:off x="600609" y="2331837"/>
              <a:ext cx="0" cy="3602771"/>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90F5C4C0-92F3-4FE5-9EE0-8846D1222A1C}"/>
                </a:ext>
              </a:extLst>
            </p:cNvPr>
            <p:cNvCxnSpPr>
              <a:cxnSpLocks/>
            </p:cNvCxnSpPr>
            <p:nvPr/>
          </p:nvCxnSpPr>
          <p:spPr>
            <a:xfrm>
              <a:off x="1323884" y="3292110"/>
              <a:ext cx="476882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BED5971-FBA5-4DA4-B258-76B6106A026C}"/>
                </a:ext>
              </a:extLst>
            </p:cNvPr>
            <p:cNvCxnSpPr>
              <a:cxnSpLocks/>
              <a:endCxn id="33" idx="0"/>
            </p:cNvCxnSpPr>
            <p:nvPr/>
          </p:nvCxnSpPr>
          <p:spPr>
            <a:xfrm flipH="1">
              <a:off x="6105773" y="3291792"/>
              <a:ext cx="4763" cy="359534"/>
            </a:xfrm>
            <a:prstGeom prst="line">
              <a:avLst/>
            </a:prstGeom>
            <a:ln w="28575">
              <a:solidFill>
                <a:schemeClr val="accent6"/>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FF2B5EF4-FFF2-40B4-BE49-F238E27FC236}">
                  <a16:creationId xmlns:a16="http://schemas.microsoft.com/office/drawing/2014/main" id="{D2D147F4-FFA3-4421-876D-F78F6006F201}"/>
                </a:ext>
              </a:extLst>
            </p:cNvPr>
            <p:cNvCxnSpPr>
              <a:cxnSpLocks/>
              <a:endCxn id="34" idx="1"/>
            </p:cNvCxnSpPr>
            <p:nvPr/>
          </p:nvCxnSpPr>
          <p:spPr>
            <a:xfrm flipV="1">
              <a:off x="638136" y="5938599"/>
              <a:ext cx="4021102" cy="1332"/>
            </a:xfrm>
            <a:prstGeom prst="line">
              <a:avLst/>
            </a:prstGeom>
            <a:ln w="28575">
              <a:solidFill>
                <a:schemeClr val="accent1"/>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sp>
        <p:nvSpPr>
          <p:cNvPr id="107" name="ECG mark pos buttton">
            <a:extLst>
              <a:ext uri="{FF2B5EF4-FFF2-40B4-BE49-F238E27FC236}">
                <a16:creationId xmlns:a16="http://schemas.microsoft.com/office/drawing/2014/main" id="{8395C671-E067-4501-BAB3-FDCE99FE467C}"/>
              </a:ext>
            </a:extLst>
          </p:cNvPr>
          <p:cNvSpPr/>
          <p:nvPr/>
        </p:nvSpPr>
        <p:spPr>
          <a:xfrm>
            <a:off x="107382" y="3702314"/>
            <a:ext cx="965453" cy="561640"/>
          </a:xfrm>
          <a:prstGeom prst="roundRect">
            <a:avLst/>
          </a:prstGeom>
          <a:solidFill>
            <a:schemeClr val="bg1"/>
          </a:solidFill>
          <a:ln w="28575" cap="flat" cmpd="sng" algn="ctr">
            <a:solidFill>
              <a:schemeClr val="dk1"/>
            </a:solidFill>
            <a:prstDash val="solid"/>
            <a:round/>
            <a:headEnd type="none" w="med" len="med"/>
            <a:tailEnd type="none" w="med" len="med"/>
          </a:ln>
          <a:effectLst>
            <a:outerShdw blurRad="50800" dist="38100" dir="8100000" algn="tr"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lstStyle/>
          <a:p>
            <a:pPr algn="ctr"/>
            <a:r>
              <a:rPr lang="en-US" sz="1400"/>
              <a:t>Markedly Positive</a:t>
            </a:r>
          </a:p>
        </p:txBody>
      </p:sp>
      <p:sp>
        <p:nvSpPr>
          <p:cNvPr id="71" name="Low Risk">
            <a:extLst>
              <a:ext uri="{FF2B5EF4-FFF2-40B4-BE49-F238E27FC236}">
                <a16:creationId xmlns:a16="http://schemas.microsoft.com/office/drawing/2014/main" id="{A3B1D53F-0398-4254-80B5-170D9E60D45E}"/>
              </a:ext>
            </a:extLst>
          </p:cNvPr>
          <p:cNvSpPr/>
          <p:nvPr/>
        </p:nvSpPr>
        <p:spPr>
          <a:xfrm>
            <a:off x="1926844" y="145373"/>
            <a:ext cx="1636411" cy="561640"/>
          </a:xfrm>
          <a:prstGeom prst="roundRect">
            <a:avLst/>
          </a:prstGeom>
          <a:solidFill>
            <a:schemeClr val="bg1"/>
          </a:solidFill>
          <a:ln w="38100" cap="flat" cmpd="sng" algn="ctr">
            <a:solidFill>
              <a:schemeClr val="dk1"/>
            </a:solidFill>
            <a:prstDash val="solid"/>
            <a:round/>
            <a:headEnd type="none" w="med" len="med"/>
            <a:tailEnd type="none" w="med" len="med"/>
          </a:ln>
          <a:effectLst>
            <a:outerShdw blurRad="50800" dist="38100" dir="8100000" algn="tr"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lstStyle/>
          <a:p>
            <a:pPr algn="ctr"/>
            <a:r>
              <a:rPr lang="en-US" sz="1600" b="1"/>
              <a:t>LOW Risk (&lt;5%)</a:t>
            </a:r>
          </a:p>
        </p:txBody>
      </p:sp>
      <p:sp>
        <p:nvSpPr>
          <p:cNvPr id="135" name="Intermediate risk">
            <a:extLst>
              <a:ext uri="{FF2B5EF4-FFF2-40B4-BE49-F238E27FC236}">
                <a16:creationId xmlns:a16="http://schemas.microsoft.com/office/drawing/2014/main" id="{B6F211B4-F106-4D7F-B61A-9D84AEA8B356}"/>
              </a:ext>
            </a:extLst>
          </p:cNvPr>
          <p:cNvSpPr/>
          <p:nvPr/>
        </p:nvSpPr>
        <p:spPr>
          <a:xfrm>
            <a:off x="4787737" y="116324"/>
            <a:ext cx="2621531" cy="561640"/>
          </a:xfrm>
          <a:prstGeom prst="roundRect">
            <a:avLst/>
          </a:prstGeom>
          <a:solidFill>
            <a:schemeClr val="bg1"/>
          </a:solidFill>
          <a:ln w="38100" cap="flat" cmpd="sng" algn="ctr">
            <a:solidFill>
              <a:schemeClr val="dk1"/>
            </a:solidFill>
            <a:prstDash val="solid"/>
            <a:round/>
            <a:headEnd type="none" w="med" len="med"/>
            <a:tailEnd type="none" w="med" len="med"/>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lstStyle/>
          <a:p>
            <a:pPr algn="ctr"/>
            <a:r>
              <a:rPr lang="en-US" sz="1600" b="1"/>
              <a:t>INTERMEDIATE Risk (5-70%) for Obstructive CAD</a:t>
            </a:r>
          </a:p>
        </p:txBody>
      </p:sp>
      <p:grpSp>
        <p:nvGrpSpPr>
          <p:cNvPr id="241" name="Medical management arrows">
            <a:extLst>
              <a:ext uri="{FF2B5EF4-FFF2-40B4-BE49-F238E27FC236}">
                <a16:creationId xmlns:a16="http://schemas.microsoft.com/office/drawing/2014/main" id="{77F3B158-7ED0-418B-B1C7-AC702417B7C2}"/>
              </a:ext>
            </a:extLst>
          </p:cNvPr>
          <p:cNvGrpSpPr/>
          <p:nvPr/>
        </p:nvGrpSpPr>
        <p:grpSpPr>
          <a:xfrm>
            <a:off x="4913851" y="4388049"/>
            <a:ext cx="2379033" cy="1199828"/>
            <a:chOff x="4913851" y="4373571"/>
            <a:chExt cx="2379033" cy="1199828"/>
          </a:xfrm>
        </p:grpSpPr>
        <p:cxnSp>
          <p:nvCxnSpPr>
            <p:cNvPr id="98" name="Straight Connector 97">
              <a:extLst>
                <a:ext uri="{FF2B5EF4-FFF2-40B4-BE49-F238E27FC236}">
                  <a16:creationId xmlns:a16="http://schemas.microsoft.com/office/drawing/2014/main" id="{8E1712BE-CAD6-45D3-8085-8037922DFF76}"/>
                </a:ext>
              </a:extLst>
            </p:cNvPr>
            <p:cNvCxnSpPr>
              <a:cxnSpLocks/>
              <a:stCxn id="33" idx="2"/>
              <a:endCxn id="34" idx="0"/>
            </p:cNvCxnSpPr>
            <p:nvPr/>
          </p:nvCxnSpPr>
          <p:spPr>
            <a:xfrm>
              <a:off x="6103861" y="4373571"/>
              <a:ext cx="2307" cy="1199828"/>
            </a:xfrm>
            <a:prstGeom prst="line">
              <a:avLst/>
            </a:prstGeom>
            <a:ln w="28575">
              <a:solidFill>
                <a:schemeClr val="accent1"/>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18" name="Rectangle 117">
              <a:extLst>
                <a:ext uri="{FF2B5EF4-FFF2-40B4-BE49-F238E27FC236}">
                  <a16:creationId xmlns:a16="http://schemas.microsoft.com/office/drawing/2014/main" id="{ACDE82EC-33D6-43F5-AC77-BECEC7454765}"/>
                </a:ext>
              </a:extLst>
            </p:cNvPr>
            <p:cNvSpPr/>
            <p:nvPr/>
          </p:nvSpPr>
          <p:spPr>
            <a:xfrm>
              <a:off x="4913851" y="4600264"/>
              <a:ext cx="2379033" cy="738664"/>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45720" rIns="18288" rtlCol="0" anchor="ctr">
              <a:spAutoFit/>
            </a:bodyPr>
            <a:lstStyle/>
            <a:p>
              <a:pPr algn="ctr"/>
              <a:r>
                <a:rPr lang="en-US" sz="1400"/>
                <a:t>Lifestyle limiting symptoms</a:t>
              </a:r>
            </a:p>
            <a:p>
              <a:pPr algn="ctr"/>
              <a:r>
                <a:rPr lang="en-US" sz="1400"/>
                <a:t>Or </a:t>
              </a:r>
            </a:p>
            <a:p>
              <a:pPr algn="ctr"/>
              <a:r>
                <a:rPr lang="en-US" sz="1400"/>
                <a:t>Progression to Unstable Angina</a:t>
              </a:r>
            </a:p>
          </p:txBody>
        </p:sp>
      </p:grpSp>
      <p:sp>
        <p:nvSpPr>
          <p:cNvPr id="33" name="Medical management button">
            <a:extLst>
              <a:ext uri="{FF2B5EF4-FFF2-40B4-BE49-F238E27FC236}">
                <a16:creationId xmlns:a16="http://schemas.microsoft.com/office/drawing/2014/main" id="{DC1A7431-A7CC-4A8B-BCF2-EF6EB76B5CC7}"/>
              </a:ext>
            </a:extLst>
          </p:cNvPr>
          <p:cNvSpPr/>
          <p:nvPr/>
        </p:nvSpPr>
        <p:spPr>
          <a:xfrm>
            <a:off x="5324519" y="3659947"/>
            <a:ext cx="1558683" cy="728102"/>
          </a:xfrm>
          <a:prstGeom prst="roundRect">
            <a:avLst/>
          </a:prstGeom>
          <a:solidFill>
            <a:schemeClr val="bg1"/>
          </a:solidFill>
          <a:ln w="38100">
            <a:solidFill>
              <a:schemeClr val="accent6"/>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solidFill>
                  <a:sysClr val="windowText" lastClr="000000"/>
                </a:solidFill>
              </a:rPr>
              <a:t>Medical Management</a:t>
            </a:r>
          </a:p>
        </p:txBody>
      </p:sp>
      <p:grpSp>
        <p:nvGrpSpPr>
          <p:cNvPr id="240" name="Abnormal ECG">
            <a:extLst>
              <a:ext uri="{FF2B5EF4-FFF2-40B4-BE49-F238E27FC236}">
                <a16:creationId xmlns:a16="http://schemas.microsoft.com/office/drawing/2014/main" id="{4488BC85-11E1-47B2-8A34-DDEA3B64FE71}"/>
              </a:ext>
            </a:extLst>
          </p:cNvPr>
          <p:cNvGrpSpPr/>
          <p:nvPr/>
        </p:nvGrpSpPr>
        <p:grpSpPr>
          <a:xfrm>
            <a:off x="6755928" y="482283"/>
            <a:ext cx="2056955" cy="1190435"/>
            <a:chOff x="6754508" y="469823"/>
            <a:chExt cx="2056955" cy="1190435"/>
          </a:xfrm>
        </p:grpSpPr>
        <p:cxnSp>
          <p:nvCxnSpPr>
            <p:cNvPr id="235" name="Straight Connector 234">
              <a:extLst>
                <a:ext uri="{FF2B5EF4-FFF2-40B4-BE49-F238E27FC236}">
                  <a16:creationId xmlns:a16="http://schemas.microsoft.com/office/drawing/2014/main" id="{5622AFB0-CD38-47E4-8A6C-CC62D8B687E6}"/>
                </a:ext>
              </a:extLst>
            </p:cNvPr>
            <p:cNvCxnSpPr>
              <a:cxnSpLocks/>
              <a:stCxn id="232" idx="3"/>
              <a:endCxn id="233" idx="1"/>
            </p:cNvCxnSpPr>
            <p:nvPr/>
          </p:nvCxnSpPr>
          <p:spPr>
            <a:xfrm flipV="1">
              <a:off x="6754508" y="1065041"/>
              <a:ext cx="739765" cy="421819"/>
            </a:xfrm>
            <a:prstGeom prst="line">
              <a:avLst/>
            </a:prstGeom>
          </p:spPr>
          <p:style>
            <a:lnRef idx="1">
              <a:schemeClr val="dk1"/>
            </a:lnRef>
            <a:fillRef idx="0">
              <a:schemeClr val="dk1"/>
            </a:fillRef>
            <a:effectRef idx="0">
              <a:schemeClr val="dk1"/>
            </a:effectRef>
            <a:fontRef idx="minor">
              <a:schemeClr val="tx1"/>
            </a:fontRef>
          </p:style>
        </p:cxnSp>
        <p:sp>
          <p:nvSpPr>
            <p:cNvPr id="233" name="ECG mark pos buttton">
              <a:extLst>
                <a:ext uri="{FF2B5EF4-FFF2-40B4-BE49-F238E27FC236}">
                  <a16:creationId xmlns:a16="http://schemas.microsoft.com/office/drawing/2014/main" id="{83629AC8-B31D-4B92-9858-E86918C39F70}"/>
                </a:ext>
              </a:extLst>
            </p:cNvPr>
            <p:cNvSpPr/>
            <p:nvPr/>
          </p:nvSpPr>
          <p:spPr>
            <a:xfrm>
              <a:off x="7494273" y="469823"/>
              <a:ext cx="1317190" cy="1190435"/>
            </a:xfrm>
            <a:prstGeom prst="rect">
              <a:avLst/>
            </a:prstGeom>
            <a:solidFill>
              <a:schemeClr val="bg1"/>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sz="1400" dirty="0"/>
                <a:t>- LVH</a:t>
              </a:r>
            </a:p>
            <a:p>
              <a:r>
                <a:rPr lang="en-US" sz="1400" dirty="0"/>
                <a:t>- LBBB (no MPI)</a:t>
              </a:r>
            </a:p>
            <a:p>
              <a:r>
                <a:rPr lang="en-US" sz="1400" dirty="0"/>
                <a:t>- Paced rhythm</a:t>
              </a:r>
            </a:p>
            <a:p>
              <a:r>
                <a:rPr lang="en-US" sz="1400" dirty="0"/>
                <a:t>- Pre-excitation</a:t>
              </a:r>
            </a:p>
            <a:p>
              <a:r>
                <a:rPr lang="en-US" sz="1400" dirty="0"/>
                <a:t>- &gt;1mm ST-dep</a:t>
              </a:r>
            </a:p>
          </p:txBody>
        </p:sp>
      </p:grpSp>
      <p:sp>
        <p:nvSpPr>
          <p:cNvPr id="52" name="Back to Home page">
            <a:hlinkClick r:id="rId2" action="ppaction://hlinksldjump"/>
            <a:extLst>
              <a:ext uri="{FF2B5EF4-FFF2-40B4-BE49-F238E27FC236}">
                <a16:creationId xmlns:a16="http://schemas.microsoft.com/office/drawing/2014/main" id="{6194B6A1-58ED-44F2-91B6-A396AE69A7A1}"/>
              </a:ext>
            </a:extLst>
          </p:cNvPr>
          <p:cNvSpPr/>
          <p:nvPr/>
        </p:nvSpPr>
        <p:spPr>
          <a:xfrm>
            <a:off x="9507178" y="6048983"/>
            <a:ext cx="1168218" cy="647455"/>
          </a:xfrm>
          <a:prstGeom prst="roundRect">
            <a:avLst/>
          </a:prstGeom>
          <a:solidFill>
            <a:schemeClr val="bg1"/>
          </a:solidFill>
          <a:ln w="38100" cap="flat" cmpd="sng" algn="ctr">
            <a:solidFill>
              <a:srgbClr val="7030A0"/>
            </a:solidFill>
            <a:prstDash val="solid"/>
            <a:round/>
            <a:headEnd type="none" w="med" len="med"/>
            <a:tailEnd type="none" w="med" len="med"/>
          </a:ln>
          <a:effectLst>
            <a:outerShdw blurRad="50800" dist="38100" dir="8100000" algn="tr"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lstStyle/>
          <a:p>
            <a:pPr algn="ctr"/>
            <a:r>
              <a:rPr lang="en-US" sz="1400"/>
              <a:t>BACK TO HOME PAGE</a:t>
            </a:r>
          </a:p>
        </p:txBody>
      </p:sp>
      <p:grpSp>
        <p:nvGrpSpPr>
          <p:cNvPr id="7" name="ETT ECG criteria">
            <a:extLst>
              <a:ext uri="{FF2B5EF4-FFF2-40B4-BE49-F238E27FC236}">
                <a16:creationId xmlns:a16="http://schemas.microsoft.com/office/drawing/2014/main" id="{9C260E7E-92E2-4243-A6C4-6C6C6ABD6147}"/>
              </a:ext>
            </a:extLst>
          </p:cNvPr>
          <p:cNvGrpSpPr/>
          <p:nvPr/>
        </p:nvGrpSpPr>
        <p:grpSpPr>
          <a:xfrm>
            <a:off x="590109" y="4263954"/>
            <a:ext cx="1584202" cy="1244864"/>
            <a:chOff x="529148" y="5088574"/>
            <a:chExt cx="1584202" cy="1244864"/>
          </a:xfrm>
        </p:grpSpPr>
        <p:sp>
          <p:nvSpPr>
            <p:cNvPr id="31" name="ECG mark pos criteria">
              <a:extLst>
                <a:ext uri="{FF2B5EF4-FFF2-40B4-BE49-F238E27FC236}">
                  <a16:creationId xmlns:a16="http://schemas.microsoft.com/office/drawing/2014/main" id="{4B0F78CE-D1EC-4B78-B1EB-393481CC998C}"/>
                </a:ext>
              </a:extLst>
            </p:cNvPr>
            <p:cNvSpPr/>
            <p:nvPr/>
          </p:nvSpPr>
          <p:spPr>
            <a:xfrm>
              <a:off x="759194" y="5379331"/>
              <a:ext cx="1354156" cy="954107"/>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45720" rIns="45720" rtlCol="0" anchor="ctr">
              <a:spAutoFit/>
            </a:bodyPr>
            <a:lstStyle/>
            <a:p>
              <a:r>
                <a:rPr lang="en-US" sz="1400" dirty="0"/>
                <a:t>1. Sig. ST-dep at low work-load</a:t>
              </a:r>
            </a:p>
            <a:p>
              <a:r>
                <a:rPr lang="en-US" sz="1400" dirty="0"/>
                <a:t>2. ST-elevation</a:t>
              </a:r>
            </a:p>
            <a:p>
              <a:r>
                <a:rPr lang="en-US" sz="1400" dirty="0"/>
                <a:t>3. Hypotension</a:t>
              </a:r>
            </a:p>
          </p:txBody>
        </p:sp>
        <p:cxnSp>
          <p:nvCxnSpPr>
            <p:cNvPr id="53" name="Straight Connector 52">
              <a:extLst>
                <a:ext uri="{FF2B5EF4-FFF2-40B4-BE49-F238E27FC236}">
                  <a16:creationId xmlns:a16="http://schemas.microsoft.com/office/drawing/2014/main" id="{8DAF69FD-5350-4E5A-8C7B-8B05D7B08B8F}"/>
                </a:ext>
              </a:extLst>
            </p:cNvPr>
            <p:cNvCxnSpPr>
              <a:cxnSpLocks/>
              <a:stCxn id="107" idx="2"/>
              <a:endCxn id="31" idx="0"/>
            </p:cNvCxnSpPr>
            <p:nvPr/>
          </p:nvCxnSpPr>
          <p:spPr>
            <a:xfrm>
              <a:off x="529148" y="5088574"/>
              <a:ext cx="907124" cy="290757"/>
            </a:xfrm>
            <a:prstGeom prst="line">
              <a:avLst/>
            </a:prstGeom>
          </p:spPr>
          <p:style>
            <a:lnRef idx="1">
              <a:schemeClr val="dk1"/>
            </a:lnRef>
            <a:fillRef idx="0">
              <a:schemeClr val="dk1"/>
            </a:fillRef>
            <a:effectRef idx="0">
              <a:schemeClr val="dk1"/>
            </a:effectRef>
            <a:fontRef idx="minor">
              <a:schemeClr val="tx1"/>
            </a:fontRef>
          </p:style>
        </p:cxnSp>
      </p:grpSp>
      <p:sp>
        <p:nvSpPr>
          <p:cNvPr id="26" name="High Risk Button">
            <a:extLst>
              <a:ext uri="{FF2B5EF4-FFF2-40B4-BE49-F238E27FC236}">
                <a16:creationId xmlns:a16="http://schemas.microsoft.com/office/drawing/2014/main" id="{5CC0303C-5D64-44FA-83D7-ECD772F4C3D3}"/>
              </a:ext>
            </a:extLst>
          </p:cNvPr>
          <p:cNvSpPr/>
          <p:nvPr/>
        </p:nvSpPr>
        <p:spPr>
          <a:xfrm>
            <a:off x="8958962" y="109963"/>
            <a:ext cx="1710894" cy="561640"/>
          </a:xfrm>
          <a:prstGeom prst="roundRect">
            <a:avLst/>
          </a:prstGeom>
          <a:solidFill>
            <a:schemeClr val="bg1"/>
          </a:solidFill>
          <a:ln w="38100" cap="flat" cmpd="sng" algn="ctr">
            <a:solidFill>
              <a:schemeClr val="dk1"/>
            </a:solidFill>
            <a:prstDash val="solid"/>
            <a:round/>
            <a:headEnd type="none" w="med" len="med"/>
            <a:tailEnd type="none" w="med" len="med"/>
          </a:ln>
          <a:effectLst>
            <a:outerShdw blurRad="50800" dist="38100" dir="8100000" algn="tr"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lstStyle/>
          <a:p>
            <a:pPr algn="ctr"/>
            <a:r>
              <a:rPr lang="en-US" sz="1600" b="1"/>
              <a:t>HIGH Risk (&gt;70%)</a:t>
            </a:r>
          </a:p>
        </p:txBody>
      </p:sp>
      <p:sp>
        <p:nvSpPr>
          <p:cNvPr id="25" name="ETT button">
            <a:extLst>
              <a:ext uri="{FF2B5EF4-FFF2-40B4-BE49-F238E27FC236}">
                <a16:creationId xmlns:a16="http://schemas.microsoft.com/office/drawing/2014/main" id="{C866198E-4F9E-4555-B9DD-32624A2DD73F}"/>
              </a:ext>
            </a:extLst>
          </p:cNvPr>
          <p:cNvSpPr/>
          <p:nvPr/>
        </p:nvSpPr>
        <p:spPr>
          <a:xfrm>
            <a:off x="149742" y="1819326"/>
            <a:ext cx="1565041" cy="578882"/>
          </a:xfrm>
          <a:prstGeom prst="roundRect">
            <a:avLst/>
          </a:prstGeom>
          <a:solidFill>
            <a:schemeClr val="bg1"/>
          </a:solidFill>
          <a:ln w="38100" cap="flat" cmpd="sng" algn="ctr">
            <a:solidFill>
              <a:schemeClr val="accent1"/>
            </a:solidFill>
            <a:prstDash val="solid"/>
            <a:round/>
            <a:headEnd type="none" w="med" len="med"/>
            <a:tailEnd type="none" w="med" len="med"/>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spAutoFit/>
          </a:bodyPr>
          <a:lstStyle/>
          <a:p>
            <a:pPr algn="ctr"/>
            <a:r>
              <a:rPr lang="en-US" sz="1400"/>
              <a:t>Exercise Treadmill Test (ETT) ECG</a:t>
            </a:r>
          </a:p>
        </p:txBody>
      </p:sp>
      <p:cxnSp>
        <p:nvCxnSpPr>
          <p:cNvPr id="154" name="Straight Arrow Connector 153">
            <a:extLst>
              <a:ext uri="{FF2B5EF4-FFF2-40B4-BE49-F238E27FC236}">
                <a16:creationId xmlns:a16="http://schemas.microsoft.com/office/drawing/2014/main" id="{902ED845-8A55-4383-A185-DFF3DB21A472}"/>
              </a:ext>
            </a:extLst>
          </p:cNvPr>
          <p:cNvCxnSpPr>
            <a:cxnSpLocks/>
            <a:endCxn id="25" idx="0"/>
          </p:cNvCxnSpPr>
          <p:nvPr/>
        </p:nvCxnSpPr>
        <p:spPr>
          <a:xfrm flipH="1">
            <a:off x="932263" y="1038548"/>
            <a:ext cx="2" cy="7807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A30D1EEB-6EEC-40B1-AEBE-6939C67EA93C}"/>
              </a:ext>
            </a:extLst>
          </p:cNvPr>
          <p:cNvCxnSpPr>
            <a:cxnSpLocks/>
            <a:stCxn id="232" idx="2"/>
            <a:endCxn id="23" idx="0"/>
          </p:cNvCxnSpPr>
          <p:nvPr/>
        </p:nvCxnSpPr>
        <p:spPr>
          <a:xfrm>
            <a:off x="6091915" y="1641435"/>
            <a:ext cx="1220" cy="1193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5A1D0E6D-516F-4DBB-9201-70BFCFB10ED6}"/>
              </a:ext>
            </a:extLst>
          </p:cNvPr>
          <p:cNvCxnSpPr>
            <a:cxnSpLocks/>
          </p:cNvCxnSpPr>
          <p:nvPr/>
        </p:nvCxnSpPr>
        <p:spPr>
          <a:xfrm>
            <a:off x="6096000" y="706464"/>
            <a:ext cx="0" cy="792855"/>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232" name="Abnormal ECG buttton">
            <a:extLst>
              <a:ext uri="{FF2B5EF4-FFF2-40B4-BE49-F238E27FC236}">
                <a16:creationId xmlns:a16="http://schemas.microsoft.com/office/drawing/2014/main" id="{5B6E3B26-5E82-483C-9F10-D4FC7E18CB02}"/>
              </a:ext>
            </a:extLst>
          </p:cNvPr>
          <p:cNvSpPr/>
          <p:nvPr/>
        </p:nvSpPr>
        <p:spPr>
          <a:xfrm>
            <a:off x="5427901" y="1357204"/>
            <a:ext cx="1328027" cy="284231"/>
          </a:xfrm>
          <a:prstGeom prst="roundRect">
            <a:avLst/>
          </a:prstGeom>
          <a:ln w="28575">
            <a:headEnd type="none" w="med" len="med"/>
            <a:tailEnd type="none" w="med" len="med"/>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400"/>
              <a:t>Abnormal ECG </a:t>
            </a:r>
          </a:p>
        </p:txBody>
      </p:sp>
      <p:sp>
        <p:nvSpPr>
          <p:cNvPr id="23" name="TTE button">
            <a:extLst>
              <a:ext uri="{FF2B5EF4-FFF2-40B4-BE49-F238E27FC236}">
                <a16:creationId xmlns:a16="http://schemas.microsoft.com/office/drawing/2014/main" id="{C468C011-987D-4E2E-922E-9C53F31E8A02}"/>
              </a:ext>
            </a:extLst>
          </p:cNvPr>
          <p:cNvSpPr/>
          <p:nvPr/>
        </p:nvSpPr>
        <p:spPr>
          <a:xfrm>
            <a:off x="3809693" y="1760804"/>
            <a:ext cx="4566883" cy="686221"/>
          </a:xfrm>
          <a:prstGeom prst="roundRect">
            <a:avLst/>
          </a:prstGeom>
          <a:solidFill>
            <a:schemeClr val="bg1"/>
          </a:solidFill>
          <a:ln w="38100" cap="flat" cmpd="sng" algn="ctr">
            <a:solidFill>
              <a:schemeClr val="accent1"/>
            </a:solidFill>
            <a:prstDash val="solid"/>
            <a:round/>
            <a:headEnd type="none" w="med" len="med"/>
            <a:tailEnd type="none" w="med" len="med"/>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numCol="1" rtlCol="0" anchor="ctr">
            <a:noAutofit/>
          </a:bodyPr>
          <a:lstStyle/>
          <a:p>
            <a:pPr algn="ctr"/>
            <a:r>
              <a:rPr lang="en-US" sz="1400" dirty="0"/>
              <a:t>Stress Echocardiogram </a:t>
            </a:r>
          </a:p>
          <a:p>
            <a:pPr algn="ctr"/>
            <a:r>
              <a:rPr lang="en-US" sz="1400" b="1" dirty="0"/>
              <a:t>OR</a:t>
            </a:r>
            <a:r>
              <a:rPr lang="en-US" sz="1400" dirty="0"/>
              <a:t> </a:t>
            </a:r>
          </a:p>
          <a:p>
            <a:pPr algn="ctr"/>
            <a:r>
              <a:rPr lang="en-US" sz="1400" dirty="0"/>
              <a:t>Myocardial Perfusion Imaging (MPI) / “Nuclear” / SPECT</a:t>
            </a:r>
          </a:p>
        </p:txBody>
      </p:sp>
      <p:cxnSp>
        <p:nvCxnSpPr>
          <p:cNvPr id="81" name="Straight Connector 80">
            <a:extLst>
              <a:ext uri="{FF2B5EF4-FFF2-40B4-BE49-F238E27FC236}">
                <a16:creationId xmlns:a16="http://schemas.microsoft.com/office/drawing/2014/main" id="{E27C6EBF-DB56-487A-857C-2C3BD6867074}"/>
              </a:ext>
            </a:extLst>
          </p:cNvPr>
          <p:cNvCxnSpPr>
            <a:cxnSpLocks/>
          </p:cNvCxnSpPr>
          <p:nvPr/>
        </p:nvCxnSpPr>
        <p:spPr>
          <a:xfrm>
            <a:off x="918492" y="1029385"/>
            <a:ext cx="5159652" cy="0"/>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194" name="obtain ECG and assess exercise">
            <a:extLst>
              <a:ext uri="{FF2B5EF4-FFF2-40B4-BE49-F238E27FC236}">
                <a16:creationId xmlns:a16="http://schemas.microsoft.com/office/drawing/2014/main" id="{65764108-42D9-4C81-827F-00D2F750F713}"/>
              </a:ext>
            </a:extLst>
          </p:cNvPr>
          <p:cNvSpPr/>
          <p:nvPr/>
        </p:nvSpPr>
        <p:spPr>
          <a:xfrm>
            <a:off x="5189540" y="767900"/>
            <a:ext cx="1658973" cy="523220"/>
          </a:xfrm>
          <a:prstGeom prst="rect">
            <a:avLst/>
          </a:prstGeom>
          <a:solidFill>
            <a:schemeClr val="bg1"/>
          </a:solidFill>
          <a:ln>
            <a:solidFill>
              <a:schemeClr val="accent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square" lIns="0" rIns="0" rtlCol="0" anchor="ctr">
            <a:spAutoFit/>
          </a:bodyPr>
          <a:lstStyle/>
          <a:p>
            <a:pPr algn="ctr"/>
            <a:r>
              <a:rPr lang="en-US" sz="1400" dirty="0"/>
              <a:t>Obtain ECG &amp; assess exercise tolerance</a:t>
            </a:r>
          </a:p>
        </p:txBody>
      </p:sp>
      <p:cxnSp>
        <p:nvCxnSpPr>
          <p:cNvPr id="62" name="Connector: Elbow 61">
            <a:extLst>
              <a:ext uri="{FF2B5EF4-FFF2-40B4-BE49-F238E27FC236}">
                <a16:creationId xmlns:a16="http://schemas.microsoft.com/office/drawing/2014/main" id="{7F55CB63-CD99-4ECB-9973-5A1AC6ED8654}"/>
              </a:ext>
            </a:extLst>
          </p:cNvPr>
          <p:cNvCxnSpPr>
            <a:cxnSpLocks/>
            <a:stCxn id="90" idx="1"/>
            <a:endCxn id="34" idx="1"/>
          </p:cNvCxnSpPr>
          <p:nvPr/>
        </p:nvCxnSpPr>
        <p:spPr>
          <a:xfrm rot="10800000" flipV="1">
            <a:off x="4657327" y="2767544"/>
            <a:ext cx="403939" cy="3179675"/>
          </a:xfrm>
          <a:prstGeom prst="bentConnector3">
            <a:avLst>
              <a:gd name="adj1" fmla="val 232797"/>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0F867D9-7B5A-4561-ADEC-4F4CD3FDFB4C}"/>
              </a:ext>
            </a:extLst>
          </p:cNvPr>
          <p:cNvCxnSpPr>
            <a:cxnSpLocks/>
            <a:stCxn id="90" idx="2"/>
            <a:endCxn id="33" idx="0"/>
          </p:cNvCxnSpPr>
          <p:nvPr/>
        </p:nvCxnSpPr>
        <p:spPr>
          <a:xfrm>
            <a:off x="6095405" y="2921433"/>
            <a:ext cx="8456" cy="738514"/>
          </a:xfrm>
          <a:prstGeom prst="line">
            <a:avLst/>
          </a:prstGeom>
          <a:ln w="28575">
            <a:solidFill>
              <a:schemeClr val="accent6"/>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14" name="Rectangle 113">
            <a:extLst>
              <a:ext uri="{FF2B5EF4-FFF2-40B4-BE49-F238E27FC236}">
                <a16:creationId xmlns:a16="http://schemas.microsoft.com/office/drawing/2014/main" id="{E1867DC5-E091-4C22-8347-4C41C4BA38A0}"/>
              </a:ext>
            </a:extLst>
          </p:cNvPr>
          <p:cNvSpPr/>
          <p:nvPr/>
        </p:nvSpPr>
        <p:spPr>
          <a:xfrm>
            <a:off x="5487616" y="3125477"/>
            <a:ext cx="1228678" cy="307777"/>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spAutoFit/>
          </a:bodyPr>
          <a:lstStyle/>
          <a:p>
            <a:pPr algn="ctr"/>
            <a:r>
              <a:rPr lang="en-US" sz="1400" dirty="0"/>
              <a:t>Positive</a:t>
            </a:r>
          </a:p>
        </p:txBody>
      </p:sp>
      <p:sp>
        <p:nvSpPr>
          <p:cNvPr id="90" name="Rectangle 89">
            <a:extLst>
              <a:ext uri="{FF2B5EF4-FFF2-40B4-BE49-F238E27FC236}">
                <a16:creationId xmlns:a16="http://schemas.microsoft.com/office/drawing/2014/main" id="{E7F29DD4-5D7E-4B1B-9DD4-050AF71EAA9D}"/>
              </a:ext>
            </a:extLst>
          </p:cNvPr>
          <p:cNvSpPr/>
          <p:nvPr/>
        </p:nvSpPr>
        <p:spPr>
          <a:xfrm>
            <a:off x="5061265" y="2613656"/>
            <a:ext cx="2068280" cy="307777"/>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nchor="ctr">
            <a:spAutoFit/>
          </a:bodyPr>
          <a:lstStyle/>
          <a:p>
            <a:pPr algn="ctr"/>
            <a:r>
              <a:rPr lang="en-US" sz="1400" dirty="0"/>
              <a:t>Exercise or Pharmacologic</a:t>
            </a:r>
          </a:p>
        </p:txBody>
      </p:sp>
      <p:cxnSp>
        <p:nvCxnSpPr>
          <p:cNvPr id="102" name="Straight Connector 101">
            <a:extLst>
              <a:ext uri="{FF2B5EF4-FFF2-40B4-BE49-F238E27FC236}">
                <a16:creationId xmlns:a16="http://schemas.microsoft.com/office/drawing/2014/main" id="{F9475CCF-458B-48F8-8183-404C9B0B80BC}"/>
              </a:ext>
            </a:extLst>
          </p:cNvPr>
          <p:cNvCxnSpPr>
            <a:cxnSpLocks/>
            <a:stCxn id="23" idx="2"/>
            <a:endCxn id="90" idx="0"/>
          </p:cNvCxnSpPr>
          <p:nvPr/>
        </p:nvCxnSpPr>
        <p:spPr>
          <a:xfrm>
            <a:off x="6093135" y="2447025"/>
            <a:ext cx="2270" cy="166631"/>
          </a:xfrm>
          <a:prstGeom prst="line">
            <a:avLst/>
          </a:prstGeom>
          <a:ln w="28575">
            <a:solidFill>
              <a:schemeClr val="accent1"/>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8" name="TTE criteria">
            <a:extLst>
              <a:ext uri="{FF2B5EF4-FFF2-40B4-BE49-F238E27FC236}">
                <a16:creationId xmlns:a16="http://schemas.microsoft.com/office/drawing/2014/main" id="{D294056B-035E-435B-A243-36102678BC42}"/>
              </a:ext>
            </a:extLst>
          </p:cNvPr>
          <p:cNvGrpSpPr/>
          <p:nvPr/>
        </p:nvGrpSpPr>
        <p:grpSpPr>
          <a:xfrm>
            <a:off x="2617523" y="4251206"/>
            <a:ext cx="1680818" cy="1474431"/>
            <a:chOff x="3665406" y="4235612"/>
            <a:chExt cx="1680818" cy="1474431"/>
          </a:xfrm>
        </p:grpSpPr>
        <p:sp>
          <p:nvSpPr>
            <p:cNvPr id="119" name="TTE mark positive crit">
              <a:extLst>
                <a:ext uri="{FF2B5EF4-FFF2-40B4-BE49-F238E27FC236}">
                  <a16:creationId xmlns:a16="http://schemas.microsoft.com/office/drawing/2014/main" id="{0FEB2837-6BEA-400B-AD93-E79B01FF3DE0}"/>
                </a:ext>
              </a:extLst>
            </p:cNvPr>
            <p:cNvSpPr/>
            <p:nvPr/>
          </p:nvSpPr>
          <p:spPr>
            <a:xfrm>
              <a:off x="3665406" y="4540492"/>
              <a:ext cx="1680818" cy="1169551"/>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45720" rIns="45720" rtlCol="0" anchor="ctr">
              <a:spAutoFit/>
            </a:bodyPr>
            <a:lstStyle/>
            <a:p>
              <a:r>
                <a:rPr lang="en-US" sz="1400" dirty="0"/>
                <a:t>1. EF &lt; 35% at rest</a:t>
              </a:r>
            </a:p>
            <a:p>
              <a:r>
                <a:rPr lang="en-US" sz="1400" dirty="0"/>
                <a:t>2. Reduced EF or dilation with stress</a:t>
              </a:r>
            </a:p>
            <a:p>
              <a:r>
                <a:rPr lang="en-US" sz="1400" dirty="0"/>
                <a:t>3. Ischemia in &gt;2 vascular dist.</a:t>
              </a:r>
            </a:p>
          </p:txBody>
        </p:sp>
        <p:cxnSp>
          <p:nvCxnSpPr>
            <p:cNvPr id="55" name="Straight Connector 54">
              <a:extLst>
                <a:ext uri="{FF2B5EF4-FFF2-40B4-BE49-F238E27FC236}">
                  <a16:creationId xmlns:a16="http://schemas.microsoft.com/office/drawing/2014/main" id="{2C4462D4-F33E-4E18-A18D-57F15F9D743C}"/>
                </a:ext>
              </a:extLst>
            </p:cNvPr>
            <p:cNvCxnSpPr>
              <a:cxnSpLocks/>
              <a:stCxn id="108" idx="2"/>
              <a:endCxn id="119" idx="0"/>
            </p:cNvCxnSpPr>
            <p:nvPr/>
          </p:nvCxnSpPr>
          <p:spPr>
            <a:xfrm flipH="1">
              <a:off x="4505815" y="4235612"/>
              <a:ext cx="673637" cy="304880"/>
            </a:xfrm>
            <a:prstGeom prst="line">
              <a:avLst/>
            </a:prstGeom>
          </p:spPr>
          <p:style>
            <a:lnRef idx="1">
              <a:schemeClr val="dk1"/>
            </a:lnRef>
            <a:fillRef idx="0">
              <a:schemeClr val="dk1"/>
            </a:fillRef>
            <a:effectRef idx="0">
              <a:schemeClr val="dk1"/>
            </a:effectRef>
            <a:fontRef idx="minor">
              <a:schemeClr val="tx1"/>
            </a:fontRef>
          </p:style>
        </p:cxnSp>
      </p:grpSp>
      <p:sp>
        <p:nvSpPr>
          <p:cNvPr id="108" name="TTE mark pos button">
            <a:extLst>
              <a:ext uri="{FF2B5EF4-FFF2-40B4-BE49-F238E27FC236}">
                <a16:creationId xmlns:a16="http://schemas.microsoft.com/office/drawing/2014/main" id="{3B50E8F1-FA08-43CE-A135-546978929305}"/>
              </a:ext>
            </a:extLst>
          </p:cNvPr>
          <p:cNvSpPr/>
          <p:nvPr/>
        </p:nvSpPr>
        <p:spPr>
          <a:xfrm>
            <a:off x="3648842" y="3689566"/>
            <a:ext cx="965453" cy="561640"/>
          </a:xfrm>
          <a:prstGeom prst="roundRect">
            <a:avLst/>
          </a:prstGeom>
          <a:solidFill>
            <a:schemeClr val="bg1"/>
          </a:solidFill>
          <a:ln w="28575" cap="flat" cmpd="sng" algn="ctr">
            <a:solidFill>
              <a:schemeClr val="dk1"/>
            </a:solidFill>
            <a:prstDash val="solid"/>
            <a:round/>
            <a:headEnd type="none" w="med" len="med"/>
            <a:tailEnd type="none" w="med" len="med"/>
          </a:ln>
          <a:effectLst>
            <a:outerShdw blurRad="50800" dist="38100" dir="8100000" algn="tr"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lstStyle/>
          <a:p>
            <a:pPr algn="ctr"/>
            <a:r>
              <a:rPr lang="en-US" sz="1400" dirty="0"/>
              <a:t>Markedly Positive</a:t>
            </a:r>
          </a:p>
        </p:txBody>
      </p:sp>
      <p:sp>
        <p:nvSpPr>
          <p:cNvPr id="88" name="Cases">
            <a:hlinkClick r:id="rId3" action="ppaction://hlinksldjump"/>
            <a:extLst>
              <a:ext uri="{FF2B5EF4-FFF2-40B4-BE49-F238E27FC236}">
                <a16:creationId xmlns:a16="http://schemas.microsoft.com/office/drawing/2014/main" id="{7FDE1D44-86C8-4FFA-A549-4B2B548EC27C}"/>
              </a:ext>
            </a:extLst>
          </p:cNvPr>
          <p:cNvSpPr/>
          <p:nvPr/>
        </p:nvSpPr>
        <p:spPr>
          <a:xfrm>
            <a:off x="10874040" y="6037052"/>
            <a:ext cx="1168218" cy="647455"/>
          </a:xfrm>
          <a:prstGeom prst="roundRect">
            <a:avLst/>
          </a:prstGeom>
          <a:solidFill>
            <a:schemeClr val="bg1"/>
          </a:solidFill>
          <a:ln w="38100" cap="flat" cmpd="sng" algn="ctr">
            <a:solidFill>
              <a:srgbClr val="7030A0"/>
            </a:solidFill>
            <a:prstDash val="solid"/>
            <a:round/>
            <a:headEnd type="none" w="med" len="med"/>
            <a:tailEnd type="none" w="med" len="med"/>
          </a:ln>
          <a:effectLst>
            <a:outerShdw blurRad="50800" dist="38100" dir="8100000" algn="tr"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lstStyle/>
          <a:p>
            <a:pPr algn="ctr"/>
            <a:r>
              <a:rPr lang="en-US" sz="1400" dirty="0"/>
              <a:t>GO TO CASES</a:t>
            </a:r>
          </a:p>
        </p:txBody>
      </p:sp>
    </p:spTree>
    <p:extLst>
      <p:ext uri="{BB962C8B-B14F-4D97-AF65-F5344CB8AC3E}">
        <p14:creationId xmlns:p14="http://schemas.microsoft.com/office/powerpoint/2010/main" val="15990473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4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13" restart="whenNotActive" fill="hold" evtFilter="cancelBubble" nodeType="interactiveSeq">
                <p:stCondLst>
                  <p:cond evt="onClick" delay="0">
                    <p:tgtEl>
                      <p:spTgt spid="26"/>
                    </p:tgtEl>
                  </p:cond>
                </p:stCondLst>
                <p:endSync evt="end" delay="0">
                  <p:rtn val="all"/>
                </p:endSync>
                <p:childTnLst>
                  <p:par>
                    <p:cTn id="14" fill="hold">
                      <p:stCondLst>
                        <p:cond delay="0"/>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30"/>
                                        </p:tgtEl>
                                        <p:attrNameLst>
                                          <p:attrName>style.visibility</p:attrName>
                                        </p:attrNameLst>
                                      </p:cBhvr>
                                      <p:to>
                                        <p:strVal val="visible"/>
                                      </p:to>
                                    </p:set>
                                  </p:childTnLst>
                                </p:cTn>
                              </p:par>
                              <p:par>
                                <p:cTn id="18" presetID="1" presetClass="entr" presetSubtype="0" fill="hold" grpId="1" nodeType="withEffect">
                                  <p:stCondLst>
                                    <p:cond delay="0"/>
                                  </p:stCondLst>
                                  <p:childTnLst>
                                    <p:set>
                                      <p:cBhvr>
                                        <p:cTn id="19" dur="1" fill="hold">
                                          <p:stCondLst>
                                            <p:cond delay="0"/>
                                          </p:stCondLst>
                                        </p:cTn>
                                        <p:tgtEl>
                                          <p:spTgt spid="33"/>
                                        </p:tgtEl>
                                        <p:attrNameLst>
                                          <p:attrName>style.visibility</p:attrName>
                                        </p:attrNameLst>
                                      </p:cBhvr>
                                      <p:to>
                                        <p:strVal val="visible"/>
                                      </p:to>
                                    </p:set>
                                  </p:childTnLst>
                                </p:cTn>
                              </p:par>
                              <p:par>
                                <p:cTn id="20" presetID="1" presetClass="entr" presetSubtype="0" fill="hold" grpId="1" nodeType="withEffect">
                                  <p:stCondLst>
                                    <p:cond delay="0"/>
                                  </p:stCondLst>
                                  <p:childTnLst>
                                    <p:set>
                                      <p:cBhvr>
                                        <p:cTn id="21" dur="1" fill="hold">
                                          <p:stCondLst>
                                            <p:cond delay="0"/>
                                          </p:stCondLst>
                                        </p:cTn>
                                        <p:tgtEl>
                                          <p:spTgt spid="34"/>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8"/>
                                        </p:tgtEl>
                                        <p:attrNameLst>
                                          <p:attrName>style.visibility</p:attrName>
                                        </p:attrNameLst>
                                      </p:cBhvr>
                                      <p:to>
                                        <p:strVal val="visible"/>
                                      </p:to>
                                    </p:set>
                                  </p:childTnLst>
                                </p:cTn>
                              </p:par>
                            </p:childTnLst>
                          </p:cTn>
                        </p:par>
                      </p:childTnLst>
                    </p:cTn>
                  </p:par>
                </p:childTnLst>
              </p:cTn>
              <p:nextCondLst>
                <p:cond evt="onClick" delay="0">
                  <p:tgtEl>
                    <p:spTgt spid="26"/>
                  </p:tgtEl>
                </p:cond>
              </p:nextCondLst>
            </p:seq>
            <p:seq concurrent="1" nextAc="seek">
              <p:cTn id="24" restart="whenNotActive" fill="hold" evtFilter="cancelBubble" nodeType="interactiveSeq">
                <p:stCondLst>
                  <p:cond evt="onClick" delay="0">
                    <p:tgtEl>
                      <p:spTgt spid="107"/>
                    </p:tgtEl>
                  </p:cond>
                </p:stCondLst>
                <p:endSync evt="end" delay="0">
                  <p:rtn val="all"/>
                </p:endSync>
                <p:childTnLst>
                  <p:par>
                    <p:cTn id="25" fill="hold">
                      <p:stCondLst>
                        <p:cond delay="0"/>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107"/>
                  </p:tgtEl>
                </p:cond>
              </p:nextCondLst>
            </p:seq>
            <p:seq concurrent="1" nextAc="seek">
              <p:cTn id="33" restart="whenNotActive" fill="hold" evtFilter="cancelBubble" nodeType="interactiveSeq">
                <p:stCondLst>
                  <p:cond evt="onClick" delay="0">
                    <p:tgtEl>
                      <p:spTgt spid="71"/>
                    </p:tgtEl>
                  </p:cond>
                </p:stCondLst>
                <p:endSync evt="end" delay="0">
                  <p:rtn val="all"/>
                </p:endSync>
                <p:childTnLst>
                  <p:par>
                    <p:cTn id="34" fill="hold">
                      <p:stCondLst>
                        <p:cond delay="0"/>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childTnLst>
                          </p:cTn>
                        </p:par>
                      </p:childTnLst>
                    </p:cTn>
                  </p:par>
                </p:childTnLst>
              </p:cTn>
              <p:nextCondLst>
                <p:cond evt="onClick" delay="0">
                  <p:tgtEl>
                    <p:spTgt spid="71"/>
                  </p:tgtEl>
                </p:cond>
              </p:nextCondLst>
            </p:seq>
            <p:seq concurrent="1" nextAc="seek">
              <p:cTn id="38" restart="whenNotActive" fill="hold" evtFilter="cancelBubble" nodeType="interactiveSeq">
                <p:stCondLst>
                  <p:cond evt="onClick" delay="0">
                    <p:tgtEl>
                      <p:spTgt spid="135"/>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4"/>
                                        </p:tgtEl>
                                        <p:attrNameLst>
                                          <p:attrName>style.visibility</p:attrName>
                                        </p:attrNameLst>
                                      </p:cBhvr>
                                      <p:to>
                                        <p:strVal val="visible"/>
                                      </p:to>
                                    </p:set>
                                  </p:childTnLst>
                                </p:cTn>
                              </p:par>
                            </p:childTnLst>
                          </p:cTn>
                        </p:par>
                      </p:childTnLst>
                    </p:cTn>
                  </p:par>
                </p:childTnLst>
              </p:cTn>
              <p:nextCondLst>
                <p:cond evt="onClick" delay="0">
                  <p:tgtEl>
                    <p:spTgt spid="135"/>
                  </p:tgtEl>
                </p:cond>
              </p:nextCondLst>
            </p:seq>
            <p:seq concurrent="1" nextAc="seek">
              <p:cTn id="57" restart="whenNotActive" fill="hold" evtFilter="cancelBubble" nodeType="interactiveSeq">
                <p:stCondLst>
                  <p:cond evt="onClick" delay="0">
                    <p:tgtEl>
                      <p:spTgt spid="25"/>
                    </p:tgtEl>
                  </p:cond>
                </p:stCondLst>
                <p:endSync evt="end" delay="0">
                  <p:rtn val="all"/>
                </p:endSync>
                <p:childTnLst>
                  <p:par>
                    <p:cTn id="58" fill="hold">
                      <p:stCondLst>
                        <p:cond delay="0"/>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07"/>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par>
                                <p:cTn id="68" presetID="1" presetClass="entr" presetSubtype="0" fill="hold" grpId="1" nodeType="withEffect">
                                  <p:stCondLst>
                                    <p:cond delay="0"/>
                                  </p:stCondLst>
                                  <p:childTnLst>
                                    <p:set>
                                      <p:cBhvr>
                                        <p:cTn id="69" dur="1" fill="hold">
                                          <p:stCondLst>
                                            <p:cond delay="0"/>
                                          </p:stCondLst>
                                        </p:cTn>
                                        <p:tgtEl>
                                          <p:spTgt spid="114"/>
                                        </p:tgtEl>
                                        <p:attrNameLst>
                                          <p:attrName>style.visibility</p:attrName>
                                        </p:attrNameLst>
                                      </p:cBhvr>
                                      <p:to>
                                        <p:strVal val="visible"/>
                                      </p:to>
                                    </p:set>
                                  </p:childTnLst>
                                </p:cTn>
                              </p:par>
                            </p:childTnLst>
                          </p:cTn>
                        </p:par>
                      </p:childTnLst>
                    </p:cTn>
                  </p:par>
                </p:childTnLst>
              </p:cTn>
              <p:nextCondLst>
                <p:cond evt="onClick" delay="0">
                  <p:tgtEl>
                    <p:spTgt spid="25"/>
                  </p:tgtEl>
                </p:cond>
              </p:nextCondLst>
            </p:seq>
            <p:seq concurrent="1" nextAc="seek">
              <p:cTn id="70" restart="whenNotActive" fill="hold" evtFilter="cancelBubble" nodeType="interactiveSeq">
                <p:stCondLst>
                  <p:cond evt="onClick" delay="0">
                    <p:tgtEl>
                      <p:spTgt spid="232"/>
                    </p:tgtEl>
                  </p:cond>
                </p:stCondLst>
                <p:endSync evt="end" delay="0">
                  <p:rtn val="all"/>
                </p:endSync>
                <p:childTnLst>
                  <p:par>
                    <p:cTn id="71" fill="hold">
                      <p:stCondLst>
                        <p:cond delay="0"/>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240"/>
                                        </p:tgtEl>
                                        <p:attrNameLst>
                                          <p:attrName>style.visibility</p:attrName>
                                        </p:attrNameLst>
                                      </p:cBhvr>
                                      <p:to>
                                        <p:strVal val="hidden"/>
                                      </p:to>
                                    </p:set>
                                  </p:childTnLst>
                                </p:cTn>
                              </p:par>
                            </p:childTnLst>
                          </p:cTn>
                        </p:par>
                      </p:childTnLst>
                    </p:cTn>
                  </p:par>
                </p:childTnLst>
              </p:cTn>
              <p:nextCondLst>
                <p:cond evt="onClick" delay="0">
                  <p:tgtEl>
                    <p:spTgt spid="232"/>
                  </p:tgtEl>
                </p:cond>
              </p:nextCondLst>
            </p:seq>
            <p:seq concurrent="1" nextAc="seek">
              <p:cTn id="79" restart="whenNotActive" fill="hold" evtFilter="cancelBubble" nodeType="interactiveSeq">
                <p:stCondLst>
                  <p:cond evt="onClick" delay="0">
                    <p:tgtEl>
                      <p:spTgt spid="23"/>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08"/>
                                        </p:tgtEl>
                                        <p:attrNameLst>
                                          <p:attrName>style.visibility</p:attrName>
                                        </p:attrNameLst>
                                      </p:cBhvr>
                                      <p:to>
                                        <p:strVal val="visible"/>
                                      </p:to>
                                    </p:set>
                                  </p:childTnLst>
                                </p:cTn>
                              </p:par>
                              <p:par>
                                <p:cTn id="84" presetID="1" presetClass="entr" presetSubtype="0" fill="hold" grpId="2" nodeType="withEffect">
                                  <p:stCondLst>
                                    <p:cond delay="0"/>
                                  </p:stCondLst>
                                  <p:childTnLst>
                                    <p:set>
                                      <p:cBhvr>
                                        <p:cTn id="85" dur="1" fill="hold">
                                          <p:stCondLst>
                                            <p:cond delay="0"/>
                                          </p:stCondLst>
                                        </p:cTn>
                                        <p:tgtEl>
                                          <p:spTgt spid="33"/>
                                        </p:tgtEl>
                                        <p:attrNameLst>
                                          <p:attrName>style.visibility</p:attrName>
                                        </p:attrNameLst>
                                      </p:cBhvr>
                                      <p:to>
                                        <p:strVal val="visible"/>
                                      </p:to>
                                    </p:set>
                                  </p:childTnLst>
                                </p:cTn>
                              </p:par>
                              <p:par>
                                <p:cTn id="86" presetID="1" presetClass="entr" presetSubtype="0" fill="hold" grpId="2" nodeType="withEffect">
                                  <p:stCondLst>
                                    <p:cond delay="0"/>
                                  </p:stCondLst>
                                  <p:childTnLst>
                                    <p:set>
                                      <p:cBhvr>
                                        <p:cTn id="87" dur="1" fill="hold">
                                          <p:stCondLst>
                                            <p:cond delay="0"/>
                                          </p:stCondLst>
                                        </p:cTn>
                                        <p:tgtEl>
                                          <p:spTgt spid="34"/>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62"/>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111"/>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1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90"/>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102"/>
                                        </p:tgtEl>
                                        <p:attrNameLst>
                                          <p:attrName>style.visibility</p:attrName>
                                        </p:attrNameLst>
                                      </p:cBhvr>
                                      <p:to>
                                        <p:strVal val="visible"/>
                                      </p:to>
                                    </p:set>
                                  </p:childTnLst>
                                </p:cTn>
                              </p:par>
                            </p:childTnLst>
                          </p:cTn>
                        </p:par>
                      </p:childTnLst>
                    </p:cTn>
                  </p:par>
                </p:childTnLst>
              </p:cTn>
              <p:nextCondLst>
                <p:cond evt="onClick" delay="0">
                  <p:tgtEl>
                    <p:spTgt spid="23"/>
                  </p:tgtEl>
                </p:cond>
              </p:nextCondLst>
            </p:seq>
            <p:seq concurrent="1" nextAc="seek">
              <p:cTn id="98" restart="whenNotActive" fill="hold" evtFilter="cancelBubble" nodeType="interactiveSeq">
                <p:stCondLst>
                  <p:cond evt="onClick" delay="0">
                    <p:tgtEl>
                      <p:spTgt spid="108"/>
                    </p:tgtEl>
                  </p:cond>
                </p:stCondLst>
                <p:endSync evt="end" delay="0">
                  <p:rtn val="all"/>
                </p:endSync>
                <p:childTnLst>
                  <p:par>
                    <p:cTn id="99" fill="hold">
                      <p:stCondLst>
                        <p:cond delay="0"/>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
                                        </p:tgtEl>
                                        <p:attrNameLst>
                                          <p:attrName>style.visibility</p:attrName>
                                        </p:attrNameLst>
                                      </p:cBhvr>
                                      <p:to>
                                        <p:strVal val="visible"/>
                                      </p:to>
                                    </p:set>
                                  </p:childTnLst>
                                </p:cTn>
                              </p:par>
                            </p:childTnLst>
                          </p:cTn>
                        </p:par>
                      </p:childTnLst>
                    </p:cTn>
                  </p:par>
                </p:childTnLst>
              </p:cTn>
              <p:nextCondLst>
                <p:cond evt="onClick" delay="0">
                  <p:tgtEl>
                    <p:spTgt spid="108"/>
                  </p:tgtEl>
                </p:cond>
              </p:nextCondLst>
            </p:seq>
          </p:childTnLst>
        </p:cTn>
      </p:par>
    </p:tnLst>
    <p:bldLst>
      <p:bldP spid="34" grpId="0" animBg="1"/>
      <p:bldP spid="34" grpId="1" animBg="1"/>
      <p:bldP spid="34" grpId="2" animBg="1"/>
      <p:bldP spid="107" grpId="0" animBg="1"/>
      <p:bldP spid="33" grpId="0" animBg="1"/>
      <p:bldP spid="33" grpId="1" animBg="1"/>
      <p:bldP spid="33" grpId="2" animBg="1"/>
      <p:bldP spid="25" grpId="0" animBg="1"/>
      <p:bldP spid="232" grpId="0" animBg="1"/>
      <p:bldP spid="23" grpId="0" animBg="1"/>
      <p:bldP spid="194" grpId="0" animBg="1"/>
      <p:bldP spid="114" grpId="0" animBg="1"/>
      <p:bldP spid="114" grpId="1" animBg="1"/>
      <p:bldP spid="90" grpId="0" animBg="1"/>
      <p:bldP spid="10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ase 2 - Stress test results">
            <a:extLst>
              <a:ext uri="{FF2B5EF4-FFF2-40B4-BE49-F238E27FC236}">
                <a16:creationId xmlns:a16="http://schemas.microsoft.com/office/drawing/2014/main" id="{8946B203-D191-4A30-8A61-8EB30F973496}"/>
              </a:ext>
            </a:extLst>
          </p:cNvPr>
          <p:cNvSpPr/>
          <p:nvPr/>
        </p:nvSpPr>
        <p:spPr>
          <a:xfrm>
            <a:off x="229586" y="5269326"/>
            <a:ext cx="3576575" cy="90576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a:t>
            </a:r>
          </a:p>
        </p:txBody>
      </p:sp>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4066012" y="208419"/>
            <a:ext cx="0" cy="64605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66ED83D-4D37-4A82-8C3A-63919FF9C74A}"/>
              </a:ext>
            </a:extLst>
          </p:cNvPr>
          <p:cNvCxnSpPr>
            <a:cxnSpLocks/>
          </p:cNvCxnSpPr>
          <p:nvPr/>
        </p:nvCxnSpPr>
        <p:spPr>
          <a:xfrm>
            <a:off x="8063449" y="235851"/>
            <a:ext cx="0" cy="643312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Case 1">
            <a:extLst>
              <a:ext uri="{FF2B5EF4-FFF2-40B4-BE49-F238E27FC236}">
                <a16:creationId xmlns:a16="http://schemas.microsoft.com/office/drawing/2014/main" id="{D2B7E91F-D4C0-4BE2-8AA9-79828559D719}"/>
              </a:ext>
            </a:extLst>
          </p:cNvPr>
          <p:cNvSpPr/>
          <p:nvPr/>
        </p:nvSpPr>
        <p:spPr>
          <a:xfrm>
            <a:off x="860048"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Case 1</a:t>
            </a:r>
          </a:p>
        </p:txBody>
      </p:sp>
      <p:grpSp>
        <p:nvGrpSpPr>
          <p:cNvPr id="74" name="Case 1 info">
            <a:extLst>
              <a:ext uri="{FF2B5EF4-FFF2-40B4-BE49-F238E27FC236}">
                <a16:creationId xmlns:a16="http://schemas.microsoft.com/office/drawing/2014/main" id="{6D54D231-4A38-4599-BEC2-2C7E76616085}"/>
              </a:ext>
            </a:extLst>
          </p:cNvPr>
          <p:cNvGrpSpPr/>
          <p:nvPr/>
        </p:nvGrpSpPr>
        <p:grpSpPr>
          <a:xfrm>
            <a:off x="151890" y="737883"/>
            <a:ext cx="3823978" cy="2566549"/>
            <a:chOff x="93708" y="737883"/>
            <a:chExt cx="3612638" cy="2566549"/>
          </a:xfrm>
        </p:grpSpPr>
        <p:sp>
          <p:nvSpPr>
            <p:cNvPr id="13" name="Case 1 text">
              <a:extLst>
                <a:ext uri="{FF2B5EF4-FFF2-40B4-BE49-F238E27FC236}">
                  <a16:creationId xmlns:a16="http://schemas.microsoft.com/office/drawing/2014/main" id="{28FAF219-B0F0-4D6F-A011-8C6E213E6DC1}"/>
                </a:ext>
              </a:extLst>
            </p:cNvPr>
            <p:cNvSpPr txBox="1"/>
            <p:nvPr/>
          </p:nvSpPr>
          <p:spPr>
            <a:xfrm>
              <a:off x="93708" y="737883"/>
              <a:ext cx="3605702" cy="1815882"/>
            </a:xfrm>
            <a:prstGeom prst="rect">
              <a:avLst/>
            </a:prstGeom>
            <a:noFill/>
          </p:spPr>
          <p:txBody>
            <a:bodyPr wrap="square" rtlCol="0">
              <a:spAutoFit/>
            </a:bodyPr>
            <a:lstStyle/>
            <a:p>
              <a:r>
                <a:rPr lang="en-US" sz="1600" dirty="0"/>
                <a:t>73yo man, never smoker with HTN presents to clinic with one week of an ache and pressure just inferior to his sternum that comes on with minimal activity, usually in the evening or early in the morning.  Self resolves after about 10 minutes.  Still able to walk a few blocks with his dog. </a:t>
              </a:r>
            </a:p>
          </p:txBody>
        </p:sp>
        <p:sp>
          <p:nvSpPr>
            <p:cNvPr id="73" name="TextBox 72">
              <a:extLst>
                <a:ext uri="{FF2B5EF4-FFF2-40B4-BE49-F238E27FC236}">
                  <a16:creationId xmlns:a16="http://schemas.microsoft.com/office/drawing/2014/main" id="{787A31F3-72C4-455B-BA1D-C38704E1B0A7}"/>
                </a:ext>
              </a:extLst>
            </p:cNvPr>
            <p:cNvSpPr txBox="1"/>
            <p:nvPr/>
          </p:nvSpPr>
          <p:spPr>
            <a:xfrm>
              <a:off x="100644" y="2719657"/>
              <a:ext cx="3605702" cy="584775"/>
            </a:xfrm>
            <a:prstGeom prst="rect">
              <a:avLst/>
            </a:prstGeom>
            <a:noFill/>
          </p:spPr>
          <p:txBody>
            <a:bodyPr wrap="square" rtlCol="0">
              <a:spAutoFit/>
            </a:bodyPr>
            <a:lstStyle/>
            <a:p>
              <a:r>
                <a:rPr lang="en-US" sz="1600" dirty="0"/>
                <a:t>Total Chol 180, HDL 38, LDL 142</a:t>
              </a:r>
            </a:p>
            <a:p>
              <a:r>
                <a:rPr lang="en-US" sz="1600" dirty="0"/>
                <a:t>A1c 5.6 </a:t>
              </a:r>
            </a:p>
          </p:txBody>
        </p:sp>
      </p:grpSp>
      <p:sp>
        <p:nvSpPr>
          <p:cNvPr id="28" name="Case 1 - Pre-test button">
            <a:extLst>
              <a:ext uri="{FF2B5EF4-FFF2-40B4-BE49-F238E27FC236}">
                <a16:creationId xmlns:a16="http://schemas.microsoft.com/office/drawing/2014/main" id="{A720D17D-CBB7-401A-B329-CE14FDF24C03}"/>
              </a:ext>
            </a:extLst>
          </p:cNvPr>
          <p:cNvSpPr/>
          <p:nvPr/>
        </p:nvSpPr>
        <p:spPr>
          <a:xfrm>
            <a:off x="239676" y="3433646"/>
            <a:ext cx="3510238"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Pre-Test Probability?</a:t>
            </a:r>
          </a:p>
        </p:txBody>
      </p:sp>
      <p:sp>
        <p:nvSpPr>
          <p:cNvPr id="31" name="Case 1 - ECG button">
            <a:extLst>
              <a:ext uri="{FF2B5EF4-FFF2-40B4-BE49-F238E27FC236}">
                <a16:creationId xmlns:a16="http://schemas.microsoft.com/office/drawing/2014/main" id="{FC95995F-E4E4-4637-AB4F-6B3EE9F47547}"/>
              </a:ext>
            </a:extLst>
          </p:cNvPr>
          <p:cNvSpPr/>
          <p:nvPr/>
        </p:nvSpPr>
        <p:spPr>
          <a:xfrm>
            <a:off x="252991" y="3939413"/>
            <a:ext cx="351023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ECG</a:t>
            </a:r>
          </a:p>
        </p:txBody>
      </p:sp>
      <p:sp>
        <p:nvSpPr>
          <p:cNvPr id="29" name="Case 1 - which stress test button">
            <a:extLst>
              <a:ext uri="{FF2B5EF4-FFF2-40B4-BE49-F238E27FC236}">
                <a16:creationId xmlns:a16="http://schemas.microsoft.com/office/drawing/2014/main" id="{A878A616-CFBF-4671-8D20-04B6C3DBC423}"/>
              </a:ext>
            </a:extLst>
          </p:cNvPr>
          <p:cNvSpPr/>
          <p:nvPr/>
        </p:nvSpPr>
        <p:spPr>
          <a:xfrm>
            <a:off x="252602" y="4428843"/>
            <a:ext cx="3576312" cy="696057"/>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Which Stress Test? </a:t>
            </a:r>
          </a:p>
          <a:p>
            <a:pPr algn="ctr"/>
            <a:r>
              <a:rPr lang="en-US" dirty="0"/>
              <a:t>Exercise or Pharmacologic?</a:t>
            </a:r>
          </a:p>
        </p:txBody>
      </p:sp>
      <p:sp>
        <p:nvSpPr>
          <p:cNvPr id="30" name="Case 1 - Compensation">
            <a:extLst>
              <a:ext uri="{FF2B5EF4-FFF2-40B4-BE49-F238E27FC236}">
                <a16:creationId xmlns:a16="http://schemas.microsoft.com/office/drawing/2014/main" id="{731DFEAB-EA12-4B9E-A4F6-084CAEC77E91}"/>
              </a:ext>
            </a:extLst>
          </p:cNvPr>
          <p:cNvSpPr/>
          <p:nvPr/>
        </p:nvSpPr>
        <p:spPr>
          <a:xfrm>
            <a:off x="245108" y="6319520"/>
            <a:ext cx="3522125" cy="32222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Medical Management or LHC?</a:t>
            </a:r>
          </a:p>
        </p:txBody>
      </p:sp>
      <p:sp>
        <p:nvSpPr>
          <p:cNvPr id="33" name="Case 1 - Pre-test answer">
            <a:extLst>
              <a:ext uri="{FF2B5EF4-FFF2-40B4-BE49-F238E27FC236}">
                <a16:creationId xmlns:a16="http://schemas.microsoft.com/office/drawing/2014/main" id="{8E93BC3D-9A48-4519-87F0-DC82D5777AEB}"/>
              </a:ext>
            </a:extLst>
          </p:cNvPr>
          <p:cNvSpPr/>
          <p:nvPr/>
        </p:nvSpPr>
        <p:spPr>
          <a:xfrm>
            <a:off x="229586" y="3429000"/>
            <a:ext cx="3555325"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Intermediate (33%)</a:t>
            </a:r>
          </a:p>
        </p:txBody>
      </p:sp>
      <p:sp>
        <p:nvSpPr>
          <p:cNvPr id="34" name="Case 1 - ECG image">
            <a:extLst>
              <a:ext uri="{FF2B5EF4-FFF2-40B4-BE49-F238E27FC236}">
                <a16:creationId xmlns:a16="http://schemas.microsoft.com/office/drawing/2014/main" id="{78D59F4F-3EF0-4B50-B0DE-BD1DB0BEC628}"/>
              </a:ext>
            </a:extLst>
          </p:cNvPr>
          <p:cNvSpPr/>
          <p:nvPr/>
        </p:nvSpPr>
        <p:spPr>
          <a:xfrm>
            <a:off x="233100" y="3938270"/>
            <a:ext cx="3576575" cy="331630"/>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Normal Sinus Rhythm</a:t>
            </a:r>
          </a:p>
        </p:txBody>
      </p:sp>
      <p:sp>
        <p:nvSpPr>
          <p:cNvPr id="35" name="Case 1 - Which test answer">
            <a:extLst>
              <a:ext uri="{FF2B5EF4-FFF2-40B4-BE49-F238E27FC236}">
                <a16:creationId xmlns:a16="http://schemas.microsoft.com/office/drawing/2014/main" id="{DB2F2D18-103A-4622-B071-CE4836C07EAE}"/>
              </a:ext>
            </a:extLst>
          </p:cNvPr>
          <p:cNvSpPr/>
          <p:nvPr/>
        </p:nvSpPr>
        <p:spPr>
          <a:xfrm>
            <a:off x="239676" y="4428842"/>
            <a:ext cx="3591684" cy="696057"/>
          </a:xfrm>
          <a:prstGeom prst="roundRect">
            <a:avLst>
              <a:gd name="adj" fmla="val 1217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ECG Exercise Treadmill Test</a:t>
            </a:r>
          </a:p>
        </p:txBody>
      </p:sp>
      <p:sp>
        <p:nvSpPr>
          <p:cNvPr id="36" name="Case 1 - Management answer">
            <a:extLst>
              <a:ext uri="{FF2B5EF4-FFF2-40B4-BE49-F238E27FC236}">
                <a16:creationId xmlns:a16="http://schemas.microsoft.com/office/drawing/2014/main" id="{F597A406-81A5-40AC-9888-C00B46C26B0C}"/>
              </a:ext>
            </a:extLst>
          </p:cNvPr>
          <p:cNvSpPr/>
          <p:nvPr/>
        </p:nvSpPr>
        <p:spPr>
          <a:xfrm>
            <a:off x="223521" y="6319519"/>
            <a:ext cx="3563603" cy="32222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Left Heart Cath</a:t>
            </a:r>
          </a:p>
        </p:txBody>
      </p:sp>
      <p:sp>
        <p:nvSpPr>
          <p:cNvPr id="91" name="Case 1 - Test results">
            <a:extLst>
              <a:ext uri="{FF2B5EF4-FFF2-40B4-BE49-F238E27FC236}">
                <a16:creationId xmlns:a16="http://schemas.microsoft.com/office/drawing/2014/main" id="{9088D581-1DAD-428F-A9E7-AF02AC247B3B}"/>
              </a:ext>
            </a:extLst>
          </p:cNvPr>
          <p:cNvSpPr/>
          <p:nvPr/>
        </p:nvSpPr>
        <p:spPr>
          <a:xfrm>
            <a:off x="211778" y="5259737"/>
            <a:ext cx="3621351" cy="915357"/>
          </a:xfrm>
          <a:prstGeom prst="round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err="1"/>
              <a:t>Nml</a:t>
            </a:r>
            <a:r>
              <a:rPr lang="en-US" sz="1400" dirty="0"/>
              <a:t> baseline ECG, resting BP 130/80, achieved 10 METS and 80% max HR, experiences chest tightness and test discontinued due to hypotension 90/50</a:t>
            </a:r>
          </a:p>
        </p:txBody>
      </p:sp>
      <p:grpSp>
        <p:nvGrpSpPr>
          <p:cNvPr id="38" name="Clikc here">
            <a:extLst>
              <a:ext uri="{FF2B5EF4-FFF2-40B4-BE49-F238E27FC236}">
                <a16:creationId xmlns:a16="http://schemas.microsoft.com/office/drawing/2014/main" id="{EE392D1A-47B9-4732-A57D-738141BA5755}"/>
              </a:ext>
            </a:extLst>
          </p:cNvPr>
          <p:cNvGrpSpPr/>
          <p:nvPr/>
        </p:nvGrpSpPr>
        <p:grpSpPr>
          <a:xfrm>
            <a:off x="338774" y="6222"/>
            <a:ext cx="521274" cy="347352"/>
            <a:chOff x="3240011" y="701518"/>
            <a:chExt cx="727201" cy="347352"/>
          </a:xfrm>
        </p:grpSpPr>
        <p:cxnSp>
          <p:nvCxnSpPr>
            <p:cNvPr id="39" name="Straight Arrow Connector 38">
              <a:extLst>
                <a:ext uri="{FF2B5EF4-FFF2-40B4-BE49-F238E27FC236}">
                  <a16:creationId xmlns:a16="http://schemas.microsoft.com/office/drawing/2014/main" id="{3A0DE678-CCE9-41CC-A839-169C4BB06882}"/>
                </a:ext>
              </a:extLst>
            </p:cNvPr>
            <p:cNvCxnSpPr>
              <a:cxnSpLocks/>
            </p:cNvCxnSpPr>
            <p:nvPr/>
          </p:nvCxnSpPr>
          <p:spPr>
            <a:xfrm>
              <a:off x="3708400" y="901024"/>
              <a:ext cx="223520" cy="147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1E16B131-A24F-4E4C-A55C-A110E5E467D2}"/>
                </a:ext>
              </a:extLst>
            </p:cNvPr>
            <p:cNvSpPr txBox="1"/>
            <p:nvPr/>
          </p:nvSpPr>
          <p:spPr>
            <a:xfrm>
              <a:off x="3240011" y="701518"/>
              <a:ext cx="727201" cy="276999"/>
            </a:xfrm>
            <a:prstGeom prst="rect">
              <a:avLst/>
            </a:prstGeom>
            <a:noFill/>
          </p:spPr>
          <p:txBody>
            <a:bodyPr wrap="square" rtlCol="0">
              <a:spAutoFit/>
            </a:bodyPr>
            <a:lstStyle/>
            <a:p>
              <a:pPr algn="ctr"/>
              <a:r>
                <a:rPr lang="en-US" altLang="zh-CN" sz="1200"/>
                <a:t>Click</a:t>
              </a:r>
              <a:endParaRPr lang="en-US" sz="1200"/>
            </a:p>
          </p:txBody>
        </p:sp>
      </p:grpSp>
      <p:sp>
        <p:nvSpPr>
          <p:cNvPr id="128" name="Case 2 - Stress test results">
            <a:extLst>
              <a:ext uri="{FF2B5EF4-FFF2-40B4-BE49-F238E27FC236}">
                <a16:creationId xmlns:a16="http://schemas.microsoft.com/office/drawing/2014/main" id="{231F13FA-96C7-48DC-9C55-2FA82E7C4954}"/>
              </a:ext>
            </a:extLst>
          </p:cNvPr>
          <p:cNvSpPr/>
          <p:nvPr/>
        </p:nvSpPr>
        <p:spPr>
          <a:xfrm>
            <a:off x="4224140" y="5269326"/>
            <a:ext cx="3576575" cy="90576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a:t>
            </a:r>
          </a:p>
        </p:txBody>
      </p:sp>
      <p:sp>
        <p:nvSpPr>
          <p:cNvPr id="129" name="Case 2">
            <a:extLst>
              <a:ext uri="{FF2B5EF4-FFF2-40B4-BE49-F238E27FC236}">
                <a16:creationId xmlns:a16="http://schemas.microsoft.com/office/drawing/2014/main" id="{41FEB336-49CA-4EC0-AC0A-587C0CD09C68}"/>
              </a:ext>
            </a:extLst>
          </p:cNvPr>
          <p:cNvSpPr/>
          <p:nvPr/>
        </p:nvSpPr>
        <p:spPr>
          <a:xfrm>
            <a:off x="4854602"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2</a:t>
            </a:r>
          </a:p>
        </p:txBody>
      </p:sp>
      <p:grpSp>
        <p:nvGrpSpPr>
          <p:cNvPr id="130" name="Case 2 info">
            <a:extLst>
              <a:ext uri="{FF2B5EF4-FFF2-40B4-BE49-F238E27FC236}">
                <a16:creationId xmlns:a16="http://schemas.microsoft.com/office/drawing/2014/main" id="{86F3870D-04C5-4C63-89D0-9D372E87140F}"/>
              </a:ext>
            </a:extLst>
          </p:cNvPr>
          <p:cNvGrpSpPr/>
          <p:nvPr/>
        </p:nvGrpSpPr>
        <p:grpSpPr>
          <a:xfrm>
            <a:off x="4147914" y="736018"/>
            <a:ext cx="3830752" cy="2597442"/>
            <a:chOff x="95096" y="736018"/>
            <a:chExt cx="3619038" cy="2597442"/>
          </a:xfrm>
        </p:grpSpPr>
        <p:sp>
          <p:nvSpPr>
            <p:cNvPr id="131" name="Case 1 text">
              <a:extLst>
                <a:ext uri="{FF2B5EF4-FFF2-40B4-BE49-F238E27FC236}">
                  <a16:creationId xmlns:a16="http://schemas.microsoft.com/office/drawing/2014/main" id="{83105C6D-94DC-444D-A80F-80E89A1ED833}"/>
                </a:ext>
              </a:extLst>
            </p:cNvPr>
            <p:cNvSpPr txBox="1"/>
            <p:nvPr/>
          </p:nvSpPr>
          <p:spPr>
            <a:xfrm>
              <a:off x="95096" y="736018"/>
              <a:ext cx="3619038" cy="2062103"/>
            </a:xfrm>
            <a:prstGeom prst="rect">
              <a:avLst/>
            </a:prstGeom>
            <a:noFill/>
          </p:spPr>
          <p:txBody>
            <a:bodyPr wrap="square" rtlCol="0">
              <a:spAutoFit/>
            </a:bodyPr>
            <a:lstStyle/>
            <a:p>
              <a:r>
                <a:rPr lang="en-US" sz="1600" dirty="0"/>
                <a:t>45yo woman, remote smoker with well controlled DM presents to clinic with two months of sharp intermittent central chest pain every couple of days while working around the house or in the grocery store and goes away on its own with rest.  She cannot climb stairs or walk more than a block due to her bilateral knee OA. </a:t>
              </a:r>
            </a:p>
          </p:txBody>
        </p:sp>
        <p:sp>
          <p:nvSpPr>
            <p:cNvPr id="132" name="TextBox 131">
              <a:extLst>
                <a:ext uri="{FF2B5EF4-FFF2-40B4-BE49-F238E27FC236}">
                  <a16:creationId xmlns:a16="http://schemas.microsoft.com/office/drawing/2014/main" id="{B83B674C-8C1C-4902-A4C5-5CE4A5F52E1F}"/>
                </a:ext>
              </a:extLst>
            </p:cNvPr>
            <p:cNvSpPr txBox="1"/>
            <p:nvPr/>
          </p:nvSpPr>
          <p:spPr>
            <a:xfrm>
              <a:off x="167109" y="2748685"/>
              <a:ext cx="3539236" cy="584775"/>
            </a:xfrm>
            <a:prstGeom prst="rect">
              <a:avLst/>
            </a:prstGeom>
            <a:noFill/>
          </p:spPr>
          <p:txBody>
            <a:bodyPr wrap="square" rtlCol="0">
              <a:spAutoFit/>
            </a:bodyPr>
            <a:lstStyle/>
            <a:p>
              <a:r>
                <a:rPr lang="en-US" sz="1600" dirty="0"/>
                <a:t>Total Chol 180, HDL 38, LDL 142</a:t>
              </a:r>
            </a:p>
            <a:p>
              <a:r>
                <a:rPr lang="en-US" sz="1600" dirty="0"/>
                <a:t>A1c 7.2</a:t>
              </a:r>
            </a:p>
          </p:txBody>
        </p:sp>
      </p:grpSp>
      <p:sp>
        <p:nvSpPr>
          <p:cNvPr id="133" name="Case 2 - Pre-test button">
            <a:extLst>
              <a:ext uri="{FF2B5EF4-FFF2-40B4-BE49-F238E27FC236}">
                <a16:creationId xmlns:a16="http://schemas.microsoft.com/office/drawing/2014/main" id="{08D5AB9A-8840-47CD-997B-079149076D06}"/>
              </a:ext>
            </a:extLst>
          </p:cNvPr>
          <p:cNvSpPr/>
          <p:nvPr/>
        </p:nvSpPr>
        <p:spPr>
          <a:xfrm>
            <a:off x="4234230" y="3433646"/>
            <a:ext cx="3510238"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Pre-Test Probability?</a:t>
            </a:r>
          </a:p>
        </p:txBody>
      </p:sp>
      <p:sp>
        <p:nvSpPr>
          <p:cNvPr id="134" name="Case 2 - ECG button">
            <a:extLst>
              <a:ext uri="{FF2B5EF4-FFF2-40B4-BE49-F238E27FC236}">
                <a16:creationId xmlns:a16="http://schemas.microsoft.com/office/drawing/2014/main" id="{EBA4F48B-F33F-4247-834E-FC318AAB878F}"/>
              </a:ext>
            </a:extLst>
          </p:cNvPr>
          <p:cNvSpPr/>
          <p:nvPr/>
        </p:nvSpPr>
        <p:spPr>
          <a:xfrm>
            <a:off x="4247545" y="3939413"/>
            <a:ext cx="351023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ECG</a:t>
            </a:r>
          </a:p>
        </p:txBody>
      </p:sp>
      <p:sp>
        <p:nvSpPr>
          <p:cNvPr id="135" name="Case 2 - which stress test button">
            <a:extLst>
              <a:ext uri="{FF2B5EF4-FFF2-40B4-BE49-F238E27FC236}">
                <a16:creationId xmlns:a16="http://schemas.microsoft.com/office/drawing/2014/main" id="{F1E63992-1398-4E3A-8435-50FCB3F16178}"/>
              </a:ext>
            </a:extLst>
          </p:cNvPr>
          <p:cNvSpPr/>
          <p:nvPr/>
        </p:nvSpPr>
        <p:spPr>
          <a:xfrm>
            <a:off x="4247156" y="4428843"/>
            <a:ext cx="3576312" cy="696057"/>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Which Stress Test?</a:t>
            </a:r>
          </a:p>
          <a:p>
            <a:pPr algn="ctr"/>
            <a:r>
              <a:rPr lang="en-US" dirty="0"/>
              <a:t>Exercise or Pharmacologic?</a:t>
            </a:r>
          </a:p>
        </p:txBody>
      </p:sp>
      <p:sp>
        <p:nvSpPr>
          <p:cNvPr id="136" name="Case 2 - Compensation">
            <a:extLst>
              <a:ext uri="{FF2B5EF4-FFF2-40B4-BE49-F238E27FC236}">
                <a16:creationId xmlns:a16="http://schemas.microsoft.com/office/drawing/2014/main" id="{13385AE5-2B5A-412C-9E16-92F7B345B541}"/>
              </a:ext>
            </a:extLst>
          </p:cNvPr>
          <p:cNvSpPr/>
          <p:nvPr/>
        </p:nvSpPr>
        <p:spPr>
          <a:xfrm>
            <a:off x="4239662" y="6319520"/>
            <a:ext cx="3522125" cy="32222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Medical Management or LHC?</a:t>
            </a:r>
          </a:p>
        </p:txBody>
      </p:sp>
      <p:sp>
        <p:nvSpPr>
          <p:cNvPr id="137" name="Case 2 - Pre-test answer">
            <a:extLst>
              <a:ext uri="{FF2B5EF4-FFF2-40B4-BE49-F238E27FC236}">
                <a16:creationId xmlns:a16="http://schemas.microsoft.com/office/drawing/2014/main" id="{CFE9643E-4E1C-4106-88E9-AE7C30BF2726}"/>
              </a:ext>
            </a:extLst>
          </p:cNvPr>
          <p:cNvSpPr/>
          <p:nvPr/>
        </p:nvSpPr>
        <p:spPr>
          <a:xfrm>
            <a:off x="4224140" y="3429000"/>
            <a:ext cx="3555325"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Low (5%)</a:t>
            </a:r>
          </a:p>
        </p:txBody>
      </p:sp>
      <p:sp>
        <p:nvSpPr>
          <p:cNvPr id="138" name="Case 2 - ECG image">
            <a:extLst>
              <a:ext uri="{FF2B5EF4-FFF2-40B4-BE49-F238E27FC236}">
                <a16:creationId xmlns:a16="http://schemas.microsoft.com/office/drawing/2014/main" id="{7A073A5F-8988-455D-81A5-C527520DE1D3}"/>
              </a:ext>
            </a:extLst>
          </p:cNvPr>
          <p:cNvSpPr/>
          <p:nvPr/>
        </p:nvSpPr>
        <p:spPr>
          <a:xfrm>
            <a:off x="4227654" y="3938270"/>
            <a:ext cx="3576575" cy="331630"/>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Normal Sinus Rhythm</a:t>
            </a:r>
          </a:p>
        </p:txBody>
      </p:sp>
      <p:sp>
        <p:nvSpPr>
          <p:cNvPr id="139" name="Case 2 - Which test answer">
            <a:extLst>
              <a:ext uri="{FF2B5EF4-FFF2-40B4-BE49-F238E27FC236}">
                <a16:creationId xmlns:a16="http://schemas.microsoft.com/office/drawing/2014/main" id="{A6D4523C-271F-4BBF-8419-C2FFFB155074}"/>
              </a:ext>
            </a:extLst>
          </p:cNvPr>
          <p:cNvSpPr/>
          <p:nvPr/>
        </p:nvSpPr>
        <p:spPr>
          <a:xfrm>
            <a:off x="4234230" y="4428842"/>
            <a:ext cx="3591684" cy="696057"/>
          </a:xfrm>
          <a:prstGeom prst="roundRect">
            <a:avLst>
              <a:gd name="adj" fmla="val 1217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No stress test vs. </a:t>
            </a:r>
          </a:p>
          <a:p>
            <a:pPr algn="ctr"/>
            <a:r>
              <a:rPr lang="en-US" dirty="0"/>
              <a:t>pharm (dipyridamole) MPI</a:t>
            </a:r>
          </a:p>
        </p:txBody>
      </p:sp>
      <p:sp>
        <p:nvSpPr>
          <p:cNvPr id="140" name="Case 2 - Management answer">
            <a:extLst>
              <a:ext uri="{FF2B5EF4-FFF2-40B4-BE49-F238E27FC236}">
                <a16:creationId xmlns:a16="http://schemas.microsoft.com/office/drawing/2014/main" id="{F8EC5410-24D8-433E-AA8C-B3E0D80477F9}"/>
              </a:ext>
            </a:extLst>
          </p:cNvPr>
          <p:cNvSpPr/>
          <p:nvPr/>
        </p:nvSpPr>
        <p:spPr>
          <a:xfrm>
            <a:off x="4218075" y="6319519"/>
            <a:ext cx="3563603" cy="32222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No additional treatment</a:t>
            </a:r>
          </a:p>
        </p:txBody>
      </p:sp>
      <p:sp>
        <p:nvSpPr>
          <p:cNvPr id="141" name="Case 2 - Test results">
            <a:extLst>
              <a:ext uri="{FF2B5EF4-FFF2-40B4-BE49-F238E27FC236}">
                <a16:creationId xmlns:a16="http://schemas.microsoft.com/office/drawing/2014/main" id="{D4435F36-9602-4885-B3E5-1539C1970D5B}"/>
              </a:ext>
            </a:extLst>
          </p:cNvPr>
          <p:cNvSpPr/>
          <p:nvPr/>
        </p:nvSpPr>
        <p:spPr>
          <a:xfrm>
            <a:off x="4206332" y="5259737"/>
            <a:ext cx="3621351" cy="9153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Normal resting MPI, indeterminant septal changes during stress with out cp, sob, or hemodynamic changes.</a:t>
            </a:r>
          </a:p>
        </p:txBody>
      </p:sp>
      <p:sp>
        <p:nvSpPr>
          <p:cNvPr id="145" name="Case 2 - Stress test results">
            <a:extLst>
              <a:ext uri="{FF2B5EF4-FFF2-40B4-BE49-F238E27FC236}">
                <a16:creationId xmlns:a16="http://schemas.microsoft.com/office/drawing/2014/main" id="{DB17134F-CAF7-4259-BCBB-00B97B193BBF}"/>
              </a:ext>
            </a:extLst>
          </p:cNvPr>
          <p:cNvSpPr/>
          <p:nvPr/>
        </p:nvSpPr>
        <p:spPr>
          <a:xfrm>
            <a:off x="8270000" y="5271854"/>
            <a:ext cx="3576575" cy="90576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a:t>
            </a:r>
          </a:p>
        </p:txBody>
      </p:sp>
      <p:sp>
        <p:nvSpPr>
          <p:cNvPr id="146" name="Case 1">
            <a:extLst>
              <a:ext uri="{FF2B5EF4-FFF2-40B4-BE49-F238E27FC236}">
                <a16:creationId xmlns:a16="http://schemas.microsoft.com/office/drawing/2014/main" id="{BCA0C0CD-F8E1-4146-83B0-B64E06FE4D1F}"/>
              </a:ext>
            </a:extLst>
          </p:cNvPr>
          <p:cNvSpPr/>
          <p:nvPr/>
        </p:nvSpPr>
        <p:spPr>
          <a:xfrm>
            <a:off x="8900462" y="167057"/>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3</a:t>
            </a:r>
          </a:p>
        </p:txBody>
      </p:sp>
      <p:grpSp>
        <p:nvGrpSpPr>
          <p:cNvPr id="147" name="Case 1 info">
            <a:extLst>
              <a:ext uri="{FF2B5EF4-FFF2-40B4-BE49-F238E27FC236}">
                <a16:creationId xmlns:a16="http://schemas.microsoft.com/office/drawing/2014/main" id="{0069D94A-AF6E-4747-BA1D-07A59E5C9B5C}"/>
              </a:ext>
            </a:extLst>
          </p:cNvPr>
          <p:cNvGrpSpPr/>
          <p:nvPr/>
        </p:nvGrpSpPr>
        <p:grpSpPr>
          <a:xfrm>
            <a:off x="8270000" y="738348"/>
            <a:ext cx="3754524" cy="2597640"/>
            <a:chOff x="167109" y="735820"/>
            <a:chExt cx="3547023" cy="2597640"/>
          </a:xfrm>
        </p:grpSpPr>
        <p:sp>
          <p:nvSpPr>
            <p:cNvPr id="148" name="Case 1 text">
              <a:extLst>
                <a:ext uri="{FF2B5EF4-FFF2-40B4-BE49-F238E27FC236}">
                  <a16:creationId xmlns:a16="http://schemas.microsoft.com/office/drawing/2014/main" id="{E6A604B5-B4FA-4AC4-9DD7-10C3ABA8A1DE}"/>
                </a:ext>
              </a:extLst>
            </p:cNvPr>
            <p:cNvSpPr txBox="1"/>
            <p:nvPr/>
          </p:nvSpPr>
          <p:spPr>
            <a:xfrm>
              <a:off x="170428" y="735820"/>
              <a:ext cx="3543704" cy="1323439"/>
            </a:xfrm>
            <a:prstGeom prst="rect">
              <a:avLst/>
            </a:prstGeom>
            <a:noFill/>
          </p:spPr>
          <p:txBody>
            <a:bodyPr wrap="square" rtlCol="0">
              <a:spAutoFit/>
            </a:bodyPr>
            <a:lstStyle/>
            <a:p>
              <a:r>
                <a:rPr lang="en-US" sz="1600" dirty="0"/>
                <a:t>75yo man, active smoker with HTN and COPD (GOLD 3), presents to clinic with one week of chest tightness when gardening or bringing in the groceries that goes away after a few minutes of rest.  </a:t>
              </a:r>
            </a:p>
          </p:txBody>
        </p:sp>
        <p:sp>
          <p:nvSpPr>
            <p:cNvPr id="149" name="TextBox 148">
              <a:extLst>
                <a:ext uri="{FF2B5EF4-FFF2-40B4-BE49-F238E27FC236}">
                  <a16:creationId xmlns:a16="http://schemas.microsoft.com/office/drawing/2014/main" id="{0D925400-EEF0-40E5-BBD9-CA09BD9A8141}"/>
                </a:ext>
              </a:extLst>
            </p:cNvPr>
            <p:cNvSpPr txBox="1"/>
            <p:nvPr/>
          </p:nvSpPr>
          <p:spPr>
            <a:xfrm>
              <a:off x="167109" y="2748685"/>
              <a:ext cx="3539236" cy="584775"/>
            </a:xfrm>
            <a:prstGeom prst="rect">
              <a:avLst/>
            </a:prstGeom>
            <a:noFill/>
          </p:spPr>
          <p:txBody>
            <a:bodyPr wrap="square" rtlCol="0">
              <a:spAutoFit/>
            </a:bodyPr>
            <a:lstStyle/>
            <a:p>
              <a:r>
                <a:rPr lang="en-US" sz="1600" dirty="0"/>
                <a:t>Total Chol 180, HDL 38, LDL 142 – on statin</a:t>
              </a:r>
            </a:p>
            <a:p>
              <a:r>
                <a:rPr lang="en-US" sz="1600" dirty="0"/>
                <a:t>A1c 5.6 </a:t>
              </a:r>
            </a:p>
          </p:txBody>
        </p:sp>
      </p:grpSp>
      <p:sp>
        <p:nvSpPr>
          <p:cNvPr id="150" name="Case 1 - Pre-test button">
            <a:extLst>
              <a:ext uri="{FF2B5EF4-FFF2-40B4-BE49-F238E27FC236}">
                <a16:creationId xmlns:a16="http://schemas.microsoft.com/office/drawing/2014/main" id="{88B76D7F-42CA-4B37-895A-218D2D12A20E}"/>
              </a:ext>
            </a:extLst>
          </p:cNvPr>
          <p:cNvSpPr/>
          <p:nvPr/>
        </p:nvSpPr>
        <p:spPr>
          <a:xfrm>
            <a:off x="8280090" y="3436174"/>
            <a:ext cx="3510238"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Pre-Test Probability?</a:t>
            </a:r>
          </a:p>
        </p:txBody>
      </p:sp>
      <p:sp>
        <p:nvSpPr>
          <p:cNvPr id="151" name="Case 1 - ECG button">
            <a:extLst>
              <a:ext uri="{FF2B5EF4-FFF2-40B4-BE49-F238E27FC236}">
                <a16:creationId xmlns:a16="http://schemas.microsoft.com/office/drawing/2014/main" id="{0FCE24A2-4723-4073-9D5E-87FF24937D36}"/>
              </a:ext>
            </a:extLst>
          </p:cNvPr>
          <p:cNvSpPr/>
          <p:nvPr/>
        </p:nvSpPr>
        <p:spPr>
          <a:xfrm>
            <a:off x="8293405" y="3941941"/>
            <a:ext cx="351023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ECG</a:t>
            </a:r>
          </a:p>
        </p:txBody>
      </p:sp>
      <p:sp>
        <p:nvSpPr>
          <p:cNvPr id="152" name="Case 1 - which stress test button">
            <a:extLst>
              <a:ext uri="{FF2B5EF4-FFF2-40B4-BE49-F238E27FC236}">
                <a16:creationId xmlns:a16="http://schemas.microsoft.com/office/drawing/2014/main" id="{A30BD7DA-8573-4A29-9E1E-27F0F387E241}"/>
              </a:ext>
            </a:extLst>
          </p:cNvPr>
          <p:cNvSpPr/>
          <p:nvPr/>
        </p:nvSpPr>
        <p:spPr>
          <a:xfrm>
            <a:off x="8293016" y="4431371"/>
            <a:ext cx="3576312" cy="696057"/>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Which Stress Test?</a:t>
            </a:r>
          </a:p>
          <a:p>
            <a:pPr algn="ctr"/>
            <a:r>
              <a:rPr lang="en-US" dirty="0"/>
              <a:t>Exercise or Pharmacologic?</a:t>
            </a:r>
          </a:p>
        </p:txBody>
      </p:sp>
      <p:sp>
        <p:nvSpPr>
          <p:cNvPr id="153" name="Case 1 - Compensation">
            <a:extLst>
              <a:ext uri="{FF2B5EF4-FFF2-40B4-BE49-F238E27FC236}">
                <a16:creationId xmlns:a16="http://schemas.microsoft.com/office/drawing/2014/main" id="{2322AD7C-4BA8-4048-AC97-1D43C5203AFE}"/>
              </a:ext>
            </a:extLst>
          </p:cNvPr>
          <p:cNvSpPr/>
          <p:nvPr/>
        </p:nvSpPr>
        <p:spPr>
          <a:xfrm>
            <a:off x="8285522" y="6322048"/>
            <a:ext cx="3522125" cy="32222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Medical Management or LHC?</a:t>
            </a:r>
          </a:p>
        </p:txBody>
      </p:sp>
      <p:sp>
        <p:nvSpPr>
          <p:cNvPr id="154" name="Case 1 - Pre-test answer">
            <a:extLst>
              <a:ext uri="{FF2B5EF4-FFF2-40B4-BE49-F238E27FC236}">
                <a16:creationId xmlns:a16="http://schemas.microsoft.com/office/drawing/2014/main" id="{FA2230BE-0292-43FF-A91B-8E54B5D6D5CA}"/>
              </a:ext>
            </a:extLst>
          </p:cNvPr>
          <p:cNvSpPr/>
          <p:nvPr/>
        </p:nvSpPr>
        <p:spPr>
          <a:xfrm>
            <a:off x="8270000" y="3431528"/>
            <a:ext cx="3555325"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High (79%)</a:t>
            </a:r>
          </a:p>
        </p:txBody>
      </p:sp>
      <p:sp>
        <p:nvSpPr>
          <p:cNvPr id="155" name="Case 1 - ECG image">
            <a:extLst>
              <a:ext uri="{FF2B5EF4-FFF2-40B4-BE49-F238E27FC236}">
                <a16:creationId xmlns:a16="http://schemas.microsoft.com/office/drawing/2014/main" id="{0EC0B138-4A26-4769-AF28-992F229F32E5}"/>
              </a:ext>
            </a:extLst>
          </p:cNvPr>
          <p:cNvSpPr/>
          <p:nvPr/>
        </p:nvSpPr>
        <p:spPr>
          <a:xfrm>
            <a:off x="8273514" y="3940798"/>
            <a:ext cx="3576575" cy="331630"/>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LVH, 1+mm ST dep in V4-6 </a:t>
            </a:r>
          </a:p>
        </p:txBody>
      </p:sp>
      <p:sp>
        <p:nvSpPr>
          <p:cNvPr id="156" name="Case 1 - Which test answer">
            <a:extLst>
              <a:ext uri="{FF2B5EF4-FFF2-40B4-BE49-F238E27FC236}">
                <a16:creationId xmlns:a16="http://schemas.microsoft.com/office/drawing/2014/main" id="{26CFAD94-462F-41D2-AB60-F86C0FC09520}"/>
              </a:ext>
            </a:extLst>
          </p:cNvPr>
          <p:cNvSpPr/>
          <p:nvPr/>
        </p:nvSpPr>
        <p:spPr>
          <a:xfrm>
            <a:off x="8285330" y="4427942"/>
            <a:ext cx="3591684" cy="696057"/>
          </a:xfrm>
          <a:prstGeom prst="roundRect">
            <a:avLst>
              <a:gd name="adj" fmla="val 1217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Stress with imaging</a:t>
            </a:r>
          </a:p>
        </p:txBody>
      </p:sp>
      <p:sp>
        <p:nvSpPr>
          <p:cNvPr id="157" name="Case 1 - Management answer">
            <a:extLst>
              <a:ext uri="{FF2B5EF4-FFF2-40B4-BE49-F238E27FC236}">
                <a16:creationId xmlns:a16="http://schemas.microsoft.com/office/drawing/2014/main" id="{717D2317-371D-4AF8-B59D-AEE8B7202E9F}"/>
              </a:ext>
            </a:extLst>
          </p:cNvPr>
          <p:cNvSpPr/>
          <p:nvPr/>
        </p:nvSpPr>
        <p:spPr>
          <a:xfrm>
            <a:off x="8263935" y="6322047"/>
            <a:ext cx="3563603" cy="32222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Empiric medical </a:t>
            </a:r>
            <a:r>
              <a:rPr lang="en-US" sz="1600" dirty="0" err="1"/>
              <a:t>mgmt</a:t>
            </a:r>
            <a:r>
              <a:rPr lang="en-US" sz="1600" dirty="0"/>
              <a:t> for stable CAD</a:t>
            </a:r>
          </a:p>
        </p:txBody>
      </p:sp>
      <p:sp>
        <p:nvSpPr>
          <p:cNvPr id="158" name="Case 1 - Test results">
            <a:extLst>
              <a:ext uri="{FF2B5EF4-FFF2-40B4-BE49-F238E27FC236}">
                <a16:creationId xmlns:a16="http://schemas.microsoft.com/office/drawing/2014/main" id="{2D7DA197-3092-4A44-84A7-52D48BE1FDFA}"/>
              </a:ext>
            </a:extLst>
          </p:cNvPr>
          <p:cNvSpPr/>
          <p:nvPr/>
        </p:nvSpPr>
        <p:spPr>
          <a:xfrm>
            <a:off x="8252192" y="5262265"/>
            <a:ext cx="3621351" cy="9153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Concentric LVH and </a:t>
            </a:r>
            <a:r>
              <a:rPr lang="en-US" sz="1400" dirty="0"/>
              <a:t>grade I diastolic dysfunction. Mild apical hypokinesis, LV EF 55% at rest.  Small area of inducible lateral wall ischemia and EF of 55% during stress.  </a:t>
            </a:r>
          </a:p>
        </p:txBody>
      </p:sp>
      <p:sp>
        <p:nvSpPr>
          <p:cNvPr id="2" name="Arrow: Right 1">
            <a:hlinkClick r:id="rId2" action="ppaction://hlinksldjump"/>
            <a:extLst>
              <a:ext uri="{FF2B5EF4-FFF2-40B4-BE49-F238E27FC236}">
                <a16:creationId xmlns:a16="http://schemas.microsoft.com/office/drawing/2014/main" id="{ECBE06E2-8E65-4893-97F3-E3CFCC126F68}"/>
              </a:ext>
            </a:extLst>
          </p:cNvPr>
          <p:cNvSpPr/>
          <p:nvPr/>
        </p:nvSpPr>
        <p:spPr>
          <a:xfrm>
            <a:off x="11517474" y="205728"/>
            <a:ext cx="507051" cy="371587"/>
          </a:xfrm>
          <a:prstGeom prst="rightArrow">
            <a:avLst/>
          </a:prstGeom>
          <a:solidFill>
            <a:schemeClr val="bg1"/>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22042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8"/>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19" restart="whenNotActive" fill="hold" evtFilter="cancelBubble" nodeType="interactiveSeq">
                <p:stCondLst>
                  <p:cond evt="onClick" delay="0">
                    <p:tgtEl>
                      <p:spTgt spid="28"/>
                    </p:tgtEl>
                  </p:cond>
                </p:stCondLst>
                <p:endSync evt="end" delay="0">
                  <p:rtn val="all"/>
                </p:endSync>
                <p:childTnLst>
                  <p:par>
                    <p:cTn id="20" fill="hold">
                      <p:stCondLst>
                        <p:cond delay="0"/>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24" restart="whenNotActive" fill="hold" evtFilter="cancelBubble" nodeType="interactiveSeq">
                <p:stCondLst>
                  <p:cond evt="onClick" delay="0">
                    <p:tgtEl>
                      <p:spTgt spid="31"/>
                    </p:tgtEl>
                  </p:cond>
                </p:stCondLst>
                <p:endSync evt="end" delay="0">
                  <p:rtn val="all"/>
                </p:endSync>
                <p:childTnLst>
                  <p:par>
                    <p:cTn id="25" fill="hold">
                      <p:stCondLst>
                        <p:cond delay="0"/>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29" restart="whenNotActive" fill="hold" evtFilter="cancelBubble" nodeType="interactiveSeq">
                <p:stCondLst>
                  <p:cond evt="onClick" delay="0">
                    <p:tgtEl>
                      <p:spTgt spid="29"/>
                    </p:tgtEl>
                  </p:cond>
                </p:stCondLst>
                <p:endSync evt="end" delay="0">
                  <p:rtn val="all"/>
                </p:endSync>
                <p:childTnLst>
                  <p:par>
                    <p:cTn id="30" fill="hold">
                      <p:stCondLst>
                        <p:cond delay="0"/>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childTnLst>
                                </p:cTn>
                              </p:par>
                            </p:childTnLst>
                          </p:cTn>
                        </p:par>
                      </p:childTnLst>
                    </p:cTn>
                  </p:par>
                </p:childTnLst>
              </p:cTn>
              <p:nextCondLst>
                <p:cond evt="onClick" delay="0">
                  <p:tgtEl>
                    <p:spTgt spid="29"/>
                  </p:tgtEl>
                </p:cond>
              </p:nextCondLst>
            </p:seq>
            <p:seq concurrent="1" nextAc="seek">
              <p:cTn id="34" restart="whenNotActive" fill="hold" evtFilter="cancelBubble" nodeType="interactiveSeq">
                <p:stCondLst>
                  <p:cond evt="onClick" delay="0">
                    <p:tgtEl>
                      <p:spTgt spid="30"/>
                    </p:tgtEl>
                  </p:cond>
                </p:stCondLst>
                <p:endSync evt="end" delay="0">
                  <p:rtn val="all"/>
                </p:endSync>
                <p:childTnLst>
                  <p:par>
                    <p:cTn id="35" fill="hold">
                      <p:stCondLst>
                        <p:cond delay="0"/>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childTnLst>
              </p:cTn>
              <p:nextCondLst>
                <p:cond evt="onClick" delay="0">
                  <p:tgtEl>
                    <p:spTgt spid="30"/>
                  </p:tgtEl>
                </p:cond>
              </p:nextCondLst>
            </p:seq>
            <p:seq concurrent="1" nextAc="seek">
              <p:cTn id="39" restart="whenNotActive" fill="hold" evtFilter="cancelBubble" nodeType="interactiveSeq">
                <p:stCondLst>
                  <p:cond evt="onClick" delay="0">
                    <p:tgtEl>
                      <p:spTgt spid="90"/>
                    </p:tgtEl>
                  </p:cond>
                </p:stCondLst>
                <p:endSync evt="end" delay="0">
                  <p:rtn val="all"/>
                </p:endSync>
                <p:childTnLst>
                  <p:par>
                    <p:cTn id="40" fill="hold">
                      <p:stCondLst>
                        <p:cond delay="0"/>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91"/>
                                        </p:tgtEl>
                                        <p:attrNameLst>
                                          <p:attrName>style.visibility</p:attrName>
                                        </p:attrNameLst>
                                      </p:cBhvr>
                                      <p:to>
                                        <p:strVal val="visible"/>
                                      </p:to>
                                    </p:set>
                                  </p:childTnLst>
                                </p:cTn>
                              </p:par>
                            </p:childTnLst>
                          </p:cTn>
                        </p:par>
                      </p:childTnLst>
                    </p:cTn>
                  </p:par>
                </p:childTnLst>
              </p:cTn>
              <p:nextCondLst>
                <p:cond evt="onClick" delay="0">
                  <p:tgtEl>
                    <p:spTgt spid="90"/>
                  </p:tgtEl>
                </p:cond>
              </p:nextCondLst>
            </p:seq>
            <p:seq concurrent="1" nextAc="seek">
              <p:cTn id="44" restart="whenNotActive" fill="hold" evtFilter="cancelBubble" nodeType="interactiveSeq">
                <p:stCondLst>
                  <p:cond evt="onClick" delay="0">
                    <p:tgtEl>
                      <p:spTgt spid="129"/>
                    </p:tgtEl>
                  </p:cond>
                </p:stCondLst>
                <p:endSync evt="end" delay="0">
                  <p:rtn val="all"/>
                </p:endSync>
                <p:childTnLst>
                  <p:par>
                    <p:cTn id="45" fill="hold">
                      <p:stCondLst>
                        <p:cond delay="0"/>
                      </p:stCondLst>
                      <p:childTnLst>
                        <p:par>
                          <p:cTn id="46" fill="hold">
                            <p:stCondLst>
                              <p:cond delay="0"/>
                            </p:stCondLst>
                            <p:childTnLst>
                              <p:par>
                                <p:cTn id="47" presetID="1" presetClass="entr" presetSubtype="0" fill="hold" nodeType="withEffect">
                                  <p:stCondLst>
                                    <p:cond delay="0"/>
                                  </p:stCondLst>
                                  <p:childTnLst>
                                    <p:set>
                                      <p:cBhvr>
                                        <p:cTn id="48" dur="1" fill="hold">
                                          <p:stCondLst>
                                            <p:cond delay="0"/>
                                          </p:stCondLst>
                                        </p:cTn>
                                        <p:tgtEl>
                                          <p:spTgt spid="1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4"/>
                                        </p:tgtEl>
                                        <p:attrNameLst>
                                          <p:attrName>style.visibility</p:attrName>
                                        </p:attrNameLst>
                                      </p:cBhvr>
                                      <p:to>
                                        <p:strVal val="visible"/>
                                      </p:to>
                                    </p:set>
                                  </p:childTnLst>
                                </p:cTn>
                              </p:par>
                            </p:childTnLst>
                          </p:cTn>
                        </p:par>
                      </p:childTnLst>
                    </p:cTn>
                  </p:par>
                </p:childTnLst>
              </p:cTn>
              <p:nextCondLst>
                <p:cond evt="onClick" delay="0">
                  <p:tgtEl>
                    <p:spTgt spid="129"/>
                  </p:tgtEl>
                </p:cond>
              </p:nextCondLst>
            </p:seq>
            <p:seq concurrent="1" nextAc="seek">
              <p:cTn id="59" restart="whenNotActive" fill="hold" evtFilter="cancelBubble" nodeType="interactiveSeq">
                <p:stCondLst>
                  <p:cond evt="onClick" delay="0">
                    <p:tgtEl>
                      <p:spTgt spid="133"/>
                    </p:tgtEl>
                  </p:cond>
                </p:stCondLst>
                <p:endSync evt="end" delay="0">
                  <p:rtn val="all"/>
                </p:endSync>
                <p:childTnLst>
                  <p:par>
                    <p:cTn id="60" fill="hold">
                      <p:stCondLst>
                        <p:cond delay="0"/>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37"/>
                                        </p:tgtEl>
                                        <p:attrNameLst>
                                          <p:attrName>style.visibility</p:attrName>
                                        </p:attrNameLst>
                                      </p:cBhvr>
                                      <p:to>
                                        <p:strVal val="visible"/>
                                      </p:to>
                                    </p:set>
                                  </p:childTnLst>
                                </p:cTn>
                              </p:par>
                            </p:childTnLst>
                          </p:cTn>
                        </p:par>
                      </p:childTnLst>
                    </p:cTn>
                  </p:par>
                </p:childTnLst>
              </p:cTn>
              <p:nextCondLst>
                <p:cond evt="onClick" delay="0">
                  <p:tgtEl>
                    <p:spTgt spid="133"/>
                  </p:tgtEl>
                </p:cond>
              </p:nextCondLst>
            </p:seq>
            <p:seq concurrent="1" nextAc="seek">
              <p:cTn id="64" restart="whenNotActive" fill="hold" evtFilter="cancelBubble" nodeType="interactiveSeq">
                <p:stCondLst>
                  <p:cond evt="onClick" delay="0">
                    <p:tgtEl>
                      <p:spTgt spid="134"/>
                    </p:tgtEl>
                  </p:cond>
                </p:stCondLst>
                <p:endSync evt="end" delay="0">
                  <p:rtn val="all"/>
                </p:endSync>
                <p:childTnLst>
                  <p:par>
                    <p:cTn id="65" fill="hold">
                      <p:stCondLst>
                        <p:cond delay="0"/>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38"/>
                                        </p:tgtEl>
                                        <p:attrNameLst>
                                          <p:attrName>style.visibility</p:attrName>
                                        </p:attrNameLst>
                                      </p:cBhvr>
                                      <p:to>
                                        <p:strVal val="visible"/>
                                      </p:to>
                                    </p:set>
                                  </p:childTnLst>
                                </p:cTn>
                              </p:par>
                            </p:childTnLst>
                          </p:cTn>
                        </p:par>
                      </p:childTnLst>
                    </p:cTn>
                  </p:par>
                </p:childTnLst>
              </p:cTn>
              <p:nextCondLst>
                <p:cond evt="onClick" delay="0">
                  <p:tgtEl>
                    <p:spTgt spid="134"/>
                  </p:tgtEl>
                </p:cond>
              </p:nextCondLst>
            </p:seq>
            <p:seq concurrent="1" nextAc="seek">
              <p:cTn id="69" restart="whenNotActive" fill="hold" evtFilter="cancelBubble" nodeType="interactiveSeq">
                <p:stCondLst>
                  <p:cond evt="onClick" delay="0">
                    <p:tgtEl>
                      <p:spTgt spid="135"/>
                    </p:tgtEl>
                  </p:cond>
                </p:stCondLst>
                <p:endSync evt="end" delay="0">
                  <p:rtn val="all"/>
                </p:endSync>
                <p:childTnLst>
                  <p:par>
                    <p:cTn id="70" fill="hold">
                      <p:stCondLst>
                        <p:cond delay="0"/>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39"/>
                                        </p:tgtEl>
                                        <p:attrNameLst>
                                          <p:attrName>style.visibility</p:attrName>
                                        </p:attrNameLst>
                                      </p:cBhvr>
                                      <p:to>
                                        <p:strVal val="visible"/>
                                      </p:to>
                                    </p:set>
                                  </p:childTnLst>
                                </p:cTn>
                              </p:par>
                            </p:childTnLst>
                          </p:cTn>
                        </p:par>
                      </p:childTnLst>
                    </p:cTn>
                  </p:par>
                </p:childTnLst>
              </p:cTn>
              <p:nextCondLst>
                <p:cond evt="onClick" delay="0">
                  <p:tgtEl>
                    <p:spTgt spid="135"/>
                  </p:tgtEl>
                </p:cond>
              </p:nextCondLst>
            </p:seq>
            <p:seq concurrent="1" nextAc="seek">
              <p:cTn id="74" restart="whenNotActive" fill="hold" evtFilter="cancelBubble" nodeType="interactiveSeq">
                <p:stCondLst>
                  <p:cond evt="onClick" delay="0">
                    <p:tgtEl>
                      <p:spTgt spid="136"/>
                    </p:tgtEl>
                  </p:cond>
                </p:stCondLst>
                <p:endSync evt="end" delay="0">
                  <p:rtn val="all"/>
                </p:endSync>
                <p:childTnLst>
                  <p:par>
                    <p:cTn id="75" fill="hold">
                      <p:stCondLst>
                        <p:cond delay="0"/>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0"/>
                                        </p:tgtEl>
                                        <p:attrNameLst>
                                          <p:attrName>style.visibility</p:attrName>
                                        </p:attrNameLst>
                                      </p:cBhvr>
                                      <p:to>
                                        <p:strVal val="visible"/>
                                      </p:to>
                                    </p:set>
                                  </p:childTnLst>
                                </p:cTn>
                              </p:par>
                            </p:childTnLst>
                          </p:cTn>
                        </p:par>
                      </p:childTnLst>
                    </p:cTn>
                  </p:par>
                </p:childTnLst>
              </p:cTn>
              <p:nextCondLst>
                <p:cond evt="onClick" delay="0">
                  <p:tgtEl>
                    <p:spTgt spid="136"/>
                  </p:tgtEl>
                </p:cond>
              </p:nextCondLst>
            </p:seq>
            <p:seq concurrent="1" nextAc="seek">
              <p:cTn id="79" restart="whenNotActive" fill="hold" evtFilter="cancelBubble" nodeType="interactiveSeq">
                <p:stCondLst>
                  <p:cond evt="onClick" delay="0">
                    <p:tgtEl>
                      <p:spTgt spid="128"/>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41"/>
                                        </p:tgtEl>
                                        <p:attrNameLst>
                                          <p:attrName>style.visibility</p:attrName>
                                        </p:attrNameLst>
                                      </p:cBhvr>
                                      <p:to>
                                        <p:strVal val="visible"/>
                                      </p:to>
                                    </p:set>
                                  </p:childTnLst>
                                </p:cTn>
                              </p:par>
                            </p:childTnLst>
                          </p:cTn>
                        </p:par>
                      </p:childTnLst>
                    </p:cTn>
                  </p:par>
                </p:childTnLst>
              </p:cTn>
              <p:nextCondLst>
                <p:cond evt="onClick" delay="0">
                  <p:tgtEl>
                    <p:spTgt spid="128"/>
                  </p:tgtEl>
                </p:cond>
              </p:nextCondLst>
            </p:seq>
            <p:seq concurrent="1" nextAc="seek">
              <p:cTn id="84" restart="whenNotActive" fill="hold" evtFilter="cancelBubble" nodeType="interactiveSeq">
                <p:stCondLst>
                  <p:cond evt="onClick" delay="0">
                    <p:tgtEl>
                      <p:spTgt spid="146"/>
                    </p:tgtEl>
                  </p:cond>
                </p:stCondLst>
                <p:endSync evt="end" delay="0">
                  <p:rtn val="all"/>
                </p:endSync>
                <p:childTnLst>
                  <p:par>
                    <p:cTn id="85" fill="hold">
                      <p:stCondLst>
                        <p:cond delay="0"/>
                      </p:stCondLst>
                      <p:childTnLst>
                        <p:par>
                          <p:cTn id="86" fill="hold">
                            <p:stCondLst>
                              <p:cond delay="0"/>
                            </p:stCondLst>
                            <p:childTnLst>
                              <p:par>
                                <p:cTn id="87" presetID="1" presetClass="entr" presetSubtype="0" fill="hold" nodeType="withEffect">
                                  <p:stCondLst>
                                    <p:cond delay="0"/>
                                  </p:stCondLst>
                                  <p:childTnLst>
                                    <p:set>
                                      <p:cBhvr>
                                        <p:cTn id="88" dur="1" fill="hold">
                                          <p:stCondLst>
                                            <p:cond delay="0"/>
                                          </p:stCondLst>
                                        </p:cTn>
                                        <p:tgtEl>
                                          <p:spTgt spid="14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4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5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5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51"/>
                                        </p:tgtEl>
                                        <p:attrNameLst>
                                          <p:attrName>style.visibility</p:attrName>
                                        </p:attrNameLst>
                                      </p:cBhvr>
                                      <p:to>
                                        <p:strVal val="visible"/>
                                      </p:to>
                                    </p:set>
                                  </p:childTnLst>
                                </p:cTn>
                              </p:par>
                            </p:childTnLst>
                          </p:cTn>
                        </p:par>
                      </p:childTnLst>
                    </p:cTn>
                  </p:par>
                </p:childTnLst>
              </p:cTn>
              <p:nextCondLst>
                <p:cond evt="onClick" delay="0">
                  <p:tgtEl>
                    <p:spTgt spid="146"/>
                  </p:tgtEl>
                </p:cond>
              </p:nextCondLst>
            </p:seq>
            <p:seq concurrent="1" nextAc="seek">
              <p:cTn id="99" restart="whenNotActive" fill="hold" evtFilter="cancelBubble" nodeType="interactiveSeq">
                <p:stCondLst>
                  <p:cond evt="onClick" delay="0">
                    <p:tgtEl>
                      <p:spTgt spid="150"/>
                    </p:tgtEl>
                  </p:cond>
                </p:stCondLst>
                <p:endSync evt="end" delay="0">
                  <p:rtn val="all"/>
                </p:endSync>
                <p:childTnLst>
                  <p:par>
                    <p:cTn id="100" fill="hold">
                      <p:stCondLst>
                        <p:cond delay="0"/>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154"/>
                                        </p:tgtEl>
                                        <p:attrNameLst>
                                          <p:attrName>style.visibility</p:attrName>
                                        </p:attrNameLst>
                                      </p:cBhvr>
                                      <p:to>
                                        <p:strVal val="visible"/>
                                      </p:to>
                                    </p:set>
                                  </p:childTnLst>
                                </p:cTn>
                              </p:par>
                            </p:childTnLst>
                          </p:cTn>
                        </p:par>
                      </p:childTnLst>
                    </p:cTn>
                  </p:par>
                </p:childTnLst>
              </p:cTn>
              <p:nextCondLst>
                <p:cond evt="onClick" delay="0">
                  <p:tgtEl>
                    <p:spTgt spid="150"/>
                  </p:tgtEl>
                </p:cond>
              </p:nextCondLst>
            </p:seq>
            <p:seq concurrent="1" nextAc="seek">
              <p:cTn id="104" restart="whenNotActive" fill="hold" evtFilter="cancelBubble" nodeType="interactiveSeq">
                <p:stCondLst>
                  <p:cond evt="onClick" delay="0">
                    <p:tgtEl>
                      <p:spTgt spid="151"/>
                    </p:tgtEl>
                  </p:cond>
                </p:stCondLst>
                <p:endSync evt="end" delay="0">
                  <p:rtn val="all"/>
                </p:endSync>
                <p:childTnLst>
                  <p:par>
                    <p:cTn id="105" fill="hold">
                      <p:stCondLst>
                        <p:cond delay="0"/>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55"/>
                                        </p:tgtEl>
                                        <p:attrNameLst>
                                          <p:attrName>style.visibility</p:attrName>
                                        </p:attrNameLst>
                                      </p:cBhvr>
                                      <p:to>
                                        <p:strVal val="visible"/>
                                      </p:to>
                                    </p:set>
                                  </p:childTnLst>
                                </p:cTn>
                              </p:par>
                            </p:childTnLst>
                          </p:cTn>
                        </p:par>
                      </p:childTnLst>
                    </p:cTn>
                  </p:par>
                </p:childTnLst>
              </p:cTn>
              <p:nextCondLst>
                <p:cond evt="onClick" delay="0">
                  <p:tgtEl>
                    <p:spTgt spid="151"/>
                  </p:tgtEl>
                </p:cond>
              </p:nextCondLst>
            </p:seq>
            <p:seq concurrent="1" nextAc="seek">
              <p:cTn id="109" restart="whenNotActive" fill="hold" evtFilter="cancelBubble" nodeType="interactiveSeq">
                <p:stCondLst>
                  <p:cond evt="onClick" delay="0">
                    <p:tgtEl>
                      <p:spTgt spid="152"/>
                    </p:tgtEl>
                  </p:cond>
                </p:stCondLst>
                <p:endSync evt="end" delay="0">
                  <p:rtn val="all"/>
                </p:endSync>
                <p:childTnLst>
                  <p:par>
                    <p:cTn id="110" fill="hold">
                      <p:stCondLst>
                        <p:cond delay="0"/>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156"/>
                                        </p:tgtEl>
                                        <p:attrNameLst>
                                          <p:attrName>style.visibility</p:attrName>
                                        </p:attrNameLst>
                                      </p:cBhvr>
                                      <p:to>
                                        <p:strVal val="visible"/>
                                      </p:to>
                                    </p:set>
                                  </p:childTnLst>
                                </p:cTn>
                              </p:par>
                            </p:childTnLst>
                          </p:cTn>
                        </p:par>
                      </p:childTnLst>
                    </p:cTn>
                  </p:par>
                </p:childTnLst>
              </p:cTn>
              <p:nextCondLst>
                <p:cond evt="onClick" delay="0">
                  <p:tgtEl>
                    <p:spTgt spid="152"/>
                  </p:tgtEl>
                </p:cond>
              </p:nextCondLst>
            </p:seq>
            <p:seq concurrent="1" nextAc="seek">
              <p:cTn id="114" restart="whenNotActive" fill="hold" evtFilter="cancelBubble" nodeType="interactiveSeq">
                <p:stCondLst>
                  <p:cond evt="onClick" delay="0">
                    <p:tgtEl>
                      <p:spTgt spid="153"/>
                    </p:tgtEl>
                  </p:cond>
                </p:stCondLst>
                <p:endSync evt="end" delay="0">
                  <p:rtn val="all"/>
                </p:endSync>
                <p:childTnLst>
                  <p:par>
                    <p:cTn id="115" fill="hold">
                      <p:stCondLst>
                        <p:cond delay="0"/>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57"/>
                                        </p:tgtEl>
                                        <p:attrNameLst>
                                          <p:attrName>style.visibility</p:attrName>
                                        </p:attrNameLst>
                                      </p:cBhvr>
                                      <p:to>
                                        <p:strVal val="visible"/>
                                      </p:to>
                                    </p:set>
                                  </p:childTnLst>
                                </p:cTn>
                              </p:par>
                            </p:childTnLst>
                          </p:cTn>
                        </p:par>
                      </p:childTnLst>
                    </p:cTn>
                  </p:par>
                </p:childTnLst>
              </p:cTn>
              <p:nextCondLst>
                <p:cond evt="onClick" delay="0">
                  <p:tgtEl>
                    <p:spTgt spid="153"/>
                  </p:tgtEl>
                </p:cond>
              </p:nextCondLst>
            </p:seq>
            <p:seq concurrent="1" nextAc="seek">
              <p:cTn id="119" restart="whenNotActive" fill="hold" evtFilter="cancelBubble" nodeType="interactiveSeq">
                <p:stCondLst>
                  <p:cond evt="onClick" delay="0">
                    <p:tgtEl>
                      <p:spTgt spid="145"/>
                    </p:tgtEl>
                  </p:cond>
                </p:stCondLst>
                <p:endSync evt="end" delay="0">
                  <p:rtn val="all"/>
                </p:endSync>
                <p:childTnLst>
                  <p:par>
                    <p:cTn id="120" fill="hold">
                      <p:stCondLst>
                        <p:cond delay="0"/>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158"/>
                                        </p:tgtEl>
                                        <p:attrNameLst>
                                          <p:attrName>style.visibility</p:attrName>
                                        </p:attrNameLst>
                                      </p:cBhvr>
                                      <p:to>
                                        <p:strVal val="visible"/>
                                      </p:to>
                                    </p:set>
                                  </p:childTnLst>
                                </p:cTn>
                              </p:par>
                            </p:childTnLst>
                          </p:cTn>
                        </p:par>
                      </p:childTnLst>
                    </p:cTn>
                  </p:par>
                </p:childTnLst>
              </p:cTn>
              <p:nextCondLst>
                <p:cond evt="onClick" delay="0">
                  <p:tgtEl>
                    <p:spTgt spid="145"/>
                  </p:tgtEl>
                </p:cond>
              </p:nextCondLst>
            </p:seq>
          </p:childTnLst>
        </p:cTn>
      </p:par>
    </p:tnLst>
    <p:bldLst>
      <p:bldP spid="90" grpId="0" animBg="1"/>
      <p:bldP spid="28" grpId="0" animBg="1"/>
      <p:bldP spid="31" grpId="0" animBg="1"/>
      <p:bldP spid="29" grpId="0" animBg="1"/>
      <p:bldP spid="30" grpId="0" animBg="1"/>
      <p:bldP spid="33" grpId="0" animBg="1"/>
      <p:bldP spid="34" grpId="0" animBg="1"/>
      <p:bldP spid="35" grpId="0" animBg="1"/>
      <p:bldP spid="36" grpId="0" animBg="1"/>
      <p:bldP spid="91" grpId="0" animBg="1"/>
      <p:bldP spid="128"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5"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ase 4 - Stress test results">
            <a:extLst>
              <a:ext uri="{FF2B5EF4-FFF2-40B4-BE49-F238E27FC236}">
                <a16:creationId xmlns:a16="http://schemas.microsoft.com/office/drawing/2014/main" id="{8946B203-D191-4A30-8A61-8EB30F973496}"/>
              </a:ext>
            </a:extLst>
          </p:cNvPr>
          <p:cNvSpPr/>
          <p:nvPr/>
        </p:nvSpPr>
        <p:spPr>
          <a:xfrm>
            <a:off x="229586" y="5269326"/>
            <a:ext cx="3576575" cy="90576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a:t>
            </a:r>
          </a:p>
        </p:txBody>
      </p:sp>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4066012" y="208419"/>
            <a:ext cx="0" cy="64605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66ED83D-4D37-4A82-8C3A-63919FF9C74A}"/>
              </a:ext>
            </a:extLst>
          </p:cNvPr>
          <p:cNvCxnSpPr>
            <a:cxnSpLocks/>
          </p:cNvCxnSpPr>
          <p:nvPr/>
        </p:nvCxnSpPr>
        <p:spPr>
          <a:xfrm>
            <a:off x="8063449" y="235851"/>
            <a:ext cx="0" cy="643312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Case 4">
            <a:extLst>
              <a:ext uri="{FF2B5EF4-FFF2-40B4-BE49-F238E27FC236}">
                <a16:creationId xmlns:a16="http://schemas.microsoft.com/office/drawing/2014/main" id="{D2B7E91F-D4C0-4BE2-8AA9-79828559D719}"/>
              </a:ext>
            </a:extLst>
          </p:cNvPr>
          <p:cNvSpPr/>
          <p:nvPr/>
        </p:nvSpPr>
        <p:spPr>
          <a:xfrm>
            <a:off x="860048"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4</a:t>
            </a:r>
          </a:p>
        </p:txBody>
      </p:sp>
      <p:grpSp>
        <p:nvGrpSpPr>
          <p:cNvPr id="74" name="Case 4 info">
            <a:extLst>
              <a:ext uri="{FF2B5EF4-FFF2-40B4-BE49-F238E27FC236}">
                <a16:creationId xmlns:a16="http://schemas.microsoft.com/office/drawing/2014/main" id="{6D54D231-4A38-4599-BEC2-2C7E76616085}"/>
              </a:ext>
            </a:extLst>
          </p:cNvPr>
          <p:cNvGrpSpPr/>
          <p:nvPr/>
        </p:nvGrpSpPr>
        <p:grpSpPr>
          <a:xfrm>
            <a:off x="164254" y="753436"/>
            <a:ext cx="3819857" cy="2616625"/>
            <a:chOff x="105388" y="753436"/>
            <a:chExt cx="3608745" cy="2616625"/>
          </a:xfrm>
        </p:grpSpPr>
        <p:sp>
          <p:nvSpPr>
            <p:cNvPr id="13" name="Case 1 text">
              <a:extLst>
                <a:ext uri="{FF2B5EF4-FFF2-40B4-BE49-F238E27FC236}">
                  <a16:creationId xmlns:a16="http://schemas.microsoft.com/office/drawing/2014/main" id="{28FAF219-B0F0-4D6F-A011-8C6E213E6DC1}"/>
                </a:ext>
              </a:extLst>
            </p:cNvPr>
            <p:cNvSpPr txBox="1"/>
            <p:nvPr/>
          </p:nvSpPr>
          <p:spPr>
            <a:xfrm>
              <a:off x="105388" y="753436"/>
              <a:ext cx="3608745" cy="2308324"/>
            </a:xfrm>
            <a:prstGeom prst="rect">
              <a:avLst/>
            </a:prstGeom>
            <a:noFill/>
          </p:spPr>
          <p:txBody>
            <a:bodyPr wrap="square" rtlCol="0">
              <a:spAutoFit/>
            </a:bodyPr>
            <a:lstStyle/>
            <a:p>
              <a:r>
                <a:rPr lang="en-US" sz="1600" dirty="0"/>
                <a:t>62yo man, active smoker with COPD (GOLD 3), DM and a prior DES placed in his RCA three years ago now complaining of shortness of breath and chest tightness that occurs every couple of days, usually with exertion but sometimes with rest and goes away on its own.  He cannot walk up stairs due to hip pain. On ASA, BB, ACE-I, statin. VSS, exp wheezing on exam.  </a:t>
              </a:r>
            </a:p>
          </p:txBody>
        </p:sp>
        <p:sp>
          <p:nvSpPr>
            <p:cNvPr id="73" name="TextBox 72">
              <a:extLst>
                <a:ext uri="{FF2B5EF4-FFF2-40B4-BE49-F238E27FC236}">
                  <a16:creationId xmlns:a16="http://schemas.microsoft.com/office/drawing/2014/main" id="{787A31F3-72C4-455B-BA1D-C38704E1B0A7}"/>
                </a:ext>
              </a:extLst>
            </p:cNvPr>
            <p:cNvSpPr txBox="1"/>
            <p:nvPr/>
          </p:nvSpPr>
          <p:spPr>
            <a:xfrm>
              <a:off x="154705" y="3031507"/>
              <a:ext cx="3539236" cy="338554"/>
            </a:xfrm>
            <a:prstGeom prst="rect">
              <a:avLst/>
            </a:prstGeom>
            <a:noFill/>
          </p:spPr>
          <p:txBody>
            <a:bodyPr wrap="square" rtlCol="0">
              <a:spAutoFit/>
            </a:bodyPr>
            <a:lstStyle/>
            <a:p>
              <a:r>
                <a:rPr lang="en-US" sz="1600" dirty="0"/>
                <a:t>On a statin &amp; A1c – 7.9</a:t>
              </a:r>
            </a:p>
          </p:txBody>
        </p:sp>
      </p:grpSp>
      <p:sp>
        <p:nvSpPr>
          <p:cNvPr id="28" name="Case 4 - Pre-test button">
            <a:extLst>
              <a:ext uri="{FF2B5EF4-FFF2-40B4-BE49-F238E27FC236}">
                <a16:creationId xmlns:a16="http://schemas.microsoft.com/office/drawing/2014/main" id="{A720D17D-CBB7-401A-B329-CE14FDF24C03}"/>
              </a:ext>
            </a:extLst>
          </p:cNvPr>
          <p:cNvSpPr/>
          <p:nvPr/>
        </p:nvSpPr>
        <p:spPr>
          <a:xfrm>
            <a:off x="239676" y="3433646"/>
            <a:ext cx="3510238"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Pre-Test Probability?</a:t>
            </a:r>
          </a:p>
        </p:txBody>
      </p:sp>
      <p:sp>
        <p:nvSpPr>
          <p:cNvPr id="31" name="Case 4 - ECG button">
            <a:extLst>
              <a:ext uri="{FF2B5EF4-FFF2-40B4-BE49-F238E27FC236}">
                <a16:creationId xmlns:a16="http://schemas.microsoft.com/office/drawing/2014/main" id="{FC95995F-E4E4-4637-AB4F-6B3EE9F47547}"/>
              </a:ext>
            </a:extLst>
          </p:cNvPr>
          <p:cNvSpPr/>
          <p:nvPr/>
        </p:nvSpPr>
        <p:spPr>
          <a:xfrm>
            <a:off x="252991" y="3939413"/>
            <a:ext cx="351023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ECG</a:t>
            </a:r>
          </a:p>
        </p:txBody>
      </p:sp>
      <p:sp>
        <p:nvSpPr>
          <p:cNvPr id="29" name="Case 4 - which stress test button">
            <a:extLst>
              <a:ext uri="{FF2B5EF4-FFF2-40B4-BE49-F238E27FC236}">
                <a16:creationId xmlns:a16="http://schemas.microsoft.com/office/drawing/2014/main" id="{A878A616-CFBF-4671-8D20-04B6C3DBC423}"/>
              </a:ext>
            </a:extLst>
          </p:cNvPr>
          <p:cNvSpPr/>
          <p:nvPr/>
        </p:nvSpPr>
        <p:spPr>
          <a:xfrm>
            <a:off x="252602" y="4428843"/>
            <a:ext cx="3576312" cy="696057"/>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Which Stress Test? </a:t>
            </a:r>
          </a:p>
          <a:p>
            <a:pPr algn="ctr"/>
            <a:r>
              <a:rPr lang="en-US" dirty="0"/>
              <a:t>Exercise or Pharmacologic?</a:t>
            </a:r>
          </a:p>
        </p:txBody>
      </p:sp>
      <p:sp>
        <p:nvSpPr>
          <p:cNvPr id="30" name="Case 4 - Compensation">
            <a:extLst>
              <a:ext uri="{FF2B5EF4-FFF2-40B4-BE49-F238E27FC236}">
                <a16:creationId xmlns:a16="http://schemas.microsoft.com/office/drawing/2014/main" id="{731DFEAB-EA12-4B9E-A4F6-084CAEC77E91}"/>
              </a:ext>
            </a:extLst>
          </p:cNvPr>
          <p:cNvSpPr/>
          <p:nvPr/>
        </p:nvSpPr>
        <p:spPr>
          <a:xfrm>
            <a:off x="245108" y="6319520"/>
            <a:ext cx="3522125" cy="32222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Medical Management or LHC?</a:t>
            </a:r>
          </a:p>
        </p:txBody>
      </p:sp>
      <p:sp>
        <p:nvSpPr>
          <p:cNvPr id="33" name="Case 4 - Pre-test answer">
            <a:extLst>
              <a:ext uri="{FF2B5EF4-FFF2-40B4-BE49-F238E27FC236}">
                <a16:creationId xmlns:a16="http://schemas.microsoft.com/office/drawing/2014/main" id="{8E93BC3D-9A48-4519-87F0-DC82D5777AEB}"/>
              </a:ext>
            </a:extLst>
          </p:cNvPr>
          <p:cNvSpPr/>
          <p:nvPr/>
        </p:nvSpPr>
        <p:spPr>
          <a:xfrm>
            <a:off x="229586" y="3429000"/>
            <a:ext cx="3555325"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 - At least intermediate (42%)</a:t>
            </a:r>
          </a:p>
        </p:txBody>
      </p:sp>
      <p:sp>
        <p:nvSpPr>
          <p:cNvPr id="34" name="Case 4 - ECG image">
            <a:extLst>
              <a:ext uri="{FF2B5EF4-FFF2-40B4-BE49-F238E27FC236}">
                <a16:creationId xmlns:a16="http://schemas.microsoft.com/office/drawing/2014/main" id="{78D59F4F-3EF0-4B50-B0DE-BD1DB0BEC628}"/>
              </a:ext>
            </a:extLst>
          </p:cNvPr>
          <p:cNvSpPr/>
          <p:nvPr/>
        </p:nvSpPr>
        <p:spPr>
          <a:xfrm>
            <a:off x="233100" y="3938270"/>
            <a:ext cx="3576575" cy="331630"/>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Sinus with Q in II, III and </a:t>
            </a:r>
            <a:r>
              <a:rPr lang="en-US" sz="1400" dirty="0" err="1"/>
              <a:t>aVF</a:t>
            </a:r>
            <a:r>
              <a:rPr lang="en-US" sz="1400" dirty="0"/>
              <a:t>, incomplete RBBB</a:t>
            </a:r>
          </a:p>
        </p:txBody>
      </p:sp>
      <p:sp>
        <p:nvSpPr>
          <p:cNvPr id="35" name="Case 4 - Which test answer">
            <a:extLst>
              <a:ext uri="{FF2B5EF4-FFF2-40B4-BE49-F238E27FC236}">
                <a16:creationId xmlns:a16="http://schemas.microsoft.com/office/drawing/2014/main" id="{DB2F2D18-103A-4622-B071-CE4836C07EAE}"/>
              </a:ext>
            </a:extLst>
          </p:cNvPr>
          <p:cNvSpPr/>
          <p:nvPr/>
        </p:nvSpPr>
        <p:spPr>
          <a:xfrm>
            <a:off x="239676" y="4428842"/>
            <a:ext cx="3591684" cy="696057"/>
          </a:xfrm>
          <a:prstGeom prst="roundRect">
            <a:avLst>
              <a:gd name="adj" fmla="val 1217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Pharm MPI vs. coronary CT vs. LHC</a:t>
            </a:r>
          </a:p>
        </p:txBody>
      </p:sp>
      <p:sp>
        <p:nvSpPr>
          <p:cNvPr id="36" name="Case 4 - Management answer">
            <a:extLst>
              <a:ext uri="{FF2B5EF4-FFF2-40B4-BE49-F238E27FC236}">
                <a16:creationId xmlns:a16="http://schemas.microsoft.com/office/drawing/2014/main" id="{F597A406-81A5-40AC-9888-C00B46C26B0C}"/>
              </a:ext>
            </a:extLst>
          </p:cNvPr>
          <p:cNvSpPr/>
          <p:nvPr/>
        </p:nvSpPr>
        <p:spPr>
          <a:xfrm>
            <a:off x="223521" y="6261768"/>
            <a:ext cx="3563603" cy="53848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Likely clopidogrel, nitrate and LHC to r/o LM or </a:t>
            </a:r>
            <a:r>
              <a:rPr lang="en-US" sz="1600" dirty="0" err="1"/>
              <a:t>prox</a:t>
            </a:r>
            <a:r>
              <a:rPr lang="en-US" sz="1600" dirty="0"/>
              <a:t> LAD</a:t>
            </a:r>
          </a:p>
        </p:txBody>
      </p:sp>
      <p:sp>
        <p:nvSpPr>
          <p:cNvPr id="91" name="Case 4 - Test results">
            <a:extLst>
              <a:ext uri="{FF2B5EF4-FFF2-40B4-BE49-F238E27FC236}">
                <a16:creationId xmlns:a16="http://schemas.microsoft.com/office/drawing/2014/main" id="{9088D581-1DAD-428F-A9E7-AF02AC247B3B}"/>
              </a:ext>
            </a:extLst>
          </p:cNvPr>
          <p:cNvSpPr/>
          <p:nvPr/>
        </p:nvSpPr>
        <p:spPr>
          <a:xfrm>
            <a:off x="211778" y="5259737"/>
            <a:ext cx="3621351" cy="915357"/>
          </a:xfrm>
          <a:prstGeom prst="round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MPI – inducible large area anterior LV wall ischemia and reduction in EF from 55%-&gt;45% during stress</a:t>
            </a:r>
          </a:p>
        </p:txBody>
      </p:sp>
      <p:sp>
        <p:nvSpPr>
          <p:cNvPr id="128" name="Case 5 - Stress test results">
            <a:extLst>
              <a:ext uri="{FF2B5EF4-FFF2-40B4-BE49-F238E27FC236}">
                <a16:creationId xmlns:a16="http://schemas.microsoft.com/office/drawing/2014/main" id="{231F13FA-96C7-48DC-9C55-2FA82E7C4954}"/>
              </a:ext>
            </a:extLst>
          </p:cNvPr>
          <p:cNvSpPr/>
          <p:nvPr/>
        </p:nvSpPr>
        <p:spPr>
          <a:xfrm>
            <a:off x="4224140" y="5269326"/>
            <a:ext cx="3576575" cy="90576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a:t>
            </a:r>
          </a:p>
        </p:txBody>
      </p:sp>
      <p:sp>
        <p:nvSpPr>
          <p:cNvPr id="129" name="Case 5">
            <a:extLst>
              <a:ext uri="{FF2B5EF4-FFF2-40B4-BE49-F238E27FC236}">
                <a16:creationId xmlns:a16="http://schemas.microsoft.com/office/drawing/2014/main" id="{41FEB336-49CA-4EC0-AC0A-587C0CD09C68}"/>
              </a:ext>
            </a:extLst>
          </p:cNvPr>
          <p:cNvSpPr/>
          <p:nvPr/>
        </p:nvSpPr>
        <p:spPr>
          <a:xfrm>
            <a:off x="4854602"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5</a:t>
            </a:r>
          </a:p>
        </p:txBody>
      </p:sp>
      <p:grpSp>
        <p:nvGrpSpPr>
          <p:cNvPr id="130" name="Case 5 info">
            <a:extLst>
              <a:ext uri="{FF2B5EF4-FFF2-40B4-BE49-F238E27FC236}">
                <a16:creationId xmlns:a16="http://schemas.microsoft.com/office/drawing/2014/main" id="{86F3870D-04C5-4C63-89D0-9D372E87140F}"/>
              </a:ext>
            </a:extLst>
          </p:cNvPr>
          <p:cNvGrpSpPr/>
          <p:nvPr/>
        </p:nvGrpSpPr>
        <p:grpSpPr>
          <a:xfrm>
            <a:off x="4206332" y="767950"/>
            <a:ext cx="3772054" cy="2139218"/>
            <a:chOff x="150549" y="706990"/>
            <a:chExt cx="3563584" cy="2139218"/>
          </a:xfrm>
        </p:grpSpPr>
        <p:sp>
          <p:nvSpPr>
            <p:cNvPr id="131" name="Case 1 text">
              <a:extLst>
                <a:ext uri="{FF2B5EF4-FFF2-40B4-BE49-F238E27FC236}">
                  <a16:creationId xmlns:a16="http://schemas.microsoft.com/office/drawing/2014/main" id="{83105C6D-94DC-444D-A80F-80E89A1ED833}"/>
                </a:ext>
              </a:extLst>
            </p:cNvPr>
            <p:cNvSpPr txBox="1"/>
            <p:nvPr/>
          </p:nvSpPr>
          <p:spPr>
            <a:xfrm>
              <a:off x="170429" y="706990"/>
              <a:ext cx="3543704" cy="1569660"/>
            </a:xfrm>
            <a:prstGeom prst="rect">
              <a:avLst/>
            </a:prstGeom>
            <a:noFill/>
          </p:spPr>
          <p:txBody>
            <a:bodyPr wrap="square" rtlCol="0">
              <a:spAutoFit/>
            </a:bodyPr>
            <a:lstStyle/>
            <a:p>
              <a:r>
                <a:rPr lang="en-US" sz="1600" dirty="0"/>
                <a:t>55yo woman, active smoker with well controlled DM presents to clinic with two to three weeks of chest tightness and shortness of breath that comes on when she is hiking and goes away with rest after 10-15 minutes.  </a:t>
              </a:r>
            </a:p>
          </p:txBody>
        </p:sp>
        <p:sp>
          <p:nvSpPr>
            <p:cNvPr id="132" name="TextBox 131">
              <a:extLst>
                <a:ext uri="{FF2B5EF4-FFF2-40B4-BE49-F238E27FC236}">
                  <a16:creationId xmlns:a16="http://schemas.microsoft.com/office/drawing/2014/main" id="{B83B674C-8C1C-4902-A4C5-5CE4A5F52E1F}"/>
                </a:ext>
              </a:extLst>
            </p:cNvPr>
            <p:cNvSpPr txBox="1"/>
            <p:nvPr/>
          </p:nvSpPr>
          <p:spPr>
            <a:xfrm>
              <a:off x="150549" y="2261433"/>
              <a:ext cx="3539236" cy="584775"/>
            </a:xfrm>
            <a:prstGeom prst="rect">
              <a:avLst/>
            </a:prstGeom>
            <a:noFill/>
          </p:spPr>
          <p:txBody>
            <a:bodyPr wrap="square" rtlCol="0">
              <a:spAutoFit/>
            </a:bodyPr>
            <a:lstStyle/>
            <a:p>
              <a:r>
                <a:rPr lang="en-US" sz="1600" dirty="0"/>
                <a:t>Total Chol 180, HDL 38, LDL 142</a:t>
              </a:r>
            </a:p>
            <a:p>
              <a:r>
                <a:rPr lang="en-US" sz="1600" dirty="0"/>
                <a:t>A1c 7.2</a:t>
              </a:r>
            </a:p>
          </p:txBody>
        </p:sp>
      </p:grpSp>
      <p:sp>
        <p:nvSpPr>
          <p:cNvPr id="133" name="Case 5 - Pre-test button">
            <a:extLst>
              <a:ext uri="{FF2B5EF4-FFF2-40B4-BE49-F238E27FC236}">
                <a16:creationId xmlns:a16="http://schemas.microsoft.com/office/drawing/2014/main" id="{08D5AB9A-8840-47CD-997B-079149076D06}"/>
              </a:ext>
            </a:extLst>
          </p:cNvPr>
          <p:cNvSpPr/>
          <p:nvPr/>
        </p:nvSpPr>
        <p:spPr>
          <a:xfrm>
            <a:off x="4234230" y="3433646"/>
            <a:ext cx="3510238"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Pre-Test Probability?</a:t>
            </a:r>
          </a:p>
        </p:txBody>
      </p:sp>
      <p:sp>
        <p:nvSpPr>
          <p:cNvPr id="134" name="Case 5 - ECG button">
            <a:extLst>
              <a:ext uri="{FF2B5EF4-FFF2-40B4-BE49-F238E27FC236}">
                <a16:creationId xmlns:a16="http://schemas.microsoft.com/office/drawing/2014/main" id="{EBA4F48B-F33F-4247-834E-FC318AAB878F}"/>
              </a:ext>
            </a:extLst>
          </p:cNvPr>
          <p:cNvSpPr/>
          <p:nvPr/>
        </p:nvSpPr>
        <p:spPr>
          <a:xfrm>
            <a:off x="4247545" y="3939413"/>
            <a:ext cx="351023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ECG</a:t>
            </a:r>
          </a:p>
        </p:txBody>
      </p:sp>
      <p:sp>
        <p:nvSpPr>
          <p:cNvPr id="135" name="Case 5 - which stress test button">
            <a:extLst>
              <a:ext uri="{FF2B5EF4-FFF2-40B4-BE49-F238E27FC236}">
                <a16:creationId xmlns:a16="http://schemas.microsoft.com/office/drawing/2014/main" id="{F1E63992-1398-4E3A-8435-50FCB3F16178}"/>
              </a:ext>
            </a:extLst>
          </p:cNvPr>
          <p:cNvSpPr/>
          <p:nvPr/>
        </p:nvSpPr>
        <p:spPr>
          <a:xfrm>
            <a:off x="4247156" y="4428843"/>
            <a:ext cx="3576312" cy="696057"/>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Which Stress Test? </a:t>
            </a:r>
          </a:p>
          <a:p>
            <a:pPr algn="ctr"/>
            <a:r>
              <a:rPr lang="en-US" dirty="0"/>
              <a:t>Exercise or Pharmacologic?</a:t>
            </a:r>
          </a:p>
        </p:txBody>
      </p:sp>
      <p:sp>
        <p:nvSpPr>
          <p:cNvPr id="136" name="Case 5 - Compensation">
            <a:extLst>
              <a:ext uri="{FF2B5EF4-FFF2-40B4-BE49-F238E27FC236}">
                <a16:creationId xmlns:a16="http://schemas.microsoft.com/office/drawing/2014/main" id="{13385AE5-2B5A-412C-9E16-92F7B345B541}"/>
              </a:ext>
            </a:extLst>
          </p:cNvPr>
          <p:cNvSpPr/>
          <p:nvPr/>
        </p:nvSpPr>
        <p:spPr>
          <a:xfrm>
            <a:off x="4239662" y="6319520"/>
            <a:ext cx="3522125" cy="32222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Medical Management or LHC?</a:t>
            </a:r>
          </a:p>
        </p:txBody>
      </p:sp>
      <p:sp>
        <p:nvSpPr>
          <p:cNvPr id="137" name="Case 5 - Pre-test answer">
            <a:extLst>
              <a:ext uri="{FF2B5EF4-FFF2-40B4-BE49-F238E27FC236}">
                <a16:creationId xmlns:a16="http://schemas.microsoft.com/office/drawing/2014/main" id="{CFE9643E-4E1C-4106-88E9-AE7C30BF2726}"/>
              </a:ext>
            </a:extLst>
          </p:cNvPr>
          <p:cNvSpPr/>
          <p:nvPr/>
        </p:nvSpPr>
        <p:spPr>
          <a:xfrm>
            <a:off x="4224140" y="3429000"/>
            <a:ext cx="3555325"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Intermediate (22%)</a:t>
            </a:r>
          </a:p>
        </p:txBody>
      </p:sp>
      <p:sp>
        <p:nvSpPr>
          <p:cNvPr id="138" name="Case 5 - ECG image">
            <a:extLst>
              <a:ext uri="{FF2B5EF4-FFF2-40B4-BE49-F238E27FC236}">
                <a16:creationId xmlns:a16="http://schemas.microsoft.com/office/drawing/2014/main" id="{7A073A5F-8988-455D-81A5-C527520DE1D3}"/>
              </a:ext>
            </a:extLst>
          </p:cNvPr>
          <p:cNvSpPr/>
          <p:nvPr/>
        </p:nvSpPr>
        <p:spPr>
          <a:xfrm>
            <a:off x="4227654" y="3938270"/>
            <a:ext cx="3576575" cy="331630"/>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Normal sinus rhythm</a:t>
            </a:r>
          </a:p>
        </p:txBody>
      </p:sp>
      <p:sp>
        <p:nvSpPr>
          <p:cNvPr id="139" name="Case 5 - Which test answer">
            <a:extLst>
              <a:ext uri="{FF2B5EF4-FFF2-40B4-BE49-F238E27FC236}">
                <a16:creationId xmlns:a16="http://schemas.microsoft.com/office/drawing/2014/main" id="{A6D4523C-271F-4BBF-8419-C2FFFB155074}"/>
              </a:ext>
            </a:extLst>
          </p:cNvPr>
          <p:cNvSpPr/>
          <p:nvPr/>
        </p:nvSpPr>
        <p:spPr>
          <a:xfrm>
            <a:off x="4234230" y="4428842"/>
            <a:ext cx="3591684" cy="696057"/>
          </a:xfrm>
          <a:prstGeom prst="roundRect">
            <a:avLst>
              <a:gd name="adj" fmla="val 1217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ECG Treadmill Exercise Test</a:t>
            </a:r>
          </a:p>
        </p:txBody>
      </p:sp>
      <p:sp>
        <p:nvSpPr>
          <p:cNvPr id="140" name="Case 5 - Management answer">
            <a:extLst>
              <a:ext uri="{FF2B5EF4-FFF2-40B4-BE49-F238E27FC236}">
                <a16:creationId xmlns:a16="http://schemas.microsoft.com/office/drawing/2014/main" id="{F8EC5410-24D8-433E-AA8C-B3E0D80477F9}"/>
              </a:ext>
            </a:extLst>
          </p:cNvPr>
          <p:cNvSpPr/>
          <p:nvPr/>
        </p:nvSpPr>
        <p:spPr>
          <a:xfrm>
            <a:off x="4218075" y="6309893"/>
            <a:ext cx="3563603" cy="46665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Stress with imaging to r/o high grade lesion</a:t>
            </a:r>
          </a:p>
        </p:txBody>
      </p:sp>
      <p:sp>
        <p:nvSpPr>
          <p:cNvPr id="141" name="Case 5 - Test results">
            <a:extLst>
              <a:ext uri="{FF2B5EF4-FFF2-40B4-BE49-F238E27FC236}">
                <a16:creationId xmlns:a16="http://schemas.microsoft.com/office/drawing/2014/main" id="{D4435F36-9602-4885-B3E5-1539C1970D5B}"/>
              </a:ext>
            </a:extLst>
          </p:cNvPr>
          <p:cNvSpPr/>
          <p:nvPr/>
        </p:nvSpPr>
        <p:spPr>
          <a:xfrm>
            <a:off x="4206332" y="5259737"/>
            <a:ext cx="3621351" cy="9153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err="1"/>
              <a:t>Nml</a:t>
            </a:r>
            <a:r>
              <a:rPr lang="en-US" sz="1400" dirty="0"/>
              <a:t> baseline ECG, resting BP 130/80, achieved 12 METS and achieved 80% max heart rate.  Test discontinued due to chest tightness</a:t>
            </a:r>
          </a:p>
        </p:txBody>
      </p:sp>
      <p:sp>
        <p:nvSpPr>
          <p:cNvPr id="145" name="Case 6- Stress test results">
            <a:extLst>
              <a:ext uri="{FF2B5EF4-FFF2-40B4-BE49-F238E27FC236}">
                <a16:creationId xmlns:a16="http://schemas.microsoft.com/office/drawing/2014/main" id="{DB17134F-CAF7-4259-BCBB-00B97B193BBF}"/>
              </a:ext>
            </a:extLst>
          </p:cNvPr>
          <p:cNvSpPr/>
          <p:nvPr/>
        </p:nvSpPr>
        <p:spPr>
          <a:xfrm>
            <a:off x="8270000" y="5271854"/>
            <a:ext cx="3576575" cy="90576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a:t>
            </a:r>
          </a:p>
        </p:txBody>
      </p:sp>
      <p:sp>
        <p:nvSpPr>
          <p:cNvPr id="146" name="Case 6">
            <a:extLst>
              <a:ext uri="{FF2B5EF4-FFF2-40B4-BE49-F238E27FC236}">
                <a16:creationId xmlns:a16="http://schemas.microsoft.com/office/drawing/2014/main" id="{BCA0C0CD-F8E1-4146-83B0-B64E06FE4D1F}"/>
              </a:ext>
            </a:extLst>
          </p:cNvPr>
          <p:cNvSpPr/>
          <p:nvPr/>
        </p:nvSpPr>
        <p:spPr>
          <a:xfrm>
            <a:off x="8900462" y="167057"/>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6</a:t>
            </a:r>
          </a:p>
        </p:txBody>
      </p:sp>
      <p:grpSp>
        <p:nvGrpSpPr>
          <p:cNvPr id="147" name="Case 6 info">
            <a:extLst>
              <a:ext uri="{FF2B5EF4-FFF2-40B4-BE49-F238E27FC236}">
                <a16:creationId xmlns:a16="http://schemas.microsoft.com/office/drawing/2014/main" id="{0069D94A-AF6E-4747-BA1D-07A59E5C9B5C}"/>
              </a:ext>
            </a:extLst>
          </p:cNvPr>
          <p:cNvGrpSpPr/>
          <p:nvPr/>
        </p:nvGrpSpPr>
        <p:grpSpPr>
          <a:xfrm>
            <a:off x="8270000" y="755964"/>
            <a:ext cx="3754525" cy="2580024"/>
            <a:chOff x="167109" y="753436"/>
            <a:chExt cx="3547024" cy="2580024"/>
          </a:xfrm>
        </p:grpSpPr>
        <p:sp>
          <p:nvSpPr>
            <p:cNvPr id="148" name="Case 1 text">
              <a:extLst>
                <a:ext uri="{FF2B5EF4-FFF2-40B4-BE49-F238E27FC236}">
                  <a16:creationId xmlns:a16="http://schemas.microsoft.com/office/drawing/2014/main" id="{E6A604B5-B4FA-4AC4-9DD7-10C3ABA8A1DE}"/>
                </a:ext>
              </a:extLst>
            </p:cNvPr>
            <p:cNvSpPr txBox="1"/>
            <p:nvPr/>
          </p:nvSpPr>
          <p:spPr>
            <a:xfrm>
              <a:off x="170429" y="753436"/>
              <a:ext cx="3543704" cy="1815882"/>
            </a:xfrm>
            <a:prstGeom prst="rect">
              <a:avLst/>
            </a:prstGeom>
            <a:noFill/>
          </p:spPr>
          <p:txBody>
            <a:bodyPr wrap="square" rtlCol="0">
              <a:spAutoFit/>
            </a:bodyPr>
            <a:lstStyle/>
            <a:p>
              <a:r>
                <a:rPr lang="en-US" sz="1600" dirty="0"/>
                <a:t>65yo man, active smoker with </a:t>
              </a:r>
              <a:r>
                <a:rPr lang="en-US" sz="1600"/>
                <a:t>HTN presents with </a:t>
              </a:r>
              <a:r>
                <a:rPr lang="en-US" sz="1600" dirty="0"/>
                <a:t>two days of chest pain whenever he goes up the stairs or after a few blocks of walking the dog.  He feels diaphoretic and dizzy when it happens and needs to sit down.  Symptoms self resolve after 10 minutes. </a:t>
              </a:r>
            </a:p>
          </p:txBody>
        </p:sp>
        <p:sp>
          <p:nvSpPr>
            <p:cNvPr id="149" name="TextBox 148">
              <a:extLst>
                <a:ext uri="{FF2B5EF4-FFF2-40B4-BE49-F238E27FC236}">
                  <a16:creationId xmlns:a16="http://schemas.microsoft.com/office/drawing/2014/main" id="{0D925400-EEF0-40E5-BBD9-CA09BD9A8141}"/>
                </a:ext>
              </a:extLst>
            </p:cNvPr>
            <p:cNvSpPr txBox="1"/>
            <p:nvPr/>
          </p:nvSpPr>
          <p:spPr>
            <a:xfrm>
              <a:off x="167109" y="2748685"/>
              <a:ext cx="3539236" cy="584775"/>
            </a:xfrm>
            <a:prstGeom prst="rect">
              <a:avLst/>
            </a:prstGeom>
            <a:noFill/>
          </p:spPr>
          <p:txBody>
            <a:bodyPr wrap="square" rtlCol="0">
              <a:spAutoFit/>
            </a:bodyPr>
            <a:lstStyle/>
            <a:p>
              <a:r>
                <a:rPr lang="en-US" sz="1600" dirty="0"/>
                <a:t>Total Chol 180, HDL 38, LDL 142 – on statin</a:t>
              </a:r>
            </a:p>
            <a:p>
              <a:r>
                <a:rPr lang="en-US" sz="1600" dirty="0"/>
                <a:t>A1c 5.6 </a:t>
              </a:r>
            </a:p>
          </p:txBody>
        </p:sp>
      </p:grpSp>
      <p:sp>
        <p:nvSpPr>
          <p:cNvPr id="150" name="Case 6 - Pre-test button">
            <a:extLst>
              <a:ext uri="{FF2B5EF4-FFF2-40B4-BE49-F238E27FC236}">
                <a16:creationId xmlns:a16="http://schemas.microsoft.com/office/drawing/2014/main" id="{88B76D7F-42CA-4B37-895A-218D2D12A20E}"/>
              </a:ext>
            </a:extLst>
          </p:cNvPr>
          <p:cNvSpPr/>
          <p:nvPr/>
        </p:nvSpPr>
        <p:spPr>
          <a:xfrm>
            <a:off x="8280090" y="3436174"/>
            <a:ext cx="3510238"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Pre-Test Probability?</a:t>
            </a:r>
          </a:p>
        </p:txBody>
      </p:sp>
      <p:sp>
        <p:nvSpPr>
          <p:cNvPr id="151" name="Case 6 - ECG button">
            <a:extLst>
              <a:ext uri="{FF2B5EF4-FFF2-40B4-BE49-F238E27FC236}">
                <a16:creationId xmlns:a16="http://schemas.microsoft.com/office/drawing/2014/main" id="{0FCE24A2-4723-4073-9D5E-87FF24937D36}"/>
              </a:ext>
            </a:extLst>
          </p:cNvPr>
          <p:cNvSpPr/>
          <p:nvPr/>
        </p:nvSpPr>
        <p:spPr>
          <a:xfrm>
            <a:off x="8293405" y="3941941"/>
            <a:ext cx="351023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ECG</a:t>
            </a:r>
          </a:p>
        </p:txBody>
      </p:sp>
      <p:sp>
        <p:nvSpPr>
          <p:cNvPr id="152" name="Case 6 - which stress test button">
            <a:extLst>
              <a:ext uri="{FF2B5EF4-FFF2-40B4-BE49-F238E27FC236}">
                <a16:creationId xmlns:a16="http://schemas.microsoft.com/office/drawing/2014/main" id="{A30BD7DA-8573-4A29-9E1E-27F0F387E241}"/>
              </a:ext>
            </a:extLst>
          </p:cNvPr>
          <p:cNvSpPr/>
          <p:nvPr/>
        </p:nvSpPr>
        <p:spPr>
          <a:xfrm>
            <a:off x="8293016" y="4431371"/>
            <a:ext cx="3576312" cy="696057"/>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Which Stress Test? </a:t>
            </a:r>
          </a:p>
          <a:p>
            <a:pPr algn="ctr"/>
            <a:r>
              <a:rPr lang="en-US" dirty="0"/>
              <a:t>Exercise or Pharmacologic?</a:t>
            </a:r>
          </a:p>
        </p:txBody>
      </p:sp>
      <p:sp>
        <p:nvSpPr>
          <p:cNvPr id="153" name="Case 6 - Compensation">
            <a:extLst>
              <a:ext uri="{FF2B5EF4-FFF2-40B4-BE49-F238E27FC236}">
                <a16:creationId xmlns:a16="http://schemas.microsoft.com/office/drawing/2014/main" id="{2322AD7C-4BA8-4048-AC97-1D43C5203AFE}"/>
              </a:ext>
            </a:extLst>
          </p:cNvPr>
          <p:cNvSpPr/>
          <p:nvPr/>
        </p:nvSpPr>
        <p:spPr>
          <a:xfrm>
            <a:off x="8285522" y="6322048"/>
            <a:ext cx="3522125" cy="322228"/>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Medical Management or LHC?</a:t>
            </a:r>
          </a:p>
        </p:txBody>
      </p:sp>
      <p:sp>
        <p:nvSpPr>
          <p:cNvPr id="154" name="Case 6 - Pre-test answer">
            <a:extLst>
              <a:ext uri="{FF2B5EF4-FFF2-40B4-BE49-F238E27FC236}">
                <a16:creationId xmlns:a16="http://schemas.microsoft.com/office/drawing/2014/main" id="{FA2230BE-0292-43FF-A91B-8E54B5D6D5CA}"/>
              </a:ext>
            </a:extLst>
          </p:cNvPr>
          <p:cNvSpPr/>
          <p:nvPr/>
        </p:nvSpPr>
        <p:spPr>
          <a:xfrm>
            <a:off x="8270000" y="3431528"/>
            <a:ext cx="3555325"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High – Concerning for ACS</a:t>
            </a:r>
          </a:p>
        </p:txBody>
      </p:sp>
      <p:sp>
        <p:nvSpPr>
          <p:cNvPr id="155" name="Case 6 - ECG image">
            <a:extLst>
              <a:ext uri="{FF2B5EF4-FFF2-40B4-BE49-F238E27FC236}">
                <a16:creationId xmlns:a16="http://schemas.microsoft.com/office/drawing/2014/main" id="{0EC0B138-4A26-4769-AF28-992F229F32E5}"/>
              </a:ext>
            </a:extLst>
          </p:cNvPr>
          <p:cNvSpPr/>
          <p:nvPr/>
        </p:nvSpPr>
        <p:spPr>
          <a:xfrm>
            <a:off x="8273514" y="3940798"/>
            <a:ext cx="3576575" cy="331630"/>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LVH, 1+mm ST dep and TWI V1-3, Trop neg </a:t>
            </a:r>
          </a:p>
        </p:txBody>
      </p:sp>
      <p:sp>
        <p:nvSpPr>
          <p:cNvPr id="156" name="Case 6 - Which test answer">
            <a:extLst>
              <a:ext uri="{FF2B5EF4-FFF2-40B4-BE49-F238E27FC236}">
                <a16:creationId xmlns:a16="http://schemas.microsoft.com/office/drawing/2014/main" id="{26CFAD94-462F-41D2-AB60-F86C0FC09520}"/>
              </a:ext>
            </a:extLst>
          </p:cNvPr>
          <p:cNvSpPr/>
          <p:nvPr/>
        </p:nvSpPr>
        <p:spPr>
          <a:xfrm>
            <a:off x="8280090" y="4431370"/>
            <a:ext cx="3591684" cy="696057"/>
          </a:xfrm>
          <a:prstGeom prst="roundRect">
            <a:avLst>
              <a:gd name="adj" fmla="val 1217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Admitted for ACS rule out with serial ECGs &amp; </a:t>
            </a:r>
            <a:r>
              <a:rPr lang="en-US" sz="1400" dirty="0" err="1"/>
              <a:t>trops</a:t>
            </a:r>
            <a:r>
              <a:rPr lang="en-US" sz="1400" dirty="0"/>
              <a:t> on heparin </a:t>
            </a:r>
            <a:r>
              <a:rPr lang="en-US" sz="1400" dirty="0" err="1"/>
              <a:t>gtt</a:t>
            </a:r>
            <a:r>
              <a:rPr lang="en-US" sz="1400" dirty="0"/>
              <a:t>, inpatient TTE</a:t>
            </a:r>
          </a:p>
        </p:txBody>
      </p:sp>
      <p:sp>
        <p:nvSpPr>
          <p:cNvPr id="157" name="Case 6 - Management answer">
            <a:extLst>
              <a:ext uri="{FF2B5EF4-FFF2-40B4-BE49-F238E27FC236}">
                <a16:creationId xmlns:a16="http://schemas.microsoft.com/office/drawing/2014/main" id="{717D2317-371D-4AF8-B59D-AEE8B7202E9F}"/>
              </a:ext>
            </a:extLst>
          </p:cNvPr>
          <p:cNvSpPr/>
          <p:nvPr/>
        </p:nvSpPr>
        <p:spPr>
          <a:xfrm>
            <a:off x="8263935" y="6322047"/>
            <a:ext cx="3563603" cy="32222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Outpatient LHC</a:t>
            </a:r>
          </a:p>
        </p:txBody>
      </p:sp>
      <p:sp>
        <p:nvSpPr>
          <p:cNvPr id="158" name="Case 6 - Test results">
            <a:extLst>
              <a:ext uri="{FF2B5EF4-FFF2-40B4-BE49-F238E27FC236}">
                <a16:creationId xmlns:a16="http://schemas.microsoft.com/office/drawing/2014/main" id="{2D7DA197-3092-4A44-84A7-52D48BE1FDFA}"/>
              </a:ext>
            </a:extLst>
          </p:cNvPr>
          <p:cNvSpPr/>
          <p:nvPr/>
        </p:nvSpPr>
        <p:spPr>
          <a:xfrm>
            <a:off x="8266931" y="5273946"/>
            <a:ext cx="3621351" cy="9153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Subsequent ECGs &amp; </a:t>
            </a:r>
            <a:r>
              <a:rPr lang="en-US" sz="1400" dirty="0" err="1"/>
              <a:t>trops</a:t>
            </a:r>
            <a:r>
              <a:rPr lang="en-US" sz="1400" dirty="0"/>
              <a:t> without concerning changes.  No recurrence of chest paint. </a:t>
            </a:r>
          </a:p>
          <a:p>
            <a:pPr algn="ctr"/>
            <a:r>
              <a:rPr lang="en-US" sz="1400" dirty="0"/>
              <a:t>TTE with mild LV hypertrophy, normal LV EF and normal valves.</a:t>
            </a:r>
          </a:p>
        </p:txBody>
      </p:sp>
      <p:sp>
        <p:nvSpPr>
          <p:cNvPr id="50" name="Arrow: Right 49">
            <a:hlinkClick r:id="rId3" action="ppaction://hlinksldjump"/>
            <a:extLst>
              <a:ext uri="{FF2B5EF4-FFF2-40B4-BE49-F238E27FC236}">
                <a16:creationId xmlns:a16="http://schemas.microsoft.com/office/drawing/2014/main" id="{F2E90408-8786-4F4B-84DD-48A1D3664BD9}"/>
              </a:ext>
            </a:extLst>
          </p:cNvPr>
          <p:cNvSpPr/>
          <p:nvPr/>
        </p:nvSpPr>
        <p:spPr>
          <a:xfrm rot="10800000">
            <a:off x="164255" y="185128"/>
            <a:ext cx="507051" cy="371587"/>
          </a:xfrm>
          <a:prstGeom prst="rightArrow">
            <a:avLst/>
          </a:prstGeom>
          <a:solidFill>
            <a:schemeClr val="bg1"/>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descr="Home">
            <a:hlinkClick r:id="rId4" action="ppaction://hlinksldjump"/>
            <a:extLst>
              <a:ext uri="{FF2B5EF4-FFF2-40B4-BE49-F238E27FC236}">
                <a16:creationId xmlns:a16="http://schemas.microsoft.com/office/drawing/2014/main" id="{9AA0E70D-BD1E-4637-AD60-D616F412816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94800" y="103735"/>
            <a:ext cx="529725" cy="529725"/>
          </a:xfrm>
          <a:prstGeom prst="rect">
            <a:avLst/>
          </a:prstGeom>
        </p:spPr>
      </p:pic>
    </p:spTree>
    <p:extLst>
      <p:ext uri="{BB962C8B-B14F-4D97-AF65-F5344CB8AC3E}">
        <p14:creationId xmlns:p14="http://schemas.microsoft.com/office/powerpoint/2010/main" val="370050784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17" restart="whenNotActive" fill="hold" evtFilter="cancelBubble" nodeType="interactiveSeq">
                <p:stCondLst>
                  <p:cond evt="onClick" delay="0">
                    <p:tgtEl>
                      <p:spTgt spid="28"/>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22" restart="whenNotActive" fill="hold" evtFilter="cancelBubble" nodeType="interactiveSeq">
                <p:stCondLst>
                  <p:cond evt="onClick" delay="0">
                    <p:tgtEl>
                      <p:spTgt spid="31"/>
                    </p:tgtEl>
                  </p:cond>
                </p:stCondLst>
                <p:endSync evt="end" delay="0">
                  <p:rtn val="all"/>
                </p:endSync>
                <p:childTnLst>
                  <p:par>
                    <p:cTn id="23" fill="hold">
                      <p:stCondLst>
                        <p:cond delay="0"/>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27" restart="whenNotActive" fill="hold" evtFilter="cancelBubble" nodeType="interactiveSeq">
                <p:stCondLst>
                  <p:cond evt="onClick" delay="0">
                    <p:tgtEl>
                      <p:spTgt spid="29"/>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childTnLst>
                          </p:cTn>
                        </p:par>
                      </p:childTnLst>
                    </p:cTn>
                  </p:par>
                </p:childTnLst>
              </p:cTn>
              <p:nextCondLst>
                <p:cond evt="onClick" delay="0">
                  <p:tgtEl>
                    <p:spTgt spid="29"/>
                  </p:tgtEl>
                </p:cond>
              </p:nextCondLst>
            </p:seq>
            <p:seq concurrent="1" nextAc="seek">
              <p:cTn id="32" restart="whenNotActive" fill="hold" evtFilter="cancelBubble" nodeType="interactiveSeq">
                <p:stCondLst>
                  <p:cond evt="onClick" delay="0">
                    <p:tgtEl>
                      <p:spTgt spid="30"/>
                    </p:tgtEl>
                  </p:cond>
                </p:stCondLst>
                <p:endSync evt="end" delay="0">
                  <p:rtn val="all"/>
                </p:endSync>
                <p:childTnLst>
                  <p:par>
                    <p:cTn id="33" fill="hold">
                      <p:stCondLst>
                        <p:cond delay="0"/>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childTnLst>
              </p:cTn>
              <p:nextCondLst>
                <p:cond evt="onClick" delay="0">
                  <p:tgtEl>
                    <p:spTgt spid="30"/>
                  </p:tgtEl>
                </p:cond>
              </p:nextCondLst>
            </p:seq>
            <p:seq concurrent="1" nextAc="seek">
              <p:cTn id="37" restart="whenNotActive" fill="hold" evtFilter="cancelBubble" nodeType="interactiveSeq">
                <p:stCondLst>
                  <p:cond evt="onClick" delay="0">
                    <p:tgtEl>
                      <p:spTgt spid="90"/>
                    </p:tgtEl>
                  </p:cond>
                </p:stCondLst>
                <p:endSync evt="end" delay="0">
                  <p:rtn val="all"/>
                </p:endSync>
                <p:childTnLst>
                  <p:par>
                    <p:cTn id="38" fill="hold">
                      <p:stCondLst>
                        <p:cond delay="0"/>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91"/>
                                        </p:tgtEl>
                                        <p:attrNameLst>
                                          <p:attrName>style.visibility</p:attrName>
                                        </p:attrNameLst>
                                      </p:cBhvr>
                                      <p:to>
                                        <p:strVal val="visible"/>
                                      </p:to>
                                    </p:set>
                                  </p:childTnLst>
                                </p:cTn>
                              </p:par>
                            </p:childTnLst>
                          </p:cTn>
                        </p:par>
                      </p:childTnLst>
                    </p:cTn>
                  </p:par>
                </p:childTnLst>
              </p:cTn>
              <p:nextCondLst>
                <p:cond evt="onClick" delay="0">
                  <p:tgtEl>
                    <p:spTgt spid="90"/>
                  </p:tgtEl>
                </p:cond>
              </p:nextCondLst>
            </p:seq>
            <p:seq concurrent="1" nextAc="seek">
              <p:cTn id="42" restart="whenNotActive" fill="hold" evtFilter="cancelBubble" nodeType="interactiveSeq">
                <p:stCondLst>
                  <p:cond evt="onClick" delay="0">
                    <p:tgtEl>
                      <p:spTgt spid="129"/>
                    </p:tgtEl>
                  </p:cond>
                </p:stCondLst>
                <p:endSync evt="end" delay="0">
                  <p:rtn val="all"/>
                </p:endSync>
                <p:childTnLst>
                  <p:par>
                    <p:cTn id="43" fill="hold">
                      <p:stCondLst>
                        <p:cond delay="0"/>
                      </p:stCondLst>
                      <p:childTnLst>
                        <p:par>
                          <p:cTn id="44" fill="hold">
                            <p:stCondLst>
                              <p:cond delay="0"/>
                            </p:stCondLst>
                            <p:childTnLst>
                              <p:par>
                                <p:cTn id="45" presetID="1" presetClass="entr" presetSubtype="0" fill="hold" nodeType="withEffect">
                                  <p:stCondLst>
                                    <p:cond delay="0"/>
                                  </p:stCondLst>
                                  <p:childTnLst>
                                    <p:set>
                                      <p:cBhvr>
                                        <p:cTn id="46" dur="1" fill="hold">
                                          <p:stCondLst>
                                            <p:cond delay="0"/>
                                          </p:stCondLst>
                                        </p:cTn>
                                        <p:tgtEl>
                                          <p:spTgt spid="1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4"/>
                                        </p:tgtEl>
                                        <p:attrNameLst>
                                          <p:attrName>style.visibility</p:attrName>
                                        </p:attrNameLst>
                                      </p:cBhvr>
                                      <p:to>
                                        <p:strVal val="visible"/>
                                      </p:to>
                                    </p:set>
                                  </p:childTnLst>
                                </p:cTn>
                              </p:par>
                            </p:childTnLst>
                          </p:cTn>
                        </p:par>
                      </p:childTnLst>
                    </p:cTn>
                  </p:par>
                </p:childTnLst>
              </p:cTn>
              <p:nextCondLst>
                <p:cond evt="onClick" delay="0">
                  <p:tgtEl>
                    <p:spTgt spid="129"/>
                  </p:tgtEl>
                </p:cond>
              </p:nextCondLst>
            </p:seq>
            <p:seq concurrent="1" nextAc="seek">
              <p:cTn id="57" restart="whenNotActive" fill="hold" evtFilter="cancelBubble" nodeType="interactiveSeq">
                <p:stCondLst>
                  <p:cond evt="onClick" delay="0">
                    <p:tgtEl>
                      <p:spTgt spid="133"/>
                    </p:tgtEl>
                  </p:cond>
                </p:stCondLst>
                <p:endSync evt="end" delay="0">
                  <p:rtn val="all"/>
                </p:endSync>
                <p:childTnLst>
                  <p:par>
                    <p:cTn id="58" fill="hold">
                      <p:stCondLst>
                        <p:cond delay="0"/>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37"/>
                                        </p:tgtEl>
                                        <p:attrNameLst>
                                          <p:attrName>style.visibility</p:attrName>
                                        </p:attrNameLst>
                                      </p:cBhvr>
                                      <p:to>
                                        <p:strVal val="visible"/>
                                      </p:to>
                                    </p:set>
                                  </p:childTnLst>
                                </p:cTn>
                              </p:par>
                            </p:childTnLst>
                          </p:cTn>
                        </p:par>
                      </p:childTnLst>
                    </p:cTn>
                  </p:par>
                </p:childTnLst>
              </p:cTn>
              <p:nextCondLst>
                <p:cond evt="onClick" delay="0">
                  <p:tgtEl>
                    <p:spTgt spid="133"/>
                  </p:tgtEl>
                </p:cond>
              </p:nextCondLst>
            </p:seq>
            <p:seq concurrent="1" nextAc="seek">
              <p:cTn id="62" restart="whenNotActive" fill="hold" evtFilter="cancelBubble" nodeType="interactiveSeq">
                <p:stCondLst>
                  <p:cond evt="onClick" delay="0">
                    <p:tgtEl>
                      <p:spTgt spid="134"/>
                    </p:tgtEl>
                  </p:cond>
                </p:stCondLst>
                <p:endSync evt="end" delay="0">
                  <p:rtn val="all"/>
                </p:endSync>
                <p:childTnLst>
                  <p:par>
                    <p:cTn id="63" fill="hold">
                      <p:stCondLst>
                        <p:cond delay="0"/>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38"/>
                                        </p:tgtEl>
                                        <p:attrNameLst>
                                          <p:attrName>style.visibility</p:attrName>
                                        </p:attrNameLst>
                                      </p:cBhvr>
                                      <p:to>
                                        <p:strVal val="visible"/>
                                      </p:to>
                                    </p:set>
                                  </p:childTnLst>
                                </p:cTn>
                              </p:par>
                            </p:childTnLst>
                          </p:cTn>
                        </p:par>
                      </p:childTnLst>
                    </p:cTn>
                  </p:par>
                </p:childTnLst>
              </p:cTn>
              <p:nextCondLst>
                <p:cond evt="onClick" delay="0">
                  <p:tgtEl>
                    <p:spTgt spid="134"/>
                  </p:tgtEl>
                </p:cond>
              </p:nextCondLst>
            </p:seq>
            <p:seq concurrent="1" nextAc="seek">
              <p:cTn id="67" restart="whenNotActive" fill="hold" evtFilter="cancelBubble" nodeType="interactiveSeq">
                <p:stCondLst>
                  <p:cond evt="onClick" delay="0">
                    <p:tgtEl>
                      <p:spTgt spid="135"/>
                    </p:tgtEl>
                  </p:cond>
                </p:stCondLst>
                <p:endSync evt="end" delay="0">
                  <p:rtn val="all"/>
                </p:endSync>
                <p:childTnLst>
                  <p:par>
                    <p:cTn id="68" fill="hold">
                      <p:stCondLst>
                        <p:cond delay="0"/>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39"/>
                                        </p:tgtEl>
                                        <p:attrNameLst>
                                          <p:attrName>style.visibility</p:attrName>
                                        </p:attrNameLst>
                                      </p:cBhvr>
                                      <p:to>
                                        <p:strVal val="visible"/>
                                      </p:to>
                                    </p:set>
                                  </p:childTnLst>
                                </p:cTn>
                              </p:par>
                            </p:childTnLst>
                          </p:cTn>
                        </p:par>
                      </p:childTnLst>
                    </p:cTn>
                  </p:par>
                </p:childTnLst>
              </p:cTn>
              <p:nextCondLst>
                <p:cond evt="onClick" delay="0">
                  <p:tgtEl>
                    <p:spTgt spid="135"/>
                  </p:tgtEl>
                </p:cond>
              </p:nextCondLst>
            </p:seq>
            <p:seq concurrent="1" nextAc="seek">
              <p:cTn id="72" restart="whenNotActive" fill="hold" evtFilter="cancelBubble" nodeType="interactiveSeq">
                <p:stCondLst>
                  <p:cond evt="onClick" delay="0">
                    <p:tgtEl>
                      <p:spTgt spid="136"/>
                    </p:tgtEl>
                  </p:cond>
                </p:stCondLst>
                <p:endSync evt="end" delay="0">
                  <p:rtn val="all"/>
                </p:endSync>
                <p:childTnLst>
                  <p:par>
                    <p:cTn id="73" fill="hold">
                      <p:stCondLst>
                        <p:cond delay="0"/>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40"/>
                                        </p:tgtEl>
                                        <p:attrNameLst>
                                          <p:attrName>style.visibility</p:attrName>
                                        </p:attrNameLst>
                                      </p:cBhvr>
                                      <p:to>
                                        <p:strVal val="visible"/>
                                      </p:to>
                                    </p:set>
                                  </p:childTnLst>
                                </p:cTn>
                              </p:par>
                            </p:childTnLst>
                          </p:cTn>
                        </p:par>
                      </p:childTnLst>
                    </p:cTn>
                  </p:par>
                </p:childTnLst>
              </p:cTn>
              <p:nextCondLst>
                <p:cond evt="onClick" delay="0">
                  <p:tgtEl>
                    <p:spTgt spid="136"/>
                  </p:tgtEl>
                </p:cond>
              </p:nextCondLst>
            </p:seq>
            <p:seq concurrent="1" nextAc="seek">
              <p:cTn id="77" restart="whenNotActive" fill="hold" evtFilter="cancelBubble" nodeType="interactiveSeq">
                <p:stCondLst>
                  <p:cond evt="onClick" delay="0">
                    <p:tgtEl>
                      <p:spTgt spid="128"/>
                    </p:tgtEl>
                  </p:cond>
                </p:stCondLst>
                <p:endSync evt="end" delay="0">
                  <p:rtn val="all"/>
                </p:endSync>
                <p:childTnLst>
                  <p:par>
                    <p:cTn id="78" fill="hold">
                      <p:stCondLst>
                        <p:cond delay="0"/>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41"/>
                                        </p:tgtEl>
                                        <p:attrNameLst>
                                          <p:attrName>style.visibility</p:attrName>
                                        </p:attrNameLst>
                                      </p:cBhvr>
                                      <p:to>
                                        <p:strVal val="visible"/>
                                      </p:to>
                                    </p:set>
                                  </p:childTnLst>
                                </p:cTn>
                              </p:par>
                            </p:childTnLst>
                          </p:cTn>
                        </p:par>
                      </p:childTnLst>
                    </p:cTn>
                  </p:par>
                </p:childTnLst>
              </p:cTn>
              <p:nextCondLst>
                <p:cond evt="onClick" delay="0">
                  <p:tgtEl>
                    <p:spTgt spid="128"/>
                  </p:tgtEl>
                </p:cond>
              </p:nextCondLst>
            </p:seq>
            <p:seq concurrent="1" nextAc="seek">
              <p:cTn id="82" restart="whenNotActive" fill="hold" evtFilter="cancelBubble" nodeType="interactiveSeq">
                <p:stCondLst>
                  <p:cond evt="onClick" delay="0">
                    <p:tgtEl>
                      <p:spTgt spid="146"/>
                    </p:tgtEl>
                  </p:cond>
                </p:stCondLst>
                <p:endSync evt="end" delay="0">
                  <p:rtn val="all"/>
                </p:endSync>
                <p:childTnLst>
                  <p:par>
                    <p:cTn id="83" fill="hold">
                      <p:stCondLst>
                        <p:cond delay="0"/>
                      </p:stCondLst>
                      <p:childTnLst>
                        <p:par>
                          <p:cTn id="84" fill="hold">
                            <p:stCondLst>
                              <p:cond delay="0"/>
                            </p:stCondLst>
                            <p:childTnLst>
                              <p:par>
                                <p:cTn id="85" presetID="1" presetClass="entr" presetSubtype="0" fill="hold" nodeType="withEffect">
                                  <p:stCondLst>
                                    <p:cond delay="0"/>
                                  </p:stCondLst>
                                  <p:childTnLst>
                                    <p:set>
                                      <p:cBhvr>
                                        <p:cTn id="86" dur="1" fill="hold">
                                          <p:stCondLst>
                                            <p:cond delay="0"/>
                                          </p:stCondLst>
                                        </p:cTn>
                                        <p:tgtEl>
                                          <p:spTgt spid="14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5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4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5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5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51"/>
                                        </p:tgtEl>
                                        <p:attrNameLst>
                                          <p:attrName>style.visibility</p:attrName>
                                        </p:attrNameLst>
                                      </p:cBhvr>
                                      <p:to>
                                        <p:strVal val="visible"/>
                                      </p:to>
                                    </p:set>
                                  </p:childTnLst>
                                </p:cTn>
                              </p:par>
                            </p:childTnLst>
                          </p:cTn>
                        </p:par>
                      </p:childTnLst>
                    </p:cTn>
                  </p:par>
                </p:childTnLst>
              </p:cTn>
              <p:nextCondLst>
                <p:cond evt="onClick" delay="0">
                  <p:tgtEl>
                    <p:spTgt spid="146"/>
                  </p:tgtEl>
                </p:cond>
              </p:nextCondLst>
            </p:seq>
            <p:seq concurrent="1" nextAc="seek">
              <p:cTn id="97" restart="whenNotActive" fill="hold" evtFilter="cancelBubble" nodeType="interactiveSeq">
                <p:stCondLst>
                  <p:cond evt="onClick" delay="0">
                    <p:tgtEl>
                      <p:spTgt spid="150"/>
                    </p:tgtEl>
                  </p:cond>
                </p:stCondLst>
                <p:endSync evt="end" delay="0">
                  <p:rtn val="all"/>
                </p:endSync>
                <p:childTnLst>
                  <p:par>
                    <p:cTn id="98" fill="hold">
                      <p:stCondLst>
                        <p:cond delay="0"/>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154"/>
                                        </p:tgtEl>
                                        <p:attrNameLst>
                                          <p:attrName>style.visibility</p:attrName>
                                        </p:attrNameLst>
                                      </p:cBhvr>
                                      <p:to>
                                        <p:strVal val="visible"/>
                                      </p:to>
                                    </p:set>
                                  </p:childTnLst>
                                </p:cTn>
                              </p:par>
                            </p:childTnLst>
                          </p:cTn>
                        </p:par>
                      </p:childTnLst>
                    </p:cTn>
                  </p:par>
                </p:childTnLst>
              </p:cTn>
              <p:nextCondLst>
                <p:cond evt="onClick" delay="0">
                  <p:tgtEl>
                    <p:spTgt spid="150"/>
                  </p:tgtEl>
                </p:cond>
              </p:nextCondLst>
            </p:seq>
            <p:seq concurrent="1" nextAc="seek">
              <p:cTn id="102" restart="whenNotActive" fill="hold" evtFilter="cancelBubble" nodeType="interactiveSeq">
                <p:stCondLst>
                  <p:cond evt="onClick" delay="0">
                    <p:tgtEl>
                      <p:spTgt spid="151"/>
                    </p:tgtEl>
                  </p:cond>
                </p:stCondLst>
                <p:endSync evt="end" delay="0">
                  <p:rtn val="all"/>
                </p:endSync>
                <p:childTnLst>
                  <p:par>
                    <p:cTn id="103" fill="hold">
                      <p:stCondLst>
                        <p:cond delay="0"/>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55"/>
                                        </p:tgtEl>
                                        <p:attrNameLst>
                                          <p:attrName>style.visibility</p:attrName>
                                        </p:attrNameLst>
                                      </p:cBhvr>
                                      <p:to>
                                        <p:strVal val="visible"/>
                                      </p:to>
                                    </p:set>
                                  </p:childTnLst>
                                </p:cTn>
                              </p:par>
                            </p:childTnLst>
                          </p:cTn>
                        </p:par>
                      </p:childTnLst>
                    </p:cTn>
                  </p:par>
                </p:childTnLst>
              </p:cTn>
              <p:nextCondLst>
                <p:cond evt="onClick" delay="0">
                  <p:tgtEl>
                    <p:spTgt spid="151"/>
                  </p:tgtEl>
                </p:cond>
              </p:nextCondLst>
            </p:seq>
            <p:seq concurrent="1" nextAc="seek">
              <p:cTn id="107" restart="whenNotActive" fill="hold" evtFilter="cancelBubble" nodeType="interactiveSeq">
                <p:stCondLst>
                  <p:cond evt="onClick" delay="0">
                    <p:tgtEl>
                      <p:spTgt spid="152"/>
                    </p:tgtEl>
                  </p:cond>
                </p:stCondLst>
                <p:endSync evt="end" delay="0">
                  <p:rtn val="all"/>
                </p:endSync>
                <p:childTnLst>
                  <p:par>
                    <p:cTn id="108" fill="hold">
                      <p:stCondLst>
                        <p:cond delay="0"/>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56"/>
                                        </p:tgtEl>
                                        <p:attrNameLst>
                                          <p:attrName>style.visibility</p:attrName>
                                        </p:attrNameLst>
                                      </p:cBhvr>
                                      <p:to>
                                        <p:strVal val="visible"/>
                                      </p:to>
                                    </p:set>
                                  </p:childTnLst>
                                </p:cTn>
                              </p:par>
                            </p:childTnLst>
                          </p:cTn>
                        </p:par>
                      </p:childTnLst>
                    </p:cTn>
                  </p:par>
                </p:childTnLst>
              </p:cTn>
              <p:nextCondLst>
                <p:cond evt="onClick" delay="0">
                  <p:tgtEl>
                    <p:spTgt spid="152"/>
                  </p:tgtEl>
                </p:cond>
              </p:nextCondLst>
            </p:seq>
            <p:seq concurrent="1" nextAc="seek">
              <p:cTn id="112" restart="whenNotActive" fill="hold" evtFilter="cancelBubble" nodeType="interactiveSeq">
                <p:stCondLst>
                  <p:cond evt="onClick" delay="0">
                    <p:tgtEl>
                      <p:spTgt spid="153"/>
                    </p:tgtEl>
                  </p:cond>
                </p:stCondLst>
                <p:endSync evt="end" delay="0">
                  <p:rtn val="all"/>
                </p:endSync>
                <p:childTnLst>
                  <p:par>
                    <p:cTn id="113" fill="hold">
                      <p:stCondLst>
                        <p:cond delay="0"/>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57"/>
                                        </p:tgtEl>
                                        <p:attrNameLst>
                                          <p:attrName>style.visibility</p:attrName>
                                        </p:attrNameLst>
                                      </p:cBhvr>
                                      <p:to>
                                        <p:strVal val="visible"/>
                                      </p:to>
                                    </p:set>
                                  </p:childTnLst>
                                </p:cTn>
                              </p:par>
                            </p:childTnLst>
                          </p:cTn>
                        </p:par>
                      </p:childTnLst>
                    </p:cTn>
                  </p:par>
                </p:childTnLst>
              </p:cTn>
              <p:nextCondLst>
                <p:cond evt="onClick" delay="0">
                  <p:tgtEl>
                    <p:spTgt spid="153"/>
                  </p:tgtEl>
                </p:cond>
              </p:nextCondLst>
            </p:seq>
            <p:seq concurrent="1" nextAc="seek">
              <p:cTn id="117" restart="whenNotActive" fill="hold" evtFilter="cancelBubble" nodeType="interactiveSeq">
                <p:stCondLst>
                  <p:cond evt="onClick" delay="0">
                    <p:tgtEl>
                      <p:spTgt spid="145"/>
                    </p:tgtEl>
                  </p:cond>
                </p:stCondLst>
                <p:endSync evt="end" delay="0">
                  <p:rtn val="all"/>
                </p:endSync>
                <p:childTnLst>
                  <p:par>
                    <p:cTn id="118" fill="hold">
                      <p:stCondLst>
                        <p:cond delay="0"/>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158"/>
                                        </p:tgtEl>
                                        <p:attrNameLst>
                                          <p:attrName>style.visibility</p:attrName>
                                        </p:attrNameLst>
                                      </p:cBhvr>
                                      <p:to>
                                        <p:strVal val="visible"/>
                                      </p:to>
                                    </p:set>
                                  </p:childTnLst>
                                </p:cTn>
                              </p:par>
                            </p:childTnLst>
                          </p:cTn>
                        </p:par>
                      </p:childTnLst>
                    </p:cTn>
                  </p:par>
                </p:childTnLst>
              </p:cTn>
              <p:nextCondLst>
                <p:cond evt="onClick" delay="0">
                  <p:tgtEl>
                    <p:spTgt spid="145"/>
                  </p:tgtEl>
                </p:cond>
              </p:nextCondLst>
            </p:seq>
          </p:childTnLst>
        </p:cTn>
      </p:par>
    </p:tnLst>
    <p:bldLst>
      <p:bldP spid="90" grpId="0" animBg="1"/>
      <p:bldP spid="28" grpId="0" animBg="1"/>
      <p:bldP spid="31" grpId="0" animBg="1"/>
      <p:bldP spid="29" grpId="0" animBg="1"/>
      <p:bldP spid="30" grpId="0" animBg="1"/>
      <p:bldP spid="33" grpId="0" animBg="1"/>
      <p:bldP spid="34" grpId="0" animBg="1"/>
      <p:bldP spid="35" grpId="0" animBg="1"/>
      <p:bldP spid="36" grpId="0" animBg="1"/>
      <p:bldP spid="91" grpId="0" animBg="1"/>
      <p:bldP spid="128"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5"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ctr"/>
            <a:r>
              <a:rPr sz="2400" b="1">
                <a:solidFill>
                  <a:srgbClr val="FFFFFF"/>
                </a:solidFill>
                <a:latin typeface="Calibri"/>
              </a:rPr>
              <a:t>Guideline Update: 2021 Chest Pain &amp; 2023 Chronic Coronary Disease</a:t>
            </a:r>
          </a:p>
        </p:txBody>
      </p:sp>
      <p:sp>
        <p:nvSpPr>
          <p:cNvPr id="3" name="TextBox 2"/>
          <p:cNvSpPr txBox="1"/>
          <p:nvPr/>
        </p:nvSpPr>
        <p:spPr>
          <a:xfrm>
            <a:off x="457200" y="1066800"/>
            <a:ext cx="11277600" cy="5334000"/>
          </a:xfrm>
          <a:prstGeom prst="rect">
            <a:avLst/>
          </a:prstGeom>
          <a:noFill/>
        </p:spPr>
        <p:txBody>
          <a:bodyPr wrap="square">
            <a:spAutoFit/>
          </a:bodyPr>
          <a:lstStyle/>
          <a:p>
            <a:pPr>
              <a:spcAft>
                <a:spcPts val="700"/>
              </a:spcAft>
            </a:pPr>
            <a:r>
              <a:rPr sz="1600" b="1">
                <a:solidFill>
                  <a:srgbClr val="222222"/>
                </a:solidFill>
                <a:latin typeface="Calibri"/>
              </a:rPr>
              <a:t>2021 AHA/ACC Chest Pain Guideline (Gulati et al.)</a:t>
            </a:r>
          </a:p>
          <a:p>
            <a:pPr lvl="1">
              <a:spcAft>
                <a:spcPts val="700"/>
              </a:spcAft>
            </a:pPr>
            <a:r>
              <a:rPr sz="1300" b="0">
                <a:solidFill>
                  <a:srgbClr val="222222"/>
                </a:solidFill>
                <a:latin typeface="Calibri"/>
              </a:rPr>
              <a:t>Describe chest pain as cardiac / possibly cardiac / noncardiac — retire "typical / atypical."</a:t>
            </a:r>
          </a:p>
          <a:p>
            <a:pPr lvl="1">
              <a:spcAft>
                <a:spcPts val="700"/>
              </a:spcAft>
            </a:pPr>
            <a:r>
              <a:rPr sz="1300" b="0">
                <a:solidFill>
                  <a:srgbClr val="222222"/>
                </a:solidFill>
                <a:latin typeface="Calibri"/>
              </a:rPr>
              <a:t>Stable pain, no known CAD, low pretest probability: defer testing; coronary artery calcium (CAC) score is a useful first-line gatekeeper to exclude calcific plaque.</a:t>
            </a:r>
          </a:p>
          <a:p>
            <a:pPr lvl="1">
              <a:spcAft>
                <a:spcPts val="700"/>
              </a:spcAft>
            </a:pPr>
            <a:r>
              <a:rPr sz="1300" b="0">
                <a:solidFill>
                  <a:srgbClr val="222222"/>
                </a:solidFill>
                <a:latin typeface="Calibri"/>
              </a:rPr>
              <a:t>Intermediate–high risk: CCTA is now Class 1 first-line (anatomic) alongside stress imaging (functional). CCTA favored if &lt;65 y or less obstructive CAD suspected; stress favored if &gt;65 y or more obstructive CAD suspected.</a:t>
            </a:r>
          </a:p>
          <a:p>
            <a:pPr>
              <a:spcAft>
                <a:spcPts val="700"/>
              </a:spcAft>
            </a:pPr>
            <a:r>
              <a:rPr sz="1600" b="1">
                <a:solidFill>
                  <a:srgbClr val="222222"/>
                </a:solidFill>
                <a:latin typeface="Calibri"/>
              </a:rPr>
              <a:t>2023 AHA/ACC Chronic Coronary Disease Guideline (Virani et al.)</a:t>
            </a:r>
          </a:p>
          <a:p>
            <a:pPr lvl="1">
              <a:spcAft>
                <a:spcPts val="700"/>
              </a:spcAft>
            </a:pPr>
            <a:r>
              <a:rPr sz="1300" b="0">
                <a:solidFill>
                  <a:srgbClr val="222222"/>
                </a:solidFill>
                <a:latin typeface="Calibri"/>
              </a:rPr>
              <a:t>Beta-blockers not required as anti-anginal without prior MI or LVEF ≤50%; high-intensity statin first-line; add SGLT2i or GLP-1 RA in CCD + diabetes (SGLT2i if HF); colchicine 0.5 mg daily is reasonable (Class 2a).</a:t>
            </a:r>
          </a:p>
          <a:p>
            <a:pPr lvl="1">
              <a:spcAft>
                <a:spcPts val="700"/>
              </a:spcAft>
            </a:pPr>
            <a:r>
              <a:rPr sz="1300" b="0">
                <a:solidFill>
                  <a:srgbClr val="222222"/>
                </a:solidFill>
                <a:latin typeface="Calibri"/>
              </a:rPr>
              <a:t>ISCHEMIA trial (2020): in stable CAD with moderate–severe ischemia, an initial invasive strategy did not reduce death/MI vs optimal medical therapy — supports treating medically first and deferring cath.</a:t>
            </a:r>
          </a:p>
        </p:txBody>
      </p:sp>
      <p:sp>
        <p:nvSpPr>
          <p:cNvPr id="4" name="TextBox 3"/>
          <p:cNvSpPr txBox="1"/>
          <p:nvPr/>
        </p:nvSpPr>
        <p:spPr>
          <a:xfrm>
            <a:off x="457200" y="6446520"/>
            <a:ext cx="11277600" cy="320040"/>
          </a:xfrm>
          <a:prstGeom prst="rect">
            <a:avLst/>
          </a:prstGeom>
          <a:noFill/>
        </p:spPr>
        <p:txBody>
          <a:bodyPr wrap="square">
            <a:spAutoFit/>
          </a:bodyPr>
          <a:lstStyle/>
          <a:p>
            <a:r>
              <a:rPr sz="900" i="1">
                <a:solidFill>
                  <a:srgbClr val="555555"/>
                </a:solidFill>
                <a:latin typeface="Calibri"/>
              </a:rPr>
              <a:t>Standing 2019 ESC diagnostic framework on the teaching slides remains valid; the above is layered current context. Sources cited in the HTML package.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ctr"/>
            <a:r>
              <a:rPr sz="2400" b="1">
                <a:solidFill>
                  <a:srgbClr val="FFFFFF"/>
                </a:solidFill>
                <a:latin typeface="Calibri"/>
              </a:rPr>
              <a:t>Take-Home Points</a:t>
            </a:r>
          </a:p>
        </p:txBody>
      </p:sp>
      <p:sp>
        <p:nvSpPr>
          <p:cNvPr id="3" name="TextBox 2"/>
          <p:cNvSpPr txBox="1"/>
          <p:nvPr/>
        </p:nvSpPr>
        <p:spPr>
          <a:xfrm>
            <a:off x="457200" y="1066800"/>
            <a:ext cx="11277600" cy="5334000"/>
          </a:xfrm>
          <a:prstGeom prst="rect">
            <a:avLst/>
          </a:prstGeom>
          <a:noFill/>
        </p:spPr>
        <p:txBody>
          <a:bodyPr wrap="square">
            <a:spAutoFit/>
          </a:bodyPr>
          <a:lstStyle/>
          <a:p>
            <a:pPr>
              <a:spcAft>
                <a:spcPts val="700"/>
              </a:spcAft>
            </a:pPr>
            <a:r>
              <a:rPr sz="1600" b="1">
                <a:solidFill>
                  <a:srgbClr val="222222"/>
                </a:solidFill>
                <a:latin typeface="Calibri"/>
              </a:rPr>
              <a:t>1. Frame the question first.</a:t>
            </a:r>
          </a:p>
          <a:p>
            <a:pPr lvl="1">
              <a:spcAft>
                <a:spcPts val="700"/>
              </a:spcAft>
            </a:pPr>
            <a:r>
              <a:rPr sz="1300" b="0">
                <a:solidFill>
                  <a:srgbClr val="222222"/>
                </a:solidFill>
                <a:latin typeface="Calibri"/>
              </a:rPr>
              <a:t>Outpatient non-acute chest pain asks “is this obstructive CAD?” — distinct from the ED question “is this ACS?”</a:t>
            </a:r>
          </a:p>
          <a:p>
            <a:pPr>
              <a:spcAft>
                <a:spcPts val="700"/>
              </a:spcAft>
            </a:pPr>
            <a:r>
              <a:rPr sz="1600" b="1">
                <a:solidFill>
                  <a:srgbClr val="222222"/>
                </a:solidFill>
                <a:latin typeface="Calibri"/>
              </a:rPr>
              <a:t>2. Risk-stratify by pretest probability (CAD Consortium Score).</a:t>
            </a:r>
          </a:p>
          <a:p>
            <a:pPr lvl="1">
              <a:spcAft>
                <a:spcPts val="700"/>
              </a:spcAft>
            </a:pPr>
            <a:r>
              <a:rPr sz="1300" b="0">
                <a:solidFill>
                  <a:srgbClr val="222222"/>
                </a:solidFill>
                <a:latin typeface="Calibri"/>
              </a:rPr>
              <a:t>Low &lt;5%: look for an alternative cause. Intermediate 5–70%: stress test. High &gt;70%: ECG + imaging to exclude left main / proximal LAD / 3-vessel disease, then empiric medical therapy.</a:t>
            </a:r>
          </a:p>
          <a:p>
            <a:pPr>
              <a:spcAft>
                <a:spcPts val="700"/>
              </a:spcAft>
            </a:pPr>
            <a:r>
              <a:rPr sz="1600" b="1">
                <a:solidFill>
                  <a:srgbClr val="222222"/>
                </a:solidFill>
                <a:latin typeface="Calibri"/>
              </a:rPr>
              <a:t>3. Choose the stress test by what the patient can do.</a:t>
            </a:r>
          </a:p>
          <a:p>
            <a:pPr lvl="1">
              <a:spcAft>
                <a:spcPts val="700"/>
              </a:spcAft>
            </a:pPr>
            <a:r>
              <a:rPr sz="1300" b="0">
                <a:solidFill>
                  <a:srgbClr val="222222"/>
                </a:solidFill>
                <a:latin typeface="Calibri"/>
              </a:rPr>
              <a:t>Exercise treadmill ECG if the patient can exercise and the baseline ECG is interpretable; otherwise imaging stress (echo or MPI), exercise or pharmacologic.</a:t>
            </a:r>
          </a:p>
          <a:p>
            <a:pPr>
              <a:spcAft>
                <a:spcPts val="700"/>
              </a:spcAft>
            </a:pPr>
            <a:r>
              <a:rPr sz="1600" b="1">
                <a:solidFill>
                  <a:srgbClr val="222222"/>
                </a:solidFill>
                <a:latin typeface="Calibri"/>
              </a:rPr>
              <a:t>4. Treat medically first; image the anatomy only when warranted.</a:t>
            </a:r>
          </a:p>
          <a:p>
            <a:pPr lvl="1">
              <a:spcAft>
                <a:spcPts val="700"/>
              </a:spcAft>
            </a:pPr>
            <a:r>
              <a:rPr sz="1300" b="0">
                <a:solidFill>
                  <a:srgbClr val="222222"/>
                </a:solidFill>
                <a:latin typeface="Calibri"/>
              </a:rPr>
              <a:t>Start guideline-directed medical therapy; reserve CCTA/left heart cath for markedly positive testing or failure of medical management (ISCHEMIA).</a:t>
            </a:r>
          </a:p>
          <a:p>
            <a:pPr>
              <a:spcAft>
                <a:spcPts val="700"/>
              </a:spcAft>
            </a:pPr>
            <a:r>
              <a:rPr sz="1600" b="1">
                <a:solidFill>
                  <a:srgbClr val="222222"/>
                </a:solidFill>
                <a:latin typeface="Calibri"/>
              </a:rPr>
              <a:t>5. Scores support — never supersede — clinical judgment.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ctr"/>
            <a:r>
              <a:rPr sz="2400" b="1">
                <a:solidFill>
                  <a:srgbClr val="FFFFFF"/>
                </a:solidFill>
                <a:latin typeface="Calibri"/>
              </a:rPr>
              <a:t>Attribution &amp; Optimization Changelog</a:t>
            </a:r>
          </a:p>
        </p:txBody>
      </p:sp>
      <p:sp>
        <p:nvSpPr>
          <p:cNvPr id="3" name="TextBox 2"/>
          <p:cNvSpPr txBox="1"/>
          <p:nvPr/>
        </p:nvSpPr>
        <p:spPr>
          <a:xfrm>
            <a:off x="457200" y="1066800"/>
            <a:ext cx="11277600" cy="5334000"/>
          </a:xfrm>
          <a:prstGeom prst="rect">
            <a:avLst/>
          </a:prstGeom>
          <a:noFill/>
        </p:spPr>
        <p:txBody>
          <a:bodyPr wrap="square">
            <a:spAutoFit/>
          </a:bodyPr>
          <a:lstStyle/>
          <a:p>
            <a:pPr>
              <a:spcAft>
                <a:spcPts val="700"/>
              </a:spcAft>
            </a:pPr>
            <a:r>
              <a:rPr sz="1600" b="1">
                <a:solidFill>
                  <a:srgbClr val="222222"/>
                </a:solidFill>
                <a:latin typeface="Calibri"/>
              </a:rPr>
              <a:t>TeachIM original</a:t>
            </a:r>
          </a:p>
          <a:p>
            <a:pPr lvl="1">
              <a:spcAft>
                <a:spcPts val="700"/>
              </a:spcAft>
            </a:pPr>
            <a:r>
              <a:rPr sz="1300" b="0">
                <a:solidFill>
                  <a:srgbClr val="222222"/>
                </a:solidFill>
                <a:latin typeface="Calibri"/>
              </a:rPr>
              <a:t>“Stress Testing – Outpatient Evaluation for Coronary Artery Disease.” Brandon Fainstad, MD; expert review Kelsey Flint, MD (Univ. of Colorado, Cardiology). Published December 2020.</a:t>
            </a:r>
          </a:p>
          <a:p>
            <a:pPr lvl="1">
              <a:spcAft>
                <a:spcPts val="700"/>
              </a:spcAft>
            </a:pPr>
            <a:r>
              <a:rPr sz="1300" b="0">
                <a:solidFill>
                  <a:srgbClr val="222222"/>
                </a:solidFill>
                <a:latin typeface="Calibri"/>
              </a:rPr>
              <a:t>teachim.org/teaching_material/chest-pain-outpatient-evaluation-of-coronary-artery-disease/</a:t>
            </a:r>
          </a:p>
          <a:p>
            <a:pPr>
              <a:spcAft>
                <a:spcPts val="700"/>
              </a:spcAft>
            </a:pPr>
            <a:r>
              <a:rPr sz="1600" b="1">
                <a:solidFill>
                  <a:srgbClr val="222222"/>
                </a:solidFill>
                <a:latin typeface="Calibri"/>
              </a:rPr>
              <a:t>License</a:t>
            </a:r>
          </a:p>
          <a:p>
            <a:pPr lvl="1">
              <a:spcAft>
                <a:spcPts val="700"/>
              </a:spcAft>
            </a:pPr>
            <a:r>
              <a:rPr sz="1300" b="0">
                <a:solidFill>
                  <a:srgbClr val="222222"/>
                </a:solidFill>
                <a:latin typeface="Calibri"/>
              </a:rPr>
              <a:t>Creative Commons Attribution-NonCommercial 4.0 International (CC BY-NC 4.0). Attribution required; non-commercial use only.</a:t>
            </a:r>
          </a:p>
          <a:p>
            <a:pPr>
              <a:spcAft>
                <a:spcPts val="700"/>
              </a:spcAft>
            </a:pPr>
            <a:r>
              <a:rPr sz="1600" b="1">
                <a:solidFill>
                  <a:srgbClr val="222222"/>
                </a:solidFill>
                <a:latin typeface="Calibri"/>
              </a:rPr>
              <a:t>Optimization (2026-06-10)</a:t>
            </a:r>
          </a:p>
          <a:p>
            <a:pPr lvl="1">
              <a:spcAft>
                <a:spcPts val="700"/>
              </a:spcAft>
            </a:pPr>
            <a:r>
              <a:rPr sz="1300" b="0">
                <a:solidFill>
                  <a:srgbClr val="222222"/>
                </a:solidFill>
                <a:latin typeface="Calibri"/>
              </a:rPr>
              <a:t>Corrected deck typo “INTERMDIATE” → “INTERMEDIATE” (slide 2). Appended this update + take-home slide; all original animated buttons/builds preserved.</a:t>
            </a:r>
          </a:p>
          <a:p>
            <a:pPr lvl="1">
              <a:spcAft>
                <a:spcPts val="700"/>
              </a:spcAft>
            </a:pPr>
            <a:r>
              <a:rPr sz="1300" b="0">
                <a:solidFill>
                  <a:srgbClr val="222222"/>
                </a:solidFill>
                <a:latin typeface="Calibri"/>
              </a:rPr>
              <a:t>Currency: 2019 ESC framework verified current; layered 2021 AHA/ACC Chest Pain &amp; 2023 AHA/ACC Chronic Coronary Disease updates (all source-cited). No invented values.</a:t>
            </a:r>
          </a:p>
          <a:p>
            <a:pPr lvl="1">
              <a:spcAft>
                <a:spcPts val="700"/>
              </a:spcAft>
            </a:pPr>
            <a:r>
              <a:rPr sz="1300" b="0">
                <a:solidFill>
                  <a:srgbClr val="222222"/>
                </a:solidFill>
                <a:latin typeface="Calibri"/>
              </a:rPr>
              <a:t>Companion: Chest-Pain-CAD-eval-Learner-Handout-1.pdf — same INTERMDIATE→INTERMEDIATE typo corrected in place (filename kept); no other errors.</a:t>
            </a:r>
          </a:p>
        </p:txBody>
      </p:sp>
      <p:sp>
        <p:nvSpPr>
          <p:cNvPr id="4" name="TextBox 3"/>
          <p:cNvSpPr txBox="1"/>
          <p:nvPr/>
        </p:nvSpPr>
        <p:spPr>
          <a:xfrm>
            <a:off x="457200" y="6446520"/>
            <a:ext cx="11277600" cy="320040"/>
          </a:xfrm>
          <a:prstGeom prst="rect">
            <a:avLst/>
          </a:prstGeom>
          <a:noFill/>
        </p:spPr>
        <p:txBody>
          <a:bodyPr wrap="square">
            <a:spAutoFit/>
          </a:bodyPr>
          <a:lstStyle/>
          <a:p>
            <a:r>
              <a:rPr sz="900" i="1">
                <a:solidFill>
                  <a:srgbClr val="555555"/>
                </a:solidFill>
                <a:latin typeface="Calibri"/>
              </a:rPr>
              <a:t>Educational use only. Medical content should be clinician-reviewed before teaching.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1358</TotalTime>
  <Words>1375</Words>
  <Application>Microsoft Office PowerPoint</Application>
  <PresentationFormat>Widescreen</PresentationFormat>
  <Paragraphs>200</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Brandon Fainstad</cp:lastModifiedBy>
  <cp:revision>3</cp:revision>
  <cp:lastPrinted>2020-07-16T12:32:16Z</cp:lastPrinted>
  <dcterms:created xsi:type="dcterms:W3CDTF">2020-07-07T23:21:47Z</dcterms:created>
  <dcterms:modified xsi:type="dcterms:W3CDTF">2020-12-11T20:09:28Z</dcterms:modified>
</cp:coreProperties>
</file>