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63_74B353AD.xml" ContentType="application/vnd.ms-powerpoint.comments+xml"/>
  <Override PartName="/ppt/media/image1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348" r:id="rId5"/>
    <p:sldId id="350" r:id="rId6"/>
    <p:sldId id="360" r:id="rId7"/>
    <p:sldId id="355" r:id="rId8"/>
    <p:sldId id="357" r:id="rId9"/>
    <p:sldId id="361" r:id="rId10"/>
    <p:sldId id="342" r:id="rId11"/>
    <p:sldId id="362" r:id="rId3"/>
    <p:sldId id="363" r:id="rId2"/>
    <p:sldId id="364" r:id="r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701A47-5F80-F9D4-C11E-26893DC9BD88}" name="Nikki N Zarling" initials="NNZ" userId="S::niewold@uw.edu::849af211-3b52-4c97-91e5-d701fbe61ade" providerId="AD"/>
  <p188:author id="{AB810968-D91D-C19B-3655-B4D2DE7FDBEE}" name="Yilin Zhang" initials="YZ" userId="S::Yilin_Zhang@valleymed.org::40a11026-a9ab-441d-8256-d37e38926e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86486" autoAdjust="0"/>
  </p:normalViewPr>
  <p:slideViewPr>
    <p:cSldViewPr snapToGrid="0">
      <p:cViewPr varScale="1">
        <p:scale>
          <a:sx n="93" d="100"/>
          <a:sy n="93" d="100"/>
        </p:scale>
        <p:origin x="354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10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/Relationships>
</file>

<file path=ppt/comments/modernComment_163_74B353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2F4A14-0C92-4C8A-8126-47B71BE4A994}" authorId="{AB810968-D91D-C19B-3655-B4D2DE7FDBEE}" created="2022-04-13T20:38:38.2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09489220" sldId="341"/>
      <ac:picMk id="20" creationId="{E240E6E8-2766-4BBB-8FED-E08B8A7F16B0}"/>
    </ac:deMkLst>
    <p188:replyLst>
      <p188:reply id="{296129F3-1CDC-1B4A-A2E2-3B39DF8C1476}" authorId="{6C701A47-5F80-F9D4-C11E-26893DC9BD88}" created="2022-05-16T02:17:31.109">
        <p188:txBody>
          <a:bodyPr/>
          <a:lstStyle/>
          <a:p>
            <a:r>
              <a:rPr lang="en-US"/>
              <a:t>I like this mock-up a little better (compared to slide 13) - less crowded and I like the transition to gyn comorbidities </a:t>
            </a:r>
          </a:p>
        </p188:txBody>
      </p188:reply>
    </p188:replyLst>
    <p188:txBody>
      <a:bodyPr/>
      <a:lstStyle/>
      <a:p>
        <a:r>
          <a:rPr lang="en-US"/>
          <a:t>Mock-up #2 of an introductory slide with the organ systems as buttons so that the audience has the opportunity to "guess" the content.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A6B7B-5AAD-5B4E-9227-8EEADCC263B2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1B54A-DCB6-B44A-AEC6-DEBE096F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70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B54A-DCB6-B44A-AEC6-DEBE096F3F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80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Kiconco</a:t>
            </a:r>
            <a:r>
              <a:rPr lang="en-US" dirty="0"/>
              <a:t> S. The Need to Reassess Diagnosis of Polycystic Ovary Syndrome (PCOS): A Review of Diagnostic Recommendations from the International Evidence-Based Guideline for the Assessment and Management of PCOS. Semin </a:t>
            </a:r>
            <a:r>
              <a:rPr lang="en-US" dirty="0" err="1"/>
              <a:t>Reprod</a:t>
            </a:r>
            <a:r>
              <a:rPr lang="en-US" dirty="0"/>
              <a:t> Med. 2021; 31:71-77.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Segoe UI" panose="020B0502040204020203" pitchFamily="34" charset="0"/>
              </a:rPr>
              <a:t>Picture from: Norman RJ,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Dewailly</a:t>
            </a:r>
            <a:r>
              <a:rPr lang="en-US" sz="1200" dirty="0">
                <a:effectLst/>
                <a:latin typeface="Segoe UI" panose="020B0502040204020203" pitchFamily="34" charset="0"/>
              </a:rPr>
              <a:t> D,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Legro</a:t>
            </a:r>
            <a:r>
              <a:rPr lang="en-US" sz="1200" dirty="0">
                <a:effectLst/>
                <a:latin typeface="Segoe UI" panose="020B0502040204020203" pitchFamily="34" charset="0"/>
              </a:rPr>
              <a:t> RS, Hickey TE. Polycystic ovary syndrome. Lancet. 2007 Aug 25;370(9588):685-97.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doi</a:t>
            </a:r>
            <a:r>
              <a:rPr lang="en-US" sz="1200" dirty="0">
                <a:effectLst/>
                <a:latin typeface="Segoe UI" panose="020B0502040204020203" pitchFamily="34" charset="0"/>
              </a:rPr>
              <a:t>: 10.1016/S0140-6736(07)61345-2. PMID: 17720020.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B54A-DCB6-B44A-AEC6-DEBE096F3F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90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Kyritsi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EM, t al. PCOS remains a diagnosis of exclusion: a concise review of key endocrinopathies to exclude. </a:t>
            </a:r>
            <a:r>
              <a:rPr lang="en-US" sz="18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Clinical Endocrinology.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2017. 86: 1-6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B54A-DCB6-B44A-AEC6-DEBE096F3F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65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B54A-DCB6-B44A-AEC6-DEBE096F3F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91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B54A-DCB6-B44A-AEC6-DEBE096F3F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42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B54A-DCB6-B44A-AEC6-DEBE096F3F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99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 Guide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B54A-DCB6-B44A-AEC6-DEBE096F3F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970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6.xml"/><Relationship Id="rId9" Type="http://schemas.openxmlformats.org/officeDocument/2006/relationships/image" Target="../media/image3.png"/><Relationship Id="rId10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" Target="slide3.xml"/><Relationship Id="rId6" Type="http://schemas.openxmlformats.org/officeDocument/2006/relationships/image" Target="../media/image2.png"/><Relationship Id="rId7" Type="http://schemas.openxmlformats.org/officeDocument/2006/relationships/image" Target="../media/image5.jpeg"/><Relationship Id="rId8" Type="http://schemas.openxmlformats.org/officeDocument/2006/relationships/slide" Target="slide4.xml"/><Relationship Id="rId9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5.xml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2.png"/><Relationship Id="rId7" Type="http://schemas.openxmlformats.org/officeDocument/2006/relationships/slide" Target="slide2.xml"/><Relationship Id="rId8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microsoft.com/office/2018/10/relationships/comments" Target="../comments/modernComment_163_74B353AD.xml"/><Relationship Id="rId4" Type="http://schemas.openxmlformats.org/officeDocument/2006/relationships/image" Target="../media/image6.png"/><Relationship Id="rId5" Type="http://schemas.microsoft.com/office/2007/relationships/hdphoto" Target="../media/hdphoto1.wdp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2.png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6.xml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microsoft.com/office/2007/relationships/hdphoto" Target="../media/hdphoto2.wdp"/><Relationship Id="rId14" Type="http://schemas.openxmlformats.org/officeDocument/2006/relationships/image" Target="../media/image11.png"/><Relationship Id="rId15" Type="http://schemas.microsoft.com/office/2007/relationships/hdphoto" Target="../media/hdphoto3.wdp"/><Relationship Id="rId16" Type="http://schemas.openxmlformats.org/officeDocument/2006/relationships/image" Target="../media/image12.png"/><Relationship Id="rId17" Type="http://schemas.openxmlformats.org/officeDocument/2006/relationships/image" Target="../media/image13.svg"/><Relationship Id="rId18" Type="http://schemas.openxmlformats.org/officeDocument/2006/relationships/image" Target="../media/image14.png"/><Relationship Id="rId19" Type="http://schemas.microsoft.com/office/2007/relationships/hdphoto" Target="../media/hdphoto4.wdp"/><Relationship Id="rId20" Type="http://schemas.openxmlformats.org/officeDocument/2006/relationships/slide" Target="slide2.xml"/><Relationship Id="rId21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5.xml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2.xml"/><Relationship Id="rId9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D1C09E7-F0DB-964C-951B-3FBF0BD3A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880" y="952379"/>
            <a:ext cx="8296560" cy="5807592"/>
          </a:xfrm>
          <a:prstGeom prst="rect">
            <a:avLst/>
          </a:prstGeom>
        </p:spPr>
      </p:pic>
      <p:pic>
        <p:nvPicPr>
          <p:cNvPr id="22" name="teachIM logo" descr="Icon&#10;&#10;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AA7CA2-45A3-BD4D-87E4-89BF7B94F975}"/>
              </a:ext>
            </a:extLst>
          </p:cNvPr>
          <p:cNvSpPr txBox="1"/>
          <p:nvPr/>
        </p:nvSpPr>
        <p:spPr>
          <a:xfrm>
            <a:off x="2449795" y="213293"/>
            <a:ext cx="89135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Polycystic Ovarian Syndrome (PCOS)</a:t>
            </a:r>
          </a:p>
        </p:txBody>
      </p:sp>
      <p:sp>
        <p:nvSpPr>
          <p:cNvPr id="23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62FD7883-B909-DC4F-91D8-6EA2CEA08795}"/>
              </a:ext>
            </a:extLst>
          </p:cNvPr>
          <p:cNvSpPr txBox="1"/>
          <p:nvPr/>
        </p:nvSpPr>
        <p:spPr>
          <a:xfrm>
            <a:off x="222678" y="199033"/>
            <a:ext cx="1645920" cy="41148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Diagnosis </a:t>
            </a:r>
          </a:p>
        </p:txBody>
      </p:sp>
      <p:sp>
        <p:nvSpPr>
          <p:cNvPr id="24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43614CB9-EEF3-B940-A34C-2F95CD7EE46E}"/>
              </a:ext>
            </a:extLst>
          </p:cNvPr>
          <p:cNvSpPr txBox="1"/>
          <p:nvPr/>
        </p:nvSpPr>
        <p:spPr>
          <a:xfrm>
            <a:off x="222678" y="777222"/>
            <a:ext cx="1645920" cy="41148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DDx and Eval</a:t>
            </a:r>
          </a:p>
        </p:txBody>
      </p:sp>
      <p:sp>
        <p:nvSpPr>
          <p:cNvPr id="30" name="question 3">
            <a:hlinkClick r:id="rId7" action="ppaction://hlinksldjump"/>
            <a:extLst>
              <a:ext uri="{FF2B5EF4-FFF2-40B4-BE49-F238E27FC236}">
                <a16:creationId xmlns:a16="http://schemas.microsoft.com/office/drawing/2014/main" id="{146B1881-F550-B049-A4F3-ABFC9590B0D4}"/>
              </a:ext>
            </a:extLst>
          </p:cNvPr>
          <p:cNvSpPr txBox="1"/>
          <p:nvPr/>
        </p:nvSpPr>
        <p:spPr>
          <a:xfrm>
            <a:off x="222678" y="1355411"/>
            <a:ext cx="1645920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Associated Co-Morbidities </a:t>
            </a:r>
          </a:p>
        </p:txBody>
      </p:sp>
      <p:sp>
        <p:nvSpPr>
          <p:cNvPr id="33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786212E6-2E30-0942-9C9F-10BB3BD2B4ED}"/>
              </a:ext>
            </a:extLst>
          </p:cNvPr>
          <p:cNvSpPr txBox="1"/>
          <p:nvPr/>
        </p:nvSpPr>
        <p:spPr>
          <a:xfrm>
            <a:off x="222678" y="2237209"/>
            <a:ext cx="1645920" cy="41148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A7A6C5F8-8AFE-B841-A760-7F8EC2D287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24142" y="468999"/>
            <a:ext cx="301752" cy="301752"/>
          </a:xfrm>
          <a:prstGeom prst="rect">
            <a:avLst/>
          </a:prstGeom>
        </p:spPr>
      </p:pic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6A13C95B-BA6B-FB4E-A1B8-BAAB2B8C23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16998" y="1035769"/>
            <a:ext cx="301752" cy="301752"/>
          </a:xfrm>
          <a:prstGeom prst="rect">
            <a:avLst/>
          </a:prstGeom>
        </p:spPr>
      </p:pic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AC4CE7CE-0840-8941-87DC-5C84050AF8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24142" y="2519003"/>
            <a:ext cx="301752" cy="301752"/>
          </a:xfrm>
          <a:prstGeom prst="rect">
            <a:avLst/>
          </a:prstGeom>
        </p:spPr>
      </p:pic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9E3D9E2D-0777-40E7-A161-B65E1C91DA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18213" y="1902850"/>
            <a:ext cx="301752" cy="3017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5F93F3-725E-41EA-9D2E-FB6F57F8870A}"/>
              </a:ext>
            </a:extLst>
          </p:cNvPr>
          <p:cNvSpPr txBox="1"/>
          <p:nvPr/>
        </p:nvSpPr>
        <p:spPr>
          <a:xfrm>
            <a:off x="0" y="6611779"/>
            <a:ext cx="2643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created with biorender.com</a:t>
            </a:r>
          </a:p>
        </p:txBody>
      </p:sp>
    </p:spTree>
    <p:extLst>
      <p:ext uri="{BB962C8B-B14F-4D97-AF65-F5344CB8AC3E}">
        <p14:creationId xmlns:p14="http://schemas.microsoft.com/office/powerpoint/2010/main" val="65665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442B2D-B0E7-BF44-94B0-BCB41EDF3757}"/>
              </a:ext>
            </a:extLst>
          </p:cNvPr>
          <p:cNvSpPr txBox="1"/>
          <p:nvPr/>
        </p:nvSpPr>
        <p:spPr>
          <a:xfrm>
            <a:off x="4312568" y="827578"/>
            <a:ext cx="553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use the                                               to diagnose PCOS.</a:t>
            </a:r>
          </a:p>
        </p:txBody>
      </p:sp>
      <p:sp>
        <p:nvSpPr>
          <p:cNvPr id="70" name="Rotterdam">
            <a:extLst>
              <a:ext uri="{FF2B5EF4-FFF2-40B4-BE49-F238E27FC236}">
                <a16:creationId xmlns:a16="http://schemas.microsoft.com/office/drawing/2014/main" id="{09EF1716-35FD-4C16-A97F-6DA30F20B06B}"/>
              </a:ext>
            </a:extLst>
          </p:cNvPr>
          <p:cNvSpPr/>
          <p:nvPr/>
        </p:nvSpPr>
        <p:spPr>
          <a:xfrm>
            <a:off x="5570729" y="800079"/>
            <a:ext cx="2186663" cy="43088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Rotterdam Criteria</a:t>
            </a:r>
          </a:p>
        </p:txBody>
      </p:sp>
      <p:sp>
        <p:nvSpPr>
          <p:cNvPr id="4" name="Polycystic ovaries">
            <a:extLst>
              <a:ext uri="{FF2B5EF4-FFF2-40B4-BE49-F238E27FC236}">
                <a16:creationId xmlns:a16="http://schemas.microsoft.com/office/drawing/2014/main" id="{5ED919D9-F753-4412-8928-52909D59C540}"/>
              </a:ext>
            </a:extLst>
          </p:cNvPr>
          <p:cNvSpPr/>
          <p:nvPr/>
        </p:nvSpPr>
        <p:spPr>
          <a:xfrm>
            <a:off x="2909782" y="5776778"/>
            <a:ext cx="2225559" cy="457200"/>
          </a:xfrm>
          <a:custGeom>
            <a:avLst/>
            <a:gdLst>
              <a:gd name="connsiteX0" fmla="*/ 0 w 4132484"/>
              <a:gd name="connsiteY0" fmla="*/ 107191 h 643134"/>
              <a:gd name="connsiteX1" fmla="*/ 107191 w 4132484"/>
              <a:gd name="connsiteY1" fmla="*/ 0 h 643134"/>
              <a:gd name="connsiteX2" fmla="*/ 4025293 w 4132484"/>
              <a:gd name="connsiteY2" fmla="*/ 0 h 643134"/>
              <a:gd name="connsiteX3" fmla="*/ 4132484 w 4132484"/>
              <a:gd name="connsiteY3" fmla="*/ 107191 h 643134"/>
              <a:gd name="connsiteX4" fmla="*/ 4132484 w 4132484"/>
              <a:gd name="connsiteY4" fmla="*/ 535943 h 643134"/>
              <a:gd name="connsiteX5" fmla="*/ 4025293 w 4132484"/>
              <a:gd name="connsiteY5" fmla="*/ 643134 h 643134"/>
              <a:gd name="connsiteX6" fmla="*/ 107191 w 4132484"/>
              <a:gd name="connsiteY6" fmla="*/ 643134 h 643134"/>
              <a:gd name="connsiteX7" fmla="*/ 0 w 4132484"/>
              <a:gd name="connsiteY7" fmla="*/ 535943 h 643134"/>
              <a:gd name="connsiteX8" fmla="*/ 0 w 4132484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32484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4025293" y="0"/>
                </a:lnTo>
                <a:cubicBezTo>
                  <a:pt x="4084493" y="0"/>
                  <a:pt x="4132484" y="47991"/>
                  <a:pt x="4132484" y="107191"/>
                </a:cubicBezTo>
                <a:lnTo>
                  <a:pt x="4132484" y="535943"/>
                </a:lnTo>
                <a:cubicBezTo>
                  <a:pt x="4132484" y="595143"/>
                  <a:pt x="4084493" y="643134"/>
                  <a:pt x="4025293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solidFill>
            <a:schemeClr val="tx1"/>
          </a:solidFill>
          <a:ln w="38100"/>
          <a:effectLst/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>
                <a:solidFill>
                  <a:schemeClr val="bg1"/>
                </a:solidFill>
              </a:rPr>
              <a:t>Polycystic Ovaries</a:t>
            </a:r>
          </a:p>
        </p:txBody>
      </p:sp>
      <p:sp>
        <p:nvSpPr>
          <p:cNvPr id="5" name="Menstrual irregularities">
            <a:extLst>
              <a:ext uri="{FF2B5EF4-FFF2-40B4-BE49-F238E27FC236}">
                <a16:creationId xmlns:a16="http://schemas.microsoft.com/office/drawing/2014/main" id="{FCEEFB64-7CF7-4E25-A5F9-D531758EFF08}"/>
              </a:ext>
            </a:extLst>
          </p:cNvPr>
          <p:cNvSpPr/>
          <p:nvPr/>
        </p:nvSpPr>
        <p:spPr>
          <a:xfrm>
            <a:off x="2909782" y="3541615"/>
            <a:ext cx="2225559" cy="754961"/>
          </a:xfrm>
          <a:custGeom>
            <a:avLst/>
            <a:gdLst>
              <a:gd name="connsiteX0" fmla="*/ 0 w 3898705"/>
              <a:gd name="connsiteY0" fmla="*/ 107191 h 643134"/>
              <a:gd name="connsiteX1" fmla="*/ 107191 w 3898705"/>
              <a:gd name="connsiteY1" fmla="*/ 0 h 643134"/>
              <a:gd name="connsiteX2" fmla="*/ 3791514 w 3898705"/>
              <a:gd name="connsiteY2" fmla="*/ 0 h 643134"/>
              <a:gd name="connsiteX3" fmla="*/ 3898705 w 3898705"/>
              <a:gd name="connsiteY3" fmla="*/ 107191 h 643134"/>
              <a:gd name="connsiteX4" fmla="*/ 3898705 w 3898705"/>
              <a:gd name="connsiteY4" fmla="*/ 535943 h 643134"/>
              <a:gd name="connsiteX5" fmla="*/ 3791514 w 3898705"/>
              <a:gd name="connsiteY5" fmla="*/ 643134 h 643134"/>
              <a:gd name="connsiteX6" fmla="*/ 107191 w 3898705"/>
              <a:gd name="connsiteY6" fmla="*/ 643134 h 643134"/>
              <a:gd name="connsiteX7" fmla="*/ 0 w 3898705"/>
              <a:gd name="connsiteY7" fmla="*/ 535943 h 643134"/>
              <a:gd name="connsiteX8" fmla="*/ 0 w 3898705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8705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791514" y="0"/>
                </a:lnTo>
                <a:cubicBezTo>
                  <a:pt x="3850714" y="0"/>
                  <a:pt x="3898705" y="47991"/>
                  <a:pt x="3898705" y="107191"/>
                </a:cubicBezTo>
                <a:lnTo>
                  <a:pt x="3898705" y="535943"/>
                </a:lnTo>
                <a:cubicBezTo>
                  <a:pt x="3898705" y="595143"/>
                  <a:pt x="3850714" y="643134"/>
                  <a:pt x="3791514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solidFill>
            <a:schemeClr val="tx1"/>
          </a:solidFill>
          <a:ln w="38100"/>
          <a:effectLst/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>
                <a:solidFill>
                  <a:schemeClr val="bg1"/>
                </a:solidFill>
              </a:rPr>
              <a:t>Menstrual irregularities 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975DEA5-5021-44CB-BB37-5043B053FD93}"/>
              </a:ext>
            </a:extLst>
          </p:cNvPr>
          <p:cNvSpPr/>
          <p:nvPr/>
        </p:nvSpPr>
        <p:spPr>
          <a:xfrm>
            <a:off x="2909782" y="2451452"/>
            <a:ext cx="2225559" cy="457200"/>
          </a:xfrm>
          <a:custGeom>
            <a:avLst/>
            <a:gdLst>
              <a:gd name="connsiteX0" fmla="*/ 0 w 3626833"/>
              <a:gd name="connsiteY0" fmla="*/ 107191 h 643134"/>
              <a:gd name="connsiteX1" fmla="*/ 107191 w 3626833"/>
              <a:gd name="connsiteY1" fmla="*/ 0 h 643134"/>
              <a:gd name="connsiteX2" fmla="*/ 3519642 w 3626833"/>
              <a:gd name="connsiteY2" fmla="*/ 0 h 643134"/>
              <a:gd name="connsiteX3" fmla="*/ 3626833 w 3626833"/>
              <a:gd name="connsiteY3" fmla="*/ 107191 h 643134"/>
              <a:gd name="connsiteX4" fmla="*/ 3626833 w 3626833"/>
              <a:gd name="connsiteY4" fmla="*/ 535943 h 643134"/>
              <a:gd name="connsiteX5" fmla="*/ 3519642 w 3626833"/>
              <a:gd name="connsiteY5" fmla="*/ 643134 h 643134"/>
              <a:gd name="connsiteX6" fmla="*/ 107191 w 3626833"/>
              <a:gd name="connsiteY6" fmla="*/ 643134 h 643134"/>
              <a:gd name="connsiteX7" fmla="*/ 0 w 3626833"/>
              <a:gd name="connsiteY7" fmla="*/ 535943 h 643134"/>
              <a:gd name="connsiteX8" fmla="*/ 0 w 3626833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6833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519642" y="0"/>
                </a:lnTo>
                <a:cubicBezTo>
                  <a:pt x="3578842" y="0"/>
                  <a:pt x="3626833" y="47991"/>
                  <a:pt x="3626833" y="107191"/>
                </a:cubicBezTo>
                <a:lnTo>
                  <a:pt x="3626833" y="535943"/>
                </a:lnTo>
                <a:cubicBezTo>
                  <a:pt x="3626833" y="595143"/>
                  <a:pt x="3578842" y="643134"/>
                  <a:pt x="3519642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solidFill>
            <a:schemeClr val="tx1"/>
          </a:solidFill>
          <a:ln w="38100"/>
          <a:effectLst/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>
                <a:solidFill>
                  <a:schemeClr val="bg1"/>
                </a:solidFill>
              </a:rPr>
              <a:t>Hyperandrogenism</a:t>
            </a:r>
          </a:p>
        </p:txBody>
      </p:sp>
      <p:sp>
        <p:nvSpPr>
          <p:cNvPr id="8" name="Hyperandrogenism">
            <a:extLst>
              <a:ext uri="{FF2B5EF4-FFF2-40B4-BE49-F238E27FC236}">
                <a16:creationId xmlns:a16="http://schemas.microsoft.com/office/drawing/2014/main" id="{85C6F403-8947-4B6B-9F17-8072A99C4102}"/>
              </a:ext>
            </a:extLst>
          </p:cNvPr>
          <p:cNvSpPr/>
          <p:nvPr/>
        </p:nvSpPr>
        <p:spPr>
          <a:xfrm>
            <a:off x="2909782" y="2443166"/>
            <a:ext cx="2225559" cy="473772"/>
          </a:xfrm>
          <a:custGeom>
            <a:avLst/>
            <a:gdLst>
              <a:gd name="connsiteX0" fmla="*/ 0 w 3626833"/>
              <a:gd name="connsiteY0" fmla="*/ 107191 h 643134"/>
              <a:gd name="connsiteX1" fmla="*/ 107191 w 3626833"/>
              <a:gd name="connsiteY1" fmla="*/ 0 h 643134"/>
              <a:gd name="connsiteX2" fmla="*/ 3519642 w 3626833"/>
              <a:gd name="connsiteY2" fmla="*/ 0 h 643134"/>
              <a:gd name="connsiteX3" fmla="*/ 3626833 w 3626833"/>
              <a:gd name="connsiteY3" fmla="*/ 107191 h 643134"/>
              <a:gd name="connsiteX4" fmla="*/ 3626833 w 3626833"/>
              <a:gd name="connsiteY4" fmla="*/ 535943 h 643134"/>
              <a:gd name="connsiteX5" fmla="*/ 3519642 w 3626833"/>
              <a:gd name="connsiteY5" fmla="*/ 643134 h 643134"/>
              <a:gd name="connsiteX6" fmla="*/ 107191 w 3626833"/>
              <a:gd name="connsiteY6" fmla="*/ 643134 h 643134"/>
              <a:gd name="connsiteX7" fmla="*/ 0 w 3626833"/>
              <a:gd name="connsiteY7" fmla="*/ 535943 h 643134"/>
              <a:gd name="connsiteX8" fmla="*/ 0 w 3626833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6833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519642" y="0"/>
                </a:lnTo>
                <a:cubicBezTo>
                  <a:pt x="3578842" y="0"/>
                  <a:pt x="3626833" y="47991"/>
                  <a:pt x="3626833" y="107191"/>
                </a:cubicBezTo>
                <a:lnTo>
                  <a:pt x="3626833" y="535943"/>
                </a:lnTo>
                <a:cubicBezTo>
                  <a:pt x="3626833" y="595143"/>
                  <a:pt x="3578842" y="643134"/>
                  <a:pt x="3519642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sp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Hyperandrogenism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270E19-F231-486F-9F60-9783F23B3DA2}"/>
              </a:ext>
            </a:extLst>
          </p:cNvPr>
          <p:cNvSpPr/>
          <p:nvPr/>
        </p:nvSpPr>
        <p:spPr>
          <a:xfrm>
            <a:off x="2214306" y="2360910"/>
            <a:ext cx="548640" cy="5486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Menstrual irregularities">
            <a:extLst>
              <a:ext uri="{FF2B5EF4-FFF2-40B4-BE49-F238E27FC236}">
                <a16:creationId xmlns:a16="http://schemas.microsoft.com/office/drawing/2014/main" id="{0D171E98-AF24-4F1C-AFD6-A557FE2446CB}"/>
              </a:ext>
            </a:extLst>
          </p:cNvPr>
          <p:cNvSpPr/>
          <p:nvPr/>
        </p:nvSpPr>
        <p:spPr>
          <a:xfrm>
            <a:off x="2909782" y="3542987"/>
            <a:ext cx="2225559" cy="754961"/>
          </a:xfrm>
          <a:custGeom>
            <a:avLst/>
            <a:gdLst>
              <a:gd name="connsiteX0" fmla="*/ 0 w 3898705"/>
              <a:gd name="connsiteY0" fmla="*/ 107191 h 643134"/>
              <a:gd name="connsiteX1" fmla="*/ 107191 w 3898705"/>
              <a:gd name="connsiteY1" fmla="*/ 0 h 643134"/>
              <a:gd name="connsiteX2" fmla="*/ 3791514 w 3898705"/>
              <a:gd name="connsiteY2" fmla="*/ 0 h 643134"/>
              <a:gd name="connsiteX3" fmla="*/ 3898705 w 3898705"/>
              <a:gd name="connsiteY3" fmla="*/ 107191 h 643134"/>
              <a:gd name="connsiteX4" fmla="*/ 3898705 w 3898705"/>
              <a:gd name="connsiteY4" fmla="*/ 535943 h 643134"/>
              <a:gd name="connsiteX5" fmla="*/ 3791514 w 3898705"/>
              <a:gd name="connsiteY5" fmla="*/ 643134 h 643134"/>
              <a:gd name="connsiteX6" fmla="*/ 107191 w 3898705"/>
              <a:gd name="connsiteY6" fmla="*/ 643134 h 643134"/>
              <a:gd name="connsiteX7" fmla="*/ 0 w 3898705"/>
              <a:gd name="connsiteY7" fmla="*/ 535943 h 643134"/>
              <a:gd name="connsiteX8" fmla="*/ 0 w 3898705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8705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791514" y="0"/>
                </a:lnTo>
                <a:cubicBezTo>
                  <a:pt x="3850714" y="0"/>
                  <a:pt x="3898705" y="47991"/>
                  <a:pt x="3898705" y="107191"/>
                </a:cubicBezTo>
                <a:lnTo>
                  <a:pt x="3898705" y="535943"/>
                </a:lnTo>
                <a:cubicBezTo>
                  <a:pt x="3898705" y="595143"/>
                  <a:pt x="3850714" y="643134"/>
                  <a:pt x="3791514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Menstrual irregularities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EF91A8-95BE-4024-9D43-77D1C3AB0724}"/>
              </a:ext>
            </a:extLst>
          </p:cNvPr>
          <p:cNvSpPr/>
          <p:nvPr/>
        </p:nvSpPr>
        <p:spPr>
          <a:xfrm>
            <a:off x="2214306" y="3652833"/>
            <a:ext cx="548640" cy="5486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Polycystic ovaries">
            <a:extLst>
              <a:ext uri="{FF2B5EF4-FFF2-40B4-BE49-F238E27FC236}">
                <a16:creationId xmlns:a16="http://schemas.microsoft.com/office/drawing/2014/main" id="{0E98894D-8045-4048-A89E-E5BD0B986F74}"/>
              </a:ext>
            </a:extLst>
          </p:cNvPr>
          <p:cNvSpPr/>
          <p:nvPr/>
        </p:nvSpPr>
        <p:spPr>
          <a:xfrm>
            <a:off x="2909782" y="5776778"/>
            <a:ext cx="2225559" cy="457200"/>
          </a:xfrm>
          <a:custGeom>
            <a:avLst/>
            <a:gdLst>
              <a:gd name="connsiteX0" fmla="*/ 0 w 4132484"/>
              <a:gd name="connsiteY0" fmla="*/ 107191 h 643134"/>
              <a:gd name="connsiteX1" fmla="*/ 107191 w 4132484"/>
              <a:gd name="connsiteY1" fmla="*/ 0 h 643134"/>
              <a:gd name="connsiteX2" fmla="*/ 4025293 w 4132484"/>
              <a:gd name="connsiteY2" fmla="*/ 0 h 643134"/>
              <a:gd name="connsiteX3" fmla="*/ 4132484 w 4132484"/>
              <a:gd name="connsiteY3" fmla="*/ 107191 h 643134"/>
              <a:gd name="connsiteX4" fmla="*/ 4132484 w 4132484"/>
              <a:gd name="connsiteY4" fmla="*/ 535943 h 643134"/>
              <a:gd name="connsiteX5" fmla="*/ 4025293 w 4132484"/>
              <a:gd name="connsiteY5" fmla="*/ 643134 h 643134"/>
              <a:gd name="connsiteX6" fmla="*/ 107191 w 4132484"/>
              <a:gd name="connsiteY6" fmla="*/ 643134 h 643134"/>
              <a:gd name="connsiteX7" fmla="*/ 0 w 4132484"/>
              <a:gd name="connsiteY7" fmla="*/ 535943 h 643134"/>
              <a:gd name="connsiteX8" fmla="*/ 0 w 4132484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32484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4025293" y="0"/>
                </a:lnTo>
                <a:cubicBezTo>
                  <a:pt x="4084493" y="0"/>
                  <a:pt x="4132484" y="47991"/>
                  <a:pt x="4132484" y="107191"/>
                </a:cubicBezTo>
                <a:lnTo>
                  <a:pt x="4132484" y="535943"/>
                </a:lnTo>
                <a:cubicBezTo>
                  <a:pt x="4132484" y="595143"/>
                  <a:pt x="4084493" y="643134"/>
                  <a:pt x="4025293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Polycystic Ovaries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67DDC1-E8C8-4D9D-985A-A591F1C60A3B}"/>
              </a:ext>
            </a:extLst>
          </p:cNvPr>
          <p:cNvSpPr/>
          <p:nvPr/>
        </p:nvSpPr>
        <p:spPr>
          <a:xfrm>
            <a:off x="2214306" y="5766014"/>
            <a:ext cx="548640" cy="5486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D2B1E2CD-5773-4D19-B08A-6EF12AC9A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4120" y="2757261"/>
            <a:ext cx="301752" cy="301752"/>
          </a:xfrm>
          <a:prstGeom prst="rect">
            <a:avLst/>
          </a:prstGeom>
        </p:spPr>
      </p:pic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4C709288-F0D7-4448-8E66-CD026A52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4120" y="6083102"/>
            <a:ext cx="301752" cy="301752"/>
          </a:xfrm>
          <a:prstGeom prst="rect">
            <a:avLst/>
          </a:prstGeom>
        </p:spPr>
      </p:pic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CB867C90-F803-4EFC-B784-517A65E2326D}"/>
              </a:ext>
            </a:extLst>
          </p:cNvPr>
          <p:cNvSpPr/>
          <p:nvPr/>
        </p:nvSpPr>
        <p:spPr>
          <a:xfrm>
            <a:off x="5728201" y="2185930"/>
            <a:ext cx="4389119" cy="103232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Clinical OR Biochemical</a:t>
            </a:r>
          </a:p>
          <a:p>
            <a:pPr marL="114300" indent="-114300">
              <a:buFontTx/>
              <a:buChar char="-"/>
            </a:pPr>
            <a:r>
              <a:rPr lang="en-US" dirty="0"/>
              <a:t>Clinical: acne, hair loss, hirsutism</a:t>
            </a:r>
          </a:p>
          <a:p>
            <a:pPr marL="114300" indent="-114300">
              <a:buFontTx/>
              <a:buChar char="-"/>
            </a:pPr>
            <a:r>
              <a:rPr lang="en-US" dirty="0"/>
              <a:t>Biochemical: ↑ circulating androgen levels </a:t>
            </a:r>
          </a:p>
        </p:txBody>
      </p:sp>
      <p:sp>
        <p:nvSpPr>
          <p:cNvPr id="19" name="Rounded Rectangle 37">
            <a:extLst>
              <a:ext uri="{FF2B5EF4-FFF2-40B4-BE49-F238E27FC236}">
                <a16:creationId xmlns:a16="http://schemas.microsoft.com/office/drawing/2014/main" id="{374CEC74-7468-4DBB-99FA-C20E8C7B13D7}"/>
              </a:ext>
            </a:extLst>
          </p:cNvPr>
          <p:cNvSpPr/>
          <p:nvPr/>
        </p:nvSpPr>
        <p:spPr>
          <a:xfrm>
            <a:off x="5728201" y="3416286"/>
            <a:ext cx="4389120" cy="100749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Chronic anovulation</a:t>
            </a:r>
          </a:p>
          <a:p>
            <a:pPr marL="114300" indent="-11430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Oligomenorrhea (cycle &gt;35d)</a:t>
            </a:r>
          </a:p>
          <a:p>
            <a:pPr marL="114300" indent="-11430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Amenorrhea (no menses x 3 </a:t>
            </a:r>
            <a:r>
              <a:rPr lang="en-US" dirty="0" err="1">
                <a:solidFill>
                  <a:schemeClr val="tx1"/>
                </a:solidFill>
              </a:rPr>
              <a:t>mos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8E6AB-887F-4FCA-9B1E-4306194360B0}"/>
              </a:ext>
            </a:extLst>
          </p:cNvPr>
          <p:cNvSpPr txBox="1"/>
          <p:nvPr/>
        </p:nvSpPr>
        <p:spPr>
          <a:xfrm>
            <a:off x="5031040" y="149516"/>
            <a:ext cx="432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How do we diagnose PCOS?</a:t>
            </a:r>
          </a:p>
        </p:txBody>
      </p:sp>
      <p:sp>
        <p:nvSpPr>
          <p:cNvPr id="23" name="question 1">
            <a:extLst>
              <a:ext uri="{FF2B5EF4-FFF2-40B4-BE49-F238E27FC236}">
                <a16:creationId xmlns:a16="http://schemas.microsoft.com/office/drawing/2014/main" id="{659B28B6-A1BD-49C4-9A87-D8FAFE58D481}"/>
              </a:ext>
            </a:extLst>
          </p:cNvPr>
          <p:cNvSpPr txBox="1"/>
          <p:nvPr/>
        </p:nvSpPr>
        <p:spPr>
          <a:xfrm>
            <a:off x="222678" y="199033"/>
            <a:ext cx="1645920" cy="41148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Diagnosis </a:t>
            </a:r>
          </a:p>
        </p:txBody>
      </p:sp>
      <p:sp>
        <p:nvSpPr>
          <p:cNvPr id="24" name="Question 2">
            <a:hlinkClick r:id="rId5" action="ppaction://hlinksldjump"/>
            <a:extLst>
              <a:ext uri="{FF2B5EF4-FFF2-40B4-BE49-F238E27FC236}">
                <a16:creationId xmlns:a16="http://schemas.microsoft.com/office/drawing/2014/main" id="{29D8F84F-E2F5-4AA6-AA28-4C0F9D43FB43}"/>
              </a:ext>
            </a:extLst>
          </p:cNvPr>
          <p:cNvSpPr txBox="1"/>
          <p:nvPr/>
        </p:nvSpPr>
        <p:spPr>
          <a:xfrm>
            <a:off x="222678" y="777222"/>
            <a:ext cx="1645920" cy="41148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DDx and Eval</a:t>
            </a:r>
          </a:p>
        </p:txBody>
      </p:sp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DCF21C6C-0947-4556-894C-BF0D2E951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6998" y="1035769"/>
            <a:ext cx="301752" cy="301752"/>
          </a:xfrm>
          <a:prstGeom prst="rect">
            <a:avLst/>
          </a:prstGeom>
        </p:spPr>
      </p:pic>
      <p:pic>
        <p:nvPicPr>
          <p:cNvPr id="34" name="teachIM logo" descr="Icon&#10;&#10;Description automatically generated">
            <a:extLst>
              <a:ext uri="{FF2B5EF4-FFF2-40B4-BE49-F238E27FC236}">
                <a16:creationId xmlns:a16="http://schemas.microsoft.com/office/drawing/2014/main" id="{4D70F148-B588-49FF-BE1F-A0D4D533F6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DE41D8D7-0A44-4BD1-BC61-0F0EAC213B1C}"/>
              </a:ext>
            </a:extLst>
          </p:cNvPr>
          <p:cNvGrpSpPr/>
          <p:nvPr/>
        </p:nvGrpSpPr>
        <p:grpSpPr>
          <a:xfrm>
            <a:off x="5728201" y="4567802"/>
            <a:ext cx="4389119" cy="2140682"/>
            <a:chOff x="6598290" y="3993890"/>
            <a:chExt cx="4389120" cy="2410146"/>
          </a:xfrm>
        </p:grpSpPr>
        <p:pic>
          <p:nvPicPr>
            <p:cNvPr id="14" name="Picture 2" descr="PCOS: Maureen O&amp;#39;Brien Moomjy, MD, FACOG: Fertility Gynecologist">
              <a:extLst>
                <a:ext uri="{FF2B5EF4-FFF2-40B4-BE49-F238E27FC236}">
                  <a16:creationId xmlns:a16="http://schemas.microsoft.com/office/drawing/2014/main" id="{78D331AB-8F35-46EB-8ECB-3B6FF4982D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67"/>
            <a:stretch/>
          </p:blipFill>
          <p:spPr bwMode="auto">
            <a:xfrm>
              <a:off x="7129550" y="4748685"/>
              <a:ext cx="3445031" cy="12792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Rounded Rectangle 38">
              <a:extLst>
                <a:ext uri="{FF2B5EF4-FFF2-40B4-BE49-F238E27FC236}">
                  <a16:creationId xmlns:a16="http://schemas.microsoft.com/office/drawing/2014/main" id="{36206853-E06E-43E4-B770-0B7610D6C547}"/>
                </a:ext>
              </a:extLst>
            </p:cNvPr>
            <p:cNvSpPr/>
            <p:nvPr/>
          </p:nvSpPr>
          <p:spPr>
            <a:xfrm>
              <a:off x="6598290" y="3993890"/>
              <a:ext cx="4389120" cy="2410146"/>
            </a:xfrm>
            <a:prstGeom prst="roundRect">
              <a:avLst>
                <a:gd name="adj" fmla="val 12056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&gt;12 follicles and/or volume &gt; 10 cc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(seen on pelvic ultrasound)</a:t>
              </a:r>
            </a:p>
            <a:p>
              <a:pPr algn="ctr"/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5DBE5C3-3B24-4A79-AEA8-FD262DD2D071}"/>
                </a:ext>
              </a:extLst>
            </p:cNvPr>
            <p:cNvSpPr txBox="1"/>
            <p:nvPr/>
          </p:nvSpPr>
          <p:spPr>
            <a:xfrm>
              <a:off x="7218451" y="6027937"/>
              <a:ext cx="13477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Normal ovary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67BA5E3-1028-4508-BCE1-5E60A512A821}"/>
                </a:ext>
              </a:extLst>
            </p:cNvPr>
            <p:cNvSpPr txBox="1"/>
            <p:nvPr/>
          </p:nvSpPr>
          <p:spPr>
            <a:xfrm>
              <a:off x="8995666" y="6041915"/>
              <a:ext cx="13477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Polycystic ovary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A09F933-2937-40C6-8B29-65886EBB8FF8}"/>
              </a:ext>
            </a:extLst>
          </p:cNvPr>
          <p:cNvGrpSpPr/>
          <p:nvPr/>
        </p:nvGrpSpPr>
        <p:grpSpPr>
          <a:xfrm>
            <a:off x="4553115" y="1340270"/>
            <a:ext cx="4915849" cy="530407"/>
            <a:chOff x="381092" y="6616683"/>
            <a:chExt cx="4915849" cy="53040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7BFF2C-B3DE-4D55-B0B0-76529FD4B2E8}"/>
                </a:ext>
              </a:extLst>
            </p:cNvPr>
            <p:cNvSpPr txBox="1"/>
            <p:nvPr/>
          </p:nvSpPr>
          <p:spPr>
            <a:xfrm>
              <a:off x="907821" y="6616683"/>
              <a:ext cx="4389120" cy="500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400"/>
                </a:lnSpc>
              </a:pPr>
              <a:r>
                <a:rPr lang="en-US" sz="2000" dirty="0"/>
                <a:t>of the 3 criteria are needed for diagnosis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A05BB68-751D-44F2-A3E4-06ECBAABB0D3}"/>
                </a:ext>
              </a:extLst>
            </p:cNvPr>
            <p:cNvSpPr/>
            <p:nvPr/>
          </p:nvSpPr>
          <p:spPr>
            <a:xfrm>
              <a:off x="381092" y="6635546"/>
              <a:ext cx="526728" cy="51154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750309F0-81E4-4E11-994C-94BD21DD9ACD}"/>
              </a:ext>
            </a:extLst>
          </p:cNvPr>
          <p:cNvSpPr/>
          <p:nvPr/>
        </p:nvSpPr>
        <p:spPr>
          <a:xfrm>
            <a:off x="2214306" y="2358788"/>
            <a:ext cx="548640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A9F3F0D-00FB-49C9-ACE9-BD98707745D2}"/>
              </a:ext>
            </a:extLst>
          </p:cNvPr>
          <p:cNvSpPr/>
          <p:nvPr/>
        </p:nvSpPr>
        <p:spPr>
          <a:xfrm>
            <a:off x="2214306" y="3652016"/>
            <a:ext cx="548640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678D1A9-2EDE-4E7D-99DE-E22A8C60E0B1}"/>
              </a:ext>
            </a:extLst>
          </p:cNvPr>
          <p:cNvSpPr/>
          <p:nvPr/>
        </p:nvSpPr>
        <p:spPr>
          <a:xfrm>
            <a:off x="2214306" y="5764558"/>
            <a:ext cx="548640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6" name="Rotterdam">
            <a:extLst>
              <a:ext uri="{FF2B5EF4-FFF2-40B4-BE49-F238E27FC236}">
                <a16:creationId xmlns:a16="http://schemas.microsoft.com/office/drawing/2014/main" id="{6448BE36-2E71-4212-9B3D-255C976E6B55}"/>
              </a:ext>
            </a:extLst>
          </p:cNvPr>
          <p:cNvSpPr/>
          <p:nvPr/>
        </p:nvSpPr>
        <p:spPr>
          <a:xfrm>
            <a:off x="5570729" y="800079"/>
            <a:ext cx="2186663" cy="43088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Rotterdam Criteria</a:t>
            </a:r>
          </a:p>
        </p:txBody>
      </p:sp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2F25C78A-988F-4E58-9072-3E27A3BE7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2510" y="1073233"/>
            <a:ext cx="301752" cy="301752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6F698F8-44EE-4329-A38D-F821F22D0679}"/>
              </a:ext>
            </a:extLst>
          </p:cNvPr>
          <p:cNvCxnSpPr>
            <a:cxnSpLocks/>
          </p:cNvCxnSpPr>
          <p:nvPr/>
        </p:nvCxnSpPr>
        <p:spPr>
          <a:xfrm>
            <a:off x="5135341" y="2688022"/>
            <a:ext cx="5928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A943820-C51F-42DC-9555-E9BA665F6B7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135341" y="3920035"/>
            <a:ext cx="5928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A361ADB-53E4-4E7B-A4FA-111375B9BA1C}"/>
              </a:ext>
            </a:extLst>
          </p:cNvPr>
          <p:cNvCxnSpPr>
            <a:cxnSpLocks/>
          </p:cNvCxnSpPr>
          <p:nvPr/>
        </p:nvCxnSpPr>
        <p:spPr>
          <a:xfrm>
            <a:off x="5135341" y="6000552"/>
            <a:ext cx="592860" cy="48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question 3">
            <a:hlinkClick r:id="rId8" action="ppaction://hlinksldjump"/>
            <a:extLst>
              <a:ext uri="{FF2B5EF4-FFF2-40B4-BE49-F238E27FC236}">
                <a16:creationId xmlns:a16="http://schemas.microsoft.com/office/drawing/2014/main" id="{528C33DA-54FD-41E6-B490-B13B36D1D159}"/>
              </a:ext>
            </a:extLst>
          </p:cNvPr>
          <p:cNvSpPr txBox="1"/>
          <p:nvPr/>
        </p:nvSpPr>
        <p:spPr>
          <a:xfrm>
            <a:off x="222678" y="1355411"/>
            <a:ext cx="1645920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Associated Co-Morbidities </a:t>
            </a:r>
          </a:p>
        </p:txBody>
      </p:sp>
      <p:sp>
        <p:nvSpPr>
          <p:cNvPr id="50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6C9FF704-C089-48DE-A1B5-520BC8330B66}"/>
              </a:ext>
            </a:extLst>
          </p:cNvPr>
          <p:cNvSpPr txBox="1"/>
          <p:nvPr/>
        </p:nvSpPr>
        <p:spPr>
          <a:xfrm>
            <a:off x="222678" y="2237209"/>
            <a:ext cx="1645920" cy="41148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E4A5E14D-D65F-4B3E-888C-4C9EADCE8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4142" y="2519003"/>
            <a:ext cx="301752" cy="301752"/>
          </a:xfrm>
          <a:prstGeom prst="rect">
            <a:avLst/>
          </a:prstGeom>
        </p:spPr>
      </p:pic>
      <p:pic>
        <p:nvPicPr>
          <p:cNvPr id="52" name="Graphic 51" descr="Cursor with solid fill">
            <a:extLst>
              <a:ext uri="{FF2B5EF4-FFF2-40B4-BE49-F238E27FC236}">
                <a16:creationId xmlns:a16="http://schemas.microsoft.com/office/drawing/2014/main" id="{1A07F6A2-8019-41F1-94CF-35CBB0AD1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8213" y="1902850"/>
            <a:ext cx="301752" cy="301752"/>
          </a:xfrm>
          <a:prstGeom prst="rect">
            <a:avLst/>
          </a:prstGeom>
        </p:spPr>
      </p:pic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3748089D-6CE3-4DFA-BAEF-91F085756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4120" y="4150770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5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70" grpId="0" animBg="1"/>
      <p:bldP spid="4" grpId="0" animBg="1"/>
      <p:bldP spid="5" grpId="0" animBg="1"/>
      <p:bldP spid="5" grpId="1" animBg="1"/>
      <p:bldP spid="6" grpId="0" animBg="1"/>
      <p:bldP spid="8" grpId="0" animBg="1"/>
      <p:bldP spid="8" grpId="1" animBg="1"/>
      <p:bldP spid="9" grpId="0" animBg="1"/>
      <p:bldP spid="10" grpId="0" animBg="1"/>
      <p:bldP spid="10" grpId="1" animBg="1"/>
      <p:bldP spid="11" grpId="0" animBg="1"/>
      <p:bldP spid="12" grpId="0" animBg="1"/>
      <p:bldP spid="12" grpId="1" animBg="1"/>
      <p:bldP spid="13" grpId="0" animBg="1"/>
      <p:bldP spid="18" grpId="0" animBg="1"/>
      <p:bldP spid="19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13C1BE30-2399-48CF-A129-7D3EBEFE51AA}"/>
              </a:ext>
            </a:extLst>
          </p:cNvPr>
          <p:cNvSpPr txBox="1"/>
          <p:nvPr/>
        </p:nvSpPr>
        <p:spPr>
          <a:xfrm>
            <a:off x="222678" y="777222"/>
            <a:ext cx="1645920" cy="41148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DDx and Eval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D54500-8A9D-4EB0-92D0-5C7AF045EC00}"/>
              </a:ext>
            </a:extLst>
          </p:cNvPr>
          <p:cNvSpPr txBox="1"/>
          <p:nvPr/>
        </p:nvSpPr>
        <p:spPr>
          <a:xfrm>
            <a:off x="4599240" y="143163"/>
            <a:ext cx="4961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PCOS is a diagnosis of exclusion!</a:t>
            </a:r>
          </a:p>
        </p:txBody>
      </p:sp>
      <p:sp>
        <p:nvSpPr>
          <p:cNvPr id="65" name="Polycystic ovaries">
            <a:extLst>
              <a:ext uri="{FF2B5EF4-FFF2-40B4-BE49-F238E27FC236}">
                <a16:creationId xmlns:a16="http://schemas.microsoft.com/office/drawing/2014/main" id="{060225D7-23AF-43CC-89C0-03B950831E37}"/>
              </a:ext>
            </a:extLst>
          </p:cNvPr>
          <p:cNvSpPr/>
          <p:nvPr/>
        </p:nvSpPr>
        <p:spPr>
          <a:xfrm>
            <a:off x="2909782" y="5802904"/>
            <a:ext cx="2225559" cy="457200"/>
          </a:xfrm>
          <a:custGeom>
            <a:avLst/>
            <a:gdLst>
              <a:gd name="connsiteX0" fmla="*/ 0 w 4132484"/>
              <a:gd name="connsiteY0" fmla="*/ 107191 h 643134"/>
              <a:gd name="connsiteX1" fmla="*/ 107191 w 4132484"/>
              <a:gd name="connsiteY1" fmla="*/ 0 h 643134"/>
              <a:gd name="connsiteX2" fmla="*/ 4025293 w 4132484"/>
              <a:gd name="connsiteY2" fmla="*/ 0 h 643134"/>
              <a:gd name="connsiteX3" fmla="*/ 4132484 w 4132484"/>
              <a:gd name="connsiteY3" fmla="*/ 107191 h 643134"/>
              <a:gd name="connsiteX4" fmla="*/ 4132484 w 4132484"/>
              <a:gd name="connsiteY4" fmla="*/ 535943 h 643134"/>
              <a:gd name="connsiteX5" fmla="*/ 4025293 w 4132484"/>
              <a:gd name="connsiteY5" fmla="*/ 643134 h 643134"/>
              <a:gd name="connsiteX6" fmla="*/ 107191 w 4132484"/>
              <a:gd name="connsiteY6" fmla="*/ 643134 h 643134"/>
              <a:gd name="connsiteX7" fmla="*/ 0 w 4132484"/>
              <a:gd name="connsiteY7" fmla="*/ 535943 h 643134"/>
              <a:gd name="connsiteX8" fmla="*/ 0 w 4132484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32484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4025293" y="0"/>
                </a:lnTo>
                <a:cubicBezTo>
                  <a:pt x="4084493" y="0"/>
                  <a:pt x="4132484" y="47991"/>
                  <a:pt x="4132484" y="107191"/>
                </a:cubicBezTo>
                <a:lnTo>
                  <a:pt x="4132484" y="535943"/>
                </a:lnTo>
                <a:cubicBezTo>
                  <a:pt x="4132484" y="595143"/>
                  <a:pt x="4084493" y="643134"/>
                  <a:pt x="4025293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solidFill>
            <a:schemeClr val="tx1"/>
          </a:solidFill>
          <a:ln w="38100"/>
          <a:effectLst/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>
                <a:solidFill>
                  <a:schemeClr val="bg1"/>
                </a:solidFill>
              </a:rPr>
              <a:t>Polycystic Ovaries</a:t>
            </a:r>
          </a:p>
        </p:txBody>
      </p:sp>
      <p:sp>
        <p:nvSpPr>
          <p:cNvPr id="66" name="Menstrual irregularities">
            <a:extLst>
              <a:ext uri="{FF2B5EF4-FFF2-40B4-BE49-F238E27FC236}">
                <a16:creationId xmlns:a16="http://schemas.microsoft.com/office/drawing/2014/main" id="{1242D01E-A4AF-4896-A12F-44945E201EC5}"/>
              </a:ext>
            </a:extLst>
          </p:cNvPr>
          <p:cNvSpPr/>
          <p:nvPr/>
        </p:nvSpPr>
        <p:spPr>
          <a:xfrm>
            <a:off x="2909782" y="3541615"/>
            <a:ext cx="2225559" cy="754961"/>
          </a:xfrm>
          <a:custGeom>
            <a:avLst/>
            <a:gdLst>
              <a:gd name="connsiteX0" fmla="*/ 0 w 3898705"/>
              <a:gd name="connsiteY0" fmla="*/ 107191 h 643134"/>
              <a:gd name="connsiteX1" fmla="*/ 107191 w 3898705"/>
              <a:gd name="connsiteY1" fmla="*/ 0 h 643134"/>
              <a:gd name="connsiteX2" fmla="*/ 3791514 w 3898705"/>
              <a:gd name="connsiteY2" fmla="*/ 0 h 643134"/>
              <a:gd name="connsiteX3" fmla="*/ 3898705 w 3898705"/>
              <a:gd name="connsiteY3" fmla="*/ 107191 h 643134"/>
              <a:gd name="connsiteX4" fmla="*/ 3898705 w 3898705"/>
              <a:gd name="connsiteY4" fmla="*/ 535943 h 643134"/>
              <a:gd name="connsiteX5" fmla="*/ 3791514 w 3898705"/>
              <a:gd name="connsiteY5" fmla="*/ 643134 h 643134"/>
              <a:gd name="connsiteX6" fmla="*/ 107191 w 3898705"/>
              <a:gd name="connsiteY6" fmla="*/ 643134 h 643134"/>
              <a:gd name="connsiteX7" fmla="*/ 0 w 3898705"/>
              <a:gd name="connsiteY7" fmla="*/ 535943 h 643134"/>
              <a:gd name="connsiteX8" fmla="*/ 0 w 3898705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8705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791514" y="0"/>
                </a:lnTo>
                <a:cubicBezTo>
                  <a:pt x="3850714" y="0"/>
                  <a:pt x="3898705" y="47991"/>
                  <a:pt x="3898705" y="107191"/>
                </a:cubicBezTo>
                <a:lnTo>
                  <a:pt x="3898705" y="535943"/>
                </a:lnTo>
                <a:cubicBezTo>
                  <a:pt x="3898705" y="595143"/>
                  <a:pt x="3850714" y="643134"/>
                  <a:pt x="3791514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>
                <a:solidFill>
                  <a:schemeClr val="bg1"/>
                </a:solidFill>
              </a:rPr>
              <a:t>Menstrual irregularities 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BBEA9F54-08CA-4E1E-A53D-D68B3B8A0BFC}"/>
              </a:ext>
            </a:extLst>
          </p:cNvPr>
          <p:cNvSpPr/>
          <p:nvPr/>
        </p:nvSpPr>
        <p:spPr>
          <a:xfrm>
            <a:off x="2909782" y="2043489"/>
            <a:ext cx="2225559" cy="457200"/>
          </a:xfrm>
          <a:custGeom>
            <a:avLst/>
            <a:gdLst>
              <a:gd name="connsiteX0" fmla="*/ 0 w 3626833"/>
              <a:gd name="connsiteY0" fmla="*/ 107191 h 643134"/>
              <a:gd name="connsiteX1" fmla="*/ 107191 w 3626833"/>
              <a:gd name="connsiteY1" fmla="*/ 0 h 643134"/>
              <a:gd name="connsiteX2" fmla="*/ 3519642 w 3626833"/>
              <a:gd name="connsiteY2" fmla="*/ 0 h 643134"/>
              <a:gd name="connsiteX3" fmla="*/ 3626833 w 3626833"/>
              <a:gd name="connsiteY3" fmla="*/ 107191 h 643134"/>
              <a:gd name="connsiteX4" fmla="*/ 3626833 w 3626833"/>
              <a:gd name="connsiteY4" fmla="*/ 535943 h 643134"/>
              <a:gd name="connsiteX5" fmla="*/ 3519642 w 3626833"/>
              <a:gd name="connsiteY5" fmla="*/ 643134 h 643134"/>
              <a:gd name="connsiteX6" fmla="*/ 107191 w 3626833"/>
              <a:gd name="connsiteY6" fmla="*/ 643134 h 643134"/>
              <a:gd name="connsiteX7" fmla="*/ 0 w 3626833"/>
              <a:gd name="connsiteY7" fmla="*/ 535943 h 643134"/>
              <a:gd name="connsiteX8" fmla="*/ 0 w 3626833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6833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519642" y="0"/>
                </a:lnTo>
                <a:cubicBezTo>
                  <a:pt x="3578842" y="0"/>
                  <a:pt x="3626833" y="47991"/>
                  <a:pt x="3626833" y="107191"/>
                </a:cubicBezTo>
                <a:lnTo>
                  <a:pt x="3626833" y="535943"/>
                </a:lnTo>
                <a:cubicBezTo>
                  <a:pt x="3626833" y="595143"/>
                  <a:pt x="3578842" y="643134"/>
                  <a:pt x="3519642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>
                <a:solidFill>
                  <a:schemeClr val="bg1"/>
                </a:solidFill>
              </a:rPr>
              <a:t>Hyperandrogenism</a:t>
            </a:r>
          </a:p>
        </p:txBody>
      </p:sp>
      <p:sp>
        <p:nvSpPr>
          <p:cNvPr id="68" name="Hyperandrogenism">
            <a:extLst>
              <a:ext uri="{FF2B5EF4-FFF2-40B4-BE49-F238E27FC236}">
                <a16:creationId xmlns:a16="http://schemas.microsoft.com/office/drawing/2014/main" id="{6FF7A913-2A96-4B3D-9DA1-ECFA221832FB}"/>
              </a:ext>
            </a:extLst>
          </p:cNvPr>
          <p:cNvSpPr/>
          <p:nvPr/>
        </p:nvSpPr>
        <p:spPr>
          <a:xfrm>
            <a:off x="2909782" y="2035203"/>
            <a:ext cx="2225559" cy="473772"/>
          </a:xfrm>
          <a:custGeom>
            <a:avLst/>
            <a:gdLst>
              <a:gd name="connsiteX0" fmla="*/ 0 w 3626833"/>
              <a:gd name="connsiteY0" fmla="*/ 107191 h 643134"/>
              <a:gd name="connsiteX1" fmla="*/ 107191 w 3626833"/>
              <a:gd name="connsiteY1" fmla="*/ 0 h 643134"/>
              <a:gd name="connsiteX2" fmla="*/ 3519642 w 3626833"/>
              <a:gd name="connsiteY2" fmla="*/ 0 h 643134"/>
              <a:gd name="connsiteX3" fmla="*/ 3626833 w 3626833"/>
              <a:gd name="connsiteY3" fmla="*/ 107191 h 643134"/>
              <a:gd name="connsiteX4" fmla="*/ 3626833 w 3626833"/>
              <a:gd name="connsiteY4" fmla="*/ 535943 h 643134"/>
              <a:gd name="connsiteX5" fmla="*/ 3519642 w 3626833"/>
              <a:gd name="connsiteY5" fmla="*/ 643134 h 643134"/>
              <a:gd name="connsiteX6" fmla="*/ 107191 w 3626833"/>
              <a:gd name="connsiteY6" fmla="*/ 643134 h 643134"/>
              <a:gd name="connsiteX7" fmla="*/ 0 w 3626833"/>
              <a:gd name="connsiteY7" fmla="*/ 535943 h 643134"/>
              <a:gd name="connsiteX8" fmla="*/ 0 w 3626833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6833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519642" y="0"/>
                </a:lnTo>
                <a:cubicBezTo>
                  <a:pt x="3578842" y="0"/>
                  <a:pt x="3626833" y="47991"/>
                  <a:pt x="3626833" y="107191"/>
                </a:cubicBezTo>
                <a:lnTo>
                  <a:pt x="3626833" y="535943"/>
                </a:lnTo>
                <a:cubicBezTo>
                  <a:pt x="3626833" y="595143"/>
                  <a:pt x="3578842" y="643134"/>
                  <a:pt x="3519642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sp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Hyperandrogenism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F09A94D-51E9-4460-96C9-5E6C6F7DDBF9}"/>
              </a:ext>
            </a:extLst>
          </p:cNvPr>
          <p:cNvSpPr/>
          <p:nvPr/>
        </p:nvSpPr>
        <p:spPr>
          <a:xfrm>
            <a:off x="2214306" y="2004317"/>
            <a:ext cx="548640" cy="5486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0" name="Menstrual irregularities">
            <a:extLst>
              <a:ext uri="{FF2B5EF4-FFF2-40B4-BE49-F238E27FC236}">
                <a16:creationId xmlns:a16="http://schemas.microsoft.com/office/drawing/2014/main" id="{54C8B028-1358-46DA-9071-8D457E92836C}"/>
              </a:ext>
            </a:extLst>
          </p:cNvPr>
          <p:cNvSpPr/>
          <p:nvPr/>
        </p:nvSpPr>
        <p:spPr>
          <a:xfrm>
            <a:off x="2909782" y="3542987"/>
            <a:ext cx="2225559" cy="754961"/>
          </a:xfrm>
          <a:custGeom>
            <a:avLst/>
            <a:gdLst>
              <a:gd name="connsiteX0" fmla="*/ 0 w 3898705"/>
              <a:gd name="connsiteY0" fmla="*/ 107191 h 643134"/>
              <a:gd name="connsiteX1" fmla="*/ 107191 w 3898705"/>
              <a:gd name="connsiteY1" fmla="*/ 0 h 643134"/>
              <a:gd name="connsiteX2" fmla="*/ 3791514 w 3898705"/>
              <a:gd name="connsiteY2" fmla="*/ 0 h 643134"/>
              <a:gd name="connsiteX3" fmla="*/ 3898705 w 3898705"/>
              <a:gd name="connsiteY3" fmla="*/ 107191 h 643134"/>
              <a:gd name="connsiteX4" fmla="*/ 3898705 w 3898705"/>
              <a:gd name="connsiteY4" fmla="*/ 535943 h 643134"/>
              <a:gd name="connsiteX5" fmla="*/ 3791514 w 3898705"/>
              <a:gd name="connsiteY5" fmla="*/ 643134 h 643134"/>
              <a:gd name="connsiteX6" fmla="*/ 107191 w 3898705"/>
              <a:gd name="connsiteY6" fmla="*/ 643134 h 643134"/>
              <a:gd name="connsiteX7" fmla="*/ 0 w 3898705"/>
              <a:gd name="connsiteY7" fmla="*/ 535943 h 643134"/>
              <a:gd name="connsiteX8" fmla="*/ 0 w 3898705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8705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791514" y="0"/>
                </a:lnTo>
                <a:cubicBezTo>
                  <a:pt x="3850714" y="0"/>
                  <a:pt x="3898705" y="47991"/>
                  <a:pt x="3898705" y="107191"/>
                </a:cubicBezTo>
                <a:lnTo>
                  <a:pt x="3898705" y="535943"/>
                </a:lnTo>
                <a:cubicBezTo>
                  <a:pt x="3898705" y="595143"/>
                  <a:pt x="3850714" y="643134"/>
                  <a:pt x="3791514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Menstrual irregularities 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CA63C47-5EA1-41FF-8287-130349E70146}"/>
              </a:ext>
            </a:extLst>
          </p:cNvPr>
          <p:cNvSpPr/>
          <p:nvPr/>
        </p:nvSpPr>
        <p:spPr>
          <a:xfrm>
            <a:off x="2214306" y="3652833"/>
            <a:ext cx="548640" cy="5486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2" name="Polycystic ovaries">
            <a:extLst>
              <a:ext uri="{FF2B5EF4-FFF2-40B4-BE49-F238E27FC236}">
                <a16:creationId xmlns:a16="http://schemas.microsoft.com/office/drawing/2014/main" id="{36DE943F-F7EC-468F-9161-D1D881379349}"/>
              </a:ext>
            </a:extLst>
          </p:cNvPr>
          <p:cNvSpPr/>
          <p:nvPr/>
        </p:nvSpPr>
        <p:spPr>
          <a:xfrm>
            <a:off x="2909782" y="5802904"/>
            <a:ext cx="2225559" cy="457200"/>
          </a:xfrm>
          <a:custGeom>
            <a:avLst/>
            <a:gdLst>
              <a:gd name="connsiteX0" fmla="*/ 0 w 4132484"/>
              <a:gd name="connsiteY0" fmla="*/ 107191 h 643134"/>
              <a:gd name="connsiteX1" fmla="*/ 107191 w 4132484"/>
              <a:gd name="connsiteY1" fmla="*/ 0 h 643134"/>
              <a:gd name="connsiteX2" fmla="*/ 4025293 w 4132484"/>
              <a:gd name="connsiteY2" fmla="*/ 0 h 643134"/>
              <a:gd name="connsiteX3" fmla="*/ 4132484 w 4132484"/>
              <a:gd name="connsiteY3" fmla="*/ 107191 h 643134"/>
              <a:gd name="connsiteX4" fmla="*/ 4132484 w 4132484"/>
              <a:gd name="connsiteY4" fmla="*/ 535943 h 643134"/>
              <a:gd name="connsiteX5" fmla="*/ 4025293 w 4132484"/>
              <a:gd name="connsiteY5" fmla="*/ 643134 h 643134"/>
              <a:gd name="connsiteX6" fmla="*/ 107191 w 4132484"/>
              <a:gd name="connsiteY6" fmla="*/ 643134 h 643134"/>
              <a:gd name="connsiteX7" fmla="*/ 0 w 4132484"/>
              <a:gd name="connsiteY7" fmla="*/ 535943 h 643134"/>
              <a:gd name="connsiteX8" fmla="*/ 0 w 4132484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32484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4025293" y="0"/>
                </a:lnTo>
                <a:cubicBezTo>
                  <a:pt x="4084493" y="0"/>
                  <a:pt x="4132484" y="47991"/>
                  <a:pt x="4132484" y="107191"/>
                </a:cubicBezTo>
                <a:lnTo>
                  <a:pt x="4132484" y="535943"/>
                </a:lnTo>
                <a:cubicBezTo>
                  <a:pt x="4132484" y="595143"/>
                  <a:pt x="4084493" y="643134"/>
                  <a:pt x="4025293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Polycystic Ovaries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83FD5D2-D7C4-44E7-A434-38381E517FFB}"/>
              </a:ext>
            </a:extLst>
          </p:cNvPr>
          <p:cNvSpPr/>
          <p:nvPr/>
        </p:nvSpPr>
        <p:spPr>
          <a:xfrm>
            <a:off x="2214306" y="5762021"/>
            <a:ext cx="548640" cy="5486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74" name="Graphic 73" descr="Cursor with solid fill">
            <a:extLst>
              <a:ext uri="{FF2B5EF4-FFF2-40B4-BE49-F238E27FC236}">
                <a16:creationId xmlns:a16="http://schemas.microsoft.com/office/drawing/2014/main" id="{5ED0CD6D-5312-4C02-9FD6-3A078D40E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4120" y="2349298"/>
            <a:ext cx="301752" cy="301752"/>
          </a:xfrm>
          <a:prstGeom prst="rect">
            <a:avLst/>
          </a:prstGeom>
        </p:spPr>
      </p:pic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E09229C6-DEDF-4366-A749-F09BF3A2CF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4465" y="4148770"/>
            <a:ext cx="301752" cy="301752"/>
          </a:xfrm>
          <a:prstGeom prst="rect">
            <a:avLst/>
          </a:prstGeom>
        </p:spPr>
      </p:pic>
      <p:pic>
        <p:nvPicPr>
          <p:cNvPr id="76" name="Graphic 75" descr="Cursor with solid fill">
            <a:extLst>
              <a:ext uri="{FF2B5EF4-FFF2-40B4-BE49-F238E27FC236}">
                <a16:creationId xmlns:a16="http://schemas.microsoft.com/office/drawing/2014/main" id="{1D850E0A-B34B-42BA-B6DE-3C35FA168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4120" y="6096528"/>
            <a:ext cx="301752" cy="301752"/>
          </a:xfrm>
          <a:prstGeom prst="rect">
            <a:avLst/>
          </a:prstGeom>
        </p:spPr>
      </p:pic>
      <p:sp>
        <p:nvSpPr>
          <p:cNvPr id="77" name="Oval 76">
            <a:extLst>
              <a:ext uri="{FF2B5EF4-FFF2-40B4-BE49-F238E27FC236}">
                <a16:creationId xmlns:a16="http://schemas.microsoft.com/office/drawing/2014/main" id="{4B8DB005-AB9F-436D-989F-E7D00C2DFDA2}"/>
              </a:ext>
            </a:extLst>
          </p:cNvPr>
          <p:cNvSpPr/>
          <p:nvPr/>
        </p:nvSpPr>
        <p:spPr>
          <a:xfrm>
            <a:off x="2214306" y="2002195"/>
            <a:ext cx="548640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9B72E07-BA13-4275-ACD5-1252EFDCDEBC}"/>
              </a:ext>
            </a:extLst>
          </p:cNvPr>
          <p:cNvSpPr/>
          <p:nvPr/>
        </p:nvSpPr>
        <p:spPr>
          <a:xfrm>
            <a:off x="2214306" y="3652016"/>
            <a:ext cx="548640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A2A9F11-E721-4DE2-A4D2-DC8B38DAC811}"/>
              </a:ext>
            </a:extLst>
          </p:cNvPr>
          <p:cNvSpPr/>
          <p:nvPr/>
        </p:nvSpPr>
        <p:spPr>
          <a:xfrm>
            <a:off x="2214306" y="5764103"/>
            <a:ext cx="548640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D3CE46-E889-4169-BC71-8209A70898DD}"/>
              </a:ext>
            </a:extLst>
          </p:cNvPr>
          <p:cNvSpPr txBox="1"/>
          <p:nvPr/>
        </p:nvSpPr>
        <p:spPr>
          <a:xfrm>
            <a:off x="4256352" y="684233"/>
            <a:ext cx="5776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Many conditions mimic signs and symptoms of PCOS. </a:t>
            </a:r>
          </a:p>
          <a:p>
            <a:pPr algn="ctr"/>
            <a:r>
              <a:rPr lang="en-US" sz="2000" dirty="0"/>
              <a:t>What other conditions are on your differential? </a:t>
            </a:r>
          </a:p>
        </p:txBody>
      </p:sp>
      <p:sp>
        <p:nvSpPr>
          <p:cNvPr id="81" name="Rounded Rectangle 3">
            <a:extLst>
              <a:ext uri="{FF2B5EF4-FFF2-40B4-BE49-F238E27FC236}">
                <a16:creationId xmlns:a16="http://schemas.microsoft.com/office/drawing/2014/main" id="{6864E332-8137-4E05-866A-816BB101032A}"/>
              </a:ext>
            </a:extLst>
          </p:cNvPr>
          <p:cNvSpPr/>
          <p:nvPr/>
        </p:nvSpPr>
        <p:spPr>
          <a:xfrm>
            <a:off x="5668961" y="1560892"/>
            <a:ext cx="3947132" cy="127313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Congenital adrenal hyperplasia</a:t>
            </a:r>
            <a:endParaRPr lang="en-US" dirty="0">
              <a:solidFill>
                <a:schemeClr val="accent1"/>
              </a:solidFill>
            </a:endParaRPr>
          </a:p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Acromegaly</a:t>
            </a:r>
          </a:p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Androgen secreting tumors</a:t>
            </a:r>
          </a:p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Cushing’s syndrome</a:t>
            </a:r>
          </a:p>
        </p:txBody>
      </p:sp>
      <p:sp>
        <p:nvSpPr>
          <p:cNvPr id="85" name="Rounded Rectangle 38">
            <a:extLst>
              <a:ext uri="{FF2B5EF4-FFF2-40B4-BE49-F238E27FC236}">
                <a16:creationId xmlns:a16="http://schemas.microsoft.com/office/drawing/2014/main" id="{F616CADC-D678-4FC4-8EC5-7041D8B58EE4}"/>
              </a:ext>
            </a:extLst>
          </p:cNvPr>
          <p:cNvSpPr/>
          <p:nvPr/>
        </p:nvSpPr>
        <p:spPr>
          <a:xfrm>
            <a:off x="5639694" y="5632487"/>
            <a:ext cx="3528032" cy="798033"/>
          </a:xfrm>
          <a:prstGeom prst="roundRect">
            <a:avLst>
              <a:gd name="adj" fmla="val 12056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Normal cycle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Exogenous testosterone use</a:t>
            </a: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id="{330C9106-F2DE-41D3-B9CC-CF53D0A52281}"/>
              </a:ext>
            </a:extLst>
          </p:cNvPr>
          <p:cNvSpPr/>
          <p:nvPr/>
        </p:nvSpPr>
        <p:spPr>
          <a:xfrm>
            <a:off x="5668961" y="2874996"/>
            <a:ext cx="3947132" cy="253836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Thyroid disorders</a:t>
            </a:r>
          </a:p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Hyperprolactinemia</a:t>
            </a:r>
            <a:endParaRPr lang="en-US" sz="2000" dirty="0">
              <a:solidFill>
                <a:srgbClr val="C00000"/>
              </a:solidFill>
            </a:endParaRPr>
          </a:p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Endometrial causes 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sz="1600" dirty="0">
                <a:solidFill>
                  <a:srgbClr val="C00000"/>
                </a:solidFill>
              </a:rPr>
              <a:t>polyp, adenomyosis, leiomyoma, malignancy/hyperplasia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Perimenopause/ ovarian failure</a:t>
            </a:r>
          </a:p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Pregnancy</a:t>
            </a:r>
          </a:p>
          <a:p>
            <a:pPr marL="177800" indent="-1778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Hypothalamic hypogonadism</a:t>
            </a:r>
          </a:p>
        </p:txBody>
      </p:sp>
      <p:sp>
        <p:nvSpPr>
          <p:cNvPr id="101" name="Left Brace 100">
            <a:extLst>
              <a:ext uri="{FF2B5EF4-FFF2-40B4-BE49-F238E27FC236}">
                <a16:creationId xmlns:a16="http://schemas.microsoft.com/office/drawing/2014/main" id="{BC897000-DDE7-4455-B40D-DCF339366101}"/>
              </a:ext>
            </a:extLst>
          </p:cNvPr>
          <p:cNvSpPr/>
          <p:nvPr/>
        </p:nvSpPr>
        <p:spPr>
          <a:xfrm>
            <a:off x="5129601" y="1566579"/>
            <a:ext cx="356434" cy="1229808"/>
          </a:xfrm>
          <a:prstGeom prst="leftBrace">
            <a:avLst>
              <a:gd name="adj1" fmla="val 0"/>
              <a:gd name="adj2" fmla="val 69109"/>
            </a:avLst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3A03D16-6A20-49E6-9B6B-1F710C46A716}"/>
              </a:ext>
            </a:extLst>
          </p:cNvPr>
          <p:cNvGrpSpPr/>
          <p:nvPr/>
        </p:nvGrpSpPr>
        <p:grpSpPr>
          <a:xfrm>
            <a:off x="5129601" y="1566580"/>
            <a:ext cx="623779" cy="3877505"/>
            <a:chOff x="5129601" y="1566580"/>
            <a:chExt cx="623779" cy="3877505"/>
          </a:xfrm>
        </p:grpSpPr>
        <p:sp>
          <p:nvSpPr>
            <p:cNvPr id="102" name="Left Bracket 101">
              <a:extLst>
                <a:ext uri="{FF2B5EF4-FFF2-40B4-BE49-F238E27FC236}">
                  <a16:creationId xmlns:a16="http://schemas.microsoft.com/office/drawing/2014/main" id="{C81A5E15-B57A-406F-8423-5C706D02C9D5}"/>
                </a:ext>
              </a:extLst>
            </p:cNvPr>
            <p:cNvSpPr/>
            <p:nvPr/>
          </p:nvSpPr>
          <p:spPr>
            <a:xfrm>
              <a:off x="5528430" y="1566580"/>
              <a:ext cx="224950" cy="3877505"/>
            </a:xfrm>
            <a:prstGeom prst="leftBracket">
              <a:avLst>
                <a:gd name="adj" fmla="val 0"/>
              </a:avLst>
            </a:prstGeom>
            <a:ln w="19050"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0A1C48B-2F83-49C9-899B-31E10EE7391A}"/>
                </a:ext>
              </a:extLst>
            </p:cNvPr>
            <p:cNvCxnSpPr>
              <a:cxnSpLocks/>
            </p:cNvCxnSpPr>
            <p:nvPr/>
          </p:nvCxnSpPr>
          <p:spPr>
            <a:xfrm>
              <a:off x="5129601" y="3935085"/>
              <a:ext cx="398829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0E88B0A-B6FA-4E13-A699-CF5EC8DFE482}"/>
              </a:ext>
            </a:extLst>
          </p:cNvPr>
          <p:cNvGrpSpPr/>
          <p:nvPr/>
        </p:nvGrpSpPr>
        <p:grpSpPr>
          <a:xfrm>
            <a:off x="5127768" y="5716453"/>
            <a:ext cx="449900" cy="624176"/>
            <a:chOff x="5127768" y="5716453"/>
            <a:chExt cx="449900" cy="624176"/>
          </a:xfrm>
        </p:grpSpPr>
        <p:sp>
          <p:nvSpPr>
            <p:cNvPr id="107" name="Left Bracket 106">
              <a:extLst>
                <a:ext uri="{FF2B5EF4-FFF2-40B4-BE49-F238E27FC236}">
                  <a16:creationId xmlns:a16="http://schemas.microsoft.com/office/drawing/2014/main" id="{106E9986-E913-4358-ACF9-02F6EDF8F477}"/>
                </a:ext>
              </a:extLst>
            </p:cNvPr>
            <p:cNvSpPr/>
            <p:nvPr/>
          </p:nvSpPr>
          <p:spPr>
            <a:xfrm>
              <a:off x="5352718" y="5716453"/>
              <a:ext cx="224950" cy="624176"/>
            </a:xfrm>
            <a:prstGeom prst="leftBracket">
              <a:avLst>
                <a:gd name="adj" fmla="val 0"/>
              </a:avLst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5DC90DB-C4B3-46C7-B892-30918FDB6FBE}"/>
                </a:ext>
              </a:extLst>
            </p:cNvPr>
            <p:cNvCxnSpPr>
              <a:cxnSpLocks/>
              <a:endCxn id="107" idx="1"/>
            </p:cNvCxnSpPr>
            <p:nvPr/>
          </p:nvCxnSpPr>
          <p:spPr>
            <a:xfrm>
              <a:off x="5127768" y="6028541"/>
              <a:ext cx="224950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50" name="teachIM logo" descr="Icon&#10;&#10;Description automatically generated">
            <a:extLst>
              <a:ext uri="{FF2B5EF4-FFF2-40B4-BE49-F238E27FC236}">
                <a16:creationId xmlns:a16="http://schemas.microsoft.com/office/drawing/2014/main" id="{A8BA45CD-D31C-4C11-8E77-FC76439008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47" name="question 1">
            <a:hlinkClick r:id="rId7" action="ppaction://hlinksldjump"/>
            <a:extLst>
              <a:ext uri="{FF2B5EF4-FFF2-40B4-BE49-F238E27FC236}">
                <a16:creationId xmlns:a16="http://schemas.microsoft.com/office/drawing/2014/main" id="{B1AEE1EE-4FEE-4130-9B60-A6D632099C3F}"/>
              </a:ext>
            </a:extLst>
          </p:cNvPr>
          <p:cNvSpPr txBox="1"/>
          <p:nvPr/>
        </p:nvSpPr>
        <p:spPr>
          <a:xfrm>
            <a:off x="222678" y="199033"/>
            <a:ext cx="1645920" cy="41148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Diagnosis 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576E15EB-41D8-45C2-B27B-55AE8A6A7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8213" y="468999"/>
            <a:ext cx="301752" cy="30175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475D59F-B913-492A-BB4B-36F208D3AEFA}"/>
              </a:ext>
            </a:extLst>
          </p:cNvPr>
          <p:cNvGrpSpPr/>
          <p:nvPr/>
        </p:nvGrpSpPr>
        <p:grpSpPr>
          <a:xfrm>
            <a:off x="9288248" y="1443252"/>
            <a:ext cx="2700496" cy="1441050"/>
            <a:chOff x="9252801" y="1330445"/>
            <a:chExt cx="2700496" cy="144105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E610658-263D-4BDA-8BDD-054803D02EBA}"/>
                </a:ext>
              </a:extLst>
            </p:cNvPr>
            <p:cNvSpPr txBox="1"/>
            <p:nvPr/>
          </p:nvSpPr>
          <p:spPr>
            <a:xfrm>
              <a:off x="9414329" y="1330445"/>
              <a:ext cx="2377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1"/>
                  </a:solidFill>
                </a:rPr>
                <a:t>Total testosterone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B285AD2-A893-4FE5-BD6C-2C830F8267DB}"/>
                </a:ext>
              </a:extLst>
            </p:cNvPr>
            <p:cNvSpPr txBox="1"/>
            <p:nvPr/>
          </p:nvSpPr>
          <p:spPr>
            <a:xfrm>
              <a:off x="9414329" y="1635817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± 17-OH progesterone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E99F32C-B737-40AC-96E9-157E5F06843C}"/>
                </a:ext>
              </a:extLst>
            </p:cNvPr>
            <p:cNvSpPr txBox="1"/>
            <p:nvPr/>
          </p:nvSpPr>
          <p:spPr>
            <a:xfrm>
              <a:off x="9414329" y="2094184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± SHBG, DHEAS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EBB0767-5689-460C-BBEC-2F5141EADAAC}"/>
                </a:ext>
              </a:extLst>
            </p:cNvPr>
            <p:cNvSpPr txBox="1"/>
            <p:nvPr/>
          </p:nvSpPr>
          <p:spPr>
            <a:xfrm>
              <a:off x="9252801" y="2402163"/>
              <a:ext cx="2700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Midnight salivary cortisol</a:t>
              </a:r>
            </a:p>
          </p:txBody>
        </p:sp>
      </p:grpSp>
      <p:sp>
        <p:nvSpPr>
          <p:cNvPr id="52" name="Hyperandrogen Evaluation">
            <a:extLst>
              <a:ext uri="{FF2B5EF4-FFF2-40B4-BE49-F238E27FC236}">
                <a16:creationId xmlns:a16="http://schemas.microsoft.com/office/drawing/2014/main" id="{3CB08573-F72C-47C6-8AD4-A0380593BA19}"/>
              </a:ext>
            </a:extLst>
          </p:cNvPr>
          <p:cNvSpPr/>
          <p:nvPr/>
        </p:nvSpPr>
        <p:spPr>
          <a:xfrm>
            <a:off x="9545322" y="2011961"/>
            <a:ext cx="2225559" cy="473772"/>
          </a:xfrm>
          <a:custGeom>
            <a:avLst/>
            <a:gdLst>
              <a:gd name="connsiteX0" fmla="*/ 0 w 3626833"/>
              <a:gd name="connsiteY0" fmla="*/ 107191 h 643134"/>
              <a:gd name="connsiteX1" fmla="*/ 107191 w 3626833"/>
              <a:gd name="connsiteY1" fmla="*/ 0 h 643134"/>
              <a:gd name="connsiteX2" fmla="*/ 3519642 w 3626833"/>
              <a:gd name="connsiteY2" fmla="*/ 0 h 643134"/>
              <a:gd name="connsiteX3" fmla="*/ 3626833 w 3626833"/>
              <a:gd name="connsiteY3" fmla="*/ 107191 h 643134"/>
              <a:gd name="connsiteX4" fmla="*/ 3626833 w 3626833"/>
              <a:gd name="connsiteY4" fmla="*/ 535943 h 643134"/>
              <a:gd name="connsiteX5" fmla="*/ 3519642 w 3626833"/>
              <a:gd name="connsiteY5" fmla="*/ 643134 h 643134"/>
              <a:gd name="connsiteX6" fmla="*/ 107191 w 3626833"/>
              <a:gd name="connsiteY6" fmla="*/ 643134 h 643134"/>
              <a:gd name="connsiteX7" fmla="*/ 0 w 3626833"/>
              <a:gd name="connsiteY7" fmla="*/ 535943 h 643134"/>
              <a:gd name="connsiteX8" fmla="*/ 0 w 3626833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6833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519642" y="0"/>
                </a:lnTo>
                <a:cubicBezTo>
                  <a:pt x="3578842" y="0"/>
                  <a:pt x="3626833" y="47991"/>
                  <a:pt x="3626833" y="107191"/>
                </a:cubicBezTo>
                <a:lnTo>
                  <a:pt x="3626833" y="535943"/>
                </a:lnTo>
                <a:cubicBezTo>
                  <a:pt x="3626833" y="595143"/>
                  <a:pt x="3578842" y="643134"/>
                  <a:pt x="3519642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sp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Evaluation?</a:t>
            </a:r>
          </a:p>
        </p:txBody>
      </p:sp>
      <p:pic>
        <p:nvPicPr>
          <p:cNvPr id="84" name="Graphic 83" descr="Cursor with solid fill">
            <a:extLst>
              <a:ext uri="{FF2B5EF4-FFF2-40B4-BE49-F238E27FC236}">
                <a16:creationId xmlns:a16="http://schemas.microsoft.com/office/drawing/2014/main" id="{852E2F52-4F7B-4080-8E9B-1FB534C88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9660" y="2326056"/>
            <a:ext cx="301752" cy="301752"/>
          </a:xfrm>
          <a:prstGeom prst="rect">
            <a:avLst/>
          </a:prstGeom>
        </p:spPr>
      </p:pic>
      <p:sp>
        <p:nvSpPr>
          <p:cNvPr id="86" name="question 3">
            <a:hlinkClick r:id="rId8" action="ppaction://hlinksldjump"/>
            <a:extLst>
              <a:ext uri="{FF2B5EF4-FFF2-40B4-BE49-F238E27FC236}">
                <a16:creationId xmlns:a16="http://schemas.microsoft.com/office/drawing/2014/main" id="{811AFF22-C27E-4408-AC1E-8EF85EDE8FB7}"/>
              </a:ext>
            </a:extLst>
          </p:cNvPr>
          <p:cNvSpPr txBox="1"/>
          <p:nvPr/>
        </p:nvSpPr>
        <p:spPr>
          <a:xfrm>
            <a:off x="222678" y="1355411"/>
            <a:ext cx="1645920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Associated Co-Morbidities </a:t>
            </a:r>
          </a:p>
        </p:txBody>
      </p:sp>
      <p:sp>
        <p:nvSpPr>
          <p:cNvPr id="87" name="Cases">
            <a:hlinkClick r:id="" action="ppaction://noaction"/>
            <a:extLst>
              <a:ext uri="{FF2B5EF4-FFF2-40B4-BE49-F238E27FC236}">
                <a16:creationId xmlns:a16="http://schemas.microsoft.com/office/drawing/2014/main" id="{4AA252DA-AD55-4065-8562-18DDECF643A2}"/>
              </a:ext>
            </a:extLst>
          </p:cNvPr>
          <p:cNvSpPr txBox="1"/>
          <p:nvPr/>
        </p:nvSpPr>
        <p:spPr>
          <a:xfrm>
            <a:off x="222678" y="2237209"/>
            <a:ext cx="1645920" cy="41148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39B22DCD-63F6-4CC9-B31B-DB90303B9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8213" y="2519003"/>
            <a:ext cx="301752" cy="301752"/>
          </a:xfrm>
          <a:prstGeom prst="rect">
            <a:avLst/>
          </a:prstGeom>
        </p:spPr>
      </p:pic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4D7FAFFF-9B42-40D6-9429-D274347629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8213" y="1913124"/>
            <a:ext cx="301752" cy="301752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1EEFCB58-B632-4369-AC59-D6809741B762}"/>
              </a:ext>
            </a:extLst>
          </p:cNvPr>
          <p:cNvGrpSpPr/>
          <p:nvPr/>
        </p:nvGrpSpPr>
        <p:grpSpPr>
          <a:xfrm>
            <a:off x="9440116" y="2874284"/>
            <a:ext cx="2396760" cy="2311881"/>
            <a:chOff x="9657957" y="2874996"/>
            <a:chExt cx="2396760" cy="231188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411CE32-8256-45A7-B5AD-6E690854CAD7}"/>
                </a:ext>
              </a:extLst>
            </p:cNvPr>
            <p:cNvSpPr txBox="1"/>
            <p:nvPr/>
          </p:nvSpPr>
          <p:spPr>
            <a:xfrm>
              <a:off x="9657957" y="3159875"/>
              <a:ext cx="2377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Prolactin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1B9FC43-EEE3-4255-A411-ECD271987AF3}"/>
                </a:ext>
              </a:extLst>
            </p:cNvPr>
            <p:cNvSpPr txBox="1"/>
            <p:nvPr/>
          </p:nvSpPr>
          <p:spPr>
            <a:xfrm>
              <a:off x="9657957" y="2874996"/>
              <a:ext cx="2377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TSH, fT4 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BD735AA-F1D1-4888-9BD6-7F0DC5426F4D}"/>
                </a:ext>
              </a:extLst>
            </p:cNvPr>
            <p:cNvSpPr txBox="1"/>
            <p:nvPr/>
          </p:nvSpPr>
          <p:spPr>
            <a:xfrm>
              <a:off x="9677276" y="4786767"/>
              <a:ext cx="23774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000" b="1" dirty="0">
                  <a:solidFill>
                    <a:srgbClr val="C00000"/>
                  </a:solidFill>
                </a:rPr>
                <a:t>β</a:t>
              </a:r>
              <a:r>
                <a:rPr lang="en-US" sz="2000" b="1" dirty="0">
                  <a:solidFill>
                    <a:srgbClr val="C00000"/>
                  </a:solidFill>
                </a:rPr>
                <a:t>-HCG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1073F47-249B-4400-8DDC-1B8AA0A8A64C}"/>
                </a:ext>
              </a:extLst>
            </p:cNvPr>
            <p:cNvSpPr txBox="1"/>
            <p:nvPr/>
          </p:nvSpPr>
          <p:spPr>
            <a:xfrm>
              <a:off x="9677277" y="3710861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±Pelvic ultrasound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D40DE43-56BE-40AD-A259-FEFD18345AD2}"/>
                </a:ext>
              </a:extLst>
            </p:cNvPr>
            <p:cNvSpPr txBox="1"/>
            <p:nvPr/>
          </p:nvSpPr>
          <p:spPr>
            <a:xfrm>
              <a:off x="9657957" y="4489677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± LH/FSH</a:t>
              </a:r>
            </a:p>
          </p:txBody>
        </p:sp>
      </p:grpSp>
      <p:sp>
        <p:nvSpPr>
          <p:cNvPr id="96" name="Menstrual Evaluation">
            <a:extLst>
              <a:ext uri="{FF2B5EF4-FFF2-40B4-BE49-F238E27FC236}">
                <a16:creationId xmlns:a16="http://schemas.microsoft.com/office/drawing/2014/main" id="{69E00B87-86B1-4A10-97DF-1526B49C8A83}"/>
              </a:ext>
            </a:extLst>
          </p:cNvPr>
          <p:cNvSpPr/>
          <p:nvPr/>
        </p:nvSpPr>
        <p:spPr>
          <a:xfrm>
            <a:off x="9560342" y="3625312"/>
            <a:ext cx="2225559" cy="473772"/>
          </a:xfrm>
          <a:custGeom>
            <a:avLst/>
            <a:gdLst>
              <a:gd name="connsiteX0" fmla="*/ 0 w 3626833"/>
              <a:gd name="connsiteY0" fmla="*/ 107191 h 643134"/>
              <a:gd name="connsiteX1" fmla="*/ 107191 w 3626833"/>
              <a:gd name="connsiteY1" fmla="*/ 0 h 643134"/>
              <a:gd name="connsiteX2" fmla="*/ 3519642 w 3626833"/>
              <a:gd name="connsiteY2" fmla="*/ 0 h 643134"/>
              <a:gd name="connsiteX3" fmla="*/ 3626833 w 3626833"/>
              <a:gd name="connsiteY3" fmla="*/ 107191 h 643134"/>
              <a:gd name="connsiteX4" fmla="*/ 3626833 w 3626833"/>
              <a:gd name="connsiteY4" fmla="*/ 535943 h 643134"/>
              <a:gd name="connsiteX5" fmla="*/ 3519642 w 3626833"/>
              <a:gd name="connsiteY5" fmla="*/ 643134 h 643134"/>
              <a:gd name="connsiteX6" fmla="*/ 107191 w 3626833"/>
              <a:gd name="connsiteY6" fmla="*/ 643134 h 643134"/>
              <a:gd name="connsiteX7" fmla="*/ 0 w 3626833"/>
              <a:gd name="connsiteY7" fmla="*/ 535943 h 643134"/>
              <a:gd name="connsiteX8" fmla="*/ 0 w 3626833"/>
              <a:gd name="connsiteY8" fmla="*/ 107191 h 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6833" h="643134">
                <a:moveTo>
                  <a:pt x="0" y="107191"/>
                </a:moveTo>
                <a:cubicBezTo>
                  <a:pt x="0" y="47991"/>
                  <a:pt x="47991" y="0"/>
                  <a:pt x="107191" y="0"/>
                </a:cubicBezTo>
                <a:lnTo>
                  <a:pt x="3519642" y="0"/>
                </a:lnTo>
                <a:cubicBezTo>
                  <a:pt x="3578842" y="0"/>
                  <a:pt x="3626833" y="47991"/>
                  <a:pt x="3626833" y="107191"/>
                </a:cubicBezTo>
                <a:lnTo>
                  <a:pt x="3626833" y="535943"/>
                </a:lnTo>
                <a:cubicBezTo>
                  <a:pt x="3626833" y="595143"/>
                  <a:pt x="3578842" y="643134"/>
                  <a:pt x="3519642" y="643134"/>
                </a:cubicBezTo>
                <a:lnTo>
                  <a:pt x="107191" y="643134"/>
                </a:lnTo>
                <a:cubicBezTo>
                  <a:pt x="47991" y="643134"/>
                  <a:pt x="0" y="595143"/>
                  <a:pt x="0" y="535943"/>
                </a:cubicBezTo>
                <a:lnTo>
                  <a:pt x="0" y="107191"/>
                </a:lnTo>
                <a:close/>
              </a:path>
            </a:pathLst>
          </a:cu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584" tIns="97435" rIns="97435" bIns="97435" numCol="1" spcCol="1270" anchor="ctr" anchorCtr="0">
            <a:sp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Evaluation?</a:t>
            </a:r>
          </a:p>
        </p:txBody>
      </p:sp>
      <p:pic>
        <p:nvPicPr>
          <p:cNvPr id="97" name="Graphic 96" descr="Cursor with solid fill">
            <a:extLst>
              <a:ext uri="{FF2B5EF4-FFF2-40B4-BE49-F238E27FC236}">
                <a16:creationId xmlns:a16="http://schemas.microsoft.com/office/drawing/2014/main" id="{6AE5D88B-D8C1-496C-85BA-9681196EAF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24680" y="3939407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4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500" fill="hold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</p:childTnLst>
        </p:cTn>
      </p:par>
    </p:tnLst>
    <p:bldLst>
      <p:bldP spid="66" grpId="0" animBg="1"/>
      <p:bldP spid="68" grpId="0" animBg="1"/>
      <p:bldP spid="70" grpId="0" animBg="1"/>
      <p:bldP spid="72" grpId="0" animBg="1"/>
      <p:bldP spid="77" grpId="0" animBg="1"/>
      <p:bldP spid="78" grpId="0" animBg="1"/>
      <p:bldP spid="79" grpId="0" animBg="1"/>
      <p:bldP spid="81" grpId="0" uiExpand="1" build="allAtOnce"/>
      <p:bldP spid="85" grpId="0"/>
      <p:bldP spid="100" grpId="0"/>
      <p:bldP spid="101" grpId="0" animBg="1"/>
      <p:bldP spid="52" grpId="0" animBg="1"/>
      <p:bldP spid="52" grpId="1" animBg="1"/>
      <p:bldP spid="96" grpId="0" animBg="1"/>
      <p:bldP spid="9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4" descr="A picture containing text&#10;&#10;Description automatically generated">
            <a:extLst>
              <a:ext uri="{FF2B5EF4-FFF2-40B4-BE49-F238E27FC236}">
                <a16:creationId xmlns:a16="http://schemas.microsoft.com/office/drawing/2014/main" id="{6238A061-6D26-41CB-B0E8-D090D45B18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4" t="5197" r="65065" b="30110"/>
          <a:stretch/>
        </p:blipFill>
        <p:spPr>
          <a:xfrm>
            <a:off x="4185844" y="722254"/>
            <a:ext cx="4905822" cy="656843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36" name="Hair" descr="A picture containing text&#10;&#10;Description automatically generated">
            <a:extLst>
              <a:ext uri="{FF2B5EF4-FFF2-40B4-BE49-F238E27FC236}">
                <a16:creationId xmlns:a16="http://schemas.microsoft.com/office/drawing/2014/main" id="{B9529BDE-9BE1-4FA0-A808-E3679F464C4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5" t="40499" r="58576" b="52910"/>
          <a:stretch/>
        </p:blipFill>
        <p:spPr>
          <a:xfrm rot="5848065">
            <a:off x="6516132" y="1838169"/>
            <a:ext cx="607009" cy="669134"/>
          </a:xfrm>
          <a:prstGeom prst="rect">
            <a:avLst/>
          </a:prstGeom>
          <a:effectLst/>
        </p:spPr>
      </p:pic>
      <p:pic>
        <p:nvPicPr>
          <p:cNvPr id="132" name="Brain" descr="A picture containing text&#10;&#10;Description automatically generated">
            <a:extLst>
              <a:ext uri="{FF2B5EF4-FFF2-40B4-BE49-F238E27FC236}">
                <a16:creationId xmlns:a16="http://schemas.microsoft.com/office/drawing/2014/main" id="{85690E7A-25C5-456A-B05E-8878D094E58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3" t="6615" r="58791" b="82905"/>
          <a:stretch/>
        </p:blipFill>
        <p:spPr>
          <a:xfrm>
            <a:off x="6232423" y="773754"/>
            <a:ext cx="1160159" cy="106399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33" name="Heart" descr="A picture containing text&#10;&#10;Description automatically generated">
            <a:extLst>
              <a:ext uri="{FF2B5EF4-FFF2-40B4-BE49-F238E27FC236}">
                <a16:creationId xmlns:a16="http://schemas.microsoft.com/office/drawing/2014/main" id="{17ABC3E6-46D3-4C2C-ABF4-CEC4A91DD93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5" t="19028" r="59809" b="71005"/>
          <a:stretch/>
        </p:blipFill>
        <p:spPr>
          <a:xfrm>
            <a:off x="6390593" y="2583440"/>
            <a:ext cx="815029" cy="1011872"/>
          </a:xfrm>
          <a:prstGeom prst="rect">
            <a:avLst/>
          </a:prstGeom>
          <a:effectLst/>
        </p:spPr>
      </p:pic>
      <p:pic>
        <p:nvPicPr>
          <p:cNvPr id="134" name="Pancreas" descr="A picture containing text&#10;&#10;Description automatically generated">
            <a:extLst>
              <a:ext uri="{FF2B5EF4-FFF2-40B4-BE49-F238E27FC236}">
                <a16:creationId xmlns:a16="http://schemas.microsoft.com/office/drawing/2014/main" id="{B0BAF32A-7F1E-425A-9021-B613411F5BF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7" t="31105" r="59494" b="62304"/>
          <a:stretch/>
        </p:blipFill>
        <p:spPr>
          <a:xfrm>
            <a:off x="6313395" y="3442945"/>
            <a:ext cx="927251" cy="669134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E6DA4EF-7B3D-4A89-A49C-F202A33FD292}"/>
              </a:ext>
            </a:extLst>
          </p:cNvPr>
          <p:cNvSpPr txBox="1"/>
          <p:nvPr/>
        </p:nvSpPr>
        <p:spPr>
          <a:xfrm>
            <a:off x="3365155" y="199033"/>
            <a:ext cx="7181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comorbidities are associated with PCOS?</a:t>
            </a:r>
          </a:p>
        </p:txBody>
      </p:sp>
      <p:sp>
        <p:nvSpPr>
          <p:cNvPr id="82" name="Mood disorders">
            <a:extLst>
              <a:ext uri="{FF2B5EF4-FFF2-40B4-BE49-F238E27FC236}">
                <a16:creationId xmlns:a16="http://schemas.microsoft.com/office/drawing/2014/main" id="{2A61634E-9DDF-4E70-A2F0-FB42B1E41F00}"/>
              </a:ext>
            </a:extLst>
          </p:cNvPr>
          <p:cNvSpPr/>
          <p:nvPr/>
        </p:nvSpPr>
        <p:spPr>
          <a:xfrm>
            <a:off x="2110105" y="877473"/>
            <a:ext cx="3840480" cy="120929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Mood disorders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↑ risk of anxiety, depression, ED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FFDAB5E-6D63-44E1-8804-82A347C12785}"/>
              </a:ext>
            </a:extLst>
          </p:cNvPr>
          <p:cNvCxnSpPr>
            <a:cxnSpLocks/>
            <a:endCxn id="108" idx="3"/>
          </p:cNvCxnSpPr>
          <p:nvPr/>
        </p:nvCxnSpPr>
        <p:spPr>
          <a:xfrm flipH="1">
            <a:off x="5950585" y="2236895"/>
            <a:ext cx="782678" cy="745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Brain" descr="A picture containing text&#10;&#10;Description automatically generated">
            <a:extLst>
              <a:ext uri="{FF2B5EF4-FFF2-40B4-BE49-F238E27FC236}">
                <a16:creationId xmlns:a16="http://schemas.microsoft.com/office/drawing/2014/main" id="{FBCA28D6-32E3-445F-8E26-D119FC0E07E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3" t="6615" r="58791" b="82905"/>
          <a:stretch/>
        </p:blipFill>
        <p:spPr>
          <a:xfrm>
            <a:off x="6228188" y="775052"/>
            <a:ext cx="1160159" cy="10639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6" name="Graphic 125" descr="Cursor with solid fill">
            <a:extLst>
              <a:ext uri="{FF2B5EF4-FFF2-40B4-BE49-F238E27FC236}">
                <a16:creationId xmlns:a16="http://schemas.microsoft.com/office/drawing/2014/main" id="{1E4721D4-A300-4EC6-8CE5-2D665AE69B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8039" y="1457653"/>
            <a:ext cx="301752" cy="301752"/>
          </a:xfrm>
          <a:prstGeom prst="rect">
            <a:avLst/>
          </a:prstGeom>
        </p:spPr>
      </p:pic>
      <p:pic>
        <p:nvPicPr>
          <p:cNvPr id="127" name="Heart" descr="A picture containing text&#10;&#10;Description automatically generated">
            <a:extLst>
              <a:ext uri="{FF2B5EF4-FFF2-40B4-BE49-F238E27FC236}">
                <a16:creationId xmlns:a16="http://schemas.microsoft.com/office/drawing/2014/main" id="{7C687C02-A0F7-4AFB-B7BD-2C31FD5B34C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5" t="19028" r="59809" b="71005"/>
          <a:stretch/>
        </p:blipFill>
        <p:spPr>
          <a:xfrm>
            <a:off x="6386079" y="2589775"/>
            <a:ext cx="815029" cy="10118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0" name="Pancreas" descr="A picture containing text&#10;&#10;Description automatically generated">
            <a:extLst>
              <a:ext uri="{FF2B5EF4-FFF2-40B4-BE49-F238E27FC236}">
                <a16:creationId xmlns:a16="http://schemas.microsoft.com/office/drawing/2014/main" id="{DAA23EA0-F2DA-41F4-B3C6-C2914195722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7" t="31105" r="59494" b="62304"/>
          <a:stretch/>
        </p:blipFill>
        <p:spPr>
          <a:xfrm>
            <a:off x="6299736" y="3430255"/>
            <a:ext cx="927251" cy="669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25DE8754-8242-44ED-B0B9-C47075790D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0943" y="3883628"/>
            <a:ext cx="301752" cy="301752"/>
          </a:xfrm>
          <a:prstGeom prst="rect">
            <a:avLst/>
          </a:prstGeom>
        </p:spPr>
      </p:pic>
      <p:pic>
        <p:nvPicPr>
          <p:cNvPr id="63" name="Hair" descr="A picture containing text&#10;&#10;Description automatically generated">
            <a:extLst>
              <a:ext uri="{FF2B5EF4-FFF2-40B4-BE49-F238E27FC236}">
                <a16:creationId xmlns:a16="http://schemas.microsoft.com/office/drawing/2014/main" id="{AD7F8166-D474-44E9-AE0C-DC8198EF565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5" t="40499" r="58576" b="52910"/>
          <a:stretch/>
        </p:blipFill>
        <p:spPr>
          <a:xfrm rot="5848065">
            <a:off x="6507313" y="1820739"/>
            <a:ext cx="607009" cy="669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FE3340DC-D8F9-4004-9922-511C28A93D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6752" y="2116598"/>
            <a:ext cx="301752" cy="301752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4495B5-458C-4856-85FC-F44C21C53654}"/>
              </a:ext>
            </a:extLst>
          </p:cNvPr>
          <p:cNvCxnSpPr>
            <a:cxnSpLocks/>
            <a:endCxn id="82" idx="3"/>
          </p:cNvCxnSpPr>
          <p:nvPr/>
        </p:nvCxnSpPr>
        <p:spPr>
          <a:xfrm flipH="1">
            <a:off x="5950585" y="1466649"/>
            <a:ext cx="472789" cy="15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EDB55F8-2667-49C2-B383-A1596812A236}"/>
              </a:ext>
            </a:extLst>
          </p:cNvPr>
          <p:cNvSpPr txBox="1"/>
          <p:nvPr/>
        </p:nvSpPr>
        <p:spPr>
          <a:xfrm>
            <a:off x="2399212" y="1587139"/>
            <a:ext cx="3369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Screen/treat for MDD and GAD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Mood Management">
            <a:extLst>
              <a:ext uri="{FF2B5EF4-FFF2-40B4-BE49-F238E27FC236}">
                <a16:creationId xmlns:a16="http://schemas.microsoft.com/office/drawing/2014/main" id="{294F126B-4BA6-419A-9F49-4DF40662C61C}"/>
              </a:ext>
            </a:extLst>
          </p:cNvPr>
          <p:cNvSpPr/>
          <p:nvPr/>
        </p:nvSpPr>
        <p:spPr>
          <a:xfrm>
            <a:off x="3260997" y="1602116"/>
            <a:ext cx="16459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Management?</a:t>
            </a:r>
          </a:p>
        </p:txBody>
      </p:sp>
      <p:pic>
        <p:nvPicPr>
          <p:cNvPr id="94" name="Graphic 93" descr="Cursor with solid fill">
            <a:extLst>
              <a:ext uri="{FF2B5EF4-FFF2-40B4-BE49-F238E27FC236}">
                <a16:creationId xmlns:a16="http://schemas.microsoft.com/office/drawing/2014/main" id="{0C7C3312-3EAF-48DF-BDF3-2D3D2D42D4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7822" y="1814149"/>
            <a:ext cx="301752" cy="301752"/>
          </a:xfrm>
          <a:prstGeom prst="rect">
            <a:avLst/>
          </a:prstGeom>
        </p:spPr>
      </p:pic>
      <p:sp>
        <p:nvSpPr>
          <p:cNvPr id="96" name="CV risk">
            <a:extLst>
              <a:ext uri="{FF2B5EF4-FFF2-40B4-BE49-F238E27FC236}">
                <a16:creationId xmlns:a16="http://schemas.microsoft.com/office/drawing/2014/main" id="{B5F76407-A5AB-4AA9-8E7C-79BD1470375F}"/>
              </a:ext>
            </a:extLst>
          </p:cNvPr>
          <p:cNvSpPr/>
          <p:nvPr/>
        </p:nvSpPr>
        <p:spPr>
          <a:xfrm>
            <a:off x="2110105" y="3878497"/>
            <a:ext cx="3840480" cy="13225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Cardiovascular risk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↑ lipids, ↑ CV events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F2A3EA-D566-4D00-A8DF-D94B4B9EDE80}"/>
              </a:ext>
            </a:extLst>
          </p:cNvPr>
          <p:cNvSpPr txBox="1"/>
          <p:nvPr/>
        </p:nvSpPr>
        <p:spPr>
          <a:xfrm>
            <a:off x="2264786" y="4516934"/>
            <a:ext cx="3531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Screen with </a:t>
            </a:r>
            <a:r>
              <a:rPr lang="en-US" b="1" dirty="0">
                <a:solidFill>
                  <a:schemeClr val="accent6"/>
                </a:solidFill>
              </a:rPr>
              <a:t>fasting lipid panel. </a:t>
            </a:r>
            <a:r>
              <a:rPr lang="en-US" dirty="0">
                <a:solidFill>
                  <a:schemeClr val="accent6"/>
                </a:solidFill>
              </a:rPr>
              <a:t>Treat CV risk factors.</a:t>
            </a:r>
          </a:p>
        </p:txBody>
      </p:sp>
      <p:sp>
        <p:nvSpPr>
          <p:cNvPr id="102" name="CV Management">
            <a:extLst>
              <a:ext uri="{FF2B5EF4-FFF2-40B4-BE49-F238E27FC236}">
                <a16:creationId xmlns:a16="http://schemas.microsoft.com/office/drawing/2014/main" id="{14AC42A2-5C73-49D1-A6F6-AEC7A0F91D4E}"/>
              </a:ext>
            </a:extLst>
          </p:cNvPr>
          <p:cNvSpPr/>
          <p:nvPr/>
        </p:nvSpPr>
        <p:spPr>
          <a:xfrm>
            <a:off x="3207385" y="4636944"/>
            <a:ext cx="16459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Management?</a:t>
            </a:r>
          </a:p>
        </p:txBody>
      </p:sp>
      <p:pic>
        <p:nvPicPr>
          <p:cNvPr id="103" name="Graphic 102" descr="Cursor with solid fill">
            <a:extLst>
              <a:ext uri="{FF2B5EF4-FFF2-40B4-BE49-F238E27FC236}">
                <a16:creationId xmlns:a16="http://schemas.microsoft.com/office/drawing/2014/main" id="{8FBEF7CE-AFFB-473C-95E5-59201799C0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7006" y="4854420"/>
            <a:ext cx="301752" cy="301752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EEC04F3-95D7-44F0-9AA1-28F33DBF85E0}"/>
              </a:ext>
            </a:extLst>
          </p:cNvPr>
          <p:cNvCxnSpPr>
            <a:cxnSpLocks/>
            <a:endCxn id="96" idx="3"/>
          </p:cNvCxnSpPr>
          <p:nvPr/>
        </p:nvCxnSpPr>
        <p:spPr>
          <a:xfrm flipH="1">
            <a:off x="5950585" y="3277628"/>
            <a:ext cx="625844" cy="126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Hyperandrogenism">
            <a:extLst>
              <a:ext uri="{FF2B5EF4-FFF2-40B4-BE49-F238E27FC236}">
                <a16:creationId xmlns:a16="http://schemas.microsoft.com/office/drawing/2014/main" id="{C352D156-3ED7-4F73-9C93-AACE36CE9A7B}"/>
              </a:ext>
            </a:extLst>
          </p:cNvPr>
          <p:cNvSpPr/>
          <p:nvPr/>
        </p:nvSpPr>
        <p:spPr>
          <a:xfrm>
            <a:off x="2110105" y="2242368"/>
            <a:ext cx="3840480" cy="14805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Hyperandrogenism (1</a:t>
            </a:r>
            <a:r>
              <a:rPr lang="en-US" sz="2000" u="sng" baseline="30000" dirty="0">
                <a:solidFill>
                  <a:schemeClr val="tx1"/>
                </a:solidFill>
              </a:rPr>
              <a:t>o</a:t>
            </a:r>
            <a:r>
              <a:rPr lang="en-US" sz="2000" u="sng" dirty="0">
                <a:solidFill>
                  <a:schemeClr val="tx1"/>
                </a:solidFill>
              </a:rPr>
              <a:t> feature)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↑ androgens → ↑ facial hair, acne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69F1DFA-1F71-46A2-94B7-119023695A47}"/>
              </a:ext>
            </a:extLst>
          </p:cNvPr>
          <p:cNvSpPr txBox="1"/>
          <p:nvPr/>
        </p:nvSpPr>
        <p:spPr>
          <a:xfrm>
            <a:off x="2273451" y="2948923"/>
            <a:ext cx="3621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OCPs ± spironolactone ↓ androgens.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Cosmetic procedures (hair removal) </a:t>
            </a:r>
          </a:p>
        </p:txBody>
      </p:sp>
      <p:sp>
        <p:nvSpPr>
          <p:cNvPr id="110" name="Androgen Management">
            <a:extLst>
              <a:ext uri="{FF2B5EF4-FFF2-40B4-BE49-F238E27FC236}">
                <a16:creationId xmlns:a16="http://schemas.microsoft.com/office/drawing/2014/main" id="{CE5B98C8-0DDC-4B58-92CE-20B0585DE90E}"/>
              </a:ext>
            </a:extLst>
          </p:cNvPr>
          <p:cNvSpPr/>
          <p:nvPr/>
        </p:nvSpPr>
        <p:spPr>
          <a:xfrm>
            <a:off x="3260996" y="3127629"/>
            <a:ext cx="16459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Management?</a:t>
            </a:r>
          </a:p>
        </p:txBody>
      </p:sp>
      <p:pic>
        <p:nvPicPr>
          <p:cNvPr id="123" name="Graphic 122" descr="Cursor with solid fill">
            <a:extLst>
              <a:ext uri="{FF2B5EF4-FFF2-40B4-BE49-F238E27FC236}">
                <a16:creationId xmlns:a16="http://schemas.microsoft.com/office/drawing/2014/main" id="{B85CB453-0CA2-4FB1-A65E-76EC4A99F9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3730" y="3345063"/>
            <a:ext cx="301752" cy="301752"/>
          </a:xfrm>
          <a:prstGeom prst="rect">
            <a:avLst/>
          </a:prstGeom>
        </p:spPr>
      </p:pic>
      <p:sp>
        <p:nvSpPr>
          <p:cNvPr id="124" name="Insulin Resistance">
            <a:extLst>
              <a:ext uri="{FF2B5EF4-FFF2-40B4-BE49-F238E27FC236}">
                <a16:creationId xmlns:a16="http://schemas.microsoft.com/office/drawing/2014/main" id="{E560131C-FA0A-4706-9BD8-952496CB1D2E}"/>
              </a:ext>
            </a:extLst>
          </p:cNvPr>
          <p:cNvSpPr/>
          <p:nvPr/>
        </p:nvSpPr>
        <p:spPr>
          <a:xfrm>
            <a:off x="1683118" y="5356676"/>
            <a:ext cx="4267467" cy="135903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Insulin resistance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Common regardless of weight, ↑ DM risk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2DFFF51-90D9-45C5-9342-874025E5EE2D}"/>
              </a:ext>
            </a:extLst>
          </p:cNvPr>
          <p:cNvSpPr txBox="1"/>
          <p:nvPr/>
        </p:nvSpPr>
        <p:spPr>
          <a:xfrm>
            <a:off x="1806475" y="6012636"/>
            <a:ext cx="4020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Screen with </a:t>
            </a:r>
            <a:r>
              <a:rPr lang="en-US" b="1" dirty="0">
                <a:solidFill>
                  <a:schemeClr val="accent6"/>
                </a:solidFill>
              </a:rPr>
              <a:t>A1c, fasting BG</a:t>
            </a:r>
            <a:r>
              <a:rPr lang="en-US" dirty="0">
                <a:solidFill>
                  <a:schemeClr val="accent6"/>
                </a:solidFill>
              </a:rPr>
              <a:t>. 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Lifestyle, low threshold for metformin</a:t>
            </a:r>
          </a:p>
        </p:txBody>
      </p:sp>
      <p:sp>
        <p:nvSpPr>
          <p:cNvPr id="130" name="Insulin Resistance Management">
            <a:extLst>
              <a:ext uri="{FF2B5EF4-FFF2-40B4-BE49-F238E27FC236}">
                <a16:creationId xmlns:a16="http://schemas.microsoft.com/office/drawing/2014/main" id="{AB4AE56D-8270-48D6-B3AE-C43B344F2A5F}"/>
              </a:ext>
            </a:extLst>
          </p:cNvPr>
          <p:cNvSpPr/>
          <p:nvPr/>
        </p:nvSpPr>
        <p:spPr>
          <a:xfrm>
            <a:off x="2993891" y="6171491"/>
            <a:ext cx="16459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Management?</a:t>
            </a:r>
          </a:p>
        </p:txBody>
      </p:sp>
      <p:pic>
        <p:nvPicPr>
          <p:cNvPr id="131" name="Graphic 130" descr="Cursor with solid fill">
            <a:extLst>
              <a:ext uri="{FF2B5EF4-FFF2-40B4-BE49-F238E27FC236}">
                <a16:creationId xmlns:a16="http://schemas.microsoft.com/office/drawing/2014/main" id="{4E87CDAB-D766-4B9E-8C7B-B92749F030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3575" y="6389657"/>
            <a:ext cx="301752" cy="301752"/>
          </a:xfrm>
          <a:prstGeom prst="rect">
            <a:avLst/>
          </a:prstGeom>
        </p:spPr>
      </p:pic>
      <p:pic>
        <p:nvPicPr>
          <p:cNvPr id="128" name="Graphic 127" descr="Cursor with solid fill">
            <a:extLst>
              <a:ext uri="{FF2B5EF4-FFF2-40B4-BE49-F238E27FC236}">
                <a16:creationId xmlns:a16="http://schemas.microsoft.com/office/drawing/2014/main" id="{C6317D0C-04EE-4C39-8FE9-04275A72E5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9555" y="3211353"/>
            <a:ext cx="301752" cy="301752"/>
          </a:xfrm>
          <a:prstGeom prst="rect">
            <a:avLst/>
          </a:prstGeom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8EDD5F0-76EC-4ECA-94AA-B4022C6AF5B8}"/>
              </a:ext>
            </a:extLst>
          </p:cNvPr>
          <p:cNvCxnSpPr>
            <a:cxnSpLocks/>
            <a:endCxn id="124" idx="3"/>
          </p:cNvCxnSpPr>
          <p:nvPr/>
        </p:nvCxnSpPr>
        <p:spPr>
          <a:xfrm flipH="1">
            <a:off x="5950585" y="3883218"/>
            <a:ext cx="479828" cy="2152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F57E6AB-75CA-4833-A6D9-7FEFF3515FDB}"/>
              </a:ext>
            </a:extLst>
          </p:cNvPr>
          <p:cNvSpPr txBox="1"/>
          <p:nvPr/>
        </p:nvSpPr>
        <p:spPr>
          <a:xfrm>
            <a:off x="7780426" y="1629887"/>
            <a:ext cx="40373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PCOS is associated with wide array of non-gynecologic and gynecologic comorbidities. 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9F01AD9-2A53-481C-A8F7-E6B81BB4B0A1}"/>
              </a:ext>
            </a:extLst>
          </p:cNvPr>
          <p:cNvSpPr txBox="1"/>
          <p:nvPr/>
        </p:nvSpPr>
        <p:spPr>
          <a:xfrm>
            <a:off x="7971804" y="3045351"/>
            <a:ext cx="36949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All patients with PCOS should receive </a:t>
            </a:r>
            <a:r>
              <a:rPr lang="en-US" sz="2000" b="1" dirty="0"/>
              <a:t>fasting BG</a:t>
            </a:r>
            <a:r>
              <a:rPr lang="en-US" sz="2000" dirty="0"/>
              <a:t>, </a:t>
            </a:r>
            <a:r>
              <a:rPr lang="en-US" sz="2000" b="1" dirty="0"/>
              <a:t>HgbA1C</a:t>
            </a:r>
            <a:r>
              <a:rPr lang="en-US" sz="2000" dirty="0"/>
              <a:t>, </a:t>
            </a:r>
            <a:r>
              <a:rPr lang="en-US" sz="2000" b="1" dirty="0"/>
              <a:t>fasting lipid panel</a:t>
            </a:r>
            <a:r>
              <a:rPr lang="en-US" sz="2000" dirty="0"/>
              <a:t>.</a:t>
            </a:r>
          </a:p>
        </p:txBody>
      </p:sp>
      <p:sp>
        <p:nvSpPr>
          <p:cNvPr id="192" name="Non-gyne">
            <a:extLst>
              <a:ext uri="{FF2B5EF4-FFF2-40B4-BE49-F238E27FC236}">
                <a16:creationId xmlns:a16="http://schemas.microsoft.com/office/drawing/2014/main" id="{3AE6BA3B-295E-4D51-AC1B-249FF1BD3317}"/>
              </a:ext>
            </a:extLst>
          </p:cNvPr>
          <p:cNvSpPr/>
          <p:nvPr/>
        </p:nvSpPr>
        <p:spPr>
          <a:xfrm>
            <a:off x="8273832" y="2948923"/>
            <a:ext cx="3320560" cy="111209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What </a:t>
            </a:r>
            <a:r>
              <a:rPr lang="en-US" sz="2000" b="1" dirty="0">
                <a:solidFill>
                  <a:schemeClr val="tx1"/>
                </a:solidFill>
              </a:rPr>
              <a:t>non-gynecologic </a:t>
            </a:r>
            <a:r>
              <a:rPr lang="en-US" sz="2000" dirty="0">
                <a:solidFill>
                  <a:schemeClr val="tx1"/>
                </a:solidFill>
              </a:rPr>
              <a:t>comorbidities are associated with PCOS?</a:t>
            </a:r>
          </a:p>
        </p:txBody>
      </p:sp>
      <p:pic>
        <p:nvPicPr>
          <p:cNvPr id="193" name="Graphic 192" descr="Cursor with solid fill">
            <a:extLst>
              <a:ext uri="{FF2B5EF4-FFF2-40B4-BE49-F238E27FC236}">
                <a16:creationId xmlns:a16="http://schemas.microsoft.com/office/drawing/2014/main" id="{666F7A79-8415-4D11-B8FC-B8D9AF61E4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22198" y="3878497"/>
            <a:ext cx="344387" cy="34438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7E3FE60-A3AB-482A-93AB-36E7E1D3BDE2}"/>
              </a:ext>
            </a:extLst>
          </p:cNvPr>
          <p:cNvSpPr txBox="1"/>
          <p:nvPr/>
        </p:nvSpPr>
        <p:spPr>
          <a:xfrm>
            <a:off x="0" y="6611779"/>
            <a:ext cx="2643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created with biorender.com</a:t>
            </a:r>
          </a:p>
        </p:txBody>
      </p:sp>
      <p:pic>
        <p:nvPicPr>
          <p:cNvPr id="57" name="teachIM logo" descr="Icon&#10;&#10;Description automatically generated">
            <a:extLst>
              <a:ext uri="{FF2B5EF4-FFF2-40B4-BE49-F238E27FC236}">
                <a16:creationId xmlns:a16="http://schemas.microsoft.com/office/drawing/2014/main" id="{3CD1EE8F-EDE4-4830-8236-377953EFC2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58" name="Question 2">
            <a:hlinkClick r:id="rId10" action="ppaction://hlinksldjump"/>
            <a:extLst>
              <a:ext uri="{FF2B5EF4-FFF2-40B4-BE49-F238E27FC236}">
                <a16:creationId xmlns:a16="http://schemas.microsoft.com/office/drawing/2014/main" id="{EF4045D0-1884-4107-BCEB-6ABC151EE0B8}"/>
              </a:ext>
            </a:extLst>
          </p:cNvPr>
          <p:cNvSpPr txBox="1"/>
          <p:nvPr/>
        </p:nvSpPr>
        <p:spPr>
          <a:xfrm>
            <a:off x="222679" y="777222"/>
            <a:ext cx="164592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DDx and Eval</a:t>
            </a:r>
          </a:p>
        </p:txBody>
      </p:sp>
      <p:sp>
        <p:nvSpPr>
          <p:cNvPr id="59" name="question 3">
            <a:hlinkClick r:id="rId11" action="ppaction://hlinksldjump"/>
            <a:extLst>
              <a:ext uri="{FF2B5EF4-FFF2-40B4-BE49-F238E27FC236}">
                <a16:creationId xmlns:a16="http://schemas.microsoft.com/office/drawing/2014/main" id="{D159E169-4446-4100-9E26-1245BB4E8622}"/>
              </a:ext>
            </a:extLst>
          </p:cNvPr>
          <p:cNvSpPr txBox="1"/>
          <p:nvPr/>
        </p:nvSpPr>
        <p:spPr>
          <a:xfrm>
            <a:off x="222679" y="1355411"/>
            <a:ext cx="1645920" cy="715089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Associated Co-Morbidities </a:t>
            </a:r>
          </a:p>
        </p:txBody>
      </p:sp>
      <p:sp>
        <p:nvSpPr>
          <p:cNvPr id="60" name="sub-q 2">
            <a:hlinkClick r:id="rId12" action="ppaction://hlinksldjump"/>
            <a:extLst>
              <a:ext uri="{FF2B5EF4-FFF2-40B4-BE49-F238E27FC236}">
                <a16:creationId xmlns:a16="http://schemas.microsoft.com/office/drawing/2014/main" id="{C0F482A6-4A83-4C03-8AFE-7E74893A9CD1}"/>
              </a:ext>
            </a:extLst>
          </p:cNvPr>
          <p:cNvSpPr txBox="1"/>
          <p:nvPr/>
        </p:nvSpPr>
        <p:spPr>
          <a:xfrm>
            <a:off x="499509" y="2815398"/>
            <a:ext cx="1369090" cy="41148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Gyn</a:t>
            </a:r>
          </a:p>
        </p:txBody>
      </p:sp>
      <p:sp>
        <p:nvSpPr>
          <p:cNvPr id="61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B5208B35-B7AB-44BD-8CF5-D8EA99132E79}"/>
              </a:ext>
            </a:extLst>
          </p:cNvPr>
          <p:cNvSpPr txBox="1"/>
          <p:nvPr/>
        </p:nvSpPr>
        <p:spPr>
          <a:xfrm>
            <a:off x="222679" y="3393585"/>
            <a:ext cx="1645920" cy="41148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62" name="sub-q 1 button">
            <a:hlinkClick r:id="rId11" action="ppaction://hlinksldjump"/>
            <a:extLst>
              <a:ext uri="{FF2B5EF4-FFF2-40B4-BE49-F238E27FC236}">
                <a16:creationId xmlns:a16="http://schemas.microsoft.com/office/drawing/2014/main" id="{9A85BBC9-8ECA-4D8F-90B8-B97F6A4957A6}"/>
              </a:ext>
            </a:extLst>
          </p:cNvPr>
          <p:cNvSpPr txBox="1"/>
          <p:nvPr/>
        </p:nvSpPr>
        <p:spPr>
          <a:xfrm>
            <a:off x="499509" y="2237209"/>
            <a:ext cx="1369090" cy="41148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Non-Gyn</a:t>
            </a:r>
          </a:p>
        </p:txBody>
      </p:sp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479C619F-A290-4333-BCF7-2ECBE5B995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9128" y="1035769"/>
            <a:ext cx="301752" cy="301752"/>
          </a:xfrm>
          <a:prstGeom prst="rect">
            <a:avLst/>
          </a:prstGeom>
        </p:spPr>
      </p:pic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CFA9603C-1759-4358-9A42-411A2D71E0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9128" y="3081537"/>
            <a:ext cx="301752" cy="301752"/>
          </a:xfrm>
          <a:prstGeom prst="rect">
            <a:avLst/>
          </a:prstGeom>
        </p:spPr>
      </p:pic>
      <p:pic>
        <p:nvPicPr>
          <p:cNvPr id="70" name="Graphic 69" descr="Cursor with solid fill">
            <a:extLst>
              <a:ext uri="{FF2B5EF4-FFF2-40B4-BE49-F238E27FC236}">
                <a16:creationId xmlns:a16="http://schemas.microsoft.com/office/drawing/2014/main" id="{8E5023F8-D136-430C-9A20-F753B95DA6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9128" y="3665105"/>
            <a:ext cx="301752" cy="301752"/>
          </a:xfrm>
          <a:prstGeom prst="rect">
            <a:avLst/>
          </a:prstGeom>
        </p:spPr>
      </p:pic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14B193D2-05DF-4D6A-BE2E-3F4C1B9B7AEA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201315" y="2144755"/>
            <a:ext cx="413916" cy="18247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EBA395E-D06C-4493-9446-6C45B22AE1DE}"/>
              </a:ext>
            </a:extLst>
          </p:cNvPr>
          <p:cNvCxnSpPr>
            <a:cxnSpLocks/>
            <a:endCxn id="60" idx="1"/>
          </p:cNvCxnSpPr>
          <p:nvPr/>
        </p:nvCxnSpPr>
        <p:spPr>
          <a:xfrm rot="16200000" flipH="1">
            <a:off x="91206" y="2612835"/>
            <a:ext cx="634134" cy="18247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question 1">
            <a:hlinkClick r:id="rId14" action="ppaction://hlinksldjump"/>
            <a:extLst>
              <a:ext uri="{FF2B5EF4-FFF2-40B4-BE49-F238E27FC236}">
                <a16:creationId xmlns:a16="http://schemas.microsoft.com/office/drawing/2014/main" id="{F733E7D2-008F-4D48-8CB0-50B4394136FF}"/>
              </a:ext>
            </a:extLst>
          </p:cNvPr>
          <p:cNvSpPr txBox="1"/>
          <p:nvPr/>
        </p:nvSpPr>
        <p:spPr>
          <a:xfrm>
            <a:off x="222679" y="199033"/>
            <a:ext cx="1645920" cy="41148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Diagnosis </a:t>
            </a:r>
          </a:p>
        </p:txBody>
      </p:sp>
      <p:pic>
        <p:nvPicPr>
          <p:cNvPr id="74" name="Graphic 73" descr="Cursor with solid fill">
            <a:extLst>
              <a:ext uri="{FF2B5EF4-FFF2-40B4-BE49-F238E27FC236}">
                <a16:creationId xmlns:a16="http://schemas.microsoft.com/office/drawing/2014/main" id="{D6BC3E39-BD6D-4D0B-8148-BEE4E601E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9128" y="468999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0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</p:childTnLst>
        </p:cTn>
      </p:par>
    </p:tnLst>
    <p:bldLst>
      <p:bldP spid="82" grpId="0" animBg="1"/>
      <p:bldP spid="81" grpId="0"/>
      <p:bldP spid="85" grpId="0" animBg="1"/>
      <p:bldP spid="85" grpId="1" animBg="1"/>
      <p:bldP spid="96" grpId="0" animBg="1"/>
      <p:bldP spid="98" grpId="0"/>
      <p:bldP spid="102" grpId="0" animBg="1"/>
      <p:bldP spid="102" grpId="1" animBg="1"/>
      <p:bldP spid="108" grpId="0" animBg="1"/>
      <p:bldP spid="109" grpId="0"/>
      <p:bldP spid="110" grpId="0" animBg="1"/>
      <p:bldP spid="110" grpId="1" animBg="1"/>
      <p:bldP spid="124" grpId="0" animBg="1"/>
      <p:bldP spid="129" grpId="0"/>
      <p:bldP spid="130" grpId="0" animBg="1"/>
      <p:bldP spid="130" grpId="1" animBg="1"/>
      <p:bldP spid="154" grpId="0"/>
      <p:bldP spid="192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4" descr="A picture containing text&#10;&#10;Description automatically generated">
            <a:extLst>
              <a:ext uri="{FF2B5EF4-FFF2-40B4-BE49-F238E27FC236}">
                <a16:creationId xmlns:a16="http://schemas.microsoft.com/office/drawing/2014/main" id="{6238A061-6D26-41CB-B0E8-D090D45B18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4" t="5197" r="65065" b="34372"/>
          <a:stretch/>
        </p:blipFill>
        <p:spPr>
          <a:xfrm>
            <a:off x="4185844" y="722254"/>
            <a:ext cx="4905822" cy="613574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E6DA4EF-7B3D-4A89-A49C-F202A33FD292}"/>
              </a:ext>
            </a:extLst>
          </p:cNvPr>
          <p:cNvSpPr txBox="1"/>
          <p:nvPr/>
        </p:nvSpPr>
        <p:spPr>
          <a:xfrm>
            <a:off x="3365155" y="199033"/>
            <a:ext cx="7181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comorbidities are associated with PCOS?</a:t>
            </a:r>
          </a:p>
        </p:txBody>
      </p:sp>
      <p:sp>
        <p:nvSpPr>
          <p:cNvPr id="82" name="Mood disorders">
            <a:extLst>
              <a:ext uri="{FF2B5EF4-FFF2-40B4-BE49-F238E27FC236}">
                <a16:creationId xmlns:a16="http://schemas.microsoft.com/office/drawing/2014/main" id="{2A61634E-9DDF-4E70-A2F0-FB42B1E41F00}"/>
              </a:ext>
            </a:extLst>
          </p:cNvPr>
          <p:cNvSpPr/>
          <p:nvPr/>
        </p:nvSpPr>
        <p:spPr>
          <a:xfrm>
            <a:off x="7433496" y="913540"/>
            <a:ext cx="4531191" cy="151953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Menstrual irregularities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↑ irregular/disruptive bleeding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7" name="Gynecologic abnormalities" descr="A picture containing text&#10;&#10;Description automatically generated">
            <a:extLst>
              <a:ext uri="{FF2B5EF4-FFF2-40B4-BE49-F238E27FC236}">
                <a16:creationId xmlns:a16="http://schemas.microsoft.com/office/drawing/2014/main" id="{33B806A4-8393-429D-9742-3853EA0588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4" t="52733" r="57428" b="36011"/>
          <a:stretch/>
        </p:blipFill>
        <p:spPr>
          <a:xfrm>
            <a:off x="6224428" y="4394419"/>
            <a:ext cx="1159012" cy="1142806"/>
          </a:xfrm>
          <a:prstGeom prst="rect">
            <a:avLst/>
          </a:prstGeom>
          <a:effectLst/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EDB55F8-2667-49C2-B383-A1596812A236}"/>
              </a:ext>
            </a:extLst>
          </p:cNvPr>
          <p:cNvSpPr txBox="1"/>
          <p:nvPr/>
        </p:nvSpPr>
        <p:spPr>
          <a:xfrm>
            <a:off x="7571773" y="1647526"/>
            <a:ext cx="4262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OCPs regulate menses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(3</a:t>
            </a:r>
            <a:r>
              <a:rPr lang="en-US" baseline="30000" dirty="0">
                <a:solidFill>
                  <a:schemeClr val="accent6"/>
                </a:solidFill>
              </a:rPr>
              <a:t>rd</a:t>
            </a:r>
            <a:r>
              <a:rPr lang="en-US" dirty="0">
                <a:solidFill>
                  <a:schemeClr val="accent6"/>
                </a:solidFill>
              </a:rPr>
              <a:t>/4</a:t>
            </a:r>
            <a:r>
              <a:rPr lang="en-US" baseline="30000" dirty="0">
                <a:solidFill>
                  <a:schemeClr val="accent6"/>
                </a:solidFill>
              </a:rPr>
              <a:t>th</a:t>
            </a:r>
            <a:r>
              <a:rPr lang="en-US" dirty="0">
                <a:solidFill>
                  <a:schemeClr val="accent6"/>
                </a:solidFill>
              </a:rPr>
              <a:t> G progestins are less androgenic)</a:t>
            </a:r>
          </a:p>
        </p:txBody>
      </p:sp>
      <p:sp>
        <p:nvSpPr>
          <p:cNvPr id="85" name="Management menstrual">
            <a:extLst>
              <a:ext uri="{FF2B5EF4-FFF2-40B4-BE49-F238E27FC236}">
                <a16:creationId xmlns:a16="http://schemas.microsoft.com/office/drawing/2014/main" id="{294F126B-4BA6-419A-9F49-4DF40662C61C}"/>
              </a:ext>
            </a:extLst>
          </p:cNvPr>
          <p:cNvSpPr/>
          <p:nvPr/>
        </p:nvSpPr>
        <p:spPr>
          <a:xfrm>
            <a:off x="8876131" y="1750145"/>
            <a:ext cx="16459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Management?</a:t>
            </a:r>
          </a:p>
        </p:txBody>
      </p:sp>
      <p:pic>
        <p:nvPicPr>
          <p:cNvPr id="94" name="Graphic 93" descr="Cursor with solid fill">
            <a:extLst>
              <a:ext uri="{FF2B5EF4-FFF2-40B4-BE49-F238E27FC236}">
                <a16:creationId xmlns:a16="http://schemas.microsoft.com/office/drawing/2014/main" id="{0C7C3312-3EAF-48DF-BDF3-2D3D2D42D4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86440" y="1987336"/>
            <a:ext cx="301752" cy="301752"/>
          </a:xfrm>
          <a:prstGeom prst="rect">
            <a:avLst/>
          </a:prstGeom>
        </p:spPr>
      </p:pic>
      <p:sp>
        <p:nvSpPr>
          <p:cNvPr id="96" name="CV risk">
            <a:extLst>
              <a:ext uri="{FF2B5EF4-FFF2-40B4-BE49-F238E27FC236}">
                <a16:creationId xmlns:a16="http://schemas.microsoft.com/office/drawing/2014/main" id="{B5F76407-A5AB-4AA9-8E7C-79BD1470375F}"/>
              </a:ext>
            </a:extLst>
          </p:cNvPr>
          <p:cNvSpPr/>
          <p:nvPr/>
        </p:nvSpPr>
        <p:spPr>
          <a:xfrm>
            <a:off x="7433496" y="4519168"/>
            <a:ext cx="4531190" cy="174359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Pregnancy complications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Early pregnancy loss, GDM,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pre-eclampsia, and pre-term labor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F2A3EA-D566-4D00-A8DF-D94B4B9EDE80}"/>
              </a:ext>
            </a:extLst>
          </p:cNvPr>
          <p:cNvSpPr txBox="1"/>
          <p:nvPr/>
        </p:nvSpPr>
        <p:spPr>
          <a:xfrm>
            <a:off x="7633093" y="5525160"/>
            <a:ext cx="4193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Close monitoring and treat if condition develops</a:t>
            </a:r>
          </a:p>
        </p:txBody>
      </p:sp>
      <p:sp>
        <p:nvSpPr>
          <p:cNvPr id="102" name="Management preg">
            <a:extLst>
              <a:ext uri="{FF2B5EF4-FFF2-40B4-BE49-F238E27FC236}">
                <a16:creationId xmlns:a16="http://schemas.microsoft.com/office/drawing/2014/main" id="{14AC42A2-5C73-49D1-A6F6-AEC7A0F91D4E}"/>
              </a:ext>
            </a:extLst>
          </p:cNvPr>
          <p:cNvSpPr/>
          <p:nvPr/>
        </p:nvSpPr>
        <p:spPr>
          <a:xfrm>
            <a:off x="8876131" y="5584887"/>
            <a:ext cx="16459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Management?</a:t>
            </a:r>
          </a:p>
        </p:txBody>
      </p:sp>
      <p:pic>
        <p:nvPicPr>
          <p:cNvPr id="103" name="Graphic 102" descr="Cursor with solid fill">
            <a:extLst>
              <a:ext uri="{FF2B5EF4-FFF2-40B4-BE49-F238E27FC236}">
                <a16:creationId xmlns:a16="http://schemas.microsoft.com/office/drawing/2014/main" id="{8FBEF7CE-AFFB-473C-95E5-59201799C0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95989" y="5829285"/>
            <a:ext cx="301752" cy="301752"/>
          </a:xfrm>
          <a:prstGeom prst="rect">
            <a:avLst/>
          </a:prstGeom>
        </p:spPr>
      </p:pic>
      <p:sp>
        <p:nvSpPr>
          <p:cNvPr id="108" name="Hyperandrogenism">
            <a:extLst>
              <a:ext uri="{FF2B5EF4-FFF2-40B4-BE49-F238E27FC236}">
                <a16:creationId xmlns:a16="http://schemas.microsoft.com/office/drawing/2014/main" id="{C352D156-3ED7-4F73-9C93-AACE36CE9A7B}"/>
              </a:ext>
            </a:extLst>
          </p:cNvPr>
          <p:cNvSpPr/>
          <p:nvPr/>
        </p:nvSpPr>
        <p:spPr>
          <a:xfrm>
            <a:off x="7433496" y="2663457"/>
            <a:ext cx="4531191" cy="164087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Infertility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Most common cause of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anovulatory infertility in the US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69F1DFA-1F71-46A2-94B7-119023695A47}"/>
              </a:ext>
            </a:extLst>
          </p:cNvPr>
          <p:cNvSpPr txBox="1"/>
          <p:nvPr/>
        </p:nvSpPr>
        <p:spPr>
          <a:xfrm>
            <a:off x="7571773" y="3596832"/>
            <a:ext cx="4254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Discuss fertility goals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Early referral to OB/Gyn or REI</a:t>
            </a:r>
          </a:p>
        </p:txBody>
      </p:sp>
      <p:sp>
        <p:nvSpPr>
          <p:cNvPr id="110" name="Management infertility">
            <a:extLst>
              <a:ext uri="{FF2B5EF4-FFF2-40B4-BE49-F238E27FC236}">
                <a16:creationId xmlns:a16="http://schemas.microsoft.com/office/drawing/2014/main" id="{CE5B98C8-0DDC-4B58-92CE-20B0585DE90E}"/>
              </a:ext>
            </a:extLst>
          </p:cNvPr>
          <p:cNvSpPr/>
          <p:nvPr/>
        </p:nvSpPr>
        <p:spPr>
          <a:xfrm>
            <a:off x="8876131" y="3737118"/>
            <a:ext cx="16459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Management?</a:t>
            </a:r>
          </a:p>
        </p:txBody>
      </p:sp>
      <p:pic>
        <p:nvPicPr>
          <p:cNvPr id="123" name="Graphic 122" descr="Cursor with solid fill">
            <a:extLst>
              <a:ext uri="{FF2B5EF4-FFF2-40B4-BE49-F238E27FC236}">
                <a16:creationId xmlns:a16="http://schemas.microsoft.com/office/drawing/2014/main" id="{B85CB453-0CA2-4FB1-A65E-76EC4A99F9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92514" y="3979740"/>
            <a:ext cx="301752" cy="301752"/>
          </a:xfrm>
          <a:prstGeom prst="rect">
            <a:avLst/>
          </a:prstGeom>
        </p:spPr>
      </p:pic>
      <p:sp>
        <p:nvSpPr>
          <p:cNvPr id="124" name="Insulin Resistance">
            <a:extLst>
              <a:ext uri="{FF2B5EF4-FFF2-40B4-BE49-F238E27FC236}">
                <a16:creationId xmlns:a16="http://schemas.microsoft.com/office/drawing/2014/main" id="{E560131C-FA0A-4706-9BD8-952496CB1D2E}"/>
              </a:ext>
            </a:extLst>
          </p:cNvPr>
          <p:cNvSpPr/>
          <p:nvPr/>
        </p:nvSpPr>
        <p:spPr>
          <a:xfrm>
            <a:off x="1683118" y="4394420"/>
            <a:ext cx="4267467" cy="214283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Endometrial hyperplasia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3x ↑ risk of endometrial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cancer due to chronic anovulation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2DFFF51-90D9-45C5-9342-874025E5EE2D}"/>
              </a:ext>
            </a:extLst>
          </p:cNvPr>
          <p:cNvSpPr txBox="1"/>
          <p:nvPr/>
        </p:nvSpPr>
        <p:spPr>
          <a:xfrm>
            <a:off x="1818602" y="5473006"/>
            <a:ext cx="4020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Promote endometrial turnover with OCPs, progestin IUDs, or cyclic progesterone</a:t>
            </a:r>
          </a:p>
        </p:txBody>
      </p:sp>
      <p:sp>
        <p:nvSpPr>
          <p:cNvPr id="130" name="Management endometrial">
            <a:extLst>
              <a:ext uri="{FF2B5EF4-FFF2-40B4-BE49-F238E27FC236}">
                <a16:creationId xmlns:a16="http://schemas.microsoft.com/office/drawing/2014/main" id="{AB4AE56D-8270-48D6-B3AE-C43B344F2A5F}"/>
              </a:ext>
            </a:extLst>
          </p:cNvPr>
          <p:cNvSpPr/>
          <p:nvPr/>
        </p:nvSpPr>
        <p:spPr>
          <a:xfrm>
            <a:off x="3022180" y="5731015"/>
            <a:ext cx="1645920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Management?</a:t>
            </a:r>
          </a:p>
        </p:txBody>
      </p:sp>
      <p:pic>
        <p:nvPicPr>
          <p:cNvPr id="131" name="Graphic 130" descr="Cursor with solid fill">
            <a:extLst>
              <a:ext uri="{FF2B5EF4-FFF2-40B4-BE49-F238E27FC236}">
                <a16:creationId xmlns:a16="http://schemas.microsoft.com/office/drawing/2014/main" id="{4E87CDAB-D766-4B9E-8C7B-B92749F030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1864" y="5949181"/>
            <a:ext cx="301752" cy="301752"/>
          </a:xfrm>
          <a:prstGeom prst="rect">
            <a:avLst/>
          </a:prstGeom>
        </p:spPr>
      </p:pic>
      <p:pic>
        <p:nvPicPr>
          <p:cNvPr id="132" name="Brain" descr="A picture containing text&#10;&#10;Description automatically generated">
            <a:extLst>
              <a:ext uri="{FF2B5EF4-FFF2-40B4-BE49-F238E27FC236}">
                <a16:creationId xmlns:a16="http://schemas.microsoft.com/office/drawing/2014/main" id="{85690E7A-25C5-456A-B05E-8878D094E58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3" t="6615" r="58791" b="82905"/>
          <a:stretch/>
        </p:blipFill>
        <p:spPr>
          <a:xfrm>
            <a:off x="6232423" y="773754"/>
            <a:ext cx="1160159" cy="106399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33" name="Heart" descr="A picture containing text&#10;&#10;Description automatically generated" hidden="1">
            <a:extLst>
              <a:ext uri="{FF2B5EF4-FFF2-40B4-BE49-F238E27FC236}">
                <a16:creationId xmlns:a16="http://schemas.microsoft.com/office/drawing/2014/main" id="{17ABC3E6-46D3-4C2C-ABF4-CEC4A91DD9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5" t="19028" r="59809" b="71005"/>
          <a:stretch/>
        </p:blipFill>
        <p:spPr>
          <a:xfrm>
            <a:off x="6390593" y="2583440"/>
            <a:ext cx="815029" cy="1011872"/>
          </a:xfrm>
          <a:prstGeom prst="rect">
            <a:avLst/>
          </a:prstGeom>
          <a:effectLst/>
        </p:spPr>
      </p:pic>
      <p:pic>
        <p:nvPicPr>
          <p:cNvPr id="134" name="Pancreas" descr="A picture containing text&#10;&#10;Description automatically generated" hidden="1">
            <a:extLst>
              <a:ext uri="{FF2B5EF4-FFF2-40B4-BE49-F238E27FC236}">
                <a16:creationId xmlns:a16="http://schemas.microsoft.com/office/drawing/2014/main" id="{B0BAF32A-7F1E-425A-9021-B613411F5BF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7" t="31105" r="59494" b="62304"/>
          <a:stretch/>
        </p:blipFill>
        <p:spPr>
          <a:xfrm>
            <a:off x="6313395" y="3442945"/>
            <a:ext cx="927251" cy="669134"/>
          </a:xfrm>
          <a:prstGeom prst="rect">
            <a:avLst/>
          </a:prstGeom>
          <a:effectLst/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5F57E6AB-75CA-4833-A6D9-7FEFF3515FDB}"/>
              </a:ext>
            </a:extLst>
          </p:cNvPr>
          <p:cNvSpPr txBox="1"/>
          <p:nvPr/>
        </p:nvSpPr>
        <p:spPr>
          <a:xfrm>
            <a:off x="2004829" y="1275421"/>
            <a:ext cx="394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PCOS is associated with a wide array of gynecologic comorbidities. </a:t>
            </a:r>
          </a:p>
        </p:txBody>
      </p:sp>
      <p:sp>
        <p:nvSpPr>
          <p:cNvPr id="179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25C832CB-A30A-49B8-90E3-24393D81D187}"/>
              </a:ext>
            </a:extLst>
          </p:cNvPr>
          <p:cNvSpPr txBox="1"/>
          <p:nvPr/>
        </p:nvSpPr>
        <p:spPr>
          <a:xfrm>
            <a:off x="222679" y="777222"/>
            <a:ext cx="164592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DDx and Eval</a:t>
            </a:r>
          </a:p>
        </p:txBody>
      </p:sp>
      <p:sp>
        <p:nvSpPr>
          <p:cNvPr id="180" name="question 3">
            <a:hlinkClick r:id="rId9" action="ppaction://hlinksldjump"/>
            <a:extLst>
              <a:ext uri="{FF2B5EF4-FFF2-40B4-BE49-F238E27FC236}">
                <a16:creationId xmlns:a16="http://schemas.microsoft.com/office/drawing/2014/main" id="{10D7497A-0025-40E1-9AE3-81CD04867ECA}"/>
              </a:ext>
            </a:extLst>
          </p:cNvPr>
          <p:cNvSpPr txBox="1"/>
          <p:nvPr/>
        </p:nvSpPr>
        <p:spPr>
          <a:xfrm>
            <a:off x="222679" y="1355411"/>
            <a:ext cx="1645920" cy="715089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Associated Co-Morbidities </a:t>
            </a:r>
          </a:p>
        </p:txBody>
      </p:sp>
      <p:sp>
        <p:nvSpPr>
          <p:cNvPr id="181" name="sub-q 2">
            <a:extLst>
              <a:ext uri="{FF2B5EF4-FFF2-40B4-BE49-F238E27FC236}">
                <a16:creationId xmlns:a16="http://schemas.microsoft.com/office/drawing/2014/main" id="{665A756C-8D6A-4A90-8AF2-9A20C7E3B283}"/>
              </a:ext>
            </a:extLst>
          </p:cNvPr>
          <p:cNvSpPr txBox="1"/>
          <p:nvPr/>
        </p:nvSpPr>
        <p:spPr>
          <a:xfrm>
            <a:off x="499509" y="2815398"/>
            <a:ext cx="1369090" cy="41148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Gyn</a:t>
            </a:r>
          </a:p>
        </p:txBody>
      </p:sp>
      <p:sp>
        <p:nvSpPr>
          <p:cNvPr id="182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84277B6B-7B27-4A90-B085-7B4394EDE7D6}"/>
              </a:ext>
            </a:extLst>
          </p:cNvPr>
          <p:cNvSpPr txBox="1"/>
          <p:nvPr/>
        </p:nvSpPr>
        <p:spPr>
          <a:xfrm>
            <a:off x="222679" y="3393585"/>
            <a:ext cx="1645920" cy="41148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183" name="sub-q 1 button">
            <a:hlinkClick r:id="rId9" action="ppaction://hlinksldjump"/>
            <a:extLst>
              <a:ext uri="{FF2B5EF4-FFF2-40B4-BE49-F238E27FC236}">
                <a16:creationId xmlns:a16="http://schemas.microsoft.com/office/drawing/2014/main" id="{FFF4074B-672D-4D69-91F7-3796E8C01784}"/>
              </a:ext>
            </a:extLst>
          </p:cNvPr>
          <p:cNvSpPr txBox="1"/>
          <p:nvPr/>
        </p:nvSpPr>
        <p:spPr>
          <a:xfrm>
            <a:off x="499509" y="2237209"/>
            <a:ext cx="1369090" cy="41148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Non-Gyn</a:t>
            </a:r>
          </a:p>
        </p:txBody>
      </p:sp>
      <p:pic>
        <p:nvPicPr>
          <p:cNvPr id="185" name="Graphic 184" descr="Cursor with solid fill">
            <a:extLst>
              <a:ext uri="{FF2B5EF4-FFF2-40B4-BE49-F238E27FC236}">
                <a16:creationId xmlns:a16="http://schemas.microsoft.com/office/drawing/2014/main" id="{7E09C370-4AC0-493D-8A8C-63FAF30CFB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9128" y="1035769"/>
            <a:ext cx="301752" cy="301752"/>
          </a:xfrm>
          <a:prstGeom prst="rect">
            <a:avLst/>
          </a:prstGeom>
        </p:spPr>
      </p:pic>
      <p:pic>
        <p:nvPicPr>
          <p:cNvPr id="187" name="Graphic 186" descr="Cursor with solid fill">
            <a:extLst>
              <a:ext uri="{FF2B5EF4-FFF2-40B4-BE49-F238E27FC236}">
                <a16:creationId xmlns:a16="http://schemas.microsoft.com/office/drawing/2014/main" id="{8AFEE1B5-3DF7-4EED-A3D8-F235FFDB85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9128" y="2495913"/>
            <a:ext cx="301752" cy="301752"/>
          </a:xfrm>
          <a:prstGeom prst="rect">
            <a:avLst/>
          </a:prstGeom>
        </p:spPr>
      </p:pic>
      <p:pic>
        <p:nvPicPr>
          <p:cNvPr id="188" name="Graphic 187" descr="Cursor with solid fill">
            <a:extLst>
              <a:ext uri="{FF2B5EF4-FFF2-40B4-BE49-F238E27FC236}">
                <a16:creationId xmlns:a16="http://schemas.microsoft.com/office/drawing/2014/main" id="{F804AD16-E04A-4084-BAB6-32419FBCCB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9128" y="3665105"/>
            <a:ext cx="301752" cy="301752"/>
          </a:xfrm>
          <a:prstGeom prst="rect">
            <a:avLst/>
          </a:prstGeom>
        </p:spPr>
      </p:pic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4F82DF6E-3FD3-418C-BF54-06A22680ACFE}"/>
              </a:ext>
            </a:extLst>
          </p:cNvPr>
          <p:cNvCxnSpPr>
            <a:cxnSpLocks/>
            <a:endCxn id="183" idx="1"/>
          </p:cNvCxnSpPr>
          <p:nvPr/>
        </p:nvCxnSpPr>
        <p:spPr>
          <a:xfrm rot="16200000" flipH="1">
            <a:off x="201315" y="2144755"/>
            <a:ext cx="413916" cy="18247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65C73331-A421-40D1-8C69-46E0E125F710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91206" y="2612835"/>
            <a:ext cx="634134" cy="18247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1A83150-9E2E-42A8-9A71-1DB339B5E330}"/>
              </a:ext>
            </a:extLst>
          </p:cNvPr>
          <p:cNvGrpSpPr/>
          <p:nvPr/>
        </p:nvGrpSpPr>
        <p:grpSpPr>
          <a:xfrm>
            <a:off x="6231734" y="773754"/>
            <a:ext cx="1160159" cy="3338325"/>
            <a:chOff x="6231734" y="773754"/>
            <a:chExt cx="1160159" cy="3338325"/>
          </a:xfrm>
        </p:grpSpPr>
        <p:pic>
          <p:nvPicPr>
            <p:cNvPr id="53" name="Brain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9FDDA3E-C2E1-4142-B0C9-60A912A911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53" t="6615" r="58791" b="82905"/>
            <a:stretch/>
          </p:blipFill>
          <p:spPr>
            <a:xfrm>
              <a:off x="6231734" y="773754"/>
              <a:ext cx="1160159" cy="106399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54" name="Heart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0CA8843-4AEF-414F-B05E-5BA61A6320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75" t="19028" r="59809" b="71005"/>
            <a:stretch/>
          </p:blipFill>
          <p:spPr>
            <a:xfrm>
              <a:off x="6390593" y="2608154"/>
              <a:ext cx="815029" cy="1011872"/>
            </a:xfrm>
            <a:prstGeom prst="rect">
              <a:avLst/>
            </a:prstGeom>
            <a:effectLst/>
          </p:spPr>
        </p:pic>
        <p:pic>
          <p:nvPicPr>
            <p:cNvPr id="55" name="Hair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0FD9946-806E-47EE-94B0-DD9CDB62CE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45" t="40499" r="58576" b="52910"/>
            <a:stretch/>
          </p:blipFill>
          <p:spPr>
            <a:xfrm rot="6013565">
              <a:off x="6545058" y="1820954"/>
              <a:ext cx="575566" cy="669134"/>
            </a:xfrm>
            <a:prstGeom prst="rect">
              <a:avLst/>
            </a:prstGeom>
            <a:effectLst/>
          </p:spPr>
        </p:pic>
        <p:pic>
          <p:nvPicPr>
            <p:cNvPr id="56" name="Pancreas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CA775E8-A087-469E-B21F-6E2FDD168C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027" t="31105" r="59494" b="62304"/>
            <a:stretch/>
          </p:blipFill>
          <p:spPr>
            <a:xfrm>
              <a:off x="6313395" y="3442945"/>
              <a:ext cx="927251" cy="669134"/>
            </a:xfrm>
            <a:prstGeom prst="rect">
              <a:avLst/>
            </a:prstGeom>
            <a:effectLst/>
          </p:spPr>
        </p:pic>
      </p:grpSp>
      <p:sp>
        <p:nvSpPr>
          <p:cNvPr id="57" name="Menstrual irregularities">
            <a:extLst>
              <a:ext uri="{FF2B5EF4-FFF2-40B4-BE49-F238E27FC236}">
                <a16:creationId xmlns:a16="http://schemas.microsoft.com/office/drawing/2014/main" id="{39F362C2-DC4A-4984-8B9B-49A6177BCC2A}"/>
              </a:ext>
            </a:extLst>
          </p:cNvPr>
          <p:cNvSpPr/>
          <p:nvPr/>
        </p:nvSpPr>
        <p:spPr>
          <a:xfrm>
            <a:off x="8361901" y="971131"/>
            <a:ext cx="267438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Menstrual irregularities</a:t>
            </a:r>
          </a:p>
        </p:txBody>
      </p:sp>
      <p:pic>
        <p:nvPicPr>
          <p:cNvPr id="58" name="Graphic 57" descr="Cursor with solid fill">
            <a:extLst>
              <a:ext uri="{FF2B5EF4-FFF2-40B4-BE49-F238E27FC236}">
                <a16:creationId xmlns:a16="http://schemas.microsoft.com/office/drawing/2014/main" id="{045FD30C-2AEB-464A-9083-4FE7A30693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85405" y="1238015"/>
            <a:ext cx="301752" cy="301752"/>
          </a:xfrm>
          <a:prstGeom prst="rect">
            <a:avLst/>
          </a:prstGeom>
        </p:spPr>
      </p:pic>
      <p:pic>
        <p:nvPicPr>
          <p:cNvPr id="59" name="Picture 58" descr="Icon&#10;&#10;Description automatically generated">
            <a:extLst>
              <a:ext uri="{FF2B5EF4-FFF2-40B4-BE49-F238E27FC236}">
                <a16:creationId xmlns:a16="http://schemas.microsoft.com/office/drawing/2014/main" id="{EA43B085-57EC-400A-8589-15030F06D7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43" b="89604" l="9956" r="94248">
                        <a14:foregroundMark x1="90708" y1="17327" x2="9735" y2="20050"/>
                        <a14:foregroundMark x1="9735" y1="20050" x2="79425" y2="990"/>
                        <a14:foregroundMark x1="79425" y1="990" x2="80310" y2="1485"/>
                        <a14:foregroundMark x1="92478" y1="15347" x2="14159" y2="5446"/>
                        <a14:foregroundMark x1="14159" y1="5446" x2="84956" y2="15347"/>
                        <a14:foregroundMark x1="84956" y1="15347" x2="94248" y2="103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542" y="1055306"/>
            <a:ext cx="800797" cy="715757"/>
          </a:xfrm>
          <a:prstGeom prst="rect">
            <a:avLst/>
          </a:prstGeom>
        </p:spPr>
      </p:pic>
      <p:sp>
        <p:nvSpPr>
          <p:cNvPr id="60" name="Infertility">
            <a:extLst>
              <a:ext uri="{FF2B5EF4-FFF2-40B4-BE49-F238E27FC236}">
                <a16:creationId xmlns:a16="http://schemas.microsoft.com/office/drawing/2014/main" id="{979D0EEA-D07A-4BF0-937E-3066024EF0F5}"/>
              </a:ext>
            </a:extLst>
          </p:cNvPr>
          <p:cNvSpPr/>
          <p:nvPr/>
        </p:nvSpPr>
        <p:spPr>
          <a:xfrm>
            <a:off x="8867750" y="2714824"/>
            <a:ext cx="1662682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Infertility</a:t>
            </a:r>
          </a:p>
        </p:txBody>
      </p:sp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101184AB-5E02-430F-AE1A-6C73259399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92514" y="3004907"/>
            <a:ext cx="301752" cy="301752"/>
          </a:xfrm>
          <a:prstGeom prst="rect">
            <a:avLst/>
          </a:prstGeom>
        </p:spPr>
      </p:pic>
      <p:sp>
        <p:nvSpPr>
          <p:cNvPr id="69" name="Pregnancy complications">
            <a:extLst>
              <a:ext uri="{FF2B5EF4-FFF2-40B4-BE49-F238E27FC236}">
                <a16:creationId xmlns:a16="http://schemas.microsoft.com/office/drawing/2014/main" id="{CE3F765F-86A0-40C0-94E1-3BDF855E22A0}"/>
              </a:ext>
            </a:extLst>
          </p:cNvPr>
          <p:cNvSpPr/>
          <p:nvPr/>
        </p:nvSpPr>
        <p:spPr>
          <a:xfrm>
            <a:off x="8244353" y="4574583"/>
            <a:ext cx="2909477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Pregnancy complications</a:t>
            </a:r>
          </a:p>
        </p:txBody>
      </p:sp>
      <p:pic>
        <p:nvPicPr>
          <p:cNvPr id="70" name="Graphic 69" descr="Cursor with solid fill">
            <a:extLst>
              <a:ext uri="{FF2B5EF4-FFF2-40B4-BE49-F238E27FC236}">
                <a16:creationId xmlns:a16="http://schemas.microsoft.com/office/drawing/2014/main" id="{9D89FCEA-4AC3-46F3-99F9-786177D249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36281" y="4858433"/>
            <a:ext cx="301752" cy="301752"/>
          </a:xfrm>
          <a:prstGeom prst="rect">
            <a:avLst/>
          </a:prstGeom>
        </p:spPr>
      </p:pic>
      <p:pic>
        <p:nvPicPr>
          <p:cNvPr id="77" name="Picture 6" descr="Pregnancy test icon, Royalty-free Pregnancy test icon Vector Images &amp;amp;  Drawings | Depositphotos®">
            <a:extLst>
              <a:ext uri="{FF2B5EF4-FFF2-40B4-BE49-F238E27FC236}">
                <a16:creationId xmlns:a16="http://schemas.microsoft.com/office/drawing/2014/main" id="{CD24BE02-EB0F-4C6C-99BB-9A49C76817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7821" b="70385" l="22358" r="8044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97" r="12289" b="21794"/>
          <a:stretch/>
        </p:blipFill>
        <p:spPr bwMode="auto">
          <a:xfrm rot="20626021">
            <a:off x="7571925" y="2720315"/>
            <a:ext cx="843342" cy="90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Graphic 77" descr="Pregnant lady with solid fill">
            <a:extLst>
              <a:ext uri="{FF2B5EF4-FFF2-40B4-BE49-F238E27FC236}">
                <a16:creationId xmlns:a16="http://schemas.microsoft.com/office/drawing/2014/main" id="{A5D33AA5-A011-4A09-B439-24C2D2C93A3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77864" y="4624159"/>
            <a:ext cx="932426" cy="809730"/>
          </a:xfrm>
          <a:prstGeom prst="rect">
            <a:avLst/>
          </a:prstGeom>
        </p:spPr>
      </p:pic>
      <p:pic>
        <p:nvPicPr>
          <p:cNvPr id="79" name="Picture 78" descr="Icon&#10;&#10;Description automatically generated">
            <a:extLst>
              <a:ext uri="{FF2B5EF4-FFF2-40B4-BE49-F238E27FC236}">
                <a16:creationId xmlns:a16="http://schemas.microsoft.com/office/drawing/2014/main" id="{02B9AFA9-3534-4E6B-A6BD-E3D559C77DD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191" y="4485731"/>
            <a:ext cx="912498" cy="826835"/>
          </a:xfrm>
          <a:prstGeom prst="rect">
            <a:avLst/>
          </a:prstGeom>
        </p:spPr>
      </p:pic>
      <p:sp>
        <p:nvSpPr>
          <p:cNvPr id="80" name="Endometrial hyperplasia">
            <a:extLst>
              <a:ext uri="{FF2B5EF4-FFF2-40B4-BE49-F238E27FC236}">
                <a16:creationId xmlns:a16="http://schemas.microsoft.com/office/drawing/2014/main" id="{51D3490F-0F02-4AD8-852B-6916C9CDEFE1}"/>
              </a:ext>
            </a:extLst>
          </p:cNvPr>
          <p:cNvSpPr/>
          <p:nvPr/>
        </p:nvSpPr>
        <p:spPr>
          <a:xfrm>
            <a:off x="2455375" y="4493857"/>
            <a:ext cx="2749738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Endometrial hyperplasia</a:t>
            </a:r>
          </a:p>
        </p:txBody>
      </p:sp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437DE76C-6391-4261-9C97-E1AEC76636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0283" y="4754461"/>
            <a:ext cx="301752" cy="301752"/>
          </a:xfrm>
          <a:prstGeom prst="rect">
            <a:avLst/>
          </a:prstGeom>
        </p:spPr>
      </p:pic>
      <p:sp>
        <p:nvSpPr>
          <p:cNvPr id="84" name="Gyne">
            <a:extLst>
              <a:ext uri="{FF2B5EF4-FFF2-40B4-BE49-F238E27FC236}">
                <a16:creationId xmlns:a16="http://schemas.microsoft.com/office/drawing/2014/main" id="{9C536467-D547-4387-9973-6B8280B4DE3C}"/>
              </a:ext>
            </a:extLst>
          </p:cNvPr>
          <p:cNvSpPr/>
          <p:nvPr/>
        </p:nvSpPr>
        <p:spPr>
          <a:xfrm>
            <a:off x="2381506" y="2402162"/>
            <a:ext cx="2909477" cy="11761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What </a:t>
            </a:r>
            <a:r>
              <a:rPr lang="en-US" sz="2000" b="1" dirty="0">
                <a:solidFill>
                  <a:schemeClr val="tx1"/>
                </a:solidFill>
              </a:rPr>
              <a:t>gynecologic</a:t>
            </a:r>
            <a:r>
              <a:rPr lang="en-US" sz="2000" dirty="0">
                <a:solidFill>
                  <a:schemeClr val="tx1"/>
                </a:solidFill>
              </a:rPr>
              <a:t> comorbidities are associated with PCOS?</a:t>
            </a:r>
          </a:p>
        </p:txBody>
      </p:sp>
      <p:pic>
        <p:nvPicPr>
          <p:cNvPr id="86" name="Graphic 85" descr="Cursor with solid fill">
            <a:extLst>
              <a:ext uri="{FF2B5EF4-FFF2-40B4-BE49-F238E27FC236}">
                <a16:creationId xmlns:a16="http://schemas.microsoft.com/office/drawing/2014/main" id="{AE228DD4-82B3-4CA6-92DA-8F90520D09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1244" y="3421424"/>
            <a:ext cx="301752" cy="301752"/>
          </a:xfrm>
          <a:prstGeom prst="rect">
            <a:avLst/>
          </a:prstGeom>
        </p:spPr>
      </p:pic>
      <p:sp>
        <p:nvSpPr>
          <p:cNvPr id="62" name="question 1">
            <a:hlinkClick r:id="rId20" action="ppaction://hlinksldjump"/>
            <a:extLst>
              <a:ext uri="{FF2B5EF4-FFF2-40B4-BE49-F238E27FC236}">
                <a16:creationId xmlns:a16="http://schemas.microsoft.com/office/drawing/2014/main" id="{023AC91B-2334-4502-AE1D-CB94C29AA56B}"/>
              </a:ext>
            </a:extLst>
          </p:cNvPr>
          <p:cNvSpPr txBox="1"/>
          <p:nvPr/>
        </p:nvSpPr>
        <p:spPr>
          <a:xfrm>
            <a:off x="222679" y="199033"/>
            <a:ext cx="1645920" cy="41148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Diagnosis </a:t>
            </a:r>
          </a:p>
        </p:txBody>
      </p:sp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E9C7B9EE-E582-4FA8-A2D9-EC77AEA214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9128" y="468999"/>
            <a:ext cx="301752" cy="30175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49B1A9C-8211-4FDB-A660-EE17F6FE0CF1}"/>
              </a:ext>
            </a:extLst>
          </p:cNvPr>
          <p:cNvSpPr txBox="1"/>
          <p:nvPr/>
        </p:nvSpPr>
        <p:spPr>
          <a:xfrm>
            <a:off x="0" y="6611779"/>
            <a:ext cx="2643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created with biorender.com</a:t>
            </a:r>
          </a:p>
        </p:txBody>
      </p:sp>
      <p:pic>
        <p:nvPicPr>
          <p:cNvPr id="66" name="teachIM logo" descr="Icon&#10;&#10;Description automatically generated">
            <a:extLst>
              <a:ext uri="{FF2B5EF4-FFF2-40B4-BE49-F238E27FC236}">
                <a16:creationId xmlns:a16="http://schemas.microsoft.com/office/drawing/2014/main" id="{B517B9FD-5CBF-4F61-B4F6-914ADA0EEE7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3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</p:childTnLst>
        </p:cTn>
      </p:par>
    </p:tnLst>
    <p:bldLst>
      <p:bldP spid="82" grpId="0" animBg="1"/>
      <p:bldP spid="81" grpId="0"/>
      <p:bldP spid="85" grpId="0" animBg="1"/>
      <p:bldP spid="85" grpId="1" animBg="1"/>
      <p:bldP spid="96" grpId="0" animBg="1"/>
      <p:bldP spid="98" grpId="0"/>
      <p:bldP spid="102" grpId="0" animBg="1"/>
      <p:bldP spid="102" grpId="1" animBg="1"/>
      <p:bldP spid="108" grpId="0" animBg="1"/>
      <p:bldP spid="109" grpId="0"/>
      <p:bldP spid="110" grpId="0" animBg="1"/>
      <p:bldP spid="110" grpId="1" animBg="1"/>
      <p:bldP spid="124" grpId="0" animBg="1"/>
      <p:bldP spid="129" grpId="0"/>
      <p:bldP spid="130" grpId="0" animBg="1"/>
      <p:bldP spid="130" grpId="1" animBg="1"/>
      <p:bldP spid="57" grpId="0" animBg="1"/>
      <p:bldP spid="57" grpId="1" animBg="1"/>
      <p:bldP spid="60" grpId="0" animBg="1"/>
      <p:bldP spid="60" grpId="1" animBg="1"/>
      <p:bldP spid="69" grpId="0" animBg="1"/>
      <p:bldP spid="69" grpId="1" animBg="1"/>
      <p:bldP spid="80" grpId="0" animBg="1"/>
      <p:bldP spid="80" grpId="1" animBg="1"/>
      <p:bldP spid="8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B20797-FA42-4BBA-ABF2-5CF06A40D43C}"/>
              </a:ext>
            </a:extLst>
          </p:cNvPr>
          <p:cNvCxnSpPr>
            <a:cxnSpLocks/>
          </p:cNvCxnSpPr>
          <p:nvPr/>
        </p:nvCxnSpPr>
        <p:spPr>
          <a:xfrm>
            <a:off x="6063342" y="144981"/>
            <a:ext cx="0" cy="6568037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 1a">
            <a:extLst>
              <a:ext uri="{FF2B5EF4-FFF2-40B4-BE49-F238E27FC236}">
                <a16:creationId xmlns:a16="http://schemas.microsoft.com/office/drawing/2014/main" id="{D2B7E91F-D4C0-4BE2-8AA9-79828559D719}"/>
              </a:ext>
            </a:extLst>
          </p:cNvPr>
          <p:cNvSpPr/>
          <p:nvPr/>
        </p:nvSpPr>
        <p:spPr>
          <a:xfrm>
            <a:off x="2820882" y="91529"/>
            <a:ext cx="1828800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1a </a:t>
            </a:r>
          </a:p>
        </p:txBody>
      </p:sp>
      <p:sp>
        <p:nvSpPr>
          <p:cNvPr id="13" name="Case 1 text">
            <a:extLst>
              <a:ext uri="{FF2B5EF4-FFF2-40B4-BE49-F238E27FC236}">
                <a16:creationId xmlns:a16="http://schemas.microsoft.com/office/drawing/2014/main" id="{28FAF219-B0F0-4D6F-A011-8C6E213E6DC1}"/>
              </a:ext>
            </a:extLst>
          </p:cNvPr>
          <p:cNvSpPr txBox="1"/>
          <p:nvPr/>
        </p:nvSpPr>
        <p:spPr>
          <a:xfrm>
            <a:off x="2002966" y="543346"/>
            <a:ext cx="3931552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Olga is a 24 </a:t>
            </a:r>
            <a:r>
              <a:rPr lang="en-US" sz="1400" dirty="0" err="1">
                <a:ea typeface="+mn-lt"/>
                <a:cs typeface="+mn-lt"/>
              </a:rPr>
              <a:t>yo</a:t>
            </a:r>
            <a:r>
              <a:rPr lang="en-US" sz="1400" dirty="0">
                <a:ea typeface="+mn-lt"/>
                <a:cs typeface="+mn-lt"/>
              </a:rPr>
              <a:t> woman who presents with irregular periods since menarche. Her periods occur every 45 to 60 days. </a:t>
            </a:r>
          </a:p>
          <a:p>
            <a:endParaRPr lang="en-US" sz="6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Family history is notable for type II DM.</a:t>
            </a:r>
          </a:p>
        </p:txBody>
      </p:sp>
      <p:sp>
        <p:nvSpPr>
          <p:cNvPr id="28" name="Case 1a - Q1">
            <a:extLst>
              <a:ext uri="{FF2B5EF4-FFF2-40B4-BE49-F238E27FC236}">
                <a16:creationId xmlns:a16="http://schemas.microsoft.com/office/drawing/2014/main" id="{A720D17D-CBB7-401A-B329-CE14FDF24C03}"/>
              </a:ext>
            </a:extLst>
          </p:cNvPr>
          <p:cNvSpPr/>
          <p:nvPr/>
        </p:nvSpPr>
        <p:spPr>
          <a:xfrm>
            <a:off x="1992780" y="1605939"/>
            <a:ext cx="3900316" cy="54864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additional history or exam findings can help build your differential? </a:t>
            </a:r>
          </a:p>
        </p:txBody>
      </p:sp>
      <p:sp>
        <p:nvSpPr>
          <p:cNvPr id="31" name="Case 1a - Q2">
            <a:extLst>
              <a:ext uri="{FF2B5EF4-FFF2-40B4-BE49-F238E27FC236}">
                <a16:creationId xmlns:a16="http://schemas.microsoft.com/office/drawing/2014/main" id="{FC95995F-E4E4-4637-AB4F-6B3EE9F47547}"/>
              </a:ext>
            </a:extLst>
          </p:cNvPr>
          <p:cNvSpPr/>
          <p:nvPr/>
        </p:nvSpPr>
        <p:spPr>
          <a:xfrm>
            <a:off x="830151" y="5225522"/>
            <a:ext cx="5062945" cy="369330"/>
          </a:xfrm>
          <a:prstGeom prst="roundRect">
            <a:avLst>
              <a:gd name="adj" fmla="val 1771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are your next steps in evaluation?</a:t>
            </a:r>
          </a:p>
        </p:txBody>
      </p:sp>
      <p:sp>
        <p:nvSpPr>
          <p:cNvPr id="33" name="Case 1 - Pre-test answer">
            <a:extLst>
              <a:ext uri="{FF2B5EF4-FFF2-40B4-BE49-F238E27FC236}">
                <a16:creationId xmlns:a16="http://schemas.microsoft.com/office/drawing/2014/main" id="{8E93BC3D-9A48-4519-87F0-DC82D5777AEB}"/>
              </a:ext>
            </a:extLst>
          </p:cNvPr>
          <p:cNvSpPr/>
          <p:nvPr/>
        </p:nvSpPr>
        <p:spPr>
          <a:xfrm>
            <a:off x="2002966" y="2237752"/>
            <a:ext cx="3852999" cy="71990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She has </a:t>
            </a:r>
            <a:r>
              <a:rPr lang="en-US" sz="1400" b="1" dirty="0"/>
              <a:t>oligomenorrhea</a:t>
            </a:r>
            <a:r>
              <a:rPr lang="en-US" sz="1400" dirty="0"/>
              <a:t> (a form of </a:t>
            </a:r>
            <a:r>
              <a:rPr lang="en-US" sz="1400" dirty="0">
                <a:hlinkClick r:id="rId3" action="ppaction://hlinksldjump"/>
              </a:rPr>
              <a:t>abnormal uterine bleeding</a:t>
            </a:r>
            <a:r>
              <a:rPr lang="en-US" sz="1400" dirty="0"/>
              <a:t>). Causes and associated signs/symptoms include:</a:t>
            </a:r>
          </a:p>
        </p:txBody>
      </p:sp>
      <p:sp>
        <p:nvSpPr>
          <p:cNvPr id="129" name="Case 1b">
            <a:extLst>
              <a:ext uri="{FF2B5EF4-FFF2-40B4-BE49-F238E27FC236}">
                <a16:creationId xmlns:a16="http://schemas.microsoft.com/office/drawing/2014/main" id="{41FEB336-49CA-4EC0-AC0A-587C0CD09C68}"/>
              </a:ext>
            </a:extLst>
          </p:cNvPr>
          <p:cNvSpPr/>
          <p:nvPr/>
        </p:nvSpPr>
        <p:spPr>
          <a:xfrm>
            <a:off x="8322182" y="91529"/>
            <a:ext cx="1828800" cy="41278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1b</a:t>
            </a:r>
          </a:p>
        </p:txBody>
      </p:sp>
      <p:sp>
        <p:nvSpPr>
          <p:cNvPr id="131" name="Case 1 text">
            <a:extLst>
              <a:ext uri="{FF2B5EF4-FFF2-40B4-BE49-F238E27FC236}">
                <a16:creationId xmlns:a16="http://schemas.microsoft.com/office/drawing/2014/main" id="{83105C6D-94DC-444D-A80F-80E89A1ED833}"/>
              </a:ext>
            </a:extLst>
          </p:cNvPr>
          <p:cNvSpPr txBox="1"/>
          <p:nvPr/>
        </p:nvSpPr>
        <p:spPr>
          <a:xfrm>
            <a:off x="6101379" y="543346"/>
            <a:ext cx="598176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Olga returns for a follow-up visit to review her labs and imaging results. </a:t>
            </a:r>
          </a:p>
          <a:p>
            <a:pPr marL="0" indent="0">
              <a:spcBef>
                <a:spcPts val="0"/>
              </a:spcBef>
              <a:buNone/>
            </a:pPr>
            <a:endParaRPr lang="en-US" sz="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u="sng" dirty="0"/>
              <a:t>Labs</a:t>
            </a:r>
            <a:r>
              <a:rPr lang="en-US" sz="1400" dirty="0"/>
              <a:t>: TSH and prolactin are normal. Total testosterone is elevated. </a:t>
            </a:r>
          </a:p>
          <a:p>
            <a:pPr marL="0" indent="0">
              <a:spcBef>
                <a:spcPts val="0"/>
              </a:spcBef>
              <a:buNone/>
            </a:pPr>
            <a:endParaRPr lang="en-US" sz="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u="sng" dirty="0"/>
              <a:t>Transvaginal ultrasound</a:t>
            </a:r>
            <a:r>
              <a:rPr lang="en-US" sz="1400" dirty="0"/>
              <a:t> 15-20 small follicles in both ovaries. Otherwise, normal.</a:t>
            </a:r>
          </a:p>
        </p:txBody>
      </p:sp>
      <p:pic>
        <p:nvPicPr>
          <p:cNvPr id="52" name="Graphic 51" descr="Cursor with solid fill">
            <a:extLst>
              <a:ext uri="{FF2B5EF4-FFF2-40B4-BE49-F238E27FC236}">
                <a16:creationId xmlns:a16="http://schemas.microsoft.com/office/drawing/2014/main" id="{9DBF686D-ADBD-45BD-B2A8-ED386C519D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4705" y="2032295"/>
            <a:ext cx="301752" cy="301752"/>
          </a:xfrm>
          <a:prstGeom prst="rect">
            <a:avLst/>
          </a:prstGeom>
        </p:spPr>
      </p:pic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7F468C7A-552C-4BB3-995C-867531595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2817" y="386706"/>
            <a:ext cx="301752" cy="301752"/>
          </a:xfrm>
          <a:prstGeom prst="rect">
            <a:avLst/>
          </a:prstGeom>
        </p:spPr>
      </p:pic>
      <p:sp>
        <p:nvSpPr>
          <p:cNvPr id="57" name="Case 1b - Q1">
            <a:extLst>
              <a:ext uri="{FF2B5EF4-FFF2-40B4-BE49-F238E27FC236}">
                <a16:creationId xmlns:a16="http://schemas.microsoft.com/office/drawing/2014/main" id="{FC7CA112-FAF7-4731-AC02-423927DB914D}"/>
              </a:ext>
            </a:extLst>
          </p:cNvPr>
          <p:cNvSpPr/>
          <p:nvPr/>
        </p:nvSpPr>
        <p:spPr>
          <a:xfrm>
            <a:off x="6204397" y="1555205"/>
            <a:ext cx="5760742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is her diagnosis?</a:t>
            </a:r>
          </a:p>
        </p:txBody>
      </p:sp>
      <p:sp>
        <p:nvSpPr>
          <p:cNvPr id="61" name="Case 2 - answer1">
            <a:extLst>
              <a:ext uri="{FF2B5EF4-FFF2-40B4-BE49-F238E27FC236}">
                <a16:creationId xmlns:a16="http://schemas.microsoft.com/office/drawing/2014/main" id="{E9E14381-F561-4E85-8173-20AB47B470CD}"/>
              </a:ext>
            </a:extLst>
          </p:cNvPr>
          <p:cNvSpPr/>
          <p:nvPr/>
        </p:nvSpPr>
        <p:spPr>
          <a:xfrm>
            <a:off x="6211890" y="1904487"/>
            <a:ext cx="5760742" cy="85912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PCOS</a:t>
            </a:r>
            <a:r>
              <a:rPr lang="en-US" sz="1400" dirty="0"/>
              <a:t>. She meets all 3 Rotterdam criteria: oligomenorrhea, biochemical hyperandrogenism, and polycystic ovaries. Other causes of oligomenorrhea ruled out. Remember, PCOS is a diagnosis of exclusion!</a:t>
            </a:r>
          </a:p>
        </p:txBody>
      </p:sp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956F63E8-63DB-4A08-A83A-19CFAA440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0003" y="382454"/>
            <a:ext cx="301752" cy="301752"/>
          </a:xfrm>
          <a:prstGeom prst="rect">
            <a:avLst/>
          </a:prstGeom>
        </p:spPr>
      </p:pic>
      <p:sp>
        <p:nvSpPr>
          <p:cNvPr id="39" name="Case 1c -Q1">
            <a:extLst>
              <a:ext uri="{FF2B5EF4-FFF2-40B4-BE49-F238E27FC236}">
                <a16:creationId xmlns:a16="http://schemas.microsoft.com/office/drawing/2014/main" id="{E9D3EEFD-602E-4B0B-9C9A-A0F3A5A386E4}"/>
              </a:ext>
            </a:extLst>
          </p:cNvPr>
          <p:cNvSpPr/>
          <p:nvPr/>
        </p:nvSpPr>
        <p:spPr>
          <a:xfrm>
            <a:off x="6211889" y="5321884"/>
            <a:ext cx="5760719" cy="36576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options does she have for endometrial protection?</a:t>
            </a:r>
          </a:p>
        </p:txBody>
      </p:sp>
      <p:sp>
        <p:nvSpPr>
          <p:cNvPr id="40" name="Case 1b - Q2">
            <a:extLst>
              <a:ext uri="{FF2B5EF4-FFF2-40B4-BE49-F238E27FC236}">
                <a16:creationId xmlns:a16="http://schemas.microsoft.com/office/drawing/2014/main" id="{00315A18-00C4-42C5-9C89-5019D2E0B091}"/>
              </a:ext>
            </a:extLst>
          </p:cNvPr>
          <p:cNvSpPr/>
          <p:nvPr/>
        </p:nvSpPr>
        <p:spPr>
          <a:xfrm>
            <a:off x="6204398" y="2813302"/>
            <a:ext cx="5760742" cy="365760"/>
          </a:xfrm>
          <a:prstGeom prst="roundRect">
            <a:avLst>
              <a:gd name="adj" fmla="val 1647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additional non-gynecologic comorbidities should you screen for? </a:t>
            </a:r>
          </a:p>
        </p:txBody>
      </p:sp>
      <p:sp>
        <p:nvSpPr>
          <p:cNvPr id="43" name="Case 3 - answer1">
            <a:extLst>
              <a:ext uri="{FF2B5EF4-FFF2-40B4-BE49-F238E27FC236}">
                <a16:creationId xmlns:a16="http://schemas.microsoft.com/office/drawing/2014/main" id="{0EBEB181-81BD-4935-BF8E-E90FD179405E}"/>
              </a:ext>
            </a:extLst>
          </p:cNvPr>
          <p:cNvSpPr/>
          <p:nvPr/>
        </p:nvSpPr>
        <p:spPr>
          <a:xfrm>
            <a:off x="6233589" y="5699469"/>
            <a:ext cx="5739019" cy="57765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Combined oral contraceptives, progestin-containing IUDs, and cyclic progesterone all can be used to decrease risk of endometrial hyperplasia.  </a:t>
            </a:r>
          </a:p>
        </p:txBody>
      </p:sp>
      <p:sp>
        <p:nvSpPr>
          <p:cNvPr id="44" name="Case 3 - answer2">
            <a:extLst>
              <a:ext uri="{FF2B5EF4-FFF2-40B4-BE49-F238E27FC236}">
                <a16:creationId xmlns:a16="http://schemas.microsoft.com/office/drawing/2014/main" id="{E832D7C1-2453-49C1-845B-A4238F5A4D0C}"/>
              </a:ext>
            </a:extLst>
          </p:cNvPr>
          <p:cNvSpPr/>
          <p:nvPr/>
        </p:nvSpPr>
        <p:spPr>
          <a:xfrm>
            <a:off x="6270719" y="3201504"/>
            <a:ext cx="3317721" cy="80344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Psych → MDD, GAD screen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Insulin resistance → HbA1c, fasting BG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CV risk → fasting lipids</a:t>
            </a:r>
          </a:p>
        </p:txBody>
      </p:sp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6DE9CF0D-6C7A-4173-B99C-6059A6E74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5658" y="5564348"/>
            <a:ext cx="301752" cy="301752"/>
          </a:xfrm>
          <a:prstGeom prst="rect">
            <a:avLst/>
          </a:prstGeom>
        </p:spPr>
      </p:pic>
      <p:sp>
        <p:nvSpPr>
          <p:cNvPr id="36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7C059FE1-51F6-435E-A48B-A7D9B21FD4A0}"/>
              </a:ext>
            </a:extLst>
          </p:cNvPr>
          <p:cNvSpPr txBox="1"/>
          <p:nvPr/>
        </p:nvSpPr>
        <p:spPr>
          <a:xfrm>
            <a:off x="222678" y="777222"/>
            <a:ext cx="1645920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DDx and Eval</a:t>
            </a:r>
          </a:p>
        </p:txBody>
      </p:sp>
      <p:sp>
        <p:nvSpPr>
          <p:cNvPr id="37" name="question 3">
            <a:hlinkClick r:id="rId7" action="ppaction://hlinksldjump"/>
            <a:extLst>
              <a:ext uri="{FF2B5EF4-FFF2-40B4-BE49-F238E27FC236}">
                <a16:creationId xmlns:a16="http://schemas.microsoft.com/office/drawing/2014/main" id="{69F6E6E7-0E97-4B60-8380-5FD7E4F5C958}"/>
              </a:ext>
            </a:extLst>
          </p:cNvPr>
          <p:cNvSpPr txBox="1"/>
          <p:nvPr/>
        </p:nvSpPr>
        <p:spPr>
          <a:xfrm>
            <a:off x="222678" y="1355411"/>
            <a:ext cx="1645920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Associated Co-Morbidities </a:t>
            </a:r>
          </a:p>
        </p:txBody>
      </p:sp>
      <p:sp>
        <p:nvSpPr>
          <p:cNvPr id="38" name="Cases">
            <a:hlinkClick r:id="" action="ppaction://noaction"/>
            <a:extLst>
              <a:ext uri="{FF2B5EF4-FFF2-40B4-BE49-F238E27FC236}">
                <a16:creationId xmlns:a16="http://schemas.microsoft.com/office/drawing/2014/main" id="{5D7C2719-3C6C-4337-A517-F72C374AB459}"/>
              </a:ext>
            </a:extLst>
          </p:cNvPr>
          <p:cNvSpPr txBox="1"/>
          <p:nvPr/>
        </p:nvSpPr>
        <p:spPr>
          <a:xfrm>
            <a:off x="222678" y="2237209"/>
            <a:ext cx="1645920" cy="411480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7B8505C8-3E59-4E9E-BA96-229374969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4142" y="1035769"/>
            <a:ext cx="301752" cy="301752"/>
          </a:xfrm>
          <a:prstGeom prst="rect">
            <a:avLst/>
          </a:prstGeom>
        </p:spPr>
      </p:pic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AE786BAC-84B7-4D0D-9B69-BCBBAB6D44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4142" y="1902850"/>
            <a:ext cx="301752" cy="301752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40114B2-66ED-4E2E-BA69-8049E96E1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629619"/>
              </p:ext>
            </p:extLst>
          </p:nvPr>
        </p:nvGraphicFramePr>
        <p:xfrm>
          <a:off x="830151" y="2997703"/>
          <a:ext cx="5076241" cy="1618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17239">
                  <a:extLst>
                    <a:ext uri="{9D8B030D-6E8A-4147-A177-3AD203B41FA5}">
                      <a16:colId xmlns:a16="http://schemas.microsoft.com/office/drawing/2014/main" val="1452949867"/>
                    </a:ext>
                  </a:extLst>
                </a:gridCol>
                <a:gridCol w="3159002">
                  <a:extLst>
                    <a:ext uri="{9D8B030D-6E8A-4147-A177-3AD203B41FA5}">
                      <a16:colId xmlns:a16="http://schemas.microsoft.com/office/drawing/2014/main" val="4071806280"/>
                    </a:ext>
                  </a:extLst>
                </a:gridCol>
              </a:tblGrid>
              <a:tr h="23123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Hirsutism</a:t>
                      </a:r>
                    </a:p>
                  </a:txBody>
                  <a:tcPr marR="0" marT="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PCOS, hyperandrogenism</a:t>
                      </a:r>
                    </a:p>
                  </a:txBody>
                  <a:tcPr marR="0" marT="0" marB="0"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998127"/>
                  </a:ext>
                </a:extLst>
              </a:tr>
              <a:tr h="231239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Breast discharge</a:t>
                      </a:r>
                      <a:endParaRPr lang="en-US" sz="1400" dirty="0"/>
                    </a:p>
                  </a:txBody>
                  <a:tcPr marR="0" marT="0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Prolactinoma</a:t>
                      </a:r>
                    </a:p>
                  </a:txBody>
                  <a:tcPr marR="0" marT="0" marB="0"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39480895"/>
                  </a:ext>
                </a:extLst>
              </a:tr>
              <a:tr h="231239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Hot flashes</a:t>
                      </a:r>
                      <a:endParaRPr lang="en-US" sz="1400" dirty="0"/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Premature ovarian failure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432346869"/>
                  </a:ext>
                </a:extLst>
              </a:tr>
              <a:tr h="2312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Weight gain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Cushing’s, hypothyroidism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2672958915"/>
                  </a:ext>
                </a:extLst>
              </a:tr>
              <a:tr h="231239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Weight loss</a:t>
                      </a:r>
                      <a:endParaRPr lang="en-US" sz="1400" dirty="0"/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Stress, malnutrition, hyperthyroidism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2495141810"/>
                  </a:ext>
                </a:extLst>
              </a:tr>
              <a:tr h="2312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Sexually active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Pregnancy, STIs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2966338170"/>
                  </a:ext>
                </a:extLst>
              </a:tr>
              <a:tr h="2312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Abnormal pelvic exam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Structural cause (e.g., polyp, fibroid)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526688851"/>
                  </a:ext>
                </a:extLst>
              </a:tr>
            </a:tbl>
          </a:graphicData>
        </a:graphic>
      </p:graphicFrame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BF1F29C7-DD97-402E-A004-E90756B95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4705" y="5472106"/>
            <a:ext cx="301752" cy="301752"/>
          </a:xfrm>
          <a:prstGeom prst="rect">
            <a:avLst/>
          </a:prstGeom>
        </p:spPr>
      </p:pic>
      <p:sp>
        <p:nvSpPr>
          <p:cNvPr id="55" name="Case 1 - Pre-test answer">
            <a:extLst>
              <a:ext uri="{FF2B5EF4-FFF2-40B4-BE49-F238E27FC236}">
                <a16:creationId xmlns:a16="http://schemas.microsoft.com/office/drawing/2014/main" id="{166E34E6-4AA7-43D9-B90B-7ED764196A34}"/>
              </a:ext>
            </a:extLst>
          </p:cNvPr>
          <p:cNvSpPr/>
          <p:nvPr/>
        </p:nvSpPr>
        <p:spPr>
          <a:xfrm>
            <a:off x="793264" y="4702469"/>
            <a:ext cx="5150013" cy="46688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…She has acne and some hair growth on her chin. She reports slow weight gain. Otherwise, she is not sexually active. </a:t>
            </a:r>
          </a:p>
        </p:txBody>
      </p:sp>
      <p:sp>
        <p:nvSpPr>
          <p:cNvPr id="58" name="Case 1 - Pre-test answer">
            <a:extLst>
              <a:ext uri="{FF2B5EF4-FFF2-40B4-BE49-F238E27FC236}">
                <a16:creationId xmlns:a16="http://schemas.microsoft.com/office/drawing/2014/main" id="{0ABAB7DA-23B6-4806-9F4F-F6A5DB07D2DA}"/>
              </a:ext>
            </a:extLst>
          </p:cNvPr>
          <p:cNvSpPr/>
          <p:nvPr/>
        </p:nvSpPr>
        <p:spPr>
          <a:xfrm>
            <a:off x="793264" y="5683201"/>
            <a:ext cx="5150013" cy="111544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b="1" dirty="0"/>
              <a:t>Beta-HCG</a:t>
            </a:r>
            <a:r>
              <a:rPr lang="en-US" sz="1400" dirty="0"/>
              <a:t> (rule out pregnancy in all reproductive age women)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b="1" dirty="0"/>
              <a:t>Transvaginal US </a:t>
            </a:r>
            <a:r>
              <a:rPr lang="en-US" sz="1400" dirty="0"/>
              <a:t>(rule out structural causes)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b="1" dirty="0"/>
              <a:t>TSH, prolactin, </a:t>
            </a:r>
            <a:r>
              <a:rPr lang="en-US" sz="1400" b="1" strike="sngStrike" dirty="0"/>
              <a:t>FSH</a:t>
            </a:r>
            <a:r>
              <a:rPr lang="en-US" sz="1400" strike="sngStrike" dirty="0"/>
              <a:t>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b="1" dirty="0"/>
              <a:t>Total testosterone </a:t>
            </a:r>
            <a:r>
              <a:rPr lang="en-US" sz="1400" dirty="0"/>
              <a:t>(signs of hyperandrogenism, ± 17-OH progesterone, ± SHBG, ±DHEAS)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118C5D7E-E126-4BC6-B677-A96FE8D544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5658" y="1795124"/>
            <a:ext cx="302506" cy="302506"/>
          </a:xfrm>
          <a:prstGeom prst="rect">
            <a:avLst/>
          </a:prstGeom>
        </p:spPr>
      </p:pic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80F59731-A935-4D08-B316-C5017E06F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5658" y="3053598"/>
            <a:ext cx="301752" cy="301752"/>
          </a:xfrm>
          <a:prstGeom prst="rect">
            <a:avLst/>
          </a:prstGeom>
        </p:spPr>
      </p:pic>
      <p:sp>
        <p:nvSpPr>
          <p:cNvPr id="62" name="Case 1b- Q3">
            <a:extLst>
              <a:ext uri="{FF2B5EF4-FFF2-40B4-BE49-F238E27FC236}">
                <a16:creationId xmlns:a16="http://schemas.microsoft.com/office/drawing/2014/main" id="{BE5B60B1-7056-458E-96B2-323D4343113C}"/>
              </a:ext>
            </a:extLst>
          </p:cNvPr>
          <p:cNvSpPr/>
          <p:nvPr/>
        </p:nvSpPr>
        <p:spPr>
          <a:xfrm>
            <a:off x="6204397" y="4048490"/>
            <a:ext cx="5760720" cy="365760"/>
          </a:xfrm>
          <a:prstGeom prst="roundRect">
            <a:avLst>
              <a:gd name="adj" fmla="val 16477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What gynecologic comorbidities is she at risk for? 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2AA1B3F6-F1D0-433A-A468-2C5809EB4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5658" y="4288786"/>
            <a:ext cx="301752" cy="301752"/>
          </a:xfrm>
          <a:prstGeom prst="rect">
            <a:avLst/>
          </a:prstGeom>
        </p:spPr>
      </p:pic>
      <p:sp>
        <p:nvSpPr>
          <p:cNvPr id="66" name="Case 3 - answer2">
            <a:extLst>
              <a:ext uri="{FF2B5EF4-FFF2-40B4-BE49-F238E27FC236}">
                <a16:creationId xmlns:a16="http://schemas.microsoft.com/office/drawing/2014/main" id="{B832AF74-2380-436F-BA91-D1ED576DF467}"/>
              </a:ext>
            </a:extLst>
          </p:cNvPr>
          <p:cNvSpPr/>
          <p:nvPr/>
        </p:nvSpPr>
        <p:spPr>
          <a:xfrm>
            <a:off x="6211890" y="4439662"/>
            <a:ext cx="5346351" cy="79829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Infertility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Pregnancy complications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Endometrial hyperplasia and higher risk of endometrial cancer</a:t>
            </a:r>
          </a:p>
        </p:txBody>
      </p:sp>
      <p:sp>
        <p:nvSpPr>
          <p:cNvPr id="45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71DBA745-BFE0-475A-814D-0790E99BE616}"/>
              </a:ext>
            </a:extLst>
          </p:cNvPr>
          <p:cNvSpPr txBox="1"/>
          <p:nvPr/>
        </p:nvSpPr>
        <p:spPr>
          <a:xfrm>
            <a:off x="222678" y="199033"/>
            <a:ext cx="1645920" cy="41148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Diagnosis 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02E6C32B-21CC-4B3B-9490-4EB77ABC5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4142" y="468999"/>
            <a:ext cx="301752" cy="301752"/>
          </a:xfrm>
          <a:prstGeom prst="rect">
            <a:avLst/>
          </a:prstGeom>
        </p:spPr>
      </p:pic>
      <p:pic>
        <p:nvPicPr>
          <p:cNvPr id="41" name="teachIM logo" descr="Icon&#10;&#10;Description automatically generated">
            <a:extLst>
              <a:ext uri="{FF2B5EF4-FFF2-40B4-BE49-F238E27FC236}">
                <a16:creationId xmlns:a16="http://schemas.microsoft.com/office/drawing/2014/main" id="{52F1D026-D92C-4FF1-8190-1B0652B0F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7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3" grpId="0"/>
      <p:bldP spid="28" grpId="0" animBg="1"/>
      <p:bldP spid="31" grpId="0" animBg="1"/>
      <p:bldP spid="33" grpId="0" animBg="1"/>
      <p:bldP spid="131" grpId="0"/>
      <p:bldP spid="61" grpId="0" animBg="1"/>
      <p:bldP spid="43" grpId="0" animBg="1"/>
      <p:bldP spid="44" grpId="0" animBg="1"/>
      <p:bldP spid="55" grpId="0" animBg="1"/>
      <p:bldP spid="58" grpId="0" animBg="1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A7D8088-F453-9044-A7E7-AFE10BC4CD5F}"/>
              </a:ext>
            </a:extLst>
          </p:cNvPr>
          <p:cNvSpPr txBox="1"/>
          <p:nvPr/>
        </p:nvSpPr>
        <p:spPr>
          <a:xfrm>
            <a:off x="105663" y="869564"/>
            <a:ext cx="4794950" cy="230832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diagnose PCOS we use the </a:t>
            </a:r>
            <a:r>
              <a:rPr lang="en-US" b="1" dirty="0"/>
              <a:t>Rotterdam Criteria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1. </a:t>
            </a:r>
          </a:p>
          <a:p>
            <a:endParaRPr lang="en-US" dirty="0"/>
          </a:p>
          <a:p>
            <a:r>
              <a:rPr lang="en-US" dirty="0"/>
              <a:t>2. </a:t>
            </a:r>
          </a:p>
          <a:p>
            <a:endParaRPr lang="en-US" dirty="0"/>
          </a:p>
          <a:p>
            <a:r>
              <a:rPr lang="en-US" dirty="0"/>
              <a:t>3.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80AE8-2F75-0247-922E-A9C15A4310D3}"/>
              </a:ext>
            </a:extLst>
          </p:cNvPr>
          <p:cNvSpPr txBox="1"/>
          <p:nvPr/>
        </p:nvSpPr>
        <p:spPr>
          <a:xfrm>
            <a:off x="3228975" y="143888"/>
            <a:ext cx="64359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Polycystic Ovarian Syndrome (PCOS) 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E697C939-6FC4-7F4B-9016-D8A8826B2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170535"/>
              </p:ext>
            </p:extLst>
          </p:nvPr>
        </p:nvGraphicFramePr>
        <p:xfrm>
          <a:off x="6857409" y="1469971"/>
          <a:ext cx="5058366" cy="512190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529183">
                  <a:extLst>
                    <a:ext uri="{9D8B030D-6E8A-4147-A177-3AD203B41FA5}">
                      <a16:colId xmlns:a16="http://schemas.microsoft.com/office/drawing/2014/main" val="1293368467"/>
                    </a:ext>
                  </a:extLst>
                </a:gridCol>
                <a:gridCol w="2529183">
                  <a:extLst>
                    <a:ext uri="{9D8B030D-6E8A-4147-A177-3AD203B41FA5}">
                      <a16:colId xmlns:a16="http://schemas.microsoft.com/office/drawing/2014/main" val="1368137995"/>
                    </a:ext>
                  </a:extLst>
                </a:gridCol>
              </a:tblGrid>
              <a:tr h="340777">
                <a:tc>
                  <a:txBody>
                    <a:bodyPr/>
                    <a:lstStyle/>
                    <a:p>
                      <a:r>
                        <a:rPr lang="en-US" dirty="0"/>
                        <a:t>Differential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13884"/>
                  </a:ext>
                </a:extLst>
              </a:tr>
              <a:tr h="514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3017520"/>
                  </a:ext>
                </a:extLst>
              </a:tr>
              <a:tr h="514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8169980"/>
                  </a:ext>
                </a:extLst>
              </a:tr>
              <a:tr h="514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74582343"/>
                  </a:ext>
                </a:extLst>
              </a:tr>
              <a:tr h="514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0190187"/>
                  </a:ext>
                </a:extLst>
              </a:tr>
              <a:tr h="514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56553728"/>
                  </a:ext>
                </a:extLst>
              </a:tr>
              <a:tr h="514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1764051"/>
                  </a:ext>
                </a:extLst>
              </a:tr>
              <a:tr h="514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66332582"/>
                  </a:ext>
                </a:extLst>
              </a:tr>
              <a:tr h="596359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40397085"/>
                  </a:ext>
                </a:extLst>
              </a:tr>
              <a:tr h="514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9445263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C572B82-D216-8044-B5CD-D04D6C1D30D6}"/>
              </a:ext>
            </a:extLst>
          </p:cNvPr>
          <p:cNvSpPr txBox="1"/>
          <p:nvPr/>
        </p:nvSpPr>
        <p:spPr>
          <a:xfrm>
            <a:off x="6743701" y="823640"/>
            <a:ext cx="5291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PCOS is a diagnosis of exclusion. What are some other conditions to consider before making this diagnosis?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113473-91D3-9C4D-B4B6-4CCDEA9B319A}"/>
              </a:ext>
            </a:extLst>
          </p:cNvPr>
          <p:cNvSpPr txBox="1"/>
          <p:nvPr/>
        </p:nvSpPr>
        <p:spPr>
          <a:xfrm>
            <a:off x="105663" y="3315900"/>
            <a:ext cx="6280850" cy="347787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Other conditions associated with PCOS: </a:t>
            </a:r>
          </a:p>
          <a:p>
            <a:r>
              <a:rPr lang="en-US" sz="2200" u="sng" dirty="0"/>
              <a:t>Non-Gynecologic: </a:t>
            </a:r>
            <a:r>
              <a:rPr lang="en-US" sz="2200" dirty="0"/>
              <a:t>                  </a:t>
            </a:r>
            <a:r>
              <a:rPr lang="en-US" sz="2200" u="sng" dirty="0"/>
              <a:t>Gynecologic: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 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AFA3DE-4CDF-D947-8634-4F2F12636970}"/>
              </a:ext>
            </a:extLst>
          </p:cNvPr>
          <p:cNvSpPr/>
          <p:nvPr/>
        </p:nvSpPr>
        <p:spPr>
          <a:xfrm>
            <a:off x="4650574" y="866675"/>
            <a:ext cx="2036273" cy="2130223"/>
          </a:xfrm>
          <a:prstGeom prst="ellipse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You need ___ of 3 criteria to diagnose PCOS!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8EC437-E5FB-5946-901A-6140593D7FE4}"/>
              </a:ext>
            </a:extLst>
          </p:cNvPr>
          <p:cNvCxnSpPr>
            <a:cxnSpLocks/>
          </p:cNvCxnSpPr>
          <p:nvPr/>
        </p:nvCxnSpPr>
        <p:spPr>
          <a:xfrm>
            <a:off x="3228975" y="4177104"/>
            <a:ext cx="0" cy="24576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302098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2023 Guideline Update — Rotterdam framework unchanged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0000"/>
            <a:ext cx="11277600" cy="5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202020"/>
                </a:solidFill>
                <a:latin typeface="Calibri"/>
              </a:rPr>
              <a:t>• The 2023 International Evidence-Based Guideline for PCOS (Teede et al.) updates the 2018 version the deck builds on. Rotterdam (2 of 3) and "diagnosis of exclusion" are unchanged.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NEW diagnostic option: anti-Müllerian hormone (AMH) may substitute for pelvic ultrasound to establish polycystic ovarian morphology in ADULTS (not adolescents). For irregular cycles + hyperandrogenism (~70% of cases), neither US nor AMH is needed — those two criteria already make the diagnosis.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Adolescents: require BOTH hyperandrogenism AND ovulatory dysfunction; ultrasound and AMH are NOT recommended (&lt;8 yr post-menarche) due to poor specificity.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Strengthened recognition of the metabolic/CV burden, obstructive sleep apnea, and the very high prevalence of psychological features (screen for depression, anxiety, and disordered/binge eating).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Therapy: lifestyle first; metformin for metabolic/weight/cycle benefit; combined OCPs ± anti-androgen for hyperandrogenism/cycle control. Anti-obesity pharmacotherapy incl. GLP-1 receptor agonists may be CONSIDERED for weight in adults (evidence still limited — high-priority research area).</a:t>
            </a:r>
          </a:p>
          <a:p>
            <a:pPr lvl="1"/>
            <a:r>
              <a:rPr sz="1200" b="0">
                <a:solidFill>
                  <a:srgbClr val="202020"/>
                </a:solidFill>
                <a:latin typeface="Calibri"/>
              </a:rPr>
              <a:t>– Sources: Teede HJ et al., 2023 International Evidence-Based Guideline for PCOS (Hum Reprod / JCEM / Fertil Steril 2023); Goldberg, Obes Rev 2024 (anti-obesity agents).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0000"/>
            <a:ext cx="11277600" cy="5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PCOS is defined by the Rotterdam criteria — hyperandrogenism (clinical or biochemical), menstrual irregularity/ovulatory dysfunction, and polycystic ovaries on ultrasound (or, in adults, AMH per 2023 guideline). Two of three are required.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It is a DIAGNOSIS OF EXCLUSION — rule out other causes first: total testosterone (± 17-OHP, SHBG, DHEAS), TSH/free T4, prolactin, β-hCG; consider midnight salivary cortisol or LH/FSH per clinical picture.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Screen for the comorbidities, not just the diagnosis: insulin resistance/T2DM (A1c, fasting glucose or 2-h OGTT, q1–2y), cardiovascular risk (BP, fasting lipids), mood/eating disorders (PHQ-9, GAD-7), OSA, and NAFLD.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Protect the endometrium: chronic anovulation → 3× endometrial cancer risk. Ensure a withdrawal bleed at least every 90 days (OCPs, progestin IUD, or cyclic progesterone). Routine US screening for endometrial cancer is not recommended.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PCOS is the most common cause of anovulatory infertility — discuss fertility goals early; 5–10% weight loss improves ovulation; refer to OB/Gyn or REI; clomiphene/letrozole for ovulation induction.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0000"/>
            <a:ext cx="11277600" cy="5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Original: "Polycystic Ovary Syndrome," TeachIM.org, published May 2022 — Nikki Zarling MD, Natalie deQuillfeldt MD, Molly Brett MD; Section Ed. Adelaide McClintock MD; Exec. Ed. Yilin Zhang MD.</a:t>
            </a:r>
          </a:p>
          <a:p>
            <a:pPr lvl="1"/>
            <a:r>
              <a:rPr sz="1200" b="0">
                <a:solidFill>
                  <a:srgbClr val="202020"/>
                </a:solidFill>
                <a:latin typeface="Calibri"/>
              </a:rPr>
              <a:t>– https://teachim.org/teaching_material/pcos/ — CC BY-NC 4.0 (attribution required, non-commercial). Optimized June 2026. Deck: Teach-IM-PCOS-yz-6.2-1.pptx (page embed URL).</a:t>
            </a:r>
          </a:p>
          <a:p>
            <a:pPr/>
            <a:r>
              <a:rPr sz="1400" b="1">
                <a:solidFill>
                  <a:srgbClr val="202020"/>
                </a:solidFill>
                <a:latin typeface="Calibri"/>
              </a:rPr>
              <a:t>• Correction to this copy (all click-to-reveal animations &amp; BioRender graphics preserved):</a:t>
            </a:r>
          </a:p>
          <a:p>
            <a:pPr lvl="1"/>
            <a:r>
              <a:rPr sz="1200" b="0">
                <a:solidFill>
                  <a:srgbClr val="202020"/>
                </a:solidFill>
                <a:latin typeface="Calibri"/>
              </a:rPr>
              <a:t>– Slide 3 (menstrual-irregularity evaluation): "± LH/FH" → "± LH/FSH" (the page text and standard workup are LH and FSH).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Appended: this changelog + 2023 Guideline Update + Take-Home slides. No original content removed; 7 original slides (1 hidden learner worksheet) → 10.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Companions copied &amp; linked (reviewed, unchanged): PCOS-Teach-IM-Guide-yz-6.2-1.docx (facilitator guide), PCOS-Learner-Handout.pdf. Package: HTML, OnePager PDF, Anki TSV.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Educational use only — not medical advice; clinician-review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28698</TotalTime>
  <Words>1052</Words>
  <Application>Microsoft Office PowerPoint</Application>
  <PresentationFormat>Widescreen</PresentationFormat>
  <Paragraphs>230</Paragraphs>
  <Slides>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51</cp:revision>
  <dcterms:created xsi:type="dcterms:W3CDTF">2020-12-09T20:37:45Z</dcterms:created>
  <dcterms:modified xsi:type="dcterms:W3CDTF">2022-06-03T23:52:05Z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0x010100252AEEB6E305C04CA9C604CC8E9650A9</vt:lpwstr>
  </property>
</Properties>
</file>