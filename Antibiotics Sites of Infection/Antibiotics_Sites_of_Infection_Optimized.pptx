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1" r:id="rId3"/>
    <p:sldId id="272" r:id="rId4"/>
    <p:sldId id="258" r:id="rId5"/>
    <p:sldId id="273" r:id="rId6"/>
    <p:sldId id="276" r:id="rId7"/>
    <p:sldId id="275" r:id="rId8"/>
    <p:sldId id="270" r:id="rId9"/>
    <p:sldId id="277" r:id="rId10"/>
    <p:sldId id="278" r:id="rId16"/>
    <p:sldId id="279" r:id="rId17"/>
    <p:sldId id="280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B7C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839" autoAdjust="0"/>
  </p:normalViewPr>
  <p:slideViewPr>
    <p:cSldViewPr snapToGrid="0">
      <p:cViewPr varScale="1">
        <p:scale>
          <a:sx n="102" d="100"/>
          <a:sy n="102" d="100"/>
        </p:scale>
        <p:origin x="1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C971B07-8A79-477A-9488-4C919E7B897A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4F32D7B-F9C9-441A-B3BD-D5CCC8146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2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92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907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B109-9CE5-472C-B61B-8BED946EB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3BE75-8F57-4634-917E-DF3B81AB1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7D01-4D9B-49A9-8677-C91D4E69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BE85E-9BDC-4C17-937B-5F408D55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F6424-A821-40FF-9093-47CC479B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4ABC-CF16-4C16-9BF3-1BA266CB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CDB2-F2E8-4FC7-914F-1B5AEFA1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32B3-0CDC-4CB3-9007-75AEC81D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8D56D-C80E-4F4B-B65F-8BAFC525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B0A0A-1397-447C-94A4-4A530A25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2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7797-7C36-49E6-9A3B-8FFA241B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A1EA3-21FF-4D6E-8373-6D57FA80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9C326-2162-4E51-A761-D775A02E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1AA1B-261A-41DA-851A-B0D67B69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6EFC-E4BB-4709-BF88-726B71A8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6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D4E1-1032-4F99-A763-1A2E1C15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A26BD-F533-4E8C-9899-C40265320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63331-C789-4406-8E5A-0669E49D2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6D0F2-A2E7-4DA6-81B0-8AA35CF5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174A0-C598-44C0-90AE-E6189D1B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40BD7-BC15-424A-B0DC-1849C04E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9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CA33-B4CB-4E49-87D7-9ECC7643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23263-FE26-4F8A-A98D-0E88F051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776C4-3EC8-4491-B72E-968091D3F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AC899-6B1B-4C8D-BD38-471205C80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D846C-3266-4FAE-82B9-7B6F8E4FA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67F2E-E8D6-409E-8D79-8214319D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7450A-B2CF-41A7-A3B9-9A8B78E1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72009-A5F3-4153-9D82-411A0103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8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88F15-66FC-49A7-9492-4E220ABF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353BB-9447-420C-AA31-40F77F0D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C55C9-185F-43CD-A7DE-4B02EF89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18A21-8A4A-407A-8148-6D6D238F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6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78BC9-F94B-467B-8110-7C6955939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81673-3DA0-4EE6-9057-38E53FD2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088C-7514-494A-9BC4-B66D3511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6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E679-DDE3-4B85-BBCA-031F7309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E1B7F-C390-49AA-9B10-2EC23D167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FDDAF-7C03-4B37-9B82-8FC6C63C5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8B3B7-81F5-4CC9-8C2B-542FB3F1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31A96-7B42-495E-86FC-32D3B0B9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97135-04F7-4749-8F5A-A4B5FF0F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B3BB-08DC-4714-84E3-1E372ED6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A2C83-1D6A-45A0-88E5-9431BD704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17A5D-DA90-4284-8444-267167537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3E67C-53DF-4113-B067-C23041A6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E1A2E-5E81-4ED8-9BC1-A5F5D334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123BF-FC5E-4724-80C0-9C2A044F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5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3428-B5B3-46E6-A10E-3B167DC8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60668-8715-44F5-BA0A-C12633159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02B1F-79DA-4043-A8AE-17821E7B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0B0EF-44FA-4366-BF3C-ECB96202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25C0-3B63-4CC0-8473-9F4DBA51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9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80C7B-0550-457A-97AF-C2421796B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153C5-6249-4F91-B25F-810FB2CD1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28133-E0C0-416C-BB42-EFBCE50B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FB0C-7EEC-49F2-AEF5-5A980F1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7B57-B886-4D1A-A767-DC7E17BC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39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A0BC0-6D4F-4C3A-BB01-5275C3B7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ADB8F-753C-4536-9886-9D4F5E524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F53E0-C97C-404B-B776-59DC92511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7903D-C35F-4C6F-9D10-9327A7EBCC3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16999-AC1E-4451-882D-609801059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FC320-A743-4229-9606-410B709FE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AAD6D-D9F0-4C59-A664-898D4C508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0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3.xml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C124E6CA-4A5E-47C5-9F63-87D498FB5A04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Antibiotic Man</a:t>
            </a:r>
          </a:p>
        </p:txBody>
      </p:sp>
      <p:sp>
        <p:nvSpPr>
          <p:cNvPr id="7" name="cancer screening text">
            <a:hlinkClick r:id="rId2" action="ppaction://hlinksldjump"/>
            <a:extLst>
              <a:ext uri="{FF2B5EF4-FFF2-40B4-BE49-F238E27FC236}">
                <a16:creationId xmlns:a16="http://schemas.microsoft.com/office/drawing/2014/main" id="{4385FC7D-4F92-4A84-B503-13E1595D7716}"/>
              </a:ext>
            </a:extLst>
          </p:cNvPr>
          <p:cNvSpPr txBox="1"/>
          <p:nvPr/>
        </p:nvSpPr>
        <p:spPr>
          <a:xfrm>
            <a:off x="251420" y="794742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FE6B659F-D366-46B3-936A-0ED6F780F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1072801"/>
            <a:ext cx="301752" cy="301752"/>
          </a:xfrm>
          <a:prstGeom prst="rect">
            <a:avLst/>
          </a:prstGeom>
        </p:spPr>
      </p:pic>
      <p:sp>
        <p:nvSpPr>
          <p:cNvPr id="9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DE29CA3A-BCB8-45DF-9822-D895C0F02E25}"/>
              </a:ext>
            </a:extLst>
          </p:cNvPr>
          <p:cNvSpPr txBox="1"/>
          <p:nvPr/>
        </p:nvSpPr>
        <p:spPr>
          <a:xfrm>
            <a:off x="251420" y="1399380"/>
            <a:ext cx="1715032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4A7338BE-54A5-4950-B9D8-799450DC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sp>
        <p:nvSpPr>
          <p:cNvPr id="11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B6839F23-1906-4876-BF97-0EA417ED8053}"/>
              </a:ext>
            </a:extLst>
          </p:cNvPr>
          <p:cNvSpPr txBox="1"/>
          <p:nvPr/>
        </p:nvSpPr>
        <p:spPr>
          <a:xfrm>
            <a:off x="259915" y="2004018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78F423DA-AD0D-4279-B314-2B50EDB7E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sp>
        <p:nvSpPr>
          <p:cNvPr id="13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3E4FEDD2-3816-48B0-BCC0-42582A925E53}"/>
              </a:ext>
            </a:extLst>
          </p:cNvPr>
          <p:cNvSpPr txBox="1"/>
          <p:nvPr/>
        </p:nvSpPr>
        <p:spPr>
          <a:xfrm>
            <a:off x="259915" y="260865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0DFA556D-9C97-4AF3-92BE-D2018D2BD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2867369"/>
            <a:ext cx="301752" cy="301752"/>
          </a:xfrm>
          <a:prstGeom prst="rect">
            <a:avLst/>
          </a:prstGeom>
        </p:spPr>
      </p:pic>
      <p:sp>
        <p:nvSpPr>
          <p:cNvPr id="15" name="Freeform: Shape 14">
            <a:hlinkClick r:id="rId7" action="ppaction://hlinksldjump"/>
            <a:extLst>
              <a:ext uri="{FF2B5EF4-FFF2-40B4-BE49-F238E27FC236}">
                <a16:creationId xmlns:a16="http://schemas.microsoft.com/office/drawing/2014/main" id="{977DC683-9463-422B-B02D-89F9EFD53CC2}"/>
              </a:ext>
            </a:extLst>
          </p:cNvPr>
          <p:cNvSpPr/>
          <p:nvPr/>
        </p:nvSpPr>
        <p:spPr>
          <a:xfrm>
            <a:off x="3754513" y="3712395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rgbClr val="FFCC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hlinkClick r:id="rId2" action="ppaction://hlinksldjump"/>
            <a:extLst>
              <a:ext uri="{FF2B5EF4-FFF2-40B4-BE49-F238E27FC236}">
                <a16:creationId xmlns:a16="http://schemas.microsoft.com/office/drawing/2014/main" id="{593A5E6A-69D8-4701-BB08-46C2305E8224}"/>
              </a:ext>
            </a:extLst>
          </p:cNvPr>
          <p:cNvSpPr/>
          <p:nvPr/>
        </p:nvSpPr>
        <p:spPr>
          <a:xfrm>
            <a:off x="3754512" y="2479400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hlinkClick r:id="rId2" action="ppaction://hlinksldjump"/>
            <a:extLst>
              <a:ext uri="{FF2B5EF4-FFF2-40B4-BE49-F238E27FC236}">
                <a16:creationId xmlns:a16="http://schemas.microsoft.com/office/drawing/2014/main" id="{66DD405C-8AFE-4F0B-8102-F64F855A772E}"/>
              </a:ext>
            </a:extLst>
          </p:cNvPr>
          <p:cNvSpPr/>
          <p:nvPr/>
        </p:nvSpPr>
        <p:spPr>
          <a:xfrm flipH="1">
            <a:off x="4562911" y="2464683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FD4DC-6DDF-46FB-A901-D8D2369AE2F6}"/>
              </a:ext>
            </a:extLst>
          </p:cNvPr>
          <p:cNvGrpSpPr/>
          <p:nvPr/>
        </p:nvGrpSpPr>
        <p:grpSpPr>
          <a:xfrm>
            <a:off x="4224447" y="3727112"/>
            <a:ext cx="1183772" cy="1820338"/>
            <a:chOff x="4948037" y="2700862"/>
            <a:chExt cx="1186329" cy="134281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DDB40D-98B2-4B80-9E99-891112CADA96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hlinkClick r:id="rId5" action="ppaction://hlinksldjump"/>
              <a:extLst>
                <a:ext uri="{FF2B5EF4-FFF2-40B4-BE49-F238E27FC236}">
                  <a16:creationId xmlns:a16="http://schemas.microsoft.com/office/drawing/2014/main" id="{3029AB63-D221-4D85-B618-AFA490C867ED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hlinkClick r:id="rId5" action="ppaction://hlinksldjump"/>
              <a:extLst>
                <a:ext uri="{FF2B5EF4-FFF2-40B4-BE49-F238E27FC236}">
                  <a16:creationId xmlns:a16="http://schemas.microsoft.com/office/drawing/2014/main" id="{DE573F61-D0FC-4A29-AF2B-1E2CC32199E1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Freeform: Shape 22">
            <a:hlinkClick r:id="rId7" action="ppaction://hlinksldjump"/>
            <a:extLst>
              <a:ext uri="{FF2B5EF4-FFF2-40B4-BE49-F238E27FC236}">
                <a16:creationId xmlns:a16="http://schemas.microsoft.com/office/drawing/2014/main" id="{EBEAFCAA-AB40-4789-A89D-8A80EF0A0DA5}"/>
              </a:ext>
            </a:extLst>
          </p:cNvPr>
          <p:cNvSpPr/>
          <p:nvPr/>
        </p:nvSpPr>
        <p:spPr>
          <a:xfrm>
            <a:off x="3746875" y="3647146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hlinkClick r:id="rId7" action="ppaction://hlinksldjump"/>
            <a:extLst>
              <a:ext uri="{FF2B5EF4-FFF2-40B4-BE49-F238E27FC236}">
                <a16:creationId xmlns:a16="http://schemas.microsoft.com/office/drawing/2014/main" id="{DB5365C5-DADF-4971-BC62-88632783744F}"/>
              </a:ext>
            </a:extLst>
          </p:cNvPr>
          <p:cNvSpPr/>
          <p:nvPr/>
        </p:nvSpPr>
        <p:spPr>
          <a:xfrm>
            <a:off x="3885204" y="3906487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hlinkClick r:id="rId7" action="ppaction://hlinksldjump"/>
            <a:extLst>
              <a:ext uri="{FF2B5EF4-FFF2-40B4-BE49-F238E27FC236}">
                <a16:creationId xmlns:a16="http://schemas.microsoft.com/office/drawing/2014/main" id="{2393C04C-A3ED-4EF6-97A3-178C14B33E08}"/>
              </a:ext>
            </a:extLst>
          </p:cNvPr>
          <p:cNvSpPr/>
          <p:nvPr/>
        </p:nvSpPr>
        <p:spPr>
          <a:xfrm>
            <a:off x="2306459" y="2492528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4">
            <a:extLst>
              <a:ext uri="{FF2B5EF4-FFF2-40B4-BE49-F238E27FC236}">
                <a16:creationId xmlns:a16="http://schemas.microsoft.com/office/drawing/2014/main" id="{416F1A5A-FE4F-4FC4-BDFB-EA27025660B6}"/>
              </a:ext>
            </a:extLst>
          </p:cNvPr>
          <p:cNvSpPr/>
          <p:nvPr/>
        </p:nvSpPr>
        <p:spPr>
          <a:xfrm>
            <a:off x="4145862" y="1207442"/>
            <a:ext cx="684798" cy="902869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  <a:gd name="connsiteX0" fmla="*/ 282883 w 540188"/>
              <a:gd name="connsiteY0" fmla="*/ 777489 h 777508"/>
              <a:gd name="connsiteX1" fmla="*/ 28623 w 540188"/>
              <a:gd name="connsiteY1" fmla="*/ 335106 h 777508"/>
              <a:gd name="connsiteX2" fmla="*/ 301903 w 540188"/>
              <a:gd name="connsiteY2" fmla="*/ 43 h 777508"/>
              <a:gd name="connsiteX3" fmla="*/ 509367 w 540188"/>
              <a:gd name="connsiteY3" fmla="*/ 320288 h 777508"/>
              <a:gd name="connsiteX4" fmla="*/ 282883 w 540188"/>
              <a:gd name="connsiteY4" fmla="*/ 777489 h 777508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01903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63950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804011 h 804030"/>
              <a:gd name="connsiteX1" fmla="*/ 28623 w 540188"/>
              <a:gd name="connsiteY1" fmla="*/ 361628 h 804030"/>
              <a:gd name="connsiteX2" fmla="*/ 263123 w 540188"/>
              <a:gd name="connsiteY2" fmla="*/ 221 h 804030"/>
              <a:gd name="connsiteX3" fmla="*/ 509367 w 540188"/>
              <a:gd name="connsiteY3" fmla="*/ 346810 h 804030"/>
              <a:gd name="connsiteX4" fmla="*/ 282883 w 540188"/>
              <a:gd name="connsiteY4" fmla="*/ 804011 h 804030"/>
              <a:gd name="connsiteX0" fmla="*/ 282883 w 540188"/>
              <a:gd name="connsiteY0" fmla="*/ 804434 h 804453"/>
              <a:gd name="connsiteX1" fmla="*/ 28623 w 540188"/>
              <a:gd name="connsiteY1" fmla="*/ 362051 h 804453"/>
              <a:gd name="connsiteX2" fmla="*/ 263123 w 540188"/>
              <a:gd name="connsiteY2" fmla="*/ 644 h 804453"/>
              <a:gd name="connsiteX3" fmla="*/ 509367 w 540188"/>
              <a:gd name="connsiteY3" fmla="*/ 347233 h 804453"/>
              <a:gd name="connsiteX4" fmla="*/ 282883 w 540188"/>
              <a:gd name="connsiteY4" fmla="*/ 804434 h 804453"/>
              <a:gd name="connsiteX0" fmla="*/ 282883 w 540188"/>
              <a:gd name="connsiteY0" fmla="*/ 806332 h 806351"/>
              <a:gd name="connsiteX1" fmla="*/ 28623 w 540188"/>
              <a:gd name="connsiteY1" fmla="*/ 363949 h 806351"/>
              <a:gd name="connsiteX2" fmla="*/ 263123 w 540188"/>
              <a:gd name="connsiteY2" fmla="*/ 2542 h 806351"/>
              <a:gd name="connsiteX3" fmla="*/ 509367 w 540188"/>
              <a:gd name="connsiteY3" fmla="*/ 349131 h 806351"/>
              <a:gd name="connsiteX4" fmla="*/ 282883 w 540188"/>
              <a:gd name="connsiteY4" fmla="*/ 806332 h 80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806351">
                <a:moveTo>
                  <a:pt x="282883" y="806332"/>
                </a:moveTo>
                <a:cubicBezTo>
                  <a:pt x="202759" y="808802"/>
                  <a:pt x="-92027" y="577380"/>
                  <a:pt x="28623" y="363949"/>
                </a:cubicBezTo>
                <a:cubicBezTo>
                  <a:pt x="-68744" y="124765"/>
                  <a:pt x="105440" y="-21331"/>
                  <a:pt x="263123" y="2542"/>
                </a:cubicBezTo>
                <a:cubicBezTo>
                  <a:pt x="459586" y="-8709"/>
                  <a:pt x="594034" y="128128"/>
                  <a:pt x="509367" y="349131"/>
                </a:cubicBezTo>
                <a:cubicBezTo>
                  <a:pt x="630017" y="595534"/>
                  <a:pt x="363007" y="803862"/>
                  <a:pt x="282883" y="8063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5D57E-6BEA-4A73-8E46-45DAB81415E0}"/>
              </a:ext>
            </a:extLst>
          </p:cNvPr>
          <p:cNvSpPr txBox="1"/>
          <p:nvPr/>
        </p:nvSpPr>
        <p:spPr>
          <a:xfrm>
            <a:off x="5510577" y="1967495"/>
            <a:ext cx="61156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Antibiotics - Part 2: Sites of Infection</a:t>
            </a:r>
          </a:p>
        </p:txBody>
      </p:sp>
      <p:sp>
        <p:nvSpPr>
          <p:cNvPr id="26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2ECFA229-088A-42D1-86FB-B77729D3AFD4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7" name="Graphic 26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1BF97EB4-8AB7-4CE2-9F20-6F5714884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348539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3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77DC683-9463-422B-B02D-89F9EFD53CC2}"/>
              </a:ext>
            </a:extLst>
          </p:cNvPr>
          <p:cNvSpPr/>
          <p:nvPr/>
        </p:nvSpPr>
        <p:spPr>
          <a:xfrm>
            <a:off x="3754982" y="3700781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4">
            <a:extLst>
              <a:ext uri="{FF2B5EF4-FFF2-40B4-BE49-F238E27FC236}">
                <a16:creationId xmlns:a16="http://schemas.microsoft.com/office/drawing/2014/main" id="{E2D929C6-A0DF-45C3-A040-C772283E6831}"/>
              </a:ext>
            </a:extLst>
          </p:cNvPr>
          <p:cNvSpPr/>
          <p:nvPr/>
        </p:nvSpPr>
        <p:spPr>
          <a:xfrm>
            <a:off x="4146331" y="1195828"/>
            <a:ext cx="684798" cy="902869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  <a:gd name="connsiteX0" fmla="*/ 282883 w 540188"/>
              <a:gd name="connsiteY0" fmla="*/ 777489 h 777508"/>
              <a:gd name="connsiteX1" fmla="*/ 28623 w 540188"/>
              <a:gd name="connsiteY1" fmla="*/ 335106 h 777508"/>
              <a:gd name="connsiteX2" fmla="*/ 301903 w 540188"/>
              <a:gd name="connsiteY2" fmla="*/ 43 h 777508"/>
              <a:gd name="connsiteX3" fmla="*/ 509367 w 540188"/>
              <a:gd name="connsiteY3" fmla="*/ 320288 h 777508"/>
              <a:gd name="connsiteX4" fmla="*/ 282883 w 540188"/>
              <a:gd name="connsiteY4" fmla="*/ 777489 h 777508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01903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63950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804011 h 804030"/>
              <a:gd name="connsiteX1" fmla="*/ 28623 w 540188"/>
              <a:gd name="connsiteY1" fmla="*/ 361628 h 804030"/>
              <a:gd name="connsiteX2" fmla="*/ 263123 w 540188"/>
              <a:gd name="connsiteY2" fmla="*/ 221 h 804030"/>
              <a:gd name="connsiteX3" fmla="*/ 509367 w 540188"/>
              <a:gd name="connsiteY3" fmla="*/ 346810 h 804030"/>
              <a:gd name="connsiteX4" fmla="*/ 282883 w 540188"/>
              <a:gd name="connsiteY4" fmla="*/ 804011 h 804030"/>
              <a:gd name="connsiteX0" fmla="*/ 282883 w 540188"/>
              <a:gd name="connsiteY0" fmla="*/ 804434 h 804453"/>
              <a:gd name="connsiteX1" fmla="*/ 28623 w 540188"/>
              <a:gd name="connsiteY1" fmla="*/ 362051 h 804453"/>
              <a:gd name="connsiteX2" fmla="*/ 263123 w 540188"/>
              <a:gd name="connsiteY2" fmla="*/ 644 h 804453"/>
              <a:gd name="connsiteX3" fmla="*/ 509367 w 540188"/>
              <a:gd name="connsiteY3" fmla="*/ 347233 h 804453"/>
              <a:gd name="connsiteX4" fmla="*/ 282883 w 540188"/>
              <a:gd name="connsiteY4" fmla="*/ 804434 h 804453"/>
              <a:gd name="connsiteX0" fmla="*/ 282883 w 540188"/>
              <a:gd name="connsiteY0" fmla="*/ 806332 h 806351"/>
              <a:gd name="connsiteX1" fmla="*/ 28623 w 540188"/>
              <a:gd name="connsiteY1" fmla="*/ 363949 h 806351"/>
              <a:gd name="connsiteX2" fmla="*/ 263123 w 540188"/>
              <a:gd name="connsiteY2" fmla="*/ 2542 h 806351"/>
              <a:gd name="connsiteX3" fmla="*/ 509367 w 540188"/>
              <a:gd name="connsiteY3" fmla="*/ 349131 h 806351"/>
              <a:gd name="connsiteX4" fmla="*/ 282883 w 540188"/>
              <a:gd name="connsiteY4" fmla="*/ 806332 h 80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806351">
                <a:moveTo>
                  <a:pt x="282883" y="806332"/>
                </a:moveTo>
                <a:cubicBezTo>
                  <a:pt x="202759" y="808802"/>
                  <a:pt x="-92027" y="577380"/>
                  <a:pt x="28623" y="363949"/>
                </a:cubicBezTo>
                <a:cubicBezTo>
                  <a:pt x="-68744" y="124765"/>
                  <a:pt x="105440" y="-21331"/>
                  <a:pt x="263123" y="2542"/>
                </a:cubicBezTo>
                <a:cubicBezTo>
                  <a:pt x="459586" y="-8709"/>
                  <a:pt x="594034" y="128128"/>
                  <a:pt x="509367" y="349131"/>
                </a:cubicBezTo>
                <a:cubicBezTo>
                  <a:pt x="630017" y="595534"/>
                  <a:pt x="363007" y="803862"/>
                  <a:pt x="282883" y="806332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3A5E6A-69D8-4701-BB08-46C2305E8224}"/>
              </a:ext>
            </a:extLst>
          </p:cNvPr>
          <p:cNvSpPr/>
          <p:nvPr/>
        </p:nvSpPr>
        <p:spPr>
          <a:xfrm>
            <a:off x="3754981" y="2467786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DD405C-8AFE-4F0B-8102-F64F855A772E}"/>
              </a:ext>
            </a:extLst>
          </p:cNvPr>
          <p:cNvSpPr/>
          <p:nvPr/>
        </p:nvSpPr>
        <p:spPr>
          <a:xfrm flipH="1">
            <a:off x="4563380" y="2453069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FD4DC-6DDF-46FB-A901-D8D2369AE2F6}"/>
              </a:ext>
            </a:extLst>
          </p:cNvPr>
          <p:cNvGrpSpPr/>
          <p:nvPr/>
        </p:nvGrpSpPr>
        <p:grpSpPr>
          <a:xfrm>
            <a:off x="4224916" y="3715498"/>
            <a:ext cx="1183772" cy="1820338"/>
            <a:chOff x="4948037" y="2700862"/>
            <a:chExt cx="1186329" cy="1342815"/>
          </a:xfrm>
          <a:solidFill>
            <a:schemeClr val="bg2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DDB40D-98B2-4B80-9E99-891112CADA96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29AB63-D221-4D85-B618-AFA490C867ED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573F61-D0FC-4A29-AF2B-1E2CC32199E1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BEAFCAA-AB40-4789-A89D-8A80EF0A0DA5}"/>
              </a:ext>
            </a:extLst>
          </p:cNvPr>
          <p:cNvSpPr/>
          <p:nvPr/>
        </p:nvSpPr>
        <p:spPr>
          <a:xfrm>
            <a:off x="3747344" y="3635532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B5365C5-DADF-4971-BC62-88632783744F}"/>
              </a:ext>
            </a:extLst>
          </p:cNvPr>
          <p:cNvSpPr/>
          <p:nvPr/>
        </p:nvSpPr>
        <p:spPr>
          <a:xfrm>
            <a:off x="3885673" y="3894873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393C04C-A3ED-4EF6-97A3-178C14B33E08}"/>
              </a:ext>
            </a:extLst>
          </p:cNvPr>
          <p:cNvSpPr/>
          <p:nvPr/>
        </p:nvSpPr>
        <p:spPr>
          <a:xfrm>
            <a:off x="2306928" y="2480914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F89D5A-3866-4C8A-918B-F399277D8DC8}"/>
              </a:ext>
            </a:extLst>
          </p:cNvPr>
          <p:cNvSpPr txBox="1"/>
          <p:nvPr/>
        </p:nvSpPr>
        <p:spPr>
          <a:xfrm>
            <a:off x="4934740" y="118826"/>
            <a:ext cx="232252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PNEUMONIA</a:t>
            </a:r>
          </a:p>
        </p:txBody>
      </p:sp>
      <p:sp>
        <p:nvSpPr>
          <p:cNvPr id="2" name="CAP Bugs">
            <a:extLst>
              <a:ext uri="{FF2B5EF4-FFF2-40B4-BE49-F238E27FC236}">
                <a16:creationId xmlns:a16="http://schemas.microsoft.com/office/drawing/2014/main" id="{6ED0FA85-2D00-4001-AF0C-E3ADEF144F90}"/>
              </a:ext>
            </a:extLst>
          </p:cNvPr>
          <p:cNvSpPr/>
          <p:nvPr/>
        </p:nvSpPr>
        <p:spPr>
          <a:xfrm>
            <a:off x="6848777" y="1263926"/>
            <a:ext cx="2286000" cy="80745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 Bugs</a:t>
            </a:r>
          </a:p>
        </p:txBody>
      </p:sp>
      <p:sp>
        <p:nvSpPr>
          <p:cNvPr id="27" name="CAP Drugs">
            <a:extLst>
              <a:ext uri="{FF2B5EF4-FFF2-40B4-BE49-F238E27FC236}">
                <a16:creationId xmlns:a16="http://schemas.microsoft.com/office/drawing/2014/main" id="{15EFA02C-B4D6-4676-B9DD-9E60D59A54BD}"/>
              </a:ext>
            </a:extLst>
          </p:cNvPr>
          <p:cNvSpPr/>
          <p:nvPr/>
        </p:nvSpPr>
        <p:spPr>
          <a:xfrm>
            <a:off x="9440902" y="1263926"/>
            <a:ext cx="2103120" cy="8251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 Drugs</a:t>
            </a:r>
          </a:p>
        </p:txBody>
      </p:sp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A6782F9D-33EF-4315-B5AC-FF62EAE46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2003" y="1925451"/>
            <a:ext cx="301752" cy="30175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DD3E12E3-EA15-4454-BE72-BB5F7526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859" y="1925451"/>
            <a:ext cx="301752" cy="3017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79B342C-9E65-4B6B-88AA-554DF29D3A5A}"/>
              </a:ext>
            </a:extLst>
          </p:cNvPr>
          <p:cNvSpPr txBox="1"/>
          <p:nvPr/>
        </p:nvSpPr>
        <p:spPr>
          <a:xfrm>
            <a:off x="5425135" y="2621970"/>
            <a:ext cx="115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HAP/ VAP</a:t>
            </a:r>
          </a:p>
          <a:p>
            <a:pPr algn="ctr"/>
            <a:r>
              <a:rPr lang="en-US" dirty="0"/>
              <a:t>(&gt;48h)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768B6C-11F7-4725-9C89-AD281F9A7947}"/>
              </a:ext>
            </a:extLst>
          </p:cNvPr>
          <p:cNvSpPr txBox="1"/>
          <p:nvPr/>
        </p:nvSpPr>
        <p:spPr>
          <a:xfrm>
            <a:off x="5469177" y="3894873"/>
            <a:ext cx="115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Aspiration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05E625-5E27-44D9-A558-34C10BC94E27}"/>
              </a:ext>
            </a:extLst>
          </p:cNvPr>
          <p:cNvGrpSpPr/>
          <p:nvPr/>
        </p:nvGrpSpPr>
        <p:grpSpPr>
          <a:xfrm>
            <a:off x="5262983" y="670176"/>
            <a:ext cx="6475130" cy="3954537"/>
            <a:chOff x="6548877" y="585439"/>
            <a:chExt cx="5417864" cy="345928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922F3EA-A4A4-4D81-A662-1356612723B2}"/>
                </a:ext>
              </a:extLst>
            </p:cNvPr>
            <p:cNvSpPr txBox="1"/>
            <p:nvPr/>
          </p:nvSpPr>
          <p:spPr>
            <a:xfrm>
              <a:off x="10409948" y="609049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Drugs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FC73D82-3D29-4957-AE7E-2101AAFFED0E}"/>
                </a:ext>
              </a:extLst>
            </p:cNvPr>
            <p:cNvCxnSpPr>
              <a:cxnSpLocks/>
            </p:cNvCxnSpPr>
            <p:nvPr/>
          </p:nvCxnSpPr>
          <p:spPr>
            <a:xfrm>
              <a:off x="7761981" y="696634"/>
              <a:ext cx="0" cy="334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844E8A7-B91D-40B5-87A1-2ECD54B6B97F}"/>
                </a:ext>
              </a:extLst>
            </p:cNvPr>
            <p:cNvCxnSpPr>
              <a:cxnSpLocks/>
            </p:cNvCxnSpPr>
            <p:nvPr/>
          </p:nvCxnSpPr>
          <p:spPr>
            <a:xfrm>
              <a:off x="9913030" y="656756"/>
              <a:ext cx="0" cy="334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408659A-9775-4278-B35F-DFF165002B0A}"/>
                </a:ext>
              </a:extLst>
            </p:cNvPr>
            <p:cNvCxnSpPr/>
            <p:nvPr/>
          </p:nvCxnSpPr>
          <p:spPr>
            <a:xfrm>
              <a:off x="6548877" y="968059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144FFD1-A6BB-4A61-83DB-50B34590D112}"/>
                </a:ext>
              </a:extLst>
            </p:cNvPr>
            <p:cNvCxnSpPr/>
            <p:nvPr/>
          </p:nvCxnSpPr>
          <p:spPr>
            <a:xfrm>
              <a:off x="6583190" y="1952499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B16705B-10EF-44B0-98AC-E40FABB001CC}"/>
                </a:ext>
              </a:extLst>
            </p:cNvPr>
            <p:cNvCxnSpPr/>
            <p:nvPr/>
          </p:nvCxnSpPr>
          <p:spPr>
            <a:xfrm>
              <a:off x="6656788" y="3063727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544E302-1906-4E91-BAC0-2E653A12ECD9}"/>
                </a:ext>
              </a:extLst>
            </p:cNvPr>
            <p:cNvSpPr txBox="1"/>
            <p:nvPr/>
          </p:nvSpPr>
          <p:spPr>
            <a:xfrm>
              <a:off x="8332590" y="585439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Bugs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92415EE-AB4D-4214-8507-CCFA0F23558B}"/>
              </a:ext>
            </a:extLst>
          </p:cNvPr>
          <p:cNvSpPr txBox="1"/>
          <p:nvPr/>
        </p:nvSpPr>
        <p:spPr>
          <a:xfrm>
            <a:off x="5517295" y="1491768"/>
            <a:ext cx="100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CAP</a:t>
            </a:r>
          </a:p>
        </p:txBody>
      </p:sp>
      <p:sp>
        <p:nvSpPr>
          <p:cNvPr id="54" name="HAP Bugs">
            <a:extLst>
              <a:ext uri="{FF2B5EF4-FFF2-40B4-BE49-F238E27FC236}">
                <a16:creationId xmlns:a16="http://schemas.microsoft.com/office/drawing/2014/main" id="{91F53364-84FD-47B3-B479-1B5A5D588FFB}"/>
              </a:ext>
            </a:extLst>
          </p:cNvPr>
          <p:cNvSpPr/>
          <p:nvPr/>
        </p:nvSpPr>
        <p:spPr>
          <a:xfrm>
            <a:off x="6848777" y="2375380"/>
            <a:ext cx="2286000" cy="98295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HAP/VAP Bugs</a:t>
            </a:r>
          </a:p>
        </p:txBody>
      </p:sp>
      <p:sp>
        <p:nvSpPr>
          <p:cNvPr id="55" name="HAP Drugs">
            <a:extLst>
              <a:ext uri="{FF2B5EF4-FFF2-40B4-BE49-F238E27FC236}">
                <a16:creationId xmlns:a16="http://schemas.microsoft.com/office/drawing/2014/main" id="{004EC7AF-2973-40CE-80CC-6E167F9DAD6F}"/>
              </a:ext>
            </a:extLst>
          </p:cNvPr>
          <p:cNvSpPr/>
          <p:nvPr/>
        </p:nvSpPr>
        <p:spPr>
          <a:xfrm>
            <a:off x="9440902" y="2379380"/>
            <a:ext cx="2103120" cy="95905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HAP/VAP Drugs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8248AF49-3330-4406-8039-FF33EB6D9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2003" y="3171267"/>
            <a:ext cx="301752" cy="301752"/>
          </a:xfrm>
          <a:prstGeom prst="rect">
            <a:avLst/>
          </a:prstGeom>
        </p:spPr>
      </p:pic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B1C81C9E-4A33-4E92-93F6-05BA1AF05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859" y="3171267"/>
            <a:ext cx="301752" cy="301752"/>
          </a:xfrm>
          <a:prstGeom prst="rect">
            <a:avLst/>
          </a:prstGeom>
        </p:spPr>
      </p:pic>
      <p:sp>
        <p:nvSpPr>
          <p:cNvPr id="58" name="Aspiration Bugs">
            <a:extLst>
              <a:ext uri="{FF2B5EF4-FFF2-40B4-BE49-F238E27FC236}">
                <a16:creationId xmlns:a16="http://schemas.microsoft.com/office/drawing/2014/main" id="{900AEC2E-48F5-4E1A-9331-F98E25AED3E9}"/>
              </a:ext>
            </a:extLst>
          </p:cNvPr>
          <p:cNvSpPr/>
          <p:nvPr/>
        </p:nvSpPr>
        <p:spPr>
          <a:xfrm>
            <a:off x="6848777" y="3668115"/>
            <a:ext cx="2286000" cy="9070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Aspiration Bugs</a:t>
            </a:r>
          </a:p>
        </p:txBody>
      </p:sp>
      <p:sp>
        <p:nvSpPr>
          <p:cNvPr id="59" name="Aspiration Drugs">
            <a:extLst>
              <a:ext uri="{FF2B5EF4-FFF2-40B4-BE49-F238E27FC236}">
                <a16:creationId xmlns:a16="http://schemas.microsoft.com/office/drawing/2014/main" id="{0F339151-71FA-4665-AB2E-2392CD313163}"/>
              </a:ext>
            </a:extLst>
          </p:cNvPr>
          <p:cNvSpPr/>
          <p:nvPr/>
        </p:nvSpPr>
        <p:spPr>
          <a:xfrm>
            <a:off x="9440902" y="3672052"/>
            <a:ext cx="2103120" cy="9070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Aspiration Drugs</a:t>
            </a: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7B98A44F-DCD9-46F2-A788-89A34FF69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2003" y="4424300"/>
            <a:ext cx="301752" cy="301752"/>
          </a:xfrm>
          <a:prstGeom prst="rect">
            <a:avLst/>
          </a:prstGeom>
        </p:spPr>
      </p:pic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B14B8F3A-8DCF-47F1-A5DF-6FA704E17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859" y="4424300"/>
            <a:ext cx="301752" cy="301752"/>
          </a:xfrm>
          <a:prstGeom prst="rect">
            <a:avLst/>
          </a:prstGeom>
        </p:spPr>
      </p:pic>
      <p:sp>
        <p:nvSpPr>
          <p:cNvPr id="66" name="CAP bugs info">
            <a:extLst>
              <a:ext uri="{FF2B5EF4-FFF2-40B4-BE49-F238E27FC236}">
                <a16:creationId xmlns:a16="http://schemas.microsoft.com/office/drawing/2014/main" id="{AE2F137F-C349-446D-BB8F-BC6BA351859E}"/>
              </a:ext>
            </a:extLst>
          </p:cNvPr>
          <p:cNvSpPr txBox="1"/>
          <p:nvPr/>
        </p:nvSpPr>
        <p:spPr>
          <a:xfrm>
            <a:off x="6848778" y="1263281"/>
            <a:ext cx="2217180" cy="30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S. pneumoniae</a:t>
            </a:r>
          </a:p>
          <a:p>
            <a:pPr algn="ctr"/>
            <a:r>
              <a:rPr lang="en-US" sz="1600" dirty="0"/>
              <a:t>GNRs (</a:t>
            </a:r>
            <a:r>
              <a:rPr lang="en-US" sz="1600" i="1" dirty="0"/>
              <a:t>H. flu</a:t>
            </a:r>
            <a:r>
              <a:rPr lang="en-US" sz="1600" dirty="0"/>
              <a:t>, </a:t>
            </a:r>
            <a:r>
              <a:rPr lang="en-US" sz="1600" i="1" dirty="0"/>
              <a:t>Moraxella</a:t>
            </a:r>
            <a:r>
              <a:rPr lang="en-US" sz="1600" dirty="0"/>
              <a:t>)</a:t>
            </a:r>
          </a:p>
          <a:p>
            <a:pPr algn="ctr"/>
            <a:r>
              <a:rPr lang="en-US" sz="1600" dirty="0" err="1"/>
              <a:t>Atypicals</a:t>
            </a:r>
            <a:endParaRPr lang="en-US" sz="1600" dirty="0"/>
          </a:p>
        </p:txBody>
      </p:sp>
      <p:sp>
        <p:nvSpPr>
          <p:cNvPr id="68" name="CAP drugs info">
            <a:extLst>
              <a:ext uri="{FF2B5EF4-FFF2-40B4-BE49-F238E27FC236}">
                <a16:creationId xmlns:a16="http://schemas.microsoft.com/office/drawing/2014/main" id="{FC2979CA-158E-4139-8FD1-8F5CCFB77214}"/>
              </a:ext>
            </a:extLst>
          </p:cNvPr>
          <p:cNvSpPr txBox="1"/>
          <p:nvPr/>
        </p:nvSpPr>
        <p:spPr>
          <a:xfrm>
            <a:off x="9410054" y="1198345"/>
            <a:ext cx="239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sz="1600" dirty="0"/>
              <a:t>Ceftriaxone + azithromycin/</a:t>
            </a:r>
            <a:r>
              <a:rPr lang="en-US" sz="1600" dirty="0" err="1"/>
              <a:t>doxycycline</a:t>
            </a:r>
            <a:endParaRPr lang="en-US" sz="1600" dirty="0"/>
          </a:p>
          <a:p>
            <a:pPr marL="120650" indent="-120650"/>
            <a:r>
              <a:rPr lang="en-US" sz="1600" dirty="0"/>
              <a:t>Respiratory FQ</a:t>
            </a:r>
          </a:p>
        </p:txBody>
      </p:sp>
      <p:sp>
        <p:nvSpPr>
          <p:cNvPr id="70" name="HAP bugs info">
            <a:extLst>
              <a:ext uri="{FF2B5EF4-FFF2-40B4-BE49-F238E27FC236}">
                <a16:creationId xmlns:a16="http://schemas.microsoft.com/office/drawing/2014/main" id="{0AFF747A-3A94-4EF6-95C1-691C0981B8A0}"/>
              </a:ext>
            </a:extLst>
          </p:cNvPr>
          <p:cNvSpPr txBox="1"/>
          <p:nvPr/>
        </p:nvSpPr>
        <p:spPr>
          <a:xfrm>
            <a:off x="6802318" y="2429779"/>
            <a:ext cx="2256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/>
              <a:t>+</a:t>
            </a:r>
            <a:r>
              <a:rPr lang="en-US" sz="1600" i="1" dirty="0"/>
              <a:t> P. aeruginosa</a:t>
            </a:r>
          </a:p>
          <a:p>
            <a:pPr algn="ctr"/>
            <a:r>
              <a:rPr lang="en-US" sz="1600" i="0" dirty="0"/>
              <a:t>+ MDR GNRs</a:t>
            </a:r>
          </a:p>
          <a:p>
            <a:pPr algn="ctr"/>
            <a:r>
              <a:rPr lang="en-US" sz="1600" dirty="0"/>
              <a:t>± MRSA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9A7AB72-51BB-4A8D-9EFE-F0F43D8A8E14}"/>
              </a:ext>
            </a:extLst>
          </p:cNvPr>
          <p:cNvSpPr/>
          <p:nvPr/>
        </p:nvSpPr>
        <p:spPr>
          <a:xfrm>
            <a:off x="5352298" y="4871529"/>
            <a:ext cx="6489270" cy="1508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</a:t>
            </a:r>
            <a:r>
              <a:rPr lang="en-US" b="1" dirty="0"/>
              <a:t>2019 IDSA/ATS CAP guidelines </a:t>
            </a:r>
            <a:r>
              <a:rPr lang="en-US" dirty="0"/>
              <a:t>abandoned HCAP as a separate entity. The following patients are at higher risk of colonization with resistant organisms:</a:t>
            </a:r>
          </a:p>
          <a:p>
            <a:pPr marL="461963" indent="-236538">
              <a:buAutoNum type="arabicParenR"/>
            </a:pPr>
            <a:r>
              <a:rPr lang="en-US" dirty="0"/>
              <a:t>Prior colonization with MRSA or P. aeruginosa</a:t>
            </a:r>
          </a:p>
          <a:p>
            <a:pPr marL="461963" indent="-236538">
              <a:buAutoNum type="arabicParenR"/>
            </a:pPr>
            <a:r>
              <a:rPr lang="en-US" dirty="0"/>
              <a:t>Hospitalization with IV </a:t>
            </a:r>
            <a:r>
              <a:rPr lang="en-US" dirty="0" err="1"/>
              <a:t>abx</a:t>
            </a:r>
            <a:r>
              <a:rPr lang="en-US" dirty="0"/>
              <a:t> within 90 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B0CF6F5-B78C-4927-88E9-D5413033C54F}"/>
              </a:ext>
            </a:extLst>
          </p:cNvPr>
          <p:cNvSpPr/>
          <p:nvPr/>
        </p:nvSpPr>
        <p:spPr>
          <a:xfrm>
            <a:off x="5352298" y="5292144"/>
            <a:ext cx="6489270" cy="664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Empirically cover for MRSA and Pseudomonas in patients with CAP + risk factors. See HAP/VAP drugs for empiric therapies.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2423D5-17FA-4E9F-BEA0-0C61C43CCB40}"/>
              </a:ext>
            </a:extLst>
          </p:cNvPr>
          <p:cNvSpPr txBox="1"/>
          <p:nvPr/>
        </p:nvSpPr>
        <p:spPr>
          <a:xfrm>
            <a:off x="9413747" y="2359151"/>
            <a:ext cx="23067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sz="1600" dirty="0"/>
              <a:t>Zosyn/ cefepime/ meropenem/ aztreonam/ levofloxacin</a:t>
            </a:r>
          </a:p>
          <a:p>
            <a:pPr marL="120650" indent="-120650"/>
            <a:r>
              <a:rPr lang="en-US" sz="1600" dirty="0"/>
              <a:t>±Vancomycin/ linezolid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A5E9EF-5AEF-41DE-A429-8C870EF26B3B}"/>
              </a:ext>
            </a:extLst>
          </p:cNvPr>
          <p:cNvSpPr txBox="1"/>
          <p:nvPr/>
        </p:nvSpPr>
        <p:spPr>
          <a:xfrm>
            <a:off x="6712818" y="3700781"/>
            <a:ext cx="24497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S. pneumoniae/ </a:t>
            </a:r>
            <a:r>
              <a:rPr lang="en-US" sz="1600" i="0" dirty="0"/>
              <a:t>GPCs</a:t>
            </a:r>
          </a:p>
          <a:p>
            <a:pPr algn="ctr"/>
            <a:r>
              <a:rPr lang="en-US" sz="1600" i="0" dirty="0"/>
              <a:t>Enteric GNRs</a:t>
            </a:r>
          </a:p>
          <a:p>
            <a:pPr algn="ctr"/>
            <a:r>
              <a:rPr lang="en-US" sz="1600" i="0" dirty="0"/>
              <a:t>Oral anaerobes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F74372-82F7-4310-8042-0419C79D4274}"/>
              </a:ext>
            </a:extLst>
          </p:cNvPr>
          <p:cNvSpPr txBox="1"/>
          <p:nvPr/>
        </p:nvSpPr>
        <p:spPr>
          <a:xfrm>
            <a:off x="9349462" y="3629470"/>
            <a:ext cx="2672078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20650" indent="-120650"/>
            <a:r>
              <a:rPr lang="en-US" sz="1600" dirty="0"/>
              <a:t>CAP ± anaerobic coverage</a:t>
            </a:r>
          </a:p>
          <a:p>
            <a:pPr marL="120650" indent="-120650"/>
            <a:r>
              <a:rPr lang="en-US" sz="1600" i="1" dirty="0"/>
              <a:t>If covering anaerobes</a:t>
            </a:r>
            <a:r>
              <a:rPr lang="en-US" sz="1600" dirty="0"/>
              <a:t>: Unasyn/ clindamycin/ moxifloxacin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1E95EF-93C8-4C8C-BBDD-1AA6404B28E7}"/>
              </a:ext>
            </a:extLst>
          </p:cNvPr>
          <p:cNvSpPr/>
          <p:nvPr/>
        </p:nvSpPr>
        <p:spPr>
          <a:xfrm>
            <a:off x="571964" y="4880287"/>
            <a:ext cx="4683135" cy="1508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</a:t>
            </a:r>
            <a:r>
              <a:rPr lang="en-US" b="1" dirty="0"/>
              <a:t>2019 IDSA/ATS CAP guidelines </a:t>
            </a:r>
            <a:r>
              <a:rPr lang="en-US" dirty="0"/>
              <a:t>do not recommend routinely covering for anaerobes for aspiration pneumonia unless:</a:t>
            </a:r>
          </a:p>
          <a:p>
            <a:pPr marL="342900" indent="-223838">
              <a:buFont typeface="+mj-lt"/>
              <a:buAutoNum type="arabicParenR"/>
            </a:pPr>
            <a:r>
              <a:rPr lang="en-US" dirty="0"/>
              <a:t>Lung abscess</a:t>
            </a:r>
          </a:p>
          <a:p>
            <a:pPr marL="342900" indent="-223838">
              <a:buFont typeface="+mj-lt"/>
              <a:buAutoNum type="arabicParenR"/>
            </a:pPr>
            <a:r>
              <a:rPr lang="en-US" dirty="0"/>
              <a:t>Empyema </a:t>
            </a:r>
          </a:p>
        </p:txBody>
      </p:sp>
      <p:sp>
        <p:nvSpPr>
          <p:cNvPr id="82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9F501CF4-6425-443C-B141-DCDE76146F15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95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2154CC92-C20F-4407-AA20-37BE732408FB}"/>
              </a:ext>
            </a:extLst>
          </p:cNvPr>
          <p:cNvSpPr txBox="1"/>
          <p:nvPr/>
        </p:nvSpPr>
        <p:spPr>
          <a:xfrm>
            <a:off x="251420" y="794742"/>
            <a:ext cx="1715032" cy="408623"/>
          </a:xfrm>
          <a:prstGeom prst="roundRect">
            <a:avLst/>
          </a:prstGeom>
          <a:solidFill>
            <a:srgbClr val="FFB7CF"/>
          </a:solidFill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Pneumonia</a:t>
            </a:r>
          </a:p>
        </p:txBody>
      </p:sp>
      <p:sp>
        <p:nvSpPr>
          <p:cNvPr id="97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5CDD3EE4-E2C2-4BBD-AF95-72FAFF17115E}"/>
              </a:ext>
            </a:extLst>
          </p:cNvPr>
          <p:cNvSpPr txBox="1"/>
          <p:nvPr/>
        </p:nvSpPr>
        <p:spPr>
          <a:xfrm>
            <a:off x="251420" y="1399380"/>
            <a:ext cx="1715032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sp>
        <p:nvSpPr>
          <p:cNvPr id="99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2C3C892F-FACC-46C1-95F7-8962BBA74DE8}"/>
              </a:ext>
            </a:extLst>
          </p:cNvPr>
          <p:cNvSpPr txBox="1"/>
          <p:nvPr/>
        </p:nvSpPr>
        <p:spPr>
          <a:xfrm>
            <a:off x="259915" y="2004018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sp>
        <p:nvSpPr>
          <p:cNvPr id="101" name="cancer screening text">
            <a:hlinkClick r:id="rId8" action="ppaction://hlinksldjump"/>
            <a:extLst>
              <a:ext uri="{FF2B5EF4-FFF2-40B4-BE49-F238E27FC236}">
                <a16:creationId xmlns:a16="http://schemas.microsoft.com/office/drawing/2014/main" id="{4D38BF0D-3D35-4D5C-96D6-1A5FAB7974DA}"/>
              </a:ext>
            </a:extLst>
          </p:cNvPr>
          <p:cNvSpPr txBox="1"/>
          <p:nvPr/>
        </p:nvSpPr>
        <p:spPr>
          <a:xfrm>
            <a:off x="259915" y="260865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D25FE198-2FC1-4A2F-9769-59D416867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4069" y="451992"/>
            <a:ext cx="301752" cy="301752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03D8E7A6-5814-4689-B0C1-C965F3A4E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C5DCCECA-59C1-45D9-9D19-78C207A3A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90798107-BFC5-42D9-A388-A9C9F55DA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867369"/>
            <a:ext cx="301752" cy="301752"/>
          </a:xfrm>
          <a:prstGeom prst="rect">
            <a:avLst/>
          </a:prstGeom>
        </p:spPr>
      </p:pic>
      <p:sp>
        <p:nvSpPr>
          <p:cNvPr id="78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46207396-3AD9-4F45-A3CB-A9BC69102581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80" name="Graphic 79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CD6905BE-0034-4766-A9AD-B0E3B1ECC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348539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4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54" grpId="0" animBg="1"/>
      <p:bldP spid="55" grpId="0" animBg="1"/>
      <p:bldP spid="58" grpId="0" animBg="1"/>
      <p:bldP spid="59" grpId="0" animBg="1"/>
      <p:bldP spid="66" grpId="0"/>
      <p:bldP spid="68" grpId="0"/>
      <p:bldP spid="70" grpId="0"/>
      <p:bldP spid="71" grpId="0" animBg="1"/>
      <p:bldP spid="71" grpId="1" animBg="1"/>
      <p:bldP spid="72" grpId="0" animBg="1"/>
      <p:bldP spid="72" grpId="1" animBg="1"/>
      <p:bldP spid="75" grpId="0"/>
      <p:bldP spid="77" grpId="0"/>
      <p:bldP spid="79" grpId="0"/>
      <p:bldP spid="8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ugs infro">
            <a:extLst>
              <a:ext uri="{FF2B5EF4-FFF2-40B4-BE49-F238E27FC236}">
                <a16:creationId xmlns:a16="http://schemas.microsoft.com/office/drawing/2014/main" id="{31CC3310-84A3-4DE5-93C5-53E9122A43FA}"/>
              </a:ext>
            </a:extLst>
          </p:cNvPr>
          <p:cNvSpPr txBox="1"/>
          <p:nvPr/>
        </p:nvSpPr>
        <p:spPr>
          <a:xfrm>
            <a:off x="6227957" y="2596721"/>
            <a:ext cx="78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</a:t>
            </a:r>
            <a:r>
              <a:rPr lang="en-US" i="1" dirty="0"/>
              <a:t>taph</a:t>
            </a:r>
          </a:p>
        </p:txBody>
      </p:sp>
      <p:sp>
        <p:nvSpPr>
          <p:cNvPr id="23" name="Drugs info">
            <a:extLst>
              <a:ext uri="{FF2B5EF4-FFF2-40B4-BE49-F238E27FC236}">
                <a16:creationId xmlns:a16="http://schemas.microsoft.com/office/drawing/2014/main" id="{06DC0BC4-7794-4FB1-96FA-027268A25DCA}"/>
              </a:ext>
            </a:extLst>
          </p:cNvPr>
          <p:cNvSpPr txBox="1"/>
          <p:nvPr/>
        </p:nvSpPr>
        <p:spPr>
          <a:xfrm>
            <a:off x="8511357" y="2632387"/>
            <a:ext cx="163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Nitrofurantoin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B242394-8282-450B-9ED2-118D79754CF9}"/>
              </a:ext>
            </a:extLst>
          </p:cNvPr>
          <p:cNvSpPr/>
          <p:nvPr/>
        </p:nvSpPr>
        <p:spPr>
          <a:xfrm>
            <a:off x="3754513" y="3712395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14EB405-048B-44C9-BF0E-0B45CB2B8E85}"/>
              </a:ext>
            </a:extLst>
          </p:cNvPr>
          <p:cNvSpPr/>
          <p:nvPr/>
        </p:nvSpPr>
        <p:spPr>
          <a:xfrm>
            <a:off x="3754512" y="2479400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927E341-5DA2-436B-AA9B-81B0A69BC6B5}"/>
              </a:ext>
            </a:extLst>
          </p:cNvPr>
          <p:cNvSpPr/>
          <p:nvPr/>
        </p:nvSpPr>
        <p:spPr>
          <a:xfrm flipH="1">
            <a:off x="4562911" y="2464683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986AD7-20AC-44C4-BDFA-CE89007B687A}"/>
              </a:ext>
            </a:extLst>
          </p:cNvPr>
          <p:cNvGrpSpPr/>
          <p:nvPr/>
        </p:nvGrpSpPr>
        <p:grpSpPr>
          <a:xfrm>
            <a:off x="4224447" y="3727112"/>
            <a:ext cx="1183772" cy="1820338"/>
            <a:chOff x="4948037" y="2700862"/>
            <a:chExt cx="1186329" cy="1342815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EFD12E-56FC-4724-A1A7-417F7D581AF0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68252AC-0D58-4A62-847A-0F0680787645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90D8B3-F098-4CDD-B715-66475BC2FA60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8ADEBC-B17E-4945-A42C-E8C349195BFA}"/>
              </a:ext>
            </a:extLst>
          </p:cNvPr>
          <p:cNvSpPr/>
          <p:nvPr/>
        </p:nvSpPr>
        <p:spPr>
          <a:xfrm>
            <a:off x="3746875" y="3647146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CD86458-4575-4EFD-A976-633A06431170}"/>
              </a:ext>
            </a:extLst>
          </p:cNvPr>
          <p:cNvSpPr/>
          <p:nvPr/>
        </p:nvSpPr>
        <p:spPr>
          <a:xfrm>
            <a:off x="3885204" y="3906487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9F3C6D9-C9D9-4C0E-B020-C41CBA47C83F}"/>
              </a:ext>
            </a:extLst>
          </p:cNvPr>
          <p:cNvSpPr/>
          <p:nvPr/>
        </p:nvSpPr>
        <p:spPr>
          <a:xfrm>
            <a:off x="2306459" y="2492528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4">
            <a:extLst>
              <a:ext uri="{FF2B5EF4-FFF2-40B4-BE49-F238E27FC236}">
                <a16:creationId xmlns:a16="http://schemas.microsoft.com/office/drawing/2014/main" id="{9786A3C9-69A5-40FA-B916-492BD25B292C}"/>
              </a:ext>
            </a:extLst>
          </p:cNvPr>
          <p:cNvSpPr/>
          <p:nvPr/>
        </p:nvSpPr>
        <p:spPr>
          <a:xfrm>
            <a:off x="4145862" y="1207442"/>
            <a:ext cx="684798" cy="902869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  <a:gd name="connsiteX0" fmla="*/ 282883 w 540188"/>
              <a:gd name="connsiteY0" fmla="*/ 777489 h 777508"/>
              <a:gd name="connsiteX1" fmla="*/ 28623 w 540188"/>
              <a:gd name="connsiteY1" fmla="*/ 335106 h 777508"/>
              <a:gd name="connsiteX2" fmla="*/ 301903 w 540188"/>
              <a:gd name="connsiteY2" fmla="*/ 43 h 777508"/>
              <a:gd name="connsiteX3" fmla="*/ 509367 w 540188"/>
              <a:gd name="connsiteY3" fmla="*/ 320288 h 777508"/>
              <a:gd name="connsiteX4" fmla="*/ 282883 w 540188"/>
              <a:gd name="connsiteY4" fmla="*/ 777489 h 777508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01903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63950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804011 h 804030"/>
              <a:gd name="connsiteX1" fmla="*/ 28623 w 540188"/>
              <a:gd name="connsiteY1" fmla="*/ 361628 h 804030"/>
              <a:gd name="connsiteX2" fmla="*/ 263123 w 540188"/>
              <a:gd name="connsiteY2" fmla="*/ 221 h 804030"/>
              <a:gd name="connsiteX3" fmla="*/ 509367 w 540188"/>
              <a:gd name="connsiteY3" fmla="*/ 346810 h 804030"/>
              <a:gd name="connsiteX4" fmla="*/ 282883 w 540188"/>
              <a:gd name="connsiteY4" fmla="*/ 804011 h 804030"/>
              <a:gd name="connsiteX0" fmla="*/ 282883 w 540188"/>
              <a:gd name="connsiteY0" fmla="*/ 804434 h 804453"/>
              <a:gd name="connsiteX1" fmla="*/ 28623 w 540188"/>
              <a:gd name="connsiteY1" fmla="*/ 362051 h 804453"/>
              <a:gd name="connsiteX2" fmla="*/ 263123 w 540188"/>
              <a:gd name="connsiteY2" fmla="*/ 644 h 804453"/>
              <a:gd name="connsiteX3" fmla="*/ 509367 w 540188"/>
              <a:gd name="connsiteY3" fmla="*/ 347233 h 804453"/>
              <a:gd name="connsiteX4" fmla="*/ 282883 w 540188"/>
              <a:gd name="connsiteY4" fmla="*/ 804434 h 804453"/>
              <a:gd name="connsiteX0" fmla="*/ 282883 w 540188"/>
              <a:gd name="connsiteY0" fmla="*/ 806332 h 806351"/>
              <a:gd name="connsiteX1" fmla="*/ 28623 w 540188"/>
              <a:gd name="connsiteY1" fmla="*/ 363949 h 806351"/>
              <a:gd name="connsiteX2" fmla="*/ 263123 w 540188"/>
              <a:gd name="connsiteY2" fmla="*/ 2542 h 806351"/>
              <a:gd name="connsiteX3" fmla="*/ 509367 w 540188"/>
              <a:gd name="connsiteY3" fmla="*/ 349131 h 806351"/>
              <a:gd name="connsiteX4" fmla="*/ 282883 w 540188"/>
              <a:gd name="connsiteY4" fmla="*/ 806332 h 80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806351">
                <a:moveTo>
                  <a:pt x="282883" y="806332"/>
                </a:moveTo>
                <a:cubicBezTo>
                  <a:pt x="202759" y="808802"/>
                  <a:pt x="-92027" y="577380"/>
                  <a:pt x="28623" y="363949"/>
                </a:cubicBezTo>
                <a:cubicBezTo>
                  <a:pt x="-68744" y="124765"/>
                  <a:pt x="105440" y="-21331"/>
                  <a:pt x="263123" y="2542"/>
                </a:cubicBezTo>
                <a:cubicBezTo>
                  <a:pt x="459586" y="-8709"/>
                  <a:pt x="594034" y="128128"/>
                  <a:pt x="509367" y="349131"/>
                </a:cubicBezTo>
                <a:cubicBezTo>
                  <a:pt x="630017" y="595534"/>
                  <a:pt x="363007" y="803862"/>
                  <a:pt x="282883" y="806332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Question 2">
            <a:hlinkClick r:id="" action="ppaction://noaction"/>
            <a:extLst>
              <a:ext uri="{FF2B5EF4-FFF2-40B4-BE49-F238E27FC236}">
                <a16:creationId xmlns:a16="http://schemas.microsoft.com/office/drawing/2014/main" id="{336560C8-E5CD-4095-A5F6-5D43FC0A7F0E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44" name="cancer screening text">
            <a:hlinkClick r:id="rId2" action="ppaction://hlinksldjump"/>
            <a:extLst>
              <a:ext uri="{FF2B5EF4-FFF2-40B4-BE49-F238E27FC236}">
                <a16:creationId xmlns:a16="http://schemas.microsoft.com/office/drawing/2014/main" id="{F3CF7728-D185-4B51-A07C-6B7903B6768A}"/>
              </a:ext>
            </a:extLst>
          </p:cNvPr>
          <p:cNvSpPr txBox="1"/>
          <p:nvPr/>
        </p:nvSpPr>
        <p:spPr>
          <a:xfrm>
            <a:off x="251420" y="794742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147B8803-294A-4CDB-8502-0E76A04B2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7821" y="1044490"/>
            <a:ext cx="301752" cy="301752"/>
          </a:xfrm>
          <a:prstGeom prst="rect">
            <a:avLst/>
          </a:prstGeom>
        </p:spPr>
      </p:pic>
      <p:sp>
        <p:nvSpPr>
          <p:cNvPr id="46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F68E399C-36F2-4BA2-A48C-6AAB5D06870B}"/>
              </a:ext>
            </a:extLst>
          </p:cNvPr>
          <p:cNvSpPr txBox="1"/>
          <p:nvPr/>
        </p:nvSpPr>
        <p:spPr>
          <a:xfrm>
            <a:off x="251420" y="1399380"/>
            <a:ext cx="1715032" cy="408623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UTI</a:t>
            </a:r>
          </a:p>
        </p:txBody>
      </p:sp>
      <p:sp>
        <p:nvSpPr>
          <p:cNvPr id="48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C9FD4407-70F1-4233-B4B2-84DF220E0947}"/>
              </a:ext>
            </a:extLst>
          </p:cNvPr>
          <p:cNvSpPr txBox="1"/>
          <p:nvPr/>
        </p:nvSpPr>
        <p:spPr>
          <a:xfrm>
            <a:off x="259915" y="2004018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F079F3A7-0CCD-45BD-AD69-B4E666EFE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7821" y="2254713"/>
            <a:ext cx="301752" cy="301752"/>
          </a:xfrm>
          <a:prstGeom prst="rect">
            <a:avLst/>
          </a:prstGeom>
        </p:spPr>
      </p:pic>
      <p:sp>
        <p:nvSpPr>
          <p:cNvPr id="50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DA71763E-4845-475F-9B16-C5F97731960B}"/>
              </a:ext>
            </a:extLst>
          </p:cNvPr>
          <p:cNvSpPr txBox="1"/>
          <p:nvPr/>
        </p:nvSpPr>
        <p:spPr>
          <a:xfrm>
            <a:off x="259915" y="260865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160A2BAB-ADFE-472E-9262-86D75B567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7821" y="2847936"/>
            <a:ext cx="301752" cy="3017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35DB882-D576-4E7F-812C-38991A6A6245}"/>
              </a:ext>
            </a:extLst>
          </p:cNvPr>
          <p:cNvSpPr txBox="1"/>
          <p:nvPr/>
        </p:nvSpPr>
        <p:spPr>
          <a:xfrm>
            <a:off x="4934740" y="122115"/>
            <a:ext cx="232252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UTI</a:t>
            </a:r>
          </a:p>
        </p:txBody>
      </p:sp>
      <p:sp>
        <p:nvSpPr>
          <p:cNvPr id="47" name="Acute uncomplicated cystits">
            <a:extLst>
              <a:ext uri="{FF2B5EF4-FFF2-40B4-BE49-F238E27FC236}">
                <a16:creationId xmlns:a16="http://schemas.microsoft.com/office/drawing/2014/main" id="{FB6C242E-8CB0-43BE-964B-DE67903DE4B6}"/>
              </a:ext>
            </a:extLst>
          </p:cNvPr>
          <p:cNvSpPr txBox="1"/>
          <p:nvPr/>
        </p:nvSpPr>
        <p:spPr>
          <a:xfrm>
            <a:off x="529060" y="4075722"/>
            <a:ext cx="2468880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Uncomplicated cystitis</a:t>
            </a:r>
          </a:p>
        </p:txBody>
      </p:sp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F2F5E56B-1CE5-46ED-868D-90718F185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4702" y="4332925"/>
            <a:ext cx="301752" cy="30175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0800B066-EE2D-43A1-AF9D-721260A75468}"/>
              </a:ext>
            </a:extLst>
          </p:cNvPr>
          <p:cNvSpPr txBox="1"/>
          <p:nvPr/>
        </p:nvSpPr>
        <p:spPr>
          <a:xfrm>
            <a:off x="6206867" y="4399611"/>
            <a:ext cx="1732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P</a:t>
            </a:r>
            <a:r>
              <a:rPr lang="en-US" i="1" dirty="0"/>
              <a:t>seudomonas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D276DD-2333-4C4D-B682-6E322790972E}"/>
              </a:ext>
            </a:extLst>
          </p:cNvPr>
          <p:cNvSpPr txBox="1"/>
          <p:nvPr/>
        </p:nvSpPr>
        <p:spPr>
          <a:xfrm>
            <a:off x="6227957" y="2906684"/>
            <a:ext cx="178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E</a:t>
            </a:r>
            <a:r>
              <a:rPr lang="en-US" i="1" dirty="0"/>
              <a:t>. coli 75-95%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2CDFDA-3830-466A-9754-283D34376170}"/>
              </a:ext>
            </a:extLst>
          </p:cNvPr>
          <p:cNvSpPr txBox="1"/>
          <p:nvPr/>
        </p:nvSpPr>
        <p:spPr>
          <a:xfrm>
            <a:off x="6218736" y="3204767"/>
            <a:ext cx="1514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E</a:t>
            </a:r>
            <a:r>
              <a:rPr lang="en-US" i="1" dirty="0"/>
              <a:t>nterococcus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84A2D0-DDD5-41C6-9A6E-C9583949B2A8}"/>
              </a:ext>
            </a:extLst>
          </p:cNvPr>
          <p:cNvSpPr txBox="1"/>
          <p:nvPr/>
        </p:nvSpPr>
        <p:spPr>
          <a:xfrm>
            <a:off x="6218652" y="3514848"/>
            <a:ext cx="1159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K</a:t>
            </a:r>
            <a:r>
              <a:rPr lang="en-US" i="1" dirty="0"/>
              <a:t>lebsiella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18A51B6-E1B6-4083-984D-4B896D41BA6E}"/>
              </a:ext>
            </a:extLst>
          </p:cNvPr>
          <p:cNvSpPr txBox="1"/>
          <p:nvPr/>
        </p:nvSpPr>
        <p:spPr>
          <a:xfrm>
            <a:off x="6226716" y="4123012"/>
            <a:ext cx="1159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P</a:t>
            </a:r>
            <a:r>
              <a:rPr lang="en-US" i="1" dirty="0"/>
              <a:t>roteus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823B6F-62A1-43F2-AC03-16FC32D9E823}"/>
              </a:ext>
            </a:extLst>
          </p:cNvPr>
          <p:cNvSpPr txBox="1"/>
          <p:nvPr/>
        </p:nvSpPr>
        <p:spPr>
          <a:xfrm>
            <a:off x="8519975" y="2906684"/>
            <a:ext cx="128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Bactrim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A4682F-5CC6-43BA-8EB7-204A4CCDDACC}"/>
              </a:ext>
            </a:extLst>
          </p:cNvPr>
          <p:cNvSpPr txBox="1"/>
          <p:nvPr/>
        </p:nvSpPr>
        <p:spPr>
          <a:xfrm>
            <a:off x="8516786" y="4449323"/>
            <a:ext cx="1361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Ceftriaxone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388CFBD-5FD9-4CEA-9852-D064FBE00860}"/>
              </a:ext>
            </a:extLst>
          </p:cNvPr>
          <p:cNvSpPr txBox="1"/>
          <p:nvPr/>
        </p:nvSpPr>
        <p:spPr>
          <a:xfrm>
            <a:off x="8508530" y="3533879"/>
            <a:ext cx="1361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Urinary FQ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30C216B-555A-4D0D-9F89-3DF0E3873130}"/>
              </a:ext>
            </a:extLst>
          </p:cNvPr>
          <p:cNvSpPr txBox="1"/>
          <p:nvPr/>
        </p:nvSpPr>
        <p:spPr>
          <a:xfrm>
            <a:off x="8508530" y="5382255"/>
            <a:ext cx="2882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/>
            <a:r>
              <a:rPr lang="en-US" dirty="0"/>
              <a:t>May need vancomycin, daptomycin or linezolid for </a:t>
            </a:r>
            <a:r>
              <a:rPr lang="en-US" i="1" dirty="0"/>
              <a:t>Enterococcus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EFA1584-0718-457E-9AEE-BE5ADCD28ABF}"/>
              </a:ext>
            </a:extLst>
          </p:cNvPr>
          <p:cNvSpPr txBox="1"/>
          <p:nvPr/>
        </p:nvSpPr>
        <p:spPr>
          <a:xfrm>
            <a:off x="8508530" y="5067486"/>
            <a:ext cx="1641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Carbapenems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37F78F-D2D2-446B-8262-7052F62D1087}"/>
              </a:ext>
            </a:extLst>
          </p:cNvPr>
          <p:cNvSpPr txBox="1"/>
          <p:nvPr/>
        </p:nvSpPr>
        <p:spPr>
          <a:xfrm>
            <a:off x="8516786" y="4752717"/>
            <a:ext cx="1592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Zosyn</a:t>
            </a:r>
          </a:p>
        </p:txBody>
      </p:sp>
      <p:sp>
        <p:nvSpPr>
          <p:cNvPr id="99" name="Pyelonephritis">
            <a:extLst>
              <a:ext uri="{FF2B5EF4-FFF2-40B4-BE49-F238E27FC236}">
                <a16:creationId xmlns:a16="http://schemas.microsoft.com/office/drawing/2014/main" id="{EE09A49E-F80B-4E39-A3B4-E763EED69E2B}"/>
              </a:ext>
            </a:extLst>
          </p:cNvPr>
          <p:cNvSpPr txBox="1"/>
          <p:nvPr/>
        </p:nvSpPr>
        <p:spPr>
          <a:xfrm>
            <a:off x="529060" y="4639214"/>
            <a:ext cx="2468880" cy="715089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Pyelonephritis/ Acute complicated UTI</a:t>
            </a:r>
          </a:p>
        </p:txBody>
      </p:sp>
      <p:pic>
        <p:nvPicPr>
          <p:cNvPr id="100" name="Graphic 99" descr="Cursor with solid fill">
            <a:extLst>
              <a:ext uri="{FF2B5EF4-FFF2-40B4-BE49-F238E27FC236}">
                <a16:creationId xmlns:a16="http://schemas.microsoft.com/office/drawing/2014/main" id="{075B0927-7F5B-47E6-89B2-178BC74FB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4702" y="5187385"/>
            <a:ext cx="301752" cy="301752"/>
          </a:xfrm>
          <a:prstGeom prst="rect">
            <a:avLst/>
          </a:prstGeom>
        </p:spPr>
      </p:pic>
      <p:sp>
        <p:nvSpPr>
          <p:cNvPr id="106" name="CAUTI">
            <a:extLst>
              <a:ext uri="{FF2B5EF4-FFF2-40B4-BE49-F238E27FC236}">
                <a16:creationId xmlns:a16="http://schemas.microsoft.com/office/drawing/2014/main" id="{F14AC098-1DB8-4A17-AD79-36B6D5B2E32C}"/>
              </a:ext>
            </a:extLst>
          </p:cNvPr>
          <p:cNvSpPr txBox="1"/>
          <p:nvPr/>
        </p:nvSpPr>
        <p:spPr>
          <a:xfrm>
            <a:off x="529060" y="5502261"/>
            <a:ext cx="2468880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CAUTI</a:t>
            </a:r>
          </a:p>
        </p:txBody>
      </p:sp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1E897426-5541-40D6-B247-FFD5CC101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4702" y="5777764"/>
            <a:ext cx="301752" cy="30175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92689986-8083-4D6F-AF2E-685189CA940C}"/>
              </a:ext>
            </a:extLst>
          </p:cNvPr>
          <p:cNvSpPr txBox="1"/>
          <p:nvPr/>
        </p:nvSpPr>
        <p:spPr>
          <a:xfrm>
            <a:off x="8508530" y="3232583"/>
            <a:ext cx="128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Fosfomycin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8C11FEA-0A92-4427-9927-43E424A81993}"/>
              </a:ext>
            </a:extLst>
          </p:cNvPr>
          <p:cNvGrpSpPr/>
          <p:nvPr/>
        </p:nvGrpSpPr>
        <p:grpSpPr>
          <a:xfrm>
            <a:off x="10004611" y="2653378"/>
            <a:ext cx="1570037" cy="920721"/>
            <a:chOff x="10043790" y="2524873"/>
            <a:chExt cx="1570037" cy="920721"/>
          </a:xfrm>
        </p:grpSpPr>
        <p:sp>
          <p:nvSpPr>
            <p:cNvPr id="109" name="Left Brace 108">
              <a:extLst>
                <a:ext uri="{FF2B5EF4-FFF2-40B4-BE49-F238E27FC236}">
                  <a16:creationId xmlns:a16="http://schemas.microsoft.com/office/drawing/2014/main" id="{51EE9614-D731-42FE-8E82-98D88915A558}"/>
                </a:ext>
              </a:extLst>
            </p:cNvPr>
            <p:cNvSpPr/>
            <p:nvPr/>
          </p:nvSpPr>
          <p:spPr>
            <a:xfrm flipH="1">
              <a:off x="10043790" y="2524873"/>
              <a:ext cx="213392" cy="920721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53046D2-8C90-4C5C-B1EF-223059CB7952}"/>
                </a:ext>
              </a:extLst>
            </p:cNvPr>
            <p:cNvSpPr txBox="1"/>
            <p:nvPr/>
          </p:nvSpPr>
          <p:spPr>
            <a:xfrm>
              <a:off x="10347850" y="2781827"/>
              <a:ext cx="12659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  <a:r>
                <a:rPr lang="en-US" sz="1600" baseline="30000" dirty="0"/>
                <a:t>st</a:t>
              </a:r>
              <a:r>
                <a:rPr lang="en-US" sz="1600" dirty="0"/>
                <a:t> line for acute cystitis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FE5A501-8CB3-40EE-B544-D3DCF27A23E5}"/>
              </a:ext>
            </a:extLst>
          </p:cNvPr>
          <p:cNvSpPr txBox="1"/>
          <p:nvPr/>
        </p:nvSpPr>
        <p:spPr>
          <a:xfrm>
            <a:off x="8516786" y="3819785"/>
            <a:ext cx="3358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β-lactam (e.g., Augmentin)</a:t>
            </a:r>
          </a:p>
        </p:txBody>
      </p:sp>
      <p:sp>
        <p:nvSpPr>
          <p:cNvPr id="113" name="MDR text">
            <a:extLst>
              <a:ext uri="{FF2B5EF4-FFF2-40B4-BE49-F238E27FC236}">
                <a16:creationId xmlns:a16="http://schemas.microsoft.com/office/drawing/2014/main" id="{B7E3FC10-4A28-4363-88C1-754AA9809005}"/>
              </a:ext>
            </a:extLst>
          </p:cNvPr>
          <p:cNvSpPr/>
          <p:nvPr/>
        </p:nvSpPr>
        <p:spPr>
          <a:xfrm>
            <a:off x="6726669" y="262971"/>
            <a:ext cx="5128591" cy="17146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Any patient with a UTI may be at risk for MDR organisms. Risk factors include (&lt; 3 </a:t>
            </a:r>
            <a:r>
              <a:rPr lang="en-US" dirty="0" err="1"/>
              <a:t>mos</a:t>
            </a:r>
            <a:r>
              <a:rPr lang="en-US" dirty="0"/>
              <a:t>):</a:t>
            </a:r>
          </a:p>
          <a:p>
            <a:pPr marL="398463" indent="-166688">
              <a:buFont typeface="Arial" panose="020B0604020202020204" pitchFamily="34" charset="0"/>
              <a:buChar char="•"/>
            </a:pPr>
            <a:r>
              <a:rPr lang="en-US" sz="1600" dirty="0"/>
              <a:t>Prior infection with MDR/ESBL organism</a:t>
            </a:r>
          </a:p>
          <a:p>
            <a:pPr marL="398463" indent="-166688">
              <a:buFont typeface="Arial" panose="020B0604020202020204" pitchFamily="34" charset="0"/>
              <a:buChar char="•"/>
            </a:pPr>
            <a:r>
              <a:rPr lang="en-US" sz="1600" dirty="0"/>
              <a:t>Inpatient stay or care facility</a:t>
            </a:r>
          </a:p>
          <a:p>
            <a:pPr marL="398463" indent="-166688">
              <a:buFont typeface="Arial" panose="020B0604020202020204" pitchFamily="34" charset="0"/>
              <a:buChar char="•"/>
            </a:pPr>
            <a:r>
              <a:rPr lang="en-US" sz="1600" dirty="0"/>
              <a:t>Travel to area with high rates of MDR organisms</a:t>
            </a:r>
          </a:p>
          <a:p>
            <a:pPr marL="398463" indent="-166688">
              <a:buFont typeface="Arial" panose="020B0604020202020204" pitchFamily="34" charset="0"/>
              <a:buChar char="•"/>
            </a:pPr>
            <a:r>
              <a:rPr lang="en-US" sz="1600" dirty="0"/>
              <a:t>Use of FQ, Bactrim or broad-spectrum </a:t>
            </a:r>
            <a:r>
              <a:rPr lang="el-GR" sz="1600" dirty="0"/>
              <a:t>β</a:t>
            </a:r>
            <a:r>
              <a:rPr lang="en-US" sz="1600" dirty="0"/>
              <a:t>-lactam</a:t>
            </a:r>
          </a:p>
        </p:txBody>
      </p:sp>
      <p:sp>
        <p:nvSpPr>
          <p:cNvPr id="115" name="Complicated UTI">
            <a:extLst>
              <a:ext uri="{FF2B5EF4-FFF2-40B4-BE49-F238E27FC236}">
                <a16:creationId xmlns:a16="http://schemas.microsoft.com/office/drawing/2014/main" id="{30FC4037-1190-498B-BB8D-9DCAF3745620}"/>
              </a:ext>
            </a:extLst>
          </p:cNvPr>
          <p:cNvSpPr/>
          <p:nvPr/>
        </p:nvSpPr>
        <p:spPr>
          <a:xfrm>
            <a:off x="3315398" y="5730398"/>
            <a:ext cx="4726545" cy="9703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Acute complicated UTI indicates signs of systemic infection such as fevers, signs of sepsis, extension of the infection beyond the bladder.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55F47-52EC-403C-870C-DCF49032A9D9}"/>
              </a:ext>
            </a:extLst>
          </p:cNvPr>
          <p:cNvSpPr txBox="1"/>
          <p:nvPr/>
        </p:nvSpPr>
        <p:spPr>
          <a:xfrm>
            <a:off x="6317272" y="2133135"/>
            <a:ext cx="131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Bugs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F36C45-40D8-4D63-B1D3-FC683574C17E}"/>
              </a:ext>
            </a:extLst>
          </p:cNvPr>
          <p:cNvSpPr txBox="1"/>
          <p:nvPr/>
        </p:nvSpPr>
        <p:spPr>
          <a:xfrm>
            <a:off x="8632047" y="2133135"/>
            <a:ext cx="131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Drugs</a:t>
            </a:r>
          </a:p>
        </p:txBody>
      </p:sp>
      <p:sp>
        <p:nvSpPr>
          <p:cNvPr id="58" name="Complicated UTI">
            <a:extLst>
              <a:ext uri="{FF2B5EF4-FFF2-40B4-BE49-F238E27FC236}">
                <a16:creationId xmlns:a16="http://schemas.microsoft.com/office/drawing/2014/main" id="{C598639F-F694-4769-BCB4-D7ECD3A7CDCC}"/>
              </a:ext>
            </a:extLst>
          </p:cNvPr>
          <p:cNvSpPr/>
          <p:nvPr/>
        </p:nvSpPr>
        <p:spPr>
          <a:xfrm>
            <a:off x="3651695" y="5764565"/>
            <a:ext cx="3893160" cy="885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CAUTI = symptomatic bacteriuria with a suprapubic, indwelling, intermittent </a:t>
            </a:r>
            <a:r>
              <a:rPr lang="en-US" dirty="0" err="1"/>
              <a:t>cath</a:t>
            </a:r>
            <a:r>
              <a:rPr lang="en-US" dirty="0"/>
              <a:t> within the past 48 h.</a:t>
            </a:r>
          </a:p>
        </p:txBody>
      </p:sp>
      <p:sp>
        <p:nvSpPr>
          <p:cNvPr id="56" name="MDR">
            <a:extLst>
              <a:ext uri="{FF2B5EF4-FFF2-40B4-BE49-F238E27FC236}">
                <a16:creationId xmlns:a16="http://schemas.microsoft.com/office/drawing/2014/main" id="{3A0577BD-41D1-4623-AD83-625D914CD34F}"/>
              </a:ext>
            </a:extLst>
          </p:cNvPr>
          <p:cNvSpPr txBox="1"/>
          <p:nvPr/>
        </p:nvSpPr>
        <p:spPr>
          <a:xfrm>
            <a:off x="870032" y="6054952"/>
            <a:ext cx="1881281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Risk for </a:t>
            </a:r>
            <a:r>
              <a:rPr lang="en-US" b="1" dirty="0">
                <a:solidFill>
                  <a:schemeClr val="accent1"/>
                </a:solidFill>
              </a:rPr>
              <a:t>MDR</a:t>
            </a:r>
            <a:r>
              <a:rPr lang="en-US" b="1" dirty="0"/>
              <a:t>?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61DE677D-668F-4127-9EEB-84772AB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4612" y="6312699"/>
            <a:ext cx="301752" cy="301752"/>
          </a:xfrm>
          <a:prstGeom prst="rect">
            <a:avLst/>
          </a:prstGeom>
        </p:spPr>
      </p:pic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1526E429-D0E5-4BE8-8ACE-C7805F936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7821" y="454162"/>
            <a:ext cx="301752" cy="30175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4498E67-07AA-4460-9440-6C36745E88CC}"/>
              </a:ext>
            </a:extLst>
          </p:cNvPr>
          <p:cNvSpPr txBox="1"/>
          <p:nvPr/>
        </p:nvSpPr>
        <p:spPr>
          <a:xfrm>
            <a:off x="6928472" y="2591320"/>
            <a:ext cx="178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(MSSA/MRSA)</a:t>
            </a:r>
          </a:p>
        </p:txBody>
      </p:sp>
      <p:sp>
        <p:nvSpPr>
          <p:cNvPr id="66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DB84DEC1-001E-43EB-BFD3-130E3C4494D0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7" name="Graphic 66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7BFE189D-53ED-49AF-AFC0-23E57DB28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097" y="348539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86" grpId="0"/>
      <p:bldP spid="86" grpId="1"/>
      <p:bldP spid="86" grpId="2"/>
      <p:bldP spid="87" grpId="0"/>
      <p:bldP spid="87" grpId="1"/>
      <p:bldP spid="88" grpId="0"/>
      <p:bldP spid="88" grpId="1"/>
      <p:bldP spid="88" grpId="2"/>
      <p:bldP spid="89" grpId="0"/>
      <p:bldP spid="89" grpId="1"/>
      <p:bldP spid="91" grpId="0"/>
      <p:bldP spid="92" grpId="0"/>
      <p:bldP spid="93" grpId="0"/>
      <p:bldP spid="94" grpId="0"/>
      <p:bldP spid="94" grpId="1"/>
      <p:bldP spid="94" grpId="2"/>
      <p:bldP spid="95" grpId="0"/>
      <p:bldP spid="95" grpId="1"/>
      <p:bldP spid="95" grpId="2"/>
      <p:bldP spid="97" grpId="0"/>
      <p:bldP spid="97" grpId="1"/>
      <p:bldP spid="97" grpId="2"/>
      <p:bldP spid="98" grpId="0"/>
      <p:bldP spid="98" grpId="1"/>
      <p:bldP spid="98" grpId="2"/>
      <p:bldP spid="108" grpId="0"/>
      <p:bldP spid="112" grpId="0"/>
      <p:bldP spid="113" grpId="0" animBg="1"/>
      <p:bldP spid="115" grpId="0" animBg="1"/>
      <p:bldP spid="115" grpId="1" animBg="1"/>
      <p:bldP spid="58" grpId="0" animBg="1"/>
      <p:bldP spid="56" grpId="0" animBg="1"/>
      <p:bldP spid="59" grpId="0"/>
      <p:bldP spid="5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709E080-4A6E-46BB-B592-A6296690B548}"/>
              </a:ext>
            </a:extLst>
          </p:cNvPr>
          <p:cNvSpPr/>
          <p:nvPr/>
        </p:nvSpPr>
        <p:spPr>
          <a:xfrm>
            <a:off x="3758082" y="3706168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672DADB-6D8C-4C16-87A7-22886399EBF7}"/>
              </a:ext>
            </a:extLst>
          </p:cNvPr>
          <p:cNvSpPr/>
          <p:nvPr/>
        </p:nvSpPr>
        <p:spPr>
          <a:xfrm>
            <a:off x="3758081" y="2473173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E0FD539-BA7A-494E-9C01-F88EE7AD7382}"/>
              </a:ext>
            </a:extLst>
          </p:cNvPr>
          <p:cNvSpPr/>
          <p:nvPr/>
        </p:nvSpPr>
        <p:spPr>
          <a:xfrm flipH="1">
            <a:off x="4566480" y="2458456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CBC8A0-1A0C-4F96-A284-3893CA631FA0}"/>
              </a:ext>
            </a:extLst>
          </p:cNvPr>
          <p:cNvGrpSpPr/>
          <p:nvPr/>
        </p:nvGrpSpPr>
        <p:grpSpPr>
          <a:xfrm>
            <a:off x="4228016" y="3720885"/>
            <a:ext cx="1183772" cy="1820338"/>
            <a:chOff x="4948037" y="2700862"/>
            <a:chExt cx="1186329" cy="1342815"/>
          </a:xfrm>
          <a:solidFill>
            <a:schemeClr val="bg2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99732C0-F3D1-4F10-BC0B-500E7B787A31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AD905A5-383B-4628-AE93-533F91025987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3EAE5C-93D9-46D7-974D-BFB77F282783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FECED7-B0B8-484B-B382-89369F369464}"/>
              </a:ext>
            </a:extLst>
          </p:cNvPr>
          <p:cNvSpPr/>
          <p:nvPr/>
        </p:nvSpPr>
        <p:spPr>
          <a:xfrm>
            <a:off x="3750444" y="3640919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C6D62C-17F6-44D7-A496-97D182F9CCD5}"/>
              </a:ext>
            </a:extLst>
          </p:cNvPr>
          <p:cNvSpPr/>
          <p:nvPr/>
        </p:nvSpPr>
        <p:spPr>
          <a:xfrm>
            <a:off x="3888773" y="3900260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447893-D261-423C-BFC8-C4659B93479B}"/>
              </a:ext>
            </a:extLst>
          </p:cNvPr>
          <p:cNvSpPr/>
          <p:nvPr/>
        </p:nvSpPr>
        <p:spPr>
          <a:xfrm>
            <a:off x="2310028" y="2486301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A9AB24B8-C50F-46EE-B316-A6D98DF23141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47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A3FE18C9-ABA8-4CA5-AF6E-E1215E9C37F6}"/>
              </a:ext>
            </a:extLst>
          </p:cNvPr>
          <p:cNvSpPr txBox="1"/>
          <p:nvPr/>
        </p:nvSpPr>
        <p:spPr>
          <a:xfrm>
            <a:off x="251420" y="794742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sp>
        <p:nvSpPr>
          <p:cNvPr id="49" name="cancer screening text">
            <a:hlinkClick r:id="rId4" action="ppaction://hlinksldjump"/>
            <a:extLst>
              <a:ext uri="{FF2B5EF4-FFF2-40B4-BE49-F238E27FC236}">
                <a16:creationId xmlns:a16="http://schemas.microsoft.com/office/drawing/2014/main" id="{4636C338-AECF-4328-9668-01A27590CBE6}"/>
              </a:ext>
            </a:extLst>
          </p:cNvPr>
          <p:cNvSpPr txBox="1"/>
          <p:nvPr/>
        </p:nvSpPr>
        <p:spPr>
          <a:xfrm>
            <a:off x="251420" y="1399380"/>
            <a:ext cx="171503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sp>
        <p:nvSpPr>
          <p:cNvPr id="50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4DEB847F-7A91-4CBF-A64C-4E9C90E5F3CF}"/>
              </a:ext>
            </a:extLst>
          </p:cNvPr>
          <p:cNvSpPr txBox="1"/>
          <p:nvPr/>
        </p:nvSpPr>
        <p:spPr>
          <a:xfrm>
            <a:off x="259915" y="2004018"/>
            <a:ext cx="1715032" cy="408623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Cellulitis</a:t>
            </a:r>
          </a:p>
        </p:txBody>
      </p:sp>
      <p:sp>
        <p:nvSpPr>
          <p:cNvPr id="52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9C9C3072-4A42-4555-9B42-7F0DF5334209}"/>
              </a:ext>
            </a:extLst>
          </p:cNvPr>
          <p:cNvSpPr txBox="1"/>
          <p:nvPr/>
        </p:nvSpPr>
        <p:spPr>
          <a:xfrm>
            <a:off x="259915" y="260865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sp>
        <p:nvSpPr>
          <p:cNvPr id="55" name="Oval 4">
            <a:extLst>
              <a:ext uri="{FF2B5EF4-FFF2-40B4-BE49-F238E27FC236}">
                <a16:creationId xmlns:a16="http://schemas.microsoft.com/office/drawing/2014/main" id="{03859239-ACAA-408A-B06A-6984A879036A}"/>
              </a:ext>
            </a:extLst>
          </p:cNvPr>
          <p:cNvSpPr/>
          <p:nvPr/>
        </p:nvSpPr>
        <p:spPr>
          <a:xfrm>
            <a:off x="4145862" y="1207442"/>
            <a:ext cx="684798" cy="902869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  <a:gd name="connsiteX0" fmla="*/ 282883 w 540188"/>
              <a:gd name="connsiteY0" fmla="*/ 777489 h 777508"/>
              <a:gd name="connsiteX1" fmla="*/ 28623 w 540188"/>
              <a:gd name="connsiteY1" fmla="*/ 335106 h 777508"/>
              <a:gd name="connsiteX2" fmla="*/ 301903 w 540188"/>
              <a:gd name="connsiteY2" fmla="*/ 43 h 777508"/>
              <a:gd name="connsiteX3" fmla="*/ 509367 w 540188"/>
              <a:gd name="connsiteY3" fmla="*/ 320288 h 777508"/>
              <a:gd name="connsiteX4" fmla="*/ 282883 w 540188"/>
              <a:gd name="connsiteY4" fmla="*/ 777489 h 777508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01903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63950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804011 h 804030"/>
              <a:gd name="connsiteX1" fmla="*/ 28623 w 540188"/>
              <a:gd name="connsiteY1" fmla="*/ 361628 h 804030"/>
              <a:gd name="connsiteX2" fmla="*/ 263123 w 540188"/>
              <a:gd name="connsiteY2" fmla="*/ 221 h 804030"/>
              <a:gd name="connsiteX3" fmla="*/ 509367 w 540188"/>
              <a:gd name="connsiteY3" fmla="*/ 346810 h 804030"/>
              <a:gd name="connsiteX4" fmla="*/ 282883 w 540188"/>
              <a:gd name="connsiteY4" fmla="*/ 804011 h 804030"/>
              <a:gd name="connsiteX0" fmla="*/ 282883 w 540188"/>
              <a:gd name="connsiteY0" fmla="*/ 804434 h 804453"/>
              <a:gd name="connsiteX1" fmla="*/ 28623 w 540188"/>
              <a:gd name="connsiteY1" fmla="*/ 362051 h 804453"/>
              <a:gd name="connsiteX2" fmla="*/ 263123 w 540188"/>
              <a:gd name="connsiteY2" fmla="*/ 644 h 804453"/>
              <a:gd name="connsiteX3" fmla="*/ 509367 w 540188"/>
              <a:gd name="connsiteY3" fmla="*/ 347233 h 804453"/>
              <a:gd name="connsiteX4" fmla="*/ 282883 w 540188"/>
              <a:gd name="connsiteY4" fmla="*/ 804434 h 804453"/>
              <a:gd name="connsiteX0" fmla="*/ 282883 w 540188"/>
              <a:gd name="connsiteY0" fmla="*/ 806332 h 806351"/>
              <a:gd name="connsiteX1" fmla="*/ 28623 w 540188"/>
              <a:gd name="connsiteY1" fmla="*/ 363949 h 806351"/>
              <a:gd name="connsiteX2" fmla="*/ 263123 w 540188"/>
              <a:gd name="connsiteY2" fmla="*/ 2542 h 806351"/>
              <a:gd name="connsiteX3" fmla="*/ 509367 w 540188"/>
              <a:gd name="connsiteY3" fmla="*/ 349131 h 806351"/>
              <a:gd name="connsiteX4" fmla="*/ 282883 w 540188"/>
              <a:gd name="connsiteY4" fmla="*/ 806332 h 80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806351">
                <a:moveTo>
                  <a:pt x="282883" y="806332"/>
                </a:moveTo>
                <a:cubicBezTo>
                  <a:pt x="202759" y="808802"/>
                  <a:pt x="-92027" y="577380"/>
                  <a:pt x="28623" y="363949"/>
                </a:cubicBezTo>
                <a:cubicBezTo>
                  <a:pt x="-68744" y="124765"/>
                  <a:pt x="105440" y="-21331"/>
                  <a:pt x="263123" y="2542"/>
                </a:cubicBezTo>
                <a:cubicBezTo>
                  <a:pt x="459586" y="-8709"/>
                  <a:pt x="594034" y="128128"/>
                  <a:pt x="509367" y="349131"/>
                </a:cubicBezTo>
                <a:cubicBezTo>
                  <a:pt x="630017" y="595534"/>
                  <a:pt x="363007" y="803862"/>
                  <a:pt x="282883" y="806332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74062-4099-49D4-B8FE-0ABE6A1394AB}"/>
              </a:ext>
            </a:extLst>
          </p:cNvPr>
          <p:cNvSpPr txBox="1"/>
          <p:nvPr/>
        </p:nvSpPr>
        <p:spPr>
          <a:xfrm>
            <a:off x="3657883" y="196847"/>
            <a:ext cx="4876234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SKIN AND SOFT TISSUE INFECTIONS</a:t>
            </a:r>
          </a:p>
        </p:txBody>
      </p:sp>
      <p:sp>
        <p:nvSpPr>
          <p:cNvPr id="57" name="NP SSTI Bugs">
            <a:extLst>
              <a:ext uri="{FF2B5EF4-FFF2-40B4-BE49-F238E27FC236}">
                <a16:creationId xmlns:a16="http://schemas.microsoft.com/office/drawing/2014/main" id="{7720F66B-B92D-4D0F-ACE9-576760173556}"/>
              </a:ext>
            </a:extLst>
          </p:cNvPr>
          <p:cNvSpPr/>
          <p:nvPr/>
        </p:nvSpPr>
        <p:spPr>
          <a:xfrm>
            <a:off x="6698409" y="1263926"/>
            <a:ext cx="2286000" cy="80745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Nonpurulent</a:t>
            </a:r>
            <a:r>
              <a:rPr lang="en-US" dirty="0">
                <a:solidFill>
                  <a:schemeClr val="tx1"/>
                </a:solidFill>
              </a:rPr>
              <a:t> Bugs</a:t>
            </a:r>
          </a:p>
        </p:txBody>
      </p:sp>
      <p:sp>
        <p:nvSpPr>
          <p:cNvPr id="58" name="NP SSTI Drugs">
            <a:extLst>
              <a:ext uri="{FF2B5EF4-FFF2-40B4-BE49-F238E27FC236}">
                <a16:creationId xmlns:a16="http://schemas.microsoft.com/office/drawing/2014/main" id="{DFAD30FC-2106-49EF-B5CD-7F21A4233F4E}"/>
              </a:ext>
            </a:extLst>
          </p:cNvPr>
          <p:cNvSpPr/>
          <p:nvPr/>
        </p:nvSpPr>
        <p:spPr>
          <a:xfrm>
            <a:off x="9263101" y="1269148"/>
            <a:ext cx="2286000" cy="78706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Nonpurulent</a:t>
            </a:r>
            <a:r>
              <a:rPr lang="en-US" dirty="0">
                <a:solidFill>
                  <a:schemeClr val="tx1"/>
                </a:solidFill>
              </a:rPr>
              <a:t> Drugs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882015F1-610C-482C-B95D-89A70549C7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3080" y="1893082"/>
            <a:ext cx="301752" cy="301752"/>
          </a:xfrm>
          <a:prstGeom prst="rect">
            <a:avLst/>
          </a:prstGeom>
        </p:spPr>
      </p:pic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54FD953E-D740-4BE7-915D-85665EFD79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3618" y="1893082"/>
            <a:ext cx="301752" cy="301752"/>
          </a:xfrm>
          <a:prstGeom prst="rect">
            <a:avLst/>
          </a:prstGeom>
        </p:spPr>
      </p:pic>
      <p:sp>
        <p:nvSpPr>
          <p:cNvPr id="61" name="Purulent">
            <a:extLst>
              <a:ext uri="{FF2B5EF4-FFF2-40B4-BE49-F238E27FC236}">
                <a16:creationId xmlns:a16="http://schemas.microsoft.com/office/drawing/2014/main" id="{8478DAFD-9E40-47CF-B62B-4DF2567B1022}"/>
              </a:ext>
            </a:extLst>
          </p:cNvPr>
          <p:cNvSpPr txBox="1"/>
          <p:nvPr/>
        </p:nvSpPr>
        <p:spPr>
          <a:xfrm>
            <a:off x="5252794" y="2704642"/>
            <a:ext cx="115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Purulent</a:t>
            </a:r>
            <a:endParaRPr lang="en-US" dirty="0"/>
          </a:p>
        </p:txBody>
      </p:sp>
      <p:sp>
        <p:nvSpPr>
          <p:cNvPr id="62" name="NSTI">
            <a:extLst>
              <a:ext uri="{FF2B5EF4-FFF2-40B4-BE49-F238E27FC236}">
                <a16:creationId xmlns:a16="http://schemas.microsoft.com/office/drawing/2014/main" id="{86B85596-EC1E-41D5-A749-C2370C92FCEA}"/>
              </a:ext>
            </a:extLst>
          </p:cNvPr>
          <p:cNvSpPr txBox="1"/>
          <p:nvPr/>
        </p:nvSpPr>
        <p:spPr>
          <a:xfrm>
            <a:off x="5305998" y="3917324"/>
            <a:ext cx="115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NSTI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25FFDB5-BB28-4874-8E5D-3D3CAD04DA1A}"/>
              </a:ext>
            </a:extLst>
          </p:cNvPr>
          <p:cNvGrpSpPr/>
          <p:nvPr/>
        </p:nvGrpSpPr>
        <p:grpSpPr>
          <a:xfrm>
            <a:off x="5099804" y="706770"/>
            <a:ext cx="6475130" cy="3940395"/>
            <a:chOff x="6548877" y="597810"/>
            <a:chExt cx="5417864" cy="344691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C7C6D33-7950-4C1C-BE19-8B92C9451B44}"/>
                </a:ext>
              </a:extLst>
            </p:cNvPr>
            <p:cNvSpPr txBox="1"/>
            <p:nvPr/>
          </p:nvSpPr>
          <p:spPr>
            <a:xfrm>
              <a:off x="10409948" y="609049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Drugs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F61E013-AEC4-45AF-A1A8-32DB3E0EF8E1}"/>
                </a:ext>
              </a:extLst>
            </p:cNvPr>
            <p:cNvCxnSpPr>
              <a:cxnSpLocks/>
            </p:cNvCxnSpPr>
            <p:nvPr/>
          </p:nvCxnSpPr>
          <p:spPr>
            <a:xfrm>
              <a:off x="7761981" y="696634"/>
              <a:ext cx="0" cy="334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E2C8348-BFA7-4CAD-879F-C200459A8BDF}"/>
                </a:ext>
              </a:extLst>
            </p:cNvPr>
            <p:cNvCxnSpPr>
              <a:cxnSpLocks/>
            </p:cNvCxnSpPr>
            <p:nvPr/>
          </p:nvCxnSpPr>
          <p:spPr>
            <a:xfrm>
              <a:off x="9913030" y="656756"/>
              <a:ext cx="0" cy="334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E0C80B1-E65E-49F3-9B08-A46930DAAB54}"/>
                </a:ext>
              </a:extLst>
            </p:cNvPr>
            <p:cNvCxnSpPr/>
            <p:nvPr/>
          </p:nvCxnSpPr>
          <p:spPr>
            <a:xfrm>
              <a:off x="6548877" y="968059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5DB913F-8C27-4838-A5FD-9E0848E6C61B}"/>
                </a:ext>
              </a:extLst>
            </p:cNvPr>
            <p:cNvCxnSpPr/>
            <p:nvPr/>
          </p:nvCxnSpPr>
          <p:spPr>
            <a:xfrm>
              <a:off x="6583190" y="1952499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05DB189-E07D-4E66-8369-174025FCB63D}"/>
                </a:ext>
              </a:extLst>
            </p:cNvPr>
            <p:cNvCxnSpPr/>
            <p:nvPr/>
          </p:nvCxnSpPr>
          <p:spPr>
            <a:xfrm>
              <a:off x="6656788" y="3063727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2B80C2-69F7-4A84-AD7F-F91547572FBB}"/>
                </a:ext>
              </a:extLst>
            </p:cNvPr>
            <p:cNvSpPr txBox="1"/>
            <p:nvPr/>
          </p:nvSpPr>
          <p:spPr>
            <a:xfrm>
              <a:off x="8360165" y="597810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Bugs</a:t>
              </a:r>
            </a:p>
          </p:txBody>
        </p:sp>
      </p:grpSp>
      <p:sp>
        <p:nvSpPr>
          <p:cNvPr id="71" name="Nonpurulent">
            <a:extLst>
              <a:ext uri="{FF2B5EF4-FFF2-40B4-BE49-F238E27FC236}">
                <a16:creationId xmlns:a16="http://schemas.microsoft.com/office/drawing/2014/main" id="{AE39F56A-E02F-472D-805A-4DECDAE394A3}"/>
              </a:ext>
            </a:extLst>
          </p:cNvPr>
          <p:cNvSpPr txBox="1"/>
          <p:nvPr/>
        </p:nvSpPr>
        <p:spPr>
          <a:xfrm>
            <a:off x="5037059" y="1504406"/>
            <a:ext cx="147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Non-purulent</a:t>
            </a:r>
          </a:p>
        </p:txBody>
      </p:sp>
      <p:sp>
        <p:nvSpPr>
          <p:cNvPr id="72" name="Purulent SSTI Bugs">
            <a:extLst>
              <a:ext uri="{FF2B5EF4-FFF2-40B4-BE49-F238E27FC236}">
                <a16:creationId xmlns:a16="http://schemas.microsoft.com/office/drawing/2014/main" id="{6CF98B57-B693-447D-A0F4-AA3977B92865}"/>
              </a:ext>
            </a:extLst>
          </p:cNvPr>
          <p:cNvSpPr/>
          <p:nvPr/>
        </p:nvSpPr>
        <p:spPr>
          <a:xfrm>
            <a:off x="6698409" y="2375380"/>
            <a:ext cx="2286000" cy="98295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Purulent Bugs</a:t>
            </a:r>
          </a:p>
        </p:txBody>
      </p:sp>
      <p:sp>
        <p:nvSpPr>
          <p:cNvPr id="73" name="Purulent SSTI Drugs">
            <a:extLst>
              <a:ext uri="{FF2B5EF4-FFF2-40B4-BE49-F238E27FC236}">
                <a16:creationId xmlns:a16="http://schemas.microsoft.com/office/drawing/2014/main" id="{F0E67721-68FD-44C7-AEEE-101041B025BB}"/>
              </a:ext>
            </a:extLst>
          </p:cNvPr>
          <p:cNvSpPr/>
          <p:nvPr/>
        </p:nvSpPr>
        <p:spPr>
          <a:xfrm>
            <a:off x="9263101" y="2375380"/>
            <a:ext cx="2286000" cy="95905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Purulent Drugs</a:t>
            </a:r>
          </a:p>
        </p:txBody>
      </p:sp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420E2C06-39AC-4679-B762-A10D9501D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3080" y="3141117"/>
            <a:ext cx="301752" cy="301752"/>
          </a:xfrm>
          <a:prstGeom prst="rect">
            <a:avLst/>
          </a:prstGeom>
        </p:spPr>
      </p:pic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D6A42BA6-6B0A-4905-AD9A-701C5D89D0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3618" y="3141117"/>
            <a:ext cx="301752" cy="301752"/>
          </a:xfrm>
          <a:prstGeom prst="rect">
            <a:avLst/>
          </a:prstGeom>
        </p:spPr>
      </p:pic>
      <p:sp>
        <p:nvSpPr>
          <p:cNvPr id="76" name="NSTI Bugs">
            <a:extLst>
              <a:ext uri="{FF2B5EF4-FFF2-40B4-BE49-F238E27FC236}">
                <a16:creationId xmlns:a16="http://schemas.microsoft.com/office/drawing/2014/main" id="{8858F27A-EC7F-431B-A358-5154EBE454C8}"/>
              </a:ext>
            </a:extLst>
          </p:cNvPr>
          <p:cNvSpPr/>
          <p:nvPr/>
        </p:nvSpPr>
        <p:spPr>
          <a:xfrm>
            <a:off x="6698409" y="3668115"/>
            <a:ext cx="2286000" cy="9070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NSTI Bugs</a:t>
            </a:r>
          </a:p>
        </p:txBody>
      </p:sp>
      <p:sp>
        <p:nvSpPr>
          <p:cNvPr id="77" name="NSTI Drugs">
            <a:extLst>
              <a:ext uri="{FF2B5EF4-FFF2-40B4-BE49-F238E27FC236}">
                <a16:creationId xmlns:a16="http://schemas.microsoft.com/office/drawing/2014/main" id="{6DB25AAF-2FA1-4A9B-9A0C-FD32AFDE3314}"/>
              </a:ext>
            </a:extLst>
          </p:cNvPr>
          <p:cNvSpPr/>
          <p:nvPr/>
        </p:nvSpPr>
        <p:spPr>
          <a:xfrm>
            <a:off x="9263101" y="3672052"/>
            <a:ext cx="2286000" cy="9070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NSTI Drugs</a:t>
            </a:r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738FBE14-EEE8-49EC-8B83-FEB923ECA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3080" y="4424300"/>
            <a:ext cx="301752" cy="301752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43AD467C-FFE5-4813-881A-33DC57F54D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3618" y="4424300"/>
            <a:ext cx="301752" cy="301752"/>
          </a:xfrm>
          <a:prstGeom prst="rect">
            <a:avLst/>
          </a:prstGeom>
        </p:spPr>
      </p:pic>
      <p:sp>
        <p:nvSpPr>
          <p:cNvPr id="80" name="CAP bugs info">
            <a:extLst>
              <a:ext uri="{FF2B5EF4-FFF2-40B4-BE49-F238E27FC236}">
                <a16:creationId xmlns:a16="http://schemas.microsoft.com/office/drawing/2014/main" id="{A16EEE14-E466-4AD3-AA0F-2C1817BE1453}"/>
              </a:ext>
            </a:extLst>
          </p:cNvPr>
          <p:cNvSpPr txBox="1"/>
          <p:nvPr/>
        </p:nvSpPr>
        <p:spPr>
          <a:xfrm>
            <a:off x="6734795" y="1355038"/>
            <a:ext cx="217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GPCs </a:t>
            </a:r>
          </a:p>
          <a:p>
            <a:pPr algn="ctr"/>
            <a:r>
              <a:rPr lang="en-US" dirty="0"/>
              <a:t>(</a:t>
            </a:r>
            <a:r>
              <a:rPr lang="en-US" i="1" dirty="0"/>
              <a:t>Strep</a:t>
            </a:r>
            <a:r>
              <a:rPr lang="en-US" dirty="0"/>
              <a:t> &gt;&gt; </a:t>
            </a:r>
            <a:r>
              <a:rPr lang="en-US" i="1" dirty="0"/>
              <a:t>S. aureus)</a:t>
            </a:r>
          </a:p>
        </p:txBody>
      </p:sp>
      <p:sp>
        <p:nvSpPr>
          <p:cNvPr id="81" name="CAP drugs info">
            <a:extLst>
              <a:ext uri="{FF2B5EF4-FFF2-40B4-BE49-F238E27FC236}">
                <a16:creationId xmlns:a16="http://schemas.microsoft.com/office/drawing/2014/main" id="{52558114-A259-4A08-BEDF-154ACDCBBCED}"/>
              </a:ext>
            </a:extLst>
          </p:cNvPr>
          <p:cNvSpPr txBox="1"/>
          <p:nvPr/>
        </p:nvSpPr>
        <p:spPr>
          <a:xfrm>
            <a:off x="9248970" y="1494712"/>
            <a:ext cx="239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dirty="0"/>
              <a:t>Cefazolin/ cephalexin</a:t>
            </a:r>
          </a:p>
        </p:txBody>
      </p:sp>
      <p:sp>
        <p:nvSpPr>
          <p:cNvPr id="82" name="HAP bugs info">
            <a:extLst>
              <a:ext uri="{FF2B5EF4-FFF2-40B4-BE49-F238E27FC236}">
                <a16:creationId xmlns:a16="http://schemas.microsoft.com/office/drawing/2014/main" id="{3C4FA331-994C-4DB0-86F8-CAFB0ED74773}"/>
              </a:ext>
            </a:extLst>
          </p:cNvPr>
          <p:cNvSpPr txBox="1"/>
          <p:nvPr/>
        </p:nvSpPr>
        <p:spPr>
          <a:xfrm>
            <a:off x="6647685" y="2592087"/>
            <a:ext cx="2256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MSSA/ MRSA</a:t>
            </a:r>
          </a:p>
          <a:p>
            <a:pPr algn="ctr"/>
            <a:r>
              <a:rPr lang="en-US" dirty="0"/>
              <a:t>GAS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5B73FE-8A8C-42D6-8255-6F787383F8AE}"/>
              </a:ext>
            </a:extLst>
          </p:cNvPr>
          <p:cNvSpPr txBox="1"/>
          <p:nvPr/>
        </p:nvSpPr>
        <p:spPr>
          <a:xfrm>
            <a:off x="9308821" y="2428285"/>
            <a:ext cx="2566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dirty="0"/>
              <a:t>Vancomycin/ daptomycin</a:t>
            </a:r>
          </a:p>
          <a:p>
            <a:pPr marL="120650" indent="-120650"/>
            <a:r>
              <a:rPr lang="en-US" dirty="0"/>
              <a:t>Bactrim/ doxycycline ± cephalexin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F66D19-76EC-43A8-8BA6-39EA90CB73AF}"/>
              </a:ext>
            </a:extLst>
          </p:cNvPr>
          <p:cNvSpPr txBox="1"/>
          <p:nvPr/>
        </p:nvSpPr>
        <p:spPr>
          <a:xfrm>
            <a:off x="6551186" y="3594052"/>
            <a:ext cx="24497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GAS &gt; </a:t>
            </a:r>
            <a:r>
              <a:rPr lang="en-US" sz="1600" i="1" dirty="0"/>
              <a:t>S. aureus</a:t>
            </a:r>
          </a:p>
          <a:p>
            <a:pPr algn="ctr"/>
            <a:r>
              <a:rPr lang="en-US" sz="1600" dirty="0"/>
              <a:t>GNRs (</a:t>
            </a:r>
            <a:r>
              <a:rPr lang="en-US" sz="1600" i="1" dirty="0"/>
              <a:t>Aeromonas, Vibrio)</a:t>
            </a:r>
          </a:p>
          <a:p>
            <a:pPr algn="ctr"/>
            <a:r>
              <a:rPr lang="en-US" sz="1600" dirty="0"/>
              <a:t>Anaerobes</a:t>
            </a:r>
            <a:r>
              <a:rPr lang="en-US" sz="1600" i="1" dirty="0"/>
              <a:t> (Clostridium)</a:t>
            </a:r>
          </a:p>
          <a:p>
            <a:pPr algn="ctr"/>
            <a:r>
              <a:rPr lang="en-US" sz="1600" dirty="0"/>
              <a:t>Polymicrobial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EB03D4-9AEF-40C8-AB11-E7E98A76323C}"/>
              </a:ext>
            </a:extLst>
          </p:cNvPr>
          <p:cNvSpPr txBox="1"/>
          <p:nvPr/>
        </p:nvSpPr>
        <p:spPr>
          <a:xfrm>
            <a:off x="9207654" y="3695442"/>
            <a:ext cx="2603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dirty="0"/>
              <a:t>Vancomycin /daptomycin </a:t>
            </a:r>
            <a:br>
              <a:rPr lang="en-US" dirty="0"/>
            </a:br>
            <a:r>
              <a:rPr lang="en-US" dirty="0"/>
              <a:t>+ Zosyn/ meropenem  </a:t>
            </a:r>
            <a:br>
              <a:rPr lang="en-US" dirty="0"/>
            </a:br>
            <a:r>
              <a:rPr lang="en-US" dirty="0"/>
              <a:t>+ clindamycin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EFE04C4-C526-4A1B-B281-1E949C059C55}"/>
              </a:ext>
            </a:extLst>
          </p:cNvPr>
          <p:cNvSpPr/>
          <p:nvPr/>
        </p:nvSpPr>
        <p:spPr>
          <a:xfrm>
            <a:off x="5827562" y="4992531"/>
            <a:ext cx="5762386" cy="11586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Treatment for NSTI includes early surgical debridement. Surgery should be consulted on all patients with suspected NSTI. The addition of clindamycin provides antitoxin effect.</a:t>
            </a:r>
          </a:p>
        </p:txBody>
      </p:sp>
      <p:sp>
        <p:nvSpPr>
          <p:cNvPr id="89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C6700BCD-C85E-49A2-AD38-63E2BD4F689A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AC0B2794-E734-42CF-A150-218CC1915F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7821" y="1044490"/>
            <a:ext cx="301752" cy="301752"/>
          </a:xfrm>
          <a:prstGeom prst="rect">
            <a:avLst/>
          </a:prstGeom>
        </p:spPr>
      </p:pic>
      <p:pic>
        <p:nvPicPr>
          <p:cNvPr id="92" name="Graphic 91" descr="Cursor with solid fill">
            <a:extLst>
              <a:ext uri="{FF2B5EF4-FFF2-40B4-BE49-F238E27FC236}">
                <a16:creationId xmlns:a16="http://schemas.microsoft.com/office/drawing/2014/main" id="{C250CE6C-F72D-4019-B189-E0B74AA8E2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7821" y="454162"/>
            <a:ext cx="301752" cy="301752"/>
          </a:xfrm>
          <a:prstGeom prst="rect">
            <a:avLst/>
          </a:prstGeom>
        </p:spPr>
      </p:pic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2D68D323-C378-410D-BA12-44E2A58300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pic>
        <p:nvPicPr>
          <p:cNvPr id="95" name="Graphic 94" descr="Cursor with solid fill">
            <a:extLst>
              <a:ext uri="{FF2B5EF4-FFF2-40B4-BE49-F238E27FC236}">
                <a16:creationId xmlns:a16="http://schemas.microsoft.com/office/drawing/2014/main" id="{E7586C2D-44AC-4415-88D9-42AB86F7C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pic>
        <p:nvPicPr>
          <p:cNvPr id="96" name="Graphic 95" descr="Cursor with solid fill">
            <a:extLst>
              <a:ext uri="{FF2B5EF4-FFF2-40B4-BE49-F238E27FC236}">
                <a16:creationId xmlns:a16="http://schemas.microsoft.com/office/drawing/2014/main" id="{29DD4709-5B28-44F7-8766-B22B19CDB8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2867369"/>
            <a:ext cx="301752" cy="301752"/>
          </a:xfrm>
          <a:prstGeom prst="rect">
            <a:avLst/>
          </a:prstGeom>
        </p:spPr>
      </p:pic>
      <p:pic>
        <p:nvPicPr>
          <p:cNvPr id="97" name="Graphic 96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B483A0D6-9E3A-49DC-B700-6C0CB588D2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348539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1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72" grpId="0" animBg="1"/>
      <p:bldP spid="73" grpId="0" animBg="1"/>
      <p:bldP spid="76" grpId="0" animBg="1"/>
      <p:bldP spid="77" grpId="0" animBg="1"/>
      <p:bldP spid="80" grpId="0"/>
      <p:bldP spid="81" grpId="0"/>
      <p:bldP spid="82" grpId="0"/>
      <p:bldP spid="83" grpId="0"/>
      <p:bldP spid="84" grpId="0"/>
      <p:bldP spid="85" grpId="0"/>
      <p:bldP spid="9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ases">
            <a:hlinkClick r:id="rId2" action="ppaction://hlinksldjump"/>
            <a:extLst>
              <a:ext uri="{FF2B5EF4-FFF2-40B4-BE49-F238E27FC236}">
                <a16:creationId xmlns:a16="http://schemas.microsoft.com/office/drawing/2014/main" id="{1D93A779-B39C-4CF8-9A63-1A8E2E609F24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4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A9AB24B8-C50F-46EE-B316-A6D98DF23141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47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A3FE18C9-ABA8-4CA5-AF6E-E1215E9C37F6}"/>
              </a:ext>
            </a:extLst>
          </p:cNvPr>
          <p:cNvSpPr txBox="1"/>
          <p:nvPr/>
        </p:nvSpPr>
        <p:spPr>
          <a:xfrm>
            <a:off x="251420" y="806840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sp>
        <p:nvSpPr>
          <p:cNvPr id="50" name="cancer screening text">
            <a:hlinkClick r:id="rId4" action="ppaction://hlinksldjump"/>
            <a:extLst>
              <a:ext uri="{FF2B5EF4-FFF2-40B4-BE49-F238E27FC236}">
                <a16:creationId xmlns:a16="http://schemas.microsoft.com/office/drawing/2014/main" id="{4DEB847F-7A91-4CBF-A64C-4E9C90E5F3CF}"/>
              </a:ext>
            </a:extLst>
          </p:cNvPr>
          <p:cNvSpPr txBox="1"/>
          <p:nvPr/>
        </p:nvSpPr>
        <p:spPr>
          <a:xfrm>
            <a:off x="259915" y="2017063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sp>
        <p:nvSpPr>
          <p:cNvPr id="52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9C9C3072-4A42-4555-9B42-7F0DF5334209}"/>
              </a:ext>
            </a:extLst>
          </p:cNvPr>
          <p:cNvSpPr txBox="1"/>
          <p:nvPr/>
        </p:nvSpPr>
        <p:spPr>
          <a:xfrm>
            <a:off x="259915" y="2610286"/>
            <a:ext cx="1715032" cy="40862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Intraabdominal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74062-4099-49D4-B8FE-0ABE6A1394AB}"/>
              </a:ext>
            </a:extLst>
          </p:cNvPr>
          <p:cNvSpPr txBox="1"/>
          <p:nvPr/>
        </p:nvSpPr>
        <p:spPr>
          <a:xfrm>
            <a:off x="3657883" y="196847"/>
            <a:ext cx="4876234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INTRAABDOMINAL INFECTIONS</a:t>
            </a:r>
          </a:p>
        </p:txBody>
      </p:sp>
      <p:sp>
        <p:nvSpPr>
          <p:cNvPr id="86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3130AC94-3CA7-4417-8C0D-BDA96C18107D}"/>
              </a:ext>
            </a:extLst>
          </p:cNvPr>
          <p:cNvSpPr txBox="1"/>
          <p:nvPr/>
        </p:nvSpPr>
        <p:spPr>
          <a:xfrm>
            <a:off x="251420" y="1405277"/>
            <a:ext cx="171503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8280EF00-D924-44DA-932F-20A0BB78B8AD}"/>
              </a:ext>
            </a:extLst>
          </p:cNvPr>
          <p:cNvSpPr/>
          <p:nvPr/>
        </p:nvSpPr>
        <p:spPr>
          <a:xfrm>
            <a:off x="3754513" y="3712395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rgbClr val="FFCC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081CA1B9-30B4-4E89-9E3C-CD05EA694810}"/>
              </a:ext>
            </a:extLst>
          </p:cNvPr>
          <p:cNvSpPr/>
          <p:nvPr/>
        </p:nvSpPr>
        <p:spPr>
          <a:xfrm>
            <a:off x="3754512" y="2479400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A1D3ADB9-8403-4BE6-8433-27FB21C2D622}"/>
              </a:ext>
            </a:extLst>
          </p:cNvPr>
          <p:cNvSpPr/>
          <p:nvPr/>
        </p:nvSpPr>
        <p:spPr>
          <a:xfrm flipH="1">
            <a:off x="4562911" y="2464683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17B4E37-9595-4909-9C5C-7661CD433FE5}"/>
              </a:ext>
            </a:extLst>
          </p:cNvPr>
          <p:cNvGrpSpPr/>
          <p:nvPr/>
        </p:nvGrpSpPr>
        <p:grpSpPr>
          <a:xfrm>
            <a:off x="4224447" y="3727112"/>
            <a:ext cx="1183772" cy="1820338"/>
            <a:chOff x="4948037" y="2700862"/>
            <a:chExt cx="1186329" cy="1342815"/>
          </a:xfrm>
          <a:solidFill>
            <a:schemeClr val="bg2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C5AA133-F596-425F-AA77-806B9A184BAD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11384FD-8AEC-4557-99BC-56B6FC23A6B0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B9BF38-BD3F-4748-A441-FAA063529EFE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051694B7-EDBB-4447-A4B3-2D22366A38D9}"/>
              </a:ext>
            </a:extLst>
          </p:cNvPr>
          <p:cNvSpPr/>
          <p:nvPr/>
        </p:nvSpPr>
        <p:spPr>
          <a:xfrm>
            <a:off x="3746875" y="3647146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F03B7005-7CFA-4BF2-A0F5-CFF0408EE98E}"/>
              </a:ext>
            </a:extLst>
          </p:cNvPr>
          <p:cNvSpPr/>
          <p:nvPr/>
        </p:nvSpPr>
        <p:spPr>
          <a:xfrm>
            <a:off x="3885204" y="3906487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DA7E6AE4-1542-4CC9-BF90-74B3C3EDBA08}"/>
              </a:ext>
            </a:extLst>
          </p:cNvPr>
          <p:cNvSpPr/>
          <p:nvPr/>
        </p:nvSpPr>
        <p:spPr>
          <a:xfrm>
            <a:off x="2306459" y="2492528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4">
            <a:extLst>
              <a:ext uri="{FF2B5EF4-FFF2-40B4-BE49-F238E27FC236}">
                <a16:creationId xmlns:a16="http://schemas.microsoft.com/office/drawing/2014/main" id="{CBFB0281-FB6E-4A9B-A77F-9AF326DAB91E}"/>
              </a:ext>
            </a:extLst>
          </p:cNvPr>
          <p:cNvSpPr/>
          <p:nvPr/>
        </p:nvSpPr>
        <p:spPr>
          <a:xfrm>
            <a:off x="4145862" y="1207442"/>
            <a:ext cx="684798" cy="902869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  <a:gd name="connsiteX0" fmla="*/ 282883 w 540188"/>
              <a:gd name="connsiteY0" fmla="*/ 777489 h 777508"/>
              <a:gd name="connsiteX1" fmla="*/ 28623 w 540188"/>
              <a:gd name="connsiteY1" fmla="*/ 335106 h 777508"/>
              <a:gd name="connsiteX2" fmla="*/ 301903 w 540188"/>
              <a:gd name="connsiteY2" fmla="*/ 43 h 777508"/>
              <a:gd name="connsiteX3" fmla="*/ 509367 w 540188"/>
              <a:gd name="connsiteY3" fmla="*/ 320288 h 777508"/>
              <a:gd name="connsiteX4" fmla="*/ 282883 w 540188"/>
              <a:gd name="connsiteY4" fmla="*/ 777489 h 777508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01903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777720 h 777739"/>
              <a:gd name="connsiteX1" fmla="*/ 28623 w 540188"/>
              <a:gd name="connsiteY1" fmla="*/ 335337 h 777739"/>
              <a:gd name="connsiteX2" fmla="*/ 363950 w 540188"/>
              <a:gd name="connsiteY2" fmla="*/ 274 h 777739"/>
              <a:gd name="connsiteX3" fmla="*/ 509367 w 540188"/>
              <a:gd name="connsiteY3" fmla="*/ 320519 h 777739"/>
              <a:gd name="connsiteX4" fmla="*/ 282883 w 540188"/>
              <a:gd name="connsiteY4" fmla="*/ 777720 h 777739"/>
              <a:gd name="connsiteX0" fmla="*/ 282883 w 540188"/>
              <a:gd name="connsiteY0" fmla="*/ 804011 h 804030"/>
              <a:gd name="connsiteX1" fmla="*/ 28623 w 540188"/>
              <a:gd name="connsiteY1" fmla="*/ 361628 h 804030"/>
              <a:gd name="connsiteX2" fmla="*/ 263123 w 540188"/>
              <a:gd name="connsiteY2" fmla="*/ 221 h 804030"/>
              <a:gd name="connsiteX3" fmla="*/ 509367 w 540188"/>
              <a:gd name="connsiteY3" fmla="*/ 346810 h 804030"/>
              <a:gd name="connsiteX4" fmla="*/ 282883 w 540188"/>
              <a:gd name="connsiteY4" fmla="*/ 804011 h 804030"/>
              <a:gd name="connsiteX0" fmla="*/ 282883 w 540188"/>
              <a:gd name="connsiteY0" fmla="*/ 804434 h 804453"/>
              <a:gd name="connsiteX1" fmla="*/ 28623 w 540188"/>
              <a:gd name="connsiteY1" fmla="*/ 362051 h 804453"/>
              <a:gd name="connsiteX2" fmla="*/ 263123 w 540188"/>
              <a:gd name="connsiteY2" fmla="*/ 644 h 804453"/>
              <a:gd name="connsiteX3" fmla="*/ 509367 w 540188"/>
              <a:gd name="connsiteY3" fmla="*/ 347233 h 804453"/>
              <a:gd name="connsiteX4" fmla="*/ 282883 w 540188"/>
              <a:gd name="connsiteY4" fmla="*/ 804434 h 804453"/>
              <a:gd name="connsiteX0" fmla="*/ 282883 w 540188"/>
              <a:gd name="connsiteY0" fmla="*/ 806332 h 806351"/>
              <a:gd name="connsiteX1" fmla="*/ 28623 w 540188"/>
              <a:gd name="connsiteY1" fmla="*/ 363949 h 806351"/>
              <a:gd name="connsiteX2" fmla="*/ 263123 w 540188"/>
              <a:gd name="connsiteY2" fmla="*/ 2542 h 806351"/>
              <a:gd name="connsiteX3" fmla="*/ 509367 w 540188"/>
              <a:gd name="connsiteY3" fmla="*/ 349131 h 806351"/>
              <a:gd name="connsiteX4" fmla="*/ 282883 w 540188"/>
              <a:gd name="connsiteY4" fmla="*/ 806332 h 80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806351">
                <a:moveTo>
                  <a:pt x="282883" y="806332"/>
                </a:moveTo>
                <a:cubicBezTo>
                  <a:pt x="202759" y="808802"/>
                  <a:pt x="-92027" y="577380"/>
                  <a:pt x="28623" y="363949"/>
                </a:cubicBezTo>
                <a:cubicBezTo>
                  <a:pt x="-68744" y="124765"/>
                  <a:pt x="105440" y="-21331"/>
                  <a:pt x="263123" y="2542"/>
                </a:cubicBezTo>
                <a:cubicBezTo>
                  <a:pt x="459586" y="-8709"/>
                  <a:pt x="594034" y="128128"/>
                  <a:pt x="509367" y="349131"/>
                </a:cubicBezTo>
                <a:cubicBezTo>
                  <a:pt x="630017" y="595534"/>
                  <a:pt x="363007" y="803862"/>
                  <a:pt x="282883" y="806332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A-IAI Bugs">
            <a:extLst>
              <a:ext uri="{FF2B5EF4-FFF2-40B4-BE49-F238E27FC236}">
                <a16:creationId xmlns:a16="http://schemas.microsoft.com/office/drawing/2014/main" id="{841D2098-5507-4F02-AFA6-B4C0F004F042}"/>
              </a:ext>
            </a:extLst>
          </p:cNvPr>
          <p:cNvSpPr/>
          <p:nvPr/>
        </p:nvSpPr>
        <p:spPr>
          <a:xfrm>
            <a:off x="6893951" y="1503882"/>
            <a:ext cx="2266253" cy="988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CA-IAI Bugs</a:t>
            </a:r>
          </a:p>
        </p:txBody>
      </p:sp>
      <p:sp>
        <p:nvSpPr>
          <p:cNvPr id="39" name="CA-IAI Drugs">
            <a:extLst>
              <a:ext uri="{FF2B5EF4-FFF2-40B4-BE49-F238E27FC236}">
                <a16:creationId xmlns:a16="http://schemas.microsoft.com/office/drawing/2014/main" id="{B289421D-735C-4444-91E7-4F2705B263F6}"/>
              </a:ext>
            </a:extLst>
          </p:cNvPr>
          <p:cNvSpPr/>
          <p:nvPr/>
        </p:nvSpPr>
        <p:spPr>
          <a:xfrm>
            <a:off x="9453915" y="1509104"/>
            <a:ext cx="2281179" cy="963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CA-IAI Drugs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CBBA72A6-C7E9-4632-A2A5-BDC23D660D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1833" y="2307407"/>
            <a:ext cx="301752" cy="301752"/>
          </a:xfrm>
          <a:prstGeom prst="rect">
            <a:avLst/>
          </a:prstGeom>
        </p:spPr>
      </p:pic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E8A6B0AE-DB64-4FEC-A262-DA52B88CA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82425" y="2307407"/>
            <a:ext cx="301752" cy="301752"/>
          </a:xfrm>
          <a:prstGeom prst="rect">
            <a:avLst/>
          </a:prstGeom>
        </p:spPr>
      </p:pic>
      <p:sp>
        <p:nvSpPr>
          <p:cNvPr id="42" name="Purulent">
            <a:extLst>
              <a:ext uri="{FF2B5EF4-FFF2-40B4-BE49-F238E27FC236}">
                <a16:creationId xmlns:a16="http://schemas.microsoft.com/office/drawing/2014/main" id="{E4B894E3-1753-40C9-BD1C-4CF5074A21D3}"/>
              </a:ext>
            </a:extLst>
          </p:cNvPr>
          <p:cNvSpPr txBox="1"/>
          <p:nvPr/>
        </p:nvSpPr>
        <p:spPr>
          <a:xfrm>
            <a:off x="5417727" y="3097821"/>
            <a:ext cx="115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Hospital acquired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769DDC-BCEB-48A5-821F-3E4E62DE2B34}"/>
              </a:ext>
            </a:extLst>
          </p:cNvPr>
          <p:cNvGrpSpPr/>
          <p:nvPr/>
        </p:nvGrpSpPr>
        <p:grpSpPr>
          <a:xfrm>
            <a:off x="5272936" y="920385"/>
            <a:ext cx="6346161" cy="3124665"/>
            <a:chOff x="6548877" y="597810"/>
            <a:chExt cx="5309953" cy="273334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51830C-ED1F-49ED-B620-904F88B841FA}"/>
                </a:ext>
              </a:extLst>
            </p:cNvPr>
            <p:cNvSpPr txBox="1"/>
            <p:nvPr/>
          </p:nvSpPr>
          <p:spPr>
            <a:xfrm>
              <a:off x="10409948" y="609049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Drugs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B852BAF-6BDE-4680-A365-367E1A3AEE30}"/>
                </a:ext>
              </a:extLst>
            </p:cNvPr>
            <p:cNvCxnSpPr>
              <a:cxnSpLocks/>
            </p:cNvCxnSpPr>
            <p:nvPr/>
          </p:nvCxnSpPr>
          <p:spPr>
            <a:xfrm>
              <a:off x="7761981" y="696634"/>
              <a:ext cx="6889" cy="26345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5E87D23-C394-494E-A7D6-0F06D23C594E}"/>
                </a:ext>
              </a:extLst>
            </p:cNvPr>
            <p:cNvCxnSpPr>
              <a:cxnSpLocks/>
            </p:cNvCxnSpPr>
            <p:nvPr/>
          </p:nvCxnSpPr>
          <p:spPr>
            <a:xfrm>
              <a:off x="9913030" y="656756"/>
              <a:ext cx="20985" cy="26326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4AC4A1F-DAA6-4893-A084-AF0F22094D88}"/>
                </a:ext>
              </a:extLst>
            </p:cNvPr>
            <p:cNvCxnSpPr/>
            <p:nvPr/>
          </p:nvCxnSpPr>
          <p:spPr>
            <a:xfrm>
              <a:off x="6548877" y="968059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A16710E-3493-4A7F-BB72-0C4E10AED008}"/>
                </a:ext>
              </a:extLst>
            </p:cNvPr>
            <p:cNvCxnSpPr/>
            <p:nvPr/>
          </p:nvCxnSpPr>
          <p:spPr>
            <a:xfrm>
              <a:off x="6548877" y="2148441"/>
              <a:ext cx="53099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933DAA-4DBE-4C67-8041-2A6D4F75A121}"/>
                </a:ext>
              </a:extLst>
            </p:cNvPr>
            <p:cNvSpPr txBox="1"/>
            <p:nvPr/>
          </p:nvSpPr>
          <p:spPr>
            <a:xfrm>
              <a:off x="8360165" y="597810"/>
              <a:ext cx="100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Bugs</a:t>
              </a:r>
            </a:p>
          </p:txBody>
        </p:sp>
      </p:grpSp>
      <p:sp>
        <p:nvSpPr>
          <p:cNvPr id="59" name="Nonpurulent">
            <a:extLst>
              <a:ext uri="{FF2B5EF4-FFF2-40B4-BE49-F238E27FC236}">
                <a16:creationId xmlns:a16="http://schemas.microsoft.com/office/drawing/2014/main" id="{A6E6E8AC-B217-485C-8115-B624ABB2E0F3}"/>
              </a:ext>
            </a:extLst>
          </p:cNvPr>
          <p:cNvSpPr txBox="1"/>
          <p:nvPr/>
        </p:nvSpPr>
        <p:spPr>
          <a:xfrm>
            <a:off x="5210191" y="1718021"/>
            <a:ext cx="147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Community acquired</a:t>
            </a:r>
          </a:p>
        </p:txBody>
      </p:sp>
      <p:sp>
        <p:nvSpPr>
          <p:cNvPr id="60" name="HA-IAI Bugs">
            <a:extLst>
              <a:ext uri="{FF2B5EF4-FFF2-40B4-BE49-F238E27FC236}">
                <a16:creationId xmlns:a16="http://schemas.microsoft.com/office/drawing/2014/main" id="{3588BDA5-92CF-418B-B476-30A617FB22B7}"/>
              </a:ext>
            </a:extLst>
          </p:cNvPr>
          <p:cNvSpPr/>
          <p:nvPr/>
        </p:nvSpPr>
        <p:spPr>
          <a:xfrm>
            <a:off x="6897852" y="2920716"/>
            <a:ext cx="2258451" cy="99245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Purulent Bugs</a:t>
            </a:r>
          </a:p>
        </p:txBody>
      </p:sp>
      <p:sp>
        <p:nvSpPr>
          <p:cNvPr id="61" name="HA-IAI drugs">
            <a:extLst>
              <a:ext uri="{FF2B5EF4-FFF2-40B4-BE49-F238E27FC236}">
                <a16:creationId xmlns:a16="http://schemas.microsoft.com/office/drawing/2014/main" id="{A02A4881-8B30-4F53-9714-CE26F5604919}"/>
              </a:ext>
            </a:extLst>
          </p:cNvPr>
          <p:cNvSpPr/>
          <p:nvPr/>
        </p:nvSpPr>
        <p:spPr>
          <a:xfrm>
            <a:off x="9454259" y="2914186"/>
            <a:ext cx="2280491" cy="99990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Purulent Drugs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F55EF62F-0790-432D-A15E-5C99AF5BD2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1833" y="3744152"/>
            <a:ext cx="301752" cy="301752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B8092115-3A4F-4F01-8CE3-092624657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82425" y="3744152"/>
            <a:ext cx="301752" cy="301752"/>
          </a:xfrm>
          <a:prstGeom prst="rect">
            <a:avLst/>
          </a:prstGeom>
        </p:spPr>
      </p:pic>
      <p:sp>
        <p:nvSpPr>
          <p:cNvPr id="64" name="CA-IAI bugs info">
            <a:extLst>
              <a:ext uri="{FF2B5EF4-FFF2-40B4-BE49-F238E27FC236}">
                <a16:creationId xmlns:a16="http://schemas.microsoft.com/office/drawing/2014/main" id="{005856B8-FD19-43DC-91E0-23837512921D}"/>
              </a:ext>
            </a:extLst>
          </p:cNvPr>
          <p:cNvSpPr txBox="1"/>
          <p:nvPr/>
        </p:nvSpPr>
        <p:spPr>
          <a:xfrm>
            <a:off x="6826485" y="1451956"/>
            <a:ext cx="2382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Enteric GNRs</a:t>
            </a:r>
          </a:p>
          <a:p>
            <a:pPr algn="ctr"/>
            <a:r>
              <a:rPr lang="en-US" i="1" dirty="0"/>
              <a:t>Streptococci</a:t>
            </a:r>
          </a:p>
          <a:p>
            <a:pPr marL="112713" indent="-112713" algn="ctr"/>
            <a:r>
              <a:rPr lang="en-US" dirty="0"/>
              <a:t>Anaerobes (</a:t>
            </a:r>
            <a:r>
              <a:rPr lang="en-US" i="1" dirty="0"/>
              <a:t>B. fragil</a:t>
            </a:r>
            <a:r>
              <a:rPr lang="en-US" dirty="0"/>
              <a:t>is)</a:t>
            </a:r>
            <a:endParaRPr lang="en-US" i="1" dirty="0"/>
          </a:p>
        </p:txBody>
      </p:sp>
      <p:sp>
        <p:nvSpPr>
          <p:cNvPr id="65" name="CAP drugs info">
            <a:extLst>
              <a:ext uri="{FF2B5EF4-FFF2-40B4-BE49-F238E27FC236}">
                <a16:creationId xmlns:a16="http://schemas.microsoft.com/office/drawing/2014/main" id="{CB2F7183-C632-4D4F-B30F-074B022587D5}"/>
              </a:ext>
            </a:extLst>
          </p:cNvPr>
          <p:cNvSpPr txBox="1"/>
          <p:nvPr/>
        </p:nvSpPr>
        <p:spPr>
          <a:xfrm>
            <a:off x="9481953" y="1529805"/>
            <a:ext cx="2396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dirty="0"/>
              <a:t>3</a:t>
            </a:r>
            <a:r>
              <a:rPr lang="en-US" baseline="30000" dirty="0"/>
              <a:t>o</a:t>
            </a:r>
            <a:r>
              <a:rPr lang="en-US" dirty="0"/>
              <a:t> cephalosporin + metronidazole</a:t>
            </a:r>
          </a:p>
          <a:p>
            <a:pPr marL="112713" indent="-112713"/>
            <a:r>
              <a:rPr lang="en-US" dirty="0"/>
              <a:t>FQ + metronidazole</a:t>
            </a:r>
          </a:p>
        </p:txBody>
      </p:sp>
      <p:sp>
        <p:nvSpPr>
          <p:cNvPr id="66" name="HA-IAI bugs info">
            <a:extLst>
              <a:ext uri="{FF2B5EF4-FFF2-40B4-BE49-F238E27FC236}">
                <a16:creationId xmlns:a16="http://schemas.microsoft.com/office/drawing/2014/main" id="{9730D942-867C-40DC-B9C2-B872EB204385}"/>
              </a:ext>
            </a:extLst>
          </p:cNvPr>
          <p:cNvSpPr txBox="1"/>
          <p:nvPr/>
        </p:nvSpPr>
        <p:spPr>
          <a:xfrm>
            <a:off x="6904708" y="2967335"/>
            <a:ext cx="2256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+ P. aeruginosa</a:t>
            </a:r>
          </a:p>
          <a:p>
            <a:pPr algn="ctr"/>
            <a:r>
              <a:rPr lang="en-US" i="1" dirty="0"/>
              <a:t>+ Enterococcus</a:t>
            </a:r>
          </a:p>
          <a:p>
            <a:pPr algn="ctr"/>
            <a:r>
              <a:rPr lang="en-US" dirty="0"/>
              <a:t>+ </a:t>
            </a:r>
            <a:r>
              <a:rPr lang="en-US" dirty="0" err="1"/>
              <a:t>CoNS</a:t>
            </a:r>
            <a:r>
              <a:rPr lang="en-US" dirty="0"/>
              <a:t>, S. aureus</a:t>
            </a:r>
          </a:p>
        </p:txBody>
      </p:sp>
      <p:sp>
        <p:nvSpPr>
          <p:cNvPr id="67" name="HA-IAI drugs info">
            <a:extLst>
              <a:ext uri="{FF2B5EF4-FFF2-40B4-BE49-F238E27FC236}">
                <a16:creationId xmlns:a16="http://schemas.microsoft.com/office/drawing/2014/main" id="{C3E6DCD5-763B-4A98-8718-8C4AEA302811}"/>
              </a:ext>
            </a:extLst>
          </p:cNvPr>
          <p:cNvSpPr txBox="1"/>
          <p:nvPr/>
        </p:nvSpPr>
        <p:spPr>
          <a:xfrm>
            <a:off x="9476793" y="2837755"/>
            <a:ext cx="25668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120650"/>
            <a:r>
              <a:rPr lang="en-US" dirty="0"/>
              <a:t>Zosyn/ cefepime + metronidazole/ meropenem</a:t>
            </a:r>
          </a:p>
          <a:p>
            <a:pPr marL="120650" indent="-120650"/>
            <a:r>
              <a:rPr lang="en-US" dirty="0"/>
              <a:t>± Vancomycin  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1F2A5EAE-2B3F-4590-A5A2-DEF7C80B6C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7821" y="1044490"/>
            <a:ext cx="301752" cy="301752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4ADE1ED0-683C-465D-BF4D-E0BD370AE7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7821" y="454162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21E42C3E-E86E-46E4-800B-2BDD64F7F3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2053858B-3789-43D2-B6F2-3D0FC4D752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pic>
        <p:nvPicPr>
          <p:cNvPr id="72" name="Graphic 71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C11AEB88-500F-4688-8635-5412B0F8A8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097" y="348539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60" grpId="0" animBg="1"/>
      <p:bldP spid="61" grpId="0" animBg="1"/>
      <p:bldP spid="64" grpId="0"/>
      <p:bldP spid="65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1">
            <a:extLst>
              <a:ext uri="{FF2B5EF4-FFF2-40B4-BE49-F238E27FC236}">
                <a16:creationId xmlns:a16="http://schemas.microsoft.com/office/drawing/2014/main" id="{83AEAFED-9BC8-4029-B733-70D77E0BB4B6}"/>
              </a:ext>
            </a:extLst>
          </p:cNvPr>
          <p:cNvSpPr/>
          <p:nvPr/>
        </p:nvSpPr>
        <p:spPr>
          <a:xfrm>
            <a:off x="2948658" y="152184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8" name="Case 1 Diagnosis?">
            <a:extLst>
              <a:ext uri="{FF2B5EF4-FFF2-40B4-BE49-F238E27FC236}">
                <a16:creationId xmlns:a16="http://schemas.microsoft.com/office/drawing/2014/main" id="{41A15275-3982-4B8B-AD86-EC00D8FE23FF}"/>
              </a:ext>
            </a:extLst>
          </p:cNvPr>
          <p:cNvSpPr/>
          <p:nvPr/>
        </p:nvSpPr>
        <p:spPr>
          <a:xfrm>
            <a:off x="2270398" y="2127910"/>
            <a:ext cx="3291840" cy="7205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20" name="Case 1 - diagnosis answer">
            <a:extLst>
              <a:ext uri="{FF2B5EF4-FFF2-40B4-BE49-F238E27FC236}">
                <a16:creationId xmlns:a16="http://schemas.microsoft.com/office/drawing/2014/main" id="{A8830DAE-E348-4672-B8E2-9E9C0BD4D063}"/>
              </a:ext>
            </a:extLst>
          </p:cNvPr>
          <p:cNvSpPr/>
          <p:nvPr/>
        </p:nvSpPr>
        <p:spPr>
          <a:xfrm>
            <a:off x="2270399" y="2127497"/>
            <a:ext cx="3291840" cy="7189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CAP.</a:t>
            </a:r>
            <a:r>
              <a:rPr lang="en-US" sz="1400" dirty="0"/>
              <a:t> Based on his vital signs and age (CURB-65), he should be managed in the hospital.</a:t>
            </a:r>
          </a:p>
        </p:txBody>
      </p:sp>
      <p:sp>
        <p:nvSpPr>
          <p:cNvPr id="6" name="Case 1 text">
            <a:extLst>
              <a:ext uri="{FF2B5EF4-FFF2-40B4-BE49-F238E27FC236}">
                <a16:creationId xmlns:a16="http://schemas.microsoft.com/office/drawing/2014/main" id="{E2838D88-E299-4555-98BC-464F26020CED}"/>
              </a:ext>
            </a:extLst>
          </p:cNvPr>
          <p:cNvSpPr txBox="1"/>
          <p:nvPr/>
        </p:nvSpPr>
        <p:spPr>
          <a:xfrm>
            <a:off x="2279087" y="649316"/>
            <a:ext cx="3352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70 yo presents to ED with 4 days of productive cough, malaise and fevers. T 100.9F, HR 110, BP 99/53, RR 33, SpO2 90%. </a:t>
            </a:r>
          </a:p>
          <a:p>
            <a:endParaRPr lang="en-US" sz="600" dirty="0"/>
          </a:p>
          <a:p>
            <a:r>
              <a:rPr lang="en-US" sz="1400" dirty="0"/>
              <a:t>WBC is 17k, lactate is 2.1. CXR is notable for a focal consolidation in the RLL. 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E604135A-37BF-4A82-A54E-11FCACE4C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15" y="2695219"/>
            <a:ext cx="301752" cy="301752"/>
          </a:xfrm>
          <a:prstGeom prst="rect">
            <a:avLst/>
          </a:prstGeom>
        </p:spPr>
      </p:pic>
      <p:sp>
        <p:nvSpPr>
          <p:cNvPr id="35" name="Case 1 Bugs?">
            <a:extLst>
              <a:ext uri="{FF2B5EF4-FFF2-40B4-BE49-F238E27FC236}">
                <a16:creationId xmlns:a16="http://schemas.microsoft.com/office/drawing/2014/main" id="{EE3FD6EF-AEF8-4EAA-A661-19A56AD76F62}"/>
              </a:ext>
            </a:extLst>
          </p:cNvPr>
          <p:cNvSpPr/>
          <p:nvPr/>
        </p:nvSpPr>
        <p:spPr>
          <a:xfrm>
            <a:off x="2270398" y="2972145"/>
            <a:ext cx="329184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36" name="Case 1 - Bugs answer">
            <a:extLst>
              <a:ext uri="{FF2B5EF4-FFF2-40B4-BE49-F238E27FC236}">
                <a16:creationId xmlns:a16="http://schemas.microsoft.com/office/drawing/2014/main" id="{7994DF54-DAC7-42F6-B1D4-823EEA0D90EF}"/>
              </a:ext>
            </a:extLst>
          </p:cNvPr>
          <p:cNvSpPr/>
          <p:nvPr/>
        </p:nvSpPr>
        <p:spPr>
          <a:xfrm>
            <a:off x="2270399" y="2971158"/>
            <a:ext cx="329184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/>
              <a:t>S. </a:t>
            </a:r>
            <a:r>
              <a:rPr lang="en-US" sz="1400" b="1" i="1" dirty="0" err="1"/>
              <a:t>pneumo</a:t>
            </a:r>
            <a:r>
              <a:rPr lang="en-US" sz="1400" b="1" i="1" dirty="0"/>
              <a:t> </a:t>
            </a:r>
            <a:r>
              <a:rPr lang="en-US" sz="1400" dirty="0"/>
              <a:t>is most common pathogen. </a:t>
            </a:r>
            <a:r>
              <a:rPr lang="en-US" sz="1400" b="1" dirty="0"/>
              <a:t>GNRs</a:t>
            </a:r>
            <a:r>
              <a:rPr lang="en-US" sz="1400" dirty="0"/>
              <a:t> (</a:t>
            </a:r>
            <a:r>
              <a:rPr lang="en-US" sz="1400" i="1" dirty="0"/>
              <a:t>H. flu, Moraxella), </a:t>
            </a:r>
            <a:r>
              <a:rPr lang="en-US" sz="1400" b="1" dirty="0" err="1"/>
              <a:t>atypicals</a:t>
            </a:r>
            <a:r>
              <a:rPr lang="en-US" sz="1400" dirty="0"/>
              <a:t>. </a:t>
            </a:r>
            <a:endParaRPr lang="en-US" sz="1400" i="1" dirty="0"/>
          </a:p>
        </p:txBody>
      </p:sp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5AF6AEC3-162C-4494-82A3-7B77AC3D1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15" y="3511121"/>
            <a:ext cx="301752" cy="301752"/>
          </a:xfrm>
          <a:prstGeom prst="rect">
            <a:avLst/>
          </a:prstGeom>
        </p:spPr>
      </p:pic>
      <p:sp>
        <p:nvSpPr>
          <p:cNvPr id="38" name="Case 1 Drugs?">
            <a:extLst>
              <a:ext uri="{FF2B5EF4-FFF2-40B4-BE49-F238E27FC236}">
                <a16:creationId xmlns:a16="http://schemas.microsoft.com/office/drawing/2014/main" id="{21C93876-84EE-4C70-90B8-5571CEA51D95}"/>
              </a:ext>
            </a:extLst>
          </p:cNvPr>
          <p:cNvSpPr/>
          <p:nvPr/>
        </p:nvSpPr>
        <p:spPr>
          <a:xfrm>
            <a:off x="2270398" y="3809896"/>
            <a:ext cx="329184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39" name="Case 1 - Drugs answer">
            <a:extLst>
              <a:ext uri="{FF2B5EF4-FFF2-40B4-BE49-F238E27FC236}">
                <a16:creationId xmlns:a16="http://schemas.microsoft.com/office/drawing/2014/main" id="{DC20ACF8-E438-4BB4-A4BC-698628E7FD19}"/>
              </a:ext>
            </a:extLst>
          </p:cNvPr>
          <p:cNvSpPr/>
          <p:nvPr/>
        </p:nvSpPr>
        <p:spPr>
          <a:xfrm>
            <a:off x="2270399" y="3812137"/>
            <a:ext cx="329184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 and azithromycin</a:t>
            </a:r>
            <a:r>
              <a:rPr lang="en-US" sz="1400" dirty="0"/>
              <a:t>. Or a </a:t>
            </a:r>
            <a:r>
              <a:rPr lang="en-US" sz="1400" b="1" dirty="0"/>
              <a:t>respiratory FQ </a:t>
            </a:r>
            <a:r>
              <a:rPr lang="en-US" sz="1400" dirty="0"/>
              <a:t>(levofloxacin, moxifloxacin.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F887B006-7245-4091-AC96-10C85BB88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15" y="4349141"/>
            <a:ext cx="301752" cy="301752"/>
          </a:xfrm>
          <a:prstGeom prst="rect">
            <a:avLst/>
          </a:prstGeom>
        </p:spPr>
      </p:pic>
      <p:sp>
        <p:nvSpPr>
          <p:cNvPr id="41" name="Case 1 QT prolongation?">
            <a:extLst>
              <a:ext uri="{FF2B5EF4-FFF2-40B4-BE49-F238E27FC236}">
                <a16:creationId xmlns:a16="http://schemas.microsoft.com/office/drawing/2014/main" id="{131A0EB4-7434-4890-971D-630405DA28CF}"/>
              </a:ext>
            </a:extLst>
          </p:cNvPr>
          <p:cNvSpPr/>
          <p:nvPr/>
        </p:nvSpPr>
        <p:spPr>
          <a:xfrm>
            <a:off x="2270398" y="4653177"/>
            <a:ext cx="3291840" cy="82826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he had a QTc of 560?</a:t>
            </a:r>
          </a:p>
        </p:txBody>
      </p:sp>
      <p:sp>
        <p:nvSpPr>
          <p:cNvPr id="42" name="Case 1 - QTc answer">
            <a:extLst>
              <a:ext uri="{FF2B5EF4-FFF2-40B4-BE49-F238E27FC236}">
                <a16:creationId xmlns:a16="http://schemas.microsoft.com/office/drawing/2014/main" id="{DAFC85CB-269F-40B3-91D7-9587A0CD0418}"/>
              </a:ext>
            </a:extLst>
          </p:cNvPr>
          <p:cNvSpPr/>
          <p:nvPr/>
        </p:nvSpPr>
        <p:spPr>
          <a:xfrm>
            <a:off x="2270399" y="4653116"/>
            <a:ext cx="3291840" cy="8263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 + doxycycline.</a:t>
            </a:r>
          </a:p>
          <a:p>
            <a:pPr algn="ctr"/>
            <a:r>
              <a:rPr lang="en-US" sz="1400" dirty="0"/>
              <a:t>Doxycycline can be used for atypical coverage when there are QT concerns.</a:t>
            </a:r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0A1E6FB8-2D74-4232-B256-18A3D92B2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15" y="5294224"/>
            <a:ext cx="301752" cy="301752"/>
          </a:xfrm>
          <a:prstGeom prst="rect">
            <a:avLst/>
          </a:prstGeom>
        </p:spPr>
      </p:pic>
      <p:sp>
        <p:nvSpPr>
          <p:cNvPr id="44" name="Case 1 HCAP ?">
            <a:extLst>
              <a:ext uri="{FF2B5EF4-FFF2-40B4-BE49-F238E27FC236}">
                <a16:creationId xmlns:a16="http://schemas.microsoft.com/office/drawing/2014/main" id="{44AE2717-5F96-412A-A3DE-FE0930E67FA0}"/>
              </a:ext>
            </a:extLst>
          </p:cNvPr>
          <p:cNvSpPr/>
          <p:nvPr/>
        </p:nvSpPr>
        <p:spPr>
          <a:xfrm>
            <a:off x="2270398" y="5604911"/>
            <a:ext cx="3291840" cy="11159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he has a history of MRSA colonization?</a:t>
            </a:r>
          </a:p>
        </p:txBody>
      </p:sp>
      <p:sp>
        <p:nvSpPr>
          <p:cNvPr id="45" name="Case 1 - HCAP answer">
            <a:extLst>
              <a:ext uri="{FF2B5EF4-FFF2-40B4-BE49-F238E27FC236}">
                <a16:creationId xmlns:a16="http://schemas.microsoft.com/office/drawing/2014/main" id="{F1A93572-1FD0-496E-8A05-4C0C52A1AAC9}"/>
              </a:ext>
            </a:extLst>
          </p:cNvPr>
          <p:cNvSpPr/>
          <p:nvPr/>
        </p:nvSpPr>
        <p:spPr>
          <a:xfrm>
            <a:off x="2270399" y="5604230"/>
            <a:ext cx="3291840" cy="1115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Ceftriaxone/ azithromycin ± Vancomycin </a:t>
            </a:r>
            <a:r>
              <a:rPr lang="en-US" sz="1400" dirty="0"/>
              <a:t>(if severe pneumonia). At risk for MDR given 1) history of MRSA or PsA or 2) hospitalization + IV </a:t>
            </a:r>
            <a:r>
              <a:rPr lang="en-US" sz="1400" dirty="0" err="1"/>
              <a:t>abx</a:t>
            </a:r>
            <a:r>
              <a:rPr lang="en-US" sz="1400" dirty="0"/>
              <a:t> in 90 d.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4A084AD3-FDD7-4ED6-A200-7B5CE3981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15" y="6520000"/>
            <a:ext cx="301752" cy="301752"/>
          </a:xfrm>
          <a:prstGeom prst="rect">
            <a:avLst/>
          </a:prstGeom>
        </p:spPr>
      </p:pic>
      <p:sp>
        <p:nvSpPr>
          <p:cNvPr id="48" name="Case 2">
            <a:extLst>
              <a:ext uri="{FF2B5EF4-FFF2-40B4-BE49-F238E27FC236}">
                <a16:creationId xmlns:a16="http://schemas.microsoft.com/office/drawing/2014/main" id="{1FB24386-8DA8-4019-92F1-A161ECD3824B}"/>
              </a:ext>
            </a:extLst>
          </p:cNvPr>
          <p:cNvSpPr/>
          <p:nvPr/>
        </p:nvSpPr>
        <p:spPr>
          <a:xfrm>
            <a:off x="6425384" y="152184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49" name="Case 2 Diagnosis?">
            <a:extLst>
              <a:ext uri="{FF2B5EF4-FFF2-40B4-BE49-F238E27FC236}">
                <a16:creationId xmlns:a16="http://schemas.microsoft.com/office/drawing/2014/main" id="{F28DC0D8-F08A-44E9-B649-51EF5FE93CC3}"/>
              </a:ext>
            </a:extLst>
          </p:cNvPr>
          <p:cNvSpPr/>
          <p:nvPr/>
        </p:nvSpPr>
        <p:spPr>
          <a:xfrm>
            <a:off x="5821677" y="2268068"/>
            <a:ext cx="2743200" cy="4147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50" name="Case 2 - diagnosis answer">
            <a:extLst>
              <a:ext uri="{FF2B5EF4-FFF2-40B4-BE49-F238E27FC236}">
                <a16:creationId xmlns:a16="http://schemas.microsoft.com/office/drawing/2014/main" id="{29BB664B-D81D-42AB-8EFC-05E7A83FBD5A}"/>
              </a:ext>
            </a:extLst>
          </p:cNvPr>
          <p:cNvSpPr/>
          <p:nvPr/>
        </p:nvSpPr>
        <p:spPr>
          <a:xfrm>
            <a:off x="5821678" y="2267386"/>
            <a:ext cx="2743200" cy="4138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Purulent SSTI</a:t>
            </a:r>
            <a:endParaRPr lang="en-US" sz="1400" dirty="0"/>
          </a:p>
        </p:txBody>
      </p:sp>
      <p:sp>
        <p:nvSpPr>
          <p:cNvPr id="60" name="Case 2 text">
            <a:extLst>
              <a:ext uri="{FF2B5EF4-FFF2-40B4-BE49-F238E27FC236}">
                <a16:creationId xmlns:a16="http://schemas.microsoft.com/office/drawing/2014/main" id="{F747F400-CA88-44A3-ADE2-EFF36760D89E}"/>
              </a:ext>
            </a:extLst>
          </p:cNvPr>
          <p:cNvSpPr txBox="1"/>
          <p:nvPr/>
        </p:nvSpPr>
        <p:spPr>
          <a:xfrm>
            <a:off x="5787403" y="679220"/>
            <a:ext cx="28664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30 </a:t>
            </a:r>
            <a:r>
              <a:rPr lang="en-US" sz="1400" dirty="0" err="1"/>
              <a:t>yo</a:t>
            </a:r>
            <a:r>
              <a:rPr lang="en-US" sz="1400" dirty="0"/>
              <a:t> with IVDU presents with a painful swollen arm after injecting into his arm 2 days ago. T is 99F, HR 100s, BP 100/60.</a:t>
            </a:r>
          </a:p>
          <a:p>
            <a:endParaRPr lang="en-US" sz="600" dirty="0"/>
          </a:p>
          <a:p>
            <a:r>
              <a:rPr lang="en-US" sz="1400" dirty="0"/>
              <a:t>Their L arm is red, warm, and tender. There is a 2x2 cm area of fluctuance. </a:t>
            </a:r>
          </a:p>
        </p:txBody>
      </p:sp>
      <p:sp>
        <p:nvSpPr>
          <p:cNvPr id="70" name="Case 2 Bugs?">
            <a:extLst>
              <a:ext uri="{FF2B5EF4-FFF2-40B4-BE49-F238E27FC236}">
                <a16:creationId xmlns:a16="http://schemas.microsoft.com/office/drawing/2014/main" id="{0744E11B-8DEB-43F1-A190-087BD3B2F931}"/>
              </a:ext>
            </a:extLst>
          </p:cNvPr>
          <p:cNvSpPr/>
          <p:nvPr/>
        </p:nvSpPr>
        <p:spPr>
          <a:xfrm>
            <a:off x="5821677" y="2829361"/>
            <a:ext cx="2743200" cy="4437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71" name="Case 2 - Bugs answer">
            <a:extLst>
              <a:ext uri="{FF2B5EF4-FFF2-40B4-BE49-F238E27FC236}">
                <a16:creationId xmlns:a16="http://schemas.microsoft.com/office/drawing/2014/main" id="{54E8F8D8-B7C3-48BB-9307-2E6E09F22DB2}"/>
              </a:ext>
            </a:extLst>
          </p:cNvPr>
          <p:cNvSpPr/>
          <p:nvPr/>
        </p:nvSpPr>
        <p:spPr>
          <a:xfrm>
            <a:off x="5821678" y="2828680"/>
            <a:ext cx="2743200" cy="4427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/>
              <a:t>S. aureus </a:t>
            </a:r>
            <a:r>
              <a:rPr lang="en-US" sz="1400" b="1" dirty="0"/>
              <a:t>(MRSA &gt; MSSA).</a:t>
            </a:r>
            <a:endParaRPr lang="en-US" sz="1400" dirty="0"/>
          </a:p>
        </p:txBody>
      </p:sp>
      <p:sp>
        <p:nvSpPr>
          <p:cNvPr id="73" name="Case 2 Drugs?">
            <a:extLst>
              <a:ext uri="{FF2B5EF4-FFF2-40B4-BE49-F238E27FC236}">
                <a16:creationId xmlns:a16="http://schemas.microsoft.com/office/drawing/2014/main" id="{8EC83673-7972-45AA-96DE-5ECF7A88ECA1}"/>
              </a:ext>
            </a:extLst>
          </p:cNvPr>
          <p:cNvSpPr/>
          <p:nvPr/>
        </p:nvSpPr>
        <p:spPr>
          <a:xfrm>
            <a:off x="5821677" y="3454384"/>
            <a:ext cx="2743200" cy="1413099"/>
          </a:xfrm>
          <a:prstGeom prst="roundRect">
            <a:avLst>
              <a:gd name="adj" fmla="val 1243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82" name="Case 3">
            <a:extLst>
              <a:ext uri="{FF2B5EF4-FFF2-40B4-BE49-F238E27FC236}">
                <a16:creationId xmlns:a16="http://schemas.microsoft.com/office/drawing/2014/main" id="{16430BE7-AF0E-491F-9C88-0E908606E3AF}"/>
              </a:ext>
            </a:extLst>
          </p:cNvPr>
          <p:cNvSpPr/>
          <p:nvPr/>
        </p:nvSpPr>
        <p:spPr>
          <a:xfrm>
            <a:off x="9608902" y="152184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94" name="Case 1 text">
            <a:extLst>
              <a:ext uri="{FF2B5EF4-FFF2-40B4-BE49-F238E27FC236}">
                <a16:creationId xmlns:a16="http://schemas.microsoft.com/office/drawing/2014/main" id="{991EDB29-A5D5-42EB-B767-AFC984019771}"/>
              </a:ext>
            </a:extLst>
          </p:cNvPr>
          <p:cNvSpPr txBox="1"/>
          <p:nvPr/>
        </p:nvSpPr>
        <p:spPr>
          <a:xfrm>
            <a:off x="8822704" y="693167"/>
            <a:ext cx="32170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r>
              <a:rPr lang="en-US" sz="1400" dirty="0"/>
              <a:t>21 yo presents with abdominal pain, nausea/vomiting. VS show T of 103F, HR 140s, BP 95/55, SaO2 99% on RA. They have a rigid abdomen and have rebound on exam. CT shows signs of appendicitis.</a:t>
            </a:r>
          </a:p>
        </p:txBody>
      </p:sp>
      <p:sp>
        <p:nvSpPr>
          <p:cNvPr id="104" name="Case 3 Bugs?">
            <a:extLst>
              <a:ext uri="{FF2B5EF4-FFF2-40B4-BE49-F238E27FC236}">
                <a16:creationId xmlns:a16="http://schemas.microsoft.com/office/drawing/2014/main" id="{6AEA305E-8405-4A18-82FD-F18A763FE51B}"/>
              </a:ext>
            </a:extLst>
          </p:cNvPr>
          <p:cNvSpPr/>
          <p:nvPr/>
        </p:nvSpPr>
        <p:spPr>
          <a:xfrm>
            <a:off x="8905000" y="2107125"/>
            <a:ext cx="3079195" cy="5992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105" name="Case 3 - Bugs answer">
            <a:extLst>
              <a:ext uri="{FF2B5EF4-FFF2-40B4-BE49-F238E27FC236}">
                <a16:creationId xmlns:a16="http://schemas.microsoft.com/office/drawing/2014/main" id="{D60A5F15-2112-445F-BC80-2F8C39A895A4}"/>
              </a:ext>
            </a:extLst>
          </p:cNvPr>
          <p:cNvSpPr/>
          <p:nvPr/>
        </p:nvSpPr>
        <p:spPr>
          <a:xfrm>
            <a:off x="8905000" y="2106444"/>
            <a:ext cx="3079192" cy="5979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Enteric GNRs</a:t>
            </a:r>
            <a:r>
              <a:rPr lang="en-US" sz="1400" i="1" dirty="0"/>
              <a:t>, </a:t>
            </a:r>
            <a:r>
              <a:rPr lang="en-US" sz="1400" b="1" dirty="0"/>
              <a:t>streptococci</a:t>
            </a:r>
            <a:r>
              <a:rPr lang="en-US" sz="1400" i="1" dirty="0"/>
              <a:t>, </a:t>
            </a:r>
            <a:r>
              <a:rPr lang="en-US" sz="1400" dirty="0"/>
              <a:t>enteric</a:t>
            </a:r>
            <a:r>
              <a:rPr lang="en-US" sz="1400" i="1" dirty="0"/>
              <a:t> </a:t>
            </a:r>
            <a:r>
              <a:rPr lang="en-US" sz="1400" b="1" dirty="0"/>
              <a:t>anaerobes</a:t>
            </a:r>
            <a:r>
              <a:rPr lang="en-US" sz="1400" i="1" dirty="0"/>
              <a:t> (Bacteroides). </a:t>
            </a:r>
          </a:p>
        </p:txBody>
      </p:sp>
      <p:sp>
        <p:nvSpPr>
          <p:cNvPr id="107" name="Case 3 Drugs?">
            <a:extLst>
              <a:ext uri="{FF2B5EF4-FFF2-40B4-BE49-F238E27FC236}">
                <a16:creationId xmlns:a16="http://schemas.microsoft.com/office/drawing/2014/main" id="{80C4484E-286A-4457-A956-6682E4C4A971}"/>
              </a:ext>
            </a:extLst>
          </p:cNvPr>
          <p:cNvSpPr/>
          <p:nvPr/>
        </p:nvSpPr>
        <p:spPr>
          <a:xfrm>
            <a:off x="8905000" y="2875052"/>
            <a:ext cx="3079195" cy="4540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108" name="Case 3 - Drugs answer">
            <a:extLst>
              <a:ext uri="{FF2B5EF4-FFF2-40B4-BE49-F238E27FC236}">
                <a16:creationId xmlns:a16="http://schemas.microsoft.com/office/drawing/2014/main" id="{769B892E-668B-450C-A86F-07924E11A4A1}"/>
              </a:ext>
            </a:extLst>
          </p:cNvPr>
          <p:cNvSpPr/>
          <p:nvPr/>
        </p:nvSpPr>
        <p:spPr>
          <a:xfrm>
            <a:off x="8905000" y="2874372"/>
            <a:ext cx="3079192" cy="4529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 + metronidazole</a:t>
            </a:r>
            <a:endParaRPr lang="en-US" sz="1400" dirty="0"/>
          </a:p>
        </p:txBody>
      </p:sp>
      <p:sp>
        <p:nvSpPr>
          <p:cNvPr id="110" name="Case 3 Hospital acquired">
            <a:extLst>
              <a:ext uri="{FF2B5EF4-FFF2-40B4-BE49-F238E27FC236}">
                <a16:creationId xmlns:a16="http://schemas.microsoft.com/office/drawing/2014/main" id="{FA5FCDF0-A53A-4AD5-A08E-ADEC822E0C3C}"/>
              </a:ext>
            </a:extLst>
          </p:cNvPr>
          <p:cNvSpPr/>
          <p:nvPr/>
        </p:nvSpPr>
        <p:spPr>
          <a:xfrm>
            <a:off x="8905000" y="4633541"/>
            <a:ext cx="3079195" cy="7403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1AB9677-70D8-42AA-B658-9ABC10191AB4}"/>
              </a:ext>
            </a:extLst>
          </p:cNvPr>
          <p:cNvCxnSpPr>
            <a:cxnSpLocks/>
          </p:cNvCxnSpPr>
          <p:nvPr/>
        </p:nvCxnSpPr>
        <p:spPr>
          <a:xfrm flipH="1">
            <a:off x="5692046" y="85270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8D8BED-A85F-4E83-8013-0948884B72A3}"/>
              </a:ext>
            </a:extLst>
          </p:cNvPr>
          <p:cNvCxnSpPr>
            <a:cxnSpLocks/>
          </p:cNvCxnSpPr>
          <p:nvPr/>
        </p:nvCxnSpPr>
        <p:spPr>
          <a:xfrm flipH="1">
            <a:off x="8736897" y="48259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ase 3 immunosuppressed">
            <a:extLst>
              <a:ext uri="{FF2B5EF4-FFF2-40B4-BE49-F238E27FC236}">
                <a16:creationId xmlns:a16="http://schemas.microsoft.com/office/drawing/2014/main" id="{80E9E805-8B6C-49C1-9A16-18EA632EDF91}"/>
              </a:ext>
            </a:extLst>
          </p:cNvPr>
          <p:cNvSpPr/>
          <p:nvPr/>
        </p:nvSpPr>
        <p:spPr>
          <a:xfrm>
            <a:off x="8905000" y="5568415"/>
            <a:ext cx="3079195" cy="89765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125" name="Question 2">
            <a:hlinkClick r:id="" action="ppaction://noaction"/>
            <a:extLst>
              <a:ext uri="{FF2B5EF4-FFF2-40B4-BE49-F238E27FC236}">
                <a16:creationId xmlns:a16="http://schemas.microsoft.com/office/drawing/2014/main" id="{5A72A32F-3F36-43C7-A090-2A674AA70EE4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126" name="cancer screening text">
            <a:hlinkClick r:id="rId4" action="ppaction://hlinksldjump"/>
            <a:extLst>
              <a:ext uri="{FF2B5EF4-FFF2-40B4-BE49-F238E27FC236}">
                <a16:creationId xmlns:a16="http://schemas.microsoft.com/office/drawing/2014/main" id="{4EA88CD3-4FED-4A97-9500-ABBCD60CDCCE}"/>
              </a:ext>
            </a:extLst>
          </p:cNvPr>
          <p:cNvSpPr txBox="1"/>
          <p:nvPr/>
        </p:nvSpPr>
        <p:spPr>
          <a:xfrm>
            <a:off x="251420" y="806840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sp>
        <p:nvSpPr>
          <p:cNvPr id="128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E4BDACAE-2896-4F18-BC31-79F8E43DC3FE}"/>
              </a:ext>
            </a:extLst>
          </p:cNvPr>
          <p:cNvSpPr txBox="1"/>
          <p:nvPr/>
        </p:nvSpPr>
        <p:spPr>
          <a:xfrm>
            <a:off x="259915" y="2017063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sp>
        <p:nvSpPr>
          <p:cNvPr id="131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4255070C-AEE7-4F56-BD7A-25BFC70D81CE}"/>
              </a:ext>
            </a:extLst>
          </p:cNvPr>
          <p:cNvSpPr txBox="1"/>
          <p:nvPr/>
        </p:nvSpPr>
        <p:spPr>
          <a:xfrm>
            <a:off x="251420" y="1405277"/>
            <a:ext cx="171503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sp>
        <p:nvSpPr>
          <p:cNvPr id="135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E67D3A3E-D6AC-4028-B6F0-535D5DFF598D}"/>
              </a:ext>
            </a:extLst>
          </p:cNvPr>
          <p:cNvSpPr txBox="1"/>
          <p:nvPr/>
        </p:nvSpPr>
        <p:spPr>
          <a:xfrm>
            <a:off x="259915" y="261028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sp>
        <p:nvSpPr>
          <p:cNvPr id="138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3A928A4F-6CE3-4516-94E4-C4182C69DF5A}"/>
              </a:ext>
            </a:extLst>
          </p:cNvPr>
          <p:cNvSpPr txBox="1"/>
          <p:nvPr/>
        </p:nvSpPr>
        <p:spPr>
          <a:xfrm>
            <a:off x="603345" y="3787503"/>
            <a:ext cx="13716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1-3</a:t>
            </a:r>
          </a:p>
        </p:txBody>
      </p:sp>
      <p:sp>
        <p:nvSpPr>
          <p:cNvPr id="139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4BF20A15-A58C-4E3D-AA43-FA88A575E4F8}"/>
              </a:ext>
            </a:extLst>
          </p:cNvPr>
          <p:cNvSpPr txBox="1"/>
          <p:nvPr/>
        </p:nvSpPr>
        <p:spPr>
          <a:xfrm>
            <a:off x="603345" y="4361709"/>
            <a:ext cx="13716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4-5</a:t>
            </a: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2A72A28C-EABC-40E0-9849-72CF5F12D78F}"/>
              </a:ext>
            </a:extLst>
          </p:cNvPr>
          <p:cNvCxnSpPr>
            <a:cxnSpLocks/>
            <a:endCxn id="138" idx="1"/>
          </p:cNvCxnSpPr>
          <p:nvPr/>
        </p:nvCxnSpPr>
        <p:spPr>
          <a:xfrm rot="16200000" flipH="1">
            <a:off x="261684" y="3650153"/>
            <a:ext cx="421411" cy="2619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FEDE8CA9-CF88-4987-8F61-FD6CA0776CAC}"/>
              </a:ext>
            </a:extLst>
          </p:cNvPr>
          <p:cNvCxnSpPr>
            <a:cxnSpLocks/>
            <a:endCxn id="139" idx="1"/>
          </p:cNvCxnSpPr>
          <p:nvPr/>
        </p:nvCxnSpPr>
        <p:spPr>
          <a:xfrm rot="16200000" flipH="1">
            <a:off x="167610" y="4130286"/>
            <a:ext cx="609558" cy="2619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6" name="Graphic 145" descr="Cursor with solid fill">
            <a:extLst>
              <a:ext uri="{FF2B5EF4-FFF2-40B4-BE49-F238E27FC236}">
                <a16:creationId xmlns:a16="http://schemas.microsoft.com/office/drawing/2014/main" id="{7E29016B-5661-4875-8AE7-B2530232F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262" y="417262"/>
            <a:ext cx="301752" cy="301752"/>
          </a:xfrm>
          <a:prstGeom prst="rect">
            <a:avLst/>
          </a:prstGeom>
        </p:spPr>
      </p:pic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54A24BA0-357B-4129-9152-0B6585A6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4117" y="417262"/>
            <a:ext cx="301752" cy="301752"/>
          </a:xfrm>
          <a:prstGeom prst="rect">
            <a:avLst/>
          </a:prstGeom>
        </p:spPr>
      </p:pic>
      <p:pic>
        <p:nvPicPr>
          <p:cNvPr id="148" name="Graphic 147" descr="Cursor with solid fill">
            <a:extLst>
              <a:ext uri="{FF2B5EF4-FFF2-40B4-BE49-F238E27FC236}">
                <a16:creationId xmlns:a16="http://schemas.microsoft.com/office/drawing/2014/main" id="{CF136408-6839-4F0D-91CD-484A4EB3A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3445" y="417262"/>
            <a:ext cx="301752" cy="301752"/>
          </a:xfrm>
          <a:prstGeom prst="rect">
            <a:avLst/>
          </a:prstGeom>
        </p:spPr>
      </p:pic>
      <p:sp>
        <p:nvSpPr>
          <p:cNvPr id="76" name="Case 1 text">
            <a:extLst>
              <a:ext uri="{FF2B5EF4-FFF2-40B4-BE49-F238E27FC236}">
                <a16:creationId xmlns:a16="http://schemas.microsoft.com/office/drawing/2014/main" id="{A19BD35E-C0BA-4B90-BE02-8B48513747DC}"/>
              </a:ext>
            </a:extLst>
          </p:cNvPr>
          <p:cNvSpPr txBox="1"/>
          <p:nvPr/>
        </p:nvSpPr>
        <p:spPr>
          <a:xfrm>
            <a:off x="8854642" y="3400816"/>
            <a:ext cx="32170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…They are managed with an appendectomy and antibiotics. Two weeks later, they represent with fevers, abdominal pain and are found to have an intraabdominal abscess. </a:t>
            </a:r>
          </a:p>
        </p:txBody>
      </p:sp>
      <p:sp>
        <p:nvSpPr>
          <p:cNvPr id="81" name="Case 3 - hospital acquired answer">
            <a:extLst>
              <a:ext uri="{FF2B5EF4-FFF2-40B4-BE49-F238E27FC236}">
                <a16:creationId xmlns:a16="http://schemas.microsoft.com/office/drawing/2014/main" id="{62706CFD-C1CF-4DE6-B270-44DFA6B68627}"/>
              </a:ext>
            </a:extLst>
          </p:cNvPr>
          <p:cNvSpPr/>
          <p:nvPr/>
        </p:nvSpPr>
        <p:spPr>
          <a:xfrm>
            <a:off x="8905000" y="4631384"/>
            <a:ext cx="3079192" cy="74034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/>
              <a:t>Pseudomonas</a:t>
            </a:r>
            <a:r>
              <a:rPr lang="en-US" sz="1400" dirty="0"/>
              <a:t>, </a:t>
            </a:r>
            <a:r>
              <a:rPr lang="en-US" sz="1400" b="1" i="1" dirty="0"/>
              <a:t>Enterococcus</a:t>
            </a:r>
            <a:r>
              <a:rPr lang="en-US" sz="1400" dirty="0"/>
              <a:t> and </a:t>
            </a:r>
            <a:r>
              <a:rPr lang="en-US" sz="1400" b="1" i="1" dirty="0"/>
              <a:t>S. aureus </a:t>
            </a:r>
            <a:r>
              <a:rPr lang="en-US" sz="1400" dirty="0"/>
              <a:t>are more common in </a:t>
            </a:r>
            <a:r>
              <a:rPr lang="en-US" sz="1400" b="1" dirty="0"/>
              <a:t>hospital acquired/ healthcare associated IAI</a:t>
            </a:r>
            <a:r>
              <a:rPr lang="en-US" sz="1400" dirty="0"/>
              <a:t>. </a:t>
            </a:r>
          </a:p>
        </p:txBody>
      </p:sp>
      <p:sp>
        <p:nvSpPr>
          <p:cNvPr id="83" name="Case 3 - immunosuppressed answer">
            <a:extLst>
              <a:ext uri="{FF2B5EF4-FFF2-40B4-BE49-F238E27FC236}">
                <a16:creationId xmlns:a16="http://schemas.microsoft.com/office/drawing/2014/main" id="{1EA3E658-F568-4A5D-B88D-E2B7CA6E1486}"/>
              </a:ext>
            </a:extLst>
          </p:cNvPr>
          <p:cNvSpPr/>
          <p:nvPr/>
        </p:nvSpPr>
        <p:spPr>
          <a:xfrm>
            <a:off x="8905000" y="5568415"/>
            <a:ext cx="3079192" cy="8940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Zosyn</a:t>
            </a:r>
            <a:r>
              <a:rPr lang="en-US" sz="1400" dirty="0"/>
              <a:t> </a:t>
            </a:r>
            <a:r>
              <a:rPr lang="en-US" sz="1400" b="1" dirty="0"/>
              <a:t>± vancomycin</a:t>
            </a:r>
            <a:r>
              <a:rPr lang="en-US" sz="1400" dirty="0"/>
              <a:t>. Based on recent hospitalization and surgery, she is considered to have MRSA risk factors. </a:t>
            </a:r>
          </a:p>
        </p:txBody>
      </p:sp>
      <p:sp>
        <p:nvSpPr>
          <p:cNvPr id="84" name="Case 2 - Drugs answer">
            <a:extLst>
              <a:ext uri="{FF2B5EF4-FFF2-40B4-BE49-F238E27FC236}">
                <a16:creationId xmlns:a16="http://schemas.microsoft.com/office/drawing/2014/main" id="{5941F56E-A070-49BD-A58A-AD84B504ED8E}"/>
              </a:ext>
            </a:extLst>
          </p:cNvPr>
          <p:cNvSpPr/>
          <p:nvPr/>
        </p:nvSpPr>
        <p:spPr>
          <a:xfrm>
            <a:off x="5821678" y="3453704"/>
            <a:ext cx="2743200" cy="1413779"/>
          </a:xfrm>
          <a:prstGeom prst="roundRect">
            <a:avLst>
              <a:gd name="adj" fmla="val 114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Antibiotics + I&amp;D. </a:t>
            </a:r>
            <a:r>
              <a:rPr lang="en-US" sz="1400" b="1" dirty="0"/>
              <a:t>Bactrim, doxycycline </a:t>
            </a:r>
            <a:r>
              <a:rPr lang="en-US" sz="1400" dirty="0"/>
              <a:t>is generally &gt; clindamycin Additional Strep coverage with cephalexin can be considered in patients at high risk of endocarditis.  </a:t>
            </a:r>
          </a:p>
        </p:txBody>
      </p:sp>
      <p:sp>
        <p:nvSpPr>
          <p:cNvPr id="85" name="Case 2 text">
            <a:extLst>
              <a:ext uri="{FF2B5EF4-FFF2-40B4-BE49-F238E27FC236}">
                <a16:creationId xmlns:a16="http://schemas.microsoft.com/office/drawing/2014/main" id="{A39F417B-4B56-4691-B542-13FDB38B194C}"/>
              </a:ext>
            </a:extLst>
          </p:cNvPr>
          <p:cNvSpPr txBox="1"/>
          <p:nvPr/>
        </p:nvSpPr>
        <p:spPr>
          <a:xfrm>
            <a:off x="5787403" y="4956276"/>
            <a:ext cx="2866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…Less than 24 h later, they present to the ED with fevers/ chills. They are febrile to 102F, HRs 120s, BP 100/60.  </a:t>
            </a:r>
          </a:p>
        </p:txBody>
      </p:sp>
      <p:sp>
        <p:nvSpPr>
          <p:cNvPr id="86" name="Case 2 Diagnosis?">
            <a:extLst>
              <a:ext uri="{FF2B5EF4-FFF2-40B4-BE49-F238E27FC236}">
                <a16:creationId xmlns:a16="http://schemas.microsoft.com/office/drawing/2014/main" id="{A8ECA298-64D4-4E07-9B78-08BA1433E031}"/>
              </a:ext>
            </a:extLst>
          </p:cNvPr>
          <p:cNvSpPr/>
          <p:nvPr/>
        </p:nvSpPr>
        <p:spPr>
          <a:xfrm>
            <a:off x="5821677" y="5963006"/>
            <a:ext cx="2743200" cy="4907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91" name="Case 2 - diagnosis answer">
            <a:extLst>
              <a:ext uri="{FF2B5EF4-FFF2-40B4-BE49-F238E27FC236}">
                <a16:creationId xmlns:a16="http://schemas.microsoft.com/office/drawing/2014/main" id="{3024AFB8-A36C-4456-802A-0C7A6D626FDC}"/>
              </a:ext>
            </a:extLst>
          </p:cNvPr>
          <p:cNvSpPr/>
          <p:nvPr/>
        </p:nvSpPr>
        <p:spPr>
          <a:xfrm>
            <a:off x="5821678" y="5962325"/>
            <a:ext cx="2743200" cy="4896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IV vancomycin. </a:t>
            </a:r>
            <a:endParaRPr lang="en-US" sz="1400" dirty="0"/>
          </a:p>
        </p:txBody>
      </p:sp>
      <p:sp>
        <p:nvSpPr>
          <p:cNvPr id="74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D73104CA-7E1F-4292-93E8-739EC3549EB0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78" name="Graphic 77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0C08F5CC-8E55-45DD-A4E0-69FF70C7F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8716" y="4650168"/>
            <a:ext cx="301752" cy="301752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49760C79-1C83-4FE1-B45C-DE8EB197A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7821" y="1044490"/>
            <a:ext cx="301752" cy="301752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7DD46DA7-7A38-4953-AADD-94F88D54F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7821" y="454162"/>
            <a:ext cx="301752" cy="301752"/>
          </a:xfrm>
          <a:prstGeom prst="rect">
            <a:avLst/>
          </a:prstGeom>
        </p:spPr>
      </p:pic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74F4A3C5-6912-44E0-9D0C-A72338C15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FF3DEF45-F5E1-4A61-81FA-07EAD9146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pic>
        <p:nvPicPr>
          <p:cNvPr id="90" name="Graphic 89" descr="Cursor with solid fill">
            <a:extLst>
              <a:ext uri="{FF2B5EF4-FFF2-40B4-BE49-F238E27FC236}">
                <a16:creationId xmlns:a16="http://schemas.microsoft.com/office/drawing/2014/main" id="{54902F52-67D3-45B6-9179-611AA63CF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867369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A305965E-1BC5-46A1-A3A7-F5EF0C8B6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030" y="2524415"/>
            <a:ext cx="301752" cy="301752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C83922B4-2D38-43BD-B751-9F6D9E803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030" y="3136279"/>
            <a:ext cx="301752" cy="301752"/>
          </a:xfrm>
          <a:prstGeom prst="rect">
            <a:avLst/>
          </a:prstGeom>
        </p:spPr>
      </p:pic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85E3AD32-7F6A-430D-A990-AE60F443C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030" y="4693847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8AA63685-7990-42A7-97C0-238AFC3E2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030" y="6309177"/>
            <a:ext cx="301752" cy="301752"/>
          </a:xfrm>
          <a:prstGeom prst="rect">
            <a:avLst/>
          </a:prstGeom>
        </p:spPr>
      </p:pic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E7906967-CA3F-45B4-AA29-00B8A7092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2984" y="2564566"/>
            <a:ext cx="301752" cy="301752"/>
          </a:xfrm>
          <a:prstGeom prst="rect">
            <a:avLst/>
          </a:prstGeom>
        </p:spPr>
      </p:pic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64ED0AC5-B8AF-44F1-AFB2-B62D047B1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2984" y="3190261"/>
            <a:ext cx="301752" cy="301752"/>
          </a:xfrm>
          <a:prstGeom prst="rect">
            <a:avLst/>
          </a:prstGeom>
        </p:spPr>
      </p:pic>
      <p:pic>
        <p:nvPicPr>
          <p:cNvPr id="112" name="Graphic 111" descr="Cursor with solid fill">
            <a:extLst>
              <a:ext uri="{FF2B5EF4-FFF2-40B4-BE49-F238E27FC236}">
                <a16:creationId xmlns:a16="http://schemas.microsoft.com/office/drawing/2014/main" id="{560C36FA-590D-4324-823F-7833C2CB2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2984" y="5189406"/>
            <a:ext cx="301752" cy="301752"/>
          </a:xfrm>
          <a:prstGeom prst="rect">
            <a:avLst/>
          </a:prstGeom>
        </p:spPr>
      </p:pic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956B9CE6-2725-4E62-904F-4772484A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2984" y="6281037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0" grpId="0" animBg="1"/>
      <p:bldP spid="6" grpId="0"/>
      <p:bldP spid="35" grpId="0" animBg="1"/>
      <p:bldP spid="35" grpId="1" animBg="1"/>
      <p:bldP spid="36" grpId="0" animBg="1"/>
      <p:bldP spid="38" grpId="0" animBg="1"/>
      <p:bldP spid="38" grpId="1" animBg="1"/>
      <p:bldP spid="39" grpId="0" animBg="1"/>
      <p:bldP spid="41" grpId="0" animBg="1"/>
      <p:bldP spid="41" grpId="1" animBg="1"/>
      <p:bldP spid="42" grpId="0" animBg="1"/>
      <p:bldP spid="44" grpId="0" animBg="1"/>
      <p:bldP spid="44" grpId="1" animBg="1"/>
      <p:bldP spid="45" grpId="0" animBg="1"/>
      <p:bldP spid="49" grpId="0" animBg="1"/>
      <p:bldP spid="49" grpId="1" animBg="1"/>
      <p:bldP spid="50" grpId="0" animBg="1"/>
      <p:bldP spid="60" grpId="0"/>
      <p:bldP spid="70" grpId="0" animBg="1"/>
      <p:bldP spid="70" grpId="1" animBg="1"/>
      <p:bldP spid="71" grpId="0" animBg="1"/>
      <p:bldP spid="73" grpId="0" animBg="1"/>
      <p:bldP spid="73" grpId="1" animBg="1"/>
      <p:bldP spid="94" grpId="0"/>
      <p:bldP spid="104" grpId="0" animBg="1"/>
      <p:bldP spid="104" grpId="1" animBg="1"/>
      <p:bldP spid="105" grpId="0" animBg="1"/>
      <p:bldP spid="107" grpId="0" animBg="1"/>
      <p:bldP spid="107" grpId="1" animBg="1"/>
      <p:bldP spid="108" grpId="0" animBg="1"/>
      <p:bldP spid="110" grpId="0" animBg="1"/>
      <p:bldP spid="110" grpId="1" animBg="1"/>
      <p:bldP spid="122" grpId="0" animBg="1"/>
      <p:bldP spid="122" grpId="1" animBg="1"/>
      <p:bldP spid="76" grpId="0"/>
      <p:bldP spid="81" grpId="0" animBg="1"/>
      <p:bldP spid="83" grpId="0" animBg="1"/>
      <p:bldP spid="84" grpId="0" animBg="1"/>
      <p:bldP spid="85" grpId="0"/>
      <p:bldP spid="86" grpId="0" animBg="1"/>
      <p:bldP spid="86" grpId="1" animBg="1"/>
      <p:bldP spid="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a">
            <a:extLst>
              <a:ext uri="{FF2B5EF4-FFF2-40B4-BE49-F238E27FC236}">
                <a16:creationId xmlns:a16="http://schemas.microsoft.com/office/drawing/2014/main" id="{AF168C15-04A7-4109-8B31-630B7A4AAF3F}"/>
              </a:ext>
            </a:extLst>
          </p:cNvPr>
          <p:cNvSpPr/>
          <p:nvPr/>
        </p:nvSpPr>
        <p:spPr>
          <a:xfrm>
            <a:off x="3003522" y="149290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4a</a:t>
            </a:r>
          </a:p>
        </p:txBody>
      </p:sp>
      <p:sp>
        <p:nvSpPr>
          <p:cNvPr id="5" name="Case 4 Diagnosis?">
            <a:extLst>
              <a:ext uri="{FF2B5EF4-FFF2-40B4-BE49-F238E27FC236}">
                <a16:creationId xmlns:a16="http://schemas.microsoft.com/office/drawing/2014/main" id="{25837939-8693-4A78-9210-9843416EBAA6}"/>
              </a:ext>
            </a:extLst>
          </p:cNvPr>
          <p:cNvSpPr/>
          <p:nvPr/>
        </p:nvSpPr>
        <p:spPr>
          <a:xfrm>
            <a:off x="2304383" y="2639155"/>
            <a:ext cx="3200400" cy="7205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6" name="Case4 - diagnosis answer">
            <a:extLst>
              <a:ext uri="{FF2B5EF4-FFF2-40B4-BE49-F238E27FC236}">
                <a16:creationId xmlns:a16="http://schemas.microsoft.com/office/drawing/2014/main" id="{3DE5DDA9-8B76-465F-B83D-DD236E1DD0CE}"/>
              </a:ext>
            </a:extLst>
          </p:cNvPr>
          <p:cNvSpPr/>
          <p:nvPr/>
        </p:nvSpPr>
        <p:spPr>
          <a:xfrm>
            <a:off x="2304383" y="2638742"/>
            <a:ext cx="3200400" cy="7189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Suspected pyelonephritis/ complicated UTI.</a:t>
            </a:r>
            <a:r>
              <a:rPr lang="en-US" sz="1400" dirty="0"/>
              <a:t> </a:t>
            </a:r>
          </a:p>
        </p:txBody>
      </p:sp>
      <p:sp>
        <p:nvSpPr>
          <p:cNvPr id="7" name="Case 4 text">
            <a:extLst>
              <a:ext uri="{FF2B5EF4-FFF2-40B4-BE49-F238E27FC236}">
                <a16:creationId xmlns:a16="http://schemas.microsoft.com/office/drawing/2014/main" id="{640B6F50-E5AF-4578-8A8F-85F7DD6851DF}"/>
              </a:ext>
            </a:extLst>
          </p:cNvPr>
          <p:cNvSpPr txBox="1"/>
          <p:nvPr/>
        </p:nvSpPr>
        <p:spPr>
          <a:xfrm>
            <a:off x="2271210" y="647768"/>
            <a:ext cx="337939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65 </a:t>
            </a:r>
            <a:r>
              <a:rPr lang="en-US" sz="1400" dirty="0" err="1"/>
              <a:t>yo</a:t>
            </a:r>
            <a:r>
              <a:rPr lang="en-US" sz="1400" dirty="0"/>
              <a:t> with a history of stroke with residual L hemiparesis and residual dysphagia presents from SNF with confusion. </a:t>
            </a:r>
          </a:p>
          <a:p>
            <a:endParaRPr lang="en-US" sz="600" dirty="0"/>
          </a:p>
          <a:p>
            <a:r>
              <a:rPr lang="en-US" sz="1400" dirty="0"/>
              <a:t>VS: T 100.5F, HR 110s, BP 110/60s. Grimaces with palpation of suprapubic region and L flank.</a:t>
            </a:r>
          </a:p>
          <a:p>
            <a:endParaRPr lang="en-US" sz="600" dirty="0"/>
          </a:p>
          <a:p>
            <a:r>
              <a:rPr lang="en-US" sz="1400" dirty="0"/>
              <a:t>WBC 17k, lactate 2.1. CXR is clear. UA shows + LE, 50 WBCs, many bacteria.  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1A15A703-ABC0-4F49-A9C6-99A828BE8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421" y="3193805"/>
            <a:ext cx="301752" cy="301752"/>
          </a:xfrm>
          <a:prstGeom prst="rect">
            <a:avLst/>
          </a:prstGeom>
        </p:spPr>
      </p:pic>
      <p:sp>
        <p:nvSpPr>
          <p:cNvPr id="9" name="Case 4 Bugs?">
            <a:extLst>
              <a:ext uri="{FF2B5EF4-FFF2-40B4-BE49-F238E27FC236}">
                <a16:creationId xmlns:a16="http://schemas.microsoft.com/office/drawing/2014/main" id="{F6575EBF-5B28-43CE-9D4D-434E6FA68F14}"/>
              </a:ext>
            </a:extLst>
          </p:cNvPr>
          <p:cNvSpPr/>
          <p:nvPr/>
        </p:nvSpPr>
        <p:spPr>
          <a:xfrm>
            <a:off x="2304383" y="3483390"/>
            <a:ext cx="320040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10" name="Case 4 - Bugs answer">
            <a:extLst>
              <a:ext uri="{FF2B5EF4-FFF2-40B4-BE49-F238E27FC236}">
                <a16:creationId xmlns:a16="http://schemas.microsoft.com/office/drawing/2014/main" id="{A77DBF12-64C5-4143-9B3F-AE392693432C}"/>
              </a:ext>
            </a:extLst>
          </p:cNvPr>
          <p:cNvSpPr/>
          <p:nvPr/>
        </p:nvSpPr>
        <p:spPr>
          <a:xfrm>
            <a:off x="2304383" y="3485157"/>
            <a:ext cx="320040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E. coli </a:t>
            </a:r>
            <a:r>
              <a:rPr lang="en-US" sz="1400" dirty="0"/>
              <a:t>is responsible for 75-95% of UTIs. Enteric GNRs and some </a:t>
            </a:r>
            <a:r>
              <a:rPr lang="en-US" sz="1400" i="1" dirty="0"/>
              <a:t>Staph</a:t>
            </a:r>
            <a:r>
              <a:rPr lang="en-US" sz="1400" dirty="0"/>
              <a:t> spp. are also common. 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61B74FA0-D754-4917-A6FD-B601F51C1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421" y="4046283"/>
            <a:ext cx="301752" cy="301752"/>
          </a:xfrm>
          <a:prstGeom prst="rect">
            <a:avLst/>
          </a:prstGeom>
        </p:spPr>
      </p:pic>
      <p:sp>
        <p:nvSpPr>
          <p:cNvPr id="12" name="Case 4 Drugs?">
            <a:extLst>
              <a:ext uri="{FF2B5EF4-FFF2-40B4-BE49-F238E27FC236}">
                <a16:creationId xmlns:a16="http://schemas.microsoft.com/office/drawing/2014/main" id="{500E0C06-481F-4D3F-814E-FBF30BA3CEE8}"/>
              </a:ext>
            </a:extLst>
          </p:cNvPr>
          <p:cNvSpPr/>
          <p:nvPr/>
        </p:nvSpPr>
        <p:spPr>
          <a:xfrm>
            <a:off x="2304383" y="4321141"/>
            <a:ext cx="320040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13" name="Case 4 - Drugs answer">
            <a:extLst>
              <a:ext uri="{FF2B5EF4-FFF2-40B4-BE49-F238E27FC236}">
                <a16:creationId xmlns:a16="http://schemas.microsoft.com/office/drawing/2014/main" id="{364AE1DA-6F6A-498F-8DD7-14038034EDF6}"/>
              </a:ext>
            </a:extLst>
          </p:cNvPr>
          <p:cNvSpPr/>
          <p:nvPr/>
        </p:nvSpPr>
        <p:spPr>
          <a:xfrm>
            <a:off x="2304383" y="4328890"/>
            <a:ext cx="320040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</a:t>
            </a:r>
            <a:r>
              <a:rPr lang="en-US" sz="1400" dirty="0"/>
              <a:t>. While he does have risk factors for MDR organisms (SNF) it is reasonable to start narrower here.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AD16F78F-5BF7-4DB7-BAF3-1CCB8C068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421" y="4875159"/>
            <a:ext cx="301752" cy="301752"/>
          </a:xfrm>
          <a:prstGeom prst="rect">
            <a:avLst/>
          </a:prstGeom>
        </p:spPr>
      </p:pic>
      <p:sp>
        <p:nvSpPr>
          <p:cNvPr id="15" name="Case 4 CAUTI?">
            <a:extLst>
              <a:ext uri="{FF2B5EF4-FFF2-40B4-BE49-F238E27FC236}">
                <a16:creationId xmlns:a16="http://schemas.microsoft.com/office/drawing/2014/main" id="{A0EF2EAA-018B-439F-BD47-0272E49D3A07}"/>
              </a:ext>
            </a:extLst>
          </p:cNvPr>
          <p:cNvSpPr/>
          <p:nvPr/>
        </p:nvSpPr>
        <p:spPr>
          <a:xfrm>
            <a:off x="2304383" y="5173566"/>
            <a:ext cx="320040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he had a chronic indwelling catheter?</a:t>
            </a:r>
          </a:p>
        </p:txBody>
      </p:sp>
      <p:sp>
        <p:nvSpPr>
          <p:cNvPr id="16" name="Case 4 - CAUTI answer">
            <a:extLst>
              <a:ext uri="{FF2B5EF4-FFF2-40B4-BE49-F238E27FC236}">
                <a16:creationId xmlns:a16="http://schemas.microsoft.com/office/drawing/2014/main" id="{0E059EAB-CE1A-4E77-8DAF-999199B8FFB9}"/>
              </a:ext>
            </a:extLst>
          </p:cNvPr>
          <p:cNvSpPr/>
          <p:nvPr/>
        </p:nvSpPr>
        <p:spPr>
          <a:xfrm>
            <a:off x="2304383" y="5172623"/>
            <a:ext cx="320040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a </a:t>
            </a:r>
            <a:r>
              <a:rPr lang="en-US" sz="1400" b="1" dirty="0"/>
              <a:t>CAUTI</a:t>
            </a:r>
            <a:r>
              <a:rPr lang="en-US" sz="1400" dirty="0"/>
              <a:t>. Additional bugs include </a:t>
            </a:r>
            <a:r>
              <a:rPr lang="en-US" sz="1400" b="1" dirty="0" err="1"/>
              <a:t>PsA</a:t>
            </a:r>
            <a:r>
              <a:rPr lang="en-US" sz="1400" dirty="0"/>
              <a:t> and </a:t>
            </a:r>
            <a:r>
              <a:rPr lang="en-US" sz="1400" b="1" i="1" dirty="0"/>
              <a:t>Enterococcus</a:t>
            </a:r>
            <a:r>
              <a:rPr lang="en-US" sz="1400" dirty="0"/>
              <a:t>. IV ceftriaxone or IV Zosyn (for broader coverage). 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5F05AA01-9623-4C66-A01E-E95EFCD5E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421" y="5711103"/>
            <a:ext cx="301752" cy="301752"/>
          </a:xfrm>
          <a:prstGeom prst="rect">
            <a:avLst/>
          </a:prstGeom>
        </p:spPr>
      </p:pic>
      <p:sp>
        <p:nvSpPr>
          <p:cNvPr id="21" name="4b">
            <a:extLst>
              <a:ext uri="{FF2B5EF4-FFF2-40B4-BE49-F238E27FC236}">
                <a16:creationId xmlns:a16="http://schemas.microsoft.com/office/drawing/2014/main" id="{DE6CF0F3-3A22-48AF-AADE-FF26928FF895}"/>
              </a:ext>
            </a:extLst>
          </p:cNvPr>
          <p:cNvSpPr/>
          <p:nvPr/>
        </p:nvSpPr>
        <p:spPr>
          <a:xfrm>
            <a:off x="6517985" y="149290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4b</a:t>
            </a:r>
          </a:p>
        </p:txBody>
      </p:sp>
      <p:sp>
        <p:nvSpPr>
          <p:cNvPr id="22" name="Case 4b Diagnosis?">
            <a:extLst>
              <a:ext uri="{FF2B5EF4-FFF2-40B4-BE49-F238E27FC236}">
                <a16:creationId xmlns:a16="http://schemas.microsoft.com/office/drawing/2014/main" id="{B3107779-EB84-40F5-A6EE-E5E80BF0EF22}"/>
              </a:ext>
            </a:extLst>
          </p:cNvPr>
          <p:cNvSpPr/>
          <p:nvPr/>
        </p:nvSpPr>
        <p:spPr>
          <a:xfrm>
            <a:off x="5839538" y="1893606"/>
            <a:ext cx="2834640" cy="3677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23" name="Case 4b - diagnosis answer">
            <a:extLst>
              <a:ext uri="{FF2B5EF4-FFF2-40B4-BE49-F238E27FC236}">
                <a16:creationId xmlns:a16="http://schemas.microsoft.com/office/drawing/2014/main" id="{6A84B6F5-C1BC-4C77-9AA7-AFD584ECEAB9}"/>
              </a:ext>
            </a:extLst>
          </p:cNvPr>
          <p:cNvSpPr/>
          <p:nvPr/>
        </p:nvSpPr>
        <p:spPr>
          <a:xfrm>
            <a:off x="5839538" y="1892924"/>
            <a:ext cx="2834640" cy="36687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CAP vs. aspiration pneumonia</a:t>
            </a:r>
            <a:endParaRPr lang="en-US" sz="1400" dirty="0"/>
          </a:p>
        </p:txBody>
      </p:sp>
      <p:sp>
        <p:nvSpPr>
          <p:cNvPr id="24" name="Case 4b text">
            <a:extLst>
              <a:ext uri="{FF2B5EF4-FFF2-40B4-BE49-F238E27FC236}">
                <a16:creationId xmlns:a16="http://schemas.microsoft.com/office/drawing/2014/main" id="{D288C547-9649-45E8-AE5D-C0B6D209996F}"/>
              </a:ext>
            </a:extLst>
          </p:cNvPr>
          <p:cNvSpPr txBox="1"/>
          <p:nvPr/>
        </p:nvSpPr>
        <p:spPr>
          <a:xfrm>
            <a:off x="5800024" y="649316"/>
            <a:ext cx="30012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65 yo with  a history of stroke is readmitted 2 months later with cough and shortness of breath and is admitted to the ICU. CXR shows a RLL consolidation. 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E73C0F57-D123-4415-9C1C-9689427A2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2121" y="2117391"/>
            <a:ext cx="301752" cy="301752"/>
          </a:xfrm>
          <a:prstGeom prst="rect">
            <a:avLst/>
          </a:prstGeom>
        </p:spPr>
      </p:pic>
      <p:sp>
        <p:nvSpPr>
          <p:cNvPr id="26" name="Case 4b Bugs?">
            <a:extLst>
              <a:ext uri="{FF2B5EF4-FFF2-40B4-BE49-F238E27FC236}">
                <a16:creationId xmlns:a16="http://schemas.microsoft.com/office/drawing/2014/main" id="{550DE4A4-17D8-48D7-A82A-68C561D8C0F9}"/>
              </a:ext>
            </a:extLst>
          </p:cNvPr>
          <p:cNvSpPr/>
          <p:nvPr/>
        </p:nvSpPr>
        <p:spPr>
          <a:xfrm>
            <a:off x="5839538" y="2408612"/>
            <a:ext cx="2834640" cy="130731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27" name="Case 4b - Bugs answer">
            <a:extLst>
              <a:ext uri="{FF2B5EF4-FFF2-40B4-BE49-F238E27FC236}">
                <a16:creationId xmlns:a16="http://schemas.microsoft.com/office/drawing/2014/main" id="{1736F5BA-C9DF-4400-859D-84AE372C1CB5}"/>
              </a:ext>
            </a:extLst>
          </p:cNvPr>
          <p:cNvSpPr/>
          <p:nvPr/>
        </p:nvSpPr>
        <p:spPr>
          <a:xfrm>
            <a:off x="5839538" y="2410834"/>
            <a:ext cx="2834640" cy="13073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Hospitalization + IV </a:t>
            </a:r>
            <a:r>
              <a:rPr lang="en-US" sz="1400" dirty="0" err="1"/>
              <a:t>abx</a:t>
            </a:r>
            <a:r>
              <a:rPr lang="en-US" sz="1400" dirty="0"/>
              <a:t> w/in 90 d is a risk factor for </a:t>
            </a:r>
            <a:r>
              <a:rPr lang="en-US" sz="1400" b="1" dirty="0"/>
              <a:t>MRSA</a:t>
            </a:r>
            <a:r>
              <a:rPr lang="en-US" sz="1400" dirty="0"/>
              <a:t> or </a:t>
            </a:r>
            <a:r>
              <a:rPr lang="en-US" sz="1400" b="1" dirty="0" err="1"/>
              <a:t>PsA</a:t>
            </a:r>
            <a:r>
              <a:rPr lang="en-US" sz="1400" dirty="0" err="1"/>
              <a:t>.</a:t>
            </a:r>
            <a:r>
              <a:rPr lang="en-US" sz="1400" dirty="0"/>
              <a:t> CAP bugs (</a:t>
            </a:r>
            <a:r>
              <a:rPr lang="en-US" sz="1400" b="1" i="1" dirty="0"/>
              <a:t>S. </a:t>
            </a:r>
            <a:r>
              <a:rPr lang="en-US" sz="1400" b="1" i="1" dirty="0" err="1"/>
              <a:t>pneumo</a:t>
            </a:r>
            <a:r>
              <a:rPr lang="en-US" sz="1400" b="1" dirty="0"/>
              <a:t>, GNR, </a:t>
            </a:r>
            <a:r>
              <a:rPr lang="en-US" sz="1400" b="1" dirty="0" err="1"/>
              <a:t>atypicals</a:t>
            </a:r>
            <a:r>
              <a:rPr lang="en-US" sz="1400" dirty="0"/>
              <a:t>) and </a:t>
            </a:r>
            <a:r>
              <a:rPr lang="en-US" sz="1400" b="1" dirty="0"/>
              <a:t>anaerobes</a:t>
            </a:r>
            <a:r>
              <a:rPr lang="en-US" sz="1400" dirty="0"/>
              <a:t> are also possible. 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08C92279-E3AF-4DE5-AB34-E27749F11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994" y="3551139"/>
            <a:ext cx="301752" cy="301752"/>
          </a:xfrm>
          <a:prstGeom prst="rect">
            <a:avLst/>
          </a:prstGeom>
        </p:spPr>
      </p:pic>
      <p:sp>
        <p:nvSpPr>
          <p:cNvPr id="29" name="Case 4b Drugs?">
            <a:extLst>
              <a:ext uri="{FF2B5EF4-FFF2-40B4-BE49-F238E27FC236}">
                <a16:creationId xmlns:a16="http://schemas.microsoft.com/office/drawing/2014/main" id="{123CC2A4-90D6-48B0-9B98-BE8D6C635898}"/>
              </a:ext>
            </a:extLst>
          </p:cNvPr>
          <p:cNvSpPr/>
          <p:nvPr/>
        </p:nvSpPr>
        <p:spPr>
          <a:xfrm>
            <a:off x="5839538" y="3869324"/>
            <a:ext cx="2834640" cy="14119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30" name="Case 4b - Drugs answer">
            <a:extLst>
              <a:ext uri="{FF2B5EF4-FFF2-40B4-BE49-F238E27FC236}">
                <a16:creationId xmlns:a16="http://schemas.microsoft.com/office/drawing/2014/main" id="{119B7A83-2313-4529-8B6E-2DE2ACF01028}"/>
              </a:ext>
            </a:extLst>
          </p:cNvPr>
          <p:cNvSpPr/>
          <p:nvPr/>
        </p:nvSpPr>
        <p:spPr>
          <a:xfrm>
            <a:off x="5839538" y="3869186"/>
            <a:ext cx="2834640" cy="14128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Vancomycin + cefepime + azithromycin</a:t>
            </a:r>
            <a:r>
              <a:rPr lang="en-US" sz="1400" dirty="0"/>
              <a:t>. Patients with severe pneumonia should receive empiric coverage of MRSA + </a:t>
            </a:r>
            <a:r>
              <a:rPr lang="en-US" sz="1400" dirty="0" err="1"/>
              <a:t>PsA.</a:t>
            </a:r>
            <a:r>
              <a:rPr lang="en-US" sz="1400" dirty="0"/>
              <a:t> Routine coverage of anaerobes is not necessary. </a:t>
            </a:r>
          </a:p>
        </p:txBody>
      </p:sp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392F3F2B-C680-4BE0-A477-A692C33C1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994" y="5103553"/>
            <a:ext cx="301752" cy="301752"/>
          </a:xfrm>
          <a:prstGeom prst="rect">
            <a:avLst/>
          </a:prstGeom>
        </p:spPr>
      </p:pic>
      <p:sp>
        <p:nvSpPr>
          <p:cNvPr id="32" name="5">
            <a:extLst>
              <a:ext uri="{FF2B5EF4-FFF2-40B4-BE49-F238E27FC236}">
                <a16:creationId xmlns:a16="http://schemas.microsoft.com/office/drawing/2014/main" id="{B87E92E8-CA9D-4EFF-BFCE-65D91ED2FEF2}"/>
              </a:ext>
            </a:extLst>
          </p:cNvPr>
          <p:cNvSpPr/>
          <p:nvPr/>
        </p:nvSpPr>
        <p:spPr>
          <a:xfrm>
            <a:off x="9700342" y="149290"/>
            <a:ext cx="1554480" cy="412786"/>
          </a:xfrm>
          <a:prstGeom prst="roundRect">
            <a:avLst/>
          </a:prstGeom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</a:t>
            </a:r>
          </a:p>
        </p:txBody>
      </p:sp>
      <p:sp>
        <p:nvSpPr>
          <p:cNvPr id="33" name="Case 5 Bugs?">
            <a:extLst>
              <a:ext uri="{FF2B5EF4-FFF2-40B4-BE49-F238E27FC236}">
                <a16:creationId xmlns:a16="http://schemas.microsoft.com/office/drawing/2014/main" id="{0BB24319-D68A-4E8D-86BC-B3D6052F9D4A}"/>
              </a:ext>
            </a:extLst>
          </p:cNvPr>
          <p:cNvSpPr/>
          <p:nvPr/>
        </p:nvSpPr>
        <p:spPr>
          <a:xfrm>
            <a:off x="8987070" y="3797829"/>
            <a:ext cx="3017520" cy="5992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Bugs?</a:t>
            </a:r>
          </a:p>
        </p:txBody>
      </p:sp>
      <p:sp>
        <p:nvSpPr>
          <p:cNvPr id="34" name="Case 5 - Bugs answer">
            <a:extLst>
              <a:ext uri="{FF2B5EF4-FFF2-40B4-BE49-F238E27FC236}">
                <a16:creationId xmlns:a16="http://schemas.microsoft.com/office/drawing/2014/main" id="{C442D8F4-5002-4787-BF2B-A2C8120D4770}"/>
              </a:ext>
            </a:extLst>
          </p:cNvPr>
          <p:cNvSpPr/>
          <p:nvPr/>
        </p:nvSpPr>
        <p:spPr>
          <a:xfrm>
            <a:off x="8987070" y="3797148"/>
            <a:ext cx="3017520" cy="5979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GAS, </a:t>
            </a:r>
            <a:r>
              <a:rPr lang="en-US" sz="1400" b="1" i="1" dirty="0"/>
              <a:t>S. aureus</a:t>
            </a:r>
            <a:r>
              <a:rPr lang="en-US" sz="1400" b="1" dirty="0"/>
              <a:t>, GNRs, anaerobes (</a:t>
            </a:r>
            <a:r>
              <a:rPr lang="en-US" sz="1400" b="1" i="1" dirty="0"/>
              <a:t>Clostridium</a:t>
            </a:r>
            <a:r>
              <a:rPr lang="en-US" sz="1400" b="1" dirty="0"/>
              <a:t>). </a:t>
            </a:r>
            <a:r>
              <a:rPr lang="en-US" sz="1400" dirty="0"/>
              <a:t>May be polymicrobial.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0A38F529-AF7E-4ED5-AD3C-54018406B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8712" y="4267288"/>
            <a:ext cx="301752" cy="301752"/>
          </a:xfrm>
          <a:prstGeom prst="rect">
            <a:avLst/>
          </a:prstGeom>
        </p:spPr>
      </p:pic>
      <p:sp>
        <p:nvSpPr>
          <p:cNvPr id="36" name="Case 5 Drugs?">
            <a:extLst>
              <a:ext uri="{FF2B5EF4-FFF2-40B4-BE49-F238E27FC236}">
                <a16:creationId xmlns:a16="http://schemas.microsoft.com/office/drawing/2014/main" id="{D3399E65-03A2-4484-B77A-D4498DDCDCB8}"/>
              </a:ext>
            </a:extLst>
          </p:cNvPr>
          <p:cNvSpPr/>
          <p:nvPr/>
        </p:nvSpPr>
        <p:spPr>
          <a:xfrm>
            <a:off x="8987070" y="4565756"/>
            <a:ext cx="3017520" cy="85010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Drugs?</a:t>
            </a:r>
          </a:p>
        </p:txBody>
      </p:sp>
      <p:sp>
        <p:nvSpPr>
          <p:cNvPr id="37" name="Case 5 - Drugs answer">
            <a:extLst>
              <a:ext uri="{FF2B5EF4-FFF2-40B4-BE49-F238E27FC236}">
                <a16:creationId xmlns:a16="http://schemas.microsoft.com/office/drawing/2014/main" id="{6268F453-1574-4F3F-B83C-F82CC085DBF2}"/>
              </a:ext>
            </a:extLst>
          </p:cNvPr>
          <p:cNvSpPr/>
          <p:nvPr/>
        </p:nvSpPr>
        <p:spPr>
          <a:xfrm>
            <a:off x="8987070" y="4565075"/>
            <a:ext cx="3017520" cy="8481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Vancomycin + Zosyn/meropenem + clindamycin. </a:t>
            </a:r>
            <a:r>
              <a:rPr lang="en-US" sz="1400" dirty="0"/>
              <a:t>Surgery should be consulted.</a:t>
            </a:r>
            <a:r>
              <a:rPr lang="en-US" sz="1400" b="1" dirty="0"/>
              <a:t> </a:t>
            </a:r>
            <a:endParaRPr lang="en-US" sz="1400" dirty="0"/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CC79435D-E777-4B8B-842F-4B8492D4D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8712" y="5259094"/>
            <a:ext cx="301752" cy="301752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092F61-5F13-4EAB-9BBA-1B180AB8DECA}"/>
              </a:ext>
            </a:extLst>
          </p:cNvPr>
          <p:cNvCxnSpPr>
            <a:cxnSpLocks/>
          </p:cNvCxnSpPr>
          <p:nvPr/>
        </p:nvCxnSpPr>
        <p:spPr>
          <a:xfrm flipH="1">
            <a:off x="5692046" y="85270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ntibiotic man">
            <a:hlinkClick r:id="" action="ppaction://noaction"/>
            <a:extLst>
              <a:ext uri="{FF2B5EF4-FFF2-40B4-BE49-F238E27FC236}">
                <a16:creationId xmlns:a16="http://schemas.microsoft.com/office/drawing/2014/main" id="{5E32017A-6E4E-4B86-AC74-61ABBA42A5FD}"/>
              </a:ext>
            </a:extLst>
          </p:cNvPr>
          <p:cNvSpPr txBox="1"/>
          <p:nvPr/>
        </p:nvSpPr>
        <p:spPr>
          <a:xfrm>
            <a:off x="242172" y="190104"/>
            <a:ext cx="17224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 Man</a:t>
            </a:r>
          </a:p>
        </p:txBody>
      </p:sp>
      <p:sp>
        <p:nvSpPr>
          <p:cNvPr id="48" name="Pneumonia">
            <a:hlinkClick r:id="rId4" action="ppaction://hlinksldjump"/>
            <a:extLst>
              <a:ext uri="{FF2B5EF4-FFF2-40B4-BE49-F238E27FC236}">
                <a16:creationId xmlns:a16="http://schemas.microsoft.com/office/drawing/2014/main" id="{63DAABA5-A45A-42DE-B125-E345CE0BB17A}"/>
              </a:ext>
            </a:extLst>
          </p:cNvPr>
          <p:cNvSpPr txBox="1"/>
          <p:nvPr/>
        </p:nvSpPr>
        <p:spPr>
          <a:xfrm>
            <a:off x="251420" y="806840"/>
            <a:ext cx="1715032" cy="408623"/>
          </a:xfrm>
          <a:prstGeom prst="roundRect">
            <a:avLst/>
          </a:prstGeom>
          <a:ln w="38100">
            <a:solidFill>
              <a:srgbClr val="FFB7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Pneumonia</a:t>
            </a:r>
          </a:p>
        </p:txBody>
      </p:sp>
      <p:sp>
        <p:nvSpPr>
          <p:cNvPr id="50" name="Cellulitis">
            <a:hlinkClick r:id="rId5" action="ppaction://hlinksldjump"/>
            <a:extLst>
              <a:ext uri="{FF2B5EF4-FFF2-40B4-BE49-F238E27FC236}">
                <a16:creationId xmlns:a16="http://schemas.microsoft.com/office/drawing/2014/main" id="{4B5534E0-CF37-4893-8418-235E74272CE6}"/>
              </a:ext>
            </a:extLst>
          </p:cNvPr>
          <p:cNvSpPr txBox="1"/>
          <p:nvPr/>
        </p:nvSpPr>
        <p:spPr>
          <a:xfrm>
            <a:off x="259915" y="2017063"/>
            <a:ext cx="1715032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Cellulitis</a:t>
            </a:r>
          </a:p>
        </p:txBody>
      </p:sp>
      <p:sp>
        <p:nvSpPr>
          <p:cNvPr id="53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CB50A953-2CC8-434C-82BC-0B66BBA0529A}"/>
              </a:ext>
            </a:extLst>
          </p:cNvPr>
          <p:cNvSpPr txBox="1"/>
          <p:nvPr/>
        </p:nvSpPr>
        <p:spPr>
          <a:xfrm>
            <a:off x="251420" y="1405277"/>
            <a:ext cx="171503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UTI</a:t>
            </a:r>
          </a:p>
        </p:txBody>
      </p:sp>
      <p:sp>
        <p:nvSpPr>
          <p:cNvPr id="56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E277CA8F-272A-44F6-B8F4-AD4F00CDB53E}"/>
              </a:ext>
            </a:extLst>
          </p:cNvPr>
          <p:cNvSpPr txBox="1"/>
          <p:nvPr/>
        </p:nvSpPr>
        <p:spPr>
          <a:xfrm>
            <a:off x="259915" y="2610286"/>
            <a:ext cx="1715032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Intraabdominal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1B8F1656-A4AF-45BE-8724-CE4622E14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6542" y="410454"/>
            <a:ext cx="301752" cy="301752"/>
          </a:xfrm>
          <a:prstGeom prst="rect">
            <a:avLst/>
          </a:prstGeom>
        </p:spPr>
      </p:pic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C73BCEEB-A198-408B-A925-56CB8C05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406" y="410454"/>
            <a:ext cx="301752" cy="301752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83A6D9EB-DAFE-4DFD-9CD9-92BDE14FE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4301" y="410454"/>
            <a:ext cx="301752" cy="301752"/>
          </a:xfrm>
          <a:prstGeom prst="rect">
            <a:avLst/>
          </a:prstGeom>
        </p:spPr>
      </p:pic>
      <p:sp>
        <p:nvSpPr>
          <p:cNvPr id="67" name="Case 4 ESBL?">
            <a:extLst>
              <a:ext uri="{FF2B5EF4-FFF2-40B4-BE49-F238E27FC236}">
                <a16:creationId xmlns:a16="http://schemas.microsoft.com/office/drawing/2014/main" id="{FE380442-A4D6-41BB-8FA6-AC67CB9D4366}"/>
              </a:ext>
            </a:extLst>
          </p:cNvPr>
          <p:cNvSpPr/>
          <p:nvPr/>
        </p:nvSpPr>
        <p:spPr>
          <a:xfrm>
            <a:off x="2304383" y="6016730"/>
            <a:ext cx="3200400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his culture comes back with ESBL </a:t>
            </a:r>
            <a:r>
              <a:rPr lang="en-US" i="1" dirty="0"/>
              <a:t>E. coli</a:t>
            </a:r>
            <a:r>
              <a:rPr lang="en-US" dirty="0"/>
              <a:t>?</a:t>
            </a:r>
          </a:p>
        </p:txBody>
      </p:sp>
      <p:sp>
        <p:nvSpPr>
          <p:cNvPr id="68" name="Case 4 - ESBL answer">
            <a:extLst>
              <a:ext uri="{FF2B5EF4-FFF2-40B4-BE49-F238E27FC236}">
                <a16:creationId xmlns:a16="http://schemas.microsoft.com/office/drawing/2014/main" id="{F14F93B7-59AE-4173-95FD-EB67AC5DFDD0}"/>
              </a:ext>
            </a:extLst>
          </p:cNvPr>
          <p:cNvSpPr/>
          <p:nvPr/>
        </p:nvSpPr>
        <p:spPr>
          <a:xfrm>
            <a:off x="2304383" y="6016357"/>
            <a:ext cx="3200400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IV ertapenem</a:t>
            </a:r>
            <a:r>
              <a:rPr lang="en-US" sz="1400" dirty="0"/>
              <a:t>.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562F1467-83FD-4F57-9A4C-D5F40B0ED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421" y="6596714"/>
            <a:ext cx="301752" cy="301752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C4ABEFB-6BC2-474B-8911-E5E5317EBCDA}"/>
              </a:ext>
            </a:extLst>
          </p:cNvPr>
          <p:cNvCxnSpPr>
            <a:cxnSpLocks/>
          </p:cNvCxnSpPr>
          <p:nvPr/>
        </p:nvCxnSpPr>
        <p:spPr>
          <a:xfrm flipH="1">
            <a:off x="8830655" y="85270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se 2 Drugs?">
            <a:extLst>
              <a:ext uri="{FF2B5EF4-FFF2-40B4-BE49-F238E27FC236}">
                <a16:creationId xmlns:a16="http://schemas.microsoft.com/office/drawing/2014/main" id="{D5CAAB07-F424-4F7D-AAA0-28B316D606A1}"/>
              </a:ext>
            </a:extLst>
          </p:cNvPr>
          <p:cNvSpPr/>
          <p:nvPr/>
        </p:nvSpPr>
        <p:spPr>
          <a:xfrm>
            <a:off x="5839538" y="5433757"/>
            <a:ext cx="2834640" cy="10548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his CT showed a cavitary lesion, concerning for lung abscess?</a:t>
            </a:r>
          </a:p>
        </p:txBody>
      </p:sp>
      <p:sp>
        <p:nvSpPr>
          <p:cNvPr id="73" name="Case 2 - Drugs answer">
            <a:extLst>
              <a:ext uri="{FF2B5EF4-FFF2-40B4-BE49-F238E27FC236}">
                <a16:creationId xmlns:a16="http://schemas.microsoft.com/office/drawing/2014/main" id="{F034EF96-2CD6-4A77-9B96-931EEEC7875E}"/>
              </a:ext>
            </a:extLst>
          </p:cNvPr>
          <p:cNvSpPr/>
          <p:nvPr/>
        </p:nvSpPr>
        <p:spPr>
          <a:xfrm>
            <a:off x="5839538" y="5433077"/>
            <a:ext cx="2834640" cy="10555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</a:t>
            </a:r>
            <a:r>
              <a:rPr lang="en-US" sz="1400" b="1" dirty="0"/>
              <a:t>metronidazole</a:t>
            </a:r>
            <a:r>
              <a:rPr lang="en-US" sz="1400" dirty="0"/>
              <a:t> or switch to </a:t>
            </a:r>
            <a:r>
              <a:rPr lang="en-US" sz="1400" b="1" dirty="0"/>
              <a:t>Vancomycin + Zosyn + azithromycin</a:t>
            </a:r>
            <a:r>
              <a:rPr lang="en-US" sz="1400" dirty="0"/>
              <a:t>. Cover anaerobes with lung abscess or empyema. </a:t>
            </a:r>
          </a:p>
        </p:txBody>
      </p:sp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5BA1D396-6100-4A89-9F38-DAB7F2B3E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9008" y="6293709"/>
            <a:ext cx="301752" cy="301752"/>
          </a:xfrm>
          <a:prstGeom prst="rect">
            <a:avLst/>
          </a:prstGeom>
        </p:spPr>
      </p:pic>
      <p:sp>
        <p:nvSpPr>
          <p:cNvPr id="76" name="Case5 text">
            <a:extLst>
              <a:ext uri="{FF2B5EF4-FFF2-40B4-BE49-F238E27FC236}">
                <a16:creationId xmlns:a16="http://schemas.microsoft.com/office/drawing/2014/main" id="{E147DCB9-0573-48F3-9C81-285E2A0608CF}"/>
              </a:ext>
            </a:extLst>
          </p:cNvPr>
          <p:cNvSpPr txBox="1"/>
          <p:nvPr/>
        </p:nvSpPr>
        <p:spPr>
          <a:xfrm>
            <a:off x="8948254" y="649316"/>
            <a:ext cx="311280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33 yo presents with rapidly ascending erythema in the L leg that started 12 h prior. T 103F, HR 150s, BP 80s/40s. Exam is notable for deep erythema extending from ankle to mid thigh with areas of duskiness. They have tenderness beyond the area of erythema, no palpable fluctuance. </a:t>
            </a:r>
          </a:p>
          <a:p>
            <a:endParaRPr lang="en-US" sz="600" dirty="0"/>
          </a:p>
          <a:p>
            <a:r>
              <a:rPr lang="en-US" sz="1400" dirty="0"/>
              <a:t>Na is 123, Cr 3.5 (</a:t>
            </a:r>
            <a:r>
              <a:rPr lang="en-US" sz="1400" dirty="0" err="1"/>
              <a:t>b/l</a:t>
            </a:r>
            <a:r>
              <a:rPr lang="en-US" sz="1400" dirty="0"/>
              <a:t> is 1.0), WBC 25k, lactate 6.7. </a:t>
            </a:r>
          </a:p>
        </p:txBody>
      </p:sp>
      <p:sp>
        <p:nvSpPr>
          <p:cNvPr id="78" name="Case 5 diagnosis">
            <a:extLst>
              <a:ext uri="{FF2B5EF4-FFF2-40B4-BE49-F238E27FC236}">
                <a16:creationId xmlns:a16="http://schemas.microsoft.com/office/drawing/2014/main" id="{5C6A8765-ECCC-4535-9632-1825B4BD9278}"/>
              </a:ext>
            </a:extLst>
          </p:cNvPr>
          <p:cNvSpPr/>
          <p:nvPr/>
        </p:nvSpPr>
        <p:spPr>
          <a:xfrm>
            <a:off x="8987070" y="3037053"/>
            <a:ext cx="3017520" cy="5992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79" name="Case 5 Dx answer">
            <a:extLst>
              <a:ext uri="{FF2B5EF4-FFF2-40B4-BE49-F238E27FC236}">
                <a16:creationId xmlns:a16="http://schemas.microsoft.com/office/drawing/2014/main" id="{36C78523-F13C-42E3-9E95-78927E6A805E}"/>
              </a:ext>
            </a:extLst>
          </p:cNvPr>
          <p:cNvSpPr/>
          <p:nvPr/>
        </p:nvSpPr>
        <p:spPr>
          <a:xfrm>
            <a:off x="8987070" y="3036372"/>
            <a:ext cx="3017520" cy="5979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Necrotizing soft tissue infection</a:t>
            </a:r>
            <a:endParaRPr lang="en-US" sz="1400" dirty="0"/>
          </a:p>
        </p:txBody>
      </p:sp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84DCFD8C-1F34-446A-BF8F-967E89EB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8712" y="3506512"/>
            <a:ext cx="301752" cy="301752"/>
          </a:xfrm>
          <a:prstGeom prst="rect">
            <a:avLst/>
          </a:prstGeom>
        </p:spPr>
      </p:pic>
      <p:sp>
        <p:nvSpPr>
          <p:cNvPr id="75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AEE93F55-B239-4C8E-BB71-C58591C9462F}"/>
              </a:ext>
            </a:extLst>
          </p:cNvPr>
          <p:cNvSpPr txBox="1"/>
          <p:nvPr/>
        </p:nvSpPr>
        <p:spPr>
          <a:xfrm>
            <a:off x="259914" y="3213296"/>
            <a:ext cx="1715031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7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166370CB-2193-47A1-BECA-C66677F4E245}"/>
              </a:ext>
            </a:extLst>
          </p:cNvPr>
          <p:cNvSpPr txBox="1"/>
          <p:nvPr/>
        </p:nvSpPr>
        <p:spPr>
          <a:xfrm>
            <a:off x="603345" y="3787503"/>
            <a:ext cx="13716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1-3</a:t>
            </a:r>
          </a:p>
        </p:txBody>
      </p:sp>
      <p:sp>
        <p:nvSpPr>
          <p:cNvPr id="81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09FD33D1-BCC2-4C7A-8AD8-CD358B2F4EFB}"/>
              </a:ext>
            </a:extLst>
          </p:cNvPr>
          <p:cNvSpPr txBox="1"/>
          <p:nvPr/>
        </p:nvSpPr>
        <p:spPr>
          <a:xfrm>
            <a:off x="603345" y="4361709"/>
            <a:ext cx="13716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4-5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24595D3-CFBD-46F3-9FB4-779E4BEA449A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261684" y="3650153"/>
            <a:ext cx="421411" cy="2619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916536D4-24AA-4452-8ECC-789B39B93150}"/>
              </a:ext>
            </a:extLst>
          </p:cNvPr>
          <p:cNvCxnSpPr>
            <a:cxnSpLocks/>
            <a:endCxn id="81" idx="1"/>
          </p:cNvCxnSpPr>
          <p:nvPr/>
        </p:nvCxnSpPr>
        <p:spPr>
          <a:xfrm rot="16200000" flipH="1">
            <a:off x="167610" y="4130286"/>
            <a:ext cx="609558" cy="2619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4" name="Graphic 8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D60342-9125-4B27-99B7-AA298CBD5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073" y="4056739"/>
            <a:ext cx="301752" cy="301752"/>
          </a:xfrm>
          <a:prstGeom prst="rect">
            <a:avLst/>
          </a:prstGeom>
        </p:spPr>
      </p:pic>
      <p:pic>
        <p:nvPicPr>
          <p:cNvPr id="85" name="Graphic 84" descr="Cursor with solid fill">
            <a:extLst>
              <a:ext uri="{FF2B5EF4-FFF2-40B4-BE49-F238E27FC236}">
                <a16:creationId xmlns:a16="http://schemas.microsoft.com/office/drawing/2014/main" id="{48DC1203-2088-4A75-9B5C-9B7EC45B1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7821" y="1044490"/>
            <a:ext cx="301752" cy="301752"/>
          </a:xfrm>
          <a:prstGeom prst="rect">
            <a:avLst/>
          </a:prstGeom>
        </p:spPr>
      </p:pic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3CA3B530-3D22-42E9-AB45-524049A42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7821" y="454162"/>
            <a:ext cx="301752" cy="301752"/>
          </a:xfrm>
          <a:prstGeom prst="rect">
            <a:avLst/>
          </a:prstGeom>
        </p:spPr>
      </p:pic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A4F7A84B-55F9-427C-9179-57AA238F5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1662360"/>
            <a:ext cx="301752" cy="301752"/>
          </a:xfrm>
          <a:prstGeom prst="rect">
            <a:avLst/>
          </a:prstGeom>
        </p:spPr>
      </p:pic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7C65A6F7-23AE-4FC3-A141-0246EF51C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274146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356981D0-AE05-47E0-8D25-5248A91D0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0097" y="286736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5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/>
      <p:bldP spid="9" grpId="0" animBg="1"/>
      <p:bldP spid="9" grpId="1" animBg="1"/>
      <p:bldP spid="10" grpId="0" animBg="1"/>
      <p:bldP spid="12" grpId="0" animBg="1"/>
      <p:bldP spid="12" grpId="1" animBg="1"/>
      <p:bldP spid="13" grpId="0" animBg="1"/>
      <p:bldP spid="15" grpId="0" animBg="1"/>
      <p:bldP spid="15" grpId="1" animBg="1"/>
      <p:bldP spid="16" grpId="0" animBg="1"/>
      <p:bldP spid="22" grpId="0" animBg="1"/>
      <p:bldP spid="22" grpId="1" animBg="1"/>
      <p:bldP spid="23" grpId="0" animBg="1"/>
      <p:bldP spid="24" grpId="0"/>
      <p:bldP spid="26" grpId="0" animBg="1"/>
      <p:bldP spid="26" grpId="1" animBg="1"/>
      <p:bldP spid="27" grpId="0" animBg="1"/>
      <p:bldP spid="29" grpId="0" animBg="1"/>
      <p:bldP spid="29" grpId="1" animBg="1"/>
      <p:bldP spid="30" grpId="0" animBg="1"/>
      <p:bldP spid="33" grpId="0" animBg="1"/>
      <p:bldP spid="33" grpId="1" animBg="1"/>
      <p:bldP spid="34" grpId="0" animBg="1"/>
      <p:bldP spid="36" grpId="0" animBg="1"/>
      <p:bldP spid="36" grpId="1" animBg="1"/>
      <p:bldP spid="37" grpId="0" animBg="1"/>
      <p:bldP spid="67" grpId="0" animBg="1"/>
      <p:bldP spid="67" grpId="1" animBg="1"/>
      <p:bldP spid="68" grpId="0" animBg="1"/>
      <p:bldP spid="72" grpId="0" animBg="1"/>
      <p:bldP spid="72" grpId="1" animBg="1"/>
      <p:bldP spid="73" grpId="0" animBg="1"/>
      <p:bldP spid="76" grpId="0"/>
      <p:bldP spid="78" grpId="0" animBg="1"/>
      <p:bldP spid="78" grpId="1" animBg="1"/>
      <p:bldP spid="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8CF73DB-3ED3-414A-AAED-F1BFC9E0CE53}"/>
              </a:ext>
            </a:extLst>
          </p:cNvPr>
          <p:cNvSpPr/>
          <p:nvPr/>
        </p:nvSpPr>
        <p:spPr>
          <a:xfrm>
            <a:off x="5095532" y="2761663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rgbClr val="FFCC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545515-CC66-4B8D-81A4-F06011ED2FAD}"/>
              </a:ext>
            </a:extLst>
          </p:cNvPr>
          <p:cNvSpPr/>
          <p:nvPr/>
        </p:nvSpPr>
        <p:spPr>
          <a:xfrm>
            <a:off x="5486881" y="308661"/>
            <a:ext cx="684798" cy="850920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759956">
                <a:moveTo>
                  <a:pt x="282883" y="759937"/>
                </a:moveTo>
                <a:cubicBezTo>
                  <a:pt x="202759" y="762407"/>
                  <a:pt x="-92027" y="530985"/>
                  <a:pt x="28623" y="317554"/>
                </a:cubicBezTo>
                <a:cubicBezTo>
                  <a:pt x="-68744" y="78370"/>
                  <a:pt x="175243" y="2523"/>
                  <a:pt x="255367" y="53"/>
                </a:cubicBezTo>
                <a:cubicBezTo>
                  <a:pt x="335491" y="-2417"/>
                  <a:pt x="594034" y="81733"/>
                  <a:pt x="509367" y="302736"/>
                </a:cubicBezTo>
                <a:cubicBezTo>
                  <a:pt x="630017" y="549139"/>
                  <a:pt x="363007" y="757467"/>
                  <a:pt x="282883" y="75993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4A9F6E0-8063-4101-A16F-F83A20191DAF}"/>
              </a:ext>
            </a:extLst>
          </p:cNvPr>
          <p:cNvSpPr/>
          <p:nvPr/>
        </p:nvSpPr>
        <p:spPr>
          <a:xfrm>
            <a:off x="5095531" y="1528668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47AAAF-0E90-49D0-A729-552B947556EB}"/>
              </a:ext>
            </a:extLst>
          </p:cNvPr>
          <p:cNvSpPr/>
          <p:nvPr/>
        </p:nvSpPr>
        <p:spPr>
          <a:xfrm flipH="1">
            <a:off x="5903930" y="1513951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677545-4EF4-48FF-AC95-95F9FB8CB95B}"/>
              </a:ext>
            </a:extLst>
          </p:cNvPr>
          <p:cNvGrpSpPr/>
          <p:nvPr/>
        </p:nvGrpSpPr>
        <p:grpSpPr>
          <a:xfrm>
            <a:off x="5565466" y="2776380"/>
            <a:ext cx="1183772" cy="1820338"/>
            <a:chOff x="4948037" y="2700862"/>
            <a:chExt cx="1186329" cy="134281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ADF09C-2B9C-4A0D-8F77-0123115F2B3B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B44220-DE62-4417-BA72-AA8933F6359C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4D1A8BD-0DAD-4349-B3E5-D349DA4ED072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E49D33-B5E0-4BC0-B00C-B0F87B51F168}"/>
              </a:ext>
            </a:extLst>
          </p:cNvPr>
          <p:cNvSpPr/>
          <p:nvPr/>
        </p:nvSpPr>
        <p:spPr>
          <a:xfrm>
            <a:off x="5087894" y="2696414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682960-79A2-4A44-9F4C-6B475A58E97E}"/>
              </a:ext>
            </a:extLst>
          </p:cNvPr>
          <p:cNvSpPr/>
          <p:nvPr/>
        </p:nvSpPr>
        <p:spPr>
          <a:xfrm>
            <a:off x="5226223" y="2955755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B6B6C5-821E-4AA8-9998-C2B5B0990E0F}"/>
              </a:ext>
            </a:extLst>
          </p:cNvPr>
          <p:cNvSpPr/>
          <p:nvPr/>
        </p:nvSpPr>
        <p:spPr>
          <a:xfrm>
            <a:off x="3647478" y="1541796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63A0EC-2EE5-444C-A926-92E5F9EACAEC}"/>
              </a:ext>
            </a:extLst>
          </p:cNvPr>
          <p:cNvGrpSpPr/>
          <p:nvPr/>
        </p:nvGrpSpPr>
        <p:grpSpPr>
          <a:xfrm>
            <a:off x="6108075" y="86873"/>
            <a:ext cx="4100011" cy="1853993"/>
            <a:chOff x="6108075" y="86873"/>
            <a:chExt cx="4100011" cy="185399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E70831-260D-412C-85EF-C86A3331707A}"/>
                </a:ext>
              </a:extLst>
            </p:cNvPr>
            <p:cNvSpPr txBox="1"/>
            <p:nvPr/>
          </p:nvSpPr>
          <p:spPr>
            <a:xfrm>
              <a:off x="8716303" y="86873"/>
              <a:ext cx="1491783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PNEUMONIA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4A749E-F178-4453-AB10-2BDAFB2DB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075" y="248255"/>
              <a:ext cx="736073" cy="1692611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7C36391-992E-4AA3-8D2C-50F2F939C97B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6840378" y="256150"/>
              <a:ext cx="187592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4952D7A-DEA1-4744-A83D-41566BBAB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68169"/>
              </p:ext>
            </p:extLst>
          </p:nvPr>
        </p:nvGraphicFramePr>
        <p:xfrm>
          <a:off x="6840378" y="495069"/>
          <a:ext cx="5172083" cy="2968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211">
                  <a:extLst>
                    <a:ext uri="{9D8B030D-6E8A-4147-A177-3AD203B41FA5}">
                      <a16:colId xmlns:a16="http://schemas.microsoft.com/office/drawing/2014/main" val="4267190204"/>
                    </a:ext>
                  </a:extLst>
                </a:gridCol>
                <a:gridCol w="1985211">
                  <a:extLst>
                    <a:ext uri="{9D8B030D-6E8A-4147-A177-3AD203B41FA5}">
                      <a16:colId xmlns:a16="http://schemas.microsoft.com/office/drawing/2014/main" val="3571397714"/>
                    </a:ext>
                  </a:extLst>
                </a:gridCol>
                <a:gridCol w="2182661">
                  <a:extLst>
                    <a:ext uri="{9D8B030D-6E8A-4147-A177-3AD203B41FA5}">
                      <a16:colId xmlns:a16="http://schemas.microsoft.com/office/drawing/2014/main" val="1609700285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Dx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Drugs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56220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S. pneumoniae</a:t>
                      </a:r>
                    </a:p>
                    <a:p>
                      <a:pPr algn="ctr"/>
                      <a:r>
                        <a:rPr lang="en-US" sz="1400" dirty="0"/>
                        <a:t>GNRs (</a:t>
                      </a:r>
                      <a:r>
                        <a:rPr lang="en-US" sz="1400" i="1" dirty="0"/>
                        <a:t>H. flu</a:t>
                      </a:r>
                      <a:r>
                        <a:rPr lang="en-US" sz="1400" dirty="0"/>
                        <a:t>, </a:t>
                      </a:r>
                      <a:r>
                        <a:rPr lang="en-US" sz="1400" i="1" dirty="0"/>
                        <a:t>Moraxella</a:t>
                      </a:r>
                      <a:r>
                        <a:rPr lang="en-US" sz="1400" dirty="0"/>
                        <a:t>)</a:t>
                      </a:r>
                    </a:p>
                    <a:p>
                      <a:pPr algn="ctr"/>
                      <a:r>
                        <a:rPr lang="en-US" sz="1400" dirty="0" err="1"/>
                        <a:t>Atypicals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650" indent="-120650"/>
                      <a:r>
                        <a:rPr lang="en-US" sz="1400" dirty="0"/>
                        <a:t>Ceftriaxone + azithromycin</a:t>
                      </a:r>
                    </a:p>
                    <a:p>
                      <a:pPr marL="120650" indent="-120650"/>
                      <a:r>
                        <a:rPr lang="en-US" sz="1400" dirty="0"/>
                        <a:t>Respiratory FQ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95523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HAP/ VAP</a:t>
                      </a:r>
                    </a:p>
                    <a:p>
                      <a:pPr algn="ctr"/>
                      <a:r>
                        <a:rPr lang="en-US" sz="1400" b="0" dirty="0"/>
                        <a:t>(&gt;48 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 MRSA</a:t>
                      </a:r>
                    </a:p>
                    <a:p>
                      <a:pPr algn="ctr"/>
                      <a:r>
                        <a:rPr lang="en-US" sz="1400" i="0" dirty="0"/>
                        <a:t>+</a:t>
                      </a:r>
                      <a:r>
                        <a:rPr lang="en-US" sz="1400" i="1" dirty="0"/>
                        <a:t> P. aeruginosa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20650" indent="-120650" algn="l"/>
                      <a:r>
                        <a:rPr lang="en-US" sz="1400" dirty="0"/>
                        <a:t>Vancomycin/ linezolid + </a:t>
                      </a:r>
                    </a:p>
                    <a:p>
                      <a:pPr marL="120650" indent="-120650"/>
                      <a:r>
                        <a:rPr lang="en-US" sz="1400" dirty="0"/>
                        <a:t>Zosyn/ cefepime/ meropenem/ aztreonam/ levofloxacin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74268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Aspiration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S. pneumoniae/ GPCs</a:t>
                      </a:r>
                    </a:p>
                    <a:p>
                      <a:pPr algn="ctr"/>
                      <a:r>
                        <a:rPr lang="en-US" sz="1400" i="0" dirty="0"/>
                        <a:t>Enteric GNRs</a:t>
                      </a:r>
                    </a:p>
                    <a:p>
                      <a:pPr algn="ctr"/>
                      <a:r>
                        <a:rPr lang="en-US" sz="1400" i="1" dirty="0"/>
                        <a:t>Oral anaerobes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20650" indent="-120650"/>
                      <a:r>
                        <a:rPr lang="en-US" sz="1400" dirty="0"/>
                        <a:t>CAP coverage</a:t>
                      </a:r>
                    </a:p>
                    <a:p>
                      <a:pPr marL="120650" indent="-120650"/>
                      <a:r>
                        <a:rPr lang="en-US" sz="1400" dirty="0"/>
                        <a:t>+ anaerobes only if lung abscess or empyema</a:t>
                      </a:r>
                    </a:p>
                    <a:p>
                      <a:pPr marL="120650" indent="-120650"/>
                      <a:r>
                        <a:rPr lang="en-US" sz="1400" dirty="0"/>
                        <a:t>Moxifloxacin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0546"/>
                  </a:ext>
                </a:extLst>
              </a:tr>
            </a:tbl>
          </a:graphicData>
        </a:graphic>
      </p:graphicFrame>
      <p:grpSp>
        <p:nvGrpSpPr>
          <p:cNvPr id="91" name="Group 90">
            <a:extLst>
              <a:ext uri="{FF2B5EF4-FFF2-40B4-BE49-F238E27FC236}">
                <a16:creationId xmlns:a16="http://schemas.microsoft.com/office/drawing/2014/main" id="{4C328477-AB89-45EF-9CD3-4F0004DFAD05}"/>
              </a:ext>
            </a:extLst>
          </p:cNvPr>
          <p:cNvGrpSpPr/>
          <p:nvPr/>
        </p:nvGrpSpPr>
        <p:grpSpPr>
          <a:xfrm>
            <a:off x="6188527" y="3973074"/>
            <a:ext cx="5840354" cy="2756812"/>
            <a:chOff x="5314198" y="3724449"/>
            <a:chExt cx="6084487" cy="275681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FE10CDF-05BC-4BA0-8764-A09FB387C148}"/>
                </a:ext>
              </a:extLst>
            </p:cNvPr>
            <p:cNvGrpSpPr/>
            <p:nvPr/>
          </p:nvGrpSpPr>
          <p:grpSpPr>
            <a:xfrm>
              <a:off x="6835065" y="3724449"/>
              <a:ext cx="4563620" cy="2756812"/>
              <a:chOff x="6835065" y="2947837"/>
              <a:chExt cx="4563620" cy="275681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B5BE66-0C8F-4CAF-8D3E-30C69FEEB754}"/>
                  </a:ext>
                </a:extLst>
              </p:cNvPr>
              <p:cNvSpPr txBox="1"/>
              <p:nvPr/>
            </p:nvSpPr>
            <p:spPr>
              <a:xfrm>
                <a:off x="7156563" y="2956128"/>
                <a:ext cx="9061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Bugs 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727A04-9166-40EE-BFF4-1924F761734D}"/>
                  </a:ext>
                </a:extLst>
              </p:cNvPr>
              <p:cNvSpPr txBox="1"/>
              <p:nvPr/>
            </p:nvSpPr>
            <p:spPr>
              <a:xfrm>
                <a:off x="9040613" y="2947837"/>
                <a:ext cx="9061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Drugs </a:t>
                </a: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BF2EA4E-4468-4C9A-A7BC-D7D00AB173B0}"/>
                  </a:ext>
                </a:extLst>
              </p:cNvPr>
              <p:cNvGrpSpPr/>
              <p:nvPr/>
            </p:nvGrpSpPr>
            <p:grpSpPr>
              <a:xfrm>
                <a:off x="6835065" y="3242436"/>
                <a:ext cx="4563620" cy="2462213"/>
                <a:chOff x="6835065" y="3242436"/>
                <a:chExt cx="4563620" cy="246221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4DE331A-23E7-4928-9A08-0825F189BB36}"/>
                    </a:ext>
                  </a:extLst>
                </p:cNvPr>
                <p:cNvSpPr txBox="1"/>
                <p:nvPr/>
              </p:nvSpPr>
              <p:spPr>
                <a:xfrm>
                  <a:off x="6835065" y="3242436"/>
                  <a:ext cx="1707606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i="1" dirty="0"/>
                    <a:t>S</a:t>
                  </a:r>
                  <a:r>
                    <a:rPr lang="en-US" sz="1400" i="1" dirty="0"/>
                    <a:t>. saprophyticus</a:t>
                  </a:r>
                </a:p>
                <a:p>
                  <a:r>
                    <a:rPr lang="en-US" sz="1400" b="1" i="1" dirty="0">
                      <a:solidFill>
                        <a:srgbClr val="FF0000"/>
                      </a:solidFill>
                    </a:rPr>
                    <a:t>E</a:t>
                  </a:r>
                  <a:r>
                    <a:rPr lang="en-US" sz="1400" i="1" dirty="0">
                      <a:solidFill>
                        <a:srgbClr val="FF0000"/>
                      </a:solidFill>
                    </a:rPr>
                    <a:t>. coli </a:t>
                  </a:r>
                  <a:r>
                    <a:rPr lang="en-US" sz="1400" dirty="0"/>
                    <a:t>(75-95%)</a:t>
                  </a:r>
                </a:p>
                <a:p>
                  <a:r>
                    <a:rPr lang="en-US" sz="1400" b="1" i="1" dirty="0">
                      <a:solidFill>
                        <a:srgbClr val="FF0000"/>
                      </a:solidFill>
                    </a:rPr>
                    <a:t>E</a:t>
                  </a:r>
                  <a:r>
                    <a:rPr lang="en-US" sz="1400" i="1" dirty="0">
                      <a:solidFill>
                        <a:srgbClr val="FF0000"/>
                      </a:solidFill>
                    </a:rPr>
                    <a:t>nterococcus</a:t>
                  </a:r>
                </a:p>
                <a:p>
                  <a:r>
                    <a:rPr lang="en-US" sz="1400" b="1" i="1" dirty="0" err="1">
                      <a:solidFill>
                        <a:srgbClr val="FF0000"/>
                      </a:solidFill>
                    </a:rPr>
                    <a:t>K</a:t>
                  </a:r>
                  <a:r>
                    <a:rPr lang="en-US" sz="1400" i="1" dirty="0" err="1">
                      <a:solidFill>
                        <a:srgbClr val="FF0000"/>
                      </a:solidFill>
                    </a:rPr>
                    <a:t>lebsiella</a:t>
                  </a:r>
                  <a:endParaRPr lang="en-US" sz="1400" i="1" dirty="0">
                    <a:solidFill>
                      <a:srgbClr val="FF0000"/>
                    </a:solidFill>
                  </a:endParaRPr>
                </a:p>
                <a:p>
                  <a:endParaRPr lang="en-US" sz="1400" i="1" dirty="0"/>
                </a:p>
                <a:p>
                  <a:r>
                    <a:rPr lang="en-US" sz="1400" b="1" i="1" dirty="0"/>
                    <a:t>P</a:t>
                  </a:r>
                  <a:r>
                    <a:rPr lang="en-US" sz="1400" i="1" dirty="0"/>
                    <a:t>roteus</a:t>
                  </a:r>
                </a:p>
                <a:p>
                  <a:r>
                    <a:rPr lang="en-US" sz="1400" b="1" i="1" dirty="0"/>
                    <a:t>E</a:t>
                  </a:r>
                  <a:r>
                    <a:rPr lang="en-US" sz="1400" i="1" dirty="0"/>
                    <a:t>nterobacter</a:t>
                  </a:r>
                  <a:endParaRPr lang="en-US" sz="1400" dirty="0"/>
                </a:p>
                <a:p>
                  <a:r>
                    <a:rPr lang="en-US" sz="1400" b="1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sz="1400" i="1" dirty="0">
                      <a:solidFill>
                        <a:srgbClr val="FF0000"/>
                      </a:solidFill>
                    </a:rPr>
                    <a:t>seudomonas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85A5D8D-C8B1-4898-8633-C20B90289976}"/>
                    </a:ext>
                  </a:extLst>
                </p:cNvPr>
                <p:cNvSpPr txBox="1"/>
                <p:nvPr/>
              </p:nvSpPr>
              <p:spPr>
                <a:xfrm>
                  <a:off x="8617066" y="3242436"/>
                  <a:ext cx="2781619" cy="2462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Nitrofurantoin</a:t>
                  </a:r>
                </a:p>
                <a:p>
                  <a:r>
                    <a:rPr lang="en-US" sz="1400" dirty="0"/>
                    <a:t>Fosfomycin</a:t>
                  </a:r>
                </a:p>
                <a:p>
                  <a:r>
                    <a:rPr lang="en-US" sz="1400" dirty="0"/>
                    <a:t>Bactrim</a:t>
                  </a:r>
                </a:p>
                <a:p>
                  <a:r>
                    <a:rPr lang="en-US" sz="1400" dirty="0">
                      <a:solidFill>
                        <a:srgbClr val="FF0000"/>
                      </a:solidFill>
                    </a:rPr>
                    <a:t>Urinary FQ</a:t>
                  </a:r>
                </a:p>
                <a:p>
                  <a:endParaRPr lang="en-US" sz="1400" dirty="0">
                    <a:solidFill>
                      <a:srgbClr val="FF0000"/>
                    </a:solidFill>
                  </a:endParaRPr>
                </a:p>
                <a:p>
                  <a:r>
                    <a:rPr lang="en-US" sz="1400" dirty="0"/>
                    <a:t>Ceftriaxone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  <a:p>
                  <a:r>
                    <a:rPr lang="en-US" sz="1400" dirty="0">
                      <a:solidFill>
                        <a:srgbClr val="FF0000"/>
                      </a:solidFill>
                    </a:rPr>
                    <a:t>Zosyn</a:t>
                  </a:r>
                </a:p>
                <a:p>
                  <a:r>
                    <a:rPr lang="en-US" sz="1400" dirty="0">
                      <a:solidFill>
                        <a:srgbClr val="FF0000"/>
                      </a:solidFill>
                    </a:rPr>
                    <a:t>Carbapenems</a:t>
                  </a:r>
                </a:p>
                <a:p>
                  <a:pPr marL="174625" indent="-174625"/>
                  <a:r>
                    <a:rPr lang="en-US" sz="1400" dirty="0">
                      <a:solidFill>
                        <a:srgbClr val="FF0000"/>
                      </a:solidFill>
                    </a:rPr>
                    <a:t>May need vancomycin, daptomycin or linezolid for </a:t>
                  </a:r>
                  <a:r>
                    <a:rPr lang="en-US" sz="1400" i="1" dirty="0">
                      <a:solidFill>
                        <a:srgbClr val="FF0000"/>
                      </a:solidFill>
                    </a:rPr>
                    <a:t>Enterococcus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7E8CB3C-D1F0-4CD1-9ACF-2F37EE6EF4AF}"/>
                </a:ext>
              </a:extLst>
            </p:cNvPr>
            <p:cNvGrpSpPr/>
            <p:nvPr/>
          </p:nvGrpSpPr>
          <p:grpSpPr>
            <a:xfrm>
              <a:off x="5314198" y="4468694"/>
              <a:ext cx="1567245" cy="1583747"/>
              <a:chOff x="5333366" y="3728480"/>
              <a:chExt cx="1547064" cy="170452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D1E1BA-7863-4C5E-A294-9073B59B83F3}"/>
                  </a:ext>
                </a:extLst>
              </p:cNvPr>
              <p:cNvSpPr txBox="1"/>
              <p:nvPr/>
            </p:nvSpPr>
            <p:spPr>
              <a:xfrm>
                <a:off x="5333366" y="4406138"/>
                <a:ext cx="1250733" cy="1026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CAUTI</a:t>
                </a: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or </a:t>
                </a: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Healthcare associated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A032F5E-D2CA-4945-9324-05BB2A9F1F6B}"/>
                  </a:ext>
                </a:extLst>
              </p:cNvPr>
              <p:cNvCxnSpPr>
                <a:cxnSpLocks/>
                <a:endCxn id="36" idx="3"/>
              </p:cNvCxnSpPr>
              <p:nvPr/>
            </p:nvCxnSpPr>
            <p:spPr>
              <a:xfrm flipH="1">
                <a:off x="6584097" y="3728480"/>
                <a:ext cx="296332" cy="119109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E230461-E159-469F-B258-88D94FD7F5EE}"/>
                  </a:ext>
                </a:extLst>
              </p:cNvPr>
              <p:cNvCxnSpPr>
                <a:cxnSpLocks/>
                <a:endCxn id="36" idx="3"/>
              </p:cNvCxnSpPr>
              <p:nvPr/>
            </p:nvCxnSpPr>
            <p:spPr>
              <a:xfrm flipH="1">
                <a:off x="6584098" y="3985489"/>
                <a:ext cx="296332" cy="93408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7C206BF-286D-4272-AD3D-E3CAAF3AF648}"/>
                  </a:ext>
                </a:extLst>
              </p:cNvPr>
              <p:cNvCxnSpPr>
                <a:cxnSpLocks/>
                <a:endCxn id="36" idx="3"/>
              </p:cNvCxnSpPr>
              <p:nvPr/>
            </p:nvCxnSpPr>
            <p:spPr>
              <a:xfrm flipH="1">
                <a:off x="6584098" y="4185080"/>
                <a:ext cx="296332" cy="73449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0FD53A8-CB2D-48E0-BC6B-1C95476B8B6D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>
                <a:off x="6584098" y="4919574"/>
                <a:ext cx="250553" cy="6379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5A91B8A-BA2F-4BBF-B58A-4974275E5AD3}"/>
              </a:ext>
            </a:extLst>
          </p:cNvPr>
          <p:cNvGrpSpPr/>
          <p:nvPr/>
        </p:nvGrpSpPr>
        <p:grpSpPr>
          <a:xfrm>
            <a:off x="5870036" y="3561018"/>
            <a:ext cx="3781499" cy="767360"/>
            <a:chOff x="4366148" y="1986883"/>
            <a:chExt cx="4221117" cy="941243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BB5EE2-BCE5-49C1-94D4-F1818EC63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148" y="2153757"/>
              <a:ext cx="1751395" cy="77436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66F0F1-48CA-4518-99B9-CB431E254B3A}"/>
                </a:ext>
              </a:extLst>
            </p:cNvPr>
            <p:cNvSpPr txBox="1"/>
            <p:nvPr/>
          </p:nvSpPr>
          <p:spPr>
            <a:xfrm>
              <a:off x="7879426" y="1986883"/>
              <a:ext cx="707839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UTI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56BE3C4-5D87-4B52-97F1-86FB90E45C47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6117543" y="2153755"/>
              <a:ext cx="1761882" cy="240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24A434B-053C-442E-A4B9-9737E2D9DC9F}"/>
              </a:ext>
            </a:extLst>
          </p:cNvPr>
          <p:cNvSpPr txBox="1"/>
          <p:nvPr/>
        </p:nvSpPr>
        <p:spPr>
          <a:xfrm>
            <a:off x="713376" y="3966295"/>
            <a:ext cx="3568249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INTRAABDOMINAL INFECTIONS </a:t>
            </a:r>
            <a:r>
              <a:rPr lang="en-US" sz="1600" dirty="0"/>
              <a:t>(cholecystitis, cholangitis, diverticulitis)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08FB69-45DE-47DC-A711-E0535811338B}"/>
              </a:ext>
            </a:extLst>
          </p:cNvPr>
          <p:cNvCxnSpPr>
            <a:cxnSpLocks/>
          </p:cNvCxnSpPr>
          <p:nvPr/>
        </p:nvCxnSpPr>
        <p:spPr>
          <a:xfrm flipH="1" flipV="1">
            <a:off x="4394212" y="245161"/>
            <a:ext cx="415781" cy="167026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F1333DC-64CE-4525-815C-946A692EA0C2}"/>
              </a:ext>
            </a:extLst>
          </p:cNvPr>
          <p:cNvCxnSpPr>
            <a:cxnSpLocks/>
          </p:cNvCxnSpPr>
          <p:nvPr/>
        </p:nvCxnSpPr>
        <p:spPr>
          <a:xfrm flipH="1">
            <a:off x="2931091" y="245161"/>
            <a:ext cx="1463121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2646413-37E2-48A0-86A9-F404F48E5ED7}"/>
              </a:ext>
            </a:extLst>
          </p:cNvPr>
          <p:cNvSpPr txBox="1"/>
          <p:nvPr/>
        </p:nvSpPr>
        <p:spPr>
          <a:xfrm>
            <a:off x="405874" y="120885"/>
            <a:ext cx="3568249" cy="3385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SKIN AND SOFT TISSUE INFECTIONS</a:t>
            </a:r>
            <a:endParaRPr lang="en-US" sz="1600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8D2A0E53-9749-4C54-BEA1-58FBF2FCB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428059"/>
              </p:ext>
            </p:extLst>
          </p:nvPr>
        </p:nvGraphicFramePr>
        <p:xfrm>
          <a:off x="145148" y="561473"/>
          <a:ext cx="4126227" cy="232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1882">
                  <a:extLst>
                    <a:ext uri="{9D8B030D-6E8A-4147-A177-3AD203B41FA5}">
                      <a16:colId xmlns:a16="http://schemas.microsoft.com/office/drawing/2014/main" val="4267190204"/>
                    </a:ext>
                  </a:extLst>
                </a:gridCol>
                <a:gridCol w="1246406">
                  <a:extLst>
                    <a:ext uri="{9D8B030D-6E8A-4147-A177-3AD203B41FA5}">
                      <a16:colId xmlns:a16="http://schemas.microsoft.com/office/drawing/2014/main" val="3571397714"/>
                    </a:ext>
                  </a:extLst>
                </a:gridCol>
                <a:gridCol w="2047939">
                  <a:extLst>
                    <a:ext uri="{9D8B030D-6E8A-4147-A177-3AD203B41FA5}">
                      <a16:colId xmlns:a16="http://schemas.microsoft.com/office/drawing/2014/main" val="1609700285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Dx</a:t>
                      </a:r>
                      <a:endParaRPr lang="en-US" sz="16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Bugs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Drugs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556220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Non-purulent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Strep &gt;&gt; S. </a:t>
                      </a:r>
                      <a:r>
                        <a:rPr lang="en-US" sz="1400" i="1" dirty="0" err="1"/>
                        <a:t>aureus</a:t>
                      </a:r>
                      <a:endParaRPr lang="en-US" sz="140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/>
                      <a:r>
                        <a:rPr lang="en-US" sz="1400" dirty="0"/>
                        <a:t>Cefazolin</a:t>
                      </a:r>
                    </a:p>
                    <a:p>
                      <a:pPr marL="120650" indent="-120650"/>
                      <a:r>
                        <a:rPr lang="en-US" sz="1400" dirty="0"/>
                        <a:t>Cephalexin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5523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Purulent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 MSSA/ MRSA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 algn="l"/>
                      <a:r>
                        <a:rPr lang="en-US" sz="1400" dirty="0"/>
                        <a:t>Vancomycin/ daptomycin</a:t>
                      </a:r>
                    </a:p>
                    <a:p>
                      <a:pPr marL="120650" indent="-120650" algn="l"/>
                      <a:r>
                        <a:rPr lang="en-US" sz="1400" dirty="0"/>
                        <a:t>Bactrim/ doxycycline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74268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NSTI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Group A Strep</a:t>
                      </a:r>
                    </a:p>
                    <a:p>
                      <a:pPr algn="ctr"/>
                      <a:r>
                        <a:rPr lang="en-US" sz="1400" i="1" dirty="0"/>
                        <a:t>MRSA</a:t>
                      </a:r>
                    </a:p>
                    <a:p>
                      <a:pPr algn="ctr"/>
                      <a:r>
                        <a:rPr lang="en-US" sz="1400" i="1" dirty="0"/>
                        <a:t>GNRs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Clostridium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/>
                      <a:r>
                        <a:rPr lang="en-US" sz="1400" dirty="0"/>
                        <a:t>Vancomycin/daptomycin  + Zosyn/ meropenem + clindamycin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546"/>
                  </a:ext>
                </a:extLst>
              </a:tr>
            </a:tbl>
          </a:graphicData>
        </a:graphic>
      </p:graphicFrame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A6FA850-4DA9-4890-A85A-EBA13EE8B817}"/>
              </a:ext>
            </a:extLst>
          </p:cNvPr>
          <p:cNvGrpSpPr/>
          <p:nvPr/>
        </p:nvGrpSpPr>
        <p:grpSpPr>
          <a:xfrm>
            <a:off x="822403" y="4678748"/>
            <a:ext cx="3893467" cy="1698343"/>
            <a:chOff x="539750" y="3390589"/>
            <a:chExt cx="3971468" cy="1698343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0DFEDDA-8086-4A36-A54C-B1F6E9018B43}"/>
                </a:ext>
              </a:extLst>
            </p:cNvPr>
            <p:cNvSpPr txBox="1"/>
            <p:nvPr/>
          </p:nvSpPr>
          <p:spPr>
            <a:xfrm>
              <a:off x="728722" y="3390589"/>
              <a:ext cx="777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Bugs 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02D2189-D9C3-45B5-B7C1-355502EB13E2}"/>
                </a:ext>
              </a:extLst>
            </p:cNvPr>
            <p:cNvSpPr txBox="1"/>
            <p:nvPr/>
          </p:nvSpPr>
          <p:spPr>
            <a:xfrm>
              <a:off x="2275504" y="3391540"/>
              <a:ext cx="90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Drugs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710034E-8388-4AF2-AB27-501D7CF489FA}"/>
                </a:ext>
              </a:extLst>
            </p:cNvPr>
            <p:cNvSpPr txBox="1"/>
            <p:nvPr/>
          </p:nvSpPr>
          <p:spPr>
            <a:xfrm>
              <a:off x="539750" y="3703937"/>
              <a:ext cx="138442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GNRs, </a:t>
              </a:r>
              <a:r>
                <a:rPr lang="en-US" sz="1400" i="1" dirty="0"/>
                <a:t>Strep</a:t>
              </a:r>
              <a:endParaRPr lang="en-US" sz="1400" dirty="0"/>
            </a:p>
            <a:p>
              <a:pPr marL="112713" indent="-112713"/>
              <a:r>
                <a:rPr lang="en-US" sz="1400" dirty="0"/>
                <a:t>Anaerobes (</a:t>
              </a:r>
              <a:r>
                <a:rPr lang="en-US" sz="1400" i="1" dirty="0"/>
                <a:t>B. fragil</a:t>
              </a:r>
              <a:r>
                <a:rPr lang="en-US" sz="1400" dirty="0"/>
                <a:t>is)</a:t>
              </a:r>
            </a:p>
            <a:p>
              <a:pPr marL="112713" indent="-112713"/>
              <a:endParaRPr lang="en-US" sz="1400" dirty="0"/>
            </a:p>
            <a:p>
              <a:pPr marL="112713" indent="-112713"/>
              <a:r>
                <a:rPr lang="en-US" sz="1400" dirty="0"/>
                <a:t>Enterococcus</a:t>
              </a:r>
            </a:p>
            <a:p>
              <a:pPr marL="112713" indent="-112713"/>
              <a:r>
                <a:rPr lang="en-US" sz="1400" dirty="0"/>
                <a:t>P. aeruginosa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16EE90F-5BC9-4BD6-8BE6-808595D852F4}"/>
                </a:ext>
              </a:extLst>
            </p:cNvPr>
            <p:cNvSpPr txBox="1"/>
            <p:nvPr/>
          </p:nvSpPr>
          <p:spPr>
            <a:xfrm>
              <a:off x="1924175" y="3703937"/>
              <a:ext cx="258704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2713" indent="-112713"/>
              <a:r>
                <a:rPr lang="en-US" sz="1400" dirty="0"/>
                <a:t>FQ + metronidazole</a:t>
              </a:r>
            </a:p>
            <a:p>
              <a:pPr marL="112713" indent="-112713"/>
              <a:r>
                <a:rPr lang="en-US" sz="1400" dirty="0"/>
                <a:t>3</a:t>
              </a:r>
              <a:r>
                <a:rPr lang="en-US" sz="1400" baseline="30000" dirty="0"/>
                <a:t>o</a:t>
              </a:r>
              <a:r>
                <a:rPr lang="en-US" sz="1400" dirty="0"/>
                <a:t> or 4</a:t>
              </a:r>
              <a:r>
                <a:rPr lang="en-US" sz="1400" baseline="30000" dirty="0"/>
                <a:t>o</a:t>
              </a:r>
              <a:r>
                <a:rPr lang="en-US" sz="1400" dirty="0"/>
                <a:t> cephalosporin + metronidazole</a:t>
              </a:r>
            </a:p>
            <a:p>
              <a:pPr marL="112713" indent="-112713"/>
              <a:endParaRPr lang="en-US" sz="1400" dirty="0"/>
            </a:p>
            <a:p>
              <a:pPr marL="112713" indent="-112713"/>
              <a:r>
                <a:rPr lang="en-US" sz="1400" dirty="0"/>
                <a:t>Zosyn 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73331D1-617A-493C-A8D0-CCA4DFD77B60}"/>
              </a:ext>
            </a:extLst>
          </p:cNvPr>
          <p:cNvGrpSpPr/>
          <p:nvPr/>
        </p:nvGrpSpPr>
        <p:grpSpPr>
          <a:xfrm>
            <a:off x="2497501" y="2992665"/>
            <a:ext cx="2828837" cy="973630"/>
            <a:chOff x="2497501" y="2992665"/>
            <a:chExt cx="2828837" cy="97363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1B5A21-6943-4789-A3A0-1FF71D37F95C}"/>
                </a:ext>
              </a:extLst>
            </p:cNvPr>
            <p:cNvCxnSpPr>
              <a:cxnSpLocks/>
              <a:stCxn id="13" idx="1"/>
              <a:endCxn id="78" idx="0"/>
            </p:cNvCxnSpPr>
            <p:nvPr/>
          </p:nvCxnSpPr>
          <p:spPr>
            <a:xfrm flipH="1">
              <a:off x="2497501" y="2992665"/>
              <a:ext cx="2828837" cy="97363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65DD43-AAA8-4021-B108-3C8EA749CE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6815" y="3499599"/>
              <a:ext cx="1309411" cy="267586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B50CA0F0-6E44-4998-9E18-21E175DDF3DE}"/>
              </a:ext>
            </a:extLst>
          </p:cNvPr>
          <p:cNvSpPr/>
          <p:nvPr/>
        </p:nvSpPr>
        <p:spPr>
          <a:xfrm>
            <a:off x="822403" y="5883292"/>
            <a:ext cx="2002077" cy="493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2A509B-0500-4F3A-8F09-5EC184B8F3B7}"/>
              </a:ext>
            </a:extLst>
          </p:cNvPr>
          <p:cNvSpPr txBox="1"/>
          <p:nvPr/>
        </p:nvSpPr>
        <p:spPr>
          <a:xfrm>
            <a:off x="2819535" y="5853871"/>
            <a:ext cx="1167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Healthcare associated </a:t>
            </a:r>
          </a:p>
        </p:txBody>
      </p:sp>
    </p:spTree>
    <p:extLst>
      <p:ext uri="{BB962C8B-B14F-4D97-AF65-F5344CB8AC3E}">
        <p14:creationId xmlns:p14="http://schemas.microsoft.com/office/powerpoint/2010/main" val="375431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8CF73DB-3ED3-414A-AAED-F1BFC9E0CE53}"/>
              </a:ext>
            </a:extLst>
          </p:cNvPr>
          <p:cNvSpPr/>
          <p:nvPr/>
        </p:nvSpPr>
        <p:spPr>
          <a:xfrm>
            <a:off x="5095532" y="2761663"/>
            <a:ext cx="1549010" cy="1933632"/>
          </a:xfrm>
          <a:custGeom>
            <a:avLst/>
            <a:gdLst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84846 w 1715214"/>
              <a:gd name="connsiteY9" fmla="*/ 34012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0046 w 1715214"/>
              <a:gd name="connsiteY8" fmla="*/ 101745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1105546 w 1715214"/>
              <a:gd name="connsiteY11" fmla="*/ 67879 h 1961172"/>
              <a:gd name="connsiteX12" fmla="*/ 1368013 w 1715214"/>
              <a:gd name="connsiteY12" fmla="*/ 145 h 1961172"/>
              <a:gd name="connsiteX13" fmla="*/ 1613546 w 1715214"/>
              <a:gd name="connsiteY13" fmla="*/ 55179 h 1961172"/>
              <a:gd name="connsiteX14" fmla="*/ 1715146 w 1715214"/>
              <a:gd name="connsiteY14" fmla="*/ 216045 h 1961172"/>
              <a:gd name="connsiteX15" fmla="*/ 1630480 w 1715214"/>
              <a:gd name="connsiteY15" fmla="*/ 740979 h 1961172"/>
              <a:gd name="connsiteX16" fmla="*/ 1702446 w 1715214"/>
              <a:gd name="connsiteY16" fmla="*/ 1232045 h 1961172"/>
              <a:gd name="connsiteX17" fmla="*/ 1638946 w 1715214"/>
              <a:gd name="connsiteY17" fmla="*/ 1426779 h 1961172"/>
              <a:gd name="connsiteX18" fmla="*/ 1444213 w 1715214"/>
              <a:gd name="connsiteY18" fmla="*/ 1579179 h 1961172"/>
              <a:gd name="connsiteX19" fmla="*/ 1181746 w 1715214"/>
              <a:gd name="connsiteY19" fmla="*/ 1562245 h 1961172"/>
              <a:gd name="connsiteX20" fmla="*/ 1046280 w 1715214"/>
              <a:gd name="connsiteY20" fmla="*/ 1553779 h 1961172"/>
              <a:gd name="connsiteX21" fmla="*/ 970080 w 1715214"/>
              <a:gd name="connsiteY21" fmla="*/ 1748512 h 1961172"/>
              <a:gd name="connsiteX22" fmla="*/ 953146 w 1715214"/>
              <a:gd name="connsiteY22" fmla="*/ 1909379 h 1961172"/>
              <a:gd name="connsiteX23" fmla="*/ 665280 w 1715214"/>
              <a:gd name="connsiteY23" fmla="*/ 1947479 h 1961172"/>
              <a:gd name="connsiteX24" fmla="*/ 694913 w 1715214"/>
              <a:gd name="connsiteY24" fmla="*/ 1697712 h 1961172"/>
              <a:gd name="connsiteX25" fmla="*/ 661046 w 1715214"/>
              <a:gd name="connsiteY25" fmla="*/ 1507212 h 1961172"/>
              <a:gd name="connsiteX26" fmla="*/ 809213 w 1715214"/>
              <a:gd name="connsiteY26" fmla="*/ 1320945 h 1961172"/>
              <a:gd name="connsiteX27" fmla="*/ 1173280 w 1715214"/>
              <a:gd name="connsiteY27" fmla="*/ 1257445 h 1961172"/>
              <a:gd name="connsiteX28" fmla="*/ 1376480 w 1715214"/>
              <a:gd name="connsiteY28" fmla="*/ 1329412 h 1961172"/>
              <a:gd name="connsiteX29" fmla="*/ 1393413 w 1715214"/>
              <a:gd name="connsiteY29" fmla="*/ 1130445 h 1961172"/>
              <a:gd name="connsiteX30" fmla="*/ 1384946 w 1715214"/>
              <a:gd name="connsiteY30" fmla="*/ 863745 h 1961172"/>
              <a:gd name="connsiteX31" fmla="*/ 1342613 w 1715214"/>
              <a:gd name="connsiteY31" fmla="*/ 419245 h 1961172"/>
              <a:gd name="connsiteX32" fmla="*/ 1207146 w 1715214"/>
              <a:gd name="connsiteY32" fmla="*/ 313412 h 1961172"/>
              <a:gd name="connsiteX33" fmla="*/ 876946 w 1715214"/>
              <a:gd name="connsiteY33" fmla="*/ 321879 h 1961172"/>
              <a:gd name="connsiteX34" fmla="*/ 555213 w 1715214"/>
              <a:gd name="connsiteY34" fmla="*/ 368445 h 1961172"/>
              <a:gd name="connsiteX35" fmla="*/ 322380 w 1715214"/>
              <a:gd name="connsiteY35" fmla="*/ 393845 h 1961172"/>
              <a:gd name="connsiteX36" fmla="*/ 292746 w 1715214"/>
              <a:gd name="connsiteY36" fmla="*/ 630912 h 1961172"/>
              <a:gd name="connsiteX37" fmla="*/ 326613 w 1715214"/>
              <a:gd name="connsiteY37" fmla="*/ 851045 h 1961172"/>
              <a:gd name="connsiteX38" fmla="*/ 296980 w 1715214"/>
              <a:gd name="connsiteY38" fmla="*/ 1206645 h 1961172"/>
              <a:gd name="connsiteX39" fmla="*/ 436680 w 1715214"/>
              <a:gd name="connsiteY39" fmla="*/ 1295545 h 1961172"/>
              <a:gd name="connsiteX40" fmla="*/ 576380 w 1715214"/>
              <a:gd name="connsiteY40" fmla="*/ 1210879 h 1961172"/>
              <a:gd name="connsiteX41" fmla="*/ 576380 w 1715214"/>
              <a:gd name="connsiteY41" fmla="*/ 1477579 h 1961172"/>
              <a:gd name="connsiteX42" fmla="*/ 415513 w 1715214"/>
              <a:gd name="connsiteY42" fmla="*/ 1604579 h 1961172"/>
              <a:gd name="connsiteX43" fmla="*/ 119180 w 1715214"/>
              <a:gd name="connsiteY43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105979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60013 w 1715214"/>
              <a:gd name="connsiteY11" fmla="*/ 72112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745 h 1961172"/>
              <a:gd name="connsiteX1" fmla="*/ 38746 w 1715214"/>
              <a:gd name="connsiteY1" fmla="*/ 1346345 h 1961172"/>
              <a:gd name="connsiteX2" fmla="*/ 34513 w 1715214"/>
              <a:gd name="connsiteY2" fmla="*/ 1147379 h 1961172"/>
              <a:gd name="connsiteX3" fmla="*/ 4880 w 1715214"/>
              <a:gd name="connsiteY3" fmla="*/ 978045 h 1961172"/>
              <a:gd name="connsiteX4" fmla="*/ 47213 w 1715214"/>
              <a:gd name="connsiteY4" fmla="*/ 872212 h 1961172"/>
              <a:gd name="connsiteX5" fmla="*/ 646 w 1715214"/>
              <a:gd name="connsiteY5" fmla="*/ 609745 h 1961172"/>
              <a:gd name="connsiteX6" fmla="*/ 21813 w 1715214"/>
              <a:gd name="connsiteY6" fmla="*/ 444645 h 1961172"/>
              <a:gd name="connsiteX7" fmla="*/ 47213 w 1715214"/>
              <a:gd name="connsiteY7" fmla="*/ 173712 h 1961172"/>
              <a:gd name="connsiteX8" fmla="*/ 284279 w 1715214"/>
              <a:gd name="connsiteY8" fmla="*/ 93278 h 1961172"/>
              <a:gd name="connsiteX9" fmla="*/ 563679 w 1715214"/>
              <a:gd name="connsiteY9" fmla="*/ 55179 h 1961172"/>
              <a:gd name="connsiteX10" fmla="*/ 826146 w 1715214"/>
              <a:gd name="connsiteY10" fmla="*/ 59413 h 1961172"/>
              <a:gd name="connsiteX11" fmla="*/ 872713 w 1715214"/>
              <a:gd name="connsiteY11" fmla="*/ 55179 h 1961172"/>
              <a:gd name="connsiteX12" fmla="*/ 1105546 w 1715214"/>
              <a:gd name="connsiteY12" fmla="*/ 67879 h 1961172"/>
              <a:gd name="connsiteX13" fmla="*/ 1368013 w 1715214"/>
              <a:gd name="connsiteY13" fmla="*/ 145 h 1961172"/>
              <a:gd name="connsiteX14" fmla="*/ 1613546 w 1715214"/>
              <a:gd name="connsiteY14" fmla="*/ 55179 h 1961172"/>
              <a:gd name="connsiteX15" fmla="*/ 1715146 w 1715214"/>
              <a:gd name="connsiteY15" fmla="*/ 216045 h 1961172"/>
              <a:gd name="connsiteX16" fmla="*/ 1630480 w 1715214"/>
              <a:gd name="connsiteY16" fmla="*/ 740979 h 1961172"/>
              <a:gd name="connsiteX17" fmla="*/ 1702446 w 1715214"/>
              <a:gd name="connsiteY17" fmla="*/ 1232045 h 1961172"/>
              <a:gd name="connsiteX18" fmla="*/ 1638946 w 1715214"/>
              <a:gd name="connsiteY18" fmla="*/ 1426779 h 1961172"/>
              <a:gd name="connsiteX19" fmla="*/ 1444213 w 1715214"/>
              <a:gd name="connsiteY19" fmla="*/ 1579179 h 1961172"/>
              <a:gd name="connsiteX20" fmla="*/ 1181746 w 1715214"/>
              <a:gd name="connsiteY20" fmla="*/ 1562245 h 1961172"/>
              <a:gd name="connsiteX21" fmla="*/ 1046280 w 1715214"/>
              <a:gd name="connsiteY21" fmla="*/ 1553779 h 1961172"/>
              <a:gd name="connsiteX22" fmla="*/ 970080 w 1715214"/>
              <a:gd name="connsiteY22" fmla="*/ 1748512 h 1961172"/>
              <a:gd name="connsiteX23" fmla="*/ 953146 w 1715214"/>
              <a:gd name="connsiteY23" fmla="*/ 1909379 h 1961172"/>
              <a:gd name="connsiteX24" fmla="*/ 665280 w 1715214"/>
              <a:gd name="connsiteY24" fmla="*/ 1947479 h 1961172"/>
              <a:gd name="connsiteX25" fmla="*/ 694913 w 1715214"/>
              <a:gd name="connsiteY25" fmla="*/ 1697712 h 1961172"/>
              <a:gd name="connsiteX26" fmla="*/ 661046 w 1715214"/>
              <a:gd name="connsiteY26" fmla="*/ 1507212 h 1961172"/>
              <a:gd name="connsiteX27" fmla="*/ 809213 w 1715214"/>
              <a:gd name="connsiteY27" fmla="*/ 1320945 h 1961172"/>
              <a:gd name="connsiteX28" fmla="*/ 1173280 w 1715214"/>
              <a:gd name="connsiteY28" fmla="*/ 1257445 h 1961172"/>
              <a:gd name="connsiteX29" fmla="*/ 1376480 w 1715214"/>
              <a:gd name="connsiteY29" fmla="*/ 1329412 h 1961172"/>
              <a:gd name="connsiteX30" fmla="*/ 1393413 w 1715214"/>
              <a:gd name="connsiteY30" fmla="*/ 1130445 h 1961172"/>
              <a:gd name="connsiteX31" fmla="*/ 1384946 w 1715214"/>
              <a:gd name="connsiteY31" fmla="*/ 863745 h 1961172"/>
              <a:gd name="connsiteX32" fmla="*/ 1342613 w 1715214"/>
              <a:gd name="connsiteY32" fmla="*/ 419245 h 1961172"/>
              <a:gd name="connsiteX33" fmla="*/ 1207146 w 1715214"/>
              <a:gd name="connsiteY33" fmla="*/ 313412 h 1961172"/>
              <a:gd name="connsiteX34" fmla="*/ 876946 w 1715214"/>
              <a:gd name="connsiteY34" fmla="*/ 321879 h 1961172"/>
              <a:gd name="connsiteX35" fmla="*/ 555213 w 1715214"/>
              <a:gd name="connsiteY35" fmla="*/ 368445 h 1961172"/>
              <a:gd name="connsiteX36" fmla="*/ 322380 w 1715214"/>
              <a:gd name="connsiteY36" fmla="*/ 393845 h 1961172"/>
              <a:gd name="connsiteX37" fmla="*/ 292746 w 1715214"/>
              <a:gd name="connsiteY37" fmla="*/ 630912 h 1961172"/>
              <a:gd name="connsiteX38" fmla="*/ 326613 w 1715214"/>
              <a:gd name="connsiteY38" fmla="*/ 851045 h 1961172"/>
              <a:gd name="connsiteX39" fmla="*/ 296980 w 1715214"/>
              <a:gd name="connsiteY39" fmla="*/ 1206645 h 1961172"/>
              <a:gd name="connsiteX40" fmla="*/ 436680 w 1715214"/>
              <a:gd name="connsiteY40" fmla="*/ 1295545 h 1961172"/>
              <a:gd name="connsiteX41" fmla="*/ 576380 w 1715214"/>
              <a:gd name="connsiteY41" fmla="*/ 1210879 h 1961172"/>
              <a:gd name="connsiteX42" fmla="*/ 576380 w 1715214"/>
              <a:gd name="connsiteY42" fmla="*/ 1477579 h 1961172"/>
              <a:gd name="connsiteX43" fmla="*/ 415513 w 1715214"/>
              <a:gd name="connsiteY43" fmla="*/ 1604579 h 1961172"/>
              <a:gd name="connsiteX44" fmla="*/ 119180 w 1715214"/>
              <a:gd name="connsiteY44" fmla="*/ 1498745 h 1961172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26146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92 h 1961119"/>
              <a:gd name="connsiteX1" fmla="*/ 38746 w 1715214"/>
              <a:gd name="connsiteY1" fmla="*/ 1346292 h 1961119"/>
              <a:gd name="connsiteX2" fmla="*/ 34513 w 1715214"/>
              <a:gd name="connsiteY2" fmla="*/ 1147326 h 1961119"/>
              <a:gd name="connsiteX3" fmla="*/ 4880 w 1715214"/>
              <a:gd name="connsiteY3" fmla="*/ 977992 h 1961119"/>
              <a:gd name="connsiteX4" fmla="*/ 47213 w 1715214"/>
              <a:gd name="connsiteY4" fmla="*/ 872159 h 1961119"/>
              <a:gd name="connsiteX5" fmla="*/ 646 w 1715214"/>
              <a:gd name="connsiteY5" fmla="*/ 609692 h 1961119"/>
              <a:gd name="connsiteX6" fmla="*/ 21813 w 1715214"/>
              <a:gd name="connsiteY6" fmla="*/ 444592 h 1961119"/>
              <a:gd name="connsiteX7" fmla="*/ 47213 w 1715214"/>
              <a:gd name="connsiteY7" fmla="*/ 173659 h 1961119"/>
              <a:gd name="connsiteX8" fmla="*/ 284279 w 1715214"/>
              <a:gd name="connsiteY8" fmla="*/ 93225 h 1961119"/>
              <a:gd name="connsiteX9" fmla="*/ 563679 w 1715214"/>
              <a:gd name="connsiteY9" fmla="*/ 55126 h 1961119"/>
              <a:gd name="connsiteX10" fmla="*/ 809213 w 1715214"/>
              <a:gd name="connsiteY10" fmla="*/ 59360 h 1961119"/>
              <a:gd name="connsiteX11" fmla="*/ 872713 w 1715214"/>
              <a:gd name="connsiteY11" fmla="*/ 55126 h 1961119"/>
              <a:gd name="connsiteX12" fmla="*/ 1097079 w 1715214"/>
              <a:gd name="connsiteY12" fmla="*/ 42426 h 1961119"/>
              <a:gd name="connsiteX13" fmla="*/ 1368013 w 1715214"/>
              <a:gd name="connsiteY13" fmla="*/ 92 h 1961119"/>
              <a:gd name="connsiteX14" fmla="*/ 1613546 w 1715214"/>
              <a:gd name="connsiteY14" fmla="*/ 55126 h 1961119"/>
              <a:gd name="connsiteX15" fmla="*/ 1715146 w 1715214"/>
              <a:gd name="connsiteY15" fmla="*/ 215992 h 1961119"/>
              <a:gd name="connsiteX16" fmla="*/ 1630480 w 1715214"/>
              <a:gd name="connsiteY16" fmla="*/ 740926 h 1961119"/>
              <a:gd name="connsiteX17" fmla="*/ 1702446 w 1715214"/>
              <a:gd name="connsiteY17" fmla="*/ 1231992 h 1961119"/>
              <a:gd name="connsiteX18" fmla="*/ 1638946 w 1715214"/>
              <a:gd name="connsiteY18" fmla="*/ 1426726 h 1961119"/>
              <a:gd name="connsiteX19" fmla="*/ 1444213 w 1715214"/>
              <a:gd name="connsiteY19" fmla="*/ 1579126 h 1961119"/>
              <a:gd name="connsiteX20" fmla="*/ 1181746 w 1715214"/>
              <a:gd name="connsiteY20" fmla="*/ 1562192 h 1961119"/>
              <a:gd name="connsiteX21" fmla="*/ 1046280 w 1715214"/>
              <a:gd name="connsiteY21" fmla="*/ 1553726 h 1961119"/>
              <a:gd name="connsiteX22" fmla="*/ 970080 w 1715214"/>
              <a:gd name="connsiteY22" fmla="*/ 1748459 h 1961119"/>
              <a:gd name="connsiteX23" fmla="*/ 953146 w 1715214"/>
              <a:gd name="connsiteY23" fmla="*/ 1909326 h 1961119"/>
              <a:gd name="connsiteX24" fmla="*/ 665280 w 1715214"/>
              <a:gd name="connsiteY24" fmla="*/ 1947426 h 1961119"/>
              <a:gd name="connsiteX25" fmla="*/ 694913 w 1715214"/>
              <a:gd name="connsiteY25" fmla="*/ 1697659 h 1961119"/>
              <a:gd name="connsiteX26" fmla="*/ 661046 w 1715214"/>
              <a:gd name="connsiteY26" fmla="*/ 1507159 h 1961119"/>
              <a:gd name="connsiteX27" fmla="*/ 809213 w 1715214"/>
              <a:gd name="connsiteY27" fmla="*/ 1320892 h 1961119"/>
              <a:gd name="connsiteX28" fmla="*/ 1173280 w 1715214"/>
              <a:gd name="connsiteY28" fmla="*/ 1257392 h 1961119"/>
              <a:gd name="connsiteX29" fmla="*/ 1376480 w 1715214"/>
              <a:gd name="connsiteY29" fmla="*/ 1329359 h 1961119"/>
              <a:gd name="connsiteX30" fmla="*/ 1393413 w 1715214"/>
              <a:gd name="connsiteY30" fmla="*/ 1130392 h 1961119"/>
              <a:gd name="connsiteX31" fmla="*/ 1384946 w 1715214"/>
              <a:gd name="connsiteY31" fmla="*/ 863692 h 1961119"/>
              <a:gd name="connsiteX32" fmla="*/ 1342613 w 1715214"/>
              <a:gd name="connsiteY32" fmla="*/ 419192 h 1961119"/>
              <a:gd name="connsiteX33" fmla="*/ 1207146 w 1715214"/>
              <a:gd name="connsiteY33" fmla="*/ 313359 h 1961119"/>
              <a:gd name="connsiteX34" fmla="*/ 876946 w 1715214"/>
              <a:gd name="connsiteY34" fmla="*/ 321826 h 1961119"/>
              <a:gd name="connsiteX35" fmla="*/ 555213 w 1715214"/>
              <a:gd name="connsiteY35" fmla="*/ 368392 h 1961119"/>
              <a:gd name="connsiteX36" fmla="*/ 322380 w 1715214"/>
              <a:gd name="connsiteY36" fmla="*/ 393792 h 1961119"/>
              <a:gd name="connsiteX37" fmla="*/ 292746 w 1715214"/>
              <a:gd name="connsiteY37" fmla="*/ 630859 h 1961119"/>
              <a:gd name="connsiteX38" fmla="*/ 326613 w 1715214"/>
              <a:gd name="connsiteY38" fmla="*/ 850992 h 1961119"/>
              <a:gd name="connsiteX39" fmla="*/ 296980 w 1715214"/>
              <a:gd name="connsiteY39" fmla="*/ 1206592 h 1961119"/>
              <a:gd name="connsiteX40" fmla="*/ 436680 w 1715214"/>
              <a:gd name="connsiteY40" fmla="*/ 1295492 h 1961119"/>
              <a:gd name="connsiteX41" fmla="*/ 576380 w 1715214"/>
              <a:gd name="connsiteY41" fmla="*/ 1210826 h 1961119"/>
              <a:gd name="connsiteX42" fmla="*/ 576380 w 1715214"/>
              <a:gd name="connsiteY42" fmla="*/ 1477526 h 1961119"/>
              <a:gd name="connsiteX43" fmla="*/ 415513 w 1715214"/>
              <a:gd name="connsiteY43" fmla="*/ 1604526 h 1961119"/>
              <a:gd name="connsiteX44" fmla="*/ 119180 w 1715214"/>
              <a:gd name="connsiteY44" fmla="*/ 1498692 h 1961119"/>
              <a:gd name="connsiteX0" fmla="*/ 119180 w 1715214"/>
              <a:gd name="connsiteY0" fmla="*/ 1498689 h 1961116"/>
              <a:gd name="connsiteX1" fmla="*/ 38746 w 1715214"/>
              <a:gd name="connsiteY1" fmla="*/ 1346289 h 1961116"/>
              <a:gd name="connsiteX2" fmla="*/ 34513 w 1715214"/>
              <a:gd name="connsiteY2" fmla="*/ 1147323 h 1961116"/>
              <a:gd name="connsiteX3" fmla="*/ 4880 w 1715214"/>
              <a:gd name="connsiteY3" fmla="*/ 977989 h 1961116"/>
              <a:gd name="connsiteX4" fmla="*/ 47213 w 1715214"/>
              <a:gd name="connsiteY4" fmla="*/ 872156 h 1961116"/>
              <a:gd name="connsiteX5" fmla="*/ 646 w 1715214"/>
              <a:gd name="connsiteY5" fmla="*/ 609689 h 1961116"/>
              <a:gd name="connsiteX6" fmla="*/ 21813 w 1715214"/>
              <a:gd name="connsiteY6" fmla="*/ 444589 h 1961116"/>
              <a:gd name="connsiteX7" fmla="*/ 47213 w 1715214"/>
              <a:gd name="connsiteY7" fmla="*/ 173656 h 1961116"/>
              <a:gd name="connsiteX8" fmla="*/ 284279 w 1715214"/>
              <a:gd name="connsiteY8" fmla="*/ 93222 h 1961116"/>
              <a:gd name="connsiteX9" fmla="*/ 563679 w 1715214"/>
              <a:gd name="connsiteY9" fmla="*/ 55123 h 1961116"/>
              <a:gd name="connsiteX10" fmla="*/ 809213 w 1715214"/>
              <a:gd name="connsiteY10" fmla="*/ 59357 h 1961116"/>
              <a:gd name="connsiteX11" fmla="*/ 965846 w 1715214"/>
              <a:gd name="connsiteY11" fmla="*/ 46657 h 1961116"/>
              <a:gd name="connsiteX12" fmla="*/ 1097079 w 1715214"/>
              <a:gd name="connsiteY12" fmla="*/ 42423 h 1961116"/>
              <a:gd name="connsiteX13" fmla="*/ 1368013 w 1715214"/>
              <a:gd name="connsiteY13" fmla="*/ 89 h 1961116"/>
              <a:gd name="connsiteX14" fmla="*/ 1613546 w 1715214"/>
              <a:gd name="connsiteY14" fmla="*/ 55123 h 1961116"/>
              <a:gd name="connsiteX15" fmla="*/ 1715146 w 1715214"/>
              <a:gd name="connsiteY15" fmla="*/ 215989 h 1961116"/>
              <a:gd name="connsiteX16" fmla="*/ 1630480 w 1715214"/>
              <a:gd name="connsiteY16" fmla="*/ 740923 h 1961116"/>
              <a:gd name="connsiteX17" fmla="*/ 1702446 w 1715214"/>
              <a:gd name="connsiteY17" fmla="*/ 1231989 h 1961116"/>
              <a:gd name="connsiteX18" fmla="*/ 1638946 w 1715214"/>
              <a:gd name="connsiteY18" fmla="*/ 1426723 h 1961116"/>
              <a:gd name="connsiteX19" fmla="*/ 1444213 w 1715214"/>
              <a:gd name="connsiteY19" fmla="*/ 1579123 h 1961116"/>
              <a:gd name="connsiteX20" fmla="*/ 1181746 w 1715214"/>
              <a:gd name="connsiteY20" fmla="*/ 1562189 h 1961116"/>
              <a:gd name="connsiteX21" fmla="*/ 1046280 w 1715214"/>
              <a:gd name="connsiteY21" fmla="*/ 1553723 h 1961116"/>
              <a:gd name="connsiteX22" fmla="*/ 970080 w 1715214"/>
              <a:gd name="connsiteY22" fmla="*/ 1748456 h 1961116"/>
              <a:gd name="connsiteX23" fmla="*/ 953146 w 1715214"/>
              <a:gd name="connsiteY23" fmla="*/ 1909323 h 1961116"/>
              <a:gd name="connsiteX24" fmla="*/ 665280 w 1715214"/>
              <a:gd name="connsiteY24" fmla="*/ 1947423 h 1961116"/>
              <a:gd name="connsiteX25" fmla="*/ 694913 w 1715214"/>
              <a:gd name="connsiteY25" fmla="*/ 1697656 h 1961116"/>
              <a:gd name="connsiteX26" fmla="*/ 661046 w 1715214"/>
              <a:gd name="connsiteY26" fmla="*/ 1507156 h 1961116"/>
              <a:gd name="connsiteX27" fmla="*/ 809213 w 1715214"/>
              <a:gd name="connsiteY27" fmla="*/ 1320889 h 1961116"/>
              <a:gd name="connsiteX28" fmla="*/ 1173280 w 1715214"/>
              <a:gd name="connsiteY28" fmla="*/ 1257389 h 1961116"/>
              <a:gd name="connsiteX29" fmla="*/ 1376480 w 1715214"/>
              <a:gd name="connsiteY29" fmla="*/ 1329356 h 1961116"/>
              <a:gd name="connsiteX30" fmla="*/ 1393413 w 1715214"/>
              <a:gd name="connsiteY30" fmla="*/ 1130389 h 1961116"/>
              <a:gd name="connsiteX31" fmla="*/ 1384946 w 1715214"/>
              <a:gd name="connsiteY31" fmla="*/ 863689 h 1961116"/>
              <a:gd name="connsiteX32" fmla="*/ 1342613 w 1715214"/>
              <a:gd name="connsiteY32" fmla="*/ 419189 h 1961116"/>
              <a:gd name="connsiteX33" fmla="*/ 1207146 w 1715214"/>
              <a:gd name="connsiteY33" fmla="*/ 313356 h 1961116"/>
              <a:gd name="connsiteX34" fmla="*/ 876946 w 1715214"/>
              <a:gd name="connsiteY34" fmla="*/ 321823 h 1961116"/>
              <a:gd name="connsiteX35" fmla="*/ 555213 w 1715214"/>
              <a:gd name="connsiteY35" fmla="*/ 368389 h 1961116"/>
              <a:gd name="connsiteX36" fmla="*/ 322380 w 1715214"/>
              <a:gd name="connsiteY36" fmla="*/ 393789 h 1961116"/>
              <a:gd name="connsiteX37" fmla="*/ 292746 w 1715214"/>
              <a:gd name="connsiteY37" fmla="*/ 630856 h 1961116"/>
              <a:gd name="connsiteX38" fmla="*/ 326613 w 1715214"/>
              <a:gd name="connsiteY38" fmla="*/ 850989 h 1961116"/>
              <a:gd name="connsiteX39" fmla="*/ 296980 w 1715214"/>
              <a:gd name="connsiteY39" fmla="*/ 1206589 h 1961116"/>
              <a:gd name="connsiteX40" fmla="*/ 436680 w 1715214"/>
              <a:gd name="connsiteY40" fmla="*/ 1295489 h 1961116"/>
              <a:gd name="connsiteX41" fmla="*/ 576380 w 1715214"/>
              <a:gd name="connsiteY41" fmla="*/ 1210823 h 1961116"/>
              <a:gd name="connsiteX42" fmla="*/ 576380 w 1715214"/>
              <a:gd name="connsiteY42" fmla="*/ 1477523 h 1961116"/>
              <a:gd name="connsiteX43" fmla="*/ 415513 w 1715214"/>
              <a:gd name="connsiteY43" fmla="*/ 1604523 h 1961116"/>
              <a:gd name="connsiteX44" fmla="*/ 119180 w 1715214"/>
              <a:gd name="connsiteY44" fmla="*/ 1498689 h 1961116"/>
              <a:gd name="connsiteX0" fmla="*/ 119180 w 1715214"/>
              <a:gd name="connsiteY0" fmla="*/ 1462368 h 1924795"/>
              <a:gd name="connsiteX1" fmla="*/ 38746 w 1715214"/>
              <a:gd name="connsiteY1" fmla="*/ 1309968 h 1924795"/>
              <a:gd name="connsiteX2" fmla="*/ 34513 w 1715214"/>
              <a:gd name="connsiteY2" fmla="*/ 1111002 h 1924795"/>
              <a:gd name="connsiteX3" fmla="*/ 4880 w 1715214"/>
              <a:gd name="connsiteY3" fmla="*/ 941668 h 1924795"/>
              <a:gd name="connsiteX4" fmla="*/ 47213 w 1715214"/>
              <a:gd name="connsiteY4" fmla="*/ 835835 h 1924795"/>
              <a:gd name="connsiteX5" fmla="*/ 646 w 1715214"/>
              <a:gd name="connsiteY5" fmla="*/ 573368 h 1924795"/>
              <a:gd name="connsiteX6" fmla="*/ 21813 w 1715214"/>
              <a:gd name="connsiteY6" fmla="*/ 408268 h 1924795"/>
              <a:gd name="connsiteX7" fmla="*/ 47213 w 1715214"/>
              <a:gd name="connsiteY7" fmla="*/ 137335 h 1924795"/>
              <a:gd name="connsiteX8" fmla="*/ 284279 w 1715214"/>
              <a:gd name="connsiteY8" fmla="*/ 56901 h 1924795"/>
              <a:gd name="connsiteX9" fmla="*/ 563679 w 1715214"/>
              <a:gd name="connsiteY9" fmla="*/ 18802 h 1924795"/>
              <a:gd name="connsiteX10" fmla="*/ 809213 w 1715214"/>
              <a:gd name="connsiteY10" fmla="*/ 23036 h 1924795"/>
              <a:gd name="connsiteX11" fmla="*/ 965846 w 1715214"/>
              <a:gd name="connsiteY11" fmla="*/ 10336 h 1924795"/>
              <a:gd name="connsiteX12" fmla="*/ 1097079 w 1715214"/>
              <a:gd name="connsiteY12" fmla="*/ 6102 h 1924795"/>
              <a:gd name="connsiteX13" fmla="*/ 1359546 w 1715214"/>
              <a:gd name="connsiteY13" fmla="*/ 1868 h 1924795"/>
              <a:gd name="connsiteX14" fmla="*/ 1613546 w 1715214"/>
              <a:gd name="connsiteY14" fmla="*/ 18802 h 1924795"/>
              <a:gd name="connsiteX15" fmla="*/ 1715146 w 1715214"/>
              <a:gd name="connsiteY15" fmla="*/ 179668 h 1924795"/>
              <a:gd name="connsiteX16" fmla="*/ 1630480 w 1715214"/>
              <a:gd name="connsiteY16" fmla="*/ 704602 h 1924795"/>
              <a:gd name="connsiteX17" fmla="*/ 1702446 w 1715214"/>
              <a:gd name="connsiteY17" fmla="*/ 1195668 h 1924795"/>
              <a:gd name="connsiteX18" fmla="*/ 1638946 w 1715214"/>
              <a:gd name="connsiteY18" fmla="*/ 1390402 h 1924795"/>
              <a:gd name="connsiteX19" fmla="*/ 1444213 w 1715214"/>
              <a:gd name="connsiteY19" fmla="*/ 1542802 h 1924795"/>
              <a:gd name="connsiteX20" fmla="*/ 1181746 w 1715214"/>
              <a:gd name="connsiteY20" fmla="*/ 1525868 h 1924795"/>
              <a:gd name="connsiteX21" fmla="*/ 1046280 w 1715214"/>
              <a:gd name="connsiteY21" fmla="*/ 1517402 h 1924795"/>
              <a:gd name="connsiteX22" fmla="*/ 970080 w 1715214"/>
              <a:gd name="connsiteY22" fmla="*/ 1712135 h 1924795"/>
              <a:gd name="connsiteX23" fmla="*/ 953146 w 1715214"/>
              <a:gd name="connsiteY23" fmla="*/ 1873002 h 1924795"/>
              <a:gd name="connsiteX24" fmla="*/ 665280 w 1715214"/>
              <a:gd name="connsiteY24" fmla="*/ 1911102 h 1924795"/>
              <a:gd name="connsiteX25" fmla="*/ 694913 w 1715214"/>
              <a:gd name="connsiteY25" fmla="*/ 1661335 h 1924795"/>
              <a:gd name="connsiteX26" fmla="*/ 661046 w 1715214"/>
              <a:gd name="connsiteY26" fmla="*/ 1470835 h 1924795"/>
              <a:gd name="connsiteX27" fmla="*/ 809213 w 1715214"/>
              <a:gd name="connsiteY27" fmla="*/ 1284568 h 1924795"/>
              <a:gd name="connsiteX28" fmla="*/ 1173280 w 1715214"/>
              <a:gd name="connsiteY28" fmla="*/ 1221068 h 1924795"/>
              <a:gd name="connsiteX29" fmla="*/ 1376480 w 1715214"/>
              <a:gd name="connsiteY29" fmla="*/ 1293035 h 1924795"/>
              <a:gd name="connsiteX30" fmla="*/ 1393413 w 1715214"/>
              <a:gd name="connsiteY30" fmla="*/ 1094068 h 1924795"/>
              <a:gd name="connsiteX31" fmla="*/ 1384946 w 1715214"/>
              <a:gd name="connsiteY31" fmla="*/ 827368 h 1924795"/>
              <a:gd name="connsiteX32" fmla="*/ 1342613 w 1715214"/>
              <a:gd name="connsiteY32" fmla="*/ 382868 h 1924795"/>
              <a:gd name="connsiteX33" fmla="*/ 1207146 w 1715214"/>
              <a:gd name="connsiteY33" fmla="*/ 277035 h 1924795"/>
              <a:gd name="connsiteX34" fmla="*/ 876946 w 1715214"/>
              <a:gd name="connsiteY34" fmla="*/ 285502 h 1924795"/>
              <a:gd name="connsiteX35" fmla="*/ 555213 w 1715214"/>
              <a:gd name="connsiteY35" fmla="*/ 332068 h 1924795"/>
              <a:gd name="connsiteX36" fmla="*/ 322380 w 1715214"/>
              <a:gd name="connsiteY36" fmla="*/ 357468 h 1924795"/>
              <a:gd name="connsiteX37" fmla="*/ 292746 w 1715214"/>
              <a:gd name="connsiteY37" fmla="*/ 594535 h 1924795"/>
              <a:gd name="connsiteX38" fmla="*/ 326613 w 1715214"/>
              <a:gd name="connsiteY38" fmla="*/ 814668 h 1924795"/>
              <a:gd name="connsiteX39" fmla="*/ 296980 w 1715214"/>
              <a:gd name="connsiteY39" fmla="*/ 1170268 h 1924795"/>
              <a:gd name="connsiteX40" fmla="*/ 436680 w 1715214"/>
              <a:gd name="connsiteY40" fmla="*/ 1259168 h 1924795"/>
              <a:gd name="connsiteX41" fmla="*/ 576380 w 1715214"/>
              <a:gd name="connsiteY41" fmla="*/ 1174502 h 1924795"/>
              <a:gd name="connsiteX42" fmla="*/ 576380 w 1715214"/>
              <a:gd name="connsiteY42" fmla="*/ 1441202 h 1924795"/>
              <a:gd name="connsiteX43" fmla="*/ 415513 w 1715214"/>
              <a:gd name="connsiteY43" fmla="*/ 1568202 h 1924795"/>
              <a:gd name="connsiteX44" fmla="*/ 119180 w 1715214"/>
              <a:gd name="connsiteY44" fmla="*/ 1462368 h 1924795"/>
              <a:gd name="connsiteX0" fmla="*/ 119180 w 1715790"/>
              <a:gd name="connsiteY0" fmla="*/ 1487786 h 1950213"/>
              <a:gd name="connsiteX1" fmla="*/ 38746 w 1715790"/>
              <a:gd name="connsiteY1" fmla="*/ 1335386 h 1950213"/>
              <a:gd name="connsiteX2" fmla="*/ 34513 w 1715790"/>
              <a:gd name="connsiteY2" fmla="*/ 1136420 h 1950213"/>
              <a:gd name="connsiteX3" fmla="*/ 4880 w 1715790"/>
              <a:gd name="connsiteY3" fmla="*/ 967086 h 1950213"/>
              <a:gd name="connsiteX4" fmla="*/ 47213 w 1715790"/>
              <a:gd name="connsiteY4" fmla="*/ 861253 h 1950213"/>
              <a:gd name="connsiteX5" fmla="*/ 646 w 1715790"/>
              <a:gd name="connsiteY5" fmla="*/ 598786 h 1950213"/>
              <a:gd name="connsiteX6" fmla="*/ 21813 w 1715790"/>
              <a:gd name="connsiteY6" fmla="*/ 433686 h 1950213"/>
              <a:gd name="connsiteX7" fmla="*/ 47213 w 1715790"/>
              <a:gd name="connsiteY7" fmla="*/ 162753 h 1950213"/>
              <a:gd name="connsiteX8" fmla="*/ 284279 w 1715790"/>
              <a:gd name="connsiteY8" fmla="*/ 82319 h 1950213"/>
              <a:gd name="connsiteX9" fmla="*/ 563679 w 1715790"/>
              <a:gd name="connsiteY9" fmla="*/ 44220 h 1950213"/>
              <a:gd name="connsiteX10" fmla="*/ 809213 w 1715790"/>
              <a:gd name="connsiteY10" fmla="*/ 48454 h 1950213"/>
              <a:gd name="connsiteX11" fmla="*/ 965846 w 1715790"/>
              <a:gd name="connsiteY11" fmla="*/ 35754 h 1950213"/>
              <a:gd name="connsiteX12" fmla="*/ 1097079 w 1715790"/>
              <a:gd name="connsiteY12" fmla="*/ 31520 h 1950213"/>
              <a:gd name="connsiteX13" fmla="*/ 1359546 w 1715790"/>
              <a:gd name="connsiteY13" fmla="*/ 27286 h 1950213"/>
              <a:gd name="connsiteX14" fmla="*/ 1575446 w 1715790"/>
              <a:gd name="connsiteY14" fmla="*/ 10353 h 1950213"/>
              <a:gd name="connsiteX15" fmla="*/ 1715146 w 1715790"/>
              <a:gd name="connsiteY15" fmla="*/ 205086 h 1950213"/>
              <a:gd name="connsiteX16" fmla="*/ 1630480 w 1715790"/>
              <a:gd name="connsiteY16" fmla="*/ 730020 h 1950213"/>
              <a:gd name="connsiteX17" fmla="*/ 1702446 w 1715790"/>
              <a:gd name="connsiteY17" fmla="*/ 1221086 h 1950213"/>
              <a:gd name="connsiteX18" fmla="*/ 1638946 w 1715790"/>
              <a:gd name="connsiteY18" fmla="*/ 1415820 h 1950213"/>
              <a:gd name="connsiteX19" fmla="*/ 1444213 w 1715790"/>
              <a:gd name="connsiteY19" fmla="*/ 1568220 h 1950213"/>
              <a:gd name="connsiteX20" fmla="*/ 1181746 w 1715790"/>
              <a:gd name="connsiteY20" fmla="*/ 1551286 h 1950213"/>
              <a:gd name="connsiteX21" fmla="*/ 1046280 w 1715790"/>
              <a:gd name="connsiteY21" fmla="*/ 1542820 h 1950213"/>
              <a:gd name="connsiteX22" fmla="*/ 970080 w 1715790"/>
              <a:gd name="connsiteY22" fmla="*/ 1737553 h 1950213"/>
              <a:gd name="connsiteX23" fmla="*/ 953146 w 1715790"/>
              <a:gd name="connsiteY23" fmla="*/ 1898420 h 1950213"/>
              <a:gd name="connsiteX24" fmla="*/ 665280 w 1715790"/>
              <a:gd name="connsiteY24" fmla="*/ 1936520 h 1950213"/>
              <a:gd name="connsiteX25" fmla="*/ 694913 w 1715790"/>
              <a:gd name="connsiteY25" fmla="*/ 1686753 h 1950213"/>
              <a:gd name="connsiteX26" fmla="*/ 661046 w 1715790"/>
              <a:gd name="connsiteY26" fmla="*/ 1496253 h 1950213"/>
              <a:gd name="connsiteX27" fmla="*/ 809213 w 1715790"/>
              <a:gd name="connsiteY27" fmla="*/ 1309986 h 1950213"/>
              <a:gd name="connsiteX28" fmla="*/ 1173280 w 1715790"/>
              <a:gd name="connsiteY28" fmla="*/ 1246486 h 1950213"/>
              <a:gd name="connsiteX29" fmla="*/ 1376480 w 1715790"/>
              <a:gd name="connsiteY29" fmla="*/ 1318453 h 1950213"/>
              <a:gd name="connsiteX30" fmla="*/ 1393413 w 1715790"/>
              <a:gd name="connsiteY30" fmla="*/ 1119486 h 1950213"/>
              <a:gd name="connsiteX31" fmla="*/ 1384946 w 1715790"/>
              <a:gd name="connsiteY31" fmla="*/ 852786 h 1950213"/>
              <a:gd name="connsiteX32" fmla="*/ 1342613 w 1715790"/>
              <a:gd name="connsiteY32" fmla="*/ 408286 h 1950213"/>
              <a:gd name="connsiteX33" fmla="*/ 1207146 w 1715790"/>
              <a:gd name="connsiteY33" fmla="*/ 302453 h 1950213"/>
              <a:gd name="connsiteX34" fmla="*/ 876946 w 1715790"/>
              <a:gd name="connsiteY34" fmla="*/ 310920 h 1950213"/>
              <a:gd name="connsiteX35" fmla="*/ 555213 w 1715790"/>
              <a:gd name="connsiteY35" fmla="*/ 357486 h 1950213"/>
              <a:gd name="connsiteX36" fmla="*/ 322380 w 1715790"/>
              <a:gd name="connsiteY36" fmla="*/ 382886 h 1950213"/>
              <a:gd name="connsiteX37" fmla="*/ 292746 w 1715790"/>
              <a:gd name="connsiteY37" fmla="*/ 619953 h 1950213"/>
              <a:gd name="connsiteX38" fmla="*/ 326613 w 1715790"/>
              <a:gd name="connsiteY38" fmla="*/ 840086 h 1950213"/>
              <a:gd name="connsiteX39" fmla="*/ 296980 w 1715790"/>
              <a:gd name="connsiteY39" fmla="*/ 1195686 h 1950213"/>
              <a:gd name="connsiteX40" fmla="*/ 436680 w 1715790"/>
              <a:gd name="connsiteY40" fmla="*/ 1284586 h 1950213"/>
              <a:gd name="connsiteX41" fmla="*/ 576380 w 1715790"/>
              <a:gd name="connsiteY41" fmla="*/ 1199920 h 1950213"/>
              <a:gd name="connsiteX42" fmla="*/ 576380 w 1715790"/>
              <a:gd name="connsiteY42" fmla="*/ 1466620 h 1950213"/>
              <a:gd name="connsiteX43" fmla="*/ 415513 w 1715790"/>
              <a:gd name="connsiteY43" fmla="*/ 1593620 h 1950213"/>
              <a:gd name="connsiteX44" fmla="*/ 119180 w 1715790"/>
              <a:gd name="connsiteY44" fmla="*/ 1487786 h 1950213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30480 w 1702510"/>
              <a:gd name="connsiteY16" fmla="*/ 730619 h 1950812"/>
              <a:gd name="connsiteX17" fmla="*/ 1702446 w 1702510"/>
              <a:gd name="connsiteY17" fmla="*/ 1221685 h 1950812"/>
              <a:gd name="connsiteX18" fmla="*/ 1638946 w 1702510"/>
              <a:gd name="connsiteY18" fmla="*/ 1416419 h 1950812"/>
              <a:gd name="connsiteX19" fmla="*/ 1444213 w 1702510"/>
              <a:gd name="connsiteY19" fmla="*/ 1568819 h 1950812"/>
              <a:gd name="connsiteX20" fmla="*/ 1181746 w 1702510"/>
              <a:gd name="connsiteY20" fmla="*/ 1551885 h 1950812"/>
              <a:gd name="connsiteX21" fmla="*/ 1046280 w 1702510"/>
              <a:gd name="connsiteY21" fmla="*/ 1543419 h 1950812"/>
              <a:gd name="connsiteX22" fmla="*/ 970080 w 1702510"/>
              <a:gd name="connsiteY22" fmla="*/ 1738152 h 1950812"/>
              <a:gd name="connsiteX23" fmla="*/ 953146 w 1702510"/>
              <a:gd name="connsiteY23" fmla="*/ 1899019 h 1950812"/>
              <a:gd name="connsiteX24" fmla="*/ 665280 w 1702510"/>
              <a:gd name="connsiteY24" fmla="*/ 1937119 h 1950812"/>
              <a:gd name="connsiteX25" fmla="*/ 694913 w 1702510"/>
              <a:gd name="connsiteY25" fmla="*/ 1687352 h 1950812"/>
              <a:gd name="connsiteX26" fmla="*/ 661046 w 1702510"/>
              <a:gd name="connsiteY26" fmla="*/ 1496852 h 1950812"/>
              <a:gd name="connsiteX27" fmla="*/ 809213 w 1702510"/>
              <a:gd name="connsiteY27" fmla="*/ 1310585 h 1950812"/>
              <a:gd name="connsiteX28" fmla="*/ 1173280 w 1702510"/>
              <a:gd name="connsiteY28" fmla="*/ 1247085 h 1950812"/>
              <a:gd name="connsiteX29" fmla="*/ 1376480 w 1702510"/>
              <a:gd name="connsiteY29" fmla="*/ 1319052 h 1950812"/>
              <a:gd name="connsiteX30" fmla="*/ 1393413 w 1702510"/>
              <a:gd name="connsiteY30" fmla="*/ 1120085 h 1950812"/>
              <a:gd name="connsiteX31" fmla="*/ 1384946 w 1702510"/>
              <a:gd name="connsiteY31" fmla="*/ 853385 h 1950812"/>
              <a:gd name="connsiteX32" fmla="*/ 1342613 w 1702510"/>
              <a:gd name="connsiteY32" fmla="*/ 408885 h 1950812"/>
              <a:gd name="connsiteX33" fmla="*/ 1207146 w 1702510"/>
              <a:gd name="connsiteY33" fmla="*/ 303052 h 1950812"/>
              <a:gd name="connsiteX34" fmla="*/ 876946 w 1702510"/>
              <a:gd name="connsiteY34" fmla="*/ 311519 h 1950812"/>
              <a:gd name="connsiteX35" fmla="*/ 555213 w 1702510"/>
              <a:gd name="connsiteY35" fmla="*/ 358085 h 1950812"/>
              <a:gd name="connsiteX36" fmla="*/ 322380 w 1702510"/>
              <a:gd name="connsiteY36" fmla="*/ 383485 h 1950812"/>
              <a:gd name="connsiteX37" fmla="*/ 292746 w 1702510"/>
              <a:gd name="connsiteY37" fmla="*/ 620552 h 1950812"/>
              <a:gd name="connsiteX38" fmla="*/ 326613 w 1702510"/>
              <a:gd name="connsiteY38" fmla="*/ 840685 h 1950812"/>
              <a:gd name="connsiteX39" fmla="*/ 296980 w 1702510"/>
              <a:gd name="connsiteY39" fmla="*/ 1196285 h 1950812"/>
              <a:gd name="connsiteX40" fmla="*/ 436680 w 1702510"/>
              <a:gd name="connsiteY40" fmla="*/ 1285185 h 1950812"/>
              <a:gd name="connsiteX41" fmla="*/ 576380 w 1702510"/>
              <a:gd name="connsiteY41" fmla="*/ 1200519 h 1950812"/>
              <a:gd name="connsiteX42" fmla="*/ 576380 w 1702510"/>
              <a:gd name="connsiteY42" fmla="*/ 1467219 h 1950812"/>
              <a:gd name="connsiteX43" fmla="*/ 415513 w 1702510"/>
              <a:gd name="connsiteY43" fmla="*/ 1594219 h 1950812"/>
              <a:gd name="connsiteX44" fmla="*/ 119180 w 1702510"/>
              <a:gd name="connsiteY44" fmla="*/ 1488385 h 1950812"/>
              <a:gd name="connsiteX0" fmla="*/ 119180 w 1702510"/>
              <a:gd name="connsiteY0" fmla="*/ 1488385 h 1950812"/>
              <a:gd name="connsiteX1" fmla="*/ 38746 w 1702510"/>
              <a:gd name="connsiteY1" fmla="*/ 1335985 h 1950812"/>
              <a:gd name="connsiteX2" fmla="*/ 34513 w 1702510"/>
              <a:gd name="connsiteY2" fmla="*/ 1137019 h 1950812"/>
              <a:gd name="connsiteX3" fmla="*/ 4880 w 1702510"/>
              <a:gd name="connsiteY3" fmla="*/ 967685 h 1950812"/>
              <a:gd name="connsiteX4" fmla="*/ 47213 w 1702510"/>
              <a:gd name="connsiteY4" fmla="*/ 861852 h 1950812"/>
              <a:gd name="connsiteX5" fmla="*/ 646 w 1702510"/>
              <a:gd name="connsiteY5" fmla="*/ 599385 h 1950812"/>
              <a:gd name="connsiteX6" fmla="*/ 21813 w 1702510"/>
              <a:gd name="connsiteY6" fmla="*/ 434285 h 1950812"/>
              <a:gd name="connsiteX7" fmla="*/ 47213 w 1702510"/>
              <a:gd name="connsiteY7" fmla="*/ 163352 h 1950812"/>
              <a:gd name="connsiteX8" fmla="*/ 284279 w 1702510"/>
              <a:gd name="connsiteY8" fmla="*/ 82918 h 1950812"/>
              <a:gd name="connsiteX9" fmla="*/ 563679 w 1702510"/>
              <a:gd name="connsiteY9" fmla="*/ 44819 h 1950812"/>
              <a:gd name="connsiteX10" fmla="*/ 809213 w 1702510"/>
              <a:gd name="connsiteY10" fmla="*/ 49053 h 1950812"/>
              <a:gd name="connsiteX11" fmla="*/ 965846 w 1702510"/>
              <a:gd name="connsiteY11" fmla="*/ 36353 h 1950812"/>
              <a:gd name="connsiteX12" fmla="*/ 1097079 w 1702510"/>
              <a:gd name="connsiteY12" fmla="*/ 32119 h 1950812"/>
              <a:gd name="connsiteX13" fmla="*/ 1359546 w 1702510"/>
              <a:gd name="connsiteY13" fmla="*/ 27885 h 1950812"/>
              <a:gd name="connsiteX14" fmla="*/ 1575446 w 1702510"/>
              <a:gd name="connsiteY14" fmla="*/ 10952 h 1950812"/>
              <a:gd name="connsiteX15" fmla="*/ 1677046 w 1702510"/>
              <a:gd name="connsiteY15" fmla="*/ 214152 h 1950812"/>
              <a:gd name="connsiteX16" fmla="*/ 1622013 w 1702510"/>
              <a:gd name="connsiteY16" fmla="*/ 455451 h 1950812"/>
              <a:gd name="connsiteX17" fmla="*/ 1630480 w 1702510"/>
              <a:gd name="connsiteY17" fmla="*/ 730619 h 1950812"/>
              <a:gd name="connsiteX18" fmla="*/ 1702446 w 1702510"/>
              <a:gd name="connsiteY18" fmla="*/ 1221685 h 1950812"/>
              <a:gd name="connsiteX19" fmla="*/ 1638946 w 1702510"/>
              <a:gd name="connsiteY19" fmla="*/ 1416419 h 1950812"/>
              <a:gd name="connsiteX20" fmla="*/ 1444213 w 1702510"/>
              <a:gd name="connsiteY20" fmla="*/ 1568819 h 1950812"/>
              <a:gd name="connsiteX21" fmla="*/ 1181746 w 1702510"/>
              <a:gd name="connsiteY21" fmla="*/ 1551885 h 1950812"/>
              <a:gd name="connsiteX22" fmla="*/ 1046280 w 1702510"/>
              <a:gd name="connsiteY22" fmla="*/ 1543419 h 1950812"/>
              <a:gd name="connsiteX23" fmla="*/ 970080 w 1702510"/>
              <a:gd name="connsiteY23" fmla="*/ 1738152 h 1950812"/>
              <a:gd name="connsiteX24" fmla="*/ 953146 w 1702510"/>
              <a:gd name="connsiteY24" fmla="*/ 1899019 h 1950812"/>
              <a:gd name="connsiteX25" fmla="*/ 665280 w 1702510"/>
              <a:gd name="connsiteY25" fmla="*/ 1937119 h 1950812"/>
              <a:gd name="connsiteX26" fmla="*/ 694913 w 1702510"/>
              <a:gd name="connsiteY26" fmla="*/ 1687352 h 1950812"/>
              <a:gd name="connsiteX27" fmla="*/ 661046 w 1702510"/>
              <a:gd name="connsiteY27" fmla="*/ 1496852 h 1950812"/>
              <a:gd name="connsiteX28" fmla="*/ 809213 w 1702510"/>
              <a:gd name="connsiteY28" fmla="*/ 1310585 h 1950812"/>
              <a:gd name="connsiteX29" fmla="*/ 1173280 w 1702510"/>
              <a:gd name="connsiteY29" fmla="*/ 1247085 h 1950812"/>
              <a:gd name="connsiteX30" fmla="*/ 1376480 w 1702510"/>
              <a:gd name="connsiteY30" fmla="*/ 1319052 h 1950812"/>
              <a:gd name="connsiteX31" fmla="*/ 1393413 w 1702510"/>
              <a:gd name="connsiteY31" fmla="*/ 1120085 h 1950812"/>
              <a:gd name="connsiteX32" fmla="*/ 1384946 w 1702510"/>
              <a:gd name="connsiteY32" fmla="*/ 853385 h 1950812"/>
              <a:gd name="connsiteX33" fmla="*/ 1342613 w 1702510"/>
              <a:gd name="connsiteY33" fmla="*/ 408885 h 1950812"/>
              <a:gd name="connsiteX34" fmla="*/ 1207146 w 1702510"/>
              <a:gd name="connsiteY34" fmla="*/ 303052 h 1950812"/>
              <a:gd name="connsiteX35" fmla="*/ 876946 w 1702510"/>
              <a:gd name="connsiteY35" fmla="*/ 311519 h 1950812"/>
              <a:gd name="connsiteX36" fmla="*/ 555213 w 1702510"/>
              <a:gd name="connsiteY36" fmla="*/ 358085 h 1950812"/>
              <a:gd name="connsiteX37" fmla="*/ 322380 w 1702510"/>
              <a:gd name="connsiteY37" fmla="*/ 383485 h 1950812"/>
              <a:gd name="connsiteX38" fmla="*/ 292746 w 1702510"/>
              <a:gd name="connsiteY38" fmla="*/ 620552 h 1950812"/>
              <a:gd name="connsiteX39" fmla="*/ 326613 w 1702510"/>
              <a:gd name="connsiteY39" fmla="*/ 840685 h 1950812"/>
              <a:gd name="connsiteX40" fmla="*/ 296980 w 1702510"/>
              <a:gd name="connsiteY40" fmla="*/ 1196285 h 1950812"/>
              <a:gd name="connsiteX41" fmla="*/ 436680 w 1702510"/>
              <a:gd name="connsiteY41" fmla="*/ 1285185 h 1950812"/>
              <a:gd name="connsiteX42" fmla="*/ 576380 w 1702510"/>
              <a:gd name="connsiteY42" fmla="*/ 1200519 h 1950812"/>
              <a:gd name="connsiteX43" fmla="*/ 576380 w 1702510"/>
              <a:gd name="connsiteY43" fmla="*/ 1467219 h 1950812"/>
              <a:gd name="connsiteX44" fmla="*/ 415513 w 1702510"/>
              <a:gd name="connsiteY44" fmla="*/ 1594219 h 1950812"/>
              <a:gd name="connsiteX45" fmla="*/ 119180 w 1702510"/>
              <a:gd name="connsiteY45" fmla="*/ 1488385 h 1950812"/>
              <a:gd name="connsiteX0" fmla="*/ 119180 w 1702864"/>
              <a:gd name="connsiteY0" fmla="*/ 1488385 h 1950812"/>
              <a:gd name="connsiteX1" fmla="*/ 38746 w 1702864"/>
              <a:gd name="connsiteY1" fmla="*/ 1335985 h 1950812"/>
              <a:gd name="connsiteX2" fmla="*/ 34513 w 1702864"/>
              <a:gd name="connsiteY2" fmla="*/ 1137019 h 1950812"/>
              <a:gd name="connsiteX3" fmla="*/ 4880 w 1702864"/>
              <a:gd name="connsiteY3" fmla="*/ 967685 h 1950812"/>
              <a:gd name="connsiteX4" fmla="*/ 47213 w 1702864"/>
              <a:gd name="connsiteY4" fmla="*/ 861852 h 1950812"/>
              <a:gd name="connsiteX5" fmla="*/ 646 w 1702864"/>
              <a:gd name="connsiteY5" fmla="*/ 599385 h 1950812"/>
              <a:gd name="connsiteX6" fmla="*/ 21813 w 1702864"/>
              <a:gd name="connsiteY6" fmla="*/ 434285 h 1950812"/>
              <a:gd name="connsiteX7" fmla="*/ 47213 w 1702864"/>
              <a:gd name="connsiteY7" fmla="*/ 163352 h 1950812"/>
              <a:gd name="connsiteX8" fmla="*/ 284279 w 1702864"/>
              <a:gd name="connsiteY8" fmla="*/ 82918 h 1950812"/>
              <a:gd name="connsiteX9" fmla="*/ 563679 w 1702864"/>
              <a:gd name="connsiteY9" fmla="*/ 44819 h 1950812"/>
              <a:gd name="connsiteX10" fmla="*/ 809213 w 1702864"/>
              <a:gd name="connsiteY10" fmla="*/ 49053 h 1950812"/>
              <a:gd name="connsiteX11" fmla="*/ 965846 w 1702864"/>
              <a:gd name="connsiteY11" fmla="*/ 36353 h 1950812"/>
              <a:gd name="connsiteX12" fmla="*/ 1097079 w 1702864"/>
              <a:gd name="connsiteY12" fmla="*/ 32119 h 1950812"/>
              <a:gd name="connsiteX13" fmla="*/ 1359546 w 1702864"/>
              <a:gd name="connsiteY13" fmla="*/ 27885 h 1950812"/>
              <a:gd name="connsiteX14" fmla="*/ 1575446 w 1702864"/>
              <a:gd name="connsiteY14" fmla="*/ 10952 h 1950812"/>
              <a:gd name="connsiteX15" fmla="*/ 1677046 w 1702864"/>
              <a:gd name="connsiteY15" fmla="*/ 214152 h 1950812"/>
              <a:gd name="connsiteX16" fmla="*/ 1622013 w 1702864"/>
              <a:gd name="connsiteY16" fmla="*/ 455451 h 1950812"/>
              <a:gd name="connsiteX17" fmla="*/ 1664346 w 1702864"/>
              <a:gd name="connsiteY17" fmla="*/ 713685 h 1950812"/>
              <a:gd name="connsiteX18" fmla="*/ 1702446 w 1702864"/>
              <a:gd name="connsiteY18" fmla="*/ 1221685 h 1950812"/>
              <a:gd name="connsiteX19" fmla="*/ 1638946 w 1702864"/>
              <a:gd name="connsiteY19" fmla="*/ 1416419 h 1950812"/>
              <a:gd name="connsiteX20" fmla="*/ 1444213 w 1702864"/>
              <a:gd name="connsiteY20" fmla="*/ 1568819 h 1950812"/>
              <a:gd name="connsiteX21" fmla="*/ 1181746 w 1702864"/>
              <a:gd name="connsiteY21" fmla="*/ 1551885 h 1950812"/>
              <a:gd name="connsiteX22" fmla="*/ 1046280 w 1702864"/>
              <a:gd name="connsiteY22" fmla="*/ 1543419 h 1950812"/>
              <a:gd name="connsiteX23" fmla="*/ 970080 w 1702864"/>
              <a:gd name="connsiteY23" fmla="*/ 1738152 h 1950812"/>
              <a:gd name="connsiteX24" fmla="*/ 953146 w 1702864"/>
              <a:gd name="connsiteY24" fmla="*/ 1899019 h 1950812"/>
              <a:gd name="connsiteX25" fmla="*/ 665280 w 1702864"/>
              <a:gd name="connsiteY25" fmla="*/ 1937119 h 1950812"/>
              <a:gd name="connsiteX26" fmla="*/ 694913 w 1702864"/>
              <a:gd name="connsiteY26" fmla="*/ 1687352 h 1950812"/>
              <a:gd name="connsiteX27" fmla="*/ 661046 w 1702864"/>
              <a:gd name="connsiteY27" fmla="*/ 1496852 h 1950812"/>
              <a:gd name="connsiteX28" fmla="*/ 809213 w 1702864"/>
              <a:gd name="connsiteY28" fmla="*/ 1310585 h 1950812"/>
              <a:gd name="connsiteX29" fmla="*/ 1173280 w 1702864"/>
              <a:gd name="connsiteY29" fmla="*/ 1247085 h 1950812"/>
              <a:gd name="connsiteX30" fmla="*/ 1376480 w 1702864"/>
              <a:gd name="connsiteY30" fmla="*/ 1319052 h 1950812"/>
              <a:gd name="connsiteX31" fmla="*/ 1393413 w 1702864"/>
              <a:gd name="connsiteY31" fmla="*/ 1120085 h 1950812"/>
              <a:gd name="connsiteX32" fmla="*/ 1384946 w 1702864"/>
              <a:gd name="connsiteY32" fmla="*/ 853385 h 1950812"/>
              <a:gd name="connsiteX33" fmla="*/ 1342613 w 1702864"/>
              <a:gd name="connsiteY33" fmla="*/ 408885 h 1950812"/>
              <a:gd name="connsiteX34" fmla="*/ 1207146 w 1702864"/>
              <a:gd name="connsiteY34" fmla="*/ 303052 h 1950812"/>
              <a:gd name="connsiteX35" fmla="*/ 876946 w 1702864"/>
              <a:gd name="connsiteY35" fmla="*/ 311519 h 1950812"/>
              <a:gd name="connsiteX36" fmla="*/ 555213 w 1702864"/>
              <a:gd name="connsiteY36" fmla="*/ 358085 h 1950812"/>
              <a:gd name="connsiteX37" fmla="*/ 322380 w 1702864"/>
              <a:gd name="connsiteY37" fmla="*/ 383485 h 1950812"/>
              <a:gd name="connsiteX38" fmla="*/ 292746 w 1702864"/>
              <a:gd name="connsiteY38" fmla="*/ 620552 h 1950812"/>
              <a:gd name="connsiteX39" fmla="*/ 326613 w 1702864"/>
              <a:gd name="connsiteY39" fmla="*/ 840685 h 1950812"/>
              <a:gd name="connsiteX40" fmla="*/ 296980 w 1702864"/>
              <a:gd name="connsiteY40" fmla="*/ 1196285 h 1950812"/>
              <a:gd name="connsiteX41" fmla="*/ 436680 w 1702864"/>
              <a:gd name="connsiteY41" fmla="*/ 1285185 h 1950812"/>
              <a:gd name="connsiteX42" fmla="*/ 576380 w 1702864"/>
              <a:gd name="connsiteY42" fmla="*/ 1200519 h 1950812"/>
              <a:gd name="connsiteX43" fmla="*/ 576380 w 1702864"/>
              <a:gd name="connsiteY43" fmla="*/ 1467219 h 1950812"/>
              <a:gd name="connsiteX44" fmla="*/ 415513 w 1702864"/>
              <a:gd name="connsiteY44" fmla="*/ 1594219 h 1950812"/>
              <a:gd name="connsiteX45" fmla="*/ 119180 w 1702864"/>
              <a:gd name="connsiteY45" fmla="*/ 1488385 h 1950812"/>
              <a:gd name="connsiteX0" fmla="*/ 119180 w 1703171"/>
              <a:gd name="connsiteY0" fmla="*/ 1488385 h 1950812"/>
              <a:gd name="connsiteX1" fmla="*/ 38746 w 1703171"/>
              <a:gd name="connsiteY1" fmla="*/ 1335985 h 1950812"/>
              <a:gd name="connsiteX2" fmla="*/ 34513 w 1703171"/>
              <a:gd name="connsiteY2" fmla="*/ 1137019 h 1950812"/>
              <a:gd name="connsiteX3" fmla="*/ 4880 w 1703171"/>
              <a:gd name="connsiteY3" fmla="*/ 967685 h 1950812"/>
              <a:gd name="connsiteX4" fmla="*/ 47213 w 1703171"/>
              <a:gd name="connsiteY4" fmla="*/ 861852 h 1950812"/>
              <a:gd name="connsiteX5" fmla="*/ 646 w 1703171"/>
              <a:gd name="connsiteY5" fmla="*/ 599385 h 1950812"/>
              <a:gd name="connsiteX6" fmla="*/ 21813 w 1703171"/>
              <a:gd name="connsiteY6" fmla="*/ 434285 h 1950812"/>
              <a:gd name="connsiteX7" fmla="*/ 47213 w 1703171"/>
              <a:gd name="connsiteY7" fmla="*/ 163352 h 1950812"/>
              <a:gd name="connsiteX8" fmla="*/ 284279 w 1703171"/>
              <a:gd name="connsiteY8" fmla="*/ 82918 h 1950812"/>
              <a:gd name="connsiteX9" fmla="*/ 563679 w 1703171"/>
              <a:gd name="connsiteY9" fmla="*/ 44819 h 1950812"/>
              <a:gd name="connsiteX10" fmla="*/ 809213 w 1703171"/>
              <a:gd name="connsiteY10" fmla="*/ 49053 h 1950812"/>
              <a:gd name="connsiteX11" fmla="*/ 965846 w 1703171"/>
              <a:gd name="connsiteY11" fmla="*/ 36353 h 1950812"/>
              <a:gd name="connsiteX12" fmla="*/ 1097079 w 1703171"/>
              <a:gd name="connsiteY12" fmla="*/ 32119 h 1950812"/>
              <a:gd name="connsiteX13" fmla="*/ 1359546 w 1703171"/>
              <a:gd name="connsiteY13" fmla="*/ 27885 h 1950812"/>
              <a:gd name="connsiteX14" fmla="*/ 1575446 w 1703171"/>
              <a:gd name="connsiteY14" fmla="*/ 10952 h 1950812"/>
              <a:gd name="connsiteX15" fmla="*/ 1677046 w 1703171"/>
              <a:gd name="connsiteY15" fmla="*/ 214152 h 1950812"/>
              <a:gd name="connsiteX16" fmla="*/ 1622013 w 1703171"/>
              <a:gd name="connsiteY16" fmla="*/ 455451 h 1950812"/>
              <a:gd name="connsiteX17" fmla="*/ 1664346 w 1703171"/>
              <a:gd name="connsiteY17" fmla="*/ 713685 h 1950812"/>
              <a:gd name="connsiteX18" fmla="*/ 1672813 w 1703171"/>
              <a:gd name="connsiteY18" fmla="*/ 988851 h 1950812"/>
              <a:gd name="connsiteX19" fmla="*/ 1702446 w 1703171"/>
              <a:gd name="connsiteY19" fmla="*/ 1221685 h 1950812"/>
              <a:gd name="connsiteX20" fmla="*/ 1638946 w 1703171"/>
              <a:gd name="connsiteY20" fmla="*/ 1416419 h 1950812"/>
              <a:gd name="connsiteX21" fmla="*/ 1444213 w 1703171"/>
              <a:gd name="connsiteY21" fmla="*/ 1568819 h 1950812"/>
              <a:gd name="connsiteX22" fmla="*/ 1181746 w 1703171"/>
              <a:gd name="connsiteY22" fmla="*/ 1551885 h 1950812"/>
              <a:gd name="connsiteX23" fmla="*/ 1046280 w 1703171"/>
              <a:gd name="connsiteY23" fmla="*/ 1543419 h 1950812"/>
              <a:gd name="connsiteX24" fmla="*/ 970080 w 1703171"/>
              <a:gd name="connsiteY24" fmla="*/ 1738152 h 1950812"/>
              <a:gd name="connsiteX25" fmla="*/ 953146 w 1703171"/>
              <a:gd name="connsiteY25" fmla="*/ 1899019 h 1950812"/>
              <a:gd name="connsiteX26" fmla="*/ 665280 w 1703171"/>
              <a:gd name="connsiteY26" fmla="*/ 1937119 h 1950812"/>
              <a:gd name="connsiteX27" fmla="*/ 694913 w 1703171"/>
              <a:gd name="connsiteY27" fmla="*/ 1687352 h 1950812"/>
              <a:gd name="connsiteX28" fmla="*/ 661046 w 1703171"/>
              <a:gd name="connsiteY28" fmla="*/ 1496852 h 1950812"/>
              <a:gd name="connsiteX29" fmla="*/ 809213 w 1703171"/>
              <a:gd name="connsiteY29" fmla="*/ 1310585 h 1950812"/>
              <a:gd name="connsiteX30" fmla="*/ 1173280 w 1703171"/>
              <a:gd name="connsiteY30" fmla="*/ 1247085 h 1950812"/>
              <a:gd name="connsiteX31" fmla="*/ 1376480 w 1703171"/>
              <a:gd name="connsiteY31" fmla="*/ 1319052 h 1950812"/>
              <a:gd name="connsiteX32" fmla="*/ 1393413 w 1703171"/>
              <a:gd name="connsiteY32" fmla="*/ 1120085 h 1950812"/>
              <a:gd name="connsiteX33" fmla="*/ 1384946 w 1703171"/>
              <a:gd name="connsiteY33" fmla="*/ 853385 h 1950812"/>
              <a:gd name="connsiteX34" fmla="*/ 1342613 w 1703171"/>
              <a:gd name="connsiteY34" fmla="*/ 408885 h 1950812"/>
              <a:gd name="connsiteX35" fmla="*/ 1207146 w 1703171"/>
              <a:gd name="connsiteY35" fmla="*/ 303052 h 1950812"/>
              <a:gd name="connsiteX36" fmla="*/ 876946 w 1703171"/>
              <a:gd name="connsiteY36" fmla="*/ 311519 h 1950812"/>
              <a:gd name="connsiteX37" fmla="*/ 555213 w 1703171"/>
              <a:gd name="connsiteY37" fmla="*/ 358085 h 1950812"/>
              <a:gd name="connsiteX38" fmla="*/ 322380 w 1703171"/>
              <a:gd name="connsiteY38" fmla="*/ 383485 h 1950812"/>
              <a:gd name="connsiteX39" fmla="*/ 292746 w 1703171"/>
              <a:gd name="connsiteY39" fmla="*/ 620552 h 1950812"/>
              <a:gd name="connsiteX40" fmla="*/ 326613 w 1703171"/>
              <a:gd name="connsiteY40" fmla="*/ 840685 h 1950812"/>
              <a:gd name="connsiteX41" fmla="*/ 296980 w 1703171"/>
              <a:gd name="connsiteY41" fmla="*/ 1196285 h 1950812"/>
              <a:gd name="connsiteX42" fmla="*/ 436680 w 1703171"/>
              <a:gd name="connsiteY42" fmla="*/ 1285185 h 1950812"/>
              <a:gd name="connsiteX43" fmla="*/ 576380 w 1703171"/>
              <a:gd name="connsiteY43" fmla="*/ 1200519 h 1950812"/>
              <a:gd name="connsiteX44" fmla="*/ 576380 w 1703171"/>
              <a:gd name="connsiteY44" fmla="*/ 1467219 h 1950812"/>
              <a:gd name="connsiteX45" fmla="*/ 415513 w 1703171"/>
              <a:gd name="connsiteY45" fmla="*/ 1594219 h 1950812"/>
              <a:gd name="connsiteX46" fmla="*/ 119180 w 1703171"/>
              <a:gd name="connsiteY46" fmla="*/ 1488385 h 1950812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17616"/>
              <a:gd name="connsiteX1" fmla="*/ 38746 w 1703171"/>
              <a:gd name="connsiteY1" fmla="*/ 1335985 h 1917616"/>
              <a:gd name="connsiteX2" fmla="*/ 34513 w 1703171"/>
              <a:gd name="connsiteY2" fmla="*/ 1137019 h 1917616"/>
              <a:gd name="connsiteX3" fmla="*/ 4880 w 1703171"/>
              <a:gd name="connsiteY3" fmla="*/ 967685 h 1917616"/>
              <a:gd name="connsiteX4" fmla="*/ 47213 w 1703171"/>
              <a:gd name="connsiteY4" fmla="*/ 861852 h 1917616"/>
              <a:gd name="connsiteX5" fmla="*/ 646 w 1703171"/>
              <a:gd name="connsiteY5" fmla="*/ 599385 h 1917616"/>
              <a:gd name="connsiteX6" fmla="*/ 21813 w 1703171"/>
              <a:gd name="connsiteY6" fmla="*/ 434285 h 1917616"/>
              <a:gd name="connsiteX7" fmla="*/ 47213 w 1703171"/>
              <a:gd name="connsiteY7" fmla="*/ 163352 h 1917616"/>
              <a:gd name="connsiteX8" fmla="*/ 284279 w 1703171"/>
              <a:gd name="connsiteY8" fmla="*/ 82918 h 1917616"/>
              <a:gd name="connsiteX9" fmla="*/ 563679 w 1703171"/>
              <a:gd name="connsiteY9" fmla="*/ 44819 h 1917616"/>
              <a:gd name="connsiteX10" fmla="*/ 809213 w 1703171"/>
              <a:gd name="connsiteY10" fmla="*/ 49053 h 1917616"/>
              <a:gd name="connsiteX11" fmla="*/ 965846 w 1703171"/>
              <a:gd name="connsiteY11" fmla="*/ 36353 h 1917616"/>
              <a:gd name="connsiteX12" fmla="*/ 1097079 w 1703171"/>
              <a:gd name="connsiteY12" fmla="*/ 32119 h 1917616"/>
              <a:gd name="connsiteX13" fmla="*/ 1359546 w 1703171"/>
              <a:gd name="connsiteY13" fmla="*/ 27885 h 1917616"/>
              <a:gd name="connsiteX14" fmla="*/ 1575446 w 1703171"/>
              <a:gd name="connsiteY14" fmla="*/ 10952 h 1917616"/>
              <a:gd name="connsiteX15" fmla="*/ 1677046 w 1703171"/>
              <a:gd name="connsiteY15" fmla="*/ 214152 h 1917616"/>
              <a:gd name="connsiteX16" fmla="*/ 1622013 w 1703171"/>
              <a:gd name="connsiteY16" fmla="*/ 455451 h 1917616"/>
              <a:gd name="connsiteX17" fmla="*/ 1664346 w 1703171"/>
              <a:gd name="connsiteY17" fmla="*/ 713685 h 1917616"/>
              <a:gd name="connsiteX18" fmla="*/ 1672813 w 1703171"/>
              <a:gd name="connsiteY18" fmla="*/ 988851 h 1917616"/>
              <a:gd name="connsiteX19" fmla="*/ 1702446 w 1703171"/>
              <a:gd name="connsiteY19" fmla="*/ 1221685 h 1917616"/>
              <a:gd name="connsiteX20" fmla="*/ 1638946 w 1703171"/>
              <a:gd name="connsiteY20" fmla="*/ 1416419 h 1917616"/>
              <a:gd name="connsiteX21" fmla="*/ 1444213 w 1703171"/>
              <a:gd name="connsiteY21" fmla="*/ 1568819 h 1917616"/>
              <a:gd name="connsiteX22" fmla="*/ 1181746 w 1703171"/>
              <a:gd name="connsiteY22" fmla="*/ 1551885 h 1917616"/>
              <a:gd name="connsiteX23" fmla="*/ 1046280 w 1703171"/>
              <a:gd name="connsiteY23" fmla="*/ 1543419 h 1917616"/>
              <a:gd name="connsiteX24" fmla="*/ 970080 w 1703171"/>
              <a:gd name="connsiteY24" fmla="*/ 1738152 h 1917616"/>
              <a:gd name="connsiteX25" fmla="*/ 953146 w 1703171"/>
              <a:gd name="connsiteY25" fmla="*/ 1899019 h 1917616"/>
              <a:gd name="connsiteX26" fmla="*/ 703380 w 1703171"/>
              <a:gd name="connsiteY26" fmla="*/ 1890552 h 1917616"/>
              <a:gd name="connsiteX27" fmla="*/ 694913 w 1703171"/>
              <a:gd name="connsiteY27" fmla="*/ 1687352 h 1917616"/>
              <a:gd name="connsiteX28" fmla="*/ 661046 w 1703171"/>
              <a:gd name="connsiteY28" fmla="*/ 1496852 h 1917616"/>
              <a:gd name="connsiteX29" fmla="*/ 809213 w 1703171"/>
              <a:gd name="connsiteY29" fmla="*/ 1310585 h 1917616"/>
              <a:gd name="connsiteX30" fmla="*/ 1173280 w 1703171"/>
              <a:gd name="connsiteY30" fmla="*/ 1247085 h 1917616"/>
              <a:gd name="connsiteX31" fmla="*/ 1376480 w 1703171"/>
              <a:gd name="connsiteY31" fmla="*/ 1319052 h 1917616"/>
              <a:gd name="connsiteX32" fmla="*/ 1393413 w 1703171"/>
              <a:gd name="connsiteY32" fmla="*/ 1120085 h 1917616"/>
              <a:gd name="connsiteX33" fmla="*/ 1384946 w 1703171"/>
              <a:gd name="connsiteY33" fmla="*/ 853385 h 1917616"/>
              <a:gd name="connsiteX34" fmla="*/ 1342613 w 1703171"/>
              <a:gd name="connsiteY34" fmla="*/ 408885 h 1917616"/>
              <a:gd name="connsiteX35" fmla="*/ 1207146 w 1703171"/>
              <a:gd name="connsiteY35" fmla="*/ 303052 h 1917616"/>
              <a:gd name="connsiteX36" fmla="*/ 876946 w 1703171"/>
              <a:gd name="connsiteY36" fmla="*/ 311519 h 1917616"/>
              <a:gd name="connsiteX37" fmla="*/ 555213 w 1703171"/>
              <a:gd name="connsiteY37" fmla="*/ 358085 h 1917616"/>
              <a:gd name="connsiteX38" fmla="*/ 322380 w 1703171"/>
              <a:gd name="connsiteY38" fmla="*/ 383485 h 1917616"/>
              <a:gd name="connsiteX39" fmla="*/ 292746 w 1703171"/>
              <a:gd name="connsiteY39" fmla="*/ 620552 h 1917616"/>
              <a:gd name="connsiteX40" fmla="*/ 326613 w 1703171"/>
              <a:gd name="connsiteY40" fmla="*/ 840685 h 1917616"/>
              <a:gd name="connsiteX41" fmla="*/ 296980 w 1703171"/>
              <a:gd name="connsiteY41" fmla="*/ 1196285 h 1917616"/>
              <a:gd name="connsiteX42" fmla="*/ 436680 w 1703171"/>
              <a:gd name="connsiteY42" fmla="*/ 1285185 h 1917616"/>
              <a:gd name="connsiteX43" fmla="*/ 576380 w 1703171"/>
              <a:gd name="connsiteY43" fmla="*/ 1200519 h 1917616"/>
              <a:gd name="connsiteX44" fmla="*/ 576380 w 1703171"/>
              <a:gd name="connsiteY44" fmla="*/ 1467219 h 1917616"/>
              <a:gd name="connsiteX45" fmla="*/ 415513 w 1703171"/>
              <a:gd name="connsiteY45" fmla="*/ 1594219 h 1917616"/>
              <a:gd name="connsiteX46" fmla="*/ 119180 w 1703171"/>
              <a:gd name="connsiteY46" fmla="*/ 1488385 h 1917616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61046 w 1703171"/>
              <a:gd name="connsiteY28" fmla="*/ 1496852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6949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09213 w 1703171"/>
              <a:gd name="connsiteY29" fmla="*/ 1310585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173280 w 1703171"/>
              <a:gd name="connsiteY30" fmla="*/ 1247085 h 1933632"/>
              <a:gd name="connsiteX31" fmla="*/ 1376480 w 1703171"/>
              <a:gd name="connsiteY31" fmla="*/ 1319052 h 1933632"/>
              <a:gd name="connsiteX32" fmla="*/ 1393413 w 1703171"/>
              <a:gd name="connsiteY32" fmla="*/ 1120085 h 1933632"/>
              <a:gd name="connsiteX33" fmla="*/ 1384946 w 1703171"/>
              <a:gd name="connsiteY33" fmla="*/ 853385 h 1933632"/>
              <a:gd name="connsiteX34" fmla="*/ 1342613 w 1703171"/>
              <a:gd name="connsiteY34" fmla="*/ 408885 h 1933632"/>
              <a:gd name="connsiteX35" fmla="*/ 1207146 w 1703171"/>
              <a:gd name="connsiteY35" fmla="*/ 303052 h 1933632"/>
              <a:gd name="connsiteX36" fmla="*/ 876946 w 1703171"/>
              <a:gd name="connsiteY36" fmla="*/ 311519 h 1933632"/>
              <a:gd name="connsiteX37" fmla="*/ 555213 w 1703171"/>
              <a:gd name="connsiteY37" fmla="*/ 358085 h 1933632"/>
              <a:gd name="connsiteX38" fmla="*/ 322380 w 1703171"/>
              <a:gd name="connsiteY38" fmla="*/ 383485 h 1933632"/>
              <a:gd name="connsiteX39" fmla="*/ 292746 w 1703171"/>
              <a:gd name="connsiteY39" fmla="*/ 620552 h 1933632"/>
              <a:gd name="connsiteX40" fmla="*/ 326613 w 1703171"/>
              <a:gd name="connsiteY40" fmla="*/ 840685 h 1933632"/>
              <a:gd name="connsiteX41" fmla="*/ 296980 w 1703171"/>
              <a:gd name="connsiteY41" fmla="*/ 1196285 h 1933632"/>
              <a:gd name="connsiteX42" fmla="*/ 436680 w 1703171"/>
              <a:gd name="connsiteY42" fmla="*/ 1285185 h 1933632"/>
              <a:gd name="connsiteX43" fmla="*/ 576380 w 1703171"/>
              <a:gd name="connsiteY43" fmla="*/ 1200519 h 1933632"/>
              <a:gd name="connsiteX44" fmla="*/ 576380 w 1703171"/>
              <a:gd name="connsiteY44" fmla="*/ 1467219 h 1933632"/>
              <a:gd name="connsiteX45" fmla="*/ 415513 w 1703171"/>
              <a:gd name="connsiteY45" fmla="*/ 1594219 h 1933632"/>
              <a:gd name="connsiteX46" fmla="*/ 119180 w 1703171"/>
              <a:gd name="connsiteY46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393413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84946 w 1703171"/>
              <a:gd name="connsiteY34" fmla="*/ 8533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42613 w 1703171"/>
              <a:gd name="connsiteY35" fmla="*/ 408885 h 1933632"/>
              <a:gd name="connsiteX36" fmla="*/ 1207146 w 1703171"/>
              <a:gd name="connsiteY36" fmla="*/ 303052 h 1933632"/>
              <a:gd name="connsiteX37" fmla="*/ 876946 w 1703171"/>
              <a:gd name="connsiteY37" fmla="*/ 311519 h 1933632"/>
              <a:gd name="connsiteX38" fmla="*/ 555213 w 1703171"/>
              <a:gd name="connsiteY38" fmla="*/ 358085 h 1933632"/>
              <a:gd name="connsiteX39" fmla="*/ 322380 w 1703171"/>
              <a:gd name="connsiteY39" fmla="*/ 383485 h 1933632"/>
              <a:gd name="connsiteX40" fmla="*/ 292746 w 1703171"/>
              <a:gd name="connsiteY40" fmla="*/ 620552 h 1933632"/>
              <a:gd name="connsiteX41" fmla="*/ 326613 w 1703171"/>
              <a:gd name="connsiteY41" fmla="*/ 840685 h 1933632"/>
              <a:gd name="connsiteX42" fmla="*/ 296980 w 1703171"/>
              <a:gd name="connsiteY42" fmla="*/ 1196285 h 1933632"/>
              <a:gd name="connsiteX43" fmla="*/ 436680 w 1703171"/>
              <a:gd name="connsiteY43" fmla="*/ 1285185 h 1933632"/>
              <a:gd name="connsiteX44" fmla="*/ 576380 w 1703171"/>
              <a:gd name="connsiteY44" fmla="*/ 1200519 h 1933632"/>
              <a:gd name="connsiteX45" fmla="*/ 576380 w 1703171"/>
              <a:gd name="connsiteY45" fmla="*/ 1467219 h 1933632"/>
              <a:gd name="connsiteX46" fmla="*/ 415513 w 1703171"/>
              <a:gd name="connsiteY46" fmla="*/ 1594219 h 1933632"/>
              <a:gd name="connsiteX47" fmla="*/ 119180 w 1703171"/>
              <a:gd name="connsiteY47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47085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322380 w 1703171"/>
              <a:gd name="connsiteY40" fmla="*/ 383485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180 w 1703171"/>
              <a:gd name="connsiteY0" fmla="*/ 1488385 h 1933632"/>
              <a:gd name="connsiteX1" fmla="*/ 38746 w 1703171"/>
              <a:gd name="connsiteY1" fmla="*/ 1335985 h 1933632"/>
              <a:gd name="connsiteX2" fmla="*/ 34513 w 1703171"/>
              <a:gd name="connsiteY2" fmla="*/ 1137019 h 1933632"/>
              <a:gd name="connsiteX3" fmla="*/ 4880 w 1703171"/>
              <a:gd name="connsiteY3" fmla="*/ 967685 h 1933632"/>
              <a:gd name="connsiteX4" fmla="*/ 47213 w 1703171"/>
              <a:gd name="connsiteY4" fmla="*/ 861852 h 1933632"/>
              <a:gd name="connsiteX5" fmla="*/ 646 w 1703171"/>
              <a:gd name="connsiteY5" fmla="*/ 599385 h 1933632"/>
              <a:gd name="connsiteX6" fmla="*/ 21813 w 1703171"/>
              <a:gd name="connsiteY6" fmla="*/ 434285 h 1933632"/>
              <a:gd name="connsiteX7" fmla="*/ 47213 w 1703171"/>
              <a:gd name="connsiteY7" fmla="*/ 163352 h 1933632"/>
              <a:gd name="connsiteX8" fmla="*/ 284279 w 1703171"/>
              <a:gd name="connsiteY8" fmla="*/ 82918 h 1933632"/>
              <a:gd name="connsiteX9" fmla="*/ 563679 w 1703171"/>
              <a:gd name="connsiteY9" fmla="*/ 44819 h 1933632"/>
              <a:gd name="connsiteX10" fmla="*/ 809213 w 1703171"/>
              <a:gd name="connsiteY10" fmla="*/ 49053 h 1933632"/>
              <a:gd name="connsiteX11" fmla="*/ 965846 w 1703171"/>
              <a:gd name="connsiteY11" fmla="*/ 36353 h 1933632"/>
              <a:gd name="connsiteX12" fmla="*/ 1097079 w 1703171"/>
              <a:gd name="connsiteY12" fmla="*/ 32119 h 1933632"/>
              <a:gd name="connsiteX13" fmla="*/ 1359546 w 1703171"/>
              <a:gd name="connsiteY13" fmla="*/ 27885 h 1933632"/>
              <a:gd name="connsiteX14" fmla="*/ 1575446 w 1703171"/>
              <a:gd name="connsiteY14" fmla="*/ 10952 h 1933632"/>
              <a:gd name="connsiteX15" fmla="*/ 1677046 w 1703171"/>
              <a:gd name="connsiteY15" fmla="*/ 214152 h 1933632"/>
              <a:gd name="connsiteX16" fmla="*/ 1622013 w 1703171"/>
              <a:gd name="connsiteY16" fmla="*/ 455451 h 1933632"/>
              <a:gd name="connsiteX17" fmla="*/ 1664346 w 1703171"/>
              <a:gd name="connsiteY17" fmla="*/ 713685 h 1933632"/>
              <a:gd name="connsiteX18" fmla="*/ 1672813 w 1703171"/>
              <a:gd name="connsiteY18" fmla="*/ 988851 h 1933632"/>
              <a:gd name="connsiteX19" fmla="*/ 1702446 w 1703171"/>
              <a:gd name="connsiteY19" fmla="*/ 1221685 h 1933632"/>
              <a:gd name="connsiteX20" fmla="*/ 1638946 w 1703171"/>
              <a:gd name="connsiteY20" fmla="*/ 1416419 h 1933632"/>
              <a:gd name="connsiteX21" fmla="*/ 1444213 w 1703171"/>
              <a:gd name="connsiteY21" fmla="*/ 1568819 h 1933632"/>
              <a:gd name="connsiteX22" fmla="*/ 1181746 w 1703171"/>
              <a:gd name="connsiteY22" fmla="*/ 1551885 h 1933632"/>
              <a:gd name="connsiteX23" fmla="*/ 1046280 w 1703171"/>
              <a:gd name="connsiteY23" fmla="*/ 1543419 h 1933632"/>
              <a:gd name="connsiteX24" fmla="*/ 970080 w 1703171"/>
              <a:gd name="connsiteY24" fmla="*/ 1738152 h 1933632"/>
              <a:gd name="connsiteX25" fmla="*/ 953146 w 1703171"/>
              <a:gd name="connsiteY25" fmla="*/ 1899019 h 1933632"/>
              <a:gd name="connsiteX26" fmla="*/ 703380 w 1703171"/>
              <a:gd name="connsiteY26" fmla="*/ 1890552 h 1933632"/>
              <a:gd name="connsiteX27" fmla="*/ 720313 w 1703171"/>
              <a:gd name="connsiteY27" fmla="*/ 1687352 h 1933632"/>
              <a:gd name="connsiteX28" fmla="*/ 682213 w 1703171"/>
              <a:gd name="connsiteY28" fmla="*/ 1492618 h 1933632"/>
              <a:gd name="connsiteX29" fmla="*/ 813446 w 1703171"/>
              <a:gd name="connsiteY29" fmla="*/ 1314818 h 1933632"/>
              <a:gd name="connsiteX30" fmla="*/ 1008180 w 1703171"/>
              <a:gd name="connsiteY30" fmla="*/ 1306351 h 1933632"/>
              <a:gd name="connsiteX31" fmla="*/ 1173280 w 1703171"/>
              <a:gd name="connsiteY31" fmla="*/ 1255552 h 1933632"/>
              <a:gd name="connsiteX32" fmla="*/ 1376480 w 1703171"/>
              <a:gd name="connsiteY32" fmla="*/ 1319052 h 1933632"/>
              <a:gd name="connsiteX33" fmla="*/ 1423046 w 1703171"/>
              <a:gd name="connsiteY33" fmla="*/ 1120085 h 1933632"/>
              <a:gd name="connsiteX34" fmla="*/ 1372246 w 1703171"/>
              <a:gd name="connsiteY34" fmla="*/ 840685 h 1933632"/>
              <a:gd name="connsiteX35" fmla="*/ 1384946 w 1703171"/>
              <a:gd name="connsiteY35" fmla="*/ 595151 h 1933632"/>
              <a:gd name="connsiteX36" fmla="*/ 1342613 w 1703171"/>
              <a:gd name="connsiteY36" fmla="*/ 408885 h 1933632"/>
              <a:gd name="connsiteX37" fmla="*/ 1207146 w 1703171"/>
              <a:gd name="connsiteY37" fmla="*/ 303052 h 1933632"/>
              <a:gd name="connsiteX38" fmla="*/ 876946 w 1703171"/>
              <a:gd name="connsiteY38" fmla="*/ 311519 h 1933632"/>
              <a:gd name="connsiteX39" fmla="*/ 555213 w 1703171"/>
              <a:gd name="connsiteY39" fmla="*/ 358085 h 1933632"/>
              <a:gd name="connsiteX40" fmla="*/ 292746 w 1703171"/>
              <a:gd name="connsiteY40" fmla="*/ 400419 h 1933632"/>
              <a:gd name="connsiteX41" fmla="*/ 292746 w 1703171"/>
              <a:gd name="connsiteY41" fmla="*/ 620552 h 1933632"/>
              <a:gd name="connsiteX42" fmla="*/ 326613 w 1703171"/>
              <a:gd name="connsiteY42" fmla="*/ 840685 h 1933632"/>
              <a:gd name="connsiteX43" fmla="*/ 296980 w 1703171"/>
              <a:gd name="connsiteY43" fmla="*/ 1196285 h 1933632"/>
              <a:gd name="connsiteX44" fmla="*/ 436680 w 1703171"/>
              <a:gd name="connsiteY44" fmla="*/ 1285185 h 1933632"/>
              <a:gd name="connsiteX45" fmla="*/ 576380 w 1703171"/>
              <a:gd name="connsiteY45" fmla="*/ 1200519 h 1933632"/>
              <a:gd name="connsiteX46" fmla="*/ 576380 w 1703171"/>
              <a:gd name="connsiteY46" fmla="*/ 1467219 h 1933632"/>
              <a:gd name="connsiteX47" fmla="*/ 415513 w 1703171"/>
              <a:gd name="connsiteY47" fmla="*/ 1594219 h 1933632"/>
              <a:gd name="connsiteX48" fmla="*/ 119180 w 1703171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58085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3115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207268 w 1703293"/>
              <a:gd name="connsiteY37" fmla="*/ 303052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42735 w 1703293"/>
              <a:gd name="connsiteY36" fmla="*/ 4088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5002 w 1703293"/>
              <a:gd name="connsiteY3" fmla="*/ 967685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02 w 1703293"/>
              <a:gd name="connsiteY0" fmla="*/ 1488385 h 1933632"/>
              <a:gd name="connsiteX1" fmla="*/ 38868 w 1703293"/>
              <a:gd name="connsiteY1" fmla="*/ 1335985 h 1933632"/>
              <a:gd name="connsiteX2" fmla="*/ 34635 w 1703293"/>
              <a:gd name="connsiteY2" fmla="*/ 1137019 h 1933632"/>
              <a:gd name="connsiteX3" fmla="*/ 769 w 1703293"/>
              <a:gd name="connsiteY3" fmla="*/ 1014252 h 1933632"/>
              <a:gd name="connsiteX4" fmla="*/ 47335 w 1703293"/>
              <a:gd name="connsiteY4" fmla="*/ 861852 h 1933632"/>
              <a:gd name="connsiteX5" fmla="*/ 768 w 1703293"/>
              <a:gd name="connsiteY5" fmla="*/ 599385 h 1933632"/>
              <a:gd name="connsiteX6" fmla="*/ 21935 w 1703293"/>
              <a:gd name="connsiteY6" fmla="*/ 434285 h 1933632"/>
              <a:gd name="connsiteX7" fmla="*/ 68502 w 1703293"/>
              <a:gd name="connsiteY7" fmla="*/ 192985 h 1933632"/>
              <a:gd name="connsiteX8" fmla="*/ 284401 w 1703293"/>
              <a:gd name="connsiteY8" fmla="*/ 82918 h 1933632"/>
              <a:gd name="connsiteX9" fmla="*/ 563801 w 1703293"/>
              <a:gd name="connsiteY9" fmla="*/ 44819 h 1933632"/>
              <a:gd name="connsiteX10" fmla="*/ 809335 w 1703293"/>
              <a:gd name="connsiteY10" fmla="*/ 49053 h 1933632"/>
              <a:gd name="connsiteX11" fmla="*/ 965968 w 1703293"/>
              <a:gd name="connsiteY11" fmla="*/ 36353 h 1933632"/>
              <a:gd name="connsiteX12" fmla="*/ 1097201 w 1703293"/>
              <a:gd name="connsiteY12" fmla="*/ 32119 h 1933632"/>
              <a:gd name="connsiteX13" fmla="*/ 1359668 w 1703293"/>
              <a:gd name="connsiteY13" fmla="*/ 27885 h 1933632"/>
              <a:gd name="connsiteX14" fmla="*/ 1575568 w 1703293"/>
              <a:gd name="connsiteY14" fmla="*/ 10952 h 1933632"/>
              <a:gd name="connsiteX15" fmla="*/ 1677168 w 1703293"/>
              <a:gd name="connsiteY15" fmla="*/ 214152 h 1933632"/>
              <a:gd name="connsiteX16" fmla="*/ 1622135 w 1703293"/>
              <a:gd name="connsiteY16" fmla="*/ 455451 h 1933632"/>
              <a:gd name="connsiteX17" fmla="*/ 1664468 w 1703293"/>
              <a:gd name="connsiteY17" fmla="*/ 713685 h 1933632"/>
              <a:gd name="connsiteX18" fmla="*/ 1672935 w 1703293"/>
              <a:gd name="connsiteY18" fmla="*/ 988851 h 1933632"/>
              <a:gd name="connsiteX19" fmla="*/ 1702568 w 1703293"/>
              <a:gd name="connsiteY19" fmla="*/ 1221685 h 1933632"/>
              <a:gd name="connsiteX20" fmla="*/ 1639068 w 1703293"/>
              <a:gd name="connsiteY20" fmla="*/ 1416419 h 1933632"/>
              <a:gd name="connsiteX21" fmla="*/ 1444335 w 1703293"/>
              <a:gd name="connsiteY21" fmla="*/ 1568819 h 1933632"/>
              <a:gd name="connsiteX22" fmla="*/ 1181868 w 1703293"/>
              <a:gd name="connsiteY22" fmla="*/ 1551885 h 1933632"/>
              <a:gd name="connsiteX23" fmla="*/ 1046402 w 1703293"/>
              <a:gd name="connsiteY23" fmla="*/ 1543419 h 1933632"/>
              <a:gd name="connsiteX24" fmla="*/ 970202 w 1703293"/>
              <a:gd name="connsiteY24" fmla="*/ 1738152 h 1933632"/>
              <a:gd name="connsiteX25" fmla="*/ 953268 w 1703293"/>
              <a:gd name="connsiteY25" fmla="*/ 1899019 h 1933632"/>
              <a:gd name="connsiteX26" fmla="*/ 703502 w 1703293"/>
              <a:gd name="connsiteY26" fmla="*/ 1890552 h 1933632"/>
              <a:gd name="connsiteX27" fmla="*/ 720435 w 1703293"/>
              <a:gd name="connsiteY27" fmla="*/ 1687352 h 1933632"/>
              <a:gd name="connsiteX28" fmla="*/ 682335 w 1703293"/>
              <a:gd name="connsiteY28" fmla="*/ 1492618 h 1933632"/>
              <a:gd name="connsiteX29" fmla="*/ 813568 w 1703293"/>
              <a:gd name="connsiteY29" fmla="*/ 1314818 h 1933632"/>
              <a:gd name="connsiteX30" fmla="*/ 1008302 w 1703293"/>
              <a:gd name="connsiteY30" fmla="*/ 1306351 h 1933632"/>
              <a:gd name="connsiteX31" fmla="*/ 1173402 w 1703293"/>
              <a:gd name="connsiteY31" fmla="*/ 1255552 h 1933632"/>
              <a:gd name="connsiteX32" fmla="*/ 1376602 w 1703293"/>
              <a:gd name="connsiteY32" fmla="*/ 1319052 h 1933632"/>
              <a:gd name="connsiteX33" fmla="*/ 1423168 w 1703293"/>
              <a:gd name="connsiteY33" fmla="*/ 1120085 h 1933632"/>
              <a:gd name="connsiteX34" fmla="*/ 1372368 w 1703293"/>
              <a:gd name="connsiteY34" fmla="*/ 840685 h 1933632"/>
              <a:gd name="connsiteX35" fmla="*/ 1385068 w 1703293"/>
              <a:gd name="connsiteY35" fmla="*/ 595151 h 1933632"/>
              <a:gd name="connsiteX36" fmla="*/ 1355435 w 1703293"/>
              <a:gd name="connsiteY36" fmla="*/ 332685 h 1933632"/>
              <a:gd name="connsiteX37" fmla="*/ 1190335 w 1703293"/>
              <a:gd name="connsiteY37" fmla="*/ 319986 h 1933632"/>
              <a:gd name="connsiteX38" fmla="*/ 877068 w 1703293"/>
              <a:gd name="connsiteY38" fmla="*/ 286119 h 1933632"/>
              <a:gd name="connsiteX39" fmla="*/ 555335 w 1703293"/>
              <a:gd name="connsiteY39" fmla="*/ 362318 h 1933632"/>
              <a:gd name="connsiteX40" fmla="*/ 292868 w 1703293"/>
              <a:gd name="connsiteY40" fmla="*/ 400419 h 1933632"/>
              <a:gd name="connsiteX41" fmla="*/ 292868 w 1703293"/>
              <a:gd name="connsiteY41" fmla="*/ 620552 h 1933632"/>
              <a:gd name="connsiteX42" fmla="*/ 326735 w 1703293"/>
              <a:gd name="connsiteY42" fmla="*/ 840685 h 1933632"/>
              <a:gd name="connsiteX43" fmla="*/ 297102 w 1703293"/>
              <a:gd name="connsiteY43" fmla="*/ 1196285 h 1933632"/>
              <a:gd name="connsiteX44" fmla="*/ 436802 w 1703293"/>
              <a:gd name="connsiteY44" fmla="*/ 1285185 h 1933632"/>
              <a:gd name="connsiteX45" fmla="*/ 576502 w 1703293"/>
              <a:gd name="connsiteY45" fmla="*/ 1200519 h 1933632"/>
              <a:gd name="connsiteX46" fmla="*/ 576502 w 1703293"/>
              <a:gd name="connsiteY46" fmla="*/ 1467219 h 1933632"/>
              <a:gd name="connsiteX47" fmla="*/ 415635 w 1703293"/>
              <a:gd name="connsiteY47" fmla="*/ 1594219 h 1933632"/>
              <a:gd name="connsiteX48" fmla="*/ 119302 w 1703293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76596 w 1703387"/>
              <a:gd name="connsiteY45" fmla="*/ 1200519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19396 w 1703387"/>
              <a:gd name="connsiteY0" fmla="*/ 1488385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19396 w 1703387"/>
              <a:gd name="connsiteY48" fmla="*/ 1488385 h 1933632"/>
              <a:gd name="connsiteX0" fmla="*/ 165963 w 1703387"/>
              <a:gd name="connsiteY0" fmla="*/ 1484152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165963 w 1703387"/>
              <a:gd name="connsiteY48" fmla="*/ 1484152 h 1933632"/>
              <a:gd name="connsiteX0" fmla="*/ 204063 w 1703387"/>
              <a:gd name="connsiteY0" fmla="*/ 1475686 h 1933632"/>
              <a:gd name="connsiteX1" fmla="*/ 38962 w 1703387"/>
              <a:gd name="connsiteY1" fmla="*/ 1335985 h 1933632"/>
              <a:gd name="connsiteX2" fmla="*/ 34729 w 1703387"/>
              <a:gd name="connsiteY2" fmla="*/ 1137019 h 1933632"/>
              <a:gd name="connsiteX3" fmla="*/ 863 w 1703387"/>
              <a:gd name="connsiteY3" fmla="*/ 1014252 h 1933632"/>
              <a:gd name="connsiteX4" fmla="*/ 9329 w 1703387"/>
              <a:gd name="connsiteY4" fmla="*/ 777185 h 1933632"/>
              <a:gd name="connsiteX5" fmla="*/ 862 w 1703387"/>
              <a:gd name="connsiteY5" fmla="*/ 599385 h 1933632"/>
              <a:gd name="connsiteX6" fmla="*/ 22029 w 1703387"/>
              <a:gd name="connsiteY6" fmla="*/ 434285 h 1933632"/>
              <a:gd name="connsiteX7" fmla="*/ 68596 w 1703387"/>
              <a:gd name="connsiteY7" fmla="*/ 192985 h 1933632"/>
              <a:gd name="connsiteX8" fmla="*/ 284495 w 1703387"/>
              <a:gd name="connsiteY8" fmla="*/ 82918 h 1933632"/>
              <a:gd name="connsiteX9" fmla="*/ 563895 w 1703387"/>
              <a:gd name="connsiteY9" fmla="*/ 44819 h 1933632"/>
              <a:gd name="connsiteX10" fmla="*/ 809429 w 1703387"/>
              <a:gd name="connsiteY10" fmla="*/ 49053 h 1933632"/>
              <a:gd name="connsiteX11" fmla="*/ 966062 w 1703387"/>
              <a:gd name="connsiteY11" fmla="*/ 36353 h 1933632"/>
              <a:gd name="connsiteX12" fmla="*/ 1097295 w 1703387"/>
              <a:gd name="connsiteY12" fmla="*/ 32119 h 1933632"/>
              <a:gd name="connsiteX13" fmla="*/ 1359762 w 1703387"/>
              <a:gd name="connsiteY13" fmla="*/ 27885 h 1933632"/>
              <a:gd name="connsiteX14" fmla="*/ 1575662 w 1703387"/>
              <a:gd name="connsiteY14" fmla="*/ 10952 h 1933632"/>
              <a:gd name="connsiteX15" fmla="*/ 1677262 w 1703387"/>
              <a:gd name="connsiteY15" fmla="*/ 214152 h 1933632"/>
              <a:gd name="connsiteX16" fmla="*/ 1622229 w 1703387"/>
              <a:gd name="connsiteY16" fmla="*/ 455451 h 1933632"/>
              <a:gd name="connsiteX17" fmla="*/ 1664562 w 1703387"/>
              <a:gd name="connsiteY17" fmla="*/ 713685 h 1933632"/>
              <a:gd name="connsiteX18" fmla="*/ 1673029 w 1703387"/>
              <a:gd name="connsiteY18" fmla="*/ 988851 h 1933632"/>
              <a:gd name="connsiteX19" fmla="*/ 1702662 w 1703387"/>
              <a:gd name="connsiteY19" fmla="*/ 1221685 h 1933632"/>
              <a:gd name="connsiteX20" fmla="*/ 1639162 w 1703387"/>
              <a:gd name="connsiteY20" fmla="*/ 1416419 h 1933632"/>
              <a:gd name="connsiteX21" fmla="*/ 1444429 w 1703387"/>
              <a:gd name="connsiteY21" fmla="*/ 1568819 h 1933632"/>
              <a:gd name="connsiteX22" fmla="*/ 1181962 w 1703387"/>
              <a:gd name="connsiteY22" fmla="*/ 1551885 h 1933632"/>
              <a:gd name="connsiteX23" fmla="*/ 1046496 w 1703387"/>
              <a:gd name="connsiteY23" fmla="*/ 1543419 h 1933632"/>
              <a:gd name="connsiteX24" fmla="*/ 970296 w 1703387"/>
              <a:gd name="connsiteY24" fmla="*/ 1738152 h 1933632"/>
              <a:gd name="connsiteX25" fmla="*/ 953362 w 1703387"/>
              <a:gd name="connsiteY25" fmla="*/ 1899019 h 1933632"/>
              <a:gd name="connsiteX26" fmla="*/ 703596 w 1703387"/>
              <a:gd name="connsiteY26" fmla="*/ 1890552 h 1933632"/>
              <a:gd name="connsiteX27" fmla="*/ 720529 w 1703387"/>
              <a:gd name="connsiteY27" fmla="*/ 1687352 h 1933632"/>
              <a:gd name="connsiteX28" fmla="*/ 682429 w 1703387"/>
              <a:gd name="connsiteY28" fmla="*/ 1492618 h 1933632"/>
              <a:gd name="connsiteX29" fmla="*/ 813662 w 1703387"/>
              <a:gd name="connsiteY29" fmla="*/ 1314818 h 1933632"/>
              <a:gd name="connsiteX30" fmla="*/ 1008396 w 1703387"/>
              <a:gd name="connsiteY30" fmla="*/ 1306351 h 1933632"/>
              <a:gd name="connsiteX31" fmla="*/ 1173496 w 1703387"/>
              <a:gd name="connsiteY31" fmla="*/ 1255552 h 1933632"/>
              <a:gd name="connsiteX32" fmla="*/ 1376696 w 1703387"/>
              <a:gd name="connsiteY32" fmla="*/ 1319052 h 1933632"/>
              <a:gd name="connsiteX33" fmla="*/ 1423262 w 1703387"/>
              <a:gd name="connsiteY33" fmla="*/ 1120085 h 1933632"/>
              <a:gd name="connsiteX34" fmla="*/ 1372462 w 1703387"/>
              <a:gd name="connsiteY34" fmla="*/ 840685 h 1933632"/>
              <a:gd name="connsiteX35" fmla="*/ 1385162 w 1703387"/>
              <a:gd name="connsiteY35" fmla="*/ 595151 h 1933632"/>
              <a:gd name="connsiteX36" fmla="*/ 1355529 w 1703387"/>
              <a:gd name="connsiteY36" fmla="*/ 332685 h 1933632"/>
              <a:gd name="connsiteX37" fmla="*/ 1190429 w 1703387"/>
              <a:gd name="connsiteY37" fmla="*/ 319986 h 1933632"/>
              <a:gd name="connsiteX38" fmla="*/ 877162 w 1703387"/>
              <a:gd name="connsiteY38" fmla="*/ 286119 h 1933632"/>
              <a:gd name="connsiteX39" fmla="*/ 555429 w 1703387"/>
              <a:gd name="connsiteY39" fmla="*/ 362318 h 1933632"/>
              <a:gd name="connsiteX40" fmla="*/ 292962 w 1703387"/>
              <a:gd name="connsiteY40" fmla="*/ 400419 h 1933632"/>
              <a:gd name="connsiteX41" fmla="*/ 292962 w 1703387"/>
              <a:gd name="connsiteY41" fmla="*/ 620552 h 1933632"/>
              <a:gd name="connsiteX42" fmla="*/ 326829 w 1703387"/>
              <a:gd name="connsiteY42" fmla="*/ 840685 h 1933632"/>
              <a:gd name="connsiteX43" fmla="*/ 297196 w 1703387"/>
              <a:gd name="connsiteY43" fmla="*/ 1196285 h 1933632"/>
              <a:gd name="connsiteX44" fmla="*/ 436896 w 1703387"/>
              <a:gd name="connsiteY44" fmla="*/ 1285185 h 1933632"/>
              <a:gd name="connsiteX45" fmla="*/ 563896 w 1703387"/>
              <a:gd name="connsiteY45" fmla="*/ 1306352 h 1933632"/>
              <a:gd name="connsiteX46" fmla="*/ 576596 w 1703387"/>
              <a:gd name="connsiteY46" fmla="*/ 1467219 h 1933632"/>
              <a:gd name="connsiteX47" fmla="*/ 415729 w 1703387"/>
              <a:gd name="connsiteY47" fmla="*/ 1594219 h 1933632"/>
              <a:gd name="connsiteX48" fmla="*/ 204063 w 1703387"/>
              <a:gd name="connsiteY48" fmla="*/ 1475686 h 1933632"/>
              <a:gd name="connsiteX0" fmla="*/ 208137 w 1707461"/>
              <a:gd name="connsiteY0" fmla="*/ 1475686 h 1933632"/>
              <a:gd name="connsiteX1" fmla="*/ 43036 w 1707461"/>
              <a:gd name="connsiteY1" fmla="*/ 1335985 h 1933632"/>
              <a:gd name="connsiteX2" fmla="*/ 38803 w 1707461"/>
              <a:gd name="connsiteY2" fmla="*/ 1137019 h 1933632"/>
              <a:gd name="connsiteX3" fmla="*/ 703 w 1707461"/>
              <a:gd name="connsiteY3" fmla="*/ 988852 h 1933632"/>
              <a:gd name="connsiteX4" fmla="*/ 13403 w 1707461"/>
              <a:gd name="connsiteY4" fmla="*/ 777185 h 1933632"/>
              <a:gd name="connsiteX5" fmla="*/ 4936 w 1707461"/>
              <a:gd name="connsiteY5" fmla="*/ 599385 h 1933632"/>
              <a:gd name="connsiteX6" fmla="*/ 26103 w 1707461"/>
              <a:gd name="connsiteY6" fmla="*/ 434285 h 1933632"/>
              <a:gd name="connsiteX7" fmla="*/ 72670 w 1707461"/>
              <a:gd name="connsiteY7" fmla="*/ 192985 h 1933632"/>
              <a:gd name="connsiteX8" fmla="*/ 288569 w 1707461"/>
              <a:gd name="connsiteY8" fmla="*/ 82918 h 1933632"/>
              <a:gd name="connsiteX9" fmla="*/ 567969 w 1707461"/>
              <a:gd name="connsiteY9" fmla="*/ 44819 h 1933632"/>
              <a:gd name="connsiteX10" fmla="*/ 813503 w 1707461"/>
              <a:gd name="connsiteY10" fmla="*/ 49053 h 1933632"/>
              <a:gd name="connsiteX11" fmla="*/ 970136 w 1707461"/>
              <a:gd name="connsiteY11" fmla="*/ 36353 h 1933632"/>
              <a:gd name="connsiteX12" fmla="*/ 1101369 w 1707461"/>
              <a:gd name="connsiteY12" fmla="*/ 32119 h 1933632"/>
              <a:gd name="connsiteX13" fmla="*/ 1363836 w 1707461"/>
              <a:gd name="connsiteY13" fmla="*/ 27885 h 1933632"/>
              <a:gd name="connsiteX14" fmla="*/ 1579736 w 1707461"/>
              <a:gd name="connsiteY14" fmla="*/ 10952 h 1933632"/>
              <a:gd name="connsiteX15" fmla="*/ 1681336 w 1707461"/>
              <a:gd name="connsiteY15" fmla="*/ 214152 h 1933632"/>
              <a:gd name="connsiteX16" fmla="*/ 1626303 w 1707461"/>
              <a:gd name="connsiteY16" fmla="*/ 455451 h 1933632"/>
              <a:gd name="connsiteX17" fmla="*/ 1668636 w 1707461"/>
              <a:gd name="connsiteY17" fmla="*/ 713685 h 1933632"/>
              <a:gd name="connsiteX18" fmla="*/ 1677103 w 1707461"/>
              <a:gd name="connsiteY18" fmla="*/ 988851 h 1933632"/>
              <a:gd name="connsiteX19" fmla="*/ 1706736 w 1707461"/>
              <a:gd name="connsiteY19" fmla="*/ 1221685 h 1933632"/>
              <a:gd name="connsiteX20" fmla="*/ 1643236 w 1707461"/>
              <a:gd name="connsiteY20" fmla="*/ 1416419 h 1933632"/>
              <a:gd name="connsiteX21" fmla="*/ 1448503 w 1707461"/>
              <a:gd name="connsiteY21" fmla="*/ 1568819 h 1933632"/>
              <a:gd name="connsiteX22" fmla="*/ 1186036 w 1707461"/>
              <a:gd name="connsiteY22" fmla="*/ 1551885 h 1933632"/>
              <a:gd name="connsiteX23" fmla="*/ 1050570 w 1707461"/>
              <a:gd name="connsiteY23" fmla="*/ 1543419 h 1933632"/>
              <a:gd name="connsiteX24" fmla="*/ 974370 w 1707461"/>
              <a:gd name="connsiteY24" fmla="*/ 1738152 h 1933632"/>
              <a:gd name="connsiteX25" fmla="*/ 957436 w 1707461"/>
              <a:gd name="connsiteY25" fmla="*/ 1899019 h 1933632"/>
              <a:gd name="connsiteX26" fmla="*/ 707670 w 1707461"/>
              <a:gd name="connsiteY26" fmla="*/ 1890552 h 1933632"/>
              <a:gd name="connsiteX27" fmla="*/ 724603 w 1707461"/>
              <a:gd name="connsiteY27" fmla="*/ 1687352 h 1933632"/>
              <a:gd name="connsiteX28" fmla="*/ 686503 w 1707461"/>
              <a:gd name="connsiteY28" fmla="*/ 1492618 h 1933632"/>
              <a:gd name="connsiteX29" fmla="*/ 817736 w 1707461"/>
              <a:gd name="connsiteY29" fmla="*/ 1314818 h 1933632"/>
              <a:gd name="connsiteX30" fmla="*/ 1012470 w 1707461"/>
              <a:gd name="connsiteY30" fmla="*/ 1306351 h 1933632"/>
              <a:gd name="connsiteX31" fmla="*/ 1177570 w 1707461"/>
              <a:gd name="connsiteY31" fmla="*/ 1255552 h 1933632"/>
              <a:gd name="connsiteX32" fmla="*/ 1380770 w 1707461"/>
              <a:gd name="connsiteY32" fmla="*/ 1319052 h 1933632"/>
              <a:gd name="connsiteX33" fmla="*/ 1427336 w 1707461"/>
              <a:gd name="connsiteY33" fmla="*/ 1120085 h 1933632"/>
              <a:gd name="connsiteX34" fmla="*/ 1376536 w 1707461"/>
              <a:gd name="connsiteY34" fmla="*/ 840685 h 1933632"/>
              <a:gd name="connsiteX35" fmla="*/ 1389236 w 1707461"/>
              <a:gd name="connsiteY35" fmla="*/ 595151 h 1933632"/>
              <a:gd name="connsiteX36" fmla="*/ 1359603 w 1707461"/>
              <a:gd name="connsiteY36" fmla="*/ 332685 h 1933632"/>
              <a:gd name="connsiteX37" fmla="*/ 1194503 w 1707461"/>
              <a:gd name="connsiteY37" fmla="*/ 319986 h 1933632"/>
              <a:gd name="connsiteX38" fmla="*/ 881236 w 1707461"/>
              <a:gd name="connsiteY38" fmla="*/ 286119 h 1933632"/>
              <a:gd name="connsiteX39" fmla="*/ 559503 w 1707461"/>
              <a:gd name="connsiteY39" fmla="*/ 362318 h 1933632"/>
              <a:gd name="connsiteX40" fmla="*/ 297036 w 1707461"/>
              <a:gd name="connsiteY40" fmla="*/ 400419 h 1933632"/>
              <a:gd name="connsiteX41" fmla="*/ 297036 w 1707461"/>
              <a:gd name="connsiteY41" fmla="*/ 620552 h 1933632"/>
              <a:gd name="connsiteX42" fmla="*/ 330903 w 1707461"/>
              <a:gd name="connsiteY42" fmla="*/ 840685 h 1933632"/>
              <a:gd name="connsiteX43" fmla="*/ 301270 w 1707461"/>
              <a:gd name="connsiteY43" fmla="*/ 1196285 h 1933632"/>
              <a:gd name="connsiteX44" fmla="*/ 440970 w 1707461"/>
              <a:gd name="connsiteY44" fmla="*/ 1285185 h 1933632"/>
              <a:gd name="connsiteX45" fmla="*/ 567970 w 1707461"/>
              <a:gd name="connsiteY45" fmla="*/ 1306352 h 1933632"/>
              <a:gd name="connsiteX46" fmla="*/ 580670 w 1707461"/>
              <a:gd name="connsiteY46" fmla="*/ 1467219 h 1933632"/>
              <a:gd name="connsiteX47" fmla="*/ 419803 w 1707461"/>
              <a:gd name="connsiteY47" fmla="*/ 1594219 h 1933632"/>
              <a:gd name="connsiteX48" fmla="*/ 208137 w 1707461"/>
              <a:gd name="connsiteY48" fmla="*/ 1475686 h 193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07461" h="1933632">
                <a:moveTo>
                  <a:pt x="208137" y="1475686"/>
                </a:moveTo>
                <a:cubicBezTo>
                  <a:pt x="145343" y="1432647"/>
                  <a:pt x="71258" y="1392429"/>
                  <a:pt x="43036" y="1335985"/>
                </a:cubicBezTo>
                <a:cubicBezTo>
                  <a:pt x="14814" y="1279541"/>
                  <a:pt x="45858" y="1194874"/>
                  <a:pt x="38803" y="1137019"/>
                </a:cubicBezTo>
                <a:cubicBezTo>
                  <a:pt x="31748" y="1079164"/>
                  <a:pt x="4936" y="1048824"/>
                  <a:pt x="703" y="988852"/>
                </a:cubicBezTo>
                <a:cubicBezTo>
                  <a:pt x="-3530" y="928880"/>
                  <a:pt x="12698" y="842096"/>
                  <a:pt x="13403" y="777185"/>
                </a:cubicBezTo>
                <a:cubicBezTo>
                  <a:pt x="14108" y="712274"/>
                  <a:pt x="2819" y="656535"/>
                  <a:pt x="4936" y="599385"/>
                </a:cubicBezTo>
                <a:cubicBezTo>
                  <a:pt x="7053" y="542235"/>
                  <a:pt x="14814" y="502018"/>
                  <a:pt x="26103" y="434285"/>
                </a:cubicBezTo>
                <a:cubicBezTo>
                  <a:pt x="37392" y="366552"/>
                  <a:pt x="28926" y="251546"/>
                  <a:pt x="72670" y="192985"/>
                </a:cubicBezTo>
                <a:cubicBezTo>
                  <a:pt x="116414" y="134424"/>
                  <a:pt x="206019" y="107612"/>
                  <a:pt x="288569" y="82918"/>
                </a:cubicBezTo>
                <a:cubicBezTo>
                  <a:pt x="371119" y="58224"/>
                  <a:pt x="480480" y="50463"/>
                  <a:pt x="567969" y="44819"/>
                </a:cubicBezTo>
                <a:cubicBezTo>
                  <a:pt x="655458" y="39175"/>
                  <a:pt x="746475" y="50464"/>
                  <a:pt x="813503" y="49053"/>
                </a:cubicBezTo>
                <a:cubicBezTo>
                  <a:pt x="880531" y="47642"/>
                  <a:pt x="923569" y="42703"/>
                  <a:pt x="970136" y="36353"/>
                </a:cubicBezTo>
                <a:cubicBezTo>
                  <a:pt x="1016703" y="30003"/>
                  <a:pt x="1035752" y="33530"/>
                  <a:pt x="1101369" y="32119"/>
                </a:cubicBezTo>
                <a:cubicBezTo>
                  <a:pt x="1166986" y="30708"/>
                  <a:pt x="1284108" y="31413"/>
                  <a:pt x="1363836" y="27885"/>
                </a:cubicBezTo>
                <a:cubicBezTo>
                  <a:pt x="1443564" y="24357"/>
                  <a:pt x="1526819" y="-20093"/>
                  <a:pt x="1579736" y="10952"/>
                </a:cubicBezTo>
                <a:cubicBezTo>
                  <a:pt x="1632653" y="41997"/>
                  <a:pt x="1673575" y="140069"/>
                  <a:pt x="1681336" y="214152"/>
                </a:cubicBezTo>
                <a:cubicBezTo>
                  <a:pt x="1689097" y="288235"/>
                  <a:pt x="1634064" y="369373"/>
                  <a:pt x="1626303" y="455451"/>
                </a:cubicBezTo>
                <a:cubicBezTo>
                  <a:pt x="1618542" y="541529"/>
                  <a:pt x="1660169" y="624785"/>
                  <a:pt x="1668636" y="713685"/>
                </a:cubicBezTo>
                <a:cubicBezTo>
                  <a:pt x="1677103" y="802585"/>
                  <a:pt x="1670753" y="904184"/>
                  <a:pt x="1677103" y="988851"/>
                </a:cubicBezTo>
                <a:cubicBezTo>
                  <a:pt x="1683453" y="1073518"/>
                  <a:pt x="1712380" y="1150424"/>
                  <a:pt x="1706736" y="1221685"/>
                </a:cubicBezTo>
                <a:cubicBezTo>
                  <a:pt x="1701092" y="1292946"/>
                  <a:pt x="1686275" y="1358563"/>
                  <a:pt x="1643236" y="1416419"/>
                </a:cubicBezTo>
                <a:cubicBezTo>
                  <a:pt x="1600197" y="1474275"/>
                  <a:pt x="1524703" y="1546241"/>
                  <a:pt x="1448503" y="1568819"/>
                </a:cubicBezTo>
                <a:cubicBezTo>
                  <a:pt x="1372303" y="1591397"/>
                  <a:pt x="1186036" y="1551885"/>
                  <a:pt x="1186036" y="1551885"/>
                </a:cubicBezTo>
                <a:cubicBezTo>
                  <a:pt x="1119714" y="1547652"/>
                  <a:pt x="1085848" y="1512375"/>
                  <a:pt x="1050570" y="1543419"/>
                </a:cubicBezTo>
                <a:cubicBezTo>
                  <a:pt x="1015292" y="1574464"/>
                  <a:pt x="989892" y="1678885"/>
                  <a:pt x="974370" y="1738152"/>
                </a:cubicBezTo>
                <a:cubicBezTo>
                  <a:pt x="958848" y="1797419"/>
                  <a:pt x="1006120" y="1835519"/>
                  <a:pt x="957436" y="1899019"/>
                </a:cubicBezTo>
                <a:cubicBezTo>
                  <a:pt x="908752" y="1962519"/>
                  <a:pt x="746476" y="1925830"/>
                  <a:pt x="707670" y="1890552"/>
                </a:cubicBezTo>
                <a:cubicBezTo>
                  <a:pt x="668865" y="1855274"/>
                  <a:pt x="728131" y="1753674"/>
                  <a:pt x="724603" y="1687352"/>
                </a:cubicBezTo>
                <a:cubicBezTo>
                  <a:pt x="721075" y="1621030"/>
                  <a:pt x="670981" y="1554707"/>
                  <a:pt x="686503" y="1492618"/>
                </a:cubicBezTo>
                <a:cubicBezTo>
                  <a:pt x="702025" y="1430529"/>
                  <a:pt x="763408" y="1345863"/>
                  <a:pt x="817736" y="1314818"/>
                </a:cubicBezTo>
                <a:cubicBezTo>
                  <a:pt x="872064" y="1283774"/>
                  <a:pt x="952498" y="1317640"/>
                  <a:pt x="1012470" y="1306351"/>
                </a:cubicBezTo>
                <a:cubicBezTo>
                  <a:pt x="1072442" y="1295062"/>
                  <a:pt x="1116187" y="1253435"/>
                  <a:pt x="1177570" y="1255552"/>
                </a:cubicBezTo>
                <a:cubicBezTo>
                  <a:pt x="1238953" y="1257669"/>
                  <a:pt x="1339142" y="1341630"/>
                  <a:pt x="1380770" y="1319052"/>
                </a:cubicBezTo>
                <a:cubicBezTo>
                  <a:pt x="1422398" y="1296474"/>
                  <a:pt x="1428042" y="1199813"/>
                  <a:pt x="1427336" y="1120085"/>
                </a:cubicBezTo>
                <a:cubicBezTo>
                  <a:pt x="1426630" y="1040357"/>
                  <a:pt x="1382886" y="928174"/>
                  <a:pt x="1376536" y="840685"/>
                </a:cubicBezTo>
                <a:cubicBezTo>
                  <a:pt x="1370186" y="753196"/>
                  <a:pt x="1394175" y="667117"/>
                  <a:pt x="1389236" y="595151"/>
                </a:cubicBezTo>
                <a:cubicBezTo>
                  <a:pt x="1384297" y="523185"/>
                  <a:pt x="1392058" y="378546"/>
                  <a:pt x="1359603" y="332685"/>
                </a:cubicBezTo>
                <a:cubicBezTo>
                  <a:pt x="1327148" y="286824"/>
                  <a:pt x="1274231" y="327747"/>
                  <a:pt x="1194503" y="319986"/>
                </a:cubicBezTo>
                <a:cubicBezTo>
                  <a:pt x="1114775" y="312225"/>
                  <a:pt x="987069" y="279064"/>
                  <a:pt x="881236" y="286119"/>
                </a:cubicBezTo>
                <a:cubicBezTo>
                  <a:pt x="775403" y="293174"/>
                  <a:pt x="656870" y="343268"/>
                  <a:pt x="559503" y="362318"/>
                </a:cubicBezTo>
                <a:cubicBezTo>
                  <a:pt x="462136" y="381368"/>
                  <a:pt x="340781" y="357380"/>
                  <a:pt x="297036" y="400419"/>
                </a:cubicBezTo>
                <a:cubicBezTo>
                  <a:pt x="253292" y="443458"/>
                  <a:pt x="291391" y="547174"/>
                  <a:pt x="297036" y="620552"/>
                </a:cubicBezTo>
                <a:cubicBezTo>
                  <a:pt x="302681" y="693930"/>
                  <a:pt x="330197" y="744730"/>
                  <a:pt x="330903" y="840685"/>
                </a:cubicBezTo>
                <a:cubicBezTo>
                  <a:pt x="331609" y="936640"/>
                  <a:pt x="282926" y="1122202"/>
                  <a:pt x="301270" y="1196285"/>
                </a:cubicBezTo>
                <a:cubicBezTo>
                  <a:pt x="319614" y="1270368"/>
                  <a:pt x="396520" y="1266841"/>
                  <a:pt x="440970" y="1285185"/>
                </a:cubicBezTo>
                <a:cubicBezTo>
                  <a:pt x="485420" y="1303530"/>
                  <a:pt x="523520" y="1292947"/>
                  <a:pt x="567970" y="1306352"/>
                </a:cubicBezTo>
                <a:cubicBezTo>
                  <a:pt x="612420" y="1319757"/>
                  <a:pt x="607481" y="1401602"/>
                  <a:pt x="580670" y="1467219"/>
                </a:cubicBezTo>
                <a:cubicBezTo>
                  <a:pt x="553859" y="1532836"/>
                  <a:pt x="481892" y="1592808"/>
                  <a:pt x="419803" y="1594219"/>
                </a:cubicBezTo>
                <a:cubicBezTo>
                  <a:pt x="357714" y="1595630"/>
                  <a:pt x="270931" y="1518725"/>
                  <a:pt x="208137" y="1475686"/>
                </a:cubicBezTo>
                <a:close/>
              </a:path>
            </a:pathLst>
          </a:custGeom>
          <a:solidFill>
            <a:srgbClr val="FFCC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545515-CC66-4B8D-81A4-F06011ED2FAD}"/>
              </a:ext>
            </a:extLst>
          </p:cNvPr>
          <p:cNvSpPr/>
          <p:nvPr/>
        </p:nvSpPr>
        <p:spPr>
          <a:xfrm>
            <a:off x="5486881" y="308661"/>
            <a:ext cx="684798" cy="850920"/>
          </a:xfrm>
          <a:custGeom>
            <a:avLst/>
            <a:gdLst>
              <a:gd name="connsiteX0" fmla="*/ 0 w 660400"/>
              <a:gd name="connsiteY0" fmla="*/ 381000 h 762000"/>
              <a:gd name="connsiteX1" fmla="*/ 330200 w 660400"/>
              <a:gd name="connsiteY1" fmla="*/ 0 h 762000"/>
              <a:gd name="connsiteX2" fmla="*/ 660400 w 660400"/>
              <a:gd name="connsiteY2" fmla="*/ 381000 h 762000"/>
              <a:gd name="connsiteX3" fmla="*/ 330200 w 660400"/>
              <a:gd name="connsiteY3" fmla="*/ 762000 h 762000"/>
              <a:gd name="connsiteX4" fmla="*/ 0 w 660400"/>
              <a:gd name="connsiteY4" fmla="*/ 381000 h 762000"/>
              <a:gd name="connsiteX0" fmla="*/ 29864 w 690264"/>
              <a:gd name="connsiteY0" fmla="*/ 381191 h 762191"/>
              <a:gd name="connsiteX1" fmla="*/ 52887 w 690264"/>
              <a:gd name="connsiteY1" fmla="*/ 330391 h 762191"/>
              <a:gd name="connsiteX2" fmla="*/ 360064 w 690264"/>
              <a:gd name="connsiteY2" fmla="*/ 191 h 762191"/>
              <a:gd name="connsiteX3" fmla="*/ 690264 w 690264"/>
              <a:gd name="connsiteY3" fmla="*/ 381191 h 762191"/>
              <a:gd name="connsiteX4" fmla="*/ 360064 w 690264"/>
              <a:gd name="connsiteY4" fmla="*/ 762191 h 762191"/>
              <a:gd name="connsiteX5" fmla="*/ 29864 w 690264"/>
              <a:gd name="connsiteY5" fmla="*/ 381191 h 762191"/>
              <a:gd name="connsiteX0" fmla="*/ 29864 w 690264"/>
              <a:gd name="connsiteY0" fmla="*/ 381487 h 762487"/>
              <a:gd name="connsiteX1" fmla="*/ 52887 w 690264"/>
              <a:gd name="connsiteY1" fmla="*/ 330687 h 762487"/>
              <a:gd name="connsiteX2" fmla="*/ 360064 w 690264"/>
              <a:gd name="connsiteY2" fmla="*/ 487 h 762487"/>
              <a:gd name="connsiteX3" fmla="*/ 690264 w 690264"/>
              <a:gd name="connsiteY3" fmla="*/ 381487 h 762487"/>
              <a:gd name="connsiteX4" fmla="*/ 360064 w 690264"/>
              <a:gd name="connsiteY4" fmla="*/ 762487 h 762487"/>
              <a:gd name="connsiteX5" fmla="*/ 29864 w 690264"/>
              <a:gd name="connsiteY5" fmla="*/ 381487 h 762487"/>
              <a:gd name="connsiteX0" fmla="*/ 30635 w 688918"/>
              <a:gd name="connsiteY0" fmla="*/ 500021 h 763790"/>
              <a:gd name="connsiteX1" fmla="*/ 51541 w 688918"/>
              <a:gd name="connsiteY1" fmla="*/ 330687 h 763790"/>
              <a:gd name="connsiteX2" fmla="*/ 358718 w 688918"/>
              <a:gd name="connsiteY2" fmla="*/ 487 h 763790"/>
              <a:gd name="connsiteX3" fmla="*/ 688918 w 688918"/>
              <a:gd name="connsiteY3" fmla="*/ 381487 h 763790"/>
              <a:gd name="connsiteX4" fmla="*/ 358718 w 688918"/>
              <a:gd name="connsiteY4" fmla="*/ 762487 h 763790"/>
              <a:gd name="connsiteX5" fmla="*/ 30635 w 688918"/>
              <a:gd name="connsiteY5" fmla="*/ 500021 h 763790"/>
              <a:gd name="connsiteX0" fmla="*/ 36713 w 694996"/>
              <a:gd name="connsiteY0" fmla="*/ 503466 h 767300"/>
              <a:gd name="connsiteX1" fmla="*/ 44919 w 694996"/>
              <a:gd name="connsiteY1" fmla="*/ 268516 h 767300"/>
              <a:gd name="connsiteX2" fmla="*/ 364796 w 694996"/>
              <a:gd name="connsiteY2" fmla="*/ 3932 h 767300"/>
              <a:gd name="connsiteX3" fmla="*/ 694996 w 694996"/>
              <a:gd name="connsiteY3" fmla="*/ 384932 h 767300"/>
              <a:gd name="connsiteX4" fmla="*/ 364796 w 694996"/>
              <a:gd name="connsiteY4" fmla="*/ 765932 h 767300"/>
              <a:gd name="connsiteX5" fmla="*/ 36713 w 694996"/>
              <a:gd name="connsiteY5" fmla="*/ 503466 h 767300"/>
              <a:gd name="connsiteX0" fmla="*/ 16512 w 674795"/>
              <a:gd name="connsiteY0" fmla="*/ 500291 h 764070"/>
              <a:gd name="connsiteX1" fmla="*/ 79751 w 674795"/>
              <a:gd name="connsiteY1" fmla="*/ 320375 h 764070"/>
              <a:gd name="connsiteX2" fmla="*/ 344595 w 674795"/>
              <a:gd name="connsiteY2" fmla="*/ 757 h 764070"/>
              <a:gd name="connsiteX3" fmla="*/ 674795 w 674795"/>
              <a:gd name="connsiteY3" fmla="*/ 381757 h 764070"/>
              <a:gd name="connsiteX4" fmla="*/ 344595 w 674795"/>
              <a:gd name="connsiteY4" fmla="*/ 762757 h 764070"/>
              <a:gd name="connsiteX5" fmla="*/ 16512 w 674795"/>
              <a:gd name="connsiteY5" fmla="*/ 500291 h 764070"/>
              <a:gd name="connsiteX0" fmla="*/ 16512 w 674795"/>
              <a:gd name="connsiteY0" fmla="*/ 500305 h 764084"/>
              <a:gd name="connsiteX1" fmla="*/ 79751 w 674795"/>
              <a:gd name="connsiteY1" fmla="*/ 320389 h 764084"/>
              <a:gd name="connsiteX2" fmla="*/ 344595 w 674795"/>
              <a:gd name="connsiteY2" fmla="*/ 771 h 764084"/>
              <a:gd name="connsiteX3" fmla="*/ 674795 w 674795"/>
              <a:gd name="connsiteY3" fmla="*/ 381771 h 764084"/>
              <a:gd name="connsiteX4" fmla="*/ 344595 w 674795"/>
              <a:gd name="connsiteY4" fmla="*/ 762771 h 764084"/>
              <a:gd name="connsiteX5" fmla="*/ 16512 w 674795"/>
              <a:gd name="connsiteY5" fmla="*/ 500305 h 764084"/>
              <a:gd name="connsiteX0" fmla="*/ 42297 w 628613"/>
              <a:gd name="connsiteY0" fmla="*/ 553222 h 766070"/>
              <a:gd name="connsiteX1" fmla="*/ 33569 w 628613"/>
              <a:gd name="connsiteY1" fmla="*/ 320389 h 766070"/>
              <a:gd name="connsiteX2" fmla="*/ 298413 w 628613"/>
              <a:gd name="connsiteY2" fmla="*/ 771 h 766070"/>
              <a:gd name="connsiteX3" fmla="*/ 628613 w 628613"/>
              <a:gd name="connsiteY3" fmla="*/ 381771 h 766070"/>
              <a:gd name="connsiteX4" fmla="*/ 298413 w 628613"/>
              <a:gd name="connsiteY4" fmla="*/ 762771 h 766070"/>
              <a:gd name="connsiteX5" fmla="*/ 42297 w 628613"/>
              <a:gd name="connsiteY5" fmla="*/ 553222 h 766070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07963"/>
              <a:gd name="connsiteY0" fmla="*/ 552689 h 769103"/>
              <a:gd name="connsiteX1" fmla="*/ 33569 w 507963"/>
              <a:gd name="connsiteY1" fmla="*/ 319856 h 769103"/>
              <a:gd name="connsiteX2" fmla="*/ 298413 w 507963"/>
              <a:gd name="connsiteY2" fmla="*/ 238 h 769103"/>
              <a:gd name="connsiteX3" fmla="*/ 507963 w 507963"/>
              <a:gd name="connsiteY3" fmla="*/ 288105 h 769103"/>
              <a:gd name="connsiteX4" fmla="*/ 298413 w 507963"/>
              <a:gd name="connsiteY4" fmla="*/ 762238 h 769103"/>
              <a:gd name="connsiteX5" fmla="*/ 42297 w 507963"/>
              <a:gd name="connsiteY5" fmla="*/ 552689 h 769103"/>
              <a:gd name="connsiteX0" fmla="*/ 42297 w 534011"/>
              <a:gd name="connsiteY0" fmla="*/ 552597 h 769011"/>
              <a:gd name="connsiteX1" fmla="*/ 33569 w 534011"/>
              <a:gd name="connsiteY1" fmla="*/ 319764 h 769011"/>
              <a:gd name="connsiteX2" fmla="*/ 298413 w 534011"/>
              <a:gd name="connsiteY2" fmla="*/ 146 h 769011"/>
              <a:gd name="connsiteX3" fmla="*/ 507963 w 534011"/>
              <a:gd name="connsiteY3" fmla="*/ 288013 h 769011"/>
              <a:gd name="connsiteX4" fmla="*/ 298413 w 534011"/>
              <a:gd name="connsiteY4" fmla="*/ 762146 h 769011"/>
              <a:gd name="connsiteX5" fmla="*/ 42297 w 534011"/>
              <a:gd name="connsiteY5" fmla="*/ 552597 h 769011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98413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6825 h 773239"/>
              <a:gd name="connsiteX1" fmla="*/ 33569 w 549708"/>
              <a:gd name="connsiteY1" fmla="*/ 323992 h 773239"/>
              <a:gd name="connsiteX2" fmla="*/ 247613 w 549708"/>
              <a:gd name="connsiteY2" fmla="*/ 141 h 773239"/>
              <a:gd name="connsiteX3" fmla="*/ 507963 w 549708"/>
              <a:gd name="connsiteY3" fmla="*/ 292241 h 773239"/>
              <a:gd name="connsiteX4" fmla="*/ 298413 w 549708"/>
              <a:gd name="connsiteY4" fmla="*/ 766374 h 773239"/>
              <a:gd name="connsiteX5" fmla="*/ 42297 w 549708"/>
              <a:gd name="connsiteY5" fmla="*/ 556825 h 773239"/>
              <a:gd name="connsiteX0" fmla="*/ 42297 w 549708"/>
              <a:gd name="connsiteY0" fmla="*/ 552597 h 769011"/>
              <a:gd name="connsiteX1" fmla="*/ 33569 w 549708"/>
              <a:gd name="connsiteY1" fmla="*/ 319764 h 769011"/>
              <a:gd name="connsiteX2" fmla="*/ 275130 w 549708"/>
              <a:gd name="connsiteY2" fmla="*/ 146 h 769011"/>
              <a:gd name="connsiteX3" fmla="*/ 507963 w 549708"/>
              <a:gd name="connsiteY3" fmla="*/ 288013 h 769011"/>
              <a:gd name="connsiteX4" fmla="*/ 298413 w 549708"/>
              <a:gd name="connsiteY4" fmla="*/ 762146 h 769011"/>
              <a:gd name="connsiteX5" fmla="*/ 42297 w 549708"/>
              <a:gd name="connsiteY5" fmla="*/ 552597 h 769011"/>
              <a:gd name="connsiteX0" fmla="*/ 42297 w 549708"/>
              <a:gd name="connsiteY0" fmla="*/ 550482 h 766896"/>
              <a:gd name="connsiteX1" fmla="*/ 33569 w 549708"/>
              <a:gd name="connsiteY1" fmla="*/ 317649 h 766896"/>
              <a:gd name="connsiteX2" fmla="*/ 260313 w 549708"/>
              <a:gd name="connsiteY2" fmla="*/ 148 h 766896"/>
              <a:gd name="connsiteX3" fmla="*/ 507963 w 549708"/>
              <a:gd name="connsiteY3" fmla="*/ 285898 h 766896"/>
              <a:gd name="connsiteX4" fmla="*/ 298413 w 549708"/>
              <a:gd name="connsiteY4" fmla="*/ 760031 h 766896"/>
              <a:gd name="connsiteX5" fmla="*/ 42297 w 549708"/>
              <a:gd name="connsiteY5" fmla="*/ 550482 h 766896"/>
              <a:gd name="connsiteX0" fmla="*/ 42297 w 549708"/>
              <a:gd name="connsiteY0" fmla="*/ 550787 h 767201"/>
              <a:gd name="connsiteX1" fmla="*/ 33569 w 549708"/>
              <a:gd name="connsiteY1" fmla="*/ 317954 h 767201"/>
              <a:gd name="connsiteX2" fmla="*/ 260313 w 549708"/>
              <a:gd name="connsiteY2" fmla="*/ 453 h 767201"/>
              <a:gd name="connsiteX3" fmla="*/ 507963 w 549708"/>
              <a:gd name="connsiteY3" fmla="*/ 286203 h 767201"/>
              <a:gd name="connsiteX4" fmla="*/ 298413 w 549708"/>
              <a:gd name="connsiteY4" fmla="*/ 760336 h 767201"/>
              <a:gd name="connsiteX5" fmla="*/ 42297 w 549708"/>
              <a:gd name="connsiteY5" fmla="*/ 550787 h 767201"/>
              <a:gd name="connsiteX0" fmla="*/ 42297 w 549708"/>
              <a:gd name="connsiteY0" fmla="*/ 550389 h 766803"/>
              <a:gd name="connsiteX1" fmla="*/ 33569 w 549708"/>
              <a:gd name="connsiteY1" fmla="*/ 317556 h 766803"/>
              <a:gd name="connsiteX2" fmla="*/ 260313 w 549708"/>
              <a:gd name="connsiteY2" fmla="*/ 55 h 766803"/>
              <a:gd name="connsiteX3" fmla="*/ 507963 w 549708"/>
              <a:gd name="connsiteY3" fmla="*/ 285805 h 766803"/>
              <a:gd name="connsiteX4" fmla="*/ 298413 w 549708"/>
              <a:gd name="connsiteY4" fmla="*/ 759938 h 766803"/>
              <a:gd name="connsiteX5" fmla="*/ 42297 w 549708"/>
              <a:gd name="connsiteY5" fmla="*/ 550389 h 766803"/>
              <a:gd name="connsiteX0" fmla="*/ 42297 w 549708"/>
              <a:gd name="connsiteY0" fmla="*/ 550439 h 766853"/>
              <a:gd name="connsiteX1" fmla="*/ 33569 w 549708"/>
              <a:gd name="connsiteY1" fmla="*/ 317606 h 766853"/>
              <a:gd name="connsiteX2" fmla="*/ 260313 w 549708"/>
              <a:gd name="connsiteY2" fmla="*/ 105 h 766853"/>
              <a:gd name="connsiteX3" fmla="*/ 507963 w 549708"/>
              <a:gd name="connsiteY3" fmla="*/ 285855 h 766853"/>
              <a:gd name="connsiteX4" fmla="*/ 298413 w 549708"/>
              <a:gd name="connsiteY4" fmla="*/ 759988 h 766853"/>
              <a:gd name="connsiteX5" fmla="*/ 42297 w 549708"/>
              <a:gd name="connsiteY5" fmla="*/ 550439 h 766853"/>
              <a:gd name="connsiteX0" fmla="*/ 42297 w 555495"/>
              <a:gd name="connsiteY0" fmla="*/ 550387 h 766091"/>
              <a:gd name="connsiteX1" fmla="*/ 33569 w 555495"/>
              <a:gd name="connsiteY1" fmla="*/ 317554 h 766091"/>
              <a:gd name="connsiteX2" fmla="*/ 260313 w 555495"/>
              <a:gd name="connsiteY2" fmla="*/ 53 h 766091"/>
              <a:gd name="connsiteX3" fmla="*/ 514313 w 555495"/>
              <a:gd name="connsiteY3" fmla="*/ 302736 h 766091"/>
              <a:gd name="connsiteX4" fmla="*/ 298413 w 555495"/>
              <a:gd name="connsiteY4" fmla="*/ 759936 h 766091"/>
              <a:gd name="connsiteX5" fmla="*/ 42297 w 555495"/>
              <a:gd name="connsiteY5" fmla="*/ 550387 h 766091"/>
              <a:gd name="connsiteX0" fmla="*/ 42297 w 545939"/>
              <a:gd name="connsiteY0" fmla="*/ 550387 h 766091"/>
              <a:gd name="connsiteX1" fmla="*/ 33569 w 545939"/>
              <a:gd name="connsiteY1" fmla="*/ 317554 h 766091"/>
              <a:gd name="connsiteX2" fmla="*/ 260313 w 545939"/>
              <a:gd name="connsiteY2" fmla="*/ 53 h 766091"/>
              <a:gd name="connsiteX3" fmla="*/ 514313 w 545939"/>
              <a:gd name="connsiteY3" fmla="*/ 302736 h 766091"/>
              <a:gd name="connsiteX4" fmla="*/ 298413 w 545939"/>
              <a:gd name="connsiteY4" fmla="*/ 759936 h 766091"/>
              <a:gd name="connsiteX5" fmla="*/ 42297 w 545939"/>
              <a:gd name="connsiteY5" fmla="*/ 550387 h 766091"/>
              <a:gd name="connsiteX0" fmla="*/ 54944 w 558586"/>
              <a:gd name="connsiteY0" fmla="*/ 550387 h 766091"/>
              <a:gd name="connsiteX1" fmla="*/ 46216 w 558586"/>
              <a:gd name="connsiteY1" fmla="*/ 317554 h 766091"/>
              <a:gd name="connsiteX2" fmla="*/ 272960 w 558586"/>
              <a:gd name="connsiteY2" fmla="*/ 53 h 766091"/>
              <a:gd name="connsiteX3" fmla="*/ 526960 w 558586"/>
              <a:gd name="connsiteY3" fmla="*/ 302736 h 766091"/>
              <a:gd name="connsiteX4" fmla="*/ 311060 w 558586"/>
              <a:gd name="connsiteY4" fmla="*/ 759936 h 766091"/>
              <a:gd name="connsiteX5" fmla="*/ 54944 w 558586"/>
              <a:gd name="connsiteY5" fmla="*/ 550387 h 766091"/>
              <a:gd name="connsiteX0" fmla="*/ 287437 w 535085"/>
              <a:gd name="connsiteY0" fmla="*/ 759936 h 759950"/>
              <a:gd name="connsiteX1" fmla="*/ 22593 w 535085"/>
              <a:gd name="connsiteY1" fmla="*/ 317554 h 759950"/>
              <a:gd name="connsiteX2" fmla="*/ 249337 w 535085"/>
              <a:gd name="connsiteY2" fmla="*/ 53 h 759950"/>
              <a:gd name="connsiteX3" fmla="*/ 503337 w 535085"/>
              <a:gd name="connsiteY3" fmla="*/ 302736 h 759950"/>
              <a:gd name="connsiteX4" fmla="*/ 287437 w 535085"/>
              <a:gd name="connsiteY4" fmla="*/ 759936 h 759950"/>
              <a:gd name="connsiteX0" fmla="*/ 310151 w 557799"/>
              <a:gd name="connsiteY0" fmla="*/ 759936 h 759954"/>
              <a:gd name="connsiteX1" fmla="*/ 45307 w 557799"/>
              <a:gd name="connsiteY1" fmla="*/ 317554 h 759954"/>
              <a:gd name="connsiteX2" fmla="*/ 272051 w 557799"/>
              <a:gd name="connsiteY2" fmla="*/ 53 h 759954"/>
              <a:gd name="connsiteX3" fmla="*/ 526051 w 557799"/>
              <a:gd name="connsiteY3" fmla="*/ 302736 h 759954"/>
              <a:gd name="connsiteX4" fmla="*/ 310151 w 557799"/>
              <a:gd name="connsiteY4" fmla="*/ 759936 h 759954"/>
              <a:gd name="connsiteX0" fmla="*/ 292708 w 540356"/>
              <a:gd name="connsiteY0" fmla="*/ 759936 h 759955"/>
              <a:gd name="connsiteX1" fmla="*/ 27864 w 540356"/>
              <a:gd name="connsiteY1" fmla="*/ 317554 h 759955"/>
              <a:gd name="connsiteX2" fmla="*/ 254608 w 540356"/>
              <a:gd name="connsiteY2" fmla="*/ 53 h 759955"/>
              <a:gd name="connsiteX3" fmla="*/ 508608 w 540356"/>
              <a:gd name="connsiteY3" fmla="*/ 302736 h 759955"/>
              <a:gd name="connsiteX4" fmla="*/ 292708 w 540356"/>
              <a:gd name="connsiteY4" fmla="*/ 759936 h 759955"/>
              <a:gd name="connsiteX0" fmla="*/ 261420 w 540144"/>
              <a:gd name="connsiteY0" fmla="*/ 768403 h 768421"/>
              <a:gd name="connsiteX1" fmla="*/ 30443 w 540144"/>
              <a:gd name="connsiteY1" fmla="*/ 317554 h 768421"/>
              <a:gd name="connsiteX2" fmla="*/ 257187 w 540144"/>
              <a:gd name="connsiteY2" fmla="*/ 53 h 768421"/>
              <a:gd name="connsiteX3" fmla="*/ 511187 w 540144"/>
              <a:gd name="connsiteY3" fmla="*/ 302736 h 768421"/>
              <a:gd name="connsiteX4" fmla="*/ 261420 w 540144"/>
              <a:gd name="connsiteY4" fmla="*/ 768403 h 768421"/>
              <a:gd name="connsiteX0" fmla="*/ 282883 w 540188"/>
              <a:gd name="connsiteY0" fmla="*/ 759937 h 759956"/>
              <a:gd name="connsiteX1" fmla="*/ 28623 w 540188"/>
              <a:gd name="connsiteY1" fmla="*/ 317554 h 759956"/>
              <a:gd name="connsiteX2" fmla="*/ 255367 w 540188"/>
              <a:gd name="connsiteY2" fmla="*/ 53 h 759956"/>
              <a:gd name="connsiteX3" fmla="*/ 509367 w 540188"/>
              <a:gd name="connsiteY3" fmla="*/ 302736 h 759956"/>
              <a:gd name="connsiteX4" fmla="*/ 282883 w 540188"/>
              <a:gd name="connsiteY4" fmla="*/ 759937 h 75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88" h="759956">
                <a:moveTo>
                  <a:pt x="282883" y="759937"/>
                </a:moveTo>
                <a:cubicBezTo>
                  <a:pt x="202759" y="762407"/>
                  <a:pt x="-92027" y="530985"/>
                  <a:pt x="28623" y="317554"/>
                </a:cubicBezTo>
                <a:cubicBezTo>
                  <a:pt x="-68744" y="78370"/>
                  <a:pt x="175243" y="2523"/>
                  <a:pt x="255367" y="53"/>
                </a:cubicBezTo>
                <a:cubicBezTo>
                  <a:pt x="335491" y="-2417"/>
                  <a:pt x="594034" y="81733"/>
                  <a:pt x="509367" y="302736"/>
                </a:cubicBezTo>
                <a:cubicBezTo>
                  <a:pt x="630017" y="549139"/>
                  <a:pt x="363007" y="757467"/>
                  <a:pt x="282883" y="75993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4A9F6E0-8063-4101-A16F-F83A20191DAF}"/>
              </a:ext>
            </a:extLst>
          </p:cNvPr>
          <p:cNvSpPr/>
          <p:nvPr/>
        </p:nvSpPr>
        <p:spPr>
          <a:xfrm>
            <a:off x="5095531" y="1528668"/>
            <a:ext cx="740187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  <a:gd name="connsiteX0" fmla="*/ 800518 w 846238"/>
              <a:gd name="connsiteY0" fmla="*/ 266944 h 2060534"/>
              <a:gd name="connsiteX1" fmla="*/ 822526 w 846238"/>
              <a:gd name="connsiteY1" fmla="*/ 997680 h 2060534"/>
              <a:gd name="connsiteX2" fmla="*/ 813218 w 846238"/>
              <a:gd name="connsiteY2" fmla="*/ 1765544 h 2060534"/>
              <a:gd name="connsiteX3" fmla="*/ 419518 w 846238"/>
              <a:gd name="connsiteY3" fmla="*/ 1968744 h 2060534"/>
              <a:gd name="connsiteX4" fmla="*/ 51218 w 846238"/>
              <a:gd name="connsiteY4" fmla="*/ 2006844 h 2060534"/>
              <a:gd name="connsiteX5" fmla="*/ 25818 w 846238"/>
              <a:gd name="connsiteY5" fmla="*/ 1232144 h 2060534"/>
              <a:gd name="connsiteX6" fmla="*/ 267118 w 846238"/>
              <a:gd name="connsiteY6" fmla="*/ 381244 h 2060534"/>
              <a:gd name="connsiteX7" fmla="*/ 470318 w 846238"/>
              <a:gd name="connsiteY7" fmla="*/ 63744 h 2060534"/>
              <a:gd name="connsiteX8" fmla="*/ 737018 w 846238"/>
              <a:gd name="connsiteY8" fmla="*/ 12944 h 2060534"/>
              <a:gd name="connsiteX9" fmla="*/ 800518 w 84623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6238" h="2060534">
                <a:moveTo>
                  <a:pt x="800518" y="266944"/>
                </a:moveTo>
                <a:cubicBezTo>
                  <a:pt x="814769" y="431067"/>
                  <a:pt x="820409" y="695835"/>
                  <a:pt x="822526" y="997680"/>
                </a:cubicBezTo>
                <a:cubicBezTo>
                  <a:pt x="824643" y="1299525"/>
                  <a:pt x="880386" y="1603700"/>
                  <a:pt x="813218" y="1765544"/>
                </a:cubicBezTo>
                <a:cubicBezTo>
                  <a:pt x="746050" y="1927388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6267" y="102821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47AAAF-0E90-49D0-A729-552B947556EB}"/>
              </a:ext>
            </a:extLst>
          </p:cNvPr>
          <p:cNvSpPr/>
          <p:nvPr/>
        </p:nvSpPr>
        <p:spPr>
          <a:xfrm flipH="1">
            <a:off x="5903930" y="1513951"/>
            <a:ext cx="699603" cy="1142519"/>
          </a:xfrm>
          <a:custGeom>
            <a:avLst/>
            <a:gdLst>
              <a:gd name="connsiteX0" fmla="*/ 800518 w 838878"/>
              <a:gd name="connsiteY0" fmla="*/ 169337 h 1962927"/>
              <a:gd name="connsiteX1" fmla="*/ 800518 w 838878"/>
              <a:gd name="connsiteY1" fmla="*/ 448737 h 1962927"/>
              <a:gd name="connsiteX2" fmla="*/ 813218 w 838878"/>
              <a:gd name="connsiteY2" fmla="*/ 1667937 h 1962927"/>
              <a:gd name="connsiteX3" fmla="*/ 419518 w 838878"/>
              <a:gd name="connsiteY3" fmla="*/ 1871137 h 1962927"/>
              <a:gd name="connsiteX4" fmla="*/ 51218 w 838878"/>
              <a:gd name="connsiteY4" fmla="*/ 1909237 h 1962927"/>
              <a:gd name="connsiteX5" fmla="*/ 25818 w 838878"/>
              <a:gd name="connsiteY5" fmla="*/ 1134537 h 1962927"/>
              <a:gd name="connsiteX6" fmla="*/ 267118 w 838878"/>
              <a:gd name="connsiteY6" fmla="*/ 283637 h 1962927"/>
              <a:gd name="connsiteX7" fmla="*/ 584618 w 838878"/>
              <a:gd name="connsiteY7" fmla="*/ 80437 h 1962927"/>
              <a:gd name="connsiteX8" fmla="*/ 660818 w 838878"/>
              <a:gd name="connsiteY8" fmla="*/ 4237 h 1962927"/>
              <a:gd name="connsiteX9" fmla="*/ 800518 w 838878"/>
              <a:gd name="connsiteY9" fmla="*/ 169337 h 1962927"/>
              <a:gd name="connsiteX0" fmla="*/ 800518 w 838878"/>
              <a:gd name="connsiteY0" fmla="*/ 255797 h 2049387"/>
              <a:gd name="connsiteX1" fmla="*/ 800518 w 838878"/>
              <a:gd name="connsiteY1" fmla="*/ 535197 h 2049387"/>
              <a:gd name="connsiteX2" fmla="*/ 813218 w 838878"/>
              <a:gd name="connsiteY2" fmla="*/ 1754397 h 2049387"/>
              <a:gd name="connsiteX3" fmla="*/ 419518 w 838878"/>
              <a:gd name="connsiteY3" fmla="*/ 1957597 h 2049387"/>
              <a:gd name="connsiteX4" fmla="*/ 51218 w 838878"/>
              <a:gd name="connsiteY4" fmla="*/ 1995697 h 2049387"/>
              <a:gd name="connsiteX5" fmla="*/ 25818 w 838878"/>
              <a:gd name="connsiteY5" fmla="*/ 1220997 h 2049387"/>
              <a:gd name="connsiteX6" fmla="*/ 267118 w 838878"/>
              <a:gd name="connsiteY6" fmla="*/ 370097 h 2049387"/>
              <a:gd name="connsiteX7" fmla="*/ 584618 w 838878"/>
              <a:gd name="connsiteY7" fmla="*/ 166897 h 2049387"/>
              <a:gd name="connsiteX8" fmla="*/ 749718 w 838878"/>
              <a:gd name="connsiteY8" fmla="*/ 1797 h 2049387"/>
              <a:gd name="connsiteX9" fmla="*/ 800518 w 838878"/>
              <a:gd name="connsiteY9" fmla="*/ 255797 h 2049387"/>
              <a:gd name="connsiteX0" fmla="*/ 800518 w 838878"/>
              <a:gd name="connsiteY0" fmla="*/ 256863 h 2050453"/>
              <a:gd name="connsiteX1" fmla="*/ 800518 w 838878"/>
              <a:gd name="connsiteY1" fmla="*/ 536263 h 2050453"/>
              <a:gd name="connsiteX2" fmla="*/ 813218 w 838878"/>
              <a:gd name="connsiteY2" fmla="*/ 1755463 h 2050453"/>
              <a:gd name="connsiteX3" fmla="*/ 419518 w 838878"/>
              <a:gd name="connsiteY3" fmla="*/ 1958663 h 2050453"/>
              <a:gd name="connsiteX4" fmla="*/ 51218 w 838878"/>
              <a:gd name="connsiteY4" fmla="*/ 1996763 h 2050453"/>
              <a:gd name="connsiteX5" fmla="*/ 25818 w 838878"/>
              <a:gd name="connsiteY5" fmla="*/ 1222063 h 2050453"/>
              <a:gd name="connsiteX6" fmla="*/ 267118 w 838878"/>
              <a:gd name="connsiteY6" fmla="*/ 371163 h 2050453"/>
              <a:gd name="connsiteX7" fmla="*/ 406818 w 838878"/>
              <a:gd name="connsiteY7" fmla="*/ 129863 h 2050453"/>
              <a:gd name="connsiteX8" fmla="*/ 749718 w 838878"/>
              <a:gd name="connsiteY8" fmla="*/ 2863 h 2050453"/>
              <a:gd name="connsiteX9" fmla="*/ 800518 w 838878"/>
              <a:gd name="connsiteY9" fmla="*/ 256863 h 2050453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49718 w 838878"/>
              <a:gd name="connsiteY8" fmla="*/ 12944 h 2060534"/>
              <a:gd name="connsiteX9" fmla="*/ 800518 w 838878"/>
              <a:gd name="connsiteY9" fmla="*/ 266944 h 2060534"/>
              <a:gd name="connsiteX0" fmla="*/ 800518 w 838878"/>
              <a:gd name="connsiteY0" fmla="*/ 266944 h 2060534"/>
              <a:gd name="connsiteX1" fmla="*/ 800518 w 838878"/>
              <a:gd name="connsiteY1" fmla="*/ 546344 h 2060534"/>
              <a:gd name="connsiteX2" fmla="*/ 813218 w 838878"/>
              <a:gd name="connsiteY2" fmla="*/ 1765544 h 2060534"/>
              <a:gd name="connsiteX3" fmla="*/ 419518 w 838878"/>
              <a:gd name="connsiteY3" fmla="*/ 1968744 h 2060534"/>
              <a:gd name="connsiteX4" fmla="*/ 51218 w 838878"/>
              <a:gd name="connsiteY4" fmla="*/ 2006844 h 2060534"/>
              <a:gd name="connsiteX5" fmla="*/ 25818 w 838878"/>
              <a:gd name="connsiteY5" fmla="*/ 1232144 h 2060534"/>
              <a:gd name="connsiteX6" fmla="*/ 267118 w 838878"/>
              <a:gd name="connsiteY6" fmla="*/ 381244 h 2060534"/>
              <a:gd name="connsiteX7" fmla="*/ 470318 w 838878"/>
              <a:gd name="connsiteY7" fmla="*/ 63744 h 2060534"/>
              <a:gd name="connsiteX8" fmla="*/ 737018 w 838878"/>
              <a:gd name="connsiteY8" fmla="*/ 12944 h 2060534"/>
              <a:gd name="connsiteX9" fmla="*/ 800518 w 838878"/>
              <a:gd name="connsiteY9" fmla="*/ 266944 h 206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878" h="2060534">
                <a:moveTo>
                  <a:pt x="800518" y="266944"/>
                </a:moveTo>
                <a:cubicBezTo>
                  <a:pt x="811101" y="355844"/>
                  <a:pt x="798401" y="296577"/>
                  <a:pt x="800518" y="546344"/>
                </a:cubicBezTo>
                <a:cubicBezTo>
                  <a:pt x="802635" y="796111"/>
                  <a:pt x="876718" y="1528477"/>
                  <a:pt x="813218" y="1765544"/>
                </a:cubicBezTo>
                <a:cubicBezTo>
                  <a:pt x="749718" y="2002611"/>
                  <a:pt x="546518" y="1928527"/>
                  <a:pt x="419518" y="1968744"/>
                </a:cubicBezTo>
                <a:cubicBezTo>
                  <a:pt x="292518" y="2008961"/>
                  <a:pt x="116835" y="2129611"/>
                  <a:pt x="51218" y="2006844"/>
                </a:cubicBezTo>
                <a:cubicBezTo>
                  <a:pt x="-14399" y="1884077"/>
                  <a:pt x="-10165" y="1503077"/>
                  <a:pt x="25818" y="1232144"/>
                </a:cubicBezTo>
                <a:cubicBezTo>
                  <a:pt x="61801" y="961211"/>
                  <a:pt x="193035" y="575977"/>
                  <a:pt x="267118" y="381244"/>
                </a:cubicBezTo>
                <a:cubicBezTo>
                  <a:pt x="341201" y="186511"/>
                  <a:pt x="404701" y="110311"/>
                  <a:pt x="470318" y="63744"/>
                </a:cubicBezTo>
                <a:cubicBezTo>
                  <a:pt x="535935" y="17177"/>
                  <a:pt x="681985" y="-20923"/>
                  <a:pt x="737018" y="12944"/>
                </a:cubicBezTo>
                <a:cubicBezTo>
                  <a:pt x="792051" y="46811"/>
                  <a:pt x="789935" y="178044"/>
                  <a:pt x="800518" y="266944"/>
                </a:cubicBezTo>
                <a:close/>
              </a:path>
            </a:pathLst>
          </a:custGeom>
          <a:solidFill>
            <a:srgbClr val="FFB7CF"/>
          </a:solidFill>
          <a:ln>
            <a:solidFill>
              <a:srgbClr val="FF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677545-4EF4-48FF-AC95-95F9FB8CB95B}"/>
              </a:ext>
            </a:extLst>
          </p:cNvPr>
          <p:cNvGrpSpPr/>
          <p:nvPr/>
        </p:nvGrpSpPr>
        <p:grpSpPr>
          <a:xfrm>
            <a:off x="5565466" y="2776380"/>
            <a:ext cx="1183772" cy="1820338"/>
            <a:chOff x="4948037" y="2700862"/>
            <a:chExt cx="1186329" cy="134281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ADF09C-2B9C-4A0D-8F77-0123115F2B3B}"/>
                </a:ext>
              </a:extLst>
            </p:cNvPr>
            <p:cNvSpPr/>
            <p:nvPr/>
          </p:nvSpPr>
          <p:spPr>
            <a:xfrm>
              <a:off x="5455685" y="2893301"/>
              <a:ext cx="356682" cy="844733"/>
            </a:xfrm>
            <a:custGeom>
              <a:avLst/>
              <a:gdLst>
                <a:gd name="connsiteX0" fmla="*/ 479449 w 490557"/>
                <a:gd name="connsiteY0" fmla="*/ 6533 h 832663"/>
                <a:gd name="connsiteX1" fmla="*/ 365149 w 490557"/>
                <a:gd name="connsiteY1" fmla="*/ 40399 h 832663"/>
                <a:gd name="connsiteX2" fmla="*/ 166182 w 490557"/>
                <a:gd name="connsiteY2" fmla="*/ 205499 h 832663"/>
                <a:gd name="connsiteX3" fmla="*/ 18016 w 490557"/>
                <a:gd name="connsiteY3" fmla="*/ 738899 h 832663"/>
                <a:gd name="connsiteX4" fmla="*/ 5316 w 490557"/>
                <a:gd name="connsiteY4" fmla="*/ 806633 h 832663"/>
                <a:gd name="connsiteX5" fmla="*/ 43416 w 490557"/>
                <a:gd name="connsiteY5" fmla="*/ 815099 h 832663"/>
                <a:gd name="connsiteX6" fmla="*/ 106916 w 490557"/>
                <a:gd name="connsiteY6" fmla="*/ 578033 h 832663"/>
                <a:gd name="connsiteX7" fmla="*/ 204282 w 490557"/>
                <a:gd name="connsiteY7" fmla="*/ 226666 h 832663"/>
                <a:gd name="connsiteX8" fmla="*/ 348216 w 490557"/>
                <a:gd name="connsiteY8" fmla="*/ 141999 h 832663"/>
                <a:gd name="connsiteX9" fmla="*/ 445582 w 490557"/>
                <a:gd name="connsiteY9" fmla="*/ 146233 h 832663"/>
                <a:gd name="connsiteX10" fmla="*/ 479449 w 490557"/>
                <a:gd name="connsiteY10" fmla="*/ 141999 h 832663"/>
                <a:gd name="connsiteX11" fmla="*/ 479449 w 490557"/>
                <a:gd name="connsiteY11" fmla="*/ 6533 h 8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557" h="832663">
                  <a:moveTo>
                    <a:pt x="479449" y="6533"/>
                  </a:moveTo>
                  <a:cubicBezTo>
                    <a:pt x="460399" y="-10400"/>
                    <a:pt x="417360" y="7238"/>
                    <a:pt x="365149" y="40399"/>
                  </a:cubicBezTo>
                  <a:cubicBezTo>
                    <a:pt x="312938" y="73560"/>
                    <a:pt x="224037" y="89082"/>
                    <a:pt x="166182" y="205499"/>
                  </a:cubicBezTo>
                  <a:cubicBezTo>
                    <a:pt x="108327" y="321916"/>
                    <a:pt x="44827" y="638710"/>
                    <a:pt x="18016" y="738899"/>
                  </a:cubicBezTo>
                  <a:cubicBezTo>
                    <a:pt x="-8795" y="839088"/>
                    <a:pt x="1083" y="793933"/>
                    <a:pt x="5316" y="806633"/>
                  </a:cubicBezTo>
                  <a:cubicBezTo>
                    <a:pt x="9549" y="819333"/>
                    <a:pt x="26483" y="853199"/>
                    <a:pt x="43416" y="815099"/>
                  </a:cubicBezTo>
                  <a:cubicBezTo>
                    <a:pt x="60349" y="776999"/>
                    <a:pt x="80105" y="676105"/>
                    <a:pt x="106916" y="578033"/>
                  </a:cubicBezTo>
                  <a:cubicBezTo>
                    <a:pt x="133727" y="479961"/>
                    <a:pt x="164065" y="299338"/>
                    <a:pt x="204282" y="226666"/>
                  </a:cubicBezTo>
                  <a:cubicBezTo>
                    <a:pt x="244499" y="153994"/>
                    <a:pt x="307999" y="155404"/>
                    <a:pt x="348216" y="141999"/>
                  </a:cubicBezTo>
                  <a:cubicBezTo>
                    <a:pt x="388433" y="128594"/>
                    <a:pt x="423710" y="146233"/>
                    <a:pt x="445582" y="146233"/>
                  </a:cubicBezTo>
                  <a:cubicBezTo>
                    <a:pt x="467454" y="146233"/>
                    <a:pt x="469571" y="161049"/>
                    <a:pt x="479449" y="141999"/>
                  </a:cubicBezTo>
                  <a:cubicBezTo>
                    <a:pt x="489327" y="122949"/>
                    <a:pt x="498499" y="23466"/>
                    <a:pt x="479449" y="653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B44220-DE62-4417-BA72-AA8933F6359C}"/>
                </a:ext>
              </a:extLst>
            </p:cNvPr>
            <p:cNvSpPr/>
            <p:nvPr/>
          </p:nvSpPr>
          <p:spPr>
            <a:xfrm>
              <a:off x="5733856" y="2700862"/>
              <a:ext cx="400510" cy="537638"/>
            </a:xfrm>
            <a:custGeom>
              <a:avLst/>
              <a:gdLst>
                <a:gd name="connsiteX0" fmla="*/ 25156 w 433545"/>
                <a:gd name="connsiteY0" fmla="*/ 52999 h 743367"/>
                <a:gd name="connsiteX1" fmla="*/ 152156 w 433545"/>
                <a:gd name="connsiteY1" fmla="*/ 2199 h 743367"/>
                <a:gd name="connsiteX2" fmla="*/ 336306 w 433545"/>
                <a:gd name="connsiteY2" fmla="*/ 110149 h 743367"/>
                <a:gd name="connsiteX3" fmla="*/ 425206 w 433545"/>
                <a:gd name="connsiteY3" fmla="*/ 503849 h 743367"/>
                <a:gd name="connsiteX4" fmla="*/ 133106 w 433545"/>
                <a:gd name="connsiteY4" fmla="*/ 738799 h 743367"/>
                <a:gd name="connsiteX5" fmla="*/ 12456 w 433545"/>
                <a:gd name="connsiteY5" fmla="*/ 643549 h 743367"/>
                <a:gd name="connsiteX6" fmla="*/ 12456 w 433545"/>
                <a:gd name="connsiteY6" fmla="*/ 453049 h 743367"/>
                <a:gd name="connsiteX7" fmla="*/ 88656 w 433545"/>
                <a:gd name="connsiteY7" fmla="*/ 376849 h 743367"/>
                <a:gd name="connsiteX8" fmla="*/ 63256 w 433545"/>
                <a:gd name="connsiteY8" fmla="*/ 230799 h 743367"/>
                <a:gd name="connsiteX9" fmla="*/ 25156 w 433545"/>
                <a:gd name="connsiteY9" fmla="*/ 52999 h 743367"/>
                <a:gd name="connsiteX0" fmla="*/ 25156 w 445484"/>
                <a:gd name="connsiteY0" fmla="*/ 52999 h 747177"/>
                <a:gd name="connsiteX1" fmla="*/ 152156 w 445484"/>
                <a:gd name="connsiteY1" fmla="*/ 2199 h 747177"/>
                <a:gd name="connsiteX2" fmla="*/ 336306 w 445484"/>
                <a:gd name="connsiteY2" fmla="*/ 110149 h 747177"/>
                <a:gd name="connsiteX3" fmla="*/ 437906 w 445484"/>
                <a:gd name="connsiteY3" fmla="*/ 433999 h 747177"/>
                <a:gd name="connsiteX4" fmla="*/ 133106 w 445484"/>
                <a:gd name="connsiteY4" fmla="*/ 738799 h 747177"/>
                <a:gd name="connsiteX5" fmla="*/ 12456 w 445484"/>
                <a:gd name="connsiteY5" fmla="*/ 643549 h 747177"/>
                <a:gd name="connsiteX6" fmla="*/ 12456 w 445484"/>
                <a:gd name="connsiteY6" fmla="*/ 453049 h 747177"/>
                <a:gd name="connsiteX7" fmla="*/ 88656 w 445484"/>
                <a:gd name="connsiteY7" fmla="*/ 376849 h 747177"/>
                <a:gd name="connsiteX8" fmla="*/ 63256 w 445484"/>
                <a:gd name="connsiteY8" fmla="*/ 230799 h 747177"/>
                <a:gd name="connsiteX9" fmla="*/ 25156 w 445484"/>
                <a:gd name="connsiteY9" fmla="*/ 52999 h 747177"/>
                <a:gd name="connsiteX0" fmla="*/ 31903 w 447478"/>
                <a:gd name="connsiteY0" fmla="*/ 52999 h 712354"/>
                <a:gd name="connsiteX1" fmla="*/ 158903 w 447478"/>
                <a:gd name="connsiteY1" fmla="*/ 2199 h 712354"/>
                <a:gd name="connsiteX2" fmla="*/ 343053 w 447478"/>
                <a:gd name="connsiteY2" fmla="*/ 110149 h 712354"/>
                <a:gd name="connsiteX3" fmla="*/ 444653 w 447478"/>
                <a:gd name="connsiteY3" fmla="*/ 433999 h 712354"/>
                <a:gd name="connsiteX4" fmla="*/ 235103 w 447478"/>
                <a:gd name="connsiteY4" fmla="*/ 700699 h 712354"/>
                <a:gd name="connsiteX5" fmla="*/ 19203 w 447478"/>
                <a:gd name="connsiteY5" fmla="*/ 643549 h 712354"/>
                <a:gd name="connsiteX6" fmla="*/ 19203 w 447478"/>
                <a:gd name="connsiteY6" fmla="*/ 453049 h 712354"/>
                <a:gd name="connsiteX7" fmla="*/ 95403 w 447478"/>
                <a:gd name="connsiteY7" fmla="*/ 376849 h 712354"/>
                <a:gd name="connsiteX8" fmla="*/ 70003 w 447478"/>
                <a:gd name="connsiteY8" fmla="*/ 230799 h 712354"/>
                <a:gd name="connsiteX9" fmla="*/ 31903 w 447478"/>
                <a:gd name="connsiteY9" fmla="*/ 52999 h 712354"/>
                <a:gd name="connsiteX0" fmla="*/ 32207 w 447782"/>
                <a:gd name="connsiteY0" fmla="*/ 52999 h 712354"/>
                <a:gd name="connsiteX1" fmla="*/ 159207 w 447782"/>
                <a:gd name="connsiteY1" fmla="*/ 2199 h 712354"/>
                <a:gd name="connsiteX2" fmla="*/ 343357 w 447782"/>
                <a:gd name="connsiteY2" fmla="*/ 110149 h 712354"/>
                <a:gd name="connsiteX3" fmla="*/ 444957 w 447782"/>
                <a:gd name="connsiteY3" fmla="*/ 433999 h 712354"/>
                <a:gd name="connsiteX4" fmla="*/ 235407 w 447782"/>
                <a:gd name="connsiteY4" fmla="*/ 700699 h 712354"/>
                <a:gd name="connsiteX5" fmla="*/ 19507 w 447782"/>
                <a:gd name="connsiteY5" fmla="*/ 643549 h 712354"/>
                <a:gd name="connsiteX6" fmla="*/ 19507 w 447782"/>
                <a:gd name="connsiteY6" fmla="*/ 453049 h 712354"/>
                <a:gd name="connsiteX7" fmla="*/ 102057 w 447782"/>
                <a:gd name="connsiteY7" fmla="*/ 345099 h 712354"/>
                <a:gd name="connsiteX8" fmla="*/ 70307 w 447782"/>
                <a:gd name="connsiteY8" fmla="*/ 230799 h 712354"/>
                <a:gd name="connsiteX9" fmla="*/ 32207 w 447782"/>
                <a:gd name="connsiteY9" fmla="*/ 52999 h 712354"/>
                <a:gd name="connsiteX0" fmla="*/ 32207 w 447782"/>
                <a:gd name="connsiteY0" fmla="*/ 52819 h 712174"/>
                <a:gd name="connsiteX1" fmla="*/ 159207 w 447782"/>
                <a:gd name="connsiteY1" fmla="*/ 2019 h 712174"/>
                <a:gd name="connsiteX2" fmla="*/ 343357 w 447782"/>
                <a:gd name="connsiteY2" fmla="*/ 109969 h 712174"/>
                <a:gd name="connsiteX3" fmla="*/ 444957 w 447782"/>
                <a:gd name="connsiteY3" fmla="*/ 433819 h 712174"/>
                <a:gd name="connsiteX4" fmla="*/ 235407 w 447782"/>
                <a:gd name="connsiteY4" fmla="*/ 700519 h 712174"/>
                <a:gd name="connsiteX5" fmla="*/ 19507 w 447782"/>
                <a:gd name="connsiteY5" fmla="*/ 643369 h 712174"/>
                <a:gd name="connsiteX6" fmla="*/ 19507 w 447782"/>
                <a:gd name="connsiteY6" fmla="*/ 452869 h 712174"/>
                <a:gd name="connsiteX7" fmla="*/ 102057 w 447782"/>
                <a:gd name="connsiteY7" fmla="*/ 344919 h 712174"/>
                <a:gd name="connsiteX8" fmla="*/ 70307 w 447782"/>
                <a:gd name="connsiteY8" fmla="*/ 211569 h 712174"/>
                <a:gd name="connsiteX9" fmla="*/ 32207 w 447782"/>
                <a:gd name="connsiteY9" fmla="*/ 52819 h 712174"/>
                <a:gd name="connsiteX0" fmla="*/ 21455 w 437030"/>
                <a:gd name="connsiteY0" fmla="*/ 52819 h 711417"/>
                <a:gd name="connsiteX1" fmla="*/ 148455 w 437030"/>
                <a:gd name="connsiteY1" fmla="*/ 2019 h 711417"/>
                <a:gd name="connsiteX2" fmla="*/ 332605 w 437030"/>
                <a:gd name="connsiteY2" fmla="*/ 109969 h 711417"/>
                <a:gd name="connsiteX3" fmla="*/ 434205 w 437030"/>
                <a:gd name="connsiteY3" fmla="*/ 433819 h 711417"/>
                <a:gd name="connsiteX4" fmla="*/ 224655 w 437030"/>
                <a:gd name="connsiteY4" fmla="*/ 700519 h 711417"/>
                <a:gd name="connsiteX5" fmla="*/ 8755 w 437030"/>
                <a:gd name="connsiteY5" fmla="*/ 643369 h 711417"/>
                <a:gd name="connsiteX6" fmla="*/ 46855 w 437030"/>
                <a:gd name="connsiteY6" fmla="*/ 490969 h 711417"/>
                <a:gd name="connsiteX7" fmla="*/ 91305 w 437030"/>
                <a:gd name="connsiteY7" fmla="*/ 344919 h 711417"/>
                <a:gd name="connsiteX8" fmla="*/ 59555 w 437030"/>
                <a:gd name="connsiteY8" fmla="*/ 211569 h 711417"/>
                <a:gd name="connsiteX9" fmla="*/ 21455 w 437030"/>
                <a:gd name="connsiteY9" fmla="*/ 52819 h 711417"/>
                <a:gd name="connsiteX0" fmla="*/ 4715 w 420290"/>
                <a:gd name="connsiteY0" fmla="*/ 52819 h 721846"/>
                <a:gd name="connsiteX1" fmla="*/ 131715 w 420290"/>
                <a:gd name="connsiteY1" fmla="*/ 2019 h 721846"/>
                <a:gd name="connsiteX2" fmla="*/ 315865 w 420290"/>
                <a:gd name="connsiteY2" fmla="*/ 109969 h 721846"/>
                <a:gd name="connsiteX3" fmla="*/ 417465 w 420290"/>
                <a:gd name="connsiteY3" fmla="*/ 433819 h 721846"/>
                <a:gd name="connsiteX4" fmla="*/ 207915 w 420290"/>
                <a:gd name="connsiteY4" fmla="*/ 700519 h 721846"/>
                <a:gd name="connsiteX5" fmla="*/ 11065 w 420290"/>
                <a:gd name="connsiteY5" fmla="*/ 681469 h 721846"/>
                <a:gd name="connsiteX6" fmla="*/ 30115 w 420290"/>
                <a:gd name="connsiteY6" fmla="*/ 490969 h 721846"/>
                <a:gd name="connsiteX7" fmla="*/ 74565 w 420290"/>
                <a:gd name="connsiteY7" fmla="*/ 344919 h 721846"/>
                <a:gd name="connsiteX8" fmla="*/ 42815 w 420290"/>
                <a:gd name="connsiteY8" fmla="*/ 211569 h 721846"/>
                <a:gd name="connsiteX9" fmla="*/ 4715 w 420290"/>
                <a:gd name="connsiteY9" fmla="*/ 52819 h 721846"/>
                <a:gd name="connsiteX0" fmla="*/ 7928 w 421830"/>
                <a:gd name="connsiteY0" fmla="*/ 52819 h 696413"/>
                <a:gd name="connsiteX1" fmla="*/ 134928 w 421830"/>
                <a:gd name="connsiteY1" fmla="*/ 2019 h 696413"/>
                <a:gd name="connsiteX2" fmla="*/ 319078 w 421830"/>
                <a:gd name="connsiteY2" fmla="*/ 109969 h 696413"/>
                <a:gd name="connsiteX3" fmla="*/ 420678 w 421830"/>
                <a:gd name="connsiteY3" fmla="*/ 433819 h 696413"/>
                <a:gd name="connsiteX4" fmla="*/ 255578 w 421830"/>
                <a:gd name="connsiteY4" fmla="*/ 656069 h 696413"/>
                <a:gd name="connsiteX5" fmla="*/ 14278 w 421830"/>
                <a:gd name="connsiteY5" fmla="*/ 681469 h 696413"/>
                <a:gd name="connsiteX6" fmla="*/ 33328 w 421830"/>
                <a:gd name="connsiteY6" fmla="*/ 490969 h 696413"/>
                <a:gd name="connsiteX7" fmla="*/ 77778 w 421830"/>
                <a:gd name="connsiteY7" fmla="*/ 344919 h 696413"/>
                <a:gd name="connsiteX8" fmla="*/ 46028 w 421830"/>
                <a:gd name="connsiteY8" fmla="*/ 211569 h 696413"/>
                <a:gd name="connsiteX9" fmla="*/ 7928 w 421830"/>
                <a:gd name="connsiteY9" fmla="*/ 52819 h 696413"/>
                <a:gd name="connsiteX0" fmla="*/ 3171 w 417073"/>
                <a:gd name="connsiteY0" fmla="*/ 52819 h 739717"/>
                <a:gd name="connsiteX1" fmla="*/ 130171 w 417073"/>
                <a:gd name="connsiteY1" fmla="*/ 2019 h 739717"/>
                <a:gd name="connsiteX2" fmla="*/ 314321 w 417073"/>
                <a:gd name="connsiteY2" fmla="*/ 109969 h 739717"/>
                <a:gd name="connsiteX3" fmla="*/ 415921 w 417073"/>
                <a:gd name="connsiteY3" fmla="*/ 433819 h 739717"/>
                <a:gd name="connsiteX4" fmla="*/ 250821 w 417073"/>
                <a:gd name="connsiteY4" fmla="*/ 656069 h 739717"/>
                <a:gd name="connsiteX5" fmla="*/ 41271 w 417073"/>
                <a:gd name="connsiteY5" fmla="*/ 732269 h 739717"/>
                <a:gd name="connsiteX6" fmla="*/ 28571 w 417073"/>
                <a:gd name="connsiteY6" fmla="*/ 490969 h 739717"/>
                <a:gd name="connsiteX7" fmla="*/ 73021 w 417073"/>
                <a:gd name="connsiteY7" fmla="*/ 344919 h 739717"/>
                <a:gd name="connsiteX8" fmla="*/ 41271 w 417073"/>
                <a:gd name="connsiteY8" fmla="*/ 211569 h 739717"/>
                <a:gd name="connsiteX9" fmla="*/ 3171 w 417073"/>
                <a:gd name="connsiteY9" fmla="*/ 52819 h 739717"/>
                <a:gd name="connsiteX0" fmla="*/ 3171 w 417073"/>
                <a:gd name="connsiteY0" fmla="*/ 52819 h 711527"/>
                <a:gd name="connsiteX1" fmla="*/ 130171 w 417073"/>
                <a:gd name="connsiteY1" fmla="*/ 2019 h 711527"/>
                <a:gd name="connsiteX2" fmla="*/ 314321 w 417073"/>
                <a:gd name="connsiteY2" fmla="*/ 109969 h 711527"/>
                <a:gd name="connsiteX3" fmla="*/ 415921 w 417073"/>
                <a:gd name="connsiteY3" fmla="*/ 433819 h 711527"/>
                <a:gd name="connsiteX4" fmla="*/ 250821 w 417073"/>
                <a:gd name="connsiteY4" fmla="*/ 656069 h 711527"/>
                <a:gd name="connsiteX5" fmla="*/ 53971 w 417073"/>
                <a:gd name="connsiteY5" fmla="*/ 700519 h 711527"/>
                <a:gd name="connsiteX6" fmla="*/ 28571 w 417073"/>
                <a:gd name="connsiteY6" fmla="*/ 490969 h 711527"/>
                <a:gd name="connsiteX7" fmla="*/ 73021 w 417073"/>
                <a:gd name="connsiteY7" fmla="*/ 344919 h 711527"/>
                <a:gd name="connsiteX8" fmla="*/ 41271 w 417073"/>
                <a:gd name="connsiteY8" fmla="*/ 211569 h 711527"/>
                <a:gd name="connsiteX9" fmla="*/ 3171 w 417073"/>
                <a:gd name="connsiteY9" fmla="*/ 52819 h 711527"/>
                <a:gd name="connsiteX0" fmla="*/ 4549 w 399401"/>
                <a:gd name="connsiteY0" fmla="*/ 76614 h 709922"/>
                <a:gd name="connsiteX1" fmla="*/ 112499 w 399401"/>
                <a:gd name="connsiteY1" fmla="*/ 414 h 709922"/>
                <a:gd name="connsiteX2" fmla="*/ 296649 w 399401"/>
                <a:gd name="connsiteY2" fmla="*/ 108364 h 709922"/>
                <a:gd name="connsiteX3" fmla="*/ 398249 w 399401"/>
                <a:gd name="connsiteY3" fmla="*/ 432214 h 709922"/>
                <a:gd name="connsiteX4" fmla="*/ 233149 w 399401"/>
                <a:gd name="connsiteY4" fmla="*/ 654464 h 709922"/>
                <a:gd name="connsiteX5" fmla="*/ 36299 w 399401"/>
                <a:gd name="connsiteY5" fmla="*/ 698914 h 709922"/>
                <a:gd name="connsiteX6" fmla="*/ 10899 w 399401"/>
                <a:gd name="connsiteY6" fmla="*/ 489364 h 709922"/>
                <a:gd name="connsiteX7" fmla="*/ 55349 w 399401"/>
                <a:gd name="connsiteY7" fmla="*/ 343314 h 709922"/>
                <a:gd name="connsiteX8" fmla="*/ 23599 w 399401"/>
                <a:gd name="connsiteY8" fmla="*/ 209964 h 709922"/>
                <a:gd name="connsiteX9" fmla="*/ 4549 w 399401"/>
                <a:gd name="connsiteY9" fmla="*/ 76614 h 709922"/>
                <a:gd name="connsiteX0" fmla="*/ 4549 w 399401"/>
                <a:gd name="connsiteY0" fmla="*/ 76614 h 694808"/>
                <a:gd name="connsiteX1" fmla="*/ 112499 w 399401"/>
                <a:gd name="connsiteY1" fmla="*/ 414 h 694808"/>
                <a:gd name="connsiteX2" fmla="*/ 296649 w 399401"/>
                <a:gd name="connsiteY2" fmla="*/ 108364 h 694808"/>
                <a:gd name="connsiteX3" fmla="*/ 398249 w 399401"/>
                <a:gd name="connsiteY3" fmla="*/ 432214 h 694808"/>
                <a:gd name="connsiteX4" fmla="*/ 233149 w 399401"/>
                <a:gd name="connsiteY4" fmla="*/ 654464 h 694808"/>
                <a:gd name="connsiteX5" fmla="*/ 48999 w 399401"/>
                <a:gd name="connsiteY5" fmla="*/ 679864 h 694808"/>
                <a:gd name="connsiteX6" fmla="*/ 10899 w 399401"/>
                <a:gd name="connsiteY6" fmla="*/ 489364 h 694808"/>
                <a:gd name="connsiteX7" fmla="*/ 55349 w 399401"/>
                <a:gd name="connsiteY7" fmla="*/ 343314 h 694808"/>
                <a:gd name="connsiteX8" fmla="*/ 23599 w 399401"/>
                <a:gd name="connsiteY8" fmla="*/ 209964 h 694808"/>
                <a:gd name="connsiteX9" fmla="*/ 4549 w 399401"/>
                <a:gd name="connsiteY9" fmla="*/ 76614 h 694808"/>
                <a:gd name="connsiteX0" fmla="*/ 4549 w 386893"/>
                <a:gd name="connsiteY0" fmla="*/ 76614 h 699306"/>
                <a:gd name="connsiteX1" fmla="*/ 112499 w 386893"/>
                <a:gd name="connsiteY1" fmla="*/ 414 h 699306"/>
                <a:gd name="connsiteX2" fmla="*/ 296649 w 386893"/>
                <a:gd name="connsiteY2" fmla="*/ 108364 h 699306"/>
                <a:gd name="connsiteX3" fmla="*/ 385549 w 386893"/>
                <a:gd name="connsiteY3" fmla="*/ 339081 h 699306"/>
                <a:gd name="connsiteX4" fmla="*/ 233149 w 386893"/>
                <a:gd name="connsiteY4" fmla="*/ 654464 h 699306"/>
                <a:gd name="connsiteX5" fmla="*/ 48999 w 386893"/>
                <a:gd name="connsiteY5" fmla="*/ 679864 h 699306"/>
                <a:gd name="connsiteX6" fmla="*/ 10899 w 386893"/>
                <a:gd name="connsiteY6" fmla="*/ 489364 h 699306"/>
                <a:gd name="connsiteX7" fmla="*/ 55349 w 386893"/>
                <a:gd name="connsiteY7" fmla="*/ 343314 h 699306"/>
                <a:gd name="connsiteX8" fmla="*/ 23599 w 386893"/>
                <a:gd name="connsiteY8" fmla="*/ 209964 h 699306"/>
                <a:gd name="connsiteX9" fmla="*/ 4549 w 386893"/>
                <a:gd name="connsiteY9" fmla="*/ 76614 h 699306"/>
                <a:gd name="connsiteX0" fmla="*/ 4549 w 362153"/>
                <a:gd name="connsiteY0" fmla="*/ 76614 h 698199"/>
                <a:gd name="connsiteX1" fmla="*/ 112499 w 362153"/>
                <a:gd name="connsiteY1" fmla="*/ 414 h 698199"/>
                <a:gd name="connsiteX2" fmla="*/ 296649 w 362153"/>
                <a:gd name="connsiteY2" fmla="*/ 108364 h 698199"/>
                <a:gd name="connsiteX3" fmla="*/ 360149 w 362153"/>
                <a:gd name="connsiteY3" fmla="*/ 360248 h 698199"/>
                <a:gd name="connsiteX4" fmla="*/ 233149 w 362153"/>
                <a:gd name="connsiteY4" fmla="*/ 654464 h 698199"/>
                <a:gd name="connsiteX5" fmla="*/ 48999 w 362153"/>
                <a:gd name="connsiteY5" fmla="*/ 679864 h 698199"/>
                <a:gd name="connsiteX6" fmla="*/ 10899 w 362153"/>
                <a:gd name="connsiteY6" fmla="*/ 489364 h 698199"/>
                <a:gd name="connsiteX7" fmla="*/ 55349 w 362153"/>
                <a:gd name="connsiteY7" fmla="*/ 343314 h 698199"/>
                <a:gd name="connsiteX8" fmla="*/ 23599 w 362153"/>
                <a:gd name="connsiteY8" fmla="*/ 209964 h 698199"/>
                <a:gd name="connsiteX9" fmla="*/ 4549 w 362153"/>
                <a:gd name="connsiteY9" fmla="*/ 76614 h 698199"/>
                <a:gd name="connsiteX0" fmla="*/ 4549 w 437153"/>
                <a:gd name="connsiteY0" fmla="*/ 76614 h 697769"/>
                <a:gd name="connsiteX1" fmla="*/ 112499 w 437153"/>
                <a:gd name="connsiteY1" fmla="*/ 414 h 697769"/>
                <a:gd name="connsiteX2" fmla="*/ 296649 w 437153"/>
                <a:gd name="connsiteY2" fmla="*/ 108364 h 697769"/>
                <a:gd name="connsiteX3" fmla="*/ 436349 w 437153"/>
                <a:gd name="connsiteY3" fmla="*/ 368714 h 697769"/>
                <a:gd name="connsiteX4" fmla="*/ 233149 w 437153"/>
                <a:gd name="connsiteY4" fmla="*/ 654464 h 697769"/>
                <a:gd name="connsiteX5" fmla="*/ 48999 w 437153"/>
                <a:gd name="connsiteY5" fmla="*/ 679864 h 697769"/>
                <a:gd name="connsiteX6" fmla="*/ 10899 w 437153"/>
                <a:gd name="connsiteY6" fmla="*/ 489364 h 697769"/>
                <a:gd name="connsiteX7" fmla="*/ 55349 w 437153"/>
                <a:gd name="connsiteY7" fmla="*/ 343314 h 697769"/>
                <a:gd name="connsiteX8" fmla="*/ 23599 w 437153"/>
                <a:gd name="connsiteY8" fmla="*/ 209964 h 697769"/>
                <a:gd name="connsiteX9" fmla="*/ 4549 w 437153"/>
                <a:gd name="connsiteY9" fmla="*/ 76614 h 697769"/>
                <a:gd name="connsiteX0" fmla="*/ 4549 w 436399"/>
                <a:gd name="connsiteY0" fmla="*/ 76614 h 687185"/>
                <a:gd name="connsiteX1" fmla="*/ 112499 w 436399"/>
                <a:gd name="connsiteY1" fmla="*/ 414 h 687185"/>
                <a:gd name="connsiteX2" fmla="*/ 296649 w 436399"/>
                <a:gd name="connsiteY2" fmla="*/ 108364 h 687185"/>
                <a:gd name="connsiteX3" fmla="*/ 436349 w 436399"/>
                <a:gd name="connsiteY3" fmla="*/ 368714 h 687185"/>
                <a:gd name="connsiteX4" fmla="*/ 309349 w 436399"/>
                <a:gd name="connsiteY4" fmla="*/ 620597 h 687185"/>
                <a:gd name="connsiteX5" fmla="*/ 48999 w 436399"/>
                <a:gd name="connsiteY5" fmla="*/ 679864 h 687185"/>
                <a:gd name="connsiteX6" fmla="*/ 10899 w 436399"/>
                <a:gd name="connsiteY6" fmla="*/ 489364 h 687185"/>
                <a:gd name="connsiteX7" fmla="*/ 55349 w 436399"/>
                <a:gd name="connsiteY7" fmla="*/ 343314 h 687185"/>
                <a:gd name="connsiteX8" fmla="*/ 23599 w 436399"/>
                <a:gd name="connsiteY8" fmla="*/ 209964 h 687185"/>
                <a:gd name="connsiteX9" fmla="*/ 4549 w 436399"/>
                <a:gd name="connsiteY9" fmla="*/ 76614 h 687185"/>
                <a:gd name="connsiteX0" fmla="*/ 4549 w 436401"/>
                <a:gd name="connsiteY0" fmla="*/ 76220 h 686791"/>
                <a:gd name="connsiteX1" fmla="*/ 112499 w 436401"/>
                <a:gd name="connsiteY1" fmla="*/ 20 h 686791"/>
                <a:gd name="connsiteX2" fmla="*/ 322049 w 436401"/>
                <a:gd name="connsiteY2" fmla="*/ 82570 h 686791"/>
                <a:gd name="connsiteX3" fmla="*/ 436349 w 436401"/>
                <a:gd name="connsiteY3" fmla="*/ 368320 h 686791"/>
                <a:gd name="connsiteX4" fmla="*/ 309349 w 436401"/>
                <a:gd name="connsiteY4" fmla="*/ 620203 h 686791"/>
                <a:gd name="connsiteX5" fmla="*/ 48999 w 436401"/>
                <a:gd name="connsiteY5" fmla="*/ 679470 h 686791"/>
                <a:gd name="connsiteX6" fmla="*/ 10899 w 436401"/>
                <a:gd name="connsiteY6" fmla="*/ 488970 h 686791"/>
                <a:gd name="connsiteX7" fmla="*/ 55349 w 436401"/>
                <a:gd name="connsiteY7" fmla="*/ 342920 h 686791"/>
                <a:gd name="connsiteX8" fmla="*/ 23599 w 436401"/>
                <a:gd name="connsiteY8" fmla="*/ 209570 h 686791"/>
                <a:gd name="connsiteX9" fmla="*/ 4549 w 436401"/>
                <a:gd name="connsiteY9" fmla="*/ 76220 h 686791"/>
                <a:gd name="connsiteX0" fmla="*/ 541 w 432393"/>
                <a:gd name="connsiteY0" fmla="*/ 76220 h 686791"/>
                <a:gd name="connsiteX1" fmla="*/ 108491 w 432393"/>
                <a:gd name="connsiteY1" fmla="*/ 20 h 686791"/>
                <a:gd name="connsiteX2" fmla="*/ 318041 w 432393"/>
                <a:gd name="connsiteY2" fmla="*/ 82570 h 686791"/>
                <a:gd name="connsiteX3" fmla="*/ 432341 w 432393"/>
                <a:gd name="connsiteY3" fmla="*/ 368320 h 686791"/>
                <a:gd name="connsiteX4" fmla="*/ 305341 w 432393"/>
                <a:gd name="connsiteY4" fmla="*/ 620203 h 686791"/>
                <a:gd name="connsiteX5" fmla="*/ 44991 w 432393"/>
                <a:gd name="connsiteY5" fmla="*/ 679470 h 686791"/>
                <a:gd name="connsiteX6" fmla="*/ 6891 w 432393"/>
                <a:gd name="connsiteY6" fmla="*/ 488970 h 686791"/>
                <a:gd name="connsiteX7" fmla="*/ 51341 w 432393"/>
                <a:gd name="connsiteY7" fmla="*/ 342920 h 686791"/>
                <a:gd name="connsiteX8" fmla="*/ 66158 w 432393"/>
                <a:gd name="connsiteY8" fmla="*/ 226504 h 686791"/>
                <a:gd name="connsiteX9" fmla="*/ 541 w 432393"/>
                <a:gd name="connsiteY9" fmla="*/ 76220 h 686791"/>
                <a:gd name="connsiteX0" fmla="*/ 541 w 432393"/>
                <a:gd name="connsiteY0" fmla="*/ 76220 h 684527"/>
                <a:gd name="connsiteX1" fmla="*/ 108491 w 432393"/>
                <a:gd name="connsiteY1" fmla="*/ 20 h 684527"/>
                <a:gd name="connsiteX2" fmla="*/ 318041 w 432393"/>
                <a:gd name="connsiteY2" fmla="*/ 82570 h 684527"/>
                <a:gd name="connsiteX3" fmla="*/ 432341 w 432393"/>
                <a:gd name="connsiteY3" fmla="*/ 368320 h 684527"/>
                <a:gd name="connsiteX4" fmla="*/ 305341 w 432393"/>
                <a:gd name="connsiteY4" fmla="*/ 620203 h 684527"/>
                <a:gd name="connsiteX5" fmla="*/ 44991 w 432393"/>
                <a:gd name="connsiteY5" fmla="*/ 679470 h 684527"/>
                <a:gd name="connsiteX6" fmla="*/ 32291 w 432393"/>
                <a:gd name="connsiteY6" fmla="*/ 522837 h 684527"/>
                <a:gd name="connsiteX7" fmla="*/ 51341 w 432393"/>
                <a:gd name="connsiteY7" fmla="*/ 342920 h 684527"/>
                <a:gd name="connsiteX8" fmla="*/ 66158 w 432393"/>
                <a:gd name="connsiteY8" fmla="*/ 226504 h 684527"/>
                <a:gd name="connsiteX9" fmla="*/ 541 w 432393"/>
                <a:gd name="connsiteY9" fmla="*/ 76220 h 684527"/>
                <a:gd name="connsiteX0" fmla="*/ 606 w 432458"/>
                <a:gd name="connsiteY0" fmla="*/ 76220 h 684527"/>
                <a:gd name="connsiteX1" fmla="*/ 108556 w 432458"/>
                <a:gd name="connsiteY1" fmla="*/ 20 h 684527"/>
                <a:gd name="connsiteX2" fmla="*/ 318106 w 432458"/>
                <a:gd name="connsiteY2" fmla="*/ 82570 h 684527"/>
                <a:gd name="connsiteX3" fmla="*/ 432406 w 432458"/>
                <a:gd name="connsiteY3" fmla="*/ 368320 h 684527"/>
                <a:gd name="connsiteX4" fmla="*/ 305406 w 432458"/>
                <a:gd name="connsiteY4" fmla="*/ 620203 h 684527"/>
                <a:gd name="connsiteX5" fmla="*/ 45056 w 432458"/>
                <a:gd name="connsiteY5" fmla="*/ 679470 h 684527"/>
                <a:gd name="connsiteX6" fmla="*/ 32356 w 432458"/>
                <a:gd name="connsiteY6" fmla="*/ 522837 h 684527"/>
                <a:gd name="connsiteX7" fmla="*/ 97972 w 432458"/>
                <a:gd name="connsiteY7" fmla="*/ 359853 h 684527"/>
                <a:gd name="connsiteX8" fmla="*/ 66223 w 432458"/>
                <a:gd name="connsiteY8" fmla="*/ 226504 h 684527"/>
                <a:gd name="connsiteX9" fmla="*/ 606 w 432458"/>
                <a:gd name="connsiteY9" fmla="*/ 76220 h 684527"/>
                <a:gd name="connsiteX0" fmla="*/ 37516 w 414334"/>
                <a:gd name="connsiteY0" fmla="*/ 84671 h 684512"/>
                <a:gd name="connsiteX1" fmla="*/ 90432 w 414334"/>
                <a:gd name="connsiteY1" fmla="*/ 5 h 684512"/>
                <a:gd name="connsiteX2" fmla="*/ 299982 w 414334"/>
                <a:gd name="connsiteY2" fmla="*/ 82555 h 684512"/>
                <a:gd name="connsiteX3" fmla="*/ 414282 w 414334"/>
                <a:gd name="connsiteY3" fmla="*/ 368305 h 684512"/>
                <a:gd name="connsiteX4" fmla="*/ 287282 w 414334"/>
                <a:gd name="connsiteY4" fmla="*/ 620188 h 684512"/>
                <a:gd name="connsiteX5" fmla="*/ 26932 w 414334"/>
                <a:gd name="connsiteY5" fmla="*/ 679455 h 684512"/>
                <a:gd name="connsiteX6" fmla="*/ 14232 w 414334"/>
                <a:gd name="connsiteY6" fmla="*/ 522822 h 684512"/>
                <a:gd name="connsiteX7" fmla="*/ 79848 w 414334"/>
                <a:gd name="connsiteY7" fmla="*/ 359838 h 684512"/>
                <a:gd name="connsiteX8" fmla="*/ 48099 w 414334"/>
                <a:gd name="connsiteY8" fmla="*/ 226489 h 684512"/>
                <a:gd name="connsiteX9" fmla="*/ 37516 w 414334"/>
                <a:gd name="connsiteY9" fmla="*/ 84671 h 684512"/>
                <a:gd name="connsiteX0" fmla="*/ 23692 w 400510"/>
                <a:gd name="connsiteY0" fmla="*/ 84671 h 669806"/>
                <a:gd name="connsiteX1" fmla="*/ 76608 w 400510"/>
                <a:gd name="connsiteY1" fmla="*/ 5 h 669806"/>
                <a:gd name="connsiteX2" fmla="*/ 286158 w 400510"/>
                <a:gd name="connsiteY2" fmla="*/ 82555 h 669806"/>
                <a:gd name="connsiteX3" fmla="*/ 400458 w 400510"/>
                <a:gd name="connsiteY3" fmla="*/ 368305 h 669806"/>
                <a:gd name="connsiteX4" fmla="*/ 273458 w 400510"/>
                <a:gd name="connsiteY4" fmla="*/ 620188 h 669806"/>
                <a:gd name="connsiteX5" fmla="*/ 51208 w 400510"/>
                <a:gd name="connsiteY5" fmla="*/ 662521 h 669806"/>
                <a:gd name="connsiteX6" fmla="*/ 408 w 400510"/>
                <a:gd name="connsiteY6" fmla="*/ 522822 h 669806"/>
                <a:gd name="connsiteX7" fmla="*/ 66024 w 400510"/>
                <a:gd name="connsiteY7" fmla="*/ 359838 h 669806"/>
                <a:gd name="connsiteX8" fmla="*/ 34275 w 400510"/>
                <a:gd name="connsiteY8" fmla="*/ 226489 h 669806"/>
                <a:gd name="connsiteX9" fmla="*/ 23692 w 400510"/>
                <a:gd name="connsiteY9" fmla="*/ 84671 h 66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510" h="669806">
                  <a:moveTo>
                    <a:pt x="23692" y="84671"/>
                  </a:moveTo>
                  <a:cubicBezTo>
                    <a:pt x="30747" y="46924"/>
                    <a:pt x="32864" y="358"/>
                    <a:pt x="76608" y="5"/>
                  </a:cubicBezTo>
                  <a:cubicBezTo>
                    <a:pt x="120352" y="-348"/>
                    <a:pt x="232183" y="21172"/>
                    <a:pt x="286158" y="82555"/>
                  </a:cubicBezTo>
                  <a:cubicBezTo>
                    <a:pt x="340133" y="143938"/>
                    <a:pt x="402575" y="278700"/>
                    <a:pt x="400458" y="368305"/>
                  </a:cubicBezTo>
                  <a:cubicBezTo>
                    <a:pt x="398341" y="457910"/>
                    <a:pt x="331666" y="571152"/>
                    <a:pt x="273458" y="620188"/>
                  </a:cubicBezTo>
                  <a:cubicBezTo>
                    <a:pt x="215250" y="669224"/>
                    <a:pt x="96716" y="678749"/>
                    <a:pt x="51208" y="662521"/>
                  </a:cubicBezTo>
                  <a:cubicBezTo>
                    <a:pt x="5700" y="646293"/>
                    <a:pt x="-2061" y="573269"/>
                    <a:pt x="408" y="522822"/>
                  </a:cubicBezTo>
                  <a:cubicBezTo>
                    <a:pt x="2877" y="472375"/>
                    <a:pt x="57557" y="396880"/>
                    <a:pt x="66024" y="359838"/>
                  </a:cubicBezTo>
                  <a:cubicBezTo>
                    <a:pt x="74491" y="322796"/>
                    <a:pt x="41330" y="272350"/>
                    <a:pt x="34275" y="226489"/>
                  </a:cubicBezTo>
                  <a:cubicBezTo>
                    <a:pt x="27220" y="180628"/>
                    <a:pt x="16637" y="122418"/>
                    <a:pt x="23692" y="84671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4D1A8BD-0DAD-4349-B3E5-D349DA4ED072}"/>
                </a:ext>
              </a:extLst>
            </p:cNvPr>
            <p:cNvSpPr/>
            <p:nvPr/>
          </p:nvSpPr>
          <p:spPr>
            <a:xfrm>
              <a:off x="4948037" y="3647784"/>
              <a:ext cx="624404" cy="395893"/>
            </a:xfrm>
            <a:custGeom>
              <a:avLst/>
              <a:gdLst>
                <a:gd name="connsiteX0" fmla="*/ 51822 w 941803"/>
                <a:gd name="connsiteY0" fmla="*/ 266957 h 698813"/>
                <a:gd name="connsiteX1" fmla="*/ 51822 w 941803"/>
                <a:gd name="connsiteY1" fmla="*/ 89157 h 698813"/>
                <a:gd name="connsiteX2" fmla="*/ 636022 w 941803"/>
                <a:gd name="connsiteY2" fmla="*/ 257 h 698813"/>
                <a:gd name="connsiteX3" fmla="*/ 940822 w 941803"/>
                <a:gd name="connsiteY3" fmla="*/ 114557 h 698813"/>
                <a:gd name="connsiteX4" fmla="*/ 724922 w 941803"/>
                <a:gd name="connsiteY4" fmla="*/ 546357 h 698813"/>
                <a:gd name="connsiteX5" fmla="*/ 496322 w 941803"/>
                <a:gd name="connsiteY5" fmla="*/ 698757 h 698813"/>
                <a:gd name="connsiteX6" fmla="*/ 255022 w 941803"/>
                <a:gd name="connsiteY6" fmla="*/ 533657 h 698813"/>
                <a:gd name="connsiteX7" fmla="*/ 51822 w 941803"/>
                <a:gd name="connsiteY7" fmla="*/ 266957 h 698813"/>
                <a:gd name="connsiteX0" fmla="*/ 45994 w 935975"/>
                <a:gd name="connsiteY0" fmla="*/ 283375 h 715231"/>
                <a:gd name="connsiteX1" fmla="*/ 54461 w 935975"/>
                <a:gd name="connsiteY1" fmla="*/ 29375 h 715231"/>
                <a:gd name="connsiteX2" fmla="*/ 630194 w 935975"/>
                <a:gd name="connsiteY2" fmla="*/ 16675 h 715231"/>
                <a:gd name="connsiteX3" fmla="*/ 934994 w 935975"/>
                <a:gd name="connsiteY3" fmla="*/ 130975 h 715231"/>
                <a:gd name="connsiteX4" fmla="*/ 719094 w 935975"/>
                <a:gd name="connsiteY4" fmla="*/ 562775 h 715231"/>
                <a:gd name="connsiteX5" fmla="*/ 490494 w 935975"/>
                <a:gd name="connsiteY5" fmla="*/ 715175 h 715231"/>
                <a:gd name="connsiteX6" fmla="*/ 249194 w 935975"/>
                <a:gd name="connsiteY6" fmla="*/ 550075 h 715231"/>
                <a:gd name="connsiteX7" fmla="*/ 45994 w 935975"/>
                <a:gd name="connsiteY7" fmla="*/ 283375 h 715231"/>
                <a:gd name="connsiteX0" fmla="*/ 46893 w 936630"/>
                <a:gd name="connsiteY0" fmla="*/ 311149 h 743005"/>
                <a:gd name="connsiteX1" fmla="*/ 55360 w 936630"/>
                <a:gd name="connsiteY1" fmla="*/ 57149 h 743005"/>
                <a:gd name="connsiteX2" fmla="*/ 643793 w 936630"/>
                <a:gd name="connsiteY2" fmla="*/ 6349 h 743005"/>
                <a:gd name="connsiteX3" fmla="*/ 935893 w 936630"/>
                <a:gd name="connsiteY3" fmla="*/ 158749 h 743005"/>
                <a:gd name="connsiteX4" fmla="*/ 719993 w 936630"/>
                <a:gd name="connsiteY4" fmla="*/ 590549 h 743005"/>
                <a:gd name="connsiteX5" fmla="*/ 491393 w 936630"/>
                <a:gd name="connsiteY5" fmla="*/ 742949 h 743005"/>
                <a:gd name="connsiteX6" fmla="*/ 250093 w 936630"/>
                <a:gd name="connsiteY6" fmla="*/ 577849 h 743005"/>
                <a:gd name="connsiteX7" fmla="*/ 46893 w 936630"/>
                <a:gd name="connsiteY7" fmla="*/ 311149 h 743005"/>
                <a:gd name="connsiteX0" fmla="*/ 46893 w 949286"/>
                <a:gd name="connsiteY0" fmla="*/ 310261 h 742119"/>
                <a:gd name="connsiteX1" fmla="*/ 55360 w 949286"/>
                <a:gd name="connsiteY1" fmla="*/ 56261 h 742119"/>
                <a:gd name="connsiteX2" fmla="*/ 643793 w 949286"/>
                <a:gd name="connsiteY2" fmla="*/ 5461 h 742119"/>
                <a:gd name="connsiteX3" fmla="*/ 948593 w 949286"/>
                <a:gd name="connsiteY3" fmla="*/ 145161 h 742119"/>
                <a:gd name="connsiteX4" fmla="*/ 719993 w 949286"/>
                <a:gd name="connsiteY4" fmla="*/ 589661 h 742119"/>
                <a:gd name="connsiteX5" fmla="*/ 491393 w 949286"/>
                <a:gd name="connsiteY5" fmla="*/ 742061 h 742119"/>
                <a:gd name="connsiteX6" fmla="*/ 250093 w 949286"/>
                <a:gd name="connsiteY6" fmla="*/ 576961 h 742119"/>
                <a:gd name="connsiteX7" fmla="*/ 46893 w 949286"/>
                <a:gd name="connsiteY7" fmla="*/ 310261 h 742119"/>
                <a:gd name="connsiteX0" fmla="*/ 51731 w 945658"/>
                <a:gd name="connsiteY0" fmla="*/ 327593 h 742517"/>
                <a:gd name="connsiteX1" fmla="*/ 51732 w 945658"/>
                <a:gd name="connsiteY1" fmla="*/ 56659 h 742517"/>
                <a:gd name="connsiteX2" fmla="*/ 640165 w 945658"/>
                <a:gd name="connsiteY2" fmla="*/ 5859 h 742517"/>
                <a:gd name="connsiteX3" fmla="*/ 944965 w 945658"/>
                <a:gd name="connsiteY3" fmla="*/ 145559 h 742517"/>
                <a:gd name="connsiteX4" fmla="*/ 716365 w 945658"/>
                <a:gd name="connsiteY4" fmla="*/ 590059 h 742517"/>
                <a:gd name="connsiteX5" fmla="*/ 487765 w 945658"/>
                <a:gd name="connsiteY5" fmla="*/ 742459 h 742517"/>
                <a:gd name="connsiteX6" fmla="*/ 246465 w 945658"/>
                <a:gd name="connsiteY6" fmla="*/ 577359 h 742517"/>
                <a:gd name="connsiteX7" fmla="*/ 51731 w 945658"/>
                <a:gd name="connsiteY7" fmla="*/ 327593 h 742517"/>
                <a:gd name="connsiteX0" fmla="*/ 51731 w 947176"/>
                <a:gd name="connsiteY0" fmla="*/ 327593 h 742483"/>
                <a:gd name="connsiteX1" fmla="*/ 51732 w 947176"/>
                <a:gd name="connsiteY1" fmla="*/ 56659 h 742483"/>
                <a:gd name="connsiteX2" fmla="*/ 640165 w 947176"/>
                <a:gd name="connsiteY2" fmla="*/ 5859 h 742483"/>
                <a:gd name="connsiteX3" fmla="*/ 944965 w 947176"/>
                <a:gd name="connsiteY3" fmla="*/ 145559 h 742483"/>
                <a:gd name="connsiteX4" fmla="*/ 762931 w 947176"/>
                <a:gd name="connsiteY4" fmla="*/ 509626 h 742483"/>
                <a:gd name="connsiteX5" fmla="*/ 487765 w 947176"/>
                <a:gd name="connsiteY5" fmla="*/ 742459 h 742483"/>
                <a:gd name="connsiteX6" fmla="*/ 246465 w 947176"/>
                <a:gd name="connsiteY6" fmla="*/ 577359 h 742483"/>
                <a:gd name="connsiteX7" fmla="*/ 51731 w 947176"/>
                <a:gd name="connsiteY7" fmla="*/ 327593 h 74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7176" h="742483">
                  <a:moveTo>
                    <a:pt x="51731" y="327593"/>
                  </a:moveTo>
                  <a:cubicBezTo>
                    <a:pt x="19276" y="240810"/>
                    <a:pt x="-46340" y="110281"/>
                    <a:pt x="51732" y="56659"/>
                  </a:cubicBezTo>
                  <a:cubicBezTo>
                    <a:pt x="149804" y="3037"/>
                    <a:pt x="491293" y="-8958"/>
                    <a:pt x="640165" y="5859"/>
                  </a:cubicBezTo>
                  <a:cubicBezTo>
                    <a:pt x="789037" y="20676"/>
                    <a:pt x="924504" y="61598"/>
                    <a:pt x="944965" y="145559"/>
                  </a:cubicBezTo>
                  <a:cubicBezTo>
                    <a:pt x="965426" y="229520"/>
                    <a:pt x="839131" y="410143"/>
                    <a:pt x="762931" y="509626"/>
                  </a:cubicBezTo>
                  <a:cubicBezTo>
                    <a:pt x="686731" y="609109"/>
                    <a:pt x="566082" y="744576"/>
                    <a:pt x="487765" y="742459"/>
                  </a:cubicBezTo>
                  <a:cubicBezTo>
                    <a:pt x="409448" y="740342"/>
                    <a:pt x="319137" y="646503"/>
                    <a:pt x="246465" y="577359"/>
                  </a:cubicBezTo>
                  <a:cubicBezTo>
                    <a:pt x="173793" y="508215"/>
                    <a:pt x="84186" y="414376"/>
                    <a:pt x="51731" y="327593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E49D33-B5E0-4BC0-B00C-B0F87B51F168}"/>
              </a:ext>
            </a:extLst>
          </p:cNvPr>
          <p:cNvSpPr/>
          <p:nvPr/>
        </p:nvSpPr>
        <p:spPr>
          <a:xfrm>
            <a:off x="5087894" y="2696414"/>
            <a:ext cx="1159339" cy="793591"/>
          </a:xfrm>
          <a:custGeom>
            <a:avLst/>
            <a:gdLst>
              <a:gd name="connsiteX0" fmla="*/ 29181 w 1262243"/>
              <a:gd name="connsiteY0" fmla="*/ 669044 h 768276"/>
              <a:gd name="connsiteX1" fmla="*/ 3781 w 1262243"/>
              <a:gd name="connsiteY1" fmla="*/ 256294 h 768276"/>
              <a:gd name="connsiteX2" fmla="*/ 86331 w 1262243"/>
              <a:gd name="connsiteY2" fmla="*/ 91194 h 768276"/>
              <a:gd name="connsiteX3" fmla="*/ 454631 w 1262243"/>
              <a:gd name="connsiteY3" fmla="*/ 21344 h 768276"/>
              <a:gd name="connsiteX4" fmla="*/ 1108681 w 1262243"/>
              <a:gd name="connsiteY4" fmla="*/ 2294 h 768276"/>
              <a:gd name="connsiteX5" fmla="*/ 1261081 w 1262243"/>
              <a:gd name="connsiteY5" fmla="*/ 65794 h 768276"/>
              <a:gd name="connsiteX6" fmla="*/ 1064231 w 1262243"/>
              <a:gd name="connsiteY6" fmla="*/ 243594 h 768276"/>
              <a:gd name="connsiteX7" fmla="*/ 778481 w 1262243"/>
              <a:gd name="connsiteY7" fmla="*/ 408694 h 768276"/>
              <a:gd name="connsiteX8" fmla="*/ 581631 w 1262243"/>
              <a:gd name="connsiteY8" fmla="*/ 516644 h 768276"/>
              <a:gd name="connsiteX9" fmla="*/ 530831 w 1262243"/>
              <a:gd name="connsiteY9" fmla="*/ 472194 h 768276"/>
              <a:gd name="connsiteX10" fmla="*/ 524481 w 1262243"/>
              <a:gd name="connsiteY10" fmla="*/ 586494 h 768276"/>
              <a:gd name="connsiteX11" fmla="*/ 162531 w 1262243"/>
              <a:gd name="connsiteY11" fmla="*/ 764294 h 768276"/>
              <a:gd name="connsiteX12" fmla="*/ 29181 w 1262243"/>
              <a:gd name="connsiteY12" fmla="*/ 669044 h 76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2243" h="768276">
                <a:moveTo>
                  <a:pt x="29181" y="669044"/>
                </a:moveTo>
                <a:cubicBezTo>
                  <a:pt x="2723" y="584377"/>
                  <a:pt x="-5744" y="352602"/>
                  <a:pt x="3781" y="256294"/>
                </a:cubicBezTo>
                <a:cubicBezTo>
                  <a:pt x="13306" y="159986"/>
                  <a:pt x="11189" y="130352"/>
                  <a:pt x="86331" y="91194"/>
                </a:cubicBezTo>
                <a:cubicBezTo>
                  <a:pt x="161473" y="52036"/>
                  <a:pt x="284239" y="36161"/>
                  <a:pt x="454631" y="21344"/>
                </a:cubicBezTo>
                <a:cubicBezTo>
                  <a:pt x="625023" y="6527"/>
                  <a:pt x="974273" y="-5114"/>
                  <a:pt x="1108681" y="2294"/>
                </a:cubicBezTo>
                <a:cubicBezTo>
                  <a:pt x="1243089" y="9702"/>
                  <a:pt x="1268489" y="25577"/>
                  <a:pt x="1261081" y="65794"/>
                </a:cubicBezTo>
                <a:cubicBezTo>
                  <a:pt x="1253673" y="106011"/>
                  <a:pt x="1144664" y="186444"/>
                  <a:pt x="1064231" y="243594"/>
                </a:cubicBezTo>
                <a:cubicBezTo>
                  <a:pt x="983798" y="300744"/>
                  <a:pt x="858914" y="363186"/>
                  <a:pt x="778481" y="408694"/>
                </a:cubicBezTo>
                <a:cubicBezTo>
                  <a:pt x="698048" y="454202"/>
                  <a:pt x="622906" y="506061"/>
                  <a:pt x="581631" y="516644"/>
                </a:cubicBezTo>
                <a:cubicBezTo>
                  <a:pt x="540356" y="527227"/>
                  <a:pt x="540356" y="460552"/>
                  <a:pt x="530831" y="472194"/>
                </a:cubicBezTo>
                <a:cubicBezTo>
                  <a:pt x="521306" y="483836"/>
                  <a:pt x="585864" y="537811"/>
                  <a:pt x="524481" y="586494"/>
                </a:cubicBezTo>
                <a:cubicBezTo>
                  <a:pt x="463098" y="635177"/>
                  <a:pt x="246139" y="749477"/>
                  <a:pt x="162531" y="764294"/>
                </a:cubicBezTo>
                <a:cubicBezTo>
                  <a:pt x="78923" y="779111"/>
                  <a:pt x="55639" y="753711"/>
                  <a:pt x="29181" y="669044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682960-79A2-4A44-9F4C-6B475A58E97E}"/>
              </a:ext>
            </a:extLst>
          </p:cNvPr>
          <p:cNvSpPr/>
          <p:nvPr/>
        </p:nvSpPr>
        <p:spPr>
          <a:xfrm>
            <a:off x="5226223" y="2955755"/>
            <a:ext cx="486183" cy="468792"/>
          </a:xfrm>
          <a:custGeom>
            <a:avLst/>
            <a:gdLst>
              <a:gd name="connsiteX0" fmla="*/ 216878 w 521740"/>
              <a:gd name="connsiteY0" fmla="*/ 72798 h 531822"/>
              <a:gd name="connsiteX1" fmla="*/ 108928 w 521740"/>
              <a:gd name="connsiteY1" fmla="*/ 47398 h 531822"/>
              <a:gd name="connsiteX2" fmla="*/ 978 w 521740"/>
              <a:gd name="connsiteY2" fmla="*/ 123598 h 531822"/>
              <a:gd name="connsiteX3" fmla="*/ 64478 w 521740"/>
              <a:gd name="connsiteY3" fmla="*/ 263298 h 531822"/>
              <a:gd name="connsiteX4" fmla="*/ 210528 w 521740"/>
              <a:gd name="connsiteY4" fmla="*/ 231548 h 531822"/>
              <a:gd name="connsiteX5" fmla="*/ 274028 w 521740"/>
              <a:gd name="connsiteY5" fmla="*/ 180748 h 531822"/>
              <a:gd name="connsiteX6" fmla="*/ 381978 w 521740"/>
              <a:gd name="connsiteY6" fmla="*/ 218848 h 531822"/>
              <a:gd name="connsiteX7" fmla="*/ 439128 w 521740"/>
              <a:gd name="connsiteY7" fmla="*/ 402998 h 531822"/>
              <a:gd name="connsiteX8" fmla="*/ 458178 w 521740"/>
              <a:gd name="connsiteY8" fmla="*/ 504598 h 531822"/>
              <a:gd name="connsiteX9" fmla="*/ 521678 w 521740"/>
              <a:gd name="connsiteY9" fmla="*/ 510948 h 531822"/>
              <a:gd name="connsiteX10" fmla="*/ 445478 w 521740"/>
              <a:gd name="connsiteY10" fmla="*/ 256948 h 531822"/>
              <a:gd name="connsiteX11" fmla="*/ 451828 w 521740"/>
              <a:gd name="connsiteY11" fmla="*/ 187098 h 531822"/>
              <a:gd name="connsiteX12" fmla="*/ 502628 w 521740"/>
              <a:gd name="connsiteY12" fmla="*/ 28348 h 531822"/>
              <a:gd name="connsiteX13" fmla="*/ 477228 w 521740"/>
              <a:gd name="connsiteY13" fmla="*/ 15648 h 531822"/>
              <a:gd name="connsiteX14" fmla="*/ 401028 w 521740"/>
              <a:gd name="connsiteY14" fmla="*/ 193448 h 531822"/>
              <a:gd name="connsiteX15" fmla="*/ 337528 w 521740"/>
              <a:gd name="connsiteY15" fmla="*/ 123598 h 531822"/>
              <a:gd name="connsiteX16" fmla="*/ 216878 w 521740"/>
              <a:gd name="connsiteY16" fmla="*/ 72798 h 531822"/>
              <a:gd name="connsiteX0" fmla="*/ 257716 w 562578"/>
              <a:gd name="connsiteY0" fmla="*/ 72798 h 531822"/>
              <a:gd name="connsiteX1" fmla="*/ 149766 w 562578"/>
              <a:gd name="connsiteY1" fmla="*/ 47398 h 531822"/>
              <a:gd name="connsiteX2" fmla="*/ 541 w 562578"/>
              <a:gd name="connsiteY2" fmla="*/ 188686 h 531822"/>
              <a:gd name="connsiteX3" fmla="*/ 105316 w 562578"/>
              <a:gd name="connsiteY3" fmla="*/ 263298 h 531822"/>
              <a:gd name="connsiteX4" fmla="*/ 251366 w 562578"/>
              <a:gd name="connsiteY4" fmla="*/ 231548 h 531822"/>
              <a:gd name="connsiteX5" fmla="*/ 314866 w 562578"/>
              <a:gd name="connsiteY5" fmla="*/ 180748 h 531822"/>
              <a:gd name="connsiteX6" fmla="*/ 422816 w 562578"/>
              <a:gd name="connsiteY6" fmla="*/ 218848 h 531822"/>
              <a:gd name="connsiteX7" fmla="*/ 479966 w 562578"/>
              <a:gd name="connsiteY7" fmla="*/ 402998 h 531822"/>
              <a:gd name="connsiteX8" fmla="*/ 499016 w 562578"/>
              <a:gd name="connsiteY8" fmla="*/ 504598 h 531822"/>
              <a:gd name="connsiteX9" fmla="*/ 562516 w 562578"/>
              <a:gd name="connsiteY9" fmla="*/ 510948 h 531822"/>
              <a:gd name="connsiteX10" fmla="*/ 486316 w 562578"/>
              <a:gd name="connsiteY10" fmla="*/ 256948 h 531822"/>
              <a:gd name="connsiteX11" fmla="*/ 492666 w 562578"/>
              <a:gd name="connsiteY11" fmla="*/ 187098 h 531822"/>
              <a:gd name="connsiteX12" fmla="*/ 543466 w 562578"/>
              <a:gd name="connsiteY12" fmla="*/ 28348 h 531822"/>
              <a:gd name="connsiteX13" fmla="*/ 518066 w 562578"/>
              <a:gd name="connsiteY13" fmla="*/ 15648 h 531822"/>
              <a:gd name="connsiteX14" fmla="*/ 441866 w 562578"/>
              <a:gd name="connsiteY14" fmla="*/ 193448 h 531822"/>
              <a:gd name="connsiteX15" fmla="*/ 378366 w 562578"/>
              <a:gd name="connsiteY15" fmla="*/ 123598 h 531822"/>
              <a:gd name="connsiteX16" fmla="*/ 257716 w 562578"/>
              <a:gd name="connsiteY16" fmla="*/ 72798 h 531822"/>
              <a:gd name="connsiteX0" fmla="*/ 261612 w 566474"/>
              <a:gd name="connsiteY0" fmla="*/ 72798 h 531822"/>
              <a:gd name="connsiteX1" fmla="*/ 153662 w 566474"/>
              <a:gd name="connsiteY1" fmla="*/ 47398 h 531822"/>
              <a:gd name="connsiteX2" fmla="*/ 4437 w 566474"/>
              <a:gd name="connsiteY2" fmla="*/ 188686 h 531822"/>
              <a:gd name="connsiteX3" fmla="*/ 109212 w 566474"/>
              <a:gd name="connsiteY3" fmla="*/ 263298 h 531822"/>
              <a:gd name="connsiteX4" fmla="*/ 255262 w 566474"/>
              <a:gd name="connsiteY4" fmla="*/ 231548 h 531822"/>
              <a:gd name="connsiteX5" fmla="*/ 318762 w 566474"/>
              <a:gd name="connsiteY5" fmla="*/ 180748 h 531822"/>
              <a:gd name="connsiteX6" fmla="*/ 426712 w 566474"/>
              <a:gd name="connsiteY6" fmla="*/ 218848 h 531822"/>
              <a:gd name="connsiteX7" fmla="*/ 483862 w 566474"/>
              <a:gd name="connsiteY7" fmla="*/ 402998 h 531822"/>
              <a:gd name="connsiteX8" fmla="*/ 502912 w 566474"/>
              <a:gd name="connsiteY8" fmla="*/ 504598 h 531822"/>
              <a:gd name="connsiteX9" fmla="*/ 566412 w 566474"/>
              <a:gd name="connsiteY9" fmla="*/ 510948 h 531822"/>
              <a:gd name="connsiteX10" fmla="*/ 490212 w 566474"/>
              <a:gd name="connsiteY10" fmla="*/ 256948 h 531822"/>
              <a:gd name="connsiteX11" fmla="*/ 496562 w 566474"/>
              <a:gd name="connsiteY11" fmla="*/ 187098 h 531822"/>
              <a:gd name="connsiteX12" fmla="*/ 547362 w 566474"/>
              <a:gd name="connsiteY12" fmla="*/ 28348 h 531822"/>
              <a:gd name="connsiteX13" fmla="*/ 521962 w 566474"/>
              <a:gd name="connsiteY13" fmla="*/ 15648 h 531822"/>
              <a:gd name="connsiteX14" fmla="*/ 445762 w 566474"/>
              <a:gd name="connsiteY14" fmla="*/ 193448 h 531822"/>
              <a:gd name="connsiteX15" fmla="*/ 382262 w 566474"/>
              <a:gd name="connsiteY15" fmla="*/ 123598 h 531822"/>
              <a:gd name="connsiteX16" fmla="*/ 261612 w 566474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57183 w 562045"/>
              <a:gd name="connsiteY0" fmla="*/ 72798 h 531822"/>
              <a:gd name="connsiteX1" fmla="*/ 109545 w 562045"/>
              <a:gd name="connsiteY1" fmla="*/ 42636 h 531822"/>
              <a:gd name="connsiteX2" fmla="*/ 8 w 562045"/>
              <a:gd name="connsiteY2" fmla="*/ 188686 h 531822"/>
              <a:gd name="connsiteX3" fmla="*/ 104783 w 562045"/>
              <a:gd name="connsiteY3" fmla="*/ 263298 h 531822"/>
              <a:gd name="connsiteX4" fmla="*/ 250833 w 562045"/>
              <a:gd name="connsiteY4" fmla="*/ 231548 h 531822"/>
              <a:gd name="connsiteX5" fmla="*/ 314333 w 562045"/>
              <a:gd name="connsiteY5" fmla="*/ 180748 h 531822"/>
              <a:gd name="connsiteX6" fmla="*/ 422283 w 562045"/>
              <a:gd name="connsiteY6" fmla="*/ 218848 h 531822"/>
              <a:gd name="connsiteX7" fmla="*/ 479433 w 562045"/>
              <a:gd name="connsiteY7" fmla="*/ 402998 h 531822"/>
              <a:gd name="connsiteX8" fmla="*/ 498483 w 562045"/>
              <a:gd name="connsiteY8" fmla="*/ 504598 h 531822"/>
              <a:gd name="connsiteX9" fmla="*/ 561983 w 562045"/>
              <a:gd name="connsiteY9" fmla="*/ 510948 h 531822"/>
              <a:gd name="connsiteX10" fmla="*/ 485783 w 562045"/>
              <a:gd name="connsiteY10" fmla="*/ 256948 h 531822"/>
              <a:gd name="connsiteX11" fmla="*/ 492133 w 562045"/>
              <a:gd name="connsiteY11" fmla="*/ 187098 h 531822"/>
              <a:gd name="connsiteX12" fmla="*/ 542933 w 562045"/>
              <a:gd name="connsiteY12" fmla="*/ 28348 h 531822"/>
              <a:gd name="connsiteX13" fmla="*/ 517533 w 562045"/>
              <a:gd name="connsiteY13" fmla="*/ 15648 h 531822"/>
              <a:gd name="connsiteX14" fmla="*/ 441333 w 562045"/>
              <a:gd name="connsiteY14" fmla="*/ 193448 h 531822"/>
              <a:gd name="connsiteX15" fmla="*/ 377833 w 562045"/>
              <a:gd name="connsiteY15" fmla="*/ 123598 h 531822"/>
              <a:gd name="connsiteX16" fmla="*/ 257183 w 562045"/>
              <a:gd name="connsiteY16" fmla="*/ 72798 h 531822"/>
              <a:gd name="connsiteX0" fmla="*/ 263531 w 568393"/>
              <a:gd name="connsiteY0" fmla="*/ 72798 h 531822"/>
              <a:gd name="connsiteX1" fmla="*/ 115893 w 568393"/>
              <a:gd name="connsiteY1" fmla="*/ 42636 h 531822"/>
              <a:gd name="connsiteX2" fmla="*/ 6 w 568393"/>
              <a:gd name="connsiteY2" fmla="*/ 153761 h 531822"/>
              <a:gd name="connsiteX3" fmla="*/ 111131 w 568393"/>
              <a:gd name="connsiteY3" fmla="*/ 263298 h 531822"/>
              <a:gd name="connsiteX4" fmla="*/ 257181 w 568393"/>
              <a:gd name="connsiteY4" fmla="*/ 231548 h 531822"/>
              <a:gd name="connsiteX5" fmla="*/ 320681 w 568393"/>
              <a:gd name="connsiteY5" fmla="*/ 180748 h 531822"/>
              <a:gd name="connsiteX6" fmla="*/ 428631 w 568393"/>
              <a:gd name="connsiteY6" fmla="*/ 218848 h 531822"/>
              <a:gd name="connsiteX7" fmla="*/ 485781 w 568393"/>
              <a:gd name="connsiteY7" fmla="*/ 402998 h 531822"/>
              <a:gd name="connsiteX8" fmla="*/ 504831 w 568393"/>
              <a:gd name="connsiteY8" fmla="*/ 504598 h 531822"/>
              <a:gd name="connsiteX9" fmla="*/ 568331 w 568393"/>
              <a:gd name="connsiteY9" fmla="*/ 510948 h 531822"/>
              <a:gd name="connsiteX10" fmla="*/ 492131 w 568393"/>
              <a:gd name="connsiteY10" fmla="*/ 256948 h 531822"/>
              <a:gd name="connsiteX11" fmla="*/ 498481 w 568393"/>
              <a:gd name="connsiteY11" fmla="*/ 187098 h 531822"/>
              <a:gd name="connsiteX12" fmla="*/ 549281 w 568393"/>
              <a:gd name="connsiteY12" fmla="*/ 28348 h 531822"/>
              <a:gd name="connsiteX13" fmla="*/ 523881 w 568393"/>
              <a:gd name="connsiteY13" fmla="*/ 15648 h 531822"/>
              <a:gd name="connsiteX14" fmla="*/ 447681 w 568393"/>
              <a:gd name="connsiteY14" fmla="*/ 193448 h 531822"/>
              <a:gd name="connsiteX15" fmla="*/ 384181 w 568393"/>
              <a:gd name="connsiteY15" fmla="*/ 123598 h 531822"/>
              <a:gd name="connsiteX16" fmla="*/ 263531 w 568393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85908 w 570120"/>
              <a:gd name="connsiteY15" fmla="*/ 123598 h 531822"/>
              <a:gd name="connsiteX16" fmla="*/ 265258 w 570120"/>
              <a:gd name="connsiteY16" fmla="*/ 72798 h 531822"/>
              <a:gd name="connsiteX0" fmla="*/ 265258 w 570120"/>
              <a:gd name="connsiteY0" fmla="*/ 72798 h 531822"/>
              <a:gd name="connsiteX1" fmla="*/ 117620 w 570120"/>
              <a:gd name="connsiteY1" fmla="*/ 42636 h 531822"/>
              <a:gd name="connsiteX2" fmla="*/ 1733 w 570120"/>
              <a:gd name="connsiteY2" fmla="*/ 153761 h 531822"/>
              <a:gd name="connsiteX3" fmla="*/ 112858 w 570120"/>
              <a:gd name="connsiteY3" fmla="*/ 263298 h 531822"/>
              <a:gd name="connsiteX4" fmla="*/ 258908 w 570120"/>
              <a:gd name="connsiteY4" fmla="*/ 231548 h 531822"/>
              <a:gd name="connsiteX5" fmla="*/ 322408 w 570120"/>
              <a:gd name="connsiteY5" fmla="*/ 180748 h 531822"/>
              <a:gd name="connsiteX6" fmla="*/ 430358 w 570120"/>
              <a:gd name="connsiteY6" fmla="*/ 218848 h 531822"/>
              <a:gd name="connsiteX7" fmla="*/ 487508 w 570120"/>
              <a:gd name="connsiteY7" fmla="*/ 402998 h 531822"/>
              <a:gd name="connsiteX8" fmla="*/ 506558 w 570120"/>
              <a:gd name="connsiteY8" fmla="*/ 504598 h 531822"/>
              <a:gd name="connsiteX9" fmla="*/ 570058 w 570120"/>
              <a:gd name="connsiteY9" fmla="*/ 510948 h 531822"/>
              <a:gd name="connsiteX10" fmla="*/ 493858 w 570120"/>
              <a:gd name="connsiteY10" fmla="*/ 256948 h 531822"/>
              <a:gd name="connsiteX11" fmla="*/ 500208 w 570120"/>
              <a:gd name="connsiteY11" fmla="*/ 187098 h 531822"/>
              <a:gd name="connsiteX12" fmla="*/ 551008 w 570120"/>
              <a:gd name="connsiteY12" fmla="*/ 28348 h 531822"/>
              <a:gd name="connsiteX13" fmla="*/ 525608 w 570120"/>
              <a:gd name="connsiteY13" fmla="*/ 15648 h 531822"/>
              <a:gd name="connsiteX14" fmla="*/ 449408 w 570120"/>
              <a:gd name="connsiteY14" fmla="*/ 193448 h 531822"/>
              <a:gd name="connsiteX15" fmla="*/ 354158 w 570120"/>
              <a:gd name="connsiteY15" fmla="*/ 115660 h 531822"/>
              <a:gd name="connsiteX16" fmla="*/ 265258 w 570120"/>
              <a:gd name="connsiteY16" fmla="*/ 72798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0117"/>
              <a:gd name="connsiteY0" fmla="*/ 63273 h 531822"/>
              <a:gd name="connsiteX1" fmla="*/ 117617 w 570117"/>
              <a:gd name="connsiteY1" fmla="*/ 42636 h 531822"/>
              <a:gd name="connsiteX2" fmla="*/ 1730 w 570117"/>
              <a:gd name="connsiteY2" fmla="*/ 153761 h 531822"/>
              <a:gd name="connsiteX3" fmla="*/ 112855 w 570117"/>
              <a:gd name="connsiteY3" fmla="*/ 263298 h 531822"/>
              <a:gd name="connsiteX4" fmla="*/ 258905 w 570117"/>
              <a:gd name="connsiteY4" fmla="*/ 231548 h 531822"/>
              <a:gd name="connsiteX5" fmla="*/ 322405 w 570117"/>
              <a:gd name="connsiteY5" fmla="*/ 180748 h 531822"/>
              <a:gd name="connsiteX6" fmla="*/ 430355 w 570117"/>
              <a:gd name="connsiteY6" fmla="*/ 218848 h 531822"/>
              <a:gd name="connsiteX7" fmla="*/ 487505 w 570117"/>
              <a:gd name="connsiteY7" fmla="*/ 402998 h 531822"/>
              <a:gd name="connsiteX8" fmla="*/ 506555 w 570117"/>
              <a:gd name="connsiteY8" fmla="*/ 504598 h 531822"/>
              <a:gd name="connsiteX9" fmla="*/ 570055 w 570117"/>
              <a:gd name="connsiteY9" fmla="*/ 510948 h 531822"/>
              <a:gd name="connsiteX10" fmla="*/ 493855 w 570117"/>
              <a:gd name="connsiteY10" fmla="*/ 256948 h 531822"/>
              <a:gd name="connsiteX11" fmla="*/ 500205 w 570117"/>
              <a:gd name="connsiteY11" fmla="*/ 187098 h 531822"/>
              <a:gd name="connsiteX12" fmla="*/ 551005 w 570117"/>
              <a:gd name="connsiteY12" fmla="*/ 28348 h 531822"/>
              <a:gd name="connsiteX13" fmla="*/ 525605 w 570117"/>
              <a:gd name="connsiteY13" fmla="*/ 15648 h 531822"/>
              <a:gd name="connsiteX14" fmla="*/ 449405 w 570117"/>
              <a:gd name="connsiteY14" fmla="*/ 193448 h 531822"/>
              <a:gd name="connsiteX15" fmla="*/ 354155 w 570117"/>
              <a:gd name="connsiteY15" fmla="*/ 115660 h 531822"/>
              <a:gd name="connsiteX16" fmla="*/ 263667 w 570117"/>
              <a:gd name="connsiteY16" fmla="*/ 63273 h 531822"/>
              <a:gd name="connsiteX0" fmla="*/ 263667 w 571247"/>
              <a:gd name="connsiteY0" fmla="*/ 63273 h 534426"/>
              <a:gd name="connsiteX1" fmla="*/ 117617 w 571247"/>
              <a:gd name="connsiteY1" fmla="*/ 42636 h 534426"/>
              <a:gd name="connsiteX2" fmla="*/ 1730 w 571247"/>
              <a:gd name="connsiteY2" fmla="*/ 153761 h 534426"/>
              <a:gd name="connsiteX3" fmla="*/ 112855 w 571247"/>
              <a:gd name="connsiteY3" fmla="*/ 263298 h 534426"/>
              <a:gd name="connsiteX4" fmla="*/ 258905 w 571247"/>
              <a:gd name="connsiteY4" fmla="*/ 231548 h 534426"/>
              <a:gd name="connsiteX5" fmla="*/ 322405 w 571247"/>
              <a:gd name="connsiteY5" fmla="*/ 180748 h 534426"/>
              <a:gd name="connsiteX6" fmla="*/ 430355 w 571247"/>
              <a:gd name="connsiteY6" fmla="*/ 218848 h 534426"/>
              <a:gd name="connsiteX7" fmla="*/ 487505 w 571247"/>
              <a:gd name="connsiteY7" fmla="*/ 402998 h 534426"/>
              <a:gd name="connsiteX8" fmla="*/ 536718 w 571247"/>
              <a:gd name="connsiteY8" fmla="*/ 510948 h 534426"/>
              <a:gd name="connsiteX9" fmla="*/ 570055 w 571247"/>
              <a:gd name="connsiteY9" fmla="*/ 510948 h 534426"/>
              <a:gd name="connsiteX10" fmla="*/ 493855 w 571247"/>
              <a:gd name="connsiteY10" fmla="*/ 256948 h 534426"/>
              <a:gd name="connsiteX11" fmla="*/ 500205 w 571247"/>
              <a:gd name="connsiteY11" fmla="*/ 187098 h 534426"/>
              <a:gd name="connsiteX12" fmla="*/ 551005 w 571247"/>
              <a:gd name="connsiteY12" fmla="*/ 28348 h 534426"/>
              <a:gd name="connsiteX13" fmla="*/ 525605 w 571247"/>
              <a:gd name="connsiteY13" fmla="*/ 15648 h 534426"/>
              <a:gd name="connsiteX14" fmla="*/ 449405 w 571247"/>
              <a:gd name="connsiteY14" fmla="*/ 193448 h 534426"/>
              <a:gd name="connsiteX15" fmla="*/ 354155 w 571247"/>
              <a:gd name="connsiteY15" fmla="*/ 115660 h 534426"/>
              <a:gd name="connsiteX16" fmla="*/ 263667 w 571247"/>
              <a:gd name="connsiteY16" fmla="*/ 63273 h 534426"/>
              <a:gd name="connsiteX0" fmla="*/ 263667 w 571177"/>
              <a:gd name="connsiteY0" fmla="*/ 63273 h 534822"/>
              <a:gd name="connsiteX1" fmla="*/ 117617 w 571177"/>
              <a:gd name="connsiteY1" fmla="*/ 42636 h 534822"/>
              <a:gd name="connsiteX2" fmla="*/ 1730 w 571177"/>
              <a:gd name="connsiteY2" fmla="*/ 153761 h 534822"/>
              <a:gd name="connsiteX3" fmla="*/ 112855 w 571177"/>
              <a:gd name="connsiteY3" fmla="*/ 263298 h 534822"/>
              <a:gd name="connsiteX4" fmla="*/ 258905 w 571177"/>
              <a:gd name="connsiteY4" fmla="*/ 231548 h 534822"/>
              <a:gd name="connsiteX5" fmla="*/ 322405 w 571177"/>
              <a:gd name="connsiteY5" fmla="*/ 180748 h 534822"/>
              <a:gd name="connsiteX6" fmla="*/ 430355 w 571177"/>
              <a:gd name="connsiteY6" fmla="*/ 218848 h 534822"/>
              <a:gd name="connsiteX7" fmla="*/ 500205 w 571177"/>
              <a:gd name="connsiteY7" fmla="*/ 395060 h 534822"/>
              <a:gd name="connsiteX8" fmla="*/ 536718 w 571177"/>
              <a:gd name="connsiteY8" fmla="*/ 510948 h 534822"/>
              <a:gd name="connsiteX9" fmla="*/ 570055 w 571177"/>
              <a:gd name="connsiteY9" fmla="*/ 510948 h 534822"/>
              <a:gd name="connsiteX10" fmla="*/ 493855 w 571177"/>
              <a:gd name="connsiteY10" fmla="*/ 256948 h 534822"/>
              <a:gd name="connsiteX11" fmla="*/ 500205 w 571177"/>
              <a:gd name="connsiteY11" fmla="*/ 187098 h 534822"/>
              <a:gd name="connsiteX12" fmla="*/ 551005 w 571177"/>
              <a:gd name="connsiteY12" fmla="*/ 28348 h 534822"/>
              <a:gd name="connsiteX13" fmla="*/ 525605 w 571177"/>
              <a:gd name="connsiteY13" fmla="*/ 15648 h 534822"/>
              <a:gd name="connsiteX14" fmla="*/ 449405 w 571177"/>
              <a:gd name="connsiteY14" fmla="*/ 193448 h 534822"/>
              <a:gd name="connsiteX15" fmla="*/ 354155 w 571177"/>
              <a:gd name="connsiteY15" fmla="*/ 115660 h 534822"/>
              <a:gd name="connsiteX16" fmla="*/ 263667 w 571177"/>
              <a:gd name="connsiteY16" fmla="*/ 63273 h 534822"/>
              <a:gd name="connsiteX0" fmla="*/ 263667 w 571177"/>
              <a:gd name="connsiteY0" fmla="*/ 62701 h 534250"/>
              <a:gd name="connsiteX1" fmla="*/ 117617 w 571177"/>
              <a:gd name="connsiteY1" fmla="*/ 42064 h 534250"/>
              <a:gd name="connsiteX2" fmla="*/ 1730 w 571177"/>
              <a:gd name="connsiteY2" fmla="*/ 153189 h 534250"/>
              <a:gd name="connsiteX3" fmla="*/ 112855 w 571177"/>
              <a:gd name="connsiteY3" fmla="*/ 262726 h 534250"/>
              <a:gd name="connsiteX4" fmla="*/ 258905 w 571177"/>
              <a:gd name="connsiteY4" fmla="*/ 230976 h 534250"/>
              <a:gd name="connsiteX5" fmla="*/ 322405 w 571177"/>
              <a:gd name="connsiteY5" fmla="*/ 180176 h 534250"/>
              <a:gd name="connsiteX6" fmla="*/ 430355 w 571177"/>
              <a:gd name="connsiteY6" fmla="*/ 218276 h 534250"/>
              <a:gd name="connsiteX7" fmla="*/ 500205 w 571177"/>
              <a:gd name="connsiteY7" fmla="*/ 394488 h 534250"/>
              <a:gd name="connsiteX8" fmla="*/ 536718 w 571177"/>
              <a:gd name="connsiteY8" fmla="*/ 510376 h 534250"/>
              <a:gd name="connsiteX9" fmla="*/ 570055 w 571177"/>
              <a:gd name="connsiteY9" fmla="*/ 510376 h 534250"/>
              <a:gd name="connsiteX10" fmla="*/ 493855 w 571177"/>
              <a:gd name="connsiteY10" fmla="*/ 256376 h 534250"/>
              <a:gd name="connsiteX11" fmla="*/ 500205 w 571177"/>
              <a:gd name="connsiteY11" fmla="*/ 186526 h 534250"/>
              <a:gd name="connsiteX12" fmla="*/ 551005 w 571177"/>
              <a:gd name="connsiteY12" fmla="*/ 27776 h 534250"/>
              <a:gd name="connsiteX13" fmla="*/ 525605 w 571177"/>
              <a:gd name="connsiteY13" fmla="*/ 15076 h 534250"/>
              <a:gd name="connsiteX14" fmla="*/ 457342 w 571177"/>
              <a:gd name="connsiteY14" fmla="*/ 184939 h 534250"/>
              <a:gd name="connsiteX15" fmla="*/ 354155 w 571177"/>
              <a:gd name="connsiteY15" fmla="*/ 115088 h 534250"/>
              <a:gd name="connsiteX16" fmla="*/ 263667 w 571177"/>
              <a:gd name="connsiteY16" fmla="*/ 62701 h 53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1177" h="534250">
                <a:moveTo>
                  <a:pt x="263667" y="62701"/>
                </a:moveTo>
                <a:cubicBezTo>
                  <a:pt x="224244" y="44180"/>
                  <a:pt x="161273" y="26983"/>
                  <a:pt x="117617" y="42064"/>
                </a:cubicBezTo>
                <a:cubicBezTo>
                  <a:pt x="73961" y="57145"/>
                  <a:pt x="-13351" y="89425"/>
                  <a:pt x="1730" y="153189"/>
                </a:cubicBezTo>
                <a:cubicBezTo>
                  <a:pt x="16811" y="216953"/>
                  <a:pt x="65230" y="262462"/>
                  <a:pt x="112855" y="262726"/>
                </a:cubicBezTo>
                <a:cubicBezTo>
                  <a:pt x="160480" y="262990"/>
                  <a:pt x="223980" y="244734"/>
                  <a:pt x="258905" y="230976"/>
                </a:cubicBezTo>
                <a:cubicBezTo>
                  <a:pt x="293830" y="217218"/>
                  <a:pt x="293830" y="182293"/>
                  <a:pt x="322405" y="180176"/>
                </a:cubicBezTo>
                <a:cubicBezTo>
                  <a:pt x="350980" y="178059"/>
                  <a:pt x="400722" y="182557"/>
                  <a:pt x="430355" y="218276"/>
                </a:cubicBezTo>
                <a:cubicBezTo>
                  <a:pt x="459988" y="253995"/>
                  <a:pt x="482478" y="345805"/>
                  <a:pt x="500205" y="394488"/>
                </a:cubicBezTo>
                <a:cubicBezTo>
                  <a:pt x="517932" y="443171"/>
                  <a:pt x="525076" y="491061"/>
                  <a:pt x="536718" y="510376"/>
                </a:cubicBezTo>
                <a:cubicBezTo>
                  <a:pt x="548360" y="529691"/>
                  <a:pt x="577199" y="552709"/>
                  <a:pt x="570055" y="510376"/>
                </a:cubicBezTo>
                <a:cubicBezTo>
                  <a:pt x="562911" y="468043"/>
                  <a:pt x="505497" y="310351"/>
                  <a:pt x="493855" y="256376"/>
                </a:cubicBezTo>
                <a:cubicBezTo>
                  <a:pt x="482213" y="202401"/>
                  <a:pt x="490680" y="224626"/>
                  <a:pt x="500205" y="186526"/>
                </a:cubicBezTo>
                <a:cubicBezTo>
                  <a:pt x="509730" y="148426"/>
                  <a:pt x="551005" y="27776"/>
                  <a:pt x="551005" y="27776"/>
                </a:cubicBezTo>
                <a:cubicBezTo>
                  <a:pt x="555238" y="-799"/>
                  <a:pt x="541215" y="-11118"/>
                  <a:pt x="525605" y="15076"/>
                </a:cubicBezTo>
                <a:cubicBezTo>
                  <a:pt x="509995" y="41270"/>
                  <a:pt x="480625" y="166947"/>
                  <a:pt x="457342" y="184939"/>
                </a:cubicBezTo>
                <a:cubicBezTo>
                  <a:pt x="434059" y="202931"/>
                  <a:pt x="386434" y="135461"/>
                  <a:pt x="354155" y="115088"/>
                </a:cubicBezTo>
                <a:cubicBezTo>
                  <a:pt x="321876" y="94715"/>
                  <a:pt x="303090" y="81222"/>
                  <a:pt x="263667" y="62701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B6B6C5-821E-4AA8-9998-C2B5B0990E0F}"/>
              </a:ext>
            </a:extLst>
          </p:cNvPr>
          <p:cNvSpPr/>
          <p:nvPr/>
        </p:nvSpPr>
        <p:spPr>
          <a:xfrm>
            <a:off x="3647478" y="1541796"/>
            <a:ext cx="1592347" cy="1338907"/>
          </a:xfrm>
          <a:custGeom>
            <a:avLst/>
            <a:gdLst>
              <a:gd name="connsiteX0" fmla="*/ 1576205 w 1597015"/>
              <a:gd name="connsiteY0" fmla="*/ 2225 h 1338801"/>
              <a:gd name="connsiteX1" fmla="*/ 1576205 w 1597015"/>
              <a:gd name="connsiteY1" fmla="*/ 86446 h 1338801"/>
              <a:gd name="connsiteX2" fmla="*/ 1504016 w 1597015"/>
              <a:gd name="connsiteY2" fmla="*/ 531614 h 1338801"/>
              <a:gd name="connsiteX3" fmla="*/ 1203226 w 1597015"/>
              <a:gd name="connsiteY3" fmla="*/ 940688 h 1338801"/>
              <a:gd name="connsiteX4" fmla="*/ 914468 w 1597015"/>
              <a:gd name="connsiteY4" fmla="*/ 1229446 h 1338801"/>
              <a:gd name="connsiteX5" fmla="*/ 733995 w 1597015"/>
              <a:gd name="connsiteY5" fmla="*/ 1325698 h 1338801"/>
              <a:gd name="connsiteX6" fmla="*/ 336953 w 1597015"/>
              <a:gd name="connsiteY6" fmla="*/ 964751 h 1338801"/>
              <a:gd name="connsiteX7" fmla="*/ 120384 w 1597015"/>
              <a:gd name="connsiteY7" fmla="*/ 627867 h 1338801"/>
              <a:gd name="connsiteX8" fmla="*/ 68 w 1597015"/>
              <a:gd name="connsiteY8" fmla="*/ 483488 h 1338801"/>
              <a:gd name="connsiteX9" fmla="*/ 108353 w 1597015"/>
              <a:gd name="connsiteY9" fmla="*/ 278951 h 1338801"/>
              <a:gd name="connsiteX10" fmla="*/ 409142 w 1597015"/>
              <a:gd name="connsiteY10" fmla="*/ 615835 h 1338801"/>
              <a:gd name="connsiteX11" fmla="*/ 673837 w 1597015"/>
              <a:gd name="connsiteY11" fmla="*/ 856467 h 1338801"/>
              <a:gd name="connsiteX12" fmla="*/ 746026 w 1597015"/>
              <a:gd name="connsiteY12" fmla="*/ 964751 h 1338801"/>
              <a:gd name="connsiteX13" fmla="*/ 830247 w 1597015"/>
              <a:gd name="connsiteY13" fmla="*/ 651930 h 1338801"/>
              <a:gd name="connsiteX14" fmla="*/ 1022753 w 1597015"/>
              <a:gd name="connsiteY14" fmla="*/ 411298 h 1338801"/>
              <a:gd name="connsiteX15" fmla="*/ 1203226 w 1597015"/>
              <a:gd name="connsiteY15" fmla="*/ 206762 h 1338801"/>
              <a:gd name="connsiteX16" fmla="*/ 1335574 w 1597015"/>
              <a:gd name="connsiteY16" fmla="*/ 38320 h 1338801"/>
              <a:gd name="connsiteX17" fmla="*/ 1576205 w 1597015"/>
              <a:gd name="connsiteY17" fmla="*/ 2225 h 1338801"/>
              <a:gd name="connsiteX0" fmla="*/ 1576205 w 1601302"/>
              <a:gd name="connsiteY0" fmla="*/ 12983 h 1349559"/>
              <a:gd name="connsiteX1" fmla="*/ 1585730 w 1601302"/>
              <a:gd name="connsiteY1" fmla="*/ 252779 h 1349559"/>
              <a:gd name="connsiteX2" fmla="*/ 1504016 w 1601302"/>
              <a:gd name="connsiteY2" fmla="*/ 542372 h 1349559"/>
              <a:gd name="connsiteX3" fmla="*/ 1203226 w 1601302"/>
              <a:gd name="connsiteY3" fmla="*/ 951446 h 1349559"/>
              <a:gd name="connsiteX4" fmla="*/ 914468 w 1601302"/>
              <a:gd name="connsiteY4" fmla="*/ 1240204 h 1349559"/>
              <a:gd name="connsiteX5" fmla="*/ 733995 w 1601302"/>
              <a:gd name="connsiteY5" fmla="*/ 1336456 h 1349559"/>
              <a:gd name="connsiteX6" fmla="*/ 336953 w 1601302"/>
              <a:gd name="connsiteY6" fmla="*/ 975509 h 1349559"/>
              <a:gd name="connsiteX7" fmla="*/ 120384 w 1601302"/>
              <a:gd name="connsiteY7" fmla="*/ 638625 h 1349559"/>
              <a:gd name="connsiteX8" fmla="*/ 68 w 1601302"/>
              <a:gd name="connsiteY8" fmla="*/ 494246 h 1349559"/>
              <a:gd name="connsiteX9" fmla="*/ 108353 w 1601302"/>
              <a:gd name="connsiteY9" fmla="*/ 289709 h 1349559"/>
              <a:gd name="connsiteX10" fmla="*/ 409142 w 1601302"/>
              <a:gd name="connsiteY10" fmla="*/ 626593 h 1349559"/>
              <a:gd name="connsiteX11" fmla="*/ 673837 w 1601302"/>
              <a:gd name="connsiteY11" fmla="*/ 867225 h 1349559"/>
              <a:gd name="connsiteX12" fmla="*/ 746026 w 1601302"/>
              <a:gd name="connsiteY12" fmla="*/ 975509 h 1349559"/>
              <a:gd name="connsiteX13" fmla="*/ 830247 w 1601302"/>
              <a:gd name="connsiteY13" fmla="*/ 662688 h 1349559"/>
              <a:gd name="connsiteX14" fmla="*/ 1022753 w 1601302"/>
              <a:gd name="connsiteY14" fmla="*/ 422056 h 1349559"/>
              <a:gd name="connsiteX15" fmla="*/ 1203226 w 1601302"/>
              <a:gd name="connsiteY15" fmla="*/ 217520 h 1349559"/>
              <a:gd name="connsiteX16" fmla="*/ 1335574 w 1601302"/>
              <a:gd name="connsiteY16" fmla="*/ 49078 h 1349559"/>
              <a:gd name="connsiteX17" fmla="*/ 1576205 w 1601302"/>
              <a:gd name="connsiteY17" fmla="*/ 12983 h 1349559"/>
              <a:gd name="connsiteX0" fmla="*/ 1604780 w 1622228"/>
              <a:gd name="connsiteY0" fmla="*/ 13654 h 1350230"/>
              <a:gd name="connsiteX1" fmla="*/ 1585730 w 1622228"/>
              <a:gd name="connsiteY1" fmla="*/ 253450 h 1350230"/>
              <a:gd name="connsiteX2" fmla="*/ 1504016 w 1622228"/>
              <a:gd name="connsiteY2" fmla="*/ 543043 h 1350230"/>
              <a:gd name="connsiteX3" fmla="*/ 1203226 w 1622228"/>
              <a:gd name="connsiteY3" fmla="*/ 952117 h 1350230"/>
              <a:gd name="connsiteX4" fmla="*/ 914468 w 1622228"/>
              <a:gd name="connsiteY4" fmla="*/ 1240875 h 1350230"/>
              <a:gd name="connsiteX5" fmla="*/ 733995 w 1622228"/>
              <a:gd name="connsiteY5" fmla="*/ 1337127 h 1350230"/>
              <a:gd name="connsiteX6" fmla="*/ 336953 w 1622228"/>
              <a:gd name="connsiteY6" fmla="*/ 976180 h 1350230"/>
              <a:gd name="connsiteX7" fmla="*/ 120384 w 1622228"/>
              <a:gd name="connsiteY7" fmla="*/ 639296 h 1350230"/>
              <a:gd name="connsiteX8" fmla="*/ 68 w 1622228"/>
              <a:gd name="connsiteY8" fmla="*/ 494917 h 1350230"/>
              <a:gd name="connsiteX9" fmla="*/ 108353 w 1622228"/>
              <a:gd name="connsiteY9" fmla="*/ 290380 h 1350230"/>
              <a:gd name="connsiteX10" fmla="*/ 409142 w 1622228"/>
              <a:gd name="connsiteY10" fmla="*/ 627264 h 1350230"/>
              <a:gd name="connsiteX11" fmla="*/ 673837 w 1622228"/>
              <a:gd name="connsiteY11" fmla="*/ 867896 h 1350230"/>
              <a:gd name="connsiteX12" fmla="*/ 746026 w 1622228"/>
              <a:gd name="connsiteY12" fmla="*/ 976180 h 1350230"/>
              <a:gd name="connsiteX13" fmla="*/ 830247 w 1622228"/>
              <a:gd name="connsiteY13" fmla="*/ 663359 h 1350230"/>
              <a:gd name="connsiteX14" fmla="*/ 1022753 w 1622228"/>
              <a:gd name="connsiteY14" fmla="*/ 422727 h 1350230"/>
              <a:gd name="connsiteX15" fmla="*/ 1203226 w 1622228"/>
              <a:gd name="connsiteY15" fmla="*/ 218191 h 1350230"/>
              <a:gd name="connsiteX16" fmla="*/ 1335574 w 1622228"/>
              <a:gd name="connsiteY16" fmla="*/ 49749 h 1350230"/>
              <a:gd name="connsiteX17" fmla="*/ 1604780 w 1622228"/>
              <a:gd name="connsiteY17" fmla="*/ 13654 h 1350230"/>
              <a:gd name="connsiteX0" fmla="*/ 1604780 w 1607152"/>
              <a:gd name="connsiteY0" fmla="*/ 29027 h 1365603"/>
              <a:gd name="connsiteX1" fmla="*/ 1585730 w 1607152"/>
              <a:gd name="connsiteY1" fmla="*/ 268823 h 1365603"/>
              <a:gd name="connsiteX2" fmla="*/ 1504016 w 1607152"/>
              <a:gd name="connsiteY2" fmla="*/ 558416 h 1365603"/>
              <a:gd name="connsiteX3" fmla="*/ 1203226 w 1607152"/>
              <a:gd name="connsiteY3" fmla="*/ 967490 h 1365603"/>
              <a:gd name="connsiteX4" fmla="*/ 914468 w 1607152"/>
              <a:gd name="connsiteY4" fmla="*/ 1256248 h 1365603"/>
              <a:gd name="connsiteX5" fmla="*/ 733995 w 1607152"/>
              <a:gd name="connsiteY5" fmla="*/ 1352500 h 1365603"/>
              <a:gd name="connsiteX6" fmla="*/ 336953 w 1607152"/>
              <a:gd name="connsiteY6" fmla="*/ 991553 h 1365603"/>
              <a:gd name="connsiteX7" fmla="*/ 120384 w 1607152"/>
              <a:gd name="connsiteY7" fmla="*/ 654669 h 1365603"/>
              <a:gd name="connsiteX8" fmla="*/ 68 w 1607152"/>
              <a:gd name="connsiteY8" fmla="*/ 510290 h 1365603"/>
              <a:gd name="connsiteX9" fmla="*/ 108353 w 1607152"/>
              <a:gd name="connsiteY9" fmla="*/ 305753 h 1365603"/>
              <a:gd name="connsiteX10" fmla="*/ 409142 w 1607152"/>
              <a:gd name="connsiteY10" fmla="*/ 642637 h 1365603"/>
              <a:gd name="connsiteX11" fmla="*/ 673837 w 1607152"/>
              <a:gd name="connsiteY11" fmla="*/ 883269 h 1365603"/>
              <a:gd name="connsiteX12" fmla="*/ 746026 w 1607152"/>
              <a:gd name="connsiteY12" fmla="*/ 991553 h 1365603"/>
              <a:gd name="connsiteX13" fmla="*/ 830247 w 1607152"/>
              <a:gd name="connsiteY13" fmla="*/ 678732 h 1365603"/>
              <a:gd name="connsiteX14" fmla="*/ 1022753 w 1607152"/>
              <a:gd name="connsiteY14" fmla="*/ 438100 h 1365603"/>
              <a:gd name="connsiteX15" fmla="*/ 1203226 w 1607152"/>
              <a:gd name="connsiteY15" fmla="*/ 233564 h 1365603"/>
              <a:gd name="connsiteX16" fmla="*/ 1335574 w 1607152"/>
              <a:gd name="connsiteY16" fmla="*/ 65122 h 1365603"/>
              <a:gd name="connsiteX17" fmla="*/ 1604780 w 1607152"/>
              <a:gd name="connsiteY17" fmla="*/ 29027 h 1365603"/>
              <a:gd name="connsiteX0" fmla="*/ 1604780 w 1618160"/>
              <a:gd name="connsiteY0" fmla="*/ 14118 h 1350694"/>
              <a:gd name="connsiteX1" fmla="*/ 1569855 w 1618160"/>
              <a:gd name="connsiteY1" fmla="*/ 260264 h 1350694"/>
              <a:gd name="connsiteX2" fmla="*/ 1504016 w 1618160"/>
              <a:gd name="connsiteY2" fmla="*/ 543507 h 1350694"/>
              <a:gd name="connsiteX3" fmla="*/ 1203226 w 1618160"/>
              <a:gd name="connsiteY3" fmla="*/ 952581 h 1350694"/>
              <a:gd name="connsiteX4" fmla="*/ 914468 w 1618160"/>
              <a:gd name="connsiteY4" fmla="*/ 1241339 h 1350694"/>
              <a:gd name="connsiteX5" fmla="*/ 733995 w 1618160"/>
              <a:gd name="connsiteY5" fmla="*/ 1337591 h 1350694"/>
              <a:gd name="connsiteX6" fmla="*/ 336953 w 1618160"/>
              <a:gd name="connsiteY6" fmla="*/ 976644 h 1350694"/>
              <a:gd name="connsiteX7" fmla="*/ 120384 w 1618160"/>
              <a:gd name="connsiteY7" fmla="*/ 639760 h 1350694"/>
              <a:gd name="connsiteX8" fmla="*/ 68 w 1618160"/>
              <a:gd name="connsiteY8" fmla="*/ 495381 h 1350694"/>
              <a:gd name="connsiteX9" fmla="*/ 108353 w 1618160"/>
              <a:gd name="connsiteY9" fmla="*/ 290844 h 1350694"/>
              <a:gd name="connsiteX10" fmla="*/ 409142 w 1618160"/>
              <a:gd name="connsiteY10" fmla="*/ 627728 h 1350694"/>
              <a:gd name="connsiteX11" fmla="*/ 673837 w 1618160"/>
              <a:gd name="connsiteY11" fmla="*/ 868360 h 1350694"/>
              <a:gd name="connsiteX12" fmla="*/ 746026 w 1618160"/>
              <a:gd name="connsiteY12" fmla="*/ 976644 h 1350694"/>
              <a:gd name="connsiteX13" fmla="*/ 830247 w 1618160"/>
              <a:gd name="connsiteY13" fmla="*/ 663823 h 1350694"/>
              <a:gd name="connsiteX14" fmla="*/ 1022753 w 1618160"/>
              <a:gd name="connsiteY14" fmla="*/ 423191 h 1350694"/>
              <a:gd name="connsiteX15" fmla="*/ 1203226 w 1618160"/>
              <a:gd name="connsiteY15" fmla="*/ 218655 h 1350694"/>
              <a:gd name="connsiteX16" fmla="*/ 1335574 w 1618160"/>
              <a:gd name="connsiteY16" fmla="*/ 50213 h 1350694"/>
              <a:gd name="connsiteX17" fmla="*/ 1604780 w 1618160"/>
              <a:gd name="connsiteY17" fmla="*/ 14118 h 1350694"/>
              <a:gd name="connsiteX0" fmla="*/ 1604780 w 1621843"/>
              <a:gd name="connsiteY0" fmla="*/ 14118 h 1350694"/>
              <a:gd name="connsiteX1" fmla="*/ 1569855 w 1621843"/>
              <a:gd name="connsiteY1" fmla="*/ 260264 h 1350694"/>
              <a:gd name="connsiteX2" fmla="*/ 1504016 w 1621843"/>
              <a:gd name="connsiteY2" fmla="*/ 543507 h 1350694"/>
              <a:gd name="connsiteX3" fmla="*/ 1203226 w 1621843"/>
              <a:gd name="connsiteY3" fmla="*/ 952581 h 1350694"/>
              <a:gd name="connsiteX4" fmla="*/ 914468 w 1621843"/>
              <a:gd name="connsiteY4" fmla="*/ 1241339 h 1350694"/>
              <a:gd name="connsiteX5" fmla="*/ 733995 w 1621843"/>
              <a:gd name="connsiteY5" fmla="*/ 1337591 h 1350694"/>
              <a:gd name="connsiteX6" fmla="*/ 336953 w 1621843"/>
              <a:gd name="connsiteY6" fmla="*/ 976644 h 1350694"/>
              <a:gd name="connsiteX7" fmla="*/ 120384 w 1621843"/>
              <a:gd name="connsiteY7" fmla="*/ 639760 h 1350694"/>
              <a:gd name="connsiteX8" fmla="*/ 68 w 1621843"/>
              <a:gd name="connsiteY8" fmla="*/ 495381 h 1350694"/>
              <a:gd name="connsiteX9" fmla="*/ 108353 w 1621843"/>
              <a:gd name="connsiteY9" fmla="*/ 290844 h 1350694"/>
              <a:gd name="connsiteX10" fmla="*/ 409142 w 1621843"/>
              <a:gd name="connsiteY10" fmla="*/ 627728 h 1350694"/>
              <a:gd name="connsiteX11" fmla="*/ 673837 w 1621843"/>
              <a:gd name="connsiteY11" fmla="*/ 868360 h 1350694"/>
              <a:gd name="connsiteX12" fmla="*/ 746026 w 1621843"/>
              <a:gd name="connsiteY12" fmla="*/ 976644 h 1350694"/>
              <a:gd name="connsiteX13" fmla="*/ 830247 w 1621843"/>
              <a:gd name="connsiteY13" fmla="*/ 663823 h 1350694"/>
              <a:gd name="connsiteX14" fmla="*/ 1022753 w 1621843"/>
              <a:gd name="connsiteY14" fmla="*/ 423191 h 1350694"/>
              <a:gd name="connsiteX15" fmla="*/ 1203226 w 1621843"/>
              <a:gd name="connsiteY15" fmla="*/ 218655 h 1350694"/>
              <a:gd name="connsiteX16" fmla="*/ 1335574 w 1621843"/>
              <a:gd name="connsiteY16" fmla="*/ 50213 h 1350694"/>
              <a:gd name="connsiteX17" fmla="*/ 1604780 w 1621843"/>
              <a:gd name="connsiteY17" fmla="*/ 14118 h 1350694"/>
              <a:gd name="connsiteX0" fmla="*/ 1604780 w 1621843"/>
              <a:gd name="connsiteY0" fmla="*/ 14118 h 1353246"/>
              <a:gd name="connsiteX1" fmla="*/ 1569855 w 1621843"/>
              <a:gd name="connsiteY1" fmla="*/ 260264 h 1353246"/>
              <a:gd name="connsiteX2" fmla="*/ 1504016 w 1621843"/>
              <a:gd name="connsiteY2" fmla="*/ 543507 h 1353246"/>
              <a:gd name="connsiteX3" fmla="*/ 1288951 w 1621843"/>
              <a:gd name="connsiteY3" fmla="*/ 822406 h 1353246"/>
              <a:gd name="connsiteX4" fmla="*/ 914468 w 1621843"/>
              <a:gd name="connsiteY4" fmla="*/ 1241339 h 1353246"/>
              <a:gd name="connsiteX5" fmla="*/ 733995 w 1621843"/>
              <a:gd name="connsiteY5" fmla="*/ 1337591 h 1353246"/>
              <a:gd name="connsiteX6" fmla="*/ 336953 w 1621843"/>
              <a:gd name="connsiteY6" fmla="*/ 976644 h 1353246"/>
              <a:gd name="connsiteX7" fmla="*/ 120384 w 1621843"/>
              <a:gd name="connsiteY7" fmla="*/ 639760 h 1353246"/>
              <a:gd name="connsiteX8" fmla="*/ 68 w 1621843"/>
              <a:gd name="connsiteY8" fmla="*/ 495381 h 1353246"/>
              <a:gd name="connsiteX9" fmla="*/ 108353 w 1621843"/>
              <a:gd name="connsiteY9" fmla="*/ 290844 h 1353246"/>
              <a:gd name="connsiteX10" fmla="*/ 409142 w 1621843"/>
              <a:gd name="connsiteY10" fmla="*/ 627728 h 1353246"/>
              <a:gd name="connsiteX11" fmla="*/ 673837 w 1621843"/>
              <a:gd name="connsiteY11" fmla="*/ 868360 h 1353246"/>
              <a:gd name="connsiteX12" fmla="*/ 746026 w 1621843"/>
              <a:gd name="connsiteY12" fmla="*/ 976644 h 1353246"/>
              <a:gd name="connsiteX13" fmla="*/ 830247 w 1621843"/>
              <a:gd name="connsiteY13" fmla="*/ 663823 h 1353246"/>
              <a:gd name="connsiteX14" fmla="*/ 1022753 w 1621843"/>
              <a:gd name="connsiteY14" fmla="*/ 423191 h 1353246"/>
              <a:gd name="connsiteX15" fmla="*/ 1203226 w 1621843"/>
              <a:gd name="connsiteY15" fmla="*/ 218655 h 1353246"/>
              <a:gd name="connsiteX16" fmla="*/ 1335574 w 1621843"/>
              <a:gd name="connsiteY16" fmla="*/ 50213 h 1353246"/>
              <a:gd name="connsiteX17" fmla="*/ 1604780 w 1621843"/>
              <a:gd name="connsiteY17" fmla="*/ 14118 h 1353246"/>
              <a:gd name="connsiteX0" fmla="*/ 1604780 w 1618683"/>
              <a:gd name="connsiteY0" fmla="*/ 14118 h 1353246"/>
              <a:gd name="connsiteX1" fmla="*/ 1569855 w 1618683"/>
              <a:gd name="connsiteY1" fmla="*/ 260264 h 1353246"/>
              <a:gd name="connsiteX2" fmla="*/ 1481791 w 1618683"/>
              <a:gd name="connsiteY2" fmla="*/ 530807 h 1353246"/>
              <a:gd name="connsiteX3" fmla="*/ 1288951 w 1618683"/>
              <a:gd name="connsiteY3" fmla="*/ 822406 h 1353246"/>
              <a:gd name="connsiteX4" fmla="*/ 914468 w 1618683"/>
              <a:gd name="connsiteY4" fmla="*/ 1241339 h 1353246"/>
              <a:gd name="connsiteX5" fmla="*/ 733995 w 1618683"/>
              <a:gd name="connsiteY5" fmla="*/ 1337591 h 1353246"/>
              <a:gd name="connsiteX6" fmla="*/ 336953 w 1618683"/>
              <a:gd name="connsiteY6" fmla="*/ 976644 h 1353246"/>
              <a:gd name="connsiteX7" fmla="*/ 120384 w 1618683"/>
              <a:gd name="connsiteY7" fmla="*/ 639760 h 1353246"/>
              <a:gd name="connsiteX8" fmla="*/ 68 w 1618683"/>
              <a:gd name="connsiteY8" fmla="*/ 495381 h 1353246"/>
              <a:gd name="connsiteX9" fmla="*/ 108353 w 1618683"/>
              <a:gd name="connsiteY9" fmla="*/ 290844 h 1353246"/>
              <a:gd name="connsiteX10" fmla="*/ 409142 w 1618683"/>
              <a:gd name="connsiteY10" fmla="*/ 627728 h 1353246"/>
              <a:gd name="connsiteX11" fmla="*/ 673837 w 1618683"/>
              <a:gd name="connsiteY11" fmla="*/ 868360 h 1353246"/>
              <a:gd name="connsiteX12" fmla="*/ 746026 w 1618683"/>
              <a:gd name="connsiteY12" fmla="*/ 976644 h 1353246"/>
              <a:gd name="connsiteX13" fmla="*/ 830247 w 1618683"/>
              <a:gd name="connsiteY13" fmla="*/ 663823 h 1353246"/>
              <a:gd name="connsiteX14" fmla="*/ 1022753 w 1618683"/>
              <a:gd name="connsiteY14" fmla="*/ 423191 h 1353246"/>
              <a:gd name="connsiteX15" fmla="*/ 1203226 w 1618683"/>
              <a:gd name="connsiteY15" fmla="*/ 218655 h 1353246"/>
              <a:gd name="connsiteX16" fmla="*/ 1335574 w 1618683"/>
              <a:gd name="connsiteY16" fmla="*/ 50213 h 1353246"/>
              <a:gd name="connsiteX17" fmla="*/ 1604780 w 1618683"/>
              <a:gd name="connsiteY17" fmla="*/ 14118 h 1353246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830247 w 1618683"/>
              <a:gd name="connsiteY13" fmla="*/ 663823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1022753 w 1618683"/>
              <a:gd name="connsiteY14" fmla="*/ 423191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118 h 1342064"/>
              <a:gd name="connsiteX1" fmla="*/ 1569855 w 1618683"/>
              <a:gd name="connsiteY1" fmla="*/ 260264 h 1342064"/>
              <a:gd name="connsiteX2" fmla="*/ 1481791 w 1618683"/>
              <a:gd name="connsiteY2" fmla="*/ 530807 h 1342064"/>
              <a:gd name="connsiteX3" fmla="*/ 1288951 w 1618683"/>
              <a:gd name="connsiteY3" fmla="*/ 822406 h 1342064"/>
              <a:gd name="connsiteX4" fmla="*/ 968443 w 1618683"/>
              <a:gd name="connsiteY4" fmla="*/ 1155614 h 1342064"/>
              <a:gd name="connsiteX5" fmla="*/ 733995 w 1618683"/>
              <a:gd name="connsiteY5" fmla="*/ 1337591 h 1342064"/>
              <a:gd name="connsiteX6" fmla="*/ 336953 w 1618683"/>
              <a:gd name="connsiteY6" fmla="*/ 976644 h 1342064"/>
              <a:gd name="connsiteX7" fmla="*/ 120384 w 1618683"/>
              <a:gd name="connsiteY7" fmla="*/ 639760 h 1342064"/>
              <a:gd name="connsiteX8" fmla="*/ 68 w 1618683"/>
              <a:gd name="connsiteY8" fmla="*/ 495381 h 1342064"/>
              <a:gd name="connsiteX9" fmla="*/ 108353 w 1618683"/>
              <a:gd name="connsiteY9" fmla="*/ 290844 h 1342064"/>
              <a:gd name="connsiteX10" fmla="*/ 409142 w 1618683"/>
              <a:gd name="connsiteY10" fmla="*/ 627728 h 1342064"/>
              <a:gd name="connsiteX11" fmla="*/ 673837 w 1618683"/>
              <a:gd name="connsiteY11" fmla="*/ 868360 h 1342064"/>
              <a:gd name="connsiteX12" fmla="*/ 746026 w 1618683"/>
              <a:gd name="connsiteY12" fmla="*/ 976644 h 1342064"/>
              <a:gd name="connsiteX13" fmla="*/ 903272 w 1618683"/>
              <a:gd name="connsiteY13" fmla="*/ 635248 h 1342064"/>
              <a:gd name="connsiteX14" fmla="*/ 991003 w 1618683"/>
              <a:gd name="connsiteY14" fmla="*/ 407316 h 1342064"/>
              <a:gd name="connsiteX15" fmla="*/ 1203226 w 1618683"/>
              <a:gd name="connsiteY15" fmla="*/ 218655 h 1342064"/>
              <a:gd name="connsiteX16" fmla="*/ 1335574 w 1618683"/>
              <a:gd name="connsiteY16" fmla="*/ 50213 h 1342064"/>
              <a:gd name="connsiteX17" fmla="*/ 1604780 w 1618683"/>
              <a:gd name="connsiteY17" fmla="*/ 14118 h 1342064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991003 w 1618683"/>
              <a:gd name="connsiteY14" fmla="*/ 407501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25928 w 1618683"/>
              <a:gd name="connsiteY14" fmla="*/ 43607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73837 w 1618683"/>
              <a:gd name="connsiteY11" fmla="*/ 86854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45262 w 1618683"/>
              <a:gd name="connsiteY11" fmla="*/ 827270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604780 w 1618683"/>
              <a:gd name="connsiteY0" fmla="*/ 14303 h 1342249"/>
              <a:gd name="connsiteX1" fmla="*/ 1569855 w 1618683"/>
              <a:gd name="connsiteY1" fmla="*/ 260449 h 1342249"/>
              <a:gd name="connsiteX2" fmla="*/ 1481791 w 1618683"/>
              <a:gd name="connsiteY2" fmla="*/ 530992 h 1342249"/>
              <a:gd name="connsiteX3" fmla="*/ 1288951 w 1618683"/>
              <a:gd name="connsiteY3" fmla="*/ 822591 h 1342249"/>
              <a:gd name="connsiteX4" fmla="*/ 968443 w 1618683"/>
              <a:gd name="connsiteY4" fmla="*/ 1155799 h 1342249"/>
              <a:gd name="connsiteX5" fmla="*/ 733995 w 1618683"/>
              <a:gd name="connsiteY5" fmla="*/ 1337776 h 1342249"/>
              <a:gd name="connsiteX6" fmla="*/ 336953 w 1618683"/>
              <a:gd name="connsiteY6" fmla="*/ 976829 h 1342249"/>
              <a:gd name="connsiteX7" fmla="*/ 120384 w 1618683"/>
              <a:gd name="connsiteY7" fmla="*/ 639945 h 1342249"/>
              <a:gd name="connsiteX8" fmla="*/ 68 w 1618683"/>
              <a:gd name="connsiteY8" fmla="*/ 495566 h 1342249"/>
              <a:gd name="connsiteX9" fmla="*/ 108353 w 1618683"/>
              <a:gd name="connsiteY9" fmla="*/ 291029 h 1342249"/>
              <a:gd name="connsiteX10" fmla="*/ 409142 w 1618683"/>
              <a:gd name="connsiteY10" fmla="*/ 627913 h 1342249"/>
              <a:gd name="connsiteX11" fmla="*/ 613512 w 1618683"/>
              <a:gd name="connsiteY11" fmla="*/ 785995 h 1342249"/>
              <a:gd name="connsiteX12" fmla="*/ 746026 w 1618683"/>
              <a:gd name="connsiteY12" fmla="*/ 976829 h 1342249"/>
              <a:gd name="connsiteX13" fmla="*/ 903272 w 1618683"/>
              <a:gd name="connsiteY13" fmla="*/ 635433 h 1342249"/>
              <a:gd name="connsiteX14" fmla="*/ 1013228 w 1618683"/>
              <a:gd name="connsiteY14" fmla="*/ 417026 h 1342249"/>
              <a:gd name="connsiteX15" fmla="*/ 1219101 w 1618683"/>
              <a:gd name="connsiteY15" fmla="*/ 225190 h 1342249"/>
              <a:gd name="connsiteX16" fmla="*/ 1335574 w 1618683"/>
              <a:gd name="connsiteY16" fmla="*/ 50398 h 1342249"/>
              <a:gd name="connsiteX17" fmla="*/ 1604780 w 1618683"/>
              <a:gd name="connsiteY17" fmla="*/ 14303 h 1342249"/>
              <a:gd name="connsiteX0" fmla="*/ 1592102 w 1606005"/>
              <a:gd name="connsiteY0" fmla="*/ 14303 h 1342249"/>
              <a:gd name="connsiteX1" fmla="*/ 1557177 w 1606005"/>
              <a:gd name="connsiteY1" fmla="*/ 260449 h 1342249"/>
              <a:gd name="connsiteX2" fmla="*/ 1469113 w 1606005"/>
              <a:gd name="connsiteY2" fmla="*/ 530992 h 1342249"/>
              <a:gd name="connsiteX3" fmla="*/ 1276273 w 1606005"/>
              <a:gd name="connsiteY3" fmla="*/ 822591 h 1342249"/>
              <a:gd name="connsiteX4" fmla="*/ 955765 w 1606005"/>
              <a:gd name="connsiteY4" fmla="*/ 1155799 h 1342249"/>
              <a:gd name="connsiteX5" fmla="*/ 721317 w 1606005"/>
              <a:gd name="connsiteY5" fmla="*/ 1337776 h 1342249"/>
              <a:gd name="connsiteX6" fmla="*/ 324275 w 1606005"/>
              <a:gd name="connsiteY6" fmla="*/ 976829 h 1342249"/>
              <a:gd name="connsiteX7" fmla="*/ 107706 w 1606005"/>
              <a:gd name="connsiteY7" fmla="*/ 639945 h 1342249"/>
              <a:gd name="connsiteX8" fmla="*/ 90 w 1606005"/>
              <a:gd name="connsiteY8" fmla="*/ 451116 h 1342249"/>
              <a:gd name="connsiteX9" fmla="*/ 95675 w 1606005"/>
              <a:gd name="connsiteY9" fmla="*/ 291029 h 1342249"/>
              <a:gd name="connsiteX10" fmla="*/ 396464 w 1606005"/>
              <a:gd name="connsiteY10" fmla="*/ 627913 h 1342249"/>
              <a:gd name="connsiteX11" fmla="*/ 600834 w 1606005"/>
              <a:gd name="connsiteY11" fmla="*/ 785995 h 1342249"/>
              <a:gd name="connsiteX12" fmla="*/ 733348 w 1606005"/>
              <a:gd name="connsiteY12" fmla="*/ 976829 h 1342249"/>
              <a:gd name="connsiteX13" fmla="*/ 890594 w 1606005"/>
              <a:gd name="connsiteY13" fmla="*/ 635433 h 1342249"/>
              <a:gd name="connsiteX14" fmla="*/ 1000550 w 1606005"/>
              <a:gd name="connsiteY14" fmla="*/ 417026 h 1342249"/>
              <a:gd name="connsiteX15" fmla="*/ 1206423 w 1606005"/>
              <a:gd name="connsiteY15" fmla="*/ 225190 h 1342249"/>
              <a:gd name="connsiteX16" fmla="*/ 1322896 w 1606005"/>
              <a:gd name="connsiteY16" fmla="*/ 50398 h 1342249"/>
              <a:gd name="connsiteX17" fmla="*/ 1592102 w 1606005"/>
              <a:gd name="connsiteY17" fmla="*/ 14303 h 1342249"/>
              <a:gd name="connsiteX0" fmla="*/ 1592102 w 1606005"/>
              <a:gd name="connsiteY0" fmla="*/ 14303 h 1339914"/>
              <a:gd name="connsiteX1" fmla="*/ 1557177 w 1606005"/>
              <a:gd name="connsiteY1" fmla="*/ 260449 h 1339914"/>
              <a:gd name="connsiteX2" fmla="*/ 1469113 w 1606005"/>
              <a:gd name="connsiteY2" fmla="*/ 530992 h 1339914"/>
              <a:gd name="connsiteX3" fmla="*/ 1276273 w 1606005"/>
              <a:gd name="connsiteY3" fmla="*/ 822591 h 1339914"/>
              <a:gd name="connsiteX4" fmla="*/ 955765 w 1606005"/>
              <a:gd name="connsiteY4" fmla="*/ 1155799 h 1339914"/>
              <a:gd name="connsiteX5" fmla="*/ 721317 w 1606005"/>
              <a:gd name="connsiteY5" fmla="*/ 1337776 h 1339914"/>
              <a:gd name="connsiteX6" fmla="*/ 611133 w 1606005"/>
              <a:gd name="connsiteY6" fmla="*/ 1237585 h 1339914"/>
              <a:gd name="connsiteX7" fmla="*/ 324275 w 1606005"/>
              <a:gd name="connsiteY7" fmla="*/ 976829 h 1339914"/>
              <a:gd name="connsiteX8" fmla="*/ 107706 w 1606005"/>
              <a:gd name="connsiteY8" fmla="*/ 639945 h 1339914"/>
              <a:gd name="connsiteX9" fmla="*/ 90 w 1606005"/>
              <a:gd name="connsiteY9" fmla="*/ 451116 h 1339914"/>
              <a:gd name="connsiteX10" fmla="*/ 95675 w 1606005"/>
              <a:gd name="connsiteY10" fmla="*/ 291029 h 1339914"/>
              <a:gd name="connsiteX11" fmla="*/ 396464 w 1606005"/>
              <a:gd name="connsiteY11" fmla="*/ 627913 h 1339914"/>
              <a:gd name="connsiteX12" fmla="*/ 600834 w 1606005"/>
              <a:gd name="connsiteY12" fmla="*/ 785995 h 1339914"/>
              <a:gd name="connsiteX13" fmla="*/ 733348 w 1606005"/>
              <a:gd name="connsiteY13" fmla="*/ 976829 h 1339914"/>
              <a:gd name="connsiteX14" fmla="*/ 890594 w 1606005"/>
              <a:gd name="connsiteY14" fmla="*/ 635433 h 1339914"/>
              <a:gd name="connsiteX15" fmla="*/ 1000550 w 1606005"/>
              <a:gd name="connsiteY15" fmla="*/ 417026 h 1339914"/>
              <a:gd name="connsiteX16" fmla="*/ 1206423 w 1606005"/>
              <a:gd name="connsiteY16" fmla="*/ 225190 h 1339914"/>
              <a:gd name="connsiteX17" fmla="*/ 1322896 w 1606005"/>
              <a:gd name="connsiteY17" fmla="*/ 50398 h 1339914"/>
              <a:gd name="connsiteX18" fmla="*/ 1592102 w 1606005"/>
              <a:gd name="connsiteY18" fmla="*/ 14303 h 1339914"/>
              <a:gd name="connsiteX0" fmla="*/ 1592102 w 1606005"/>
              <a:gd name="connsiteY0" fmla="*/ 14303 h 1333784"/>
              <a:gd name="connsiteX1" fmla="*/ 1557177 w 1606005"/>
              <a:gd name="connsiteY1" fmla="*/ 260449 h 1333784"/>
              <a:gd name="connsiteX2" fmla="*/ 1469113 w 1606005"/>
              <a:gd name="connsiteY2" fmla="*/ 530992 h 1333784"/>
              <a:gd name="connsiteX3" fmla="*/ 1276273 w 1606005"/>
              <a:gd name="connsiteY3" fmla="*/ 822591 h 1333784"/>
              <a:gd name="connsiteX4" fmla="*/ 955765 w 1606005"/>
              <a:gd name="connsiteY4" fmla="*/ 1155799 h 1333784"/>
              <a:gd name="connsiteX5" fmla="*/ 740367 w 1606005"/>
              <a:gd name="connsiteY5" fmla="*/ 1331426 h 1333784"/>
              <a:gd name="connsiteX6" fmla="*/ 611133 w 1606005"/>
              <a:gd name="connsiteY6" fmla="*/ 1237585 h 1333784"/>
              <a:gd name="connsiteX7" fmla="*/ 324275 w 1606005"/>
              <a:gd name="connsiteY7" fmla="*/ 976829 h 1333784"/>
              <a:gd name="connsiteX8" fmla="*/ 107706 w 1606005"/>
              <a:gd name="connsiteY8" fmla="*/ 639945 h 1333784"/>
              <a:gd name="connsiteX9" fmla="*/ 90 w 1606005"/>
              <a:gd name="connsiteY9" fmla="*/ 451116 h 1333784"/>
              <a:gd name="connsiteX10" fmla="*/ 95675 w 1606005"/>
              <a:gd name="connsiteY10" fmla="*/ 291029 h 1333784"/>
              <a:gd name="connsiteX11" fmla="*/ 396464 w 1606005"/>
              <a:gd name="connsiteY11" fmla="*/ 627913 h 1333784"/>
              <a:gd name="connsiteX12" fmla="*/ 600834 w 1606005"/>
              <a:gd name="connsiteY12" fmla="*/ 785995 h 1333784"/>
              <a:gd name="connsiteX13" fmla="*/ 733348 w 1606005"/>
              <a:gd name="connsiteY13" fmla="*/ 976829 h 1333784"/>
              <a:gd name="connsiteX14" fmla="*/ 890594 w 1606005"/>
              <a:gd name="connsiteY14" fmla="*/ 635433 h 1333784"/>
              <a:gd name="connsiteX15" fmla="*/ 1000550 w 1606005"/>
              <a:gd name="connsiteY15" fmla="*/ 417026 h 1333784"/>
              <a:gd name="connsiteX16" fmla="*/ 1206423 w 1606005"/>
              <a:gd name="connsiteY16" fmla="*/ 225190 h 1333784"/>
              <a:gd name="connsiteX17" fmla="*/ 1322896 w 1606005"/>
              <a:gd name="connsiteY17" fmla="*/ 50398 h 1333784"/>
              <a:gd name="connsiteX18" fmla="*/ 1592102 w 1606005"/>
              <a:gd name="connsiteY18" fmla="*/ 14303 h 1333784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90594 w 1606005"/>
              <a:gd name="connsiteY14" fmla="*/ 635433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00550 w 1606005"/>
              <a:gd name="connsiteY15" fmla="*/ 41702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303 h 1336713"/>
              <a:gd name="connsiteX1" fmla="*/ 1557177 w 1606005"/>
              <a:gd name="connsiteY1" fmla="*/ 260449 h 1336713"/>
              <a:gd name="connsiteX2" fmla="*/ 1469113 w 1606005"/>
              <a:gd name="connsiteY2" fmla="*/ 530992 h 1336713"/>
              <a:gd name="connsiteX3" fmla="*/ 1276273 w 1606005"/>
              <a:gd name="connsiteY3" fmla="*/ 822591 h 1336713"/>
              <a:gd name="connsiteX4" fmla="*/ 955765 w 1606005"/>
              <a:gd name="connsiteY4" fmla="*/ 1155799 h 1336713"/>
              <a:gd name="connsiteX5" fmla="*/ 740367 w 1606005"/>
              <a:gd name="connsiteY5" fmla="*/ 1331426 h 1336713"/>
              <a:gd name="connsiteX6" fmla="*/ 611133 w 1606005"/>
              <a:gd name="connsiteY6" fmla="*/ 1237585 h 1336713"/>
              <a:gd name="connsiteX7" fmla="*/ 324275 w 1606005"/>
              <a:gd name="connsiteY7" fmla="*/ 976829 h 1336713"/>
              <a:gd name="connsiteX8" fmla="*/ 107706 w 1606005"/>
              <a:gd name="connsiteY8" fmla="*/ 639945 h 1336713"/>
              <a:gd name="connsiteX9" fmla="*/ 90 w 1606005"/>
              <a:gd name="connsiteY9" fmla="*/ 451116 h 1336713"/>
              <a:gd name="connsiteX10" fmla="*/ 95675 w 1606005"/>
              <a:gd name="connsiteY10" fmla="*/ 291029 h 1336713"/>
              <a:gd name="connsiteX11" fmla="*/ 396464 w 1606005"/>
              <a:gd name="connsiteY11" fmla="*/ 627913 h 1336713"/>
              <a:gd name="connsiteX12" fmla="*/ 600834 w 1606005"/>
              <a:gd name="connsiteY12" fmla="*/ 785995 h 1336713"/>
              <a:gd name="connsiteX13" fmla="*/ 733348 w 1606005"/>
              <a:gd name="connsiteY13" fmla="*/ 976829 h 1336713"/>
              <a:gd name="connsiteX14" fmla="*/ 833444 w 1606005"/>
              <a:gd name="connsiteY14" fmla="*/ 683058 h 1336713"/>
              <a:gd name="connsiteX15" fmla="*/ 1022775 w 1606005"/>
              <a:gd name="connsiteY15" fmla="*/ 461476 h 1336713"/>
              <a:gd name="connsiteX16" fmla="*/ 1206423 w 1606005"/>
              <a:gd name="connsiteY16" fmla="*/ 225190 h 1336713"/>
              <a:gd name="connsiteX17" fmla="*/ 1322896 w 1606005"/>
              <a:gd name="connsiteY17" fmla="*/ 50398 h 1336713"/>
              <a:gd name="connsiteX18" fmla="*/ 1592102 w 1606005"/>
              <a:gd name="connsiteY18" fmla="*/ 14303 h 1336713"/>
              <a:gd name="connsiteX0" fmla="*/ 1592102 w 1606005"/>
              <a:gd name="connsiteY0" fmla="*/ 14590 h 1337000"/>
              <a:gd name="connsiteX1" fmla="*/ 1557177 w 1606005"/>
              <a:gd name="connsiteY1" fmla="*/ 260736 h 1337000"/>
              <a:gd name="connsiteX2" fmla="*/ 1469113 w 1606005"/>
              <a:gd name="connsiteY2" fmla="*/ 531279 h 1337000"/>
              <a:gd name="connsiteX3" fmla="*/ 1276273 w 1606005"/>
              <a:gd name="connsiteY3" fmla="*/ 822878 h 1337000"/>
              <a:gd name="connsiteX4" fmla="*/ 955765 w 1606005"/>
              <a:gd name="connsiteY4" fmla="*/ 1156086 h 1337000"/>
              <a:gd name="connsiteX5" fmla="*/ 740367 w 1606005"/>
              <a:gd name="connsiteY5" fmla="*/ 1331713 h 1337000"/>
              <a:gd name="connsiteX6" fmla="*/ 611133 w 1606005"/>
              <a:gd name="connsiteY6" fmla="*/ 1237872 h 1337000"/>
              <a:gd name="connsiteX7" fmla="*/ 324275 w 1606005"/>
              <a:gd name="connsiteY7" fmla="*/ 977116 h 1337000"/>
              <a:gd name="connsiteX8" fmla="*/ 107706 w 1606005"/>
              <a:gd name="connsiteY8" fmla="*/ 640232 h 1337000"/>
              <a:gd name="connsiteX9" fmla="*/ 90 w 1606005"/>
              <a:gd name="connsiteY9" fmla="*/ 451403 h 1337000"/>
              <a:gd name="connsiteX10" fmla="*/ 95675 w 1606005"/>
              <a:gd name="connsiteY10" fmla="*/ 291316 h 1337000"/>
              <a:gd name="connsiteX11" fmla="*/ 396464 w 1606005"/>
              <a:gd name="connsiteY11" fmla="*/ 628200 h 1337000"/>
              <a:gd name="connsiteX12" fmla="*/ 600834 w 1606005"/>
              <a:gd name="connsiteY12" fmla="*/ 786282 h 1337000"/>
              <a:gd name="connsiteX13" fmla="*/ 733348 w 1606005"/>
              <a:gd name="connsiteY13" fmla="*/ 977116 h 1337000"/>
              <a:gd name="connsiteX14" fmla="*/ 833444 w 1606005"/>
              <a:gd name="connsiteY14" fmla="*/ 683345 h 1337000"/>
              <a:gd name="connsiteX15" fmla="*/ 1022775 w 1606005"/>
              <a:gd name="connsiteY15" fmla="*/ 461763 h 1337000"/>
              <a:gd name="connsiteX16" fmla="*/ 1238173 w 1606005"/>
              <a:gd name="connsiteY16" fmla="*/ 235002 h 1337000"/>
              <a:gd name="connsiteX17" fmla="*/ 1322896 w 1606005"/>
              <a:gd name="connsiteY17" fmla="*/ 50685 h 1337000"/>
              <a:gd name="connsiteX18" fmla="*/ 1592102 w 1606005"/>
              <a:gd name="connsiteY18" fmla="*/ 14590 h 1337000"/>
              <a:gd name="connsiteX0" fmla="*/ 1592102 w 1602662"/>
              <a:gd name="connsiteY0" fmla="*/ 16496 h 1338906"/>
              <a:gd name="connsiteX1" fmla="*/ 1557177 w 1602662"/>
              <a:gd name="connsiteY1" fmla="*/ 262642 h 1338906"/>
              <a:gd name="connsiteX2" fmla="*/ 1469113 w 1602662"/>
              <a:gd name="connsiteY2" fmla="*/ 533185 h 1338906"/>
              <a:gd name="connsiteX3" fmla="*/ 1276273 w 1602662"/>
              <a:gd name="connsiteY3" fmla="*/ 824784 h 1338906"/>
              <a:gd name="connsiteX4" fmla="*/ 955765 w 1602662"/>
              <a:gd name="connsiteY4" fmla="*/ 1157992 h 1338906"/>
              <a:gd name="connsiteX5" fmla="*/ 740367 w 1602662"/>
              <a:gd name="connsiteY5" fmla="*/ 1333619 h 1338906"/>
              <a:gd name="connsiteX6" fmla="*/ 611133 w 1602662"/>
              <a:gd name="connsiteY6" fmla="*/ 1239778 h 1338906"/>
              <a:gd name="connsiteX7" fmla="*/ 324275 w 1602662"/>
              <a:gd name="connsiteY7" fmla="*/ 979022 h 1338906"/>
              <a:gd name="connsiteX8" fmla="*/ 107706 w 1602662"/>
              <a:gd name="connsiteY8" fmla="*/ 642138 h 1338906"/>
              <a:gd name="connsiteX9" fmla="*/ 90 w 1602662"/>
              <a:gd name="connsiteY9" fmla="*/ 453309 h 1338906"/>
              <a:gd name="connsiteX10" fmla="*/ 95675 w 1602662"/>
              <a:gd name="connsiteY10" fmla="*/ 293222 h 1338906"/>
              <a:gd name="connsiteX11" fmla="*/ 396464 w 1602662"/>
              <a:gd name="connsiteY11" fmla="*/ 630106 h 1338906"/>
              <a:gd name="connsiteX12" fmla="*/ 600834 w 1602662"/>
              <a:gd name="connsiteY12" fmla="*/ 788188 h 1338906"/>
              <a:gd name="connsiteX13" fmla="*/ 733348 w 1602662"/>
              <a:gd name="connsiteY13" fmla="*/ 979022 h 1338906"/>
              <a:gd name="connsiteX14" fmla="*/ 833444 w 1602662"/>
              <a:gd name="connsiteY14" fmla="*/ 685251 h 1338906"/>
              <a:gd name="connsiteX15" fmla="*/ 1022775 w 1602662"/>
              <a:gd name="connsiteY15" fmla="*/ 463669 h 1338906"/>
              <a:gd name="connsiteX16" fmla="*/ 1238173 w 1602662"/>
              <a:gd name="connsiteY16" fmla="*/ 236908 h 1338906"/>
              <a:gd name="connsiteX17" fmla="*/ 1370521 w 1602662"/>
              <a:gd name="connsiteY17" fmla="*/ 46241 h 1338906"/>
              <a:gd name="connsiteX18" fmla="*/ 1592102 w 1602662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22775 w 1600909"/>
              <a:gd name="connsiteY15" fmla="*/ 46366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33444 w 1600909"/>
              <a:gd name="connsiteY14" fmla="*/ 685251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0909"/>
              <a:gd name="connsiteY0" fmla="*/ 16496 h 1338906"/>
              <a:gd name="connsiteX1" fmla="*/ 1557177 w 1600909"/>
              <a:gd name="connsiteY1" fmla="*/ 262642 h 1338906"/>
              <a:gd name="connsiteX2" fmla="*/ 1469113 w 1600909"/>
              <a:gd name="connsiteY2" fmla="*/ 533185 h 1338906"/>
              <a:gd name="connsiteX3" fmla="*/ 1276273 w 1600909"/>
              <a:gd name="connsiteY3" fmla="*/ 824784 h 1338906"/>
              <a:gd name="connsiteX4" fmla="*/ 955765 w 1600909"/>
              <a:gd name="connsiteY4" fmla="*/ 1157992 h 1338906"/>
              <a:gd name="connsiteX5" fmla="*/ 740367 w 1600909"/>
              <a:gd name="connsiteY5" fmla="*/ 1333619 h 1338906"/>
              <a:gd name="connsiteX6" fmla="*/ 611133 w 1600909"/>
              <a:gd name="connsiteY6" fmla="*/ 1239778 h 1338906"/>
              <a:gd name="connsiteX7" fmla="*/ 324275 w 1600909"/>
              <a:gd name="connsiteY7" fmla="*/ 979022 h 1338906"/>
              <a:gd name="connsiteX8" fmla="*/ 107706 w 1600909"/>
              <a:gd name="connsiteY8" fmla="*/ 642138 h 1338906"/>
              <a:gd name="connsiteX9" fmla="*/ 90 w 1600909"/>
              <a:gd name="connsiteY9" fmla="*/ 453309 h 1338906"/>
              <a:gd name="connsiteX10" fmla="*/ 95675 w 1600909"/>
              <a:gd name="connsiteY10" fmla="*/ 293222 h 1338906"/>
              <a:gd name="connsiteX11" fmla="*/ 396464 w 1600909"/>
              <a:gd name="connsiteY11" fmla="*/ 630106 h 1338906"/>
              <a:gd name="connsiteX12" fmla="*/ 600834 w 1600909"/>
              <a:gd name="connsiteY12" fmla="*/ 788188 h 1338906"/>
              <a:gd name="connsiteX13" fmla="*/ 733348 w 1600909"/>
              <a:gd name="connsiteY13" fmla="*/ 979022 h 1338906"/>
              <a:gd name="connsiteX14" fmla="*/ 849319 w 1600909"/>
              <a:gd name="connsiteY14" fmla="*/ 688426 h 1338906"/>
              <a:gd name="connsiteX15" fmla="*/ 1010075 w 1600909"/>
              <a:gd name="connsiteY15" fmla="*/ 444619 h 1338906"/>
              <a:gd name="connsiteX16" fmla="*/ 1238173 w 1600909"/>
              <a:gd name="connsiteY16" fmla="*/ 236908 h 1338906"/>
              <a:gd name="connsiteX17" fmla="*/ 1395921 w 1600909"/>
              <a:gd name="connsiteY17" fmla="*/ 46241 h 1338906"/>
              <a:gd name="connsiteX18" fmla="*/ 1592102 w 1600909"/>
              <a:gd name="connsiteY18" fmla="*/ 16496 h 1338906"/>
              <a:gd name="connsiteX0" fmla="*/ 1592102 w 1601390"/>
              <a:gd name="connsiteY0" fmla="*/ 16496 h 1338906"/>
              <a:gd name="connsiteX1" fmla="*/ 1557177 w 1601390"/>
              <a:gd name="connsiteY1" fmla="*/ 262642 h 1338906"/>
              <a:gd name="connsiteX2" fmla="*/ 1446888 w 1601390"/>
              <a:gd name="connsiteY2" fmla="*/ 530010 h 1338906"/>
              <a:gd name="connsiteX3" fmla="*/ 1276273 w 1601390"/>
              <a:gd name="connsiteY3" fmla="*/ 824784 h 1338906"/>
              <a:gd name="connsiteX4" fmla="*/ 955765 w 1601390"/>
              <a:gd name="connsiteY4" fmla="*/ 1157992 h 1338906"/>
              <a:gd name="connsiteX5" fmla="*/ 740367 w 1601390"/>
              <a:gd name="connsiteY5" fmla="*/ 1333619 h 1338906"/>
              <a:gd name="connsiteX6" fmla="*/ 611133 w 1601390"/>
              <a:gd name="connsiteY6" fmla="*/ 1239778 h 1338906"/>
              <a:gd name="connsiteX7" fmla="*/ 324275 w 1601390"/>
              <a:gd name="connsiteY7" fmla="*/ 979022 h 1338906"/>
              <a:gd name="connsiteX8" fmla="*/ 107706 w 1601390"/>
              <a:gd name="connsiteY8" fmla="*/ 642138 h 1338906"/>
              <a:gd name="connsiteX9" fmla="*/ 90 w 1601390"/>
              <a:gd name="connsiteY9" fmla="*/ 453309 h 1338906"/>
              <a:gd name="connsiteX10" fmla="*/ 95675 w 1601390"/>
              <a:gd name="connsiteY10" fmla="*/ 293222 h 1338906"/>
              <a:gd name="connsiteX11" fmla="*/ 396464 w 1601390"/>
              <a:gd name="connsiteY11" fmla="*/ 630106 h 1338906"/>
              <a:gd name="connsiteX12" fmla="*/ 600834 w 1601390"/>
              <a:gd name="connsiteY12" fmla="*/ 788188 h 1338906"/>
              <a:gd name="connsiteX13" fmla="*/ 733348 w 1601390"/>
              <a:gd name="connsiteY13" fmla="*/ 979022 h 1338906"/>
              <a:gd name="connsiteX14" fmla="*/ 849319 w 1601390"/>
              <a:gd name="connsiteY14" fmla="*/ 688426 h 1338906"/>
              <a:gd name="connsiteX15" fmla="*/ 1010075 w 1601390"/>
              <a:gd name="connsiteY15" fmla="*/ 444619 h 1338906"/>
              <a:gd name="connsiteX16" fmla="*/ 1238173 w 1601390"/>
              <a:gd name="connsiteY16" fmla="*/ 236908 h 1338906"/>
              <a:gd name="connsiteX17" fmla="*/ 1395921 w 1601390"/>
              <a:gd name="connsiteY17" fmla="*/ 46241 h 1338906"/>
              <a:gd name="connsiteX18" fmla="*/ 1592102 w 1601390"/>
              <a:gd name="connsiteY18" fmla="*/ 16496 h 1338906"/>
              <a:gd name="connsiteX0" fmla="*/ 1592102 w 1596475"/>
              <a:gd name="connsiteY0" fmla="*/ 16496 h 1338906"/>
              <a:gd name="connsiteX1" fmla="*/ 1525427 w 1596475"/>
              <a:gd name="connsiteY1" fmla="*/ 262642 h 1338906"/>
              <a:gd name="connsiteX2" fmla="*/ 1446888 w 1596475"/>
              <a:gd name="connsiteY2" fmla="*/ 530010 h 1338906"/>
              <a:gd name="connsiteX3" fmla="*/ 1276273 w 1596475"/>
              <a:gd name="connsiteY3" fmla="*/ 824784 h 1338906"/>
              <a:gd name="connsiteX4" fmla="*/ 955765 w 1596475"/>
              <a:gd name="connsiteY4" fmla="*/ 1157992 h 1338906"/>
              <a:gd name="connsiteX5" fmla="*/ 740367 w 1596475"/>
              <a:gd name="connsiteY5" fmla="*/ 1333619 h 1338906"/>
              <a:gd name="connsiteX6" fmla="*/ 611133 w 1596475"/>
              <a:gd name="connsiteY6" fmla="*/ 1239778 h 1338906"/>
              <a:gd name="connsiteX7" fmla="*/ 324275 w 1596475"/>
              <a:gd name="connsiteY7" fmla="*/ 979022 h 1338906"/>
              <a:gd name="connsiteX8" fmla="*/ 107706 w 1596475"/>
              <a:gd name="connsiteY8" fmla="*/ 642138 h 1338906"/>
              <a:gd name="connsiteX9" fmla="*/ 90 w 1596475"/>
              <a:gd name="connsiteY9" fmla="*/ 453309 h 1338906"/>
              <a:gd name="connsiteX10" fmla="*/ 95675 w 1596475"/>
              <a:gd name="connsiteY10" fmla="*/ 293222 h 1338906"/>
              <a:gd name="connsiteX11" fmla="*/ 396464 w 1596475"/>
              <a:gd name="connsiteY11" fmla="*/ 630106 h 1338906"/>
              <a:gd name="connsiteX12" fmla="*/ 600834 w 1596475"/>
              <a:gd name="connsiteY12" fmla="*/ 788188 h 1338906"/>
              <a:gd name="connsiteX13" fmla="*/ 733348 w 1596475"/>
              <a:gd name="connsiteY13" fmla="*/ 979022 h 1338906"/>
              <a:gd name="connsiteX14" fmla="*/ 849319 w 1596475"/>
              <a:gd name="connsiteY14" fmla="*/ 688426 h 1338906"/>
              <a:gd name="connsiteX15" fmla="*/ 1010075 w 1596475"/>
              <a:gd name="connsiteY15" fmla="*/ 444619 h 1338906"/>
              <a:gd name="connsiteX16" fmla="*/ 1238173 w 1596475"/>
              <a:gd name="connsiteY16" fmla="*/ 236908 h 1338906"/>
              <a:gd name="connsiteX17" fmla="*/ 1395921 w 1596475"/>
              <a:gd name="connsiteY17" fmla="*/ 46241 h 1338906"/>
              <a:gd name="connsiteX18" fmla="*/ 1592102 w 1596475"/>
              <a:gd name="connsiteY18" fmla="*/ 16496 h 1338906"/>
              <a:gd name="connsiteX0" fmla="*/ 1592102 w 1596176"/>
              <a:gd name="connsiteY0" fmla="*/ 34834 h 1357244"/>
              <a:gd name="connsiteX1" fmla="*/ 1525427 w 1596176"/>
              <a:gd name="connsiteY1" fmla="*/ 280980 h 1357244"/>
              <a:gd name="connsiteX2" fmla="*/ 1446888 w 1596176"/>
              <a:gd name="connsiteY2" fmla="*/ 548348 h 1357244"/>
              <a:gd name="connsiteX3" fmla="*/ 1276273 w 1596176"/>
              <a:gd name="connsiteY3" fmla="*/ 843122 h 1357244"/>
              <a:gd name="connsiteX4" fmla="*/ 955765 w 1596176"/>
              <a:gd name="connsiteY4" fmla="*/ 1176330 h 1357244"/>
              <a:gd name="connsiteX5" fmla="*/ 740367 w 1596176"/>
              <a:gd name="connsiteY5" fmla="*/ 1351957 h 1357244"/>
              <a:gd name="connsiteX6" fmla="*/ 611133 w 1596176"/>
              <a:gd name="connsiteY6" fmla="*/ 1258116 h 1357244"/>
              <a:gd name="connsiteX7" fmla="*/ 324275 w 1596176"/>
              <a:gd name="connsiteY7" fmla="*/ 997360 h 1357244"/>
              <a:gd name="connsiteX8" fmla="*/ 107706 w 1596176"/>
              <a:gd name="connsiteY8" fmla="*/ 660476 h 1357244"/>
              <a:gd name="connsiteX9" fmla="*/ 90 w 1596176"/>
              <a:gd name="connsiteY9" fmla="*/ 471647 h 1357244"/>
              <a:gd name="connsiteX10" fmla="*/ 95675 w 1596176"/>
              <a:gd name="connsiteY10" fmla="*/ 311560 h 1357244"/>
              <a:gd name="connsiteX11" fmla="*/ 396464 w 1596176"/>
              <a:gd name="connsiteY11" fmla="*/ 648444 h 1357244"/>
              <a:gd name="connsiteX12" fmla="*/ 600834 w 1596176"/>
              <a:gd name="connsiteY12" fmla="*/ 806526 h 1357244"/>
              <a:gd name="connsiteX13" fmla="*/ 733348 w 1596176"/>
              <a:gd name="connsiteY13" fmla="*/ 997360 h 1357244"/>
              <a:gd name="connsiteX14" fmla="*/ 849319 w 1596176"/>
              <a:gd name="connsiteY14" fmla="*/ 706764 h 1357244"/>
              <a:gd name="connsiteX15" fmla="*/ 1010075 w 1596176"/>
              <a:gd name="connsiteY15" fmla="*/ 462957 h 1357244"/>
              <a:gd name="connsiteX16" fmla="*/ 1238173 w 1596176"/>
              <a:gd name="connsiteY16" fmla="*/ 255246 h 1357244"/>
              <a:gd name="connsiteX17" fmla="*/ 1395921 w 1596176"/>
              <a:gd name="connsiteY17" fmla="*/ 64579 h 1357244"/>
              <a:gd name="connsiteX18" fmla="*/ 1592102 w 1596176"/>
              <a:gd name="connsiteY18" fmla="*/ 34834 h 1357244"/>
              <a:gd name="connsiteX0" fmla="*/ 1592102 w 1592347"/>
              <a:gd name="connsiteY0" fmla="*/ 16497 h 1338907"/>
              <a:gd name="connsiteX1" fmla="*/ 1525427 w 1592347"/>
              <a:gd name="connsiteY1" fmla="*/ 262643 h 1338907"/>
              <a:gd name="connsiteX2" fmla="*/ 1446888 w 1592347"/>
              <a:gd name="connsiteY2" fmla="*/ 530011 h 1338907"/>
              <a:gd name="connsiteX3" fmla="*/ 1276273 w 1592347"/>
              <a:gd name="connsiteY3" fmla="*/ 824785 h 1338907"/>
              <a:gd name="connsiteX4" fmla="*/ 955765 w 1592347"/>
              <a:gd name="connsiteY4" fmla="*/ 1157993 h 1338907"/>
              <a:gd name="connsiteX5" fmla="*/ 740367 w 1592347"/>
              <a:gd name="connsiteY5" fmla="*/ 1333620 h 1338907"/>
              <a:gd name="connsiteX6" fmla="*/ 611133 w 1592347"/>
              <a:gd name="connsiteY6" fmla="*/ 1239779 h 1338907"/>
              <a:gd name="connsiteX7" fmla="*/ 324275 w 1592347"/>
              <a:gd name="connsiteY7" fmla="*/ 979023 h 1338907"/>
              <a:gd name="connsiteX8" fmla="*/ 107706 w 1592347"/>
              <a:gd name="connsiteY8" fmla="*/ 642139 h 1338907"/>
              <a:gd name="connsiteX9" fmla="*/ 90 w 1592347"/>
              <a:gd name="connsiteY9" fmla="*/ 453310 h 1338907"/>
              <a:gd name="connsiteX10" fmla="*/ 95675 w 1592347"/>
              <a:gd name="connsiteY10" fmla="*/ 293223 h 1338907"/>
              <a:gd name="connsiteX11" fmla="*/ 396464 w 1592347"/>
              <a:gd name="connsiteY11" fmla="*/ 630107 h 1338907"/>
              <a:gd name="connsiteX12" fmla="*/ 600834 w 1592347"/>
              <a:gd name="connsiteY12" fmla="*/ 788189 h 1338907"/>
              <a:gd name="connsiteX13" fmla="*/ 733348 w 1592347"/>
              <a:gd name="connsiteY13" fmla="*/ 979023 h 1338907"/>
              <a:gd name="connsiteX14" fmla="*/ 849319 w 1592347"/>
              <a:gd name="connsiteY14" fmla="*/ 688427 h 1338907"/>
              <a:gd name="connsiteX15" fmla="*/ 1010075 w 1592347"/>
              <a:gd name="connsiteY15" fmla="*/ 444620 h 1338907"/>
              <a:gd name="connsiteX16" fmla="*/ 1238173 w 1592347"/>
              <a:gd name="connsiteY16" fmla="*/ 236909 h 1338907"/>
              <a:gd name="connsiteX17" fmla="*/ 1395921 w 1592347"/>
              <a:gd name="connsiteY17" fmla="*/ 46242 h 1338907"/>
              <a:gd name="connsiteX18" fmla="*/ 1592102 w 1592347"/>
              <a:gd name="connsiteY18" fmla="*/ 16497 h 133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2347" h="1338907">
                <a:moveTo>
                  <a:pt x="1592102" y="16497"/>
                </a:moveTo>
                <a:cubicBezTo>
                  <a:pt x="1585111" y="52564"/>
                  <a:pt x="1549629" y="177057"/>
                  <a:pt x="1525427" y="262643"/>
                </a:cubicBezTo>
                <a:cubicBezTo>
                  <a:pt x="1501225" y="348229"/>
                  <a:pt x="1488414" y="436321"/>
                  <a:pt x="1446888" y="530011"/>
                </a:cubicBezTo>
                <a:cubicBezTo>
                  <a:pt x="1405362" y="623701"/>
                  <a:pt x="1358127" y="720121"/>
                  <a:pt x="1276273" y="824785"/>
                </a:cubicBezTo>
                <a:cubicBezTo>
                  <a:pt x="1194419" y="929449"/>
                  <a:pt x="1045083" y="1073187"/>
                  <a:pt x="955765" y="1157993"/>
                </a:cubicBezTo>
                <a:cubicBezTo>
                  <a:pt x="866447" y="1242799"/>
                  <a:pt x="788281" y="1310464"/>
                  <a:pt x="740367" y="1333620"/>
                </a:cubicBezTo>
                <a:cubicBezTo>
                  <a:pt x="692453" y="1356776"/>
                  <a:pt x="677307" y="1299937"/>
                  <a:pt x="611133" y="1239779"/>
                </a:cubicBezTo>
                <a:cubicBezTo>
                  <a:pt x="544959" y="1179621"/>
                  <a:pt x="408179" y="1078630"/>
                  <a:pt x="324275" y="979023"/>
                </a:cubicBezTo>
                <a:cubicBezTo>
                  <a:pt x="240371" y="879416"/>
                  <a:pt x="161737" y="729758"/>
                  <a:pt x="107706" y="642139"/>
                </a:cubicBezTo>
                <a:cubicBezTo>
                  <a:pt x="53675" y="554520"/>
                  <a:pt x="2095" y="511463"/>
                  <a:pt x="90" y="453310"/>
                </a:cubicBezTo>
                <a:cubicBezTo>
                  <a:pt x="-1915" y="395157"/>
                  <a:pt x="29613" y="263757"/>
                  <a:pt x="95675" y="293223"/>
                </a:cubicBezTo>
                <a:cubicBezTo>
                  <a:pt x="161737" y="322689"/>
                  <a:pt x="312271" y="547613"/>
                  <a:pt x="396464" y="630107"/>
                </a:cubicBezTo>
                <a:cubicBezTo>
                  <a:pt x="480657" y="712601"/>
                  <a:pt x="544687" y="730036"/>
                  <a:pt x="600834" y="788189"/>
                </a:cubicBezTo>
                <a:cubicBezTo>
                  <a:pt x="656981" y="846342"/>
                  <a:pt x="691934" y="995650"/>
                  <a:pt x="733348" y="979023"/>
                </a:cubicBezTo>
                <a:cubicBezTo>
                  <a:pt x="774762" y="962396"/>
                  <a:pt x="803198" y="777494"/>
                  <a:pt x="849319" y="688427"/>
                </a:cubicBezTo>
                <a:cubicBezTo>
                  <a:pt x="895440" y="599360"/>
                  <a:pt x="945266" y="519873"/>
                  <a:pt x="1010075" y="444620"/>
                </a:cubicBezTo>
                <a:cubicBezTo>
                  <a:pt x="1074884" y="369367"/>
                  <a:pt x="1186036" y="299072"/>
                  <a:pt x="1238173" y="236909"/>
                </a:cubicBezTo>
                <a:cubicBezTo>
                  <a:pt x="1290310" y="174746"/>
                  <a:pt x="1336933" y="82977"/>
                  <a:pt x="1395921" y="46242"/>
                </a:cubicBezTo>
                <a:cubicBezTo>
                  <a:pt x="1454909" y="9507"/>
                  <a:pt x="1599093" y="-19570"/>
                  <a:pt x="1592102" y="16497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63A0EC-2EE5-444C-A926-92E5F9EACAEC}"/>
              </a:ext>
            </a:extLst>
          </p:cNvPr>
          <p:cNvGrpSpPr/>
          <p:nvPr/>
        </p:nvGrpSpPr>
        <p:grpSpPr>
          <a:xfrm>
            <a:off x="6108075" y="86873"/>
            <a:ext cx="4100011" cy="1853993"/>
            <a:chOff x="6108075" y="86873"/>
            <a:chExt cx="4100011" cy="185399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E70831-260D-412C-85EF-C86A3331707A}"/>
                </a:ext>
              </a:extLst>
            </p:cNvPr>
            <p:cNvSpPr txBox="1"/>
            <p:nvPr/>
          </p:nvSpPr>
          <p:spPr>
            <a:xfrm>
              <a:off x="8716303" y="86873"/>
              <a:ext cx="1491783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PNEUMONIA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4A749E-F178-4453-AB10-2BDAFB2DB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075" y="248255"/>
              <a:ext cx="736073" cy="1692611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7C36391-992E-4AA3-8D2C-50F2F939C97B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6840378" y="256150"/>
              <a:ext cx="187592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4952D7A-DEA1-4744-A83D-41566BBAB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99107"/>
              </p:ext>
            </p:extLst>
          </p:nvPr>
        </p:nvGraphicFramePr>
        <p:xfrm>
          <a:off x="6840378" y="495069"/>
          <a:ext cx="5172083" cy="2542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211">
                  <a:extLst>
                    <a:ext uri="{9D8B030D-6E8A-4147-A177-3AD203B41FA5}">
                      <a16:colId xmlns:a16="http://schemas.microsoft.com/office/drawing/2014/main" val="4267190204"/>
                    </a:ext>
                  </a:extLst>
                </a:gridCol>
                <a:gridCol w="1985211">
                  <a:extLst>
                    <a:ext uri="{9D8B030D-6E8A-4147-A177-3AD203B41FA5}">
                      <a16:colId xmlns:a16="http://schemas.microsoft.com/office/drawing/2014/main" val="3571397714"/>
                    </a:ext>
                  </a:extLst>
                </a:gridCol>
                <a:gridCol w="2182661">
                  <a:extLst>
                    <a:ext uri="{9D8B030D-6E8A-4147-A177-3AD203B41FA5}">
                      <a16:colId xmlns:a16="http://schemas.microsoft.com/office/drawing/2014/main" val="1609700285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Dx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Drugs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56220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/>
                    </a:p>
                    <a:p>
                      <a:pPr algn="ctr"/>
                      <a:endParaRPr lang="en-US" sz="1400" i="1" dirty="0"/>
                    </a:p>
                    <a:p>
                      <a:pPr algn="ctr"/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95523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HAP/ VAP</a:t>
                      </a:r>
                    </a:p>
                    <a:p>
                      <a:pPr algn="ctr"/>
                      <a:r>
                        <a:rPr lang="en-US" sz="1400" b="0" dirty="0"/>
                        <a:t>(&gt;48 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74268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Aspiration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/>
                    </a:p>
                    <a:p>
                      <a:pPr algn="ctr"/>
                      <a:endParaRPr lang="en-US" sz="1400" i="1" dirty="0"/>
                    </a:p>
                    <a:p>
                      <a:pPr algn="ctr"/>
                      <a:endParaRPr lang="en-US" sz="1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0546"/>
                  </a:ext>
                </a:extLst>
              </a:tr>
            </a:tbl>
          </a:graphicData>
        </a:graphic>
      </p:graphicFrame>
      <p:grpSp>
        <p:nvGrpSpPr>
          <p:cNvPr id="53" name="Group 52">
            <a:extLst>
              <a:ext uri="{FF2B5EF4-FFF2-40B4-BE49-F238E27FC236}">
                <a16:creationId xmlns:a16="http://schemas.microsoft.com/office/drawing/2014/main" id="{7FE10CDF-05BC-4BA0-8764-A09FB387C148}"/>
              </a:ext>
            </a:extLst>
          </p:cNvPr>
          <p:cNvGrpSpPr/>
          <p:nvPr/>
        </p:nvGrpSpPr>
        <p:grpSpPr>
          <a:xfrm>
            <a:off x="7956969" y="3973074"/>
            <a:ext cx="2678264" cy="346845"/>
            <a:chOff x="7156563" y="2947837"/>
            <a:chExt cx="2790218" cy="34684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9B5BE66-0C8F-4CAF-8D3E-30C69FEEB754}"/>
                </a:ext>
              </a:extLst>
            </p:cNvPr>
            <p:cNvSpPr txBox="1"/>
            <p:nvPr/>
          </p:nvSpPr>
          <p:spPr>
            <a:xfrm>
              <a:off x="7156563" y="2956128"/>
              <a:ext cx="9061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Bugs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727A04-9166-40EE-BFF4-1924F761734D}"/>
                </a:ext>
              </a:extLst>
            </p:cNvPr>
            <p:cNvSpPr txBox="1"/>
            <p:nvPr/>
          </p:nvSpPr>
          <p:spPr>
            <a:xfrm>
              <a:off x="9040613" y="2947837"/>
              <a:ext cx="9061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Drugs 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5A91B8A-BA2F-4BBF-B58A-4974275E5AD3}"/>
              </a:ext>
            </a:extLst>
          </p:cNvPr>
          <p:cNvGrpSpPr/>
          <p:nvPr/>
        </p:nvGrpSpPr>
        <p:grpSpPr>
          <a:xfrm>
            <a:off x="5870036" y="3561018"/>
            <a:ext cx="3781499" cy="767360"/>
            <a:chOff x="4366148" y="1986883"/>
            <a:chExt cx="4221117" cy="941243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BB5EE2-BCE5-49C1-94D4-F1818EC63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148" y="2153757"/>
              <a:ext cx="1751395" cy="77436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66F0F1-48CA-4518-99B9-CB431E254B3A}"/>
                </a:ext>
              </a:extLst>
            </p:cNvPr>
            <p:cNvSpPr txBox="1"/>
            <p:nvPr/>
          </p:nvSpPr>
          <p:spPr>
            <a:xfrm>
              <a:off x="7879426" y="1986883"/>
              <a:ext cx="707839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UTI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56BE3C4-5D87-4B52-97F1-86FB90E45C47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6117543" y="2153755"/>
              <a:ext cx="1761882" cy="240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24A434B-053C-442E-A4B9-9737E2D9DC9F}"/>
              </a:ext>
            </a:extLst>
          </p:cNvPr>
          <p:cNvSpPr txBox="1"/>
          <p:nvPr/>
        </p:nvSpPr>
        <p:spPr>
          <a:xfrm>
            <a:off x="713376" y="3966295"/>
            <a:ext cx="3568249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INTRAABDOMINAL INFECTIONS </a:t>
            </a:r>
            <a:r>
              <a:rPr lang="en-US" sz="1600" dirty="0"/>
              <a:t>(cholecystitis, cholangitis, diverticulitis)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08FB69-45DE-47DC-A711-E0535811338B}"/>
              </a:ext>
            </a:extLst>
          </p:cNvPr>
          <p:cNvCxnSpPr>
            <a:cxnSpLocks/>
          </p:cNvCxnSpPr>
          <p:nvPr/>
        </p:nvCxnSpPr>
        <p:spPr>
          <a:xfrm flipH="1" flipV="1">
            <a:off x="4394212" y="245161"/>
            <a:ext cx="415781" cy="167026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F1333DC-64CE-4525-815C-946A692EA0C2}"/>
              </a:ext>
            </a:extLst>
          </p:cNvPr>
          <p:cNvCxnSpPr>
            <a:cxnSpLocks/>
          </p:cNvCxnSpPr>
          <p:nvPr/>
        </p:nvCxnSpPr>
        <p:spPr>
          <a:xfrm flipH="1">
            <a:off x="2931091" y="245161"/>
            <a:ext cx="1463121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2646413-37E2-48A0-86A9-F404F48E5ED7}"/>
              </a:ext>
            </a:extLst>
          </p:cNvPr>
          <p:cNvSpPr txBox="1"/>
          <p:nvPr/>
        </p:nvSpPr>
        <p:spPr>
          <a:xfrm>
            <a:off x="405874" y="120885"/>
            <a:ext cx="3568249" cy="3385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SKIN AND SOFT TISSUE INFECTIONS</a:t>
            </a:r>
            <a:endParaRPr lang="en-US" sz="1600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8D2A0E53-9749-4C54-BEA1-58FBF2FCB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04064"/>
              </p:ext>
            </p:extLst>
          </p:nvPr>
        </p:nvGraphicFramePr>
        <p:xfrm>
          <a:off x="145148" y="561473"/>
          <a:ext cx="4126227" cy="232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1882">
                  <a:extLst>
                    <a:ext uri="{9D8B030D-6E8A-4147-A177-3AD203B41FA5}">
                      <a16:colId xmlns:a16="http://schemas.microsoft.com/office/drawing/2014/main" val="4267190204"/>
                    </a:ext>
                  </a:extLst>
                </a:gridCol>
                <a:gridCol w="1246406">
                  <a:extLst>
                    <a:ext uri="{9D8B030D-6E8A-4147-A177-3AD203B41FA5}">
                      <a16:colId xmlns:a16="http://schemas.microsoft.com/office/drawing/2014/main" val="3571397714"/>
                    </a:ext>
                  </a:extLst>
                </a:gridCol>
                <a:gridCol w="2047939">
                  <a:extLst>
                    <a:ext uri="{9D8B030D-6E8A-4147-A177-3AD203B41FA5}">
                      <a16:colId xmlns:a16="http://schemas.microsoft.com/office/drawing/2014/main" val="1609700285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Dx</a:t>
                      </a:r>
                      <a:endParaRPr lang="en-US" sz="16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Bugs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Drugs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556220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Non-purulent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/>
                      <a:endParaRPr lang="en-US" sz="1400" dirty="0"/>
                    </a:p>
                    <a:p>
                      <a:pPr marL="120650" indent="-120650"/>
                      <a:endParaRPr 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5523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Purulent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 algn="l"/>
                      <a:endParaRPr 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74268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NSTI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0650" indent="-120650"/>
                      <a:endParaRPr 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546"/>
                  </a:ext>
                </a:extLst>
              </a:tr>
            </a:tbl>
          </a:graphicData>
        </a:graphic>
      </p:graphicFrame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A6FA850-4DA9-4890-A85A-EBA13EE8B817}"/>
              </a:ext>
            </a:extLst>
          </p:cNvPr>
          <p:cNvGrpSpPr/>
          <p:nvPr/>
        </p:nvGrpSpPr>
        <p:grpSpPr>
          <a:xfrm>
            <a:off x="1007663" y="4678748"/>
            <a:ext cx="2404773" cy="370283"/>
            <a:chOff x="728722" y="3390589"/>
            <a:chExt cx="2452950" cy="370283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0DFEDDA-8086-4A36-A54C-B1F6E9018B43}"/>
                </a:ext>
              </a:extLst>
            </p:cNvPr>
            <p:cNvSpPr txBox="1"/>
            <p:nvPr/>
          </p:nvSpPr>
          <p:spPr>
            <a:xfrm>
              <a:off x="728722" y="3390589"/>
              <a:ext cx="777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Bugs 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02D2189-D9C3-45B5-B7C1-355502EB13E2}"/>
                </a:ext>
              </a:extLst>
            </p:cNvPr>
            <p:cNvSpPr txBox="1"/>
            <p:nvPr/>
          </p:nvSpPr>
          <p:spPr>
            <a:xfrm>
              <a:off x="2275504" y="3391540"/>
              <a:ext cx="90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Drugs 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73331D1-617A-493C-A8D0-CCA4DFD77B60}"/>
              </a:ext>
            </a:extLst>
          </p:cNvPr>
          <p:cNvGrpSpPr/>
          <p:nvPr/>
        </p:nvGrpSpPr>
        <p:grpSpPr>
          <a:xfrm>
            <a:off x="2497501" y="2992665"/>
            <a:ext cx="2828837" cy="973630"/>
            <a:chOff x="2497501" y="2992665"/>
            <a:chExt cx="2828837" cy="97363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1B5A21-6943-4789-A3A0-1FF71D37F95C}"/>
                </a:ext>
              </a:extLst>
            </p:cNvPr>
            <p:cNvCxnSpPr>
              <a:cxnSpLocks/>
              <a:stCxn id="13" idx="1"/>
              <a:endCxn id="78" idx="0"/>
            </p:cNvCxnSpPr>
            <p:nvPr/>
          </p:nvCxnSpPr>
          <p:spPr>
            <a:xfrm flipH="1">
              <a:off x="2497501" y="2992665"/>
              <a:ext cx="2828837" cy="97363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65DD43-AAA8-4021-B108-3C8EA749CE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6815" y="3499599"/>
              <a:ext cx="1309411" cy="267586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11956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2023-2025 Practice Updates - Sites of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6E8C"/>
                </a:solidFill>
                <a:latin typeface="Calibri"/>
              </a:defRPr>
            </a:pPr>
            <a:r>
              <a:t>2025 ATS CAP guideline (AnnalsATS / AJRCCM 2025):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Selective empiric MRSA/Pseudomonas coverage - cover only with validated risk factors or a locally validated risk score; de-escalate at 48 h if cultures/screens negative.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Shorter courses - 3-5 days for inpatients clinically stable by 48-72 h (afebrile, &lt;=1 instability sign).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Corticosteroids for SEVERE CAP - hydrocortisone &lt;400 mg IV/day x5-7 d (CAPE COD, NEJM 2023; mortality RR 0.62). NOT for non-severe CAP; use dexamethasone if COVID-19.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MRSA nares PCR - high negative predictive value; use it to stop empiric vancomycin.</a:t>
            </a:r>
          </a:p>
          <a:p>
            <a:pPr>
              <a:spcAft>
                <a:spcPts val="400"/>
              </a:spcAft>
              <a:defRPr sz="1200" b="1">
                <a:solidFill>
                  <a:srgbClr val="0E6E8C"/>
                </a:solidFill>
                <a:latin typeface="Calibri"/>
              </a:defRPr>
            </a:pPr>
            <a:r>
              <a:t>UTI - 2024 WikiGuidelines (JAMA Netw Open 2024) &amp; EAU 2024-25: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Cystitis/UTI definitions no longer sex-dependent - uncomplicated cystitis can be diagnosed in men.</a:t>
            </a:r>
          </a:p>
          <a:p>
            <a:pPr lvl="1">
              <a:spcAft>
                <a:spcPts val="400"/>
              </a:spcAft>
              <a:defRPr sz="1200">
                <a:latin typeface="Calibri"/>
              </a:defRPr>
            </a:pPr>
            <a:r>
              <a:t>First-line cystitis unchanged: nitrofurantoin x5 d, TMP-SMX x3 d (if resistance &lt;20%), fosfomycin x1.</a:t>
            </a:r>
          </a:p>
          <a:p>
            <a:pPr>
              <a:spcAft>
                <a:spcPts val="400"/>
              </a:spcAft>
              <a:defRPr sz="1200" b="1">
                <a:solidFill>
                  <a:srgbClr val="0E6E8C"/>
                </a:solidFill>
                <a:latin typeface="Calibri"/>
              </a:defRPr>
            </a:pPr>
            <a:r>
              <a:t>SSTI / intra-abdominal - IDSA 2014 SSTI &amp; SIS 2017 IAI frameworks on this board remain current; first-line regimens unchanged.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Healthcare-associated infections add MRSA, Pseudomonas, and Enterococcus - escalate empiric coverage only with risk factors.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CAP: S. pneumoniae + GNRs + atypicals -&gt; ceftriaxone + azithromycin (or respiratory FQ). HAP/VAP (&gt;48 h) adds MRSA + Pseudomonas.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Aspiration and former-HCAP patients: treat as routine CAP; add anaerobic coverage only for lung abscess or empyema.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UTI: E. coli predominates. CAUTI and complicated UTI add Pseudomonas, Enterococcus, Staph. Nitrofurantoin/fosfomycin only for cystitis, never pyelonephritis.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SSTI: nonpurulent = Strep (cefazolin/cephalexin); purulent = S. aureus/MRSA (I&amp;D + vancomycin or PO MRSA agent); NSTI = surgery + broad coverage + clindamycin.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Intra-abdominal: community = enteric GNRs/anaerobes (ceftriaxone+metronidazole); hospital-acquired adds Pseudomonas/Enterococcus. Always pair antibiotics with source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Adapted from TeachIM "Antibiotics Part 2: Sites of Infection" (teachim.org), published Sept 2021.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Authors: Yilin Zhang MD; Brandon Fainstad MD; Mike Hori MD. License: CC BY-NC 4.0 (non-commercial; attribution required).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Source: teachim.org/teaching_material/abx-2-sites/  |  Deck: Antibiotics-Sites-of-Infection-4.22-1.pptx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Corrections (this optimization, 2026-06-10):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Slide 2 (Pneumonia): "doxyclcine" -&gt; "doxycycline" (spelling).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Slide 8 (summary table): "S. aereus" -&gt; "S. aureus" (spelling).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Added: 2023-2025 practice-update slide, take-home slide, this attribution slide. All original click-to-reveal animations and graphics preserved.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Companion: Common-sites-of-infection-Fill-in-worksheet.docx (learner "Antibiotic man" handout) - reviewed, no changes.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Newer context is source-cited;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12258</TotalTime>
  <Words>1651</Words>
  <Application>Microsoft Office PowerPoint</Application>
  <PresentationFormat>Widescreen</PresentationFormat>
  <Paragraphs>338</Paragraphs>
  <Slides>9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34</cp:revision>
  <cp:lastPrinted>2021-08-06T19:32:58Z</cp:lastPrinted>
  <dcterms:created xsi:type="dcterms:W3CDTF">2021-07-20T16:44:21Z</dcterms:created>
  <dcterms:modified xsi:type="dcterms:W3CDTF">2022-04-11T23:09:49Z</dcterms:modified>
</cp:coreProperties>
</file>