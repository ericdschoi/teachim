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s/modernComment_114_54ACF7F2.xml" ContentType="application/vnd.ms-powerpoint.comments+xml"/>
  <Override PartName="/ppt/comments/modernComment_115_AFA4AD13.xml" ContentType="application/vnd.ms-powerpoint.comments+xml"/>
  <Override PartName="/ppt/comments/modernComment_11C_6FB6CF5F.xml" ContentType="application/vnd.ms-powerpoint.comments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76" r:id="rId3"/>
    <p:sldId id="277" r:id="rId4"/>
    <p:sldId id="284" r:id="rId5"/>
    <p:sldId id="285" r:id="rId6"/>
    <p:sldId id="275" r:id="rId7"/>
    <p:sldId id="291" r:id="rId8"/>
    <p:sldId id="283" r:id="rId9"/>
    <p:sldId id="290" r:id="rId10"/>
    <p:sldId id="292" r:id="rId17"/>
    <p:sldId id="293" r:id="rId18"/>
    <p:sldId id="29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FC9972D-E8CF-8540-F4EC-9FADCE51AC45}" name="Brett, Molly S." initials="BMS" userId="S::Molly.Brett@va.gov::2c7ef713-0d44-4b24-8d77-1664667b3b99" providerId="AD"/>
  <p188:author id="{AB810968-D91D-C19B-3655-B4D2DE7FDBEE}" name="Yilin Zhang" initials="YZ" userId="S::Yilin_Zhang@valleymed.org::40a11026-a9ab-441d-8256-d37e38926e9e" providerId="AD"/>
  <p188:author id="{24EF71CF-F5FB-3264-CB3E-4DC2A7879CE4}" name="Molly Brett" initials="MB" userId="0d19276d4d61410f" providerId="Windows Live"/>
  <p188:author id="{859E5BDB-6F3D-ED07-5F70-C5F41F71366E}" name="addie mcclintock" initials="am" userId="S::ahearst_uw.edu#ext#@olucdenver.onmicrosoft.com::92c08f9e-5e22-4fe2-8131-16449ead058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4A6F"/>
    <a:srgbClr val="9B8198"/>
    <a:srgbClr val="635275"/>
    <a:srgbClr val="675580"/>
    <a:srgbClr val="CDCDCD"/>
    <a:srgbClr val="CCCCCC"/>
    <a:srgbClr val="6F5D60"/>
    <a:srgbClr val="575757"/>
    <a:srgbClr val="6C5B5D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24" autoAdjust="0"/>
    <p:restoredTop sz="86091" autoAdjust="0"/>
  </p:normalViewPr>
  <p:slideViewPr>
    <p:cSldViewPr snapToGrid="0">
      <p:cViewPr varScale="1">
        <p:scale>
          <a:sx n="88" d="100"/>
          <a:sy n="88" d="100"/>
        </p:scale>
        <p:origin x="116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8/10/relationships/authors" Target="authors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omments/modernComment_11C_6FB6CF5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B4B6852-AB83-40F9-98F3-507D53C4FA8C}" authorId="{AB810968-D91D-C19B-3655-B4D2DE7FDBEE}" created="2022-05-03T19:18:38.50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74251615" sldId="284"/>
      <ac:spMk id="50" creationId="{23B6C85E-A009-4F04-BBA1-57F5CEE0D82E}"/>
    </ac:deMkLst>
    <p188:txBody>
      <a:bodyPr/>
      <a:lstStyle/>
      <a:p>
        <a:r>
          <a:rPr lang="en-US"/>
          <a:t>Should we include gabapentin and clonidine here as secondary agents?</a:t>
        </a:r>
      </a:p>
    </p188:txBody>
  </p188:cm>
</p188:cmLst>
</file>

<file path=ppt/comments/modernComment_114_54ACF7F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2FC3F41-9080-43F8-A6DE-5C69A01D3B60}" authorId="{859E5BDB-6F3D-ED07-5F70-C5F41F71366E}" created="2022-02-23T22:59:47.44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420621810" sldId="276"/>
      <ac:spMk id="60" creationId="{110B0499-1F7D-4BD4-90ED-FF1298BB5D7E}"/>
    </ac:deMkLst>
    <p188:txBody>
      <a:bodyPr/>
      <a:lstStyle/>
      <a:p>
        <a:r>
          <a:rPr lang="en-US"/>
          <a:t>some additional nuance to this we can discuss and/or just have in the guide </a:t>
        </a:r>
      </a:p>
    </p188:txBody>
  </p188:cm>
</p188:cmLst>
</file>

<file path=ppt/comments/modernComment_115_AFA4AD1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822236-CBE5-400D-AA55-B17DF9AB87B1}" authorId="{859E5BDB-6F3D-ED07-5F70-C5F41F71366E}" created="2022-02-23T22:59:47.44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946805011" sldId="277"/>
      <ac:spMk id="60" creationId="{110B0499-1F7D-4BD4-90ED-FF1298BB5D7E}"/>
    </ac:deMkLst>
    <p188:txBody>
      <a:bodyPr/>
      <a:lstStyle/>
      <a:p>
        <a:r>
          <a:rPr lang="en-US"/>
          <a:t>some additional nuance to this we can discuss and/or just have in the guide 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CF927-BACE-44F4-9753-F58678B30D81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22F01-3773-4245-B724-3EB068C46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54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22F01-3773-4245-B724-3EB068C46FA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46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32323"/>
                </a:solidFill>
                <a:effectLst/>
                <a:latin typeface="Noto Sans" panose="020B0502040504020204" pitchFamily="34" charset="0"/>
              </a:rPr>
              <a:t>Endocrine Society's 2015 Clinical Practice Guideline, which suggests calculating cardiovascular and breast cancer risks before initiating MHT</a:t>
            </a:r>
          </a:p>
          <a:p>
            <a:r>
              <a:rPr lang="en-US" dirty="0"/>
              <a:t>Treatment of Symptoms of the Menopause: An Endocrine Society Clinical Practice Guideline. </a:t>
            </a:r>
            <a:r>
              <a:rPr lang="en-US" dirty="0" err="1">
                <a:effectLst/>
              </a:rPr>
              <a:t>Stuenkel</a:t>
            </a:r>
            <a:r>
              <a:rPr lang="en-US" dirty="0">
                <a:effectLst/>
              </a:rPr>
              <a:t> CA, Davis SR, </a:t>
            </a:r>
            <a:r>
              <a:rPr lang="en-US" dirty="0" err="1">
                <a:effectLst/>
              </a:rPr>
              <a:t>Gompel</a:t>
            </a:r>
            <a:r>
              <a:rPr lang="en-US" dirty="0">
                <a:effectLst/>
              </a:rPr>
              <a:t> A, Lumsden MA, Murad MH, Pinkerton JV, Santen RJ. J Clin Endocrinol </a:t>
            </a:r>
            <a:r>
              <a:rPr lang="en-US" dirty="0" err="1">
                <a:effectLst/>
              </a:rPr>
              <a:t>Metab</a:t>
            </a:r>
            <a:r>
              <a:rPr lang="en-US" dirty="0">
                <a:effectLst/>
              </a:rPr>
              <a:t>. 2015;100(11):3975.</a:t>
            </a:r>
            <a:r>
              <a:rPr lang="en-US" dirty="0"/>
              <a:t> ’</a:t>
            </a:r>
          </a:p>
          <a:p>
            <a:endParaRPr lang="en-US" dirty="0"/>
          </a:p>
          <a:p>
            <a:r>
              <a:rPr lang="en-US" dirty="0"/>
              <a:t>Transdermal preferred for mod ASCVD, migraines, VTE (just in general) if not cost prohibitive</a:t>
            </a:r>
          </a:p>
          <a:p>
            <a:r>
              <a:rPr lang="en-US" dirty="0" err="1"/>
              <a:t>Decmpensated</a:t>
            </a:r>
            <a:r>
              <a:rPr lang="en-US" dirty="0"/>
              <a:t> cirrhosis – should not use estrogen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22F01-3773-4245-B724-3EB068C46FA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96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32323"/>
                </a:solidFill>
                <a:effectLst/>
                <a:latin typeface="Noto Sans" panose="020B0502040504020204" pitchFamily="34" charset="0"/>
              </a:rPr>
              <a:t>Endocrine Society's 2015 Clinical Practice Guideline, which suggests calculating cardiovascular and breast cancer risks before initiating MHT</a:t>
            </a:r>
          </a:p>
          <a:p>
            <a:r>
              <a:rPr lang="en-US" dirty="0"/>
              <a:t>Treatment of Symptoms of the Menopause: An Endocrine Society Clinical Practice Guideline. </a:t>
            </a:r>
            <a:r>
              <a:rPr lang="en-US" dirty="0" err="1">
                <a:effectLst/>
              </a:rPr>
              <a:t>Stuenkel</a:t>
            </a:r>
            <a:r>
              <a:rPr lang="en-US" dirty="0">
                <a:effectLst/>
              </a:rPr>
              <a:t> CA, Davis SR, </a:t>
            </a:r>
            <a:r>
              <a:rPr lang="en-US" dirty="0" err="1">
                <a:effectLst/>
              </a:rPr>
              <a:t>Gompel</a:t>
            </a:r>
            <a:r>
              <a:rPr lang="en-US" dirty="0">
                <a:effectLst/>
              </a:rPr>
              <a:t> A, Lumsden MA, Murad MH, Pinkerton JV, Santen RJ. J Clin Endocrinol </a:t>
            </a:r>
            <a:r>
              <a:rPr lang="en-US" dirty="0" err="1">
                <a:effectLst/>
              </a:rPr>
              <a:t>Metab</a:t>
            </a:r>
            <a:r>
              <a:rPr lang="en-US" dirty="0">
                <a:effectLst/>
              </a:rPr>
              <a:t>. 2015;100(11):3975.</a:t>
            </a:r>
            <a:r>
              <a:rPr lang="en-US" dirty="0"/>
              <a:t> </a:t>
            </a:r>
          </a:p>
          <a:p>
            <a:endParaRPr lang="en-US" dirty="0"/>
          </a:p>
          <a:p>
            <a:r>
              <a:rPr lang="en-US" dirty="0"/>
              <a:t>People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22F01-3773-4245-B724-3EB068C46FA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31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22F01-3773-4245-B724-3EB068C46FA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71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22F01-3773-4245-B724-3EB068C46FA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042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47A9-D53B-43D9-8708-4A4F9CD95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AC791-CF7B-4E5A-829B-C1FEA7278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A3820-9C64-4254-B706-D7655C887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A3BB0-232D-4C30-81EA-22F16843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54119-109B-45F1-AE71-24E5326E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8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F50C-21F5-4629-9EC6-785D86A7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8CE0E-9445-461F-9ECE-DDFCB30DE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AB52-45BA-4DA5-8D42-A08F5258C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2237F-3FF5-4808-8FD5-00EF68EB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A63D9-4B9C-4C5F-9F78-072EDC35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0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FD5A-4224-4D3C-B1F1-B90A847A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431-F589-4041-83A9-477647B3D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6F8E7-1AA6-4BD7-A388-9A352EFF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54B6F-EDE8-4FBE-9CCD-D1DA2565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CB8CD-7770-4694-A186-17FB1A04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4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048C-8CE6-4F5C-9D54-EEF648B5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A9E7-68D0-4CAE-8EED-7E16296A6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3C60E-E3A3-43C5-9B70-2947682C4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61302-CA24-440A-B4FF-2A215B80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EEBFF-4BF8-4D9A-877C-4E5B15B3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C224-531D-4D5F-B138-C8C2DF55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8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275BB-BA8C-4CC9-93B3-4A118DAD3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F770-99FF-4877-A6E4-801BCDCA7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73736-8DED-4689-9646-4FBAC9D97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48A43-C6BB-4B91-88F4-AA4F08A7F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14354-CC40-406E-99F5-5BC15D383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D4896-9FCB-4EF0-BFDF-E1D1B2FC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12BA49-F00F-4AFE-AB38-3A00DBD1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7A29B-38B0-4F09-BE1C-9FA194FA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DF8A-24FB-44E0-9F17-99FE2945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F6B9C-BC36-4C97-A0C2-298B31B7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5006E-543E-470E-A609-8F2C7C4F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B6329-5671-4FC1-9965-4613377B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7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7B9BC-B772-43F8-B4FC-CF88D87B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8AABF-8B66-415F-B026-058588D7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94FAD-0F36-4D49-8D81-BC7EBBED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6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225D-6212-45BF-9127-F3496C19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76053-9083-4DB1-AC75-EEAFE66D1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CAA03-47AC-448C-BD62-44DFDB1CA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466D0-E4EF-4DF9-8096-64AA0A64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45805-0774-4915-B57B-553C8A9B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4D829-266E-48F1-BED7-DD6BB3E4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4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6985-27E5-4F8C-BF91-22DEDCF51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F96F4-60CE-40AC-AE3F-7773EA444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837F7-B670-4DDC-AFE1-EBA1784FB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39E62-6360-48A5-B5FE-258587AB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28423-8843-4CD6-A271-610D9232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C43CA-DAE0-4E68-99E5-FF49B44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1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CC0A-32B2-4D6B-A976-152A5A6B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7FAE1-E8C3-4A04-99E1-FC26CF51F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D4EBF-9BC0-48F9-BBA1-256AA7B4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FBAC2-A8AA-4365-8035-E8139DCAB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C765-A941-41A8-ACE1-FC7EEB92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5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A6490-5CB4-4007-BF9C-C0B9BBFD8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A637B-55D1-4FD6-8826-8107FE695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F6E6-4340-45E1-8E17-57FEF9878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51AFE-9DEF-42C3-B256-8BF6A263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D9F0-0590-4283-85CE-FDF9A929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854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B2958-4B36-4099-B770-95CB160A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95D57-598D-40AC-A83B-119200F92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F33C1-0465-4F25-B77C-BB92D54D4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F14A-D76B-40B9-B3E4-3854EC9865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183EC-0D02-4E7B-AF4B-BCEBEC804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5E90E-61B1-441D-88BB-8B212DF7D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6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slide" Target="slide8.xml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" Target="slide6.xml"/><Relationship Id="rId7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8/10/relationships/comments" Target="../comments/modernComment_114_54ACF7F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microsoft.com/office/2007/relationships/hdphoto" Target="../media/hdphoto1.wdp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slide" Target="slide3.xml"/><Relationship Id="rId9" Type="http://schemas.openxmlformats.org/officeDocument/2006/relationships/slide" Target="slide4.xml"/><Relationship Id="rId10" Type="http://schemas.openxmlformats.org/officeDocument/2006/relationships/slide" Target="slide5.xml"/><Relationship Id="rId11" Type="http://schemas.openxmlformats.org/officeDocument/2006/relationships/slide" Target="slide8.xml"/><Relationship Id="rId12" Type="http://schemas.openxmlformats.org/officeDocument/2006/relationships/slide" Target="slide6.xml"/><Relationship Id="rId13" Type="http://schemas.openxmlformats.org/officeDocument/2006/relationships/slide" Target="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8/10/relationships/comments" Target="../comments/modernComment_115_AFA4AD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5.png"/><Relationship Id="rId7" Type="http://schemas.microsoft.com/office/2007/relationships/hdphoto" Target="../media/hdphoto1.wdp"/><Relationship Id="rId8" Type="http://schemas.openxmlformats.org/officeDocument/2006/relationships/slide" Target="slide4.xml"/><Relationship Id="rId9" Type="http://schemas.openxmlformats.org/officeDocument/2006/relationships/slide" Target="slide5.xml"/><Relationship Id="rId10" Type="http://schemas.openxmlformats.org/officeDocument/2006/relationships/slide" Target="slide8.xml"/><Relationship Id="rId11" Type="http://schemas.openxmlformats.org/officeDocument/2006/relationships/slide" Target="slide6.xml"/><Relationship Id="rId1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8/10/relationships/comments" Target="../comments/modernComment_11C_6FB6CF5F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image" Target="../media/image10.png"/><Relationship Id="rId10" Type="http://schemas.openxmlformats.org/officeDocument/2006/relationships/slide" Target="slide4.xml"/><Relationship Id="rId11" Type="http://schemas.openxmlformats.org/officeDocument/2006/relationships/slide" Target="slide5.xml"/><Relationship Id="rId12" Type="http://schemas.openxmlformats.org/officeDocument/2006/relationships/slide" Target="slide8.xml"/><Relationship Id="rId13" Type="http://schemas.openxmlformats.org/officeDocument/2006/relationships/slide" Target="slide6.xml"/><Relationship Id="rId14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11.png"/><Relationship Id="rId7" Type="http://schemas.openxmlformats.org/officeDocument/2006/relationships/image" Target="../media/image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9.svg"/><Relationship Id="rId13" Type="http://schemas.openxmlformats.org/officeDocument/2006/relationships/image" Target="../media/image10.png"/><Relationship Id="rId14" Type="http://schemas.openxmlformats.org/officeDocument/2006/relationships/slide" Target="slide4.xml"/><Relationship Id="rId15" Type="http://schemas.openxmlformats.org/officeDocument/2006/relationships/slide" Target="slide5.xml"/><Relationship Id="rId16" Type="http://schemas.openxmlformats.org/officeDocument/2006/relationships/slide" Target="slide8.xml"/><Relationship Id="rId17" Type="http://schemas.openxmlformats.org/officeDocument/2006/relationships/slide" Target="slide6.xml"/><Relationship Id="rId18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slide" Target="slide7.xml"/><Relationship Id="rId8" Type="http://schemas.openxmlformats.org/officeDocument/2006/relationships/image" Target="../media/image2.png"/><Relationship Id="rId9" Type="http://schemas.openxmlformats.org/officeDocument/2006/relationships/image" Target="../media/image3.svg"/><Relationship Id="rId10" Type="http://schemas.openxmlformats.org/officeDocument/2006/relationships/image" Target="../media/image14.png"/><Relationship Id="rId11" Type="http://schemas.openxmlformats.org/officeDocument/2006/relationships/image" Target="../media/image15.svg"/><Relationship Id="rId12" Type="http://schemas.openxmlformats.org/officeDocument/2006/relationships/slide" Target="slide8.xml"/><Relationship Id="rId13" Type="http://schemas.openxmlformats.org/officeDocument/2006/relationships/slide" Target="slide6.xml"/><Relationship Id="rId14" Type="http://schemas.openxmlformats.org/officeDocument/2006/relationships/slide" Target="slide2.xml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slide8.xml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" Target="slide6.xml"/><Relationship Id="rId7" Type="http://schemas.openxmlformats.org/officeDocument/2006/relationships/slide" Target="slide2.xml"/><Relationship Id="rId8" Type="http://schemas.openxmlformats.org/officeDocument/2006/relationships/image" Target="../media/image20.png"/><Relationship Id="rId9" Type="http://schemas.openxmlformats.org/officeDocument/2006/relationships/image" Target="../media/image21.svg"/><Relationship Id="rId10" Type="http://schemas.openxmlformats.org/officeDocument/2006/relationships/image" Target="../media/image22.png"/><Relationship Id="rId11" Type="http://schemas.openxmlformats.org/officeDocument/2006/relationships/image" Target="../media/image23.svg"/><Relationship Id="rId12" Type="http://schemas.openxmlformats.org/officeDocument/2006/relationships/image" Target="../media/image24.png"/><Relationship Id="rId13" Type="http://schemas.openxmlformats.org/officeDocument/2006/relationships/image" Target="../media/image25.svg"/><Relationship Id="rId14" Type="http://schemas.openxmlformats.org/officeDocument/2006/relationships/image" Target="../media/image26.png"/><Relationship Id="rId15" Type="http://schemas.openxmlformats.org/officeDocument/2006/relationships/image" Target="../media/image27.svg"/><Relationship Id="rId16" Type="http://schemas.openxmlformats.org/officeDocument/2006/relationships/image" Target="../media/image28.png"/><Relationship Id="rId17" Type="http://schemas.openxmlformats.org/officeDocument/2006/relationships/image" Target="../media/image29.svg"/><Relationship Id="rId18" Type="http://schemas.openxmlformats.org/officeDocument/2006/relationships/image" Target="../media/image30.png"/><Relationship Id="rId19" Type="http://schemas.openxmlformats.org/officeDocument/2006/relationships/image" Target="../media/image31.svg"/><Relationship Id="rId20" Type="http://schemas.openxmlformats.org/officeDocument/2006/relationships/image" Target="../media/image32.png"/><Relationship Id="rId21" Type="http://schemas.openxmlformats.org/officeDocument/2006/relationships/image" Target="../media/image33.svg"/><Relationship Id="rId22" Type="http://schemas.openxmlformats.org/officeDocument/2006/relationships/image" Target="../media/image34.png"/><Relationship Id="rId23" Type="http://schemas.openxmlformats.org/officeDocument/2006/relationships/image" Target="../media/image3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hyperlink" Target="https://teachim.org/teaching_material/abnormal-uterine-bleeding/" TargetMode="External"/><Relationship Id="rId6" Type="http://schemas.openxmlformats.org/officeDocument/2006/relationships/slide" Target="slide6.xml"/><Relationship Id="rId7" Type="http://schemas.openxmlformats.org/officeDocument/2006/relationships/slide" Target="slide2.xml"/><Relationship Id="rId8" Type="http://schemas.openxmlformats.org/officeDocument/2006/relationships/slide" Target="slide8.xml"/><Relationship Id="rId9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" Target="slide6.xml"/><Relationship Id="rId6" Type="http://schemas.openxmlformats.org/officeDocument/2006/relationships/slide" Target="slide2.xml"/><Relationship Id="rId7" Type="http://schemas.openxmlformats.org/officeDocument/2006/relationships/slide" Target="slide8.xml"/><Relationship Id="rId8" Type="http://schemas.openxmlformats.org/officeDocument/2006/relationships/slide" Target="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AFB72A1-C019-4ADE-A4C3-117AF97FE617}"/>
              </a:ext>
            </a:extLst>
          </p:cNvPr>
          <p:cNvSpPr txBox="1"/>
          <p:nvPr/>
        </p:nvSpPr>
        <p:spPr>
          <a:xfrm>
            <a:off x="4120382" y="262431"/>
            <a:ext cx="47539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Perimenopause </a:t>
            </a:r>
          </a:p>
          <a:p>
            <a:pPr algn="ctr"/>
            <a:r>
              <a:rPr lang="en-US" sz="4800" b="1" dirty="0"/>
              <a:t>&amp; </a:t>
            </a:r>
          </a:p>
          <a:p>
            <a:pPr algn="ctr"/>
            <a:r>
              <a:rPr lang="en-US" sz="4800" b="1" dirty="0"/>
              <a:t>Menopause</a:t>
            </a:r>
          </a:p>
        </p:txBody>
      </p:sp>
      <p:pic>
        <p:nvPicPr>
          <p:cNvPr id="3" name="Picture 2" descr="A picture containing spectacles&#10;&#10;Description automatically generated">
            <a:extLst>
              <a:ext uri="{FF2B5EF4-FFF2-40B4-BE49-F238E27FC236}">
                <a16:creationId xmlns:a16="http://schemas.microsoft.com/office/drawing/2014/main" id="{DFEB9BFF-893C-4451-849D-A637D9674A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" r="4790"/>
          <a:stretch/>
        </p:blipFill>
        <p:spPr>
          <a:xfrm>
            <a:off x="3962400" y="2570755"/>
            <a:ext cx="5347063" cy="3985958"/>
          </a:xfrm>
          <a:prstGeom prst="rect">
            <a:avLst/>
          </a:prstGeom>
        </p:spPr>
      </p:pic>
      <p:sp>
        <p:nvSpPr>
          <p:cNvPr id="28" name="Cases">
            <a:hlinkClick r:id="rId3" action="ppaction://hlinksldjump"/>
            <a:extLst>
              <a:ext uri="{FF2B5EF4-FFF2-40B4-BE49-F238E27FC236}">
                <a16:creationId xmlns:a16="http://schemas.microsoft.com/office/drawing/2014/main" id="{27085220-CF6E-41B6-904A-3DCA608781D8}"/>
              </a:ext>
            </a:extLst>
          </p:cNvPr>
          <p:cNvSpPr/>
          <p:nvPr/>
        </p:nvSpPr>
        <p:spPr>
          <a:xfrm>
            <a:off x="156231" y="1802946"/>
            <a:ext cx="1737360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29" name="Graphic 28" descr="Cursor with solid fill">
            <a:extLst>
              <a:ext uri="{FF2B5EF4-FFF2-40B4-BE49-F238E27FC236}">
                <a16:creationId xmlns:a16="http://schemas.microsoft.com/office/drawing/2014/main" id="{CD20E663-A4AC-4563-BC9B-567F57720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4683" y="2028144"/>
            <a:ext cx="301752" cy="301752"/>
          </a:xfrm>
          <a:prstGeom prst="rect">
            <a:avLst/>
          </a:prstGeom>
        </p:spPr>
      </p:pic>
      <p:sp>
        <p:nvSpPr>
          <p:cNvPr id="30" name="Obj 2">
            <a:hlinkClick r:id="rId6" action="ppaction://hlinksldjump"/>
            <a:extLst>
              <a:ext uri="{FF2B5EF4-FFF2-40B4-BE49-F238E27FC236}">
                <a16:creationId xmlns:a16="http://schemas.microsoft.com/office/drawing/2014/main" id="{1FA8EF26-8F30-4D5E-9F70-CD6F0B340426}"/>
              </a:ext>
            </a:extLst>
          </p:cNvPr>
          <p:cNvSpPr/>
          <p:nvPr/>
        </p:nvSpPr>
        <p:spPr>
          <a:xfrm>
            <a:off x="156231" y="979718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Hormone Therapy (MHT)</a:t>
            </a:r>
          </a:p>
        </p:txBody>
      </p:sp>
      <p:sp>
        <p:nvSpPr>
          <p:cNvPr id="31" name="Obj 2">
            <a:hlinkClick r:id="rId7" action="ppaction://hlinksldjump"/>
            <a:extLst>
              <a:ext uri="{FF2B5EF4-FFF2-40B4-BE49-F238E27FC236}">
                <a16:creationId xmlns:a16="http://schemas.microsoft.com/office/drawing/2014/main" id="{63380D8F-D971-4B70-93C6-E4DBD25877AA}"/>
              </a:ext>
            </a:extLst>
          </p:cNvPr>
          <p:cNvSpPr/>
          <p:nvPr/>
        </p:nvSpPr>
        <p:spPr>
          <a:xfrm>
            <a:off x="156231" y="156489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Definitions &amp; Diagnoses</a:t>
            </a:r>
          </a:p>
        </p:txBody>
      </p:sp>
      <p:pic>
        <p:nvPicPr>
          <p:cNvPr id="32" name="Graphic 31" descr="Cursor with solid fill">
            <a:extLst>
              <a:ext uri="{FF2B5EF4-FFF2-40B4-BE49-F238E27FC236}">
                <a16:creationId xmlns:a16="http://schemas.microsoft.com/office/drawing/2014/main" id="{4F5FC3EF-F986-4DEB-A58F-4A0692EA3B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4683" y="1475053"/>
            <a:ext cx="301752" cy="301752"/>
          </a:xfrm>
          <a:prstGeom prst="rect">
            <a:avLst/>
          </a:prstGeom>
        </p:spPr>
      </p:pic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C1F7BA3D-919F-45D8-9AD5-B7FA68DB18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4683" y="662654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34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Menstral transition button">
            <a:extLst>
              <a:ext uri="{FF2B5EF4-FFF2-40B4-BE49-F238E27FC236}">
                <a16:creationId xmlns:a16="http://schemas.microsoft.com/office/drawing/2014/main" id="{8DDF0825-4389-4F3F-97BE-59CB2C0B542B}"/>
              </a:ext>
            </a:extLst>
          </p:cNvPr>
          <p:cNvSpPr txBox="1"/>
          <p:nvPr/>
        </p:nvSpPr>
        <p:spPr>
          <a:xfrm>
            <a:off x="7966529" y="2857404"/>
            <a:ext cx="1651235" cy="612934"/>
          </a:xfrm>
          <a:prstGeom prst="roundRect">
            <a:avLst>
              <a:gd name="adj" fmla="val 12005"/>
            </a:avLst>
          </a:prstGeom>
          <a:solidFill>
            <a:srgbClr val="9B8198"/>
          </a:solidFill>
          <a:ln w="38100">
            <a:solidFill>
              <a:srgbClr val="9B8198"/>
            </a:solidFill>
          </a:ln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Menopausal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Transition</a:t>
            </a:r>
          </a:p>
        </p:txBody>
      </p:sp>
      <p:sp>
        <p:nvSpPr>
          <p:cNvPr id="44" name="Menopause button">
            <a:extLst>
              <a:ext uri="{FF2B5EF4-FFF2-40B4-BE49-F238E27FC236}">
                <a16:creationId xmlns:a16="http://schemas.microsoft.com/office/drawing/2014/main" id="{ACC0A221-FF28-4117-80A8-8262522FEEB8}"/>
              </a:ext>
            </a:extLst>
          </p:cNvPr>
          <p:cNvSpPr txBox="1"/>
          <p:nvPr/>
        </p:nvSpPr>
        <p:spPr>
          <a:xfrm>
            <a:off x="10393701" y="2961990"/>
            <a:ext cx="1338085" cy="408623"/>
          </a:xfrm>
          <a:prstGeom prst="roundRect">
            <a:avLst/>
          </a:prstGeom>
          <a:solidFill>
            <a:srgbClr val="635275"/>
          </a:solidFill>
          <a:ln w="38100">
            <a:solidFill>
              <a:srgbClr val="635275"/>
            </a:solidFill>
          </a:ln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Menopause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777D07-AF8A-494E-AA8F-3E4EC23D7807}"/>
              </a:ext>
            </a:extLst>
          </p:cNvPr>
          <p:cNvSpPr txBox="1"/>
          <p:nvPr/>
        </p:nvSpPr>
        <p:spPr>
          <a:xfrm>
            <a:off x="2887039" y="102674"/>
            <a:ext cx="8050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Clinical Features of Perimenopause and Menopause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44C10CF-6705-4BD0-9890-E68EEE3CE3C1}"/>
              </a:ext>
            </a:extLst>
          </p:cNvPr>
          <p:cNvCxnSpPr>
            <a:cxnSpLocks/>
          </p:cNvCxnSpPr>
          <p:nvPr/>
        </p:nvCxnSpPr>
        <p:spPr>
          <a:xfrm flipV="1">
            <a:off x="2295525" y="2447109"/>
            <a:ext cx="9667875" cy="17655"/>
          </a:xfrm>
          <a:prstGeom prst="straightConnector1">
            <a:avLst/>
          </a:prstGeom>
          <a:ln w="76200">
            <a:gradFill flip="none" rotWithShape="1">
              <a:gsLst>
                <a:gs pos="0">
                  <a:srgbClr val="E7C2C7"/>
                </a:gs>
                <a:gs pos="100000">
                  <a:srgbClr val="5A4A6F"/>
                </a:gs>
              </a:gsLst>
              <a:lin ang="0" scaled="1"/>
              <a:tileRect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5DE3AA3-649E-4A07-B6B5-9EE4693D12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28" t="13579" r="12469" b="21669"/>
          <a:stretch/>
        </p:blipFill>
        <p:spPr>
          <a:xfrm>
            <a:off x="1962804" y="796366"/>
            <a:ext cx="2255520" cy="1456271"/>
          </a:xfrm>
          <a:prstGeom prst="rect">
            <a:avLst/>
          </a:prstGeom>
        </p:spPr>
      </p:pic>
      <p:sp>
        <p:nvSpPr>
          <p:cNvPr id="16" name="Menstral transition button">
            <a:extLst>
              <a:ext uri="{FF2B5EF4-FFF2-40B4-BE49-F238E27FC236}">
                <a16:creationId xmlns:a16="http://schemas.microsoft.com/office/drawing/2014/main" id="{F162FF1A-70FE-45CF-A201-6386876A22F2}"/>
              </a:ext>
            </a:extLst>
          </p:cNvPr>
          <p:cNvSpPr txBox="1"/>
          <p:nvPr/>
        </p:nvSpPr>
        <p:spPr>
          <a:xfrm>
            <a:off x="7966529" y="2857404"/>
            <a:ext cx="1651235" cy="612934"/>
          </a:xfrm>
          <a:prstGeom prst="roundRect">
            <a:avLst>
              <a:gd name="adj" fmla="val 12005"/>
            </a:avLst>
          </a:prstGeom>
          <a:solidFill>
            <a:schemeClr val="bg1"/>
          </a:solidFill>
          <a:ln w="38100">
            <a:solidFill>
              <a:srgbClr val="9B819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Menopausal</a:t>
            </a:r>
          </a:p>
          <a:p>
            <a:pPr algn="ctr"/>
            <a:r>
              <a:rPr lang="en-US" dirty="0"/>
              <a:t>Transition</a:t>
            </a:r>
          </a:p>
        </p:txBody>
      </p:sp>
      <p:sp>
        <p:nvSpPr>
          <p:cNvPr id="17" name="Menopause button">
            <a:extLst>
              <a:ext uri="{FF2B5EF4-FFF2-40B4-BE49-F238E27FC236}">
                <a16:creationId xmlns:a16="http://schemas.microsoft.com/office/drawing/2014/main" id="{80BA31E5-3770-41A1-916C-8C056288651D}"/>
              </a:ext>
            </a:extLst>
          </p:cNvPr>
          <p:cNvSpPr txBox="1"/>
          <p:nvPr/>
        </p:nvSpPr>
        <p:spPr>
          <a:xfrm>
            <a:off x="10393701" y="2961990"/>
            <a:ext cx="1338085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63527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Menopause</a:t>
            </a:r>
          </a:p>
        </p:txBody>
      </p:sp>
      <p:pic>
        <p:nvPicPr>
          <p:cNvPr id="8" name="Picture 7" descr="A picture containing domestic cat&#10;&#10;Description automatically generated">
            <a:extLst>
              <a:ext uri="{FF2B5EF4-FFF2-40B4-BE49-F238E27FC236}">
                <a16:creationId xmlns:a16="http://schemas.microsoft.com/office/drawing/2014/main" id="{1436557A-F1E0-4765-9B41-1D9A500C487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661" t="12597" r="14604" b="20864"/>
          <a:stretch/>
        </p:blipFill>
        <p:spPr>
          <a:xfrm>
            <a:off x="9556793" y="710170"/>
            <a:ext cx="2255521" cy="1574256"/>
          </a:xfrm>
          <a:prstGeom prst="rect">
            <a:avLst/>
          </a:prstGeom>
        </p:spPr>
      </p:pic>
      <p:sp>
        <p:nvSpPr>
          <p:cNvPr id="21" name="MT text">
            <a:extLst>
              <a:ext uri="{FF2B5EF4-FFF2-40B4-BE49-F238E27FC236}">
                <a16:creationId xmlns:a16="http://schemas.microsoft.com/office/drawing/2014/main" id="{5A1AD2F2-2B4C-4A90-9D54-4993284F3D54}"/>
              </a:ext>
            </a:extLst>
          </p:cNvPr>
          <p:cNvSpPr txBox="1"/>
          <p:nvPr/>
        </p:nvSpPr>
        <p:spPr>
          <a:xfrm>
            <a:off x="7703442" y="3617690"/>
            <a:ext cx="22585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“</a:t>
            </a:r>
            <a:r>
              <a:rPr lang="en-US" u="sng" dirty="0"/>
              <a:t>Perimenopause”</a:t>
            </a:r>
          </a:p>
          <a:p>
            <a:pPr algn="ctr"/>
            <a:r>
              <a:rPr lang="en-US" b="1" dirty="0"/>
              <a:t>Irregular menses</a:t>
            </a:r>
          </a:p>
          <a:p>
            <a:pPr algn="ctr"/>
            <a:r>
              <a:rPr lang="en-US" b="1" dirty="0"/>
              <a:t>Hormonal symptoms </a:t>
            </a:r>
          </a:p>
          <a:p>
            <a:pPr algn="ctr"/>
            <a:r>
              <a:rPr lang="en-US" dirty="0"/>
              <a:t>*hot flashes* </a:t>
            </a:r>
          </a:p>
          <a:p>
            <a:pPr algn="ctr"/>
            <a:r>
              <a:rPr lang="en-US" dirty="0"/>
              <a:t>*mood changes*</a:t>
            </a:r>
          </a:p>
        </p:txBody>
      </p:sp>
      <p:sp>
        <p:nvSpPr>
          <p:cNvPr id="22" name="M text">
            <a:extLst>
              <a:ext uri="{FF2B5EF4-FFF2-40B4-BE49-F238E27FC236}">
                <a16:creationId xmlns:a16="http://schemas.microsoft.com/office/drawing/2014/main" id="{3FE3B80D-F1A2-4C54-A45E-CC0AC71E0E63}"/>
              </a:ext>
            </a:extLst>
          </p:cNvPr>
          <p:cNvSpPr txBox="1"/>
          <p:nvPr/>
        </p:nvSpPr>
        <p:spPr>
          <a:xfrm>
            <a:off x="9933488" y="3644497"/>
            <a:ext cx="2258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Amenorrhea </a:t>
            </a:r>
          </a:p>
          <a:p>
            <a:pPr algn="ctr"/>
            <a:r>
              <a:rPr lang="en-US" b="1" dirty="0"/>
              <a:t>&gt;12 months </a:t>
            </a:r>
          </a:p>
          <a:p>
            <a:pPr algn="ctr"/>
            <a:r>
              <a:rPr lang="en-US" dirty="0"/>
              <a:t>(following menstrual irregularity)</a:t>
            </a:r>
          </a:p>
        </p:txBody>
      </p:sp>
      <p:pic>
        <p:nvPicPr>
          <p:cNvPr id="23" name="M pointer" descr="Cursor with solid fill">
            <a:extLst>
              <a:ext uri="{FF2B5EF4-FFF2-40B4-BE49-F238E27FC236}">
                <a16:creationId xmlns:a16="http://schemas.microsoft.com/office/drawing/2014/main" id="{79A93093-9A9C-4F34-8CC3-42DD940418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87469" y="3219377"/>
            <a:ext cx="301752" cy="301752"/>
          </a:xfrm>
          <a:prstGeom prst="rect">
            <a:avLst/>
          </a:prstGeom>
        </p:spPr>
      </p:pic>
      <p:pic>
        <p:nvPicPr>
          <p:cNvPr id="24" name="MT pointer" descr="Cursor with solid fill">
            <a:extLst>
              <a:ext uri="{FF2B5EF4-FFF2-40B4-BE49-F238E27FC236}">
                <a16:creationId xmlns:a16="http://schemas.microsoft.com/office/drawing/2014/main" id="{B169E332-53E3-475B-88BC-B9F6214D2C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79854" y="3324971"/>
            <a:ext cx="301752" cy="301752"/>
          </a:xfrm>
          <a:prstGeom prst="rect">
            <a:avLst/>
          </a:prstGeom>
        </p:spPr>
      </p:pic>
      <p:sp>
        <p:nvSpPr>
          <p:cNvPr id="25" name="Texting button">
            <a:hlinkClick r:id="rId8" action="ppaction://hlinksldjump"/>
            <a:extLst>
              <a:ext uri="{FF2B5EF4-FFF2-40B4-BE49-F238E27FC236}">
                <a16:creationId xmlns:a16="http://schemas.microsoft.com/office/drawing/2014/main" id="{724C9A7E-6E73-47DD-8018-0F724C55EEFC}"/>
              </a:ext>
            </a:extLst>
          </p:cNvPr>
          <p:cNvSpPr txBox="1"/>
          <p:nvPr/>
        </p:nvSpPr>
        <p:spPr>
          <a:xfrm>
            <a:off x="5403837" y="5833713"/>
            <a:ext cx="270892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When is Testing Indicated?</a:t>
            </a:r>
          </a:p>
        </p:txBody>
      </p:sp>
      <p:pic>
        <p:nvPicPr>
          <p:cNvPr id="26" name="Testing pointer" descr="Cursor with solid fill">
            <a:extLst>
              <a:ext uri="{FF2B5EF4-FFF2-40B4-BE49-F238E27FC236}">
                <a16:creationId xmlns:a16="http://schemas.microsoft.com/office/drawing/2014/main" id="{8DCFB609-208B-4253-9B28-5AC47097C4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6529" y="6107000"/>
            <a:ext cx="301752" cy="30175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EC50A57-6DFA-4DA7-8810-88F1D7721301}"/>
              </a:ext>
            </a:extLst>
          </p:cNvPr>
          <p:cNvSpPr txBox="1"/>
          <p:nvPr/>
        </p:nvSpPr>
        <p:spPr>
          <a:xfrm>
            <a:off x="8326941" y="2308541"/>
            <a:ext cx="874495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~45-50 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4DF5B2-EBB7-43CC-98C7-6A084A2739B3}"/>
              </a:ext>
            </a:extLst>
          </p:cNvPr>
          <p:cNvSpPr txBox="1"/>
          <p:nvPr/>
        </p:nvSpPr>
        <p:spPr>
          <a:xfrm>
            <a:off x="10760358" y="2252637"/>
            <a:ext cx="586810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ctr"/>
            <a:r>
              <a:rPr lang="en-US" dirty="0"/>
              <a:t>~50 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6794E8-95FC-4D91-9BE6-6C3B3D059E8A}"/>
              </a:ext>
            </a:extLst>
          </p:cNvPr>
          <p:cNvSpPr txBox="1"/>
          <p:nvPr/>
        </p:nvSpPr>
        <p:spPr>
          <a:xfrm>
            <a:off x="6221631" y="2317436"/>
            <a:ext cx="788896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40-45 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063E74-6F5A-431A-A23B-73025A72C832}"/>
              </a:ext>
            </a:extLst>
          </p:cNvPr>
          <p:cNvSpPr txBox="1"/>
          <p:nvPr/>
        </p:nvSpPr>
        <p:spPr>
          <a:xfrm>
            <a:off x="4363172" y="2308541"/>
            <a:ext cx="788896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&lt;40 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090896-55D5-426B-A23B-19B8C7D269F2}"/>
              </a:ext>
            </a:extLst>
          </p:cNvPr>
          <p:cNvSpPr/>
          <p:nvPr/>
        </p:nvSpPr>
        <p:spPr>
          <a:xfrm>
            <a:off x="2295525" y="2952964"/>
            <a:ext cx="5231886" cy="426103"/>
          </a:xfrm>
          <a:prstGeom prst="rect">
            <a:avLst/>
          </a:prstGeom>
          <a:solidFill>
            <a:srgbClr val="F1CDD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Reproductive period</a:t>
            </a:r>
          </a:p>
        </p:txBody>
      </p:sp>
      <p:sp>
        <p:nvSpPr>
          <p:cNvPr id="45" name="Obj 2">
            <a:hlinkClick r:id="rId9" action="ppaction://hlinksldjump"/>
            <a:extLst>
              <a:ext uri="{FF2B5EF4-FFF2-40B4-BE49-F238E27FC236}">
                <a16:creationId xmlns:a16="http://schemas.microsoft.com/office/drawing/2014/main" id="{B679BE5B-706E-4AE3-8E49-B52B15C71A40}"/>
              </a:ext>
            </a:extLst>
          </p:cNvPr>
          <p:cNvSpPr/>
          <p:nvPr/>
        </p:nvSpPr>
        <p:spPr>
          <a:xfrm>
            <a:off x="465283" y="982561"/>
            <a:ext cx="1434353" cy="63541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Peri-menopause</a:t>
            </a:r>
          </a:p>
        </p:txBody>
      </p:sp>
      <p:pic>
        <p:nvPicPr>
          <p:cNvPr id="46" name="Graphic 45" descr="Cursor with solid fill">
            <a:extLst>
              <a:ext uri="{FF2B5EF4-FFF2-40B4-BE49-F238E27FC236}">
                <a16:creationId xmlns:a16="http://schemas.microsoft.com/office/drawing/2014/main" id="{F279E2D6-0D61-44ED-A6E0-31C03E45AE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65231" y="1460512"/>
            <a:ext cx="301752" cy="301752"/>
          </a:xfrm>
          <a:prstGeom prst="rect">
            <a:avLst/>
          </a:prstGeom>
        </p:spPr>
      </p:pic>
      <p:sp>
        <p:nvSpPr>
          <p:cNvPr id="47" name="Obj 3">
            <a:hlinkClick r:id="rId10" action="ppaction://hlinksldjump"/>
            <a:extLst>
              <a:ext uri="{FF2B5EF4-FFF2-40B4-BE49-F238E27FC236}">
                <a16:creationId xmlns:a16="http://schemas.microsoft.com/office/drawing/2014/main" id="{FD1EF21E-90F3-4AEA-85D0-3EDF302A4A29}"/>
              </a:ext>
            </a:extLst>
          </p:cNvPr>
          <p:cNvSpPr/>
          <p:nvPr/>
        </p:nvSpPr>
        <p:spPr>
          <a:xfrm>
            <a:off x="465283" y="1803968"/>
            <a:ext cx="1434353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Menopause</a:t>
            </a:r>
          </a:p>
        </p:txBody>
      </p:sp>
      <p:pic>
        <p:nvPicPr>
          <p:cNvPr id="48" name="Graphic 47" descr="Cursor with solid fill">
            <a:extLst>
              <a:ext uri="{FF2B5EF4-FFF2-40B4-BE49-F238E27FC236}">
                <a16:creationId xmlns:a16="http://schemas.microsoft.com/office/drawing/2014/main" id="{1C471D8B-D988-4763-8060-4728576BEF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65231" y="2031578"/>
            <a:ext cx="301752" cy="301752"/>
          </a:xfrm>
          <a:prstGeom prst="rect">
            <a:avLst/>
          </a:prstGeom>
        </p:spPr>
      </p:pic>
      <p:sp>
        <p:nvSpPr>
          <p:cNvPr id="49" name="Cases">
            <a:hlinkClick r:id="rId11" action="ppaction://hlinksldjump"/>
            <a:extLst>
              <a:ext uri="{FF2B5EF4-FFF2-40B4-BE49-F238E27FC236}">
                <a16:creationId xmlns:a16="http://schemas.microsoft.com/office/drawing/2014/main" id="{50886E70-646B-44F1-BE04-2111CC651182}"/>
              </a:ext>
            </a:extLst>
          </p:cNvPr>
          <p:cNvSpPr/>
          <p:nvPr/>
        </p:nvSpPr>
        <p:spPr>
          <a:xfrm>
            <a:off x="162276" y="3184013"/>
            <a:ext cx="1737360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50" name="Graphic 49" descr="Cursor with solid fill">
            <a:extLst>
              <a:ext uri="{FF2B5EF4-FFF2-40B4-BE49-F238E27FC236}">
                <a16:creationId xmlns:a16="http://schemas.microsoft.com/office/drawing/2014/main" id="{46A0C974-41C8-4AB0-ACFB-C1534A7FAE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65231" y="3419927"/>
            <a:ext cx="301752" cy="301752"/>
          </a:xfrm>
          <a:prstGeom prst="rect">
            <a:avLst/>
          </a:prstGeom>
        </p:spPr>
      </p:pic>
      <p:sp>
        <p:nvSpPr>
          <p:cNvPr id="51" name="Obj 2">
            <a:hlinkClick r:id="rId12" action="ppaction://hlinksldjump"/>
            <a:extLst>
              <a:ext uri="{FF2B5EF4-FFF2-40B4-BE49-F238E27FC236}">
                <a16:creationId xmlns:a16="http://schemas.microsoft.com/office/drawing/2014/main" id="{4783C13A-AD72-4948-9958-C09FC0166E4E}"/>
              </a:ext>
            </a:extLst>
          </p:cNvPr>
          <p:cNvSpPr/>
          <p:nvPr/>
        </p:nvSpPr>
        <p:spPr>
          <a:xfrm>
            <a:off x="162276" y="2357939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Hormone Therapy (MHT)</a:t>
            </a:r>
          </a:p>
        </p:txBody>
      </p:sp>
      <p:sp>
        <p:nvSpPr>
          <p:cNvPr id="70" name="Obj 2">
            <a:hlinkClick r:id="rId13" action="ppaction://hlinksldjump"/>
            <a:extLst>
              <a:ext uri="{FF2B5EF4-FFF2-40B4-BE49-F238E27FC236}">
                <a16:creationId xmlns:a16="http://schemas.microsoft.com/office/drawing/2014/main" id="{D490DB35-F63B-41FD-811F-B1AA816B6F20}"/>
              </a:ext>
            </a:extLst>
          </p:cNvPr>
          <p:cNvSpPr/>
          <p:nvPr/>
        </p:nvSpPr>
        <p:spPr>
          <a:xfrm>
            <a:off x="162276" y="156489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Definitions &amp; Diagnoses</a:t>
            </a:r>
          </a:p>
        </p:txBody>
      </p:sp>
      <p:pic>
        <p:nvPicPr>
          <p:cNvPr id="71" name="Graphic 70" descr="Cursor with solid fill">
            <a:extLst>
              <a:ext uri="{FF2B5EF4-FFF2-40B4-BE49-F238E27FC236}">
                <a16:creationId xmlns:a16="http://schemas.microsoft.com/office/drawing/2014/main" id="{DD24BDD5-56F4-43C9-A807-4103E83867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65231" y="2855222"/>
            <a:ext cx="301752" cy="301752"/>
          </a:xfrm>
          <a:prstGeom prst="rect">
            <a:avLst/>
          </a:prstGeom>
        </p:spPr>
      </p:pic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EEB8F21D-0591-4175-A3BF-7CD9E0EEB2C3}"/>
              </a:ext>
            </a:extLst>
          </p:cNvPr>
          <p:cNvCxnSpPr>
            <a:cxnSpLocks/>
            <a:endCxn id="45" idx="1"/>
          </p:cNvCxnSpPr>
          <p:nvPr/>
        </p:nvCxnSpPr>
        <p:spPr>
          <a:xfrm rot="16200000" flipH="1">
            <a:off x="114589" y="949574"/>
            <a:ext cx="476735" cy="22465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C430DD03-2049-4391-91D6-C0EF8FF76BC0}"/>
              </a:ext>
            </a:extLst>
          </p:cNvPr>
          <p:cNvCxnSpPr>
            <a:cxnSpLocks/>
            <a:endCxn id="47" idx="1"/>
          </p:cNvCxnSpPr>
          <p:nvPr/>
        </p:nvCxnSpPr>
        <p:spPr>
          <a:xfrm rot="16200000" flipH="1">
            <a:off x="1179" y="1523854"/>
            <a:ext cx="703554" cy="22465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62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16" grpId="0" animBg="1"/>
      <p:bldP spid="17" grpId="0" animBg="1"/>
      <p:bldP spid="21" grpId="0"/>
      <p:bldP spid="22" grpId="0"/>
      <p:bldP spid="25" grpId="0" animBg="1"/>
      <p:bldP spid="31" grpId="0" animBg="1"/>
      <p:bldP spid="36" grpId="0" animBg="1"/>
      <p:bldP spid="38" grpId="0" animBg="1"/>
      <p:bldP spid="39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OI back">
            <a:extLst>
              <a:ext uri="{FF2B5EF4-FFF2-40B4-BE49-F238E27FC236}">
                <a16:creationId xmlns:a16="http://schemas.microsoft.com/office/drawing/2014/main" id="{6602CC39-D667-4675-BB26-5FF7E2C67014}"/>
              </a:ext>
            </a:extLst>
          </p:cNvPr>
          <p:cNvSpPr/>
          <p:nvPr/>
        </p:nvSpPr>
        <p:spPr>
          <a:xfrm>
            <a:off x="4031379" y="2710602"/>
            <a:ext cx="1471731" cy="923330"/>
          </a:xfrm>
          <a:prstGeom prst="roundRect">
            <a:avLst/>
          </a:prstGeom>
          <a:solidFill>
            <a:srgbClr val="5A4A6F"/>
          </a:solidFill>
          <a:ln w="38100">
            <a:solidFill>
              <a:srgbClr val="5A4A6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Primary ovarian insufficiency</a:t>
            </a:r>
          </a:p>
        </p:txBody>
      </p:sp>
      <p:sp>
        <p:nvSpPr>
          <p:cNvPr id="51" name="EM back">
            <a:extLst>
              <a:ext uri="{FF2B5EF4-FFF2-40B4-BE49-F238E27FC236}">
                <a16:creationId xmlns:a16="http://schemas.microsoft.com/office/drawing/2014/main" id="{CEF6CDC0-9853-41C4-BB9C-09A704684287}"/>
              </a:ext>
            </a:extLst>
          </p:cNvPr>
          <p:cNvSpPr/>
          <p:nvPr/>
        </p:nvSpPr>
        <p:spPr>
          <a:xfrm>
            <a:off x="5896307" y="2875333"/>
            <a:ext cx="1471731" cy="612648"/>
          </a:xfrm>
          <a:prstGeom prst="roundRect">
            <a:avLst/>
          </a:prstGeom>
          <a:solidFill>
            <a:srgbClr val="5A4A6F"/>
          </a:solidFill>
          <a:ln w="38100">
            <a:solidFill>
              <a:srgbClr val="5A4A6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Early Menopause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777D07-AF8A-494E-AA8F-3E4EC23D7807}"/>
              </a:ext>
            </a:extLst>
          </p:cNvPr>
          <p:cNvSpPr txBox="1"/>
          <p:nvPr/>
        </p:nvSpPr>
        <p:spPr>
          <a:xfrm>
            <a:off x="2887039" y="102674"/>
            <a:ext cx="8050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Clinical Features of Perimenopause and Menopause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44C10CF-6705-4BD0-9890-E68EEE3CE3C1}"/>
              </a:ext>
            </a:extLst>
          </p:cNvPr>
          <p:cNvCxnSpPr>
            <a:cxnSpLocks/>
          </p:cNvCxnSpPr>
          <p:nvPr/>
        </p:nvCxnSpPr>
        <p:spPr>
          <a:xfrm flipV="1">
            <a:off x="2295525" y="2447109"/>
            <a:ext cx="9667875" cy="17655"/>
          </a:xfrm>
          <a:prstGeom prst="straightConnector1">
            <a:avLst/>
          </a:prstGeom>
          <a:ln w="76200">
            <a:gradFill flip="none" rotWithShape="1">
              <a:gsLst>
                <a:gs pos="0">
                  <a:srgbClr val="E7C2C7"/>
                </a:gs>
                <a:gs pos="100000">
                  <a:srgbClr val="5A4A6F"/>
                </a:gs>
              </a:gsLst>
              <a:lin ang="0" scaled="1"/>
              <a:tileRect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5DE3AA3-649E-4A07-B6B5-9EE4693D12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28" t="13579" r="12469" b="21669"/>
          <a:stretch/>
        </p:blipFill>
        <p:spPr>
          <a:xfrm>
            <a:off x="1962804" y="796366"/>
            <a:ext cx="2255520" cy="1456271"/>
          </a:xfrm>
          <a:prstGeom prst="rect">
            <a:avLst/>
          </a:prstGeom>
        </p:spPr>
      </p:pic>
      <p:sp>
        <p:nvSpPr>
          <p:cNvPr id="21" name="MT text">
            <a:extLst>
              <a:ext uri="{FF2B5EF4-FFF2-40B4-BE49-F238E27FC236}">
                <a16:creationId xmlns:a16="http://schemas.microsoft.com/office/drawing/2014/main" id="{5A1AD2F2-2B4C-4A90-9D54-4993284F3D54}"/>
              </a:ext>
            </a:extLst>
          </p:cNvPr>
          <p:cNvSpPr txBox="1"/>
          <p:nvPr/>
        </p:nvSpPr>
        <p:spPr>
          <a:xfrm>
            <a:off x="7605140" y="3613669"/>
            <a:ext cx="22585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“</a:t>
            </a:r>
            <a:r>
              <a:rPr lang="en-US" u="sng" dirty="0"/>
              <a:t>Perimenopause”</a:t>
            </a:r>
          </a:p>
          <a:p>
            <a:pPr algn="ctr"/>
            <a:r>
              <a:rPr lang="en-US" b="1" dirty="0"/>
              <a:t>Irregular menses</a:t>
            </a:r>
          </a:p>
          <a:p>
            <a:pPr algn="ctr"/>
            <a:r>
              <a:rPr lang="en-US" b="1" dirty="0"/>
              <a:t>Hormonal symptoms </a:t>
            </a:r>
          </a:p>
          <a:p>
            <a:pPr algn="ctr"/>
            <a:r>
              <a:rPr lang="en-US" dirty="0"/>
              <a:t>*hot flashes* </a:t>
            </a:r>
          </a:p>
          <a:p>
            <a:pPr algn="ctr"/>
            <a:r>
              <a:rPr lang="en-US" dirty="0"/>
              <a:t>*mood changes*</a:t>
            </a:r>
          </a:p>
        </p:txBody>
      </p:sp>
      <p:sp>
        <p:nvSpPr>
          <p:cNvPr id="22" name="M text">
            <a:extLst>
              <a:ext uri="{FF2B5EF4-FFF2-40B4-BE49-F238E27FC236}">
                <a16:creationId xmlns:a16="http://schemas.microsoft.com/office/drawing/2014/main" id="{3FE3B80D-F1A2-4C54-A45E-CC0AC71E0E63}"/>
              </a:ext>
            </a:extLst>
          </p:cNvPr>
          <p:cNvSpPr txBox="1"/>
          <p:nvPr/>
        </p:nvSpPr>
        <p:spPr>
          <a:xfrm>
            <a:off x="9933488" y="3644497"/>
            <a:ext cx="2258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Amenorrhea </a:t>
            </a:r>
          </a:p>
          <a:p>
            <a:pPr algn="ctr"/>
            <a:r>
              <a:rPr lang="en-US" b="1" dirty="0"/>
              <a:t>&gt;12 months </a:t>
            </a:r>
          </a:p>
          <a:p>
            <a:pPr algn="ctr"/>
            <a:r>
              <a:rPr lang="en-US" dirty="0"/>
              <a:t>(following menstrual irregularity)</a:t>
            </a:r>
          </a:p>
        </p:txBody>
      </p:sp>
      <p:sp>
        <p:nvSpPr>
          <p:cNvPr id="25" name="Texting button">
            <a:extLst>
              <a:ext uri="{FF2B5EF4-FFF2-40B4-BE49-F238E27FC236}">
                <a16:creationId xmlns:a16="http://schemas.microsoft.com/office/drawing/2014/main" id="{724C9A7E-6E73-47DD-8018-0F724C55EEFC}"/>
              </a:ext>
            </a:extLst>
          </p:cNvPr>
          <p:cNvSpPr txBox="1"/>
          <p:nvPr/>
        </p:nvSpPr>
        <p:spPr>
          <a:xfrm>
            <a:off x="5403837" y="5833713"/>
            <a:ext cx="270892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When is Testing Indicated?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C50A57-6DFA-4DA7-8810-88F1D7721301}"/>
              </a:ext>
            </a:extLst>
          </p:cNvPr>
          <p:cNvSpPr txBox="1"/>
          <p:nvPr/>
        </p:nvSpPr>
        <p:spPr>
          <a:xfrm>
            <a:off x="8326941" y="2308541"/>
            <a:ext cx="874495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~45-50 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4DF5B2-EBB7-43CC-98C7-6A084A2739B3}"/>
              </a:ext>
            </a:extLst>
          </p:cNvPr>
          <p:cNvSpPr txBox="1"/>
          <p:nvPr/>
        </p:nvSpPr>
        <p:spPr>
          <a:xfrm>
            <a:off x="10760358" y="2252637"/>
            <a:ext cx="586810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algn="ctr"/>
            <a:r>
              <a:rPr lang="en-US" dirty="0"/>
              <a:t>~50 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6794E8-95FC-4D91-9BE6-6C3B3D059E8A}"/>
              </a:ext>
            </a:extLst>
          </p:cNvPr>
          <p:cNvSpPr txBox="1"/>
          <p:nvPr/>
        </p:nvSpPr>
        <p:spPr>
          <a:xfrm>
            <a:off x="6221631" y="2317436"/>
            <a:ext cx="788896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40-45 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063E74-6F5A-431A-A23B-73025A72C832}"/>
              </a:ext>
            </a:extLst>
          </p:cNvPr>
          <p:cNvSpPr txBox="1"/>
          <p:nvPr/>
        </p:nvSpPr>
        <p:spPr>
          <a:xfrm>
            <a:off x="4363172" y="2308541"/>
            <a:ext cx="788896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/>
              <a:t>&lt;40 y</a:t>
            </a:r>
          </a:p>
        </p:txBody>
      </p:sp>
      <p:sp>
        <p:nvSpPr>
          <p:cNvPr id="58" name="EM labs">
            <a:extLst>
              <a:ext uri="{FF2B5EF4-FFF2-40B4-BE49-F238E27FC236}">
                <a16:creationId xmlns:a16="http://schemas.microsoft.com/office/drawing/2014/main" id="{61C0607B-7E26-4787-A41B-7F025198CCA9}"/>
              </a:ext>
            </a:extLst>
          </p:cNvPr>
          <p:cNvSpPr txBox="1"/>
          <p:nvPr/>
        </p:nvSpPr>
        <p:spPr>
          <a:xfrm>
            <a:off x="5972846" y="3889051"/>
            <a:ext cx="1286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Serum </a:t>
            </a:r>
            <a:r>
              <a:rPr lang="en-US" dirty="0" err="1"/>
              <a:t>hCG</a:t>
            </a:r>
            <a:endParaRPr lang="en-US" dirty="0"/>
          </a:p>
          <a:p>
            <a:pPr algn="ctr"/>
            <a:r>
              <a:rPr lang="en-US" dirty="0"/>
              <a:t>Prolactin</a:t>
            </a:r>
          </a:p>
          <a:p>
            <a:pPr algn="ctr"/>
            <a:r>
              <a:rPr lang="en-US" dirty="0"/>
              <a:t>TSH</a:t>
            </a:r>
          </a:p>
        </p:txBody>
      </p:sp>
      <p:sp>
        <p:nvSpPr>
          <p:cNvPr id="59" name="POI text">
            <a:extLst>
              <a:ext uri="{FF2B5EF4-FFF2-40B4-BE49-F238E27FC236}">
                <a16:creationId xmlns:a16="http://schemas.microsoft.com/office/drawing/2014/main" id="{F806F45B-DBBC-4A93-906C-FDED2021E77E}"/>
              </a:ext>
            </a:extLst>
          </p:cNvPr>
          <p:cNvSpPr txBox="1"/>
          <p:nvPr/>
        </p:nvSpPr>
        <p:spPr>
          <a:xfrm>
            <a:off x="4021754" y="3867269"/>
            <a:ext cx="1471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Complete work-up for Amenorrhea</a:t>
            </a:r>
          </a:p>
        </p:txBody>
      </p:sp>
      <p:grpSp>
        <p:nvGrpSpPr>
          <p:cNvPr id="63" name="Clinical Diagnosis">
            <a:extLst>
              <a:ext uri="{FF2B5EF4-FFF2-40B4-BE49-F238E27FC236}">
                <a16:creationId xmlns:a16="http://schemas.microsoft.com/office/drawing/2014/main" id="{9FAB27F1-6D14-4BCB-89D5-81AFAEC4902D}"/>
              </a:ext>
            </a:extLst>
          </p:cNvPr>
          <p:cNvGrpSpPr/>
          <p:nvPr/>
        </p:nvGrpSpPr>
        <p:grpSpPr>
          <a:xfrm>
            <a:off x="9007529" y="5509300"/>
            <a:ext cx="1932759" cy="923392"/>
            <a:chOff x="9007529" y="5509300"/>
            <a:chExt cx="1932759" cy="923392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10B0499-1F7D-4BD4-90ED-FF1298BB5D7E}"/>
                </a:ext>
              </a:extLst>
            </p:cNvPr>
            <p:cNvSpPr txBox="1"/>
            <p:nvPr/>
          </p:nvSpPr>
          <p:spPr>
            <a:xfrm>
              <a:off x="9009999" y="5509300"/>
              <a:ext cx="1930289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Clinical Diagnosis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4B601AC-AF54-4BFF-9755-1DD13EEB2CD8}"/>
                </a:ext>
              </a:extLst>
            </p:cNvPr>
            <p:cNvSpPr txBox="1"/>
            <p:nvPr/>
          </p:nvSpPr>
          <p:spPr>
            <a:xfrm>
              <a:off x="9007529" y="5878694"/>
              <a:ext cx="193028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FSH not necessary</a:t>
              </a:r>
            </a:p>
            <a:p>
              <a:pPr algn="ctr"/>
              <a:r>
                <a:rPr lang="en-US" sz="1200" dirty="0"/>
                <a:t>(SWAN study. Sowers, 2000)</a:t>
              </a: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EBC1EB65-FB82-4383-B6CA-4A6EEFB96B5A}"/>
              </a:ext>
            </a:extLst>
          </p:cNvPr>
          <p:cNvSpPr/>
          <p:nvPr/>
        </p:nvSpPr>
        <p:spPr>
          <a:xfrm>
            <a:off x="2295526" y="2811022"/>
            <a:ext cx="1471732" cy="640080"/>
          </a:xfrm>
          <a:prstGeom prst="rect">
            <a:avLst/>
          </a:prstGeom>
          <a:solidFill>
            <a:srgbClr val="F1CDD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Reproductive period</a:t>
            </a:r>
          </a:p>
        </p:txBody>
      </p:sp>
      <p:sp>
        <p:nvSpPr>
          <p:cNvPr id="2" name="POI">
            <a:extLst>
              <a:ext uri="{FF2B5EF4-FFF2-40B4-BE49-F238E27FC236}">
                <a16:creationId xmlns:a16="http://schemas.microsoft.com/office/drawing/2014/main" id="{D41F56EB-FF3A-4367-A20B-C5D9D3FAFA10}"/>
              </a:ext>
            </a:extLst>
          </p:cNvPr>
          <p:cNvSpPr/>
          <p:nvPr/>
        </p:nvSpPr>
        <p:spPr>
          <a:xfrm>
            <a:off x="4031379" y="2710602"/>
            <a:ext cx="1471731" cy="92333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5A4A6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Primary ovarian insufficiency</a:t>
            </a:r>
          </a:p>
        </p:txBody>
      </p:sp>
      <p:pic>
        <p:nvPicPr>
          <p:cNvPr id="57" name="POI pointer" descr="Cursor with solid fill">
            <a:extLst>
              <a:ext uri="{FF2B5EF4-FFF2-40B4-BE49-F238E27FC236}">
                <a16:creationId xmlns:a16="http://schemas.microsoft.com/office/drawing/2014/main" id="{1A2BF3C2-3076-427B-AB23-486E3A3A50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0336" y="3478490"/>
            <a:ext cx="301752" cy="301752"/>
          </a:xfrm>
          <a:prstGeom prst="rect">
            <a:avLst/>
          </a:prstGeom>
        </p:spPr>
      </p:pic>
      <p:sp>
        <p:nvSpPr>
          <p:cNvPr id="47" name="EM">
            <a:extLst>
              <a:ext uri="{FF2B5EF4-FFF2-40B4-BE49-F238E27FC236}">
                <a16:creationId xmlns:a16="http://schemas.microsoft.com/office/drawing/2014/main" id="{9D44390B-1BAC-471D-998A-57BDEC6612BB}"/>
              </a:ext>
            </a:extLst>
          </p:cNvPr>
          <p:cNvSpPr/>
          <p:nvPr/>
        </p:nvSpPr>
        <p:spPr>
          <a:xfrm>
            <a:off x="5896307" y="2875333"/>
            <a:ext cx="1471731" cy="61264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5A4A6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Early Menopause</a:t>
            </a:r>
          </a:p>
        </p:txBody>
      </p:sp>
      <p:pic>
        <p:nvPicPr>
          <p:cNvPr id="41" name="EM pointer" descr="Cursor with solid fill">
            <a:extLst>
              <a:ext uri="{FF2B5EF4-FFF2-40B4-BE49-F238E27FC236}">
                <a16:creationId xmlns:a16="http://schemas.microsoft.com/office/drawing/2014/main" id="{48E86B40-93CB-4DA8-BD4F-C9CEF3C25F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22870" y="3362710"/>
            <a:ext cx="301752" cy="301752"/>
          </a:xfrm>
          <a:prstGeom prst="rect">
            <a:avLst/>
          </a:prstGeom>
        </p:spPr>
      </p:pic>
      <p:sp>
        <p:nvSpPr>
          <p:cNvPr id="48" name="Menstral transition button">
            <a:extLst>
              <a:ext uri="{FF2B5EF4-FFF2-40B4-BE49-F238E27FC236}">
                <a16:creationId xmlns:a16="http://schemas.microsoft.com/office/drawing/2014/main" id="{5768A75B-52D2-49AC-9C2A-79BCD262AF2F}"/>
              </a:ext>
            </a:extLst>
          </p:cNvPr>
          <p:cNvSpPr txBox="1"/>
          <p:nvPr/>
        </p:nvSpPr>
        <p:spPr>
          <a:xfrm>
            <a:off x="7966529" y="2857404"/>
            <a:ext cx="1651235" cy="612934"/>
          </a:xfrm>
          <a:prstGeom prst="roundRect">
            <a:avLst>
              <a:gd name="adj" fmla="val 12005"/>
            </a:avLst>
          </a:prstGeom>
          <a:solidFill>
            <a:srgbClr val="9B8198"/>
          </a:solidFill>
          <a:ln w="38100">
            <a:solidFill>
              <a:srgbClr val="9B8198"/>
            </a:solidFill>
          </a:ln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Menopausal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Transition</a:t>
            </a:r>
          </a:p>
        </p:txBody>
      </p:sp>
      <p:sp>
        <p:nvSpPr>
          <p:cNvPr id="49" name="Menopause button">
            <a:extLst>
              <a:ext uri="{FF2B5EF4-FFF2-40B4-BE49-F238E27FC236}">
                <a16:creationId xmlns:a16="http://schemas.microsoft.com/office/drawing/2014/main" id="{45367BF8-B2B2-4837-98FA-58D7F4DEDE11}"/>
              </a:ext>
            </a:extLst>
          </p:cNvPr>
          <p:cNvSpPr txBox="1"/>
          <p:nvPr/>
        </p:nvSpPr>
        <p:spPr>
          <a:xfrm>
            <a:off x="10393701" y="2969185"/>
            <a:ext cx="1338085" cy="408623"/>
          </a:xfrm>
          <a:prstGeom prst="roundRect">
            <a:avLst/>
          </a:prstGeom>
          <a:solidFill>
            <a:srgbClr val="635275"/>
          </a:solidFill>
          <a:ln w="38100">
            <a:solidFill>
              <a:srgbClr val="635275"/>
            </a:solidFill>
          </a:ln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Menopause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BDE5D30-7BD0-41A9-95EA-54D69CA251A2}"/>
              </a:ext>
            </a:extLst>
          </p:cNvPr>
          <p:cNvCxnSpPr>
            <a:stCxn id="21" idx="2"/>
            <a:endCxn id="60" idx="0"/>
          </p:cNvCxnSpPr>
          <p:nvPr/>
        </p:nvCxnSpPr>
        <p:spPr>
          <a:xfrm rot="16200000" flipH="1">
            <a:off x="9145619" y="4679774"/>
            <a:ext cx="418303" cy="12407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00D3D6DB-8CC5-437A-807E-94F05EECF833}"/>
              </a:ext>
            </a:extLst>
          </p:cNvPr>
          <p:cNvCxnSpPr>
            <a:stCxn id="22" idx="2"/>
            <a:endCxn id="60" idx="0"/>
          </p:cNvCxnSpPr>
          <p:nvPr/>
        </p:nvCxnSpPr>
        <p:spPr>
          <a:xfrm rot="5400000">
            <a:off x="10186707" y="4633263"/>
            <a:ext cx="664474" cy="1087600"/>
          </a:xfrm>
          <a:prstGeom prst="bentConnector3">
            <a:avLst>
              <a:gd name="adj1" fmla="val 6883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Picture 39" descr="A picture containing domestic cat&#10;&#10;Description automatically generated">
            <a:extLst>
              <a:ext uri="{FF2B5EF4-FFF2-40B4-BE49-F238E27FC236}">
                <a16:creationId xmlns:a16="http://schemas.microsoft.com/office/drawing/2014/main" id="{4D373BEE-6594-4536-A2DE-03259C86D8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661" t="12597" r="14604" b="20864"/>
          <a:stretch/>
        </p:blipFill>
        <p:spPr>
          <a:xfrm>
            <a:off x="9556793" y="710170"/>
            <a:ext cx="2255521" cy="1574256"/>
          </a:xfrm>
          <a:prstGeom prst="rect">
            <a:avLst/>
          </a:prstGeom>
        </p:spPr>
      </p:pic>
      <p:sp>
        <p:nvSpPr>
          <p:cNvPr id="76" name="Obj 2">
            <a:hlinkClick r:id="rId8" action="ppaction://hlinksldjump"/>
            <a:extLst>
              <a:ext uri="{FF2B5EF4-FFF2-40B4-BE49-F238E27FC236}">
                <a16:creationId xmlns:a16="http://schemas.microsoft.com/office/drawing/2014/main" id="{623F8428-7E32-414D-904C-3EF4BA4E519D}"/>
              </a:ext>
            </a:extLst>
          </p:cNvPr>
          <p:cNvSpPr/>
          <p:nvPr/>
        </p:nvSpPr>
        <p:spPr>
          <a:xfrm>
            <a:off x="465283" y="982561"/>
            <a:ext cx="1434353" cy="63541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Peri-menopause</a:t>
            </a:r>
          </a:p>
        </p:txBody>
      </p:sp>
      <p:pic>
        <p:nvPicPr>
          <p:cNvPr id="77" name="Graphic 76" descr="Cursor with solid fill">
            <a:extLst>
              <a:ext uri="{FF2B5EF4-FFF2-40B4-BE49-F238E27FC236}">
                <a16:creationId xmlns:a16="http://schemas.microsoft.com/office/drawing/2014/main" id="{9B79F822-C720-4C4C-A778-521823B21F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5231" y="1460512"/>
            <a:ext cx="301752" cy="301752"/>
          </a:xfrm>
          <a:prstGeom prst="rect">
            <a:avLst/>
          </a:prstGeom>
        </p:spPr>
      </p:pic>
      <p:sp>
        <p:nvSpPr>
          <p:cNvPr id="78" name="Obj 3">
            <a:hlinkClick r:id="rId9" action="ppaction://hlinksldjump"/>
            <a:extLst>
              <a:ext uri="{FF2B5EF4-FFF2-40B4-BE49-F238E27FC236}">
                <a16:creationId xmlns:a16="http://schemas.microsoft.com/office/drawing/2014/main" id="{3269C5B1-016E-4EE1-BC44-88B56CA9A0B3}"/>
              </a:ext>
            </a:extLst>
          </p:cNvPr>
          <p:cNvSpPr/>
          <p:nvPr/>
        </p:nvSpPr>
        <p:spPr>
          <a:xfrm>
            <a:off x="465283" y="1803968"/>
            <a:ext cx="1434353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Menopause</a:t>
            </a:r>
          </a:p>
        </p:txBody>
      </p:sp>
      <p:pic>
        <p:nvPicPr>
          <p:cNvPr id="79" name="Graphic 78" descr="Cursor with solid fill">
            <a:extLst>
              <a:ext uri="{FF2B5EF4-FFF2-40B4-BE49-F238E27FC236}">
                <a16:creationId xmlns:a16="http://schemas.microsoft.com/office/drawing/2014/main" id="{856E178E-CD69-462B-A879-E8B67BA6B9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5231" y="2031578"/>
            <a:ext cx="301752" cy="301752"/>
          </a:xfrm>
          <a:prstGeom prst="rect">
            <a:avLst/>
          </a:prstGeom>
        </p:spPr>
      </p:pic>
      <p:sp>
        <p:nvSpPr>
          <p:cNvPr id="80" name="Cases">
            <a:hlinkClick r:id="rId10" action="ppaction://hlinksldjump"/>
            <a:extLst>
              <a:ext uri="{FF2B5EF4-FFF2-40B4-BE49-F238E27FC236}">
                <a16:creationId xmlns:a16="http://schemas.microsoft.com/office/drawing/2014/main" id="{8C45A275-5CB7-4076-807F-27EC622C0B22}"/>
              </a:ext>
            </a:extLst>
          </p:cNvPr>
          <p:cNvSpPr/>
          <p:nvPr/>
        </p:nvSpPr>
        <p:spPr>
          <a:xfrm>
            <a:off x="162276" y="3184013"/>
            <a:ext cx="1737360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81" name="Graphic 80" descr="Cursor with solid fill">
            <a:extLst>
              <a:ext uri="{FF2B5EF4-FFF2-40B4-BE49-F238E27FC236}">
                <a16:creationId xmlns:a16="http://schemas.microsoft.com/office/drawing/2014/main" id="{513BF3DB-4F0B-452F-B946-EDEA022D45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5231" y="3419927"/>
            <a:ext cx="301752" cy="301752"/>
          </a:xfrm>
          <a:prstGeom prst="rect">
            <a:avLst/>
          </a:prstGeom>
        </p:spPr>
      </p:pic>
      <p:sp>
        <p:nvSpPr>
          <p:cNvPr id="82" name="Obj 2">
            <a:hlinkClick r:id="rId11" action="ppaction://hlinksldjump"/>
            <a:extLst>
              <a:ext uri="{FF2B5EF4-FFF2-40B4-BE49-F238E27FC236}">
                <a16:creationId xmlns:a16="http://schemas.microsoft.com/office/drawing/2014/main" id="{1016CB1C-EDFF-469E-B172-41293EE9EA5F}"/>
              </a:ext>
            </a:extLst>
          </p:cNvPr>
          <p:cNvSpPr/>
          <p:nvPr/>
        </p:nvSpPr>
        <p:spPr>
          <a:xfrm>
            <a:off x="162276" y="2357939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Hormone Therapy (MHT)</a:t>
            </a:r>
          </a:p>
        </p:txBody>
      </p:sp>
      <p:sp>
        <p:nvSpPr>
          <p:cNvPr id="83" name="Obj 2">
            <a:hlinkClick r:id="rId12" action="ppaction://hlinksldjump"/>
            <a:extLst>
              <a:ext uri="{FF2B5EF4-FFF2-40B4-BE49-F238E27FC236}">
                <a16:creationId xmlns:a16="http://schemas.microsoft.com/office/drawing/2014/main" id="{D5A3BB05-F9DC-4566-9BA0-32B40C38217F}"/>
              </a:ext>
            </a:extLst>
          </p:cNvPr>
          <p:cNvSpPr/>
          <p:nvPr/>
        </p:nvSpPr>
        <p:spPr>
          <a:xfrm>
            <a:off x="162276" y="156489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Definitions &amp; Diagnoses</a:t>
            </a:r>
          </a:p>
        </p:txBody>
      </p:sp>
      <p:pic>
        <p:nvPicPr>
          <p:cNvPr id="84" name="Graphic 83" descr="Cursor with solid fill">
            <a:extLst>
              <a:ext uri="{FF2B5EF4-FFF2-40B4-BE49-F238E27FC236}">
                <a16:creationId xmlns:a16="http://schemas.microsoft.com/office/drawing/2014/main" id="{6586E129-BEA4-4DC2-8C69-76062C23E2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5231" y="2855222"/>
            <a:ext cx="301752" cy="301752"/>
          </a:xfrm>
          <a:prstGeom prst="rect">
            <a:avLst/>
          </a:prstGeom>
        </p:spPr>
      </p:pic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354926B2-6C6F-427E-BFD2-F86F75FDA99B}"/>
              </a:ext>
            </a:extLst>
          </p:cNvPr>
          <p:cNvCxnSpPr>
            <a:cxnSpLocks/>
            <a:endCxn id="76" idx="1"/>
          </p:cNvCxnSpPr>
          <p:nvPr/>
        </p:nvCxnSpPr>
        <p:spPr>
          <a:xfrm rot="16200000" flipH="1">
            <a:off x="114589" y="949574"/>
            <a:ext cx="476735" cy="22465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CEE12E81-A0C8-4D61-AEA0-61280F61BCED}"/>
              </a:ext>
            </a:extLst>
          </p:cNvPr>
          <p:cNvCxnSpPr>
            <a:cxnSpLocks/>
            <a:endCxn id="78" idx="1"/>
          </p:cNvCxnSpPr>
          <p:nvPr/>
        </p:nvCxnSpPr>
        <p:spPr>
          <a:xfrm rot="16200000" flipH="1">
            <a:off x="1179" y="1523854"/>
            <a:ext cx="703554" cy="22465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80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58" grpId="0"/>
      <p:bldP spid="59" grpId="0"/>
      <p:bldP spid="2" grpId="0" animBg="1"/>
      <p:bldP spid="47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menstral button">
            <a:extLst>
              <a:ext uri="{FF2B5EF4-FFF2-40B4-BE49-F238E27FC236}">
                <a16:creationId xmlns:a16="http://schemas.microsoft.com/office/drawing/2014/main" id="{59CD0965-68A1-4BCE-B303-BB3C3D1B9D5D}"/>
              </a:ext>
            </a:extLst>
          </p:cNvPr>
          <p:cNvSpPr txBox="1"/>
          <p:nvPr/>
        </p:nvSpPr>
        <p:spPr>
          <a:xfrm>
            <a:off x="9065576" y="5111214"/>
            <a:ext cx="2323026" cy="408623"/>
          </a:xfrm>
          <a:prstGeom prst="round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Menstrual Irregularity</a:t>
            </a:r>
          </a:p>
        </p:txBody>
      </p:sp>
      <p:pic>
        <p:nvPicPr>
          <p:cNvPr id="100" name="Picture 99" descr="A picture containing silhouette&#10;&#10;Description automatically generated">
            <a:extLst>
              <a:ext uri="{FF2B5EF4-FFF2-40B4-BE49-F238E27FC236}">
                <a16:creationId xmlns:a16="http://schemas.microsoft.com/office/drawing/2014/main" id="{38327F1C-A530-4808-A07C-71282A16F4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46" t="19821" r="31676" b="29194"/>
          <a:stretch/>
        </p:blipFill>
        <p:spPr>
          <a:xfrm>
            <a:off x="5569726" y="2963708"/>
            <a:ext cx="2960823" cy="3811797"/>
          </a:xfrm>
          <a:prstGeom prst="rect">
            <a:avLst/>
          </a:prstGeom>
        </p:spPr>
      </p:pic>
      <p:sp>
        <p:nvSpPr>
          <p:cNvPr id="99" name="mgmt button">
            <a:extLst>
              <a:ext uri="{FF2B5EF4-FFF2-40B4-BE49-F238E27FC236}">
                <a16:creationId xmlns:a16="http://schemas.microsoft.com/office/drawing/2014/main" id="{F123971F-0158-42B4-BFE6-37AFD09536F7}"/>
              </a:ext>
            </a:extLst>
          </p:cNvPr>
          <p:cNvSpPr/>
          <p:nvPr/>
        </p:nvSpPr>
        <p:spPr>
          <a:xfrm>
            <a:off x="3550186" y="2487046"/>
            <a:ext cx="6870538" cy="44267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How would you manage her symptoms of perimenopause?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2" name="mood button">
            <a:extLst>
              <a:ext uri="{FF2B5EF4-FFF2-40B4-BE49-F238E27FC236}">
                <a16:creationId xmlns:a16="http://schemas.microsoft.com/office/drawing/2014/main" id="{04D7D2EC-C203-4C2A-92F2-E7C243B63DB3}"/>
              </a:ext>
            </a:extLst>
          </p:cNvPr>
          <p:cNvSpPr/>
          <p:nvPr/>
        </p:nvSpPr>
        <p:spPr>
          <a:xfrm>
            <a:off x="2764938" y="3160879"/>
            <a:ext cx="2102395" cy="1234634"/>
          </a:xfrm>
          <a:prstGeom prst="roundRect">
            <a:avLst>
              <a:gd name="adj" fmla="val 9979"/>
            </a:avLst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Mood Changes &amp; Sleep Disturbance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Hot Flashes</a:t>
            </a:r>
          </a:p>
        </p:txBody>
      </p:sp>
      <p:sp>
        <p:nvSpPr>
          <p:cNvPr id="57" name="work-up button">
            <a:extLst>
              <a:ext uri="{FF2B5EF4-FFF2-40B4-BE49-F238E27FC236}">
                <a16:creationId xmlns:a16="http://schemas.microsoft.com/office/drawing/2014/main" id="{367244D3-50D6-4C42-BB65-1D4A4753AA93}"/>
              </a:ext>
            </a:extLst>
          </p:cNvPr>
          <p:cNvSpPr/>
          <p:nvPr/>
        </p:nvSpPr>
        <p:spPr>
          <a:xfrm>
            <a:off x="7250711" y="852763"/>
            <a:ext cx="4026818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What additional work-up is indicated?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E25D8A7-68A8-40CA-A6BE-44DF5CCC42D9}"/>
              </a:ext>
            </a:extLst>
          </p:cNvPr>
          <p:cNvCxnSpPr>
            <a:cxnSpLocks/>
          </p:cNvCxnSpPr>
          <p:nvPr/>
        </p:nvCxnSpPr>
        <p:spPr>
          <a:xfrm flipH="1">
            <a:off x="4856460" y="3453181"/>
            <a:ext cx="202139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EB20D87-F210-43A0-A19D-AD080CE4FAFB}"/>
              </a:ext>
            </a:extLst>
          </p:cNvPr>
          <p:cNvCxnSpPr>
            <a:cxnSpLocks/>
          </p:cNvCxnSpPr>
          <p:nvPr/>
        </p:nvCxnSpPr>
        <p:spPr>
          <a:xfrm flipH="1" flipV="1">
            <a:off x="4856461" y="4230537"/>
            <a:ext cx="1734825" cy="165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5" name="menstral button">
            <a:extLst>
              <a:ext uri="{FF2B5EF4-FFF2-40B4-BE49-F238E27FC236}">
                <a16:creationId xmlns:a16="http://schemas.microsoft.com/office/drawing/2014/main" id="{2AFAB5CC-5A8F-4B2A-BB6D-2C5B07E54248}"/>
              </a:ext>
            </a:extLst>
          </p:cNvPr>
          <p:cNvSpPr txBox="1"/>
          <p:nvPr/>
        </p:nvSpPr>
        <p:spPr>
          <a:xfrm>
            <a:off x="9065576" y="5111214"/>
            <a:ext cx="232302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Menstrual Irregularity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2B07341-91BD-435E-8C18-13F626C1B5B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42" t="8478" r="30521" b="20891"/>
          <a:stretch/>
        </p:blipFill>
        <p:spPr>
          <a:xfrm>
            <a:off x="6557430" y="3897880"/>
            <a:ext cx="212259" cy="339217"/>
          </a:xfrm>
          <a:prstGeom prst="rect">
            <a:avLst/>
          </a:prstGeom>
        </p:spPr>
      </p:pic>
      <p:pic>
        <p:nvPicPr>
          <p:cNvPr id="81" name="Picture 80" descr="Logo&#10;&#10;Description automatically generated">
            <a:extLst>
              <a:ext uri="{FF2B5EF4-FFF2-40B4-BE49-F238E27FC236}">
                <a16:creationId xmlns:a16="http://schemas.microsoft.com/office/drawing/2014/main" id="{39AE764A-AB60-477E-A168-FCE4BE3787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42" t="8478" r="30521" b="20891"/>
          <a:stretch/>
        </p:blipFill>
        <p:spPr>
          <a:xfrm>
            <a:off x="6775595" y="4152891"/>
            <a:ext cx="212259" cy="339217"/>
          </a:xfrm>
          <a:prstGeom prst="rect">
            <a:avLst/>
          </a:prstGeom>
        </p:spPr>
      </p:pic>
      <p:pic>
        <p:nvPicPr>
          <p:cNvPr id="82" name="Picture 81" descr="Logo&#10;&#10;Description automatically generated">
            <a:extLst>
              <a:ext uri="{FF2B5EF4-FFF2-40B4-BE49-F238E27FC236}">
                <a16:creationId xmlns:a16="http://schemas.microsoft.com/office/drawing/2014/main" id="{1CE9CB71-DD2A-4E2A-9123-5DFA2E9F01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42" t="8478" r="30521" b="20891"/>
          <a:stretch/>
        </p:blipFill>
        <p:spPr>
          <a:xfrm>
            <a:off x="7318072" y="3899376"/>
            <a:ext cx="212259" cy="339217"/>
          </a:xfrm>
          <a:prstGeom prst="rect">
            <a:avLst/>
          </a:prstGeom>
        </p:spPr>
      </p:pic>
      <p:pic>
        <p:nvPicPr>
          <p:cNvPr id="84" name="Picture 83" descr="Logo&#10;&#10;Description automatically generated">
            <a:extLst>
              <a:ext uri="{FF2B5EF4-FFF2-40B4-BE49-F238E27FC236}">
                <a16:creationId xmlns:a16="http://schemas.microsoft.com/office/drawing/2014/main" id="{FA8AE864-1805-4255-88D0-F7310C00617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42" t="8478" r="30521" b="20891"/>
          <a:stretch/>
        </p:blipFill>
        <p:spPr>
          <a:xfrm>
            <a:off x="7107554" y="4152890"/>
            <a:ext cx="212259" cy="339217"/>
          </a:xfrm>
          <a:prstGeom prst="rect">
            <a:avLst/>
          </a:prstGeom>
        </p:spPr>
      </p:pic>
      <p:pic>
        <p:nvPicPr>
          <p:cNvPr id="9" name="Graphic 8" descr="Snooze outline">
            <a:extLst>
              <a:ext uri="{FF2B5EF4-FFF2-40B4-BE49-F238E27FC236}">
                <a16:creationId xmlns:a16="http://schemas.microsoft.com/office/drawing/2014/main" id="{6F3A1E64-81E3-4F97-974D-DBE3F517FF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7970" b="79116"/>
          <a:stretch/>
        </p:blipFill>
        <p:spPr>
          <a:xfrm>
            <a:off x="5888692" y="2996501"/>
            <a:ext cx="459810" cy="184553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911EB202-CD4D-4E9C-A234-7F65C7FD579C}"/>
              </a:ext>
            </a:extLst>
          </p:cNvPr>
          <p:cNvSpPr txBox="1"/>
          <p:nvPr/>
        </p:nvSpPr>
        <p:spPr>
          <a:xfrm>
            <a:off x="2314754" y="732581"/>
            <a:ext cx="456309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47 </a:t>
            </a:r>
            <a:r>
              <a:rPr lang="en-US" sz="2000" b="1" dirty="0" err="1"/>
              <a:t>yo</a:t>
            </a:r>
            <a:r>
              <a:rPr lang="en-US" sz="2000" b="1" dirty="0"/>
              <a:t> woman </a:t>
            </a:r>
            <a:r>
              <a:rPr lang="en-US" sz="2000" dirty="0"/>
              <a:t>with hypothyroidism and asthma presents with </a:t>
            </a:r>
            <a:r>
              <a:rPr lang="en-US" sz="2000" b="1" dirty="0"/>
              <a:t>hot flashes and difficulty sleeping</a:t>
            </a:r>
            <a:r>
              <a:rPr lang="en-US" sz="2000" dirty="0"/>
              <a:t>. Her menses previously occurred every month. Now they occur </a:t>
            </a:r>
            <a:r>
              <a:rPr lang="en-US" sz="2000" b="1" dirty="0"/>
              <a:t>every 2-4 months with heavy flow</a:t>
            </a:r>
            <a:r>
              <a:rPr lang="en-US" sz="2000" dirty="0"/>
              <a:t>. </a:t>
            </a:r>
          </a:p>
        </p:txBody>
      </p:sp>
      <p:sp>
        <p:nvSpPr>
          <p:cNvPr id="92" name="work-up button">
            <a:extLst>
              <a:ext uri="{FF2B5EF4-FFF2-40B4-BE49-F238E27FC236}">
                <a16:creationId xmlns:a16="http://schemas.microsoft.com/office/drawing/2014/main" id="{50282978-00E3-4434-8E47-85D11CB825C1}"/>
              </a:ext>
            </a:extLst>
          </p:cNvPr>
          <p:cNvSpPr/>
          <p:nvPr/>
        </p:nvSpPr>
        <p:spPr>
          <a:xfrm>
            <a:off x="7250711" y="852763"/>
            <a:ext cx="4026818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What additional work-up is indicated?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3" name="work-up pointer" descr="Cursor with solid fill">
            <a:extLst>
              <a:ext uri="{FF2B5EF4-FFF2-40B4-BE49-F238E27FC236}">
                <a16:creationId xmlns:a16="http://schemas.microsoft.com/office/drawing/2014/main" id="{941FB1D3-46EB-4C91-9ACF-49E8DC4B4E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43874" y="1133532"/>
            <a:ext cx="301752" cy="301752"/>
          </a:xfrm>
          <a:prstGeom prst="rect">
            <a:avLst/>
          </a:prstGeom>
        </p:spPr>
      </p:pic>
      <p:sp>
        <p:nvSpPr>
          <p:cNvPr id="94" name="mgmt button">
            <a:extLst>
              <a:ext uri="{FF2B5EF4-FFF2-40B4-BE49-F238E27FC236}">
                <a16:creationId xmlns:a16="http://schemas.microsoft.com/office/drawing/2014/main" id="{9408D27F-7AB5-4E8C-85DC-6D26B82472F7}"/>
              </a:ext>
            </a:extLst>
          </p:cNvPr>
          <p:cNvSpPr/>
          <p:nvPr/>
        </p:nvSpPr>
        <p:spPr>
          <a:xfrm>
            <a:off x="3550186" y="2487046"/>
            <a:ext cx="6870538" cy="44267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How would you manage her symptoms of perimenopause?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9" name="mood button">
            <a:extLst>
              <a:ext uri="{FF2B5EF4-FFF2-40B4-BE49-F238E27FC236}">
                <a16:creationId xmlns:a16="http://schemas.microsoft.com/office/drawing/2014/main" id="{F614DEF1-5CE8-4C9F-B311-564CE106F1E1}"/>
              </a:ext>
            </a:extLst>
          </p:cNvPr>
          <p:cNvSpPr/>
          <p:nvPr/>
        </p:nvSpPr>
        <p:spPr>
          <a:xfrm>
            <a:off x="2764938" y="3160879"/>
            <a:ext cx="2102395" cy="1234634"/>
          </a:xfrm>
          <a:prstGeom prst="roundRect">
            <a:avLst>
              <a:gd name="adj" fmla="val 9979"/>
            </a:avLst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Mood Changes &amp; Sleep Disturbance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Hot Flashes</a:t>
            </a:r>
          </a:p>
        </p:txBody>
      </p:sp>
      <p:pic>
        <p:nvPicPr>
          <p:cNvPr id="40" name="Graphic 39" descr="Cursor with solid fill">
            <a:extLst>
              <a:ext uri="{FF2B5EF4-FFF2-40B4-BE49-F238E27FC236}">
                <a16:creationId xmlns:a16="http://schemas.microsoft.com/office/drawing/2014/main" id="{821C8622-4585-452E-BB51-B6AF99DE59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0277" y="4221435"/>
            <a:ext cx="301752" cy="301752"/>
          </a:xfrm>
          <a:prstGeom prst="rect">
            <a:avLst/>
          </a:prstGeom>
        </p:spPr>
      </p:pic>
      <p:pic>
        <p:nvPicPr>
          <p:cNvPr id="45" name="Graphic 44" descr="Cursor with solid fill">
            <a:extLst>
              <a:ext uri="{FF2B5EF4-FFF2-40B4-BE49-F238E27FC236}">
                <a16:creationId xmlns:a16="http://schemas.microsoft.com/office/drawing/2014/main" id="{5EFEE92C-BDBD-4D3D-9244-49A93B73AD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57865" y="5379137"/>
            <a:ext cx="301752" cy="301752"/>
          </a:xfrm>
          <a:prstGeom prst="rect">
            <a:avLst/>
          </a:prstGeom>
        </p:spPr>
      </p:pic>
      <p:sp>
        <p:nvSpPr>
          <p:cNvPr id="47" name="menstral text">
            <a:extLst>
              <a:ext uri="{FF2B5EF4-FFF2-40B4-BE49-F238E27FC236}">
                <a16:creationId xmlns:a16="http://schemas.microsoft.com/office/drawing/2014/main" id="{6A9348A3-6091-4F52-9DDE-7BC8C2BB803F}"/>
              </a:ext>
            </a:extLst>
          </p:cNvPr>
          <p:cNvSpPr txBox="1"/>
          <p:nvPr/>
        </p:nvSpPr>
        <p:spPr>
          <a:xfrm>
            <a:off x="8651415" y="5585782"/>
            <a:ext cx="3151348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dirty="0"/>
              <a:t>Menopausal hormone therapy </a:t>
            </a:r>
          </a:p>
          <a:p>
            <a:pPr algn="ctr"/>
            <a:r>
              <a:rPr lang="en-US" dirty="0"/>
              <a:t>(IUD or combined oral contraceptives)</a:t>
            </a:r>
          </a:p>
        </p:txBody>
      </p:sp>
      <p:sp>
        <p:nvSpPr>
          <p:cNvPr id="10" name="Dx text">
            <a:extLst>
              <a:ext uri="{FF2B5EF4-FFF2-40B4-BE49-F238E27FC236}">
                <a16:creationId xmlns:a16="http://schemas.microsoft.com/office/drawing/2014/main" id="{3C443B39-5FE1-417A-AC80-8796A8C71007}"/>
              </a:ext>
            </a:extLst>
          </p:cNvPr>
          <p:cNvSpPr txBox="1"/>
          <p:nvPr/>
        </p:nvSpPr>
        <p:spPr>
          <a:xfrm>
            <a:off x="4028307" y="82495"/>
            <a:ext cx="6229590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Menopausal Transition (Perimenopause)</a:t>
            </a:r>
          </a:p>
        </p:txBody>
      </p:sp>
      <p:sp>
        <p:nvSpPr>
          <p:cNvPr id="49" name="work-up text">
            <a:extLst>
              <a:ext uri="{FF2B5EF4-FFF2-40B4-BE49-F238E27FC236}">
                <a16:creationId xmlns:a16="http://schemas.microsoft.com/office/drawing/2014/main" id="{3085B55B-05E1-4CCF-8BC4-8F27D6BA7F8F}"/>
              </a:ext>
            </a:extLst>
          </p:cNvPr>
          <p:cNvSpPr txBox="1"/>
          <p:nvPr/>
        </p:nvSpPr>
        <p:spPr>
          <a:xfrm>
            <a:off x="7111448" y="1392728"/>
            <a:ext cx="4600318" cy="9848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ea typeface="+mn-lt"/>
                <a:cs typeface="+mn-lt"/>
              </a:rPr>
              <a:t>Rule out malignancy in patients with heavy bleeding!</a:t>
            </a:r>
            <a:endParaRPr lang="en-US" sz="2000" dirty="0">
              <a:ea typeface="+mn-lt"/>
              <a:cs typeface="+mn-lt"/>
            </a:endParaRPr>
          </a:p>
          <a:p>
            <a:r>
              <a:rPr lang="en-US" dirty="0">
                <a:cs typeface="Calibri"/>
              </a:rPr>
              <a:t>Otherwise, no work-up to confirm diagnosis</a:t>
            </a:r>
            <a:endParaRPr lang="en-US" dirty="0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F91E3F8B-9BCB-4930-9925-621656E5AC7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49" t="7187" r="58712" b="83649"/>
          <a:stretch/>
        </p:blipFill>
        <p:spPr>
          <a:xfrm>
            <a:off x="6731724" y="3115932"/>
            <a:ext cx="710326" cy="562879"/>
          </a:xfrm>
          <a:prstGeom prst="rect">
            <a:avLst/>
          </a:prstGeom>
        </p:spPr>
      </p:pic>
      <p:pic>
        <p:nvPicPr>
          <p:cNvPr id="41" name="Graphic 40" descr="Snooze outline">
            <a:extLst>
              <a:ext uri="{FF2B5EF4-FFF2-40B4-BE49-F238E27FC236}">
                <a16:creationId xmlns:a16="http://schemas.microsoft.com/office/drawing/2014/main" id="{CC4D9792-4337-4A5C-A5DB-27A4E4E7CCB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7970" b="79116"/>
          <a:stretch/>
        </p:blipFill>
        <p:spPr>
          <a:xfrm>
            <a:off x="6264910" y="3079630"/>
            <a:ext cx="459810" cy="18455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3E31133-1472-460B-9B95-FE7A52D0371C}"/>
              </a:ext>
            </a:extLst>
          </p:cNvPr>
          <p:cNvGrpSpPr/>
          <p:nvPr/>
        </p:nvGrpSpPr>
        <p:grpSpPr>
          <a:xfrm>
            <a:off x="559916" y="4448597"/>
            <a:ext cx="5503123" cy="2321546"/>
            <a:chOff x="559916" y="4448597"/>
            <a:chExt cx="5503123" cy="2321546"/>
          </a:xfrm>
        </p:grpSpPr>
        <p:sp>
          <p:nvSpPr>
            <p:cNvPr id="97" name="LIfestyle measures">
              <a:extLst>
                <a:ext uri="{FF2B5EF4-FFF2-40B4-BE49-F238E27FC236}">
                  <a16:creationId xmlns:a16="http://schemas.microsoft.com/office/drawing/2014/main" id="{5DBDFF0B-EB6A-44B5-AC8D-A4F55431CE6A}"/>
                </a:ext>
              </a:extLst>
            </p:cNvPr>
            <p:cNvSpPr/>
            <p:nvPr/>
          </p:nvSpPr>
          <p:spPr>
            <a:xfrm>
              <a:off x="559916" y="4448597"/>
              <a:ext cx="4896969" cy="405851"/>
            </a:xfrm>
            <a:prstGeom prst="roundRect">
              <a:avLst/>
            </a:prstGeom>
            <a:no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1. </a:t>
              </a:r>
              <a:r>
                <a:rPr lang="en-US" u="sng" dirty="0">
                  <a:solidFill>
                    <a:schemeClr val="tx1"/>
                  </a:solidFill>
                </a:rPr>
                <a:t>Lifestyle measures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23B6C85E-A009-4F04-BBA1-57F5CEE0D82E}"/>
                </a:ext>
              </a:extLst>
            </p:cNvPr>
            <p:cNvSpPr/>
            <p:nvPr/>
          </p:nvSpPr>
          <p:spPr>
            <a:xfrm>
              <a:off x="559916" y="5893567"/>
              <a:ext cx="5503123" cy="87657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2. SSRI or SNRI, gabapentin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3. Menopausal hormone therapy (MHT) for hot flashes 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75A7147-2E89-446F-AD26-E0419F258E1A}"/>
                </a:ext>
              </a:extLst>
            </p:cNvPr>
            <p:cNvSpPr txBox="1"/>
            <p:nvPr/>
          </p:nvSpPr>
          <p:spPr>
            <a:xfrm>
              <a:off x="803398" y="4797755"/>
              <a:ext cx="508529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7475" indent="-117475">
                <a:buFontTx/>
                <a:buChar char="-"/>
              </a:pPr>
              <a:r>
                <a:rPr lang="en-US" sz="1800" i="1" dirty="0"/>
                <a:t>Avoid</a:t>
              </a:r>
              <a:r>
                <a:rPr lang="en-US" sz="1800" dirty="0"/>
                <a:t> hot rooms, hot drinks, EtOH, caffeine and cigarettes.</a:t>
              </a:r>
            </a:p>
            <a:p>
              <a:pPr marL="117475" indent="-117475">
                <a:buFontTx/>
                <a:buChar char="-"/>
              </a:pPr>
              <a:r>
                <a:rPr lang="en-US" sz="1800" dirty="0"/>
                <a:t>Carry a fan &amp; wear layers.</a:t>
              </a:r>
            </a:p>
            <a:p>
              <a:pPr marL="117475" indent="-117475">
                <a:buFontTx/>
                <a:buChar char="-"/>
              </a:pPr>
              <a:r>
                <a:rPr lang="en-US" sz="1800" dirty="0"/>
                <a:t>Weight loss &amp; exercise.</a:t>
              </a:r>
            </a:p>
          </p:txBody>
        </p:sp>
      </p:grp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07C0D206-2E8D-4B70-BC29-73739AC85ECA}"/>
              </a:ext>
            </a:extLst>
          </p:cNvPr>
          <p:cNvCxnSpPr>
            <a:cxnSpLocks/>
            <a:endCxn id="55" idx="1"/>
          </p:cNvCxnSpPr>
          <p:nvPr/>
        </p:nvCxnSpPr>
        <p:spPr>
          <a:xfrm flipV="1">
            <a:off x="7107554" y="5315526"/>
            <a:ext cx="1958022" cy="488508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Graphic 97" descr="Cursor with solid fill">
            <a:extLst>
              <a:ext uri="{FF2B5EF4-FFF2-40B4-BE49-F238E27FC236}">
                <a16:creationId xmlns:a16="http://schemas.microsoft.com/office/drawing/2014/main" id="{9E3797CD-8B11-4196-82A6-742A5A56D3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85388" y="2795011"/>
            <a:ext cx="301752" cy="301752"/>
          </a:xfrm>
          <a:prstGeom prst="rect">
            <a:avLst/>
          </a:prstGeom>
        </p:spPr>
      </p:pic>
      <p:pic>
        <p:nvPicPr>
          <p:cNvPr id="101" name="Picture 100" descr="A picture containing text&#10;&#10;Description automatically generated">
            <a:extLst>
              <a:ext uri="{FF2B5EF4-FFF2-40B4-BE49-F238E27FC236}">
                <a16:creationId xmlns:a16="http://schemas.microsoft.com/office/drawing/2014/main" id="{9BBA4F33-DF53-4143-872C-71CB7AA43C4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37" t="53485" r="57324" b="37351"/>
          <a:stretch/>
        </p:blipFill>
        <p:spPr>
          <a:xfrm>
            <a:off x="6731724" y="5462303"/>
            <a:ext cx="710326" cy="562879"/>
          </a:xfrm>
          <a:prstGeom prst="rect">
            <a:avLst/>
          </a:prstGeom>
        </p:spPr>
      </p:pic>
      <p:sp>
        <p:nvSpPr>
          <p:cNvPr id="46" name="Obj 2">
            <a:hlinkClick r:id="rId10" action="ppaction://hlinksldjump"/>
            <a:extLst>
              <a:ext uri="{FF2B5EF4-FFF2-40B4-BE49-F238E27FC236}">
                <a16:creationId xmlns:a16="http://schemas.microsoft.com/office/drawing/2014/main" id="{A456A0FA-374A-46E7-B38E-982FB2402661}"/>
              </a:ext>
            </a:extLst>
          </p:cNvPr>
          <p:cNvSpPr/>
          <p:nvPr/>
        </p:nvSpPr>
        <p:spPr>
          <a:xfrm>
            <a:off x="465283" y="982561"/>
            <a:ext cx="1434353" cy="635415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Peri-menopause</a:t>
            </a:r>
          </a:p>
        </p:txBody>
      </p:sp>
      <p:sp>
        <p:nvSpPr>
          <p:cNvPr id="51" name="Obj 3">
            <a:hlinkClick r:id="rId11" action="ppaction://hlinksldjump"/>
            <a:extLst>
              <a:ext uri="{FF2B5EF4-FFF2-40B4-BE49-F238E27FC236}">
                <a16:creationId xmlns:a16="http://schemas.microsoft.com/office/drawing/2014/main" id="{531F356F-4DD3-4C05-98A3-0C1275349FB9}"/>
              </a:ext>
            </a:extLst>
          </p:cNvPr>
          <p:cNvSpPr/>
          <p:nvPr/>
        </p:nvSpPr>
        <p:spPr>
          <a:xfrm>
            <a:off x="465283" y="1803968"/>
            <a:ext cx="1434353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Menopause</a:t>
            </a:r>
          </a:p>
        </p:txBody>
      </p:sp>
      <p:pic>
        <p:nvPicPr>
          <p:cNvPr id="52" name="Graphic 51" descr="Cursor with solid fill">
            <a:extLst>
              <a:ext uri="{FF2B5EF4-FFF2-40B4-BE49-F238E27FC236}">
                <a16:creationId xmlns:a16="http://schemas.microsoft.com/office/drawing/2014/main" id="{DF71EEC5-6B3A-460D-AF00-E59C055685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65231" y="2031578"/>
            <a:ext cx="301752" cy="301752"/>
          </a:xfrm>
          <a:prstGeom prst="rect">
            <a:avLst/>
          </a:prstGeom>
        </p:spPr>
      </p:pic>
      <p:sp>
        <p:nvSpPr>
          <p:cNvPr id="53" name="Cases">
            <a:hlinkClick r:id="rId12" action="ppaction://hlinksldjump"/>
            <a:extLst>
              <a:ext uri="{FF2B5EF4-FFF2-40B4-BE49-F238E27FC236}">
                <a16:creationId xmlns:a16="http://schemas.microsoft.com/office/drawing/2014/main" id="{FF0B5849-E97A-4C39-88D0-6A70B1A0EB41}"/>
              </a:ext>
            </a:extLst>
          </p:cNvPr>
          <p:cNvSpPr/>
          <p:nvPr/>
        </p:nvSpPr>
        <p:spPr>
          <a:xfrm>
            <a:off x="162276" y="3184013"/>
            <a:ext cx="1737360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58" name="Graphic 57" descr="Cursor with solid fill">
            <a:extLst>
              <a:ext uri="{FF2B5EF4-FFF2-40B4-BE49-F238E27FC236}">
                <a16:creationId xmlns:a16="http://schemas.microsoft.com/office/drawing/2014/main" id="{9F007E22-1AEC-4FB9-9308-2997694D5A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65231" y="3419927"/>
            <a:ext cx="301752" cy="301752"/>
          </a:xfrm>
          <a:prstGeom prst="rect">
            <a:avLst/>
          </a:prstGeom>
        </p:spPr>
      </p:pic>
      <p:sp>
        <p:nvSpPr>
          <p:cNvPr id="60" name="Obj 2">
            <a:hlinkClick r:id="rId13" action="ppaction://hlinksldjump"/>
            <a:extLst>
              <a:ext uri="{FF2B5EF4-FFF2-40B4-BE49-F238E27FC236}">
                <a16:creationId xmlns:a16="http://schemas.microsoft.com/office/drawing/2014/main" id="{14ED06F0-B1D0-49D5-8589-CEBEF37E856D}"/>
              </a:ext>
            </a:extLst>
          </p:cNvPr>
          <p:cNvSpPr/>
          <p:nvPr/>
        </p:nvSpPr>
        <p:spPr>
          <a:xfrm>
            <a:off x="162276" y="2357939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Hormone Therapy (MHT)</a:t>
            </a:r>
          </a:p>
        </p:txBody>
      </p:sp>
      <p:sp>
        <p:nvSpPr>
          <p:cNvPr id="61" name="Obj 2">
            <a:hlinkClick r:id="rId14" action="ppaction://hlinksldjump"/>
            <a:extLst>
              <a:ext uri="{FF2B5EF4-FFF2-40B4-BE49-F238E27FC236}">
                <a16:creationId xmlns:a16="http://schemas.microsoft.com/office/drawing/2014/main" id="{862260DA-8CDE-45C6-A8D1-67E18FCEBACB}"/>
              </a:ext>
            </a:extLst>
          </p:cNvPr>
          <p:cNvSpPr/>
          <p:nvPr/>
        </p:nvSpPr>
        <p:spPr>
          <a:xfrm>
            <a:off x="162276" y="156489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Definitions &amp; Diagnoses</a:t>
            </a:r>
          </a:p>
        </p:txBody>
      </p:sp>
      <p:pic>
        <p:nvPicPr>
          <p:cNvPr id="66" name="Graphic 65" descr="Cursor with solid fill">
            <a:extLst>
              <a:ext uri="{FF2B5EF4-FFF2-40B4-BE49-F238E27FC236}">
                <a16:creationId xmlns:a16="http://schemas.microsoft.com/office/drawing/2014/main" id="{F41BE0F8-499A-420D-B0B4-BC488EB06F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65231" y="2855222"/>
            <a:ext cx="301752" cy="301752"/>
          </a:xfrm>
          <a:prstGeom prst="rect">
            <a:avLst/>
          </a:prstGeom>
        </p:spPr>
      </p:pic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91083E94-563B-4445-9F4A-2F6ACDDAB4D9}"/>
              </a:ext>
            </a:extLst>
          </p:cNvPr>
          <p:cNvCxnSpPr>
            <a:cxnSpLocks/>
            <a:endCxn id="46" idx="1"/>
          </p:cNvCxnSpPr>
          <p:nvPr/>
        </p:nvCxnSpPr>
        <p:spPr>
          <a:xfrm rot="16200000" flipH="1">
            <a:off x="114589" y="949574"/>
            <a:ext cx="476735" cy="22465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09CA0139-28BE-4B0B-9F44-7D7219F794EF}"/>
              </a:ext>
            </a:extLst>
          </p:cNvPr>
          <p:cNvCxnSpPr>
            <a:cxnSpLocks/>
            <a:endCxn id="51" idx="1"/>
          </p:cNvCxnSpPr>
          <p:nvPr/>
        </p:nvCxnSpPr>
        <p:spPr>
          <a:xfrm rot="16200000" flipH="1">
            <a:off x="1179" y="1523854"/>
            <a:ext cx="703554" cy="22465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25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</p:childTnLst>
        </p:cTn>
      </p:par>
    </p:tnLst>
    <p:bldLst>
      <p:bldP spid="102" grpId="0" animBg="1"/>
      <p:bldP spid="99" grpId="0" animBg="1"/>
      <p:bldP spid="72" grpId="0" animBg="1"/>
      <p:bldP spid="55" grpId="0" animBg="1"/>
      <p:bldP spid="55" grpId="1" animBg="1"/>
      <p:bldP spid="92" grpId="0" animBg="1"/>
      <p:bldP spid="94" grpId="0" animBg="1"/>
      <p:bldP spid="94" grpId="1" animBg="1"/>
      <p:bldP spid="94" grpId="2" animBg="1"/>
      <p:bldP spid="109" grpId="0" animBg="1"/>
      <p:bldP spid="109" grpId="1" animBg="1"/>
      <p:bldP spid="47" grpId="0"/>
      <p:bldP spid="49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menstral back">
            <a:extLst>
              <a:ext uri="{FF2B5EF4-FFF2-40B4-BE49-F238E27FC236}">
                <a16:creationId xmlns:a16="http://schemas.microsoft.com/office/drawing/2014/main" id="{BA4EFDC7-0B01-43CA-92FA-8E72D2F4E39E}"/>
              </a:ext>
            </a:extLst>
          </p:cNvPr>
          <p:cNvSpPr txBox="1"/>
          <p:nvPr/>
        </p:nvSpPr>
        <p:spPr>
          <a:xfrm>
            <a:off x="8772880" y="5167405"/>
            <a:ext cx="1597507" cy="408623"/>
          </a:xfrm>
          <a:prstGeom prst="roundRect">
            <a:avLst/>
          </a:prstGeom>
          <a:solidFill>
            <a:schemeClr val="accent2"/>
          </a:solidFill>
          <a:ln w="38100">
            <a:solidFill>
              <a:schemeClr val="accent2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Osteoporosis</a:t>
            </a:r>
          </a:p>
        </p:txBody>
      </p:sp>
      <p:pic>
        <p:nvPicPr>
          <p:cNvPr id="103" name="Picture 102" descr="A picture containing silhouette&#10;&#10;Description automatically generated">
            <a:extLst>
              <a:ext uri="{FF2B5EF4-FFF2-40B4-BE49-F238E27FC236}">
                <a16:creationId xmlns:a16="http://schemas.microsoft.com/office/drawing/2014/main" id="{96E242F9-6859-4D2E-813D-3FA328B9F5D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46" t="19821" r="31676" b="29194"/>
          <a:stretch/>
        </p:blipFill>
        <p:spPr>
          <a:xfrm>
            <a:off x="5569726" y="2963708"/>
            <a:ext cx="2960823" cy="3811797"/>
          </a:xfrm>
          <a:prstGeom prst="rect">
            <a:avLst/>
          </a:prstGeom>
        </p:spPr>
      </p:pic>
      <p:sp>
        <p:nvSpPr>
          <p:cNvPr id="149" name="Rectangle 148">
            <a:extLst>
              <a:ext uri="{FF2B5EF4-FFF2-40B4-BE49-F238E27FC236}">
                <a16:creationId xmlns:a16="http://schemas.microsoft.com/office/drawing/2014/main" id="{749A417F-DE68-4571-9C92-90E74B797EEF}"/>
              </a:ext>
            </a:extLst>
          </p:cNvPr>
          <p:cNvSpPr/>
          <p:nvPr/>
        </p:nvSpPr>
        <p:spPr>
          <a:xfrm>
            <a:off x="7608080" y="5559931"/>
            <a:ext cx="1110087" cy="12840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menstral back">
            <a:extLst>
              <a:ext uri="{FF2B5EF4-FFF2-40B4-BE49-F238E27FC236}">
                <a16:creationId xmlns:a16="http://schemas.microsoft.com/office/drawing/2014/main" id="{E6EED352-4490-47A9-9CA3-8BBEC31FF422}"/>
              </a:ext>
            </a:extLst>
          </p:cNvPr>
          <p:cNvSpPr txBox="1"/>
          <p:nvPr/>
        </p:nvSpPr>
        <p:spPr>
          <a:xfrm>
            <a:off x="8682234" y="2749826"/>
            <a:ext cx="1798954" cy="408623"/>
          </a:xfrm>
          <a:prstGeom prst="roundRect">
            <a:avLst/>
          </a:prstGeom>
          <a:solidFill>
            <a:schemeClr val="accent2"/>
          </a:solidFill>
          <a:ln w="38100">
            <a:solidFill>
              <a:schemeClr val="accent2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Atherosclerosis</a:t>
            </a:r>
          </a:p>
        </p:txBody>
      </p:sp>
      <p:sp>
        <p:nvSpPr>
          <p:cNvPr id="137" name="menstral button">
            <a:extLst>
              <a:ext uri="{FF2B5EF4-FFF2-40B4-BE49-F238E27FC236}">
                <a16:creationId xmlns:a16="http://schemas.microsoft.com/office/drawing/2014/main" id="{AC1A1D04-BCC1-45F9-B0A3-A9393A84C578}"/>
              </a:ext>
            </a:extLst>
          </p:cNvPr>
          <p:cNvSpPr txBox="1"/>
          <p:nvPr/>
        </p:nvSpPr>
        <p:spPr>
          <a:xfrm>
            <a:off x="2705132" y="4973253"/>
            <a:ext cx="3063943" cy="715089"/>
          </a:xfrm>
          <a:prstGeom prst="round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Vaginal dryness/ Dyspareunia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UTIs &amp; LUTS</a:t>
            </a:r>
          </a:p>
        </p:txBody>
      </p:sp>
      <p:sp>
        <p:nvSpPr>
          <p:cNvPr id="134" name="mood button">
            <a:extLst>
              <a:ext uri="{FF2B5EF4-FFF2-40B4-BE49-F238E27FC236}">
                <a16:creationId xmlns:a16="http://schemas.microsoft.com/office/drawing/2014/main" id="{DE2B00CA-0980-4E1C-9AB6-A77E84B2B7A5}"/>
              </a:ext>
            </a:extLst>
          </p:cNvPr>
          <p:cNvSpPr/>
          <p:nvPr/>
        </p:nvSpPr>
        <p:spPr>
          <a:xfrm>
            <a:off x="3203946" y="2649038"/>
            <a:ext cx="2092417" cy="1234634"/>
          </a:xfrm>
          <a:prstGeom prst="roundRect">
            <a:avLst>
              <a:gd name="adj" fmla="val 7665"/>
            </a:avLst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Mood Changes, Sleep Disturbance,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&amp;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Hot Flashes (early)</a:t>
            </a:r>
          </a:p>
        </p:txBody>
      </p:sp>
      <p:sp>
        <p:nvSpPr>
          <p:cNvPr id="102" name="Complications back">
            <a:extLst>
              <a:ext uri="{FF2B5EF4-FFF2-40B4-BE49-F238E27FC236}">
                <a16:creationId xmlns:a16="http://schemas.microsoft.com/office/drawing/2014/main" id="{0FF879A2-2C6E-4E8F-933B-2666AD154928}"/>
              </a:ext>
            </a:extLst>
          </p:cNvPr>
          <p:cNvSpPr/>
          <p:nvPr/>
        </p:nvSpPr>
        <p:spPr>
          <a:xfrm>
            <a:off x="7369177" y="1875005"/>
            <a:ext cx="4125502" cy="71508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What complications is she at risk for? How would you manage them?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work-up button">
            <a:extLst>
              <a:ext uri="{FF2B5EF4-FFF2-40B4-BE49-F238E27FC236}">
                <a16:creationId xmlns:a16="http://schemas.microsoft.com/office/drawing/2014/main" id="{9E38BD39-1EE3-4F6C-A83B-1A889A815066}"/>
              </a:ext>
            </a:extLst>
          </p:cNvPr>
          <p:cNvSpPr/>
          <p:nvPr/>
        </p:nvSpPr>
        <p:spPr>
          <a:xfrm>
            <a:off x="7390236" y="722003"/>
            <a:ext cx="4026818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What additional work-up is indicated?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vaginal dryness button">
            <a:extLst>
              <a:ext uri="{FF2B5EF4-FFF2-40B4-BE49-F238E27FC236}">
                <a16:creationId xmlns:a16="http://schemas.microsoft.com/office/drawing/2014/main" id="{2AFAB5CC-5A8F-4B2A-BB6D-2C5B07E54248}"/>
              </a:ext>
            </a:extLst>
          </p:cNvPr>
          <p:cNvSpPr txBox="1"/>
          <p:nvPr/>
        </p:nvSpPr>
        <p:spPr>
          <a:xfrm>
            <a:off x="2705132" y="4973253"/>
            <a:ext cx="3091710" cy="715089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Vaginal dryness/ Dyspareunia</a:t>
            </a:r>
          </a:p>
          <a:p>
            <a:pPr algn="ctr"/>
            <a:r>
              <a:rPr lang="en-US" dirty="0"/>
              <a:t>UTIs &amp; LUTS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11EB202-CD4D-4E9C-A234-7F65C7FD579C}"/>
              </a:ext>
            </a:extLst>
          </p:cNvPr>
          <p:cNvSpPr txBox="1"/>
          <p:nvPr/>
        </p:nvSpPr>
        <p:spPr>
          <a:xfrm>
            <a:off x="2349835" y="606821"/>
            <a:ext cx="45630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51yo</a:t>
            </a:r>
            <a:r>
              <a:rPr lang="en-US" sz="2000" dirty="0"/>
              <a:t> woman presents with </a:t>
            </a:r>
            <a:r>
              <a:rPr lang="en-US" sz="2000" b="1" dirty="0"/>
              <a:t>hot flashes and a depressed mood.</a:t>
            </a:r>
            <a:r>
              <a:rPr lang="en-US" sz="2000" dirty="0"/>
              <a:t>  Her </a:t>
            </a:r>
            <a:r>
              <a:rPr lang="en-US" sz="2000" b="1" dirty="0"/>
              <a:t>last menses was 14 months </a:t>
            </a:r>
            <a:r>
              <a:rPr lang="en-US" sz="2000" dirty="0"/>
              <a:t>ago and was preceded with two years of irregular menses. </a:t>
            </a:r>
          </a:p>
        </p:txBody>
      </p:sp>
      <p:sp>
        <p:nvSpPr>
          <p:cNvPr id="92" name="work-up button">
            <a:extLst>
              <a:ext uri="{FF2B5EF4-FFF2-40B4-BE49-F238E27FC236}">
                <a16:creationId xmlns:a16="http://schemas.microsoft.com/office/drawing/2014/main" id="{50282978-00E3-4434-8E47-85D11CB825C1}"/>
              </a:ext>
            </a:extLst>
          </p:cNvPr>
          <p:cNvSpPr/>
          <p:nvPr/>
        </p:nvSpPr>
        <p:spPr>
          <a:xfrm>
            <a:off x="7390236" y="722003"/>
            <a:ext cx="4026818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What additional work-up is indicated?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3" name="work-up pointer" descr="Cursor with solid fill">
            <a:extLst>
              <a:ext uri="{FF2B5EF4-FFF2-40B4-BE49-F238E27FC236}">
                <a16:creationId xmlns:a16="http://schemas.microsoft.com/office/drawing/2014/main" id="{941FB1D3-46EB-4C91-9ACF-49E8DC4B4E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81718" y="999749"/>
            <a:ext cx="301752" cy="301752"/>
          </a:xfrm>
          <a:prstGeom prst="rect">
            <a:avLst/>
          </a:prstGeom>
        </p:spPr>
      </p:pic>
      <p:sp>
        <p:nvSpPr>
          <p:cNvPr id="109" name="mood button">
            <a:extLst>
              <a:ext uri="{FF2B5EF4-FFF2-40B4-BE49-F238E27FC236}">
                <a16:creationId xmlns:a16="http://schemas.microsoft.com/office/drawing/2014/main" id="{F614DEF1-5CE8-4C9F-B311-564CE106F1E1}"/>
              </a:ext>
            </a:extLst>
          </p:cNvPr>
          <p:cNvSpPr/>
          <p:nvPr/>
        </p:nvSpPr>
        <p:spPr>
          <a:xfrm>
            <a:off x="3203946" y="2649038"/>
            <a:ext cx="2092417" cy="1234634"/>
          </a:xfrm>
          <a:prstGeom prst="roundRect">
            <a:avLst>
              <a:gd name="adj" fmla="val 7665"/>
            </a:avLst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Mood Changes, Sleep Disturbance,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&amp;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Hot Flashes (early)</a:t>
            </a:r>
          </a:p>
        </p:txBody>
      </p:sp>
      <p:pic>
        <p:nvPicPr>
          <p:cNvPr id="40" name="Graphic 39" descr="Cursor with solid fill">
            <a:extLst>
              <a:ext uri="{FF2B5EF4-FFF2-40B4-BE49-F238E27FC236}">
                <a16:creationId xmlns:a16="http://schemas.microsoft.com/office/drawing/2014/main" id="{821C8622-4585-452E-BB51-B6AF99DE59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52596" y="3747633"/>
            <a:ext cx="301752" cy="301752"/>
          </a:xfrm>
          <a:prstGeom prst="rect">
            <a:avLst/>
          </a:prstGeom>
        </p:spPr>
      </p:pic>
      <p:sp>
        <p:nvSpPr>
          <p:cNvPr id="47" name="menstral text">
            <a:extLst>
              <a:ext uri="{FF2B5EF4-FFF2-40B4-BE49-F238E27FC236}">
                <a16:creationId xmlns:a16="http://schemas.microsoft.com/office/drawing/2014/main" id="{6A9348A3-6091-4F52-9DDE-7BC8C2BB803F}"/>
              </a:ext>
            </a:extLst>
          </p:cNvPr>
          <p:cNvSpPr txBox="1"/>
          <p:nvPr/>
        </p:nvSpPr>
        <p:spPr>
          <a:xfrm>
            <a:off x="2148159" y="5753249"/>
            <a:ext cx="4348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From vaginal atrophy</a:t>
            </a:r>
          </a:p>
          <a:p>
            <a:pPr algn="ctr"/>
            <a:r>
              <a:rPr lang="en-US" dirty="0"/>
              <a:t>Vaginal moisturizers, lubricants, topical estrogen</a:t>
            </a:r>
          </a:p>
        </p:txBody>
      </p:sp>
      <p:sp>
        <p:nvSpPr>
          <p:cNvPr id="49" name="work-up text">
            <a:extLst>
              <a:ext uri="{FF2B5EF4-FFF2-40B4-BE49-F238E27FC236}">
                <a16:creationId xmlns:a16="http://schemas.microsoft.com/office/drawing/2014/main" id="{3085B55B-05E1-4CCF-8BC4-8F27D6BA7F8F}"/>
              </a:ext>
            </a:extLst>
          </p:cNvPr>
          <p:cNvSpPr txBox="1"/>
          <p:nvPr/>
        </p:nvSpPr>
        <p:spPr>
          <a:xfrm>
            <a:off x="9071268" y="1191925"/>
            <a:ext cx="76815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None!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88888C-15C8-484C-9AC6-259D2B0F9DE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9" r="23701"/>
          <a:stretch/>
        </p:blipFill>
        <p:spPr>
          <a:xfrm>
            <a:off x="6900218" y="4433138"/>
            <a:ext cx="373337" cy="483067"/>
          </a:xfrm>
          <a:prstGeom prst="rect">
            <a:avLst/>
          </a:prstGeom>
        </p:spPr>
      </p:pic>
      <p:pic>
        <p:nvPicPr>
          <p:cNvPr id="52" name="Picture 51" descr="A picture containing spectacles&#10;&#10;Description automatically generated">
            <a:extLst>
              <a:ext uri="{FF2B5EF4-FFF2-40B4-BE49-F238E27FC236}">
                <a16:creationId xmlns:a16="http://schemas.microsoft.com/office/drawing/2014/main" id="{8424514D-03BA-4478-990D-857C9F04BAF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39" t="65004" r="37020" b="3174"/>
          <a:stretch/>
        </p:blipFill>
        <p:spPr>
          <a:xfrm flipH="1">
            <a:off x="6836858" y="5670532"/>
            <a:ext cx="212763" cy="3069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8FC5E8-F47A-44D0-97B0-96B729B7666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7" r="37531"/>
          <a:stretch/>
        </p:blipFill>
        <p:spPr>
          <a:xfrm flipH="1">
            <a:off x="7101402" y="5008496"/>
            <a:ext cx="373338" cy="10064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983584-21BB-4837-9159-62903F092AC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98" r="40844" b="18124"/>
          <a:stretch/>
        </p:blipFill>
        <p:spPr>
          <a:xfrm rot="531571">
            <a:off x="7175899" y="5762868"/>
            <a:ext cx="364134" cy="1000133"/>
          </a:xfrm>
          <a:prstGeom prst="rect">
            <a:avLst/>
          </a:prstGeom>
        </p:spPr>
      </p:pic>
      <p:sp>
        <p:nvSpPr>
          <p:cNvPr id="65" name="menstral text">
            <a:extLst>
              <a:ext uri="{FF2B5EF4-FFF2-40B4-BE49-F238E27FC236}">
                <a16:creationId xmlns:a16="http://schemas.microsoft.com/office/drawing/2014/main" id="{3DCD4D28-DCC0-416F-B3E8-6D85FD7E87E6}"/>
              </a:ext>
            </a:extLst>
          </p:cNvPr>
          <p:cNvSpPr txBox="1"/>
          <p:nvPr/>
        </p:nvSpPr>
        <p:spPr>
          <a:xfrm>
            <a:off x="3060941" y="3919619"/>
            <a:ext cx="2830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Lifestyle changes </a:t>
            </a:r>
          </a:p>
          <a:p>
            <a:pPr marL="342900" indent="-342900">
              <a:buAutoNum type="arabicPeriod"/>
            </a:pPr>
            <a:r>
              <a:rPr lang="en-US" dirty="0"/>
              <a:t>MHT (for hot flashes)</a:t>
            </a:r>
          </a:p>
          <a:p>
            <a:pPr marL="342900" indent="-342900">
              <a:buAutoNum type="arabicPeriod"/>
            </a:pPr>
            <a:r>
              <a:rPr lang="en-US" dirty="0"/>
              <a:t>SSRI or SNRI</a:t>
            </a:r>
          </a:p>
        </p:txBody>
      </p:sp>
      <p:sp>
        <p:nvSpPr>
          <p:cNvPr id="70" name="Osteoporosis button">
            <a:extLst>
              <a:ext uri="{FF2B5EF4-FFF2-40B4-BE49-F238E27FC236}">
                <a16:creationId xmlns:a16="http://schemas.microsoft.com/office/drawing/2014/main" id="{89E9503A-E1E9-4BDC-BAB6-47CEA600C149}"/>
              </a:ext>
            </a:extLst>
          </p:cNvPr>
          <p:cNvSpPr txBox="1"/>
          <p:nvPr/>
        </p:nvSpPr>
        <p:spPr>
          <a:xfrm>
            <a:off x="8772880" y="5167405"/>
            <a:ext cx="1597507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Osteoporosis</a:t>
            </a:r>
          </a:p>
        </p:txBody>
      </p:sp>
      <p:pic>
        <p:nvPicPr>
          <p:cNvPr id="72" name="Graphic 71" descr="Cursor with solid fill">
            <a:extLst>
              <a:ext uri="{FF2B5EF4-FFF2-40B4-BE49-F238E27FC236}">
                <a16:creationId xmlns:a16="http://schemas.microsoft.com/office/drawing/2014/main" id="{2CA5BDD4-C7B4-496C-B571-1ACE7BDB1F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6678" y="5534006"/>
            <a:ext cx="301752" cy="301752"/>
          </a:xfrm>
          <a:prstGeom prst="rect">
            <a:avLst/>
          </a:prstGeom>
        </p:spPr>
      </p:pic>
      <p:sp>
        <p:nvSpPr>
          <p:cNvPr id="74" name="menstral text">
            <a:extLst>
              <a:ext uri="{FF2B5EF4-FFF2-40B4-BE49-F238E27FC236}">
                <a16:creationId xmlns:a16="http://schemas.microsoft.com/office/drawing/2014/main" id="{495D4B73-E097-4430-B9BE-DBDBD9F39874}"/>
              </a:ext>
            </a:extLst>
          </p:cNvPr>
          <p:cNvSpPr txBox="1"/>
          <p:nvPr/>
        </p:nvSpPr>
        <p:spPr>
          <a:xfrm>
            <a:off x="8218200" y="5606372"/>
            <a:ext cx="29460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Primary prevention with:</a:t>
            </a:r>
          </a:p>
          <a:p>
            <a:pPr marL="111125" indent="-111125">
              <a:buFont typeface="Arial" panose="020B0604020202020204" pitchFamily="34" charset="0"/>
              <a:buChar char="•"/>
            </a:pPr>
            <a:r>
              <a:rPr lang="en-US" dirty="0"/>
              <a:t>Calcium, vitamin D, exercise </a:t>
            </a:r>
          </a:p>
          <a:p>
            <a:pPr marL="111125" indent="-111125">
              <a:buFont typeface="Arial" panose="020B0604020202020204" pitchFamily="34" charset="0"/>
              <a:buChar char="•"/>
            </a:pPr>
            <a:r>
              <a:rPr lang="en-US" dirty="0"/>
              <a:t>Smoking cessation </a:t>
            </a:r>
          </a:p>
          <a:p>
            <a:pPr marL="111125" indent="-111125">
              <a:buFont typeface="Arial" panose="020B0604020202020204" pitchFamily="34" charset="0"/>
              <a:buChar char="•"/>
            </a:pPr>
            <a:r>
              <a:rPr lang="en-US" dirty="0"/>
              <a:t>↓ EtOH</a:t>
            </a:r>
          </a:p>
        </p:txBody>
      </p:sp>
      <p:sp>
        <p:nvSpPr>
          <p:cNvPr id="80" name="CVD risk">
            <a:extLst>
              <a:ext uri="{FF2B5EF4-FFF2-40B4-BE49-F238E27FC236}">
                <a16:creationId xmlns:a16="http://schemas.microsoft.com/office/drawing/2014/main" id="{F9EC2730-9E03-4AD5-B7B3-30B62C6E86C9}"/>
              </a:ext>
            </a:extLst>
          </p:cNvPr>
          <p:cNvSpPr txBox="1"/>
          <p:nvPr/>
        </p:nvSpPr>
        <p:spPr>
          <a:xfrm>
            <a:off x="8682234" y="2749826"/>
            <a:ext cx="1798954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Atherosclerosis</a:t>
            </a:r>
          </a:p>
        </p:txBody>
      </p:sp>
      <p:pic>
        <p:nvPicPr>
          <p:cNvPr id="83" name="Graphic 82" descr="Cursor with solid fill">
            <a:extLst>
              <a:ext uri="{FF2B5EF4-FFF2-40B4-BE49-F238E27FC236}">
                <a16:creationId xmlns:a16="http://schemas.microsoft.com/office/drawing/2014/main" id="{F2756EF0-F103-47C8-BD05-4A64E049F3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2201" y="3045718"/>
            <a:ext cx="301752" cy="301752"/>
          </a:xfrm>
          <a:prstGeom prst="rect">
            <a:avLst/>
          </a:prstGeom>
        </p:spPr>
      </p:pic>
      <p:sp>
        <p:nvSpPr>
          <p:cNvPr id="85" name="menstral text">
            <a:extLst>
              <a:ext uri="{FF2B5EF4-FFF2-40B4-BE49-F238E27FC236}">
                <a16:creationId xmlns:a16="http://schemas.microsoft.com/office/drawing/2014/main" id="{22541B48-1809-4667-B70E-80A206569B0B}"/>
              </a:ext>
            </a:extLst>
          </p:cNvPr>
          <p:cNvSpPr txBox="1"/>
          <p:nvPr/>
        </p:nvSpPr>
        <p:spPr>
          <a:xfrm>
            <a:off x="8245202" y="3237083"/>
            <a:ext cx="2808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Primary prevention with: </a:t>
            </a:r>
          </a:p>
          <a:p>
            <a:pPr marL="111125" indent="-111125">
              <a:buFont typeface="Arial" panose="020B0604020202020204" pitchFamily="34" charset="0"/>
              <a:buChar char="•"/>
            </a:pPr>
            <a:r>
              <a:rPr lang="en-US" dirty="0"/>
              <a:t>Lifestyle modifications </a:t>
            </a:r>
          </a:p>
          <a:p>
            <a:pPr marL="111125" indent="-111125">
              <a:buFont typeface="Arial" panose="020B0604020202020204" pitchFamily="34" charset="0"/>
              <a:buChar char="•"/>
            </a:pPr>
            <a:r>
              <a:rPr lang="en-US" dirty="0"/>
              <a:t>± statin by ASCVD risk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4513D74-03C8-4628-96D5-D4DC3F6E0455}"/>
              </a:ext>
            </a:extLst>
          </p:cNvPr>
          <p:cNvCxnSpPr>
            <a:cxnSpLocks/>
            <a:endCxn id="55" idx="3"/>
          </p:cNvCxnSpPr>
          <p:nvPr/>
        </p:nvCxnSpPr>
        <p:spPr>
          <a:xfrm flipH="1" flipV="1">
            <a:off x="5796842" y="5330798"/>
            <a:ext cx="1265479" cy="3212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6" name="Dx text">
            <a:extLst>
              <a:ext uri="{FF2B5EF4-FFF2-40B4-BE49-F238E27FC236}">
                <a16:creationId xmlns:a16="http://schemas.microsoft.com/office/drawing/2014/main" id="{94B751CF-B5FF-4381-82BE-95B2335CE37B}"/>
              </a:ext>
            </a:extLst>
          </p:cNvPr>
          <p:cNvSpPr txBox="1"/>
          <p:nvPr/>
        </p:nvSpPr>
        <p:spPr>
          <a:xfrm>
            <a:off x="6056280" y="71301"/>
            <a:ext cx="195117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Menopause</a:t>
            </a:r>
          </a:p>
        </p:txBody>
      </p:sp>
      <p:sp>
        <p:nvSpPr>
          <p:cNvPr id="95" name="mgmt back">
            <a:extLst>
              <a:ext uri="{FF2B5EF4-FFF2-40B4-BE49-F238E27FC236}">
                <a16:creationId xmlns:a16="http://schemas.microsoft.com/office/drawing/2014/main" id="{BA912E2F-05E7-4D87-BC2B-75E3AF25471B}"/>
              </a:ext>
            </a:extLst>
          </p:cNvPr>
          <p:cNvSpPr/>
          <p:nvPr/>
        </p:nvSpPr>
        <p:spPr>
          <a:xfrm>
            <a:off x="2370732" y="2051034"/>
            <a:ext cx="412550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How would you manage her symptoms?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6" name="mgmt button">
            <a:extLst>
              <a:ext uri="{FF2B5EF4-FFF2-40B4-BE49-F238E27FC236}">
                <a16:creationId xmlns:a16="http://schemas.microsoft.com/office/drawing/2014/main" id="{D2CB11CE-018D-4253-B987-F37A30833660}"/>
              </a:ext>
            </a:extLst>
          </p:cNvPr>
          <p:cNvSpPr/>
          <p:nvPr/>
        </p:nvSpPr>
        <p:spPr>
          <a:xfrm>
            <a:off x="2370732" y="2051034"/>
            <a:ext cx="412550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How would you manage her symptoms?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7" name="work-up pointer" descr="Cursor with solid fill">
            <a:extLst>
              <a:ext uri="{FF2B5EF4-FFF2-40B4-BE49-F238E27FC236}">
                <a16:creationId xmlns:a16="http://schemas.microsoft.com/office/drawing/2014/main" id="{2029CB49-BEE6-46CE-863C-B7754EA5C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1148" y="2335113"/>
            <a:ext cx="301752" cy="301752"/>
          </a:xfrm>
          <a:prstGeom prst="rect">
            <a:avLst/>
          </a:prstGeom>
        </p:spPr>
      </p:pic>
      <p:sp>
        <p:nvSpPr>
          <p:cNvPr id="100" name="Complications button">
            <a:extLst>
              <a:ext uri="{FF2B5EF4-FFF2-40B4-BE49-F238E27FC236}">
                <a16:creationId xmlns:a16="http://schemas.microsoft.com/office/drawing/2014/main" id="{D14EA99D-82DD-409B-94DA-1B2866AB4010}"/>
              </a:ext>
            </a:extLst>
          </p:cNvPr>
          <p:cNvSpPr/>
          <p:nvPr/>
        </p:nvSpPr>
        <p:spPr>
          <a:xfrm>
            <a:off x="7369177" y="1875005"/>
            <a:ext cx="4125502" cy="71508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What complications is she at risk for? How would you manage them?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1" name="work-up pointer" descr="Cursor with solid fill">
            <a:extLst>
              <a:ext uri="{FF2B5EF4-FFF2-40B4-BE49-F238E27FC236}">
                <a16:creationId xmlns:a16="http://schemas.microsoft.com/office/drawing/2014/main" id="{566045F1-20EB-4A36-879C-53E7B58833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9343" y="2439189"/>
            <a:ext cx="301752" cy="301752"/>
          </a:xfrm>
          <a:prstGeom prst="rect">
            <a:avLst/>
          </a:prstGeom>
        </p:spPr>
      </p:pic>
      <p:pic>
        <p:nvPicPr>
          <p:cNvPr id="105" name="Picture 104" descr="Logo&#10;&#10;Description automatically generated">
            <a:extLst>
              <a:ext uri="{FF2B5EF4-FFF2-40B4-BE49-F238E27FC236}">
                <a16:creationId xmlns:a16="http://schemas.microsoft.com/office/drawing/2014/main" id="{B7691639-48D9-4C7E-A251-C3932C03F2C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42" t="8478" r="30521" b="20891"/>
          <a:stretch/>
        </p:blipFill>
        <p:spPr>
          <a:xfrm>
            <a:off x="6557430" y="3897880"/>
            <a:ext cx="212259" cy="339217"/>
          </a:xfrm>
          <a:prstGeom prst="rect">
            <a:avLst/>
          </a:prstGeom>
        </p:spPr>
      </p:pic>
      <p:pic>
        <p:nvPicPr>
          <p:cNvPr id="107" name="Graphic 106" descr="Snooze outline">
            <a:extLst>
              <a:ext uri="{FF2B5EF4-FFF2-40B4-BE49-F238E27FC236}">
                <a16:creationId xmlns:a16="http://schemas.microsoft.com/office/drawing/2014/main" id="{98BD3BAD-DBD0-4F39-B712-34F864E25299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7970" b="79116"/>
          <a:stretch/>
        </p:blipFill>
        <p:spPr>
          <a:xfrm>
            <a:off x="5784141" y="3007256"/>
            <a:ext cx="459810" cy="184553"/>
          </a:xfrm>
          <a:prstGeom prst="rect">
            <a:avLst/>
          </a:prstGeom>
        </p:spPr>
      </p:pic>
      <p:pic>
        <p:nvPicPr>
          <p:cNvPr id="108" name="Picture 107" descr="A picture containing text&#10;&#10;Description automatically generated">
            <a:extLst>
              <a:ext uri="{FF2B5EF4-FFF2-40B4-BE49-F238E27FC236}">
                <a16:creationId xmlns:a16="http://schemas.microsoft.com/office/drawing/2014/main" id="{0637F455-1191-47E8-A035-E67B843DF46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49" t="7187" r="58712" b="83649"/>
          <a:stretch/>
        </p:blipFill>
        <p:spPr>
          <a:xfrm>
            <a:off x="6731724" y="3115932"/>
            <a:ext cx="710326" cy="562879"/>
          </a:xfrm>
          <a:prstGeom prst="rect">
            <a:avLst/>
          </a:prstGeom>
        </p:spPr>
      </p:pic>
      <p:pic>
        <p:nvPicPr>
          <p:cNvPr id="110" name="Graphic 109" descr="Snooze outline">
            <a:extLst>
              <a:ext uri="{FF2B5EF4-FFF2-40B4-BE49-F238E27FC236}">
                <a16:creationId xmlns:a16="http://schemas.microsoft.com/office/drawing/2014/main" id="{E07F8CE0-EA13-4F72-8609-FF3859A022F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7970" b="79116"/>
          <a:stretch/>
        </p:blipFill>
        <p:spPr>
          <a:xfrm>
            <a:off x="6254065" y="3171728"/>
            <a:ext cx="459810" cy="184553"/>
          </a:xfrm>
          <a:prstGeom prst="rect">
            <a:avLst/>
          </a:prstGeom>
        </p:spPr>
      </p:pic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45D6CCFC-7DF0-468F-A0FD-D781C3733E46}"/>
              </a:ext>
            </a:extLst>
          </p:cNvPr>
          <p:cNvCxnSpPr>
            <a:cxnSpLocks/>
            <a:stCxn id="3" idx="3"/>
            <a:endCxn id="80" idx="1"/>
          </p:cNvCxnSpPr>
          <p:nvPr/>
        </p:nvCxnSpPr>
        <p:spPr>
          <a:xfrm flipV="1">
            <a:off x="7273555" y="2954138"/>
            <a:ext cx="1408679" cy="172053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F34B5187-91E6-42DA-B97E-B2C93E274B6F}"/>
              </a:ext>
            </a:extLst>
          </p:cNvPr>
          <p:cNvCxnSpPr>
            <a:cxnSpLocks/>
            <a:endCxn id="70" idx="1"/>
          </p:cNvCxnSpPr>
          <p:nvPr/>
        </p:nvCxnSpPr>
        <p:spPr>
          <a:xfrm flipV="1">
            <a:off x="7474740" y="5371717"/>
            <a:ext cx="1298140" cy="72374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5" name="Graphic 114" descr="Cursor with solid fill">
            <a:extLst>
              <a:ext uri="{FF2B5EF4-FFF2-40B4-BE49-F238E27FC236}">
                <a16:creationId xmlns:a16="http://schemas.microsoft.com/office/drawing/2014/main" id="{B1DCA62A-3B7F-49A0-934E-EB2502CAC9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0837" y="5451858"/>
            <a:ext cx="301752" cy="301752"/>
          </a:xfrm>
          <a:prstGeom prst="rect">
            <a:avLst/>
          </a:prstGeom>
        </p:spPr>
      </p:pic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B08D3159-2103-4903-AA3F-889A8E175E33}"/>
              </a:ext>
            </a:extLst>
          </p:cNvPr>
          <p:cNvCxnSpPr>
            <a:cxnSpLocks/>
          </p:cNvCxnSpPr>
          <p:nvPr/>
        </p:nvCxnSpPr>
        <p:spPr>
          <a:xfrm rot="10800000">
            <a:off x="5271530" y="3641439"/>
            <a:ext cx="1224706" cy="420046"/>
          </a:xfrm>
          <a:prstGeom prst="bentConnector3">
            <a:avLst>
              <a:gd name="adj1" fmla="val -605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EEF0923C-3B91-48C9-A5A0-FAB795887459}"/>
              </a:ext>
            </a:extLst>
          </p:cNvPr>
          <p:cNvCxnSpPr>
            <a:cxnSpLocks/>
            <a:stCxn id="108" idx="0"/>
          </p:cNvCxnSpPr>
          <p:nvPr/>
        </p:nvCxnSpPr>
        <p:spPr>
          <a:xfrm rot="16200000" flipV="1">
            <a:off x="6072553" y="2101598"/>
            <a:ext cx="227290" cy="1801378"/>
          </a:xfrm>
          <a:prstGeom prst="bentConnector2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bj 2">
            <a:hlinkClick r:id="rId14" action="ppaction://hlinksldjump"/>
            <a:extLst>
              <a:ext uri="{FF2B5EF4-FFF2-40B4-BE49-F238E27FC236}">
                <a16:creationId xmlns:a16="http://schemas.microsoft.com/office/drawing/2014/main" id="{54922E9B-1DFB-45EB-B0F1-0A54C00E2A9E}"/>
              </a:ext>
            </a:extLst>
          </p:cNvPr>
          <p:cNvSpPr/>
          <p:nvPr/>
        </p:nvSpPr>
        <p:spPr>
          <a:xfrm>
            <a:off x="465283" y="982561"/>
            <a:ext cx="1434353" cy="63541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Peri-menopause</a:t>
            </a:r>
          </a:p>
        </p:txBody>
      </p:sp>
      <p:pic>
        <p:nvPicPr>
          <p:cNvPr id="63" name="Graphic 62" descr="Cursor with solid fill">
            <a:extLst>
              <a:ext uri="{FF2B5EF4-FFF2-40B4-BE49-F238E27FC236}">
                <a16:creationId xmlns:a16="http://schemas.microsoft.com/office/drawing/2014/main" id="{98CA129A-FFE5-4106-8979-4FB2FC0C73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5231" y="1460512"/>
            <a:ext cx="301752" cy="301752"/>
          </a:xfrm>
          <a:prstGeom prst="rect">
            <a:avLst/>
          </a:prstGeom>
        </p:spPr>
      </p:pic>
      <p:sp>
        <p:nvSpPr>
          <p:cNvPr id="64" name="Obj 3">
            <a:hlinkClick r:id="rId15" action="ppaction://hlinksldjump"/>
            <a:extLst>
              <a:ext uri="{FF2B5EF4-FFF2-40B4-BE49-F238E27FC236}">
                <a16:creationId xmlns:a16="http://schemas.microsoft.com/office/drawing/2014/main" id="{2F023B9F-15AB-4144-A188-30DDEFD50172}"/>
              </a:ext>
            </a:extLst>
          </p:cNvPr>
          <p:cNvSpPr/>
          <p:nvPr/>
        </p:nvSpPr>
        <p:spPr>
          <a:xfrm>
            <a:off x="465283" y="1803968"/>
            <a:ext cx="1434353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Menopause</a:t>
            </a:r>
          </a:p>
        </p:txBody>
      </p:sp>
      <p:sp>
        <p:nvSpPr>
          <p:cNvPr id="67" name="Cases">
            <a:hlinkClick r:id="rId16" action="ppaction://hlinksldjump"/>
            <a:extLst>
              <a:ext uri="{FF2B5EF4-FFF2-40B4-BE49-F238E27FC236}">
                <a16:creationId xmlns:a16="http://schemas.microsoft.com/office/drawing/2014/main" id="{A686F603-654C-4D9D-A186-052EE3A3A62B}"/>
              </a:ext>
            </a:extLst>
          </p:cNvPr>
          <p:cNvSpPr/>
          <p:nvPr/>
        </p:nvSpPr>
        <p:spPr>
          <a:xfrm>
            <a:off x="162276" y="3184013"/>
            <a:ext cx="1737360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68" name="Graphic 67" descr="Cursor with solid fill">
            <a:extLst>
              <a:ext uri="{FF2B5EF4-FFF2-40B4-BE49-F238E27FC236}">
                <a16:creationId xmlns:a16="http://schemas.microsoft.com/office/drawing/2014/main" id="{2093A24E-97FC-4B7B-824B-31109C88C9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5231" y="3419927"/>
            <a:ext cx="301752" cy="301752"/>
          </a:xfrm>
          <a:prstGeom prst="rect">
            <a:avLst/>
          </a:prstGeom>
        </p:spPr>
      </p:pic>
      <p:sp>
        <p:nvSpPr>
          <p:cNvPr id="69" name="Obj 2">
            <a:hlinkClick r:id="rId17" action="ppaction://hlinksldjump"/>
            <a:extLst>
              <a:ext uri="{FF2B5EF4-FFF2-40B4-BE49-F238E27FC236}">
                <a16:creationId xmlns:a16="http://schemas.microsoft.com/office/drawing/2014/main" id="{8132EE95-CFFB-46B5-A9F5-46BB8996B8C7}"/>
              </a:ext>
            </a:extLst>
          </p:cNvPr>
          <p:cNvSpPr/>
          <p:nvPr/>
        </p:nvSpPr>
        <p:spPr>
          <a:xfrm>
            <a:off x="162276" y="2357939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Hormone Therapy (MHT)</a:t>
            </a:r>
          </a:p>
        </p:txBody>
      </p:sp>
      <p:sp>
        <p:nvSpPr>
          <p:cNvPr id="71" name="Obj 2">
            <a:hlinkClick r:id="rId18" action="ppaction://hlinksldjump"/>
            <a:extLst>
              <a:ext uri="{FF2B5EF4-FFF2-40B4-BE49-F238E27FC236}">
                <a16:creationId xmlns:a16="http://schemas.microsoft.com/office/drawing/2014/main" id="{0D02616D-F9EC-44BA-B995-DC061A368BD3}"/>
              </a:ext>
            </a:extLst>
          </p:cNvPr>
          <p:cNvSpPr/>
          <p:nvPr/>
        </p:nvSpPr>
        <p:spPr>
          <a:xfrm>
            <a:off x="162276" y="156489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Definitions &amp; Diagnoses</a:t>
            </a:r>
          </a:p>
        </p:txBody>
      </p:sp>
      <p:pic>
        <p:nvPicPr>
          <p:cNvPr id="79" name="Graphic 78" descr="Cursor with solid fill">
            <a:extLst>
              <a:ext uri="{FF2B5EF4-FFF2-40B4-BE49-F238E27FC236}">
                <a16:creationId xmlns:a16="http://schemas.microsoft.com/office/drawing/2014/main" id="{E104FF43-00D5-4A73-9030-03FC77FFF1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5231" y="2855222"/>
            <a:ext cx="301752" cy="301752"/>
          </a:xfrm>
          <a:prstGeom prst="rect">
            <a:avLst/>
          </a:prstGeom>
        </p:spPr>
      </p:pic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2B4B292E-6422-41A5-99DA-A11AE937BA38}"/>
              </a:ext>
            </a:extLst>
          </p:cNvPr>
          <p:cNvCxnSpPr>
            <a:cxnSpLocks/>
            <a:endCxn id="60" idx="1"/>
          </p:cNvCxnSpPr>
          <p:nvPr/>
        </p:nvCxnSpPr>
        <p:spPr>
          <a:xfrm rot="16200000" flipH="1">
            <a:off x="114589" y="949574"/>
            <a:ext cx="476735" cy="22465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A718A67F-D2DB-45B1-B967-0DC6ACC8C02E}"/>
              </a:ext>
            </a:extLst>
          </p:cNvPr>
          <p:cNvCxnSpPr>
            <a:cxnSpLocks/>
            <a:endCxn id="64" idx="1"/>
          </p:cNvCxnSpPr>
          <p:nvPr/>
        </p:nvCxnSpPr>
        <p:spPr>
          <a:xfrm rot="16200000" flipH="1">
            <a:off x="1179" y="1523854"/>
            <a:ext cx="703554" cy="22465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68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</p:childTnLst>
        </p:cTn>
      </p:par>
    </p:tnLst>
    <p:bldLst>
      <p:bldP spid="138" grpId="0" animBg="1"/>
      <p:bldP spid="140" grpId="0" animBg="1"/>
      <p:bldP spid="137" grpId="0" animBg="1"/>
      <p:bldP spid="134" grpId="0" animBg="1"/>
      <p:bldP spid="102" grpId="0" animBg="1"/>
      <p:bldP spid="55" grpId="0" animBg="1"/>
      <p:bldP spid="55" grpId="1" animBg="1"/>
      <p:bldP spid="55" grpId="2" animBg="1"/>
      <p:bldP spid="92" grpId="0" animBg="1"/>
      <p:bldP spid="109" grpId="0" animBg="1"/>
      <p:bldP spid="109" grpId="1" animBg="1"/>
      <p:bldP spid="109" grpId="2" animBg="1"/>
      <p:bldP spid="47" grpId="0"/>
      <p:bldP spid="49" grpId="0" animBg="1"/>
      <p:bldP spid="65" grpId="0"/>
      <p:bldP spid="65" grpId="1"/>
      <p:bldP spid="70" grpId="0" animBg="1"/>
      <p:bldP spid="70" grpId="1" animBg="1"/>
      <p:bldP spid="74" grpId="0"/>
      <p:bldP spid="80" grpId="0" animBg="1"/>
      <p:bldP spid="80" grpId="1" animBg="1"/>
      <p:bldP spid="85" grpId="0"/>
      <p:bldP spid="95" grpId="0" animBg="1"/>
      <p:bldP spid="96" grpId="0" animBg="1"/>
      <p:bldP spid="96" grpId="1" animBg="1"/>
      <p:bldP spid="100" grpId="0" animBg="1"/>
      <p:bldP spid="10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A86A4B-820C-45AD-85E1-3DC19BB86033}"/>
              </a:ext>
            </a:extLst>
          </p:cNvPr>
          <p:cNvCxnSpPr/>
          <p:nvPr/>
        </p:nvCxnSpPr>
        <p:spPr>
          <a:xfrm>
            <a:off x="2152703" y="1969827"/>
            <a:ext cx="9818547" cy="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1" name="vaginal estro button">
            <a:extLst>
              <a:ext uri="{FF2B5EF4-FFF2-40B4-BE49-F238E27FC236}">
                <a16:creationId xmlns:a16="http://schemas.microsoft.com/office/drawing/2014/main" id="{429842B9-EBC5-4030-AC16-CFF788C45B06}"/>
              </a:ext>
            </a:extLst>
          </p:cNvPr>
          <p:cNvSpPr/>
          <p:nvPr/>
        </p:nvSpPr>
        <p:spPr>
          <a:xfrm>
            <a:off x="6283819" y="2660223"/>
            <a:ext cx="1463040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Vaginal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2" name="oralbutton">
            <a:extLst>
              <a:ext uri="{FF2B5EF4-FFF2-40B4-BE49-F238E27FC236}">
                <a16:creationId xmlns:a16="http://schemas.microsoft.com/office/drawing/2014/main" id="{93BBCDDA-F720-413B-B5B5-46229179DBC5}"/>
              </a:ext>
            </a:extLst>
          </p:cNvPr>
          <p:cNvSpPr/>
          <p:nvPr/>
        </p:nvSpPr>
        <p:spPr>
          <a:xfrm>
            <a:off x="2450351" y="2660223"/>
            <a:ext cx="1463040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Oral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3" name="trasndermalbutton">
            <a:extLst>
              <a:ext uri="{FF2B5EF4-FFF2-40B4-BE49-F238E27FC236}">
                <a16:creationId xmlns:a16="http://schemas.microsoft.com/office/drawing/2014/main" id="{31B04F93-2CBA-482D-8390-4062CFB36813}"/>
              </a:ext>
            </a:extLst>
          </p:cNvPr>
          <p:cNvSpPr/>
          <p:nvPr/>
        </p:nvSpPr>
        <p:spPr>
          <a:xfrm>
            <a:off x="4212214" y="2660223"/>
            <a:ext cx="1463040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Transdermal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9" name="progesterone button">
            <a:extLst>
              <a:ext uri="{FF2B5EF4-FFF2-40B4-BE49-F238E27FC236}">
                <a16:creationId xmlns:a16="http://schemas.microsoft.com/office/drawing/2014/main" id="{8E33CA42-C42D-49FE-89AF-3F0BC582A999}"/>
              </a:ext>
            </a:extLst>
          </p:cNvPr>
          <p:cNvSpPr/>
          <p:nvPr/>
        </p:nvSpPr>
        <p:spPr>
          <a:xfrm>
            <a:off x="9416357" y="2112378"/>
            <a:ext cx="2020824" cy="408623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Progesterone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8" name="estrogen button">
            <a:extLst>
              <a:ext uri="{FF2B5EF4-FFF2-40B4-BE49-F238E27FC236}">
                <a16:creationId xmlns:a16="http://schemas.microsoft.com/office/drawing/2014/main" id="{28F4C818-0D10-4739-B7A2-97EF437F7EB4}"/>
              </a:ext>
            </a:extLst>
          </p:cNvPr>
          <p:cNvSpPr/>
          <p:nvPr/>
        </p:nvSpPr>
        <p:spPr>
          <a:xfrm>
            <a:off x="3927800" y="2112378"/>
            <a:ext cx="1881924" cy="408623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Estrogen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4" name="candidate button">
            <a:extLst>
              <a:ext uri="{FF2B5EF4-FFF2-40B4-BE49-F238E27FC236}">
                <a16:creationId xmlns:a16="http://schemas.microsoft.com/office/drawing/2014/main" id="{D9F4C475-95EC-4545-9624-F5A071375A00}"/>
              </a:ext>
            </a:extLst>
          </p:cNvPr>
          <p:cNvSpPr/>
          <p:nvPr/>
        </p:nvSpPr>
        <p:spPr>
          <a:xfrm>
            <a:off x="3599586" y="651892"/>
            <a:ext cx="2232965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Who is a candidate?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9" name="candidate text">
            <a:extLst>
              <a:ext uri="{FF2B5EF4-FFF2-40B4-BE49-F238E27FC236}">
                <a16:creationId xmlns:a16="http://schemas.microsoft.com/office/drawing/2014/main" id="{7404D929-23BE-4703-980B-2DB7C5445AC1}"/>
              </a:ext>
            </a:extLst>
          </p:cNvPr>
          <p:cNvSpPr txBox="1"/>
          <p:nvPr/>
        </p:nvSpPr>
        <p:spPr>
          <a:xfrm>
            <a:off x="2398683" y="1111425"/>
            <a:ext cx="5077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3038" indent="-173038">
              <a:buFont typeface="+mj-lt"/>
              <a:buAutoNum type="arabicPeriod"/>
            </a:pPr>
            <a:r>
              <a:rPr lang="en-US" dirty="0"/>
              <a:t> Moderate to severe hot flashes</a:t>
            </a:r>
          </a:p>
          <a:p>
            <a:pPr marL="173038" indent="-173038">
              <a:buFont typeface="+mj-lt"/>
              <a:buAutoNum type="arabicPeriod"/>
            </a:pPr>
            <a:r>
              <a:rPr lang="en-US" dirty="0"/>
              <a:t> Within 10 y of menopause OR &lt; 60 y of age</a:t>
            </a:r>
            <a:endParaRPr lang="en-US" b="1" dirty="0"/>
          </a:p>
        </p:txBody>
      </p:sp>
      <p:pic>
        <p:nvPicPr>
          <p:cNvPr id="35" name="Picture 34" descr="A picture containing silhouette&#10;&#10;Description automatically generated" hidden="1">
            <a:extLst>
              <a:ext uri="{FF2B5EF4-FFF2-40B4-BE49-F238E27FC236}">
                <a16:creationId xmlns:a16="http://schemas.microsoft.com/office/drawing/2014/main" id="{7E61F36B-0BE9-40C8-AAF9-5773C44067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46" t="19821" r="31676" b="4198"/>
          <a:stretch/>
        </p:blipFill>
        <p:spPr>
          <a:xfrm>
            <a:off x="5488262" y="1906346"/>
            <a:ext cx="2960823" cy="5680651"/>
          </a:xfrm>
          <a:prstGeom prst="rect">
            <a:avLst/>
          </a:prstGeom>
        </p:spPr>
      </p:pic>
      <p:pic>
        <p:nvPicPr>
          <p:cNvPr id="46" name="Picture 45" hidden="1">
            <a:extLst>
              <a:ext uri="{FF2B5EF4-FFF2-40B4-BE49-F238E27FC236}">
                <a16:creationId xmlns:a16="http://schemas.microsoft.com/office/drawing/2014/main" id="{BD307324-63C4-455F-8D36-9BEFEB4187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9" r="23701"/>
          <a:stretch/>
        </p:blipFill>
        <p:spPr>
          <a:xfrm>
            <a:off x="6938792" y="3139148"/>
            <a:ext cx="427579" cy="553251"/>
          </a:xfrm>
          <a:prstGeom prst="rect">
            <a:avLst/>
          </a:prstGeom>
        </p:spPr>
      </p:pic>
      <p:pic>
        <p:nvPicPr>
          <p:cNvPr id="47" name="Picture 46" descr="A picture containing spectacles&#10;&#10;Description automatically generated" hidden="1">
            <a:extLst>
              <a:ext uri="{FF2B5EF4-FFF2-40B4-BE49-F238E27FC236}">
                <a16:creationId xmlns:a16="http://schemas.microsoft.com/office/drawing/2014/main" id="{72B490F0-9EEF-410F-A7E3-BF4BC41CBBE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" t="552" r="1359" b="3173"/>
          <a:stretch/>
        </p:blipFill>
        <p:spPr>
          <a:xfrm flipH="1">
            <a:off x="6483987" y="4282126"/>
            <a:ext cx="954799" cy="667331"/>
          </a:xfrm>
          <a:prstGeom prst="rect">
            <a:avLst/>
          </a:prstGeom>
        </p:spPr>
      </p:pic>
      <p:pic>
        <p:nvPicPr>
          <p:cNvPr id="51" name="Picture 50" hidden="1">
            <a:extLst>
              <a:ext uri="{FF2B5EF4-FFF2-40B4-BE49-F238E27FC236}">
                <a16:creationId xmlns:a16="http://schemas.microsoft.com/office/drawing/2014/main" id="{31718189-72E7-4551-90F9-EC38057D410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98" r="39264"/>
          <a:stretch/>
        </p:blipFill>
        <p:spPr>
          <a:xfrm rot="21136541" flipH="1">
            <a:off x="7124621" y="4767370"/>
            <a:ext cx="390453" cy="1221529"/>
          </a:xfrm>
          <a:prstGeom prst="rect">
            <a:avLst/>
          </a:prstGeom>
        </p:spPr>
      </p:pic>
      <p:sp>
        <p:nvSpPr>
          <p:cNvPr id="78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D07B24EF-9474-46BB-89B2-E9F1E076541F}"/>
              </a:ext>
            </a:extLst>
          </p:cNvPr>
          <p:cNvSpPr/>
          <p:nvPr/>
        </p:nvSpPr>
        <p:spPr>
          <a:xfrm>
            <a:off x="513165" y="1794833"/>
            <a:ext cx="1380424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Risk/Benefit</a:t>
            </a:r>
          </a:p>
        </p:txBody>
      </p:sp>
      <p:pic>
        <p:nvPicPr>
          <p:cNvPr id="79" name="Graphic 78" descr="Cursor with solid fill">
            <a:extLst>
              <a:ext uri="{FF2B5EF4-FFF2-40B4-BE49-F238E27FC236}">
                <a16:creationId xmlns:a16="http://schemas.microsoft.com/office/drawing/2014/main" id="{BF061FE2-BBF4-4E23-97B1-807E52992F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44683" y="2022233"/>
            <a:ext cx="301752" cy="301752"/>
          </a:xfrm>
          <a:prstGeom prst="rect">
            <a:avLst/>
          </a:prstGeom>
        </p:spPr>
      </p:pic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18D034C3-FBD1-41F6-8981-1FFA475C2ED5}"/>
              </a:ext>
            </a:extLst>
          </p:cNvPr>
          <p:cNvCxnSpPr>
            <a:cxnSpLocks/>
            <a:endCxn id="78" idx="1"/>
          </p:cNvCxnSpPr>
          <p:nvPr/>
        </p:nvCxnSpPr>
        <p:spPr>
          <a:xfrm rot="16200000" flipH="1">
            <a:off x="204420" y="1670078"/>
            <a:ext cx="404440" cy="21305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candidate button">
            <a:extLst>
              <a:ext uri="{FF2B5EF4-FFF2-40B4-BE49-F238E27FC236}">
                <a16:creationId xmlns:a16="http://schemas.microsoft.com/office/drawing/2014/main" id="{BF6CE821-012F-4D03-88B1-0C0BF9D3560D}"/>
              </a:ext>
            </a:extLst>
          </p:cNvPr>
          <p:cNvSpPr/>
          <p:nvPr/>
        </p:nvSpPr>
        <p:spPr>
          <a:xfrm>
            <a:off x="3601697" y="651892"/>
            <a:ext cx="2232965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Who is a candidate?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5" name="candidate pointer" descr="Cursor with solid fill">
            <a:extLst>
              <a:ext uri="{FF2B5EF4-FFF2-40B4-BE49-F238E27FC236}">
                <a16:creationId xmlns:a16="http://schemas.microsoft.com/office/drawing/2014/main" id="{2E9AC576-2174-40FE-A1DE-BD9E1D299B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9326" y="930291"/>
            <a:ext cx="301752" cy="301752"/>
          </a:xfrm>
          <a:prstGeom prst="rect">
            <a:avLst/>
          </a:prstGeom>
        </p:spPr>
      </p:pic>
      <p:sp>
        <p:nvSpPr>
          <p:cNvPr id="98" name="Dx text">
            <a:extLst>
              <a:ext uri="{FF2B5EF4-FFF2-40B4-BE49-F238E27FC236}">
                <a16:creationId xmlns:a16="http://schemas.microsoft.com/office/drawing/2014/main" id="{09C66971-ADD3-455F-9105-CFDACFCCEDD5}"/>
              </a:ext>
            </a:extLst>
          </p:cNvPr>
          <p:cNvSpPr txBox="1"/>
          <p:nvPr/>
        </p:nvSpPr>
        <p:spPr>
          <a:xfrm>
            <a:off x="4142845" y="63368"/>
            <a:ext cx="583826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Menopausal Hormone Therapy (MHT)</a:t>
            </a:r>
          </a:p>
        </p:txBody>
      </p:sp>
      <p:sp>
        <p:nvSpPr>
          <p:cNvPr id="100" name="Cases">
            <a:hlinkClick r:id="rId12" action="ppaction://hlinksldjump"/>
            <a:extLst>
              <a:ext uri="{FF2B5EF4-FFF2-40B4-BE49-F238E27FC236}">
                <a16:creationId xmlns:a16="http://schemas.microsoft.com/office/drawing/2014/main" id="{7F7F7D8A-9CDA-44A2-BBAC-DD54B76EA083}"/>
              </a:ext>
            </a:extLst>
          </p:cNvPr>
          <p:cNvSpPr/>
          <p:nvPr/>
        </p:nvSpPr>
        <p:spPr>
          <a:xfrm>
            <a:off x="156230" y="2341905"/>
            <a:ext cx="1729769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101" name="Graphic 100" descr="Cursor with solid fill">
            <a:extLst>
              <a:ext uri="{FF2B5EF4-FFF2-40B4-BE49-F238E27FC236}">
                <a16:creationId xmlns:a16="http://schemas.microsoft.com/office/drawing/2014/main" id="{CAF9D638-4652-48DC-B65F-0E46FEB303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44683" y="2577377"/>
            <a:ext cx="301752" cy="301752"/>
          </a:xfrm>
          <a:prstGeom prst="rect">
            <a:avLst/>
          </a:prstGeom>
        </p:spPr>
      </p:pic>
      <p:sp>
        <p:nvSpPr>
          <p:cNvPr id="102" name="Obj 2">
            <a:hlinkClick r:id="rId13" action="ppaction://hlinksldjump"/>
            <a:extLst>
              <a:ext uri="{FF2B5EF4-FFF2-40B4-BE49-F238E27FC236}">
                <a16:creationId xmlns:a16="http://schemas.microsoft.com/office/drawing/2014/main" id="{FCB45E8B-8DAB-4D7D-A8C3-E85CD6FEE29A}"/>
              </a:ext>
            </a:extLst>
          </p:cNvPr>
          <p:cNvSpPr/>
          <p:nvPr/>
        </p:nvSpPr>
        <p:spPr>
          <a:xfrm>
            <a:off x="156231" y="975661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Hormone Therapy (MHT)</a:t>
            </a:r>
          </a:p>
        </p:txBody>
      </p:sp>
      <p:sp>
        <p:nvSpPr>
          <p:cNvPr id="103" name="Obj 2">
            <a:hlinkClick r:id="rId14" action="ppaction://hlinksldjump"/>
            <a:extLst>
              <a:ext uri="{FF2B5EF4-FFF2-40B4-BE49-F238E27FC236}">
                <a16:creationId xmlns:a16="http://schemas.microsoft.com/office/drawing/2014/main" id="{D4DF6A1B-B5BE-43BA-AA1C-AABA445DF8F9}"/>
              </a:ext>
            </a:extLst>
          </p:cNvPr>
          <p:cNvSpPr/>
          <p:nvPr/>
        </p:nvSpPr>
        <p:spPr>
          <a:xfrm>
            <a:off x="156231" y="156489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Definitions &amp; Diagnoses</a:t>
            </a:r>
          </a:p>
        </p:txBody>
      </p:sp>
      <p:sp>
        <p:nvSpPr>
          <p:cNvPr id="142" name="estrogen button">
            <a:extLst>
              <a:ext uri="{FF2B5EF4-FFF2-40B4-BE49-F238E27FC236}">
                <a16:creationId xmlns:a16="http://schemas.microsoft.com/office/drawing/2014/main" id="{982F69FD-48C1-4983-B3FC-6181F3F5ECFE}"/>
              </a:ext>
            </a:extLst>
          </p:cNvPr>
          <p:cNvSpPr/>
          <p:nvPr/>
        </p:nvSpPr>
        <p:spPr>
          <a:xfrm>
            <a:off x="3927800" y="2112378"/>
            <a:ext cx="1881924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Estrogen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43" name="estrogen pointer" descr="Cursor with solid fill">
            <a:extLst>
              <a:ext uri="{FF2B5EF4-FFF2-40B4-BE49-F238E27FC236}">
                <a16:creationId xmlns:a16="http://schemas.microsoft.com/office/drawing/2014/main" id="{DD5C167A-7DD5-4E15-BDE8-AE425CADC1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4695" y="2399064"/>
            <a:ext cx="301752" cy="301752"/>
          </a:xfrm>
          <a:prstGeom prst="rect">
            <a:avLst/>
          </a:prstGeom>
        </p:spPr>
      </p:pic>
      <p:sp>
        <p:nvSpPr>
          <p:cNvPr id="145" name="vaginal estro button">
            <a:extLst>
              <a:ext uri="{FF2B5EF4-FFF2-40B4-BE49-F238E27FC236}">
                <a16:creationId xmlns:a16="http://schemas.microsoft.com/office/drawing/2014/main" id="{7D10D9AF-367C-43F7-A5A2-B3B82A9DE425}"/>
              </a:ext>
            </a:extLst>
          </p:cNvPr>
          <p:cNvSpPr/>
          <p:nvPr/>
        </p:nvSpPr>
        <p:spPr>
          <a:xfrm>
            <a:off x="6282504" y="2660223"/>
            <a:ext cx="1463040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Vaginal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46" name="vaginal pointer" descr="Cursor with solid fill">
            <a:extLst>
              <a:ext uri="{FF2B5EF4-FFF2-40B4-BE49-F238E27FC236}">
                <a16:creationId xmlns:a16="http://schemas.microsoft.com/office/drawing/2014/main" id="{FC4DF94D-5FE8-4C7C-A86C-7C703FD0C5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14654" y="2940884"/>
            <a:ext cx="301752" cy="301752"/>
          </a:xfrm>
          <a:prstGeom prst="rect">
            <a:avLst/>
          </a:prstGeom>
        </p:spPr>
      </p:pic>
      <p:sp>
        <p:nvSpPr>
          <p:cNvPr id="148" name="progesterone button">
            <a:extLst>
              <a:ext uri="{FF2B5EF4-FFF2-40B4-BE49-F238E27FC236}">
                <a16:creationId xmlns:a16="http://schemas.microsoft.com/office/drawing/2014/main" id="{0790A1EC-7B6C-41A9-8AE8-99D503CBBC2D}"/>
              </a:ext>
            </a:extLst>
          </p:cNvPr>
          <p:cNvSpPr/>
          <p:nvPr/>
        </p:nvSpPr>
        <p:spPr>
          <a:xfrm>
            <a:off x="9416357" y="2112378"/>
            <a:ext cx="2020824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Progesterone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50" name="progesterone pointer" descr="Cursor with solid fill">
            <a:extLst>
              <a:ext uri="{FF2B5EF4-FFF2-40B4-BE49-F238E27FC236}">
                <a16:creationId xmlns:a16="http://schemas.microsoft.com/office/drawing/2014/main" id="{C6DEE3B5-1F00-46BF-8BEC-4A5D48A4FB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83649" y="2399064"/>
            <a:ext cx="301752" cy="301752"/>
          </a:xfrm>
          <a:prstGeom prst="rect">
            <a:avLst/>
          </a:prstGeom>
        </p:spPr>
      </p:pic>
      <p:sp>
        <p:nvSpPr>
          <p:cNvPr id="162" name="What meds are used button">
            <a:extLst>
              <a:ext uri="{FF2B5EF4-FFF2-40B4-BE49-F238E27FC236}">
                <a16:creationId xmlns:a16="http://schemas.microsoft.com/office/drawing/2014/main" id="{10A46706-DA75-40CA-BA06-5E6E8BDC12E3}"/>
              </a:ext>
            </a:extLst>
          </p:cNvPr>
          <p:cNvSpPr/>
          <p:nvPr/>
        </p:nvSpPr>
        <p:spPr>
          <a:xfrm>
            <a:off x="5514021" y="1842591"/>
            <a:ext cx="2960823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What is used for MHT?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3" name="candidate pointer" descr="Cursor with solid fill">
            <a:extLst>
              <a:ext uri="{FF2B5EF4-FFF2-40B4-BE49-F238E27FC236}">
                <a16:creationId xmlns:a16="http://schemas.microsoft.com/office/drawing/2014/main" id="{D9078A50-4241-4759-8F01-CF8325998C8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39507" y="2114765"/>
            <a:ext cx="301752" cy="301752"/>
          </a:xfrm>
          <a:prstGeom prst="rect">
            <a:avLst/>
          </a:prstGeom>
        </p:spPr>
      </p:pic>
      <p:sp>
        <p:nvSpPr>
          <p:cNvPr id="166" name="oralbutton">
            <a:extLst>
              <a:ext uri="{FF2B5EF4-FFF2-40B4-BE49-F238E27FC236}">
                <a16:creationId xmlns:a16="http://schemas.microsoft.com/office/drawing/2014/main" id="{F4BF9353-FDEE-4E3A-B73E-4312968A2DD2}"/>
              </a:ext>
            </a:extLst>
          </p:cNvPr>
          <p:cNvSpPr/>
          <p:nvPr/>
        </p:nvSpPr>
        <p:spPr>
          <a:xfrm>
            <a:off x="2449036" y="2660223"/>
            <a:ext cx="1463040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Oral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7" name="vaginal pointer" descr="Cursor with solid fill">
            <a:extLst>
              <a:ext uri="{FF2B5EF4-FFF2-40B4-BE49-F238E27FC236}">
                <a16:creationId xmlns:a16="http://schemas.microsoft.com/office/drawing/2014/main" id="{FD4865BF-E057-4698-8A74-A109047E99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61200" y="2940884"/>
            <a:ext cx="301752" cy="301752"/>
          </a:xfrm>
          <a:prstGeom prst="rect">
            <a:avLst/>
          </a:prstGeom>
        </p:spPr>
      </p:pic>
      <p:sp>
        <p:nvSpPr>
          <p:cNvPr id="169" name="trasndermalbutton">
            <a:extLst>
              <a:ext uri="{FF2B5EF4-FFF2-40B4-BE49-F238E27FC236}">
                <a16:creationId xmlns:a16="http://schemas.microsoft.com/office/drawing/2014/main" id="{1FC0A27D-2328-4211-A986-5FFE1E3E555D}"/>
              </a:ext>
            </a:extLst>
          </p:cNvPr>
          <p:cNvSpPr/>
          <p:nvPr/>
        </p:nvSpPr>
        <p:spPr>
          <a:xfrm>
            <a:off x="4210899" y="2660223"/>
            <a:ext cx="1463040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Transdermal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70" name="vaginal pointer" descr="Cursor with solid fill">
            <a:extLst>
              <a:ext uri="{FF2B5EF4-FFF2-40B4-BE49-F238E27FC236}">
                <a16:creationId xmlns:a16="http://schemas.microsoft.com/office/drawing/2014/main" id="{3AB6A8A6-FD40-47C4-B200-2EA2206A0F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049" y="2940884"/>
            <a:ext cx="301752" cy="301752"/>
          </a:xfrm>
          <a:prstGeom prst="rect">
            <a:avLst/>
          </a:prstGeom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C2B43449-D533-4FAE-99D1-7467CA4535C6}"/>
              </a:ext>
            </a:extLst>
          </p:cNvPr>
          <p:cNvSpPr txBox="1"/>
          <p:nvPr/>
        </p:nvSpPr>
        <p:spPr>
          <a:xfrm>
            <a:off x="8978862" y="2744371"/>
            <a:ext cx="3213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3038" indent="-173038">
              <a:buFont typeface="Arial" panose="020B0604020202020204" pitchFamily="34" charset="0"/>
              <a:buChar char="•"/>
            </a:pPr>
            <a:r>
              <a:rPr lang="en-US" dirty="0"/>
              <a:t>For all patients with an intact uterus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6703DEEF-1054-4F35-9AA3-C6A762DFB005}"/>
              </a:ext>
            </a:extLst>
          </p:cNvPr>
          <p:cNvSpPr txBox="1"/>
          <p:nvPr/>
        </p:nvSpPr>
        <p:spPr>
          <a:xfrm>
            <a:off x="7325002" y="2109797"/>
            <a:ext cx="688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±</a:t>
            </a:r>
          </a:p>
        </p:txBody>
      </p:sp>
      <p:sp>
        <p:nvSpPr>
          <p:cNvPr id="122" name="Therapy button">
            <a:extLst>
              <a:ext uri="{FF2B5EF4-FFF2-40B4-BE49-F238E27FC236}">
                <a16:creationId xmlns:a16="http://schemas.microsoft.com/office/drawing/2014/main" id="{2CEA17E1-F50F-474A-879A-0ECD9A2A8793}"/>
              </a:ext>
            </a:extLst>
          </p:cNvPr>
          <p:cNvSpPr/>
          <p:nvPr/>
        </p:nvSpPr>
        <p:spPr>
          <a:xfrm>
            <a:off x="8862516" y="651892"/>
            <a:ext cx="2232965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Duration of therapy?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3" name="Duration of therapy?">
            <a:extLst>
              <a:ext uri="{FF2B5EF4-FFF2-40B4-BE49-F238E27FC236}">
                <a16:creationId xmlns:a16="http://schemas.microsoft.com/office/drawing/2014/main" id="{3C0F28EB-2487-41F9-B742-70F7B58C42E3}"/>
              </a:ext>
            </a:extLst>
          </p:cNvPr>
          <p:cNvSpPr/>
          <p:nvPr/>
        </p:nvSpPr>
        <p:spPr>
          <a:xfrm>
            <a:off x="8864627" y="651892"/>
            <a:ext cx="2232965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Duration of therapy?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4" name="candidate pointer" descr="Cursor with solid fill">
            <a:extLst>
              <a:ext uri="{FF2B5EF4-FFF2-40B4-BE49-F238E27FC236}">
                <a16:creationId xmlns:a16="http://schemas.microsoft.com/office/drawing/2014/main" id="{5BDB0B6F-C94D-415D-9170-6825A4BE4D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962256" y="930291"/>
            <a:ext cx="301752" cy="301752"/>
          </a:xfrm>
          <a:prstGeom prst="rect">
            <a:avLst/>
          </a:prstGeom>
        </p:spPr>
      </p:pic>
      <p:sp>
        <p:nvSpPr>
          <p:cNvPr id="125" name="candidate text">
            <a:extLst>
              <a:ext uri="{FF2B5EF4-FFF2-40B4-BE49-F238E27FC236}">
                <a16:creationId xmlns:a16="http://schemas.microsoft.com/office/drawing/2014/main" id="{F5F97390-1A3F-4DC6-8717-D9F40D372A98}"/>
              </a:ext>
            </a:extLst>
          </p:cNvPr>
          <p:cNvSpPr txBox="1"/>
          <p:nvPr/>
        </p:nvSpPr>
        <p:spPr>
          <a:xfrm>
            <a:off x="8356600" y="1098558"/>
            <a:ext cx="31545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5-10 y</a:t>
            </a:r>
          </a:p>
          <a:p>
            <a:pPr algn="ctr"/>
            <a:r>
              <a:rPr lang="en-US" dirty="0"/>
              <a:t>Re-evaluate risk/benefit yearly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2C5638-CB0A-4D41-84D2-F30E18D81120}"/>
              </a:ext>
            </a:extLst>
          </p:cNvPr>
          <p:cNvSpPr txBox="1"/>
          <p:nvPr/>
        </p:nvSpPr>
        <p:spPr>
          <a:xfrm>
            <a:off x="5960125" y="3087735"/>
            <a:ext cx="1050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Fem-ring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53CB5D1-A886-46AD-941B-674A8A30DED4}"/>
              </a:ext>
            </a:extLst>
          </p:cNvPr>
          <p:cNvSpPr txBox="1"/>
          <p:nvPr/>
        </p:nvSpPr>
        <p:spPr>
          <a:xfrm>
            <a:off x="7081153" y="3087735"/>
            <a:ext cx="11694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Low-dose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135488B-2EF0-4258-8724-457B2B2BF920}"/>
              </a:ext>
            </a:extLst>
          </p:cNvPr>
          <p:cNvGrpSpPr/>
          <p:nvPr/>
        </p:nvGrpSpPr>
        <p:grpSpPr>
          <a:xfrm>
            <a:off x="132366" y="2660223"/>
            <a:ext cx="7979145" cy="4145145"/>
            <a:chOff x="132366" y="2660223"/>
            <a:chExt cx="7979145" cy="41451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26328E-8B39-4D85-B940-744067A456C7}"/>
                </a:ext>
              </a:extLst>
            </p:cNvPr>
            <p:cNvSpPr txBox="1"/>
            <p:nvPr/>
          </p:nvSpPr>
          <p:spPr>
            <a:xfrm>
              <a:off x="132366" y="3517704"/>
              <a:ext cx="1998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VTE/thrombophilia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843FE073-A133-44E1-84A6-86A206DC26B0}"/>
                </a:ext>
              </a:extLst>
            </p:cNvPr>
            <p:cNvSpPr txBox="1"/>
            <p:nvPr/>
          </p:nvSpPr>
          <p:spPr>
            <a:xfrm>
              <a:off x="132366" y="3953418"/>
              <a:ext cx="19984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High ASCVD</a:t>
              </a:r>
            </a:p>
            <a:p>
              <a:r>
                <a:rPr lang="en-US" dirty="0"/>
                <a:t>Known CHD/ CVA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512B57C-9D16-43CE-84A0-96B56FB5807C}"/>
                </a:ext>
              </a:extLst>
            </p:cNvPr>
            <p:cNvSpPr txBox="1"/>
            <p:nvPr/>
          </p:nvSpPr>
          <p:spPr>
            <a:xfrm>
              <a:off x="132366" y="4961991"/>
              <a:ext cx="1998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Breast cancer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E9A39DD1-D95D-4C9A-B7F2-8C69B0571C4F}"/>
                </a:ext>
              </a:extLst>
            </p:cNvPr>
            <p:cNvSpPr txBox="1"/>
            <p:nvPr/>
          </p:nvSpPr>
          <p:spPr>
            <a:xfrm>
              <a:off x="132366" y="5333157"/>
              <a:ext cx="1998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Endometrial cancer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81B1EEC2-B875-4AC9-B802-72D2179367F8}"/>
                </a:ext>
              </a:extLst>
            </p:cNvPr>
            <p:cNvSpPr txBox="1"/>
            <p:nvPr/>
          </p:nvSpPr>
          <p:spPr>
            <a:xfrm>
              <a:off x="132366" y="4590825"/>
              <a:ext cx="1998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Mod ASCVD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C7234B8-1201-4330-AB5C-37C05ED0C5D9}"/>
                </a:ext>
              </a:extLst>
            </p:cNvPr>
            <p:cNvSpPr txBox="1"/>
            <p:nvPr/>
          </p:nvSpPr>
          <p:spPr>
            <a:xfrm>
              <a:off x="132366" y="5704321"/>
              <a:ext cx="1998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Migraines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65688FD-D773-4BE0-902B-CC055A1411F6}"/>
                </a:ext>
              </a:extLst>
            </p:cNvPr>
            <p:cNvSpPr txBox="1"/>
            <p:nvPr/>
          </p:nvSpPr>
          <p:spPr>
            <a:xfrm>
              <a:off x="132366" y="6075487"/>
              <a:ext cx="1998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Active liver Disease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BABED10-9A4F-41A3-8379-9D2157D1EF7A}"/>
                </a:ext>
              </a:extLst>
            </p:cNvPr>
            <p:cNvSpPr txBox="1"/>
            <p:nvPr/>
          </p:nvSpPr>
          <p:spPr>
            <a:xfrm>
              <a:off x="132366" y="6436036"/>
              <a:ext cx="2283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Vulvovaginal atrophy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A58C22A-CEB8-43BB-87B6-C7D0EF515B87}"/>
                </a:ext>
              </a:extLst>
            </p:cNvPr>
            <p:cNvCxnSpPr>
              <a:cxnSpLocks/>
            </p:cNvCxnSpPr>
            <p:nvPr/>
          </p:nvCxnSpPr>
          <p:spPr>
            <a:xfrm>
              <a:off x="2336186" y="2660223"/>
              <a:ext cx="39138" cy="41148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A8C82D30-CC38-4D50-8D00-A4545CDE9198}"/>
                </a:ext>
              </a:extLst>
            </p:cNvPr>
            <p:cNvCxnSpPr>
              <a:cxnSpLocks/>
            </p:cNvCxnSpPr>
            <p:nvPr/>
          </p:nvCxnSpPr>
          <p:spPr>
            <a:xfrm>
              <a:off x="156231" y="3428971"/>
              <a:ext cx="7955280" cy="1180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DC0C33D-B3CE-41F6-86DF-D3DB73CFB2CD}"/>
                </a:ext>
              </a:extLst>
            </p:cNvPr>
            <p:cNvCxnSpPr>
              <a:cxnSpLocks/>
            </p:cNvCxnSpPr>
            <p:nvPr/>
          </p:nvCxnSpPr>
          <p:spPr>
            <a:xfrm>
              <a:off x="156231" y="3951282"/>
              <a:ext cx="7955280" cy="1180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95062AE7-7770-4090-B526-AC24536F4279}"/>
                </a:ext>
              </a:extLst>
            </p:cNvPr>
            <p:cNvCxnSpPr>
              <a:cxnSpLocks/>
            </p:cNvCxnSpPr>
            <p:nvPr/>
          </p:nvCxnSpPr>
          <p:spPr>
            <a:xfrm>
              <a:off x="156231" y="4596427"/>
              <a:ext cx="7955280" cy="1180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EFB440A7-5A43-4963-8E2B-D0F7F2F42ADA}"/>
                </a:ext>
              </a:extLst>
            </p:cNvPr>
            <p:cNvCxnSpPr>
              <a:cxnSpLocks/>
            </p:cNvCxnSpPr>
            <p:nvPr/>
          </p:nvCxnSpPr>
          <p:spPr>
            <a:xfrm>
              <a:off x="156231" y="4954351"/>
              <a:ext cx="7955280" cy="1180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2D442777-51DA-40FD-8507-4D6B75DCF397}"/>
                </a:ext>
              </a:extLst>
            </p:cNvPr>
            <p:cNvCxnSpPr>
              <a:cxnSpLocks/>
            </p:cNvCxnSpPr>
            <p:nvPr/>
          </p:nvCxnSpPr>
          <p:spPr>
            <a:xfrm>
              <a:off x="156231" y="5326589"/>
              <a:ext cx="7955280" cy="1180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063F7F0-4586-4407-B9FF-95120254E366}"/>
                </a:ext>
              </a:extLst>
            </p:cNvPr>
            <p:cNvCxnSpPr>
              <a:cxnSpLocks/>
            </p:cNvCxnSpPr>
            <p:nvPr/>
          </p:nvCxnSpPr>
          <p:spPr>
            <a:xfrm>
              <a:off x="156231" y="5685925"/>
              <a:ext cx="7955280" cy="1180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29B52E7F-5E55-4CB7-A2E0-5D29DC1769CE}"/>
                </a:ext>
              </a:extLst>
            </p:cNvPr>
            <p:cNvCxnSpPr>
              <a:cxnSpLocks/>
            </p:cNvCxnSpPr>
            <p:nvPr/>
          </p:nvCxnSpPr>
          <p:spPr>
            <a:xfrm>
              <a:off x="156231" y="6056549"/>
              <a:ext cx="7955280" cy="1180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F577283-B492-4BB3-93EC-951A2215A0A3}"/>
                </a:ext>
              </a:extLst>
            </p:cNvPr>
            <p:cNvCxnSpPr>
              <a:cxnSpLocks/>
            </p:cNvCxnSpPr>
            <p:nvPr/>
          </p:nvCxnSpPr>
          <p:spPr>
            <a:xfrm>
              <a:off x="156231" y="6418484"/>
              <a:ext cx="7955280" cy="1173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8FCA457-231B-440A-87CB-E8D414EF4B4E}"/>
                </a:ext>
              </a:extLst>
            </p:cNvPr>
            <p:cNvCxnSpPr>
              <a:cxnSpLocks/>
            </p:cNvCxnSpPr>
            <p:nvPr/>
          </p:nvCxnSpPr>
          <p:spPr>
            <a:xfrm>
              <a:off x="4056658" y="2660223"/>
              <a:ext cx="41299" cy="41148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0A74A21-0721-4B75-A1AE-2BB095AF5F98}"/>
                </a:ext>
              </a:extLst>
            </p:cNvPr>
            <p:cNvCxnSpPr>
              <a:cxnSpLocks/>
            </p:cNvCxnSpPr>
            <p:nvPr/>
          </p:nvCxnSpPr>
          <p:spPr>
            <a:xfrm>
              <a:off x="5799051" y="2660223"/>
              <a:ext cx="41445" cy="41148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14EF3C-7C3D-495B-875C-DF5770EDD224}"/>
              </a:ext>
            </a:extLst>
          </p:cNvPr>
          <p:cNvGrpSpPr/>
          <p:nvPr/>
        </p:nvGrpSpPr>
        <p:grpSpPr>
          <a:xfrm>
            <a:off x="2849328" y="3516079"/>
            <a:ext cx="708757" cy="3327738"/>
            <a:chOff x="2849328" y="3516079"/>
            <a:chExt cx="708757" cy="3327738"/>
          </a:xfrm>
        </p:grpSpPr>
        <p:pic>
          <p:nvPicPr>
            <p:cNvPr id="184" name="Graphic 183" descr="Close with solid fill">
              <a:extLst>
                <a:ext uri="{FF2B5EF4-FFF2-40B4-BE49-F238E27FC236}">
                  <a16:creationId xmlns:a16="http://schemas.microsoft.com/office/drawing/2014/main" id="{51C8E2C5-C44C-4D0F-BFDD-F37E17310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020826" y="3516079"/>
              <a:ext cx="365760" cy="365760"/>
            </a:xfrm>
            <a:prstGeom prst="rect">
              <a:avLst/>
            </a:prstGeom>
          </p:spPr>
        </p:pic>
        <p:pic>
          <p:nvPicPr>
            <p:cNvPr id="185" name="Graphic 184" descr="Close with solid fill">
              <a:extLst>
                <a:ext uri="{FF2B5EF4-FFF2-40B4-BE49-F238E27FC236}">
                  <a16:creationId xmlns:a16="http://schemas.microsoft.com/office/drawing/2014/main" id="{D1526C13-2A5C-44CC-9A20-36DD53248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020826" y="4097979"/>
              <a:ext cx="365760" cy="365760"/>
            </a:xfrm>
            <a:prstGeom prst="rect">
              <a:avLst/>
            </a:prstGeom>
          </p:spPr>
        </p:pic>
        <p:pic>
          <p:nvPicPr>
            <p:cNvPr id="218" name="Graphic 217" descr="Close with solid fill">
              <a:extLst>
                <a:ext uri="{FF2B5EF4-FFF2-40B4-BE49-F238E27FC236}">
                  <a16:creationId xmlns:a16="http://schemas.microsoft.com/office/drawing/2014/main" id="{31C9FD1C-5491-45C9-872B-950F0811A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020826" y="4967098"/>
              <a:ext cx="365760" cy="365760"/>
            </a:xfrm>
            <a:prstGeom prst="rect">
              <a:avLst/>
            </a:prstGeom>
          </p:spPr>
        </p:pic>
        <p:pic>
          <p:nvPicPr>
            <p:cNvPr id="219" name="Graphic 218" descr="Checkmark with solid fill">
              <a:extLst>
                <a:ext uri="{FF2B5EF4-FFF2-40B4-BE49-F238E27FC236}">
                  <a16:creationId xmlns:a16="http://schemas.microsoft.com/office/drawing/2014/main" id="{E5E8CCFC-9067-4178-8E29-939FF82ED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007612" y="6451630"/>
              <a:ext cx="392187" cy="39218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A935873-1871-453C-85E5-5A15DA98904F}"/>
                </a:ext>
              </a:extLst>
            </p:cNvPr>
            <p:cNvSpPr txBox="1"/>
            <p:nvPr/>
          </p:nvSpPr>
          <p:spPr>
            <a:xfrm>
              <a:off x="2849328" y="4478288"/>
              <a:ext cx="70875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4"/>
                  </a:solidFill>
                </a:rPr>
                <a:t>±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19122AD9-00AE-4B3F-A65A-C24B516BC8D2}"/>
                </a:ext>
              </a:extLst>
            </p:cNvPr>
            <p:cNvSpPr txBox="1"/>
            <p:nvPr/>
          </p:nvSpPr>
          <p:spPr>
            <a:xfrm>
              <a:off x="2849328" y="5577483"/>
              <a:ext cx="70875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4"/>
                  </a:solidFill>
                </a:rPr>
                <a:t>±</a:t>
              </a:r>
            </a:p>
          </p:txBody>
        </p:sp>
        <p:pic>
          <p:nvPicPr>
            <p:cNvPr id="221" name="Graphic 220" descr="Close with solid fill">
              <a:extLst>
                <a:ext uri="{FF2B5EF4-FFF2-40B4-BE49-F238E27FC236}">
                  <a16:creationId xmlns:a16="http://schemas.microsoft.com/office/drawing/2014/main" id="{D4430457-FD64-4C37-AAFB-234CB5183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020826" y="5344561"/>
              <a:ext cx="365760" cy="365760"/>
            </a:xfrm>
            <a:prstGeom prst="rect">
              <a:avLst/>
            </a:prstGeom>
          </p:spPr>
        </p:pic>
        <p:pic>
          <p:nvPicPr>
            <p:cNvPr id="222" name="Graphic 221" descr="Close with solid fill">
              <a:extLst>
                <a:ext uri="{FF2B5EF4-FFF2-40B4-BE49-F238E27FC236}">
                  <a16:creationId xmlns:a16="http://schemas.microsoft.com/office/drawing/2014/main" id="{7AA6F8E2-F1C3-4D84-B921-D8DB9BBC1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020826" y="6078128"/>
              <a:ext cx="365760" cy="36576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1D9B2B4-A292-48CD-8535-1D99AFEE70D7}"/>
              </a:ext>
            </a:extLst>
          </p:cNvPr>
          <p:cNvGrpSpPr/>
          <p:nvPr/>
        </p:nvGrpSpPr>
        <p:grpSpPr>
          <a:xfrm>
            <a:off x="4094564" y="3671335"/>
            <a:ext cx="1707881" cy="3156888"/>
            <a:chOff x="4094564" y="3671335"/>
            <a:chExt cx="1707881" cy="3156888"/>
          </a:xfrm>
        </p:grpSpPr>
        <p:pic>
          <p:nvPicPr>
            <p:cNvPr id="225" name="Graphic 224" descr="Close with solid fill">
              <a:extLst>
                <a:ext uri="{FF2B5EF4-FFF2-40B4-BE49-F238E27FC236}">
                  <a16:creationId xmlns:a16="http://schemas.microsoft.com/office/drawing/2014/main" id="{093598A3-D4A4-4954-9174-DDF9B3CD2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774744" y="4089796"/>
              <a:ext cx="365760" cy="365760"/>
            </a:xfrm>
            <a:prstGeom prst="rect">
              <a:avLst/>
            </a:prstGeom>
          </p:spPr>
        </p:pic>
        <p:pic>
          <p:nvPicPr>
            <p:cNvPr id="227" name="Graphic 226" descr="Checkmark with solid fill">
              <a:extLst>
                <a:ext uri="{FF2B5EF4-FFF2-40B4-BE49-F238E27FC236}">
                  <a16:creationId xmlns:a16="http://schemas.microsoft.com/office/drawing/2014/main" id="{B6185231-C008-485B-B828-E0194A493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761531" y="6436036"/>
              <a:ext cx="392187" cy="392187"/>
            </a:xfrm>
            <a:prstGeom prst="rect">
              <a:avLst/>
            </a:prstGeom>
          </p:spPr>
        </p:pic>
        <p:pic>
          <p:nvPicPr>
            <p:cNvPr id="230" name="Graphic 229" descr="Close with solid fill">
              <a:extLst>
                <a:ext uri="{FF2B5EF4-FFF2-40B4-BE49-F238E27FC236}">
                  <a16:creationId xmlns:a16="http://schemas.microsoft.com/office/drawing/2014/main" id="{5C73FCEB-F25F-49F6-8DA7-427422AC1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774744" y="4976285"/>
              <a:ext cx="365760" cy="365760"/>
            </a:xfrm>
            <a:prstGeom prst="rect">
              <a:avLst/>
            </a:prstGeom>
          </p:spPr>
        </p:pic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19048CC9-A661-4D77-BD32-0DD5BBEDBC26}"/>
                </a:ext>
              </a:extLst>
            </p:cNvPr>
            <p:cNvSpPr txBox="1"/>
            <p:nvPr/>
          </p:nvSpPr>
          <p:spPr>
            <a:xfrm>
              <a:off x="4094564" y="3671335"/>
              <a:ext cx="1707881" cy="296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000"/>
                </a:lnSpc>
              </a:pPr>
              <a:r>
                <a:rPr lang="en-US" sz="3200" dirty="0">
                  <a:solidFill>
                    <a:schemeClr val="accent4"/>
                  </a:solidFill>
                </a:rPr>
                <a:t>±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C7B6351-B4EE-4B9E-A5C5-4D58BFE65EC5}"/>
                </a:ext>
              </a:extLst>
            </p:cNvPr>
            <p:cNvSpPr txBox="1"/>
            <p:nvPr/>
          </p:nvSpPr>
          <p:spPr>
            <a:xfrm>
              <a:off x="4394394" y="4614589"/>
              <a:ext cx="10795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Preferred</a:t>
              </a:r>
            </a:p>
          </p:txBody>
        </p:sp>
        <p:pic>
          <p:nvPicPr>
            <p:cNvPr id="233" name="Graphic 232" descr="Close with solid fill">
              <a:extLst>
                <a:ext uri="{FF2B5EF4-FFF2-40B4-BE49-F238E27FC236}">
                  <a16:creationId xmlns:a16="http://schemas.microsoft.com/office/drawing/2014/main" id="{7E1F7E09-B0DC-4B6E-8523-17A0A4BA2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774744" y="5343670"/>
              <a:ext cx="365760" cy="365760"/>
            </a:xfrm>
            <a:prstGeom prst="rect">
              <a:avLst/>
            </a:prstGeom>
          </p:spPr>
        </p:pic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E6677B20-A84B-4F9A-928C-DA795CBD6457}"/>
                </a:ext>
              </a:extLst>
            </p:cNvPr>
            <p:cNvSpPr txBox="1"/>
            <p:nvPr/>
          </p:nvSpPr>
          <p:spPr>
            <a:xfrm>
              <a:off x="4393860" y="5694853"/>
              <a:ext cx="10795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Preferred</a:t>
              </a:r>
            </a:p>
          </p:txBody>
        </p:sp>
        <p:pic>
          <p:nvPicPr>
            <p:cNvPr id="236" name="Graphic 235" descr="Close with solid fill">
              <a:extLst>
                <a:ext uri="{FF2B5EF4-FFF2-40B4-BE49-F238E27FC236}">
                  <a16:creationId xmlns:a16="http://schemas.microsoft.com/office/drawing/2014/main" id="{CA81E3D7-85DE-4D77-9E4E-B4696F597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774744" y="6077273"/>
              <a:ext cx="365760" cy="36576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941E2EC-AB20-45A2-B55F-ABD9D7C925F2}"/>
              </a:ext>
            </a:extLst>
          </p:cNvPr>
          <p:cNvGrpSpPr/>
          <p:nvPr/>
        </p:nvGrpSpPr>
        <p:grpSpPr>
          <a:xfrm>
            <a:off x="6087645" y="3521419"/>
            <a:ext cx="708757" cy="3319138"/>
            <a:chOff x="6023097" y="3521419"/>
            <a:chExt cx="708757" cy="3319138"/>
          </a:xfrm>
        </p:grpSpPr>
        <p:pic>
          <p:nvPicPr>
            <p:cNvPr id="237" name="Graphic 236" descr="Close with solid fill">
              <a:extLst>
                <a:ext uri="{FF2B5EF4-FFF2-40B4-BE49-F238E27FC236}">
                  <a16:creationId xmlns:a16="http://schemas.microsoft.com/office/drawing/2014/main" id="{D7119FB3-48EA-42F9-BA62-6236C1D0F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94595" y="3521419"/>
              <a:ext cx="365760" cy="365760"/>
            </a:xfrm>
            <a:prstGeom prst="rect">
              <a:avLst/>
            </a:prstGeom>
          </p:spPr>
        </p:pic>
        <p:pic>
          <p:nvPicPr>
            <p:cNvPr id="238" name="Graphic 237" descr="Close with solid fill">
              <a:extLst>
                <a:ext uri="{FF2B5EF4-FFF2-40B4-BE49-F238E27FC236}">
                  <a16:creationId xmlns:a16="http://schemas.microsoft.com/office/drawing/2014/main" id="{AA6AD8F2-A844-4AF9-95F2-2082F2B79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94595" y="4103955"/>
              <a:ext cx="365760" cy="365760"/>
            </a:xfrm>
            <a:prstGeom prst="rect">
              <a:avLst/>
            </a:prstGeom>
          </p:spPr>
        </p:pic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E92CE17E-6B97-47E5-98F0-7A62F93662B6}"/>
                </a:ext>
              </a:extLst>
            </p:cNvPr>
            <p:cNvSpPr txBox="1"/>
            <p:nvPr/>
          </p:nvSpPr>
          <p:spPr>
            <a:xfrm>
              <a:off x="6023097" y="4481183"/>
              <a:ext cx="70875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4"/>
                  </a:solidFill>
                </a:rPr>
                <a:t>±</a:t>
              </a:r>
            </a:p>
          </p:txBody>
        </p:sp>
        <p:pic>
          <p:nvPicPr>
            <p:cNvPr id="241" name="Graphic 240" descr="Close with solid fill">
              <a:extLst>
                <a:ext uri="{FF2B5EF4-FFF2-40B4-BE49-F238E27FC236}">
                  <a16:creationId xmlns:a16="http://schemas.microsoft.com/office/drawing/2014/main" id="{3C3DDBDD-2FAC-4C45-8E18-03226715B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94595" y="4976822"/>
              <a:ext cx="365760" cy="365760"/>
            </a:xfrm>
            <a:prstGeom prst="rect">
              <a:avLst/>
            </a:prstGeom>
          </p:spPr>
        </p:pic>
        <p:pic>
          <p:nvPicPr>
            <p:cNvPr id="242" name="Graphic 241" descr="Close with solid fill">
              <a:extLst>
                <a:ext uri="{FF2B5EF4-FFF2-40B4-BE49-F238E27FC236}">
                  <a16:creationId xmlns:a16="http://schemas.microsoft.com/office/drawing/2014/main" id="{DF134B0F-FFB3-4790-B2B8-184E6281F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94595" y="5353251"/>
              <a:ext cx="365760" cy="365760"/>
            </a:xfrm>
            <a:prstGeom prst="rect">
              <a:avLst/>
            </a:prstGeom>
          </p:spPr>
        </p:pic>
        <p:pic>
          <p:nvPicPr>
            <p:cNvPr id="243" name="Graphic 242" descr="Close with solid fill">
              <a:extLst>
                <a:ext uri="{FF2B5EF4-FFF2-40B4-BE49-F238E27FC236}">
                  <a16:creationId xmlns:a16="http://schemas.microsoft.com/office/drawing/2014/main" id="{59725F52-9266-47ED-9E3E-F2E45F9DF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94595" y="6085870"/>
              <a:ext cx="365760" cy="365760"/>
            </a:xfrm>
            <a:prstGeom prst="rect">
              <a:avLst/>
            </a:prstGeom>
          </p:spPr>
        </p:pic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85CA9211-7135-45AA-BE47-46078C334F1F}"/>
                </a:ext>
              </a:extLst>
            </p:cNvPr>
            <p:cNvSpPr txBox="1"/>
            <p:nvPr/>
          </p:nvSpPr>
          <p:spPr>
            <a:xfrm>
              <a:off x="6023097" y="5579357"/>
              <a:ext cx="70875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4"/>
                  </a:solidFill>
                </a:rPr>
                <a:t>±</a:t>
              </a:r>
            </a:p>
          </p:txBody>
        </p:sp>
        <p:pic>
          <p:nvPicPr>
            <p:cNvPr id="254" name="Graphic 253" descr="Checkmark with solid fill">
              <a:extLst>
                <a:ext uri="{FF2B5EF4-FFF2-40B4-BE49-F238E27FC236}">
                  <a16:creationId xmlns:a16="http://schemas.microsoft.com/office/drawing/2014/main" id="{ED8E3E80-B547-4F41-8D38-89DC4B831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181382" y="6448370"/>
              <a:ext cx="392187" cy="392187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BB06A28-1C63-43F8-B973-434B10BF2E59}"/>
              </a:ext>
            </a:extLst>
          </p:cNvPr>
          <p:cNvGrpSpPr/>
          <p:nvPr/>
        </p:nvGrpSpPr>
        <p:grpSpPr>
          <a:xfrm>
            <a:off x="7015012" y="3179587"/>
            <a:ext cx="1145669" cy="3648636"/>
            <a:chOff x="7015012" y="3179587"/>
            <a:chExt cx="1145669" cy="3648636"/>
          </a:xfrm>
        </p:grpSpPr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2ACFC3CA-4F77-4D79-8374-2CB594035295}"/>
                </a:ext>
              </a:extLst>
            </p:cNvPr>
            <p:cNvCxnSpPr>
              <a:cxnSpLocks/>
            </p:cNvCxnSpPr>
            <p:nvPr/>
          </p:nvCxnSpPr>
          <p:spPr>
            <a:xfrm>
              <a:off x="7015012" y="3179587"/>
              <a:ext cx="48190" cy="359543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E6CC5D1-7410-40FA-8341-F2A8506460DF}"/>
                </a:ext>
              </a:extLst>
            </p:cNvPr>
            <p:cNvGrpSpPr/>
            <p:nvPr/>
          </p:nvGrpSpPr>
          <p:grpSpPr>
            <a:xfrm>
              <a:off x="7081153" y="3508205"/>
              <a:ext cx="1079528" cy="3320018"/>
              <a:chOff x="7081153" y="3508205"/>
              <a:chExt cx="1079528" cy="3320018"/>
            </a:xfrm>
          </p:grpSpPr>
          <p:pic>
            <p:nvPicPr>
              <p:cNvPr id="255" name="Graphic 254" descr="Checkmark with solid fill">
                <a:extLst>
                  <a:ext uri="{FF2B5EF4-FFF2-40B4-BE49-F238E27FC236}">
                    <a16:creationId xmlns:a16="http://schemas.microsoft.com/office/drawing/2014/main" id="{EBA49A2F-58C2-4DEA-A33C-A79CED6D8F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424824" y="3508205"/>
                <a:ext cx="392187" cy="392187"/>
              </a:xfrm>
              <a:prstGeom prst="rect">
                <a:avLst/>
              </a:prstGeom>
            </p:spPr>
          </p:pic>
          <p:pic>
            <p:nvPicPr>
              <p:cNvPr id="256" name="Graphic 255" descr="Checkmark with solid fill">
                <a:extLst>
                  <a:ext uri="{FF2B5EF4-FFF2-40B4-BE49-F238E27FC236}">
                    <a16:creationId xmlns:a16="http://schemas.microsoft.com/office/drawing/2014/main" id="{8426E175-5202-4EE7-9628-6E61A63A1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424824" y="4086101"/>
                <a:ext cx="392187" cy="392187"/>
              </a:xfrm>
              <a:prstGeom prst="rect">
                <a:avLst/>
              </a:prstGeom>
            </p:spPr>
          </p:pic>
          <p:pic>
            <p:nvPicPr>
              <p:cNvPr id="257" name="Graphic 256" descr="Checkmark with solid fill">
                <a:extLst>
                  <a:ext uri="{FF2B5EF4-FFF2-40B4-BE49-F238E27FC236}">
                    <a16:creationId xmlns:a16="http://schemas.microsoft.com/office/drawing/2014/main" id="{83B9F935-1B75-401F-B976-11DA86CE56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424824" y="4591972"/>
                <a:ext cx="392187" cy="392187"/>
              </a:xfrm>
              <a:prstGeom prst="rect">
                <a:avLst/>
              </a:prstGeom>
            </p:spPr>
          </p:pic>
          <p:pic>
            <p:nvPicPr>
              <p:cNvPr id="259" name="Graphic 258" descr="Checkmark with solid fill">
                <a:extLst>
                  <a:ext uri="{FF2B5EF4-FFF2-40B4-BE49-F238E27FC236}">
                    <a16:creationId xmlns:a16="http://schemas.microsoft.com/office/drawing/2014/main" id="{E2276BCF-0426-468D-99A9-B66C2A2582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424824" y="5689960"/>
                <a:ext cx="392187" cy="392187"/>
              </a:xfrm>
              <a:prstGeom prst="rect">
                <a:avLst/>
              </a:prstGeom>
            </p:spPr>
          </p:pic>
          <p:pic>
            <p:nvPicPr>
              <p:cNvPr id="260" name="Graphic 259" descr="Checkmark with solid fill">
                <a:extLst>
                  <a:ext uri="{FF2B5EF4-FFF2-40B4-BE49-F238E27FC236}">
                    <a16:creationId xmlns:a16="http://schemas.microsoft.com/office/drawing/2014/main" id="{C1F00ACB-FB4B-4C06-A234-A4A1734F19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424824" y="6055121"/>
                <a:ext cx="392187" cy="392187"/>
              </a:xfrm>
              <a:prstGeom prst="rect">
                <a:avLst/>
              </a:prstGeom>
            </p:spPr>
          </p:pic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3DDF122E-AE25-4545-A35D-B713A2F9D04D}"/>
                  </a:ext>
                </a:extLst>
              </p:cNvPr>
              <p:cNvSpPr txBox="1"/>
              <p:nvPr/>
            </p:nvSpPr>
            <p:spPr>
              <a:xfrm>
                <a:off x="7081153" y="6458891"/>
                <a:ext cx="1079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6"/>
                    </a:solidFill>
                  </a:rPr>
                  <a:t>Preferred</a:t>
                </a:r>
              </a:p>
            </p:txBody>
          </p:sp>
        </p:grpSp>
        <p:pic>
          <p:nvPicPr>
            <p:cNvPr id="263" name="Graphic 262" descr="Close with solid fill">
              <a:extLst>
                <a:ext uri="{FF2B5EF4-FFF2-40B4-BE49-F238E27FC236}">
                  <a16:creationId xmlns:a16="http://schemas.microsoft.com/office/drawing/2014/main" id="{F7DF2E3D-5E3F-4FB8-A7F5-9F4077F4C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424824" y="4989006"/>
              <a:ext cx="365760" cy="365760"/>
            </a:xfrm>
            <a:prstGeom prst="rect">
              <a:avLst/>
            </a:prstGeom>
          </p:spPr>
        </p:pic>
        <p:pic>
          <p:nvPicPr>
            <p:cNvPr id="264" name="Graphic 263" descr="Close with solid fill">
              <a:extLst>
                <a:ext uri="{FF2B5EF4-FFF2-40B4-BE49-F238E27FC236}">
                  <a16:creationId xmlns:a16="http://schemas.microsoft.com/office/drawing/2014/main" id="{8B3AA69D-0655-4461-B113-5BD8C3F8C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420947" y="5333672"/>
              <a:ext cx="365760" cy="365760"/>
            </a:xfrm>
            <a:prstGeom prst="rect">
              <a:avLst/>
            </a:prstGeom>
          </p:spPr>
        </p:pic>
      </p:grpSp>
      <p:pic>
        <p:nvPicPr>
          <p:cNvPr id="104" name="Graphic 103" descr="Cursor with solid fill">
            <a:extLst>
              <a:ext uri="{FF2B5EF4-FFF2-40B4-BE49-F238E27FC236}">
                <a16:creationId xmlns:a16="http://schemas.microsoft.com/office/drawing/2014/main" id="{B437690A-30BA-4799-810E-3774E10EBF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44683" y="652380"/>
            <a:ext cx="301752" cy="30175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06957CE-248F-4BD5-83E9-9C5A46E6AECB}"/>
              </a:ext>
            </a:extLst>
          </p:cNvPr>
          <p:cNvGrpSpPr/>
          <p:nvPr/>
        </p:nvGrpSpPr>
        <p:grpSpPr>
          <a:xfrm>
            <a:off x="8597799" y="5276370"/>
            <a:ext cx="2913396" cy="1401831"/>
            <a:chOff x="8597799" y="5276370"/>
            <a:chExt cx="2913396" cy="140183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20AF24B-5C59-4A7C-A347-8889F106C5F0}"/>
                </a:ext>
              </a:extLst>
            </p:cNvPr>
            <p:cNvSpPr/>
            <p:nvPr/>
          </p:nvSpPr>
          <p:spPr>
            <a:xfrm>
              <a:off x="8641259" y="5276370"/>
              <a:ext cx="2869936" cy="140183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DBBCA81-5C09-4C2B-922F-D69A52DAD4BD}"/>
                </a:ext>
              </a:extLst>
            </p:cNvPr>
            <p:cNvGrpSpPr/>
            <p:nvPr/>
          </p:nvGrpSpPr>
          <p:grpSpPr>
            <a:xfrm>
              <a:off x="8597799" y="5412438"/>
              <a:ext cx="2901535" cy="1165620"/>
              <a:chOff x="8597799" y="5412438"/>
              <a:chExt cx="2901535" cy="1165620"/>
            </a:xfrm>
          </p:grpSpPr>
          <p:pic>
            <p:nvPicPr>
              <p:cNvPr id="107" name="Graphic 106" descr="Close with solid fill">
                <a:extLst>
                  <a:ext uri="{FF2B5EF4-FFF2-40B4-BE49-F238E27FC236}">
                    <a16:creationId xmlns:a16="http://schemas.microsoft.com/office/drawing/2014/main" id="{37681DFA-9A46-4228-A3BD-DBCACCC8A8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8769297" y="5412438"/>
                <a:ext cx="365760" cy="365760"/>
              </a:xfrm>
              <a:prstGeom prst="rect">
                <a:avLst/>
              </a:prstGeom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1F6C85-5D99-4DEA-82CE-CE1DD9696FF2}"/>
                  </a:ext>
                </a:extLst>
              </p:cNvPr>
              <p:cNvSpPr txBox="1"/>
              <p:nvPr/>
            </p:nvSpPr>
            <p:spPr>
              <a:xfrm>
                <a:off x="9051010" y="5412438"/>
                <a:ext cx="19109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= contraindicated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7262D6B-A284-49F5-BE5E-F80DC8285300}"/>
                  </a:ext>
                </a:extLst>
              </p:cNvPr>
              <p:cNvSpPr txBox="1"/>
              <p:nvPr/>
            </p:nvSpPr>
            <p:spPr>
              <a:xfrm>
                <a:off x="9051010" y="5822937"/>
                <a:ext cx="2448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= discuss risks/benefits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783EE2-5C65-48A0-AB43-8461F4F8A719}"/>
                  </a:ext>
                </a:extLst>
              </p:cNvPr>
              <p:cNvSpPr txBox="1"/>
              <p:nvPr/>
            </p:nvSpPr>
            <p:spPr>
              <a:xfrm>
                <a:off x="8597799" y="5675378"/>
                <a:ext cx="6694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solidFill>
                      <a:schemeClr val="accent4"/>
                    </a:solidFill>
                  </a:rPr>
                  <a:t>±</a:t>
                </a:r>
              </a:p>
            </p:txBody>
          </p:sp>
          <p:pic>
            <p:nvPicPr>
              <p:cNvPr id="112" name="Graphic 111" descr="Checkmark with solid fill">
                <a:extLst>
                  <a:ext uri="{FF2B5EF4-FFF2-40B4-BE49-F238E27FC236}">
                    <a16:creationId xmlns:a16="http://schemas.microsoft.com/office/drawing/2014/main" id="{CE2F9FF7-822D-4442-93C4-2126DE4383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56084" y="6185871"/>
                <a:ext cx="392187" cy="392187"/>
              </a:xfrm>
              <a:prstGeom prst="rect">
                <a:avLst/>
              </a:prstGeom>
            </p:spPr>
          </p:pic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E066C3A4-18DF-4136-8662-5FC17D9498EE}"/>
                  </a:ext>
                </a:extLst>
              </p:cNvPr>
              <p:cNvSpPr txBox="1"/>
              <p:nvPr/>
            </p:nvSpPr>
            <p:spPr>
              <a:xfrm>
                <a:off x="9051010" y="6201429"/>
                <a:ext cx="2448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= safe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380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2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9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1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8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</p:childTnLst>
        </p:cTn>
      </p:par>
    </p:tnLst>
    <p:bldLst>
      <p:bldP spid="191" grpId="0" animBg="1"/>
      <p:bldP spid="192" grpId="0" animBg="1"/>
      <p:bldP spid="193" grpId="0" animBg="1"/>
      <p:bldP spid="189" grpId="0" animBg="1"/>
      <p:bldP spid="188" grpId="0" animBg="1"/>
      <p:bldP spid="99" grpId="0"/>
      <p:bldP spid="84" grpId="0" animBg="1"/>
      <p:bldP spid="142" grpId="0" animBg="1"/>
      <p:bldP spid="142" grpId="1" animBg="1"/>
      <p:bldP spid="145" grpId="0" animBg="1"/>
      <p:bldP spid="145" grpId="1" animBg="1"/>
      <p:bldP spid="148" grpId="0" animBg="1"/>
      <p:bldP spid="148" grpId="1" animBg="1"/>
      <p:bldP spid="162" grpId="0" animBg="1"/>
      <p:bldP spid="166" grpId="0" animBg="1"/>
      <p:bldP spid="166" grpId="1" animBg="1"/>
      <p:bldP spid="169" grpId="0" animBg="1"/>
      <p:bldP spid="169" grpId="1" animBg="1"/>
      <p:bldP spid="171" grpId="0"/>
      <p:bldP spid="186" grpId="0"/>
      <p:bldP spid="122" grpId="0" animBg="1"/>
      <p:bldP spid="123" grpId="0" animBg="1"/>
      <p:bldP spid="125" grpId="0"/>
      <p:bldP spid="11" grpId="0"/>
      <p:bldP spid="1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TextBox 477">
            <a:extLst>
              <a:ext uri="{FF2B5EF4-FFF2-40B4-BE49-F238E27FC236}">
                <a16:creationId xmlns:a16="http://schemas.microsoft.com/office/drawing/2014/main" id="{34035BFA-1FE5-497D-B4B0-F8A54F84F748}"/>
              </a:ext>
            </a:extLst>
          </p:cNvPr>
          <p:cNvSpPr txBox="1"/>
          <p:nvPr/>
        </p:nvSpPr>
        <p:spPr>
          <a:xfrm>
            <a:off x="5444075" y="1486160"/>
            <a:ext cx="2560320" cy="41148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Coronary Heart Disease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EA6C985-E9D5-4F81-8CBE-F0D4F5072AAC}"/>
              </a:ext>
            </a:extLst>
          </p:cNvPr>
          <p:cNvSpPr txBox="1"/>
          <p:nvPr/>
        </p:nvSpPr>
        <p:spPr>
          <a:xfrm>
            <a:off x="5444075" y="2126153"/>
            <a:ext cx="2560320" cy="41148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Breast Cancer</a:t>
            </a: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49CC5148-16D2-43DA-8021-8D61948AE26E}"/>
              </a:ext>
            </a:extLst>
          </p:cNvPr>
          <p:cNvSpPr txBox="1"/>
          <p:nvPr/>
        </p:nvSpPr>
        <p:spPr>
          <a:xfrm>
            <a:off x="5444075" y="2766146"/>
            <a:ext cx="2560320" cy="41148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CVA</a:t>
            </a: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3A53A437-CC84-47F3-901D-1E6143FAF222}"/>
              </a:ext>
            </a:extLst>
          </p:cNvPr>
          <p:cNvSpPr txBox="1"/>
          <p:nvPr/>
        </p:nvSpPr>
        <p:spPr>
          <a:xfrm>
            <a:off x="5444075" y="3406139"/>
            <a:ext cx="2560320" cy="41148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PE</a:t>
            </a: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DCCC446F-2DAD-4E68-B31B-9B292596520F}"/>
              </a:ext>
            </a:extLst>
          </p:cNvPr>
          <p:cNvSpPr txBox="1"/>
          <p:nvPr/>
        </p:nvSpPr>
        <p:spPr>
          <a:xfrm>
            <a:off x="5444075" y="5326120"/>
            <a:ext cx="2560320" cy="41148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All cause mortality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9D4B000B-B27F-46C9-9849-43D7D919982E}"/>
              </a:ext>
            </a:extLst>
          </p:cNvPr>
          <p:cNvSpPr txBox="1"/>
          <p:nvPr/>
        </p:nvSpPr>
        <p:spPr>
          <a:xfrm>
            <a:off x="5444075" y="4046132"/>
            <a:ext cx="2560320" cy="41148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/>
              <a:t>Endometrial Cancer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74D38237-E7F4-4869-ABFE-D3019F9E89DE}"/>
              </a:ext>
            </a:extLst>
          </p:cNvPr>
          <p:cNvSpPr txBox="1"/>
          <p:nvPr/>
        </p:nvSpPr>
        <p:spPr>
          <a:xfrm>
            <a:off x="5444075" y="4686125"/>
            <a:ext cx="2560320" cy="41148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Hip fractures</a:t>
            </a:r>
          </a:p>
        </p:txBody>
      </p:sp>
      <p:sp>
        <p:nvSpPr>
          <p:cNvPr id="98" name="Dx text">
            <a:extLst>
              <a:ext uri="{FF2B5EF4-FFF2-40B4-BE49-F238E27FC236}">
                <a16:creationId xmlns:a16="http://schemas.microsoft.com/office/drawing/2014/main" id="{8EA0CC8B-26BF-452D-BE9C-247A9EE7A55C}"/>
              </a:ext>
            </a:extLst>
          </p:cNvPr>
          <p:cNvSpPr txBox="1"/>
          <p:nvPr/>
        </p:nvSpPr>
        <p:spPr>
          <a:xfrm>
            <a:off x="4166122" y="102093"/>
            <a:ext cx="583826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Menopause Hormonal Therapy (MHT)</a:t>
            </a:r>
          </a:p>
        </p:txBody>
      </p:sp>
      <p:sp>
        <p:nvSpPr>
          <p:cNvPr id="85" name="Dx text">
            <a:extLst>
              <a:ext uri="{FF2B5EF4-FFF2-40B4-BE49-F238E27FC236}">
                <a16:creationId xmlns:a16="http://schemas.microsoft.com/office/drawing/2014/main" id="{63986586-66AF-4141-8106-2AE399B58AC8}"/>
              </a:ext>
            </a:extLst>
          </p:cNvPr>
          <p:cNvSpPr txBox="1"/>
          <p:nvPr/>
        </p:nvSpPr>
        <p:spPr>
          <a:xfrm>
            <a:off x="5860228" y="542193"/>
            <a:ext cx="148457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For 50-59 </a:t>
            </a:r>
            <a:r>
              <a:rPr lang="en-US" sz="2000" dirty="0" err="1"/>
              <a:t>yo</a:t>
            </a:r>
            <a:endParaRPr lang="en-US" sz="20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FC43C95-6DD9-4C7F-8947-AB8AE6DC6AC3}"/>
              </a:ext>
            </a:extLst>
          </p:cNvPr>
          <p:cNvSpPr txBox="1"/>
          <p:nvPr/>
        </p:nvSpPr>
        <p:spPr>
          <a:xfrm>
            <a:off x="5101700" y="6095883"/>
            <a:ext cx="324507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# affected per 1000 women </a:t>
            </a:r>
          </a:p>
          <a:p>
            <a:pPr algn="ctr"/>
            <a:r>
              <a:rPr lang="en-US" sz="1400" dirty="0"/>
              <a:t>(per 5 y of MHT)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188F89-AA44-41EF-86CD-763DCE6C4266}"/>
              </a:ext>
            </a:extLst>
          </p:cNvPr>
          <p:cNvSpPr txBox="1"/>
          <p:nvPr/>
        </p:nvSpPr>
        <p:spPr>
          <a:xfrm>
            <a:off x="3491800" y="6610847"/>
            <a:ext cx="6351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Base incidence of each condition varies and is not represented</a:t>
            </a:r>
          </a:p>
        </p:txBody>
      </p:sp>
      <p:sp>
        <p:nvSpPr>
          <p:cNvPr id="214" name="Cases">
            <a:hlinkClick r:id="" action="ppaction://noaction"/>
            <a:extLst>
              <a:ext uri="{FF2B5EF4-FFF2-40B4-BE49-F238E27FC236}">
                <a16:creationId xmlns:a16="http://schemas.microsoft.com/office/drawing/2014/main" id="{60CF417E-2743-42A2-80E4-988215DECA82}"/>
              </a:ext>
            </a:extLst>
          </p:cNvPr>
          <p:cNvSpPr/>
          <p:nvPr/>
        </p:nvSpPr>
        <p:spPr>
          <a:xfrm>
            <a:off x="522514" y="1794833"/>
            <a:ext cx="1371076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Risk/Benefit</a:t>
            </a:r>
          </a:p>
        </p:txBody>
      </p:sp>
      <p:sp>
        <p:nvSpPr>
          <p:cNvPr id="218" name="Cases">
            <a:hlinkClick r:id="rId3" action="ppaction://hlinksldjump"/>
            <a:extLst>
              <a:ext uri="{FF2B5EF4-FFF2-40B4-BE49-F238E27FC236}">
                <a16:creationId xmlns:a16="http://schemas.microsoft.com/office/drawing/2014/main" id="{0FBBEEE0-70A5-4F30-9B07-36C59D914456}"/>
              </a:ext>
            </a:extLst>
          </p:cNvPr>
          <p:cNvSpPr/>
          <p:nvPr/>
        </p:nvSpPr>
        <p:spPr>
          <a:xfrm>
            <a:off x="156230" y="2341905"/>
            <a:ext cx="1729769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243" name="Graphic 242" descr="Cursor with solid fill">
            <a:extLst>
              <a:ext uri="{FF2B5EF4-FFF2-40B4-BE49-F238E27FC236}">
                <a16:creationId xmlns:a16="http://schemas.microsoft.com/office/drawing/2014/main" id="{F76530AE-30B7-4A06-A871-8DF8079BE0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4449" y="2577260"/>
            <a:ext cx="301752" cy="301752"/>
          </a:xfrm>
          <a:prstGeom prst="rect">
            <a:avLst/>
          </a:prstGeom>
        </p:spPr>
      </p:pic>
      <p:sp>
        <p:nvSpPr>
          <p:cNvPr id="244" name="Obj 2">
            <a:hlinkClick r:id="rId6" action="ppaction://hlinksldjump"/>
            <a:extLst>
              <a:ext uri="{FF2B5EF4-FFF2-40B4-BE49-F238E27FC236}">
                <a16:creationId xmlns:a16="http://schemas.microsoft.com/office/drawing/2014/main" id="{4BD7058F-14A3-40CC-87EB-03E2FF504C92}"/>
              </a:ext>
            </a:extLst>
          </p:cNvPr>
          <p:cNvSpPr/>
          <p:nvPr/>
        </p:nvSpPr>
        <p:spPr>
          <a:xfrm>
            <a:off x="156231" y="975661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Hormone Therapy (MHT)</a:t>
            </a:r>
          </a:p>
        </p:txBody>
      </p:sp>
      <p:sp>
        <p:nvSpPr>
          <p:cNvPr id="245" name="Obj 2">
            <a:hlinkClick r:id="rId7" action="ppaction://hlinksldjump"/>
            <a:extLst>
              <a:ext uri="{FF2B5EF4-FFF2-40B4-BE49-F238E27FC236}">
                <a16:creationId xmlns:a16="http://schemas.microsoft.com/office/drawing/2014/main" id="{976C24FB-7160-49A6-BEB7-F35E0470E22D}"/>
              </a:ext>
            </a:extLst>
          </p:cNvPr>
          <p:cNvSpPr/>
          <p:nvPr/>
        </p:nvSpPr>
        <p:spPr>
          <a:xfrm>
            <a:off x="156231" y="156489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Definitions &amp; Diagnoses</a:t>
            </a:r>
          </a:p>
        </p:txBody>
      </p:sp>
      <p:pic>
        <p:nvPicPr>
          <p:cNvPr id="246" name="Graphic 245" descr="Cursor with solid fill">
            <a:extLst>
              <a:ext uri="{FF2B5EF4-FFF2-40B4-BE49-F238E27FC236}">
                <a16:creationId xmlns:a16="http://schemas.microsoft.com/office/drawing/2014/main" id="{87E6F7D3-8DFA-4C9A-8850-22C780525E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4449" y="642106"/>
            <a:ext cx="301752" cy="301752"/>
          </a:xfrm>
          <a:prstGeom prst="rect">
            <a:avLst/>
          </a:prstGeom>
        </p:spPr>
      </p:pic>
      <p:cxnSp>
        <p:nvCxnSpPr>
          <p:cNvPr id="247" name="Connector: Elbow 246">
            <a:extLst>
              <a:ext uri="{FF2B5EF4-FFF2-40B4-BE49-F238E27FC236}">
                <a16:creationId xmlns:a16="http://schemas.microsoft.com/office/drawing/2014/main" id="{1A422961-D37C-4C0C-9768-4B301BDF5B40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9632" y="1685940"/>
            <a:ext cx="369331" cy="21643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CHD">
            <a:extLst>
              <a:ext uri="{FF2B5EF4-FFF2-40B4-BE49-F238E27FC236}">
                <a16:creationId xmlns:a16="http://schemas.microsoft.com/office/drawing/2014/main" id="{1703433D-0E6E-4999-86FF-1DEB37E9F20E}"/>
              </a:ext>
            </a:extLst>
          </p:cNvPr>
          <p:cNvSpPr txBox="1"/>
          <p:nvPr/>
        </p:nvSpPr>
        <p:spPr>
          <a:xfrm>
            <a:off x="5444075" y="1486160"/>
            <a:ext cx="2560320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Coronary Heart Disease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89DC3A3-E5AE-4186-8E51-ED5AB35CDF6A}"/>
              </a:ext>
            </a:extLst>
          </p:cNvPr>
          <p:cNvGrpSpPr/>
          <p:nvPr/>
        </p:nvGrpSpPr>
        <p:grpSpPr>
          <a:xfrm>
            <a:off x="3551499" y="1485544"/>
            <a:ext cx="1755221" cy="412712"/>
            <a:chOff x="3551499" y="1485544"/>
            <a:chExt cx="1755221" cy="412712"/>
          </a:xfrm>
        </p:grpSpPr>
        <p:pic>
          <p:nvPicPr>
            <p:cNvPr id="108" name="Graphic 107" descr="Woman with solid fill">
              <a:extLst>
                <a:ext uri="{FF2B5EF4-FFF2-40B4-BE49-F238E27FC236}">
                  <a16:creationId xmlns:a16="http://schemas.microsoft.com/office/drawing/2014/main" id="{7E95FEA6-55D7-4381-A780-31CC8ABF9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551499" y="1485544"/>
              <a:ext cx="404027" cy="412712"/>
            </a:xfrm>
            <a:prstGeom prst="rect">
              <a:avLst/>
            </a:prstGeom>
          </p:spPr>
        </p:pic>
        <p:pic>
          <p:nvPicPr>
            <p:cNvPr id="110" name="Graphic 109" descr="Woman with solid fill">
              <a:extLst>
                <a:ext uri="{FF2B5EF4-FFF2-40B4-BE49-F238E27FC236}">
                  <a16:creationId xmlns:a16="http://schemas.microsoft.com/office/drawing/2014/main" id="{A4C5C075-4F28-4E99-AC8C-B03346529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76698" y="1485544"/>
              <a:ext cx="404027" cy="412712"/>
            </a:xfrm>
            <a:prstGeom prst="rect">
              <a:avLst/>
            </a:prstGeom>
          </p:spPr>
        </p:pic>
        <p:pic>
          <p:nvPicPr>
            <p:cNvPr id="111" name="Graphic 110" descr="Woman with solid fill">
              <a:extLst>
                <a:ext uri="{FF2B5EF4-FFF2-40B4-BE49-F238E27FC236}">
                  <a16:creationId xmlns:a16="http://schemas.microsoft.com/office/drawing/2014/main" id="{518FC02E-935D-4618-9490-BB3990FBF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001897" y="1485544"/>
              <a:ext cx="404027" cy="412712"/>
            </a:xfrm>
            <a:prstGeom prst="rect">
              <a:avLst/>
            </a:prstGeom>
          </p:spPr>
        </p:pic>
        <p:pic>
          <p:nvPicPr>
            <p:cNvPr id="112" name="Graphic 111" descr="Woman with solid fill">
              <a:extLst>
                <a:ext uri="{FF2B5EF4-FFF2-40B4-BE49-F238E27FC236}">
                  <a16:creationId xmlns:a16="http://schemas.microsoft.com/office/drawing/2014/main" id="{DEACD557-E642-4032-BE43-A26A119EE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227650" y="1485544"/>
              <a:ext cx="404027" cy="412712"/>
            </a:xfrm>
            <a:prstGeom prst="rect">
              <a:avLst/>
            </a:prstGeom>
          </p:spPr>
        </p:pic>
        <p:pic>
          <p:nvPicPr>
            <p:cNvPr id="114" name="Graphic 113" descr="Woman with solid fill">
              <a:extLst>
                <a:ext uri="{FF2B5EF4-FFF2-40B4-BE49-F238E27FC236}">
                  <a16:creationId xmlns:a16="http://schemas.microsoft.com/office/drawing/2014/main" id="{45E95A88-4D8F-467F-8CBF-DD3B6A5BA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452634" y="1485544"/>
              <a:ext cx="404027" cy="412712"/>
            </a:xfrm>
            <a:prstGeom prst="rect">
              <a:avLst/>
            </a:prstGeom>
          </p:spPr>
        </p:pic>
        <p:pic>
          <p:nvPicPr>
            <p:cNvPr id="119" name="Graphic 118" descr="Woman with solid fill">
              <a:extLst>
                <a:ext uri="{FF2B5EF4-FFF2-40B4-BE49-F238E27FC236}">
                  <a16:creationId xmlns:a16="http://schemas.microsoft.com/office/drawing/2014/main" id="{3C541BBF-988F-48C7-B1DB-03BF33859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77494" y="1485544"/>
              <a:ext cx="404027" cy="412712"/>
            </a:xfrm>
            <a:prstGeom prst="rect">
              <a:avLst/>
            </a:prstGeom>
          </p:spPr>
        </p:pic>
        <p:pic>
          <p:nvPicPr>
            <p:cNvPr id="120" name="Graphic 119" descr="Woman with solid fill">
              <a:extLst>
                <a:ext uri="{FF2B5EF4-FFF2-40B4-BE49-F238E27FC236}">
                  <a16:creationId xmlns:a16="http://schemas.microsoft.com/office/drawing/2014/main" id="{B54A1245-F3EC-490C-AACC-5ADDB2191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902693" y="1485544"/>
              <a:ext cx="404027" cy="412712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33B357A-6816-491B-9B57-184597096A1C}"/>
              </a:ext>
            </a:extLst>
          </p:cNvPr>
          <p:cNvGrpSpPr/>
          <p:nvPr/>
        </p:nvGrpSpPr>
        <p:grpSpPr>
          <a:xfrm>
            <a:off x="3979636" y="1485544"/>
            <a:ext cx="1327084" cy="412712"/>
            <a:chOff x="3979636" y="1485544"/>
            <a:chExt cx="1327084" cy="412712"/>
          </a:xfrm>
        </p:grpSpPr>
        <p:pic>
          <p:nvPicPr>
            <p:cNvPr id="124" name="Graphic 123" descr="Woman with solid fill">
              <a:extLst>
                <a:ext uri="{FF2B5EF4-FFF2-40B4-BE49-F238E27FC236}">
                  <a16:creationId xmlns:a16="http://schemas.microsoft.com/office/drawing/2014/main" id="{C6879C58-3CBD-4C1A-8809-23A25385E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001896" y="1485544"/>
              <a:ext cx="404028" cy="412712"/>
            </a:xfrm>
            <a:prstGeom prst="rect">
              <a:avLst/>
            </a:prstGeom>
          </p:spPr>
        </p:pic>
        <p:pic>
          <p:nvPicPr>
            <p:cNvPr id="125" name="Graphic 124" descr="Woman with solid fill">
              <a:extLst>
                <a:ext uri="{FF2B5EF4-FFF2-40B4-BE49-F238E27FC236}">
                  <a16:creationId xmlns:a16="http://schemas.microsoft.com/office/drawing/2014/main" id="{67391094-43AD-4398-98D3-8763271ED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227649" y="1485544"/>
              <a:ext cx="404028" cy="412712"/>
            </a:xfrm>
            <a:prstGeom prst="rect">
              <a:avLst/>
            </a:prstGeom>
          </p:spPr>
        </p:pic>
        <p:pic>
          <p:nvPicPr>
            <p:cNvPr id="126" name="Graphic 125" descr="Woman with solid fill">
              <a:extLst>
                <a:ext uri="{FF2B5EF4-FFF2-40B4-BE49-F238E27FC236}">
                  <a16:creationId xmlns:a16="http://schemas.microsoft.com/office/drawing/2014/main" id="{DA9183EE-4D50-4CFC-B88B-D6A868C8B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452633" y="1485544"/>
              <a:ext cx="404028" cy="412712"/>
            </a:xfrm>
            <a:prstGeom prst="rect">
              <a:avLst/>
            </a:prstGeom>
          </p:spPr>
        </p:pic>
        <p:pic>
          <p:nvPicPr>
            <p:cNvPr id="127" name="Graphic 126" descr="Woman with solid fill">
              <a:extLst>
                <a:ext uri="{FF2B5EF4-FFF2-40B4-BE49-F238E27FC236}">
                  <a16:creationId xmlns:a16="http://schemas.microsoft.com/office/drawing/2014/main" id="{CAE997FE-5C1F-4182-819C-A84953B5C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77493" y="1485544"/>
              <a:ext cx="404028" cy="412712"/>
            </a:xfrm>
            <a:prstGeom prst="rect">
              <a:avLst/>
            </a:prstGeom>
          </p:spPr>
        </p:pic>
        <p:pic>
          <p:nvPicPr>
            <p:cNvPr id="128" name="Graphic 127" descr="Woman with solid fill">
              <a:extLst>
                <a:ext uri="{FF2B5EF4-FFF2-40B4-BE49-F238E27FC236}">
                  <a16:creationId xmlns:a16="http://schemas.microsoft.com/office/drawing/2014/main" id="{183161E0-85CB-454A-BF49-E7F95C010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02692" y="1485544"/>
              <a:ext cx="404028" cy="412712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E2276D2-ECF6-4362-8694-B7730CC60ED7}"/>
                </a:ext>
              </a:extLst>
            </p:cNvPr>
            <p:cNvGrpSpPr/>
            <p:nvPr/>
          </p:nvGrpSpPr>
          <p:grpSpPr>
            <a:xfrm>
              <a:off x="3979636" y="1499334"/>
              <a:ext cx="93556" cy="385454"/>
              <a:chOff x="3979636" y="1499334"/>
              <a:chExt cx="93556" cy="385454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E3BDA636-3B49-41F3-BF0F-868D23EAE9A8}"/>
                  </a:ext>
                </a:extLst>
              </p:cNvPr>
              <p:cNvSpPr/>
              <p:nvPr/>
            </p:nvSpPr>
            <p:spPr>
              <a:xfrm flipH="1">
                <a:off x="3979636" y="1499334"/>
                <a:ext cx="35313" cy="70276"/>
              </a:xfrm>
              <a:custGeom>
                <a:avLst/>
                <a:gdLst>
                  <a:gd name="connsiteX0" fmla="*/ 93837 w 93837"/>
                  <a:gd name="connsiteY0" fmla="*/ 46919 h 93837"/>
                  <a:gd name="connsiteX1" fmla="*/ 46918 w 93837"/>
                  <a:gd name="connsiteY1" fmla="*/ 93837 h 93837"/>
                  <a:gd name="connsiteX2" fmla="*/ 0 w 93837"/>
                  <a:gd name="connsiteY2" fmla="*/ 46919 h 93837"/>
                  <a:gd name="connsiteX3" fmla="*/ 46918 w 93837"/>
                  <a:gd name="connsiteY3" fmla="*/ 0 h 93837"/>
                  <a:gd name="connsiteX4" fmla="*/ 93837 w 93837"/>
                  <a:gd name="connsiteY4" fmla="*/ 46919 h 93837"/>
                  <a:gd name="connsiteX0" fmla="*/ 48593 w 51009"/>
                  <a:gd name="connsiteY0" fmla="*/ 56522 h 94044"/>
                  <a:gd name="connsiteX1" fmla="*/ 46918 w 51009"/>
                  <a:gd name="connsiteY1" fmla="*/ 93915 h 94044"/>
                  <a:gd name="connsiteX2" fmla="*/ 0 w 51009"/>
                  <a:gd name="connsiteY2" fmla="*/ 46997 h 94044"/>
                  <a:gd name="connsiteX3" fmla="*/ 46918 w 51009"/>
                  <a:gd name="connsiteY3" fmla="*/ 78 h 94044"/>
                  <a:gd name="connsiteX4" fmla="*/ 48593 w 51009"/>
                  <a:gd name="connsiteY4" fmla="*/ 56522 h 94044"/>
                  <a:gd name="connsiteX0" fmla="*/ 48593 w 51009"/>
                  <a:gd name="connsiteY0" fmla="*/ 56522 h 94044"/>
                  <a:gd name="connsiteX1" fmla="*/ 46918 w 51009"/>
                  <a:gd name="connsiteY1" fmla="*/ 93915 h 94044"/>
                  <a:gd name="connsiteX2" fmla="*/ 0 w 51009"/>
                  <a:gd name="connsiteY2" fmla="*/ 46997 h 94044"/>
                  <a:gd name="connsiteX3" fmla="*/ 46918 w 51009"/>
                  <a:gd name="connsiteY3" fmla="*/ 78 h 94044"/>
                  <a:gd name="connsiteX4" fmla="*/ 48593 w 51009"/>
                  <a:gd name="connsiteY4" fmla="*/ 56522 h 94044"/>
                  <a:gd name="connsiteX0" fmla="*/ 48593 w 51009"/>
                  <a:gd name="connsiteY0" fmla="*/ 56624 h 94146"/>
                  <a:gd name="connsiteX1" fmla="*/ 46918 w 51009"/>
                  <a:gd name="connsiteY1" fmla="*/ 94017 h 94146"/>
                  <a:gd name="connsiteX2" fmla="*/ 0 w 51009"/>
                  <a:gd name="connsiteY2" fmla="*/ 47099 h 94146"/>
                  <a:gd name="connsiteX3" fmla="*/ 46918 w 51009"/>
                  <a:gd name="connsiteY3" fmla="*/ 180 h 94146"/>
                  <a:gd name="connsiteX4" fmla="*/ 48593 w 51009"/>
                  <a:gd name="connsiteY4" fmla="*/ 56624 h 94146"/>
                  <a:gd name="connsiteX0" fmla="*/ 48593 w 51009"/>
                  <a:gd name="connsiteY0" fmla="*/ 56624 h 94146"/>
                  <a:gd name="connsiteX1" fmla="*/ 46918 w 51009"/>
                  <a:gd name="connsiteY1" fmla="*/ 94017 h 94146"/>
                  <a:gd name="connsiteX2" fmla="*/ 0 w 51009"/>
                  <a:gd name="connsiteY2" fmla="*/ 47099 h 94146"/>
                  <a:gd name="connsiteX3" fmla="*/ 46918 w 51009"/>
                  <a:gd name="connsiteY3" fmla="*/ 180 h 94146"/>
                  <a:gd name="connsiteX4" fmla="*/ 48593 w 51009"/>
                  <a:gd name="connsiteY4" fmla="*/ 56624 h 94146"/>
                  <a:gd name="connsiteX0" fmla="*/ 46918 w 52783"/>
                  <a:gd name="connsiteY0" fmla="*/ 2034 h 95871"/>
                  <a:gd name="connsiteX1" fmla="*/ 46918 w 52783"/>
                  <a:gd name="connsiteY1" fmla="*/ 95871 h 95871"/>
                  <a:gd name="connsiteX2" fmla="*/ 0 w 52783"/>
                  <a:gd name="connsiteY2" fmla="*/ 48953 h 95871"/>
                  <a:gd name="connsiteX3" fmla="*/ 46918 w 52783"/>
                  <a:gd name="connsiteY3" fmla="*/ 2034 h 95871"/>
                  <a:gd name="connsiteX0" fmla="*/ 46918 w 52783"/>
                  <a:gd name="connsiteY0" fmla="*/ 2034 h 95871"/>
                  <a:gd name="connsiteX1" fmla="*/ 46918 w 52783"/>
                  <a:gd name="connsiteY1" fmla="*/ 95871 h 95871"/>
                  <a:gd name="connsiteX2" fmla="*/ 0 w 52783"/>
                  <a:gd name="connsiteY2" fmla="*/ 48953 h 95871"/>
                  <a:gd name="connsiteX3" fmla="*/ 46918 w 52783"/>
                  <a:gd name="connsiteY3" fmla="*/ 2034 h 95871"/>
                  <a:gd name="connsiteX0" fmla="*/ 46918 w 51176"/>
                  <a:gd name="connsiteY0" fmla="*/ 2034 h 95871"/>
                  <a:gd name="connsiteX1" fmla="*/ 46918 w 51176"/>
                  <a:gd name="connsiteY1" fmla="*/ 95871 h 95871"/>
                  <a:gd name="connsiteX2" fmla="*/ 0 w 51176"/>
                  <a:gd name="connsiteY2" fmla="*/ 48953 h 95871"/>
                  <a:gd name="connsiteX3" fmla="*/ 46918 w 51176"/>
                  <a:gd name="connsiteY3" fmla="*/ 2034 h 95871"/>
                  <a:gd name="connsiteX0" fmla="*/ 46918 w 51176"/>
                  <a:gd name="connsiteY0" fmla="*/ 2034 h 95871"/>
                  <a:gd name="connsiteX1" fmla="*/ 46918 w 51176"/>
                  <a:gd name="connsiteY1" fmla="*/ 95871 h 95871"/>
                  <a:gd name="connsiteX2" fmla="*/ 0 w 51176"/>
                  <a:gd name="connsiteY2" fmla="*/ 48953 h 95871"/>
                  <a:gd name="connsiteX3" fmla="*/ 46918 w 51176"/>
                  <a:gd name="connsiteY3" fmla="*/ 2034 h 95871"/>
                  <a:gd name="connsiteX0" fmla="*/ 46918 w 49210"/>
                  <a:gd name="connsiteY0" fmla="*/ 2034 h 95871"/>
                  <a:gd name="connsiteX1" fmla="*/ 46918 w 49210"/>
                  <a:gd name="connsiteY1" fmla="*/ 95871 h 95871"/>
                  <a:gd name="connsiteX2" fmla="*/ 0 w 49210"/>
                  <a:gd name="connsiteY2" fmla="*/ 48953 h 95871"/>
                  <a:gd name="connsiteX3" fmla="*/ 46918 w 49210"/>
                  <a:gd name="connsiteY3" fmla="*/ 2034 h 95871"/>
                  <a:gd name="connsiteX0" fmla="*/ 46918 w 49210"/>
                  <a:gd name="connsiteY0" fmla="*/ 2034 h 95871"/>
                  <a:gd name="connsiteX1" fmla="*/ 46918 w 49210"/>
                  <a:gd name="connsiteY1" fmla="*/ 95871 h 95871"/>
                  <a:gd name="connsiteX2" fmla="*/ 0 w 49210"/>
                  <a:gd name="connsiteY2" fmla="*/ 48953 h 95871"/>
                  <a:gd name="connsiteX3" fmla="*/ 46918 w 49210"/>
                  <a:gd name="connsiteY3" fmla="*/ 2034 h 95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210" h="95871">
                    <a:moveTo>
                      <a:pt x="46918" y="2034"/>
                    </a:moveTo>
                    <a:cubicBezTo>
                      <a:pt x="49975" y="38429"/>
                      <a:pt x="49975" y="52332"/>
                      <a:pt x="46918" y="95871"/>
                    </a:cubicBezTo>
                    <a:cubicBezTo>
                      <a:pt x="38819" y="94284"/>
                      <a:pt x="2381" y="92133"/>
                      <a:pt x="0" y="48953"/>
                    </a:cubicBezTo>
                    <a:cubicBezTo>
                      <a:pt x="0" y="8752"/>
                      <a:pt x="39098" y="-5786"/>
                      <a:pt x="46918" y="2034"/>
                    </a:cubicBezTo>
                    <a:close/>
                  </a:path>
                </a:pathLst>
              </a:custGeom>
              <a:solidFill>
                <a:schemeClr val="bg1"/>
              </a:solidFill>
              <a:ln w="5854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408931C-6B82-474E-904C-E62DAB0CAE9E}"/>
                  </a:ext>
                </a:extLst>
              </p:cNvPr>
              <p:cNvSpPr/>
              <p:nvPr/>
            </p:nvSpPr>
            <p:spPr>
              <a:xfrm flipH="1">
                <a:off x="3979636" y="1575254"/>
                <a:ext cx="93556" cy="309534"/>
              </a:xfrm>
              <a:custGeom>
                <a:avLst/>
                <a:gdLst>
                  <a:gd name="connsiteX0" fmla="*/ 257782 w 258690"/>
                  <a:gd name="connsiteY0" fmla="*/ 180636 h 422266"/>
                  <a:gd name="connsiteX1" fmla="*/ 215555 w 258690"/>
                  <a:gd name="connsiteY1" fmla="*/ 35189 h 422266"/>
                  <a:gd name="connsiteX2" fmla="*/ 206171 w 258690"/>
                  <a:gd name="connsiteY2" fmla="*/ 22286 h 422266"/>
                  <a:gd name="connsiteX3" fmla="*/ 156907 w 258690"/>
                  <a:gd name="connsiteY3" fmla="*/ 2346 h 422266"/>
                  <a:gd name="connsiteX4" fmla="*/ 129929 w 258690"/>
                  <a:gd name="connsiteY4" fmla="*/ 0 h 422266"/>
                  <a:gd name="connsiteX5" fmla="*/ 102950 w 258690"/>
                  <a:gd name="connsiteY5" fmla="*/ 2346 h 422266"/>
                  <a:gd name="connsiteX6" fmla="*/ 53686 w 258690"/>
                  <a:gd name="connsiteY6" fmla="*/ 22286 h 422266"/>
                  <a:gd name="connsiteX7" fmla="*/ 44302 w 258690"/>
                  <a:gd name="connsiteY7" fmla="*/ 35189 h 422266"/>
                  <a:gd name="connsiteX8" fmla="*/ 903 w 258690"/>
                  <a:gd name="connsiteY8" fmla="*/ 180636 h 422266"/>
                  <a:gd name="connsiteX9" fmla="*/ 17324 w 258690"/>
                  <a:gd name="connsiteY9" fmla="*/ 209960 h 422266"/>
                  <a:gd name="connsiteX10" fmla="*/ 24362 w 258690"/>
                  <a:gd name="connsiteY10" fmla="*/ 211133 h 422266"/>
                  <a:gd name="connsiteX11" fmla="*/ 46648 w 258690"/>
                  <a:gd name="connsiteY11" fmla="*/ 194712 h 422266"/>
                  <a:gd name="connsiteX12" fmla="*/ 83010 w 258690"/>
                  <a:gd name="connsiteY12" fmla="*/ 71551 h 422266"/>
                  <a:gd name="connsiteX13" fmla="*/ 83010 w 258690"/>
                  <a:gd name="connsiteY13" fmla="*/ 112604 h 422266"/>
                  <a:gd name="connsiteX14" fmla="*/ 39611 w 258690"/>
                  <a:gd name="connsiteY14" fmla="*/ 258052 h 422266"/>
                  <a:gd name="connsiteX15" fmla="*/ 71280 w 258690"/>
                  <a:gd name="connsiteY15" fmla="*/ 258052 h 422266"/>
                  <a:gd name="connsiteX16" fmla="*/ 71280 w 258690"/>
                  <a:gd name="connsiteY16" fmla="*/ 422267 h 422266"/>
                  <a:gd name="connsiteX17" fmla="*/ 118199 w 258690"/>
                  <a:gd name="connsiteY17" fmla="*/ 422267 h 422266"/>
                  <a:gd name="connsiteX18" fmla="*/ 118199 w 258690"/>
                  <a:gd name="connsiteY18" fmla="*/ 258052 h 422266"/>
                  <a:gd name="connsiteX19" fmla="*/ 141658 w 258690"/>
                  <a:gd name="connsiteY19" fmla="*/ 258052 h 422266"/>
                  <a:gd name="connsiteX20" fmla="*/ 141658 w 258690"/>
                  <a:gd name="connsiteY20" fmla="*/ 422267 h 422266"/>
                  <a:gd name="connsiteX21" fmla="*/ 188577 w 258690"/>
                  <a:gd name="connsiteY21" fmla="*/ 422267 h 422266"/>
                  <a:gd name="connsiteX22" fmla="*/ 188577 w 258690"/>
                  <a:gd name="connsiteY22" fmla="*/ 258052 h 422266"/>
                  <a:gd name="connsiteX23" fmla="*/ 220247 w 258690"/>
                  <a:gd name="connsiteY23" fmla="*/ 258052 h 422266"/>
                  <a:gd name="connsiteX24" fmla="*/ 176847 w 258690"/>
                  <a:gd name="connsiteY24" fmla="*/ 112604 h 422266"/>
                  <a:gd name="connsiteX25" fmla="*/ 176847 w 258690"/>
                  <a:gd name="connsiteY25" fmla="*/ 71551 h 422266"/>
                  <a:gd name="connsiteX26" fmla="*/ 213209 w 258690"/>
                  <a:gd name="connsiteY26" fmla="*/ 194712 h 422266"/>
                  <a:gd name="connsiteX27" fmla="*/ 235495 w 258690"/>
                  <a:gd name="connsiteY27" fmla="*/ 211133 h 422266"/>
                  <a:gd name="connsiteX28" fmla="*/ 242533 w 258690"/>
                  <a:gd name="connsiteY28" fmla="*/ 209960 h 422266"/>
                  <a:gd name="connsiteX29" fmla="*/ 257782 w 258690"/>
                  <a:gd name="connsiteY29" fmla="*/ 180636 h 422266"/>
                  <a:gd name="connsiteX0" fmla="*/ 257782 w 258690"/>
                  <a:gd name="connsiteY0" fmla="*/ 180636 h 422267"/>
                  <a:gd name="connsiteX1" fmla="*/ 206171 w 258690"/>
                  <a:gd name="connsiteY1" fmla="*/ 22286 h 422267"/>
                  <a:gd name="connsiteX2" fmla="*/ 156907 w 258690"/>
                  <a:gd name="connsiteY2" fmla="*/ 2346 h 422267"/>
                  <a:gd name="connsiteX3" fmla="*/ 129929 w 258690"/>
                  <a:gd name="connsiteY3" fmla="*/ 0 h 422267"/>
                  <a:gd name="connsiteX4" fmla="*/ 102950 w 258690"/>
                  <a:gd name="connsiteY4" fmla="*/ 2346 h 422267"/>
                  <a:gd name="connsiteX5" fmla="*/ 53686 w 258690"/>
                  <a:gd name="connsiteY5" fmla="*/ 22286 h 422267"/>
                  <a:gd name="connsiteX6" fmla="*/ 44302 w 258690"/>
                  <a:gd name="connsiteY6" fmla="*/ 35189 h 422267"/>
                  <a:gd name="connsiteX7" fmla="*/ 903 w 258690"/>
                  <a:gd name="connsiteY7" fmla="*/ 180636 h 422267"/>
                  <a:gd name="connsiteX8" fmla="*/ 17324 w 258690"/>
                  <a:gd name="connsiteY8" fmla="*/ 209960 h 422267"/>
                  <a:gd name="connsiteX9" fmla="*/ 24362 w 258690"/>
                  <a:gd name="connsiteY9" fmla="*/ 211133 h 422267"/>
                  <a:gd name="connsiteX10" fmla="*/ 46648 w 258690"/>
                  <a:gd name="connsiteY10" fmla="*/ 194712 h 422267"/>
                  <a:gd name="connsiteX11" fmla="*/ 83010 w 258690"/>
                  <a:gd name="connsiteY11" fmla="*/ 71551 h 422267"/>
                  <a:gd name="connsiteX12" fmla="*/ 83010 w 258690"/>
                  <a:gd name="connsiteY12" fmla="*/ 112604 h 422267"/>
                  <a:gd name="connsiteX13" fmla="*/ 39611 w 258690"/>
                  <a:gd name="connsiteY13" fmla="*/ 258052 h 422267"/>
                  <a:gd name="connsiteX14" fmla="*/ 71280 w 258690"/>
                  <a:gd name="connsiteY14" fmla="*/ 258052 h 422267"/>
                  <a:gd name="connsiteX15" fmla="*/ 71280 w 258690"/>
                  <a:gd name="connsiteY15" fmla="*/ 422267 h 422267"/>
                  <a:gd name="connsiteX16" fmla="*/ 118199 w 258690"/>
                  <a:gd name="connsiteY16" fmla="*/ 422267 h 422267"/>
                  <a:gd name="connsiteX17" fmla="*/ 118199 w 258690"/>
                  <a:gd name="connsiteY17" fmla="*/ 258052 h 422267"/>
                  <a:gd name="connsiteX18" fmla="*/ 141658 w 258690"/>
                  <a:gd name="connsiteY18" fmla="*/ 258052 h 422267"/>
                  <a:gd name="connsiteX19" fmla="*/ 141658 w 258690"/>
                  <a:gd name="connsiteY19" fmla="*/ 422267 h 422267"/>
                  <a:gd name="connsiteX20" fmla="*/ 188577 w 258690"/>
                  <a:gd name="connsiteY20" fmla="*/ 422267 h 422267"/>
                  <a:gd name="connsiteX21" fmla="*/ 188577 w 258690"/>
                  <a:gd name="connsiteY21" fmla="*/ 258052 h 422267"/>
                  <a:gd name="connsiteX22" fmla="*/ 220247 w 258690"/>
                  <a:gd name="connsiteY22" fmla="*/ 258052 h 422267"/>
                  <a:gd name="connsiteX23" fmla="*/ 176847 w 258690"/>
                  <a:gd name="connsiteY23" fmla="*/ 112604 h 422267"/>
                  <a:gd name="connsiteX24" fmla="*/ 176847 w 258690"/>
                  <a:gd name="connsiteY24" fmla="*/ 71551 h 422267"/>
                  <a:gd name="connsiteX25" fmla="*/ 213209 w 258690"/>
                  <a:gd name="connsiteY25" fmla="*/ 194712 h 422267"/>
                  <a:gd name="connsiteX26" fmla="*/ 235495 w 258690"/>
                  <a:gd name="connsiteY26" fmla="*/ 211133 h 422267"/>
                  <a:gd name="connsiteX27" fmla="*/ 242533 w 258690"/>
                  <a:gd name="connsiteY27" fmla="*/ 209960 h 422267"/>
                  <a:gd name="connsiteX28" fmla="*/ 257782 w 258690"/>
                  <a:gd name="connsiteY28" fmla="*/ 180636 h 422267"/>
                  <a:gd name="connsiteX0" fmla="*/ 257782 w 258690"/>
                  <a:gd name="connsiteY0" fmla="*/ 180636 h 422267"/>
                  <a:gd name="connsiteX1" fmla="*/ 156907 w 258690"/>
                  <a:gd name="connsiteY1" fmla="*/ 2346 h 422267"/>
                  <a:gd name="connsiteX2" fmla="*/ 129929 w 258690"/>
                  <a:gd name="connsiteY2" fmla="*/ 0 h 422267"/>
                  <a:gd name="connsiteX3" fmla="*/ 102950 w 258690"/>
                  <a:gd name="connsiteY3" fmla="*/ 2346 h 422267"/>
                  <a:gd name="connsiteX4" fmla="*/ 53686 w 258690"/>
                  <a:gd name="connsiteY4" fmla="*/ 22286 h 422267"/>
                  <a:gd name="connsiteX5" fmla="*/ 44302 w 258690"/>
                  <a:gd name="connsiteY5" fmla="*/ 35189 h 422267"/>
                  <a:gd name="connsiteX6" fmla="*/ 903 w 258690"/>
                  <a:gd name="connsiteY6" fmla="*/ 180636 h 422267"/>
                  <a:gd name="connsiteX7" fmla="*/ 17324 w 258690"/>
                  <a:gd name="connsiteY7" fmla="*/ 209960 h 422267"/>
                  <a:gd name="connsiteX8" fmla="*/ 24362 w 258690"/>
                  <a:gd name="connsiteY8" fmla="*/ 211133 h 422267"/>
                  <a:gd name="connsiteX9" fmla="*/ 46648 w 258690"/>
                  <a:gd name="connsiteY9" fmla="*/ 194712 h 422267"/>
                  <a:gd name="connsiteX10" fmla="*/ 83010 w 258690"/>
                  <a:gd name="connsiteY10" fmla="*/ 71551 h 422267"/>
                  <a:gd name="connsiteX11" fmla="*/ 83010 w 258690"/>
                  <a:gd name="connsiteY11" fmla="*/ 112604 h 422267"/>
                  <a:gd name="connsiteX12" fmla="*/ 39611 w 258690"/>
                  <a:gd name="connsiteY12" fmla="*/ 258052 h 422267"/>
                  <a:gd name="connsiteX13" fmla="*/ 71280 w 258690"/>
                  <a:gd name="connsiteY13" fmla="*/ 258052 h 422267"/>
                  <a:gd name="connsiteX14" fmla="*/ 71280 w 258690"/>
                  <a:gd name="connsiteY14" fmla="*/ 422267 h 422267"/>
                  <a:gd name="connsiteX15" fmla="*/ 118199 w 258690"/>
                  <a:gd name="connsiteY15" fmla="*/ 422267 h 422267"/>
                  <a:gd name="connsiteX16" fmla="*/ 118199 w 258690"/>
                  <a:gd name="connsiteY16" fmla="*/ 258052 h 422267"/>
                  <a:gd name="connsiteX17" fmla="*/ 141658 w 258690"/>
                  <a:gd name="connsiteY17" fmla="*/ 258052 h 422267"/>
                  <a:gd name="connsiteX18" fmla="*/ 141658 w 258690"/>
                  <a:gd name="connsiteY18" fmla="*/ 422267 h 422267"/>
                  <a:gd name="connsiteX19" fmla="*/ 188577 w 258690"/>
                  <a:gd name="connsiteY19" fmla="*/ 422267 h 422267"/>
                  <a:gd name="connsiteX20" fmla="*/ 188577 w 258690"/>
                  <a:gd name="connsiteY20" fmla="*/ 258052 h 422267"/>
                  <a:gd name="connsiteX21" fmla="*/ 220247 w 258690"/>
                  <a:gd name="connsiteY21" fmla="*/ 258052 h 422267"/>
                  <a:gd name="connsiteX22" fmla="*/ 176847 w 258690"/>
                  <a:gd name="connsiteY22" fmla="*/ 112604 h 422267"/>
                  <a:gd name="connsiteX23" fmla="*/ 176847 w 258690"/>
                  <a:gd name="connsiteY23" fmla="*/ 71551 h 422267"/>
                  <a:gd name="connsiteX24" fmla="*/ 213209 w 258690"/>
                  <a:gd name="connsiteY24" fmla="*/ 194712 h 422267"/>
                  <a:gd name="connsiteX25" fmla="*/ 235495 w 258690"/>
                  <a:gd name="connsiteY25" fmla="*/ 211133 h 422267"/>
                  <a:gd name="connsiteX26" fmla="*/ 242533 w 258690"/>
                  <a:gd name="connsiteY26" fmla="*/ 209960 h 422267"/>
                  <a:gd name="connsiteX27" fmla="*/ 257782 w 258690"/>
                  <a:gd name="connsiteY27" fmla="*/ 180636 h 422267"/>
                  <a:gd name="connsiteX0" fmla="*/ 242533 w 242533"/>
                  <a:gd name="connsiteY0" fmla="*/ 223798 h 436105"/>
                  <a:gd name="connsiteX1" fmla="*/ 156907 w 242533"/>
                  <a:gd name="connsiteY1" fmla="*/ 16184 h 436105"/>
                  <a:gd name="connsiteX2" fmla="*/ 129929 w 242533"/>
                  <a:gd name="connsiteY2" fmla="*/ 13838 h 436105"/>
                  <a:gd name="connsiteX3" fmla="*/ 102950 w 242533"/>
                  <a:gd name="connsiteY3" fmla="*/ 16184 h 436105"/>
                  <a:gd name="connsiteX4" fmla="*/ 53686 w 242533"/>
                  <a:gd name="connsiteY4" fmla="*/ 36124 h 436105"/>
                  <a:gd name="connsiteX5" fmla="*/ 44302 w 242533"/>
                  <a:gd name="connsiteY5" fmla="*/ 49027 h 436105"/>
                  <a:gd name="connsiteX6" fmla="*/ 903 w 242533"/>
                  <a:gd name="connsiteY6" fmla="*/ 194474 h 436105"/>
                  <a:gd name="connsiteX7" fmla="*/ 17324 w 242533"/>
                  <a:gd name="connsiteY7" fmla="*/ 223798 h 436105"/>
                  <a:gd name="connsiteX8" fmla="*/ 24362 w 242533"/>
                  <a:gd name="connsiteY8" fmla="*/ 224971 h 436105"/>
                  <a:gd name="connsiteX9" fmla="*/ 46648 w 242533"/>
                  <a:gd name="connsiteY9" fmla="*/ 208550 h 436105"/>
                  <a:gd name="connsiteX10" fmla="*/ 83010 w 242533"/>
                  <a:gd name="connsiteY10" fmla="*/ 85389 h 436105"/>
                  <a:gd name="connsiteX11" fmla="*/ 83010 w 242533"/>
                  <a:gd name="connsiteY11" fmla="*/ 126442 h 436105"/>
                  <a:gd name="connsiteX12" fmla="*/ 39611 w 242533"/>
                  <a:gd name="connsiteY12" fmla="*/ 271890 h 436105"/>
                  <a:gd name="connsiteX13" fmla="*/ 71280 w 242533"/>
                  <a:gd name="connsiteY13" fmla="*/ 271890 h 436105"/>
                  <a:gd name="connsiteX14" fmla="*/ 71280 w 242533"/>
                  <a:gd name="connsiteY14" fmla="*/ 436105 h 436105"/>
                  <a:gd name="connsiteX15" fmla="*/ 118199 w 242533"/>
                  <a:gd name="connsiteY15" fmla="*/ 436105 h 436105"/>
                  <a:gd name="connsiteX16" fmla="*/ 118199 w 242533"/>
                  <a:gd name="connsiteY16" fmla="*/ 271890 h 436105"/>
                  <a:gd name="connsiteX17" fmla="*/ 141658 w 242533"/>
                  <a:gd name="connsiteY17" fmla="*/ 271890 h 436105"/>
                  <a:gd name="connsiteX18" fmla="*/ 141658 w 242533"/>
                  <a:gd name="connsiteY18" fmla="*/ 436105 h 436105"/>
                  <a:gd name="connsiteX19" fmla="*/ 188577 w 242533"/>
                  <a:gd name="connsiteY19" fmla="*/ 436105 h 436105"/>
                  <a:gd name="connsiteX20" fmla="*/ 188577 w 242533"/>
                  <a:gd name="connsiteY20" fmla="*/ 271890 h 436105"/>
                  <a:gd name="connsiteX21" fmla="*/ 220247 w 242533"/>
                  <a:gd name="connsiteY21" fmla="*/ 271890 h 436105"/>
                  <a:gd name="connsiteX22" fmla="*/ 176847 w 242533"/>
                  <a:gd name="connsiteY22" fmla="*/ 126442 h 436105"/>
                  <a:gd name="connsiteX23" fmla="*/ 176847 w 242533"/>
                  <a:gd name="connsiteY23" fmla="*/ 85389 h 436105"/>
                  <a:gd name="connsiteX24" fmla="*/ 213209 w 242533"/>
                  <a:gd name="connsiteY24" fmla="*/ 208550 h 436105"/>
                  <a:gd name="connsiteX25" fmla="*/ 235495 w 242533"/>
                  <a:gd name="connsiteY25" fmla="*/ 224971 h 436105"/>
                  <a:gd name="connsiteX26" fmla="*/ 242533 w 242533"/>
                  <a:gd name="connsiteY26" fmla="*/ 223798 h 436105"/>
                  <a:gd name="connsiteX0" fmla="*/ 235495 w 235495"/>
                  <a:gd name="connsiteY0" fmla="*/ 225058 h 436192"/>
                  <a:gd name="connsiteX1" fmla="*/ 156907 w 235495"/>
                  <a:gd name="connsiteY1" fmla="*/ 16271 h 436192"/>
                  <a:gd name="connsiteX2" fmla="*/ 129929 w 235495"/>
                  <a:gd name="connsiteY2" fmla="*/ 13925 h 436192"/>
                  <a:gd name="connsiteX3" fmla="*/ 102950 w 235495"/>
                  <a:gd name="connsiteY3" fmla="*/ 16271 h 436192"/>
                  <a:gd name="connsiteX4" fmla="*/ 53686 w 235495"/>
                  <a:gd name="connsiteY4" fmla="*/ 36211 h 436192"/>
                  <a:gd name="connsiteX5" fmla="*/ 44302 w 235495"/>
                  <a:gd name="connsiteY5" fmla="*/ 49114 h 436192"/>
                  <a:gd name="connsiteX6" fmla="*/ 903 w 235495"/>
                  <a:gd name="connsiteY6" fmla="*/ 194561 h 436192"/>
                  <a:gd name="connsiteX7" fmla="*/ 17324 w 235495"/>
                  <a:gd name="connsiteY7" fmla="*/ 223885 h 436192"/>
                  <a:gd name="connsiteX8" fmla="*/ 24362 w 235495"/>
                  <a:gd name="connsiteY8" fmla="*/ 225058 h 436192"/>
                  <a:gd name="connsiteX9" fmla="*/ 46648 w 235495"/>
                  <a:gd name="connsiteY9" fmla="*/ 208637 h 436192"/>
                  <a:gd name="connsiteX10" fmla="*/ 83010 w 235495"/>
                  <a:gd name="connsiteY10" fmla="*/ 85476 h 436192"/>
                  <a:gd name="connsiteX11" fmla="*/ 83010 w 235495"/>
                  <a:gd name="connsiteY11" fmla="*/ 126529 h 436192"/>
                  <a:gd name="connsiteX12" fmla="*/ 39611 w 235495"/>
                  <a:gd name="connsiteY12" fmla="*/ 271977 h 436192"/>
                  <a:gd name="connsiteX13" fmla="*/ 71280 w 235495"/>
                  <a:gd name="connsiteY13" fmla="*/ 271977 h 436192"/>
                  <a:gd name="connsiteX14" fmla="*/ 71280 w 235495"/>
                  <a:gd name="connsiteY14" fmla="*/ 436192 h 436192"/>
                  <a:gd name="connsiteX15" fmla="*/ 118199 w 235495"/>
                  <a:gd name="connsiteY15" fmla="*/ 436192 h 436192"/>
                  <a:gd name="connsiteX16" fmla="*/ 118199 w 235495"/>
                  <a:gd name="connsiteY16" fmla="*/ 271977 h 436192"/>
                  <a:gd name="connsiteX17" fmla="*/ 141658 w 235495"/>
                  <a:gd name="connsiteY17" fmla="*/ 271977 h 436192"/>
                  <a:gd name="connsiteX18" fmla="*/ 141658 w 235495"/>
                  <a:gd name="connsiteY18" fmla="*/ 436192 h 436192"/>
                  <a:gd name="connsiteX19" fmla="*/ 188577 w 235495"/>
                  <a:gd name="connsiteY19" fmla="*/ 436192 h 436192"/>
                  <a:gd name="connsiteX20" fmla="*/ 188577 w 235495"/>
                  <a:gd name="connsiteY20" fmla="*/ 271977 h 436192"/>
                  <a:gd name="connsiteX21" fmla="*/ 220247 w 235495"/>
                  <a:gd name="connsiteY21" fmla="*/ 271977 h 436192"/>
                  <a:gd name="connsiteX22" fmla="*/ 176847 w 235495"/>
                  <a:gd name="connsiteY22" fmla="*/ 126529 h 436192"/>
                  <a:gd name="connsiteX23" fmla="*/ 176847 w 235495"/>
                  <a:gd name="connsiteY23" fmla="*/ 85476 h 436192"/>
                  <a:gd name="connsiteX24" fmla="*/ 213209 w 235495"/>
                  <a:gd name="connsiteY24" fmla="*/ 208637 h 436192"/>
                  <a:gd name="connsiteX25" fmla="*/ 235495 w 235495"/>
                  <a:gd name="connsiteY25" fmla="*/ 225058 h 436192"/>
                  <a:gd name="connsiteX0" fmla="*/ 213209 w 220247"/>
                  <a:gd name="connsiteY0" fmla="*/ 207424 h 434979"/>
                  <a:gd name="connsiteX1" fmla="*/ 156907 w 220247"/>
                  <a:gd name="connsiteY1" fmla="*/ 15058 h 434979"/>
                  <a:gd name="connsiteX2" fmla="*/ 129929 w 220247"/>
                  <a:gd name="connsiteY2" fmla="*/ 12712 h 434979"/>
                  <a:gd name="connsiteX3" fmla="*/ 102950 w 220247"/>
                  <a:gd name="connsiteY3" fmla="*/ 15058 h 434979"/>
                  <a:gd name="connsiteX4" fmla="*/ 53686 w 220247"/>
                  <a:gd name="connsiteY4" fmla="*/ 34998 h 434979"/>
                  <a:gd name="connsiteX5" fmla="*/ 44302 w 220247"/>
                  <a:gd name="connsiteY5" fmla="*/ 47901 h 434979"/>
                  <a:gd name="connsiteX6" fmla="*/ 903 w 220247"/>
                  <a:gd name="connsiteY6" fmla="*/ 193348 h 434979"/>
                  <a:gd name="connsiteX7" fmla="*/ 17324 w 220247"/>
                  <a:gd name="connsiteY7" fmla="*/ 222672 h 434979"/>
                  <a:gd name="connsiteX8" fmla="*/ 24362 w 220247"/>
                  <a:gd name="connsiteY8" fmla="*/ 223845 h 434979"/>
                  <a:gd name="connsiteX9" fmla="*/ 46648 w 220247"/>
                  <a:gd name="connsiteY9" fmla="*/ 207424 h 434979"/>
                  <a:gd name="connsiteX10" fmla="*/ 83010 w 220247"/>
                  <a:gd name="connsiteY10" fmla="*/ 84263 h 434979"/>
                  <a:gd name="connsiteX11" fmla="*/ 83010 w 220247"/>
                  <a:gd name="connsiteY11" fmla="*/ 125316 h 434979"/>
                  <a:gd name="connsiteX12" fmla="*/ 39611 w 220247"/>
                  <a:gd name="connsiteY12" fmla="*/ 270764 h 434979"/>
                  <a:gd name="connsiteX13" fmla="*/ 71280 w 220247"/>
                  <a:gd name="connsiteY13" fmla="*/ 270764 h 434979"/>
                  <a:gd name="connsiteX14" fmla="*/ 71280 w 220247"/>
                  <a:gd name="connsiteY14" fmla="*/ 434979 h 434979"/>
                  <a:gd name="connsiteX15" fmla="*/ 118199 w 220247"/>
                  <a:gd name="connsiteY15" fmla="*/ 434979 h 434979"/>
                  <a:gd name="connsiteX16" fmla="*/ 118199 w 220247"/>
                  <a:gd name="connsiteY16" fmla="*/ 270764 h 434979"/>
                  <a:gd name="connsiteX17" fmla="*/ 141658 w 220247"/>
                  <a:gd name="connsiteY17" fmla="*/ 270764 h 434979"/>
                  <a:gd name="connsiteX18" fmla="*/ 141658 w 220247"/>
                  <a:gd name="connsiteY18" fmla="*/ 434979 h 434979"/>
                  <a:gd name="connsiteX19" fmla="*/ 188577 w 220247"/>
                  <a:gd name="connsiteY19" fmla="*/ 434979 h 434979"/>
                  <a:gd name="connsiteX20" fmla="*/ 188577 w 220247"/>
                  <a:gd name="connsiteY20" fmla="*/ 270764 h 434979"/>
                  <a:gd name="connsiteX21" fmla="*/ 220247 w 220247"/>
                  <a:gd name="connsiteY21" fmla="*/ 270764 h 434979"/>
                  <a:gd name="connsiteX22" fmla="*/ 176847 w 220247"/>
                  <a:gd name="connsiteY22" fmla="*/ 125316 h 434979"/>
                  <a:gd name="connsiteX23" fmla="*/ 176847 w 220247"/>
                  <a:gd name="connsiteY23" fmla="*/ 84263 h 434979"/>
                  <a:gd name="connsiteX24" fmla="*/ 213209 w 220247"/>
                  <a:gd name="connsiteY24" fmla="*/ 207424 h 434979"/>
                  <a:gd name="connsiteX0" fmla="*/ 176847 w 220247"/>
                  <a:gd name="connsiteY0" fmla="*/ 84263 h 434979"/>
                  <a:gd name="connsiteX1" fmla="*/ 156907 w 220247"/>
                  <a:gd name="connsiteY1" fmla="*/ 15058 h 434979"/>
                  <a:gd name="connsiteX2" fmla="*/ 129929 w 220247"/>
                  <a:gd name="connsiteY2" fmla="*/ 12712 h 434979"/>
                  <a:gd name="connsiteX3" fmla="*/ 102950 w 220247"/>
                  <a:gd name="connsiteY3" fmla="*/ 15058 h 434979"/>
                  <a:gd name="connsiteX4" fmla="*/ 53686 w 220247"/>
                  <a:gd name="connsiteY4" fmla="*/ 34998 h 434979"/>
                  <a:gd name="connsiteX5" fmla="*/ 44302 w 220247"/>
                  <a:gd name="connsiteY5" fmla="*/ 47901 h 434979"/>
                  <a:gd name="connsiteX6" fmla="*/ 903 w 220247"/>
                  <a:gd name="connsiteY6" fmla="*/ 193348 h 434979"/>
                  <a:gd name="connsiteX7" fmla="*/ 17324 w 220247"/>
                  <a:gd name="connsiteY7" fmla="*/ 222672 h 434979"/>
                  <a:gd name="connsiteX8" fmla="*/ 24362 w 220247"/>
                  <a:gd name="connsiteY8" fmla="*/ 223845 h 434979"/>
                  <a:gd name="connsiteX9" fmla="*/ 46648 w 220247"/>
                  <a:gd name="connsiteY9" fmla="*/ 207424 h 434979"/>
                  <a:gd name="connsiteX10" fmla="*/ 83010 w 220247"/>
                  <a:gd name="connsiteY10" fmla="*/ 84263 h 434979"/>
                  <a:gd name="connsiteX11" fmla="*/ 83010 w 220247"/>
                  <a:gd name="connsiteY11" fmla="*/ 125316 h 434979"/>
                  <a:gd name="connsiteX12" fmla="*/ 39611 w 220247"/>
                  <a:gd name="connsiteY12" fmla="*/ 270764 h 434979"/>
                  <a:gd name="connsiteX13" fmla="*/ 71280 w 220247"/>
                  <a:gd name="connsiteY13" fmla="*/ 270764 h 434979"/>
                  <a:gd name="connsiteX14" fmla="*/ 71280 w 220247"/>
                  <a:gd name="connsiteY14" fmla="*/ 434979 h 434979"/>
                  <a:gd name="connsiteX15" fmla="*/ 118199 w 220247"/>
                  <a:gd name="connsiteY15" fmla="*/ 434979 h 434979"/>
                  <a:gd name="connsiteX16" fmla="*/ 118199 w 220247"/>
                  <a:gd name="connsiteY16" fmla="*/ 270764 h 434979"/>
                  <a:gd name="connsiteX17" fmla="*/ 141658 w 220247"/>
                  <a:gd name="connsiteY17" fmla="*/ 270764 h 434979"/>
                  <a:gd name="connsiteX18" fmla="*/ 141658 w 220247"/>
                  <a:gd name="connsiteY18" fmla="*/ 434979 h 434979"/>
                  <a:gd name="connsiteX19" fmla="*/ 188577 w 220247"/>
                  <a:gd name="connsiteY19" fmla="*/ 434979 h 434979"/>
                  <a:gd name="connsiteX20" fmla="*/ 188577 w 220247"/>
                  <a:gd name="connsiteY20" fmla="*/ 270764 h 434979"/>
                  <a:gd name="connsiteX21" fmla="*/ 220247 w 220247"/>
                  <a:gd name="connsiteY21" fmla="*/ 270764 h 434979"/>
                  <a:gd name="connsiteX22" fmla="*/ 176847 w 220247"/>
                  <a:gd name="connsiteY22" fmla="*/ 125316 h 434979"/>
                  <a:gd name="connsiteX23" fmla="*/ 176847 w 220247"/>
                  <a:gd name="connsiteY23" fmla="*/ 84263 h 434979"/>
                  <a:gd name="connsiteX0" fmla="*/ 176847 w 220247"/>
                  <a:gd name="connsiteY0" fmla="*/ 125316 h 434979"/>
                  <a:gd name="connsiteX1" fmla="*/ 156907 w 220247"/>
                  <a:gd name="connsiteY1" fmla="*/ 15058 h 434979"/>
                  <a:gd name="connsiteX2" fmla="*/ 129929 w 220247"/>
                  <a:gd name="connsiteY2" fmla="*/ 12712 h 434979"/>
                  <a:gd name="connsiteX3" fmla="*/ 102950 w 220247"/>
                  <a:gd name="connsiteY3" fmla="*/ 15058 h 434979"/>
                  <a:gd name="connsiteX4" fmla="*/ 53686 w 220247"/>
                  <a:gd name="connsiteY4" fmla="*/ 34998 h 434979"/>
                  <a:gd name="connsiteX5" fmla="*/ 44302 w 220247"/>
                  <a:gd name="connsiteY5" fmla="*/ 47901 h 434979"/>
                  <a:gd name="connsiteX6" fmla="*/ 903 w 220247"/>
                  <a:gd name="connsiteY6" fmla="*/ 193348 h 434979"/>
                  <a:gd name="connsiteX7" fmla="*/ 17324 w 220247"/>
                  <a:gd name="connsiteY7" fmla="*/ 222672 h 434979"/>
                  <a:gd name="connsiteX8" fmla="*/ 24362 w 220247"/>
                  <a:gd name="connsiteY8" fmla="*/ 223845 h 434979"/>
                  <a:gd name="connsiteX9" fmla="*/ 46648 w 220247"/>
                  <a:gd name="connsiteY9" fmla="*/ 207424 h 434979"/>
                  <a:gd name="connsiteX10" fmla="*/ 83010 w 220247"/>
                  <a:gd name="connsiteY10" fmla="*/ 84263 h 434979"/>
                  <a:gd name="connsiteX11" fmla="*/ 83010 w 220247"/>
                  <a:gd name="connsiteY11" fmla="*/ 125316 h 434979"/>
                  <a:gd name="connsiteX12" fmla="*/ 39611 w 220247"/>
                  <a:gd name="connsiteY12" fmla="*/ 270764 h 434979"/>
                  <a:gd name="connsiteX13" fmla="*/ 71280 w 220247"/>
                  <a:gd name="connsiteY13" fmla="*/ 270764 h 434979"/>
                  <a:gd name="connsiteX14" fmla="*/ 71280 w 220247"/>
                  <a:gd name="connsiteY14" fmla="*/ 434979 h 434979"/>
                  <a:gd name="connsiteX15" fmla="*/ 118199 w 220247"/>
                  <a:gd name="connsiteY15" fmla="*/ 434979 h 434979"/>
                  <a:gd name="connsiteX16" fmla="*/ 118199 w 220247"/>
                  <a:gd name="connsiteY16" fmla="*/ 270764 h 434979"/>
                  <a:gd name="connsiteX17" fmla="*/ 141658 w 220247"/>
                  <a:gd name="connsiteY17" fmla="*/ 270764 h 434979"/>
                  <a:gd name="connsiteX18" fmla="*/ 141658 w 220247"/>
                  <a:gd name="connsiteY18" fmla="*/ 434979 h 434979"/>
                  <a:gd name="connsiteX19" fmla="*/ 188577 w 220247"/>
                  <a:gd name="connsiteY19" fmla="*/ 434979 h 434979"/>
                  <a:gd name="connsiteX20" fmla="*/ 188577 w 220247"/>
                  <a:gd name="connsiteY20" fmla="*/ 270764 h 434979"/>
                  <a:gd name="connsiteX21" fmla="*/ 220247 w 220247"/>
                  <a:gd name="connsiteY21" fmla="*/ 270764 h 434979"/>
                  <a:gd name="connsiteX22" fmla="*/ 176847 w 220247"/>
                  <a:gd name="connsiteY22" fmla="*/ 125316 h 434979"/>
                  <a:gd name="connsiteX0" fmla="*/ 176847 w 220247"/>
                  <a:gd name="connsiteY0" fmla="*/ 112604 h 422267"/>
                  <a:gd name="connsiteX1" fmla="*/ 129929 w 220247"/>
                  <a:gd name="connsiteY1" fmla="*/ 0 h 422267"/>
                  <a:gd name="connsiteX2" fmla="*/ 102950 w 220247"/>
                  <a:gd name="connsiteY2" fmla="*/ 2346 h 422267"/>
                  <a:gd name="connsiteX3" fmla="*/ 53686 w 220247"/>
                  <a:gd name="connsiteY3" fmla="*/ 22286 h 422267"/>
                  <a:gd name="connsiteX4" fmla="*/ 44302 w 220247"/>
                  <a:gd name="connsiteY4" fmla="*/ 35189 h 422267"/>
                  <a:gd name="connsiteX5" fmla="*/ 903 w 220247"/>
                  <a:gd name="connsiteY5" fmla="*/ 180636 h 422267"/>
                  <a:gd name="connsiteX6" fmla="*/ 17324 w 220247"/>
                  <a:gd name="connsiteY6" fmla="*/ 209960 h 422267"/>
                  <a:gd name="connsiteX7" fmla="*/ 24362 w 220247"/>
                  <a:gd name="connsiteY7" fmla="*/ 211133 h 422267"/>
                  <a:gd name="connsiteX8" fmla="*/ 46648 w 220247"/>
                  <a:gd name="connsiteY8" fmla="*/ 194712 h 422267"/>
                  <a:gd name="connsiteX9" fmla="*/ 83010 w 220247"/>
                  <a:gd name="connsiteY9" fmla="*/ 71551 h 422267"/>
                  <a:gd name="connsiteX10" fmla="*/ 83010 w 220247"/>
                  <a:gd name="connsiteY10" fmla="*/ 112604 h 422267"/>
                  <a:gd name="connsiteX11" fmla="*/ 39611 w 220247"/>
                  <a:gd name="connsiteY11" fmla="*/ 258052 h 422267"/>
                  <a:gd name="connsiteX12" fmla="*/ 71280 w 220247"/>
                  <a:gd name="connsiteY12" fmla="*/ 258052 h 422267"/>
                  <a:gd name="connsiteX13" fmla="*/ 71280 w 220247"/>
                  <a:gd name="connsiteY13" fmla="*/ 422267 h 422267"/>
                  <a:gd name="connsiteX14" fmla="*/ 118199 w 220247"/>
                  <a:gd name="connsiteY14" fmla="*/ 422267 h 422267"/>
                  <a:gd name="connsiteX15" fmla="*/ 118199 w 220247"/>
                  <a:gd name="connsiteY15" fmla="*/ 258052 h 422267"/>
                  <a:gd name="connsiteX16" fmla="*/ 141658 w 220247"/>
                  <a:gd name="connsiteY16" fmla="*/ 258052 h 422267"/>
                  <a:gd name="connsiteX17" fmla="*/ 141658 w 220247"/>
                  <a:gd name="connsiteY17" fmla="*/ 422267 h 422267"/>
                  <a:gd name="connsiteX18" fmla="*/ 188577 w 220247"/>
                  <a:gd name="connsiteY18" fmla="*/ 422267 h 422267"/>
                  <a:gd name="connsiteX19" fmla="*/ 188577 w 220247"/>
                  <a:gd name="connsiteY19" fmla="*/ 258052 h 422267"/>
                  <a:gd name="connsiteX20" fmla="*/ 220247 w 220247"/>
                  <a:gd name="connsiteY20" fmla="*/ 258052 h 422267"/>
                  <a:gd name="connsiteX21" fmla="*/ 176847 w 220247"/>
                  <a:gd name="connsiteY21" fmla="*/ 112604 h 422267"/>
                  <a:gd name="connsiteX0" fmla="*/ 220247 w 220247"/>
                  <a:gd name="connsiteY0" fmla="*/ 258052 h 422267"/>
                  <a:gd name="connsiteX1" fmla="*/ 129929 w 220247"/>
                  <a:gd name="connsiteY1" fmla="*/ 0 h 422267"/>
                  <a:gd name="connsiteX2" fmla="*/ 102950 w 220247"/>
                  <a:gd name="connsiteY2" fmla="*/ 2346 h 422267"/>
                  <a:gd name="connsiteX3" fmla="*/ 53686 w 220247"/>
                  <a:gd name="connsiteY3" fmla="*/ 22286 h 422267"/>
                  <a:gd name="connsiteX4" fmla="*/ 44302 w 220247"/>
                  <a:gd name="connsiteY4" fmla="*/ 35189 h 422267"/>
                  <a:gd name="connsiteX5" fmla="*/ 903 w 220247"/>
                  <a:gd name="connsiteY5" fmla="*/ 180636 h 422267"/>
                  <a:gd name="connsiteX6" fmla="*/ 17324 w 220247"/>
                  <a:gd name="connsiteY6" fmla="*/ 209960 h 422267"/>
                  <a:gd name="connsiteX7" fmla="*/ 24362 w 220247"/>
                  <a:gd name="connsiteY7" fmla="*/ 211133 h 422267"/>
                  <a:gd name="connsiteX8" fmla="*/ 46648 w 220247"/>
                  <a:gd name="connsiteY8" fmla="*/ 194712 h 422267"/>
                  <a:gd name="connsiteX9" fmla="*/ 83010 w 220247"/>
                  <a:gd name="connsiteY9" fmla="*/ 71551 h 422267"/>
                  <a:gd name="connsiteX10" fmla="*/ 83010 w 220247"/>
                  <a:gd name="connsiteY10" fmla="*/ 112604 h 422267"/>
                  <a:gd name="connsiteX11" fmla="*/ 39611 w 220247"/>
                  <a:gd name="connsiteY11" fmla="*/ 258052 h 422267"/>
                  <a:gd name="connsiteX12" fmla="*/ 71280 w 220247"/>
                  <a:gd name="connsiteY12" fmla="*/ 258052 h 422267"/>
                  <a:gd name="connsiteX13" fmla="*/ 71280 w 220247"/>
                  <a:gd name="connsiteY13" fmla="*/ 422267 h 422267"/>
                  <a:gd name="connsiteX14" fmla="*/ 118199 w 220247"/>
                  <a:gd name="connsiteY14" fmla="*/ 422267 h 422267"/>
                  <a:gd name="connsiteX15" fmla="*/ 118199 w 220247"/>
                  <a:gd name="connsiteY15" fmla="*/ 258052 h 422267"/>
                  <a:gd name="connsiteX16" fmla="*/ 141658 w 220247"/>
                  <a:gd name="connsiteY16" fmla="*/ 258052 h 422267"/>
                  <a:gd name="connsiteX17" fmla="*/ 141658 w 220247"/>
                  <a:gd name="connsiteY17" fmla="*/ 422267 h 422267"/>
                  <a:gd name="connsiteX18" fmla="*/ 188577 w 220247"/>
                  <a:gd name="connsiteY18" fmla="*/ 422267 h 422267"/>
                  <a:gd name="connsiteX19" fmla="*/ 188577 w 220247"/>
                  <a:gd name="connsiteY19" fmla="*/ 258052 h 422267"/>
                  <a:gd name="connsiteX20" fmla="*/ 220247 w 220247"/>
                  <a:gd name="connsiteY20" fmla="*/ 258052 h 422267"/>
                  <a:gd name="connsiteX0" fmla="*/ 188577 w 188577"/>
                  <a:gd name="connsiteY0" fmla="*/ 258052 h 422267"/>
                  <a:gd name="connsiteX1" fmla="*/ 129929 w 188577"/>
                  <a:gd name="connsiteY1" fmla="*/ 0 h 422267"/>
                  <a:gd name="connsiteX2" fmla="*/ 102950 w 188577"/>
                  <a:gd name="connsiteY2" fmla="*/ 2346 h 422267"/>
                  <a:gd name="connsiteX3" fmla="*/ 53686 w 188577"/>
                  <a:gd name="connsiteY3" fmla="*/ 22286 h 422267"/>
                  <a:gd name="connsiteX4" fmla="*/ 44302 w 188577"/>
                  <a:gd name="connsiteY4" fmla="*/ 35189 h 422267"/>
                  <a:gd name="connsiteX5" fmla="*/ 903 w 188577"/>
                  <a:gd name="connsiteY5" fmla="*/ 180636 h 422267"/>
                  <a:gd name="connsiteX6" fmla="*/ 17324 w 188577"/>
                  <a:gd name="connsiteY6" fmla="*/ 209960 h 422267"/>
                  <a:gd name="connsiteX7" fmla="*/ 24362 w 188577"/>
                  <a:gd name="connsiteY7" fmla="*/ 211133 h 422267"/>
                  <a:gd name="connsiteX8" fmla="*/ 46648 w 188577"/>
                  <a:gd name="connsiteY8" fmla="*/ 194712 h 422267"/>
                  <a:gd name="connsiteX9" fmla="*/ 83010 w 188577"/>
                  <a:gd name="connsiteY9" fmla="*/ 71551 h 422267"/>
                  <a:gd name="connsiteX10" fmla="*/ 83010 w 188577"/>
                  <a:gd name="connsiteY10" fmla="*/ 112604 h 422267"/>
                  <a:gd name="connsiteX11" fmla="*/ 39611 w 188577"/>
                  <a:gd name="connsiteY11" fmla="*/ 258052 h 422267"/>
                  <a:gd name="connsiteX12" fmla="*/ 71280 w 188577"/>
                  <a:gd name="connsiteY12" fmla="*/ 258052 h 422267"/>
                  <a:gd name="connsiteX13" fmla="*/ 71280 w 188577"/>
                  <a:gd name="connsiteY13" fmla="*/ 422267 h 422267"/>
                  <a:gd name="connsiteX14" fmla="*/ 118199 w 188577"/>
                  <a:gd name="connsiteY14" fmla="*/ 422267 h 422267"/>
                  <a:gd name="connsiteX15" fmla="*/ 118199 w 188577"/>
                  <a:gd name="connsiteY15" fmla="*/ 258052 h 422267"/>
                  <a:gd name="connsiteX16" fmla="*/ 141658 w 188577"/>
                  <a:gd name="connsiteY16" fmla="*/ 258052 h 422267"/>
                  <a:gd name="connsiteX17" fmla="*/ 141658 w 188577"/>
                  <a:gd name="connsiteY17" fmla="*/ 422267 h 422267"/>
                  <a:gd name="connsiteX18" fmla="*/ 188577 w 188577"/>
                  <a:gd name="connsiteY18" fmla="*/ 422267 h 422267"/>
                  <a:gd name="connsiteX19" fmla="*/ 188577 w 188577"/>
                  <a:gd name="connsiteY19" fmla="*/ 258052 h 422267"/>
                  <a:gd name="connsiteX0" fmla="*/ 188577 w 188577"/>
                  <a:gd name="connsiteY0" fmla="*/ 422267 h 422267"/>
                  <a:gd name="connsiteX1" fmla="*/ 129929 w 188577"/>
                  <a:gd name="connsiteY1" fmla="*/ 0 h 422267"/>
                  <a:gd name="connsiteX2" fmla="*/ 102950 w 188577"/>
                  <a:gd name="connsiteY2" fmla="*/ 2346 h 422267"/>
                  <a:gd name="connsiteX3" fmla="*/ 53686 w 188577"/>
                  <a:gd name="connsiteY3" fmla="*/ 22286 h 422267"/>
                  <a:gd name="connsiteX4" fmla="*/ 44302 w 188577"/>
                  <a:gd name="connsiteY4" fmla="*/ 35189 h 422267"/>
                  <a:gd name="connsiteX5" fmla="*/ 903 w 188577"/>
                  <a:gd name="connsiteY5" fmla="*/ 180636 h 422267"/>
                  <a:gd name="connsiteX6" fmla="*/ 17324 w 188577"/>
                  <a:gd name="connsiteY6" fmla="*/ 209960 h 422267"/>
                  <a:gd name="connsiteX7" fmla="*/ 24362 w 188577"/>
                  <a:gd name="connsiteY7" fmla="*/ 211133 h 422267"/>
                  <a:gd name="connsiteX8" fmla="*/ 46648 w 188577"/>
                  <a:gd name="connsiteY8" fmla="*/ 194712 h 422267"/>
                  <a:gd name="connsiteX9" fmla="*/ 83010 w 188577"/>
                  <a:gd name="connsiteY9" fmla="*/ 71551 h 422267"/>
                  <a:gd name="connsiteX10" fmla="*/ 83010 w 188577"/>
                  <a:gd name="connsiteY10" fmla="*/ 112604 h 422267"/>
                  <a:gd name="connsiteX11" fmla="*/ 39611 w 188577"/>
                  <a:gd name="connsiteY11" fmla="*/ 258052 h 422267"/>
                  <a:gd name="connsiteX12" fmla="*/ 71280 w 188577"/>
                  <a:gd name="connsiteY12" fmla="*/ 258052 h 422267"/>
                  <a:gd name="connsiteX13" fmla="*/ 71280 w 188577"/>
                  <a:gd name="connsiteY13" fmla="*/ 422267 h 422267"/>
                  <a:gd name="connsiteX14" fmla="*/ 118199 w 188577"/>
                  <a:gd name="connsiteY14" fmla="*/ 422267 h 422267"/>
                  <a:gd name="connsiteX15" fmla="*/ 118199 w 188577"/>
                  <a:gd name="connsiteY15" fmla="*/ 258052 h 422267"/>
                  <a:gd name="connsiteX16" fmla="*/ 141658 w 188577"/>
                  <a:gd name="connsiteY16" fmla="*/ 258052 h 422267"/>
                  <a:gd name="connsiteX17" fmla="*/ 141658 w 188577"/>
                  <a:gd name="connsiteY17" fmla="*/ 422267 h 422267"/>
                  <a:gd name="connsiteX18" fmla="*/ 188577 w 188577"/>
                  <a:gd name="connsiteY18" fmla="*/ 422267 h 422267"/>
                  <a:gd name="connsiteX0" fmla="*/ 141658 w 141658"/>
                  <a:gd name="connsiteY0" fmla="*/ 422267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17" fmla="*/ 141658 w 141658"/>
                  <a:gd name="connsiteY17" fmla="*/ 422267 h 422267"/>
                  <a:gd name="connsiteX0" fmla="*/ 141658 w 141658"/>
                  <a:gd name="connsiteY0" fmla="*/ 258052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0" fmla="*/ 141658 w 141658"/>
                  <a:gd name="connsiteY0" fmla="*/ 258052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0" fmla="*/ 141658 w 141658"/>
                  <a:gd name="connsiteY0" fmla="*/ 258052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0" fmla="*/ 141658 w 141658"/>
                  <a:gd name="connsiteY0" fmla="*/ 258052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0" fmla="*/ 134515 w 134515"/>
                  <a:gd name="connsiteY0" fmla="*/ 258052 h 422267"/>
                  <a:gd name="connsiteX1" fmla="*/ 129929 w 134515"/>
                  <a:gd name="connsiteY1" fmla="*/ 0 h 422267"/>
                  <a:gd name="connsiteX2" fmla="*/ 102950 w 134515"/>
                  <a:gd name="connsiteY2" fmla="*/ 2346 h 422267"/>
                  <a:gd name="connsiteX3" fmla="*/ 53686 w 134515"/>
                  <a:gd name="connsiteY3" fmla="*/ 22286 h 422267"/>
                  <a:gd name="connsiteX4" fmla="*/ 44302 w 134515"/>
                  <a:gd name="connsiteY4" fmla="*/ 35189 h 422267"/>
                  <a:gd name="connsiteX5" fmla="*/ 903 w 134515"/>
                  <a:gd name="connsiteY5" fmla="*/ 180636 h 422267"/>
                  <a:gd name="connsiteX6" fmla="*/ 17324 w 134515"/>
                  <a:gd name="connsiteY6" fmla="*/ 209960 h 422267"/>
                  <a:gd name="connsiteX7" fmla="*/ 24362 w 134515"/>
                  <a:gd name="connsiteY7" fmla="*/ 211133 h 422267"/>
                  <a:gd name="connsiteX8" fmla="*/ 46648 w 134515"/>
                  <a:gd name="connsiteY8" fmla="*/ 194712 h 422267"/>
                  <a:gd name="connsiteX9" fmla="*/ 83010 w 134515"/>
                  <a:gd name="connsiteY9" fmla="*/ 71551 h 422267"/>
                  <a:gd name="connsiteX10" fmla="*/ 83010 w 134515"/>
                  <a:gd name="connsiteY10" fmla="*/ 112604 h 422267"/>
                  <a:gd name="connsiteX11" fmla="*/ 39611 w 134515"/>
                  <a:gd name="connsiteY11" fmla="*/ 258052 h 422267"/>
                  <a:gd name="connsiteX12" fmla="*/ 71280 w 134515"/>
                  <a:gd name="connsiteY12" fmla="*/ 258052 h 422267"/>
                  <a:gd name="connsiteX13" fmla="*/ 71280 w 134515"/>
                  <a:gd name="connsiteY13" fmla="*/ 422267 h 422267"/>
                  <a:gd name="connsiteX14" fmla="*/ 118199 w 134515"/>
                  <a:gd name="connsiteY14" fmla="*/ 422267 h 422267"/>
                  <a:gd name="connsiteX15" fmla="*/ 118199 w 134515"/>
                  <a:gd name="connsiteY15" fmla="*/ 258052 h 422267"/>
                  <a:gd name="connsiteX16" fmla="*/ 134515 w 134515"/>
                  <a:gd name="connsiteY16" fmla="*/ 258052 h 422267"/>
                  <a:gd name="connsiteX0" fmla="*/ 127371 w 130090"/>
                  <a:gd name="connsiteY0" fmla="*/ 258052 h 422267"/>
                  <a:gd name="connsiteX1" fmla="*/ 129929 w 130090"/>
                  <a:gd name="connsiteY1" fmla="*/ 0 h 422267"/>
                  <a:gd name="connsiteX2" fmla="*/ 102950 w 130090"/>
                  <a:gd name="connsiteY2" fmla="*/ 2346 h 422267"/>
                  <a:gd name="connsiteX3" fmla="*/ 53686 w 130090"/>
                  <a:gd name="connsiteY3" fmla="*/ 22286 h 422267"/>
                  <a:gd name="connsiteX4" fmla="*/ 44302 w 130090"/>
                  <a:gd name="connsiteY4" fmla="*/ 35189 h 422267"/>
                  <a:gd name="connsiteX5" fmla="*/ 903 w 130090"/>
                  <a:gd name="connsiteY5" fmla="*/ 180636 h 422267"/>
                  <a:gd name="connsiteX6" fmla="*/ 17324 w 130090"/>
                  <a:gd name="connsiteY6" fmla="*/ 209960 h 422267"/>
                  <a:gd name="connsiteX7" fmla="*/ 24362 w 130090"/>
                  <a:gd name="connsiteY7" fmla="*/ 211133 h 422267"/>
                  <a:gd name="connsiteX8" fmla="*/ 46648 w 130090"/>
                  <a:gd name="connsiteY8" fmla="*/ 194712 h 422267"/>
                  <a:gd name="connsiteX9" fmla="*/ 83010 w 130090"/>
                  <a:gd name="connsiteY9" fmla="*/ 71551 h 422267"/>
                  <a:gd name="connsiteX10" fmla="*/ 83010 w 130090"/>
                  <a:gd name="connsiteY10" fmla="*/ 112604 h 422267"/>
                  <a:gd name="connsiteX11" fmla="*/ 39611 w 130090"/>
                  <a:gd name="connsiteY11" fmla="*/ 258052 h 422267"/>
                  <a:gd name="connsiteX12" fmla="*/ 71280 w 130090"/>
                  <a:gd name="connsiteY12" fmla="*/ 258052 h 422267"/>
                  <a:gd name="connsiteX13" fmla="*/ 71280 w 130090"/>
                  <a:gd name="connsiteY13" fmla="*/ 422267 h 422267"/>
                  <a:gd name="connsiteX14" fmla="*/ 118199 w 130090"/>
                  <a:gd name="connsiteY14" fmla="*/ 422267 h 422267"/>
                  <a:gd name="connsiteX15" fmla="*/ 118199 w 130090"/>
                  <a:gd name="connsiteY15" fmla="*/ 258052 h 422267"/>
                  <a:gd name="connsiteX16" fmla="*/ 127371 w 130090"/>
                  <a:gd name="connsiteY16" fmla="*/ 258052 h 422267"/>
                  <a:gd name="connsiteX0" fmla="*/ 127371 w 130090"/>
                  <a:gd name="connsiteY0" fmla="*/ 258052 h 422267"/>
                  <a:gd name="connsiteX1" fmla="*/ 129929 w 130090"/>
                  <a:gd name="connsiteY1" fmla="*/ 0 h 422267"/>
                  <a:gd name="connsiteX2" fmla="*/ 102950 w 130090"/>
                  <a:gd name="connsiteY2" fmla="*/ 2346 h 422267"/>
                  <a:gd name="connsiteX3" fmla="*/ 53686 w 130090"/>
                  <a:gd name="connsiteY3" fmla="*/ 22286 h 422267"/>
                  <a:gd name="connsiteX4" fmla="*/ 44302 w 130090"/>
                  <a:gd name="connsiteY4" fmla="*/ 35189 h 422267"/>
                  <a:gd name="connsiteX5" fmla="*/ 903 w 130090"/>
                  <a:gd name="connsiteY5" fmla="*/ 180636 h 422267"/>
                  <a:gd name="connsiteX6" fmla="*/ 17324 w 130090"/>
                  <a:gd name="connsiteY6" fmla="*/ 209960 h 422267"/>
                  <a:gd name="connsiteX7" fmla="*/ 24362 w 130090"/>
                  <a:gd name="connsiteY7" fmla="*/ 211133 h 422267"/>
                  <a:gd name="connsiteX8" fmla="*/ 46648 w 130090"/>
                  <a:gd name="connsiteY8" fmla="*/ 194712 h 422267"/>
                  <a:gd name="connsiteX9" fmla="*/ 83010 w 130090"/>
                  <a:gd name="connsiteY9" fmla="*/ 71551 h 422267"/>
                  <a:gd name="connsiteX10" fmla="*/ 83010 w 130090"/>
                  <a:gd name="connsiteY10" fmla="*/ 112604 h 422267"/>
                  <a:gd name="connsiteX11" fmla="*/ 39611 w 130090"/>
                  <a:gd name="connsiteY11" fmla="*/ 258052 h 422267"/>
                  <a:gd name="connsiteX12" fmla="*/ 71280 w 130090"/>
                  <a:gd name="connsiteY12" fmla="*/ 258052 h 422267"/>
                  <a:gd name="connsiteX13" fmla="*/ 71280 w 130090"/>
                  <a:gd name="connsiteY13" fmla="*/ 422267 h 422267"/>
                  <a:gd name="connsiteX14" fmla="*/ 118199 w 130090"/>
                  <a:gd name="connsiteY14" fmla="*/ 422267 h 422267"/>
                  <a:gd name="connsiteX15" fmla="*/ 118199 w 130090"/>
                  <a:gd name="connsiteY15" fmla="*/ 258052 h 422267"/>
                  <a:gd name="connsiteX16" fmla="*/ 127371 w 130090"/>
                  <a:gd name="connsiteY16" fmla="*/ 258052 h 422267"/>
                  <a:gd name="connsiteX0" fmla="*/ 127371 w 130373"/>
                  <a:gd name="connsiteY0" fmla="*/ 258052 h 422267"/>
                  <a:gd name="connsiteX1" fmla="*/ 129929 w 130373"/>
                  <a:gd name="connsiteY1" fmla="*/ 0 h 422267"/>
                  <a:gd name="connsiteX2" fmla="*/ 102950 w 130373"/>
                  <a:gd name="connsiteY2" fmla="*/ 2346 h 422267"/>
                  <a:gd name="connsiteX3" fmla="*/ 53686 w 130373"/>
                  <a:gd name="connsiteY3" fmla="*/ 22286 h 422267"/>
                  <a:gd name="connsiteX4" fmla="*/ 44302 w 130373"/>
                  <a:gd name="connsiteY4" fmla="*/ 35189 h 422267"/>
                  <a:gd name="connsiteX5" fmla="*/ 903 w 130373"/>
                  <a:gd name="connsiteY5" fmla="*/ 180636 h 422267"/>
                  <a:gd name="connsiteX6" fmla="*/ 17324 w 130373"/>
                  <a:gd name="connsiteY6" fmla="*/ 209960 h 422267"/>
                  <a:gd name="connsiteX7" fmla="*/ 24362 w 130373"/>
                  <a:gd name="connsiteY7" fmla="*/ 211133 h 422267"/>
                  <a:gd name="connsiteX8" fmla="*/ 46648 w 130373"/>
                  <a:gd name="connsiteY8" fmla="*/ 194712 h 422267"/>
                  <a:gd name="connsiteX9" fmla="*/ 83010 w 130373"/>
                  <a:gd name="connsiteY9" fmla="*/ 71551 h 422267"/>
                  <a:gd name="connsiteX10" fmla="*/ 83010 w 130373"/>
                  <a:gd name="connsiteY10" fmla="*/ 112604 h 422267"/>
                  <a:gd name="connsiteX11" fmla="*/ 39611 w 130373"/>
                  <a:gd name="connsiteY11" fmla="*/ 258052 h 422267"/>
                  <a:gd name="connsiteX12" fmla="*/ 71280 w 130373"/>
                  <a:gd name="connsiteY12" fmla="*/ 258052 h 422267"/>
                  <a:gd name="connsiteX13" fmla="*/ 71280 w 130373"/>
                  <a:gd name="connsiteY13" fmla="*/ 422267 h 422267"/>
                  <a:gd name="connsiteX14" fmla="*/ 118199 w 130373"/>
                  <a:gd name="connsiteY14" fmla="*/ 422267 h 422267"/>
                  <a:gd name="connsiteX15" fmla="*/ 118199 w 130373"/>
                  <a:gd name="connsiteY15" fmla="*/ 258052 h 422267"/>
                  <a:gd name="connsiteX16" fmla="*/ 127371 w 130373"/>
                  <a:gd name="connsiteY16" fmla="*/ 258052 h 422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0373" h="422267">
                    <a:moveTo>
                      <a:pt x="127371" y="258052"/>
                    </a:moveTo>
                    <a:cubicBezTo>
                      <a:pt x="128650" y="129026"/>
                      <a:pt x="131458" y="102686"/>
                      <a:pt x="129929" y="0"/>
                    </a:cubicBezTo>
                    <a:cubicBezTo>
                      <a:pt x="116439" y="1173"/>
                      <a:pt x="112334" y="1173"/>
                      <a:pt x="102950" y="2346"/>
                    </a:cubicBezTo>
                    <a:cubicBezTo>
                      <a:pt x="84183" y="5865"/>
                      <a:pt x="67762" y="12903"/>
                      <a:pt x="53686" y="22286"/>
                    </a:cubicBezTo>
                    <a:cubicBezTo>
                      <a:pt x="48994" y="25805"/>
                      <a:pt x="45475" y="29324"/>
                      <a:pt x="44302" y="35189"/>
                    </a:cubicBezTo>
                    <a:lnTo>
                      <a:pt x="903" y="180636"/>
                    </a:lnTo>
                    <a:cubicBezTo>
                      <a:pt x="-2616" y="193539"/>
                      <a:pt x="4422" y="206441"/>
                      <a:pt x="17324" y="209960"/>
                    </a:cubicBezTo>
                    <a:cubicBezTo>
                      <a:pt x="19670" y="211133"/>
                      <a:pt x="22016" y="211133"/>
                      <a:pt x="24362" y="211133"/>
                    </a:cubicBezTo>
                    <a:cubicBezTo>
                      <a:pt x="34919" y="211133"/>
                      <a:pt x="44302" y="204095"/>
                      <a:pt x="46648" y="194712"/>
                    </a:cubicBezTo>
                    <a:lnTo>
                      <a:pt x="83010" y="71551"/>
                    </a:lnTo>
                    <a:lnTo>
                      <a:pt x="83010" y="112604"/>
                    </a:lnTo>
                    <a:lnTo>
                      <a:pt x="39611" y="258052"/>
                    </a:lnTo>
                    <a:lnTo>
                      <a:pt x="71280" y="258052"/>
                    </a:lnTo>
                    <a:lnTo>
                      <a:pt x="71280" y="422267"/>
                    </a:lnTo>
                    <a:lnTo>
                      <a:pt x="118199" y="422267"/>
                    </a:lnTo>
                    <a:lnTo>
                      <a:pt x="118199" y="258052"/>
                    </a:lnTo>
                    <a:lnTo>
                      <a:pt x="127371" y="258052"/>
                    </a:lnTo>
                    <a:close/>
                  </a:path>
                </a:pathLst>
              </a:custGeom>
              <a:solidFill>
                <a:schemeClr val="bg1"/>
              </a:solidFill>
              <a:ln w="5854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F5F8E70-873A-48A2-81A7-4DD0B8E208EE}"/>
              </a:ext>
            </a:extLst>
          </p:cNvPr>
          <p:cNvGrpSpPr/>
          <p:nvPr/>
        </p:nvGrpSpPr>
        <p:grpSpPr>
          <a:xfrm>
            <a:off x="9715309" y="1485544"/>
            <a:ext cx="854426" cy="412712"/>
            <a:chOff x="9715309" y="1485544"/>
            <a:chExt cx="854426" cy="412712"/>
          </a:xfrm>
        </p:grpSpPr>
        <p:pic>
          <p:nvPicPr>
            <p:cNvPr id="216" name="Graphic 215" descr="Woman with solid fill">
              <a:extLst>
                <a:ext uri="{FF2B5EF4-FFF2-40B4-BE49-F238E27FC236}">
                  <a16:creationId xmlns:a16="http://schemas.microsoft.com/office/drawing/2014/main" id="{081FC732-8432-46B3-9BA8-896B8FA4B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715309" y="1485544"/>
              <a:ext cx="404028" cy="412712"/>
            </a:xfrm>
            <a:prstGeom prst="rect">
              <a:avLst/>
            </a:prstGeom>
          </p:spPr>
        </p:pic>
        <p:pic>
          <p:nvPicPr>
            <p:cNvPr id="248" name="Graphic 247" descr="Woman with solid fill">
              <a:extLst>
                <a:ext uri="{FF2B5EF4-FFF2-40B4-BE49-F238E27FC236}">
                  <a16:creationId xmlns:a16="http://schemas.microsoft.com/office/drawing/2014/main" id="{BCE06EB2-DE0E-4EC7-83A1-CABFDD5F3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40508" y="1485544"/>
              <a:ext cx="404028" cy="412712"/>
            </a:xfrm>
            <a:prstGeom prst="rect">
              <a:avLst/>
            </a:prstGeom>
          </p:spPr>
        </p:pic>
        <p:pic>
          <p:nvPicPr>
            <p:cNvPr id="250" name="Graphic 249" descr="Woman with solid fill">
              <a:extLst>
                <a:ext uri="{FF2B5EF4-FFF2-40B4-BE49-F238E27FC236}">
                  <a16:creationId xmlns:a16="http://schemas.microsoft.com/office/drawing/2014/main" id="{7B9AF9AD-967B-4736-8590-EDF2A7BDD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165707" y="1485544"/>
              <a:ext cx="404028" cy="412712"/>
            </a:xfrm>
            <a:prstGeom prst="rect">
              <a:avLst/>
            </a:prstGeom>
          </p:spPr>
        </p:pic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F194A47C-62D1-4978-B45B-567A4A652F51}"/>
                </a:ext>
              </a:extLst>
            </p:cNvPr>
            <p:cNvSpPr/>
            <p:nvPr/>
          </p:nvSpPr>
          <p:spPr>
            <a:xfrm>
              <a:off x="10367721" y="1485544"/>
              <a:ext cx="121517" cy="4127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628FA86-B1DF-422C-BD95-D2734FB457B8}"/>
              </a:ext>
            </a:extLst>
          </p:cNvPr>
          <p:cNvGrpSpPr/>
          <p:nvPr/>
        </p:nvGrpSpPr>
        <p:grpSpPr>
          <a:xfrm>
            <a:off x="8145266" y="1485544"/>
            <a:ext cx="1755220" cy="412712"/>
            <a:chOff x="8145266" y="1485544"/>
            <a:chExt cx="1755220" cy="412712"/>
          </a:xfrm>
        </p:grpSpPr>
        <p:pic>
          <p:nvPicPr>
            <p:cNvPr id="276" name="Graphic 275" descr="Woman with solid fill">
              <a:extLst>
                <a:ext uri="{FF2B5EF4-FFF2-40B4-BE49-F238E27FC236}">
                  <a16:creationId xmlns:a16="http://schemas.microsoft.com/office/drawing/2014/main" id="{54DB37A1-9AC7-4EE2-9A31-0EBDAD4AB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145266" y="1485544"/>
              <a:ext cx="404027" cy="412712"/>
            </a:xfrm>
            <a:prstGeom prst="rect">
              <a:avLst/>
            </a:prstGeom>
          </p:spPr>
        </p:pic>
        <p:pic>
          <p:nvPicPr>
            <p:cNvPr id="277" name="Graphic 276" descr="Woman with solid fill">
              <a:extLst>
                <a:ext uri="{FF2B5EF4-FFF2-40B4-BE49-F238E27FC236}">
                  <a16:creationId xmlns:a16="http://schemas.microsoft.com/office/drawing/2014/main" id="{809B0269-6318-4C86-BD1F-7C0102959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70464" y="1485544"/>
              <a:ext cx="404027" cy="412712"/>
            </a:xfrm>
            <a:prstGeom prst="rect">
              <a:avLst/>
            </a:prstGeom>
          </p:spPr>
        </p:pic>
        <p:pic>
          <p:nvPicPr>
            <p:cNvPr id="278" name="Graphic 277" descr="Woman with solid fill">
              <a:extLst>
                <a:ext uri="{FF2B5EF4-FFF2-40B4-BE49-F238E27FC236}">
                  <a16:creationId xmlns:a16="http://schemas.microsoft.com/office/drawing/2014/main" id="{66231452-DC7E-469F-96AE-B6B0C7D91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595664" y="1485544"/>
              <a:ext cx="404027" cy="412712"/>
            </a:xfrm>
            <a:prstGeom prst="rect">
              <a:avLst/>
            </a:prstGeom>
          </p:spPr>
        </p:pic>
        <p:pic>
          <p:nvPicPr>
            <p:cNvPr id="279" name="Graphic 278" descr="Woman with solid fill">
              <a:extLst>
                <a:ext uri="{FF2B5EF4-FFF2-40B4-BE49-F238E27FC236}">
                  <a16:creationId xmlns:a16="http://schemas.microsoft.com/office/drawing/2014/main" id="{FFF62BB6-D72C-4226-ADE8-9DBCAB13E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820862" y="1485544"/>
              <a:ext cx="404027" cy="412712"/>
            </a:xfrm>
            <a:prstGeom prst="rect">
              <a:avLst/>
            </a:prstGeom>
          </p:spPr>
        </p:pic>
        <p:pic>
          <p:nvPicPr>
            <p:cNvPr id="281" name="Graphic 280" descr="Woman with solid fill">
              <a:extLst>
                <a:ext uri="{FF2B5EF4-FFF2-40B4-BE49-F238E27FC236}">
                  <a16:creationId xmlns:a16="http://schemas.microsoft.com/office/drawing/2014/main" id="{15EE80B3-4A9B-40FB-9402-0671C2E86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46062" y="1485544"/>
              <a:ext cx="404027" cy="412712"/>
            </a:xfrm>
            <a:prstGeom prst="rect">
              <a:avLst/>
            </a:prstGeom>
          </p:spPr>
        </p:pic>
        <p:pic>
          <p:nvPicPr>
            <p:cNvPr id="302" name="Graphic 301" descr="Woman with solid fill">
              <a:extLst>
                <a:ext uri="{FF2B5EF4-FFF2-40B4-BE49-F238E27FC236}">
                  <a16:creationId xmlns:a16="http://schemas.microsoft.com/office/drawing/2014/main" id="{93C4D1BC-2F00-480E-BA6C-44A09527B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71261" y="1485544"/>
              <a:ext cx="404027" cy="412712"/>
            </a:xfrm>
            <a:prstGeom prst="rect">
              <a:avLst/>
            </a:prstGeom>
          </p:spPr>
        </p:pic>
        <p:pic>
          <p:nvPicPr>
            <p:cNvPr id="303" name="Graphic 302" descr="Woman with solid fill">
              <a:extLst>
                <a:ext uri="{FF2B5EF4-FFF2-40B4-BE49-F238E27FC236}">
                  <a16:creationId xmlns:a16="http://schemas.microsoft.com/office/drawing/2014/main" id="{2978D375-C556-436A-B02D-43B3226EA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496459" y="1485544"/>
              <a:ext cx="404027" cy="412712"/>
            </a:xfrm>
            <a:prstGeom prst="rect">
              <a:avLst/>
            </a:prstGeom>
          </p:spPr>
        </p:pic>
      </p:grpSp>
      <p:sp>
        <p:nvSpPr>
          <p:cNvPr id="50" name="Breast cancer">
            <a:extLst>
              <a:ext uri="{FF2B5EF4-FFF2-40B4-BE49-F238E27FC236}">
                <a16:creationId xmlns:a16="http://schemas.microsoft.com/office/drawing/2014/main" id="{84DB00AA-2C0D-409B-B5DB-228E49506C16}"/>
              </a:ext>
            </a:extLst>
          </p:cNvPr>
          <p:cNvSpPr txBox="1"/>
          <p:nvPr/>
        </p:nvSpPr>
        <p:spPr>
          <a:xfrm>
            <a:off x="5444075" y="2126153"/>
            <a:ext cx="2560320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Breast Cancer</a:t>
            </a:r>
          </a:p>
        </p:txBody>
      </p:sp>
      <p:pic>
        <p:nvPicPr>
          <p:cNvPr id="144" name="Graphic 143" descr="Woman with solid fill">
            <a:extLst>
              <a:ext uri="{FF2B5EF4-FFF2-40B4-BE49-F238E27FC236}">
                <a16:creationId xmlns:a16="http://schemas.microsoft.com/office/drawing/2014/main" id="{98599421-7E04-4EB6-83B5-308C546760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51499" y="2125537"/>
            <a:ext cx="404027" cy="412712"/>
          </a:xfrm>
          <a:prstGeom prst="rect">
            <a:avLst/>
          </a:prstGeom>
        </p:spPr>
      </p:pic>
      <p:pic>
        <p:nvPicPr>
          <p:cNvPr id="145" name="Graphic 144" descr="Woman with solid fill">
            <a:extLst>
              <a:ext uri="{FF2B5EF4-FFF2-40B4-BE49-F238E27FC236}">
                <a16:creationId xmlns:a16="http://schemas.microsoft.com/office/drawing/2014/main" id="{EB94F05A-DBD0-4780-9E75-E1D6C9C813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76698" y="2125537"/>
            <a:ext cx="404027" cy="412712"/>
          </a:xfrm>
          <a:prstGeom prst="rect">
            <a:avLst/>
          </a:prstGeom>
        </p:spPr>
      </p:pic>
      <p:pic>
        <p:nvPicPr>
          <p:cNvPr id="146" name="Graphic 145" descr="Woman with solid fill">
            <a:extLst>
              <a:ext uri="{FF2B5EF4-FFF2-40B4-BE49-F238E27FC236}">
                <a16:creationId xmlns:a16="http://schemas.microsoft.com/office/drawing/2014/main" id="{F773F6C5-19EA-499B-962C-F93E2B1F37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01897" y="2125537"/>
            <a:ext cx="404027" cy="412712"/>
          </a:xfrm>
          <a:prstGeom prst="rect">
            <a:avLst/>
          </a:prstGeom>
        </p:spPr>
      </p:pic>
      <p:pic>
        <p:nvPicPr>
          <p:cNvPr id="147" name="Graphic 146" descr="Woman with solid fill">
            <a:extLst>
              <a:ext uri="{FF2B5EF4-FFF2-40B4-BE49-F238E27FC236}">
                <a16:creationId xmlns:a16="http://schemas.microsoft.com/office/drawing/2014/main" id="{A45D927D-1609-4951-9193-CD809231C8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27650" y="2125537"/>
            <a:ext cx="404027" cy="412712"/>
          </a:xfrm>
          <a:prstGeom prst="rect">
            <a:avLst/>
          </a:prstGeom>
        </p:spPr>
      </p:pic>
      <p:pic>
        <p:nvPicPr>
          <p:cNvPr id="148" name="Graphic 147" descr="Woman with solid fill">
            <a:extLst>
              <a:ext uri="{FF2B5EF4-FFF2-40B4-BE49-F238E27FC236}">
                <a16:creationId xmlns:a16="http://schemas.microsoft.com/office/drawing/2014/main" id="{019F56C3-75DF-45A5-B143-B939005352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52634" y="2125537"/>
            <a:ext cx="404027" cy="412712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11A16F76-8C42-4018-A3BB-54551471474F}"/>
              </a:ext>
            </a:extLst>
          </p:cNvPr>
          <p:cNvGrpSpPr/>
          <p:nvPr/>
        </p:nvGrpSpPr>
        <p:grpSpPr>
          <a:xfrm>
            <a:off x="4655957" y="2125537"/>
            <a:ext cx="650763" cy="412712"/>
            <a:chOff x="4655957" y="2125537"/>
            <a:chExt cx="650763" cy="412712"/>
          </a:xfrm>
        </p:grpSpPr>
        <p:pic>
          <p:nvPicPr>
            <p:cNvPr id="149" name="Graphic 148" descr="Woman with solid fill">
              <a:extLst>
                <a:ext uri="{FF2B5EF4-FFF2-40B4-BE49-F238E27FC236}">
                  <a16:creationId xmlns:a16="http://schemas.microsoft.com/office/drawing/2014/main" id="{B6FACCAC-2E52-427E-82A1-C52B046B7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77494" y="2125537"/>
              <a:ext cx="404027" cy="412712"/>
            </a:xfrm>
            <a:prstGeom prst="rect">
              <a:avLst/>
            </a:prstGeom>
          </p:spPr>
        </p:pic>
        <p:pic>
          <p:nvPicPr>
            <p:cNvPr id="150" name="Graphic 149" descr="Woman with solid fill">
              <a:extLst>
                <a:ext uri="{FF2B5EF4-FFF2-40B4-BE49-F238E27FC236}">
                  <a16:creationId xmlns:a16="http://schemas.microsoft.com/office/drawing/2014/main" id="{6ECD6A6E-3504-45C6-8ABC-998E0B118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902693" y="2125537"/>
              <a:ext cx="404027" cy="412712"/>
            </a:xfrm>
            <a:prstGeom prst="rect">
              <a:avLst/>
            </a:prstGeom>
          </p:spPr>
        </p:pic>
        <p:pic>
          <p:nvPicPr>
            <p:cNvPr id="154" name="Graphic 153" descr="Woman with solid fill">
              <a:extLst>
                <a:ext uri="{FF2B5EF4-FFF2-40B4-BE49-F238E27FC236}">
                  <a16:creationId xmlns:a16="http://schemas.microsoft.com/office/drawing/2014/main" id="{D4DBDC39-955E-4A3D-B8B1-C20744268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77493" y="2125537"/>
              <a:ext cx="404028" cy="412712"/>
            </a:xfrm>
            <a:prstGeom prst="rect">
              <a:avLst/>
            </a:prstGeom>
          </p:spPr>
        </p:pic>
        <p:pic>
          <p:nvPicPr>
            <p:cNvPr id="155" name="Graphic 154" descr="Woman with solid fill">
              <a:extLst>
                <a:ext uri="{FF2B5EF4-FFF2-40B4-BE49-F238E27FC236}">
                  <a16:creationId xmlns:a16="http://schemas.microsoft.com/office/drawing/2014/main" id="{2DEABFA7-F4EC-4E0B-A12E-65B12D5C4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02692" y="2125537"/>
              <a:ext cx="404028" cy="412712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E4CC0DA-A9DD-4384-8C40-F1C25128CB09}"/>
                </a:ext>
              </a:extLst>
            </p:cNvPr>
            <p:cNvGrpSpPr/>
            <p:nvPr/>
          </p:nvGrpSpPr>
          <p:grpSpPr>
            <a:xfrm>
              <a:off x="4655957" y="2138192"/>
              <a:ext cx="93556" cy="387702"/>
              <a:chOff x="4655957" y="2138192"/>
              <a:chExt cx="93556" cy="387702"/>
            </a:xfrm>
          </p:grpSpPr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FB08C593-FFC3-4A3D-B2F9-318ADA83E7E9}"/>
                  </a:ext>
                </a:extLst>
              </p:cNvPr>
              <p:cNvSpPr/>
              <p:nvPr/>
            </p:nvSpPr>
            <p:spPr>
              <a:xfrm flipH="1">
                <a:off x="4658486" y="2138192"/>
                <a:ext cx="35313" cy="70276"/>
              </a:xfrm>
              <a:custGeom>
                <a:avLst/>
                <a:gdLst>
                  <a:gd name="connsiteX0" fmla="*/ 93837 w 93837"/>
                  <a:gd name="connsiteY0" fmla="*/ 46919 h 93837"/>
                  <a:gd name="connsiteX1" fmla="*/ 46918 w 93837"/>
                  <a:gd name="connsiteY1" fmla="*/ 93837 h 93837"/>
                  <a:gd name="connsiteX2" fmla="*/ 0 w 93837"/>
                  <a:gd name="connsiteY2" fmla="*/ 46919 h 93837"/>
                  <a:gd name="connsiteX3" fmla="*/ 46918 w 93837"/>
                  <a:gd name="connsiteY3" fmla="*/ 0 h 93837"/>
                  <a:gd name="connsiteX4" fmla="*/ 93837 w 93837"/>
                  <a:gd name="connsiteY4" fmla="*/ 46919 h 93837"/>
                  <a:gd name="connsiteX0" fmla="*/ 48593 w 51009"/>
                  <a:gd name="connsiteY0" fmla="*/ 56522 h 94044"/>
                  <a:gd name="connsiteX1" fmla="*/ 46918 w 51009"/>
                  <a:gd name="connsiteY1" fmla="*/ 93915 h 94044"/>
                  <a:gd name="connsiteX2" fmla="*/ 0 w 51009"/>
                  <a:gd name="connsiteY2" fmla="*/ 46997 h 94044"/>
                  <a:gd name="connsiteX3" fmla="*/ 46918 w 51009"/>
                  <a:gd name="connsiteY3" fmla="*/ 78 h 94044"/>
                  <a:gd name="connsiteX4" fmla="*/ 48593 w 51009"/>
                  <a:gd name="connsiteY4" fmla="*/ 56522 h 94044"/>
                  <a:gd name="connsiteX0" fmla="*/ 48593 w 51009"/>
                  <a:gd name="connsiteY0" fmla="*/ 56522 h 94044"/>
                  <a:gd name="connsiteX1" fmla="*/ 46918 w 51009"/>
                  <a:gd name="connsiteY1" fmla="*/ 93915 h 94044"/>
                  <a:gd name="connsiteX2" fmla="*/ 0 w 51009"/>
                  <a:gd name="connsiteY2" fmla="*/ 46997 h 94044"/>
                  <a:gd name="connsiteX3" fmla="*/ 46918 w 51009"/>
                  <a:gd name="connsiteY3" fmla="*/ 78 h 94044"/>
                  <a:gd name="connsiteX4" fmla="*/ 48593 w 51009"/>
                  <a:gd name="connsiteY4" fmla="*/ 56522 h 94044"/>
                  <a:gd name="connsiteX0" fmla="*/ 48593 w 51009"/>
                  <a:gd name="connsiteY0" fmla="*/ 56624 h 94146"/>
                  <a:gd name="connsiteX1" fmla="*/ 46918 w 51009"/>
                  <a:gd name="connsiteY1" fmla="*/ 94017 h 94146"/>
                  <a:gd name="connsiteX2" fmla="*/ 0 w 51009"/>
                  <a:gd name="connsiteY2" fmla="*/ 47099 h 94146"/>
                  <a:gd name="connsiteX3" fmla="*/ 46918 w 51009"/>
                  <a:gd name="connsiteY3" fmla="*/ 180 h 94146"/>
                  <a:gd name="connsiteX4" fmla="*/ 48593 w 51009"/>
                  <a:gd name="connsiteY4" fmla="*/ 56624 h 94146"/>
                  <a:gd name="connsiteX0" fmla="*/ 48593 w 51009"/>
                  <a:gd name="connsiteY0" fmla="*/ 56624 h 94146"/>
                  <a:gd name="connsiteX1" fmla="*/ 46918 w 51009"/>
                  <a:gd name="connsiteY1" fmla="*/ 94017 h 94146"/>
                  <a:gd name="connsiteX2" fmla="*/ 0 w 51009"/>
                  <a:gd name="connsiteY2" fmla="*/ 47099 h 94146"/>
                  <a:gd name="connsiteX3" fmla="*/ 46918 w 51009"/>
                  <a:gd name="connsiteY3" fmla="*/ 180 h 94146"/>
                  <a:gd name="connsiteX4" fmla="*/ 48593 w 51009"/>
                  <a:gd name="connsiteY4" fmla="*/ 56624 h 94146"/>
                  <a:gd name="connsiteX0" fmla="*/ 46918 w 52783"/>
                  <a:gd name="connsiteY0" fmla="*/ 2034 h 95871"/>
                  <a:gd name="connsiteX1" fmla="*/ 46918 w 52783"/>
                  <a:gd name="connsiteY1" fmla="*/ 95871 h 95871"/>
                  <a:gd name="connsiteX2" fmla="*/ 0 w 52783"/>
                  <a:gd name="connsiteY2" fmla="*/ 48953 h 95871"/>
                  <a:gd name="connsiteX3" fmla="*/ 46918 w 52783"/>
                  <a:gd name="connsiteY3" fmla="*/ 2034 h 95871"/>
                  <a:gd name="connsiteX0" fmla="*/ 46918 w 52783"/>
                  <a:gd name="connsiteY0" fmla="*/ 2034 h 95871"/>
                  <a:gd name="connsiteX1" fmla="*/ 46918 w 52783"/>
                  <a:gd name="connsiteY1" fmla="*/ 95871 h 95871"/>
                  <a:gd name="connsiteX2" fmla="*/ 0 w 52783"/>
                  <a:gd name="connsiteY2" fmla="*/ 48953 h 95871"/>
                  <a:gd name="connsiteX3" fmla="*/ 46918 w 52783"/>
                  <a:gd name="connsiteY3" fmla="*/ 2034 h 95871"/>
                  <a:gd name="connsiteX0" fmla="*/ 46918 w 51176"/>
                  <a:gd name="connsiteY0" fmla="*/ 2034 h 95871"/>
                  <a:gd name="connsiteX1" fmla="*/ 46918 w 51176"/>
                  <a:gd name="connsiteY1" fmla="*/ 95871 h 95871"/>
                  <a:gd name="connsiteX2" fmla="*/ 0 w 51176"/>
                  <a:gd name="connsiteY2" fmla="*/ 48953 h 95871"/>
                  <a:gd name="connsiteX3" fmla="*/ 46918 w 51176"/>
                  <a:gd name="connsiteY3" fmla="*/ 2034 h 95871"/>
                  <a:gd name="connsiteX0" fmla="*/ 46918 w 51176"/>
                  <a:gd name="connsiteY0" fmla="*/ 2034 h 95871"/>
                  <a:gd name="connsiteX1" fmla="*/ 46918 w 51176"/>
                  <a:gd name="connsiteY1" fmla="*/ 95871 h 95871"/>
                  <a:gd name="connsiteX2" fmla="*/ 0 w 51176"/>
                  <a:gd name="connsiteY2" fmla="*/ 48953 h 95871"/>
                  <a:gd name="connsiteX3" fmla="*/ 46918 w 51176"/>
                  <a:gd name="connsiteY3" fmla="*/ 2034 h 95871"/>
                  <a:gd name="connsiteX0" fmla="*/ 46918 w 49210"/>
                  <a:gd name="connsiteY0" fmla="*/ 2034 h 95871"/>
                  <a:gd name="connsiteX1" fmla="*/ 46918 w 49210"/>
                  <a:gd name="connsiteY1" fmla="*/ 95871 h 95871"/>
                  <a:gd name="connsiteX2" fmla="*/ 0 w 49210"/>
                  <a:gd name="connsiteY2" fmla="*/ 48953 h 95871"/>
                  <a:gd name="connsiteX3" fmla="*/ 46918 w 49210"/>
                  <a:gd name="connsiteY3" fmla="*/ 2034 h 95871"/>
                  <a:gd name="connsiteX0" fmla="*/ 46918 w 49210"/>
                  <a:gd name="connsiteY0" fmla="*/ 2034 h 95871"/>
                  <a:gd name="connsiteX1" fmla="*/ 46918 w 49210"/>
                  <a:gd name="connsiteY1" fmla="*/ 95871 h 95871"/>
                  <a:gd name="connsiteX2" fmla="*/ 0 w 49210"/>
                  <a:gd name="connsiteY2" fmla="*/ 48953 h 95871"/>
                  <a:gd name="connsiteX3" fmla="*/ 46918 w 49210"/>
                  <a:gd name="connsiteY3" fmla="*/ 2034 h 95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210" h="95871">
                    <a:moveTo>
                      <a:pt x="46918" y="2034"/>
                    </a:moveTo>
                    <a:cubicBezTo>
                      <a:pt x="49975" y="38429"/>
                      <a:pt x="49975" y="52332"/>
                      <a:pt x="46918" y="95871"/>
                    </a:cubicBezTo>
                    <a:cubicBezTo>
                      <a:pt x="38819" y="94284"/>
                      <a:pt x="2381" y="92133"/>
                      <a:pt x="0" y="48953"/>
                    </a:cubicBezTo>
                    <a:cubicBezTo>
                      <a:pt x="0" y="8752"/>
                      <a:pt x="39098" y="-5786"/>
                      <a:pt x="46918" y="2034"/>
                    </a:cubicBezTo>
                    <a:close/>
                  </a:path>
                </a:pathLst>
              </a:custGeom>
              <a:solidFill>
                <a:schemeClr val="bg1"/>
              </a:solidFill>
              <a:ln w="5854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770ED8FA-97FE-42F0-AA12-99C4030ECBF7}"/>
                  </a:ext>
                </a:extLst>
              </p:cNvPr>
              <p:cNvSpPr/>
              <p:nvPr/>
            </p:nvSpPr>
            <p:spPr>
              <a:xfrm flipH="1">
                <a:off x="4655957" y="2216360"/>
                <a:ext cx="93556" cy="309534"/>
              </a:xfrm>
              <a:custGeom>
                <a:avLst/>
                <a:gdLst>
                  <a:gd name="connsiteX0" fmla="*/ 257782 w 258690"/>
                  <a:gd name="connsiteY0" fmla="*/ 180636 h 422266"/>
                  <a:gd name="connsiteX1" fmla="*/ 215555 w 258690"/>
                  <a:gd name="connsiteY1" fmla="*/ 35189 h 422266"/>
                  <a:gd name="connsiteX2" fmla="*/ 206171 w 258690"/>
                  <a:gd name="connsiteY2" fmla="*/ 22286 h 422266"/>
                  <a:gd name="connsiteX3" fmla="*/ 156907 w 258690"/>
                  <a:gd name="connsiteY3" fmla="*/ 2346 h 422266"/>
                  <a:gd name="connsiteX4" fmla="*/ 129929 w 258690"/>
                  <a:gd name="connsiteY4" fmla="*/ 0 h 422266"/>
                  <a:gd name="connsiteX5" fmla="*/ 102950 w 258690"/>
                  <a:gd name="connsiteY5" fmla="*/ 2346 h 422266"/>
                  <a:gd name="connsiteX6" fmla="*/ 53686 w 258690"/>
                  <a:gd name="connsiteY6" fmla="*/ 22286 h 422266"/>
                  <a:gd name="connsiteX7" fmla="*/ 44302 w 258690"/>
                  <a:gd name="connsiteY7" fmla="*/ 35189 h 422266"/>
                  <a:gd name="connsiteX8" fmla="*/ 903 w 258690"/>
                  <a:gd name="connsiteY8" fmla="*/ 180636 h 422266"/>
                  <a:gd name="connsiteX9" fmla="*/ 17324 w 258690"/>
                  <a:gd name="connsiteY9" fmla="*/ 209960 h 422266"/>
                  <a:gd name="connsiteX10" fmla="*/ 24362 w 258690"/>
                  <a:gd name="connsiteY10" fmla="*/ 211133 h 422266"/>
                  <a:gd name="connsiteX11" fmla="*/ 46648 w 258690"/>
                  <a:gd name="connsiteY11" fmla="*/ 194712 h 422266"/>
                  <a:gd name="connsiteX12" fmla="*/ 83010 w 258690"/>
                  <a:gd name="connsiteY12" fmla="*/ 71551 h 422266"/>
                  <a:gd name="connsiteX13" fmla="*/ 83010 w 258690"/>
                  <a:gd name="connsiteY13" fmla="*/ 112604 h 422266"/>
                  <a:gd name="connsiteX14" fmla="*/ 39611 w 258690"/>
                  <a:gd name="connsiteY14" fmla="*/ 258052 h 422266"/>
                  <a:gd name="connsiteX15" fmla="*/ 71280 w 258690"/>
                  <a:gd name="connsiteY15" fmla="*/ 258052 h 422266"/>
                  <a:gd name="connsiteX16" fmla="*/ 71280 w 258690"/>
                  <a:gd name="connsiteY16" fmla="*/ 422267 h 422266"/>
                  <a:gd name="connsiteX17" fmla="*/ 118199 w 258690"/>
                  <a:gd name="connsiteY17" fmla="*/ 422267 h 422266"/>
                  <a:gd name="connsiteX18" fmla="*/ 118199 w 258690"/>
                  <a:gd name="connsiteY18" fmla="*/ 258052 h 422266"/>
                  <a:gd name="connsiteX19" fmla="*/ 141658 w 258690"/>
                  <a:gd name="connsiteY19" fmla="*/ 258052 h 422266"/>
                  <a:gd name="connsiteX20" fmla="*/ 141658 w 258690"/>
                  <a:gd name="connsiteY20" fmla="*/ 422267 h 422266"/>
                  <a:gd name="connsiteX21" fmla="*/ 188577 w 258690"/>
                  <a:gd name="connsiteY21" fmla="*/ 422267 h 422266"/>
                  <a:gd name="connsiteX22" fmla="*/ 188577 w 258690"/>
                  <a:gd name="connsiteY22" fmla="*/ 258052 h 422266"/>
                  <a:gd name="connsiteX23" fmla="*/ 220247 w 258690"/>
                  <a:gd name="connsiteY23" fmla="*/ 258052 h 422266"/>
                  <a:gd name="connsiteX24" fmla="*/ 176847 w 258690"/>
                  <a:gd name="connsiteY24" fmla="*/ 112604 h 422266"/>
                  <a:gd name="connsiteX25" fmla="*/ 176847 w 258690"/>
                  <a:gd name="connsiteY25" fmla="*/ 71551 h 422266"/>
                  <a:gd name="connsiteX26" fmla="*/ 213209 w 258690"/>
                  <a:gd name="connsiteY26" fmla="*/ 194712 h 422266"/>
                  <a:gd name="connsiteX27" fmla="*/ 235495 w 258690"/>
                  <a:gd name="connsiteY27" fmla="*/ 211133 h 422266"/>
                  <a:gd name="connsiteX28" fmla="*/ 242533 w 258690"/>
                  <a:gd name="connsiteY28" fmla="*/ 209960 h 422266"/>
                  <a:gd name="connsiteX29" fmla="*/ 257782 w 258690"/>
                  <a:gd name="connsiteY29" fmla="*/ 180636 h 422266"/>
                  <a:gd name="connsiteX0" fmla="*/ 257782 w 258690"/>
                  <a:gd name="connsiteY0" fmla="*/ 180636 h 422267"/>
                  <a:gd name="connsiteX1" fmla="*/ 206171 w 258690"/>
                  <a:gd name="connsiteY1" fmla="*/ 22286 h 422267"/>
                  <a:gd name="connsiteX2" fmla="*/ 156907 w 258690"/>
                  <a:gd name="connsiteY2" fmla="*/ 2346 h 422267"/>
                  <a:gd name="connsiteX3" fmla="*/ 129929 w 258690"/>
                  <a:gd name="connsiteY3" fmla="*/ 0 h 422267"/>
                  <a:gd name="connsiteX4" fmla="*/ 102950 w 258690"/>
                  <a:gd name="connsiteY4" fmla="*/ 2346 h 422267"/>
                  <a:gd name="connsiteX5" fmla="*/ 53686 w 258690"/>
                  <a:gd name="connsiteY5" fmla="*/ 22286 h 422267"/>
                  <a:gd name="connsiteX6" fmla="*/ 44302 w 258690"/>
                  <a:gd name="connsiteY6" fmla="*/ 35189 h 422267"/>
                  <a:gd name="connsiteX7" fmla="*/ 903 w 258690"/>
                  <a:gd name="connsiteY7" fmla="*/ 180636 h 422267"/>
                  <a:gd name="connsiteX8" fmla="*/ 17324 w 258690"/>
                  <a:gd name="connsiteY8" fmla="*/ 209960 h 422267"/>
                  <a:gd name="connsiteX9" fmla="*/ 24362 w 258690"/>
                  <a:gd name="connsiteY9" fmla="*/ 211133 h 422267"/>
                  <a:gd name="connsiteX10" fmla="*/ 46648 w 258690"/>
                  <a:gd name="connsiteY10" fmla="*/ 194712 h 422267"/>
                  <a:gd name="connsiteX11" fmla="*/ 83010 w 258690"/>
                  <a:gd name="connsiteY11" fmla="*/ 71551 h 422267"/>
                  <a:gd name="connsiteX12" fmla="*/ 83010 w 258690"/>
                  <a:gd name="connsiteY12" fmla="*/ 112604 h 422267"/>
                  <a:gd name="connsiteX13" fmla="*/ 39611 w 258690"/>
                  <a:gd name="connsiteY13" fmla="*/ 258052 h 422267"/>
                  <a:gd name="connsiteX14" fmla="*/ 71280 w 258690"/>
                  <a:gd name="connsiteY14" fmla="*/ 258052 h 422267"/>
                  <a:gd name="connsiteX15" fmla="*/ 71280 w 258690"/>
                  <a:gd name="connsiteY15" fmla="*/ 422267 h 422267"/>
                  <a:gd name="connsiteX16" fmla="*/ 118199 w 258690"/>
                  <a:gd name="connsiteY16" fmla="*/ 422267 h 422267"/>
                  <a:gd name="connsiteX17" fmla="*/ 118199 w 258690"/>
                  <a:gd name="connsiteY17" fmla="*/ 258052 h 422267"/>
                  <a:gd name="connsiteX18" fmla="*/ 141658 w 258690"/>
                  <a:gd name="connsiteY18" fmla="*/ 258052 h 422267"/>
                  <a:gd name="connsiteX19" fmla="*/ 141658 w 258690"/>
                  <a:gd name="connsiteY19" fmla="*/ 422267 h 422267"/>
                  <a:gd name="connsiteX20" fmla="*/ 188577 w 258690"/>
                  <a:gd name="connsiteY20" fmla="*/ 422267 h 422267"/>
                  <a:gd name="connsiteX21" fmla="*/ 188577 w 258690"/>
                  <a:gd name="connsiteY21" fmla="*/ 258052 h 422267"/>
                  <a:gd name="connsiteX22" fmla="*/ 220247 w 258690"/>
                  <a:gd name="connsiteY22" fmla="*/ 258052 h 422267"/>
                  <a:gd name="connsiteX23" fmla="*/ 176847 w 258690"/>
                  <a:gd name="connsiteY23" fmla="*/ 112604 h 422267"/>
                  <a:gd name="connsiteX24" fmla="*/ 176847 w 258690"/>
                  <a:gd name="connsiteY24" fmla="*/ 71551 h 422267"/>
                  <a:gd name="connsiteX25" fmla="*/ 213209 w 258690"/>
                  <a:gd name="connsiteY25" fmla="*/ 194712 h 422267"/>
                  <a:gd name="connsiteX26" fmla="*/ 235495 w 258690"/>
                  <a:gd name="connsiteY26" fmla="*/ 211133 h 422267"/>
                  <a:gd name="connsiteX27" fmla="*/ 242533 w 258690"/>
                  <a:gd name="connsiteY27" fmla="*/ 209960 h 422267"/>
                  <a:gd name="connsiteX28" fmla="*/ 257782 w 258690"/>
                  <a:gd name="connsiteY28" fmla="*/ 180636 h 422267"/>
                  <a:gd name="connsiteX0" fmla="*/ 257782 w 258690"/>
                  <a:gd name="connsiteY0" fmla="*/ 180636 h 422267"/>
                  <a:gd name="connsiteX1" fmla="*/ 156907 w 258690"/>
                  <a:gd name="connsiteY1" fmla="*/ 2346 h 422267"/>
                  <a:gd name="connsiteX2" fmla="*/ 129929 w 258690"/>
                  <a:gd name="connsiteY2" fmla="*/ 0 h 422267"/>
                  <a:gd name="connsiteX3" fmla="*/ 102950 w 258690"/>
                  <a:gd name="connsiteY3" fmla="*/ 2346 h 422267"/>
                  <a:gd name="connsiteX4" fmla="*/ 53686 w 258690"/>
                  <a:gd name="connsiteY4" fmla="*/ 22286 h 422267"/>
                  <a:gd name="connsiteX5" fmla="*/ 44302 w 258690"/>
                  <a:gd name="connsiteY5" fmla="*/ 35189 h 422267"/>
                  <a:gd name="connsiteX6" fmla="*/ 903 w 258690"/>
                  <a:gd name="connsiteY6" fmla="*/ 180636 h 422267"/>
                  <a:gd name="connsiteX7" fmla="*/ 17324 w 258690"/>
                  <a:gd name="connsiteY7" fmla="*/ 209960 h 422267"/>
                  <a:gd name="connsiteX8" fmla="*/ 24362 w 258690"/>
                  <a:gd name="connsiteY8" fmla="*/ 211133 h 422267"/>
                  <a:gd name="connsiteX9" fmla="*/ 46648 w 258690"/>
                  <a:gd name="connsiteY9" fmla="*/ 194712 h 422267"/>
                  <a:gd name="connsiteX10" fmla="*/ 83010 w 258690"/>
                  <a:gd name="connsiteY10" fmla="*/ 71551 h 422267"/>
                  <a:gd name="connsiteX11" fmla="*/ 83010 w 258690"/>
                  <a:gd name="connsiteY11" fmla="*/ 112604 h 422267"/>
                  <a:gd name="connsiteX12" fmla="*/ 39611 w 258690"/>
                  <a:gd name="connsiteY12" fmla="*/ 258052 h 422267"/>
                  <a:gd name="connsiteX13" fmla="*/ 71280 w 258690"/>
                  <a:gd name="connsiteY13" fmla="*/ 258052 h 422267"/>
                  <a:gd name="connsiteX14" fmla="*/ 71280 w 258690"/>
                  <a:gd name="connsiteY14" fmla="*/ 422267 h 422267"/>
                  <a:gd name="connsiteX15" fmla="*/ 118199 w 258690"/>
                  <a:gd name="connsiteY15" fmla="*/ 422267 h 422267"/>
                  <a:gd name="connsiteX16" fmla="*/ 118199 w 258690"/>
                  <a:gd name="connsiteY16" fmla="*/ 258052 h 422267"/>
                  <a:gd name="connsiteX17" fmla="*/ 141658 w 258690"/>
                  <a:gd name="connsiteY17" fmla="*/ 258052 h 422267"/>
                  <a:gd name="connsiteX18" fmla="*/ 141658 w 258690"/>
                  <a:gd name="connsiteY18" fmla="*/ 422267 h 422267"/>
                  <a:gd name="connsiteX19" fmla="*/ 188577 w 258690"/>
                  <a:gd name="connsiteY19" fmla="*/ 422267 h 422267"/>
                  <a:gd name="connsiteX20" fmla="*/ 188577 w 258690"/>
                  <a:gd name="connsiteY20" fmla="*/ 258052 h 422267"/>
                  <a:gd name="connsiteX21" fmla="*/ 220247 w 258690"/>
                  <a:gd name="connsiteY21" fmla="*/ 258052 h 422267"/>
                  <a:gd name="connsiteX22" fmla="*/ 176847 w 258690"/>
                  <a:gd name="connsiteY22" fmla="*/ 112604 h 422267"/>
                  <a:gd name="connsiteX23" fmla="*/ 176847 w 258690"/>
                  <a:gd name="connsiteY23" fmla="*/ 71551 h 422267"/>
                  <a:gd name="connsiteX24" fmla="*/ 213209 w 258690"/>
                  <a:gd name="connsiteY24" fmla="*/ 194712 h 422267"/>
                  <a:gd name="connsiteX25" fmla="*/ 235495 w 258690"/>
                  <a:gd name="connsiteY25" fmla="*/ 211133 h 422267"/>
                  <a:gd name="connsiteX26" fmla="*/ 242533 w 258690"/>
                  <a:gd name="connsiteY26" fmla="*/ 209960 h 422267"/>
                  <a:gd name="connsiteX27" fmla="*/ 257782 w 258690"/>
                  <a:gd name="connsiteY27" fmla="*/ 180636 h 422267"/>
                  <a:gd name="connsiteX0" fmla="*/ 242533 w 242533"/>
                  <a:gd name="connsiteY0" fmla="*/ 223798 h 436105"/>
                  <a:gd name="connsiteX1" fmla="*/ 156907 w 242533"/>
                  <a:gd name="connsiteY1" fmla="*/ 16184 h 436105"/>
                  <a:gd name="connsiteX2" fmla="*/ 129929 w 242533"/>
                  <a:gd name="connsiteY2" fmla="*/ 13838 h 436105"/>
                  <a:gd name="connsiteX3" fmla="*/ 102950 w 242533"/>
                  <a:gd name="connsiteY3" fmla="*/ 16184 h 436105"/>
                  <a:gd name="connsiteX4" fmla="*/ 53686 w 242533"/>
                  <a:gd name="connsiteY4" fmla="*/ 36124 h 436105"/>
                  <a:gd name="connsiteX5" fmla="*/ 44302 w 242533"/>
                  <a:gd name="connsiteY5" fmla="*/ 49027 h 436105"/>
                  <a:gd name="connsiteX6" fmla="*/ 903 w 242533"/>
                  <a:gd name="connsiteY6" fmla="*/ 194474 h 436105"/>
                  <a:gd name="connsiteX7" fmla="*/ 17324 w 242533"/>
                  <a:gd name="connsiteY7" fmla="*/ 223798 h 436105"/>
                  <a:gd name="connsiteX8" fmla="*/ 24362 w 242533"/>
                  <a:gd name="connsiteY8" fmla="*/ 224971 h 436105"/>
                  <a:gd name="connsiteX9" fmla="*/ 46648 w 242533"/>
                  <a:gd name="connsiteY9" fmla="*/ 208550 h 436105"/>
                  <a:gd name="connsiteX10" fmla="*/ 83010 w 242533"/>
                  <a:gd name="connsiteY10" fmla="*/ 85389 h 436105"/>
                  <a:gd name="connsiteX11" fmla="*/ 83010 w 242533"/>
                  <a:gd name="connsiteY11" fmla="*/ 126442 h 436105"/>
                  <a:gd name="connsiteX12" fmla="*/ 39611 w 242533"/>
                  <a:gd name="connsiteY12" fmla="*/ 271890 h 436105"/>
                  <a:gd name="connsiteX13" fmla="*/ 71280 w 242533"/>
                  <a:gd name="connsiteY13" fmla="*/ 271890 h 436105"/>
                  <a:gd name="connsiteX14" fmla="*/ 71280 w 242533"/>
                  <a:gd name="connsiteY14" fmla="*/ 436105 h 436105"/>
                  <a:gd name="connsiteX15" fmla="*/ 118199 w 242533"/>
                  <a:gd name="connsiteY15" fmla="*/ 436105 h 436105"/>
                  <a:gd name="connsiteX16" fmla="*/ 118199 w 242533"/>
                  <a:gd name="connsiteY16" fmla="*/ 271890 h 436105"/>
                  <a:gd name="connsiteX17" fmla="*/ 141658 w 242533"/>
                  <a:gd name="connsiteY17" fmla="*/ 271890 h 436105"/>
                  <a:gd name="connsiteX18" fmla="*/ 141658 w 242533"/>
                  <a:gd name="connsiteY18" fmla="*/ 436105 h 436105"/>
                  <a:gd name="connsiteX19" fmla="*/ 188577 w 242533"/>
                  <a:gd name="connsiteY19" fmla="*/ 436105 h 436105"/>
                  <a:gd name="connsiteX20" fmla="*/ 188577 w 242533"/>
                  <a:gd name="connsiteY20" fmla="*/ 271890 h 436105"/>
                  <a:gd name="connsiteX21" fmla="*/ 220247 w 242533"/>
                  <a:gd name="connsiteY21" fmla="*/ 271890 h 436105"/>
                  <a:gd name="connsiteX22" fmla="*/ 176847 w 242533"/>
                  <a:gd name="connsiteY22" fmla="*/ 126442 h 436105"/>
                  <a:gd name="connsiteX23" fmla="*/ 176847 w 242533"/>
                  <a:gd name="connsiteY23" fmla="*/ 85389 h 436105"/>
                  <a:gd name="connsiteX24" fmla="*/ 213209 w 242533"/>
                  <a:gd name="connsiteY24" fmla="*/ 208550 h 436105"/>
                  <a:gd name="connsiteX25" fmla="*/ 235495 w 242533"/>
                  <a:gd name="connsiteY25" fmla="*/ 224971 h 436105"/>
                  <a:gd name="connsiteX26" fmla="*/ 242533 w 242533"/>
                  <a:gd name="connsiteY26" fmla="*/ 223798 h 436105"/>
                  <a:gd name="connsiteX0" fmla="*/ 235495 w 235495"/>
                  <a:gd name="connsiteY0" fmla="*/ 225058 h 436192"/>
                  <a:gd name="connsiteX1" fmla="*/ 156907 w 235495"/>
                  <a:gd name="connsiteY1" fmla="*/ 16271 h 436192"/>
                  <a:gd name="connsiteX2" fmla="*/ 129929 w 235495"/>
                  <a:gd name="connsiteY2" fmla="*/ 13925 h 436192"/>
                  <a:gd name="connsiteX3" fmla="*/ 102950 w 235495"/>
                  <a:gd name="connsiteY3" fmla="*/ 16271 h 436192"/>
                  <a:gd name="connsiteX4" fmla="*/ 53686 w 235495"/>
                  <a:gd name="connsiteY4" fmla="*/ 36211 h 436192"/>
                  <a:gd name="connsiteX5" fmla="*/ 44302 w 235495"/>
                  <a:gd name="connsiteY5" fmla="*/ 49114 h 436192"/>
                  <a:gd name="connsiteX6" fmla="*/ 903 w 235495"/>
                  <a:gd name="connsiteY6" fmla="*/ 194561 h 436192"/>
                  <a:gd name="connsiteX7" fmla="*/ 17324 w 235495"/>
                  <a:gd name="connsiteY7" fmla="*/ 223885 h 436192"/>
                  <a:gd name="connsiteX8" fmla="*/ 24362 w 235495"/>
                  <a:gd name="connsiteY8" fmla="*/ 225058 h 436192"/>
                  <a:gd name="connsiteX9" fmla="*/ 46648 w 235495"/>
                  <a:gd name="connsiteY9" fmla="*/ 208637 h 436192"/>
                  <a:gd name="connsiteX10" fmla="*/ 83010 w 235495"/>
                  <a:gd name="connsiteY10" fmla="*/ 85476 h 436192"/>
                  <a:gd name="connsiteX11" fmla="*/ 83010 w 235495"/>
                  <a:gd name="connsiteY11" fmla="*/ 126529 h 436192"/>
                  <a:gd name="connsiteX12" fmla="*/ 39611 w 235495"/>
                  <a:gd name="connsiteY12" fmla="*/ 271977 h 436192"/>
                  <a:gd name="connsiteX13" fmla="*/ 71280 w 235495"/>
                  <a:gd name="connsiteY13" fmla="*/ 271977 h 436192"/>
                  <a:gd name="connsiteX14" fmla="*/ 71280 w 235495"/>
                  <a:gd name="connsiteY14" fmla="*/ 436192 h 436192"/>
                  <a:gd name="connsiteX15" fmla="*/ 118199 w 235495"/>
                  <a:gd name="connsiteY15" fmla="*/ 436192 h 436192"/>
                  <a:gd name="connsiteX16" fmla="*/ 118199 w 235495"/>
                  <a:gd name="connsiteY16" fmla="*/ 271977 h 436192"/>
                  <a:gd name="connsiteX17" fmla="*/ 141658 w 235495"/>
                  <a:gd name="connsiteY17" fmla="*/ 271977 h 436192"/>
                  <a:gd name="connsiteX18" fmla="*/ 141658 w 235495"/>
                  <a:gd name="connsiteY18" fmla="*/ 436192 h 436192"/>
                  <a:gd name="connsiteX19" fmla="*/ 188577 w 235495"/>
                  <a:gd name="connsiteY19" fmla="*/ 436192 h 436192"/>
                  <a:gd name="connsiteX20" fmla="*/ 188577 w 235495"/>
                  <a:gd name="connsiteY20" fmla="*/ 271977 h 436192"/>
                  <a:gd name="connsiteX21" fmla="*/ 220247 w 235495"/>
                  <a:gd name="connsiteY21" fmla="*/ 271977 h 436192"/>
                  <a:gd name="connsiteX22" fmla="*/ 176847 w 235495"/>
                  <a:gd name="connsiteY22" fmla="*/ 126529 h 436192"/>
                  <a:gd name="connsiteX23" fmla="*/ 176847 w 235495"/>
                  <a:gd name="connsiteY23" fmla="*/ 85476 h 436192"/>
                  <a:gd name="connsiteX24" fmla="*/ 213209 w 235495"/>
                  <a:gd name="connsiteY24" fmla="*/ 208637 h 436192"/>
                  <a:gd name="connsiteX25" fmla="*/ 235495 w 235495"/>
                  <a:gd name="connsiteY25" fmla="*/ 225058 h 436192"/>
                  <a:gd name="connsiteX0" fmla="*/ 213209 w 220247"/>
                  <a:gd name="connsiteY0" fmla="*/ 207424 h 434979"/>
                  <a:gd name="connsiteX1" fmla="*/ 156907 w 220247"/>
                  <a:gd name="connsiteY1" fmla="*/ 15058 h 434979"/>
                  <a:gd name="connsiteX2" fmla="*/ 129929 w 220247"/>
                  <a:gd name="connsiteY2" fmla="*/ 12712 h 434979"/>
                  <a:gd name="connsiteX3" fmla="*/ 102950 w 220247"/>
                  <a:gd name="connsiteY3" fmla="*/ 15058 h 434979"/>
                  <a:gd name="connsiteX4" fmla="*/ 53686 w 220247"/>
                  <a:gd name="connsiteY4" fmla="*/ 34998 h 434979"/>
                  <a:gd name="connsiteX5" fmla="*/ 44302 w 220247"/>
                  <a:gd name="connsiteY5" fmla="*/ 47901 h 434979"/>
                  <a:gd name="connsiteX6" fmla="*/ 903 w 220247"/>
                  <a:gd name="connsiteY6" fmla="*/ 193348 h 434979"/>
                  <a:gd name="connsiteX7" fmla="*/ 17324 w 220247"/>
                  <a:gd name="connsiteY7" fmla="*/ 222672 h 434979"/>
                  <a:gd name="connsiteX8" fmla="*/ 24362 w 220247"/>
                  <a:gd name="connsiteY8" fmla="*/ 223845 h 434979"/>
                  <a:gd name="connsiteX9" fmla="*/ 46648 w 220247"/>
                  <a:gd name="connsiteY9" fmla="*/ 207424 h 434979"/>
                  <a:gd name="connsiteX10" fmla="*/ 83010 w 220247"/>
                  <a:gd name="connsiteY10" fmla="*/ 84263 h 434979"/>
                  <a:gd name="connsiteX11" fmla="*/ 83010 w 220247"/>
                  <a:gd name="connsiteY11" fmla="*/ 125316 h 434979"/>
                  <a:gd name="connsiteX12" fmla="*/ 39611 w 220247"/>
                  <a:gd name="connsiteY12" fmla="*/ 270764 h 434979"/>
                  <a:gd name="connsiteX13" fmla="*/ 71280 w 220247"/>
                  <a:gd name="connsiteY13" fmla="*/ 270764 h 434979"/>
                  <a:gd name="connsiteX14" fmla="*/ 71280 w 220247"/>
                  <a:gd name="connsiteY14" fmla="*/ 434979 h 434979"/>
                  <a:gd name="connsiteX15" fmla="*/ 118199 w 220247"/>
                  <a:gd name="connsiteY15" fmla="*/ 434979 h 434979"/>
                  <a:gd name="connsiteX16" fmla="*/ 118199 w 220247"/>
                  <a:gd name="connsiteY16" fmla="*/ 270764 h 434979"/>
                  <a:gd name="connsiteX17" fmla="*/ 141658 w 220247"/>
                  <a:gd name="connsiteY17" fmla="*/ 270764 h 434979"/>
                  <a:gd name="connsiteX18" fmla="*/ 141658 w 220247"/>
                  <a:gd name="connsiteY18" fmla="*/ 434979 h 434979"/>
                  <a:gd name="connsiteX19" fmla="*/ 188577 w 220247"/>
                  <a:gd name="connsiteY19" fmla="*/ 434979 h 434979"/>
                  <a:gd name="connsiteX20" fmla="*/ 188577 w 220247"/>
                  <a:gd name="connsiteY20" fmla="*/ 270764 h 434979"/>
                  <a:gd name="connsiteX21" fmla="*/ 220247 w 220247"/>
                  <a:gd name="connsiteY21" fmla="*/ 270764 h 434979"/>
                  <a:gd name="connsiteX22" fmla="*/ 176847 w 220247"/>
                  <a:gd name="connsiteY22" fmla="*/ 125316 h 434979"/>
                  <a:gd name="connsiteX23" fmla="*/ 176847 w 220247"/>
                  <a:gd name="connsiteY23" fmla="*/ 84263 h 434979"/>
                  <a:gd name="connsiteX24" fmla="*/ 213209 w 220247"/>
                  <a:gd name="connsiteY24" fmla="*/ 207424 h 434979"/>
                  <a:gd name="connsiteX0" fmla="*/ 176847 w 220247"/>
                  <a:gd name="connsiteY0" fmla="*/ 84263 h 434979"/>
                  <a:gd name="connsiteX1" fmla="*/ 156907 w 220247"/>
                  <a:gd name="connsiteY1" fmla="*/ 15058 h 434979"/>
                  <a:gd name="connsiteX2" fmla="*/ 129929 w 220247"/>
                  <a:gd name="connsiteY2" fmla="*/ 12712 h 434979"/>
                  <a:gd name="connsiteX3" fmla="*/ 102950 w 220247"/>
                  <a:gd name="connsiteY3" fmla="*/ 15058 h 434979"/>
                  <a:gd name="connsiteX4" fmla="*/ 53686 w 220247"/>
                  <a:gd name="connsiteY4" fmla="*/ 34998 h 434979"/>
                  <a:gd name="connsiteX5" fmla="*/ 44302 w 220247"/>
                  <a:gd name="connsiteY5" fmla="*/ 47901 h 434979"/>
                  <a:gd name="connsiteX6" fmla="*/ 903 w 220247"/>
                  <a:gd name="connsiteY6" fmla="*/ 193348 h 434979"/>
                  <a:gd name="connsiteX7" fmla="*/ 17324 w 220247"/>
                  <a:gd name="connsiteY7" fmla="*/ 222672 h 434979"/>
                  <a:gd name="connsiteX8" fmla="*/ 24362 w 220247"/>
                  <a:gd name="connsiteY8" fmla="*/ 223845 h 434979"/>
                  <a:gd name="connsiteX9" fmla="*/ 46648 w 220247"/>
                  <a:gd name="connsiteY9" fmla="*/ 207424 h 434979"/>
                  <a:gd name="connsiteX10" fmla="*/ 83010 w 220247"/>
                  <a:gd name="connsiteY10" fmla="*/ 84263 h 434979"/>
                  <a:gd name="connsiteX11" fmla="*/ 83010 w 220247"/>
                  <a:gd name="connsiteY11" fmla="*/ 125316 h 434979"/>
                  <a:gd name="connsiteX12" fmla="*/ 39611 w 220247"/>
                  <a:gd name="connsiteY12" fmla="*/ 270764 h 434979"/>
                  <a:gd name="connsiteX13" fmla="*/ 71280 w 220247"/>
                  <a:gd name="connsiteY13" fmla="*/ 270764 h 434979"/>
                  <a:gd name="connsiteX14" fmla="*/ 71280 w 220247"/>
                  <a:gd name="connsiteY14" fmla="*/ 434979 h 434979"/>
                  <a:gd name="connsiteX15" fmla="*/ 118199 w 220247"/>
                  <a:gd name="connsiteY15" fmla="*/ 434979 h 434979"/>
                  <a:gd name="connsiteX16" fmla="*/ 118199 w 220247"/>
                  <a:gd name="connsiteY16" fmla="*/ 270764 h 434979"/>
                  <a:gd name="connsiteX17" fmla="*/ 141658 w 220247"/>
                  <a:gd name="connsiteY17" fmla="*/ 270764 h 434979"/>
                  <a:gd name="connsiteX18" fmla="*/ 141658 w 220247"/>
                  <a:gd name="connsiteY18" fmla="*/ 434979 h 434979"/>
                  <a:gd name="connsiteX19" fmla="*/ 188577 w 220247"/>
                  <a:gd name="connsiteY19" fmla="*/ 434979 h 434979"/>
                  <a:gd name="connsiteX20" fmla="*/ 188577 w 220247"/>
                  <a:gd name="connsiteY20" fmla="*/ 270764 h 434979"/>
                  <a:gd name="connsiteX21" fmla="*/ 220247 w 220247"/>
                  <a:gd name="connsiteY21" fmla="*/ 270764 h 434979"/>
                  <a:gd name="connsiteX22" fmla="*/ 176847 w 220247"/>
                  <a:gd name="connsiteY22" fmla="*/ 125316 h 434979"/>
                  <a:gd name="connsiteX23" fmla="*/ 176847 w 220247"/>
                  <a:gd name="connsiteY23" fmla="*/ 84263 h 434979"/>
                  <a:gd name="connsiteX0" fmla="*/ 176847 w 220247"/>
                  <a:gd name="connsiteY0" fmla="*/ 125316 h 434979"/>
                  <a:gd name="connsiteX1" fmla="*/ 156907 w 220247"/>
                  <a:gd name="connsiteY1" fmla="*/ 15058 h 434979"/>
                  <a:gd name="connsiteX2" fmla="*/ 129929 w 220247"/>
                  <a:gd name="connsiteY2" fmla="*/ 12712 h 434979"/>
                  <a:gd name="connsiteX3" fmla="*/ 102950 w 220247"/>
                  <a:gd name="connsiteY3" fmla="*/ 15058 h 434979"/>
                  <a:gd name="connsiteX4" fmla="*/ 53686 w 220247"/>
                  <a:gd name="connsiteY4" fmla="*/ 34998 h 434979"/>
                  <a:gd name="connsiteX5" fmla="*/ 44302 w 220247"/>
                  <a:gd name="connsiteY5" fmla="*/ 47901 h 434979"/>
                  <a:gd name="connsiteX6" fmla="*/ 903 w 220247"/>
                  <a:gd name="connsiteY6" fmla="*/ 193348 h 434979"/>
                  <a:gd name="connsiteX7" fmla="*/ 17324 w 220247"/>
                  <a:gd name="connsiteY7" fmla="*/ 222672 h 434979"/>
                  <a:gd name="connsiteX8" fmla="*/ 24362 w 220247"/>
                  <a:gd name="connsiteY8" fmla="*/ 223845 h 434979"/>
                  <a:gd name="connsiteX9" fmla="*/ 46648 w 220247"/>
                  <a:gd name="connsiteY9" fmla="*/ 207424 h 434979"/>
                  <a:gd name="connsiteX10" fmla="*/ 83010 w 220247"/>
                  <a:gd name="connsiteY10" fmla="*/ 84263 h 434979"/>
                  <a:gd name="connsiteX11" fmla="*/ 83010 w 220247"/>
                  <a:gd name="connsiteY11" fmla="*/ 125316 h 434979"/>
                  <a:gd name="connsiteX12" fmla="*/ 39611 w 220247"/>
                  <a:gd name="connsiteY12" fmla="*/ 270764 h 434979"/>
                  <a:gd name="connsiteX13" fmla="*/ 71280 w 220247"/>
                  <a:gd name="connsiteY13" fmla="*/ 270764 h 434979"/>
                  <a:gd name="connsiteX14" fmla="*/ 71280 w 220247"/>
                  <a:gd name="connsiteY14" fmla="*/ 434979 h 434979"/>
                  <a:gd name="connsiteX15" fmla="*/ 118199 w 220247"/>
                  <a:gd name="connsiteY15" fmla="*/ 434979 h 434979"/>
                  <a:gd name="connsiteX16" fmla="*/ 118199 w 220247"/>
                  <a:gd name="connsiteY16" fmla="*/ 270764 h 434979"/>
                  <a:gd name="connsiteX17" fmla="*/ 141658 w 220247"/>
                  <a:gd name="connsiteY17" fmla="*/ 270764 h 434979"/>
                  <a:gd name="connsiteX18" fmla="*/ 141658 w 220247"/>
                  <a:gd name="connsiteY18" fmla="*/ 434979 h 434979"/>
                  <a:gd name="connsiteX19" fmla="*/ 188577 w 220247"/>
                  <a:gd name="connsiteY19" fmla="*/ 434979 h 434979"/>
                  <a:gd name="connsiteX20" fmla="*/ 188577 w 220247"/>
                  <a:gd name="connsiteY20" fmla="*/ 270764 h 434979"/>
                  <a:gd name="connsiteX21" fmla="*/ 220247 w 220247"/>
                  <a:gd name="connsiteY21" fmla="*/ 270764 h 434979"/>
                  <a:gd name="connsiteX22" fmla="*/ 176847 w 220247"/>
                  <a:gd name="connsiteY22" fmla="*/ 125316 h 434979"/>
                  <a:gd name="connsiteX0" fmla="*/ 176847 w 220247"/>
                  <a:gd name="connsiteY0" fmla="*/ 112604 h 422267"/>
                  <a:gd name="connsiteX1" fmla="*/ 129929 w 220247"/>
                  <a:gd name="connsiteY1" fmla="*/ 0 h 422267"/>
                  <a:gd name="connsiteX2" fmla="*/ 102950 w 220247"/>
                  <a:gd name="connsiteY2" fmla="*/ 2346 h 422267"/>
                  <a:gd name="connsiteX3" fmla="*/ 53686 w 220247"/>
                  <a:gd name="connsiteY3" fmla="*/ 22286 h 422267"/>
                  <a:gd name="connsiteX4" fmla="*/ 44302 w 220247"/>
                  <a:gd name="connsiteY4" fmla="*/ 35189 h 422267"/>
                  <a:gd name="connsiteX5" fmla="*/ 903 w 220247"/>
                  <a:gd name="connsiteY5" fmla="*/ 180636 h 422267"/>
                  <a:gd name="connsiteX6" fmla="*/ 17324 w 220247"/>
                  <a:gd name="connsiteY6" fmla="*/ 209960 h 422267"/>
                  <a:gd name="connsiteX7" fmla="*/ 24362 w 220247"/>
                  <a:gd name="connsiteY7" fmla="*/ 211133 h 422267"/>
                  <a:gd name="connsiteX8" fmla="*/ 46648 w 220247"/>
                  <a:gd name="connsiteY8" fmla="*/ 194712 h 422267"/>
                  <a:gd name="connsiteX9" fmla="*/ 83010 w 220247"/>
                  <a:gd name="connsiteY9" fmla="*/ 71551 h 422267"/>
                  <a:gd name="connsiteX10" fmla="*/ 83010 w 220247"/>
                  <a:gd name="connsiteY10" fmla="*/ 112604 h 422267"/>
                  <a:gd name="connsiteX11" fmla="*/ 39611 w 220247"/>
                  <a:gd name="connsiteY11" fmla="*/ 258052 h 422267"/>
                  <a:gd name="connsiteX12" fmla="*/ 71280 w 220247"/>
                  <a:gd name="connsiteY12" fmla="*/ 258052 h 422267"/>
                  <a:gd name="connsiteX13" fmla="*/ 71280 w 220247"/>
                  <a:gd name="connsiteY13" fmla="*/ 422267 h 422267"/>
                  <a:gd name="connsiteX14" fmla="*/ 118199 w 220247"/>
                  <a:gd name="connsiteY14" fmla="*/ 422267 h 422267"/>
                  <a:gd name="connsiteX15" fmla="*/ 118199 w 220247"/>
                  <a:gd name="connsiteY15" fmla="*/ 258052 h 422267"/>
                  <a:gd name="connsiteX16" fmla="*/ 141658 w 220247"/>
                  <a:gd name="connsiteY16" fmla="*/ 258052 h 422267"/>
                  <a:gd name="connsiteX17" fmla="*/ 141658 w 220247"/>
                  <a:gd name="connsiteY17" fmla="*/ 422267 h 422267"/>
                  <a:gd name="connsiteX18" fmla="*/ 188577 w 220247"/>
                  <a:gd name="connsiteY18" fmla="*/ 422267 h 422267"/>
                  <a:gd name="connsiteX19" fmla="*/ 188577 w 220247"/>
                  <a:gd name="connsiteY19" fmla="*/ 258052 h 422267"/>
                  <a:gd name="connsiteX20" fmla="*/ 220247 w 220247"/>
                  <a:gd name="connsiteY20" fmla="*/ 258052 h 422267"/>
                  <a:gd name="connsiteX21" fmla="*/ 176847 w 220247"/>
                  <a:gd name="connsiteY21" fmla="*/ 112604 h 422267"/>
                  <a:gd name="connsiteX0" fmla="*/ 220247 w 220247"/>
                  <a:gd name="connsiteY0" fmla="*/ 258052 h 422267"/>
                  <a:gd name="connsiteX1" fmla="*/ 129929 w 220247"/>
                  <a:gd name="connsiteY1" fmla="*/ 0 h 422267"/>
                  <a:gd name="connsiteX2" fmla="*/ 102950 w 220247"/>
                  <a:gd name="connsiteY2" fmla="*/ 2346 h 422267"/>
                  <a:gd name="connsiteX3" fmla="*/ 53686 w 220247"/>
                  <a:gd name="connsiteY3" fmla="*/ 22286 h 422267"/>
                  <a:gd name="connsiteX4" fmla="*/ 44302 w 220247"/>
                  <a:gd name="connsiteY4" fmla="*/ 35189 h 422267"/>
                  <a:gd name="connsiteX5" fmla="*/ 903 w 220247"/>
                  <a:gd name="connsiteY5" fmla="*/ 180636 h 422267"/>
                  <a:gd name="connsiteX6" fmla="*/ 17324 w 220247"/>
                  <a:gd name="connsiteY6" fmla="*/ 209960 h 422267"/>
                  <a:gd name="connsiteX7" fmla="*/ 24362 w 220247"/>
                  <a:gd name="connsiteY7" fmla="*/ 211133 h 422267"/>
                  <a:gd name="connsiteX8" fmla="*/ 46648 w 220247"/>
                  <a:gd name="connsiteY8" fmla="*/ 194712 h 422267"/>
                  <a:gd name="connsiteX9" fmla="*/ 83010 w 220247"/>
                  <a:gd name="connsiteY9" fmla="*/ 71551 h 422267"/>
                  <a:gd name="connsiteX10" fmla="*/ 83010 w 220247"/>
                  <a:gd name="connsiteY10" fmla="*/ 112604 h 422267"/>
                  <a:gd name="connsiteX11" fmla="*/ 39611 w 220247"/>
                  <a:gd name="connsiteY11" fmla="*/ 258052 h 422267"/>
                  <a:gd name="connsiteX12" fmla="*/ 71280 w 220247"/>
                  <a:gd name="connsiteY12" fmla="*/ 258052 h 422267"/>
                  <a:gd name="connsiteX13" fmla="*/ 71280 w 220247"/>
                  <a:gd name="connsiteY13" fmla="*/ 422267 h 422267"/>
                  <a:gd name="connsiteX14" fmla="*/ 118199 w 220247"/>
                  <a:gd name="connsiteY14" fmla="*/ 422267 h 422267"/>
                  <a:gd name="connsiteX15" fmla="*/ 118199 w 220247"/>
                  <a:gd name="connsiteY15" fmla="*/ 258052 h 422267"/>
                  <a:gd name="connsiteX16" fmla="*/ 141658 w 220247"/>
                  <a:gd name="connsiteY16" fmla="*/ 258052 h 422267"/>
                  <a:gd name="connsiteX17" fmla="*/ 141658 w 220247"/>
                  <a:gd name="connsiteY17" fmla="*/ 422267 h 422267"/>
                  <a:gd name="connsiteX18" fmla="*/ 188577 w 220247"/>
                  <a:gd name="connsiteY18" fmla="*/ 422267 h 422267"/>
                  <a:gd name="connsiteX19" fmla="*/ 188577 w 220247"/>
                  <a:gd name="connsiteY19" fmla="*/ 258052 h 422267"/>
                  <a:gd name="connsiteX20" fmla="*/ 220247 w 220247"/>
                  <a:gd name="connsiteY20" fmla="*/ 258052 h 422267"/>
                  <a:gd name="connsiteX0" fmla="*/ 188577 w 188577"/>
                  <a:gd name="connsiteY0" fmla="*/ 258052 h 422267"/>
                  <a:gd name="connsiteX1" fmla="*/ 129929 w 188577"/>
                  <a:gd name="connsiteY1" fmla="*/ 0 h 422267"/>
                  <a:gd name="connsiteX2" fmla="*/ 102950 w 188577"/>
                  <a:gd name="connsiteY2" fmla="*/ 2346 h 422267"/>
                  <a:gd name="connsiteX3" fmla="*/ 53686 w 188577"/>
                  <a:gd name="connsiteY3" fmla="*/ 22286 h 422267"/>
                  <a:gd name="connsiteX4" fmla="*/ 44302 w 188577"/>
                  <a:gd name="connsiteY4" fmla="*/ 35189 h 422267"/>
                  <a:gd name="connsiteX5" fmla="*/ 903 w 188577"/>
                  <a:gd name="connsiteY5" fmla="*/ 180636 h 422267"/>
                  <a:gd name="connsiteX6" fmla="*/ 17324 w 188577"/>
                  <a:gd name="connsiteY6" fmla="*/ 209960 h 422267"/>
                  <a:gd name="connsiteX7" fmla="*/ 24362 w 188577"/>
                  <a:gd name="connsiteY7" fmla="*/ 211133 h 422267"/>
                  <a:gd name="connsiteX8" fmla="*/ 46648 w 188577"/>
                  <a:gd name="connsiteY8" fmla="*/ 194712 h 422267"/>
                  <a:gd name="connsiteX9" fmla="*/ 83010 w 188577"/>
                  <a:gd name="connsiteY9" fmla="*/ 71551 h 422267"/>
                  <a:gd name="connsiteX10" fmla="*/ 83010 w 188577"/>
                  <a:gd name="connsiteY10" fmla="*/ 112604 h 422267"/>
                  <a:gd name="connsiteX11" fmla="*/ 39611 w 188577"/>
                  <a:gd name="connsiteY11" fmla="*/ 258052 h 422267"/>
                  <a:gd name="connsiteX12" fmla="*/ 71280 w 188577"/>
                  <a:gd name="connsiteY12" fmla="*/ 258052 h 422267"/>
                  <a:gd name="connsiteX13" fmla="*/ 71280 w 188577"/>
                  <a:gd name="connsiteY13" fmla="*/ 422267 h 422267"/>
                  <a:gd name="connsiteX14" fmla="*/ 118199 w 188577"/>
                  <a:gd name="connsiteY14" fmla="*/ 422267 h 422267"/>
                  <a:gd name="connsiteX15" fmla="*/ 118199 w 188577"/>
                  <a:gd name="connsiteY15" fmla="*/ 258052 h 422267"/>
                  <a:gd name="connsiteX16" fmla="*/ 141658 w 188577"/>
                  <a:gd name="connsiteY16" fmla="*/ 258052 h 422267"/>
                  <a:gd name="connsiteX17" fmla="*/ 141658 w 188577"/>
                  <a:gd name="connsiteY17" fmla="*/ 422267 h 422267"/>
                  <a:gd name="connsiteX18" fmla="*/ 188577 w 188577"/>
                  <a:gd name="connsiteY18" fmla="*/ 422267 h 422267"/>
                  <a:gd name="connsiteX19" fmla="*/ 188577 w 188577"/>
                  <a:gd name="connsiteY19" fmla="*/ 258052 h 422267"/>
                  <a:gd name="connsiteX0" fmla="*/ 188577 w 188577"/>
                  <a:gd name="connsiteY0" fmla="*/ 422267 h 422267"/>
                  <a:gd name="connsiteX1" fmla="*/ 129929 w 188577"/>
                  <a:gd name="connsiteY1" fmla="*/ 0 h 422267"/>
                  <a:gd name="connsiteX2" fmla="*/ 102950 w 188577"/>
                  <a:gd name="connsiteY2" fmla="*/ 2346 h 422267"/>
                  <a:gd name="connsiteX3" fmla="*/ 53686 w 188577"/>
                  <a:gd name="connsiteY3" fmla="*/ 22286 h 422267"/>
                  <a:gd name="connsiteX4" fmla="*/ 44302 w 188577"/>
                  <a:gd name="connsiteY4" fmla="*/ 35189 h 422267"/>
                  <a:gd name="connsiteX5" fmla="*/ 903 w 188577"/>
                  <a:gd name="connsiteY5" fmla="*/ 180636 h 422267"/>
                  <a:gd name="connsiteX6" fmla="*/ 17324 w 188577"/>
                  <a:gd name="connsiteY6" fmla="*/ 209960 h 422267"/>
                  <a:gd name="connsiteX7" fmla="*/ 24362 w 188577"/>
                  <a:gd name="connsiteY7" fmla="*/ 211133 h 422267"/>
                  <a:gd name="connsiteX8" fmla="*/ 46648 w 188577"/>
                  <a:gd name="connsiteY8" fmla="*/ 194712 h 422267"/>
                  <a:gd name="connsiteX9" fmla="*/ 83010 w 188577"/>
                  <a:gd name="connsiteY9" fmla="*/ 71551 h 422267"/>
                  <a:gd name="connsiteX10" fmla="*/ 83010 w 188577"/>
                  <a:gd name="connsiteY10" fmla="*/ 112604 h 422267"/>
                  <a:gd name="connsiteX11" fmla="*/ 39611 w 188577"/>
                  <a:gd name="connsiteY11" fmla="*/ 258052 h 422267"/>
                  <a:gd name="connsiteX12" fmla="*/ 71280 w 188577"/>
                  <a:gd name="connsiteY12" fmla="*/ 258052 h 422267"/>
                  <a:gd name="connsiteX13" fmla="*/ 71280 w 188577"/>
                  <a:gd name="connsiteY13" fmla="*/ 422267 h 422267"/>
                  <a:gd name="connsiteX14" fmla="*/ 118199 w 188577"/>
                  <a:gd name="connsiteY14" fmla="*/ 422267 h 422267"/>
                  <a:gd name="connsiteX15" fmla="*/ 118199 w 188577"/>
                  <a:gd name="connsiteY15" fmla="*/ 258052 h 422267"/>
                  <a:gd name="connsiteX16" fmla="*/ 141658 w 188577"/>
                  <a:gd name="connsiteY16" fmla="*/ 258052 h 422267"/>
                  <a:gd name="connsiteX17" fmla="*/ 141658 w 188577"/>
                  <a:gd name="connsiteY17" fmla="*/ 422267 h 422267"/>
                  <a:gd name="connsiteX18" fmla="*/ 188577 w 188577"/>
                  <a:gd name="connsiteY18" fmla="*/ 422267 h 422267"/>
                  <a:gd name="connsiteX0" fmla="*/ 141658 w 141658"/>
                  <a:gd name="connsiteY0" fmla="*/ 422267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17" fmla="*/ 141658 w 141658"/>
                  <a:gd name="connsiteY17" fmla="*/ 422267 h 422267"/>
                  <a:gd name="connsiteX0" fmla="*/ 141658 w 141658"/>
                  <a:gd name="connsiteY0" fmla="*/ 258052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0" fmla="*/ 141658 w 141658"/>
                  <a:gd name="connsiteY0" fmla="*/ 258052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0" fmla="*/ 141658 w 141658"/>
                  <a:gd name="connsiteY0" fmla="*/ 258052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0" fmla="*/ 141658 w 141658"/>
                  <a:gd name="connsiteY0" fmla="*/ 258052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0" fmla="*/ 134515 w 134515"/>
                  <a:gd name="connsiteY0" fmla="*/ 258052 h 422267"/>
                  <a:gd name="connsiteX1" fmla="*/ 129929 w 134515"/>
                  <a:gd name="connsiteY1" fmla="*/ 0 h 422267"/>
                  <a:gd name="connsiteX2" fmla="*/ 102950 w 134515"/>
                  <a:gd name="connsiteY2" fmla="*/ 2346 h 422267"/>
                  <a:gd name="connsiteX3" fmla="*/ 53686 w 134515"/>
                  <a:gd name="connsiteY3" fmla="*/ 22286 h 422267"/>
                  <a:gd name="connsiteX4" fmla="*/ 44302 w 134515"/>
                  <a:gd name="connsiteY4" fmla="*/ 35189 h 422267"/>
                  <a:gd name="connsiteX5" fmla="*/ 903 w 134515"/>
                  <a:gd name="connsiteY5" fmla="*/ 180636 h 422267"/>
                  <a:gd name="connsiteX6" fmla="*/ 17324 w 134515"/>
                  <a:gd name="connsiteY6" fmla="*/ 209960 h 422267"/>
                  <a:gd name="connsiteX7" fmla="*/ 24362 w 134515"/>
                  <a:gd name="connsiteY7" fmla="*/ 211133 h 422267"/>
                  <a:gd name="connsiteX8" fmla="*/ 46648 w 134515"/>
                  <a:gd name="connsiteY8" fmla="*/ 194712 h 422267"/>
                  <a:gd name="connsiteX9" fmla="*/ 83010 w 134515"/>
                  <a:gd name="connsiteY9" fmla="*/ 71551 h 422267"/>
                  <a:gd name="connsiteX10" fmla="*/ 83010 w 134515"/>
                  <a:gd name="connsiteY10" fmla="*/ 112604 h 422267"/>
                  <a:gd name="connsiteX11" fmla="*/ 39611 w 134515"/>
                  <a:gd name="connsiteY11" fmla="*/ 258052 h 422267"/>
                  <a:gd name="connsiteX12" fmla="*/ 71280 w 134515"/>
                  <a:gd name="connsiteY12" fmla="*/ 258052 h 422267"/>
                  <a:gd name="connsiteX13" fmla="*/ 71280 w 134515"/>
                  <a:gd name="connsiteY13" fmla="*/ 422267 h 422267"/>
                  <a:gd name="connsiteX14" fmla="*/ 118199 w 134515"/>
                  <a:gd name="connsiteY14" fmla="*/ 422267 h 422267"/>
                  <a:gd name="connsiteX15" fmla="*/ 118199 w 134515"/>
                  <a:gd name="connsiteY15" fmla="*/ 258052 h 422267"/>
                  <a:gd name="connsiteX16" fmla="*/ 134515 w 134515"/>
                  <a:gd name="connsiteY16" fmla="*/ 258052 h 422267"/>
                  <a:gd name="connsiteX0" fmla="*/ 127371 w 130090"/>
                  <a:gd name="connsiteY0" fmla="*/ 258052 h 422267"/>
                  <a:gd name="connsiteX1" fmla="*/ 129929 w 130090"/>
                  <a:gd name="connsiteY1" fmla="*/ 0 h 422267"/>
                  <a:gd name="connsiteX2" fmla="*/ 102950 w 130090"/>
                  <a:gd name="connsiteY2" fmla="*/ 2346 h 422267"/>
                  <a:gd name="connsiteX3" fmla="*/ 53686 w 130090"/>
                  <a:gd name="connsiteY3" fmla="*/ 22286 h 422267"/>
                  <a:gd name="connsiteX4" fmla="*/ 44302 w 130090"/>
                  <a:gd name="connsiteY4" fmla="*/ 35189 h 422267"/>
                  <a:gd name="connsiteX5" fmla="*/ 903 w 130090"/>
                  <a:gd name="connsiteY5" fmla="*/ 180636 h 422267"/>
                  <a:gd name="connsiteX6" fmla="*/ 17324 w 130090"/>
                  <a:gd name="connsiteY6" fmla="*/ 209960 h 422267"/>
                  <a:gd name="connsiteX7" fmla="*/ 24362 w 130090"/>
                  <a:gd name="connsiteY7" fmla="*/ 211133 h 422267"/>
                  <a:gd name="connsiteX8" fmla="*/ 46648 w 130090"/>
                  <a:gd name="connsiteY8" fmla="*/ 194712 h 422267"/>
                  <a:gd name="connsiteX9" fmla="*/ 83010 w 130090"/>
                  <a:gd name="connsiteY9" fmla="*/ 71551 h 422267"/>
                  <a:gd name="connsiteX10" fmla="*/ 83010 w 130090"/>
                  <a:gd name="connsiteY10" fmla="*/ 112604 h 422267"/>
                  <a:gd name="connsiteX11" fmla="*/ 39611 w 130090"/>
                  <a:gd name="connsiteY11" fmla="*/ 258052 h 422267"/>
                  <a:gd name="connsiteX12" fmla="*/ 71280 w 130090"/>
                  <a:gd name="connsiteY12" fmla="*/ 258052 h 422267"/>
                  <a:gd name="connsiteX13" fmla="*/ 71280 w 130090"/>
                  <a:gd name="connsiteY13" fmla="*/ 422267 h 422267"/>
                  <a:gd name="connsiteX14" fmla="*/ 118199 w 130090"/>
                  <a:gd name="connsiteY14" fmla="*/ 422267 h 422267"/>
                  <a:gd name="connsiteX15" fmla="*/ 118199 w 130090"/>
                  <a:gd name="connsiteY15" fmla="*/ 258052 h 422267"/>
                  <a:gd name="connsiteX16" fmla="*/ 127371 w 130090"/>
                  <a:gd name="connsiteY16" fmla="*/ 258052 h 422267"/>
                  <a:gd name="connsiteX0" fmla="*/ 127371 w 130090"/>
                  <a:gd name="connsiteY0" fmla="*/ 258052 h 422267"/>
                  <a:gd name="connsiteX1" fmla="*/ 129929 w 130090"/>
                  <a:gd name="connsiteY1" fmla="*/ 0 h 422267"/>
                  <a:gd name="connsiteX2" fmla="*/ 102950 w 130090"/>
                  <a:gd name="connsiteY2" fmla="*/ 2346 h 422267"/>
                  <a:gd name="connsiteX3" fmla="*/ 53686 w 130090"/>
                  <a:gd name="connsiteY3" fmla="*/ 22286 h 422267"/>
                  <a:gd name="connsiteX4" fmla="*/ 44302 w 130090"/>
                  <a:gd name="connsiteY4" fmla="*/ 35189 h 422267"/>
                  <a:gd name="connsiteX5" fmla="*/ 903 w 130090"/>
                  <a:gd name="connsiteY5" fmla="*/ 180636 h 422267"/>
                  <a:gd name="connsiteX6" fmla="*/ 17324 w 130090"/>
                  <a:gd name="connsiteY6" fmla="*/ 209960 h 422267"/>
                  <a:gd name="connsiteX7" fmla="*/ 24362 w 130090"/>
                  <a:gd name="connsiteY7" fmla="*/ 211133 h 422267"/>
                  <a:gd name="connsiteX8" fmla="*/ 46648 w 130090"/>
                  <a:gd name="connsiteY8" fmla="*/ 194712 h 422267"/>
                  <a:gd name="connsiteX9" fmla="*/ 83010 w 130090"/>
                  <a:gd name="connsiteY9" fmla="*/ 71551 h 422267"/>
                  <a:gd name="connsiteX10" fmla="*/ 83010 w 130090"/>
                  <a:gd name="connsiteY10" fmla="*/ 112604 h 422267"/>
                  <a:gd name="connsiteX11" fmla="*/ 39611 w 130090"/>
                  <a:gd name="connsiteY11" fmla="*/ 258052 h 422267"/>
                  <a:gd name="connsiteX12" fmla="*/ 71280 w 130090"/>
                  <a:gd name="connsiteY12" fmla="*/ 258052 h 422267"/>
                  <a:gd name="connsiteX13" fmla="*/ 71280 w 130090"/>
                  <a:gd name="connsiteY13" fmla="*/ 422267 h 422267"/>
                  <a:gd name="connsiteX14" fmla="*/ 118199 w 130090"/>
                  <a:gd name="connsiteY14" fmla="*/ 422267 h 422267"/>
                  <a:gd name="connsiteX15" fmla="*/ 118199 w 130090"/>
                  <a:gd name="connsiteY15" fmla="*/ 258052 h 422267"/>
                  <a:gd name="connsiteX16" fmla="*/ 127371 w 130090"/>
                  <a:gd name="connsiteY16" fmla="*/ 258052 h 422267"/>
                  <a:gd name="connsiteX0" fmla="*/ 127371 w 130373"/>
                  <a:gd name="connsiteY0" fmla="*/ 258052 h 422267"/>
                  <a:gd name="connsiteX1" fmla="*/ 129929 w 130373"/>
                  <a:gd name="connsiteY1" fmla="*/ 0 h 422267"/>
                  <a:gd name="connsiteX2" fmla="*/ 102950 w 130373"/>
                  <a:gd name="connsiteY2" fmla="*/ 2346 h 422267"/>
                  <a:gd name="connsiteX3" fmla="*/ 53686 w 130373"/>
                  <a:gd name="connsiteY3" fmla="*/ 22286 h 422267"/>
                  <a:gd name="connsiteX4" fmla="*/ 44302 w 130373"/>
                  <a:gd name="connsiteY4" fmla="*/ 35189 h 422267"/>
                  <a:gd name="connsiteX5" fmla="*/ 903 w 130373"/>
                  <a:gd name="connsiteY5" fmla="*/ 180636 h 422267"/>
                  <a:gd name="connsiteX6" fmla="*/ 17324 w 130373"/>
                  <a:gd name="connsiteY6" fmla="*/ 209960 h 422267"/>
                  <a:gd name="connsiteX7" fmla="*/ 24362 w 130373"/>
                  <a:gd name="connsiteY7" fmla="*/ 211133 h 422267"/>
                  <a:gd name="connsiteX8" fmla="*/ 46648 w 130373"/>
                  <a:gd name="connsiteY8" fmla="*/ 194712 h 422267"/>
                  <a:gd name="connsiteX9" fmla="*/ 83010 w 130373"/>
                  <a:gd name="connsiteY9" fmla="*/ 71551 h 422267"/>
                  <a:gd name="connsiteX10" fmla="*/ 83010 w 130373"/>
                  <a:gd name="connsiteY10" fmla="*/ 112604 h 422267"/>
                  <a:gd name="connsiteX11" fmla="*/ 39611 w 130373"/>
                  <a:gd name="connsiteY11" fmla="*/ 258052 h 422267"/>
                  <a:gd name="connsiteX12" fmla="*/ 71280 w 130373"/>
                  <a:gd name="connsiteY12" fmla="*/ 258052 h 422267"/>
                  <a:gd name="connsiteX13" fmla="*/ 71280 w 130373"/>
                  <a:gd name="connsiteY13" fmla="*/ 422267 h 422267"/>
                  <a:gd name="connsiteX14" fmla="*/ 118199 w 130373"/>
                  <a:gd name="connsiteY14" fmla="*/ 422267 h 422267"/>
                  <a:gd name="connsiteX15" fmla="*/ 118199 w 130373"/>
                  <a:gd name="connsiteY15" fmla="*/ 258052 h 422267"/>
                  <a:gd name="connsiteX16" fmla="*/ 127371 w 130373"/>
                  <a:gd name="connsiteY16" fmla="*/ 258052 h 422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0373" h="422267">
                    <a:moveTo>
                      <a:pt x="127371" y="258052"/>
                    </a:moveTo>
                    <a:cubicBezTo>
                      <a:pt x="128650" y="129026"/>
                      <a:pt x="131458" y="102686"/>
                      <a:pt x="129929" y="0"/>
                    </a:cubicBezTo>
                    <a:cubicBezTo>
                      <a:pt x="116439" y="1173"/>
                      <a:pt x="112334" y="1173"/>
                      <a:pt x="102950" y="2346"/>
                    </a:cubicBezTo>
                    <a:cubicBezTo>
                      <a:pt x="84183" y="5865"/>
                      <a:pt x="67762" y="12903"/>
                      <a:pt x="53686" y="22286"/>
                    </a:cubicBezTo>
                    <a:cubicBezTo>
                      <a:pt x="48994" y="25805"/>
                      <a:pt x="45475" y="29324"/>
                      <a:pt x="44302" y="35189"/>
                    </a:cubicBezTo>
                    <a:lnTo>
                      <a:pt x="903" y="180636"/>
                    </a:lnTo>
                    <a:cubicBezTo>
                      <a:pt x="-2616" y="193539"/>
                      <a:pt x="4422" y="206441"/>
                      <a:pt x="17324" y="209960"/>
                    </a:cubicBezTo>
                    <a:cubicBezTo>
                      <a:pt x="19670" y="211133"/>
                      <a:pt x="22016" y="211133"/>
                      <a:pt x="24362" y="211133"/>
                    </a:cubicBezTo>
                    <a:cubicBezTo>
                      <a:pt x="34919" y="211133"/>
                      <a:pt x="44302" y="204095"/>
                      <a:pt x="46648" y="194712"/>
                    </a:cubicBezTo>
                    <a:lnTo>
                      <a:pt x="83010" y="71551"/>
                    </a:lnTo>
                    <a:lnTo>
                      <a:pt x="83010" y="112604"/>
                    </a:lnTo>
                    <a:lnTo>
                      <a:pt x="39611" y="258052"/>
                    </a:lnTo>
                    <a:lnTo>
                      <a:pt x="71280" y="258052"/>
                    </a:lnTo>
                    <a:lnTo>
                      <a:pt x="71280" y="422267"/>
                    </a:lnTo>
                    <a:lnTo>
                      <a:pt x="118199" y="422267"/>
                    </a:lnTo>
                    <a:lnTo>
                      <a:pt x="118199" y="258052"/>
                    </a:lnTo>
                    <a:lnTo>
                      <a:pt x="127371" y="258052"/>
                    </a:lnTo>
                    <a:close/>
                  </a:path>
                </a:pathLst>
              </a:custGeom>
              <a:solidFill>
                <a:schemeClr val="bg1"/>
              </a:solidFill>
              <a:ln w="5854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316" name="Graphic 315" descr="Woman with solid fill">
            <a:extLst>
              <a:ext uri="{FF2B5EF4-FFF2-40B4-BE49-F238E27FC236}">
                <a16:creationId xmlns:a16="http://schemas.microsoft.com/office/drawing/2014/main" id="{1DE0C18B-8D68-46EE-BED7-EDE2E2623E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45266" y="2125537"/>
            <a:ext cx="404027" cy="412712"/>
          </a:xfrm>
          <a:prstGeom prst="rect">
            <a:avLst/>
          </a:prstGeom>
        </p:spPr>
      </p:pic>
      <p:pic>
        <p:nvPicPr>
          <p:cNvPr id="317" name="Graphic 316" descr="Woman with solid fill">
            <a:extLst>
              <a:ext uri="{FF2B5EF4-FFF2-40B4-BE49-F238E27FC236}">
                <a16:creationId xmlns:a16="http://schemas.microsoft.com/office/drawing/2014/main" id="{7B8F38E5-E45E-45CC-823C-D510F78009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70464" y="2125537"/>
            <a:ext cx="404027" cy="412712"/>
          </a:xfrm>
          <a:prstGeom prst="rect">
            <a:avLst/>
          </a:prstGeom>
        </p:spPr>
      </p:pic>
      <p:pic>
        <p:nvPicPr>
          <p:cNvPr id="318" name="Graphic 317" descr="Woman with solid fill">
            <a:extLst>
              <a:ext uri="{FF2B5EF4-FFF2-40B4-BE49-F238E27FC236}">
                <a16:creationId xmlns:a16="http://schemas.microsoft.com/office/drawing/2014/main" id="{65577268-CD89-4C8B-A2B4-558EEDAAEC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95664" y="2125537"/>
            <a:ext cx="404027" cy="412712"/>
          </a:xfrm>
          <a:prstGeom prst="rect">
            <a:avLst/>
          </a:prstGeom>
        </p:spPr>
      </p:pic>
      <p:pic>
        <p:nvPicPr>
          <p:cNvPr id="319" name="Graphic 318" descr="Woman with solid fill">
            <a:extLst>
              <a:ext uri="{FF2B5EF4-FFF2-40B4-BE49-F238E27FC236}">
                <a16:creationId xmlns:a16="http://schemas.microsoft.com/office/drawing/2014/main" id="{23A0E194-33E1-4898-82B3-489DA21E64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20862" y="2125537"/>
            <a:ext cx="404027" cy="412712"/>
          </a:xfrm>
          <a:prstGeom prst="rect">
            <a:avLst/>
          </a:prstGeom>
        </p:spPr>
      </p:pic>
      <p:pic>
        <p:nvPicPr>
          <p:cNvPr id="320" name="Graphic 319" descr="Woman with solid fill">
            <a:extLst>
              <a:ext uri="{FF2B5EF4-FFF2-40B4-BE49-F238E27FC236}">
                <a16:creationId xmlns:a16="http://schemas.microsoft.com/office/drawing/2014/main" id="{17A1A14A-CFB8-485A-BA42-FC178CFF20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46062" y="2125537"/>
            <a:ext cx="404027" cy="412712"/>
          </a:xfrm>
          <a:prstGeom prst="rect">
            <a:avLst/>
          </a:prstGeom>
        </p:spPr>
      </p:pic>
      <p:pic>
        <p:nvPicPr>
          <p:cNvPr id="345" name="Graphic 344" descr="Woman with solid fill">
            <a:extLst>
              <a:ext uri="{FF2B5EF4-FFF2-40B4-BE49-F238E27FC236}">
                <a16:creationId xmlns:a16="http://schemas.microsoft.com/office/drawing/2014/main" id="{54EBF721-BA5B-4F5B-96DE-67EF02B58A2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271261" y="2125537"/>
            <a:ext cx="404027" cy="412712"/>
          </a:xfrm>
          <a:prstGeom prst="rect">
            <a:avLst/>
          </a:prstGeom>
        </p:spPr>
      </p:pic>
      <p:pic>
        <p:nvPicPr>
          <p:cNvPr id="346" name="Graphic 345" descr="Woman with solid fill">
            <a:extLst>
              <a:ext uri="{FF2B5EF4-FFF2-40B4-BE49-F238E27FC236}">
                <a16:creationId xmlns:a16="http://schemas.microsoft.com/office/drawing/2014/main" id="{308B4B5E-2B80-4E3B-922A-00BF3AC90AB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496459" y="2125537"/>
            <a:ext cx="404027" cy="412712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6ECA84A4-C205-4EEB-BA70-180D4B842EBF}"/>
              </a:ext>
            </a:extLst>
          </p:cNvPr>
          <p:cNvGrpSpPr/>
          <p:nvPr/>
        </p:nvGrpSpPr>
        <p:grpSpPr>
          <a:xfrm>
            <a:off x="9715309" y="2125537"/>
            <a:ext cx="854426" cy="412712"/>
            <a:chOff x="9721739" y="2125537"/>
            <a:chExt cx="854426" cy="412712"/>
          </a:xfrm>
        </p:grpSpPr>
        <p:pic>
          <p:nvPicPr>
            <p:cNvPr id="354" name="Graphic 353" descr="Woman with solid fill">
              <a:extLst>
                <a:ext uri="{FF2B5EF4-FFF2-40B4-BE49-F238E27FC236}">
                  <a16:creationId xmlns:a16="http://schemas.microsoft.com/office/drawing/2014/main" id="{05769C68-4D90-4EF4-B135-147F4441C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721739" y="2125537"/>
              <a:ext cx="404028" cy="412712"/>
            </a:xfrm>
            <a:prstGeom prst="rect">
              <a:avLst/>
            </a:prstGeom>
          </p:spPr>
        </p:pic>
        <p:pic>
          <p:nvPicPr>
            <p:cNvPr id="355" name="Graphic 354" descr="Woman with solid fill">
              <a:extLst>
                <a:ext uri="{FF2B5EF4-FFF2-40B4-BE49-F238E27FC236}">
                  <a16:creationId xmlns:a16="http://schemas.microsoft.com/office/drawing/2014/main" id="{8559FD3A-3D71-4852-9EC8-279F95CE3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46938" y="2125537"/>
              <a:ext cx="404028" cy="412712"/>
            </a:xfrm>
            <a:prstGeom prst="rect">
              <a:avLst/>
            </a:prstGeom>
          </p:spPr>
        </p:pic>
        <p:pic>
          <p:nvPicPr>
            <p:cNvPr id="356" name="Graphic 355" descr="Woman with solid fill">
              <a:extLst>
                <a:ext uri="{FF2B5EF4-FFF2-40B4-BE49-F238E27FC236}">
                  <a16:creationId xmlns:a16="http://schemas.microsoft.com/office/drawing/2014/main" id="{B5DBA401-DDC3-47BC-B2C7-52BF34D68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172137" y="2125537"/>
              <a:ext cx="404028" cy="412712"/>
            </a:xfrm>
            <a:prstGeom prst="rect">
              <a:avLst/>
            </a:prstGeom>
          </p:spPr>
        </p:pic>
      </p:grpSp>
      <p:sp>
        <p:nvSpPr>
          <p:cNvPr id="57" name="CVA">
            <a:extLst>
              <a:ext uri="{FF2B5EF4-FFF2-40B4-BE49-F238E27FC236}">
                <a16:creationId xmlns:a16="http://schemas.microsoft.com/office/drawing/2014/main" id="{CE2A8962-9828-4C1D-AA8B-7DF04EB4A4BD}"/>
              </a:ext>
            </a:extLst>
          </p:cNvPr>
          <p:cNvSpPr txBox="1"/>
          <p:nvPr/>
        </p:nvSpPr>
        <p:spPr>
          <a:xfrm>
            <a:off x="5444075" y="2766146"/>
            <a:ext cx="2560320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CVA</a:t>
            </a:r>
          </a:p>
        </p:txBody>
      </p:sp>
      <p:pic>
        <p:nvPicPr>
          <p:cNvPr id="177" name="Graphic 176" descr="Woman with solid fill">
            <a:extLst>
              <a:ext uri="{FF2B5EF4-FFF2-40B4-BE49-F238E27FC236}">
                <a16:creationId xmlns:a16="http://schemas.microsoft.com/office/drawing/2014/main" id="{898C85A7-843D-4F5B-8394-6158066F4E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51499" y="2765530"/>
            <a:ext cx="404027" cy="412712"/>
          </a:xfrm>
          <a:prstGeom prst="rect">
            <a:avLst/>
          </a:prstGeom>
        </p:spPr>
      </p:pic>
      <p:pic>
        <p:nvPicPr>
          <p:cNvPr id="178" name="Graphic 177" descr="Woman with solid fill">
            <a:extLst>
              <a:ext uri="{FF2B5EF4-FFF2-40B4-BE49-F238E27FC236}">
                <a16:creationId xmlns:a16="http://schemas.microsoft.com/office/drawing/2014/main" id="{8B72638E-A46A-46AB-A1B5-49180A8341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76698" y="2765530"/>
            <a:ext cx="404027" cy="412712"/>
          </a:xfrm>
          <a:prstGeom prst="rect">
            <a:avLst/>
          </a:prstGeom>
        </p:spPr>
      </p:pic>
      <p:pic>
        <p:nvPicPr>
          <p:cNvPr id="179" name="Graphic 178" descr="Woman with solid fill">
            <a:extLst>
              <a:ext uri="{FF2B5EF4-FFF2-40B4-BE49-F238E27FC236}">
                <a16:creationId xmlns:a16="http://schemas.microsoft.com/office/drawing/2014/main" id="{529D05FA-353C-4FE6-B9ED-AC4CF3B4E5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01897" y="2765530"/>
            <a:ext cx="404027" cy="412712"/>
          </a:xfrm>
          <a:prstGeom prst="rect">
            <a:avLst/>
          </a:prstGeom>
        </p:spPr>
      </p:pic>
      <p:pic>
        <p:nvPicPr>
          <p:cNvPr id="180" name="Graphic 179" descr="Woman with solid fill">
            <a:extLst>
              <a:ext uri="{FF2B5EF4-FFF2-40B4-BE49-F238E27FC236}">
                <a16:creationId xmlns:a16="http://schemas.microsoft.com/office/drawing/2014/main" id="{C3F90F5E-74EF-472A-8658-1E0627EDF5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27650" y="2765530"/>
            <a:ext cx="404027" cy="412712"/>
          </a:xfrm>
          <a:prstGeom prst="rect">
            <a:avLst/>
          </a:prstGeom>
        </p:spPr>
      </p:pic>
      <p:pic>
        <p:nvPicPr>
          <p:cNvPr id="181" name="Graphic 180" descr="Woman with solid fill">
            <a:extLst>
              <a:ext uri="{FF2B5EF4-FFF2-40B4-BE49-F238E27FC236}">
                <a16:creationId xmlns:a16="http://schemas.microsoft.com/office/drawing/2014/main" id="{0584DF99-0057-4311-868F-777211CD76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52634" y="2765530"/>
            <a:ext cx="404027" cy="412712"/>
          </a:xfrm>
          <a:prstGeom prst="rect">
            <a:avLst/>
          </a:prstGeom>
        </p:spPr>
      </p:pic>
      <p:pic>
        <p:nvPicPr>
          <p:cNvPr id="182" name="Graphic 181" descr="Woman with solid fill">
            <a:extLst>
              <a:ext uri="{FF2B5EF4-FFF2-40B4-BE49-F238E27FC236}">
                <a16:creationId xmlns:a16="http://schemas.microsoft.com/office/drawing/2014/main" id="{99706D19-776C-4FFC-BBFC-C876363695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77494" y="2765530"/>
            <a:ext cx="404027" cy="412712"/>
          </a:xfrm>
          <a:prstGeom prst="rect">
            <a:avLst/>
          </a:prstGeom>
        </p:spPr>
      </p:pic>
      <p:pic>
        <p:nvPicPr>
          <p:cNvPr id="183" name="Graphic 182" descr="Woman with solid fill">
            <a:extLst>
              <a:ext uri="{FF2B5EF4-FFF2-40B4-BE49-F238E27FC236}">
                <a16:creationId xmlns:a16="http://schemas.microsoft.com/office/drawing/2014/main" id="{FFB33129-6E69-429A-B382-71495D0F4C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02693" y="2765530"/>
            <a:ext cx="404027" cy="412712"/>
          </a:xfrm>
          <a:prstGeom prst="rect">
            <a:avLst/>
          </a:prstGeom>
        </p:spPr>
      </p:pic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3A7F689-E641-4652-9646-A5CE9F52A3D9}"/>
              </a:ext>
            </a:extLst>
          </p:cNvPr>
          <p:cNvGrpSpPr/>
          <p:nvPr/>
        </p:nvGrpSpPr>
        <p:grpSpPr>
          <a:xfrm>
            <a:off x="5105220" y="2777680"/>
            <a:ext cx="93557" cy="386029"/>
            <a:chOff x="6403607" y="1998434"/>
            <a:chExt cx="130373" cy="526621"/>
          </a:xfrm>
        </p:grpSpPr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97F433F2-59CA-4FBA-8CB9-61EB37FCB134}"/>
                </a:ext>
              </a:extLst>
            </p:cNvPr>
            <p:cNvSpPr/>
            <p:nvPr/>
          </p:nvSpPr>
          <p:spPr>
            <a:xfrm flipH="1">
              <a:off x="6405077" y="1998434"/>
              <a:ext cx="49211" cy="95871"/>
            </a:xfrm>
            <a:custGeom>
              <a:avLst/>
              <a:gdLst>
                <a:gd name="connsiteX0" fmla="*/ 93837 w 93837"/>
                <a:gd name="connsiteY0" fmla="*/ 46919 h 93837"/>
                <a:gd name="connsiteX1" fmla="*/ 46918 w 93837"/>
                <a:gd name="connsiteY1" fmla="*/ 93837 h 93837"/>
                <a:gd name="connsiteX2" fmla="*/ 0 w 93837"/>
                <a:gd name="connsiteY2" fmla="*/ 46919 h 93837"/>
                <a:gd name="connsiteX3" fmla="*/ 46918 w 93837"/>
                <a:gd name="connsiteY3" fmla="*/ 0 h 93837"/>
                <a:gd name="connsiteX4" fmla="*/ 93837 w 93837"/>
                <a:gd name="connsiteY4" fmla="*/ 46919 h 93837"/>
                <a:gd name="connsiteX0" fmla="*/ 48593 w 51009"/>
                <a:gd name="connsiteY0" fmla="*/ 56522 h 94044"/>
                <a:gd name="connsiteX1" fmla="*/ 46918 w 51009"/>
                <a:gd name="connsiteY1" fmla="*/ 93915 h 94044"/>
                <a:gd name="connsiteX2" fmla="*/ 0 w 51009"/>
                <a:gd name="connsiteY2" fmla="*/ 46997 h 94044"/>
                <a:gd name="connsiteX3" fmla="*/ 46918 w 51009"/>
                <a:gd name="connsiteY3" fmla="*/ 78 h 94044"/>
                <a:gd name="connsiteX4" fmla="*/ 48593 w 51009"/>
                <a:gd name="connsiteY4" fmla="*/ 56522 h 94044"/>
                <a:gd name="connsiteX0" fmla="*/ 48593 w 51009"/>
                <a:gd name="connsiteY0" fmla="*/ 56522 h 94044"/>
                <a:gd name="connsiteX1" fmla="*/ 46918 w 51009"/>
                <a:gd name="connsiteY1" fmla="*/ 93915 h 94044"/>
                <a:gd name="connsiteX2" fmla="*/ 0 w 51009"/>
                <a:gd name="connsiteY2" fmla="*/ 46997 h 94044"/>
                <a:gd name="connsiteX3" fmla="*/ 46918 w 51009"/>
                <a:gd name="connsiteY3" fmla="*/ 78 h 94044"/>
                <a:gd name="connsiteX4" fmla="*/ 48593 w 51009"/>
                <a:gd name="connsiteY4" fmla="*/ 56522 h 94044"/>
                <a:gd name="connsiteX0" fmla="*/ 48593 w 51009"/>
                <a:gd name="connsiteY0" fmla="*/ 56624 h 94146"/>
                <a:gd name="connsiteX1" fmla="*/ 46918 w 51009"/>
                <a:gd name="connsiteY1" fmla="*/ 94017 h 94146"/>
                <a:gd name="connsiteX2" fmla="*/ 0 w 51009"/>
                <a:gd name="connsiteY2" fmla="*/ 47099 h 94146"/>
                <a:gd name="connsiteX3" fmla="*/ 46918 w 51009"/>
                <a:gd name="connsiteY3" fmla="*/ 180 h 94146"/>
                <a:gd name="connsiteX4" fmla="*/ 48593 w 51009"/>
                <a:gd name="connsiteY4" fmla="*/ 56624 h 94146"/>
                <a:gd name="connsiteX0" fmla="*/ 48593 w 51009"/>
                <a:gd name="connsiteY0" fmla="*/ 56624 h 94146"/>
                <a:gd name="connsiteX1" fmla="*/ 46918 w 51009"/>
                <a:gd name="connsiteY1" fmla="*/ 94017 h 94146"/>
                <a:gd name="connsiteX2" fmla="*/ 0 w 51009"/>
                <a:gd name="connsiteY2" fmla="*/ 47099 h 94146"/>
                <a:gd name="connsiteX3" fmla="*/ 46918 w 51009"/>
                <a:gd name="connsiteY3" fmla="*/ 180 h 94146"/>
                <a:gd name="connsiteX4" fmla="*/ 48593 w 51009"/>
                <a:gd name="connsiteY4" fmla="*/ 56624 h 94146"/>
                <a:gd name="connsiteX0" fmla="*/ 46918 w 52783"/>
                <a:gd name="connsiteY0" fmla="*/ 2034 h 95871"/>
                <a:gd name="connsiteX1" fmla="*/ 46918 w 52783"/>
                <a:gd name="connsiteY1" fmla="*/ 95871 h 95871"/>
                <a:gd name="connsiteX2" fmla="*/ 0 w 52783"/>
                <a:gd name="connsiteY2" fmla="*/ 48953 h 95871"/>
                <a:gd name="connsiteX3" fmla="*/ 46918 w 52783"/>
                <a:gd name="connsiteY3" fmla="*/ 2034 h 95871"/>
                <a:gd name="connsiteX0" fmla="*/ 46918 w 52783"/>
                <a:gd name="connsiteY0" fmla="*/ 2034 h 95871"/>
                <a:gd name="connsiteX1" fmla="*/ 46918 w 52783"/>
                <a:gd name="connsiteY1" fmla="*/ 95871 h 95871"/>
                <a:gd name="connsiteX2" fmla="*/ 0 w 52783"/>
                <a:gd name="connsiteY2" fmla="*/ 48953 h 95871"/>
                <a:gd name="connsiteX3" fmla="*/ 46918 w 52783"/>
                <a:gd name="connsiteY3" fmla="*/ 2034 h 95871"/>
                <a:gd name="connsiteX0" fmla="*/ 46918 w 51176"/>
                <a:gd name="connsiteY0" fmla="*/ 2034 h 95871"/>
                <a:gd name="connsiteX1" fmla="*/ 46918 w 51176"/>
                <a:gd name="connsiteY1" fmla="*/ 95871 h 95871"/>
                <a:gd name="connsiteX2" fmla="*/ 0 w 51176"/>
                <a:gd name="connsiteY2" fmla="*/ 48953 h 95871"/>
                <a:gd name="connsiteX3" fmla="*/ 46918 w 51176"/>
                <a:gd name="connsiteY3" fmla="*/ 2034 h 95871"/>
                <a:gd name="connsiteX0" fmla="*/ 46918 w 51176"/>
                <a:gd name="connsiteY0" fmla="*/ 2034 h 95871"/>
                <a:gd name="connsiteX1" fmla="*/ 46918 w 51176"/>
                <a:gd name="connsiteY1" fmla="*/ 95871 h 95871"/>
                <a:gd name="connsiteX2" fmla="*/ 0 w 51176"/>
                <a:gd name="connsiteY2" fmla="*/ 48953 h 95871"/>
                <a:gd name="connsiteX3" fmla="*/ 46918 w 51176"/>
                <a:gd name="connsiteY3" fmla="*/ 2034 h 95871"/>
                <a:gd name="connsiteX0" fmla="*/ 46918 w 49210"/>
                <a:gd name="connsiteY0" fmla="*/ 2034 h 95871"/>
                <a:gd name="connsiteX1" fmla="*/ 46918 w 49210"/>
                <a:gd name="connsiteY1" fmla="*/ 95871 h 95871"/>
                <a:gd name="connsiteX2" fmla="*/ 0 w 49210"/>
                <a:gd name="connsiteY2" fmla="*/ 48953 h 95871"/>
                <a:gd name="connsiteX3" fmla="*/ 46918 w 49210"/>
                <a:gd name="connsiteY3" fmla="*/ 2034 h 95871"/>
                <a:gd name="connsiteX0" fmla="*/ 46918 w 49210"/>
                <a:gd name="connsiteY0" fmla="*/ 2034 h 95871"/>
                <a:gd name="connsiteX1" fmla="*/ 46918 w 49210"/>
                <a:gd name="connsiteY1" fmla="*/ 95871 h 95871"/>
                <a:gd name="connsiteX2" fmla="*/ 0 w 49210"/>
                <a:gd name="connsiteY2" fmla="*/ 48953 h 95871"/>
                <a:gd name="connsiteX3" fmla="*/ 46918 w 49210"/>
                <a:gd name="connsiteY3" fmla="*/ 2034 h 95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210" h="95871">
                  <a:moveTo>
                    <a:pt x="46918" y="2034"/>
                  </a:moveTo>
                  <a:cubicBezTo>
                    <a:pt x="49975" y="38429"/>
                    <a:pt x="49975" y="52332"/>
                    <a:pt x="46918" y="95871"/>
                  </a:cubicBezTo>
                  <a:cubicBezTo>
                    <a:pt x="38819" y="94284"/>
                    <a:pt x="2381" y="92133"/>
                    <a:pt x="0" y="48953"/>
                  </a:cubicBezTo>
                  <a:cubicBezTo>
                    <a:pt x="0" y="8752"/>
                    <a:pt x="39098" y="-5786"/>
                    <a:pt x="46918" y="2034"/>
                  </a:cubicBezTo>
                  <a:close/>
                </a:path>
              </a:pathLst>
            </a:custGeom>
            <a:solidFill>
              <a:schemeClr val="bg1"/>
            </a:solidFill>
            <a:ln w="5854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00647C7C-15AD-40D9-8F19-DF3CB848E315}"/>
                </a:ext>
              </a:extLst>
            </p:cNvPr>
            <p:cNvSpPr/>
            <p:nvPr/>
          </p:nvSpPr>
          <p:spPr>
            <a:xfrm flipH="1">
              <a:off x="6403607" y="2102788"/>
              <a:ext cx="130373" cy="422267"/>
            </a:xfrm>
            <a:custGeom>
              <a:avLst/>
              <a:gdLst>
                <a:gd name="connsiteX0" fmla="*/ 257782 w 258690"/>
                <a:gd name="connsiteY0" fmla="*/ 180636 h 422266"/>
                <a:gd name="connsiteX1" fmla="*/ 215555 w 258690"/>
                <a:gd name="connsiteY1" fmla="*/ 35189 h 422266"/>
                <a:gd name="connsiteX2" fmla="*/ 206171 w 258690"/>
                <a:gd name="connsiteY2" fmla="*/ 22286 h 422266"/>
                <a:gd name="connsiteX3" fmla="*/ 156907 w 258690"/>
                <a:gd name="connsiteY3" fmla="*/ 2346 h 422266"/>
                <a:gd name="connsiteX4" fmla="*/ 129929 w 258690"/>
                <a:gd name="connsiteY4" fmla="*/ 0 h 422266"/>
                <a:gd name="connsiteX5" fmla="*/ 102950 w 258690"/>
                <a:gd name="connsiteY5" fmla="*/ 2346 h 422266"/>
                <a:gd name="connsiteX6" fmla="*/ 53686 w 258690"/>
                <a:gd name="connsiteY6" fmla="*/ 22286 h 422266"/>
                <a:gd name="connsiteX7" fmla="*/ 44302 w 258690"/>
                <a:gd name="connsiteY7" fmla="*/ 35189 h 422266"/>
                <a:gd name="connsiteX8" fmla="*/ 903 w 258690"/>
                <a:gd name="connsiteY8" fmla="*/ 180636 h 422266"/>
                <a:gd name="connsiteX9" fmla="*/ 17324 w 258690"/>
                <a:gd name="connsiteY9" fmla="*/ 209960 h 422266"/>
                <a:gd name="connsiteX10" fmla="*/ 24362 w 258690"/>
                <a:gd name="connsiteY10" fmla="*/ 211133 h 422266"/>
                <a:gd name="connsiteX11" fmla="*/ 46648 w 258690"/>
                <a:gd name="connsiteY11" fmla="*/ 194712 h 422266"/>
                <a:gd name="connsiteX12" fmla="*/ 83010 w 258690"/>
                <a:gd name="connsiteY12" fmla="*/ 71551 h 422266"/>
                <a:gd name="connsiteX13" fmla="*/ 83010 w 258690"/>
                <a:gd name="connsiteY13" fmla="*/ 112604 h 422266"/>
                <a:gd name="connsiteX14" fmla="*/ 39611 w 258690"/>
                <a:gd name="connsiteY14" fmla="*/ 258052 h 422266"/>
                <a:gd name="connsiteX15" fmla="*/ 71280 w 258690"/>
                <a:gd name="connsiteY15" fmla="*/ 258052 h 422266"/>
                <a:gd name="connsiteX16" fmla="*/ 71280 w 258690"/>
                <a:gd name="connsiteY16" fmla="*/ 422267 h 422266"/>
                <a:gd name="connsiteX17" fmla="*/ 118199 w 258690"/>
                <a:gd name="connsiteY17" fmla="*/ 422267 h 422266"/>
                <a:gd name="connsiteX18" fmla="*/ 118199 w 258690"/>
                <a:gd name="connsiteY18" fmla="*/ 258052 h 422266"/>
                <a:gd name="connsiteX19" fmla="*/ 141658 w 258690"/>
                <a:gd name="connsiteY19" fmla="*/ 258052 h 422266"/>
                <a:gd name="connsiteX20" fmla="*/ 141658 w 258690"/>
                <a:gd name="connsiteY20" fmla="*/ 422267 h 422266"/>
                <a:gd name="connsiteX21" fmla="*/ 188577 w 258690"/>
                <a:gd name="connsiteY21" fmla="*/ 422267 h 422266"/>
                <a:gd name="connsiteX22" fmla="*/ 188577 w 258690"/>
                <a:gd name="connsiteY22" fmla="*/ 258052 h 422266"/>
                <a:gd name="connsiteX23" fmla="*/ 220247 w 258690"/>
                <a:gd name="connsiteY23" fmla="*/ 258052 h 422266"/>
                <a:gd name="connsiteX24" fmla="*/ 176847 w 258690"/>
                <a:gd name="connsiteY24" fmla="*/ 112604 h 422266"/>
                <a:gd name="connsiteX25" fmla="*/ 176847 w 258690"/>
                <a:gd name="connsiteY25" fmla="*/ 71551 h 422266"/>
                <a:gd name="connsiteX26" fmla="*/ 213209 w 258690"/>
                <a:gd name="connsiteY26" fmla="*/ 194712 h 422266"/>
                <a:gd name="connsiteX27" fmla="*/ 235495 w 258690"/>
                <a:gd name="connsiteY27" fmla="*/ 211133 h 422266"/>
                <a:gd name="connsiteX28" fmla="*/ 242533 w 258690"/>
                <a:gd name="connsiteY28" fmla="*/ 209960 h 422266"/>
                <a:gd name="connsiteX29" fmla="*/ 257782 w 258690"/>
                <a:gd name="connsiteY29" fmla="*/ 180636 h 422266"/>
                <a:gd name="connsiteX0" fmla="*/ 257782 w 258690"/>
                <a:gd name="connsiteY0" fmla="*/ 180636 h 422267"/>
                <a:gd name="connsiteX1" fmla="*/ 206171 w 258690"/>
                <a:gd name="connsiteY1" fmla="*/ 22286 h 422267"/>
                <a:gd name="connsiteX2" fmla="*/ 156907 w 258690"/>
                <a:gd name="connsiteY2" fmla="*/ 2346 h 422267"/>
                <a:gd name="connsiteX3" fmla="*/ 129929 w 258690"/>
                <a:gd name="connsiteY3" fmla="*/ 0 h 422267"/>
                <a:gd name="connsiteX4" fmla="*/ 102950 w 258690"/>
                <a:gd name="connsiteY4" fmla="*/ 2346 h 422267"/>
                <a:gd name="connsiteX5" fmla="*/ 53686 w 258690"/>
                <a:gd name="connsiteY5" fmla="*/ 22286 h 422267"/>
                <a:gd name="connsiteX6" fmla="*/ 44302 w 258690"/>
                <a:gd name="connsiteY6" fmla="*/ 35189 h 422267"/>
                <a:gd name="connsiteX7" fmla="*/ 903 w 258690"/>
                <a:gd name="connsiteY7" fmla="*/ 180636 h 422267"/>
                <a:gd name="connsiteX8" fmla="*/ 17324 w 258690"/>
                <a:gd name="connsiteY8" fmla="*/ 209960 h 422267"/>
                <a:gd name="connsiteX9" fmla="*/ 24362 w 258690"/>
                <a:gd name="connsiteY9" fmla="*/ 211133 h 422267"/>
                <a:gd name="connsiteX10" fmla="*/ 46648 w 258690"/>
                <a:gd name="connsiteY10" fmla="*/ 194712 h 422267"/>
                <a:gd name="connsiteX11" fmla="*/ 83010 w 258690"/>
                <a:gd name="connsiteY11" fmla="*/ 71551 h 422267"/>
                <a:gd name="connsiteX12" fmla="*/ 83010 w 258690"/>
                <a:gd name="connsiteY12" fmla="*/ 112604 h 422267"/>
                <a:gd name="connsiteX13" fmla="*/ 39611 w 258690"/>
                <a:gd name="connsiteY13" fmla="*/ 258052 h 422267"/>
                <a:gd name="connsiteX14" fmla="*/ 71280 w 258690"/>
                <a:gd name="connsiteY14" fmla="*/ 258052 h 422267"/>
                <a:gd name="connsiteX15" fmla="*/ 71280 w 258690"/>
                <a:gd name="connsiteY15" fmla="*/ 422267 h 422267"/>
                <a:gd name="connsiteX16" fmla="*/ 118199 w 258690"/>
                <a:gd name="connsiteY16" fmla="*/ 422267 h 422267"/>
                <a:gd name="connsiteX17" fmla="*/ 118199 w 258690"/>
                <a:gd name="connsiteY17" fmla="*/ 258052 h 422267"/>
                <a:gd name="connsiteX18" fmla="*/ 141658 w 258690"/>
                <a:gd name="connsiteY18" fmla="*/ 258052 h 422267"/>
                <a:gd name="connsiteX19" fmla="*/ 141658 w 258690"/>
                <a:gd name="connsiteY19" fmla="*/ 422267 h 422267"/>
                <a:gd name="connsiteX20" fmla="*/ 188577 w 258690"/>
                <a:gd name="connsiteY20" fmla="*/ 422267 h 422267"/>
                <a:gd name="connsiteX21" fmla="*/ 188577 w 258690"/>
                <a:gd name="connsiteY21" fmla="*/ 258052 h 422267"/>
                <a:gd name="connsiteX22" fmla="*/ 220247 w 258690"/>
                <a:gd name="connsiteY22" fmla="*/ 258052 h 422267"/>
                <a:gd name="connsiteX23" fmla="*/ 176847 w 258690"/>
                <a:gd name="connsiteY23" fmla="*/ 112604 h 422267"/>
                <a:gd name="connsiteX24" fmla="*/ 176847 w 258690"/>
                <a:gd name="connsiteY24" fmla="*/ 71551 h 422267"/>
                <a:gd name="connsiteX25" fmla="*/ 213209 w 258690"/>
                <a:gd name="connsiteY25" fmla="*/ 194712 h 422267"/>
                <a:gd name="connsiteX26" fmla="*/ 235495 w 258690"/>
                <a:gd name="connsiteY26" fmla="*/ 211133 h 422267"/>
                <a:gd name="connsiteX27" fmla="*/ 242533 w 258690"/>
                <a:gd name="connsiteY27" fmla="*/ 209960 h 422267"/>
                <a:gd name="connsiteX28" fmla="*/ 257782 w 258690"/>
                <a:gd name="connsiteY28" fmla="*/ 180636 h 422267"/>
                <a:gd name="connsiteX0" fmla="*/ 257782 w 258690"/>
                <a:gd name="connsiteY0" fmla="*/ 180636 h 422267"/>
                <a:gd name="connsiteX1" fmla="*/ 156907 w 258690"/>
                <a:gd name="connsiteY1" fmla="*/ 2346 h 422267"/>
                <a:gd name="connsiteX2" fmla="*/ 129929 w 258690"/>
                <a:gd name="connsiteY2" fmla="*/ 0 h 422267"/>
                <a:gd name="connsiteX3" fmla="*/ 102950 w 258690"/>
                <a:gd name="connsiteY3" fmla="*/ 2346 h 422267"/>
                <a:gd name="connsiteX4" fmla="*/ 53686 w 258690"/>
                <a:gd name="connsiteY4" fmla="*/ 22286 h 422267"/>
                <a:gd name="connsiteX5" fmla="*/ 44302 w 258690"/>
                <a:gd name="connsiteY5" fmla="*/ 35189 h 422267"/>
                <a:gd name="connsiteX6" fmla="*/ 903 w 258690"/>
                <a:gd name="connsiteY6" fmla="*/ 180636 h 422267"/>
                <a:gd name="connsiteX7" fmla="*/ 17324 w 258690"/>
                <a:gd name="connsiteY7" fmla="*/ 209960 h 422267"/>
                <a:gd name="connsiteX8" fmla="*/ 24362 w 258690"/>
                <a:gd name="connsiteY8" fmla="*/ 211133 h 422267"/>
                <a:gd name="connsiteX9" fmla="*/ 46648 w 258690"/>
                <a:gd name="connsiteY9" fmla="*/ 194712 h 422267"/>
                <a:gd name="connsiteX10" fmla="*/ 83010 w 258690"/>
                <a:gd name="connsiteY10" fmla="*/ 71551 h 422267"/>
                <a:gd name="connsiteX11" fmla="*/ 83010 w 258690"/>
                <a:gd name="connsiteY11" fmla="*/ 112604 h 422267"/>
                <a:gd name="connsiteX12" fmla="*/ 39611 w 258690"/>
                <a:gd name="connsiteY12" fmla="*/ 258052 h 422267"/>
                <a:gd name="connsiteX13" fmla="*/ 71280 w 258690"/>
                <a:gd name="connsiteY13" fmla="*/ 258052 h 422267"/>
                <a:gd name="connsiteX14" fmla="*/ 71280 w 258690"/>
                <a:gd name="connsiteY14" fmla="*/ 422267 h 422267"/>
                <a:gd name="connsiteX15" fmla="*/ 118199 w 258690"/>
                <a:gd name="connsiteY15" fmla="*/ 422267 h 422267"/>
                <a:gd name="connsiteX16" fmla="*/ 118199 w 258690"/>
                <a:gd name="connsiteY16" fmla="*/ 258052 h 422267"/>
                <a:gd name="connsiteX17" fmla="*/ 141658 w 258690"/>
                <a:gd name="connsiteY17" fmla="*/ 258052 h 422267"/>
                <a:gd name="connsiteX18" fmla="*/ 141658 w 258690"/>
                <a:gd name="connsiteY18" fmla="*/ 422267 h 422267"/>
                <a:gd name="connsiteX19" fmla="*/ 188577 w 258690"/>
                <a:gd name="connsiteY19" fmla="*/ 422267 h 422267"/>
                <a:gd name="connsiteX20" fmla="*/ 188577 w 258690"/>
                <a:gd name="connsiteY20" fmla="*/ 258052 h 422267"/>
                <a:gd name="connsiteX21" fmla="*/ 220247 w 258690"/>
                <a:gd name="connsiteY21" fmla="*/ 258052 h 422267"/>
                <a:gd name="connsiteX22" fmla="*/ 176847 w 258690"/>
                <a:gd name="connsiteY22" fmla="*/ 112604 h 422267"/>
                <a:gd name="connsiteX23" fmla="*/ 176847 w 258690"/>
                <a:gd name="connsiteY23" fmla="*/ 71551 h 422267"/>
                <a:gd name="connsiteX24" fmla="*/ 213209 w 258690"/>
                <a:gd name="connsiteY24" fmla="*/ 194712 h 422267"/>
                <a:gd name="connsiteX25" fmla="*/ 235495 w 258690"/>
                <a:gd name="connsiteY25" fmla="*/ 211133 h 422267"/>
                <a:gd name="connsiteX26" fmla="*/ 242533 w 258690"/>
                <a:gd name="connsiteY26" fmla="*/ 209960 h 422267"/>
                <a:gd name="connsiteX27" fmla="*/ 257782 w 258690"/>
                <a:gd name="connsiteY27" fmla="*/ 180636 h 422267"/>
                <a:gd name="connsiteX0" fmla="*/ 242533 w 242533"/>
                <a:gd name="connsiteY0" fmla="*/ 223798 h 436105"/>
                <a:gd name="connsiteX1" fmla="*/ 156907 w 242533"/>
                <a:gd name="connsiteY1" fmla="*/ 16184 h 436105"/>
                <a:gd name="connsiteX2" fmla="*/ 129929 w 242533"/>
                <a:gd name="connsiteY2" fmla="*/ 13838 h 436105"/>
                <a:gd name="connsiteX3" fmla="*/ 102950 w 242533"/>
                <a:gd name="connsiteY3" fmla="*/ 16184 h 436105"/>
                <a:gd name="connsiteX4" fmla="*/ 53686 w 242533"/>
                <a:gd name="connsiteY4" fmla="*/ 36124 h 436105"/>
                <a:gd name="connsiteX5" fmla="*/ 44302 w 242533"/>
                <a:gd name="connsiteY5" fmla="*/ 49027 h 436105"/>
                <a:gd name="connsiteX6" fmla="*/ 903 w 242533"/>
                <a:gd name="connsiteY6" fmla="*/ 194474 h 436105"/>
                <a:gd name="connsiteX7" fmla="*/ 17324 w 242533"/>
                <a:gd name="connsiteY7" fmla="*/ 223798 h 436105"/>
                <a:gd name="connsiteX8" fmla="*/ 24362 w 242533"/>
                <a:gd name="connsiteY8" fmla="*/ 224971 h 436105"/>
                <a:gd name="connsiteX9" fmla="*/ 46648 w 242533"/>
                <a:gd name="connsiteY9" fmla="*/ 208550 h 436105"/>
                <a:gd name="connsiteX10" fmla="*/ 83010 w 242533"/>
                <a:gd name="connsiteY10" fmla="*/ 85389 h 436105"/>
                <a:gd name="connsiteX11" fmla="*/ 83010 w 242533"/>
                <a:gd name="connsiteY11" fmla="*/ 126442 h 436105"/>
                <a:gd name="connsiteX12" fmla="*/ 39611 w 242533"/>
                <a:gd name="connsiteY12" fmla="*/ 271890 h 436105"/>
                <a:gd name="connsiteX13" fmla="*/ 71280 w 242533"/>
                <a:gd name="connsiteY13" fmla="*/ 271890 h 436105"/>
                <a:gd name="connsiteX14" fmla="*/ 71280 w 242533"/>
                <a:gd name="connsiteY14" fmla="*/ 436105 h 436105"/>
                <a:gd name="connsiteX15" fmla="*/ 118199 w 242533"/>
                <a:gd name="connsiteY15" fmla="*/ 436105 h 436105"/>
                <a:gd name="connsiteX16" fmla="*/ 118199 w 242533"/>
                <a:gd name="connsiteY16" fmla="*/ 271890 h 436105"/>
                <a:gd name="connsiteX17" fmla="*/ 141658 w 242533"/>
                <a:gd name="connsiteY17" fmla="*/ 271890 h 436105"/>
                <a:gd name="connsiteX18" fmla="*/ 141658 w 242533"/>
                <a:gd name="connsiteY18" fmla="*/ 436105 h 436105"/>
                <a:gd name="connsiteX19" fmla="*/ 188577 w 242533"/>
                <a:gd name="connsiteY19" fmla="*/ 436105 h 436105"/>
                <a:gd name="connsiteX20" fmla="*/ 188577 w 242533"/>
                <a:gd name="connsiteY20" fmla="*/ 271890 h 436105"/>
                <a:gd name="connsiteX21" fmla="*/ 220247 w 242533"/>
                <a:gd name="connsiteY21" fmla="*/ 271890 h 436105"/>
                <a:gd name="connsiteX22" fmla="*/ 176847 w 242533"/>
                <a:gd name="connsiteY22" fmla="*/ 126442 h 436105"/>
                <a:gd name="connsiteX23" fmla="*/ 176847 w 242533"/>
                <a:gd name="connsiteY23" fmla="*/ 85389 h 436105"/>
                <a:gd name="connsiteX24" fmla="*/ 213209 w 242533"/>
                <a:gd name="connsiteY24" fmla="*/ 208550 h 436105"/>
                <a:gd name="connsiteX25" fmla="*/ 235495 w 242533"/>
                <a:gd name="connsiteY25" fmla="*/ 224971 h 436105"/>
                <a:gd name="connsiteX26" fmla="*/ 242533 w 242533"/>
                <a:gd name="connsiteY26" fmla="*/ 223798 h 436105"/>
                <a:gd name="connsiteX0" fmla="*/ 235495 w 235495"/>
                <a:gd name="connsiteY0" fmla="*/ 225058 h 436192"/>
                <a:gd name="connsiteX1" fmla="*/ 156907 w 235495"/>
                <a:gd name="connsiteY1" fmla="*/ 16271 h 436192"/>
                <a:gd name="connsiteX2" fmla="*/ 129929 w 235495"/>
                <a:gd name="connsiteY2" fmla="*/ 13925 h 436192"/>
                <a:gd name="connsiteX3" fmla="*/ 102950 w 235495"/>
                <a:gd name="connsiteY3" fmla="*/ 16271 h 436192"/>
                <a:gd name="connsiteX4" fmla="*/ 53686 w 235495"/>
                <a:gd name="connsiteY4" fmla="*/ 36211 h 436192"/>
                <a:gd name="connsiteX5" fmla="*/ 44302 w 235495"/>
                <a:gd name="connsiteY5" fmla="*/ 49114 h 436192"/>
                <a:gd name="connsiteX6" fmla="*/ 903 w 235495"/>
                <a:gd name="connsiteY6" fmla="*/ 194561 h 436192"/>
                <a:gd name="connsiteX7" fmla="*/ 17324 w 235495"/>
                <a:gd name="connsiteY7" fmla="*/ 223885 h 436192"/>
                <a:gd name="connsiteX8" fmla="*/ 24362 w 235495"/>
                <a:gd name="connsiteY8" fmla="*/ 225058 h 436192"/>
                <a:gd name="connsiteX9" fmla="*/ 46648 w 235495"/>
                <a:gd name="connsiteY9" fmla="*/ 208637 h 436192"/>
                <a:gd name="connsiteX10" fmla="*/ 83010 w 235495"/>
                <a:gd name="connsiteY10" fmla="*/ 85476 h 436192"/>
                <a:gd name="connsiteX11" fmla="*/ 83010 w 235495"/>
                <a:gd name="connsiteY11" fmla="*/ 126529 h 436192"/>
                <a:gd name="connsiteX12" fmla="*/ 39611 w 235495"/>
                <a:gd name="connsiteY12" fmla="*/ 271977 h 436192"/>
                <a:gd name="connsiteX13" fmla="*/ 71280 w 235495"/>
                <a:gd name="connsiteY13" fmla="*/ 271977 h 436192"/>
                <a:gd name="connsiteX14" fmla="*/ 71280 w 235495"/>
                <a:gd name="connsiteY14" fmla="*/ 436192 h 436192"/>
                <a:gd name="connsiteX15" fmla="*/ 118199 w 235495"/>
                <a:gd name="connsiteY15" fmla="*/ 436192 h 436192"/>
                <a:gd name="connsiteX16" fmla="*/ 118199 w 235495"/>
                <a:gd name="connsiteY16" fmla="*/ 271977 h 436192"/>
                <a:gd name="connsiteX17" fmla="*/ 141658 w 235495"/>
                <a:gd name="connsiteY17" fmla="*/ 271977 h 436192"/>
                <a:gd name="connsiteX18" fmla="*/ 141658 w 235495"/>
                <a:gd name="connsiteY18" fmla="*/ 436192 h 436192"/>
                <a:gd name="connsiteX19" fmla="*/ 188577 w 235495"/>
                <a:gd name="connsiteY19" fmla="*/ 436192 h 436192"/>
                <a:gd name="connsiteX20" fmla="*/ 188577 w 235495"/>
                <a:gd name="connsiteY20" fmla="*/ 271977 h 436192"/>
                <a:gd name="connsiteX21" fmla="*/ 220247 w 235495"/>
                <a:gd name="connsiteY21" fmla="*/ 271977 h 436192"/>
                <a:gd name="connsiteX22" fmla="*/ 176847 w 235495"/>
                <a:gd name="connsiteY22" fmla="*/ 126529 h 436192"/>
                <a:gd name="connsiteX23" fmla="*/ 176847 w 235495"/>
                <a:gd name="connsiteY23" fmla="*/ 85476 h 436192"/>
                <a:gd name="connsiteX24" fmla="*/ 213209 w 235495"/>
                <a:gd name="connsiteY24" fmla="*/ 208637 h 436192"/>
                <a:gd name="connsiteX25" fmla="*/ 235495 w 235495"/>
                <a:gd name="connsiteY25" fmla="*/ 225058 h 436192"/>
                <a:gd name="connsiteX0" fmla="*/ 213209 w 220247"/>
                <a:gd name="connsiteY0" fmla="*/ 207424 h 434979"/>
                <a:gd name="connsiteX1" fmla="*/ 156907 w 220247"/>
                <a:gd name="connsiteY1" fmla="*/ 15058 h 434979"/>
                <a:gd name="connsiteX2" fmla="*/ 129929 w 220247"/>
                <a:gd name="connsiteY2" fmla="*/ 12712 h 434979"/>
                <a:gd name="connsiteX3" fmla="*/ 102950 w 220247"/>
                <a:gd name="connsiteY3" fmla="*/ 15058 h 434979"/>
                <a:gd name="connsiteX4" fmla="*/ 53686 w 220247"/>
                <a:gd name="connsiteY4" fmla="*/ 34998 h 434979"/>
                <a:gd name="connsiteX5" fmla="*/ 44302 w 220247"/>
                <a:gd name="connsiteY5" fmla="*/ 47901 h 434979"/>
                <a:gd name="connsiteX6" fmla="*/ 903 w 220247"/>
                <a:gd name="connsiteY6" fmla="*/ 193348 h 434979"/>
                <a:gd name="connsiteX7" fmla="*/ 17324 w 220247"/>
                <a:gd name="connsiteY7" fmla="*/ 222672 h 434979"/>
                <a:gd name="connsiteX8" fmla="*/ 24362 w 220247"/>
                <a:gd name="connsiteY8" fmla="*/ 223845 h 434979"/>
                <a:gd name="connsiteX9" fmla="*/ 46648 w 220247"/>
                <a:gd name="connsiteY9" fmla="*/ 207424 h 434979"/>
                <a:gd name="connsiteX10" fmla="*/ 83010 w 220247"/>
                <a:gd name="connsiteY10" fmla="*/ 84263 h 434979"/>
                <a:gd name="connsiteX11" fmla="*/ 83010 w 220247"/>
                <a:gd name="connsiteY11" fmla="*/ 125316 h 434979"/>
                <a:gd name="connsiteX12" fmla="*/ 39611 w 220247"/>
                <a:gd name="connsiteY12" fmla="*/ 270764 h 434979"/>
                <a:gd name="connsiteX13" fmla="*/ 71280 w 220247"/>
                <a:gd name="connsiteY13" fmla="*/ 270764 h 434979"/>
                <a:gd name="connsiteX14" fmla="*/ 71280 w 220247"/>
                <a:gd name="connsiteY14" fmla="*/ 434979 h 434979"/>
                <a:gd name="connsiteX15" fmla="*/ 118199 w 220247"/>
                <a:gd name="connsiteY15" fmla="*/ 434979 h 434979"/>
                <a:gd name="connsiteX16" fmla="*/ 118199 w 220247"/>
                <a:gd name="connsiteY16" fmla="*/ 270764 h 434979"/>
                <a:gd name="connsiteX17" fmla="*/ 141658 w 220247"/>
                <a:gd name="connsiteY17" fmla="*/ 270764 h 434979"/>
                <a:gd name="connsiteX18" fmla="*/ 141658 w 220247"/>
                <a:gd name="connsiteY18" fmla="*/ 434979 h 434979"/>
                <a:gd name="connsiteX19" fmla="*/ 188577 w 220247"/>
                <a:gd name="connsiteY19" fmla="*/ 434979 h 434979"/>
                <a:gd name="connsiteX20" fmla="*/ 188577 w 220247"/>
                <a:gd name="connsiteY20" fmla="*/ 270764 h 434979"/>
                <a:gd name="connsiteX21" fmla="*/ 220247 w 220247"/>
                <a:gd name="connsiteY21" fmla="*/ 270764 h 434979"/>
                <a:gd name="connsiteX22" fmla="*/ 176847 w 220247"/>
                <a:gd name="connsiteY22" fmla="*/ 125316 h 434979"/>
                <a:gd name="connsiteX23" fmla="*/ 176847 w 220247"/>
                <a:gd name="connsiteY23" fmla="*/ 84263 h 434979"/>
                <a:gd name="connsiteX24" fmla="*/ 213209 w 220247"/>
                <a:gd name="connsiteY24" fmla="*/ 207424 h 434979"/>
                <a:gd name="connsiteX0" fmla="*/ 176847 w 220247"/>
                <a:gd name="connsiteY0" fmla="*/ 84263 h 434979"/>
                <a:gd name="connsiteX1" fmla="*/ 156907 w 220247"/>
                <a:gd name="connsiteY1" fmla="*/ 15058 h 434979"/>
                <a:gd name="connsiteX2" fmla="*/ 129929 w 220247"/>
                <a:gd name="connsiteY2" fmla="*/ 12712 h 434979"/>
                <a:gd name="connsiteX3" fmla="*/ 102950 w 220247"/>
                <a:gd name="connsiteY3" fmla="*/ 15058 h 434979"/>
                <a:gd name="connsiteX4" fmla="*/ 53686 w 220247"/>
                <a:gd name="connsiteY4" fmla="*/ 34998 h 434979"/>
                <a:gd name="connsiteX5" fmla="*/ 44302 w 220247"/>
                <a:gd name="connsiteY5" fmla="*/ 47901 h 434979"/>
                <a:gd name="connsiteX6" fmla="*/ 903 w 220247"/>
                <a:gd name="connsiteY6" fmla="*/ 193348 h 434979"/>
                <a:gd name="connsiteX7" fmla="*/ 17324 w 220247"/>
                <a:gd name="connsiteY7" fmla="*/ 222672 h 434979"/>
                <a:gd name="connsiteX8" fmla="*/ 24362 w 220247"/>
                <a:gd name="connsiteY8" fmla="*/ 223845 h 434979"/>
                <a:gd name="connsiteX9" fmla="*/ 46648 w 220247"/>
                <a:gd name="connsiteY9" fmla="*/ 207424 h 434979"/>
                <a:gd name="connsiteX10" fmla="*/ 83010 w 220247"/>
                <a:gd name="connsiteY10" fmla="*/ 84263 h 434979"/>
                <a:gd name="connsiteX11" fmla="*/ 83010 w 220247"/>
                <a:gd name="connsiteY11" fmla="*/ 125316 h 434979"/>
                <a:gd name="connsiteX12" fmla="*/ 39611 w 220247"/>
                <a:gd name="connsiteY12" fmla="*/ 270764 h 434979"/>
                <a:gd name="connsiteX13" fmla="*/ 71280 w 220247"/>
                <a:gd name="connsiteY13" fmla="*/ 270764 h 434979"/>
                <a:gd name="connsiteX14" fmla="*/ 71280 w 220247"/>
                <a:gd name="connsiteY14" fmla="*/ 434979 h 434979"/>
                <a:gd name="connsiteX15" fmla="*/ 118199 w 220247"/>
                <a:gd name="connsiteY15" fmla="*/ 434979 h 434979"/>
                <a:gd name="connsiteX16" fmla="*/ 118199 w 220247"/>
                <a:gd name="connsiteY16" fmla="*/ 270764 h 434979"/>
                <a:gd name="connsiteX17" fmla="*/ 141658 w 220247"/>
                <a:gd name="connsiteY17" fmla="*/ 270764 h 434979"/>
                <a:gd name="connsiteX18" fmla="*/ 141658 w 220247"/>
                <a:gd name="connsiteY18" fmla="*/ 434979 h 434979"/>
                <a:gd name="connsiteX19" fmla="*/ 188577 w 220247"/>
                <a:gd name="connsiteY19" fmla="*/ 434979 h 434979"/>
                <a:gd name="connsiteX20" fmla="*/ 188577 w 220247"/>
                <a:gd name="connsiteY20" fmla="*/ 270764 h 434979"/>
                <a:gd name="connsiteX21" fmla="*/ 220247 w 220247"/>
                <a:gd name="connsiteY21" fmla="*/ 270764 h 434979"/>
                <a:gd name="connsiteX22" fmla="*/ 176847 w 220247"/>
                <a:gd name="connsiteY22" fmla="*/ 125316 h 434979"/>
                <a:gd name="connsiteX23" fmla="*/ 176847 w 220247"/>
                <a:gd name="connsiteY23" fmla="*/ 84263 h 434979"/>
                <a:gd name="connsiteX0" fmla="*/ 176847 w 220247"/>
                <a:gd name="connsiteY0" fmla="*/ 125316 h 434979"/>
                <a:gd name="connsiteX1" fmla="*/ 156907 w 220247"/>
                <a:gd name="connsiteY1" fmla="*/ 15058 h 434979"/>
                <a:gd name="connsiteX2" fmla="*/ 129929 w 220247"/>
                <a:gd name="connsiteY2" fmla="*/ 12712 h 434979"/>
                <a:gd name="connsiteX3" fmla="*/ 102950 w 220247"/>
                <a:gd name="connsiteY3" fmla="*/ 15058 h 434979"/>
                <a:gd name="connsiteX4" fmla="*/ 53686 w 220247"/>
                <a:gd name="connsiteY4" fmla="*/ 34998 h 434979"/>
                <a:gd name="connsiteX5" fmla="*/ 44302 w 220247"/>
                <a:gd name="connsiteY5" fmla="*/ 47901 h 434979"/>
                <a:gd name="connsiteX6" fmla="*/ 903 w 220247"/>
                <a:gd name="connsiteY6" fmla="*/ 193348 h 434979"/>
                <a:gd name="connsiteX7" fmla="*/ 17324 w 220247"/>
                <a:gd name="connsiteY7" fmla="*/ 222672 h 434979"/>
                <a:gd name="connsiteX8" fmla="*/ 24362 w 220247"/>
                <a:gd name="connsiteY8" fmla="*/ 223845 h 434979"/>
                <a:gd name="connsiteX9" fmla="*/ 46648 w 220247"/>
                <a:gd name="connsiteY9" fmla="*/ 207424 h 434979"/>
                <a:gd name="connsiteX10" fmla="*/ 83010 w 220247"/>
                <a:gd name="connsiteY10" fmla="*/ 84263 h 434979"/>
                <a:gd name="connsiteX11" fmla="*/ 83010 w 220247"/>
                <a:gd name="connsiteY11" fmla="*/ 125316 h 434979"/>
                <a:gd name="connsiteX12" fmla="*/ 39611 w 220247"/>
                <a:gd name="connsiteY12" fmla="*/ 270764 h 434979"/>
                <a:gd name="connsiteX13" fmla="*/ 71280 w 220247"/>
                <a:gd name="connsiteY13" fmla="*/ 270764 h 434979"/>
                <a:gd name="connsiteX14" fmla="*/ 71280 w 220247"/>
                <a:gd name="connsiteY14" fmla="*/ 434979 h 434979"/>
                <a:gd name="connsiteX15" fmla="*/ 118199 w 220247"/>
                <a:gd name="connsiteY15" fmla="*/ 434979 h 434979"/>
                <a:gd name="connsiteX16" fmla="*/ 118199 w 220247"/>
                <a:gd name="connsiteY16" fmla="*/ 270764 h 434979"/>
                <a:gd name="connsiteX17" fmla="*/ 141658 w 220247"/>
                <a:gd name="connsiteY17" fmla="*/ 270764 h 434979"/>
                <a:gd name="connsiteX18" fmla="*/ 141658 w 220247"/>
                <a:gd name="connsiteY18" fmla="*/ 434979 h 434979"/>
                <a:gd name="connsiteX19" fmla="*/ 188577 w 220247"/>
                <a:gd name="connsiteY19" fmla="*/ 434979 h 434979"/>
                <a:gd name="connsiteX20" fmla="*/ 188577 w 220247"/>
                <a:gd name="connsiteY20" fmla="*/ 270764 h 434979"/>
                <a:gd name="connsiteX21" fmla="*/ 220247 w 220247"/>
                <a:gd name="connsiteY21" fmla="*/ 270764 h 434979"/>
                <a:gd name="connsiteX22" fmla="*/ 176847 w 220247"/>
                <a:gd name="connsiteY22" fmla="*/ 125316 h 434979"/>
                <a:gd name="connsiteX0" fmla="*/ 176847 w 220247"/>
                <a:gd name="connsiteY0" fmla="*/ 112604 h 422267"/>
                <a:gd name="connsiteX1" fmla="*/ 129929 w 220247"/>
                <a:gd name="connsiteY1" fmla="*/ 0 h 422267"/>
                <a:gd name="connsiteX2" fmla="*/ 102950 w 220247"/>
                <a:gd name="connsiteY2" fmla="*/ 2346 h 422267"/>
                <a:gd name="connsiteX3" fmla="*/ 53686 w 220247"/>
                <a:gd name="connsiteY3" fmla="*/ 22286 h 422267"/>
                <a:gd name="connsiteX4" fmla="*/ 44302 w 220247"/>
                <a:gd name="connsiteY4" fmla="*/ 35189 h 422267"/>
                <a:gd name="connsiteX5" fmla="*/ 903 w 220247"/>
                <a:gd name="connsiteY5" fmla="*/ 180636 h 422267"/>
                <a:gd name="connsiteX6" fmla="*/ 17324 w 220247"/>
                <a:gd name="connsiteY6" fmla="*/ 209960 h 422267"/>
                <a:gd name="connsiteX7" fmla="*/ 24362 w 220247"/>
                <a:gd name="connsiteY7" fmla="*/ 211133 h 422267"/>
                <a:gd name="connsiteX8" fmla="*/ 46648 w 220247"/>
                <a:gd name="connsiteY8" fmla="*/ 194712 h 422267"/>
                <a:gd name="connsiteX9" fmla="*/ 83010 w 220247"/>
                <a:gd name="connsiteY9" fmla="*/ 71551 h 422267"/>
                <a:gd name="connsiteX10" fmla="*/ 83010 w 220247"/>
                <a:gd name="connsiteY10" fmla="*/ 112604 h 422267"/>
                <a:gd name="connsiteX11" fmla="*/ 39611 w 220247"/>
                <a:gd name="connsiteY11" fmla="*/ 258052 h 422267"/>
                <a:gd name="connsiteX12" fmla="*/ 71280 w 220247"/>
                <a:gd name="connsiteY12" fmla="*/ 258052 h 422267"/>
                <a:gd name="connsiteX13" fmla="*/ 71280 w 220247"/>
                <a:gd name="connsiteY13" fmla="*/ 422267 h 422267"/>
                <a:gd name="connsiteX14" fmla="*/ 118199 w 220247"/>
                <a:gd name="connsiteY14" fmla="*/ 422267 h 422267"/>
                <a:gd name="connsiteX15" fmla="*/ 118199 w 220247"/>
                <a:gd name="connsiteY15" fmla="*/ 258052 h 422267"/>
                <a:gd name="connsiteX16" fmla="*/ 141658 w 220247"/>
                <a:gd name="connsiteY16" fmla="*/ 258052 h 422267"/>
                <a:gd name="connsiteX17" fmla="*/ 141658 w 220247"/>
                <a:gd name="connsiteY17" fmla="*/ 422267 h 422267"/>
                <a:gd name="connsiteX18" fmla="*/ 188577 w 220247"/>
                <a:gd name="connsiteY18" fmla="*/ 422267 h 422267"/>
                <a:gd name="connsiteX19" fmla="*/ 188577 w 220247"/>
                <a:gd name="connsiteY19" fmla="*/ 258052 h 422267"/>
                <a:gd name="connsiteX20" fmla="*/ 220247 w 220247"/>
                <a:gd name="connsiteY20" fmla="*/ 258052 h 422267"/>
                <a:gd name="connsiteX21" fmla="*/ 176847 w 220247"/>
                <a:gd name="connsiteY21" fmla="*/ 112604 h 422267"/>
                <a:gd name="connsiteX0" fmla="*/ 220247 w 220247"/>
                <a:gd name="connsiteY0" fmla="*/ 258052 h 422267"/>
                <a:gd name="connsiteX1" fmla="*/ 129929 w 220247"/>
                <a:gd name="connsiteY1" fmla="*/ 0 h 422267"/>
                <a:gd name="connsiteX2" fmla="*/ 102950 w 220247"/>
                <a:gd name="connsiteY2" fmla="*/ 2346 h 422267"/>
                <a:gd name="connsiteX3" fmla="*/ 53686 w 220247"/>
                <a:gd name="connsiteY3" fmla="*/ 22286 h 422267"/>
                <a:gd name="connsiteX4" fmla="*/ 44302 w 220247"/>
                <a:gd name="connsiteY4" fmla="*/ 35189 h 422267"/>
                <a:gd name="connsiteX5" fmla="*/ 903 w 220247"/>
                <a:gd name="connsiteY5" fmla="*/ 180636 h 422267"/>
                <a:gd name="connsiteX6" fmla="*/ 17324 w 220247"/>
                <a:gd name="connsiteY6" fmla="*/ 209960 h 422267"/>
                <a:gd name="connsiteX7" fmla="*/ 24362 w 220247"/>
                <a:gd name="connsiteY7" fmla="*/ 211133 h 422267"/>
                <a:gd name="connsiteX8" fmla="*/ 46648 w 220247"/>
                <a:gd name="connsiteY8" fmla="*/ 194712 h 422267"/>
                <a:gd name="connsiteX9" fmla="*/ 83010 w 220247"/>
                <a:gd name="connsiteY9" fmla="*/ 71551 h 422267"/>
                <a:gd name="connsiteX10" fmla="*/ 83010 w 220247"/>
                <a:gd name="connsiteY10" fmla="*/ 112604 h 422267"/>
                <a:gd name="connsiteX11" fmla="*/ 39611 w 220247"/>
                <a:gd name="connsiteY11" fmla="*/ 258052 h 422267"/>
                <a:gd name="connsiteX12" fmla="*/ 71280 w 220247"/>
                <a:gd name="connsiteY12" fmla="*/ 258052 h 422267"/>
                <a:gd name="connsiteX13" fmla="*/ 71280 w 220247"/>
                <a:gd name="connsiteY13" fmla="*/ 422267 h 422267"/>
                <a:gd name="connsiteX14" fmla="*/ 118199 w 220247"/>
                <a:gd name="connsiteY14" fmla="*/ 422267 h 422267"/>
                <a:gd name="connsiteX15" fmla="*/ 118199 w 220247"/>
                <a:gd name="connsiteY15" fmla="*/ 258052 h 422267"/>
                <a:gd name="connsiteX16" fmla="*/ 141658 w 220247"/>
                <a:gd name="connsiteY16" fmla="*/ 258052 h 422267"/>
                <a:gd name="connsiteX17" fmla="*/ 141658 w 220247"/>
                <a:gd name="connsiteY17" fmla="*/ 422267 h 422267"/>
                <a:gd name="connsiteX18" fmla="*/ 188577 w 220247"/>
                <a:gd name="connsiteY18" fmla="*/ 422267 h 422267"/>
                <a:gd name="connsiteX19" fmla="*/ 188577 w 220247"/>
                <a:gd name="connsiteY19" fmla="*/ 258052 h 422267"/>
                <a:gd name="connsiteX20" fmla="*/ 220247 w 220247"/>
                <a:gd name="connsiteY20" fmla="*/ 258052 h 422267"/>
                <a:gd name="connsiteX0" fmla="*/ 188577 w 188577"/>
                <a:gd name="connsiteY0" fmla="*/ 258052 h 422267"/>
                <a:gd name="connsiteX1" fmla="*/ 129929 w 188577"/>
                <a:gd name="connsiteY1" fmla="*/ 0 h 422267"/>
                <a:gd name="connsiteX2" fmla="*/ 102950 w 188577"/>
                <a:gd name="connsiteY2" fmla="*/ 2346 h 422267"/>
                <a:gd name="connsiteX3" fmla="*/ 53686 w 188577"/>
                <a:gd name="connsiteY3" fmla="*/ 22286 h 422267"/>
                <a:gd name="connsiteX4" fmla="*/ 44302 w 188577"/>
                <a:gd name="connsiteY4" fmla="*/ 35189 h 422267"/>
                <a:gd name="connsiteX5" fmla="*/ 903 w 188577"/>
                <a:gd name="connsiteY5" fmla="*/ 180636 h 422267"/>
                <a:gd name="connsiteX6" fmla="*/ 17324 w 188577"/>
                <a:gd name="connsiteY6" fmla="*/ 209960 h 422267"/>
                <a:gd name="connsiteX7" fmla="*/ 24362 w 188577"/>
                <a:gd name="connsiteY7" fmla="*/ 211133 h 422267"/>
                <a:gd name="connsiteX8" fmla="*/ 46648 w 188577"/>
                <a:gd name="connsiteY8" fmla="*/ 194712 h 422267"/>
                <a:gd name="connsiteX9" fmla="*/ 83010 w 188577"/>
                <a:gd name="connsiteY9" fmla="*/ 71551 h 422267"/>
                <a:gd name="connsiteX10" fmla="*/ 83010 w 188577"/>
                <a:gd name="connsiteY10" fmla="*/ 112604 h 422267"/>
                <a:gd name="connsiteX11" fmla="*/ 39611 w 188577"/>
                <a:gd name="connsiteY11" fmla="*/ 258052 h 422267"/>
                <a:gd name="connsiteX12" fmla="*/ 71280 w 188577"/>
                <a:gd name="connsiteY12" fmla="*/ 258052 h 422267"/>
                <a:gd name="connsiteX13" fmla="*/ 71280 w 188577"/>
                <a:gd name="connsiteY13" fmla="*/ 422267 h 422267"/>
                <a:gd name="connsiteX14" fmla="*/ 118199 w 188577"/>
                <a:gd name="connsiteY14" fmla="*/ 422267 h 422267"/>
                <a:gd name="connsiteX15" fmla="*/ 118199 w 188577"/>
                <a:gd name="connsiteY15" fmla="*/ 258052 h 422267"/>
                <a:gd name="connsiteX16" fmla="*/ 141658 w 188577"/>
                <a:gd name="connsiteY16" fmla="*/ 258052 h 422267"/>
                <a:gd name="connsiteX17" fmla="*/ 141658 w 188577"/>
                <a:gd name="connsiteY17" fmla="*/ 422267 h 422267"/>
                <a:gd name="connsiteX18" fmla="*/ 188577 w 188577"/>
                <a:gd name="connsiteY18" fmla="*/ 422267 h 422267"/>
                <a:gd name="connsiteX19" fmla="*/ 188577 w 188577"/>
                <a:gd name="connsiteY19" fmla="*/ 258052 h 422267"/>
                <a:gd name="connsiteX0" fmla="*/ 188577 w 188577"/>
                <a:gd name="connsiteY0" fmla="*/ 422267 h 422267"/>
                <a:gd name="connsiteX1" fmla="*/ 129929 w 188577"/>
                <a:gd name="connsiteY1" fmla="*/ 0 h 422267"/>
                <a:gd name="connsiteX2" fmla="*/ 102950 w 188577"/>
                <a:gd name="connsiteY2" fmla="*/ 2346 h 422267"/>
                <a:gd name="connsiteX3" fmla="*/ 53686 w 188577"/>
                <a:gd name="connsiteY3" fmla="*/ 22286 h 422267"/>
                <a:gd name="connsiteX4" fmla="*/ 44302 w 188577"/>
                <a:gd name="connsiteY4" fmla="*/ 35189 h 422267"/>
                <a:gd name="connsiteX5" fmla="*/ 903 w 188577"/>
                <a:gd name="connsiteY5" fmla="*/ 180636 h 422267"/>
                <a:gd name="connsiteX6" fmla="*/ 17324 w 188577"/>
                <a:gd name="connsiteY6" fmla="*/ 209960 h 422267"/>
                <a:gd name="connsiteX7" fmla="*/ 24362 w 188577"/>
                <a:gd name="connsiteY7" fmla="*/ 211133 h 422267"/>
                <a:gd name="connsiteX8" fmla="*/ 46648 w 188577"/>
                <a:gd name="connsiteY8" fmla="*/ 194712 h 422267"/>
                <a:gd name="connsiteX9" fmla="*/ 83010 w 188577"/>
                <a:gd name="connsiteY9" fmla="*/ 71551 h 422267"/>
                <a:gd name="connsiteX10" fmla="*/ 83010 w 188577"/>
                <a:gd name="connsiteY10" fmla="*/ 112604 h 422267"/>
                <a:gd name="connsiteX11" fmla="*/ 39611 w 188577"/>
                <a:gd name="connsiteY11" fmla="*/ 258052 h 422267"/>
                <a:gd name="connsiteX12" fmla="*/ 71280 w 188577"/>
                <a:gd name="connsiteY12" fmla="*/ 258052 h 422267"/>
                <a:gd name="connsiteX13" fmla="*/ 71280 w 188577"/>
                <a:gd name="connsiteY13" fmla="*/ 422267 h 422267"/>
                <a:gd name="connsiteX14" fmla="*/ 118199 w 188577"/>
                <a:gd name="connsiteY14" fmla="*/ 422267 h 422267"/>
                <a:gd name="connsiteX15" fmla="*/ 118199 w 188577"/>
                <a:gd name="connsiteY15" fmla="*/ 258052 h 422267"/>
                <a:gd name="connsiteX16" fmla="*/ 141658 w 188577"/>
                <a:gd name="connsiteY16" fmla="*/ 258052 h 422267"/>
                <a:gd name="connsiteX17" fmla="*/ 141658 w 188577"/>
                <a:gd name="connsiteY17" fmla="*/ 422267 h 422267"/>
                <a:gd name="connsiteX18" fmla="*/ 188577 w 188577"/>
                <a:gd name="connsiteY18" fmla="*/ 422267 h 422267"/>
                <a:gd name="connsiteX0" fmla="*/ 141658 w 141658"/>
                <a:gd name="connsiteY0" fmla="*/ 422267 h 422267"/>
                <a:gd name="connsiteX1" fmla="*/ 129929 w 141658"/>
                <a:gd name="connsiteY1" fmla="*/ 0 h 422267"/>
                <a:gd name="connsiteX2" fmla="*/ 102950 w 141658"/>
                <a:gd name="connsiteY2" fmla="*/ 2346 h 422267"/>
                <a:gd name="connsiteX3" fmla="*/ 53686 w 141658"/>
                <a:gd name="connsiteY3" fmla="*/ 22286 h 422267"/>
                <a:gd name="connsiteX4" fmla="*/ 44302 w 141658"/>
                <a:gd name="connsiteY4" fmla="*/ 35189 h 422267"/>
                <a:gd name="connsiteX5" fmla="*/ 903 w 141658"/>
                <a:gd name="connsiteY5" fmla="*/ 180636 h 422267"/>
                <a:gd name="connsiteX6" fmla="*/ 17324 w 141658"/>
                <a:gd name="connsiteY6" fmla="*/ 209960 h 422267"/>
                <a:gd name="connsiteX7" fmla="*/ 24362 w 141658"/>
                <a:gd name="connsiteY7" fmla="*/ 211133 h 422267"/>
                <a:gd name="connsiteX8" fmla="*/ 46648 w 141658"/>
                <a:gd name="connsiteY8" fmla="*/ 194712 h 422267"/>
                <a:gd name="connsiteX9" fmla="*/ 83010 w 141658"/>
                <a:gd name="connsiteY9" fmla="*/ 71551 h 422267"/>
                <a:gd name="connsiteX10" fmla="*/ 83010 w 141658"/>
                <a:gd name="connsiteY10" fmla="*/ 112604 h 422267"/>
                <a:gd name="connsiteX11" fmla="*/ 39611 w 141658"/>
                <a:gd name="connsiteY11" fmla="*/ 258052 h 422267"/>
                <a:gd name="connsiteX12" fmla="*/ 71280 w 141658"/>
                <a:gd name="connsiteY12" fmla="*/ 258052 h 422267"/>
                <a:gd name="connsiteX13" fmla="*/ 71280 w 141658"/>
                <a:gd name="connsiteY13" fmla="*/ 422267 h 422267"/>
                <a:gd name="connsiteX14" fmla="*/ 118199 w 141658"/>
                <a:gd name="connsiteY14" fmla="*/ 422267 h 422267"/>
                <a:gd name="connsiteX15" fmla="*/ 118199 w 141658"/>
                <a:gd name="connsiteY15" fmla="*/ 258052 h 422267"/>
                <a:gd name="connsiteX16" fmla="*/ 141658 w 141658"/>
                <a:gd name="connsiteY16" fmla="*/ 258052 h 422267"/>
                <a:gd name="connsiteX17" fmla="*/ 141658 w 141658"/>
                <a:gd name="connsiteY17" fmla="*/ 422267 h 422267"/>
                <a:gd name="connsiteX0" fmla="*/ 141658 w 141658"/>
                <a:gd name="connsiteY0" fmla="*/ 258052 h 422267"/>
                <a:gd name="connsiteX1" fmla="*/ 129929 w 141658"/>
                <a:gd name="connsiteY1" fmla="*/ 0 h 422267"/>
                <a:gd name="connsiteX2" fmla="*/ 102950 w 141658"/>
                <a:gd name="connsiteY2" fmla="*/ 2346 h 422267"/>
                <a:gd name="connsiteX3" fmla="*/ 53686 w 141658"/>
                <a:gd name="connsiteY3" fmla="*/ 22286 h 422267"/>
                <a:gd name="connsiteX4" fmla="*/ 44302 w 141658"/>
                <a:gd name="connsiteY4" fmla="*/ 35189 h 422267"/>
                <a:gd name="connsiteX5" fmla="*/ 903 w 141658"/>
                <a:gd name="connsiteY5" fmla="*/ 180636 h 422267"/>
                <a:gd name="connsiteX6" fmla="*/ 17324 w 141658"/>
                <a:gd name="connsiteY6" fmla="*/ 209960 h 422267"/>
                <a:gd name="connsiteX7" fmla="*/ 24362 w 141658"/>
                <a:gd name="connsiteY7" fmla="*/ 211133 h 422267"/>
                <a:gd name="connsiteX8" fmla="*/ 46648 w 141658"/>
                <a:gd name="connsiteY8" fmla="*/ 194712 h 422267"/>
                <a:gd name="connsiteX9" fmla="*/ 83010 w 141658"/>
                <a:gd name="connsiteY9" fmla="*/ 71551 h 422267"/>
                <a:gd name="connsiteX10" fmla="*/ 83010 w 141658"/>
                <a:gd name="connsiteY10" fmla="*/ 112604 h 422267"/>
                <a:gd name="connsiteX11" fmla="*/ 39611 w 141658"/>
                <a:gd name="connsiteY11" fmla="*/ 258052 h 422267"/>
                <a:gd name="connsiteX12" fmla="*/ 71280 w 141658"/>
                <a:gd name="connsiteY12" fmla="*/ 258052 h 422267"/>
                <a:gd name="connsiteX13" fmla="*/ 71280 w 141658"/>
                <a:gd name="connsiteY13" fmla="*/ 422267 h 422267"/>
                <a:gd name="connsiteX14" fmla="*/ 118199 w 141658"/>
                <a:gd name="connsiteY14" fmla="*/ 422267 h 422267"/>
                <a:gd name="connsiteX15" fmla="*/ 118199 w 141658"/>
                <a:gd name="connsiteY15" fmla="*/ 258052 h 422267"/>
                <a:gd name="connsiteX16" fmla="*/ 141658 w 141658"/>
                <a:gd name="connsiteY16" fmla="*/ 258052 h 422267"/>
                <a:gd name="connsiteX0" fmla="*/ 141658 w 141658"/>
                <a:gd name="connsiteY0" fmla="*/ 258052 h 422267"/>
                <a:gd name="connsiteX1" fmla="*/ 129929 w 141658"/>
                <a:gd name="connsiteY1" fmla="*/ 0 h 422267"/>
                <a:gd name="connsiteX2" fmla="*/ 102950 w 141658"/>
                <a:gd name="connsiteY2" fmla="*/ 2346 h 422267"/>
                <a:gd name="connsiteX3" fmla="*/ 53686 w 141658"/>
                <a:gd name="connsiteY3" fmla="*/ 22286 h 422267"/>
                <a:gd name="connsiteX4" fmla="*/ 44302 w 141658"/>
                <a:gd name="connsiteY4" fmla="*/ 35189 h 422267"/>
                <a:gd name="connsiteX5" fmla="*/ 903 w 141658"/>
                <a:gd name="connsiteY5" fmla="*/ 180636 h 422267"/>
                <a:gd name="connsiteX6" fmla="*/ 17324 w 141658"/>
                <a:gd name="connsiteY6" fmla="*/ 209960 h 422267"/>
                <a:gd name="connsiteX7" fmla="*/ 24362 w 141658"/>
                <a:gd name="connsiteY7" fmla="*/ 211133 h 422267"/>
                <a:gd name="connsiteX8" fmla="*/ 46648 w 141658"/>
                <a:gd name="connsiteY8" fmla="*/ 194712 h 422267"/>
                <a:gd name="connsiteX9" fmla="*/ 83010 w 141658"/>
                <a:gd name="connsiteY9" fmla="*/ 71551 h 422267"/>
                <a:gd name="connsiteX10" fmla="*/ 83010 w 141658"/>
                <a:gd name="connsiteY10" fmla="*/ 112604 h 422267"/>
                <a:gd name="connsiteX11" fmla="*/ 39611 w 141658"/>
                <a:gd name="connsiteY11" fmla="*/ 258052 h 422267"/>
                <a:gd name="connsiteX12" fmla="*/ 71280 w 141658"/>
                <a:gd name="connsiteY12" fmla="*/ 258052 h 422267"/>
                <a:gd name="connsiteX13" fmla="*/ 71280 w 141658"/>
                <a:gd name="connsiteY13" fmla="*/ 422267 h 422267"/>
                <a:gd name="connsiteX14" fmla="*/ 118199 w 141658"/>
                <a:gd name="connsiteY14" fmla="*/ 422267 h 422267"/>
                <a:gd name="connsiteX15" fmla="*/ 118199 w 141658"/>
                <a:gd name="connsiteY15" fmla="*/ 258052 h 422267"/>
                <a:gd name="connsiteX16" fmla="*/ 141658 w 141658"/>
                <a:gd name="connsiteY16" fmla="*/ 258052 h 422267"/>
                <a:gd name="connsiteX0" fmla="*/ 141658 w 141658"/>
                <a:gd name="connsiteY0" fmla="*/ 258052 h 422267"/>
                <a:gd name="connsiteX1" fmla="*/ 129929 w 141658"/>
                <a:gd name="connsiteY1" fmla="*/ 0 h 422267"/>
                <a:gd name="connsiteX2" fmla="*/ 102950 w 141658"/>
                <a:gd name="connsiteY2" fmla="*/ 2346 h 422267"/>
                <a:gd name="connsiteX3" fmla="*/ 53686 w 141658"/>
                <a:gd name="connsiteY3" fmla="*/ 22286 h 422267"/>
                <a:gd name="connsiteX4" fmla="*/ 44302 w 141658"/>
                <a:gd name="connsiteY4" fmla="*/ 35189 h 422267"/>
                <a:gd name="connsiteX5" fmla="*/ 903 w 141658"/>
                <a:gd name="connsiteY5" fmla="*/ 180636 h 422267"/>
                <a:gd name="connsiteX6" fmla="*/ 17324 w 141658"/>
                <a:gd name="connsiteY6" fmla="*/ 209960 h 422267"/>
                <a:gd name="connsiteX7" fmla="*/ 24362 w 141658"/>
                <a:gd name="connsiteY7" fmla="*/ 211133 h 422267"/>
                <a:gd name="connsiteX8" fmla="*/ 46648 w 141658"/>
                <a:gd name="connsiteY8" fmla="*/ 194712 h 422267"/>
                <a:gd name="connsiteX9" fmla="*/ 83010 w 141658"/>
                <a:gd name="connsiteY9" fmla="*/ 71551 h 422267"/>
                <a:gd name="connsiteX10" fmla="*/ 83010 w 141658"/>
                <a:gd name="connsiteY10" fmla="*/ 112604 h 422267"/>
                <a:gd name="connsiteX11" fmla="*/ 39611 w 141658"/>
                <a:gd name="connsiteY11" fmla="*/ 258052 h 422267"/>
                <a:gd name="connsiteX12" fmla="*/ 71280 w 141658"/>
                <a:gd name="connsiteY12" fmla="*/ 258052 h 422267"/>
                <a:gd name="connsiteX13" fmla="*/ 71280 w 141658"/>
                <a:gd name="connsiteY13" fmla="*/ 422267 h 422267"/>
                <a:gd name="connsiteX14" fmla="*/ 118199 w 141658"/>
                <a:gd name="connsiteY14" fmla="*/ 422267 h 422267"/>
                <a:gd name="connsiteX15" fmla="*/ 118199 w 141658"/>
                <a:gd name="connsiteY15" fmla="*/ 258052 h 422267"/>
                <a:gd name="connsiteX16" fmla="*/ 141658 w 141658"/>
                <a:gd name="connsiteY16" fmla="*/ 258052 h 422267"/>
                <a:gd name="connsiteX0" fmla="*/ 141658 w 141658"/>
                <a:gd name="connsiteY0" fmla="*/ 258052 h 422267"/>
                <a:gd name="connsiteX1" fmla="*/ 129929 w 141658"/>
                <a:gd name="connsiteY1" fmla="*/ 0 h 422267"/>
                <a:gd name="connsiteX2" fmla="*/ 102950 w 141658"/>
                <a:gd name="connsiteY2" fmla="*/ 2346 h 422267"/>
                <a:gd name="connsiteX3" fmla="*/ 53686 w 141658"/>
                <a:gd name="connsiteY3" fmla="*/ 22286 h 422267"/>
                <a:gd name="connsiteX4" fmla="*/ 44302 w 141658"/>
                <a:gd name="connsiteY4" fmla="*/ 35189 h 422267"/>
                <a:gd name="connsiteX5" fmla="*/ 903 w 141658"/>
                <a:gd name="connsiteY5" fmla="*/ 180636 h 422267"/>
                <a:gd name="connsiteX6" fmla="*/ 17324 w 141658"/>
                <a:gd name="connsiteY6" fmla="*/ 209960 h 422267"/>
                <a:gd name="connsiteX7" fmla="*/ 24362 w 141658"/>
                <a:gd name="connsiteY7" fmla="*/ 211133 h 422267"/>
                <a:gd name="connsiteX8" fmla="*/ 46648 w 141658"/>
                <a:gd name="connsiteY8" fmla="*/ 194712 h 422267"/>
                <a:gd name="connsiteX9" fmla="*/ 83010 w 141658"/>
                <a:gd name="connsiteY9" fmla="*/ 71551 h 422267"/>
                <a:gd name="connsiteX10" fmla="*/ 83010 w 141658"/>
                <a:gd name="connsiteY10" fmla="*/ 112604 h 422267"/>
                <a:gd name="connsiteX11" fmla="*/ 39611 w 141658"/>
                <a:gd name="connsiteY11" fmla="*/ 258052 h 422267"/>
                <a:gd name="connsiteX12" fmla="*/ 71280 w 141658"/>
                <a:gd name="connsiteY12" fmla="*/ 258052 h 422267"/>
                <a:gd name="connsiteX13" fmla="*/ 71280 w 141658"/>
                <a:gd name="connsiteY13" fmla="*/ 422267 h 422267"/>
                <a:gd name="connsiteX14" fmla="*/ 118199 w 141658"/>
                <a:gd name="connsiteY14" fmla="*/ 422267 h 422267"/>
                <a:gd name="connsiteX15" fmla="*/ 118199 w 141658"/>
                <a:gd name="connsiteY15" fmla="*/ 258052 h 422267"/>
                <a:gd name="connsiteX16" fmla="*/ 141658 w 141658"/>
                <a:gd name="connsiteY16" fmla="*/ 258052 h 422267"/>
                <a:gd name="connsiteX0" fmla="*/ 134515 w 134515"/>
                <a:gd name="connsiteY0" fmla="*/ 258052 h 422267"/>
                <a:gd name="connsiteX1" fmla="*/ 129929 w 134515"/>
                <a:gd name="connsiteY1" fmla="*/ 0 h 422267"/>
                <a:gd name="connsiteX2" fmla="*/ 102950 w 134515"/>
                <a:gd name="connsiteY2" fmla="*/ 2346 h 422267"/>
                <a:gd name="connsiteX3" fmla="*/ 53686 w 134515"/>
                <a:gd name="connsiteY3" fmla="*/ 22286 h 422267"/>
                <a:gd name="connsiteX4" fmla="*/ 44302 w 134515"/>
                <a:gd name="connsiteY4" fmla="*/ 35189 h 422267"/>
                <a:gd name="connsiteX5" fmla="*/ 903 w 134515"/>
                <a:gd name="connsiteY5" fmla="*/ 180636 h 422267"/>
                <a:gd name="connsiteX6" fmla="*/ 17324 w 134515"/>
                <a:gd name="connsiteY6" fmla="*/ 209960 h 422267"/>
                <a:gd name="connsiteX7" fmla="*/ 24362 w 134515"/>
                <a:gd name="connsiteY7" fmla="*/ 211133 h 422267"/>
                <a:gd name="connsiteX8" fmla="*/ 46648 w 134515"/>
                <a:gd name="connsiteY8" fmla="*/ 194712 h 422267"/>
                <a:gd name="connsiteX9" fmla="*/ 83010 w 134515"/>
                <a:gd name="connsiteY9" fmla="*/ 71551 h 422267"/>
                <a:gd name="connsiteX10" fmla="*/ 83010 w 134515"/>
                <a:gd name="connsiteY10" fmla="*/ 112604 h 422267"/>
                <a:gd name="connsiteX11" fmla="*/ 39611 w 134515"/>
                <a:gd name="connsiteY11" fmla="*/ 258052 h 422267"/>
                <a:gd name="connsiteX12" fmla="*/ 71280 w 134515"/>
                <a:gd name="connsiteY12" fmla="*/ 258052 h 422267"/>
                <a:gd name="connsiteX13" fmla="*/ 71280 w 134515"/>
                <a:gd name="connsiteY13" fmla="*/ 422267 h 422267"/>
                <a:gd name="connsiteX14" fmla="*/ 118199 w 134515"/>
                <a:gd name="connsiteY14" fmla="*/ 422267 h 422267"/>
                <a:gd name="connsiteX15" fmla="*/ 118199 w 134515"/>
                <a:gd name="connsiteY15" fmla="*/ 258052 h 422267"/>
                <a:gd name="connsiteX16" fmla="*/ 134515 w 134515"/>
                <a:gd name="connsiteY16" fmla="*/ 258052 h 422267"/>
                <a:gd name="connsiteX0" fmla="*/ 127371 w 130090"/>
                <a:gd name="connsiteY0" fmla="*/ 258052 h 422267"/>
                <a:gd name="connsiteX1" fmla="*/ 129929 w 130090"/>
                <a:gd name="connsiteY1" fmla="*/ 0 h 422267"/>
                <a:gd name="connsiteX2" fmla="*/ 102950 w 130090"/>
                <a:gd name="connsiteY2" fmla="*/ 2346 h 422267"/>
                <a:gd name="connsiteX3" fmla="*/ 53686 w 130090"/>
                <a:gd name="connsiteY3" fmla="*/ 22286 h 422267"/>
                <a:gd name="connsiteX4" fmla="*/ 44302 w 130090"/>
                <a:gd name="connsiteY4" fmla="*/ 35189 h 422267"/>
                <a:gd name="connsiteX5" fmla="*/ 903 w 130090"/>
                <a:gd name="connsiteY5" fmla="*/ 180636 h 422267"/>
                <a:gd name="connsiteX6" fmla="*/ 17324 w 130090"/>
                <a:gd name="connsiteY6" fmla="*/ 209960 h 422267"/>
                <a:gd name="connsiteX7" fmla="*/ 24362 w 130090"/>
                <a:gd name="connsiteY7" fmla="*/ 211133 h 422267"/>
                <a:gd name="connsiteX8" fmla="*/ 46648 w 130090"/>
                <a:gd name="connsiteY8" fmla="*/ 194712 h 422267"/>
                <a:gd name="connsiteX9" fmla="*/ 83010 w 130090"/>
                <a:gd name="connsiteY9" fmla="*/ 71551 h 422267"/>
                <a:gd name="connsiteX10" fmla="*/ 83010 w 130090"/>
                <a:gd name="connsiteY10" fmla="*/ 112604 h 422267"/>
                <a:gd name="connsiteX11" fmla="*/ 39611 w 130090"/>
                <a:gd name="connsiteY11" fmla="*/ 258052 h 422267"/>
                <a:gd name="connsiteX12" fmla="*/ 71280 w 130090"/>
                <a:gd name="connsiteY12" fmla="*/ 258052 h 422267"/>
                <a:gd name="connsiteX13" fmla="*/ 71280 w 130090"/>
                <a:gd name="connsiteY13" fmla="*/ 422267 h 422267"/>
                <a:gd name="connsiteX14" fmla="*/ 118199 w 130090"/>
                <a:gd name="connsiteY14" fmla="*/ 422267 h 422267"/>
                <a:gd name="connsiteX15" fmla="*/ 118199 w 130090"/>
                <a:gd name="connsiteY15" fmla="*/ 258052 h 422267"/>
                <a:gd name="connsiteX16" fmla="*/ 127371 w 130090"/>
                <a:gd name="connsiteY16" fmla="*/ 258052 h 422267"/>
                <a:gd name="connsiteX0" fmla="*/ 127371 w 130090"/>
                <a:gd name="connsiteY0" fmla="*/ 258052 h 422267"/>
                <a:gd name="connsiteX1" fmla="*/ 129929 w 130090"/>
                <a:gd name="connsiteY1" fmla="*/ 0 h 422267"/>
                <a:gd name="connsiteX2" fmla="*/ 102950 w 130090"/>
                <a:gd name="connsiteY2" fmla="*/ 2346 h 422267"/>
                <a:gd name="connsiteX3" fmla="*/ 53686 w 130090"/>
                <a:gd name="connsiteY3" fmla="*/ 22286 h 422267"/>
                <a:gd name="connsiteX4" fmla="*/ 44302 w 130090"/>
                <a:gd name="connsiteY4" fmla="*/ 35189 h 422267"/>
                <a:gd name="connsiteX5" fmla="*/ 903 w 130090"/>
                <a:gd name="connsiteY5" fmla="*/ 180636 h 422267"/>
                <a:gd name="connsiteX6" fmla="*/ 17324 w 130090"/>
                <a:gd name="connsiteY6" fmla="*/ 209960 h 422267"/>
                <a:gd name="connsiteX7" fmla="*/ 24362 w 130090"/>
                <a:gd name="connsiteY7" fmla="*/ 211133 h 422267"/>
                <a:gd name="connsiteX8" fmla="*/ 46648 w 130090"/>
                <a:gd name="connsiteY8" fmla="*/ 194712 h 422267"/>
                <a:gd name="connsiteX9" fmla="*/ 83010 w 130090"/>
                <a:gd name="connsiteY9" fmla="*/ 71551 h 422267"/>
                <a:gd name="connsiteX10" fmla="*/ 83010 w 130090"/>
                <a:gd name="connsiteY10" fmla="*/ 112604 h 422267"/>
                <a:gd name="connsiteX11" fmla="*/ 39611 w 130090"/>
                <a:gd name="connsiteY11" fmla="*/ 258052 h 422267"/>
                <a:gd name="connsiteX12" fmla="*/ 71280 w 130090"/>
                <a:gd name="connsiteY12" fmla="*/ 258052 h 422267"/>
                <a:gd name="connsiteX13" fmla="*/ 71280 w 130090"/>
                <a:gd name="connsiteY13" fmla="*/ 422267 h 422267"/>
                <a:gd name="connsiteX14" fmla="*/ 118199 w 130090"/>
                <a:gd name="connsiteY14" fmla="*/ 422267 h 422267"/>
                <a:gd name="connsiteX15" fmla="*/ 118199 w 130090"/>
                <a:gd name="connsiteY15" fmla="*/ 258052 h 422267"/>
                <a:gd name="connsiteX16" fmla="*/ 127371 w 130090"/>
                <a:gd name="connsiteY16" fmla="*/ 258052 h 422267"/>
                <a:gd name="connsiteX0" fmla="*/ 127371 w 130373"/>
                <a:gd name="connsiteY0" fmla="*/ 258052 h 422267"/>
                <a:gd name="connsiteX1" fmla="*/ 129929 w 130373"/>
                <a:gd name="connsiteY1" fmla="*/ 0 h 422267"/>
                <a:gd name="connsiteX2" fmla="*/ 102950 w 130373"/>
                <a:gd name="connsiteY2" fmla="*/ 2346 h 422267"/>
                <a:gd name="connsiteX3" fmla="*/ 53686 w 130373"/>
                <a:gd name="connsiteY3" fmla="*/ 22286 h 422267"/>
                <a:gd name="connsiteX4" fmla="*/ 44302 w 130373"/>
                <a:gd name="connsiteY4" fmla="*/ 35189 h 422267"/>
                <a:gd name="connsiteX5" fmla="*/ 903 w 130373"/>
                <a:gd name="connsiteY5" fmla="*/ 180636 h 422267"/>
                <a:gd name="connsiteX6" fmla="*/ 17324 w 130373"/>
                <a:gd name="connsiteY6" fmla="*/ 209960 h 422267"/>
                <a:gd name="connsiteX7" fmla="*/ 24362 w 130373"/>
                <a:gd name="connsiteY7" fmla="*/ 211133 h 422267"/>
                <a:gd name="connsiteX8" fmla="*/ 46648 w 130373"/>
                <a:gd name="connsiteY8" fmla="*/ 194712 h 422267"/>
                <a:gd name="connsiteX9" fmla="*/ 83010 w 130373"/>
                <a:gd name="connsiteY9" fmla="*/ 71551 h 422267"/>
                <a:gd name="connsiteX10" fmla="*/ 83010 w 130373"/>
                <a:gd name="connsiteY10" fmla="*/ 112604 h 422267"/>
                <a:gd name="connsiteX11" fmla="*/ 39611 w 130373"/>
                <a:gd name="connsiteY11" fmla="*/ 258052 h 422267"/>
                <a:gd name="connsiteX12" fmla="*/ 71280 w 130373"/>
                <a:gd name="connsiteY12" fmla="*/ 258052 h 422267"/>
                <a:gd name="connsiteX13" fmla="*/ 71280 w 130373"/>
                <a:gd name="connsiteY13" fmla="*/ 422267 h 422267"/>
                <a:gd name="connsiteX14" fmla="*/ 118199 w 130373"/>
                <a:gd name="connsiteY14" fmla="*/ 422267 h 422267"/>
                <a:gd name="connsiteX15" fmla="*/ 118199 w 130373"/>
                <a:gd name="connsiteY15" fmla="*/ 258052 h 422267"/>
                <a:gd name="connsiteX16" fmla="*/ 127371 w 130373"/>
                <a:gd name="connsiteY16" fmla="*/ 258052 h 422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0373" h="422267">
                  <a:moveTo>
                    <a:pt x="127371" y="258052"/>
                  </a:moveTo>
                  <a:cubicBezTo>
                    <a:pt x="128650" y="129026"/>
                    <a:pt x="131458" y="102686"/>
                    <a:pt x="129929" y="0"/>
                  </a:cubicBezTo>
                  <a:cubicBezTo>
                    <a:pt x="116439" y="1173"/>
                    <a:pt x="112334" y="1173"/>
                    <a:pt x="102950" y="2346"/>
                  </a:cubicBezTo>
                  <a:cubicBezTo>
                    <a:pt x="84183" y="5865"/>
                    <a:pt x="67762" y="12903"/>
                    <a:pt x="53686" y="22286"/>
                  </a:cubicBezTo>
                  <a:cubicBezTo>
                    <a:pt x="48994" y="25805"/>
                    <a:pt x="45475" y="29324"/>
                    <a:pt x="44302" y="35189"/>
                  </a:cubicBezTo>
                  <a:lnTo>
                    <a:pt x="903" y="180636"/>
                  </a:lnTo>
                  <a:cubicBezTo>
                    <a:pt x="-2616" y="193539"/>
                    <a:pt x="4422" y="206441"/>
                    <a:pt x="17324" y="209960"/>
                  </a:cubicBezTo>
                  <a:cubicBezTo>
                    <a:pt x="19670" y="211133"/>
                    <a:pt x="22016" y="211133"/>
                    <a:pt x="24362" y="211133"/>
                  </a:cubicBezTo>
                  <a:cubicBezTo>
                    <a:pt x="34919" y="211133"/>
                    <a:pt x="44302" y="204095"/>
                    <a:pt x="46648" y="194712"/>
                  </a:cubicBezTo>
                  <a:lnTo>
                    <a:pt x="83010" y="71551"/>
                  </a:lnTo>
                  <a:lnTo>
                    <a:pt x="83010" y="112604"/>
                  </a:lnTo>
                  <a:lnTo>
                    <a:pt x="39611" y="258052"/>
                  </a:lnTo>
                  <a:lnTo>
                    <a:pt x="71280" y="258052"/>
                  </a:lnTo>
                  <a:lnTo>
                    <a:pt x="71280" y="422267"/>
                  </a:lnTo>
                  <a:lnTo>
                    <a:pt x="118199" y="422267"/>
                  </a:lnTo>
                  <a:lnTo>
                    <a:pt x="118199" y="258052"/>
                  </a:lnTo>
                  <a:lnTo>
                    <a:pt x="127371" y="258052"/>
                  </a:lnTo>
                  <a:close/>
                </a:path>
              </a:pathLst>
            </a:custGeom>
            <a:solidFill>
              <a:schemeClr val="bg1"/>
            </a:solidFill>
            <a:ln w="5854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59" name="Graphic 358" descr="Woman with solid fill">
            <a:extLst>
              <a:ext uri="{FF2B5EF4-FFF2-40B4-BE49-F238E27FC236}">
                <a16:creationId xmlns:a16="http://schemas.microsoft.com/office/drawing/2014/main" id="{2D3AAC1F-9AB7-410C-B525-99A0D99B50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45266" y="2765530"/>
            <a:ext cx="404027" cy="412712"/>
          </a:xfrm>
          <a:prstGeom prst="rect">
            <a:avLst/>
          </a:prstGeom>
        </p:spPr>
      </p:pic>
      <p:pic>
        <p:nvPicPr>
          <p:cNvPr id="360" name="Graphic 359" descr="Woman with solid fill">
            <a:extLst>
              <a:ext uri="{FF2B5EF4-FFF2-40B4-BE49-F238E27FC236}">
                <a16:creationId xmlns:a16="http://schemas.microsoft.com/office/drawing/2014/main" id="{92611F98-A99C-41DD-8617-802AEFCF6B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70464" y="2765530"/>
            <a:ext cx="404027" cy="412712"/>
          </a:xfrm>
          <a:prstGeom prst="rect">
            <a:avLst/>
          </a:prstGeom>
        </p:spPr>
      </p:pic>
      <p:pic>
        <p:nvPicPr>
          <p:cNvPr id="361" name="Graphic 360" descr="Woman with solid fill">
            <a:extLst>
              <a:ext uri="{FF2B5EF4-FFF2-40B4-BE49-F238E27FC236}">
                <a16:creationId xmlns:a16="http://schemas.microsoft.com/office/drawing/2014/main" id="{852BB268-FC33-4BB2-80DB-CD2F913CAC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95664" y="2765530"/>
            <a:ext cx="404027" cy="412712"/>
          </a:xfrm>
          <a:prstGeom prst="rect">
            <a:avLst/>
          </a:prstGeom>
        </p:spPr>
      </p:pic>
      <p:pic>
        <p:nvPicPr>
          <p:cNvPr id="362" name="Graphic 361" descr="Woman with solid fill">
            <a:extLst>
              <a:ext uri="{FF2B5EF4-FFF2-40B4-BE49-F238E27FC236}">
                <a16:creationId xmlns:a16="http://schemas.microsoft.com/office/drawing/2014/main" id="{E2B27A0F-7916-4770-A040-BAF4B70B84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20862" y="2765530"/>
            <a:ext cx="404027" cy="412712"/>
          </a:xfrm>
          <a:prstGeom prst="rect">
            <a:avLst/>
          </a:prstGeom>
        </p:spPr>
      </p:pic>
      <p:pic>
        <p:nvPicPr>
          <p:cNvPr id="363" name="Graphic 362" descr="Woman with solid fill">
            <a:extLst>
              <a:ext uri="{FF2B5EF4-FFF2-40B4-BE49-F238E27FC236}">
                <a16:creationId xmlns:a16="http://schemas.microsoft.com/office/drawing/2014/main" id="{587E755E-077F-41D8-ADD5-8075204114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46062" y="2765530"/>
            <a:ext cx="404027" cy="412712"/>
          </a:xfrm>
          <a:prstGeom prst="rect">
            <a:avLst/>
          </a:prstGeom>
        </p:spPr>
      </p:pic>
      <p:pic>
        <p:nvPicPr>
          <p:cNvPr id="364" name="Graphic 363" descr="Woman with solid fill">
            <a:extLst>
              <a:ext uri="{FF2B5EF4-FFF2-40B4-BE49-F238E27FC236}">
                <a16:creationId xmlns:a16="http://schemas.microsoft.com/office/drawing/2014/main" id="{5AFCACD2-BEE1-4FFF-8F1A-19BCC9E222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1261" y="2765530"/>
            <a:ext cx="404027" cy="412712"/>
          </a:xfrm>
          <a:prstGeom prst="rect">
            <a:avLst/>
          </a:prstGeom>
        </p:spPr>
      </p:pic>
      <p:pic>
        <p:nvPicPr>
          <p:cNvPr id="365" name="Graphic 364" descr="Woman with solid fill">
            <a:extLst>
              <a:ext uri="{FF2B5EF4-FFF2-40B4-BE49-F238E27FC236}">
                <a16:creationId xmlns:a16="http://schemas.microsoft.com/office/drawing/2014/main" id="{C5ABB313-B21C-4017-BE2B-A4B2EDD067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96459" y="2765530"/>
            <a:ext cx="404027" cy="41271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05B5203A-9166-4901-AE0D-40B3A1A2EB53}"/>
              </a:ext>
            </a:extLst>
          </p:cNvPr>
          <p:cNvGrpSpPr/>
          <p:nvPr/>
        </p:nvGrpSpPr>
        <p:grpSpPr>
          <a:xfrm>
            <a:off x="9715309" y="2765530"/>
            <a:ext cx="854426" cy="412712"/>
            <a:chOff x="9721141" y="2765530"/>
            <a:chExt cx="854426" cy="412712"/>
          </a:xfrm>
        </p:grpSpPr>
        <p:pic>
          <p:nvPicPr>
            <p:cNvPr id="370" name="Graphic 369" descr="Woman with solid fill">
              <a:extLst>
                <a:ext uri="{FF2B5EF4-FFF2-40B4-BE49-F238E27FC236}">
                  <a16:creationId xmlns:a16="http://schemas.microsoft.com/office/drawing/2014/main" id="{928C42F6-C8BB-495F-9E2F-D4C95890B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721141" y="2765530"/>
              <a:ext cx="404028" cy="412712"/>
            </a:xfrm>
            <a:prstGeom prst="rect">
              <a:avLst/>
            </a:prstGeom>
          </p:spPr>
        </p:pic>
        <p:pic>
          <p:nvPicPr>
            <p:cNvPr id="371" name="Graphic 370" descr="Woman with solid fill">
              <a:extLst>
                <a:ext uri="{FF2B5EF4-FFF2-40B4-BE49-F238E27FC236}">
                  <a16:creationId xmlns:a16="http://schemas.microsoft.com/office/drawing/2014/main" id="{75AB610F-4E09-4E7D-B18E-8F104D6F2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46340" y="2765530"/>
              <a:ext cx="404028" cy="412712"/>
            </a:xfrm>
            <a:prstGeom prst="rect">
              <a:avLst/>
            </a:prstGeom>
          </p:spPr>
        </p:pic>
        <p:grpSp>
          <p:nvGrpSpPr>
            <p:cNvPr id="372" name="Group 371">
              <a:extLst>
                <a:ext uri="{FF2B5EF4-FFF2-40B4-BE49-F238E27FC236}">
                  <a16:creationId xmlns:a16="http://schemas.microsoft.com/office/drawing/2014/main" id="{A609C96A-8080-4DFE-BE11-97A2B0C17503}"/>
                </a:ext>
              </a:extLst>
            </p:cNvPr>
            <p:cNvGrpSpPr/>
            <p:nvPr/>
          </p:nvGrpSpPr>
          <p:grpSpPr>
            <a:xfrm>
              <a:off x="10171539" y="2765530"/>
              <a:ext cx="404028" cy="412712"/>
              <a:chOff x="8546076" y="1234775"/>
              <a:chExt cx="563022" cy="563022"/>
            </a:xfrm>
          </p:grpSpPr>
          <p:pic>
            <p:nvPicPr>
              <p:cNvPr id="373" name="Graphic 372" descr="Woman with solid fill">
                <a:extLst>
                  <a:ext uri="{FF2B5EF4-FFF2-40B4-BE49-F238E27FC236}">
                    <a16:creationId xmlns:a16="http://schemas.microsoft.com/office/drawing/2014/main" id="{13D71C79-59F3-4DE5-8EEC-DBDC2BA23E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546076" y="1234775"/>
                <a:ext cx="563022" cy="563022"/>
              </a:xfrm>
              <a:prstGeom prst="rect">
                <a:avLst/>
              </a:prstGeom>
            </p:spPr>
          </p:pic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2B2AF336-8F55-4E40-8E11-B20ADC5D3C20}"/>
                  </a:ext>
                </a:extLst>
              </p:cNvPr>
              <p:cNvSpPr/>
              <p:nvPr/>
            </p:nvSpPr>
            <p:spPr>
              <a:xfrm>
                <a:off x="8827587" y="1234775"/>
                <a:ext cx="169337" cy="5630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3" name="PE">
            <a:extLst>
              <a:ext uri="{FF2B5EF4-FFF2-40B4-BE49-F238E27FC236}">
                <a16:creationId xmlns:a16="http://schemas.microsoft.com/office/drawing/2014/main" id="{16B14BCA-996E-4876-8C69-C74884C0B15A}"/>
              </a:ext>
            </a:extLst>
          </p:cNvPr>
          <p:cNvSpPr txBox="1"/>
          <p:nvPr/>
        </p:nvSpPr>
        <p:spPr>
          <a:xfrm>
            <a:off x="5444075" y="3406139"/>
            <a:ext cx="2560320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PE</a:t>
            </a:r>
          </a:p>
        </p:txBody>
      </p:sp>
      <p:pic>
        <p:nvPicPr>
          <p:cNvPr id="207" name="Graphic 206" descr="Woman with solid fill">
            <a:extLst>
              <a:ext uri="{FF2B5EF4-FFF2-40B4-BE49-F238E27FC236}">
                <a16:creationId xmlns:a16="http://schemas.microsoft.com/office/drawing/2014/main" id="{71755F30-6130-4DB8-9D1C-ECEA6B5828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51499" y="3405523"/>
            <a:ext cx="404027" cy="412712"/>
          </a:xfrm>
          <a:prstGeom prst="rect">
            <a:avLst/>
          </a:prstGeom>
        </p:spPr>
      </p:pic>
      <p:pic>
        <p:nvPicPr>
          <p:cNvPr id="208" name="Graphic 207" descr="Woman with solid fill">
            <a:extLst>
              <a:ext uri="{FF2B5EF4-FFF2-40B4-BE49-F238E27FC236}">
                <a16:creationId xmlns:a16="http://schemas.microsoft.com/office/drawing/2014/main" id="{12D95608-E289-48C6-B9DA-E8B0D9EB08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76698" y="3405523"/>
            <a:ext cx="404027" cy="412712"/>
          </a:xfrm>
          <a:prstGeom prst="rect">
            <a:avLst/>
          </a:prstGeom>
        </p:spPr>
      </p:pic>
      <p:pic>
        <p:nvPicPr>
          <p:cNvPr id="209" name="Graphic 208" descr="Woman with solid fill">
            <a:extLst>
              <a:ext uri="{FF2B5EF4-FFF2-40B4-BE49-F238E27FC236}">
                <a16:creationId xmlns:a16="http://schemas.microsoft.com/office/drawing/2014/main" id="{57BF5BF2-28A4-467E-B078-EE5CC4EA49C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01897" y="3405523"/>
            <a:ext cx="404027" cy="412712"/>
          </a:xfrm>
          <a:prstGeom prst="rect">
            <a:avLst/>
          </a:prstGeom>
        </p:spPr>
      </p:pic>
      <p:pic>
        <p:nvPicPr>
          <p:cNvPr id="210" name="Graphic 209" descr="Woman with solid fill">
            <a:extLst>
              <a:ext uri="{FF2B5EF4-FFF2-40B4-BE49-F238E27FC236}">
                <a16:creationId xmlns:a16="http://schemas.microsoft.com/office/drawing/2014/main" id="{6C63F968-1BE8-4D7D-AD54-3FBD802550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27650" y="3405523"/>
            <a:ext cx="404027" cy="412712"/>
          </a:xfrm>
          <a:prstGeom prst="rect">
            <a:avLst/>
          </a:prstGeom>
        </p:spPr>
      </p:pic>
      <p:pic>
        <p:nvPicPr>
          <p:cNvPr id="211" name="Graphic 210" descr="Woman with solid fill">
            <a:extLst>
              <a:ext uri="{FF2B5EF4-FFF2-40B4-BE49-F238E27FC236}">
                <a16:creationId xmlns:a16="http://schemas.microsoft.com/office/drawing/2014/main" id="{9513F925-D8A3-4573-A73B-4521F4575B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52634" y="3405523"/>
            <a:ext cx="404027" cy="412712"/>
          </a:xfrm>
          <a:prstGeom prst="rect">
            <a:avLst/>
          </a:prstGeom>
        </p:spPr>
      </p:pic>
      <p:pic>
        <p:nvPicPr>
          <p:cNvPr id="212" name="Graphic 211" descr="Woman with solid fill">
            <a:extLst>
              <a:ext uri="{FF2B5EF4-FFF2-40B4-BE49-F238E27FC236}">
                <a16:creationId xmlns:a16="http://schemas.microsoft.com/office/drawing/2014/main" id="{EFFCD923-22B9-4445-A674-57846F4E87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77494" y="3405523"/>
            <a:ext cx="404027" cy="412712"/>
          </a:xfrm>
          <a:prstGeom prst="rect">
            <a:avLst/>
          </a:prstGeom>
        </p:spPr>
      </p:pic>
      <p:pic>
        <p:nvPicPr>
          <p:cNvPr id="213" name="Graphic 212" descr="Woman with solid fill">
            <a:extLst>
              <a:ext uri="{FF2B5EF4-FFF2-40B4-BE49-F238E27FC236}">
                <a16:creationId xmlns:a16="http://schemas.microsoft.com/office/drawing/2014/main" id="{197F8DAB-4F4A-4C81-928D-59959827C6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02693" y="3405523"/>
            <a:ext cx="404027" cy="412712"/>
          </a:xfrm>
          <a:prstGeom prst="rect">
            <a:avLst/>
          </a:prstGeom>
        </p:spPr>
      </p:pic>
      <p:pic>
        <p:nvPicPr>
          <p:cNvPr id="378" name="Graphic 377" descr="Woman with solid fill">
            <a:extLst>
              <a:ext uri="{FF2B5EF4-FFF2-40B4-BE49-F238E27FC236}">
                <a16:creationId xmlns:a16="http://schemas.microsoft.com/office/drawing/2014/main" id="{E1CCA587-46BA-472A-BC82-6B92696C45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45266" y="3405523"/>
            <a:ext cx="404027" cy="412712"/>
          </a:xfrm>
          <a:prstGeom prst="rect">
            <a:avLst/>
          </a:prstGeom>
        </p:spPr>
      </p:pic>
      <p:pic>
        <p:nvPicPr>
          <p:cNvPr id="379" name="Graphic 378" descr="Woman with solid fill">
            <a:extLst>
              <a:ext uri="{FF2B5EF4-FFF2-40B4-BE49-F238E27FC236}">
                <a16:creationId xmlns:a16="http://schemas.microsoft.com/office/drawing/2014/main" id="{D83110BE-5D05-4D0C-9E70-C9D16199DE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70464" y="3405523"/>
            <a:ext cx="404027" cy="412712"/>
          </a:xfrm>
          <a:prstGeom prst="rect">
            <a:avLst/>
          </a:prstGeom>
        </p:spPr>
      </p:pic>
      <p:pic>
        <p:nvPicPr>
          <p:cNvPr id="380" name="Graphic 379" descr="Woman with solid fill">
            <a:extLst>
              <a:ext uri="{FF2B5EF4-FFF2-40B4-BE49-F238E27FC236}">
                <a16:creationId xmlns:a16="http://schemas.microsoft.com/office/drawing/2014/main" id="{7B0D3586-E733-4340-BDED-6A665EF27A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95664" y="3405523"/>
            <a:ext cx="404027" cy="412712"/>
          </a:xfrm>
          <a:prstGeom prst="rect">
            <a:avLst/>
          </a:prstGeom>
        </p:spPr>
      </p:pic>
      <p:pic>
        <p:nvPicPr>
          <p:cNvPr id="381" name="Graphic 380" descr="Woman with solid fill">
            <a:extLst>
              <a:ext uri="{FF2B5EF4-FFF2-40B4-BE49-F238E27FC236}">
                <a16:creationId xmlns:a16="http://schemas.microsoft.com/office/drawing/2014/main" id="{808C05A2-1BE8-426B-8169-4FF0AD9669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20862" y="3405523"/>
            <a:ext cx="404027" cy="412712"/>
          </a:xfrm>
          <a:prstGeom prst="rect">
            <a:avLst/>
          </a:prstGeom>
        </p:spPr>
      </p:pic>
      <p:pic>
        <p:nvPicPr>
          <p:cNvPr id="382" name="Graphic 381" descr="Woman with solid fill">
            <a:extLst>
              <a:ext uri="{FF2B5EF4-FFF2-40B4-BE49-F238E27FC236}">
                <a16:creationId xmlns:a16="http://schemas.microsoft.com/office/drawing/2014/main" id="{9B7A9535-B684-4C80-8186-D31C6058BB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46062" y="3405523"/>
            <a:ext cx="404027" cy="412712"/>
          </a:xfrm>
          <a:prstGeom prst="rect">
            <a:avLst/>
          </a:prstGeom>
        </p:spPr>
      </p:pic>
      <p:pic>
        <p:nvPicPr>
          <p:cNvPr id="383" name="Graphic 382" descr="Woman with solid fill">
            <a:extLst>
              <a:ext uri="{FF2B5EF4-FFF2-40B4-BE49-F238E27FC236}">
                <a16:creationId xmlns:a16="http://schemas.microsoft.com/office/drawing/2014/main" id="{ABFD935F-9F78-452E-AE1B-2D4CF3C22D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1261" y="3405523"/>
            <a:ext cx="404027" cy="412712"/>
          </a:xfrm>
          <a:prstGeom prst="rect">
            <a:avLst/>
          </a:prstGeom>
        </p:spPr>
      </p:pic>
      <p:pic>
        <p:nvPicPr>
          <p:cNvPr id="384" name="Graphic 383" descr="Woman with solid fill">
            <a:extLst>
              <a:ext uri="{FF2B5EF4-FFF2-40B4-BE49-F238E27FC236}">
                <a16:creationId xmlns:a16="http://schemas.microsoft.com/office/drawing/2014/main" id="{D1C701F6-FE94-41DB-87BB-AA531A1D7B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96459" y="3405523"/>
            <a:ext cx="404027" cy="412712"/>
          </a:xfrm>
          <a:prstGeom prst="rect">
            <a:avLst/>
          </a:prstGeom>
        </p:spPr>
      </p:pic>
      <p:grpSp>
        <p:nvGrpSpPr>
          <p:cNvPr id="390" name="Group 389">
            <a:extLst>
              <a:ext uri="{FF2B5EF4-FFF2-40B4-BE49-F238E27FC236}">
                <a16:creationId xmlns:a16="http://schemas.microsoft.com/office/drawing/2014/main" id="{73F816BF-48AA-46F3-B721-24ADDB36CEA4}"/>
              </a:ext>
            </a:extLst>
          </p:cNvPr>
          <p:cNvGrpSpPr/>
          <p:nvPr/>
        </p:nvGrpSpPr>
        <p:grpSpPr>
          <a:xfrm>
            <a:off x="9715309" y="3405523"/>
            <a:ext cx="854426" cy="412712"/>
            <a:chOff x="7918435" y="1234775"/>
            <a:chExt cx="1190663" cy="563022"/>
          </a:xfrm>
          <a:solidFill>
            <a:schemeClr val="accent5"/>
          </a:solidFill>
        </p:grpSpPr>
        <p:pic>
          <p:nvPicPr>
            <p:cNvPr id="391" name="Graphic 390" descr="Woman with solid fill">
              <a:extLst>
                <a:ext uri="{FF2B5EF4-FFF2-40B4-BE49-F238E27FC236}">
                  <a16:creationId xmlns:a16="http://schemas.microsoft.com/office/drawing/2014/main" id="{4E2B470C-BAAF-408E-A12F-11F287618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918435" y="1234775"/>
              <a:ext cx="563022" cy="563022"/>
            </a:xfrm>
            <a:prstGeom prst="rect">
              <a:avLst/>
            </a:prstGeom>
          </p:spPr>
        </p:pic>
        <p:pic>
          <p:nvPicPr>
            <p:cNvPr id="392" name="Graphic 391" descr="Woman with solid fill">
              <a:extLst>
                <a:ext uri="{FF2B5EF4-FFF2-40B4-BE49-F238E27FC236}">
                  <a16:creationId xmlns:a16="http://schemas.microsoft.com/office/drawing/2014/main" id="{612EC3AB-013D-413E-9403-49899C519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232255" y="1234775"/>
              <a:ext cx="563022" cy="563022"/>
            </a:xfrm>
            <a:prstGeom prst="rect">
              <a:avLst/>
            </a:prstGeom>
          </p:spPr>
        </p:pic>
        <p:pic>
          <p:nvPicPr>
            <p:cNvPr id="393" name="Graphic 392" descr="Woman with solid fill">
              <a:extLst>
                <a:ext uri="{FF2B5EF4-FFF2-40B4-BE49-F238E27FC236}">
                  <a16:creationId xmlns:a16="http://schemas.microsoft.com/office/drawing/2014/main" id="{942D1815-0B67-4F96-84DB-FF6CB6823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46076" y="1234775"/>
              <a:ext cx="563022" cy="563022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7C767DC-2308-44DB-9871-C1CABE94BC68}"/>
              </a:ext>
            </a:extLst>
          </p:cNvPr>
          <p:cNvGrpSpPr/>
          <p:nvPr/>
        </p:nvGrpSpPr>
        <p:grpSpPr>
          <a:xfrm>
            <a:off x="3095546" y="3405523"/>
            <a:ext cx="629228" cy="412712"/>
            <a:chOff x="3095546" y="3405523"/>
            <a:chExt cx="629228" cy="412712"/>
          </a:xfrm>
        </p:grpSpPr>
        <p:pic>
          <p:nvPicPr>
            <p:cNvPr id="395" name="Graphic 394" descr="Woman with solid fill">
              <a:extLst>
                <a:ext uri="{FF2B5EF4-FFF2-40B4-BE49-F238E27FC236}">
                  <a16:creationId xmlns:a16="http://schemas.microsoft.com/office/drawing/2014/main" id="{D6C459D4-4426-4A90-85FF-22ED2F568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 flipH="1">
              <a:off x="3320746" y="3405523"/>
              <a:ext cx="404028" cy="412712"/>
            </a:xfrm>
            <a:prstGeom prst="rect">
              <a:avLst/>
            </a:prstGeom>
          </p:spPr>
        </p:pic>
        <p:grpSp>
          <p:nvGrpSpPr>
            <p:cNvPr id="396" name="Group 395">
              <a:extLst>
                <a:ext uri="{FF2B5EF4-FFF2-40B4-BE49-F238E27FC236}">
                  <a16:creationId xmlns:a16="http://schemas.microsoft.com/office/drawing/2014/main" id="{9BD78848-6B0D-4EA3-8EF8-0494609F419D}"/>
                </a:ext>
              </a:extLst>
            </p:cNvPr>
            <p:cNvGrpSpPr/>
            <p:nvPr/>
          </p:nvGrpSpPr>
          <p:grpSpPr>
            <a:xfrm flipH="1">
              <a:off x="3095546" y="3405523"/>
              <a:ext cx="404028" cy="412712"/>
              <a:chOff x="8546076" y="1234775"/>
              <a:chExt cx="563022" cy="563022"/>
            </a:xfrm>
          </p:grpSpPr>
          <p:pic>
            <p:nvPicPr>
              <p:cNvPr id="397" name="Graphic 396" descr="Woman with solid fill">
                <a:extLst>
                  <a:ext uri="{FF2B5EF4-FFF2-40B4-BE49-F238E27FC236}">
                    <a16:creationId xmlns:a16="http://schemas.microsoft.com/office/drawing/2014/main" id="{DADB40CF-813B-418F-A235-295A66E4EE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8546076" y="1234775"/>
                <a:ext cx="563022" cy="563022"/>
              </a:xfrm>
              <a:prstGeom prst="rect">
                <a:avLst/>
              </a:prstGeom>
            </p:spPr>
          </p:pic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18D2A674-9C12-4DE4-83FC-C54BAD59C128}"/>
                  </a:ext>
                </a:extLst>
              </p:cNvPr>
              <p:cNvSpPr/>
              <p:nvPr/>
            </p:nvSpPr>
            <p:spPr>
              <a:xfrm>
                <a:off x="8827587" y="1234775"/>
                <a:ext cx="169337" cy="5630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30" name="All cause mortality">
            <a:extLst>
              <a:ext uri="{FF2B5EF4-FFF2-40B4-BE49-F238E27FC236}">
                <a16:creationId xmlns:a16="http://schemas.microsoft.com/office/drawing/2014/main" id="{A6CF4B33-62E8-4DE8-A3C3-8434A04E2B41}"/>
              </a:ext>
            </a:extLst>
          </p:cNvPr>
          <p:cNvSpPr txBox="1"/>
          <p:nvPr/>
        </p:nvSpPr>
        <p:spPr>
          <a:xfrm>
            <a:off x="5444075" y="5326120"/>
            <a:ext cx="2560320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All cause mortality</a:t>
            </a:r>
          </a:p>
        </p:txBody>
      </p:sp>
      <p:pic>
        <p:nvPicPr>
          <p:cNvPr id="295" name="Graphic 294" descr="Woman with solid fill">
            <a:extLst>
              <a:ext uri="{FF2B5EF4-FFF2-40B4-BE49-F238E27FC236}">
                <a16:creationId xmlns:a16="http://schemas.microsoft.com/office/drawing/2014/main" id="{83003846-897C-4FED-B56B-CE6B52598E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51499" y="5325504"/>
            <a:ext cx="404027" cy="412712"/>
          </a:xfrm>
          <a:prstGeom prst="rect">
            <a:avLst/>
          </a:prstGeom>
        </p:spPr>
      </p:pic>
      <p:pic>
        <p:nvPicPr>
          <p:cNvPr id="296" name="Graphic 295" descr="Woman with solid fill">
            <a:extLst>
              <a:ext uri="{FF2B5EF4-FFF2-40B4-BE49-F238E27FC236}">
                <a16:creationId xmlns:a16="http://schemas.microsoft.com/office/drawing/2014/main" id="{89B8012C-7782-4C81-A604-E5C8BE8B3A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76698" y="5325504"/>
            <a:ext cx="404027" cy="412712"/>
          </a:xfrm>
          <a:prstGeom prst="rect">
            <a:avLst/>
          </a:prstGeom>
        </p:spPr>
      </p:pic>
      <p:pic>
        <p:nvPicPr>
          <p:cNvPr id="297" name="Graphic 296" descr="Woman with solid fill">
            <a:extLst>
              <a:ext uri="{FF2B5EF4-FFF2-40B4-BE49-F238E27FC236}">
                <a16:creationId xmlns:a16="http://schemas.microsoft.com/office/drawing/2014/main" id="{CB92D789-D8EC-4BF6-8F82-0766D2B93A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01897" y="5325504"/>
            <a:ext cx="404027" cy="412712"/>
          </a:xfrm>
          <a:prstGeom prst="rect">
            <a:avLst/>
          </a:prstGeom>
        </p:spPr>
      </p:pic>
      <p:pic>
        <p:nvPicPr>
          <p:cNvPr id="298" name="Graphic 297" descr="Woman with solid fill">
            <a:extLst>
              <a:ext uri="{FF2B5EF4-FFF2-40B4-BE49-F238E27FC236}">
                <a16:creationId xmlns:a16="http://schemas.microsoft.com/office/drawing/2014/main" id="{EC101F5A-B026-4AC5-86C5-0137300809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27650" y="5324888"/>
            <a:ext cx="404027" cy="412712"/>
          </a:xfrm>
          <a:prstGeom prst="rect">
            <a:avLst/>
          </a:prstGeom>
        </p:spPr>
      </p:pic>
      <p:pic>
        <p:nvPicPr>
          <p:cNvPr id="299" name="Graphic 298" descr="Woman with solid fill">
            <a:extLst>
              <a:ext uri="{FF2B5EF4-FFF2-40B4-BE49-F238E27FC236}">
                <a16:creationId xmlns:a16="http://schemas.microsoft.com/office/drawing/2014/main" id="{56F2646B-B522-400A-A832-F294043760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52634" y="5325504"/>
            <a:ext cx="404027" cy="412712"/>
          </a:xfrm>
          <a:prstGeom prst="rect">
            <a:avLst/>
          </a:prstGeom>
        </p:spPr>
      </p:pic>
      <p:pic>
        <p:nvPicPr>
          <p:cNvPr id="300" name="Graphic 299" descr="Woman with solid fill">
            <a:extLst>
              <a:ext uri="{FF2B5EF4-FFF2-40B4-BE49-F238E27FC236}">
                <a16:creationId xmlns:a16="http://schemas.microsoft.com/office/drawing/2014/main" id="{9C1C9DBD-19B8-4B91-A112-FB68214672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77494" y="5325504"/>
            <a:ext cx="404027" cy="412712"/>
          </a:xfrm>
          <a:prstGeom prst="rect">
            <a:avLst/>
          </a:prstGeom>
        </p:spPr>
      </p:pic>
      <p:pic>
        <p:nvPicPr>
          <p:cNvPr id="301" name="Graphic 300" descr="Woman with solid fill">
            <a:extLst>
              <a:ext uri="{FF2B5EF4-FFF2-40B4-BE49-F238E27FC236}">
                <a16:creationId xmlns:a16="http://schemas.microsoft.com/office/drawing/2014/main" id="{7FEC96D5-5BE0-4A1E-A803-657771B04B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02693" y="5325504"/>
            <a:ext cx="404027" cy="412712"/>
          </a:xfrm>
          <a:prstGeom prst="rect">
            <a:avLst/>
          </a:prstGeom>
        </p:spPr>
      </p:pic>
      <p:pic>
        <p:nvPicPr>
          <p:cNvPr id="402" name="Graphic 401" descr="Woman with solid fill">
            <a:extLst>
              <a:ext uri="{FF2B5EF4-FFF2-40B4-BE49-F238E27FC236}">
                <a16:creationId xmlns:a16="http://schemas.microsoft.com/office/drawing/2014/main" id="{2D88F9BF-357B-4EDE-B0FB-FE3FBB78C5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45266" y="5325504"/>
            <a:ext cx="404027" cy="412712"/>
          </a:xfrm>
          <a:prstGeom prst="rect">
            <a:avLst/>
          </a:prstGeom>
        </p:spPr>
      </p:pic>
      <p:pic>
        <p:nvPicPr>
          <p:cNvPr id="403" name="Graphic 402" descr="Woman with solid fill">
            <a:extLst>
              <a:ext uri="{FF2B5EF4-FFF2-40B4-BE49-F238E27FC236}">
                <a16:creationId xmlns:a16="http://schemas.microsoft.com/office/drawing/2014/main" id="{62A48730-4103-4488-AD06-05BAAA96CE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70464" y="5325504"/>
            <a:ext cx="404027" cy="412712"/>
          </a:xfrm>
          <a:prstGeom prst="rect">
            <a:avLst/>
          </a:prstGeom>
        </p:spPr>
      </p:pic>
      <p:pic>
        <p:nvPicPr>
          <p:cNvPr id="404" name="Graphic 403" descr="Woman with solid fill">
            <a:extLst>
              <a:ext uri="{FF2B5EF4-FFF2-40B4-BE49-F238E27FC236}">
                <a16:creationId xmlns:a16="http://schemas.microsoft.com/office/drawing/2014/main" id="{D7681E41-1D97-4AB5-A050-A9C11AC639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95664" y="5325504"/>
            <a:ext cx="404027" cy="412712"/>
          </a:xfrm>
          <a:prstGeom prst="rect">
            <a:avLst/>
          </a:prstGeom>
        </p:spPr>
      </p:pic>
      <p:pic>
        <p:nvPicPr>
          <p:cNvPr id="405" name="Graphic 404" descr="Woman with solid fill">
            <a:extLst>
              <a:ext uri="{FF2B5EF4-FFF2-40B4-BE49-F238E27FC236}">
                <a16:creationId xmlns:a16="http://schemas.microsoft.com/office/drawing/2014/main" id="{E6E54821-9EB8-4375-83B2-694E785D39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20862" y="5325504"/>
            <a:ext cx="404027" cy="412712"/>
          </a:xfrm>
          <a:prstGeom prst="rect">
            <a:avLst/>
          </a:prstGeom>
        </p:spPr>
      </p:pic>
      <p:pic>
        <p:nvPicPr>
          <p:cNvPr id="406" name="Graphic 405" descr="Woman with solid fill">
            <a:extLst>
              <a:ext uri="{FF2B5EF4-FFF2-40B4-BE49-F238E27FC236}">
                <a16:creationId xmlns:a16="http://schemas.microsoft.com/office/drawing/2014/main" id="{5C9A200B-F98F-414B-874B-56B892659C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46062" y="5325504"/>
            <a:ext cx="404027" cy="412712"/>
          </a:xfrm>
          <a:prstGeom prst="rect">
            <a:avLst/>
          </a:prstGeom>
        </p:spPr>
      </p:pic>
      <p:pic>
        <p:nvPicPr>
          <p:cNvPr id="407" name="Graphic 406" descr="Woman with solid fill">
            <a:extLst>
              <a:ext uri="{FF2B5EF4-FFF2-40B4-BE49-F238E27FC236}">
                <a16:creationId xmlns:a16="http://schemas.microsoft.com/office/drawing/2014/main" id="{CF50957B-EE50-47AB-AB56-077A477C37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1261" y="5325504"/>
            <a:ext cx="404027" cy="412712"/>
          </a:xfrm>
          <a:prstGeom prst="rect">
            <a:avLst/>
          </a:prstGeom>
        </p:spPr>
      </p:pic>
      <p:pic>
        <p:nvPicPr>
          <p:cNvPr id="408" name="Graphic 407" descr="Woman with solid fill">
            <a:extLst>
              <a:ext uri="{FF2B5EF4-FFF2-40B4-BE49-F238E27FC236}">
                <a16:creationId xmlns:a16="http://schemas.microsoft.com/office/drawing/2014/main" id="{92703BD0-9869-4450-AE6B-A7D7F582FF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96459" y="5325504"/>
            <a:ext cx="404027" cy="412712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868C5C5A-9CF7-41FE-8521-E8275449B31C}"/>
              </a:ext>
            </a:extLst>
          </p:cNvPr>
          <p:cNvGrpSpPr/>
          <p:nvPr/>
        </p:nvGrpSpPr>
        <p:grpSpPr>
          <a:xfrm>
            <a:off x="8145266" y="5325504"/>
            <a:ext cx="1328008" cy="412712"/>
            <a:chOff x="8145266" y="5325504"/>
            <a:chExt cx="1328008" cy="412712"/>
          </a:xfrm>
        </p:grpSpPr>
        <p:pic>
          <p:nvPicPr>
            <p:cNvPr id="412" name="Graphic 411" descr="Woman with solid fill">
              <a:extLst>
                <a:ext uri="{FF2B5EF4-FFF2-40B4-BE49-F238E27FC236}">
                  <a16:creationId xmlns:a16="http://schemas.microsoft.com/office/drawing/2014/main" id="{F652C22C-60E5-4C76-9205-0003FBC0F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flipH="1">
              <a:off x="9046062" y="5325504"/>
              <a:ext cx="404027" cy="412712"/>
            </a:xfrm>
            <a:prstGeom prst="rect">
              <a:avLst/>
            </a:prstGeom>
          </p:spPr>
        </p:pic>
        <p:pic>
          <p:nvPicPr>
            <p:cNvPr id="413" name="Graphic 412" descr="Woman with solid fill">
              <a:extLst>
                <a:ext uri="{FF2B5EF4-FFF2-40B4-BE49-F238E27FC236}">
                  <a16:creationId xmlns:a16="http://schemas.microsoft.com/office/drawing/2014/main" id="{BF844B05-6526-4C10-9084-5436D7AE6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flipH="1">
              <a:off x="8820862" y="5325504"/>
              <a:ext cx="404027" cy="412712"/>
            </a:xfrm>
            <a:prstGeom prst="rect">
              <a:avLst/>
            </a:prstGeom>
          </p:spPr>
        </p:pic>
        <p:pic>
          <p:nvPicPr>
            <p:cNvPr id="414" name="Graphic 413" descr="Woman with solid fill">
              <a:extLst>
                <a:ext uri="{FF2B5EF4-FFF2-40B4-BE49-F238E27FC236}">
                  <a16:creationId xmlns:a16="http://schemas.microsoft.com/office/drawing/2014/main" id="{945A6DDF-4E29-4566-8A41-8CF936A33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flipH="1">
              <a:off x="8595664" y="5325504"/>
              <a:ext cx="404028" cy="412712"/>
            </a:xfrm>
            <a:prstGeom prst="rect">
              <a:avLst/>
            </a:prstGeom>
          </p:spPr>
        </p:pic>
        <p:pic>
          <p:nvPicPr>
            <p:cNvPr id="415" name="Graphic 414" descr="Woman with solid fill">
              <a:extLst>
                <a:ext uri="{FF2B5EF4-FFF2-40B4-BE49-F238E27FC236}">
                  <a16:creationId xmlns:a16="http://schemas.microsoft.com/office/drawing/2014/main" id="{1D0180A3-0F63-4DA4-AEC8-B71466DAA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flipH="1">
              <a:off x="8370464" y="5325504"/>
              <a:ext cx="404028" cy="412712"/>
            </a:xfrm>
            <a:prstGeom prst="rect">
              <a:avLst/>
            </a:prstGeom>
          </p:spPr>
        </p:pic>
        <p:pic>
          <p:nvPicPr>
            <p:cNvPr id="416" name="Graphic 415" descr="Woman with solid fill">
              <a:extLst>
                <a:ext uri="{FF2B5EF4-FFF2-40B4-BE49-F238E27FC236}">
                  <a16:creationId xmlns:a16="http://schemas.microsoft.com/office/drawing/2014/main" id="{86E37A58-2AC1-40A1-B5C2-D64D30029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flipH="1">
              <a:off x="8145266" y="5325504"/>
              <a:ext cx="404028" cy="412712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D3F113E-4FE4-4E06-8787-A5CEFF4D8332}"/>
                </a:ext>
              </a:extLst>
            </p:cNvPr>
            <p:cNvGrpSpPr/>
            <p:nvPr/>
          </p:nvGrpSpPr>
          <p:grpSpPr>
            <a:xfrm>
              <a:off x="9379718" y="5338131"/>
              <a:ext cx="93556" cy="386225"/>
              <a:chOff x="9467068" y="5339840"/>
              <a:chExt cx="93556" cy="386225"/>
            </a:xfrm>
          </p:grpSpPr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DFE07561-D207-4AF8-8DCE-3CC54389B0D7}"/>
                  </a:ext>
                </a:extLst>
              </p:cNvPr>
              <p:cNvSpPr/>
              <p:nvPr/>
            </p:nvSpPr>
            <p:spPr>
              <a:xfrm>
                <a:off x="9524593" y="5339840"/>
                <a:ext cx="35313" cy="70276"/>
              </a:xfrm>
              <a:custGeom>
                <a:avLst/>
                <a:gdLst>
                  <a:gd name="connsiteX0" fmla="*/ 93837 w 93837"/>
                  <a:gd name="connsiteY0" fmla="*/ 46919 h 93837"/>
                  <a:gd name="connsiteX1" fmla="*/ 46918 w 93837"/>
                  <a:gd name="connsiteY1" fmla="*/ 93837 h 93837"/>
                  <a:gd name="connsiteX2" fmla="*/ 0 w 93837"/>
                  <a:gd name="connsiteY2" fmla="*/ 46919 h 93837"/>
                  <a:gd name="connsiteX3" fmla="*/ 46918 w 93837"/>
                  <a:gd name="connsiteY3" fmla="*/ 0 h 93837"/>
                  <a:gd name="connsiteX4" fmla="*/ 93837 w 93837"/>
                  <a:gd name="connsiteY4" fmla="*/ 46919 h 93837"/>
                  <a:gd name="connsiteX0" fmla="*/ 48593 w 51009"/>
                  <a:gd name="connsiteY0" fmla="*/ 56522 h 94044"/>
                  <a:gd name="connsiteX1" fmla="*/ 46918 w 51009"/>
                  <a:gd name="connsiteY1" fmla="*/ 93915 h 94044"/>
                  <a:gd name="connsiteX2" fmla="*/ 0 w 51009"/>
                  <a:gd name="connsiteY2" fmla="*/ 46997 h 94044"/>
                  <a:gd name="connsiteX3" fmla="*/ 46918 w 51009"/>
                  <a:gd name="connsiteY3" fmla="*/ 78 h 94044"/>
                  <a:gd name="connsiteX4" fmla="*/ 48593 w 51009"/>
                  <a:gd name="connsiteY4" fmla="*/ 56522 h 94044"/>
                  <a:gd name="connsiteX0" fmla="*/ 48593 w 51009"/>
                  <a:gd name="connsiteY0" fmla="*/ 56522 h 94044"/>
                  <a:gd name="connsiteX1" fmla="*/ 46918 w 51009"/>
                  <a:gd name="connsiteY1" fmla="*/ 93915 h 94044"/>
                  <a:gd name="connsiteX2" fmla="*/ 0 w 51009"/>
                  <a:gd name="connsiteY2" fmla="*/ 46997 h 94044"/>
                  <a:gd name="connsiteX3" fmla="*/ 46918 w 51009"/>
                  <a:gd name="connsiteY3" fmla="*/ 78 h 94044"/>
                  <a:gd name="connsiteX4" fmla="*/ 48593 w 51009"/>
                  <a:gd name="connsiteY4" fmla="*/ 56522 h 94044"/>
                  <a:gd name="connsiteX0" fmla="*/ 48593 w 51009"/>
                  <a:gd name="connsiteY0" fmla="*/ 56624 h 94146"/>
                  <a:gd name="connsiteX1" fmla="*/ 46918 w 51009"/>
                  <a:gd name="connsiteY1" fmla="*/ 94017 h 94146"/>
                  <a:gd name="connsiteX2" fmla="*/ 0 w 51009"/>
                  <a:gd name="connsiteY2" fmla="*/ 47099 h 94146"/>
                  <a:gd name="connsiteX3" fmla="*/ 46918 w 51009"/>
                  <a:gd name="connsiteY3" fmla="*/ 180 h 94146"/>
                  <a:gd name="connsiteX4" fmla="*/ 48593 w 51009"/>
                  <a:gd name="connsiteY4" fmla="*/ 56624 h 94146"/>
                  <a:gd name="connsiteX0" fmla="*/ 48593 w 51009"/>
                  <a:gd name="connsiteY0" fmla="*/ 56624 h 94146"/>
                  <a:gd name="connsiteX1" fmla="*/ 46918 w 51009"/>
                  <a:gd name="connsiteY1" fmla="*/ 94017 h 94146"/>
                  <a:gd name="connsiteX2" fmla="*/ 0 w 51009"/>
                  <a:gd name="connsiteY2" fmla="*/ 47099 h 94146"/>
                  <a:gd name="connsiteX3" fmla="*/ 46918 w 51009"/>
                  <a:gd name="connsiteY3" fmla="*/ 180 h 94146"/>
                  <a:gd name="connsiteX4" fmla="*/ 48593 w 51009"/>
                  <a:gd name="connsiteY4" fmla="*/ 56624 h 94146"/>
                  <a:gd name="connsiteX0" fmla="*/ 46918 w 52783"/>
                  <a:gd name="connsiteY0" fmla="*/ 2034 h 95871"/>
                  <a:gd name="connsiteX1" fmla="*/ 46918 w 52783"/>
                  <a:gd name="connsiteY1" fmla="*/ 95871 h 95871"/>
                  <a:gd name="connsiteX2" fmla="*/ 0 w 52783"/>
                  <a:gd name="connsiteY2" fmla="*/ 48953 h 95871"/>
                  <a:gd name="connsiteX3" fmla="*/ 46918 w 52783"/>
                  <a:gd name="connsiteY3" fmla="*/ 2034 h 95871"/>
                  <a:gd name="connsiteX0" fmla="*/ 46918 w 52783"/>
                  <a:gd name="connsiteY0" fmla="*/ 2034 h 95871"/>
                  <a:gd name="connsiteX1" fmla="*/ 46918 w 52783"/>
                  <a:gd name="connsiteY1" fmla="*/ 95871 h 95871"/>
                  <a:gd name="connsiteX2" fmla="*/ 0 w 52783"/>
                  <a:gd name="connsiteY2" fmla="*/ 48953 h 95871"/>
                  <a:gd name="connsiteX3" fmla="*/ 46918 w 52783"/>
                  <a:gd name="connsiteY3" fmla="*/ 2034 h 95871"/>
                  <a:gd name="connsiteX0" fmla="*/ 46918 w 51176"/>
                  <a:gd name="connsiteY0" fmla="*/ 2034 h 95871"/>
                  <a:gd name="connsiteX1" fmla="*/ 46918 w 51176"/>
                  <a:gd name="connsiteY1" fmla="*/ 95871 h 95871"/>
                  <a:gd name="connsiteX2" fmla="*/ 0 w 51176"/>
                  <a:gd name="connsiteY2" fmla="*/ 48953 h 95871"/>
                  <a:gd name="connsiteX3" fmla="*/ 46918 w 51176"/>
                  <a:gd name="connsiteY3" fmla="*/ 2034 h 95871"/>
                  <a:gd name="connsiteX0" fmla="*/ 46918 w 51176"/>
                  <a:gd name="connsiteY0" fmla="*/ 2034 h 95871"/>
                  <a:gd name="connsiteX1" fmla="*/ 46918 w 51176"/>
                  <a:gd name="connsiteY1" fmla="*/ 95871 h 95871"/>
                  <a:gd name="connsiteX2" fmla="*/ 0 w 51176"/>
                  <a:gd name="connsiteY2" fmla="*/ 48953 h 95871"/>
                  <a:gd name="connsiteX3" fmla="*/ 46918 w 51176"/>
                  <a:gd name="connsiteY3" fmla="*/ 2034 h 95871"/>
                  <a:gd name="connsiteX0" fmla="*/ 46918 w 49210"/>
                  <a:gd name="connsiteY0" fmla="*/ 2034 h 95871"/>
                  <a:gd name="connsiteX1" fmla="*/ 46918 w 49210"/>
                  <a:gd name="connsiteY1" fmla="*/ 95871 h 95871"/>
                  <a:gd name="connsiteX2" fmla="*/ 0 w 49210"/>
                  <a:gd name="connsiteY2" fmla="*/ 48953 h 95871"/>
                  <a:gd name="connsiteX3" fmla="*/ 46918 w 49210"/>
                  <a:gd name="connsiteY3" fmla="*/ 2034 h 95871"/>
                  <a:gd name="connsiteX0" fmla="*/ 46918 w 49210"/>
                  <a:gd name="connsiteY0" fmla="*/ 2034 h 95871"/>
                  <a:gd name="connsiteX1" fmla="*/ 46918 w 49210"/>
                  <a:gd name="connsiteY1" fmla="*/ 95871 h 95871"/>
                  <a:gd name="connsiteX2" fmla="*/ 0 w 49210"/>
                  <a:gd name="connsiteY2" fmla="*/ 48953 h 95871"/>
                  <a:gd name="connsiteX3" fmla="*/ 46918 w 49210"/>
                  <a:gd name="connsiteY3" fmla="*/ 2034 h 95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210" h="95871">
                    <a:moveTo>
                      <a:pt x="46918" y="2034"/>
                    </a:moveTo>
                    <a:cubicBezTo>
                      <a:pt x="49975" y="38429"/>
                      <a:pt x="49975" y="52332"/>
                      <a:pt x="46918" y="95871"/>
                    </a:cubicBezTo>
                    <a:cubicBezTo>
                      <a:pt x="38819" y="94284"/>
                      <a:pt x="2381" y="92133"/>
                      <a:pt x="0" y="48953"/>
                    </a:cubicBezTo>
                    <a:cubicBezTo>
                      <a:pt x="0" y="8752"/>
                      <a:pt x="39098" y="-5786"/>
                      <a:pt x="46918" y="2034"/>
                    </a:cubicBezTo>
                    <a:close/>
                  </a:path>
                </a:pathLst>
              </a:custGeom>
              <a:solidFill>
                <a:schemeClr val="bg1"/>
              </a:solidFill>
              <a:ln w="5854" cap="flat">
                <a:solidFill>
                  <a:schemeClr val="accent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901E7859-0BC7-4736-BEA4-A87C1865EF24}"/>
                  </a:ext>
                </a:extLst>
              </p:cNvPr>
              <p:cNvSpPr/>
              <p:nvPr/>
            </p:nvSpPr>
            <p:spPr>
              <a:xfrm>
                <a:off x="9467068" y="5416531"/>
                <a:ext cx="93556" cy="309534"/>
              </a:xfrm>
              <a:custGeom>
                <a:avLst/>
                <a:gdLst>
                  <a:gd name="connsiteX0" fmla="*/ 257782 w 258690"/>
                  <a:gd name="connsiteY0" fmla="*/ 180636 h 422266"/>
                  <a:gd name="connsiteX1" fmla="*/ 215555 w 258690"/>
                  <a:gd name="connsiteY1" fmla="*/ 35189 h 422266"/>
                  <a:gd name="connsiteX2" fmla="*/ 206171 w 258690"/>
                  <a:gd name="connsiteY2" fmla="*/ 22286 h 422266"/>
                  <a:gd name="connsiteX3" fmla="*/ 156907 w 258690"/>
                  <a:gd name="connsiteY3" fmla="*/ 2346 h 422266"/>
                  <a:gd name="connsiteX4" fmla="*/ 129929 w 258690"/>
                  <a:gd name="connsiteY4" fmla="*/ 0 h 422266"/>
                  <a:gd name="connsiteX5" fmla="*/ 102950 w 258690"/>
                  <a:gd name="connsiteY5" fmla="*/ 2346 h 422266"/>
                  <a:gd name="connsiteX6" fmla="*/ 53686 w 258690"/>
                  <a:gd name="connsiteY6" fmla="*/ 22286 h 422266"/>
                  <a:gd name="connsiteX7" fmla="*/ 44302 w 258690"/>
                  <a:gd name="connsiteY7" fmla="*/ 35189 h 422266"/>
                  <a:gd name="connsiteX8" fmla="*/ 903 w 258690"/>
                  <a:gd name="connsiteY8" fmla="*/ 180636 h 422266"/>
                  <a:gd name="connsiteX9" fmla="*/ 17324 w 258690"/>
                  <a:gd name="connsiteY9" fmla="*/ 209960 h 422266"/>
                  <a:gd name="connsiteX10" fmla="*/ 24362 w 258690"/>
                  <a:gd name="connsiteY10" fmla="*/ 211133 h 422266"/>
                  <a:gd name="connsiteX11" fmla="*/ 46648 w 258690"/>
                  <a:gd name="connsiteY11" fmla="*/ 194712 h 422266"/>
                  <a:gd name="connsiteX12" fmla="*/ 83010 w 258690"/>
                  <a:gd name="connsiteY12" fmla="*/ 71551 h 422266"/>
                  <a:gd name="connsiteX13" fmla="*/ 83010 w 258690"/>
                  <a:gd name="connsiteY13" fmla="*/ 112604 h 422266"/>
                  <a:gd name="connsiteX14" fmla="*/ 39611 w 258690"/>
                  <a:gd name="connsiteY14" fmla="*/ 258052 h 422266"/>
                  <a:gd name="connsiteX15" fmla="*/ 71280 w 258690"/>
                  <a:gd name="connsiteY15" fmla="*/ 258052 h 422266"/>
                  <a:gd name="connsiteX16" fmla="*/ 71280 w 258690"/>
                  <a:gd name="connsiteY16" fmla="*/ 422267 h 422266"/>
                  <a:gd name="connsiteX17" fmla="*/ 118199 w 258690"/>
                  <a:gd name="connsiteY17" fmla="*/ 422267 h 422266"/>
                  <a:gd name="connsiteX18" fmla="*/ 118199 w 258690"/>
                  <a:gd name="connsiteY18" fmla="*/ 258052 h 422266"/>
                  <a:gd name="connsiteX19" fmla="*/ 141658 w 258690"/>
                  <a:gd name="connsiteY19" fmla="*/ 258052 h 422266"/>
                  <a:gd name="connsiteX20" fmla="*/ 141658 w 258690"/>
                  <a:gd name="connsiteY20" fmla="*/ 422267 h 422266"/>
                  <a:gd name="connsiteX21" fmla="*/ 188577 w 258690"/>
                  <a:gd name="connsiteY21" fmla="*/ 422267 h 422266"/>
                  <a:gd name="connsiteX22" fmla="*/ 188577 w 258690"/>
                  <a:gd name="connsiteY22" fmla="*/ 258052 h 422266"/>
                  <a:gd name="connsiteX23" fmla="*/ 220247 w 258690"/>
                  <a:gd name="connsiteY23" fmla="*/ 258052 h 422266"/>
                  <a:gd name="connsiteX24" fmla="*/ 176847 w 258690"/>
                  <a:gd name="connsiteY24" fmla="*/ 112604 h 422266"/>
                  <a:gd name="connsiteX25" fmla="*/ 176847 w 258690"/>
                  <a:gd name="connsiteY25" fmla="*/ 71551 h 422266"/>
                  <a:gd name="connsiteX26" fmla="*/ 213209 w 258690"/>
                  <a:gd name="connsiteY26" fmla="*/ 194712 h 422266"/>
                  <a:gd name="connsiteX27" fmla="*/ 235495 w 258690"/>
                  <a:gd name="connsiteY27" fmla="*/ 211133 h 422266"/>
                  <a:gd name="connsiteX28" fmla="*/ 242533 w 258690"/>
                  <a:gd name="connsiteY28" fmla="*/ 209960 h 422266"/>
                  <a:gd name="connsiteX29" fmla="*/ 257782 w 258690"/>
                  <a:gd name="connsiteY29" fmla="*/ 180636 h 422266"/>
                  <a:gd name="connsiteX0" fmla="*/ 257782 w 258690"/>
                  <a:gd name="connsiteY0" fmla="*/ 180636 h 422267"/>
                  <a:gd name="connsiteX1" fmla="*/ 206171 w 258690"/>
                  <a:gd name="connsiteY1" fmla="*/ 22286 h 422267"/>
                  <a:gd name="connsiteX2" fmla="*/ 156907 w 258690"/>
                  <a:gd name="connsiteY2" fmla="*/ 2346 h 422267"/>
                  <a:gd name="connsiteX3" fmla="*/ 129929 w 258690"/>
                  <a:gd name="connsiteY3" fmla="*/ 0 h 422267"/>
                  <a:gd name="connsiteX4" fmla="*/ 102950 w 258690"/>
                  <a:gd name="connsiteY4" fmla="*/ 2346 h 422267"/>
                  <a:gd name="connsiteX5" fmla="*/ 53686 w 258690"/>
                  <a:gd name="connsiteY5" fmla="*/ 22286 h 422267"/>
                  <a:gd name="connsiteX6" fmla="*/ 44302 w 258690"/>
                  <a:gd name="connsiteY6" fmla="*/ 35189 h 422267"/>
                  <a:gd name="connsiteX7" fmla="*/ 903 w 258690"/>
                  <a:gd name="connsiteY7" fmla="*/ 180636 h 422267"/>
                  <a:gd name="connsiteX8" fmla="*/ 17324 w 258690"/>
                  <a:gd name="connsiteY8" fmla="*/ 209960 h 422267"/>
                  <a:gd name="connsiteX9" fmla="*/ 24362 w 258690"/>
                  <a:gd name="connsiteY9" fmla="*/ 211133 h 422267"/>
                  <a:gd name="connsiteX10" fmla="*/ 46648 w 258690"/>
                  <a:gd name="connsiteY10" fmla="*/ 194712 h 422267"/>
                  <a:gd name="connsiteX11" fmla="*/ 83010 w 258690"/>
                  <a:gd name="connsiteY11" fmla="*/ 71551 h 422267"/>
                  <a:gd name="connsiteX12" fmla="*/ 83010 w 258690"/>
                  <a:gd name="connsiteY12" fmla="*/ 112604 h 422267"/>
                  <a:gd name="connsiteX13" fmla="*/ 39611 w 258690"/>
                  <a:gd name="connsiteY13" fmla="*/ 258052 h 422267"/>
                  <a:gd name="connsiteX14" fmla="*/ 71280 w 258690"/>
                  <a:gd name="connsiteY14" fmla="*/ 258052 h 422267"/>
                  <a:gd name="connsiteX15" fmla="*/ 71280 w 258690"/>
                  <a:gd name="connsiteY15" fmla="*/ 422267 h 422267"/>
                  <a:gd name="connsiteX16" fmla="*/ 118199 w 258690"/>
                  <a:gd name="connsiteY16" fmla="*/ 422267 h 422267"/>
                  <a:gd name="connsiteX17" fmla="*/ 118199 w 258690"/>
                  <a:gd name="connsiteY17" fmla="*/ 258052 h 422267"/>
                  <a:gd name="connsiteX18" fmla="*/ 141658 w 258690"/>
                  <a:gd name="connsiteY18" fmla="*/ 258052 h 422267"/>
                  <a:gd name="connsiteX19" fmla="*/ 141658 w 258690"/>
                  <a:gd name="connsiteY19" fmla="*/ 422267 h 422267"/>
                  <a:gd name="connsiteX20" fmla="*/ 188577 w 258690"/>
                  <a:gd name="connsiteY20" fmla="*/ 422267 h 422267"/>
                  <a:gd name="connsiteX21" fmla="*/ 188577 w 258690"/>
                  <a:gd name="connsiteY21" fmla="*/ 258052 h 422267"/>
                  <a:gd name="connsiteX22" fmla="*/ 220247 w 258690"/>
                  <a:gd name="connsiteY22" fmla="*/ 258052 h 422267"/>
                  <a:gd name="connsiteX23" fmla="*/ 176847 w 258690"/>
                  <a:gd name="connsiteY23" fmla="*/ 112604 h 422267"/>
                  <a:gd name="connsiteX24" fmla="*/ 176847 w 258690"/>
                  <a:gd name="connsiteY24" fmla="*/ 71551 h 422267"/>
                  <a:gd name="connsiteX25" fmla="*/ 213209 w 258690"/>
                  <a:gd name="connsiteY25" fmla="*/ 194712 h 422267"/>
                  <a:gd name="connsiteX26" fmla="*/ 235495 w 258690"/>
                  <a:gd name="connsiteY26" fmla="*/ 211133 h 422267"/>
                  <a:gd name="connsiteX27" fmla="*/ 242533 w 258690"/>
                  <a:gd name="connsiteY27" fmla="*/ 209960 h 422267"/>
                  <a:gd name="connsiteX28" fmla="*/ 257782 w 258690"/>
                  <a:gd name="connsiteY28" fmla="*/ 180636 h 422267"/>
                  <a:gd name="connsiteX0" fmla="*/ 257782 w 258690"/>
                  <a:gd name="connsiteY0" fmla="*/ 180636 h 422267"/>
                  <a:gd name="connsiteX1" fmla="*/ 156907 w 258690"/>
                  <a:gd name="connsiteY1" fmla="*/ 2346 h 422267"/>
                  <a:gd name="connsiteX2" fmla="*/ 129929 w 258690"/>
                  <a:gd name="connsiteY2" fmla="*/ 0 h 422267"/>
                  <a:gd name="connsiteX3" fmla="*/ 102950 w 258690"/>
                  <a:gd name="connsiteY3" fmla="*/ 2346 h 422267"/>
                  <a:gd name="connsiteX4" fmla="*/ 53686 w 258690"/>
                  <a:gd name="connsiteY4" fmla="*/ 22286 h 422267"/>
                  <a:gd name="connsiteX5" fmla="*/ 44302 w 258690"/>
                  <a:gd name="connsiteY5" fmla="*/ 35189 h 422267"/>
                  <a:gd name="connsiteX6" fmla="*/ 903 w 258690"/>
                  <a:gd name="connsiteY6" fmla="*/ 180636 h 422267"/>
                  <a:gd name="connsiteX7" fmla="*/ 17324 w 258690"/>
                  <a:gd name="connsiteY7" fmla="*/ 209960 h 422267"/>
                  <a:gd name="connsiteX8" fmla="*/ 24362 w 258690"/>
                  <a:gd name="connsiteY8" fmla="*/ 211133 h 422267"/>
                  <a:gd name="connsiteX9" fmla="*/ 46648 w 258690"/>
                  <a:gd name="connsiteY9" fmla="*/ 194712 h 422267"/>
                  <a:gd name="connsiteX10" fmla="*/ 83010 w 258690"/>
                  <a:gd name="connsiteY10" fmla="*/ 71551 h 422267"/>
                  <a:gd name="connsiteX11" fmla="*/ 83010 w 258690"/>
                  <a:gd name="connsiteY11" fmla="*/ 112604 h 422267"/>
                  <a:gd name="connsiteX12" fmla="*/ 39611 w 258690"/>
                  <a:gd name="connsiteY12" fmla="*/ 258052 h 422267"/>
                  <a:gd name="connsiteX13" fmla="*/ 71280 w 258690"/>
                  <a:gd name="connsiteY13" fmla="*/ 258052 h 422267"/>
                  <a:gd name="connsiteX14" fmla="*/ 71280 w 258690"/>
                  <a:gd name="connsiteY14" fmla="*/ 422267 h 422267"/>
                  <a:gd name="connsiteX15" fmla="*/ 118199 w 258690"/>
                  <a:gd name="connsiteY15" fmla="*/ 422267 h 422267"/>
                  <a:gd name="connsiteX16" fmla="*/ 118199 w 258690"/>
                  <a:gd name="connsiteY16" fmla="*/ 258052 h 422267"/>
                  <a:gd name="connsiteX17" fmla="*/ 141658 w 258690"/>
                  <a:gd name="connsiteY17" fmla="*/ 258052 h 422267"/>
                  <a:gd name="connsiteX18" fmla="*/ 141658 w 258690"/>
                  <a:gd name="connsiteY18" fmla="*/ 422267 h 422267"/>
                  <a:gd name="connsiteX19" fmla="*/ 188577 w 258690"/>
                  <a:gd name="connsiteY19" fmla="*/ 422267 h 422267"/>
                  <a:gd name="connsiteX20" fmla="*/ 188577 w 258690"/>
                  <a:gd name="connsiteY20" fmla="*/ 258052 h 422267"/>
                  <a:gd name="connsiteX21" fmla="*/ 220247 w 258690"/>
                  <a:gd name="connsiteY21" fmla="*/ 258052 h 422267"/>
                  <a:gd name="connsiteX22" fmla="*/ 176847 w 258690"/>
                  <a:gd name="connsiteY22" fmla="*/ 112604 h 422267"/>
                  <a:gd name="connsiteX23" fmla="*/ 176847 w 258690"/>
                  <a:gd name="connsiteY23" fmla="*/ 71551 h 422267"/>
                  <a:gd name="connsiteX24" fmla="*/ 213209 w 258690"/>
                  <a:gd name="connsiteY24" fmla="*/ 194712 h 422267"/>
                  <a:gd name="connsiteX25" fmla="*/ 235495 w 258690"/>
                  <a:gd name="connsiteY25" fmla="*/ 211133 h 422267"/>
                  <a:gd name="connsiteX26" fmla="*/ 242533 w 258690"/>
                  <a:gd name="connsiteY26" fmla="*/ 209960 h 422267"/>
                  <a:gd name="connsiteX27" fmla="*/ 257782 w 258690"/>
                  <a:gd name="connsiteY27" fmla="*/ 180636 h 422267"/>
                  <a:gd name="connsiteX0" fmla="*/ 242533 w 242533"/>
                  <a:gd name="connsiteY0" fmla="*/ 223798 h 436105"/>
                  <a:gd name="connsiteX1" fmla="*/ 156907 w 242533"/>
                  <a:gd name="connsiteY1" fmla="*/ 16184 h 436105"/>
                  <a:gd name="connsiteX2" fmla="*/ 129929 w 242533"/>
                  <a:gd name="connsiteY2" fmla="*/ 13838 h 436105"/>
                  <a:gd name="connsiteX3" fmla="*/ 102950 w 242533"/>
                  <a:gd name="connsiteY3" fmla="*/ 16184 h 436105"/>
                  <a:gd name="connsiteX4" fmla="*/ 53686 w 242533"/>
                  <a:gd name="connsiteY4" fmla="*/ 36124 h 436105"/>
                  <a:gd name="connsiteX5" fmla="*/ 44302 w 242533"/>
                  <a:gd name="connsiteY5" fmla="*/ 49027 h 436105"/>
                  <a:gd name="connsiteX6" fmla="*/ 903 w 242533"/>
                  <a:gd name="connsiteY6" fmla="*/ 194474 h 436105"/>
                  <a:gd name="connsiteX7" fmla="*/ 17324 w 242533"/>
                  <a:gd name="connsiteY7" fmla="*/ 223798 h 436105"/>
                  <a:gd name="connsiteX8" fmla="*/ 24362 w 242533"/>
                  <a:gd name="connsiteY8" fmla="*/ 224971 h 436105"/>
                  <a:gd name="connsiteX9" fmla="*/ 46648 w 242533"/>
                  <a:gd name="connsiteY9" fmla="*/ 208550 h 436105"/>
                  <a:gd name="connsiteX10" fmla="*/ 83010 w 242533"/>
                  <a:gd name="connsiteY10" fmla="*/ 85389 h 436105"/>
                  <a:gd name="connsiteX11" fmla="*/ 83010 w 242533"/>
                  <a:gd name="connsiteY11" fmla="*/ 126442 h 436105"/>
                  <a:gd name="connsiteX12" fmla="*/ 39611 w 242533"/>
                  <a:gd name="connsiteY12" fmla="*/ 271890 h 436105"/>
                  <a:gd name="connsiteX13" fmla="*/ 71280 w 242533"/>
                  <a:gd name="connsiteY13" fmla="*/ 271890 h 436105"/>
                  <a:gd name="connsiteX14" fmla="*/ 71280 w 242533"/>
                  <a:gd name="connsiteY14" fmla="*/ 436105 h 436105"/>
                  <a:gd name="connsiteX15" fmla="*/ 118199 w 242533"/>
                  <a:gd name="connsiteY15" fmla="*/ 436105 h 436105"/>
                  <a:gd name="connsiteX16" fmla="*/ 118199 w 242533"/>
                  <a:gd name="connsiteY16" fmla="*/ 271890 h 436105"/>
                  <a:gd name="connsiteX17" fmla="*/ 141658 w 242533"/>
                  <a:gd name="connsiteY17" fmla="*/ 271890 h 436105"/>
                  <a:gd name="connsiteX18" fmla="*/ 141658 w 242533"/>
                  <a:gd name="connsiteY18" fmla="*/ 436105 h 436105"/>
                  <a:gd name="connsiteX19" fmla="*/ 188577 w 242533"/>
                  <a:gd name="connsiteY19" fmla="*/ 436105 h 436105"/>
                  <a:gd name="connsiteX20" fmla="*/ 188577 w 242533"/>
                  <a:gd name="connsiteY20" fmla="*/ 271890 h 436105"/>
                  <a:gd name="connsiteX21" fmla="*/ 220247 w 242533"/>
                  <a:gd name="connsiteY21" fmla="*/ 271890 h 436105"/>
                  <a:gd name="connsiteX22" fmla="*/ 176847 w 242533"/>
                  <a:gd name="connsiteY22" fmla="*/ 126442 h 436105"/>
                  <a:gd name="connsiteX23" fmla="*/ 176847 w 242533"/>
                  <a:gd name="connsiteY23" fmla="*/ 85389 h 436105"/>
                  <a:gd name="connsiteX24" fmla="*/ 213209 w 242533"/>
                  <a:gd name="connsiteY24" fmla="*/ 208550 h 436105"/>
                  <a:gd name="connsiteX25" fmla="*/ 235495 w 242533"/>
                  <a:gd name="connsiteY25" fmla="*/ 224971 h 436105"/>
                  <a:gd name="connsiteX26" fmla="*/ 242533 w 242533"/>
                  <a:gd name="connsiteY26" fmla="*/ 223798 h 436105"/>
                  <a:gd name="connsiteX0" fmla="*/ 235495 w 235495"/>
                  <a:gd name="connsiteY0" fmla="*/ 225058 h 436192"/>
                  <a:gd name="connsiteX1" fmla="*/ 156907 w 235495"/>
                  <a:gd name="connsiteY1" fmla="*/ 16271 h 436192"/>
                  <a:gd name="connsiteX2" fmla="*/ 129929 w 235495"/>
                  <a:gd name="connsiteY2" fmla="*/ 13925 h 436192"/>
                  <a:gd name="connsiteX3" fmla="*/ 102950 w 235495"/>
                  <a:gd name="connsiteY3" fmla="*/ 16271 h 436192"/>
                  <a:gd name="connsiteX4" fmla="*/ 53686 w 235495"/>
                  <a:gd name="connsiteY4" fmla="*/ 36211 h 436192"/>
                  <a:gd name="connsiteX5" fmla="*/ 44302 w 235495"/>
                  <a:gd name="connsiteY5" fmla="*/ 49114 h 436192"/>
                  <a:gd name="connsiteX6" fmla="*/ 903 w 235495"/>
                  <a:gd name="connsiteY6" fmla="*/ 194561 h 436192"/>
                  <a:gd name="connsiteX7" fmla="*/ 17324 w 235495"/>
                  <a:gd name="connsiteY7" fmla="*/ 223885 h 436192"/>
                  <a:gd name="connsiteX8" fmla="*/ 24362 w 235495"/>
                  <a:gd name="connsiteY8" fmla="*/ 225058 h 436192"/>
                  <a:gd name="connsiteX9" fmla="*/ 46648 w 235495"/>
                  <a:gd name="connsiteY9" fmla="*/ 208637 h 436192"/>
                  <a:gd name="connsiteX10" fmla="*/ 83010 w 235495"/>
                  <a:gd name="connsiteY10" fmla="*/ 85476 h 436192"/>
                  <a:gd name="connsiteX11" fmla="*/ 83010 w 235495"/>
                  <a:gd name="connsiteY11" fmla="*/ 126529 h 436192"/>
                  <a:gd name="connsiteX12" fmla="*/ 39611 w 235495"/>
                  <a:gd name="connsiteY12" fmla="*/ 271977 h 436192"/>
                  <a:gd name="connsiteX13" fmla="*/ 71280 w 235495"/>
                  <a:gd name="connsiteY13" fmla="*/ 271977 h 436192"/>
                  <a:gd name="connsiteX14" fmla="*/ 71280 w 235495"/>
                  <a:gd name="connsiteY14" fmla="*/ 436192 h 436192"/>
                  <a:gd name="connsiteX15" fmla="*/ 118199 w 235495"/>
                  <a:gd name="connsiteY15" fmla="*/ 436192 h 436192"/>
                  <a:gd name="connsiteX16" fmla="*/ 118199 w 235495"/>
                  <a:gd name="connsiteY16" fmla="*/ 271977 h 436192"/>
                  <a:gd name="connsiteX17" fmla="*/ 141658 w 235495"/>
                  <a:gd name="connsiteY17" fmla="*/ 271977 h 436192"/>
                  <a:gd name="connsiteX18" fmla="*/ 141658 w 235495"/>
                  <a:gd name="connsiteY18" fmla="*/ 436192 h 436192"/>
                  <a:gd name="connsiteX19" fmla="*/ 188577 w 235495"/>
                  <a:gd name="connsiteY19" fmla="*/ 436192 h 436192"/>
                  <a:gd name="connsiteX20" fmla="*/ 188577 w 235495"/>
                  <a:gd name="connsiteY20" fmla="*/ 271977 h 436192"/>
                  <a:gd name="connsiteX21" fmla="*/ 220247 w 235495"/>
                  <a:gd name="connsiteY21" fmla="*/ 271977 h 436192"/>
                  <a:gd name="connsiteX22" fmla="*/ 176847 w 235495"/>
                  <a:gd name="connsiteY22" fmla="*/ 126529 h 436192"/>
                  <a:gd name="connsiteX23" fmla="*/ 176847 w 235495"/>
                  <a:gd name="connsiteY23" fmla="*/ 85476 h 436192"/>
                  <a:gd name="connsiteX24" fmla="*/ 213209 w 235495"/>
                  <a:gd name="connsiteY24" fmla="*/ 208637 h 436192"/>
                  <a:gd name="connsiteX25" fmla="*/ 235495 w 235495"/>
                  <a:gd name="connsiteY25" fmla="*/ 225058 h 436192"/>
                  <a:gd name="connsiteX0" fmla="*/ 213209 w 220247"/>
                  <a:gd name="connsiteY0" fmla="*/ 207424 h 434979"/>
                  <a:gd name="connsiteX1" fmla="*/ 156907 w 220247"/>
                  <a:gd name="connsiteY1" fmla="*/ 15058 h 434979"/>
                  <a:gd name="connsiteX2" fmla="*/ 129929 w 220247"/>
                  <a:gd name="connsiteY2" fmla="*/ 12712 h 434979"/>
                  <a:gd name="connsiteX3" fmla="*/ 102950 w 220247"/>
                  <a:gd name="connsiteY3" fmla="*/ 15058 h 434979"/>
                  <a:gd name="connsiteX4" fmla="*/ 53686 w 220247"/>
                  <a:gd name="connsiteY4" fmla="*/ 34998 h 434979"/>
                  <a:gd name="connsiteX5" fmla="*/ 44302 w 220247"/>
                  <a:gd name="connsiteY5" fmla="*/ 47901 h 434979"/>
                  <a:gd name="connsiteX6" fmla="*/ 903 w 220247"/>
                  <a:gd name="connsiteY6" fmla="*/ 193348 h 434979"/>
                  <a:gd name="connsiteX7" fmla="*/ 17324 w 220247"/>
                  <a:gd name="connsiteY7" fmla="*/ 222672 h 434979"/>
                  <a:gd name="connsiteX8" fmla="*/ 24362 w 220247"/>
                  <a:gd name="connsiteY8" fmla="*/ 223845 h 434979"/>
                  <a:gd name="connsiteX9" fmla="*/ 46648 w 220247"/>
                  <a:gd name="connsiteY9" fmla="*/ 207424 h 434979"/>
                  <a:gd name="connsiteX10" fmla="*/ 83010 w 220247"/>
                  <a:gd name="connsiteY10" fmla="*/ 84263 h 434979"/>
                  <a:gd name="connsiteX11" fmla="*/ 83010 w 220247"/>
                  <a:gd name="connsiteY11" fmla="*/ 125316 h 434979"/>
                  <a:gd name="connsiteX12" fmla="*/ 39611 w 220247"/>
                  <a:gd name="connsiteY12" fmla="*/ 270764 h 434979"/>
                  <a:gd name="connsiteX13" fmla="*/ 71280 w 220247"/>
                  <a:gd name="connsiteY13" fmla="*/ 270764 h 434979"/>
                  <a:gd name="connsiteX14" fmla="*/ 71280 w 220247"/>
                  <a:gd name="connsiteY14" fmla="*/ 434979 h 434979"/>
                  <a:gd name="connsiteX15" fmla="*/ 118199 w 220247"/>
                  <a:gd name="connsiteY15" fmla="*/ 434979 h 434979"/>
                  <a:gd name="connsiteX16" fmla="*/ 118199 w 220247"/>
                  <a:gd name="connsiteY16" fmla="*/ 270764 h 434979"/>
                  <a:gd name="connsiteX17" fmla="*/ 141658 w 220247"/>
                  <a:gd name="connsiteY17" fmla="*/ 270764 h 434979"/>
                  <a:gd name="connsiteX18" fmla="*/ 141658 w 220247"/>
                  <a:gd name="connsiteY18" fmla="*/ 434979 h 434979"/>
                  <a:gd name="connsiteX19" fmla="*/ 188577 w 220247"/>
                  <a:gd name="connsiteY19" fmla="*/ 434979 h 434979"/>
                  <a:gd name="connsiteX20" fmla="*/ 188577 w 220247"/>
                  <a:gd name="connsiteY20" fmla="*/ 270764 h 434979"/>
                  <a:gd name="connsiteX21" fmla="*/ 220247 w 220247"/>
                  <a:gd name="connsiteY21" fmla="*/ 270764 h 434979"/>
                  <a:gd name="connsiteX22" fmla="*/ 176847 w 220247"/>
                  <a:gd name="connsiteY22" fmla="*/ 125316 h 434979"/>
                  <a:gd name="connsiteX23" fmla="*/ 176847 w 220247"/>
                  <a:gd name="connsiteY23" fmla="*/ 84263 h 434979"/>
                  <a:gd name="connsiteX24" fmla="*/ 213209 w 220247"/>
                  <a:gd name="connsiteY24" fmla="*/ 207424 h 434979"/>
                  <a:gd name="connsiteX0" fmla="*/ 176847 w 220247"/>
                  <a:gd name="connsiteY0" fmla="*/ 84263 h 434979"/>
                  <a:gd name="connsiteX1" fmla="*/ 156907 w 220247"/>
                  <a:gd name="connsiteY1" fmla="*/ 15058 h 434979"/>
                  <a:gd name="connsiteX2" fmla="*/ 129929 w 220247"/>
                  <a:gd name="connsiteY2" fmla="*/ 12712 h 434979"/>
                  <a:gd name="connsiteX3" fmla="*/ 102950 w 220247"/>
                  <a:gd name="connsiteY3" fmla="*/ 15058 h 434979"/>
                  <a:gd name="connsiteX4" fmla="*/ 53686 w 220247"/>
                  <a:gd name="connsiteY4" fmla="*/ 34998 h 434979"/>
                  <a:gd name="connsiteX5" fmla="*/ 44302 w 220247"/>
                  <a:gd name="connsiteY5" fmla="*/ 47901 h 434979"/>
                  <a:gd name="connsiteX6" fmla="*/ 903 w 220247"/>
                  <a:gd name="connsiteY6" fmla="*/ 193348 h 434979"/>
                  <a:gd name="connsiteX7" fmla="*/ 17324 w 220247"/>
                  <a:gd name="connsiteY7" fmla="*/ 222672 h 434979"/>
                  <a:gd name="connsiteX8" fmla="*/ 24362 w 220247"/>
                  <a:gd name="connsiteY8" fmla="*/ 223845 h 434979"/>
                  <a:gd name="connsiteX9" fmla="*/ 46648 w 220247"/>
                  <a:gd name="connsiteY9" fmla="*/ 207424 h 434979"/>
                  <a:gd name="connsiteX10" fmla="*/ 83010 w 220247"/>
                  <a:gd name="connsiteY10" fmla="*/ 84263 h 434979"/>
                  <a:gd name="connsiteX11" fmla="*/ 83010 w 220247"/>
                  <a:gd name="connsiteY11" fmla="*/ 125316 h 434979"/>
                  <a:gd name="connsiteX12" fmla="*/ 39611 w 220247"/>
                  <a:gd name="connsiteY12" fmla="*/ 270764 h 434979"/>
                  <a:gd name="connsiteX13" fmla="*/ 71280 w 220247"/>
                  <a:gd name="connsiteY13" fmla="*/ 270764 h 434979"/>
                  <a:gd name="connsiteX14" fmla="*/ 71280 w 220247"/>
                  <a:gd name="connsiteY14" fmla="*/ 434979 h 434979"/>
                  <a:gd name="connsiteX15" fmla="*/ 118199 w 220247"/>
                  <a:gd name="connsiteY15" fmla="*/ 434979 h 434979"/>
                  <a:gd name="connsiteX16" fmla="*/ 118199 w 220247"/>
                  <a:gd name="connsiteY16" fmla="*/ 270764 h 434979"/>
                  <a:gd name="connsiteX17" fmla="*/ 141658 w 220247"/>
                  <a:gd name="connsiteY17" fmla="*/ 270764 h 434979"/>
                  <a:gd name="connsiteX18" fmla="*/ 141658 w 220247"/>
                  <a:gd name="connsiteY18" fmla="*/ 434979 h 434979"/>
                  <a:gd name="connsiteX19" fmla="*/ 188577 w 220247"/>
                  <a:gd name="connsiteY19" fmla="*/ 434979 h 434979"/>
                  <a:gd name="connsiteX20" fmla="*/ 188577 w 220247"/>
                  <a:gd name="connsiteY20" fmla="*/ 270764 h 434979"/>
                  <a:gd name="connsiteX21" fmla="*/ 220247 w 220247"/>
                  <a:gd name="connsiteY21" fmla="*/ 270764 h 434979"/>
                  <a:gd name="connsiteX22" fmla="*/ 176847 w 220247"/>
                  <a:gd name="connsiteY22" fmla="*/ 125316 h 434979"/>
                  <a:gd name="connsiteX23" fmla="*/ 176847 w 220247"/>
                  <a:gd name="connsiteY23" fmla="*/ 84263 h 434979"/>
                  <a:gd name="connsiteX0" fmla="*/ 176847 w 220247"/>
                  <a:gd name="connsiteY0" fmla="*/ 125316 h 434979"/>
                  <a:gd name="connsiteX1" fmla="*/ 156907 w 220247"/>
                  <a:gd name="connsiteY1" fmla="*/ 15058 h 434979"/>
                  <a:gd name="connsiteX2" fmla="*/ 129929 w 220247"/>
                  <a:gd name="connsiteY2" fmla="*/ 12712 h 434979"/>
                  <a:gd name="connsiteX3" fmla="*/ 102950 w 220247"/>
                  <a:gd name="connsiteY3" fmla="*/ 15058 h 434979"/>
                  <a:gd name="connsiteX4" fmla="*/ 53686 w 220247"/>
                  <a:gd name="connsiteY4" fmla="*/ 34998 h 434979"/>
                  <a:gd name="connsiteX5" fmla="*/ 44302 w 220247"/>
                  <a:gd name="connsiteY5" fmla="*/ 47901 h 434979"/>
                  <a:gd name="connsiteX6" fmla="*/ 903 w 220247"/>
                  <a:gd name="connsiteY6" fmla="*/ 193348 h 434979"/>
                  <a:gd name="connsiteX7" fmla="*/ 17324 w 220247"/>
                  <a:gd name="connsiteY7" fmla="*/ 222672 h 434979"/>
                  <a:gd name="connsiteX8" fmla="*/ 24362 w 220247"/>
                  <a:gd name="connsiteY8" fmla="*/ 223845 h 434979"/>
                  <a:gd name="connsiteX9" fmla="*/ 46648 w 220247"/>
                  <a:gd name="connsiteY9" fmla="*/ 207424 h 434979"/>
                  <a:gd name="connsiteX10" fmla="*/ 83010 w 220247"/>
                  <a:gd name="connsiteY10" fmla="*/ 84263 h 434979"/>
                  <a:gd name="connsiteX11" fmla="*/ 83010 w 220247"/>
                  <a:gd name="connsiteY11" fmla="*/ 125316 h 434979"/>
                  <a:gd name="connsiteX12" fmla="*/ 39611 w 220247"/>
                  <a:gd name="connsiteY12" fmla="*/ 270764 h 434979"/>
                  <a:gd name="connsiteX13" fmla="*/ 71280 w 220247"/>
                  <a:gd name="connsiteY13" fmla="*/ 270764 h 434979"/>
                  <a:gd name="connsiteX14" fmla="*/ 71280 w 220247"/>
                  <a:gd name="connsiteY14" fmla="*/ 434979 h 434979"/>
                  <a:gd name="connsiteX15" fmla="*/ 118199 w 220247"/>
                  <a:gd name="connsiteY15" fmla="*/ 434979 h 434979"/>
                  <a:gd name="connsiteX16" fmla="*/ 118199 w 220247"/>
                  <a:gd name="connsiteY16" fmla="*/ 270764 h 434979"/>
                  <a:gd name="connsiteX17" fmla="*/ 141658 w 220247"/>
                  <a:gd name="connsiteY17" fmla="*/ 270764 h 434979"/>
                  <a:gd name="connsiteX18" fmla="*/ 141658 w 220247"/>
                  <a:gd name="connsiteY18" fmla="*/ 434979 h 434979"/>
                  <a:gd name="connsiteX19" fmla="*/ 188577 w 220247"/>
                  <a:gd name="connsiteY19" fmla="*/ 434979 h 434979"/>
                  <a:gd name="connsiteX20" fmla="*/ 188577 w 220247"/>
                  <a:gd name="connsiteY20" fmla="*/ 270764 h 434979"/>
                  <a:gd name="connsiteX21" fmla="*/ 220247 w 220247"/>
                  <a:gd name="connsiteY21" fmla="*/ 270764 h 434979"/>
                  <a:gd name="connsiteX22" fmla="*/ 176847 w 220247"/>
                  <a:gd name="connsiteY22" fmla="*/ 125316 h 434979"/>
                  <a:gd name="connsiteX0" fmla="*/ 176847 w 220247"/>
                  <a:gd name="connsiteY0" fmla="*/ 112604 h 422267"/>
                  <a:gd name="connsiteX1" fmla="*/ 129929 w 220247"/>
                  <a:gd name="connsiteY1" fmla="*/ 0 h 422267"/>
                  <a:gd name="connsiteX2" fmla="*/ 102950 w 220247"/>
                  <a:gd name="connsiteY2" fmla="*/ 2346 h 422267"/>
                  <a:gd name="connsiteX3" fmla="*/ 53686 w 220247"/>
                  <a:gd name="connsiteY3" fmla="*/ 22286 h 422267"/>
                  <a:gd name="connsiteX4" fmla="*/ 44302 w 220247"/>
                  <a:gd name="connsiteY4" fmla="*/ 35189 h 422267"/>
                  <a:gd name="connsiteX5" fmla="*/ 903 w 220247"/>
                  <a:gd name="connsiteY5" fmla="*/ 180636 h 422267"/>
                  <a:gd name="connsiteX6" fmla="*/ 17324 w 220247"/>
                  <a:gd name="connsiteY6" fmla="*/ 209960 h 422267"/>
                  <a:gd name="connsiteX7" fmla="*/ 24362 w 220247"/>
                  <a:gd name="connsiteY7" fmla="*/ 211133 h 422267"/>
                  <a:gd name="connsiteX8" fmla="*/ 46648 w 220247"/>
                  <a:gd name="connsiteY8" fmla="*/ 194712 h 422267"/>
                  <a:gd name="connsiteX9" fmla="*/ 83010 w 220247"/>
                  <a:gd name="connsiteY9" fmla="*/ 71551 h 422267"/>
                  <a:gd name="connsiteX10" fmla="*/ 83010 w 220247"/>
                  <a:gd name="connsiteY10" fmla="*/ 112604 h 422267"/>
                  <a:gd name="connsiteX11" fmla="*/ 39611 w 220247"/>
                  <a:gd name="connsiteY11" fmla="*/ 258052 h 422267"/>
                  <a:gd name="connsiteX12" fmla="*/ 71280 w 220247"/>
                  <a:gd name="connsiteY12" fmla="*/ 258052 h 422267"/>
                  <a:gd name="connsiteX13" fmla="*/ 71280 w 220247"/>
                  <a:gd name="connsiteY13" fmla="*/ 422267 h 422267"/>
                  <a:gd name="connsiteX14" fmla="*/ 118199 w 220247"/>
                  <a:gd name="connsiteY14" fmla="*/ 422267 h 422267"/>
                  <a:gd name="connsiteX15" fmla="*/ 118199 w 220247"/>
                  <a:gd name="connsiteY15" fmla="*/ 258052 h 422267"/>
                  <a:gd name="connsiteX16" fmla="*/ 141658 w 220247"/>
                  <a:gd name="connsiteY16" fmla="*/ 258052 h 422267"/>
                  <a:gd name="connsiteX17" fmla="*/ 141658 w 220247"/>
                  <a:gd name="connsiteY17" fmla="*/ 422267 h 422267"/>
                  <a:gd name="connsiteX18" fmla="*/ 188577 w 220247"/>
                  <a:gd name="connsiteY18" fmla="*/ 422267 h 422267"/>
                  <a:gd name="connsiteX19" fmla="*/ 188577 w 220247"/>
                  <a:gd name="connsiteY19" fmla="*/ 258052 h 422267"/>
                  <a:gd name="connsiteX20" fmla="*/ 220247 w 220247"/>
                  <a:gd name="connsiteY20" fmla="*/ 258052 h 422267"/>
                  <a:gd name="connsiteX21" fmla="*/ 176847 w 220247"/>
                  <a:gd name="connsiteY21" fmla="*/ 112604 h 422267"/>
                  <a:gd name="connsiteX0" fmla="*/ 220247 w 220247"/>
                  <a:gd name="connsiteY0" fmla="*/ 258052 h 422267"/>
                  <a:gd name="connsiteX1" fmla="*/ 129929 w 220247"/>
                  <a:gd name="connsiteY1" fmla="*/ 0 h 422267"/>
                  <a:gd name="connsiteX2" fmla="*/ 102950 w 220247"/>
                  <a:gd name="connsiteY2" fmla="*/ 2346 h 422267"/>
                  <a:gd name="connsiteX3" fmla="*/ 53686 w 220247"/>
                  <a:gd name="connsiteY3" fmla="*/ 22286 h 422267"/>
                  <a:gd name="connsiteX4" fmla="*/ 44302 w 220247"/>
                  <a:gd name="connsiteY4" fmla="*/ 35189 h 422267"/>
                  <a:gd name="connsiteX5" fmla="*/ 903 w 220247"/>
                  <a:gd name="connsiteY5" fmla="*/ 180636 h 422267"/>
                  <a:gd name="connsiteX6" fmla="*/ 17324 w 220247"/>
                  <a:gd name="connsiteY6" fmla="*/ 209960 h 422267"/>
                  <a:gd name="connsiteX7" fmla="*/ 24362 w 220247"/>
                  <a:gd name="connsiteY7" fmla="*/ 211133 h 422267"/>
                  <a:gd name="connsiteX8" fmla="*/ 46648 w 220247"/>
                  <a:gd name="connsiteY8" fmla="*/ 194712 h 422267"/>
                  <a:gd name="connsiteX9" fmla="*/ 83010 w 220247"/>
                  <a:gd name="connsiteY9" fmla="*/ 71551 h 422267"/>
                  <a:gd name="connsiteX10" fmla="*/ 83010 w 220247"/>
                  <a:gd name="connsiteY10" fmla="*/ 112604 h 422267"/>
                  <a:gd name="connsiteX11" fmla="*/ 39611 w 220247"/>
                  <a:gd name="connsiteY11" fmla="*/ 258052 h 422267"/>
                  <a:gd name="connsiteX12" fmla="*/ 71280 w 220247"/>
                  <a:gd name="connsiteY12" fmla="*/ 258052 h 422267"/>
                  <a:gd name="connsiteX13" fmla="*/ 71280 w 220247"/>
                  <a:gd name="connsiteY13" fmla="*/ 422267 h 422267"/>
                  <a:gd name="connsiteX14" fmla="*/ 118199 w 220247"/>
                  <a:gd name="connsiteY14" fmla="*/ 422267 h 422267"/>
                  <a:gd name="connsiteX15" fmla="*/ 118199 w 220247"/>
                  <a:gd name="connsiteY15" fmla="*/ 258052 h 422267"/>
                  <a:gd name="connsiteX16" fmla="*/ 141658 w 220247"/>
                  <a:gd name="connsiteY16" fmla="*/ 258052 h 422267"/>
                  <a:gd name="connsiteX17" fmla="*/ 141658 w 220247"/>
                  <a:gd name="connsiteY17" fmla="*/ 422267 h 422267"/>
                  <a:gd name="connsiteX18" fmla="*/ 188577 w 220247"/>
                  <a:gd name="connsiteY18" fmla="*/ 422267 h 422267"/>
                  <a:gd name="connsiteX19" fmla="*/ 188577 w 220247"/>
                  <a:gd name="connsiteY19" fmla="*/ 258052 h 422267"/>
                  <a:gd name="connsiteX20" fmla="*/ 220247 w 220247"/>
                  <a:gd name="connsiteY20" fmla="*/ 258052 h 422267"/>
                  <a:gd name="connsiteX0" fmla="*/ 188577 w 188577"/>
                  <a:gd name="connsiteY0" fmla="*/ 258052 h 422267"/>
                  <a:gd name="connsiteX1" fmla="*/ 129929 w 188577"/>
                  <a:gd name="connsiteY1" fmla="*/ 0 h 422267"/>
                  <a:gd name="connsiteX2" fmla="*/ 102950 w 188577"/>
                  <a:gd name="connsiteY2" fmla="*/ 2346 h 422267"/>
                  <a:gd name="connsiteX3" fmla="*/ 53686 w 188577"/>
                  <a:gd name="connsiteY3" fmla="*/ 22286 h 422267"/>
                  <a:gd name="connsiteX4" fmla="*/ 44302 w 188577"/>
                  <a:gd name="connsiteY4" fmla="*/ 35189 h 422267"/>
                  <a:gd name="connsiteX5" fmla="*/ 903 w 188577"/>
                  <a:gd name="connsiteY5" fmla="*/ 180636 h 422267"/>
                  <a:gd name="connsiteX6" fmla="*/ 17324 w 188577"/>
                  <a:gd name="connsiteY6" fmla="*/ 209960 h 422267"/>
                  <a:gd name="connsiteX7" fmla="*/ 24362 w 188577"/>
                  <a:gd name="connsiteY7" fmla="*/ 211133 h 422267"/>
                  <a:gd name="connsiteX8" fmla="*/ 46648 w 188577"/>
                  <a:gd name="connsiteY8" fmla="*/ 194712 h 422267"/>
                  <a:gd name="connsiteX9" fmla="*/ 83010 w 188577"/>
                  <a:gd name="connsiteY9" fmla="*/ 71551 h 422267"/>
                  <a:gd name="connsiteX10" fmla="*/ 83010 w 188577"/>
                  <a:gd name="connsiteY10" fmla="*/ 112604 h 422267"/>
                  <a:gd name="connsiteX11" fmla="*/ 39611 w 188577"/>
                  <a:gd name="connsiteY11" fmla="*/ 258052 h 422267"/>
                  <a:gd name="connsiteX12" fmla="*/ 71280 w 188577"/>
                  <a:gd name="connsiteY12" fmla="*/ 258052 h 422267"/>
                  <a:gd name="connsiteX13" fmla="*/ 71280 w 188577"/>
                  <a:gd name="connsiteY13" fmla="*/ 422267 h 422267"/>
                  <a:gd name="connsiteX14" fmla="*/ 118199 w 188577"/>
                  <a:gd name="connsiteY14" fmla="*/ 422267 h 422267"/>
                  <a:gd name="connsiteX15" fmla="*/ 118199 w 188577"/>
                  <a:gd name="connsiteY15" fmla="*/ 258052 h 422267"/>
                  <a:gd name="connsiteX16" fmla="*/ 141658 w 188577"/>
                  <a:gd name="connsiteY16" fmla="*/ 258052 h 422267"/>
                  <a:gd name="connsiteX17" fmla="*/ 141658 w 188577"/>
                  <a:gd name="connsiteY17" fmla="*/ 422267 h 422267"/>
                  <a:gd name="connsiteX18" fmla="*/ 188577 w 188577"/>
                  <a:gd name="connsiteY18" fmla="*/ 422267 h 422267"/>
                  <a:gd name="connsiteX19" fmla="*/ 188577 w 188577"/>
                  <a:gd name="connsiteY19" fmla="*/ 258052 h 422267"/>
                  <a:gd name="connsiteX0" fmla="*/ 188577 w 188577"/>
                  <a:gd name="connsiteY0" fmla="*/ 422267 h 422267"/>
                  <a:gd name="connsiteX1" fmla="*/ 129929 w 188577"/>
                  <a:gd name="connsiteY1" fmla="*/ 0 h 422267"/>
                  <a:gd name="connsiteX2" fmla="*/ 102950 w 188577"/>
                  <a:gd name="connsiteY2" fmla="*/ 2346 h 422267"/>
                  <a:gd name="connsiteX3" fmla="*/ 53686 w 188577"/>
                  <a:gd name="connsiteY3" fmla="*/ 22286 h 422267"/>
                  <a:gd name="connsiteX4" fmla="*/ 44302 w 188577"/>
                  <a:gd name="connsiteY4" fmla="*/ 35189 h 422267"/>
                  <a:gd name="connsiteX5" fmla="*/ 903 w 188577"/>
                  <a:gd name="connsiteY5" fmla="*/ 180636 h 422267"/>
                  <a:gd name="connsiteX6" fmla="*/ 17324 w 188577"/>
                  <a:gd name="connsiteY6" fmla="*/ 209960 h 422267"/>
                  <a:gd name="connsiteX7" fmla="*/ 24362 w 188577"/>
                  <a:gd name="connsiteY7" fmla="*/ 211133 h 422267"/>
                  <a:gd name="connsiteX8" fmla="*/ 46648 w 188577"/>
                  <a:gd name="connsiteY8" fmla="*/ 194712 h 422267"/>
                  <a:gd name="connsiteX9" fmla="*/ 83010 w 188577"/>
                  <a:gd name="connsiteY9" fmla="*/ 71551 h 422267"/>
                  <a:gd name="connsiteX10" fmla="*/ 83010 w 188577"/>
                  <a:gd name="connsiteY10" fmla="*/ 112604 h 422267"/>
                  <a:gd name="connsiteX11" fmla="*/ 39611 w 188577"/>
                  <a:gd name="connsiteY11" fmla="*/ 258052 h 422267"/>
                  <a:gd name="connsiteX12" fmla="*/ 71280 w 188577"/>
                  <a:gd name="connsiteY12" fmla="*/ 258052 h 422267"/>
                  <a:gd name="connsiteX13" fmla="*/ 71280 w 188577"/>
                  <a:gd name="connsiteY13" fmla="*/ 422267 h 422267"/>
                  <a:gd name="connsiteX14" fmla="*/ 118199 w 188577"/>
                  <a:gd name="connsiteY14" fmla="*/ 422267 h 422267"/>
                  <a:gd name="connsiteX15" fmla="*/ 118199 w 188577"/>
                  <a:gd name="connsiteY15" fmla="*/ 258052 h 422267"/>
                  <a:gd name="connsiteX16" fmla="*/ 141658 w 188577"/>
                  <a:gd name="connsiteY16" fmla="*/ 258052 h 422267"/>
                  <a:gd name="connsiteX17" fmla="*/ 141658 w 188577"/>
                  <a:gd name="connsiteY17" fmla="*/ 422267 h 422267"/>
                  <a:gd name="connsiteX18" fmla="*/ 188577 w 188577"/>
                  <a:gd name="connsiteY18" fmla="*/ 422267 h 422267"/>
                  <a:gd name="connsiteX0" fmla="*/ 141658 w 141658"/>
                  <a:gd name="connsiteY0" fmla="*/ 422267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17" fmla="*/ 141658 w 141658"/>
                  <a:gd name="connsiteY17" fmla="*/ 422267 h 422267"/>
                  <a:gd name="connsiteX0" fmla="*/ 141658 w 141658"/>
                  <a:gd name="connsiteY0" fmla="*/ 258052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0" fmla="*/ 141658 w 141658"/>
                  <a:gd name="connsiteY0" fmla="*/ 258052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0" fmla="*/ 141658 w 141658"/>
                  <a:gd name="connsiteY0" fmla="*/ 258052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0" fmla="*/ 141658 w 141658"/>
                  <a:gd name="connsiteY0" fmla="*/ 258052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0" fmla="*/ 134515 w 134515"/>
                  <a:gd name="connsiteY0" fmla="*/ 258052 h 422267"/>
                  <a:gd name="connsiteX1" fmla="*/ 129929 w 134515"/>
                  <a:gd name="connsiteY1" fmla="*/ 0 h 422267"/>
                  <a:gd name="connsiteX2" fmla="*/ 102950 w 134515"/>
                  <a:gd name="connsiteY2" fmla="*/ 2346 h 422267"/>
                  <a:gd name="connsiteX3" fmla="*/ 53686 w 134515"/>
                  <a:gd name="connsiteY3" fmla="*/ 22286 h 422267"/>
                  <a:gd name="connsiteX4" fmla="*/ 44302 w 134515"/>
                  <a:gd name="connsiteY4" fmla="*/ 35189 h 422267"/>
                  <a:gd name="connsiteX5" fmla="*/ 903 w 134515"/>
                  <a:gd name="connsiteY5" fmla="*/ 180636 h 422267"/>
                  <a:gd name="connsiteX6" fmla="*/ 17324 w 134515"/>
                  <a:gd name="connsiteY6" fmla="*/ 209960 h 422267"/>
                  <a:gd name="connsiteX7" fmla="*/ 24362 w 134515"/>
                  <a:gd name="connsiteY7" fmla="*/ 211133 h 422267"/>
                  <a:gd name="connsiteX8" fmla="*/ 46648 w 134515"/>
                  <a:gd name="connsiteY8" fmla="*/ 194712 h 422267"/>
                  <a:gd name="connsiteX9" fmla="*/ 83010 w 134515"/>
                  <a:gd name="connsiteY9" fmla="*/ 71551 h 422267"/>
                  <a:gd name="connsiteX10" fmla="*/ 83010 w 134515"/>
                  <a:gd name="connsiteY10" fmla="*/ 112604 h 422267"/>
                  <a:gd name="connsiteX11" fmla="*/ 39611 w 134515"/>
                  <a:gd name="connsiteY11" fmla="*/ 258052 h 422267"/>
                  <a:gd name="connsiteX12" fmla="*/ 71280 w 134515"/>
                  <a:gd name="connsiteY12" fmla="*/ 258052 h 422267"/>
                  <a:gd name="connsiteX13" fmla="*/ 71280 w 134515"/>
                  <a:gd name="connsiteY13" fmla="*/ 422267 h 422267"/>
                  <a:gd name="connsiteX14" fmla="*/ 118199 w 134515"/>
                  <a:gd name="connsiteY14" fmla="*/ 422267 h 422267"/>
                  <a:gd name="connsiteX15" fmla="*/ 118199 w 134515"/>
                  <a:gd name="connsiteY15" fmla="*/ 258052 h 422267"/>
                  <a:gd name="connsiteX16" fmla="*/ 134515 w 134515"/>
                  <a:gd name="connsiteY16" fmla="*/ 258052 h 422267"/>
                  <a:gd name="connsiteX0" fmla="*/ 127371 w 130090"/>
                  <a:gd name="connsiteY0" fmla="*/ 258052 h 422267"/>
                  <a:gd name="connsiteX1" fmla="*/ 129929 w 130090"/>
                  <a:gd name="connsiteY1" fmla="*/ 0 h 422267"/>
                  <a:gd name="connsiteX2" fmla="*/ 102950 w 130090"/>
                  <a:gd name="connsiteY2" fmla="*/ 2346 h 422267"/>
                  <a:gd name="connsiteX3" fmla="*/ 53686 w 130090"/>
                  <a:gd name="connsiteY3" fmla="*/ 22286 h 422267"/>
                  <a:gd name="connsiteX4" fmla="*/ 44302 w 130090"/>
                  <a:gd name="connsiteY4" fmla="*/ 35189 h 422267"/>
                  <a:gd name="connsiteX5" fmla="*/ 903 w 130090"/>
                  <a:gd name="connsiteY5" fmla="*/ 180636 h 422267"/>
                  <a:gd name="connsiteX6" fmla="*/ 17324 w 130090"/>
                  <a:gd name="connsiteY6" fmla="*/ 209960 h 422267"/>
                  <a:gd name="connsiteX7" fmla="*/ 24362 w 130090"/>
                  <a:gd name="connsiteY7" fmla="*/ 211133 h 422267"/>
                  <a:gd name="connsiteX8" fmla="*/ 46648 w 130090"/>
                  <a:gd name="connsiteY8" fmla="*/ 194712 h 422267"/>
                  <a:gd name="connsiteX9" fmla="*/ 83010 w 130090"/>
                  <a:gd name="connsiteY9" fmla="*/ 71551 h 422267"/>
                  <a:gd name="connsiteX10" fmla="*/ 83010 w 130090"/>
                  <a:gd name="connsiteY10" fmla="*/ 112604 h 422267"/>
                  <a:gd name="connsiteX11" fmla="*/ 39611 w 130090"/>
                  <a:gd name="connsiteY11" fmla="*/ 258052 h 422267"/>
                  <a:gd name="connsiteX12" fmla="*/ 71280 w 130090"/>
                  <a:gd name="connsiteY12" fmla="*/ 258052 h 422267"/>
                  <a:gd name="connsiteX13" fmla="*/ 71280 w 130090"/>
                  <a:gd name="connsiteY13" fmla="*/ 422267 h 422267"/>
                  <a:gd name="connsiteX14" fmla="*/ 118199 w 130090"/>
                  <a:gd name="connsiteY14" fmla="*/ 422267 h 422267"/>
                  <a:gd name="connsiteX15" fmla="*/ 118199 w 130090"/>
                  <a:gd name="connsiteY15" fmla="*/ 258052 h 422267"/>
                  <a:gd name="connsiteX16" fmla="*/ 127371 w 130090"/>
                  <a:gd name="connsiteY16" fmla="*/ 258052 h 422267"/>
                  <a:gd name="connsiteX0" fmla="*/ 127371 w 130090"/>
                  <a:gd name="connsiteY0" fmla="*/ 258052 h 422267"/>
                  <a:gd name="connsiteX1" fmla="*/ 129929 w 130090"/>
                  <a:gd name="connsiteY1" fmla="*/ 0 h 422267"/>
                  <a:gd name="connsiteX2" fmla="*/ 102950 w 130090"/>
                  <a:gd name="connsiteY2" fmla="*/ 2346 h 422267"/>
                  <a:gd name="connsiteX3" fmla="*/ 53686 w 130090"/>
                  <a:gd name="connsiteY3" fmla="*/ 22286 h 422267"/>
                  <a:gd name="connsiteX4" fmla="*/ 44302 w 130090"/>
                  <a:gd name="connsiteY4" fmla="*/ 35189 h 422267"/>
                  <a:gd name="connsiteX5" fmla="*/ 903 w 130090"/>
                  <a:gd name="connsiteY5" fmla="*/ 180636 h 422267"/>
                  <a:gd name="connsiteX6" fmla="*/ 17324 w 130090"/>
                  <a:gd name="connsiteY6" fmla="*/ 209960 h 422267"/>
                  <a:gd name="connsiteX7" fmla="*/ 24362 w 130090"/>
                  <a:gd name="connsiteY7" fmla="*/ 211133 h 422267"/>
                  <a:gd name="connsiteX8" fmla="*/ 46648 w 130090"/>
                  <a:gd name="connsiteY8" fmla="*/ 194712 h 422267"/>
                  <a:gd name="connsiteX9" fmla="*/ 83010 w 130090"/>
                  <a:gd name="connsiteY9" fmla="*/ 71551 h 422267"/>
                  <a:gd name="connsiteX10" fmla="*/ 83010 w 130090"/>
                  <a:gd name="connsiteY10" fmla="*/ 112604 h 422267"/>
                  <a:gd name="connsiteX11" fmla="*/ 39611 w 130090"/>
                  <a:gd name="connsiteY11" fmla="*/ 258052 h 422267"/>
                  <a:gd name="connsiteX12" fmla="*/ 71280 w 130090"/>
                  <a:gd name="connsiteY12" fmla="*/ 258052 h 422267"/>
                  <a:gd name="connsiteX13" fmla="*/ 71280 w 130090"/>
                  <a:gd name="connsiteY13" fmla="*/ 422267 h 422267"/>
                  <a:gd name="connsiteX14" fmla="*/ 118199 w 130090"/>
                  <a:gd name="connsiteY14" fmla="*/ 422267 h 422267"/>
                  <a:gd name="connsiteX15" fmla="*/ 118199 w 130090"/>
                  <a:gd name="connsiteY15" fmla="*/ 258052 h 422267"/>
                  <a:gd name="connsiteX16" fmla="*/ 127371 w 130090"/>
                  <a:gd name="connsiteY16" fmla="*/ 258052 h 422267"/>
                  <a:gd name="connsiteX0" fmla="*/ 127371 w 130373"/>
                  <a:gd name="connsiteY0" fmla="*/ 258052 h 422267"/>
                  <a:gd name="connsiteX1" fmla="*/ 129929 w 130373"/>
                  <a:gd name="connsiteY1" fmla="*/ 0 h 422267"/>
                  <a:gd name="connsiteX2" fmla="*/ 102950 w 130373"/>
                  <a:gd name="connsiteY2" fmla="*/ 2346 h 422267"/>
                  <a:gd name="connsiteX3" fmla="*/ 53686 w 130373"/>
                  <a:gd name="connsiteY3" fmla="*/ 22286 h 422267"/>
                  <a:gd name="connsiteX4" fmla="*/ 44302 w 130373"/>
                  <a:gd name="connsiteY4" fmla="*/ 35189 h 422267"/>
                  <a:gd name="connsiteX5" fmla="*/ 903 w 130373"/>
                  <a:gd name="connsiteY5" fmla="*/ 180636 h 422267"/>
                  <a:gd name="connsiteX6" fmla="*/ 17324 w 130373"/>
                  <a:gd name="connsiteY6" fmla="*/ 209960 h 422267"/>
                  <a:gd name="connsiteX7" fmla="*/ 24362 w 130373"/>
                  <a:gd name="connsiteY7" fmla="*/ 211133 h 422267"/>
                  <a:gd name="connsiteX8" fmla="*/ 46648 w 130373"/>
                  <a:gd name="connsiteY8" fmla="*/ 194712 h 422267"/>
                  <a:gd name="connsiteX9" fmla="*/ 83010 w 130373"/>
                  <a:gd name="connsiteY9" fmla="*/ 71551 h 422267"/>
                  <a:gd name="connsiteX10" fmla="*/ 83010 w 130373"/>
                  <a:gd name="connsiteY10" fmla="*/ 112604 h 422267"/>
                  <a:gd name="connsiteX11" fmla="*/ 39611 w 130373"/>
                  <a:gd name="connsiteY11" fmla="*/ 258052 h 422267"/>
                  <a:gd name="connsiteX12" fmla="*/ 71280 w 130373"/>
                  <a:gd name="connsiteY12" fmla="*/ 258052 h 422267"/>
                  <a:gd name="connsiteX13" fmla="*/ 71280 w 130373"/>
                  <a:gd name="connsiteY13" fmla="*/ 422267 h 422267"/>
                  <a:gd name="connsiteX14" fmla="*/ 118199 w 130373"/>
                  <a:gd name="connsiteY14" fmla="*/ 422267 h 422267"/>
                  <a:gd name="connsiteX15" fmla="*/ 118199 w 130373"/>
                  <a:gd name="connsiteY15" fmla="*/ 258052 h 422267"/>
                  <a:gd name="connsiteX16" fmla="*/ 127371 w 130373"/>
                  <a:gd name="connsiteY16" fmla="*/ 258052 h 422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0373" h="422267">
                    <a:moveTo>
                      <a:pt x="127371" y="258052"/>
                    </a:moveTo>
                    <a:cubicBezTo>
                      <a:pt x="128650" y="129026"/>
                      <a:pt x="131458" y="102686"/>
                      <a:pt x="129929" y="0"/>
                    </a:cubicBezTo>
                    <a:cubicBezTo>
                      <a:pt x="116439" y="1173"/>
                      <a:pt x="112334" y="1173"/>
                      <a:pt x="102950" y="2346"/>
                    </a:cubicBezTo>
                    <a:cubicBezTo>
                      <a:pt x="84183" y="5865"/>
                      <a:pt x="67762" y="12903"/>
                      <a:pt x="53686" y="22286"/>
                    </a:cubicBezTo>
                    <a:cubicBezTo>
                      <a:pt x="48994" y="25805"/>
                      <a:pt x="45475" y="29324"/>
                      <a:pt x="44302" y="35189"/>
                    </a:cubicBezTo>
                    <a:lnTo>
                      <a:pt x="903" y="180636"/>
                    </a:lnTo>
                    <a:cubicBezTo>
                      <a:pt x="-2616" y="193539"/>
                      <a:pt x="4422" y="206441"/>
                      <a:pt x="17324" y="209960"/>
                    </a:cubicBezTo>
                    <a:cubicBezTo>
                      <a:pt x="19670" y="211133"/>
                      <a:pt x="22016" y="211133"/>
                      <a:pt x="24362" y="211133"/>
                    </a:cubicBezTo>
                    <a:cubicBezTo>
                      <a:pt x="34919" y="211133"/>
                      <a:pt x="44302" y="204095"/>
                      <a:pt x="46648" y="194712"/>
                    </a:cubicBezTo>
                    <a:lnTo>
                      <a:pt x="83010" y="71551"/>
                    </a:lnTo>
                    <a:lnTo>
                      <a:pt x="83010" y="112604"/>
                    </a:lnTo>
                    <a:lnTo>
                      <a:pt x="39611" y="258052"/>
                    </a:lnTo>
                    <a:lnTo>
                      <a:pt x="71280" y="258052"/>
                    </a:lnTo>
                    <a:lnTo>
                      <a:pt x="71280" y="422267"/>
                    </a:lnTo>
                    <a:lnTo>
                      <a:pt x="118199" y="422267"/>
                    </a:lnTo>
                    <a:lnTo>
                      <a:pt x="118199" y="258052"/>
                    </a:lnTo>
                    <a:lnTo>
                      <a:pt x="127371" y="258052"/>
                    </a:lnTo>
                    <a:close/>
                  </a:path>
                </a:pathLst>
              </a:custGeom>
              <a:solidFill>
                <a:schemeClr val="bg1"/>
              </a:solidFill>
              <a:ln w="5854" cap="flat">
                <a:solidFill>
                  <a:schemeClr val="accent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1853840-852D-413F-94C8-84B3E221A00B}"/>
              </a:ext>
            </a:extLst>
          </p:cNvPr>
          <p:cNvGrpSpPr/>
          <p:nvPr/>
        </p:nvGrpSpPr>
        <p:grpSpPr>
          <a:xfrm>
            <a:off x="3977255" y="5324888"/>
            <a:ext cx="1329465" cy="413328"/>
            <a:chOff x="3977255" y="5324888"/>
            <a:chExt cx="1329465" cy="413328"/>
          </a:xfrm>
        </p:grpSpPr>
        <p:pic>
          <p:nvPicPr>
            <p:cNvPr id="430" name="Graphic 429" descr="Woman with solid fill">
              <a:extLst>
                <a:ext uri="{FF2B5EF4-FFF2-40B4-BE49-F238E27FC236}">
                  <a16:creationId xmlns:a16="http://schemas.microsoft.com/office/drawing/2014/main" id="{E9531594-9529-4336-9AA1-84329967D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001896" y="5325504"/>
              <a:ext cx="404028" cy="412712"/>
            </a:xfrm>
            <a:prstGeom prst="rect">
              <a:avLst/>
            </a:prstGeom>
          </p:spPr>
        </p:pic>
        <p:pic>
          <p:nvPicPr>
            <p:cNvPr id="431" name="Graphic 430" descr="Woman with solid fill">
              <a:extLst>
                <a:ext uri="{FF2B5EF4-FFF2-40B4-BE49-F238E27FC236}">
                  <a16:creationId xmlns:a16="http://schemas.microsoft.com/office/drawing/2014/main" id="{6457CB94-6C2C-4C77-B5D0-3D474A188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227649" y="5324888"/>
              <a:ext cx="404028" cy="412712"/>
            </a:xfrm>
            <a:prstGeom prst="rect">
              <a:avLst/>
            </a:prstGeom>
          </p:spPr>
        </p:pic>
        <p:pic>
          <p:nvPicPr>
            <p:cNvPr id="432" name="Graphic 431" descr="Woman with solid fill">
              <a:extLst>
                <a:ext uri="{FF2B5EF4-FFF2-40B4-BE49-F238E27FC236}">
                  <a16:creationId xmlns:a16="http://schemas.microsoft.com/office/drawing/2014/main" id="{99D006BC-9B78-4226-83C1-730746740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452633" y="5325502"/>
              <a:ext cx="404028" cy="412712"/>
            </a:xfrm>
            <a:prstGeom prst="rect">
              <a:avLst/>
            </a:prstGeom>
          </p:spPr>
        </p:pic>
        <p:pic>
          <p:nvPicPr>
            <p:cNvPr id="433" name="Graphic 432" descr="Woman with solid fill">
              <a:extLst>
                <a:ext uri="{FF2B5EF4-FFF2-40B4-BE49-F238E27FC236}">
                  <a16:creationId xmlns:a16="http://schemas.microsoft.com/office/drawing/2014/main" id="{B94FDCA8-52C3-436A-A8BC-4CC43C07E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77493" y="5325504"/>
              <a:ext cx="404028" cy="412712"/>
            </a:xfrm>
            <a:prstGeom prst="rect">
              <a:avLst/>
            </a:prstGeom>
          </p:spPr>
        </p:pic>
        <p:pic>
          <p:nvPicPr>
            <p:cNvPr id="434" name="Graphic 433" descr="Woman with solid fill">
              <a:extLst>
                <a:ext uri="{FF2B5EF4-FFF2-40B4-BE49-F238E27FC236}">
                  <a16:creationId xmlns:a16="http://schemas.microsoft.com/office/drawing/2014/main" id="{0E221B4A-BCB9-4CD2-B839-1A80EC228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02692" y="5325504"/>
              <a:ext cx="404028" cy="412712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FBF431F-2829-4E80-B90D-E0A2D9018AE3}"/>
                </a:ext>
              </a:extLst>
            </p:cNvPr>
            <p:cNvGrpSpPr/>
            <p:nvPr/>
          </p:nvGrpSpPr>
          <p:grpSpPr>
            <a:xfrm>
              <a:off x="3977255" y="5336793"/>
              <a:ext cx="95212" cy="388747"/>
              <a:chOff x="3980874" y="5337318"/>
              <a:chExt cx="95212" cy="388747"/>
            </a:xfrm>
          </p:grpSpPr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3F663035-B359-49FC-AC81-BBE809ADD151}"/>
                  </a:ext>
                </a:extLst>
              </p:cNvPr>
              <p:cNvSpPr/>
              <p:nvPr/>
            </p:nvSpPr>
            <p:spPr>
              <a:xfrm flipH="1">
                <a:off x="3980874" y="5337318"/>
                <a:ext cx="35313" cy="70276"/>
              </a:xfrm>
              <a:custGeom>
                <a:avLst/>
                <a:gdLst>
                  <a:gd name="connsiteX0" fmla="*/ 93837 w 93837"/>
                  <a:gd name="connsiteY0" fmla="*/ 46919 h 93837"/>
                  <a:gd name="connsiteX1" fmla="*/ 46918 w 93837"/>
                  <a:gd name="connsiteY1" fmla="*/ 93837 h 93837"/>
                  <a:gd name="connsiteX2" fmla="*/ 0 w 93837"/>
                  <a:gd name="connsiteY2" fmla="*/ 46919 h 93837"/>
                  <a:gd name="connsiteX3" fmla="*/ 46918 w 93837"/>
                  <a:gd name="connsiteY3" fmla="*/ 0 h 93837"/>
                  <a:gd name="connsiteX4" fmla="*/ 93837 w 93837"/>
                  <a:gd name="connsiteY4" fmla="*/ 46919 h 93837"/>
                  <a:gd name="connsiteX0" fmla="*/ 48593 w 51009"/>
                  <a:gd name="connsiteY0" fmla="*/ 56522 h 94044"/>
                  <a:gd name="connsiteX1" fmla="*/ 46918 w 51009"/>
                  <a:gd name="connsiteY1" fmla="*/ 93915 h 94044"/>
                  <a:gd name="connsiteX2" fmla="*/ 0 w 51009"/>
                  <a:gd name="connsiteY2" fmla="*/ 46997 h 94044"/>
                  <a:gd name="connsiteX3" fmla="*/ 46918 w 51009"/>
                  <a:gd name="connsiteY3" fmla="*/ 78 h 94044"/>
                  <a:gd name="connsiteX4" fmla="*/ 48593 w 51009"/>
                  <a:gd name="connsiteY4" fmla="*/ 56522 h 94044"/>
                  <a:gd name="connsiteX0" fmla="*/ 48593 w 51009"/>
                  <a:gd name="connsiteY0" fmla="*/ 56522 h 94044"/>
                  <a:gd name="connsiteX1" fmla="*/ 46918 w 51009"/>
                  <a:gd name="connsiteY1" fmla="*/ 93915 h 94044"/>
                  <a:gd name="connsiteX2" fmla="*/ 0 w 51009"/>
                  <a:gd name="connsiteY2" fmla="*/ 46997 h 94044"/>
                  <a:gd name="connsiteX3" fmla="*/ 46918 w 51009"/>
                  <a:gd name="connsiteY3" fmla="*/ 78 h 94044"/>
                  <a:gd name="connsiteX4" fmla="*/ 48593 w 51009"/>
                  <a:gd name="connsiteY4" fmla="*/ 56522 h 94044"/>
                  <a:gd name="connsiteX0" fmla="*/ 48593 w 51009"/>
                  <a:gd name="connsiteY0" fmla="*/ 56624 h 94146"/>
                  <a:gd name="connsiteX1" fmla="*/ 46918 w 51009"/>
                  <a:gd name="connsiteY1" fmla="*/ 94017 h 94146"/>
                  <a:gd name="connsiteX2" fmla="*/ 0 w 51009"/>
                  <a:gd name="connsiteY2" fmla="*/ 47099 h 94146"/>
                  <a:gd name="connsiteX3" fmla="*/ 46918 w 51009"/>
                  <a:gd name="connsiteY3" fmla="*/ 180 h 94146"/>
                  <a:gd name="connsiteX4" fmla="*/ 48593 w 51009"/>
                  <a:gd name="connsiteY4" fmla="*/ 56624 h 94146"/>
                  <a:gd name="connsiteX0" fmla="*/ 48593 w 51009"/>
                  <a:gd name="connsiteY0" fmla="*/ 56624 h 94146"/>
                  <a:gd name="connsiteX1" fmla="*/ 46918 w 51009"/>
                  <a:gd name="connsiteY1" fmla="*/ 94017 h 94146"/>
                  <a:gd name="connsiteX2" fmla="*/ 0 w 51009"/>
                  <a:gd name="connsiteY2" fmla="*/ 47099 h 94146"/>
                  <a:gd name="connsiteX3" fmla="*/ 46918 w 51009"/>
                  <a:gd name="connsiteY3" fmla="*/ 180 h 94146"/>
                  <a:gd name="connsiteX4" fmla="*/ 48593 w 51009"/>
                  <a:gd name="connsiteY4" fmla="*/ 56624 h 94146"/>
                  <a:gd name="connsiteX0" fmla="*/ 46918 w 52783"/>
                  <a:gd name="connsiteY0" fmla="*/ 2034 h 95871"/>
                  <a:gd name="connsiteX1" fmla="*/ 46918 w 52783"/>
                  <a:gd name="connsiteY1" fmla="*/ 95871 h 95871"/>
                  <a:gd name="connsiteX2" fmla="*/ 0 w 52783"/>
                  <a:gd name="connsiteY2" fmla="*/ 48953 h 95871"/>
                  <a:gd name="connsiteX3" fmla="*/ 46918 w 52783"/>
                  <a:gd name="connsiteY3" fmla="*/ 2034 h 95871"/>
                  <a:gd name="connsiteX0" fmla="*/ 46918 w 52783"/>
                  <a:gd name="connsiteY0" fmla="*/ 2034 h 95871"/>
                  <a:gd name="connsiteX1" fmla="*/ 46918 w 52783"/>
                  <a:gd name="connsiteY1" fmla="*/ 95871 h 95871"/>
                  <a:gd name="connsiteX2" fmla="*/ 0 w 52783"/>
                  <a:gd name="connsiteY2" fmla="*/ 48953 h 95871"/>
                  <a:gd name="connsiteX3" fmla="*/ 46918 w 52783"/>
                  <a:gd name="connsiteY3" fmla="*/ 2034 h 95871"/>
                  <a:gd name="connsiteX0" fmla="*/ 46918 w 51176"/>
                  <a:gd name="connsiteY0" fmla="*/ 2034 h 95871"/>
                  <a:gd name="connsiteX1" fmla="*/ 46918 w 51176"/>
                  <a:gd name="connsiteY1" fmla="*/ 95871 h 95871"/>
                  <a:gd name="connsiteX2" fmla="*/ 0 w 51176"/>
                  <a:gd name="connsiteY2" fmla="*/ 48953 h 95871"/>
                  <a:gd name="connsiteX3" fmla="*/ 46918 w 51176"/>
                  <a:gd name="connsiteY3" fmla="*/ 2034 h 95871"/>
                  <a:gd name="connsiteX0" fmla="*/ 46918 w 51176"/>
                  <a:gd name="connsiteY0" fmla="*/ 2034 h 95871"/>
                  <a:gd name="connsiteX1" fmla="*/ 46918 w 51176"/>
                  <a:gd name="connsiteY1" fmla="*/ 95871 h 95871"/>
                  <a:gd name="connsiteX2" fmla="*/ 0 w 51176"/>
                  <a:gd name="connsiteY2" fmla="*/ 48953 h 95871"/>
                  <a:gd name="connsiteX3" fmla="*/ 46918 w 51176"/>
                  <a:gd name="connsiteY3" fmla="*/ 2034 h 95871"/>
                  <a:gd name="connsiteX0" fmla="*/ 46918 w 49210"/>
                  <a:gd name="connsiteY0" fmla="*/ 2034 h 95871"/>
                  <a:gd name="connsiteX1" fmla="*/ 46918 w 49210"/>
                  <a:gd name="connsiteY1" fmla="*/ 95871 h 95871"/>
                  <a:gd name="connsiteX2" fmla="*/ 0 w 49210"/>
                  <a:gd name="connsiteY2" fmla="*/ 48953 h 95871"/>
                  <a:gd name="connsiteX3" fmla="*/ 46918 w 49210"/>
                  <a:gd name="connsiteY3" fmla="*/ 2034 h 95871"/>
                  <a:gd name="connsiteX0" fmla="*/ 46918 w 49210"/>
                  <a:gd name="connsiteY0" fmla="*/ 2034 h 95871"/>
                  <a:gd name="connsiteX1" fmla="*/ 46918 w 49210"/>
                  <a:gd name="connsiteY1" fmla="*/ 95871 h 95871"/>
                  <a:gd name="connsiteX2" fmla="*/ 0 w 49210"/>
                  <a:gd name="connsiteY2" fmla="*/ 48953 h 95871"/>
                  <a:gd name="connsiteX3" fmla="*/ 46918 w 49210"/>
                  <a:gd name="connsiteY3" fmla="*/ 2034 h 95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210" h="95871">
                    <a:moveTo>
                      <a:pt x="46918" y="2034"/>
                    </a:moveTo>
                    <a:cubicBezTo>
                      <a:pt x="49975" y="38429"/>
                      <a:pt x="49975" y="52332"/>
                      <a:pt x="46918" y="95871"/>
                    </a:cubicBezTo>
                    <a:cubicBezTo>
                      <a:pt x="38819" y="94284"/>
                      <a:pt x="2381" y="92133"/>
                      <a:pt x="0" y="48953"/>
                    </a:cubicBezTo>
                    <a:cubicBezTo>
                      <a:pt x="0" y="8752"/>
                      <a:pt x="39098" y="-5786"/>
                      <a:pt x="46918" y="2034"/>
                    </a:cubicBezTo>
                    <a:close/>
                  </a:path>
                </a:pathLst>
              </a:custGeom>
              <a:solidFill>
                <a:schemeClr val="bg1"/>
              </a:solidFill>
              <a:ln w="5854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60CCDDE1-534F-4CFE-8933-8B3B7EDCE45F}"/>
                  </a:ext>
                </a:extLst>
              </p:cNvPr>
              <p:cNvSpPr/>
              <p:nvPr/>
            </p:nvSpPr>
            <p:spPr>
              <a:xfrm flipH="1">
                <a:off x="3982530" y="5416531"/>
                <a:ext cx="93556" cy="309534"/>
              </a:xfrm>
              <a:custGeom>
                <a:avLst/>
                <a:gdLst>
                  <a:gd name="connsiteX0" fmla="*/ 257782 w 258690"/>
                  <a:gd name="connsiteY0" fmla="*/ 180636 h 422266"/>
                  <a:gd name="connsiteX1" fmla="*/ 215555 w 258690"/>
                  <a:gd name="connsiteY1" fmla="*/ 35189 h 422266"/>
                  <a:gd name="connsiteX2" fmla="*/ 206171 w 258690"/>
                  <a:gd name="connsiteY2" fmla="*/ 22286 h 422266"/>
                  <a:gd name="connsiteX3" fmla="*/ 156907 w 258690"/>
                  <a:gd name="connsiteY3" fmla="*/ 2346 h 422266"/>
                  <a:gd name="connsiteX4" fmla="*/ 129929 w 258690"/>
                  <a:gd name="connsiteY4" fmla="*/ 0 h 422266"/>
                  <a:gd name="connsiteX5" fmla="*/ 102950 w 258690"/>
                  <a:gd name="connsiteY5" fmla="*/ 2346 h 422266"/>
                  <a:gd name="connsiteX6" fmla="*/ 53686 w 258690"/>
                  <a:gd name="connsiteY6" fmla="*/ 22286 h 422266"/>
                  <a:gd name="connsiteX7" fmla="*/ 44302 w 258690"/>
                  <a:gd name="connsiteY7" fmla="*/ 35189 h 422266"/>
                  <a:gd name="connsiteX8" fmla="*/ 903 w 258690"/>
                  <a:gd name="connsiteY8" fmla="*/ 180636 h 422266"/>
                  <a:gd name="connsiteX9" fmla="*/ 17324 w 258690"/>
                  <a:gd name="connsiteY9" fmla="*/ 209960 h 422266"/>
                  <a:gd name="connsiteX10" fmla="*/ 24362 w 258690"/>
                  <a:gd name="connsiteY10" fmla="*/ 211133 h 422266"/>
                  <a:gd name="connsiteX11" fmla="*/ 46648 w 258690"/>
                  <a:gd name="connsiteY11" fmla="*/ 194712 h 422266"/>
                  <a:gd name="connsiteX12" fmla="*/ 83010 w 258690"/>
                  <a:gd name="connsiteY12" fmla="*/ 71551 h 422266"/>
                  <a:gd name="connsiteX13" fmla="*/ 83010 w 258690"/>
                  <a:gd name="connsiteY13" fmla="*/ 112604 h 422266"/>
                  <a:gd name="connsiteX14" fmla="*/ 39611 w 258690"/>
                  <a:gd name="connsiteY14" fmla="*/ 258052 h 422266"/>
                  <a:gd name="connsiteX15" fmla="*/ 71280 w 258690"/>
                  <a:gd name="connsiteY15" fmla="*/ 258052 h 422266"/>
                  <a:gd name="connsiteX16" fmla="*/ 71280 w 258690"/>
                  <a:gd name="connsiteY16" fmla="*/ 422267 h 422266"/>
                  <a:gd name="connsiteX17" fmla="*/ 118199 w 258690"/>
                  <a:gd name="connsiteY17" fmla="*/ 422267 h 422266"/>
                  <a:gd name="connsiteX18" fmla="*/ 118199 w 258690"/>
                  <a:gd name="connsiteY18" fmla="*/ 258052 h 422266"/>
                  <a:gd name="connsiteX19" fmla="*/ 141658 w 258690"/>
                  <a:gd name="connsiteY19" fmla="*/ 258052 h 422266"/>
                  <a:gd name="connsiteX20" fmla="*/ 141658 w 258690"/>
                  <a:gd name="connsiteY20" fmla="*/ 422267 h 422266"/>
                  <a:gd name="connsiteX21" fmla="*/ 188577 w 258690"/>
                  <a:gd name="connsiteY21" fmla="*/ 422267 h 422266"/>
                  <a:gd name="connsiteX22" fmla="*/ 188577 w 258690"/>
                  <a:gd name="connsiteY22" fmla="*/ 258052 h 422266"/>
                  <a:gd name="connsiteX23" fmla="*/ 220247 w 258690"/>
                  <a:gd name="connsiteY23" fmla="*/ 258052 h 422266"/>
                  <a:gd name="connsiteX24" fmla="*/ 176847 w 258690"/>
                  <a:gd name="connsiteY24" fmla="*/ 112604 h 422266"/>
                  <a:gd name="connsiteX25" fmla="*/ 176847 w 258690"/>
                  <a:gd name="connsiteY25" fmla="*/ 71551 h 422266"/>
                  <a:gd name="connsiteX26" fmla="*/ 213209 w 258690"/>
                  <a:gd name="connsiteY26" fmla="*/ 194712 h 422266"/>
                  <a:gd name="connsiteX27" fmla="*/ 235495 w 258690"/>
                  <a:gd name="connsiteY27" fmla="*/ 211133 h 422266"/>
                  <a:gd name="connsiteX28" fmla="*/ 242533 w 258690"/>
                  <a:gd name="connsiteY28" fmla="*/ 209960 h 422266"/>
                  <a:gd name="connsiteX29" fmla="*/ 257782 w 258690"/>
                  <a:gd name="connsiteY29" fmla="*/ 180636 h 422266"/>
                  <a:gd name="connsiteX0" fmla="*/ 257782 w 258690"/>
                  <a:gd name="connsiteY0" fmla="*/ 180636 h 422267"/>
                  <a:gd name="connsiteX1" fmla="*/ 206171 w 258690"/>
                  <a:gd name="connsiteY1" fmla="*/ 22286 h 422267"/>
                  <a:gd name="connsiteX2" fmla="*/ 156907 w 258690"/>
                  <a:gd name="connsiteY2" fmla="*/ 2346 h 422267"/>
                  <a:gd name="connsiteX3" fmla="*/ 129929 w 258690"/>
                  <a:gd name="connsiteY3" fmla="*/ 0 h 422267"/>
                  <a:gd name="connsiteX4" fmla="*/ 102950 w 258690"/>
                  <a:gd name="connsiteY4" fmla="*/ 2346 h 422267"/>
                  <a:gd name="connsiteX5" fmla="*/ 53686 w 258690"/>
                  <a:gd name="connsiteY5" fmla="*/ 22286 h 422267"/>
                  <a:gd name="connsiteX6" fmla="*/ 44302 w 258690"/>
                  <a:gd name="connsiteY6" fmla="*/ 35189 h 422267"/>
                  <a:gd name="connsiteX7" fmla="*/ 903 w 258690"/>
                  <a:gd name="connsiteY7" fmla="*/ 180636 h 422267"/>
                  <a:gd name="connsiteX8" fmla="*/ 17324 w 258690"/>
                  <a:gd name="connsiteY8" fmla="*/ 209960 h 422267"/>
                  <a:gd name="connsiteX9" fmla="*/ 24362 w 258690"/>
                  <a:gd name="connsiteY9" fmla="*/ 211133 h 422267"/>
                  <a:gd name="connsiteX10" fmla="*/ 46648 w 258690"/>
                  <a:gd name="connsiteY10" fmla="*/ 194712 h 422267"/>
                  <a:gd name="connsiteX11" fmla="*/ 83010 w 258690"/>
                  <a:gd name="connsiteY11" fmla="*/ 71551 h 422267"/>
                  <a:gd name="connsiteX12" fmla="*/ 83010 w 258690"/>
                  <a:gd name="connsiteY12" fmla="*/ 112604 h 422267"/>
                  <a:gd name="connsiteX13" fmla="*/ 39611 w 258690"/>
                  <a:gd name="connsiteY13" fmla="*/ 258052 h 422267"/>
                  <a:gd name="connsiteX14" fmla="*/ 71280 w 258690"/>
                  <a:gd name="connsiteY14" fmla="*/ 258052 h 422267"/>
                  <a:gd name="connsiteX15" fmla="*/ 71280 w 258690"/>
                  <a:gd name="connsiteY15" fmla="*/ 422267 h 422267"/>
                  <a:gd name="connsiteX16" fmla="*/ 118199 w 258690"/>
                  <a:gd name="connsiteY16" fmla="*/ 422267 h 422267"/>
                  <a:gd name="connsiteX17" fmla="*/ 118199 w 258690"/>
                  <a:gd name="connsiteY17" fmla="*/ 258052 h 422267"/>
                  <a:gd name="connsiteX18" fmla="*/ 141658 w 258690"/>
                  <a:gd name="connsiteY18" fmla="*/ 258052 h 422267"/>
                  <a:gd name="connsiteX19" fmla="*/ 141658 w 258690"/>
                  <a:gd name="connsiteY19" fmla="*/ 422267 h 422267"/>
                  <a:gd name="connsiteX20" fmla="*/ 188577 w 258690"/>
                  <a:gd name="connsiteY20" fmla="*/ 422267 h 422267"/>
                  <a:gd name="connsiteX21" fmla="*/ 188577 w 258690"/>
                  <a:gd name="connsiteY21" fmla="*/ 258052 h 422267"/>
                  <a:gd name="connsiteX22" fmla="*/ 220247 w 258690"/>
                  <a:gd name="connsiteY22" fmla="*/ 258052 h 422267"/>
                  <a:gd name="connsiteX23" fmla="*/ 176847 w 258690"/>
                  <a:gd name="connsiteY23" fmla="*/ 112604 h 422267"/>
                  <a:gd name="connsiteX24" fmla="*/ 176847 w 258690"/>
                  <a:gd name="connsiteY24" fmla="*/ 71551 h 422267"/>
                  <a:gd name="connsiteX25" fmla="*/ 213209 w 258690"/>
                  <a:gd name="connsiteY25" fmla="*/ 194712 h 422267"/>
                  <a:gd name="connsiteX26" fmla="*/ 235495 w 258690"/>
                  <a:gd name="connsiteY26" fmla="*/ 211133 h 422267"/>
                  <a:gd name="connsiteX27" fmla="*/ 242533 w 258690"/>
                  <a:gd name="connsiteY27" fmla="*/ 209960 h 422267"/>
                  <a:gd name="connsiteX28" fmla="*/ 257782 w 258690"/>
                  <a:gd name="connsiteY28" fmla="*/ 180636 h 422267"/>
                  <a:gd name="connsiteX0" fmla="*/ 257782 w 258690"/>
                  <a:gd name="connsiteY0" fmla="*/ 180636 h 422267"/>
                  <a:gd name="connsiteX1" fmla="*/ 156907 w 258690"/>
                  <a:gd name="connsiteY1" fmla="*/ 2346 h 422267"/>
                  <a:gd name="connsiteX2" fmla="*/ 129929 w 258690"/>
                  <a:gd name="connsiteY2" fmla="*/ 0 h 422267"/>
                  <a:gd name="connsiteX3" fmla="*/ 102950 w 258690"/>
                  <a:gd name="connsiteY3" fmla="*/ 2346 h 422267"/>
                  <a:gd name="connsiteX4" fmla="*/ 53686 w 258690"/>
                  <a:gd name="connsiteY4" fmla="*/ 22286 h 422267"/>
                  <a:gd name="connsiteX5" fmla="*/ 44302 w 258690"/>
                  <a:gd name="connsiteY5" fmla="*/ 35189 h 422267"/>
                  <a:gd name="connsiteX6" fmla="*/ 903 w 258690"/>
                  <a:gd name="connsiteY6" fmla="*/ 180636 h 422267"/>
                  <a:gd name="connsiteX7" fmla="*/ 17324 w 258690"/>
                  <a:gd name="connsiteY7" fmla="*/ 209960 h 422267"/>
                  <a:gd name="connsiteX8" fmla="*/ 24362 w 258690"/>
                  <a:gd name="connsiteY8" fmla="*/ 211133 h 422267"/>
                  <a:gd name="connsiteX9" fmla="*/ 46648 w 258690"/>
                  <a:gd name="connsiteY9" fmla="*/ 194712 h 422267"/>
                  <a:gd name="connsiteX10" fmla="*/ 83010 w 258690"/>
                  <a:gd name="connsiteY10" fmla="*/ 71551 h 422267"/>
                  <a:gd name="connsiteX11" fmla="*/ 83010 w 258690"/>
                  <a:gd name="connsiteY11" fmla="*/ 112604 h 422267"/>
                  <a:gd name="connsiteX12" fmla="*/ 39611 w 258690"/>
                  <a:gd name="connsiteY12" fmla="*/ 258052 h 422267"/>
                  <a:gd name="connsiteX13" fmla="*/ 71280 w 258690"/>
                  <a:gd name="connsiteY13" fmla="*/ 258052 h 422267"/>
                  <a:gd name="connsiteX14" fmla="*/ 71280 w 258690"/>
                  <a:gd name="connsiteY14" fmla="*/ 422267 h 422267"/>
                  <a:gd name="connsiteX15" fmla="*/ 118199 w 258690"/>
                  <a:gd name="connsiteY15" fmla="*/ 422267 h 422267"/>
                  <a:gd name="connsiteX16" fmla="*/ 118199 w 258690"/>
                  <a:gd name="connsiteY16" fmla="*/ 258052 h 422267"/>
                  <a:gd name="connsiteX17" fmla="*/ 141658 w 258690"/>
                  <a:gd name="connsiteY17" fmla="*/ 258052 h 422267"/>
                  <a:gd name="connsiteX18" fmla="*/ 141658 w 258690"/>
                  <a:gd name="connsiteY18" fmla="*/ 422267 h 422267"/>
                  <a:gd name="connsiteX19" fmla="*/ 188577 w 258690"/>
                  <a:gd name="connsiteY19" fmla="*/ 422267 h 422267"/>
                  <a:gd name="connsiteX20" fmla="*/ 188577 w 258690"/>
                  <a:gd name="connsiteY20" fmla="*/ 258052 h 422267"/>
                  <a:gd name="connsiteX21" fmla="*/ 220247 w 258690"/>
                  <a:gd name="connsiteY21" fmla="*/ 258052 h 422267"/>
                  <a:gd name="connsiteX22" fmla="*/ 176847 w 258690"/>
                  <a:gd name="connsiteY22" fmla="*/ 112604 h 422267"/>
                  <a:gd name="connsiteX23" fmla="*/ 176847 w 258690"/>
                  <a:gd name="connsiteY23" fmla="*/ 71551 h 422267"/>
                  <a:gd name="connsiteX24" fmla="*/ 213209 w 258690"/>
                  <a:gd name="connsiteY24" fmla="*/ 194712 h 422267"/>
                  <a:gd name="connsiteX25" fmla="*/ 235495 w 258690"/>
                  <a:gd name="connsiteY25" fmla="*/ 211133 h 422267"/>
                  <a:gd name="connsiteX26" fmla="*/ 242533 w 258690"/>
                  <a:gd name="connsiteY26" fmla="*/ 209960 h 422267"/>
                  <a:gd name="connsiteX27" fmla="*/ 257782 w 258690"/>
                  <a:gd name="connsiteY27" fmla="*/ 180636 h 422267"/>
                  <a:gd name="connsiteX0" fmla="*/ 242533 w 242533"/>
                  <a:gd name="connsiteY0" fmla="*/ 223798 h 436105"/>
                  <a:gd name="connsiteX1" fmla="*/ 156907 w 242533"/>
                  <a:gd name="connsiteY1" fmla="*/ 16184 h 436105"/>
                  <a:gd name="connsiteX2" fmla="*/ 129929 w 242533"/>
                  <a:gd name="connsiteY2" fmla="*/ 13838 h 436105"/>
                  <a:gd name="connsiteX3" fmla="*/ 102950 w 242533"/>
                  <a:gd name="connsiteY3" fmla="*/ 16184 h 436105"/>
                  <a:gd name="connsiteX4" fmla="*/ 53686 w 242533"/>
                  <a:gd name="connsiteY4" fmla="*/ 36124 h 436105"/>
                  <a:gd name="connsiteX5" fmla="*/ 44302 w 242533"/>
                  <a:gd name="connsiteY5" fmla="*/ 49027 h 436105"/>
                  <a:gd name="connsiteX6" fmla="*/ 903 w 242533"/>
                  <a:gd name="connsiteY6" fmla="*/ 194474 h 436105"/>
                  <a:gd name="connsiteX7" fmla="*/ 17324 w 242533"/>
                  <a:gd name="connsiteY7" fmla="*/ 223798 h 436105"/>
                  <a:gd name="connsiteX8" fmla="*/ 24362 w 242533"/>
                  <a:gd name="connsiteY8" fmla="*/ 224971 h 436105"/>
                  <a:gd name="connsiteX9" fmla="*/ 46648 w 242533"/>
                  <a:gd name="connsiteY9" fmla="*/ 208550 h 436105"/>
                  <a:gd name="connsiteX10" fmla="*/ 83010 w 242533"/>
                  <a:gd name="connsiteY10" fmla="*/ 85389 h 436105"/>
                  <a:gd name="connsiteX11" fmla="*/ 83010 w 242533"/>
                  <a:gd name="connsiteY11" fmla="*/ 126442 h 436105"/>
                  <a:gd name="connsiteX12" fmla="*/ 39611 w 242533"/>
                  <a:gd name="connsiteY12" fmla="*/ 271890 h 436105"/>
                  <a:gd name="connsiteX13" fmla="*/ 71280 w 242533"/>
                  <a:gd name="connsiteY13" fmla="*/ 271890 h 436105"/>
                  <a:gd name="connsiteX14" fmla="*/ 71280 w 242533"/>
                  <a:gd name="connsiteY14" fmla="*/ 436105 h 436105"/>
                  <a:gd name="connsiteX15" fmla="*/ 118199 w 242533"/>
                  <a:gd name="connsiteY15" fmla="*/ 436105 h 436105"/>
                  <a:gd name="connsiteX16" fmla="*/ 118199 w 242533"/>
                  <a:gd name="connsiteY16" fmla="*/ 271890 h 436105"/>
                  <a:gd name="connsiteX17" fmla="*/ 141658 w 242533"/>
                  <a:gd name="connsiteY17" fmla="*/ 271890 h 436105"/>
                  <a:gd name="connsiteX18" fmla="*/ 141658 w 242533"/>
                  <a:gd name="connsiteY18" fmla="*/ 436105 h 436105"/>
                  <a:gd name="connsiteX19" fmla="*/ 188577 w 242533"/>
                  <a:gd name="connsiteY19" fmla="*/ 436105 h 436105"/>
                  <a:gd name="connsiteX20" fmla="*/ 188577 w 242533"/>
                  <a:gd name="connsiteY20" fmla="*/ 271890 h 436105"/>
                  <a:gd name="connsiteX21" fmla="*/ 220247 w 242533"/>
                  <a:gd name="connsiteY21" fmla="*/ 271890 h 436105"/>
                  <a:gd name="connsiteX22" fmla="*/ 176847 w 242533"/>
                  <a:gd name="connsiteY22" fmla="*/ 126442 h 436105"/>
                  <a:gd name="connsiteX23" fmla="*/ 176847 w 242533"/>
                  <a:gd name="connsiteY23" fmla="*/ 85389 h 436105"/>
                  <a:gd name="connsiteX24" fmla="*/ 213209 w 242533"/>
                  <a:gd name="connsiteY24" fmla="*/ 208550 h 436105"/>
                  <a:gd name="connsiteX25" fmla="*/ 235495 w 242533"/>
                  <a:gd name="connsiteY25" fmla="*/ 224971 h 436105"/>
                  <a:gd name="connsiteX26" fmla="*/ 242533 w 242533"/>
                  <a:gd name="connsiteY26" fmla="*/ 223798 h 436105"/>
                  <a:gd name="connsiteX0" fmla="*/ 235495 w 235495"/>
                  <a:gd name="connsiteY0" fmla="*/ 225058 h 436192"/>
                  <a:gd name="connsiteX1" fmla="*/ 156907 w 235495"/>
                  <a:gd name="connsiteY1" fmla="*/ 16271 h 436192"/>
                  <a:gd name="connsiteX2" fmla="*/ 129929 w 235495"/>
                  <a:gd name="connsiteY2" fmla="*/ 13925 h 436192"/>
                  <a:gd name="connsiteX3" fmla="*/ 102950 w 235495"/>
                  <a:gd name="connsiteY3" fmla="*/ 16271 h 436192"/>
                  <a:gd name="connsiteX4" fmla="*/ 53686 w 235495"/>
                  <a:gd name="connsiteY4" fmla="*/ 36211 h 436192"/>
                  <a:gd name="connsiteX5" fmla="*/ 44302 w 235495"/>
                  <a:gd name="connsiteY5" fmla="*/ 49114 h 436192"/>
                  <a:gd name="connsiteX6" fmla="*/ 903 w 235495"/>
                  <a:gd name="connsiteY6" fmla="*/ 194561 h 436192"/>
                  <a:gd name="connsiteX7" fmla="*/ 17324 w 235495"/>
                  <a:gd name="connsiteY7" fmla="*/ 223885 h 436192"/>
                  <a:gd name="connsiteX8" fmla="*/ 24362 w 235495"/>
                  <a:gd name="connsiteY8" fmla="*/ 225058 h 436192"/>
                  <a:gd name="connsiteX9" fmla="*/ 46648 w 235495"/>
                  <a:gd name="connsiteY9" fmla="*/ 208637 h 436192"/>
                  <a:gd name="connsiteX10" fmla="*/ 83010 w 235495"/>
                  <a:gd name="connsiteY10" fmla="*/ 85476 h 436192"/>
                  <a:gd name="connsiteX11" fmla="*/ 83010 w 235495"/>
                  <a:gd name="connsiteY11" fmla="*/ 126529 h 436192"/>
                  <a:gd name="connsiteX12" fmla="*/ 39611 w 235495"/>
                  <a:gd name="connsiteY12" fmla="*/ 271977 h 436192"/>
                  <a:gd name="connsiteX13" fmla="*/ 71280 w 235495"/>
                  <a:gd name="connsiteY13" fmla="*/ 271977 h 436192"/>
                  <a:gd name="connsiteX14" fmla="*/ 71280 w 235495"/>
                  <a:gd name="connsiteY14" fmla="*/ 436192 h 436192"/>
                  <a:gd name="connsiteX15" fmla="*/ 118199 w 235495"/>
                  <a:gd name="connsiteY15" fmla="*/ 436192 h 436192"/>
                  <a:gd name="connsiteX16" fmla="*/ 118199 w 235495"/>
                  <a:gd name="connsiteY16" fmla="*/ 271977 h 436192"/>
                  <a:gd name="connsiteX17" fmla="*/ 141658 w 235495"/>
                  <a:gd name="connsiteY17" fmla="*/ 271977 h 436192"/>
                  <a:gd name="connsiteX18" fmla="*/ 141658 w 235495"/>
                  <a:gd name="connsiteY18" fmla="*/ 436192 h 436192"/>
                  <a:gd name="connsiteX19" fmla="*/ 188577 w 235495"/>
                  <a:gd name="connsiteY19" fmla="*/ 436192 h 436192"/>
                  <a:gd name="connsiteX20" fmla="*/ 188577 w 235495"/>
                  <a:gd name="connsiteY20" fmla="*/ 271977 h 436192"/>
                  <a:gd name="connsiteX21" fmla="*/ 220247 w 235495"/>
                  <a:gd name="connsiteY21" fmla="*/ 271977 h 436192"/>
                  <a:gd name="connsiteX22" fmla="*/ 176847 w 235495"/>
                  <a:gd name="connsiteY22" fmla="*/ 126529 h 436192"/>
                  <a:gd name="connsiteX23" fmla="*/ 176847 w 235495"/>
                  <a:gd name="connsiteY23" fmla="*/ 85476 h 436192"/>
                  <a:gd name="connsiteX24" fmla="*/ 213209 w 235495"/>
                  <a:gd name="connsiteY24" fmla="*/ 208637 h 436192"/>
                  <a:gd name="connsiteX25" fmla="*/ 235495 w 235495"/>
                  <a:gd name="connsiteY25" fmla="*/ 225058 h 436192"/>
                  <a:gd name="connsiteX0" fmla="*/ 213209 w 220247"/>
                  <a:gd name="connsiteY0" fmla="*/ 207424 h 434979"/>
                  <a:gd name="connsiteX1" fmla="*/ 156907 w 220247"/>
                  <a:gd name="connsiteY1" fmla="*/ 15058 h 434979"/>
                  <a:gd name="connsiteX2" fmla="*/ 129929 w 220247"/>
                  <a:gd name="connsiteY2" fmla="*/ 12712 h 434979"/>
                  <a:gd name="connsiteX3" fmla="*/ 102950 w 220247"/>
                  <a:gd name="connsiteY3" fmla="*/ 15058 h 434979"/>
                  <a:gd name="connsiteX4" fmla="*/ 53686 w 220247"/>
                  <a:gd name="connsiteY4" fmla="*/ 34998 h 434979"/>
                  <a:gd name="connsiteX5" fmla="*/ 44302 w 220247"/>
                  <a:gd name="connsiteY5" fmla="*/ 47901 h 434979"/>
                  <a:gd name="connsiteX6" fmla="*/ 903 w 220247"/>
                  <a:gd name="connsiteY6" fmla="*/ 193348 h 434979"/>
                  <a:gd name="connsiteX7" fmla="*/ 17324 w 220247"/>
                  <a:gd name="connsiteY7" fmla="*/ 222672 h 434979"/>
                  <a:gd name="connsiteX8" fmla="*/ 24362 w 220247"/>
                  <a:gd name="connsiteY8" fmla="*/ 223845 h 434979"/>
                  <a:gd name="connsiteX9" fmla="*/ 46648 w 220247"/>
                  <a:gd name="connsiteY9" fmla="*/ 207424 h 434979"/>
                  <a:gd name="connsiteX10" fmla="*/ 83010 w 220247"/>
                  <a:gd name="connsiteY10" fmla="*/ 84263 h 434979"/>
                  <a:gd name="connsiteX11" fmla="*/ 83010 w 220247"/>
                  <a:gd name="connsiteY11" fmla="*/ 125316 h 434979"/>
                  <a:gd name="connsiteX12" fmla="*/ 39611 w 220247"/>
                  <a:gd name="connsiteY12" fmla="*/ 270764 h 434979"/>
                  <a:gd name="connsiteX13" fmla="*/ 71280 w 220247"/>
                  <a:gd name="connsiteY13" fmla="*/ 270764 h 434979"/>
                  <a:gd name="connsiteX14" fmla="*/ 71280 w 220247"/>
                  <a:gd name="connsiteY14" fmla="*/ 434979 h 434979"/>
                  <a:gd name="connsiteX15" fmla="*/ 118199 w 220247"/>
                  <a:gd name="connsiteY15" fmla="*/ 434979 h 434979"/>
                  <a:gd name="connsiteX16" fmla="*/ 118199 w 220247"/>
                  <a:gd name="connsiteY16" fmla="*/ 270764 h 434979"/>
                  <a:gd name="connsiteX17" fmla="*/ 141658 w 220247"/>
                  <a:gd name="connsiteY17" fmla="*/ 270764 h 434979"/>
                  <a:gd name="connsiteX18" fmla="*/ 141658 w 220247"/>
                  <a:gd name="connsiteY18" fmla="*/ 434979 h 434979"/>
                  <a:gd name="connsiteX19" fmla="*/ 188577 w 220247"/>
                  <a:gd name="connsiteY19" fmla="*/ 434979 h 434979"/>
                  <a:gd name="connsiteX20" fmla="*/ 188577 w 220247"/>
                  <a:gd name="connsiteY20" fmla="*/ 270764 h 434979"/>
                  <a:gd name="connsiteX21" fmla="*/ 220247 w 220247"/>
                  <a:gd name="connsiteY21" fmla="*/ 270764 h 434979"/>
                  <a:gd name="connsiteX22" fmla="*/ 176847 w 220247"/>
                  <a:gd name="connsiteY22" fmla="*/ 125316 h 434979"/>
                  <a:gd name="connsiteX23" fmla="*/ 176847 w 220247"/>
                  <a:gd name="connsiteY23" fmla="*/ 84263 h 434979"/>
                  <a:gd name="connsiteX24" fmla="*/ 213209 w 220247"/>
                  <a:gd name="connsiteY24" fmla="*/ 207424 h 434979"/>
                  <a:gd name="connsiteX0" fmla="*/ 176847 w 220247"/>
                  <a:gd name="connsiteY0" fmla="*/ 84263 h 434979"/>
                  <a:gd name="connsiteX1" fmla="*/ 156907 w 220247"/>
                  <a:gd name="connsiteY1" fmla="*/ 15058 h 434979"/>
                  <a:gd name="connsiteX2" fmla="*/ 129929 w 220247"/>
                  <a:gd name="connsiteY2" fmla="*/ 12712 h 434979"/>
                  <a:gd name="connsiteX3" fmla="*/ 102950 w 220247"/>
                  <a:gd name="connsiteY3" fmla="*/ 15058 h 434979"/>
                  <a:gd name="connsiteX4" fmla="*/ 53686 w 220247"/>
                  <a:gd name="connsiteY4" fmla="*/ 34998 h 434979"/>
                  <a:gd name="connsiteX5" fmla="*/ 44302 w 220247"/>
                  <a:gd name="connsiteY5" fmla="*/ 47901 h 434979"/>
                  <a:gd name="connsiteX6" fmla="*/ 903 w 220247"/>
                  <a:gd name="connsiteY6" fmla="*/ 193348 h 434979"/>
                  <a:gd name="connsiteX7" fmla="*/ 17324 w 220247"/>
                  <a:gd name="connsiteY7" fmla="*/ 222672 h 434979"/>
                  <a:gd name="connsiteX8" fmla="*/ 24362 w 220247"/>
                  <a:gd name="connsiteY8" fmla="*/ 223845 h 434979"/>
                  <a:gd name="connsiteX9" fmla="*/ 46648 w 220247"/>
                  <a:gd name="connsiteY9" fmla="*/ 207424 h 434979"/>
                  <a:gd name="connsiteX10" fmla="*/ 83010 w 220247"/>
                  <a:gd name="connsiteY10" fmla="*/ 84263 h 434979"/>
                  <a:gd name="connsiteX11" fmla="*/ 83010 w 220247"/>
                  <a:gd name="connsiteY11" fmla="*/ 125316 h 434979"/>
                  <a:gd name="connsiteX12" fmla="*/ 39611 w 220247"/>
                  <a:gd name="connsiteY12" fmla="*/ 270764 h 434979"/>
                  <a:gd name="connsiteX13" fmla="*/ 71280 w 220247"/>
                  <a:gd name="connsiteY13" fmla="*/ 270764 h 434979"/>
                  <a:gd name="connsiteX14" fmla="*/ 71280 w 220247"/>
                  <a:gd name="connsiteY14" fmla="*/ 434979 h 434979"/>
                  <a:gd name="connsiteX15" fmla="*/ 118199 w 220247"/>
                  <a:gd name="connsiteY15" fmla="*/ 434979 h 434979"/>
                  <a:gd name="connsiteX16" fmla="*/ 118199 w 220247"/>
                  <a:gd name="connsiteY16" fmla="*/ 270764 h 434979"/>
                  <a:gd name="connsiteX17" fmla="*/ 141658 w 220247"/>
                  <a:gd name="connsiteY17" fmla="*/ 270764 h 434979"/>
                  <a:gd name="connsiteX18" fmla="*/ 141658 w 220247"/>
                  <a:gd name="connsiteY18" fmla="*/ 434979 h 434979"/>
                  <a:gd name="connsiteX19" fmla="*/ 188577 w 220247"/>
                  <a:gd name="connsiteY19" fmla="*/ 434979 h 434979"/>
                  <a:gd name="connsiteX20" fmla="*/ 188577 w 220247"/>
                  <a:gd name="connsiteY20" fmla="*/ 270764 h 434979"/>
                  <a:gd name="connsiteX21" fmla="*/ 220247 w 220247"/>
                  <a:gd name="connsiteY21" fmla="*/ 270764 h 434979"/>
                  <a:gd name="connsiteX22" fmla="*/ 176847 w 220247"/>
                  <a:gd name="connsiteY22" fmla="*/ 125316 h 434979"/>
                  <a:gd name="connsiteX23" fmla="*/ 176847 w 220247"/>
                  <a:gd name="connsiteY23" fmla="*/ 84263 h 434979"/>
                  <a:gd name="connsiteX0" fmla="*/ 176847 w 220247"/>
                  <a:gd name="connsiteY0" fmla="*/ 125316 h 434979"/>
                  <a:gd name="connsiteX1" fmla="*/ 156907 w 220247"/>
                  <a:gd name="connsiteY1" fmla="*/ 15058 h 434979"/>
                  <a:gd name="connsiteX2" fmla="*/ 129929 w 220247"/>
                  <a:gd name="connsiteY2" fmla="*/ 12712 h 434979"/>
                  <a:gd name="connsiteX3" fmla="*/ 102950 w 220247"/>
                  <a:gd name="connsiteY3" fmla="*/ 15058 h 434979"/>
                  <a:gd name="connsiteX4" fmla="*/ 53686 w 220247"/>
                  <a:gd name="connsiteY4" fmla="*/ 34998 h 434979"/>
                  <a:gd name="connsiteX5" fmla="*/ 44302 w 220247"/>
                  <a:gd name="connsiteY5" fmla="*/ 47901 h 434979"/>
                  <a:gd name="connsiteX6" fmla="*/ 903 w 220247"/>
                  <a:gd name="connsiteY6" fmla="*/ 193348 h 434979"/>
                  <a:gd name="connsiteX7" fmla="*/ 17324 w 220247"/>
                  <a:gd name="connsiteY7" fmla="*/ 222672 h 434979"/>
                  <a:gd name="connsiteX8" fmla="*/ 24362 w 220247"/>
                  <a:gd name="connsiteY8" fmla="*/ 223845 h 434979"/>
                  <a:gd name="connsiteX9" fmla="*/ 46648 w 220247"/>
                  <a:gd name="connsiteY9" fmla="*/ 207424 h 434979"/>
                  <a:gd name="connsiteX10" fmla="*/ 83010 w 220247"/>
                  <a:gd name="connsiteY10" fmla="*/ 84263 h 434979"/>
                  <a:gd name="connsiteX11" fmla="*/ 83010 w 220247"/>
                  <a:gd name="connsiteY11" fmla="*/ 125316 h 434979"/>
                  <a:gd name="connsiteX12" fmla="*/ 39611 w 220247"/>
                  <a:gd name="connsiteY12" fmla="*/ 270764 h 434979"/>
                  <a:gd name="connsiteX13" fmla="*/ 71280 w 220247"/>
                  <a:gd name="connsiteY13" fmla="*/ 270764 h 434979"/>
                  <a:gd name="connsiteX14" fmla="*/ 71280 w 220247"/>
                  <a:gd name="connsiteY14" fmla="*/ 434979 h 434979"/>
                  <a:gd name="connsiteX15" fmla="*/ 118199 w 220247"/>
                  <a:gd name="connsiteY15" fmla="*/ 434979 h 434979"/>
                  <a:gd name="connsiteX16" fmla="*/ 118199 w 220247"/>
                  <a:gd name="connsiteY16" fmla="*/ 270764 h 434979"/>
                  <a:gd name="connsiteX17" fmla="*/ 141658 w 220247"/>
                  <a:gd name="connsiteY17" fmla="*/ 270764 h 434979"/>
                  <a:gd name="connsiteX18" fmla="*/ 141658 w 220247"/>
                  <a:gd name="connsiteY18" fmla="*/ 434979 h 434979"/>
                  <a:gd name="connsiteX19" fmla="*/ 188577 w 220247"/>
                  <a:gd name="connsiteY19" fmla="*/ 434979 h 434979"/>
                  <a:gd name="connsiteX20" fmla="*/ 188577 w 220247"/>
                  <a:gd name="connsiteY20" fmla="*/ 270764 h 434979"/>
                  <a:gd name="connsiteX21" fmla="*/ 220247 w 220247"/>
                  <a:gd name="connsiteY21" fmla="*/ 270764 h 434979"/>
                  <a:gd name="connsiteX22" fmla="*/ 176847 w 220247"/>
                  <a:gd name="connsiteY22" fmla="*/ 125316 h 434979"/>
                  <a:gd name="connsiteX0" fmla="*/ 176847 w 220247"/>
                  <a:gd name="connsiteY0" fmla="*/ 112604 h 422267"/>
                  <a:gd name="connsiteX1" fmla="*/ 129929 w 220247"/>
                  <a:gd name="connsiteY1" fmla="*/ 0 h 422267"/>
                  <a:gd name="connsiteX2" fmla="*/ 102950 w 220247"/>
                  <a:gd name="connsiteY2" fmla="*/ 2346 h 422267"/>
                  <a:gd name="connsiteX3" fmla="*/ 53686 w 220247"/>
                  <a:gd name="connsiteY3" fmla="*/ 22286 h 422267"/>
                  <a:gd name="connsiteX4" fmla="*/ 44302 w 220247"/>
                  <a:gd name="connsiteY4" fmla="*/ 35189 h 422267"/>
                  <a:gd name="connsiteX5" fmla="*/ 903 w 220247"/>
                  <a:gd name="connsiteY5" fmla="*/ 180636 h 422267"/>
                  <a:gd name="connsiteX6" fmla="*/ 17324 w 220247"/>
                  <a:gd name="connsiteY6" fmla="*/ 209960 h 422267"/>
                  <a:gd name="connsiteX7" fmla="*/ 24362 w 220247"/>
                  <a:gd name="connsiteY7" fmla="*/ 211133 h 422267"/>
                  <a:gd name="connsiteX8" fmla="*/ 46648 w 220247"/>
                  <a:gd name="connsiteY8" fmla="*/ 194712 h 422267"/>
                  <a:gd name="connsiteX9" fmla="*/ 83010 w 220247"/>
                  <a:gd name="connsiteY9" fmla="*/ 71551 h 422267"/>
                  <a:gd name="connsiteX10" fmla="*/ 83010 w 220247"/>
                  <a:gd name="connsiteY10" fmla="*/ 112604 h 422267"/>
                  <a:gd name="connsiteX11" fmla="*/ 39611 w 220247"/>
                  <a:gd name="connsiteY11" fmla="*/ 258052 h 422267"/>
                  <a:gd name="connsiteX12" fmla="*/ 71280 w 220247"/>
                  <a:gd name="connsiteY12" fmla="*/ 258052 h 422267"/>
                  <a:gd name="connsiteX13" fmla="*/ 71280 w 220247"/>
                  <a:gd name="connsiteY13" fmla="*/ 422267 h 422267"/>
                  <a:gd name="connsiteX14" fmla="*/ 118199 w 220247"/>
                  <a:gd name="connsiteY14" fmla="*/ 422267 h 422267"/>
                  <a:gd name="connsiteX15" fmla="*/ 118199 w 220247"/>
                  <a:gd name="connsiteY15" fmla="*/ 258052 h 422267"/>
                  <a:gd name="connsiteX16" fmla="*/ 141658 w 220247"/>
                  <a:gd name="connsiteY16" fmla="*/ 258052 h 422267"/>
                  <a:gd name="connsiteX17" fmla="*/ 141658 w 220247"/>
                  <a:gd name="connsiteY17" fmla="*/ 422267 h 422267"/>
                  <a:gd name="connsiteX18" fmla="*/ 188577 w 220247"/>
                  <a:gd name="connsiteY18" fmla="*/ 422267 h 422267"/>
                  <a:gd name="connsiteX19" fmla="*/ 188577 w 220247"/>
                  <a:gd name="connsiteY19" fmla="*/ 258052 h 422267"/>
                  <a:gd name="connsiteX20" fmla="*/ 220247 w 220247"/>
                  <a:gd name="connsiteY20" fmla="*/ 258052 h 422267"/>
                  <a:gd name="connsiteX21" fmla="*/ 176847 w 220247"/>
                  <a:gd name="connsiteY21" fmla="*/ 112604 h 422267"/>
                  <a:gd name="connsiteX0" fmla="*/ 220247 w 220247"/>
                  <a:gd name="connsiteY0" fmla="*/ 258052 h 422267"/>
                  <a:gd name="connsiteX1" fmla="*/ 129929 w 220247"/>
                  <a:gd name="connsiteY1" fmla="*/ 0 h 422267"/>
                  <a:gd name="connsiteX2" fmla="*/ 102950 w 220247"/>
                  <a:gd name="connsiteY2" fmla="*/ 2346 h 422267"/>
                  <a:gd name="connsiteX3" fmla="*/ 53686 w 220247"/>
                  <a:gd name="connsiteY3" fmla="*/ 22286 h 422267"/>
                  <a:gd name="connsiteX4" fmla="*/ 44302 w 220247"/>
                  <a:gd name="connsiteY4" fmla="*/ 35189 h 422267"/>
                  <a:gd name="connsiteX5" fmla="*/ 903 w 220247"/>
                  <a:gd name="connsiteY5" fmla="*/ 180636 h 422267"/>
                  <a:gd name="connsiteX6" fmla="*/ 17324 w 220247"/>
                  <a:gd name="connsiteY6" fmla="*/ 209960 h 422267"/>
                  <a:gd name="connsiteX7" fmla="*/ 24362 w 220247"/>
                  <a:gd name="connsiteY7" fmla="*/ 211133 h 422267"/>
                  <a:gd name="connsiteX8" fmla="*/ 46648 w 220247"/>
                  <a:gd name="connsiteY8" fmla="*/ 194712 h 422267"/>
                  <a:gd name="connsiteX9" fmla="*/ 83010 w 220247"/>
                  <a:gd name="connsiteY9" fmla="*/ 71551 h 422267"/>
                  <a:gd name="connsiteX10" fmla="*/ 83010 w 220247"/>
                  <a:gd name="connsiteY10" fmla="*/ 112604 h 422267"/>
                  <a:gd name="connsiteX11" fmla="*/ 39611 w 220247"/>
                  <a:gd name="connsiteY11" fmla="*/ 258052 h 422267"/>
                  <a:gd name="connsiteX12" fmla="*/ 71280 w 220247"/>
                  <a:gd name="connsiteY12" fmla="*/ 258052 h 422267"/>
                  <a:gd name="connsiteX13" fmla="*/ 71280 w 220247"/>
                  <a:gd name="connsiteY13" fmla="*/ 422267 h 422267"/>
                  <a:gd name="connsiteX14" fmla="*/ 118199 w 220247"/>
                  <a:gd name="connsiteY14" fmla="*/ 422267 h 422267"/>
                  <a:gd name="connsiteX15" fmla="*/ 118199 w 220247"/>
                  <a:gd name="connsiteY15" fmla="*/ 258052 h 422267"/>
                  <a:gd name="connsiteX16" fmla="*/ 141658 w 220247"/>
                  <a:gd name="connsiteY16" fmla="*/ 258052 h 422267"/>
                  <a:gd name="connsiteX17" fmla="*/ 141658 w 220247"/>
                  <a:gd name="connsiteY17" fmla="*/ 422267 h 422267"/>
                  <a:gd name="connsiteX18" fmla="*/ 188577 w 220247"/>
                  <a:gd name="connsiteY18" fmla="*/ 422267 h 422267"/>
                  <a:gd name="connsiteX19" fmla="*/ 188577 w 220247"/>
                  <a:gd name="connsiteY19" fmla="*/ 258052 h 422267"/>
                  <a:gd name="connsiteX20" fmla="*/ 220247 w 220247"/>
                  <a:gd name="connsiteY20" fmla="*/ 258052 h 422267"/>
                  <a:gd name="connsiteX0" fmla="*/ 188577 w 188577"/>
                  <a:gd name="connsiteY0" fmla="*/ 258052 h 422267"/>
                  <a:gd name="connsiteX1" fmla="*/ 129929 w 188577"/>
                  <a:gd name="connsiteY1" fmla="*/ 0 h 422267"/>
                  <a:gd name="connsiteX2" fmla="*/ 102950 w 188577"/>
                  <a:gd name="connsiteY2" fmla="*/ 2346 h 422267"/>
                  <a:gd name="connsiteX3" fmla="*/ 53686 w 188577"/>
                  <a:gd name="connsiteY3" fmla="*/ 22286 h 422267"/>
                  <a:gd name="connsiteX4" fmla="*/ 44302 w 188577"/>
                  <a:gd name="connsiteY4" fmla="*/ 35189 h 422267"/>
                  <a:gd name="connsiteX5" fmla="*/ 903 w 188577"/>
                  <a:gd name="connsiteY5" fmla="*/ 180636 h 422267"/>
                  <a:gd name="connsiteX6" fmla="*/ 17324 w 188577"/>
                  <a:gd name="connsiteY6" fmla="*/ 209960 h 422267"/>
                  <a:gd name="connsiteX7" fmla="*/ 24362 w 188577"/>
                  <a:gd name="connsiteY7" fmla="*/ 211133 h 422267"/>
                  <a:gd name="connsiteX8" fmla="*/ 46648 w 188577"/>
                  <a:gd name="connsiteY8" fmla="*/ 194712 h 422267"/>
                  <a:gd name="connsiteX9" fmla="*/ 83010 w 188577"/>
                  <a:gd name="connsiteY9" fmla="*/ 71551 h 422267"/>
                  <a:gd name="connsiteX10" fmla="*/ 83010 w 188577"/>
                  <a:gd name="connsiteY10" fmla="*/ 112604 h 422267"/>
                  <a:gd name="connsiteX11" fmla="*/ 39611 w 188577"/>
                  <a:gd name="connsiteY11" fmla="*/ 258052 h 422267"/>
                  <a:gd name="connsiteX12" fmla="*/ 71280 w 188577"/>
                  <a:gd name="connsiteY12" fmla="*/ 258052 h 422267"/>
                  <a:gd name="connsiteX13" fmla="*/ 71280 w 188577"/>
                  <a:gd name="connsiteY13" fmla="*/ 422267 h 422267"/>
                  <a:gd name="connsiteX14" fmla="*/ 118199 w 188577"/>
                  <a:gd name="connsiteY14" fmla="*/ 422267 h 422267"/>
                  <a:gd name="connsiteX15" fmla="*/ 118199 w 188577"/>
                  <a:gd name="connsiteY15" fmla="*/ 258052 h 422267"/>
                  <a:gd name="connsiteX16" fmla="*/ 141658 w 188577"/>
                  <a:gd name="connsiteY16" fmla="*/ 258052 h 422267"/>
                  <a:gd name="connsiteX17" fmla="*/ 141658 w 188577"/>
                  <a:gd name="connsiteY17" fmla="*/ 422267 h 422267"/>
                  <a:gd name="connsiteX18" fmla="*/ 188577 w 188577"/>
                  <a:gd name="connsiteY18" fmla="*/ 422267 h 422267"/>
                  <a:gd name="connsiteX19" fmla="*/ 188577 w 188577"/>
                  <a:gd name="connsiteY19" fmla="*/ 258052 h 422267"/>
                  <a:gd name="connsiteX0" fmla="*/ 188577 w 188577"/>
                  <a:gd name="connsiteY0" fmla="*/ 422267 h 422267"/>
                  <a:gd name="connsiteX1" fmla="*/ 129929 w 188577"/>
                  <a:gd name="connsiteY1" fmla="*/ 0 h 422267"/>
                  <a:gd name="connsiteX2" fmla="*/ 102950 w 188577"/>
                  <a:gd name="connsiteY2" fmla="*/ 2346 h 422267"/>
                  <a:gd name="connsiteX3" fmla="*/ 53686 w 188577"/>
                  <a:gd name="connsiteY3" fmla="*/ 22286 h 422267"/>
                  <a:gd name="connsiteX4" fmla="*/ 44302 w 188577"/>
                  <a:gd name="connsiteY4" fmla="*/ 35189 h 422267"/>
                  <a:gd name="connsiteX5" fmla="*/ 903 w 188577"/>
                  <a:gd name="connsiteY5" fmla="*/ 180636 h 422267"/>
                  <a:gd name="connsiteX6" fmla="*/ 17324 w 188577"/>
                  <a:gd name="connsiteY6" fmla="*/ 209960 h 422267"/>
                  <a:gd name="connsiteX7" fmla="*/ 24362 w 188577"/>
                  <a:gd name="connsiteY7" fmla="*/ 211133 h 422267"/>
                  <a:gd name="connsiteX8" fmla="*/ 46648 w 188577"/>
                  <a:gd name="connsiteY8" fmla="*/ 194712 h 422267"/>
                  <a:gd name="connsiteX9" fmla="*/ 83010 w 188577"/>
                  <a:gd name="connsiteY9" fmla="*/ 71551 h 422267"/>
                  <a:gd name="connsiteX10" fmla="*/ 83010 w 188577"/>
                  <a:gd name="connsiteY10" fmla="*/ 112604 h 422267"/>
                  <a:gd name="connsiteX11" fmla="*/ 39611 w 188577"/>
                  <a:gd name="connsiteY11" fmla="*/ 258052 h 422267"/>
                  <a:gd name="connsiteX12" fmla="*/ 71280 w 188577"/>
                  <a:gd name="connsiteY12" fmla="*/ 258052 h 422267"/>
                  <a:gd name="connsiteX13" fmla="*/ 71280 w 188577"/>
                  <a:gd name="connsiteY13" fmla="*/ 422267 h 422267"/>
                  <a:gd name="connsiteX14" fmla="*/ 118199 w 188577"/>
                  <a:gd name="connsiteY14" fmla="*/ 422267 h 422267"/>
                  <a:gd name="connsiteX15" fmla="*/ 118199 w 188577"/>
                  <a:gd name="connsiteY15" fmla="*/ 258052 h 422267"/>
                  <a:gd name="connsiteX16" fmla="*/ 141658 w 188577"/>
                  <a:gd name="connsiteY16" fmla="*/ 258052 h 422267"/>
                  <a:gd name="connsiteX17" fmla="*/ 141658 w 188577"/>
                  <a:gd name="connsiteY17" fmla="*/ 422267 h 422267"/>
                  <a:gd name="connsiteX18" fmla="*/ 188577 w 188577"/>
                  <a:gd name="connsiteY18" fmla="*/ 422267 h 422267"/>
                  <a:gd name="connsiteX0" fmla="*/ 141658 w 141658"/>
                  <a:gd name="connsiteY0" fmla="*/ 422267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17" fmla="*/ 141658 w 141658"/>
                  <a:gd name="connsiteY17" fmla="*/ 422267 h 422267"/>
                  <a:gd name="connsiteX0" fmla="*/ 141658 w 141658"/>
                  <a:gd name="connsiteY0" fmla="*/ 258052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0" fmla="*/ 141658 w 141658"/>
                  <a:gd name="connsiteY0" fmla="*/ 258052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0" fmla="*/ 141658 w 141658"/>
                  <a:gd name="connsiteY0" fmla="*/ 258052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0" fmla="*/ 141658 w 141658"/>
                  <a:gd name="connsiteY0" fmla="*/ 258052 h 422267"/>
                  <a:gd name="connsiteX1" fmla="*/ 129929 w 141658"/>
                  <a:gd name="connsiteY1" fmla="*/ 0 h 422267"/>
                  <a:gd name="connsiteX2" fmla="*/ 102950 w 141658"/>
                  <a:gd name="connsiteY2" fmla="*/ 2346 h 422267"/>
                  <a:gd name="connsiteX3" fmla="*/ 53686 w 141658"/>
                  <a:gd name="connsiteY3" fmla="*/ 22286 h 422267"/>
                  <a:gd name="connsiteX4" fmla="*/ 44302 w 141658"/>
                  <a:gd name="connsiteY4" fmla="*/ 35189 h 422267"/>
                  <a:gd name="connsiteX5" fmla="*/ 903 w 141658"/>
                  <a:gd name="connsiteY5" fmla="*/ 180636 h 422267"/>
                  <a:gd name="connsiteX6" fmla="*/ 17324 w 141658"/>
                  <a:gd name="connsiteY6" fmla="*/ 209960 h 422267"/>
                  <a:gd name="connsiteX7" fmla="*/ 24362 w 141658"/>
                  <a:gd name="connsiteY7" fmla="*/ 211133 h 422267"/>
                  <a:gd name="connsiteX8" fmla="*/ 46648 w 141658"/>
                  <a:gd name="connsiteY8" fmla="*/ 194712 h 422267"/>
                  <a:gd name="connsiteX9" fmla="*/ 83010 w 141658"/>
                  <a:gd name="connsiteY9" fmla="*/ 71551 h 422267"/>
                  <a:gd name="connsiteX10" fmla="*/ 83010 w 141658"/>
                  <a:gd name="connsiteY10" fmla="*/ 112604 h 422267"/>
                  <a:gd name="connsiteX11" fmla="*/ 39611 w 141658"/>
                  <a:gd name="connsiteY11" fmla="*/ 258052 h 422267"/>
                  <a:gd name="connsiteX12" fmla="*/ 71280 w 141658"/>
                  <a:gd name="connsiteY12" fmla="*/ 258052 h 422267"/>
                  <a:gd name="connsiteX13" fmla="*/ 71280 w 141658"/>
                  <a:gd name="connsiteY13" fmla="*/ 422267 h 422267"/>
                  <a:gd name="connsiteX14" fmla="*/ 118199 w 141658"/>
                  <a:gd name="connsiteY14" fmla="*/ 422267 h 422267"/>
                  <a:gd name="connsiteX15" fmla="*/ 118199 w 141658"/>
                  <a:gd name="connsiteY15" fmla="*/ 258052 h 422267"/>
                  <a:gd name="connsiteX16" fmla="*/ 141658 w 141658"/>
                  <a:gd name="connsiteY16" fmla="*/ 258052 h 422267"/>
                  <a:gd name="connsiteX0" fmla="*/ 134515 w 134515"/>
                  <a:gd name="connsiteY0" fmla="*/ 258052 h 422267"/>
                  <a:gd name="connsiteX1" fmla="*/ 129929 w 134515"/>
                  <a:gd name="connsiteY1" fmla="*/ 0 h 422267"/>
                  <a:gd name="connsiteX2" fmla="*/ 102950 w 134515"/>
                  <a:gd name="connsiteY2" fmla="*/ 2346 h 422267"/>
                  <a:gd name="connsiteX3" fmla="*/ 53686 w 134515"/>
                  <a:gd name="connsiteY3" fmla="*/ 22286 h 422267"/>
                  <a:gd name="connsiteX4" fmla="*/ 44302 w 134515"/>
                  <a:gd name="connsiteY4" fmla="*/ 35189 h 422267"/>
                  <a:gd name="connsiteX5" fmla="*/ 903 w 134515"/>
                  <a:gd name="connsiteY5" fmla="*/ 180636 h 422267"/>
                  <a:gd name="connsiteX6" fmla="*/ 17324 w 134515"/>
                  <a:gd name="connsiteY6" fmla="*/ 209960 h 422267"/>
                  <a:gd name="connsiteX7" fmla="*/ 24362 w 134515"/>
                  <a:gd name="connsiteY7" fmla="*/ 211133 h 422267"/>
                  <a:gd name="connsiteX8" fmla="*/ 46648 w 134515"/>
                  <a:gd name="connsiteY8" fmla="*/ 194712 h 422267"/>
                  <a:gd name="connsiteX9" fmla="*/ 83010 w 134515"/>
                  <a:gd name="connsiteY9" fmla="*/ 71551 h 422267"/>
                  <a:gd name="connsiteX10" fmla="*/ 83010 w 134515"/>
                  <a:gd name="connsiteY10" fmla="*/ 112604 h 422267"/>
                  <a:gd name="connsiteX11" fmla="*/ 39611 w 134515"/>
                  <a:gd name="connsiteY11" fmla="*/ 258052 h 422267"/>
                  <a:gd name="connsiteX12" fmla="*/ 71280 w 134515"/>
                  <a:gd name="connsiteY12" fmla="*/ 258052 h 422267"/>
                  <a:gd name="connsiteX13" fmla="*/ 71280 w 134515"/>
                  <a:gd name="connsiteY13" fmla="*/ 422267 h 422267"/>
                  <a:gd name="connsiteX14" fmla="*/ 118199 w 134515"/>
                  <a:gd name="connsiteY14" fmla="*/ 422267 h 422267"/>
                  <a:gd name="connsiteX15" fmla="*/ 118199 w 134515"/>
                  <a:gd name="connsiteY15" fmla="*/ 258052 h 422267"/>
                  <a:gd name="connsiteX16" fmla="*/ 134515 w 134515"/>
                  <a:gd name="connsiteY16" fmla="*/ 258052 h 422267"/>
                  <a:gd name="connsiteX0" fmla="*/ 127371 w 130090"/>
                  <a:gd name="connsiteY0" fmla="*/ 258052 h 422267"/>
                  <a:gd name="connsiteX1" fmla="*/ 129929 w 130090"/>
                  <a:gd name="connsiteY1" fmla="*/ 0 h 422267"/>
                  <a:gd name="connsiteX2" fmla="*/ 102950 w 130090"/>
                  <a:gd name="connsiteY2" fmla="*/ 2346 h 422267"/>
                  <a:gd name="connsiteX3" fmla="*/ 53686 w 130090"/>
                  <a:gd name="connsiteY3" fmla="*/ 22286 h 422267"/>
                  <a:gd name="connsiteX4" fmla="*/ 44302 w 130090"/>
                  <a:gd name="connsiteY4" fmla="*/ 35189 h 422267"/>
                  <a:gd name="connsiteX5" fmla="*/ 903 w 130090"/>
                  <a:gd name="connsiteY5" fmla="*/ 180636 h 422267"/>
                  <a:gd name="connsiteX6" fmla="*/ 17324 w 130090"/>
                  <a:gd name="connsiteY6" fmla="*/ 209960 h 422267"/>
                  <a:gd name="connsiteX7" fmla="*/ 24362 w 130090"/>
                  <a:gd name="connsiteY7" fmla="*/ 211133 h 422267"/>
                  <a:gd name="connsiteX8" fmla="*/ 46648 w 130090"/>
                  <a:gd name="connsiteY8" fmla="*/ 194712 h 422267"/>
                  <a:gd name="connsiteX9" fmla="*/ 83010 w 130090"/>
                  <a:gd name="connsiteY9" fmla="*/ 71551 h 422267"/>
                  <a:gd name="connsiteX10" fmla="*/ 83010 w 130090"/>
                  <a:gd name="connsiteY10" fmla="*/ 112604 h 422267"/>
                  <a:gd name="connsiteX11" fmla="*/ 39611 w 130090"/>
                  <a:gd name="connsiteY11" fmla="*/ 258052 h 422267"/>
                  <a:gd name="connsiteX12" fmla="*/ 71280 w 130090"/>
                  <a:gd name="connsiteY12" fmla="*/ 258052 h 422267"/>
                  <a:gd name="connsiteX13" fmla="*/ 71280 w 130090"/>
                  <a:gd name="connsiteY13" fmla="*/ 422267 h 422267"/>
                  <a:gd name="connsiteX14" fmla="*/ 118199 w 130090"/>
                  <a:gd name="connsiteY14" fmla="*/ 422267 h 422267"/>
                  <a:gd name="connsiteX15" fmla="*/ 118199 w 130090"/>
                  <a:gd name="connsiteY15" fmla="*/ 258052 h 422267"/>
                  <a:gd name="connsiteX16" fmla="*/ 127371 w 130090"/>
                  <a:gd name="connsiteY16" fmla="*/ 258052 h 422267"/>
                  <a:gd name="connsiteX0" fmla="*/ 127371 w 130090"/>
                  <a:gd name="connsiteY0" fmla="*/ 258052 h 422267"/>
                  <a:gd name="connsiteX1" fmla="*/ 129929 w 130090"/>
                  <a:gd name="connsiteY1" fmla="*/ 0 h 422267"/>
                  <a:gd name="connsiteX2" fmla="*/ 102950 w 130090"/>
                  <a:gd name="connsiteY2" fmla="*/ 2346 h 422267"/>
                  <a:gd name="connsiteX3" fmla="*/ 53686 w 130090"/>
                  <a:gd name="connsiteY3" fmla="*/ 22286 h 422267"/>
                  <a:gd name="connsiteX4" fmla="*/ 44302 w 130090"/>
                  <a:gd name="connsiteY4" fmla="*/ 35189 h 422267"/>
                  <a:gd name="connsiteX5" fmla="*/ 903 w 130090"/>
                  <a:gd name="connsiteY5" fmla="*/ 180636 h 422267"/>
                  <a:gd name="connsiteX6" fmla="*/ 17324 w 130090"/>
                  <a:gd name="connsiteY6" fmla="*/ 209960 h 422267"/>
                  <a:gd name="connsiteX7" fmla="*/ 24362 w 130090"/>
                  <a:gd name="connsiteY7" fmla="*/ 211133 h 422267"/>
                  <a:gd name="connsiteX8" fmla="*/ 46648 w 130090"/>
                  <a:gd name="connsiteY8" fmla="*/ 194712 h 422267"/>
                  <a:gd name="connsiteX9" fmla="*/ 83010 w 130090"/>
                  <a:gd name="connsiteY9" fmla="*/ 71551 h 422267"/>
                  <a:gd name="connsiteX10" fmla="*/ 83010 w 130090"/>
                  <a:gd name="connsiteY10" fmla="*/ 112604 h 422267"/>
                  <a:gd name="connsiteX11" fmla="*/ 39611 w 130090"/>
                  <a:gd name="connsiteY11" fmla="*/ 258052 h 422267"/>
                  <a:gd name="connsiteX12" fmla="*/ 71280 w 130090"/>
                  <a:gd name="connsiteY12" fmla="*/ 258052 h 422267"/>
                  <a:gd name="connsiteX13" fmla="*/ 71280 w 130090"/>
                  <a:gd name="connsiteY13" fmla="*/ 422267 h 422267"/>
                  <a:gd name="connsiteX14" fmla="*/ 118199 w 130090"/>
                  <a:gd name="connsiteY14" fmla="*/ 422267 h 422267"/>
                  <a:gd name="connsiteX15" fmla="*/ 118199 w 130090"/>
                  <a:gd name="connsiteY15" fmla="*/ 258052 h 422267"/>
                  <a:gd name="connsiteX16" fmla="*/ 127371 w 130090"/>
                  <a:gd name="connsiteY16" fmla="*/ 258052 h 422267"/>
                  <a:gd name="connsiteX0" fmla="*/ 127371 w 130373"/>
                  <a:gd name="connsiteY0" fmla="*/ 258052 h 422267"/>
                  <a:gd name="connsiteX1" fmla="*/ 129929 w 130373"/>
                  <a:gd name="connsiteY1" fmla="*/ 0 h 422267"/>
                  <a:gd name="connsiteX2" fmla="*/ 102950 w 130373"/>
                  <a:gd name="connsiteY2" fmla="*/ 2346 h 422267"/>
                  <a:gd name="connsiteX3" fmla="*/ 53686 w 130373"/>
                  <a:gd name="connsiteY3" fmla="*/ 22286 h 422267"/>
                  <a:gd name="connsiteX4" fmla="*/ 44302 w 130373"/>
                  <a:gd name="connsiteY4" fmla="*/ 35189 h 422267"/>
                  <a:gd name="connsiteX5" fmla="*/ 903 w 130373"/>
                  <a:gd name="connsiteY5" fmla="*/ 180636 h 422267"/>
                  <a:gd name="connsiteX6" fmla="*/ 17324 w 130373"/>
                  <a:gd name="connsiteY6" fmla="*/ 209960 h 422267"/>
                  <a:gd name="connsiteX7" fmla="*/ 24362 w 130373"/>
                  <a:gd name="connsiteY7" fmla="*/ 211133 h 422267"/>
                  <a:gd name="connsiteX8" fmla="*/ 46648 w 130373"/>
                  <a:gd name="connsiteY8" fmla="*/ 194712 h 422267"/>
                  <a:gd name="connsiteX9" fmla="*/ 83010 w 130373"/>
                  <a:gd name="connsiteY9" fmla="*/ 71551 h 422267"/>
                  <a:gd name="connsiteX10" fmla="*/ 83010 w 130373"/>
                  <a:gd name="connsiteY10" fmla="*/ 112604 h 422267"/>
                  <a:gd name="connsiteX11" fmla="*/ 39611 w 130373"/>
                  <a:gd name="connsiteY11" fmla="*/ 258052 h 422267"/>
                  <a:gd name="connsiteX12" fmla="*/ 71280 w 130373"/>
                  <a:gd name="connsiteY12" fmla="*/ 258052 h 422267"/>
                  <a:gd name="connsiteX13" fmla="*/ 71280 w 130373"/>
                  <a:gd name="connsiteY13" fmla="*/ 422267 h 422267"/>
                  <a:gd name="connsiteX14" fmla="*/ 118199 w 130373"/>
                  <a:gd name="connsiteY14" fmla="*/ 422267 h 422267"/>
                  <a:gd name="connsiteX15" fmla="*/ 118199 w 130373"/>
                  <a:gd name="connsiteY15" fmla="*/ 258052 h 422267"/>
                  <a:gd name="connsiteX16" fmla="*/ 127371 w 130373"/>
                  <a:gd name="connsiteY16" fmla="*/ 258052 h 422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0373" h="422267">
                    <a:moveTo>
                      <a:pt x="127371" y="258052"/>
                    </a:moveTo>
                    <a:cubicBezTo>
                      <a:pt x="128650" y="129026"/>
                      <a:pt x="131458" y="102686"/>
                      <a:pt x="129929" y="0"/>
                    </a:cubicBezTo>
                    <a:cubicBezTo>
                      <a:pt x="116439" y="1173"/>
                      <a:pt x="112334" y="1173"/>
                      <a:pt x="102950" y="2346"/>
                    </a:cubicBezTo>
                    <a:cubicBezTo>
                      <a:pt x="84183" y="5865"/>
                      <a:pt x="67762" y="12903"/>
                      <a:pt x="53686" y="22286"/>
                    </a:cubicBezTo>
                    <a:cubicBezTo>
                      <a:pt x="48994" y="25805"/>
                      <a:pt x="45475" y="29324"/>
                      <a:pt x="44302" y="35189"/>
                    </a:cubicBezTo>
                    <a:lnTo>
                      <a:pt x="903" y="180636"/>
                    </a:lnTo>
                    <a:cubicBezTo>
                      <a:pt x="-2616" y="193539"/>
                      <a:pt x="4422" y="206441"/>
                      <a:pt x="17324" y="209960"/>
                    </a:cubicBezTo>
                    <a:cubicBezTo>
                      <a:pt x="19670" y="211133"/>
                      <a:pt x="22016" y="211133"/>
                      <a:pt x="24362" y="211133"/>
                    </a:cubicBezTo>
                    <a:cubicBezTo>
                      <a:pt x="34919" y="211133"/>
                      <a:pt x="44302" y="204095"/>
                      <a:pt x="46648" y="194712"/>
                    </a:cubicBezTo>
                    <a:lnTo>
                      <a:pt x="83010" y="71551"/>
                    </a:lnTo>
                    <a:lnTo>
                      <a:pt x="83010" y="112604"/>
                    </a:lnTo>
                    <a:lnTo>
                      <a:pt x="39611" y="258052"/>
                    </a:lnTo>
                    <a:lnTo>
                      <a:pt x="71280" y="258052"/>
                    </a:lnTo>
                    <a:lnTo>
                      <a:pt x="71280" y="422267"/>
                    </a:lnTo>
                    <a:lnTo>
                      <a:pt x="118199" y="422267"/>
                    </a:lnTo>
                    <a:lnTo>
                      <a:pt x="118199" y="258052"/>
                    </a:lnTo>
                    <a:lnTo>
                      <a:pt x="127371" y="258052"/>
                    </a:lnTo>
                    <a:close/>
                  </a:path>
                </a:pathLst>
              </a:custGeom>
              <a:solidFill>
                <a:schemeClr val="bg1"/>
              </a:solidFill>
              <a:ln w="5854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58" name="Endometrial cancer">
            <a:extLst>
              <a:ext uri="{FF2B5EF4-FFF2-40B4-BE49-F238E27FC236}">
                <a16:creationId xmlns:a16="http://schemas.microsoft.com/office/drawing/2014/main" id="{326A4BB5-158A-4F99-99CF-3FCE58F6E4D9}"/>
              </a:ext>
            </a:extLst>
          </p:cNvPr>
          <p:cNvSpPr txBox="1"/>
          <p:nvPr/>
        </p:nvSpPr>
        <p:spPr>
          <a:xfrm>
            <a:off x="5444075" y="4046132"/>
            <a:ext cx="2560320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Endometrial Cancer</a:t>
            </a:r>
          </a:p>
        </p:txBody>
      </p:sp>
      <p:pic>
        <p:nvPicPr>
          <p:cNvPr id="236" name="Graphic 235" descr="Woman with solid fill">
            <a:extLst>
              <a:ext uri="{FF2B5EF4-FFF2-40B4-BE49-F238E27FC236}">
                <a16:creationId xmlns:a16="http://schemas.microsoft.com/office/drawing/2014/main" id="{C0B9CEDD-005A-42D1-95F2-48CD69B625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51499" y="4045516"/>
            <a:ext cx="404027" cy="412712"/>
          </a:xfrm>
          <a:prstGeom prst="rect">
            <a:avLst/>
          </a:prstGeom>
        </p:spPr>
      </p:pic>
      <p:pic>
        <p:nvPicPr>
          <p:cNvPr id="237" name="Graphic 236" descr="Woman with solid fill">
            <a:extLst>
              <a:ext uri="{FF2B5EF4-FFF2-40B4-BE49-F238E27FC236}">
                <a16:creationId xmlns:a16="http://schemas.microsoft.com/office/drawing/2014/main" id="{AD2E8B77-244A-4167-8E95-C10171A093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76698" y="4045516"/>
            <a:ext cx="404027" cy="412712"/>
          </a:xfrm>
          <a:prstGeom prst="rect">
            <a:avLst/>
          </a:prstGeom>
        </p:spPr>
      </p:pic>
      <p:pic>
        <p:nvPicPr>
          <p:cNvPr id="238" name="Graphic 237" descr="Woman with solid fill">
            <a:extLst>
              <a:ext uri="{FF2B5EF4-FFF2-40B4-BE49-F238E27FC236}">
                <a16:creationId xmlns:a16="http://schemas.microsoft.com/office/drawing/2014/main" id="{297D56C7-8AB4-42F7-B92F-D9BB2DEC9D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01897" y="4045516"/>
            <a:ext cx="404027" cy="412712"/>
          </a:xfrm>
          <a:prstGeom prst="rect">
            <a:avLst/>
          </a:prstGeom>
        </p:spPr>
      </p:pic>
      <p:pic>
        <p:nvPicPr>
          <p:cNvPr id="239" name="Graphic 238" descr="Woman with solid fill">
            <a:extLst>
              <a:ext uri="{FF2B5EF4-FFF2-40B4-BE49-F238E27FC236}">
                <a16:creationId xmlns:a16="http://schemas.microsoft.com/office/drawing/2014/main" id="{4EE3AD0A-9544-4D11-9128-2E5E6BAB9D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27650" y="4045516"/>
            <a:ext cx="404027" cy="412712"/>
          </a:xfrm>
          <a:prstGeom prst="rect">
            <a:avLst/>
          </a:prstGeom>
        </p:spPr>
      </p:pic>
      <p:pic>
        <p:nvPicPr>
          <p:cNvPr id="240" name="Graphic 239" descr="Woman with solid fill">
            <a:extLst>
              <a:ext uri="{FF2B5EF4-FFF2-40B4-BE49-F238E27FC236}">
                <a16:creationId xmlns:a16="http://schemas.microsoft.com/office/drawing/2014/main" id="{9D888241-BB8F-438A-BFC1-6827B4250B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52634" y="4045516"/>
            <a:ext cx="404027" cy="412712"/>
          </a:xfrm>
          <a:prstGeom prst="rect">
            <a:avLst/>
          </a:prstGeom>
        </p:spPr>
      </p:pic>
      <p:pic>
        <p:nvPicPr>
          <p:cNvPr id="241" name="Graphic 240" descr="Woman with solid fill">
            <a:extLst>
              <a:ext uri="{FF2B5EF4-FFF2-40B4-BE49-F238E27FC236}">
                <a16:creationId xmlns:a16="http://schemas.microsoft.com/office/drawing/2014/main" id="{B9FB45F4-370E-49CF-93E8-6F7B327E72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77494" y="4045516"/>
            <a:ext cx="404027" cy="412712"/>
          </a:xfrm>
          <a:prstGeom prst="rect">
            <a:avLst/>
          </a:prstGeom>
        </p:spPr>
      </p:pic>
      <p:pic>
        <p:nvPicPr>
          <p:cNvPr id="242" name="Graphic 241" descr="Woman with solid fill">
            <a:extLst>
              <a:ext uri="{FF2B5EF4-FFF2-40B4-BE49-F238E27FC236}">
                <a16:creationId xmlns:a16="http://schemas.microsoft.com/office/drawing/2014/main" id="{B0DB5B61-A272-4F7A-A489-B84CADFD2A3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02693" y="4045516"/>
            <a:ext cx="404027" cy="412712"/>
          </a:xfrm>
          <a:prstGeom prst="rect">
            <a:avLst/>
          </a:prstGeom>
        </p:spPr>
      </p:pic>
      <p:pic>
        <p:nvPicPr>
          <p:cNvPr id="436" name="Graphic 435" descr="Woman with solid fill">
            <a:extLst>
              <a:ext uri="{FF2B5EF4-FFF2-40B4-BE49-F238E27FC236}">
                <a16:creationId xmlns:a16="http://schemas.microsoft.com/office/drawing/2014/main" id="{F813AC6C-468A-4BAC-BE54-158A5AAFC8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45266" y="4045516"/>
            <a:ext cx="404027" cy="412712"/>
          </a:xfrm>
          <a:prstGeom prst="rect">
            <a:avLst/>
          </a:prstGeom>
        </p:spPr>
      </p:pic>
      <p:pic>
        <p:nvPicPr>
          <p:cNvPr id="437" name="Graphic 436" descr="Woman with solid fill">
            <a:extLst>
              <a:ext uri="{FF2B5EF4-FFF2-40B4-BE49-F238E27FC236}">
                <a16:creationId xmlns:a16="http://schemas.microsoft.com/office/drawing/2014/main" id="{6C96E498-87C6-4935-A8C8-8D0916CBB1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70464" y="4045516"/>
            <a:ext cx="404027" cy="412712"/>
          </a:xfrm>
          <a:prstGeom prst="rect">
            <a:avLst/>
          </a:prstGeom>
        </p:spPr>
      </p:pic>
      <p:pic>
        <p:nvPicPr>
          <p:cNvPr id="438" name="Graphic 437" descr="Woman with solid fill">
            <a:extLst>
              <a:ext uri="{FF2B5EF4-FFF2-40B4-BE49-F238E27FC236}">
                <a16:creationId xmlns:a16="http://schemas.microsoft.com/office/drawing/2014/main" id="{16ADCBEC-5943-457E-A35F-DBA4812AD8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95664" y="4045516"/>
            <a:ext cx="404027" cy="412712"/>
          </a:xfrm>
          <a:prstGeom prst="rect">
            <a:avLst/>
          </a:prstGeom>
        </p:spPr>
      </p:pic>
      <p:pic>
        <p:nvPicPr>
          <p:cNvPr id="439" name="Graphic 438" descr="Woman with solid fill">
            <a:extLst>
              <a:ext uri="{FF2B5EF4-FFF2-40B4-BE49-F238E27FC236}">
                <a16:creationId xmlns:a16="http://schemas.microsoft.com/office/drawing/2014/main" id="{647C2A84-3ED6-4A16-AAC1-694458235E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20862" y="4045516"/>
            <a:ext cx="404027" cy="412712"/>
          </a:xfrm>
          <a:prstGeom prst="rect">
            <a:avLst/>
          </a:prstGeom>
        </p:spPr>
      </p:pic>
      <p:pic>
        <p:nvPicPr>
          <p:cNvPr id="440" name="Graphic 439" descr="Woman with solid fill">
            <a:extLst>
              <a:ext uri="{FF2B5EF4-FFF2-40B4-BE49-F238E27FC236}">
                <a16:creationId xmlns:a16="http://schemas.microsoft.com/office/drawing/2014/main" id="{B6153690-4643-48BE-BBE6-4AEDBBEA63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46062" y="4045516"/>
            <a:ext cx="404027" cy="412712"/>
          </a:xfrm>
          <a:prstGeom prst="rect">
            <a:avLst/>
          </a:prstGeom>
        </p:spPr>
      </p:pic>
      <p:pic>
        <p:nvPicPr>
          <p:cNvPr id="441" name="Graphic 440" descr="Woman with solid fill">
            <a:extLst>
              <a:ext uri="{FF2B5EF4-FFF2-40B4-BE49-F238E27FC236}">
                <a16:creationId xmlns:a16="http://schemas.microsoft.com/office/drawing/2014/main" id="{6E71196D-D705-49D6-8AB2-D652A1DADA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1261" y="4045516"/>
            <a:ext cx="404027" cy="412712"/>
          </a:xfrm>
          <a:prstGeom prst="rect">
            <a:avLst/>
          </a:prstGeom>
        </p:spPr>
      </p:pic>
      <p:pic>
        <p:nvPicPr>
          <p:cNvPr id="442" name="Graphic 441" descr="Woman with solid fill">
            <a:extLst>
              <a:ext uri="{FF2B5EF4-FFF2-40B4-BE49-F238E27FC236}">
                <a16:creationId xmlns:a16="http://schemas.microsoft.com/office/drawing/2014/main" id="{A0FF045E-1976-4170-8957-300C0F115A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96459" y="4045516"/>
            <a:ext cx="404027" cy="4127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26BA1C-B295-4A7C-AE3B-16B4421E452C}"/>
              </a:ext>
            </a:extLst>
          </p:cNvPr>
          <p:cNvSpPr txBox="1"/>
          <p:nvPr/>
        </p:nvSpPr>
        <p:spPr>
          <a:xfrm>
            <a:off x="2432404" y="942303"/>
            <a:ext cx="2693813" cy="380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>
                <a:solidFill>
                  <a:schemeClr val="accent1"/>
                </a:solidFill>
              </a:rPr>
              <a:t>Estrogen only</a:t>
            </a: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C19914A0-C8C1-47EF-B097-2ABE5B1F88FF}"/>
              </a:ext>
            </a:extLst>
          </p:cNvPr>
          <p:cNvSpPr txBox="1"/>
          <p:nvPr/>
        </p:nvSpPr>
        <p:spPr>
          <a:xfrm>
            <a:off x="8774491" y="942303"/>
            <a:ext cx="2693813" cy="380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>
                <a:solidFill>
                  <a:schemeClr val="accent5"/>
                </a:solidFill>
              </a:rPr>
              <a:t>Estrogen + Progesterone</a:t>
            </a:r>
          </a:p>
        </p:txBody>
      </p:sp>
      <p:sp>
        <p:nvSpPr>
          <p:cNvPr id="131" name="Osteoporotic fractures">
            <a:extLst>
              <a:ext uri="{FF2B5EF4-FFF2-40B4-BE49-F238E27FC236}">
                <a16:creationId xmlns:a16="http://schemas.microsoft.com/office/drawing/2014/main" id="{15C63DAE-30B8-4609-AD7B-2A7FF66ED41B}"/>
              </a:ext>
            </a:extLst>
          </p:cNvPr>
          <p:cNvSpPr txBox="1"/>
          <p:nvPr/>
        </p:nvSpPr>
        <p:spPr>
          <a:xfrm>
            <a:off x="5444075" y="4686125"/>
            <a:ext cx="2560320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Osteoporotic fractures</a:t>
            </a:r>
          </a:p>
        </p:txBody>
      </p:sp>
      <p:pic>
        <p:nvPicPr>
          <p:cNvPr id="261" name="Graphic 260" descr="Woman with solid fill">
            <a:extLst>
              <a:ext uri="{FF2B5EF4-FFF2-40B4-BE49-F238E27FC236}">
                <a16:creationId xmlns:a16="http://schemas.microsoft.com/office/drawing/2014/main" id="{F95A8394-784F-4EF4-B022-A49E296E81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51499" y="4685509"/>
            <a:ext cx="404027" cy="412712"/>
          </a:xfrm>
          <a:prstGeom prst="rect">
            <a:avLst/>
          </a:prstGeom>
        </p:spPr>
      </p:pic>
      <p:pic>
        <p:nvPicPr>
          <p:cNvPr id="262" name="Graphic 261" descr="Woman with solid fill">
            <a:extLst>
              <a:ext uri="{FF2B5EF4-FFF2-40B4-BE49-F238E27FC236}">
                <a16:creationId xmlns:a16="http://schemas.microsoft.com/office/drawing/2014/main" id="{23C67C2A-2FCB-47DB-B81B-DF26C170B2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76698" y="4685509"/>
            <a:ext cx="404027" cy="412712"/>
          </a:xfrm>
          <a:prstGeom prst="rect">
            <a:avLst/>
          </a:prstGeom>
        </p:spPr>
      </p:pic>
      <p:pic>
        <p:nvPicPr>
          <p:cNvPr id="263" name="Graphic 262" descr="Woman with solid fill">
            <a:extLst>
              <a:ext uri="{FF2B5EF4-FFF2-40B4-BE49-F238E27FC236}">
                <a16:creationId xmlns:a16="http://schemas.microsoft.com/office/drawing/2014/main" id="{96977828-1787-4125-99F7-D263F5A613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01897" y="4685509"/>
            <a:ext cx="404027" cy="412712"/>
          </a:xfrm>
          <a:prstGeom prst="rect">
            <a:avLst/>
          </a:prstGeom>
        </p:spPr>
      </p:pic>
      <p:pic>
        <p:nvPicPr>
          <p:cNvPr id="264" name="Graphic 263" descr="Woman with solid fill">
            <a:extLst>
              <a:ext uri="{FF2B5EF4-FFF2-40B4-BE49-F238E27FC236}">
                <a16:creationId xmlns:a16="http://schemas.microsoft.com/office/drawing/2014/main" id="{7CCAC7EE-DE40-4166-A122-CEA36F2180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27650" y="4685509"/>
            <a:ext cx="404027" cy="412712"/>
          </a:xfrm>
          <a:prstGeom prst="rect">
            <a:avLst/>
          </a:prstGeom>
        </p:spPr>
      </p:pic>
      <p:pic>
        <p:nvPicPr>
          <p:cNvPr id="265" name="Graphic 264" descr="Woman with solid fill">
            <a:extLst>
              <a:ext uri="{FF2B5EF4-FFF2-40B4-BE49-F238E27FC236}">
                <a16:creationId xmlns:a16="http://schemas.microsoft.com/office/drawing/2014/main" id="{323A6022-F313-4331-8119-C5AF10166C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52634" y="4685509"/>
            <a:ext cx="404027" cy="412712"/>
          </a:xfrm>
          <a:prstGeom prst="rect">
            <a:avLst/>
          </a:prstGeom>
        </p:spPr>
      </p:pic>
      <p:pic>
        <p:nvPicPr>
          <p:cNvPr id="266" name="Graphic 265" descr="Woman with solid fill">
            <a:extLst>
              <a:ext uri="{FF2B5EF4-FFF2-40B4-BE49-F238E27FC236}">
                <a16:creationId xmlns:a16="http://schemas.microsoft.com/office/drawing/2014/main" id="{DDF5F1A4-390C-48B2-A863-28FED7C2E5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77494" y="4685509"/>
            <a:ext cx="404027" cy="412712"/>
          </a:xfrm>
          <a:prstGeom prst="rect">
            <a:avLst/>
          </a:prstGeom>
        </p:spPr>
      </p:pic>
      <p:pic>
        <p:nvPicPr>
          <p:cNvPr id="267" name="Graphic 266" descr="Woman with solid fill">
            <a:extLst>
              <a:ext uri="{FF2B5EF4-FFF2-40B4-BE49-F238E27FC236}">
                <a16:creationId xmlns:a16="http://schemas.microsoft.com/office/drawing/2014/main" id="{81EC375D-C51D-4E36-B3A2-8B88E92014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02693" y="4685509"/>
            <a:ext cx="404027" cy="412712"/>
          </a:xfrm>
          <a:prstGeom prst="rect">
            <a:avLst/>
          </a:prstGeom>
        </p:spPr>
      </p:pic>
      <p:pic>
        <p:nvPicPr>
          <p:cNvPr id="443" name="Graphic 442" descr="Woman with solid fill">
            <a:extLst>
              <a:ext uri="{FF2B5EF4-FFF2-40B4-BE49-F238E27FC236}">
                <a16:creationId xmlns:a16="http://schemas.microsoft.com/office/drawing/2014/main" id="{42365B7B-B181-4F25-B4B5-0F746428B0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45266" y="4685509"/>
            <a:ext cx="404027" cy="412712"/>
          </a:xfrm>
          <a:prstGeom prst="rect">
            <a:avLst/>
          </a:prstGeom>
        </p:spPr>
      </p:pic>
      <p:pic>
        <p:nvPicPr>
          <p:cNvPr id="444" name="Graphic 443" descr="Woman with solid fill">
            <a:extLst>
              <a:ext uri="{FF2B5EF4-FFF2-40B4-BE49-F238E27FC236}">
                <a16:creationId xmlns:a16="http://schemas.microsoft.com/office/drawing/2014/main" id="{4E1A6B77-D2A7-47AA-A1F2-147FEA90A1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70464" y="4685509"/>
            <a:ext cx="404027" cy="412712"/>
          </a:xfrm>
          <a:prstGeom prst="rect">
            <a:avLst/>
          </a:prstGeom>
        </p:spPr>
      </p:pic>
      <p:pic>
        <p:nvPicPr>
          <p:cNvPr id="445" name="Graphic 444" descr="Woman with solid fill">
            <a:extLst>
              <a:ext uri="{FF2B5EF4-FFF2-40B4-BE49-F238E27FC236}">
                <a16:creationId xmlns:a16="http://schemas.microsoft.com/office/drawing/2014/main" id="{91593299-FE0A-413B-ACFC-85A0D55D90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95664" y="4685509"/>
            <a:ext cx="404027" cy="412712"/>
          </a:xfrm>
          <a:prstGeom prst="rect">
            <a:avLst/>
          </a:prstGeom>
        </p:spPr>
      </p:pic>
      <p:pic>
        <p:nvPicPr>
          <p:cNvPr id="446" name="Graphic 445" descr="Woman with solid fill">
            <a:extLst>
              <a:ext uri="{FF2B5EF4-FFF2-40B4-BE49-F238E27FC236}">
                <a16:creationId xmlns:a16="http://schemas.microsoft.com/office/drawing/2014/main" id="{BAF1C706-B0BD-4711-8448-BF3B094896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20862" y="4685509"/>
            <a:ext cx="404027" cy="412712"/>
          </a:xfrm>
          <a:prstGeom prst="rect">
            <a:avLst/>
          </a:prstGeom>
        </p:spPr>
      </p:pic>
      <p:pic>
        <p:nvPicPr>
          <p:cNvPr id="447" name="Graphic 446" descr="Woman with solid fill">
            <a:extLst>
              <a:ext uri="{FF2B5EF4-FFF2-40B4-BE49-F238E27FC236}">
                <a16:creationId xmlns:a16="http://schemas.microsoft.com/office/drawing/2014/main" id="{E6D0BCE3-212F-4F43-BCD4-52F304059D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46062" y="4685509"/>
            <a:ext cx="404027" cy="412712"/>
          </a:xfrm>
          <a:prstGeom prst="rect">
            <a:avLst/>
          </a:prstGeom>
        </p:spPr>
      </p:pic>
      <p:pic>
        <p:nvPicPr>
          <p:cNvPr id="448" name="Graphic 447" descr="Woman with solid fill">
            <a:extLst>
              <a:ext uri="{FF2B5EF4-FFF2-40B4-BE49-F238E27FC236}">
                <a16:creationId xmlns:a16="http://schemas.microsoft.com/office/drawing/2014/main" id="{B18E1D67-9B4C-49E3-B6C9-F1BE3F652C5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1261" y="4685509"/>
            <a:ext cx="404027" cy="412712"/>
          </a:xfrm>
          <a:prstGeom prst="rect">
            <a:avLst/>
          </a:prstGeom>
        </p:spPr>
      </p:pic>
      <p:pic>
        <p:nvPicPr>
          <p:cNvPr id="449" name="Graphic 448" descr="Woman with solid fill">
            <a:extLst>
              <a:ext uri="{FF2B5EF4-FFF2-40B4-BE49-F238E27FC236}">
                <a16:creationId xmlns:a16="http://schemas.microsoft.com/office/drawing/2014/main" id="{09DBCF0A-772C-4F7E-A096-56B98003FA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96459" y="4685509"/>
            <a:ext cx="404027" cy="412712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C0B731D-AEC5-441F-9020-C383EB0D4C86}"/>
              </a:ext>
            </a:extLst>
          </p:cNvPr>
          <p:cNvGrpSpPr/>
          <p:nvPr/>
        </p:nvGrpSpPr>
        <p:grpSpPr>
          <a:xfrm>
            <a:off x="4001896" y="4685509"/>
            <a:ext cx="1304824" cy="412712"/>
            <a:chOff x="4001896" y="4685509"/>
            <a:chExt cx="1304824" cy="412712"/>
          </a:xfrm>
        </p:grpSpPr>
        <p:pic>
          <p:nvPicPr>
            <p:cNvPr id="461" name="Graphic 460" descr="Woman with solid fill">
              <a:extLst>
                <a:ext uri="{FF2B5EF4-FFF2-40B4-BE49-F238E27FC236}">
                  <a16:creationId xmlns:a16="http://schemas.microsoft.com/office/drawing/2014/main" id="{DD4296E1-FB17-4658-B1A0-C6DFED2B7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001896" y="4685509"/>
              <a:ext cx="404028" cy="412712"/>
            </a:xfrm>
            <a:prstGeom prst="rect">
              <a:avLst/>
            </a:prstGeom>
          </p:spPr>
        </p:pic>
        <p:pic>
          <p:nvPicPr>
            <p:cNvPr id="462" name="Graphic 461" descr="Woman with solid fill">
              <a:extLst>
                <a:ext uri="{FF2B5EF4-FFF2-40B4-BE49-F238E27FC236}">
                  <a16:creationId xmlns:a16="http://schemas.microsoft.com/office/drawing/2014/main" id="{66967E8C-28FC-43A0-A3B7-DEC2AB9D7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227649" y="4685509"/>
              <a:ext cx="404028" cy="412712"/>
            </a:xfrm>
            <a:prstGeom prst="rect">
              <a:avLst/>
            </a:prstGeom>
          </p:spPr>
        </p:pic>
        <p:pic>
          <p:nvPicPr>
            <p:cNvPr id="463" name="Graphic 462" descr="Woman with solid fill">
              <a:extLst>
                <a:ext uri="{FF2B5EF4-FFF2-40B4-BE49-F238E27FC236}">
                  <a16:creationId xmlns:a16="http://schemas.microsoft.com/office/drawing/2014/main" id="{14753134-7AF5-4BDF-9A3C-47EFDC13D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452633" y="4685509"/>
              <a:ext cx="404028" cy="412712"/>
            </a:xfrm>
            <a:prstGeom prst="rect">
              <a:avLst/>
            </a:prstGeom>
          </p:spPr>
        </p:pic>
        <p:pic>
          <p:nvPicPr>
            <p:cNvPr id="464" name="Graphic 463" descr="Woman with solid fill">
              <a:extLst>
                <a:ext uri="{FF2B5EF4-FFF2-40B4-BE49-F238E27FC236}">
                  <a16:creationId xmlns:a16="http://schemas.microsoft.com/office/drawing/2014/main" id="{90F36387-D4AD-43C0-9D44-E2B7FCC0A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77493" y="4685509"/>
              <a:ext cx="404028" cy="412712"/>
            </a:xfrm>
            <a:prstGeom prst="rect">
              <a:avLst/>
            </a:prstGeom>
          </p:spPr>
        </p:pic>
        <p:pic>
          <p:nvPicPr>
            <p:cNvPr id="465" name="Graphic 464" descr="Woman with solid fill">
              <a:extLst>
                <a:ext uri="{FF2B5EF4-FFF2-40B4-BE49-F238E27FC236}">
                  <a16:creationId xmlns:a16="http://schemas.microsoft.com/office/drawing/2014/main" id="{3C6D78B0-84ED-4117-979A-7AC537F60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02692" y="4685509"/>
              <a:ext cx="404028" cy="412712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5B07408-104B-471F-A6CE-B3D3C505514E}"/>
              </a:ext>
            </a:extLst>
          </p:cNvPr>
          <p:cNvGrpSpPr/>
          <p:nvPr/>
        </p:nvGrpSpPr>
        <p:grpSpPr>
          <a:xfrm>
            <a:off x="8145266" y="4685509"/>
            <a:ext cx="1530023" cy="412712"/>
            <a:chOff x="8145266" y="4685509"/>
            <a:chExt cx="1530023" cy="412712"/>
          </a:xfrm>
        </p:grpSpPr>
        <p:pic>
          <p:nvPicPr>
            <p:cNvPr id="456" name="Graphic 455" descr="Woman with solid fill">
              <a:extLst>
                <a:ext uri="{FF2B5EF4-FFF2-40B4-BE49-F238E27FC236}">
                  <a16:creationId xmlns:a16="http://schemas.microsoft.com/office/drawing/2014/main" id="{A8148B57-A92B-41D1-9AB4-ED719185E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flipH="1">
              <a:off x="8145266" y="4685509"/>
              <a:ext cx="404028" cy="412712"/>
            </a:xfrm>
            <a:prstGeom prst="rect">
              <a:avLst/>
            </a:prstGeom>
          </p:spPr>
        </p:pic>
        <p:pic>
          <p:nvPicPr>
            <p:cNvPr id="469" name="Graphic 468" descr="Woman with solid fill">
              <a:extLst>
                <a:ext uri="{FF2B5EF4-FFF2-40B4-BE49-F238E27FC236}">
                  <a16:creationId xmlns:a16="http://schemas.microsoft.com/office/drawing/2014/main" id="{770C661D-97F3-4972-A462-0AF91EB5E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flipH="1">
              <a:off x="8370464" y="4685509"/>
              <a:ext cx="404028" cy="412712"/>
            </a:xfrm>
            <a:prstGeom prst="rect">
              <a:avLst/>
            </a:prstGeom>
          </p:spPr>
        </p:pic>
        <p:pic>
          <p:nvPicPr>
            <p:cNvPr id="470" name="Graphic 469" descr="Woman with solid fill">
              <a:extLst>
                <a:ext uri="{FF2B5EF4-FFF2-40B4-BE49-F238E27FC236}">
                  <a16:creationId xmlns:a16="http://schemas.microsoft.com/office/drawing/2014/main" id="{49901C34-9F2A-4A55-85D6-5AB0A92E2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flipH="1">
              <a:off x="8595664" y="4685509"/>
              <a:ext cx="404028" cy="412712"/>
            </a:xfrm>
            <a:prstGeom prst="rect">
              <a:avLst/>
            </a:prstGeom>
          </p:spPr>
        </p:pic>
        <p:pic>
          <p:nvPicPr>
            <p:cNvPr id="471" name="Graphic 470" descr="Woman with solid fill">
              <a:extLst>
                <a:ext uri="{FF2B5EF4-FFF2-40B4-BE49-F238E27FC236}">
                  <a16:creationId xmlns:a16="http://schemas.microsoft.com/office/drawing/2014/main" id="{7A0C501E-9873-4E79-86A8-B2DF34BC2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flipH="1">
              <a:off x="8820862" y="4685509"/>
              <a:ext cx="404028" cy="412712"/>
            </a:xfrm>
            <a:prstGeom prst="rect">
              <a:avLst/>
            </a:prstGeom>
          </p:spPr>
        </p:pic>
        <p:pic>
          <p:nvPicPr>
            <p:cNvPr id="472" name="Graphic 471" descr="Woman with solid fill">
              <a:extLst>
                <a:ext uri="{FF2B5EF4-FFF2-40B4-BE49-F238E27FC236}">
                  <a16:creationId xmlns:a16="http://schemas.microsoft.com/office/drawing/2014/main" id="{65C5E301-4C30-43DB-91CF-6FBE98368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flipH="1">
              <a:off x="9046062" y="4685509"/>
              <a:ext cx="404028" cy="412712"/>
            </a:xfrm>
            <a:prstGeom prst="rect">
              <a:avLst/>
            </a:prstGeom>
          </p:spPr>
        </p:pic>
        <p:pic>
          <p:nvPicPr>
            <p:cNvPr id="473" name="Graphic 472" descr="Woman with solid fill">
              <a:extLst>
                <a:ext uri="{FF2B5EF4-FFF2-40B4-BE49-F238E27FC236}">
                  <a16:creationId xmlns:a16="http://schemas.microsoft.com/office/drawing/2014/main" id="{C28C543E-AAA3-4B16-BB1D-509EEF485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flipH="1">
              <a:off x="9271261" y="4685509"/>
              <a:ext cx="404028" cy="412712"/>
            </a:xfrm>
            <a:prstGeom prst="rect">
              <a:avLst/>
            </a:prstGeom>
          </p:spPr>
        </p:pic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AB948F0C-BB3A-44FA-BFD0-E446EEE66BA9}"/>
              </a:ext>
            </a:extLst>
          </p:cNvPr>
          <p:cNvSpPr txBox="1"/>
          <p:nvPr/>
        </p:nvSpPr>
        <p:spPr>
          <a:xfrm>
            <a:off x="2054410" y="1430290"/>
            <a:ext cx="1220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-5.5 </a:t>
            </a:r>
          </a:p>
          <a:p>
            <a:pPr algn="ctr"/>
            <a:r>
              <a:rPr lang="en-US" sz="1200" dirty="0"/>
              <a:t>fewer cases</a:t>
            </a:r>
            <a:endParaRPr lang="en-US" sz="1100" dirty="0"/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ADAC33BC-481F-4FEA-A7CD-6FA115238E39}"/>
              </a:ext>
            </a:extLst>
          </p:cNvPr>
          <p:cNvSpPr txBox="1"/>
          <p:nvPr/>
        </p:nvSpPr>
        <p:spPr>
          <a:xfrm>
            <a:off x="10591719" y="1430290"/>
            <a:ext cx="1530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+2.5 </a:t>
            </a:r>
          </a:p>
          <a:p>
            <a:pPr algn="ctr"/>
            <a:r>
              <a:rPr lang="en-US" sz="1200" dirty="0"/>
              <a:t>additional cases</a:t>
            </a:r>
            <a:endParaRPr lang="en-US" sz="1100" dirty="0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727CB555-C926-4980-96F7-D438E7684033}"/>
              </a:ext>
            </a:extLst>
          </p:cNvPr>
          <p:cNvSpPr txBox="1"/>
          <p:nvPr/>
        </p:nvSpPr>
        <p:spPr>
          <a:xfrm>
            <a:off x="2054410" y="2067884"/>
            <a:ext cx="1220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-2.5</a:t>
            </a:r>
          </a:p>
          <a:p>
            <a:pPr algn="ctr"/>
            <a:r>
              <a:rPr lang="en-US" sz="1200" dirty="0"/>
              <a:t>fewer cases</a:t>
            </a:r>
            <a:endParaRPr lang="en-US" sz="1100" dirty="0"/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46967E66-935D-475A-B078-92C34458E198}"/>
              </a:ext>
            </a:extLst>
          </p:cNvPr>
          <p:cNvSpPr txBox="1"/>
          <p:nvPr/>
        </p:nvSpPr>
        <p:spPr>
          <a:xfrm>
            <a:off x="10591719" y="2067884"/>
            <a:ext cx="1530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+3</a:t>
            </a:r>
          </a:p>
          <a:p>
            <a:pPr algn="ctr"/>
            <a:r>
              <a:rPr lang="en-US" sz="1200" dirty="0"/>
              <a:t>additional cases</a:t>
            </a:r>
            <a:endParaRPr lang="en-US" sz="1100" dirty="0"/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C7139138-314C-4790-BF7B-8CAF07E1789B}"/>
              </a:ext>
            </a:extLst>
          </p:cNvPr>
          <p:cNvSpPr txBox="1"/>
          <p:nvPr/>
        </p:nvSpPr>
        <p:spPr>
          <a:xfrm>
            <a:off x="2054410" y="2705478"/>
            <a:ext cx="1220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-0.5</a:t>
            </a:r>
          </a:p>
          <a:p>
            <a:pPr algn="ctr"/>
            <a:r>
              <a:rPr lang="en-US" sz="1200" dirty="0"/>
              <a:t>fewer cases</a:t>
            </a:r>
            <a:endParaRPr lang="en-US" sz="1100" dirty="0"/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90B6FC3F-9ECA-43DB-AD90-282DB85CE107}"/>
              </a:ext>
            </a:extLst>
          </p:cNvPr>
          <p:cNvSpPr txBox="1"/>
          <p:nvPr/>
        </p:nvSpPr>
        <p:spPr>
          <a:xfrm>
            <a:off x="10591719" y="2705478"/>
            <a:ext cx="1530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+2.5</a:t>
            </a:r>
          </a:p>
          <a:p>
            <a:pPr algn="ctr"/>
            <a:r>
              <a:rPr lang="en-US" sz="1200" dirty="0"/>
              <a:t>additional cases</a:t>
            </a:r>
            <a:endParaRPr lang="en-US" sz="1100" dirty="0"/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6067AE63-91D9-455F-9104-69F6A1D616FD}"/>
              </a:ext>
            </a:extLst>
          </p:cNvPr>
          <p:cNvSpPr txBox="1"/>
          <p:nvPr/>
        </p:nvSpPr>
        <p:spPr>
          <a:xfrm>
            <a:off x="2054410" y="3343072"/>
            <a:ext cx="1220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+1.5</a:t>
            </a:r>
          </a:p>
          <a:p>
            <a:pPr algn="ctr"/>
            <a:r>
              <a:rPr lang="en-US" sz="1200" dirty="0"/>
              <a:t>additional cases</a:t>
            </a:r>
            <a:endParaRPr lang="en-US" sz="1100" dirty="0"/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5195C669-DB1F-4052-9E0E-B095CE3D8D83}"/>
              </a:ext>
            </a:extLst>
          </p:cNvPr>
          <p:cNvSpPr txBox="1"/>
          <p:nvPr/>
        </p:nvSpPr>
        <p:spPr>
          <a:xfrm>
            <a:off x="10591719" y="3343072"/>
            <a:ext cx="1530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+3</a:t>
            </a:r>
          </a:p>
          <a:p>
            <a:pPr algn="ctr"/>
            <a:r>
              <a:rPr lang="en-US" sz="1200" dirty="0"/>
              <a:t>additional cases</a:t>
            </a:r>
            <a:endParaRPr lang="en-US" sz="1100" dirty="0"/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CF8E6AD9-7E6A-4175-8460-1EB4B726A372}"/>
              </a:ext>
            </a:extLst>
          </p:cNvPr>
          <p:cNvSpPr txBox="1"/>
          <p:nvPr/>
        </p:nvSpPr>
        <p:spPr>
          <a:xfrm>
            <a:off x="10746711" y="3980666"/>
            <a:ext cx="1220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</a:t>
            </a:r>
          </a:p>
          <a:p>
            <a:pPr algn="ctr"/>
            <a:r>
              <a:rPr lang="en-US" sz="1200" dirty="0"/>
              <a:t>additional cases</a:t>
            </a:r>
            <a:endParaRPr lang="en-US" sz="1100" dirty="0"/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365CFF93-57A0-4F5D-903C-3A256D5B2835}"/>
              </a:ext>
            </a:extLst>
          </p:cNvPr>
          <p:cNvSpPr txBox="1"/>
          <p:nvPr/>
        </p:nvSpPr>
        <p:spPr>
          <a:xfrm>
            <a:off x="1899418" y="3980666"/>
            <a:ext cx="1530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</a:t>
            </a:r>
          </a:p>
          <a:p>
            <a:pPr algn="ctr"/>
            <a:r>
              <a:rPr lang="en-US" sz="1200" dirty="0"/>
              <a:t>additional cases</a:t>
            </a:r>
            <a:endParaRPr lang="en-US" sz="1100" dirty="0"/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E466D17C-4159-4542-B3CD-F5C30A4E9B63}"/>
              </a:ext>
            </a:extLst>
          </p:cNvPr>
          <p:cNvSpPr txBox="1"/>
          <p:nvPr/>
        </p:nvSpPr>
        <p:spPr>
          <a:xfrm>
            <a:off x="10746711" y="4618260"/>
            <a:ext cx="1220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-5.9</a:t>
            </a:r>
          </a:p>
          <a:p>
            <a:pPr algn="ctr"/>
            <a:r>
              <a:rPr lang="en-US" sz="1200" dirty="0"/>
              <a:t>fewer cases</a:t>
            </a:r>
            <a:endParaRPr lang="en-US" sz="1100" dirty="0"/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28222984-BB40-4D40-9C24-4912447B853F}"/>
              </a:ext>
            </a:extLst>
          </p:cNvPr>
          <p:cNvSpPr txBox="1"/>
          <p:nvPr/>
        </p:nvSpPr>
        <p:spPr>
          <a:xfrm>
            <a:off x="1899418" y="4618260"/>
            <a:ext cx="1530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-4.9</a:t>
            </a:r>
          </a:p>
          <a:p>
            <a:pPr algn="ctr"/>
            <a:r>
              <a:rPr lang="en-US" sz="1200" dirty="0"/>
              <a:t>fewer cases</a:t>
            </a:r>
            <a:endParaRPr lang="en-US" sz="1100" dirty="0"/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9CD85C65-A3D6-420F-951A-CF48D42973E2}"/>
              </a:ext>
            </a:extLst>
          </p:cNvPr>
          <p:cNvSpPr txBox="1"/>
          <p:nvPr/>
        </p:nvSpPr>
        <p:spPr>
          <a:xfrm>
            <a:off x="10746711" y="5255852"/>
            <a:ext cx="1220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-5.5</a:t>
            </a:r>
          </a:p>
          <a:p>
            <a:pPr algn="ctr"/>
            <a:r>
              <a:rPr lang="en-US" sz="1200" dirty="0"/>
              <a:t>fewer cases</a:t>
            </a:r>
            <a:endParaRPr lang="en-US" sz="1100" dirty="0"/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955CBE13-525C-4805-8066-1376F1B2B97E}"/>
              </a:ext>
            </a:extLst>
          </p:cNvPr>
          <p:cNvSpPr txBox="1"/>
          <p:nvPr/>
        </p:nvSpPr>
        <p:spPr>
          <a:xfrm>
            <a:off x="1899418" y="5255852"/>
            <a:ext cx="1530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-5.5</a:t>
            </a:r>
          </a:p>
          <a:p>
            <a:pPr algn="ctr"/>
            <a:r>
              <a:rPr lang="en-US" sz="1200" dirty="0"/>
              <a:t>fewer cases</a:t>
            </a:r>
            <a:endParaRPr lang="en-US" sz="1100" dirty="0"/>
          </a:p>
        </p:txBody>
      </p:sp>
      <p:pic>
        <p:nvPicPr>
          <p:cNvPr id="502" name="Graphic 501" descr="Cursor with solid fill">
            <a:extLst>
              <a:ext uri="{FF2B5EF4-FFF2-40B4-BE49-F238E27FC236}">
                <a16:creationId xmlns:a16="http://schemas.microsoft.com/office/drawing/2014/main" id="{111C8103-D06C-40A5-BAC6-0659C44E4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1521" y="1757153"/>
            <a:ext cx="301752" cy="301752"/>
          </a:xfrm>
          <a:prstGeom prst="rect">
            <a:avLst/>
          </a:prstGeom>
        </p:spPr>
      </p:pic>
      <p:pic>
        <p:nvPicPr>
          <p:cNvPr id="503" name="Graphic 502" descr="Cursor with solid fill">
            <a:extLst>
              <a:ext uri="{FF2B5EF4-FFF2-40B4-BE49-F238E27FC236}">
                <a16:creationId xmlns:a16="http://schemas.microsoft.com/office/drawing/2014/main" id="{65592B1F-86DA-4B2B-8381-ED3D728888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1521" y="2398888"/>
            <a:ext cx="301752" cy="301752"/>
          </a:xfrm>
          <a:prstGeom prst="rect">
            <a:avLst/>
          </a:prstGeom>
        </p:spPr>
      </p:pic>
      <p:pic>
        <p:nvPicPr>
          <p:cNvPr id="504" name="Graphic 503" descr="Cursor with solid fill">
            <a:extLst>
              <a:ext uri="{FF2B5EF4-FFF2-40B4-BE49-F238E27FC236}">
                <a16:creationId xmlns:a16="http://schemas.microsoft.com/office/drawing/2014/main" id="{F69D3068-6EF7-4DD0-AA9D-9F7BC109B7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1521" y="3040623"/>
            <a:ext cx="301752" cy="301752"/>
          </a:xfrm>
          <a:prstGeom prst="rect">
            <a:avLst/>
          </a:prstGeom>
        </p:spPr>
      </p:pic>
      <p:pic>
        <p:nvPicPr>
          <p:cNvPr id="505" name="Graphic 504" descr="Cursor with solid fill">
            <a:extLst>
              <a:ext uri="{FF2B5EF4-FFF2-40B4-BE49-F238E27FC236}">
                <a16:creationId xmlns:a16="http://schemas.microsoft.com/office/drawing/2014/main" id="{23F69237-3671-4F72-9E6D-CFB9FA149A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1521" y="3682358"/>
            <a:ext cx="301752" cy="301752"/>
          </a:xfrm>
          <a:prstGeom prst="rect">
            <a:avLst/>
          </a:prstGeom>
        </p:spPr>
      </p:pic>
      <p:pic>
        <p:nvPicPr>
          <p:cNvPr id="506" name="Graphic 505" descr="Cursor with solid fill">
            <a:extLst>
              <a:ext uri="{FF2B5EF4-FFF2-40B4-BE49-F238E27FC236}">
                <a16:creationId xmlns:a16="http://schemas.microsoft.com/office/drawing/2014/main" id="{5AA2FC08-034E-4CF4-9F5B-D3F26830DF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1521" y="4324093"/>
            <a:ext cx="301752" cy="301752"/>
          </a:xfrm>
          <a:prstGeom prst="rect">
            <a:avLst/>
          </a:prstGeom>
        </p:spPr>
      </p:pic>
      <p:pic>
        <p:nvPicPr>
          <p:cNvPr id="507" name="Graphic 506" descr="Cursor with solid fill">
            <a:extLst>
              <a:ext uri="{FF2B5EF4-FFF2-40B4-BE49-F238E27FC236}">
                <a16:creationId xmlns:a16="http://schemas.microsoft.com/office/drawing/2014/main" id="{1FA8E038-19AE-4649-ACCC-222110AAE7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1521" y="4965828"/>
            <a:ext cx="301752" cy="301752"/>
          </a:xfrm>
          <a:prstGeom prst="rect">
            <a:avLst/>
          </a:prstGeom>
        </p:spPr>
      </p:pic>
      <p:pic>
        <p:nvPicPr>
          <p:cNvPr id="508" name="Graphic 507" descr="Cursor with solid fill">
            <a:extLst>
              <a:ext uri="{FF2B5EF4-FFF2-40B4-BE49-F238E27FC236}">
                <a16:creationId xmlns:a16="http://schemas.microsoft.com/office/drawing/2014/main" id="{CA041159-A231-455D-9944-61E7B6762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1521" y="5607565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5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1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</p:childTnLst>
        </p:cTn>
      </p:par>
    </p:tnLst>
    <p:bldLst>
      <p:bldP spid="72" grpId="0" animBg="1"/>
      <p:bldP spid="50" grpId="0" animBg="1"/>
      <p:bldP spid="57" grpId="0" animBg="1"/>
      <p:bldP spid="83" grpId="0" animBg="1"/>
      <p:bldP spid="130" grpId="0" animBg="1"/>
      <p:bldP spid="58" grpId="0" animBg="1"/>
      <p:bldP spid="131" grpId="0" animBg="1"/>
      <p:bldP spid="485" grpId="0"/>
      <p:bldP spid="486" grpId="0"/>
      <p:bldP spid="487" grpId="0"/>
      <p:bldP spid="488" grpId="0"/>
      <p:bldP spid="489" grpId="0"/>
      <p:bldP spid="490" grpId="0"/>
      <p:bldP spid="491" grpId="0"/>
      <p:bldP spid="492" grpId="0"/>
      <p:bldP spid="495" grpId="0" animBg="1"/>
      <p:bldP spid="496" grpId="0" animBg="1"/>
      <p:bldP spid="497" grpId="0"/>
      <p:bldP spid="498" grpId="0"/>
      <p:bldP spid="499" grpId="0"/>
      <p:bldP spid="50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ase 1">
            <a:extLst>
              <a:ext uri="{FF2B5EF4-FFF2-40B4-BE49-F238E27FC236}">
                <a16:creationId xmlns:a16="http://schemas.microsoft.com/office/drawing/2014/main" id="{27B907CB-931D-49F5-A1B5-58A424301226}"/>
              </a:ext>
            </a:extLst>
          </p:cNvPr>
          <p:cNvSpPr/>
          <p:nvPr/>
        </p:nvSpPr>
        <p:spPr>
          <a:xfrm>
            <a:off x="2911727" y="176923"/>
            <a:ext cx="1474237" cy="408623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1</a:t>
            </a:r>
          </a:p>
        </p:txBody>
      </p:sp>
      <p:pic>
        <p:nvPicPr>
          <p:cNvPr id="83" name="Graphic 82" descr="Cursor with solid fill">
            <a:extLst>
              <a:ext uri="{FF2B5EF4-FFF2-40B4-BE49-F238E27FC236}">
                <a16:creationId xmlns:a16="http://schemas.microsoft.com/office/drawing/2014/main" id="{583EB16A-7F33-4DBB-A192-00358ABFF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0627" y="429891"/>
            <a:ext cx="301752" cy="301752"/>
          </a:xfrm>
          <a:prstGeom prst="rect">
            <a:avLst/>
          </a:prstGeom>
        </p:spPr>
      </p:pic>
      <p:sp>
        <p:nvSpPr>
          <p:cNvPr id="88" name="Case 2">
            <a:extLst>
              <a:ext uri="{FF2B5EF4-FFF2-40B4-BE49-F238E27FC236}">
                <a16:creationId xmlns:a16="http://schemas.microsoft.com/office/drawing/2014/main" id="{D4034E77-ACA5-4158-BDFE-E962036A7EBB}"/>
              </a:ext>
            </a:extLst>
          </p:cNvPr>
          <p:cNvSpPr/>
          <p:nvPr/>
        </p:nvSpPr>
        <p:spPr>
          <a:xfrm>
            <a:off x="6245949" y="176923"/>
            <a:ext cx="1474237" cy="408623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2</a:t>
            </a:r>
          </a:p>
        </p:txBody>
      </p:sp>
      <p:pic>
        <p:nvPicPr>
          <p:cNvPr id="89" name="Graphic 88" descr="Cursor with solid fill">
            <a:extLst>
              <a:ext uri="{FF2B5EF4-FFF2-40B4-BE49-F238E27FC236}">
                <a16:creationId xmlns:a16="http://schemas.microsoft.com/office/drawing/2014/main" id="{1714D0E3-D11F-4836-B264-1FA101A05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9310" y="429891"/>
            <a:ext cx="301752" cy="301752"/>
          </a:xfrm>
          <a:prstGeom prst="rect">
            <a:avLst/>
          </a:prstGeom>
        </p:spPr>
      </p:pic>
      <p:sp>
        <p:nvSpPr>
          <p:cNvPr id="90" name="Case 3">
            <a:extLst>
              <a:ext uri="{FF2B5EF4-FFF2-40B4-BE49-F238E27FC236}">
                <a16:creationId xmlns:a16="http://schemas.microsoft.com/office/drawing/2014/main" id="{D1E0FC3A-7EAA-4B5B-87E9-58D526B1B82F}"/>
              </a:ext>
            </a:extLst>
          </p:cNvPr>
          <p:cNvSpPr/>
          <p:nvPr/>
        </p:nvSpPr>
        <p:spPr>
          <a:xfrm>
            <a:off x="9797142" y="176923"/>
            <a:ext cx="1474237" cy="408623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3</a:t>
            </a:r>
          </a:p>
        </p:txBody>
      </p:sp>
      <p:pic>
        <p:nvPicPr>
          <p:cNvPr id="91" name="Graphic 90" descr="Cursor with solid fill">
            <a:extLst>
              <a:ext uri="{FF2B5EF4-FFF2-40B4-BE49-F238E27FC236}">
                <a16:creationId xmlns:a16="http://schemas.microsoft.com/office/drawing/2014/main" id="{424DF838-70F2-4CAB-8796-7CF436D33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36042" y="429891"/>
            <a:ext cx="301752" cy="301752"/>
          </a:xfrm>
          <a:prstGeom prst="rect">
            <a:avLst/>
          </a:prstGeom>
        </p:spPr>
      </p:pic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98E3B97-43F9-458A-B5EC-7A0CB83BA0E2}"/>
              </a:ext>
            </a:extLst>
          </p:cNvPr>
          <p:cNvCxnSpPr>
            <a:cxnSpLocks/>
          </p:cNvCxnSpPr>
          <p:nvPr/>
        </p:nvCxnSpPr>
        <p:spPr>
          <a:xfrm>
            <a:off x="5284562" y="176923"/>
            <a:ext cx="0" cy="645120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929ABF8-06C0-4C9F-94DD-1391A170FC04}"/>
              </a:ext>
            </a:extLst>
          </p:cNvPr>
          <p:cNvCxnSpPr>
            <a:cxnSpLocks/>
          </p:cNvCxnSpPr>
          <p:nvPr/>
        </p:nvCxnSpPr>
        <p:spPr>
          <a:xfrm>
            <a:off x="8754220" y="148589"/>
            <a:ext cx="0" cy="647128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Case 1 stem">
            <a:extLst>
              <a:ext uri="{FF2B5EF4-FFF2-40B4-BE49-F238E27FC236}">
                <a16:creationId xmlns:a16="http://schemas.microsoft.com/office/drawing/2014/main" id="{433CB194-F4F3-4639-9022-E1328D6952C4}"/>
              </a:ext>
            </a:extLst>
          </p:cNvPr>
          <p:cNvSpPr txBox="1"/>
          <p:nvPr/>
        </p:nvSpPr>
        <p:spPr>
          <a:xfrm>
            <a:off x="2095315" y="612177"/>
            <a:ext cx="30772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45 </a:t>
            </a:r>
            <a:r>
              <a:rPr lang="en-US" sz="1400" dirty="0" err="1"/>
              <a:t>yo</a:t>
            </a:r>
            <a:r>
              <a:rPr lang="en-US" sz="1400" dirty="0"/>
              <a:t> woman with no PMH presents to clinic with 3 months of amenorrhea, fatigue, and hot flashes. </a:t>
            </a:r>
          </a:p>
        </p:txBody>
      </p:sp>
      <p:sp>
        <p:nvSpPr>
          <p:cNvPr id="95" name="Case 1 Question 1">
            <a:extLst>
              <a:ext uri="{FF2B5EF4-FFF2-40B4-BE49-F238E27FC236}">
                <a16:creationId xmlns:a16="http://schemas.microsoft.com/office/drawing/2014/main" id="{BC7F0CA5-52D5-4466-BD26-372C4A6B7205}"/>
              </a:ext>
            </a:extLst>
          </p:cNvPr>
          <p:cNvSpPr/>
          <p:nvPr/>
        </p:nvSpPr>
        <p:spPr>
          <a:xfrm>
            <a:off x="2158188" y="1422917"/>
            <a:ext cx="2930600" cy="578882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are your first steps in evaluation?</a:t>
            </a:r>
          </a:p>
        </p:txBody>
      </p:sp>
      <p:pic>
        <p:nvPicPr>
          <p:cNvPr id="96" name="Graphic 95" descr="Cursor with solid fill">
            <a:extLst>
              <a:ext uri="{FF2B5EF4-FFF2-40B4-BE49-F238E27FC236}">
                <a16:creationId xmlns:a16="http://schemas.microsoft.com/office/drawing/2014/main" id="{AB2B6EC5-0151-48B6-AD61-D4982B6CE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1511" y="1844761"/>
            <a:ext cx="301752" cy="301752"/>
          </a:xfrm>
          <a:prstGeom prst="rect">
            <a:avLst/>
          </a:prstGeom>
        </p:spPr>
      </p:pic>
      <p:sp>
        <p:nvSpPr>
          <p:cNvPr id="97" name="Case 1 Answer 1">
            <a:extLst>
              <a:ext uri="{FF2B5EF4-FFF2-40B4-BE49-F238E27FC236}">
                <a16:creationId xmlns:a16="http://schemas.microsoft.com/office/drawing/2014/main" id="{56BB6F58-ADE7-43ED-A8DE-1AF0CE97B14E}"/>
              </a:ext>
            </a:extLst>
          </p:cNvPr>
          <p:cNvSpPr txBox="1"/>
          <p:nvPr/>
        </p:nvSpPr>
        <p:spPr>
          <a:xfrm>
            <a:off x="2179676" y="2050502"/>
            <a:ext cx="28974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dirty="0"/>
              <a:t>Pregnancy test – women in their 40s are among the highest “at risk group” (second most at risk group) for unplanned pregnancies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dirty="0"/>
              <a:t>Consider TSH and prolactin (see </a:t>
            </a:r>
            <a:r>
              <a:rPr lang="en-US" sz="1400" dirty="0">
                <a:hlinkClick r:id="rId5"/>
              </a:rPr>
              <a:t>AUB talk</a:t>
            </a:r>
            <a:r>
              <a:rPr lang="en-US" sz="1400" dirty="0"/>
              <a:t>) </a:t>
            </a:r>
          </a:p>
        </p:txBody>
      </p:sp>
      <p:sp>
        <p:nvSpPr>
          <p:cNvPr id="98" name="Case 1 Question 2">
            <a:extLst>
              <a:ext uri="{FF2B5EF4-FFF2-40B4-BE49-F238E27FC236}">
                <a16:creationId xmlns:a16="http://schemas.microsoft.com/office/drawing/2014/main" id="{91886C73-2DED-4385-8D94-EB62DFD9ACAE}"/>
              </a:ext>
            </a:extLst>
          </p:cNvPr>
          <p:cNvSpPr/>
          <p:nvPr/>
        </p:nvSpPr>
        <p:spPr>
          <a:xfrm>
            <a:off x="407625" y="3590767"/>
            <a:ext cx="4681163" cy="578882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You suspect perimenopause. What medications are most effective for hot flashes?</a:t>
            </a:r>
          </a:p>
        </p:txBody>
      </p:sp>
      <p:pic>
        <p:nvPicPr>
          <p:cNvPr id="99" name="Graphic 98" descr="Cursor with solid fill">
            <a:extLst>
              <a:ext uri="{FF2B5EF4-FFF2-40B4-BE49-F238E27FC236}">
                <a16:creationId xmlns:a16="http://schemas.microsoft.com/office/drawing/2014/main" id="{3C8156FE-21B4-4C0D-B7B7-0CC56FA35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7440" y="4045900"/>
            <a:ext cx="335823" cy="301752"/>
          </a:xfrm>
          <a:prstGeom prst="rect">
            <a:avLst/>
          </a:prstGeom>
        </p:spPr>
      </p:pic>
      <p:sp>
        <p:nvSpPr>
          <p:cNvPr id="100" name="Case 1 Question 3">
            <a:extLst>
              <a:ext uri="{FF2B5EF4-FFF2-40B4-BE49-F238E27FC236}">
                <a16:creationId xmlns:a16="http://schemas.microsoft.com/office/drawing/2014/main" id="{14CF74A5-0B67-4507-B639-7EFD5D303080}"/>
              </a:ext>
            </a:extLst>
          </p:cNvPr>
          <p:cNvSpPr/>
          <p:nvPr/>
        </p:nvSpPr>
        <p:spPr>
          <a:xfrm>
            <a:off x="407625" y="4610246"/>
            <a:ext cx="4681163" cy="365760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How will you counsel on the risks of MHT?</a:t>
            </a:r>
          </a:p>
        </p:txBody>
      </p:sp>
      <p:pic>
        <p:nvPicPr>
          <p:cNvPr id="101" name="Graphic 100" descr="Cursor with solid fill">
            <a:extLst>
              <a:ext uri="{FF2B5EF4-FFF2-40B4-BE49-F238E27FC236}">
                <a16:creationId xmlns:a16="http://schemas.microsoft.com/office/drawing/2014/main" id="{FDFEC9F1-E701-414C-9891-27EAF26CE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7440" y="4829103"/>
            <a:ext cx="335823" cy="301752"/>
          </a:xfrm>
          <a:prstGeom prst="rect">
            <a:avLst/>
          </a:prstGeom>
        </p:spPr>
      </p:pic>
      <p:sp>
        <p:nvSpPr>
          <p:cNvPr id="102" name="Case 1 Answer 3">
            <a:extLst>
              <a:ext uri="{FF2B5EF4-FFF2-40B4-BE49-F238E27FC236}">
                <a16:creationId xmlns:a16="http://schemas.microsoft.com/office/drawing/2014/main" id="{39687FC5-37E8-4C70-9E34-5E33885A0DFC}"/>
              </a:ext>
            </a:extLst>
          </p:cNvPr>
          <p:cNvSpPr txBox="1"/>
          <p:nvPr/>
        </p:nvSpPr>
        <p:spPr>
          <a:xfrm>
            <a:off x="532190" y="5012919"/>
            <a:ext cx="4480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Risk of breast cancer, VTE, ACS, stroke. </a:t>
            </a:r>
          </a:p>
          <a:p>
            <a:pPr algn="ctr"/>
            <a:r>
              <a:rPr lang="en-US" sz="1400" dirty="0"/>
              <a:t>Plan to stop 5 to 10 years later.  </a:t>
            </a:r>
          </a:p>
        </p:txBody>
      </p:sp>
      <p:sp>
        <p:nvSpPr>
          <p:cNvPr id="103" name="Case 1 Question 4">
            <a:extLst>
              <a:ext uri="{FF2B5EF4-FFF2-40B4-BE49-F238E27FC236}">
                <a16:creationId xmlns:a16="http://schemas.microsoft.com/office/drawing/2014/main" id="{921324A2-18EA-402C-84EF-56305A4CC6E0}"/>
              </a:ext>
            </a:extLst>
          </p:cNvPr>
          <p:cNvSpPr/>
          <p:nvPr/>
        </p:nvSpPr>
        <p:spPr>
          <a:xfrm>
            <a:off x="407625" y="5602462"/>
            <a:ext cx="4681163" cy="578882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She is sexually active with men. How else will you counsel her?</a:t>
            </a:r>
          </a:p>
        </p:txBody>
      </p:sp>
      <p:pic>
        <p:nvPicPr>
          <p:cNvPr id="104" name="Graphic 103" descr="Cursor with solid fill">
            <a:extLst>
              <a:ext uri="{FF2B5EF4-FFF2-40B4-BE49-F238E27FC236}">
                <a16:creationId xmlns:a16="http://schemas.microsoft.com/office/drawing/2014/main" id="{1107CE76-88D0-4D28-8718-8CE7E710A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7440" y="6045949"/>
            <a:ext cx="335823" cy="301752"/>
          </a:xfrm>
          <a:prstGeom prst="rect">
            <a:avLst/>
          </a:prstGeom>
        </p:spPr>
      </p:pic>
      <p:sp>
        <p:nvSpPr>
          <p:cNvPr id="105" name="Case 1 Answer 4">
            <a:extLst>
              <a:ext uri="{FF2B5EF4-FFF2-40B4-BE49-F238E27FC236}">
                <a16:creationId xmlns:a16="http://schemas.microsoft.com/office/drawing/2014/main" id="{B38B7658-BAF9-4D2F-9AD0-8011EF39AE74}"/>
              </a:ext>
            </a:extLst>
          </p:cNvPr>
          <p:cNvSpPr txBox="1"/>
          <p:nvPr/>
        </p:nvSpPr>
        <p:spPr>
          <a:xfrm>
            <a:off x="457619" y="6219323"/>
            <a:ext cx="4590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If she desires to avoid pregnancy, discuss contraception options with patient. (IUD OK to age 55, OCPs to age 51)</a:t>
            </a:r>
          </a:p>
        </p:txBody>
      </p:sp>
      <p:sp>
        <p:nvSpPr>
          <p:cNvPr id="106" name="Case 2 stem">
            <a:extLst>
              <a:ext uri="{FF2B5EF4-FFF2-40B4-BE49-F238E27FC236}">
                <a16:creationId xmlns:a16="http://schemas.microsoft.com/office/drawing/2014/main" id="{C527D523-50B6-48F1-9A47-350415DD82A4}"/>
              </a:ext>
            </a:extLst>
          </p:cNvPr>
          <p:cNvSpPr txBox="1"/>
          <p:nvPr/>
        </p:nvSpPr>
        <p:spPr>
          <a:xfrm>
            <a:off x="5342360" y="612177"/>
            <a:ext cx="33501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50 </a:t>
            </a:r>
            <a:r>
              <a:rPr lang="en-US" sz="1400" dirty="0" err="1"/>
              <a:t>yo</a:t>
            </a:r>
            <a:r>
              <a:rPr lang="en-US" sz="1400" dirty="0"/>
              <a:t> woman presents with heavy bleeding. Her periods used to last 3-4 days every month, recently they have been lasting 10-18 days and she has needed to change her sanitary pad every 1-2 hours. </a:t>
            </a:r>
          </a:p>
        </p:txBody>
      </p:sp>
      <p:sp>
        <p:nvSpPr>
          <p:cNvPr id="107" name="Case 2 Question 1">
            <a:extLst>
              <a:ext uri="{FF2B5EF4-FFF2-40B4-BE49-F238E27FC236}">
                <a16:creationId xmlns:a16="http://schemas.microsoft.com/office/drawing/2014/main" id="{AFBCDCE2-0C07-45D2-80B5-D34B03E26168}"/>
              </a:ext>
            </a:extLst>
          </p:cNvPr>
          <p:cNvSpPr/>
          <p:nvPr/>
        </p:nvSpPr>
        <p:spPr>
          <a:xfrm>
            <a:off x="5417235" y="1855640"/>
            <a:ext cx="3200400" cy="365760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How will you evaluate her menorrhagia?</a:t>
            </a:r>
          </a:p>
        </p:txBody>
      </p:sp>
      <p:pic>
        <p:nvPicPr>
          <p:cNvPr id="108" name="Graphic 107" descr="Cursor with solid fill">
            <a:extLst>
              <a:ext uri="{FF2B5EF4-FFF2-40B4-BE49-F238E27FC236}">
                <a16:creationId xmlns:a16="http://schemas.microsoft.com/office/drawing/2014/main" id="{12A58FD7-BB17-4C1F-AE1F-060979C59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8135" y="2056524"/>
            <a:ext cx="301752" cy="301752"/>
          </a:xfrm>
          <a:prstGeom prst="rect">
            <a:avLst/>
          </a:prstGeom>
        </p:spPr>
      </p:pic>
      <p:sp>
        <p:nvSpPr>
          <p:cNvPr id="109" name="Case 2 Answer 1">
            <a:extLst>
              <a:ext uri="{FF2B5EF4-FFF2-40B4-BE49-F238E27FC236}">
                <a16:creationId xmlns:a16="http://schemas.microsoft.com/office/drawing/2014/main" id="{F2EAF2F0-A7FF-40B4-83A1-24ABE37A036D}"/>
              </a:ext>
            </a:extLst>
          </p:cNvPr>
          <p:cNvSpPr txBox="1"/>
          <p:nvPr/>
        </p:nvSpPr>
        <p:spPr>
          <a:xfrm>
            <a:off x="5417747" y="2221878"/>
            <a:ext cx="319937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dirty="0"/>
              <a:t>Pelvic exam, transvaginal US ± endometrial bx to rule out endometrial cancer. 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dirty="0"/>
              <a:t>Consider FSH, prolactin, TSH to evaluate for perimenopause and thyroid disease.</a:t>
            </a:r>
          </a:p>
        </p:txBody>
      </p:sp>
      <p:sp>
        <p:nvSpPr>
          <p:cNvPr id="110" name="Case 2 Question 2">
            <a:extLst>
              <a:ext uri="{FF2B5EF4-FFF2-40B4-BE49-F238E27FC236}">
                <a16:creationId xmlns:a16="http://schemas.microsoft.com/office/drawing/2014/main" id="{4D7D2ADF-1A63-4C73-B486-1AD5FD9CE3E6}"/>
              </a:ext>
            </a:extLst>
          </p:cNvPr>
          <p:cNvSpPr/>
          <p:nvPr/>
        </p:nvSpPr>
        <p:spPr>
          <a:xfrm>
            <a:off x="5401222" y="3429000"/>
            <a:ext cx="3200400" cy="578882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Workup for other causes are negative, how will you manage her menorrhagia?</a:t>
            </a:r>
          </a:p>
        </p:txBody>
      </p:sp>
      <p:pic>
        <p:nvPicPr>
          <p:cNvPr id="111" name="Graphic 110" descr="Cursor with solid fill">
            <a:extLst>
              <a:ext uri="{FF2B5EF4-FFF2-40B4-BE49-F238E27FC236}">
                <a16:creationId xmlns:a16="http://schemas.microsoft.com/office/drawing/2014/main" id="{92752C71-E599-47B7-AC35-A9D17025A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2122" y="3858927"/>
            <a:ext cx="301752" cy="301752"/>
          </a:xfrm>
          <a:prstGeom prst="rect">
            <a:avLst/>
          </a:prstGeom>
        </p:spPr>
      </p:pic>
      <p:sp>
        <p:nvSpPr>
          <p:cNvPr id="112" name="Case 2 Answer 2">
            <a:extLst>
              <a:ext uri="{FF2B5EF4-FFF2-40B4-BE49-F238E27FC236}">
                <a16:creationId xmlns:a16="http://schemas.microsoft.com/office/drawing/2014/main" id="{8B0CA808-6671-4EB6-9D6D-B0F2CC41CAE7}"/>
              </a:ext>
            </a:extLst>
          </p:cNvPr>
          <p:cNvSpPr txBox="1"/>
          <p:nvPr/>
        </p:nvSpPr>
        <p:spPr>
          <a:xfrm>
            <a:off x="5401734" y="4061784"/>
            <a:ext cx="3199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Progesterone IUD or OCPs to manage her peri-menopausal menorrhagia</a:t>
            </a:r>
          </a:p>
        </p:txBody>
      </p:sp>
      <p:sp>
        <p:nvSpPr>
          <p:cNvPr id="113" name="Case 2 Question 3">
            <a:extLst>
              <a:ext uri="{FF2B5EF4-FFF2-40B4-BE49-F238E27FC236}">
                <a16:creationId xmlns:a16="http://schemas.microsoft.com/office/drawing/2014/main" id="{B8F02E5B-0C49-46FC-B5A7-79CDC6416211}"/>
              </a:ext>
            </a:extLst>
          </p:cNvPr>
          <p:cNvSpPr/>
          <p:nvPr/>
        </p:nvSpPr>
        <p:spPr>
          <a:xfrm>
            <a:off x="5384757" y="4623885"/>
            <a:ext cx="3200400" cy="817245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She is interested in using combined OCPs. What are contraindications to use in perimenopause?</a:t>
            </a:r>
          </a:p>
        </p:txBody>
      </p:sp>
      <p:pic>
        <p:nvPicPr>
          <p:cNvPr id="114" name="Graphic 113" descr="Cursor with solid fill">
            <a:extLst>
              <a:ext uri="{FF2B5EF4-FFF2-40B4-BE49-F238E27FC236}">
                <a16:creationId xmlns:a16="http://schemas.microsoft.com/office/drawing/2014/main" id="{C53022F8-4914-46F8-BD5B-20B59A06C6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2122" y="5290254"/>
            <a:ext cx="301752" cy="301752"/>
          </a:xfrm>
          <a:prstGeom prst="rect">
            <a:avLst/>
          </a:prstGeom>
        </p:spPr>
      </p:pic>
      <p:sp>
        <p:nvSpPr>
          <p:cNvPr id="115" name="Case 2 Answer 3">
            <a:extLst>
              <a:ext uri="{FF2B5EF4-FFF2-40B4-BE49-F238E27FC236}">
                <a16:creationId xmlns:a16="http://schemas.microsoft.com/office/drawing/2014/main" id="{CEB2E5C9-1438-4EDA-B0D8-6C248A37A603}"/>
              </a:ext>
            </a:extLst>
          </p:cNvPr>
          <p:cNvSpPr txBox="1"/>
          <p:nvPr/>
        </p:nvSpPr>
        <p:spPr>
          <a:xfrm>
            <a:off x="5416247" y="5506448"/>
            <a:ext cx="32906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dirty="0"/>
              <a:t>Risk factors for CVD (e.g. smoking, obesity, HTN, DM)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dirty="0"/>
              <a:t>History of VTE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dirty="0"/>
              <a:t>Migraines w/ aura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dirty="0"/>
              <a:t>Breast cancer. </a:t>
            </a:r>
          </a:p>
        </p:txBody>
      </p:sp>
      <p:sp>
        <p:nvSpPr>
          <p:cNvPr id="119" name="Case 3 stem">
            <a:extLst>
              <a:ext uri="{FF2B5EF4-FFF2-40B4-BE49-F238E27FC236}">
                <a16:creationId xmlns:a16="http://schemas.microsoft.com/office/drawing/2014/main" id="{F8D8F706-AB63-4D70-A342-5F39CAD37F56}"/>
              </a:ext>
            </a:extLst>
          </p:cNvPr>
          <p:cNvSpPr txBox="1"/>
          <p:nvPr/>
        </p:nvSpPr>
        <p:spPr>
          <a:xfrm>
            <a:off x="8845426" y="612177"/>
            <a:ext cx="33000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49 </a:t>
            </a:r>
            <a:r>
              <a:rPr lang="en-US" sz="1400" dirty="0" err="1"/>
              <a:t>yo</a:t>
            </a:r>
            <a:r>
              <a:rPr lang="en-US" sz="1400" dirty="0"/>
              <a:t> woman with a history of DM, HTN, PAD, tobacco use disorder presents with menopause and asks about hormonal therapy to manage hot flashes. </a:t>
            </a:r>
          </a:p>
        </p:txBody>
      </p:sp>
      <p:sp>
        <p:nvSpPr>
          <p:cNvPr id="120" name="Case 3 Question 1">
            <a:extLst>
              <a:ext uri="{FF2B5EF4-FFF2-40B4-BE49-F238E27FC236}">
                <a16:creationId xmlns:a16="http://schemas.microsoft.com/office/drawing/2014/main" id="{6E3B60C2-0514-435A-8D0B-6839382AD39C}"/>
              </a:ext>
            </a:extLst>
          </p:cNvPr>
          <p:cNvSpPr/>
          <p:nvPr/>
        </p:nvSpPr>
        <p:spPr>
          <a:xfrm>
            <a:off x="8895460" y="3311948"/>
            <a:ext cx="3154680" cy="365760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Would you recommend MHT?</a:t>
            </a:r>
          </a:p>
        </p:txBody>
      </p:sp>
      <p:pic>
        <p:nvPicPr>
          <p:cNvPr id="121" name="Graphic 120" descr="Cursor with solid fill">
            <a:extLst>
              <a:ext uri="{FF2B5EF4-FFF2-40B4-BE49-F238E27FC236}">
                <a16:creationId xmlns:a16="http://schemas.microsoft.com/office/drawing/2014/main" id="{9F65EF40-63A5-470A-A98D-3085340FF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18485" y="3516625"/>
            <a:ext cx="301752" cy="301752"/>
          </a:xfrm>
          <a:prstGeom prst="rect">
            <a:avLst/>
          </a:prstGeom>
        </p:spPr>
      </p:pic>
      <p:sp>
        <p:nvSpPr>
          <p:cNvPr id="122" name="Case 3 Answer 1">
            <a:extLst>
              <a:ext uri="{FF2B5EF4-FFF2-40B4-BE49-F238E27FC236}">
                <a16:creationId xmlns:a16="http://schemas.microsoft.com/office/drawing/2014/main" id="{DABD486B-BB32-4602-9377-BD3C5BB43040}"/>
              </a:ext>
            </a:extLst>
          </p:cNvPr>
          <p:cNvSpPr txBox="1"/>
          <p:nvPr/>
        </p:nvSpPr>
        <p:spPr>
          <a:xfrm>
            <a:off x="8906075" y="3677687"/>
            <a:ext cx="30572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No, MHT is contraindicated in PAD. </a:t>
            </a:r>
          </a:p>
          <a:p>
            <a:pPr algn="ctr"/>
            <a:r>
              <a:rPr lang="en-US" sz="1400" dirty="0"/>
              <a:t>HTN, DM, and tobacco are all moderate risk when assessed individually, but are high risk in combination. </a:t>
            </a:r>
          </a:p>
        </p:txBody>
      </p:sp>
      <p:sp>
        <p:nvSpPr>
          <p:cNvPr id="126" name="Case 3 Question 3">
            <a:extLst>
              <a:ext uri="{FF2B5EF4-FFF2-40B4-BE49-F238E27FC236}">
                <a16:creationId xmlns:a16="http://schemas.microsoft.com/office/drawing/2014/main" id="{2A2D4E0F-8E56-4025-96D4-B8789FDA4750}"/>
              </a:ext>
            </a:extLst>
          </p:cNvPr>
          <p:cNvSpPr/>
          <p:nvPr/>
        </p:nvSpPr>
        <p:spPr>
          <a:xfrm>
            <a:off x="8890806" y="1616480"/>
            <a:ext cx="3154680" cy="578882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lifestyle interventions will you discuss to improve hot flashes?</a:t>
            </a:r>
          </a:p>
        </p:txBody>
      </p:sp>
      <p:pic>
        <p:nvPicPr>
          <p:cNvPr id="127" name="Graphic 126" descr="Cursor with solid fill">
            <a:extLst>
              <a:ext uri="{FF2B5EF4-FFF2-40B4-BE49-F238E27FC236}">
                <a16:creationId xmlns:a16="http://schemas.microsoft.com/office/drawing/2014/main" id="{61B2C920-1A20-4524-BF8E-1ADF38BDF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14266" y="2044698"/>
            <a:ext cx="301752" cy="301752"/>
          </a:xfrm>
          <a:prstGeom prst="rect">
            <a:avLst/>
          </a:prstGeom>
        </p:spPr>
      </p:pic>
      <p:sp>
        <p:nvSpPr>
          <p:cNvPr id="128" name="Case 3 Answer 3">
            <a:extLst>
              <a:ext uri="{FF2B5EF4-FFF2-40B4-BE49-F238E27FC236}">
                <a16:creationId xmlns:a16="http://schemas.microsoft.com/office/drawing/2014/main" id="{9EEFBDA8-1F94-4D68-9640-8E9F01A64217}"/>
              </a:ext>
            </a:extLst>
          </p:cNvPr>
          <p:cNvSpPr txBox="1"/>
          <p:nvPr/>
        </p:nvSpPr>
        <p:spPr>
          <a:xfrm>
            <a:off x="8858332" y="2265299"/>
            <a:ext cx="30572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u="sng" dirty="0"/>
              <a:t>Avoid</a:t>
            </a:r>
            <a:r>
              <a:rPr lang="en-US" sz="1400" dirty="0"/>
              <a:t> hot rooms, hot drinks, EtOH, caffeine and cigarettes.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dirty="0"/>
              <a:t>Carry a fan &amp; wear layers.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dirty="0"/>
              <a:t>Weight loss &amp; exercise.</a:t>
            </a:r>
          </a:p>
        </p:txBody>
      </p:sp>
      <p:sp>
        <p:nvSpPr>
          <p:cNvPr id="132" name="Case 1 Answer 2">
            <a:extLst>
              <a:ext uri="{FF2B5EF4-FFF2-40B4-BE49-F238E27FC236}">
                <a16:creationId xmlns:a16="http://schemas.microsoft.com/office/drawing/2014/main" id="{13EE70B0-78ED-4821-810E-FFDEF5DE436F}"/>
              </a:ext>
            </a:extLst>
          </p:cNvPr>
          <p:cNvSpPr txBox="1"/>
          <p:nvPr/>
        </p:nvSpPr>
        <p:spPr>
          <a:xfrm>
            <a:off x="476238" y="4222829"/>
            <a:ext cx="4609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MHT with estrogen and progesterone (if intact uterus).</a:t>
            </a:r>
          </a:p>
        </p:txBody>
      </p:sp>
      <p:sp>
        <p:nvSpPr>
          <p:cNvPr id="67" name="Cases">
            <a:hlinkClick r:id="" action="ppaction://noaction"/>
            <a:extLst>
              <a:ext uri="{FF2B5EF4-FFF2-40B4-BE49-F238E27FC236}">
                <a16:creationId xmlns:a16="http://schemas.microsoft.com/office/drawing/2014/main" id="{B46A2A0B-BC81-4A79-9F6C-0F1ACFC7B8D3}"/>
              </a:ext>
            </a:extLst>
          </p:cNvPr>
          <p:cNvSpPr/>
          <p:nvPr/>
        </p:nvSpPr>
        <p:spPr>
          <a:xfrm>
            <a:off x="156231" y="1795358"/>
            <a:ext cx="1737360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68" name="Obj 2">
            <a:hlinkClick r:id="rId6" action="ppaction://hlinksldjump"/>
            <a:extLst>
              <a:ext uri="{FF2B5EF4-FFF2-40B4-BE49-F238E27FC236}">
                <a16:creationId xmlns:a16="http://schemas.microsoft.com/office/drawing/2014/main" id="{6AF7580D-810F-40D6-821C-45BB3C692AF7}"/>
              </a:ext>
            </a:extLst>
          </p:cNvPr>
          <p:cNvSpPr/>
          <p:nvPr/>
        </p:nvSpPr>
        <p:spPr>
          <a:xfrm>
            <a:off x="156231" y="975923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Hormone Therapy (MHT)</a:t>
            </a:r>
          </a:p>
        </p:txBody>
      </p:sp>
      <p:sp>
        <p:nvSpPr>
          <p:cNvPr id="69" name="Obj 2">
            <a:hlinkClick r:id="rId7" action="ppaction://hlinksldjump"/>
            <a:extLst>
              <a:ext uri="{FF2B5EF4-FFF2-40B4-BE49-F238E27FC236}">
                <a16:creationId xmlns:a16="http://schemas.microsoft.com/office/drawing/2014/main" id="{633F0ABF-8F52-412E-8692-AFE88BD6E753}"/>
              </a:ext>
            </a:extLst>
          </p:cNvPr>
          <p:cNvSpPr/>
          <p:nvPr/>
        </p:nvSpPr>
        <p:spPr>
          <a:xfrm>
            <a:off x="156231" y="156489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Definitions &amp; Diagnoses</a:t>
            </a:r>
          </a:p>
        </p:txBody>
      </p:sp>
      <p:pic>
        <p:nvPicPr>
          <p:cNvPr id="70" name="Graphic 69" descr="Cursor with solid fill">
            <a:extLst>
              <a:ext uri="{FF2B5EF4-FFF2-40B4-BE49-F238E27FC236}">
                <a16:creationId xmlns:a16="http://schemas.microsoft.com/office/drawing/2014/main" id="{C402CFE2-1C91-4411-BD8E-80AF6AC60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5231" y="1476639"/>
            <a:ext cx="301752" cy="301752"/>
          </a:xfrm>
          <a:prstGeom prst="rect">
            <a:avLst/>
          </a:prstGeom>
        </p:spPr>
      </p:pic>
      <p:pic>
        <p:nvPicPr>
          <p:cNvPr id="71" name="Graphic 70" descr="Cursor with solid fill">
            <a:extLst>
              <a:ext uri="{FF2B5EF4-FFF2-40B4-BE49-F238E27FC236}">
                <a16:creationId xmlns:a16="http://schemas.microsoft.com/office/drawing/2014/main" id="{0D514BD9-1FC8-4E42-86FC-06B198F5F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5231" y="652497"/>
            <a:ext cx="301752" cy="301752"/>
          </a:xfrm>
          <a:prstGeom prst="rect">
            <a:avLst/>
          </a:prstGeom>
        </p:spPr>
      </p:pic>
      <p:sp>
        <p:nvSpPr>
          <p:cNvPr id="79" name="Case 3 Question 2">
            <a:extLst>
              <a:ext uri="{FF2B5EF4-FFF2-40B4-BE49-F238E27FC236}">
                <a16:creationId xmlns:a16="http://schemas.microsoft.com/office/drawing/2014/main" id="{DE5FFC49-5CFF-4A16-938B-F7705ABC283F}"/>
              </a:ext>
            </a:extLst>
          </p:cNvPr>
          <p:cNvSpPr/>
          <p:nvPr/>
        </p:nvSpPr>
        <p:spPr>
          <a:xfrm>
            <a:off x="8906075" y="4684403"/>
            <a:ext cx="3154680" cy="578882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other medications may be helpful for her hot flashes?</a:t>
            </a:r>
          </a:p>
        </p:txBody>
      </p:sp>
      <p:pic>
        <p:nvPicPr>
          <p:cNvPr id="80" name="Graphic 79" descr="Cursor with solid fill">
            <a:extLst>
              <a:ext uri="{FF2B5EF4-FFF2-40B4-BE49-F238E27FC236}">
                <a16:creationId xmlns:a16="http://schemas.microsoft.com/office/drawing/2014/main" id="{07936AD2-A0BF-472A-96BD-F905C180EC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28696" y="5110498"/>
            <a:ext cx="301752" cy="301752"/>
          </a:xfrm>
          <a:prstGeom prst="rect">
            <a:avLst/>
          </a:prstGeom>
        </p:spPr>
      </p:pic>
      <p:sp>
        <p:nvSpPr>
          <p:cNvPr id="81" name="Case 3 Answer 2">
            <a:extLst>
              <a:ext uri="{FF2B5EF4-FFF2-40B4-BE49-F238E27FC236}">
                <a16:creationId xmlns:a16="http://schemas.microsoft.com/office/drawing/2014/main" id="{F87F0EDD-B286-415A-8254-F6E16D1008E8}"/>
              </a:ext>
            </a:extLst>
          </p:cNvPr>
          <p:cNvSpPr txBox="1"/>
          <p:nvPr/>
        </p:nvSpPr>
        <p:spPr>
          <a:xfrm>
            <a:off x="8933184" y="5313893"/>
            <a:ext cx="30572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SNRI/SSRI. Venlafaxine and escitalopram are the most studied.</a:t>
            </a:r>
          </a:p>
          <a:p>
            <a:pPr algn="ctr"/>
            <a:r>
              <a:rPr lang="en-US" sz="1400" dirty="0"/>
              <a:t>Gabapentin, pregabalin &gt; clonidine are other options.</a:t>
            </a:r>
          </a:p>
        </p:txBody>
      </p:sp>
      <p:sp>
        <p:nvSpPr>
          <p:cNvPr id="142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28B2540A-380E-4DEA-9832-9BEF411B6F95}"/>
              </a:ext>
            </a:extLst>
          </p:cNvPr>
          <p:cNvSpPr/>
          <p:nvPr/>
        </p:nvSpPr>
        <p:spPr>
          <a:xfrm>
            <a:off x="635489" y="2342692"/>
            <a:ext cx="1258101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1-3</a:t>
            </a:r>
          </a:p>
        </p:txBody>
      </p:sp>
      <p:sp>
        <p:nvSpPr>
          <p:cNvPr id="144" name="Cases">
            <a:hlinkClick r:id="rId9" action="ppaction://hlinksldjump"/>
            <a:extLst>
              <a:ext uri="{FF2B5EF4-FFF2-40B4-BE49-F238E27FC236}">
                <a16:creationId xmlns:a16="http://schemas.microsoft.com/office/drawing/2014/main" id="{A13E704A-9D78-4A0D-AEBF-696C5F3502F5}"/>
              </a:ext>
            </a:extLst>
          </p:cNvPr>
          <p:cNvSpPr/>
          <p:nvPr/>
        </p:nvSpPr>
        <p:spPr>
          <a:xfrm>
            <a:off x="635489" y="2890025"/>
            <a:ext cx="1258102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4-6</a:t>
            </a:r>
          </a:p>
        </p:txBody>
      </p: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B19BFDE2-CE8C-427E-A87B-3DB7A68E2AC2}"/>
              </a:ext>
            </a:extLst>
          </p:cNvPr>
          <p:cNvCxnSpPr>
            <a:cxnSpLocks/>
            <a:endCxn id="142" idx="1"/>
          </p:cNvCxnSpPr>
          <p:nvPr/>
        </p:nvCxnSpPr>
        <p:spPr>
          <a:xfrm rot="16200000" flipH="1">
            <a:off x="269977" y="2161170"/>
            <a:ext cx="401616" cy="32940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FC7E2AF0-64B9-4621-923F-D24C1F730595}"/>
              </a:ext>
            </a:extLst>
          </p:cNvPr>
          <p:cNvCxnSpPr>
            <a:cxnSpLocks/>
            <a:endCxn id="144" idx="1"/>
          </p:cNvCxnSpPr>
          <p:nvPr/>
        </p:nvCxnSpPr>
        <p:spPr>
          <a:xfrm rot="16200000" flipH="1">
            <a:off x="191702" y="2630228"/>
            <a:ext cx="558166" cy="32940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" name="Graphic 142" descr="Cursor with solid fill">
            <a:extLst>
              <a:ext uri="{FF2B5EF4-FFF2-40B4-BE49-F238E27FC236}">
                <a16:creationId xmlns:a16="http://schemas.microsoft.com/office/drawing/2014/main" id="{BEDD9180-00A4-44EA-AAC3-4BC53C2272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9224" y="3121066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82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</p:childTnLst>
        </p:cTn>
      </p:par>
    </p:tnLst>
    <p:bldLst>
      <p:bldP spid="94" grpId="0"/>
      <p:bldP spid="95" grpId="0" animBg="1"/>
      <p:bldP spid="97" grpId="0"/>
      <p:bldP spid="98" grpId="0" animBg="1"/>
      <p:bldP spid="100" grpId="0" animBg="1"/>
      <p:bldP spid="102" grpId="0"/>
      <p:bldP spid="103" grpId="0" animBg="1"/>
      <p:bldP spid="105" grpId="0"/>
      <p:bldP spid="106" grpId="0"/>
      <p:bldP spid="107" grpId="0" animBg="1"/>
      <p:bldP spid="109" grpId="0"/>
      <p:bldP spid="110" grpId="0" animBg="1"/>
      <p:bldP spid="112" grpId="0"/>
      <p:bldP spid="113" grpId="0" animBg="1"/>
      <p:bldP spid="115" grpId="0"/>
      <p:bldP spid="119" grpId="0"/>
      <p:bldP spid="120" grpId="0" animBg="1"/>
      <p:bldP spid="122" grpId="0"/>
      <p:bldP spid="126" grpId="0" animBg="1"/>
      <p:bldP spid="128" grpId="0"/>
      <p:bldP spid="132" grpId="0"/>
      <p:bldP spid="79" grpId="0" animBg="1"/>
      <p:bldP spid="8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ase 1">
            <a:extLst>
              <a:ext uri="{FF2B5EF4-FFF2-40B4-BE49-F238E27FC236}">
                <a16:creationId xmlns:a16="http://schemas.microsoft.com/office/drawing/2014/main" id="{27B907CB-931D-49F5-A1B5-58A424301226}"/>
              </a:ext>
            </a:extLst>
          </p:cNvPr>
          <p:cNvSpPr/>
          <p:nvPr/>
        </p:nvSpPr>
        <p:spPr>
          <a:xfrm>
            <a:off x="2911727" y="176923"/>
            <a:ext cx="1474237" cy="408623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4</a:t>
            </a:r>
          </a:p>
        </p:txBody>
      </p:sp>
      <p:pic>
        <p:nvPicPr>
          <p:cNvPr id="83" name="Graphic 82" descr="Cursor with solid fill">
            <a:extLst>
              <a:ext uri="{FF2B5EF4-FFF2-40B4-BE49-F238E27FC236}">
                <a16:creationId xmlns:a16="http://schemas.microsoft.com/office/drawing/2014/main" id="{583EB16A-7F33-4DBB-A192-00358ABFF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0627" y="429891"/>
            <a:ext cx="301752" cy="301752"/>
          </a:xfrm>
          <a:prstGeom prst="rect">
            <a:avLst/>
          </a:prstGeom>
        </p:spPr>
      </p:pic>
      <p:sp>
        <p:nvSpPr>
          <p:cNvPr id="88" name="Case 2">
            <a:extLst>
              <a:ext uri="{FF2B5EF4-FFF2-40B4-BE49-F238E27FC236}">
                <a16:creationId xmlns:a16="http://schemas.microsoft.com/office/drawing/2014/main" id="{D4034E77-ACA5-4158-BDFE-E962036A7EBB}"/>
              </a:ext>
            </a:extLst>
          </p:cNvPr>
          <p:cNvSpPr/>
          <p:nvPr/>
        </p:nvSpPr>
        <p:spPr>
          <a:xfrm>
            <a:off x="6245949" y="176923"/>
            <a:ext cx="1474237" cy="408623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5</a:t>
            </a:r>
          </a:p>
        </p:txBody>
      </p:sp>
      <p:pic>
        <p:nvPicPr>
          <p:cNvPr id="89" name="Graphic 88" descr="Cursor with solid fill">
            <a:extLst>
              <a:ext uri="{FF2B5EF4-FFF2-40B4-BE49-F238E27FC236}">
                <a16:creationId xmlns:a16="http://schemas.microsoft.com/office/drawing/2014/main" id="{1714D0E3-D11F-4836-B264-1FA101A05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9310" y="429891"/>
            <a:ext cx="301752" cy="301752"/>
          </a:xfrm>
          <a:prstGeom prst="rect">
            <a:avLst/>
          </a:prstGeom>
        </p:spPr>
      </p:pic>
      <p:sp>
        <p:nvSpPr>
          <p:cNvPr id="90" name="Case 3">
            <a:extLst>
              <a:ext uri="{FF2B5EF4-FFF2-40B4-BE49-F238E27FC236}">
                <a16:creationId xmlns:a16="http://schemas.microsoft.com/office/drawing/2014/main" id="{D1E0FC3A-7EAA-4B5B-87E9-58D526B1B82F}"/>
              </a:ext>
            </a:extLst>
          </p:cNvPr>
          <p:cNvSpPr/>
          <p:nvPr/>
        </p:nvSpPr>
        <p:spPr>
          <a:xfrm>
            <a:off x="9797142" y="176923"/>
            <a:ext cx="1474237" cy="408623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6</a:t>
            </a:r>
          </a:p>
        </p:txBody>
      </p:sp>
      <p:pic>
        <p:nvPicPr>
          <p:cNvPr id="91" name="Graphic 90" descr="Cursor with solid fill">
            <a:extLst>
              <a:ext uri="{FF2B5EF4-FFF2-40B4-BE49-F238E27FC236}">
                <a16:creationId xmlns:a16="http://schemas.microsoft.com/office/drawing/2014/main" id="{424DF838-70F2-4CAB-8796-7CF436D33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36042" y="429891"/>
            <a:ext cx="301752" cy="301752"/>
          </a:xfrm>
          <a:prstGeom prst="rect">
            <a:avLst/>
          </a:prstGeom>
        </p:spPr>
      </p:pic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98E3B97-43F9-458A-B5EC-7A0CB83BA0E2}"/>
              </a:ext>
            </a:extLst>
          </p:cNvPr>
          <p:cNvCxnSpPr>
            <a:cxnSpLocks/>
          </p:cNvCxnSpPr>
          <p:nvPr/>
        </p:nvCxnSpPr>
        <p:spPr>
          <a:xfrm>
            <a:off x="5253263" y="176923"/>
            <a:ext cx="0" cy="645120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929ABF8-06C0-4C9F-94DD-1391A170FC04}"/>
              </a:ext>
            </a:extLst>
          </p:cNvPr>
          <p:cNvCxnSpPr>
            <a:cxnSpLocks/>
          </p:cNvCxnSpPr>
          <p:nvPr/>
        </p:nvCxnSpPr>
        <p:spPr>
          <a:xfrm>
            <a:off x="8754220" y="148589"/>
            <a:ext cx="0" cy="647128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Case 1 stem">
            <a:extLst>
              <a:ext uri="{FF2B5EF4-FFF2-40B4-BE49-F238E27FC236}">
                <a16:creationId xmlns:a16="http://schemas.microsoft.com/office/drawing/2014/main" id="{433CB194-F4F3-4639-9022-E1328D6952C4}"/>
              </a:ext>
            </a:extLst>
          </p:cNvPr>
          <p:cNvSpPr txBox="1"/>
          <p:nvPr/>
        </p:nvSpPr>
        <p:spPr>
          <a:xfrm>
            <a:off x="2095315" y="612177"/>
            <a:ext cx="30772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48 </a:t>
            </a:r>
            <a:r>
              <a:rPr lang="en-US" sz="1400" dirty="0" err="1"/>
              <a:t>yo</a:t>
            </a:r>
            <a:r>
              <a:rPr lang="en-US" sz="1400" dirty="0"/>
              <a:t> woman with a history of migraine with aura presents with severe hot flashes.</a:t>
            </a:r>
          </a:p>
        </p:txBody>
      </p:sp>
      <p:sp>
        <p:nvSpPr>
          <p:cNvPr id="95" name="Case 1 Question 1">
            <a:extLst>
              <a:ext uri="{FF2B5EF4-FFF2-40B4-BE49-F238E27FC236}">
                <a16:creationId xmlns:a16="http://schemas.microsoft.com/office/drawing/2014/main" id="{BC7F0CA5-52D5-4466-BD26-372C4A6B7205}"/>
              </a:ext>
            </a:extLst>
          </p:cNvPr>
          <p:cNvSpPr/>
          <p:nvPr/>
        </p:nvSpPr>
        <p:spPr>
          <a:xfrm>
            <a:off x="2158188" y="1406827"/>
            <a:ext cx="2930600" cy="578882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formulation of MHT would you recommend, if any?</a:t>
            </a:r>
          </a:p>
        </p:txBody>
      </p:sp>
      <p:pic>
        <p:nvPicPr>
          <p:cNvPr id="96" name="Graphic 95" descr="Cursor with solid fill">
            <a:extLst>
              <a:ext uri="{FF2B5EF4-FFF2-40B4-BE49-F238E27FC236}">
                <a16:creationId xmlns:a16="http://schemas.microsoft.com/office/drawing/2014/main" id="{AB2B6EC5-0151-48B6-AD61-D4982B6CE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1511" y="1828671"/>
            <a:ext cx="301752" cy="301752"/>
          </a:xfrm>
          <a:prstGeom prst="rect">
            <a:avLst/>
          </a:prstGeom>
        </p:spPr>
      </p:pic>
      <p:sp>
        <p:nvSpPr>
          <p:cNvPr id="97" name="Case 1 Answer 1">
            <a:extLst>
              <a:ext uri="{FF2B5EF4-FFF2-40B4-BE49-F238E27FC236}">
                <a16:creationId xmlns:a16="http://schemas.microsoft.com/office/drawing/2014/main" id="{56BB6F58-ADE7-43ED-A8DE-1AF0CE97B14E}"/>
              </a:ext>
            </a:extLst>
          </p:cNvPr>
          <p:cNvSpPr txBox="1"/>
          <p:nvPr/>
        </p:nvSpPr>
        <p:spPr>
          <a:xfrm>
            <a:off x="2158188" y="2045429"/>
            <a:ext cx="2876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Transdermal estrogen (given migraine with aura) + progesterone. </a:t>
            </a:r>
          </a:p>
        </p:txBody>
      </p:sp>
      <p:sp>
        <p:nvSpPr>
          <p:cNvPr id="98" name="Case 1 Question 2">
            <a:extLst>
              <a:ext uri="{FF2B5EF4-FFF2-40B4-BE49-F238E27FC236}">
                <a16:creationId xmlns:a16="http://schemas.microsoft.com/office/drawing/2014/main" id="{91886C73-2DED-4385-8D94-EB62DFD9ACAE}"/>
              </a:ext>
            </a:extLst>
          </p:cNvPr>
          <p:cNvSpPr/>
          <p:nvPr/>
        </p:nvSpPr>
        <p:spPr>
          <a:xfrm>
            <a:off x="2158188" y="2710864"/>
            <a:ext cx="2930600" cy="578882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risks and benefits are associated with this regimen?</a:t>
            </a:r>
          </a:p>
        </p:txBody>
      </p:sp>
      <p:pic>
        <p:nvPicPr>
          <p:cNvPr id="99" name="Graphic 98" descr="Cursor with solid fill">
            <a:extLst>
              <a:ext uri="{FF2B5EF4-FFF2-40B4-BE49-F238E27FC236}">
                <a16:creationId xmlns:a16="http://schemas.microsoft.com/office/drawing/2014/main" id="{3C8156FE-21B4-4C0D-B7B7-0CC56FA35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1511" y="3165996"/>
            <a:ext cx="301752" cy="301752"/>
          </a:xfrm>
          <a:prstGeom prst="rect">
            <a:avLst/>
          </a:prstGeom>
        </p:spPr>
      </p:pic>
      <p:sp>
        <p:nvSpPr>
          <p:cNvPr id="106" name="Case 2 stem">
            <a:extLst>
              <a:ext uri="{FF2B5EF4-FFF2-40B4-BE49-F238E27FC236}">
                <a16:creationId xmlns:a16="http://schemas.microsoft.com/office/drawing/2014/main" id="{C527D523-50B6-48F1-9A47-350415DD82A4}"/>
              </a:ext>
            </a:extLst>
          </p:cNvPr>
          <p:cNvSpPr txBox="1"/>
          <p:nvPr/>
        </p:nvSpPr>
        <p:spPr>
          <a:xfrm>
            <a:off x="5342360" y="612177"/>
            <a:ext cx="33501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50 </a:t>
            </a:r>
            <a:r>
              <a:rPr lang="en-US" sz="1400" dirty="0" err="1"/>
              <a:t>yo</a:t>
            </a:r>
            <a:r>
              <a:rPr lang="en-US" sz="1400" dirty="0"/>
              <a:t> woman with a history of TAH (hysterectomy) who presents with hot flashes not responsive to conservative measures. Her ASCVD risk if 7.5%. </a:t>
            </a:r>
          </a:p>
        </p:txBody>
      </p:sp>
      <p:sp>
        <p:nvSpPr>
          <p:cNvPr id="107" name="Case 2 Question 1">
            <a:extLst>
              <a:ext uri="{FF2B5EF4-FFF2-40B4-BE49-F238E27FC236}">
                <a16:creationId xmlns:a16="http://schemas.microsoft.com/office/drawing/2014/main" id="{AFBCDCE2-0C07-45D2-80B5-D34B03E26168}"/>
              </a:ext>
            </a:extLst>
          </p:cNvPr>
          <p:cNvSpPr/>
          <p:nvPr/>
        </p:nvSpPr>
        <p:spPr>
          <a:xfrm>
            <a:off x="5417235" y="1605832"/>
            <a:ext cx="3200400" cy="578882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formulation of MHT would you recommend, if any?</a:t>
            </a:r>
          </a:p>
        </p:txBody>
      </p:sp>
      <p:pic>
        <p:nvPicPr>
          <p:cNvPr id="108" name="Graphic 107" descr="Cursor with solid fill">
            <a:extLst>
              <a:ext uri="{FF2B5EF4-FFF2-40B4-BE49-F238E27FC236}">
                <a16:creationId xmlns:a16="http://schemas.microsoft.com/office/drawing/2014/main" id="{12A58FD7-BB17-4C1F-AE1F-060979C59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6504" y="2018271"/>
            <a:ext cx="301752" cy="301752"/>
          </a:xfrm>
          <a:prstGeom prst="rect">
            <a:avLst/>
          </a:prstGeom>
        </p:spPr>
      </p:pic>
      <p:sp>
        <p:nvSpPr>
          <p:cNvPr id="109" name="Case 2 Answer 1">
            <a:extLst>
              <a:ext uri="{FF2B5EF4-FFF2-40B4-BE49-F238E27FC236}">
                <a16:creationId xmlns:a16="http://schemas.microsoft.com/office/drawing/2014/main" id="{F2EAF2F0-A7FF-40B4-83A1-24ABE37A036D}"/>
              </a:ext>
            </a:extLst>
          </p:cNvPr>
          <p:cNvSpPr txBox="1"/>
          <p:nvPr/>
        </p:nvSpPr>
        <p:spPr>
          <a:xfrm>
            <a:off x="5417747" y="2221878"/>
            <a:ext cx="31993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Transdermal estrogen (given moderate ASCVD risk). Progesterone is not needed given history of hysterectomy.</a:t>
            </a:r>
          </a:p>
        </p:txBody>
      </p:sp>
      <p:sp>
        <p:nvSpPr>
          <p:cNvPr id="110" name="Case 2 Question 2">
            <a:extLst>
              <a:ext uri="{FF2B5EF4-FFF2-40B4-BE49-F238E27FC236}">
                <a16:creationId xmlns:a16="http://schemas.microsoft.com/office/drawing/2014/main" id="{4D7D2ADF-1A63-4C73-B486-1AD5FD9CE3E6}"/>
              </a:ext>
            </a:extLst>
          </p:cNvPr>
          <p:cNvSpPr/>
          <p:nvPr/>
        </p:nvSpPr>
        <p:spPr>
          <a:xfrm>
            <a:off x="5400731" y="3086105"/>
            <a:ext cx="3200400" cy="578882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risks and benefits are associated with this regimen?</a:t>
            </a:r>
          </a:p>
        </p:txBody>
      </p:sp>
      <p:pic>
        <p:nvPicPr>
          <p:cNvPr id="111" name="Graphic 110" descr="Cursor with solid fill">
            <a:extLst>
              <a:ext uri="{FF2B5EF4-FFF2-40B4-BE49-F238E27FC236}">
                <a16:creationId xmlns:a16="http://schemas.microsoft.com/office/drawing/2014/main" id="{92752C71-E599-47B7-AC35-A9D17025A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1631" y="3516032"/>
            <a:ext cx="301752" cy="301752"/>
          </a:xfrm>
          <a:prstGeom prst="rect">
            <a:avLst/>
          </a:prstGeom>
        </p:spPr>
      </p:pic>
      <p:sp>
        <p:nvSpPr>
          <p:cNvPr id="112" name="Case 2 Answer 2">
            <a:extLst>
              <a:ext uri="{FF2B5EF4-FFF2-40B4-BE49-F238E27FC236}">
                <a16:creationId xmlns:a16="http://schemas.microsoft.com/office/drawing/2014/main" id="{8B0CA808-6671-4EB6-9D6D-B0F2CC41CAE7}"/>
              </a:ext>
            </a:extLst>
          </p:cNvPr>
          <p:cNvSpPr txBox="1"/>
          <p:nvPr/>
        </p:nvSpPr>
        <p:spPr>
          <a:xfrm>
            <a:off x="5401780" y="3729930"/>
            <a:ext cx="31993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dirty="0"/>
              <a:t>No significant risks.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dirty="0"/>
              <a:t>Slight ↓ risk of CAD, CVA, breast cancer, fracture, and mortality.</a:t>
            </a:r>
            <a:endParaRPr lang="en-US" sz="1100" dirty="0"/>
          </a:p>
        </p:txBody>
      </p:sp>
      <p:sp>
        <p:nvSpPr>
          <p:cNvPr id="119" name="Case 3 stem">
            <a:extLst>
              <a:ext uri="{FF2B5EF4-FFF2-40B4-BE49-F238E27FC236}">
                <a16:creationId xmlns:a16="http://schemas.microsoft.com/office/drawing/2014/main" id="{F8D8F706-AB63-4D70-A342-5F39CAD37F56}"/>
              </a:ext>
            </a:extLst>
          </p:cNvPr>
          <p:cNvSpPr txBox="1"/>
          <p:nvPr/>
        </p:nvSpPr>
        <p:spPr>
          <a:xfrm>
            <a:off x="8845426" y="612177"/>
            <a:ext cx="33000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52 </a:t>
            </a:r>
            <a:r>
              <a:rPr lang="en-US" sz="1400" dirty="0" err="1"/>
              <a:t>yo</a:t>
            </a:r>
            <a:r>
              <a:rPr lang="en-US" sz="1400" dirty="0"/>
              <a:t> woman with a history of breast cancer and frequent UTIs, dyspareunia not responsive to non-hormonal therapies.</a:t>
            </a:r>
          </a:p>
        </p:txBody>
      </p:sp>
      <p:sp>
        <p:nvSpPr>
          <p:cNvPr id="120" name="Case 3 Question 1">
            <a:extLst>
              <a:ext uri="{FF2B5EF4-FFF2-40B4-BE49-F238E27FC236}">
                <a16:creationId xmlns:a16="http://schemas.microsoft.com/office/drawing/2014/main" id="{6E3B60C2-0514-435A-8D0B-6839382AD39C}"/>
              </a:ext>
            </a:extLst>
          </p:cNvPr>
          <p:cNvSpPr/>
          <p:nvPr/>
        </p:nvSpPr>
        <p:spPr>
          <a:xfrm>
            <a:off x="8907743" y="1400364"/>
            <a:ext cx="3154680" cy="578882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formulation of MHT would you recommend, if any?</a:t>
            </a:r>
          </a:p>
        </p:txBody>
      </p:sp>
      <p:pic>
        <p:nvPicPr>
          <p:cNvPr id="121" name="Graphic 120" descr="Cursor with solid fill">
            <a:extLst>
              <a:ext uri="{FF2B5EF4-FFF2-40B4-BE49-F238E27FC236}">
                <a16:creationId xmlns:a16="http://schemas.microsoft.com/office/drawing/2014/main" id="{9F65EF40-63A5-470A-A98D-3085340FF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30768" y="1823315"/>
            <a:ext cx="301752" cy="301752"/>
          </a:xfrm>
          <a:prstGeom prst="rect">
            <a:avLst/>
          </a:prstGeom>
        </p:spPr>
      </p:pic>
      <p:sp>
        <p:nvSpPr>
          <p:cNvPr id="122" name="Case 3 Answer 1">
            <a:extLst>
              <a:ext uri="{FF2B5EF4-FFF2-40B4-BE49-F238E27FC236}">
                <a16:creationId xmlns:a16="http://schemas.microsoft.com/office/drawing/2014/main" id="{DABD486B-BB32-4602-9377-BD3C5BB43040}"/>
              </a:ext>
            </a:extLst>
          </p:cNvPr>
          <p:cNvSpPr txBox="1"/>
          <p:nvPr/>
        </p:nvSpPr>
        <p:spPr>
          <a:xfrm>
            <a:off x="8918359" y="2042096"/>
            <a:ext cx="30572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Given her history of breast cancer, systemic hormonal therapies are contraindicated. Discuss low dose vaginal estrogen with her oncologist</a:t>
            </a:r>
            <a:r>
              <a:rPr lang="en-US" sz="1400" b="1" dirty="0"/>
              <a:t>.  </a:t>
            </a:r>
          </a:p>
        </p:txBody>
      </p:sp>
      <p:sp>
        <p:nvSpPr>
          <p:cNvPr id="123" name="Case 3 Question 2">
            <a:extLst>
              <a:ext uri="{FF2B5EF4-FFF2-40B4-BE49-F238E27FC236}">
                <a16:creationId xmlns:a16="http://schemas.microsoft.com/office/drawing/2014/main" id="{201E1A39-58DC-4723-8FAF-EB54C08AE479}"/>
              </a:ext>
            </a:extLst>
          </p:cNvPr>
          <p:cNvSpPr/>
          <p:nvPr/>
        </p:nvSpPr>
        <p:spPr>
          <a:xfrm>
            <a:off x="8908147" y="3116462"/>
            <a:ext cx="3154680" cy="578882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risks and benefits are associated with this regimen?</a:t>
            </a:r>
          </a:p>
        </p:txBody>
      </p:sp>
      <p:pic>
        <p:nvPicPr>
          <p:cNvPr id="124" name="Graphic 123" descr="Cursor with solid fill">
            <a:extLst>
              <a:ext uri="{FF2B5EF4-FFF2-40B4-BE49-F238E27FC236}">
                <a16:creationId xmlns:a16="http://schemas.microsoft.com/office/drawing/2014/main" id="{3FA6A188-443C-4B98-B6C9-2D3F0BEF3F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30768" y="3542557"/>
            <a:ext cx="301752" cy="301752"/>
          </a:xfrm>
          <a:prstGeom prst="rect">
            <a:avLst/>
          </a:prstGeom>
        </p:spPr>
      </p:pic>
      <p:sp>
        <p:nvSpPr>
          <p:cNvPr id="125" name="Case 3 Answer 2">
            <a:extLst>
              <a:ext uri="{FF2B5EF4-FFF2-40B4-BE49-F238E27FC236}">
                <a16:creationId xmlns:a16="http://schemas.microsoft.com/office/drawing/2014/main" id="{E2A8B5E7-D792-4374-9B8A-03374E9C5A26}"/>
              </a:ext>
            </a:extLst>
          </p:cNvPr>
          <p:cNvSpPr txBox="1"/>
          <p:nvPr/>
        </p:nvSpPr>
        <p:spPr>
          <a:xfrm>
            <a:off x="8935256" y="3789494"/>
            <a:ext cx="305720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dirty="0"/>
              <a:t>Risk of small amount of systemic absorption. Limited data does not show ↑ risk of cancer recurrence, but this should still be discussed with oncology prior to initiation.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dirty="0"/>
              <a:t>May interfere with aromatase inhibitor efficacy. </a:t>
            </a:r>
          </a:p>
        </p:txBody>
      </p:sp>
      <p:sp>
        <p:nvSpPr>
          <p:cNvPr id="132" name="Case 1 Answer 2">
            <a:extLst>
              <a:ext uri="{FF2B5EF4-FFF2-40B4-BE49-F238E27FC236}">
                <a16:creationId xmlns:a16="http://schemas.microsoft.com/office/drawing/2014/main" id="{13EE70B0-78ED-4821-810E-FFDEF5DE436F}"/>
              </a:ext>
            </a:extLst>
          </p:cNvPr>
          <p:cNvSpPr txBox="1"/>
          <p:nvPr/>
        </p:nvSpPr>
        <p:spPr>
          <a:xfrm>
            <a:off x="2158188" y="3375546"/>
            <a:ext cx="29102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dirty="0"/>
              <a:t>Slight ↑ risk of breast cancer. 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400" dirty="0"/>
              <a:t>Slight ↓ risk of fracture, all cause mortality.</a:t>
            </a:r>
            <a:endParaRPr lang="en-US" sz="1100" dirty="0"/>
          </a:p>
        </p:txBody>
      </p:sp>
      <p:sp>
        <p:nvSpPr>
          <p:cNvPr id="61" name="Cases">
            <a:hlinkClick r:id="" action="ppaction://noaction"/>
            <a:extLst>
              <a:ext uri="{FF2B5EF4-FFF2-40B4-BE49-F238E27FC236}">
                <a16:creationId xmlns:a16="http://schemas.microsoft.com/office/drawing/2014/main" id="{C091C803-B658-4F1C-BF04-0FC90EC898E0}"/>
              </a:ext>
            </a:extLst>
          </p:cNvPr>
          <p:cNvSpPr/>
          <p:nvPr/>
        </p:nvSpPr>
        <p:spPr>
          <a:xfrm>
            <a:off x="156231" y="1795358"/>
            <a:ext cx="1737360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63" name="Obj 2">
            <a:hlinkClick r:id="rId5" action="ppaction://hlinksldjump"/>
            <a:extLst>
              <a:ext uri="{FF2B5EF4-FFF2-40B4-BE49-F238E27FC236}">
                <a16:creationId xmlns:a16="http://schemas.microsoft.com/office/drawing/2014/main" id="{6324B47C-4421-43DE-96DA-D079F4F8FBD4}"/>
              </a:ext>
            </a:extLst>
          </p:cNvPr>
          <p:cNvSpPr/>
          <p:nvPr/>
        </p:nvSpPr>
        <p:spPr>
          <a:xfrm>
            <a:off x="156231" y="975923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Hormone Therapy (MHT)</a:t>
            </a:r>
          </a:p>
        </p:txBody>
      </p:sp>
      <p:sp>
        <p:nvSpPr>
          <p:cNvPr id="64" name="Obj 2">
            <a:hlinkClick r:id="rId6" action="ppaction://hlinksldjump"/>
            <a:extLst>
              <a:ext uri="{FF2B5EF4-FFF2-40B4-BE49-F238E27FC236}">
                <a16:creationId xmlns:a16="http://schemas.microsoft.com/office/drawing/2014/main" id="{202926C5-5542-4B43-8C88-B0B49E6DCAE7}"/>
              </a:ext>
            </a:extLst>
          </p:cNvPr>
          <p:cNvSpPr/>
          <p:nvPr/>
        </p:nvSpPr>
        <p:spPr>
          <a:xfrm>
            <a:off x="156231" y="156489"/>
            <a:ext cx="1737360" cy="640080"/>
          </a:xfrm>
          <a:prstGeom prst="roundRect">
            <a:avLst>
              <a:gd name="adj" fmla="val 1045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Definitions &amp; Diagnoses</a:t>
            </a:r>
          </a:p>
        </p:txBody>
      </p:sp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F30CE5BA-D22A-4E7F-9E65-D7C326BEC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5231" y="1466248"/>
            <a:ext cx="301752" cy="301752"/>
          </a:xfrm>
          <a:prstGeom prst="rect">
            <a:avLst/>
          </a:prstGeom>
        </p:spPr>
      </p:pic>
      <p:pic>
        <p:nvPicPr>
          <p:cNvPr id="66" name="Graphic 65" descr="Cursor with solid fill">
            <a:extLst>
              <a:ext uri="{FF2B5EF4-FFF2-40B4-BE49-F238E27FC236}">
                <a16:creationId xmlns:a16="http://schemas.microsoft.com/office/drawing/2014/main" id="{524FA77F-C3C2-4956-AD68-A70DD3F8D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5231" y="652497"/>
            <a:ext cx="301752" cy="301752"/>
          </a:xfrm>
          <a:prstGeom prst="rect">
            <a:avLst/>
          </a:prstGeom>
        </p:spPr>
      </p:pic>
      <p:sp>
        <p:nvSpPr>
          <p:cNvPr id="52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8C80912D-5DE7-43DD-B986-D49FD6C0EE6A}"/>
              </a:ext>
            </a:extLst>
          </p:cNvPr>
          <p:cNvSpPr/>
          <p:nvPr/>
        </p:nvSpPr>
        <p:spPr>
          <a:xfrm>
            <a:off x="635489" y="2342692"/>
            <a:ext cx="1258101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1-3</a:t>
            </a:r>
          </a:p>
        </p:txBody>
      </p:sp>
      <p:pic>
        <p:nvPicPr>
          <p:cNvPr id="53" name="Graphic 52" descr="Cursor with solid fill">
            <a:extLst>
              <a:ext uri="{FF2B5EF4-FFF2-40B4-BE49-F238E27FC236}">
                <a16:creationId xmlns:a16="http://schemas.microsoft.com/office/drawing/2014/main" id="{C4436AFE-7C04-4190-8EE2-1D7681371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9224" y="2577773"/>
            <a:ext cx="301752" cy="301752"/>
          </a:xfrm>
          <a:prstGeom prst="rect">
            <a:avLst/>
          </a:prstGeom>
        </p:spPr>
      </p:pic>
      <p:sp>
        <p:nvSpPr>
          <p:cNvPr id="54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08A3B5AD-8EA4-4E7D-A23F-2120F5E5B1AC}"/>
              </a:ext>
            </a:extLst>
          </p:cNvPr>
          <p:cNvSpPr/>
          <p:nvPr/>
        </p:nvSpPr>
        <p:spPr>
          <a:xfrm>
            <a:off x="635489" y="2890025"/>
            <a:ext cx="1258102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4-6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2FF6CD77-1F59-465B-9360-8967491E8150}"/>
              </a:ext>
            </a:extLst>
          </p:cNvPr>
          <p:cNvCxnSpPr>
            <a:cxnSpLocks/>
            <a:endCxn id="52" idx="1"/>
          </p:cNvCxnSpPr>
          <p:nvPr/>
        </p:nvCxnSpPr>
        <p:spPr>
          <a:xfrm rot="16200000" flipH="1">
            <a:off x="269977" y="2161170"/>
            <a:ext cx="401616" cy="32940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0F5A8E2A-20BB-47FF-9036-4BF7B4F5272D}"/>
              </a:ext>
            </a:extLst>
          </p:cNvPr>
          <p:cNvCxnSpPr>
            <a:cxnSpLocks/>
            <a:endCxn id="54" idx="1"/>
          </p:cNvCxnSpPr>
          <p:nvPr/>
        </p:nvCxnSpPr>
        <p:spPr>
          <a:xfrm rot="16200000" flipH="1">
            <a:off x="191702" y="2630228"/>
            <a:ext cx="558166" cy="32940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15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</p:childTnLst>
        </p:cTn>
      </p:par>
    </p:tnLst>
    <p:bldLst>
      <p:bldP spid="94" grpId="0"/>
      <p:bldP spid="95" grpId="0" animBg="1"/>
      <p:bldP spid="97" grpId="0"/>
      <p:bldP spid="98" grpId="0" animBg="1"/>
      <p:bldP spid="106" grpId="0"/>
      <p:bldP spid="107" grpId="0" animBg="1"/>
      <p:bldP spid="109" grpId="0"/>
      <p:bldP spid="110" grpId="0" animBg="1"/>
      <p:bldP spid="112" grpId="0"/>
      <p:bldP spid="119" grpId="0"/>
      <p:bldP spid="120" grpId="0" animBg="1"/>
      <p:bldP spid="122" grpId="0"/>
      <p:bldP spid="123" grpId="0" animBg="1"/>
      <p:bldP spid="125" grpId="0"/>
      <p:bldP spid="132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Newer Context (2022–2025)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02020"/>
                </a:solidFill>
                <a:latin typeface="Calibri"/>
              </a:rPr>
              <a:t>2022 Menopause Society (NAMS) HT Position Statement — reaffirms the deck's rule</a:t>
            </a:r>
          </a:p>
          <a:p>
            <a:pPr lvl="1">
              <a:spcAft>
                <a:spcPts val="500"/>
              </a:spcAft>
            </a:pPr>
            <a:r>
              <a:rPr sz="1250" b="0">
                <a:solidFill>
                  <a:srgbClr val="202020"/>
                </a:solidFill>
                <a:latin typeface="Calibri"/>
              </a:rPr>
              <a:t>Benefits of hormone therapy outweigh risks for most healthy symptomatic women &lt;60 yr OR &lt;10 yr post-menopause; HT remains most effective for VMS and genitourinary syndrome of menopause (GSM), and prevents bone loss/fracture. (NAMS rebranded “The Menopause Society,” 2023.)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02020"/>
                </a:solidFill>
                <a:latin typeface="Calibri"/>
              </a:rPr>
              <a:t>New nonhormonal NK-receptor antagonists for moderate–severe hot flashes</a:t>
            </a:r>
          </a:p>
          <a:p>
            <a:pPr lvl="1">
              <a:spcAft>
                <a:spcPts val="500"/>
              </a:spcAft>
            </a:pPr>
            <a:r>
              <a:rPr sz="1250" b="0">
                <a:solidFill>
                  <a:srgbClr val="202020"/>
                </a:solidFill>
                <a:latin typeface="Calibri"/>
              </a:rPr>
              <a:t>Fezolinetant (Veozah), NK3 antagonist — FDA May 2023 (SKYLIGHT trials). FDA later warned of rare serious liver injury → check LFTs at baseline &amp; periodically.</a:t>
            </a:r>
          </a:p>
          <a:p>
            <a:pPr lvl="1">
              <a:spcAft>
                <a:spcPts val="500"/>
              </a:spcAft>
            </a:pPr>
            <a:r>
              <a:rPr sz="1250" b="0">
                <a:solidFill>
                  <a:srgbClr val="202020"/>
                </a:solidFill>
                <a:latin typeface="Calibri"/>
              </a:rPr>
              <a:t>Elinzanetant (Lynkuet), dual NK1/NK3 antagonist — FDA Oct 2025 (OASIS trials); ~73% VMS reduction, also improves sleep.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02020"/>
                </a:solidFill>
                <a:latin typeface="Calibri"/>
              </a:rPr>
              <a:t>2023 Menopause Society Nonhormone Therapy Position Statement</a:t>
            </a:r>
          </a:p>
          <a:p>
            <a:pPr lvl="1">
              <a:spcAft>
                <a:spcPts val="500"/>
              </a:spcAft>
            </a:pPr>
            <a:r>
              <a:rPr sz="1250" b="0">
                <a:solidFill>
                  <a:srgbClr val="202020"/>
                </a:solidFill>
                <a:latin typeface="Calibri"/>
              </a:rPr>
              <a:t>Endorses SSRIs/SNRIs, gabapentin, fezolinetant, CBT, and clinical hypnosis; oxybutynin an option. Vaginal estrogen remains preferred for isolated GSM (minimal systemic absorption).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  <a:latin typeface="Calibri"/>
              </a:rPr>
              <a:t>Sources: NAMS HT Position Statement, Menopause 2022;29(7):767; FDA May 2023 (fezolinetant) &amp; Oct 2025 (elinzanetant); NAMS Nonhormone Statement, Menopause 2023;30(6):573. Standing framework unchanged.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Menopause is primarily a CLINICAL diagnosis based on age and symptoms; lab testing (hCG, TSH, prolactin ± FSH) is for women &lt;45, or atypical features. FSH is a poor single marker.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Clinical features: menstrual irregularity, vasomotor symptoms (hot flashes), mood/sleep changes, and genitourinary symptoms (dryness, dyspareunia, recurrent UTIs).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Menopausal hormone therapy is the MOST effective treatment for moderate–severe hot flashes; risks are low with good selection (&lt;60 yr or &lt;10 yr post-menopause). Add progesterone whenever the uterus is intact.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Transdermal estrogen has lower VTE/stroke risk than oral (preferred for moderate ASCVD risk, migraine). Vaginal estrogen is preferred for isolated GSM.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Nonhormonal options: SSRI/SNRI (venlafaxine, escitalopram, paroxetine), gabapentin, and now NK-antagonists (fezolinetant, elinzanetant).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Attribution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Adapted from TeachIM.org — “Menopause” (Molly Brett MD; sec. ed. Adelaide McClintock MD; exec. ed. Yilin Zhang MD; published Feb 2022).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https://teachim.org/teaching_material/menopause/  ·  Licensed CC BY-NC 4.0 (non-commercial, attribution required).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Optimized 2026-06-11. No projected-text errors found in the 9-slide board → append-only edit. All click-to-reveal animations &amp; graphics preserved.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Added a newer-context slide (2022 NAMS HT statement; fezolinetant 2023; elinzanetant 2025; 2023 nonhormone statement) — standing teaching unchanged.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  <a:latin typeface="Calibri"/>
              </a:rPr>
              <a:t>Companion files: Menopause-Guide-final.docx (teaching guide); Handout-learner-menopause.pdf. Educational use only — clinician-review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16667</TotalTime>
  <Words>1647</Words>
  <Application>Microsoft Office PowerPoint</Application>
  <PresentationFormat>Widescreen</PresentationFormat>
  <Paragraphs>318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Fainstad</dc:creator>
  <cp:lastModifiedBy>Yilin Zhang</cp:lastModifiedBy>
  <cp:revision>106</cp:revision>
  <dcterms:created xsi:type="dcterms:W3CDTF">2020-12-09T20:37:45Z</dcterms:created>
  <dcterms:modified xsi:type="dcterms:W3CDTF">2022-09-07T21:15:51Z</dcterms:modified>
</cp:coreProperties>
</file>