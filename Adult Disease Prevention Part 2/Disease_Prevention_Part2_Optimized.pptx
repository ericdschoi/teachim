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0.svg" ContentType="image/svg+xml"/>
  <Override PartName="/ppt/media/image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342" r:id="rId5"/>
    <p:sldId id="364" r:id="rId6"/>
    <p:sldId id="365" r:id="rId7"/>
    <p:sldId id="346" r:id="rId8"/>
    <p:sldId id="371" r:id="rId9"/>
    <p:sldId id="269" r:id="rId10"/>
    <p:sldId id="372" r:id="rId11"/>
    <p:sldId id="374" r:id="rId12"/>
    <p:sldId id="375" r:id="rId18"/>
    <p:sldId id="376" r:id="rId19"/>
    <p:sldId id="3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hyperlink" Target="https://teachim.org/teaching_material/adult-disease-prevention-1/" TargetMode="External"/><Relationship Id="rId2" Type="http://schemas.openxmlformats.org/officeDocument/2006/relationships/slide" Target="../slides/slide2.xml"/><Relationship Id="rId3" Type="http://schemas.openxmlformats.org/officeDocument/2006/relationships/slide" Target="../slides/slide4.xml"/><Relationship Id="rId4" Type="http://schemas.openxmlformats.org/officeDocument/2006/relationships/slide" Target="../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4D04E3-B8A1-4C78-A635-5D2AA8625014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BC0F7A-0CC6-45A7-BC12-06E7E5CE59DF}">
      <dgm:prSet phldrT="[Text]"/>
      <dgm:spPr>
        <a:ln w="28575"/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Cancer</a:t>
          </a:r>
        </a:p>
        <a:p>
          <a:r>
            <a:rPr lang="en-US"/>
            <a:t>(See </a:t>
          </a:r>
          <a:r>
            <a:rPr lang="en-US" err="1"/>
            <a:t>Prev</a:t>
          </a:r>
          <a:r>
            <a:rPr lang="en-US"/>
            <a:t> 1)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93E3BD00-7EB6-49DB-8AA6-DE88E82014C2}" type="parTrans" cxnId="{3CF2DD24-9114-4F15-ABEA-797741481AE8}">
      <dgm:prSet/>
      <dgm:spPr/>
      <dgm:t>
        <a:bodyPr/>
        <a:lstStyle/>
        <a:p>
          <a:endParaRPr lang="en-US"/>
        </a:p>
      </dgm:t>
    </dgm:pt>
    <dgm:pt modelId="{4DA5F42F-5B6F-4A15-9D8C-5BC34DA3BE2E}" type="sibTrans" cxnId="{3CF2DD24-9114-4F15-ABEA-797741481AE8}">
      <dgm:prSet/>
      <dgm:spPr/>
      <dgm:t>
        <a:bodyPr/>
        <a:lstStyle/>
        <a:p>
          <a:endParaRPr lang="en-US"/>
        </a:p>
      </dgm:t>
    </dgm:pt>
    <dgm:pt modelId="{9F786CB4-A020-494C-960A-23DAACE50DB2}">
      <dgm:prSet phldrT="[Text]"/>
      <dgm:spPr>
        <a:solidFill>
          <a:schemeClr val="accent2"/>
        </a:solidFill>
        <a:ln w="28575"/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Infectious Disease</a:t>
          </a:r>
        </a:p>
        <a:p>
          <a:r>
            <a:rPr lang="en-US" dirty="0"/>
            <a:t>(See </a:t>
          </a:r>
          <a:r>
            <a:rPr lang="en-US" dirty="0" err="1"/>
            <a:t>Prev</a:t>
          </a:r>
          <a:r>
            <a:rPr lang="en-US" dirty="0"/>
            <a:t> 1)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8F5D0499-2193-4150-803C-2F4876F65CD4}" type="parTrans" cxnId="{A3F57FE9-0230-43FE-A61B-6C1AB400BE4A}">
      <dgm:prSet/>
      <dgm:spPr/>
      <dgm:t>
        <a:bodyPr/>
        <a:lstStyle/>
        <a:p>
          <a:endParaRPr lang="en-US"/>
        </a:p>
      </dgm:t>
    </dgm:pt>
    <dgm:pt modelId="{03602650-4597-4FF6-B19C-E72A57603F05}" type="sibTrans" cxnId="{A3F57FE9-0230-43FE-A61B-6C1AB400BE4A}">
      <dgm:prSet/>
      <dgm:spPr/>
      <dgm:t>
        <a:bodyPr/>
        <a:lstStyle/>
        <a:p>
          <a:endParaRPr lang="en-US"/>
        </a:p>
      </dgm:t>
    </dgm:pt>
    <dgm:pt modelId="{04C7D834-7AAC-4839-B0AB-D18B6500B390}">
      <dgm:prSet phldrT="[Text]"/>
      <dgm:spPr>
        <a:solidFill>
          <a:schemeClr val="accent5"/>
        </a:solidFill>
        <a:ln w="28575"/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Psychosocial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444EA6FD-3114-4341-AD67-097DFF773E6D}" type="parTrans" cxnId="{20CB291B-7DF7-4ECB-B05B-91642676600D}">
      <dgm:prSet/>
      <dgm:spPr/>
      <dgm:t>
        <a:bodyPr/>
        <a:lstStyle/>
        <a:p>
          <a:endParaRPr lang="en-US"/>
        </a:p>
      </dgm:t>
    </dgm:pt>
    <dgm:pt modelId="{E07DD3F4-29EB-4E27-9866-64A61322F5BF}" type="sibTrans" cxnId="{20CB291B-7DF7-4ECB-B05B-91642676600D}">
      <dgm:prSet/>
      <dgm:spPr/>
      <dgm:t>
        <a:bodyPr/>
        <a:lstStyle/>
        <a:p>
          <a:endParaRPr lang="en-US"/>
        </a:p>
      </dgm:t>
    </dgm:pt>
    <dgm:pt modelId="{6211D0A6-A724-4053-B536-34343BC38EF2}">
      <dgm:prSet phldrT="[Text]"/>
      <dgm:spPr>
        <a:solidFill>
          <a:srgbClr val="C00000"/>
        </a:solidFill>
        <a:ln w="28575"/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Cardiovascular disease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66BEF17A-9A81-417E-BF99-54381F961749}" type="parTrans" cxnId="{86DAAAF0-AAAD-4F20-8BB9-253520EC5E6C}">
      <dgm:prSet/>
      <dgm:spPr/>
      <dgm:t>
        <a:bodyPr/>
        <a:lstStyle/>
        <a:p>
          <a:endParaRPr lang="en-US"/>
        </a:p>
      </dgm:t>
    </dgm:pt>
    <dgm:pt modelId="{FE406E9A-051C-4A81-AB7A-ABABE22C3579}" type="sibTrans" cxnId="{86DAAAF0-AAAD-4F20-8BB9-253520EC5E6C}">
      <dgm:prSet/>
      <dgm:spPr/>
      <dgm:t>
        <a:bodyPr/>
        <a:lstStyle/>
        <a:p>
          <a:endParaRPr lang="en-US"/>
        </a:p>
      </dgm:t>
    </dgm:pt>
    <dgm:pt modelId="{A2649B45-85BA-4A90-BAD5-84CA586F3A93}">
      <dgm:prSet phldrT="[Text]"/>
      <dgm:spPr>
        <a:solidFill>
          <a:schemeClr val="accent6"/>
        </a:solidFill>
        <a:ln w="28575"/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/>
            <a:t>Family/Safety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222569F1-4604-436F-AFCA-F86C7AB05F25}" type="parTrans" cxnId="{2A1D2BC8-B4E9-46C2-BF1E-7C57B5862D20}">
      <dgm:prSet/>
      <dgm:spPr/>
      <dgm:t>
        <a:bodyPr/>
        <a:lstStyle/>
        <a:p>
          <a:endParaRPr lang="en-US"/>
        </a:p>
      </dgm:t>
    </dgm:pt>
    <dgm:pt modelId="{AEF3A373-B117-44B3-B68A-4F4E3EBF67F1}" type="sibTrans" cxnId="{2A1D2BC8-B4E9-46C2-BF1E-7C57B5862D20}">
      <dgm:prSet/>
      <dgm:spPr/>
      <dgm:t>
        <a:bodyPr/>
        <a:lstStyle/>
        <a:p>
          <a:endParaRPr lang="en-US"/>
        </a:p>
      </dgm:t>
    </dgm:pt>
    <dgm:pt modelId="{5139865C-5838-4BB8-9081-65BD4CE7579B}" type="pres">
      <dgm:prSet presAssocID="{C34D04E3-B8A1-4C78-A635-5D2AA8625014}" presName="cycle" presStyleCnt="0">
        <dgm:presLayoutVars>
          <dgm:dir/>
          <dgm:resizeHandles val="exact"/>
        </dgm:presLayoutVars>
      </dgm:prSet>
      <dgm:spPr/>
    </dgm:pt>
    <dgm:pt modelId="{E5074A74-D706-4E7E-A812-E593917EF587}" type="pres">
      <dgm:prSet presAssocID="{27BC0F7A-0CC6-45A7-BC12-06E7E5CE59DF}" presName="node" presStyleLbl="node1" presStyleIdx="0" presStyleCnt="5">
        <dgm:presLayoutVars>
          <dgm:bulletEnabled val="1"/>
        </dgm:presLayoutVars>
      </dgm:prSet>
      <dgm:spPr/>
    </dgm:pt>
    <dgm:pt modelId="{42775C88-084B-43B1-857C-FD29D6140585}" type="pres">
      <dgm:prSet presAssocID="{27BC0F7A-0CC6-45A7-BC12-06E7E5CE59DF}" presName="spNode" presStyleCnt="0"/>
      <dgm:spPr/>
    </dgm:pt>
    <dgm:pt modelId="{50315BBD-645D-46B5-B225-A264183E24F8}" type="pres">
      <dgm:prSet presAssocID="{4DA5F42F-5B6F-4A15-9D8C-5BC34DA3BE2E}" presName="sibTrans" presStyleLbl="sibTrans1D1" presStyleIdx="0" presStyleCnt="5"/>
      <dgm:spPr/>
    </dgm:pt>
    <dgm:pt modelId="{57D37ACF-9CF9-4020-A0BE-D7AFDFD30B39}" type="pres">
      <dgm:prSet presAssocID="{9F786CB4-A020-494C-960A-23DAACE50DB2}" presName="node" presStyleLbl="node1" presStyleIdx="1" presStyleCnt="5" custRadScaleRad="101886" custRadScaleInc="1759">
        <dgm:presLayoutVars>
          <dgm:bulletEnabled val="1"/>
        </dgm:presLayoutVars>
      </dgm:prSet>
      <dgm:spPr/>
    </dgm:pt>
    <dgm:pt modelId="{073BEDD8-8A51-4DF4-BCCF-D18A42A2EE12}" type="pres">
      <dgm:prSet presAssocID="{9F786CB4-A020-494C-960A-23DAACE50DB2}" presName="spNode" presStyleCnt="0"/>
      <dgm:spPr/>
    </dgm:pt>
    <dgm:pt modelId="{C27590CA-F935-48E3-9FF4-A029534BC409}" type="pres">
      <dgm:prSet presAssocID="{03602650-4597-4FF6-B19C-E72A57603F05}" presName="sibTrans" presStyleLbl="sibTrans1D1" presStyleIdx="1" presStyleCnt="5"/>
      <dgm:spPr/>
    </dgm:pt>
    <dgm:pt modelId="{D98060B8-E9C5-4E28-8E5F-D4B943B9E6B6}" type="pres">
      <dgm:prSet presAssocID="{04C7D834-7AAC-4839-B0AB-D18B6500B390}" presName="node" presStyleLbl="node1" presStyleIdx="2" presStyleCnt="5">
        <dgm:presLayoutVars>
          <dgm:bulletEnabled val="1"/>
        </dgm:presLayoutVars>
      </dgm:prSet>
      <dgm:spPr/>
    </dgm:pt>
    <dgm:pt modelId="{5E2F2AC1-B196-4647-96AA-0359CC5325E6}" type="pres">
      <dgm:prSet presAssocID="{04C7D834-7AAC-4839-B0AB-D18B6500B390}" presName="spNode" presStyleCnt="0"/>
      <dgm:spPr/>
    </dgm:pt>
    <dgm:pt modelId="{0B0645EC-699F-4965-A236-9B824FDA953E}" type="pres">
      <dgm:prSet presAssocID="{E07DD3F4-29EB-4E27-9866-64A61322F5BF}" presName="sibTrans" presStyleLbl="sibTrans1D1" presStyleIdx="2" presStyleCnt="5"/>
      <dgm:spPr/>
    </dgm:pt>
    <dgm:pt modelId="{8861E35F-9277-47D5-AD83-0380733115EF}" type="pres">
      <dgm:prSet presAssocID="{6211D0A6-A724-4053-B536-34343BC38EF2}" presName="node" presStyleLbl="node1" presStyleIdx="3" presStyleCnt="5">
        <dgm:presLayoutVars>
          <dgm:bulletEnabled val="1"/>
        </dgm:presLayoutVars>
      </dgm:prSet>
      <dgm:spPr/>
    </dgm:pt>
    <dgm:pt modelId="{417A28B2-FC4B-4925-B416-366E2B97D7A7}" type="pres">
      <dgm:prSet presAssocID="{6211D0A6-A724-4053-B536-34343BC38EF2}" presName="spNode" presStyleCnt="0"/>
      <dgm:spPr/>
    </dgm:pt>
    <dgm:pt modelId="{9EFE2281-156C-44F1-840F-90FD41B403B3}" type="pres">
      <dgm:prSet presAssocID="{FE406E9A-051C-4A81-AB7A-ABABE22C3579}" presName="sibTrans" presStyleLbl="sibTrans1D1" presStyleIdx="3" presStyleCnt="5"/>
      <dgm:spPr/>
    </dgm:pt>
    <dgm:pt modelId="{431513E3-0722-4045-8992-01EC61EDD9BF}" type="pres">
      <dgm:prSet presAssocID="{A2649B45-85BA-4A90-BAD5-84CA586F3A93}" presName="node" presStyleLbl="node1" presStyleIdx="4" presStyleCnt="5">
        <dgm:presLayoutVars>
          <dgm:bulletEnabled val="1"/>
        </dgm:presLayoutVars>
      </dgm:prSet>
      <dgm:spPr/>
    </dgm:pt>
    <dgm:pt modelId="{51B021C4-9097-461F-B37F-ED4EEC756B0D}" type="pres">
      <dgm:prSet presAssocID="{A2649B45-85BA-4A90-BAD5-84CA586F3A93}" presName="spNode" presStyleCnt="0"/>
      <dgm:spPr/>
    </dgm:pt>
    <dgm:pt modelId="{27FE422A-4810-46B5-B29E-74974DAC8ED9}" type="pres">
      <dgm:prSet presAssocID="{AEF3A373-B117-44B3-B68A-4F4E3EBF67F1}" presName="sibTrans" presStyleLbl="sibTrans1D1" presStyleIdx="4" presStyleCnt="5"/>
      <dgm:spPr/>
    </dgm:pt>
  </dgm:ptLst>
  <dgm:cxnLst>
    <dgm:cxn modelId="{20CB291B-7DF7-4ECB-B05B-91642676600D}" srcId="{C34D04E3-B8A1-4C78-A635-5D2AA8625014}" destId="{04C7D834-7AAC-4839-B0AB-D18B6500B390}" srcOrd="2" destOrd="0" parTransId="{444EA6FD-3114-4341-AD67-097DFF773E6D}" sibTransId="{E07DD3F4-29EB-4E27-9866-64A61322F5BF}"/>
    <dgm:cxn modelId="{3CF2DD24-9114-4F15-ABEA-797741481AE8}" srcId="{C34D04E3-B8A1-4C78-A635-5D2AA8625014}" destId="{27BC0F7A-0CC6-45A7-BC12-06E7E5CE59DF}" srcOrd="0" destOrd="0" parTransId="{93E3BD00-7EB6-49DB-8AA6-DE88E82014C2}" sibTransId="{4DA5F42F-5B6F-4A15-9D8C-5BC34DA3BE2E}"/>
    <dgm:cxn modelId="{BF34BC2E-8D01-4FFF-819D-7AC1DAD5CF6B}" type="presOf" srcId="{4DA5F42F-5B6F-4A15-9D8C-5BC34DA3BE2E}" destId="{50315BBD-645D-46B5-B225-A264183E24F8}" srcOrd="0" destOrd="0" presId="urn:microsoft.com/office/officeart/2005/8/layout/cycle6"/>
    <dgm:cxn modelId="{93EA4B6A-92C9-4648-A7E6-9E4E5F27B475}" type="presOf" srcId="{04C7D834-7AAC-4839-B0AB-D18B6500B390}" destId="{D98060B8-E9C5-4E28-8E5F-D4B943B9E6B6}" srcOrd="0" destOrd="0" presId="urn:microsoft.com/office/officeart/2005/8/layout/cycle6"/>
    <dgm:cxn modelId="{51A03475-6177-45B3-B7F8-E0750FB8A805}" type="presOf" srcId="{03602650-4597-4FF6-B19C-E72A57603F05}" destId="{C27590CA-F935-48E3-9FF4-A029534BC409}" srcOrd="0" destOrd="0" presId="urn:microsoft.com/office/officeart/2005/8/layout/cycle6"/>
    <dgm:cxn modelId="{2ABCF489-645A-47FD-A447-362F69BFB10F}" type="presOf" srcId="{A2649B45-85BA-4A90-BAD5-84CA586F3A93}" destId="{431513E3-0722-4045-8992-01EC61EDD9BF}" srcOrd="0" destOrd="0" presId="urn:microsoft.com/office/officeart/2005/8/layout/cycle6"/>
    <dgm:cxn modelId="{E68005B2-1330-4620-9531-1DCE89316639}" type="presOf" srcId="{6211D0A6-A724-4053-B536-34343BC38EF2}" destId="{8861E35F-9277-47D5-AD83-0380733115EF}" srcOrd="0" destOrd="0" presId="urn:microsoft.com/office/officeart/2005/8/layout/cycle6"/>
    <dgm:cxn modelId="{464D49B5-E3AB-455E-B4AD-198B9D3CD8D4}" type="presOf" srcId="{27BC0F7A-0CC6-45A7-BC12-06E7E5CE59DF}" destId="{E5074A74-D706-4E7E-A812-E593917EF587}" srcOrd="0" destOrd="0" presId="urn:microsoft.com/office/officeart/2005/8/layout/cycle6"/>
    <dgm:cxn modelId="{2A1D2BC8-B4E9-46C2-BF1E-7C57B5862D20}" srcId="{C34D04E3-B8A1-4C78-A635-5D2AA8625014}" destId="{A2649B45-85BA-4A90-BAD5-84CA586F3A93}" srcOrd="4" destOrd="0" parTransId="{222569F1-4604-436F-AFCA-F86C7AB05F25}" sibTransId="{AEF3A373-B117-44B3-B68A-4F4E3EBF67F1}"/>
    <dgm:cxn modelId="{6AF6B6D5-1349-4019-A2FE-7EB268486338}" type="presOf" srcId="{C34D04E3-B8A1-4C78-A635-5D2AA8625014}" destId="{5139865C-5838-4BB8-9081-65BD4CE7579B}" srcOrd="0" destOrd="0" presId="urn:microsoft.com/office/officeart/2005/8/layout/cycle6"/>
    <dgm:cxn modelId="{BCBC18D7-2A6F-440D-8FFE-7E9A8674FE9A}" type="presOf" srcId="{9F786CB4-A020-494C-960A-23DAACE50DB2}" destId="{57D37ACF-9CF9-4020-A0BE-D7AFDFD30B39}" srcOrd="0" destOrd="0" presId="urn:microsoft.com/office/officeart/2005/8/layout/cycle6"/>
    <dgm:cxn modelId="{A3F57FE9-0230-43FE-A61B-6C1AB400BE4A}" srcId="{C34D04E3-B8A1-4C78-A635-5D2AA8625014}" destId="{9F786CB4-A020-494C-960A-23DAACE50DB2}" srcOrd="1" destOrd="0" parTransId="{8F5D0499-2193-4150-803C-2F4876F65CD4}" sibTransId="{03602650-4597-4FF6-B19C-E72A57603F05}"/>
    <dgm:cxn modelId="{B83B1EEE-8F49-40B2-997B-615C6EA9FCE9}" type="presOf" srcId="{E07DD3F4-29EB-4E27-9866-64A61322F5BF}" destId="{0B0645EC-699F-4965-A236-9B824FDA953E}" srcOrd="0" destOrd="0" presId="urn:microsoft.com/office/officeart/2005/8/layout/cycle6"/>
    <dgm:cxn modelId="{12990EF0-B806-4481-B254-56754058513C}" type="presOf" srcId="{AEF3A373-B117-44B3-B68A-4F4E3EBF67F1}" destId="{27FE422A-4810-46B5-B29E-74974DAC8ED9}" srcOrd="0" destOrd="0" presId="urn:microsoft.com/office/officeart/2005/8/layout/cycle6"/>
    <dgm:cxn modelId="{86DAAAF0-AAAD-4F20-8BB9-253520EC5E6C}" srcId="{C34D04E3-B8A1-4C78-A635-5D2AA8625014}" destId="{6211D0A6-A724-4053-B536-34343BC38EF2}" srcOrd="3" destOrd="0" parTransId="{66BEF17A-9A81-417E-BF99-54381F961749}" sibTransId="{FE406E9A-051C-4A81-AB7A-ABABE22C3579}"/>
    <dgm:cxn modelId="{F441D5F8-226A-4FAB-9D60-302FC93D627C}" type="presOf" srcId="{FE406E9A-051C-4A81-AB7A-ABABE22C3579}" destId="{9EFE2281-156C-44F1-840F-90FD41B403B3}" srcOrd="0" destOrd="0" presId="urn:microsoft.com/office/officeart/2005/8/layout/cycle6"/>
    <dgm:cxn modelId="{AFBC750B-64FA-4660-9AB4-99808664E443}" type="presParOf" srcId="{5139865C-5838-4BB8-9081-65BD4CE7579B}" destId="{E5074A74-D706-4E7E-A812-E593917EF587}" srcOrd="0" destOrd="0" presId="urn:microsoft.com/office/officeart/2005/8/layout/cycle6"/>
    <dgm:cxn modelId="{F9775125-C0EC-4248-8DDD-A60FDB618ECF}" type="presParOf" srcId="{5139865C-5838-4BB8-9081-65BD4CE7579B}" destId="{42775C88-084B-43B1-857C-FD29D6140585}" srcOrd="1" destOrd="0" presId="urn:microsoft.com/office/officeart/2005/8/layout/cycle6"/>
    <dgm:cxn modelId="{503FCFBD-6C49-4FDE-A665-2F776F2566DA}" type="presParOf" srcId="{5139865C-5838-4BB8-9081-65BD4CE7579B}" destId="{50315BBD-645D-46B5-B225-A264183E24F8}" srcOrd="2" destOrd="0" presId="urn:microsoft.com/office/officeart/2005/8/layout/cycle6"/>
    <dgm:cxn modelId="{B42B6F8A-CB8A-45AB-859C-31F98A066530}" type="presParOf" srcId="{5139865C-5838-4BB8-9081-65BD4CE7579B}" destId="{57D37ACF-9CF9-4020-A0BE-D7AFDFD30B39}" srcOrd="3" destOrd="0" presId="urn:microsoft.com/office/officeart/2005/8/layout/cycle6"/>
    <dgm:cxn modelId="{B98D301B-0AD9-4462-8188-F262542226C0}" type="presParOf" srcId="{5139865C-5838-4BB8-9081-65BD4CE7579B}" destId="{073BEDD8-8A51-4DF4-BCCF-D18A42A2EE12}" srcOrd="4" destOrd="0" presId="urn:microsoft.com/office/officeart/2005/8/layout/cycle6"/>
    <dgm:cxn modelId="{54DBE196-D793-4FC8-A17E-F28BD0D8C5DD}" type="presParOf" srcId="{5139865C-5838-4BB8-9081-65BD4CE7579B}" destId="{C27590CA-F935-48E3-9FF4-A029534BC409}" srcOrd="5" destOrd="0" presId="urn:microsoft.com/office/officeart/2005/8/layout/cycle6"/>
    <dgm:cxn modelId="{FC754D87-C1B8-4446-9F37-32AC7CE589FD}" type="presParOf" srcId="{5139865C-5838-4BB8-9081-65BD4CE7579B}" destId="{D98060B8-E9C5-4E28-8E5F-D4B943B9E6B6}" srcOrd="6" destOrd="0" presId="urn:microsoft.com/office/officeart/2005/8/layout/cycle6"/>
    <dgm:cxn modelId="{330133C9-A2CE-497A-BE52-B3A5319152D1}" type="presParOf" srcId="{5139865C-5838-4BB8-9081-65BD4CE7579B}" destId="{5E2F2AC1-B196-4647-96AA-0359CC5325E6}" srcOrd="7" destOrd="0" presId="urn:microsoft.com/office/officeart/2005/8/layout/cycle6"/>
    <dgm:cxn modelId="{DE6DCDCE-AE47-415B-9C6F-B4DFD0E53F64}" type="presParOf" srcId="{5139865C-5838-4BB8-9081-65BD4CE7579B}" destId="{0B0645EC-699F-4965-A236-9B824FDA953E}" srcOrd="8" destOrd="0" presId="urn:microsoft.com/office/officeart/2005/8/layout/cycle6"/>
    <dgm:cxn modelId="{39DE7C71-F9EE-4532-A665-11945C95DA06}" type="presParOf" srcId="{5139865C-5838-4BB8-9081-65BD4CE7579B}" destId="{8861E35F-9277-47D5-AD83-0380733115EF}" srcOrd="9" destOrd="0" presId="urn:microsoft.com/office/officeart/2005/8/layout/cycle6"/>
    <dgm:cxn modelId="{D24AEC6A-8F9B-477E-BB20-8CB2D156AD45}" type="presParOf" srcId="{5139865C-5838-4BB8-9081-65BD4CE7579B}" destId="{417A28B2-FC4B-4925-B416-366E2B97D7A7}" srcOrd="10" destOrd="0" presId="urn:microsoft.com/office/officeart/2005/8/layout/cycle6"/>
    <dgm:cxn modelId="{FCD4DBB3-651C-46A8-BBAA-289F5DD1773A}" type="presParOf" srcId="{5139865C-5838-4BB8-9081-65BD4CE7579B}" destId="{9EFE2281-156C-44F1-840F-90FD41B403B3}" srcOrd="11" destOrd="0" presId="urn:microsoft.com/office/officeart/2005/8/layout/cycle6"/>
    <dgm:cxn modelId="{40D1A67B-846A-4DB0-87D5-62AFD783F2FF}" type="presParOf" srcId="{5139865C-5838-4BB8-9081-65BD4CE7579B}" destId="{431513E3-0722-4045-8992-01EC61EDD9BF}" srcOrd="12" destOrd="0" presId="urn:microsoft.com/office/officeart/2005/8/layout/cycle6"/>
    <dgm:cxn modelId="{C4158F5C-E2A5-461A-B125-4B9BE9224627}" type="presParOf" srcId="{5139865C-5838-4BB8-9081-65BD4CE7579B}" destId="{51B021C4-9097-461F-B37F-ED4EEC756B0D}" srcOrd="13" destOrd="0" presId="urn:microsoft.com/office/officeart/2005/8/layout/cycle6"/>
    <dgm:cxn modelId="{C9296059-FD9E-41F7-91B0-88DDF88080B7}" type="presParOf" srcId="{5139865C-5838-4BB8-9081-65BD4CE7579B}" destId="{27FE422A-4810-46B5-B29E-74974DAC8ED9}" srcOrd="14" destOrd="0" presId="urn:microsoft.com/office/officeart/2005/8/layout/cycle6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74A74-D706-4E7E-A812-E593917EF587}">
      <dsp:nvSpPr>
        <dsp:cNvPr id="0" name=""/>
        <dsp:cNvSpPr/>
      </dsp:nvSpPr>
      <dsp:spPr>
        <a:xfrm>
          <a:off x="3174007" y="3160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Cancer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(See </a:t>
          </a:r>
          <a:r>
            <a:rPr lang="en-US" sz="1900" kern="1200" err="1"/>
            <a:t>Prev</a:t>
          </a:r>
          <a:r>
            <a:rPr lang="en-US" sz="1900" kern="1200"/>
            <a:t> 1)</a:t>
          </a:r>
        </a:p>
      </dsp:txBody>
      <dsp:txXfrm>
        <a:off x="3230487" y="59640"/>
        <a:ext cx="1667024" cy="1044029"/>
      </dsp:txXfrm>
    </dsp:sp>
    <dsp:sp modelId="{50315BBD-645D-46B5-B225-A264183E24F8}">
      <dsp:nvSpPr>
        <dsp:cNvPr id="0" name=""/>
        <dsp:cNvSpPr/>
      </dsp:nvSpPr>
      <dsp:spPr>
        <a:xfrm>
          <a:off x="1825703" y="610241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141077" y="154620"/>
              </a:moveTo>
              <a:arcTo wR="2310126" hR="2310126" stAng="17464905" swAng="20276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D37ACF-9CF9-4020-A0BE-D7AFDFD30B39}">
      <dsp:nvSpPr>
        <dsp:cNvPr id="0" name=""/>
        <dsp:cNvSpPr/>
      </dsp:nvSpPr>
      <dsp:spPr>
        <a:xfrm>
          <a:off x="5417803" y="1602468"/>
          <a:ext cx="1779984" cy="1156989"/>
        </a:xfrm>
        <a:prstGeom prst="roundRect">
          <a:avLst/>
        </a:prstGeom>
        <a:solidFill>
          <a:schemeClr val="accent2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Infectious Disease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(See </a:t>
          </a:r>
          <a:r>
            <a:rPr lang="en-US" sz="1900" kern="1200" dirty="0" err="1"/>
            <a:t>Prev</a:t>
          </a:r>
          <a:r>
            <a:rPr lang="en-US" sz="1900" kern="1200" dirty="0"/>
            <a:t> 1)</a:t>
          </a:r>
        </a:p>
      </dsp:txBody>
      <dsp:txXfrm>
        <a:off x="5474283" y="1658948"/>
        <a:ext cx="1667024" cy="1044029"/>
      </dsp:txXfrm>
    </dsp:sp>
    <dsp:sp modelId="{C27590CA-F935-48E3-9FF4-A029534BC409}">
      <dsp:nvSpPr>
        <dsp:cNvPr id="0" name=""/>
        <dsp:cNvSpPr/>
      </dsp:nvSpPr>
      <dsp:spPr>
        <a:xfrm>
          <a:off x="1794887" y="522753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619509" y="2251573"/>
              </a:moveTo>
              <a:arcTo wR="2310126" hR="2310126" stAng="21512857" swAng="220936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060B8-E9C5-4E28-8E5F-D4B943B9E6B6}">
      <dsp:nvSpPr>
        <dsp:cNvPr id="0" name=""/>
        <dsp:cNvSpPr/>
      </dsp:nvSpPr>
      <dsp:spPr>
        <a:xfrm>
          <a:off x="4531865" y="4182218"/>
          <a:ext cx="1779984" cy="1156989"/>
        </a:xfrm>
        <a:prstGeom prst="roundRect">
          <a:avLst/>
        </a:prstGeom>
        <a:solidFill>
          <a:schemeClr val="accent5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Psychosocial</a:t>
          </a:r>
        </a:p>
      </dsp:txBody>
      <dsp:txXfrm>
        <a:off x="4588345" y="4238698"/>
        <a:ext cx="1667024" cy="1044029"/>
      </dsp:txXfrm>
    </dsp:sp>
    <dsp:sp modelId="{0B0645EC-699F-4965-A236-9B824FDA953E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768824" y="4574254"/>
              </a:moveTo>
              <a:arcTo wR="2310126" hR="2310126" stAng="4712834" swAng="137433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61E35F-9277-47D5-AD83-0380733115EF}">
      <dsp:nvSpPr>
        <dsp:cNvPr id="0" name=""/>
        <dsp:cNvSpPr/>
      </dsp:nvSpPr>
      <dsp:spPr>
        <a:xfrm>
          <a:off x="1816149" y="4182218"/>
          <a:ext cx="1779984" cy="1156989"/>
        </a:xfrm>
        <a:prstGeom prst="roundRect">
          <a:avLst/>
        </a:prstGeom>
        <a:solidFill>
          <a:srgbClr val="C00000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Cardiovascular disease</a:t>
          </a:r>
        </a:p>
      </dsp:txBody>
      <dsp:txXfrm>
        <a:off x="1872629" y="4238698"/>
        <a:ext cx="1667024" cy="1044029"/>
      </dsp:txXfrm>
    </dsp:sp>
    <dsp:sp modelId="{9EFE2281-156C-44F1-840F-90FD41B403B3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85803" y="3588275"/>
              </a:moveTo>
              <a:arcTo wR="2310126" hR="2310126" stAng="8784456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513E3-0722-4045-8992-01EC61EDD9BF}">
      <dsp:nvSpPr>
        <dsp:cNvPr id="0" name=""/>
        <dsp:cNvSpPr/>
      </dsp:nvSpPr>
      <dsp:spPr>
        <a:xfrm>
          <a:off x="976947" y="1599418"/>
          <a:ext cx="1779984" cy="1156989"/>
        </a:xfrm>
        <a:prstGeom prst="roundRect">
          <a:avLst/>
        </a:prstGeom>
        <a:solidFill>
          <a:schemeClr val="accent6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Family/Safety</a:t>
          </a:r>
        </a:p>
      </dsp:txBody>
      <dsp:txXfrm>
        <a:off x="1033427" y="1655898"/>
        <a:ext cx="1667024" cy="1044029"/>
      </dsp:txXfrm>
    </dsp:sp>
    <dsp:sp modelId="{27FE422A-4810-46B5-B29E-74974DAC8ED9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02763" y="1006803"/>
              </a:moveTo>
              <a:arcTo wR="2310126" hR="2310126" stAng="12860714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00A4F-BD8C-463E-B2FD-9559DB1732D6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6ED7E-FF1E-4D25-86CE-095ABFC43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2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782A6-F165-4588-9224-AE9ADFA07F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86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None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Unhealthy ETOH use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4 drinks/day or 14 drinks/week in a healthy male adult aged 21-64</a:t>
            </a:r>
            <a:endParaRPr lang="en-US" sz="12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3 drinks/day or 7 drinks/week in a healthy male ≥65</a:t>
            </a:r>
            <a:endParaRPr lang="en-US" sz="12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3 drinks/day or 7 drinks per week in healthy adult women of all ages</a:t>
            </a:r>
            <a:endParaRPr lang="en-US" sz="12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782A6-F165-4588-9224-AE9ADFA07F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5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782A6-F165-4588-9224-AE9ADFA07F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3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6ED7E-FF1E-4D25-86CE-095ABFC432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83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i="0">
              <a:solidFill>
                <a:srgbClr val="333333"/>
              </a:solidFill>
              <a:effectLst/>
              <a:latin typeface="Montserra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6ED7E-FF1E-4D25-86CE-095ABFC432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87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6ED7E-FF1E-4D25-86CE-095ABFC432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16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i="0">
              <a:solidFill>
                <a:srgbClr val="333333"/>
              </a:solidFill>
              <a:effectLst/>
              <a:latin typeface="Montserra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6ED7E-FF1E-4D25-86CE-095ABFC432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8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6ED7E-FF1E-4D25-86CE-095ABFC432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317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AB7C-E1F3-4DE9-A004-9658219DE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C961E-C6F7-4E3B-A0CB-6103FD4EF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8CA66-BB77-400B-8754-67394EA9A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79893-C538-47A9-9173-DD1B5FB9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E1790-3C4F-47C9-B5C9-54DF3630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6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B77B-327C-4ED6-B129-95469C2B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CF909-8354-4C0F-AEE7-8F3B45487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6AB85-2CB7-4125-9047-C2FC32BF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4539A-9A10-4B48-89BF-3016D3C2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50FD3-1BFE-42FC-9B3A-5412E398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19A3-4E7C-4D32-AA05-5AE6E3BA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974E3-FE89-4B3D-B19D-31CAB0BAE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812A4-F2B4-4E3E-AE12-77865F628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9DE-DEF2-47EB-A509-71C0EFB8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5E7AE-CA22-4B20-8132-5840A3F4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7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5B93-2ABC-434C-B99E-A669A54D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895D-2C17-4F81-B367-F2D9467D9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7C22E-F7E6-41A8-812E-458760C1D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BD94C-BB3F-4A43-9325-49220CAB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91918-1562-4E8F-998F-E385A133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B923F-4EA8-4A9D-A042-64C1101C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0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B760-2742-4F8F-B4EA-941780F7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E639B-9852-4234-B4C5-9581F25B2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04DD1-8489-4DB0-82CD-88E29705D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91CAD-12AB-4913-BDED-E91C8AC53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06DB3-5594-48B8-8EF6-1E00A5129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07543-6E2B-4FD0-B064-725E24CA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BCA03-0260-4EEB-BA92-59138494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7B51A-1F08-4D07-AB1A-C9791081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8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67BB-7E13-4488-8D62-8D02E10F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A61EB-D637-44BF-A82E-306C4D05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E7473-5277-4C2E-86B2-7E891868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86924-DF69-4CFD-9007-4D058561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7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A311B-219D-4C55-B3F6-F9DC504F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4B919-CF50-4ABA-B4F1-2FA3B1C4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A077E-0FB8-4F5E-BC0B-238E4F4A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7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0F8F-83F0-4A7F-AF30-59D64E29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9DC97-1B1F-45A0-A975-52A495ED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624CC-4251-4D0A-AFDF-979B9EF4F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ECBF4-FF94-41DA-97EB-7DFF2E10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AF225-95DA-4AB4-A907-454367A5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DA6C2-546A-45B5-A062-0A9BE41F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7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B636-9571-418C-AD4B-08B4B495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F7CC3-76D6-4163-B6ED-83D78A1C7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726F8-7C96-4730-93BE-7B3146E13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4088A-0F31-46AF-A7CD-E0C6BF4B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6A9AD-3A62-473A-8D3A-0CEDDF3C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A2E64-F8CE-4439-B795-A1A5F475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6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D595-75B2-41A6-91C5-FADC4289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72729-0009-4D6B-939E-9BB1880D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B14D0-2EC3-41F1-824F-47D9B8E6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A6D6F-1761-4304-8542-717D5D49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74283-EBCB-4479-8B88-130E06F5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4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40419-BE06-46F0-8BCF-71A16C611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5835A-7809-4BAA-AD15-76694150D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E0AA-6F5B-4AB2-84E4-F1B51E4D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DBF1-DA63-477A-BDFE-E7A32726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A1F83-5C8C-48DE-86F4-456A5A610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255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56AB2-5F9B-446F-A799-F1A610DC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5E9FD-B205-4A0F-BBB1-509BE4F56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B670C-64FD-44EC-9A57-80661A518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CBF7D-120C-4940-B1A2-AB13C2D435F4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3031-624E-4ED9-A6F1-F3E67D94D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19AA1-ABF8-40FF-AC5D-99D411FB5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0D6E9-FA80-415A-9BC3-9C00350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0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slide" Target="slide3.xml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slide" Target="slide4.xml"/><Relationship Id="rId13" Type="http://schemas.openxmlformats.org/officeDocument/2006/relationships/slide" Target="slide6.xml"/><Relationship Id="rId14" Type="http://schemas.openxmlformats.org/officeDocument/2006/relationships/slide" Target="slide2.xml"/><Relationship Id="rId15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6.xml"/><Relationship Id="rId8" Type="http://schemas.openxmlformats.org/officeDocument/2006/relationships/slide" Target="slide4.xml"/><Relationship Id="rId9" Type="http://schemas.openxmlformats.org/officeDocument/2006/relationships/slide" Target="slide2.xml"/><Relationship Id="rId10" Type="http://schemas.openxmlformats.org/officeDocument/2006/relationships/slide" Target="slide5.xml"/><Relationship Id="rId11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slide" Target="slide6.xml"/><Relationship Id="rId12" Type="http://schemas.openxmlformats.org/officeDocument/2006/relationships/slide" Target="slide4.xml"/><Relationship Id="rId13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1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2.xml"/><Relationship Id="rId7" Type="http://schemas.openxmlformats.org/officeDocument/2006/relationships/slide" Target="slide4.xml"/><Relationship Id="rId8" Type="http://schemas.openxmlformats.org/officeDocument/2006/relationships/slide" Target="slide6.xml"/><Relationship Id="rId9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1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6.xml"/><Relationship Id="rId7" Type="http://schemas.openxmlformats.org/officeDocument/2006/relationships/slide" Target="slide4.xml"/><Relationship Id="rId8" Type="http://schemas.openxmlformats.org/officeDocument/2006/relationships/slide" Target="slide2.xml"/><Relationship Id="rId9" Type="http://schemas.openxmlformats.org/officeDocument/2006/relationships/slide" Target="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1.xml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hyperlink" Target="https://www.cdc.gov/steadi/pdf/STEADI-Algorithm-508.pdf" TargetMode="External"/><Relationship Id="rId9" Type="http://schemas.openxmlformats.org/officeDocument/2006/relationships/image" Target="../media/image1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397" y="6173101"/>
            <a:ext cx="1387970" cy="52810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BA0EFD-3E12-47A8-9FA3-01A8990948D0}"/>
              </a:ext>
            </a:extLst>
          </p:cNvPr>
          <p:cNvSpPr/>
          <p:nvPr/>
        </p:nvSpPr>
        <p:spPr>
          <a:xfrm>
            <a:off x="2882283" y="118378"/>
            <a:ext cx="6427433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Adult Disease Prevention – Average Risk Patient</a:t>
            </a:r>
          </a:p>
        </p:txBody>
      </p:sp>
      <p:sp>
        <p:nvSpPr>
          <p:cNvPr id="59" name="Question 2">
            <a:extLst>
              <a:ext uri="{FF2B5EF4-FFF2-40B4-BE49-F238E27FC236}">
                <a16:creationId xmlns:a16="http://schemas.microsoft.com/office/drawing/2014/main" id="{AC152336-1290-4578-910D-6B5D3E2A9B18}"/>
              </a:ext>
            </a:extLst>
          </p:cNvPr>
          <p:cNvSpPr txBox="1"/>
          <p:nvPr/>
        </p:nvSpPr>
        <p:spPr>
          <a:xfrm>
            <a:off x="9622043" y="698660"/>
            <a:ext cx="2404590" cy="1754326"/>
          </a:xfrm>
          <a:prstGeom prst="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REMEMBER: Prioritize Screening and Prevention Based On: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b="1">
                <a:solidFill>
                  <a:srgbClr val="FF0000"/>
                </a:solidFill>
              </a:rPr>
              <a:t>Age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b="1">
                <a:solidFill>
                  <a:srgbClr val="FF0000"/>
                </a:solidFill>
              </a:rPr>
              <a:t>Sex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b="1">
                <a:solidFill>
                  <a:srgbClr val="FF0000"/>
                </a:solidFill>
              </a:rPr>
              <a:t>Risk Factors</a:t>
            </a:r>
            <a:endParaRPr lang="en-US">
              <a:solidFill>
                <a:sysClr val="windowText" lastClr="000000"/>
              </a:solidFill>
            </a:endParaRPr>
          </a:p>
        </p:txBody>
      </p:sp>
      <p:graphicFrame>
        <p:nvGraphicFramePr>
          <p:cNvPr id="29" name="Cancer">
            <a:extLst>
              <a:ext uri="{FF2B5EF4-FFF2-40B4-BE49-F238E27FC236}">
                <a16:creationId xmlns:a16="http://schemas.microsoft.com/office/drawing/2014/main" id="{E65C1EE7-32E1-47B0-9C60-9C066DEB6B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562718"/>
              </p:ext>
            </p:extLst>
          </p:nvPr>
        </p:nvGraphicFramePr>
        <p:xfrm>
          <a:off x="2031999" y="100160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5" name="Question 2">
            <a:extLst>
              <a:ext uri="{FF2B5EF4-FFF2-40B4-BE49-F238E27FC236}">
                <a16:creationId xmlns:a16="http://schemas.microsoft.com/office/drawing/2014/main" id="{FAF8573F-461C-43F5-A0B7-453D6D224DBA}"/>
              </a:ext>
            </a:extLst>
          </p:cNvPr>
          <p:cNvSpPr txBox="1"/>
          <p:nvPr/>
        </p:nvSpPr>
        <p:spPr>
          <a:xfrm>
            <a:off x="4930088" y="3639302"/>
            <a:ext cx="2404590" cy="923330"/>
          </a:xfrm>
          <a:prstGeom prst="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1"/>
              <a:t>ADULT DISEASE SCREENING &amp; PREVENTION</a:t>
            </a:r>
          </a:p>
        </p:txBody>
      </p:sp>
      <p:pic>
        <p:nvPicPr>
          <p:cNvPr id="23" name="Graphic 22" descr="Cursor with solid fill">
            <a:hlinkClick r:id="rId9" action="ppaction://hlinksldjump"/>
            <a:extLst>
              <a:ext uri="{FF2B5EF4-FFF2-40B4-BE49-F238E27FC236}">
                <a16:creationId xmlns:a16="http://schemas.microsoft.com/office/drawing/2014/main" id="{8282B08F-EE21-4E78-9558-FDE10FC89B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28392" y="6150322"/>
            <a:ext cx="395274" cy="395274"/>
          </a:xfrm>
          <a:prstGeom prst="rect">
            <a:avLst/>
          </a:prstGeom>
        </p:spPr>
      </p:pic>
      <p:pic>
        <p:nvPicPr>
          <p:cNvPr id="24" name="Graphic 23" descr="Cursor with solid fill">
            <a:hlinkClick r:id="rId12" action="ppaction://hlinksldjump"/>
            <a:extLst>
              <a:ext uri="{FF2B5EF4-FFF2-40B4-BE49-F238E27FC236}">
                <a16:creationId xmlns:a16="http://schemas.microsoft.com/office/drawing/2014/main" id="{3421F83E-0AC1-47E3-8966-60F2B791F5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3305" y="6150322"/>
            <a:ext cx="395274" cy="395274"/>
          </a:xfrm>
          <a:prstGeom prst="rect">
            <a:avLst/>
          </a:prstGeom>
        </p:spPr>
      </p:pic>
      <p:pic>
        <p:nvPicPr>
          <p:cNvPr id="26" name="Graphic 25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EA6EC630-BA11-4499-87BE-F360353393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8690" y="3513301"/>
            <a:ext cx="395274" cy="395274"/>
          </a:xfrm>
          <a:prstGeom prst="rect">
            <a:avLst/>
          </a:prstGeom>
        </p:spPr>
      </p:pic>
      <p:sp>
        <p:nvSpPr>
          <p:cNvPr id="17" name="Question 2">
            <a:hlinkClick r:id="" action="ppaction://noaction"/>
            <a:extLst>
              <a:ext uri="{FF2B5EF4-FFF2-40B4-BE49-F238E27FC236}">
                <a16:creationId xmlns:a16="http://schemas.microsoft.com/office/drawing/2014/main" id="{BAA6039F-E916-4D4A-B813-C0E33968083A}"/>
              </a:ext>
            </a:extLst>
          </p:cNvPr>
          <p:cNvSpPr txBox="1"/>
          <p:nvPr/>
        </p:nvSpPr>
        <p:spPr>
          <a:xfrm>
            <a:off x="242171" y="190104"/>
            <a:ext cx="1975773" cy="715089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5 domains of prevention</a:t>
            </a:r>
          </a:p>
        </p:txBody>
      </p:sp>
      <p:sp>
        <p:nvSpPr>
          <p:cNvPr id="19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14925A05-2084-4CA0-ADE5-260FDB363E60}"/>
              </a:ext>
            </a:extLst>
          </p:cNvPr>
          <p:cNvSpPr txBox="1"/>
          <p:nvPr/>
        </p:nvSpPr>
        <p:spPr>
          <a:xfrm>
            <a:off x="250665" y="2907041"/>
            <a:ext cx="1967277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0" name="Graphic 19" descr="Cursor with solid fill">
            <a:hlinkClick r:id="rId12" action="ppaction://hlinksldjump"/>
            <a:extLst>
              <a:ext uri="{FF2B5EF4-FFF2-40B4-BE49-F238E27FC236}">
                <a16:creationId xmlns:a16="http://schemas.microsoft.com/office/drawing/2014/main" id="{5A5A799D-BD4B-433E-BA09-F2095D1BBB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1999" y="3118027"/>
            <a:ext cx="395274" cy="395274"/>
          </a:xfrm>
          <a:prstGeom prst="rect">
            <a:avLst/>
          </a:prstGeom>
        </p:spPr>
      </p:pic>
      <p:sp>
        <p:nvSpPr>
          <p:cNvPr id="51" name="cancer screening text">
            <a:hlinkClick r:id="rId14" action="ppaction://hlinksldjump"/>
            <a:extLst>
              <a:ext uri="{FF2B5EF4-FFF2-40B4-BE49-F238E27FC236}">
                <a16:creationId xmlns:a16="http://schemas.microsoft.com/office/drawing/2014/main" id="{0CEEA003-38CF-4125-8922-FD538CB9D724}"/>
              </a:ext>
            </a:extLst>
          </p:cNvPr>
          <p:cNvSpPr txBox="1"/>
          <p:nvPr/>
        </p:nvSpPr>
        <p:spPr>
          <a:xfrm>
            <a:off x="242171" y="1092083"/>
            <a:ext cx="1967278" cy="408623"/>
          </a:xfrm>
          <a:prstGeom prst="roundRect">
            <a:avLst/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Psychosocial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DFA83A08-15AF-4103-8056-3FDCEBE41C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1999" y="1270298"/>
            <a:ext cx="395274" cy="395274"/>
          </a:xfrm>
          <a:prstGeom prst="rect">
            <a:avLst/>
          </a:prstGeom>
        </p:spPr>
      </p:pic>
      <p:sp>
        <p:nvSpPr>
          <p:cNvPr id="62" name="cancer screening text">
            <a:hlinkClick r:id="rId12" action="ppaction://hlinksldjump"/>
            <a:extLst>
              <a:ext uri="{FF2B5EF4-FFF2-40B4-BE49-F238E27FC236}">
                <a16:creationId xmlns:a16="http://schemas.microsoft.com/office/drawing/2014/main" id="{BC33ED69-A19F-4938-B9BD-B703E18915E0}"/>
              </a:ext>
            </a:extLst>
          </p:cNvPr>
          <p:cNvSpPr txBox="1"/>
          <p:nvPr/>
        </p:nvSpPr>
        <p:spPr>
          <a:xfrm>
            <a:off x="250666" y="1703869"/>
            <a:ext cx="1967278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CV disease</a:t>
            </a:r>
          </a:p>
        </p:txBody>
      </p: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16C31FF5-BAB9-447D-A76C-398A94089F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1999" y="1882084"/>
            <a:ext cx="395274" cy="395274"/>
          </a:xfrm>
          <a:prstGeom prst="rect">
            <a:avLst/>
          </a:prstGeom>
        </p:spPr>
      </p:pic>
      <p:sp>
        <p:nvSpPr>
          <p:cNvPr id="64" name="cancer screening text">
            <a:hlinkClick r:id="rId15" action="ppaction://hlinksldjump"/>
            <a:extLst>
              <a:ext uri="{FF2B5EF4-FFF2-40B4-BE49-F238E27FC236}">
                <a16:creationId xmlns:a16="http://schemas.microsoft.com/office/drawing/2014/main" id="{E391E643-43FB-4D36-8A3C-A0E8FE9DC39B}"/>
              </a:ext>
            </a:extLst>
          </p:cNvPr>
          <p:cNvSpPr txBox="1"/>
          <p:nvPr/>
        </p:nvSpPr>
        <p:spPr>
          <a:xfrm>
            <a:off x="250666" y="2297092"/>
            <a:ext cx="1967278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Family/ Safety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C3C97CC0-9915-43E6-9D5D-32F13DF105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1999" y="2475307"/>
            <a:ext cx="395274" cy="39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9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397" y="6173101"/>
            <a:ext cx="1387970" cy="528106"/>
          </a:xfrm>
          <a:prstGeom prst="rect">
            <a:avLst/>
          </a:prstGeom>
        </p:spPr>
      </p:pic>
      <p:sp>
        <p:nvSpPr>
          <p:cNvPr id="17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BAA6039F-E916-4D4A-B813-C0E33968083A}"/>
              </a:ext>
            </a:extLst>
          </p:cNvPr>
          <p:cNvSpPr txBox="1"/>
          <p:nvPr/>
        </p:nvSpPr>
        <p:spPr>
          <a:xfrm>
            <a:off x="242171" y="190104"/>
            <a:ext cx="1975773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 domains of prevention</a:t>
            </a: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97F7ADFE-28F2-4C45-9F5B-DD9E35FF7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716760"/>
            <a:ext cx="395274" cy="395274"/>
          </a:xfrm>
          <a:prstGeom prst="rect">
            <a:avLst/>
          </a:prstGeom>
        </p:spPr>
      </p:pic>
      <p:sp>
        <p:nvSpPr>
          <p:cNvPr id="19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14925A05-2084-4CA0-ADE5-260FDB363E60}"/>
              </a:ext>
            </a:extLst>
          </p:cNvPr>
          <p:cNvSpPr txBox="1"/>
          <p:nvPr/>
        </p:nvSpPr>
        <p:spPr>
          <a:xfrm>
            <a:off x="242171" y="4042427"/>
            <a:ext cx="1967277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0" name="Graphic 19" descr="Cursor with solid fill">
            <a:hlinkClick r:id="rId8" action="ppaction://hlinksldjump"/>
            <a:extLst>
              <a:ext uri="{FF2B5EF4-FFF2-40B4-BE49-F238E27FC236}">
                <a16:creationId xmlns:a16="http://schemas.microsoft.com/office/drawing/2014/main" id="{5A5A799D-BD4B-433E-BA09-F2095D1BB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4253413"/>
            <a:ext cx="395274" cy="395274"/>
          </a:xfrm>
          <a:prstGeom prst="rect">
            <a:avLst/>
          </a:prstGeom>
        </p:spPr>
      </p:pic>
      <p:sp>
        <p:nvSpPr>
          <p:cNvPr id="51" name="cancer screening text">
            <a:hlinkClick r:id="rId9" action="ppaction://hlinksldjump"/>
            <a:extLst>
              <a:ext uri="{FF2B5EF4-FFF2-40B4-BE49-F238E27FC236}">
                <a16:creationId xmlns:a16="http://schemas.microsoft.com/office/drawing/2014/main" id="{0CEEA003-38CF-4125-8922-FD538CB9D724}"/>
              </a:ext>
            </a:extLst>
          </p:cNvPr>
          <p:cNvSpPr txBox="1"/>
          <p:nvPr/>
        </p:nvSpPr>
        <p:spPr>
          <a:xfrm>
            <a:off x="242172" y="1088632"/>
            <a:ext cx="1967278" cy="408623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Psychosocial</a:t>
            </a:r>
          </a:p>
        </p:txBody>
      </p:sp>
      <p:sp>
        <p:nvSpPr>
          <p:cNvPr id="62" name="cancer screening text">
            <a:hlinkClick r:id="rId8" action="ppaction://hlinksldjump"/>
            <a:extLst>
              <a:ext uri="{FF2B5EF4-FFF2-40B4-BE49-F238E27FC236}">
                <a16:creationId xmlns:a16="http://schemas.microsoft.com/office/drawing/2014/main" id="{BC33ED69-A19F-4938-B9BD-B703E18915E0}"/>
              </a:ext>
            </a:extLst>
          </p:cNvPr>
          <p:cNvSpPr txBox="1"/>
          <p:nvPr/>
        </p:nvSpPr>
        <p:spPr>
          <a:xfrm>
            <a:off x="242172" y="2839255"/>
            <a:ext cx="1967278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CV disease</a:t>
            </a:r>
          </a:p>
        </p:txBody>
      </p: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16C31FF5-BAB9-447D-A76C-398A94089F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3017470"/>
            <a:ext cx="395274" cy="395274"/>
          </a:xfrm>
          <a:prstGeom prst="rect">
            <a:avLst/>
          </a:prstGeom>
        </p:spPr>
      </p:pic>
      <p:sp>
        <p:nvSpPr>
          <p:cNvPr id="64" name="cancer screening text">
            <a:hlinkClick r:id="rId10" action="ppaction://hlinksldjump"/>
            <a:extLst>
              <a:ext uri="{FF2B5EF4-FFF2-40B4-BE49-F238E27FC236}">
                <a16:creationId xmlns:a16="http://schemas.microsoft.com/office/drawing/2014/main" id="{E391E643-43FB-4D36-8A3C-A0E8FE9DC39B}"/>
              </a:ext>
            </a:extLst>
          </p:cNvPr>
          <p:cNvSpPr txBox="1"/>
          <p:nvPr/>
        </p:nvSpPr>
        <p:spPr>
          <a:xfrm>
            <a:off x="242172" y="3432478"/>
            <a:ext cx="1967278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Family/ Safety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C3C97CC0-9915-43E6-9D5D-32F13DF10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3610693"/>
            <a:ext cx="395274" cy="395274"/>
          </a:xfrm>
          <a:prstGeom prst="rect">
            <a:avLst/>
          </a:prstGeom>
        </p:spPr>
      </p:pic>
      <p:grpSp>
        <p:nvGrpSpPr>
          <p:cNvPr id="28" name="sub-group arrows">
            <a:extLst>
              <a:ext uri="{FF2B5EF4-FFF2-40B4-BE49-F238E27FC236}">
                <a16:creationId xmlns:a16="http://schemas.microsoft.com/office/drawing/2014/main" id="{AB814858-1033-4970-90F8-A156769F3005}"/>
              </a:ext>
            </a:extLst>
          </p:cNvPr>
          <p:cNvGrpSpPr/>
          <p:nvPr/>
        </p:nvGrpSpPr>
        <p:grpSpPr>
          <a:xfrm>
            <a:off x="354886" y="1513676"/>
            <a:ext cx="172844" cy="903513"/>
            <a:chOff x="323629" y="4652062"/>
            <a:chExt cx="172844" cy="903513"/>
          </a:xfrm>
        </p:grpSpPr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83000624-F97A-4A77-AD6E-C02E559A28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33845" y="4741846"/>
              <a:ext cx="352412" cy="17284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702F089C-45AF-43C4-A30D-838E90D550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37666" y="5021436"/>
              <a:ext cx="895435" cy="17284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213D9B33-7F5B-45EA-911E-3EE138CA546E}"/>
              </a:ext>
            </a:extLst>
          </p:cNvPr>
          <p:cNvSpPr txBox="1"/>
          <p:nvPr/>
        </p:nvSpPr>
        <p:spPr>
          <a:xfrm>
            <a:off x="527730" y="1667164"/>
            <a:ext cx="1734234" cy="40862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Substance Use</a:t>
            </a:r>
          </a:p>
        </p:txBody>
      </p:sp>
      <p:sp>
        <p:nvSpPr>
          <p:cNvPr id="33" name="question 4">
            <a:hlinkClick r:id="rId11" action="ppaction://hlinksldjump"/>
            <a:extLst>
              <a:ext uri="{FF2B5EF4-FFF2-40B4-BE49-F238E27FC236}">
                <a16:creationId xmlns:a16="http://schemas.microsoft.com/office/drawing/2014/main" id="{64C5907C-2208-42BF-89FB-77BD9DF87695}"/>
              </a:ext>
            </a:extLst>
          </p:cNvPr>
          <p:cNvSpPr txBox="1"/>
          <p:nvPr/>
        </p:nvSpPr>
        <p:spPr>
          <a:xfrm>
            <a:off x="527730" y="2229276"/>
            <a:ext cx="1734234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Mental Health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DE33956D-B06F-4EE8-B5AB-D1CA44AAB8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0182" y="2447918"/>
            <a:ext cx="395274" cy="39527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0C1416A-91EB-4981-B058-2CDBE6557C55}"/>
              </a:ext>
            </a:extLst>
          </p:cNvPr>
          <p:cNvSpPr/>
          <p:nvPr/>
        </p:nvSpPr>
        <p:spPr>
          <a:xfrm>
            <a:off x="2882283" y="118378"/>
            <a:ext cx="7162528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Psychosocial Disorder Prevention – Substance Use Disorders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60AA4-5A8F-44E3-8A77-085CD5C252A3}"/>
              </a:ext>
            </a:extLst>
          </p:cNvPr>
          <p:cNvSpPr txBox="1"/>
          <p:nvPr/>
        </p:nvSpPr>
        <p:spPr>
          <a:xfrm>
            <a:off x="3151013" y="757570"/>
            <a:ext cx="6893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adults should be screened for substance use annually</a:t>
            </a:r>
          </a:p>
        </p:txBody>
      </p:sp>
      <p:sp>
        <p:nvSpPr>
          <p:cNvPr id="38" name="ETOH">
            <a:extLst>
              <a:ext uri="{FF2B5EF4-FFF2-40B4-BE49-F238E27FC236}">
                <a16:creationId xmlns:a16="http://schemas.microsoft.com/office/drawing/2014/main" id="{FCFA7C93-6E00-4F48-AB08-3DCA11FE5F31}"/>
              </a:ext>
            </a:extLst>
          </p:cNvPr>
          <p:cNvSpPr/>
          <p:nvPr/>
        </p:nvSpPr>
        <p:spPr>
          <a:xfrm>
            <a:off x="3013621" y="1379274"/>
            <a:ext cx="1770926" cy="44576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Alcohol</a:t>
            </a:r>
          </a:p>
        </p:txBody>
      </p:sp>
      <p:sp>
        <p:nvSpPr>
          <p:cNvPr id="39" name="Tobacco">
            <a:extLst>
              <a:ext uri="{FF2B5EF4-FFF2-40B4-BE49-F238E27FC236}">
                <a16:creationId xmlns:a16="http://schemas.microsoft.com/office/drawing/2014/main" id="{F8F2BE58-DAC9-4098-9914-F485F485F778}"/>
              </a:ext>
            </a:extLst>
          </p:cNvPr>
          <p:cNvSpPr/>
          <p:nvPr/>
        </p:nvSpPr>
        <p:spPr>
          <a:xfrm>
            <a:off x="6401807" y="1379274"/>
            <a:ext cx="1770926" cy="44576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Tobacco</a:t>
            </a:r>
          </a:p>
        </p:txBody>
      </p:sp>
      <p:sp>
        <p:nvSpPr>
          <p:cNvPr id="40" name="Illicit Drugs">
            <a:extLst>
              <a:ext uri="{FF2B5EF4-FFF2-40B4-BE49-F238E27FC236}">
                <a16:creationId xmlns:a16="http://schemas.microsoft.com/office/drawing/2014/main" id="{46985261-B2C4-4BBE-9D2B-154E35F08F50}"/>
              </a:ext>
            </a:extLst>
          </p:cNvPr>
          <p:cNvSpPr/>
          <p:nvPr/>
        </p:nvSpPr>
        <p:spPr>
          <a:xfrm>
            <a:off x="9781962" y="1379274"/>
            <a:ext cx="1770926" cy="44576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Illicit Drugs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2C8542F6-B277-4248-AFF9-8957433C7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4941" y="1641438"/>
            <a:ext cx="395274" cy="395274"/>
          </a:xfrm>
          <a:prstGeom prst="rect">
            <a:avLst/>
          </a:prstGeom>
        </p:spPr>
      </p:pic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A5CB3499-E5D1-4C0D-AB74-E64C4F0FB8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5096" y="1641438"/>
            <a:ext cx="395274" cy="395274"/>
          </a:xfrm>
          <a:prstGeom prst="rect">
            <a:avLst/>
          </a:prstGeom>
        </p:spPr>
      </p:pic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4E27584C-72B9-45ED-805C-EABFDA8BD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1191" y="1641438"/>
            <a:ext cx="395274" cy="395274"/>
          </a:xfrm>
          <a:prstGeom prst="rect">
            <a:avLst/>
          </a:prstGeom>
        </p:spPr>
      </p:pic>
      <p:grpSp>
        <p:nvGrpSpPr>
          <p:cNvPr id="46" name="sub-group arrows">
            <a:extLst>
              <a:ext uri="{FF2B5EF4-FFF2-40B4-BE49-F238E27FC236}">
                <a16:creationId xmlns:a16="http://schemas.microsoft.com/office/drawing/2014/main" id="{AD86A6FE-976F-4C61-B0BE-DF6006F599D9}"/>
              </a:ext>
            </a:extLst>
          </p:cNvPr>
          <p:cNvGrpSpPr/>
          <p:nvPr/>
        </p:nvGrpSpPr>
        <p:grpSpPr>
          <a:xfrm>
            <a:off x="3237617" y="1896260"/>
            <a:ext cx="220152" cy="2423214"/>
            <a:chOff x="321802" y="4680166"/>
            <a:chExt cx="172842" cy="975938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21BC1B60-5D0C-4F95-BD5B-12C930C84677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 rot="16200000" flipH="1">
              <a:off x="336171" y="4665797"/>
              <a:ext cx="144104" cy="17284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D419FA7E-08D9-47A2-852E-3A68AA0D18C2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 rot="16200000" flipH="1">
              <a:off x="-35952" y="5125508"/>
              <a:ext cx="890178" cy="17101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SASQ">
            <a:extLst>
              <a:ext uri="{FF2B5EF4-FFF2-40B4-BE49-F238E27FC236}">
                <a16:creationId xmlns:a16="http://schemas.microsoft.com/office/drawing/2014/main" id="{D477BAC6-3AD4-4B62-8238-8ADED9F942CC}"/>
              </a:ext>
            </a:extLst>
          </p:cNvPr>
          <p:cNvSpPr txBox="1"/>
          <p:nvPr/>
        </p:nvSpPr>
        <p:spPr>
          <a:xfrm>
            <a:off x="3457767" y="2049752"/>
            <a:ext cx="1734234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SASQ</a:t>
            </a:r>
          </a:p>
        </p:txBody>
      </p:sp>
      <p:sp>
        <p:nvSpPr>
          <p:cNvPr id="52" name="AUDIT-C">
            <a:extLst>
              <a:ext uri="{FF2B5EF4-FFF2-40B4-BE49-F238E27FC236}">
                <a16:creationId xmlns:a16="http://schemas.microsoft.com/office/drawing/2014/main" id="{5E946DE9-23F6-4C38-974E-64BB3E6A3EDB}"/>
              </a:ext>
            </a:extLst>
          </p:cNvPr>
          <p:cNvSpPr txBox="1"/>
          <p:nvPr/>
        </p:nvSpPr>
        <p:spPr>
          <a:xfrm>
            <a:off x="3457767" y="4115159"/>
            <a:ext cx="1734234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AUDIT-C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8063E47D-FBB6-40F9-8E2F-89064C649F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4548" y="2299244"/>
            <a:ext cx="395274" cy="395274"/>
          </a:xfrm>
          <a:prstGeom prst="rect">
            <a:avLst/>
          </a:prstGeom>
        </p:spPr>
      </p:pic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394272C1-0E7B-4EEA-9C8C-0E6DCCB03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4548" y="4334869"/>
            <a:ext cx="395274" cy="395274"/>
          </a:xfrm>
          <a:prstGeom prst="rect">
            <a:avLst/>
          </a:prstGeom>
        </p:spPr>
      </p:pic>
      <p:sp>
        <p:nvSpPr>
          <p:cNvPr id="56" name="SASQ text">
            <a:extLst>
              <a:ext uri="{FF2B5EF4-FFF2-40B4-BE49-F238E27FC236}">
                <a16:creationId xmlns:a16="http://schemas.microsoft.com/office/drawing/2014/main" id="{9F3AF047-599D-4F13-9EB6-5807CE866FD9}"/>
              </a:ext>
            </a:extLst>
          </p:cNvPr>
          <p:cNvSpPr txBox="1"/>
          <p:nvPr/>
        </p:nvSpPr>
        <p:spPr>
          <a:xfrm>
            <a:off x="2582049" y="2673487"/>
            <a:ext cx="348567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69863" indent="-169863">
              <a:buFont typeface="+mj-lt"/>
              <a:buAutoNum type="arabicPeriod"/>
            </a:pPr>
            <a:r>
              <a:rPr lang="en-US" sz="16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you sometimes drink beer, wine or other ETOH beverages?</a:t>
            </a:r>
          </a:p>
          <a:p>
            <a:pPr marL="169863" indent="-169863">
              <a:buFont typeface="+mj-lt"/>
              <a:buAutoNum type="arabicPeriod"/>
            </a:pPr>
            <a:r>
              <a:rPr lang="en-US" sz="16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times in the past year have you had 5 (4 if F) or more drinks in a day?</a:t>
            </a:r>
          </a:p>
        </p:txBody>
      </p:sp>
      <p:sp>
        <p:nvSpPr>
          <p:cNvPr id="57" name="AUDIT text">
            <a:extLst>
              <a:ext uri="{FF2B5EF4-FFF2-40B4-BE49-F238E27FC236}">
                <a16:creationId xmlns:a16="http://schemas.microsoft.com/office/drawing/2014/main" id="{FE665762-7557-4730-87DB-D9F7DCC0337D}"/>
              </a:ext>
            </a:extLst>
          </p:cNvPr>
          <p:cNvSpPr txBox="1"/>
          <p:nvPr/>
        </p:nvSpPr>
        <p:spPr>
          <a:xfrm>
            <a:off x="2582049" y="4728096"/>
            <a:ext cx="3485670" cy="192488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69863" marR="0" lvl="0" indent="-169863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often do you have a drink containing ETOH?</a:t>
            </a:r>
            <a:endParaRPr lang="en-US" sz="1600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9863" marR="0" lvl="0" indent="-169863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drinks containing ETOH do you have on a typical day when you are drinking?</a:t>
            </a:r>
            <a:endParaRPr lang="en-US" sz="1600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9863" marR="0" lvl="0" indent="-169863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often do you have 6 (4 for F) or more drinks on one occasion? </a:t>
            </a:r>
            <a:endParaRPr lang="en-US" sz="1600" i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60E298-D1EE-4DE9-8EB5-CBD776DEDCF9}"/>
              </a:ext>
            </a:extLst>
          </p:cNvPr>
          <p:cNvCxnSpPr>
            <a:cxnSpLocks/>
            <a:stCxn id="49" idx="2"/>
            <a:endCxn id="56" idx="0"/>
          </p:cNvCxnSpPr>
          <p:nvPr/>
        </p:nvCxnSpPr>
        <p:spPr>
          <a:xfrm>
            <a:off x="4324884" y="2458375"/>
            <a:ext cx="0" cy="21511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16272A4-9E17-4BD2-B41D-9D2D4FAA7E03}"/>
              </a:ext>
            </a:extLst>
          </p:cNvPr>
          <p:cNvCxnSpPr>
            <a:cxnSpLocks/>
            <a:stCxn id="52" idx="2"/>
            <a:endCxn id="57" idx="0"/>
          </p:cNvCxnSpPr>
          <p:nvPr/>
        </p:nvCxnSpPr>
        <p:spPr>
          <a:xfrm>
            <a:off x="4324884" y="4523782"/>
            <a:ext cx="0" cy="204314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95B7EC4-3C11-43CA-A4E0-F8AD037FE8EF}"/>
              </a:ext>
            </a:extLst>
          </p:cNvPr>
          <p:cNvSpPr txBox="1"/>
          <p:nvPr/>
        </p:nvSpPr>
        <p:spPr>
          <a:xfrm>
            <a:off x="5843969" y="2043845"/>
            <a:ext cx="300377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"/>
            <a:r>
              <a:rPr lang="en-US" sz="1800" i="1">
                <a:effectLst/>
              </a:rPr>
              <a:t>"Do you ever smoke or use other tobacco or nicotine products?"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70B5DF-CE46-43F2-886C-BEB981546E79}"/>
              </a:ext>
            </a:extLst>
          </p:cNvPr>
          <p:cNvSpPr txBox="1"/>
          <p:nvPr/>
        </p:nvSpPr>
        <p:spPr>
          <a:xfrm>
            <a:off x="6118178" y="3258262"/>
            <a:ext cx="245729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pack years</a:t>
            </a:r>
          </a:p>
          <a:p>
            <a:pPr algn="ctr"/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used </a:t>
            </a:r>
            <a:endParaRPr lang="en-US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Dependence</a:t>
            </a:r>
          </a:p>
          <a:p>
            <a:pPr algn="ctr"/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 of quit attempts </a:t>
            </a:r>
          </a:p>
          <a:p>
            <a:pPr algn="ctr"/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Readiness to quit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1D0723-7699-406B-ABF2-C7AB9EF82028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>
            <a:off x="7345858" y="2967175"/>
            <a:ext cx="968" cy="29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3819726-BE00-480F-BB89-CFB67A38AF2A}"/>
              </a:ext>
            </a:extLst>
          </p:cNvPr>
          <p:cNvSpPr txBox="1"/>
          <p:nvPr/>
        </p:nvSpPr>
        <p:spPr>
          <a:xfrm>
            <a:off x="9034889" y="2043845"/>
            <a:ext cx="303301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"/>
            <a:r>
              <a:rPr lang="en-US" sz="1800" i="1">
                <a:effectLst/>
              </a:rPr>
              <a:t>“How many times in the past year have you used an illegal drug or used a prescription medication for non-medical reasons?”</a:t>
            </a:r>
          </a:p>
        </p:txBody>
      </p:sp>
    </p:spTree>
    <p:extLst>
      <p:ext uri="{BB962C8B-B14F-4D97-AF65-F5344CB8AC3E}">
        <p14:creationId xmlns:p14="http://schemas.microsoft.com/office/powerpoint/2010/main" val="17521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2" grpId="0" animBg="1"/>
      <p:bldP spid="52" grpId="1" animBg="1"/>
      <p:bldP spid="56" grpId="0" animBg="1"/>
      <p:bldP spid="56" grpId="1" animBg="1"/>
      <p:bldP spid="57" grpId="0" animBg="1"/>
      <p:bldP spid="57" grpId="1" animBg="1"/>
      <p:bldP spid="44" grpId="0" animBg="1"/>
      <p:bldP spid="45" grpId="0" animBg="1"/>
      <p:bldP spid="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397" y="6173101"/>
            <a:ext cx="1387970" cy="528106"/>
          </a:xfrm>
          <a:prstGeom prst="rect">
            <a:avLst/>
          </a:prstGeom>
        </p:spPr>
      </p:pic>
      <p:sp>
        <p:nvSpPr>
          <p:cNvPr id="17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BAA6039F-E916-4D4A-B813-C0E33968083A}"/>
              </a:ext>
            </a:extLst>
          </p:cNvPr>
          <p:cNvSpPr txBox="1"/>
          <p:nvPr/>
        </p:nvSpPr>
        <p:spPr>
          <a:xfrm>
            <a:off x="242171" y="190104"/>
            <a:ext cx="1975773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 domains of prevention</a:t>
            </a: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97F7ADFE-28F2-4C45-9F5B-DD9E35FF7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716760"/>
            <a:ext cx="395274" cy="395274"/>
          </a:xfrm>
          <a:prstGeom prst="rect">
            <a:avLst/>
          </a:prstGeom>
        </p:spPr>
      </p:pic>
      <p:sp>
        <p:nvSpPr>
          <p:cNvPr id="51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0CEEA003-38CF-4125-8922-FD538CB9D724}"/>
              </a:ext>
            </a:extLst>
          </p:cNvPr>
          <p:cNvSpPr txBox="1"/>
          <p:nvPr/>
        </p:nvSpPr>
        <p:spPr>
          <a:xfrm>
            <a:off x="242171" y="1085772"/>
            <a:ext cx="1967278" cy="408623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Psychosocial</a:t>
            </a:r>
          </a:p>
        </p:txBody>
      </p:sp>
      <p:grpSp>
        <p:nvGrpSpPr>
          <p:cNvPr id="28" name="sub-group arrows">
            <a:extLst>
              <a:ext uri="{FF2B5EF4-FFF2-40B4-BE49-F238E27FC236}">
                <a16:creationId xmlns:a16="http://schemas.microsoft.com/office/drawing/2014/main" id="{AB814858-1033-4970-90F8-A156769F3005}"/>
              </a:ext>
            </a:extLst>
          </p:cNvPr>
          <p:cNvGrpSpPr/>
          <p:nvPr/>
        </p:nvGrpSpPr>
        <p:grpSpPr>
          <a:xfrm>
            <a:off x="354885" y="1510816"/>
            <a:ext cx="172844" cy="903513"/>
            <a:chOff x="323629" y="4652062"/>
            <a:chExt cx="172844" cy="903513"/>
          </a:xfrm>
        </p:grpSpPr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83000624-F97A-4A77-AD6E-C02E559A28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33845" y="4741846"/>
              <a:ext cx="352412" cy="17284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702F089C-45AF-43C4-A30D-838E90D550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37666" y="5021436"/>
              <a:ext cx="895435" cy="17284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213D9B33-7F5B-45EA-911E-3EE138CA546E}"/>
              </a:ext>
            </a:extLst>
          </p:cNvPr>
          <p:cNvSpPr txBox="1"/>
          <p:nvPr/>
        </p:nvSpPr>
        <p:spPr>
          <a:xfrm>
            <a:off x="527729" y="1664304"/>
            <a:ext cx="1734234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Substance Use</a:t>
            </a:r>
          </a:p>
        </p:txBody>
      </p:sp>
      <p:sp>
        <p:nvSpPr>
          <p:cNvPr id="33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64C5907C-2208-42BF-89FB-77BD9DF87695}"/>
              </a:ext>
            </a:extLst>
          </p:cNvPr>
          <p:cNvSpPr txBox="1"/>
          <p:nvPr/>
        </p:nvSpPr>
        <p:spPr>
          <a:xfrm>
            <a:off x="527729" y="2226416"/>
            <a:ext cx="1734234" cy="408623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Mental Health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DE33956D-B06F-4EE8-B5AB-D1CA44AAB8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5464" y="1863913"/>
            <a:ext cx="395274" cy="39527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0C1416A-91EB-4981-B058-2CDBE6557C55}"/>
              </a:ext>
            </a:extLst>
          </p:cNvPr>
          <p:cNvSpPr/>
          <p:nvPr/>
        </p:nvSpPr>
        <p:spPr>
          <a:xfrm>
            <a:off x="2882283" y="118378"/>
            <a:ext cx="7162528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Psychosocial Disorder Prevention – Substance Use Disorders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60AA4-5A8F-44E3-8A77-085CD5C252A3}"/>
              </a:ext>
            </a:extLst>
          </p:cNvPr>
          <p:cNvSpPr txBox="1"/>
          <p:nvPr/>
        </p:nvSpPr>
        <p:spPr>
          <a:xfrm>
            <a:off x="3151013" y="757570"/>
            <a:ext cx="6893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adults should be screened for mental health disorders annually</a:t>
            </a:r>
          </a:p>
        </p:txBody>
      </p:sp>
      <p:sp>
        <p:nvSpPr>
          <p:cNvPr id="38" name="Depression">
            <a:extLst>
              <a:ext uri="{FF2B5EF4-FFF2-40B4-BE49-F238E27FC236}">
                <a16:creationId xmlns:a16="http://schemas.microsoft.com/office/drawing/2014/main" id="{FCFA7C93-6E00-4F48-AB08-3DCA11FE5F31}"/>
              </a:ext>
            </a:extLst>
          </p:cNvPr>
          <p:cNvSpPr/>
          <p:nvPr/>
        </p:nvSpPr>
        <p:spPr>
          <a:xfrm>
            <a:off x="3988501" y="1347953"/>
            <a:ext cx="1770926" cy="44576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Depression</a:t>
            </a:r>
          </a:p>
        </p:txBody>
      </p:sp>
      <p:sp>
        <p:nvSpPr>
          <p:cNvPr id="39" name="Anxiety">
            <a:extLst>
              <a:ext uri="{FF2B5EF4-FFF2-40B4-BE49-F238E27FC236}">
                <a16:creationId xmlns:a16="http://schemas.microsoft.com/office/drawing/2014/main" id="{F8F2BE58-DAC9-4098-9914-F485F485F778}"/>
              </a:ext>
            </a:extLst>
          </p:cNvPr>
          <p:cNvSpPr/>
          <p:nvPr/>
        </p:nvSpPr>
        <p:spPr>
          <a:xfrm>
            <a:off x="8780471" y="1320328"/>
            <a:ext cx="1770926" cy="44576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Anxiety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2C8542F6-B277-4248-AFF9-8957433C7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821" y="1582492"/>
            <a:ext cx="395274" cy="395274"/>
          </a:xfrm>
          <a:prstGeom prst="rect">
            <a:avLst/>
          </a:prstGeom>
        </p:spPr>
      </p:pic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A5CB3499-E5D1-4C0D-AB74-E64C4F0FB8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3760" y="1582492"/>
            <a:ext cx="395274" cy="3952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32F9D9-EC90-489C-8E11-00EF2B40DAF5}"/>
              </a:ext>
            </a:extLst>
          </p:cNvPr>
          <p:cNvSpPr txBox="1"/>
          <p:nvPr/>
        </p:nvSpPr>
        <p:spPr>
          <a:xfrm>
            <a:off x="3770489" y="2102067"/>
            <a:ext cx="232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PHQ-9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2F7263-27FA-417B-834C-1E0F1D3D40A2}"/>
              </a:ext>
            </a:extLst>
          </p:cNvPr>
          <p:cNvSpPr txBox="1"/>
          <p:nvPr/>
        </p:nvSpPr>
        <p:spPr>
          <a:xfrm>
            <a:off x="8632156" y="2098508"/>
            <a:ext cx="232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GAD-7</a:t>
            </a:r>
          </a:p>
        </p:txBody>
      </p:sp>
      <p:pic>
        <p:nvPicPr>
          <p:cNvPr id="1026" name="Picture 2" descr="Depression | PHQ 9 - Greenspace Mental Health Knowledge Base">
            <a:extLst>
              <a:ext uri="{FF2B5EF4-FFF2-40B4-BE49-F238E27FC236}">
                <a16:creationId xmlns:a16="http://schemas.microsoft.com/office/drawing/2014/main" id="{F8DB0D86-E870-466E-B1CC-5CE5B77D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312" y="2542309"/>
            <a:ext cx="4225863" cy="341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generalized anxiety disorder 7-item (GAD-7) scale. | Download  Scientific Diagram">
            <a:extLst>
              <a:ext uri="{FF2B5EF4-FFF2-40B4-BE49-F238E27FC236}">
                <a16:creationId xmlns:a16="http://schemas.microsoft.com/office/drawing/2014/main" id="{F0AB4B34-9626-4ABF-A927-C8AFE660B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41" y="2513579"/>
            <a:ext cx="4098399" cy="358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9401B31B-8023-4A86-AC70-41D6939FEB0C}"/>
              </a:ext>
            </a:extLst>
          </p:cNvPr>
          <p:cNvSpPr txBox="1"/>
          <p:nvPr/>
        </p:nvSpPr>
        <p:spPr>
          <a:xfrm>
            <a:off x="242170" y="4039567"/>
            <a:ext cx="1967277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1" name="Graphic 60" descr="Cursor with solid fill">
            <a:hlinkClick r:id="rId12" action="ppaction://hlinksldjump"/>
            <a:extLst>
              <a:ext uri="{FF2B5EF4-FFF2-40B4-BE49-F238E27FC236}">
                <a16:creationId xmlns:a16="http://schemas.microsoft.com/office/drawing/2014/main" id="{0FAB84CB-ED15-4183-9209-540C19CFF7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4250553"/>
            <a:ext cx="395274" cy="395274"/>
          </a:xfrm>
          <a:prstGeom prst="rect">
            <a:avLst/>
          </a:prstGeom>
        </p:spPr>
      </p:pic>
      <p:sp>
        <p:nvSpPr>
          <p:cNvPr id="66" name="cancer screening text">
            <a:hlinkClick r:id="rId12" action="ppaction://hlinksldjump"/>
            <a:extLst>
              <a:ext uri="{FF2B5EF4-FFF2-40B4-BE49-F238E27FC236}">
                <a16:creationId xmlns:a16="http://schemas.microsoft.com/office/drawing/2014/main" id="{A2C37E92-2DF6-4491-9D72-67D0F215B50A}"/>
              </a:ext>
            </a:extLst>
          </p:cNvPr>
          <p:cNvSpPr txBox="1"/>
          <p:nvPr/>
        </p:nvSpPr>
        <p:spPr>
          <a:xfrm>
            <a:off x="242171" y="2836395"/>
            <a:ext cx="1967278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CV disease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32535A4B-80FE-4BB1-BAC9-BAA9A3038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3014610"/>
            <a:ext cx="395274" cy="395274"/>
          </a:xfrm>
          <a:prstGeom prst="rect">
            <a:avLst/>
          </a:prstGeom>
        </p:spPr>
      </p:pic>
      <p:sp>
        <p:nvSpPr>
          <p:cNvPr id="68" name="cancer screening text">
            <a:hlinkClick r:id="rId13" action="ppaction://hlinksldjump"/>
            <a:extLst>
              <a:ext uri="{FF2B5EF4-FFF2-40B4-BE49-F238E27FC236}">
                <a16:creationId xmlns:a16="http://schemas.microsoft.com/office/drawing/2014/main" id="{AC7D1F01-DB37-492A-9ACC-8A03E1E29566}"/>
              </a:ext>
            </a:extLst>
          </p:cNvPr>
          <p:cNvSpPr txBox="1"/>
          <p:nvPr/>
        </p:nvSpPr>
        <p:spPr>
          <a:xfrm>
            <a:off x="242171" y="3429618"/>
            <a:ext cx="1967278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Family/ Safety</a:t>
            </a:r>
          </a:p>
        </p:txBody>
      </p: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7D936B74-6B63-4CF3-8D37-9FDCAC323B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1999" y="3607833"/>
            <a:ext cx="395274" cy="39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1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3" grpId="0"/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75696C5-0364-4AC8-A06F-526433DA6018}"/>
              </a:ext>
            </a:extLst>
          </p:cNvPr>
          <p:cNvGrpSpPr/>
          <p:nvPr/>
        </p:nvGrpSpPr>
        <p:grpSpPr>
          <a:xfrm>
            <a:off x="4693298" y="436790"/>
            <a:ext cx="7077892" cy="6266038"/>
            <a:chOff x="4693298" y="436790"/>
            <a:chExt cx="7077892" cy="626603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CBECFA0-AA96-49FF-AB05-80DE28B2790C}"/>
                </a:ext>
              </a:extLst>
            </p:cNvPr>
            <p:cNvGrpSpPr/>
            <p:nvPr/>
          </p:nvGrpSpPr>
          <p:grpSpPr>
            <a:xfrm>
              <a:off x="4693298" y="5674914"/>
              <a:ext cx="7077892" cy="1027914"/>
              <a:chOff x="6718771" y="5674914"/>
              <a:chExt cx="5052419" cy="1027914"/>
            </a:xfrm>
          </p:grpSpPr>
          <p:sp>
            <p:nvSpPr>
              <p:cNvPr id="74" name="Arrow: Right 73">
                <a:extLst>
                  <a:ext uri="{FF2B5EF4-FFF2-40B4-BE49-F238E27FC236}">
                    <a16:creationId xmlns:a16="http://schemas.microsoft.com/office/drawing/2014/main" id="{8E45F113-DBCE-43DE-90C4-00A6F405B4EA}"/>
                  </a:ext>
                </a:extLst>
              </p:cNvPr>
              <p:cNvSpPr/>
              <p:nvPr/>
            </p:nvSpPr>
            <p:spPr>
              <a:xfrm>
                <a:off x="6718771" y="5674914"/>
                <a:ext cx="5052419" cy="67035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A522401-1621-44D0-949C-3DFB29F22476}"/>
                  </a:ext>
                </a:extLst>
              </p:cNvPr>
              <p:cNvCxnSpPr/>
              <p:nvPr/>
            </p:nvCxnSpPr>
            <p:spPr>
              <a:xfrm>
                <a:off x="6952907" y="5762432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9133BA9-DD34-4245-B6DF-B8063272A0FF}"/>
                  </a:ext>
                </a:extLst>
              </p:cNvPr>
              <p:cNvSpPr txBox="1"/>
              <p:nvPr/>
            </p:nvSpPr>
            <p:spPr>
              <a:xfrm>
                <a:off x="6718771" y="6333496"/>
                <a:ext cx="4277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20</a:t>
                </a: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987765F-D294-4DAA-9088-5836D37FB5A9}"/>
                  </a:ext>
                </a:extLst>
              </p:cNvPr>
              <p:cNvCxnSpPr/>
              <p:nvPr/>
            </p:nvCxnSpPr>
            <p:spPr>
              <a:xfrm>
                <a:off x="7652218" y="5762432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05C9A02-648D-4463-99A9-32D2CCCF1ADB}"/>
                  </a:ext>
                </a:extLst>
              </p:cNvPr>
              <p:cNvSpPr txBox="1"/>
              <p:nvPr/>
            </p:nvSpPr>
            <p:spPr>
              <a:xfrm>
                <a:off x="7427553" y="6355651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30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6D32696-5C84-46C6-A229-5DD791785B68}"/>
                  </a:ext>
                </a:extLst>
              </p:cNvPr>
              <p:cNvCxnSpPr/>
              <p:nvPr/>
            </p:nvCxnSpPr>
            <p:spPr>
              <a:xfrm>
                <a:off x="8348727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E0CB120-4DBD-46C6-B27C-3E4FEF485768}"/>
                  </a:ext>
                </a:extLst>
              </p:cNvPr>
              <p:cNvSpPr txBox="1"/>
              <p:nvPr/>
            </p:nvSpPr>
            <p:spPr>
              <a:xfrm>
                <a:off x="8136204" y="6355652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40</a:t>
                </a: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9FC0EB0-AF26-4C01-B7E0-490AFB6639D4}"/>
                  </a:ext>
                </a:extLst>
              </p:cNvPr>
              <p:cNvCxnSpPr/>
              <p:nvPr/>
            </p:nvCxnSpPr>
            <p:spPr>
              <a:xfrm>
                <a:off x="9033967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FC41032-0DB3-4708-9B99-718655CE0EA7}"/>
                  </a:ext>
                </a:extLst>
              </p:cNvPr>
              <p:cNvSpPr txBox="1"/>
              <p:nvPr/>
            </p:nvSpPr>
            <p:spPr>
              <a:xfrm>
                <a:off x="8837044" y="6355652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50</a:t>
                </a: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A5DAC48-EF40-40B9-95B2-C8AC7E03A00B}"/>
                  </a:ext>
                </a:extLst>
              </p:cNvPr>
              <p:cNvCxnSpPr/>
              <p:nvPr/>
            </p:nvCxnSpPr>
            <p:spPr>
              <a:xfrm>
                <a:off x="9692530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0B1B12C-D656-42EE-8122-057A3C8492CE}"/>
                  </a:ext>
                </a:extLst>
              </p:cNvPr>
              <p:cNvSpPr txBox="1"/>
              <p:nvPr/>
            </p:nvSpPr>
            <p:spPr>
              <a:xfrm>
                <a:off x="9478655" y="6355653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60</a:t>
                </a: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DA446C0-70C1-4841-B3D3-2488646D59C6}"/>
                  </a:ext>
                </a:extLst>
              </p:cNvPr>
              <p:cNvCxnSpPr/>
              <p:nvPr/>
            </p:nvCxnSpPr>
            <p:spPr>
              <a:xfrm>
                <a:off x="10324973" y="5762434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5D4EB68-930D-4EA8-BA0A-11ED92EE3958}"/>
                  </a:ext>
                </a:extLst>
              </p:cNvPr>
              <p:cNvSpPr txBox="1"/>
              <p:nvPr/>
            </p:nvSpPr>
            <p:spPr>
              <a:xfrm>
                <a:off x="10111098" y="6355654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70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6C054B0-253C-4D73-9470-640DC2E1C74F}"/>
                  </a:ext>
                </a:extLst>
              </p:cNvPr>
              <p:cNvCxnSpPr/>
              <p:nvPr/>
            </p:nvCxnSpPr>
            <p:spPr>
              <a:xfrm>
                <a:off x="10966596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4CBE717-0FDD-4DA2-B27C-61C5A05A4087}"/>
                  </a:ext>
                </a:extLst>
              </p:cNvPr>
              <p:cNvSpPr txBox="1"/>
              <p:nvPr/>
            </p:nvSpPr>
            <p:spPr>
              <a:xfrm>
                <a:off x="10752722" y="6333496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80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BBF1E7B-AE02-427C-B3AB-7F849F8EC32E}"/>
                </a:ext>
              </a:extLst>
            </p:cNvPr>
            <p:cNvCxnSpPr/>
            <p:nvPr/>
          </p:nvCxnSpPr>
          <p:spPr>
            <a:xfrm flipV="1">
              <a:off x="5021297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BDF9030-B217-4791-A51D-A3F508ECA20D}"/>
                </a:ext>
              </a:extLst>
            </p:cNvPr>
            <p:cNvCxnSpPr/>
            <p:nvPr/>
          </p:nvCxnSpPr>
          <p:spPr>
            <a:xfrm flipV="1">
              <a:off x="6000956" y="473379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562BEFC-CF95-450F-9809-E87040BC0CC7}"/>
                </a:ext>
              </a:extLst>
            </p:cNvPr>
            <p:cNvCxnSpPr/>
            <p:nvPr/>
          </p:nvCxnSpPr>
          <p:spPr>
            <a:xfrm flipV="1">
              <a:off x="6976690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8F18E50-1AAA-42EF-A229-99B20D211B1B}"/>
                </a:ext>
              </a:extLst>
            </p:cNvPr>
            <p:cNvCxnSpPr/>
            <p:nvPr/>
          </p:nvCxnSpPr>
          <p:spPr>
            <a:xfrm flipV="1">
              <a:off x="7936637" y="43974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8E42B32-7DBB-4C8C-B70C-6B0B728FB686}"/>
                </a:ext>
              </a:extLst>
            </p:cNvPr>
            <p:cNvCxnSpPr/>
            <p:nvPr/>
          </p:nvCxnSpPr>
          <p:spPr>
            <a:xfrm flipV="1">
              <a:off x="8859212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9B1F426-1F25-4C20-9CC0-B448FF5EE81A}"/>
                </a:ext>
              </a:extLst>
            </p:cNvPr>
            <p:cNvCxnSpPr/>
            <p:nvPr/>
          </p:nvCxnSpPr>
          <p:spPr>
            <a:xfrm flipV="1">
              <a:off x="9737294" y="473379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91957ED-0243-4FEB-85F4-7475AA302CDF}"/>
                </a:ext>
              </a:extLst>
            </p:cNvPr>
            <p:cNvCxnSpPr/>
            <p:nvPr/>
          </p:nvCxnSpPr>
          <p:spPr>
            <a:xfrm flipV="1">
              <a:off x="10644041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BAD8E430-8E50-4911-9E8C-6346E63B8497}"/>
              </a:ext>
            </a:extLst>
          </p:cNvPr>
          <p:cNvSpPr txBox="1"/>
          <p:nvPr/>
        </p:nvSpPr>
        <p:spPr>
          <a:xfrm>
            <a:off x="242171" y="190104"/>
            <a:ext cx="1975773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 domains of prevention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0A8236DE-5FAF-40E9-AFBA-F18FF8881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1999" y="716760"/>
            <a:ext cx="395274" cy="395274"/>
          </a:xfrm>
          <a:prstGeom prst="rect">
            <a:avLst/>
          </a:prstGeom>
        </p:spPr>
      </p:pic>
      <p:sp>
        <p:nvSpPr>
          <p:cNvPr id="53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8F839E79-0FF5-4C60-BB74-605829191BED}"/>
              </a:ext>
            </a:extLst>
          </p:cNvPr>
          <p:cNvSpPr txBox="1"/>
          <p:nvPr/>
        </p:nvSpPr>
        <p:spPr>
          <a:xfrm>
            <a:off x="242171" y="1112034"/>
            <a:ext cx="1967278" cy="408623"/>
          </a:xfrm>
          <a:prstGeom prst="roundRect">
            <a:avLst/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Psychosocial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39B84E34-47B7-4847-9C92-F04EBAE12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1999" y="1290249"/>
            <a:ext cx="395274" cy="395274"/>
          </a:xfrm>
          <a:prstGeom prst="rect">
            <a:avLst/>
          </a:prstGeom>
        </p:spPr>
      </p:pic>
      <p:sp>
        <p:nvSpPr>
          <p:cNvPr id="55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D8B41E84-17E8-40AB-9445-5A995CAAE263}"/>
              </a:ext>
            </a:extLst>
          </p:cNvPr>
          <p:cNvSpPr txBox="1"/>
          <p:nvPr/>
        </p:nvSpPr>
        <p:spPr>
          <a:xfrm>
            <a:off x="242171" y="1723820"/>
            <a:ext cx="1967278" cy="408623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CV disease</a:t>
            </a:r>
          </a:p>
        </p:txBody>
      </p:sp>
      <p:sp>
        <p:nvSpPr>
          <p:cNvPr id="63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9D0D95F6-2FA6-4A61-819D-CA087FF0F242}"/>
              </a:ext>
            </a:extLst>
          </p:cNvPr>
          <p:cNvSpPr txBox="1"/>
          <p:nvPr/>
        </p:nvSpPr>
        <p:spPr>
          <a:xfrm>
            <a:off x="242171" y="2986524"/>
            <a:ext cx="196727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4" name="Graphic 63" descr="Cursor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10B5B852-8490-41BB-8321-67504F67D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1999" y="3197510"/>
            <a:ext cx="395274" cy="395274"/>
          </a:xfrm>
          <a:prstGeom prst="rect">
            <a:avLst/>
          </a:prstGeom>
        </p:spPr>
      </p:pic>
      <p:sp>
        <p:nvSpPr>
          <p:cNvPr id="65" name="cancer screening text">
            <a:hlinkClick r:id="rId9" action="ppaction://hlinksldjump"/>
            <a:extLst>
              <a:ext uri="{FF2B5EF4-FFF2-40B4-BE49-F238E27FC236}">
                <a16:creationId xmlns:a16="http://schemas.microsoft.com/office/drawing/2014/main" id="{82E9D393-9485-4C43-8D98-1D14C6351228}"/>
              </a:ext>
            </a:extLst>
          </p:cNvPr>
          <p:cNvSpPr txBox="1"/>
          <p:nvPr/>
        </p:nvSpPr>
        <p:spPr>
          <a:xfrm>
            <a:off x="242171" y="2376575"/>
            <a:ext cx="1967278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Family/ Safety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A1BB36C1-5D94-454B-8ADB-5AA83020D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1999" y="2554790"/>
            <a:ext cx="395274" cy="395274"/>
          </a:xfrm>
          <a:prstGeom prst="rect">
            <a:avLst/>
          </a:prstGeom>
        </p:spPr>
      </p:pic>
      <p:sp>
        <p:nvSpPr>
          <p:cNvPr id="89" name="Hypertension">
            <a:extLst>
              <a:ext uri="{FF2B5EF4-FFF2-40B4-BE49-F238E27FC236}">
                <a16:creationId xmlns:a16="http://schemas.microsoft.com/office/drawing/2014/main" id="{3523BFD4-0080-4975-A186-C9FB8950DF0F}"/>
              </a:ext>
            </a:extLst>
          </p:cNvPr>
          <p:cNvSpPr txBox="1"/>
          <p:nvPr/>
        </p:nvSpPr>
        <p:spPr>
          <a:xfrm>
            <a:off x="2685871" y="826384"/>
            <a:ext cx="1629654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Hypertension</a:t>
            </a:r>
          </a:p>
        </p:txBody>
      </p:sp>
      <p:pic>
        <p:nvPicPr>
          <p:cNvPr id="90" name="Graphic 89" descr="Cursor with solid fill">
            <a:extLst>
              <a:ext uri="{FF2B5EF4-FFF2-40B4-BE49-F238E27FC236}">
                <a16:creationId xmlns:a16="http://schemas.microsoft.com/office/drawing/2014/main" id="{6B1E9CC5-CE4D-4E13-BA95-E7B052158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3688" y="1016919"/>
            <a:ext cx="395274" cy="395274"/>
          </a:xfrm>
          <a:prstGeom prst="rect">
            <a:avLst/>
          </a:prstGeom>
        </p:spPr>
      </p:pic>
      <p:sp>
        <p:nvSpPr>
          <p:cNvPr id="91" name="Obesity">
            <a:extLst>
              <a:ext uri="{FF2B5EF4-FFF2-40B4-BE49-F238E27FC236}">
                <a16:creationId xmlns:a16="http://schemas.microsoft.com/office/drawing/2014/main" id="{5E860F54-ACD4-4D5E-9EE1-F01B897CBB98}"/>
              </a:ext>
            </a:extLst>
          </p:cNvPr>
          <p:cNvSpPr txBox="1"/>
          <p:nvPr/>
        </p:nvSpPr>
        <p:spPr>
          <a:xfrm>
            <a:off x="2689055" y="1457149"/>
            <a:ext cx="1629654" cy="408623"/>
          </a:xfrm>
          <a:prstGeom prst="round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Obesity</a:t>
            </a:r>
          </a:p>
        </p:txBody>
      </p:sp>
      <p:pic>
        <p:nvPicPr>
          <p:cNvPr id="92" name="Graphic 91" descr="Cursor with solid fill">
            <a:extLst>
              <a:ext uri="{FF2B5EF4-FFF2-40B4-BE49-F238E27FC236}">
                <a16:creationId xmlns:a16="http://schemas.microsoft.com/office/drawing/2014/main" id="{F5359EBB-A716-4BB8-B237-E916D0486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6445" y="1692277"/>
            <a:ext cx="395274" cy="395274"/>
          </a:xfrm>
          <a:prstGeom prst="rect">
            <a:avLst/>
          </a:prstGeom>
        </p:spPr>
      </p:pic>
      <p:sp>
        <p:nvSpPr>
          <p:cNvPr id="93" name="Diabetes">
            <a:extLst>
              <a:ext uri="{FF2B5EF4-FFF2-40B4-BE49-F238E27FC236}">
                <a16:creationId xmlns:a16="http://schemas.microsoft.com/office/drawing/2014/main" id="{6F31DAE9-C18D-4C32-8229-375660362278}"/>
              </a:ext>
            </a:extLst>
          </p:cNvPr>
          <p:cNvSpPr txBox="1"/>
          <p:nvPr/>
        </p:nvSpPr>
        <p:spPr>
          <a:xfrm>
            <a:off x="2729306" y="2577307"/>
            <a:ext cx="1629654" cy="408623"/>
          </a:xfrm>
          <a:prstGeom prst="roundRect">
            <a:avLst/>
          </a:prstGeom>
          <a:ln w="3810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Diabetes</a:t>
            </a:r>
          </a:p>
        </p:txBody>
      </p:sp>
      <p:pic>
        <p:nvPicPr>
          <p:cNvPr id="94" name="Graphic 93" descr="Cursor with solid fill">
            <a:extLst>
              <a:ext uri="{FF2B5EF4-FFF2-40B4-BE49-F238E27FC236}">
                <a16:creationId xmlns:a16="http://schemas.microsoft.com/office/drawing/2014/main" id="{30C476A1-058D-480A-865F-4A0CCA3E3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6696" y="2789697"/>
            <a:ext cx="395274" cy="395274"/>
          </a:xfrm>
          <a:prstGeom prst="rect">
            <a:avLst/>
          </a:prstGeom>
        </p:spPr>
      </p:pic>
      <p:sp>
        <p:nvSpPr>
          <p:cNvPr id="95" name="Lipid disorder">
            <a:extLst>
              <a:ext uri="{FF2B5EF4-FFF2-40B4-BE49-F238E27FC236}">
                <a16:creationId xmlns:a16="http://schemas.microsoft.com/office/drawing/2014/main" id="{C954A25F-AF15-4C0A-B7FF-2456EE46964E}"/>
              </a:ext>
            </a:extLst>
          </p:cNvPr>
          <p:cNvSpPr txBox="1"/>
          <p:nvPr/>
        </p:nvSpPr>
        <p:spPr>
          <a:xfrm>
            <a:off x="2707540" y="3625422"/>
            <a:ext cx="1629654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Lipid disorder</a:t>
            </a:r>
          </a:p>
        </p:txBody>
      </p:sp>
      <p:pic>
        <p:nvPicPr>
          <p:cNvPr id="96" name="Graphic 95" descr="Cursor with solid fill">
            <a:extLst>
              <a:ext uri="{FF2B5EF4-FFF2-40B4-BE49-F238E27FC236}">
                <a16:creationId xmlns:a16="http://schemas.microsoft.com/office/drawing/2014/main" id="{63438D30-C671-409A-B7F0-956D3EB47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1539" y="3828654"/>
            <a:ext cx="395274" cy="395274"/>
          </a:xfrm>
          <a:prstGeom prst="rect">
            <a:avLst/>
          </a:prstGeom>
        </p:spPr>
      </p:pic>
      <p:sp>
        <p:nvSpPr>
          <p:cNvPr id="97" name="AAA">
            <a:extLst>
              <a:ext uri="{FF2B5EF4-FFF2-40B4-BE49-F238E27FC236}">
                <a16:creationId xmlns:a16="http://schemas.microsoft.com/office/drawing/2014/main" id="{24A5287F-4D84-46DC-8E64-87A136148384}"/>
              </a:ext>
            </a:extLst>
          </p:cNvPr>
          <p:cNvSpPr txBox="1"/>
          <p:nvPr/>
        </p:nvSpPr>
        <p:spPr>
          <a:xfrm>
            <a:off x="2719419" y="4379280"/>
            <a:ext cx="1629654" cy="408623"/>
          </a:xfrm>
          <a:prstGeom prst="roundRect">
            <a:avLst/>
          </a:prstGeom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AAA</a:t>
            </a:r>
          </a:p>
        </p:txBody>
      </p:sp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F7DAB20F-6B8C-4913-A421-0C2DD03A7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8367" y="4566480"/>
            <a:ext cx="395274" cy="395274"/>
          </a:xfrm>
          <a:prstGeom prst="rect">
            <a:avLst/>
          </a:prstGeom>
        </p:spPr>
      </p:pic>
      <p:sp>
        <p:nvSpPr>
          <p:cNvPr id="99" name="Diet and physical activity">
            <a:extLst>
              <a:ext uri="{FF2B5EF4-FFF2-40B4-BE49-F238E27FC236}">
                <a16:creationId xmlns:a16="http://schemas.microsoft.com/office/drawing/2014/main" id="{7BCA4FA7-397C-4370-9081-E3E39B017B41}"/>
              </a:ext>
            </a:extLst>
          </p:cNvPr>
          <p:cNvSpPr txBox="1"/>
          <p:nvPr/>
        </p:nvSpPr>
        <p:spPr>
          <a:xfrm>
            <a:off x="2709703" y="4936021"/>
            <a:ext cx="1629654" cy="71508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Diet/ Physical activity</a:t>
            </a:r>
          </a:p>
        </p:txBody>
      </p:sp>
      <p:pic>
        <p:nvPicPr>
          <p:cNvPr id="100" name="Graphic 99" descr="Cursor with solid fill">
            <a:extLst>
              <a:ext uri="{FF2B5EF4-FFF2-40B4-BE49-F238E27FC236}">
                <a16:creationId xmlns:a16="http://schemas.microsoft.com/office/drawing/2014/main" id="{45251511-05FB-4C1D-9D19-698304C5F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7442" y="5428118"/>
            <a:ext cx="395274" cy="3952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5DD9E0-E587-4F55-9E3B-62E49097FAAC}"/>
              </a:ext>
            </a:extLst>
          </p:cNvPr>
          <p:cNvSpPr/>
          <p:nvPr/>
        </p:nvSpPr>
        <p:spPr>
          <a:xfrm>
            <a:off x="4693298" y="834142"/>
            <a:ext cx="6573013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Annually with office BP if &gt; 40 and/or has risk factors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3289F-F749-4FB0-9AAE-14A66CAA604F}"/>
              </a:ext>
            </a:extLst>
          </p:cNvPr>
          <p:cNvSpPr/>
          <p:nvPr/>
        </p:nvSpPr>
        <p:spPr>
          <a:xfrm>
            <a:off x="4693298" y="1455163"/>
            <a:ext cx="6573013" cy="39527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BMI calculation at each visit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BD693D9-B91E-41FC-A69A-5CE35DAECD1B}"/>
              </a:ext>
            </a:extLst>
          </p:cNvPr>
          <p:cNvSpPr/>
          <p:nvPr/>
        </p:nvSpPr>
        <p:spPr>
          <a:xfrm>
            <a:off x="6460710" y="2230126"/>
            <a:ext cx="4805602" cy="399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A1c/fasting BG/glucose tolerance q3 y  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F393754-7789-4193-86FD-A16507E28055}"/>
              </a:ext>
            </a:extLst>
          </p:cNvPr>
          <p:cNvSpPr/>
          <p:nvPr/>
        </p:nvSpPr>
        <p:spPr>
          <a:xfrm>
            <a:off x="5015015" y="2230126"/>
            <a:ext cx="1453836" cy="39955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Obesity + RF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A5A0F39-3353-43B3-81C6-0DC97F8DC837}"/>
              </a:ext>
            </a:extLst>
          </p:cNvPr>
          <p:cNvSpPr/>
          <p:nvPr/>
        </p:nvSpPr>
        <p:spPr>
          <a:xfrm>
            <a:off x="6460710" y="2729949"/>
            <a:ext cx="4805583" cy="58727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Overweight/obese: </a:t>
            </a:r>
          </a:p>
          <a:p>
            <a:pPr algn="ctr"/>
            <a:r>
              <a:rPr lang="en-US" dirty="0"/>
              <a:t>A1c/fasting BG/glucose tolerance q3 y 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E1BC05-5845-4645-9DB7-68C6C508BD2B}"/>
              </a:ext>
            </a:extLst>
          </p:cNvPr>
          <p:cNvSpPr/>
          <p:nvPr/>
        </p:nvSpPr>
        <p:spPr>
          <a:xfrm>
            <a:off x="6976690" y="3481403"/>
            <a:ext cx="3284907" cy="6703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Low risk: lipid panel q5 y</a:t>
            </a:r>
          </a:p>
          <a:p>
            <a:pPr algn="ctr"/>
            <a:r>
              <a:rPr lang="en-US"/>
              <a:t>High risk: lipid panel q3 y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3CC28D8-8E3B-4999-8098-4DB37B057B98}"/>
              </a:ext>
            </a:extLst>
          </p:cNvPr>
          <p:cNvSpPr/>
          <p:nvPr/>
        </p:nvSpPr>
        <p:spPr>
          <a:xfrm>
            <a:off x="9262594" y="4361765"/>
            <a:ext cx="895765" cy="42613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EA7A7C-1A75-4FB2-8D9C-35638AE8B41C}"/>
              </a:ext>
            </a:extLst>
          </p:cNvPr>
          <p:cNvSpPr txBox="1"/>
          <p:nvPr/>
        </p:nvSpPr>
        <p:spPr>
          <a:xfrm>
            <a:off x="5292527" y="4401856"/>
            <a:ext cx="38662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Abdominal US once if + tobacco history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9579F96-E861-4EC8-AF29-FFA03E154CE6}"/>
              </a:ext>
            </a:extLst>
          </p:cNvPr>
          <p:cNvSpPr txBox="1"/>
          <p:nvPr/>
        </p:nvSpPr>
        <p:spPr>
          <a:xfrm>
            <a:off x="5362191" y="2828178"/>
            <a:ext cx="1074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USPSTF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184458C-BF70-4AF9-8AC1-C9F68E4A2F70}"/>
              </a:ext>
            </a:extLst>
          </p:cNvPr>
          <p:cNvSpPr txBox="1"/>
          <p:nvPr/>
        </p:nvSpPr>
        <p:spPr>
          <a:xfrm>
            <a:off x="4428353" y="2229841"/>
            <a:ext cx="5866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ADA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F6B6AA-2F7B-44F1-93D5-D0E1E37BF1BC}"/>
              </a:ext>
            </a:extLst>
          </p:cNvPr>
          <p:cNvSpPr/>
          <p:nvPr/>
        </p:nvSpPr>
        <p:spPr>
          <a:xfrm>
            <a:off x="4628410" y="5110480"/>
            <a:ext cx="6637901" cy="3664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 adults should receive counseling on diet/exercise!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8D70D65-254D-42D5-92E8-A16356843BF0}"/>
              </a:ext>
            </a:extLst>
          </p:cNvPr>
          <p:cNvSpPr/>
          <p:nvPr/>
        </p:nvSpPr>
        <p:spPr>
          <a:xfrm>
            <a:off x="2882283" y="118378"/>
            <a:ext cx="7162528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Cardiovascular Disease Screening</a:t>
            </a:r>
          </a:p>
        </p:txBody>
      </p:sp>
    </p:spTree>
    <p:extLst>
      <p:ext uri="{BB962C8B-B14F-4D97-AF65-F5344CB8AC3E}">
        <p14:creationId xmlns:p14="http://schemas.microsoft.com/office/powerpoint/2010/main" val="88142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8" grpId="0" animBg="1"/>
      <p:bldP spid="109" grpId="0" animBg="1"/>
      <p:bldP spid="110" grpId="0" animBg="1"/>
      <p:bldP spid="39" grpId="0" animBg="1"/>
      <p:bldP spid="112" grpId="0" animBg="1"/>
      <p:bldP spid="40" grpId="0" animBg="1"/>
      <p:bldP spid="113" grpId="0" animBg="1"/>
      <p:bldP spid="114" grpId="0" animBg="1"/>
      <p:bldP spid="1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2BCEE838-F7D4-4DFE-9AAF-40AEB81F5AB3}"/>
              </a:ext>
            </a:extLst>
          </p:cNvPr>
          <p:cNvSpPr txBox="1"/>
          <p:nvPr/>
        </p:nvSpPr>
        <p:spPr>
          <a:xfrm>
            <a:off x="234392" y="190104"/>
            <a:ext cx="1975773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 domains of prevention</a:t>
            </a:r>
          </a:p>
        </p:txBody>
      </p:sp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965E0C69-0030-4E17-A14A-A31B3EE27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4220" y="716760"/>
            <a:ext cx="395274" cy="395274"/>
          </a:xfrm>
          <a:prstGeom prst="rect">
            <a:avLst/>
          </a:prstGeom>
        </p:spPr>
      </p:pic>
      <p:sp>
        <p:nvSpPr>
          <p:cNvPr id="73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8D0E77DA-F9EE-46D3-8EC0-3E3EA7CB3B38}"/>
              </a:ext>
            </a:extLst>
          </p:cNvPr>
          <p:cNvSpPr txBox="1"/>
          <p:nvPr/>
        </p:nvSpPr>
        <p:spPr>
          <a:xfrm>
            <a:off x="234392" y="3003533"/>
            <a:ext cx="1967277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81" name="Graphic 80" descr="Cursor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5143DA96-E5C2-4839-B33A-A0B6AB2F0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4220" y="3214519"/>
            <a:ext cx="395274" cy="395274"/>
          </a:xfrm>
          <a:prstGeom prst="rect">
            <a:avLst/>
          </a:prstGeom>
        </p:spPr>
      </p:pic>
      <p:sp>
        <p:nvSpPr>
          <p:cNvPr id="96" name="cancer screening text">
            <a:hlinkClick r:id="rId8" action="ppaction://hlinksldjump"/>
            <a:extLst>
              <a:ext uri="{FF2B5EF4-FFF2-40B4-BE49-F238E27FC236}">
                <a16:creationId xmlns:a16="http://schemas.microsoft.com/office/drawing/2014/main" id="{D384AACE-6557-4566-8AC9-ED1ED6E91388}"/>
              </a:ext>
            </a:extLst>
          </p:cNvPr>
          <p:cNvSpPr txBox="1"/>
          <p:nvPr/>
        </p:nvSpPr>
        <p:spPr>
          <a:xfrm>
            <a:off x="234392" y="1110054"/>
            <a:ext cx="1967278" cy="408623"/>
          </a:xfrm>
          <a:prstGeom prst="roundRect">
            <a:avLst/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Psychosocial</a:t>
            </a:r>
          </a:p>
        </p:txBody>
      </p:sp>
      <p:pic>
        <p:nvPicPr>
          <p:cNvPr id="97" name="Graphic 96" descr="Cursor with solid fill">
            <a:extLst>
              <a:ext uri="{FF2B5EF4-FFF2-40B4-BE49-F238E27FC236}">
                <a16:creationId xmlns:a16="http://schemas.microsoft.com/office/drawing/2014/main" id="{031196FF-8A82-429A-A612-78ACA1E6D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4220" y="1288269"/>
            <a:ext cx="395274" cy="395274"/>
          </a:xfrm>
          <a:prstGeom prst="rect">
            <a:avLst/>
          </a:prstGeom>
        </p:spPr>
      </p:pic>
      <p:sp>
        <p:nvSpPr>
          <p:cNvPr id="98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833A4B24-9FD0-4FEA-A947-01794B180CED}"/>
              </a:ext>
            </a:extLst>
          </p:cNvPr>
          <p:cNvSpPr txBox="1"/>
          <p:nvPr/>
        </p:nvSpPr>
        <p:spPr>
          <a:xfrm>
            <a:off x="234392" y="1721840"/>
            <a:ext cx="1967278" cy="408623"/>
          </a:xfrm>
          <a:prstGeom prst="round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CV disease</a:t>
            </a:r>
          </a:p>
        </p:txBody>
      </p:sp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CF83A24D-5AC0-4597-9901-8B2110F129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4220" y="1900055"/>
            <a:ext cx="395274" cy="395274"/>
          </a:xfrm>
          <a:prstGeom prst="rect">
            <a:avLst/>
          </a:prstGeom>
        </p:spPr>
      </p:pic>
      <p:sp>
        <p:nvSpPr>
          <p:cNvPr id="100" name="cancer screening text">
            <a:hlinkClick r:id="rId9" action="ppaction://hlinksldjump"/>
            <a:extLst>
              <a:ext uri="{FF2B5EF4-FFF2-40B4-BE49-F238E27FC236}">
                <a16:creationId xmlns:a16="http://schemas.microsoft.com/office/drawing/2014/main" id="{4732788D-4BD6-47A2-BE1D-01ACB5117C0F}"/>
              </a:ext>
            </a:extLst>
          </p:cNvPr>
          <p:cNvSpPr txBox="1"/>
          <p:nvPr/>
        </p:nvSpPr>
        <p:spPr>
          <a:xfrm>
            <a:off x="234392" y="2393584"/>
            <a:ext cx="1967278" cy="40862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Family/ Safety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E3D14D-2F46-4855-8246-3C14C8ECC4A1}"/>
              </a:ext>
            </a:extLst>
          </p:cNvPr>
          <p:cNvGrpSpPr/>
          <p:nvPr/>
        </p:nvGrpSpPr>
        <p:grpSpPr>
          <a:xfrm>
            <a:off x="4693298" y="5674914"/>
            <a:ext cx="7077892" cy="1027914"/>
            <a:chOff x="6718771" y="5674914"/>
            <a:chExt cx="5052419" cy="1027914"/>
          </a:xfrm>
        </p:grpSpPr>
        <p:sp>
          <p:nvSpPr>
            <p:cNvPr id="114" name="Arrow: Right 113">
              <a:extLst>
                <a:ext uri="{FF2B5EF4-FFF2-40B4-BE49-F238E27FC236}">
                  <a16:creationId xmlns:a16="http://schemas.microsoft.com/office/drawing/2014/main" id="{F962A656-4AC9-4B7C-99EE-9BDADE86495E}"/>
                </a:ext>
              </a:extLst>
            </p:cNvPr>
            <p:cNvSpPr/>
            <p:nvPr/>
          </p:nvSpPr>
          <p:spPr>
            <a:xfrm>
              <a:off x="6718771" y="5674914"/>
              <a:ext cx="5052419" cy="670356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008A33C-94B1-4331-AAD9-2314092CA925}"/>
                </a:ext>
              </a:extLst>
            </p:cNvPr>
            <p:cNvCxnSpPr/>
            <p:nvPr/>
          </p:nvCxnSpPr>
          <p:spPr>
            <a:xfrm>
              <a:off x="6952907" y="5762432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E57341F-5C89-4A86-A8E0-2FDE2C2C387B}"/>
                </a:ext>
              </a:extLst>
            </p:cNvPr>
            <p:cNvSpPr txBox="1"/>
            <p:nvPr/>
          </p:nvSpPr>
          <p:spPr>
            <a:xfrm>
              <a:off x="6718771" y="6333496"/>
              <a:ext cx="42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20</a:t>
              </a: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D864A24-4F99-4D04-A732-8F4EFDCFEF33}"/>
                </a:ext>
              </a:extLst>
            </p:cNvPr>
            <p:cNvCxnSpPr/>
            <p:nvPr/>
          </p:nvCxnSpPr>
          <p:spPr>
            <a:xfrm>
              <a:off x="7652218" y="5762432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2C17F17-4063-4D8E-BEF6-106BB812E3E6}"/>
                </a:ext>
              </a:extLst>
            </p:cNvPr>
            <p:cNvSpPr txBox="1"/>
            <p:nvPr/>
          </p:nvSpPr>
          <p:spPr>
            <a:xfrm>
              <a:off x="7427553" y="6355651"/>
              <a:ext cx="427749" cy="27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30</a:t>
              </a: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FA0D207-0809-47C2-B196-F77A29374315}"/>
                </a:ext>
              </a:extLst>
            </p:cNvPr>
            <p:cNvCxnSpPr/>
            <p:nvPr/>
          </p:nvCxnSpPr>
          <p:spPr>
            <a:xfrm>
              <a:off x="8348727" y="5762433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371585B-FE42-403D-B012-BACFB551870D}"/>
                </a:ext>
              </a:extLst>
            </p:cNvPr>
            <p:cNvSpPr txBox="1"/>
            <p:nvPr/>
          </p:nvSpPr>
          <p:spPr>
            <a:xfrm>
              <a:off x="8136204" y="6355652"/>
              <a:ext cx="427749" cy="27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40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7E9A09E-1DC4-437C-9B03-0FBFAC859966}"/>
                </a:ext>
              </a:extLst>
            </p:cNvPr>
            <p:cNvCxnSpPr/>
            <p:nvPr/>
          </p:nvCxnSpPr>
          <p:spPr>
            <a:xfrm>
              <a:off x="9033967" y="5762433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E78BD20-1182-4FFB-AF94-1DF24E7F4509}"/>
                </a:ext>
              </a:extLst>
            </p:cNvPr>
            <p:cNvSpPr txBox="1"/>
            <p:nvPr/>
          </p:nvSpPr>
          <p:spPr>
            <a:xfrm>
              <a:off x="8837044" y="6355652"/>
              <a:ext cx="427749" cy="27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50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42E5A71-68DA-4256-AB71-5A7AFBAC6D16}"/>
                </a:ext>
              </a:extLst>
            </p:cNvPr>
            <p:cNvCxnSpPr/>
            <p:nvPr/>
          </p:nvCxnSpPr>
          <p:spPr>
            <a:xfrm>
              <a:off x="9692530" y="5762433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0299966-1B28-4412-B46E-DA3BF606E887}"/>
                </a:ext>
              </a:extLst>
            </p:cNvPr>
            <p:cNvSpPr txBox="1"/>
            <p:nvPr/>
          </p:nvSpPr>
          <p:spPr>
            <a:xfrm>
              <a:off x="9478655" y="6355653"/>
              <a:ext cx="427749" cy="27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60</a:t>
              </a: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6F5B16E-21FA-46D6-ACDA-B052BBEA8758}"/>
                </a:ext>
              </a:extLst>
            </p:cNvPr>
            <p:cNvCxnSpPr/>
            <p:nvPr/>
          </p:nvCxnSpPr>
          <p:spPr>
            <a:xfrm>
              <a:off x="10324973" y="5762434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6B8CB69-759B-4A9E-BCD7-6F74BA35B565}"/>
                </a:ext>
              </a:extLst>
            </p:cNvPr>
            <p:cNvSpPr txBox="1"/>
            <p:nvPr/>
          </p:nvSpPr>
          <p:spPr>
            <a:xfrm>
              <a:off x="10111098" y="6355654"/>
              <a:ext cx="427749" cy="27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70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DE5E2FB-04A7-4BD8-AF35-2129DEC27367}"/>
                </a:ext>
              </a:extLst>
            </p:cNvPr>
            <p:cNvCxnSpPr/>
            <p:nvPr/>
          </p:nvCxnSpPr>
          <p:spPr>
            <a:xfrm>
              <a:off x="10966596" y="5762433"/>
              <a:ext cx="0" cy="5932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70A8228-4DA7-4627-946C-4DE6E34A95DB}"/>
                </a:ext>
              </a:extLst>
            </p:cNvPr>
            <p:cNvSpPr txBox="1"/>
            <p:nvPr/>
          </p:nvSpPr>
          <p:spPr>
            <a:xfrm>
              <a:off x="10752722" y="6333496"/>
              <a:ext cx="427749" cy="27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80</a:t>
              </a: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9F477B4-AB64-400B-8761-D659F397ECB6}"/>
              </a:ext>
            </a:extLst>
          </p:cNvPr>
          <p:cNvSpPr/>
          <p:nvPr/>
        </p:nvSpPr>
        <p:spPr>
          <a:xfrm>
            <a:off x="2882283" y="118378"/>
            <a:ext cx="7162528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Family and Safety Planning</a:t>
            </a:r>
          </a:p>
        </p:txBody>
      </p:sp>
      <p:sp>
        <p:nvSpPr>
          <p:cNvPr id="131" name="Family Planning">
            <a:extLst>
              <a:ext uri="{FF2B5EF4-FFF2-40B4-BE49-F238E27FC236}">
                <a16:creationId xmlns:a16="http://schemas.microsoft.com/office/drawing/2014/main" id="{21B1571A-1004-4C19-8FB4-36573563B2B8}"/>
              </a:ext>
            </a:extLst>
          </p:cNvPr>
          <p:cNvSpPr txBox="1"/>
          <p:nvPr/>
        </p:nvSpPr>
        <p:spPr>
          <a:xfrm>
            <a:off x="2748536" y="1554360"/>
            <a:ext cx="1422301" cy="715089"/>
          </a:xfrm>
          <a:prstGeom prst="roundRect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Family planning</a:t>
            </a:r>
          </a:p>
        </p:txBody>
      </p:sp>
      <p:sp>
        <p:nvSpPr>
          <p:cNvPr id="134" name="IPV">
            <a:extLst>
              <a:ext uri="{FF2B5EF4-FFF2-40B4-BE49-F238E27FC236}">
                <a16:creationId xmlns:a16="http://schemas.microsoft.com/office/drawing/2014/main" id="{DD6FFCDA-5A44-4475-913D-EF63029E1CAD}"/>
              </a:ext>
            </a:extLst>
          </p:cNvPr>
          <p:cNvSpPr txBox="1"/>
          <p:nvPr/>
        </p:nvSpPr>
        <p:spPr>
          <a:xfrm>
            <a:off x="2748535" y="2523783"/>
            <a:ext cx="1422301" cy="408623"/>
          </a:xfrm>
          <a:prstGeom prst="roundRect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IPV</a:t>
            </a:r>
          </a:p>
        </p:txBody>
      </p:sp>
      <p:sp>
        <p:nvSpPr>
          <p:cNvPr id="137" name="Osteoporosis">
            <a:extLst>
              <a:ext uri="{FF2B5EF4-FFF2-40B4-BE49-F238E27FC236}">
                <a16:creationId xmlns:a16="http://schemas.microsoft.com/office/drawing/2014/main" id="{605D7D08-CD7F-40F6-8D12-D199D2B5C834}"/>
              </a:ext>
            </a:extLst>
          </p:cNvPr>
          <p:cNvSpPr txBox="1"/>
          <p:nvPr/>
        </p:nvSpPr>
        <p:spPr>
          <a:xfrm>
            <a:off x="2748537" y="3179770"/>
            <a:ext cx="1422301" cy="715089"/>
          </a:xfrm>
          <a:prstGeom prst="roundRect">
            <a:avLst/>
          </a:prstGeom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Osteo-porosis</a:t>
            </a:r>
          </a:p>
        </p:txBody>
      </p:sp>
      <p:sp>
        <p:nvSpPr>
          <p:cNvPr id="140" name="Falls">
            <a:extLst>
              <a:ext uri="{FF2B5EF4-FFF2-40B4-BE49-F238E27FC236}">
                <a16:creationId xmlns:a16="http://schemas.microsoft.com/office/drawing/2014/main" id="{56718252-7368-4BBD-B850-972E467ED98D}"/>
              </a:ext>
            </a:extLst>
          </p:cNvPr>
          <p:cNvSpPr txBox="1"/>
          <p:nvPr/>
        </p:nvSpPr>
        <p:spPr>
          <a:xfrm>
            <a:off x="2748537" y="4292218"/>
            <a:ext cx="1422301" cy="408623"/>
          </a:xfrm>
          <a:prstGeom prst="roundRect">
            <a:avLst/>
          </a:prstGeom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Falls</a:t>
            </a:r>
          </a:p>
        </p:txBody>
      </p:sp>
      <p:sp>
        <p:nvSpPr>
          <p:cNvPr id="143" name="Advance care">
            <a:extLst>
              <a:ext uri="{FF2B5EF4-FFF2-40B4-BE49-F238E27FC236}">
                <a16:creationId xmlns:a16="http://schemas.microsoft.com/office/drawing/2014/main" id="{B33185DD-A329-41F2-A7A1-46232D38347D}"/>
              </a:ext>
            </a:extLst>
          </p:cNvPr>
          <p:cNvSpPr txBox="1"/>
          <p:nvPr/>
        </p:nvSpPr>
        <p:spPr>
          <a:xfrm>
            <a:off x="2748537" y="5034214"/>
            <a:ext cx="1422301" cy="715089"/>
          </a:xfrm>
          <a:prstGeom prst="roundRect">
            <a:avLst/>
          </a:prstGeom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Advance care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89A9A-9A27-4D33-8B64-2EB3529C216A}"/>
              </a:ext>
            </a:extLst>
          </p:cNvPr>
          <p:cNvSpPr/>
          <p:nvPr/>
        </p:nvSpPr>
        <p:spPr>
          <a:xfrm>
            <a:off x="4711836" y="1545024"/>
            <a:ext cx="3243341" cy="699512"/>
          </a:xfrm>
          <a:prstGeom prst="rect">
            <a:avLst/>
          </a:prstGeom>
          <a:gradFill>
            <a:gsLst>
              <a:gs pos="79000">
                <a:srgbClr val="B5D89E"/>
              </a:gs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Reproductive goals in reproductive age patients</a:t>
            </a:r>
          </a:p>
        </p:txBody>
      </p:sp>
      <p:sp>
        <p:nvSpPr>
          <p:cNvPr id="14" name="Young">
            <a:extLst>
              <a:ext uri="{FF2B5EF4-FFF2-40B4-BE49-F238E27FC236}">
                <a16:creationId xmlns:a16="http://schemas.microsoft.com/office/drawing/2014/main" id="{C48FB746-5FB9-42FB-8BB2-A31CD0B2BFC4}"/>
              </a:ext>
            </a:extLst>
          </p:cNvPr>
          <p:cNvSpPr/>
          <p:nvPr/>
        </p:nvSpPr>
        <p:spPr>
          <a:xfrm>
            <a:off x="6026767" y="850854"/>
            <a:ext cx="1770926" cy="4457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Young (&lt;65)</a:t>
            </a:r>
          </a:p>
        </p:txBody>
      </p:sp>
      <p:sp>
        <p:nvSpPr>
          <p:cNvPr id="152" name="Elderly">
            <a:extLst>
              <a:ext uri="{FF2B5EF4-FFF2-40B4-BE49-F238E27FC236}">
                <a16:creationId xmlns:a16="http://schemas.microsoft.com/office/drawing/2014/main" id="{87FAEBF4-2122-4975-AA16-FE8CBB1969FE}"/>
              </a:ext>
            </a:extLst>
          </p:cNvPr>
          <p:cNvSpPr/>
          <p:nvPr/>
        </p:nvSpPr>
        <p:spPr>
          <a:xfrm>
            <a:off x="9347732" y="850854"/>
            <a:ext cx="1770926" cy="44576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Elderly (&gt;65)</a:t>
            </a:r>
          </a:p>
        </p:txBody>
      </p:sp>
      <p:pic>
        <p:nvPicPr>
          <p:cNvPr id="154" name="Graphic 153" descr="Cursor with solid fill">
            <a:extLst>
              <a:ext uri="{FF2B5EF4-FFF2-40B4-BE49-F238E27FC236}">
                <a16:creationId xmlns:a16="http://schemas.microsoft.com/office/drawing/2014/main" id="{DEDBAFE3-21A8-4504-A0FD-3A0402E8A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8087" y="1102633"/>
            <a:ext cx="395274" cy="395274"/>
          </a:xfrm>
          <a:prstGeom prst="rect">
            <a:avLst/>
          </a:prstGeom>
        </p:spPr>
      </p:pic>
      <p:pic>
        <p:nvPicPr>
          <p:cNvPr id="155" name="Graphic 154" descr="Cursor with solid fill">
            <a:extLst>
              <a:ext uri="{FF2B5EF4-FFF2-40B4-BE49-F238E27FC236}">
                <a16:creationId xmlns:a16="http://schemas.microsoft.com/office/drawing/2014/main" id="{887BB346-271E-425A-9BE4-F4ABE3C11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1021" y="1102633"/>
            <a:ext cx="395274" cy="395274"/>
          </a:xfrm>
          <a:prstGeom prst="rect">
            <a:avLst/>
          </a:prstGeom>
        </p:spPr>
      </p:pic>
      <p:sp>
        <p:nvSpPr>
          <p:cNvPr id="74" name="Arrow: Right 73">
            <a:extLst>
              <a:ext uri="{FF2B5EF4-FFF2-40B4-BE49-F238E27FC236}">
                <a16:creationId xmlns:a16="http://schemas.microsoft.com/office/drawing/2014/main" id="{1632C318-58F0-4042-9F4B-415C898B5983}"/>
              </a:ext>
            </a:extLst>
          </p:cNvPr>
          <p:cNvSpPr/>
          <p:nvPr/>
        </p:nvSpPr>
        <p:spPr>
          <a:xfrm>
            <a:off x="9347733" y="3141335"/>
            <a:ext cx="2441997" cy="786855"/>
          </a:xfrm>
          <a:prstGeom prst="rightArrow">
            <a:avLst>
              <a:gd name="adj1" fmla="val 80545"/>
              <a:gd name="adj2" fmla="val 3708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DEXA in all women</a:t>
            </a:r>
          </a:p>
          <a:p>
            <a:pPr algn="ctr"/>
            <a:r>
              <a:rPr lang="en-US" dirty="0"/>
              <a:t>+/- high-risk men* </a:t>
            </a: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00DED867-9BC2-4099-9A41-EA7791493EC2}"/>
              </a:ext>
            </a:extLst>
          </p:cNvPr>
          <p:cNvSpPr/>
          <p:nvPr/>
        </p:nvSpPr>
        <p:spPr>
          <a:xfrm>
            <a:off x="9347733" y="4224647"/>
            <a:ext cx="2441997" cy="681482"/>
          </a:xfrm>
          <a:prstGeom prst="rightArrow">
            <a:avLst>
              <a:gd name="adj1" fmla="val 69275"/>
              <a:gd name="adj2" fmla="val 4305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Assess at least q1y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09EDE01C-F0C5-4590-989F-F4C76A0DD4B9}"/>
              </a:ext>
            </a:extLst>
          </p:cNvPr>
          <p:cNvSpPr/>
          <p:nvPr/>
        </p:nvSpPr>
        <p:spPr>
          <a:xfrm>
            <a:off x="4693298" y="5057299"/>
            <a:ext cx="7077892" cy="590069"/>
          </a:xfrm>
          <a:prstGeom prst="rightArrow">
            <a:avLst>
              <a:gd name="adj1" fmla="val 70662"/>
              <a:gd name="adj2" fmla="val 50000"/>
            </a:avLst>
          </a:prstGeom>
          <a:gradFill>
            <a:gsLst>
              <a:gs pos="75000">
                <a:schemeClr val="accent6">
                  <a:lumMod val="75000"/>
                </a:schemeClr>
              </a:gs>
              <a:gs pos="0">
                <a:schemeClr val="accent6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 patients at least once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3C73CC44-8A9E-4B83-9C8B-F05960362B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0919" y="2048999"/>
            <a:ext cx="395274" cy="395274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2851EA87-D13B-4288-8F00-125EA0975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0919" y="2684553"/>
            <a:ext cx="395274" cy="395274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DC37C7ED-086A-4F3B-A678-214760EF2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0919" y="3660382"/>
            <a:ext cx="395274" cy="395274"/>
          </a:xfrm>
          <a:prstGeom prst="rect">
            <a:avLst/>
          </a:prstGeom>
        </p:spPr>
      </p:pic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22182733-F8E1-4472-98D0-1D913C457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0919" y="4483921"/>
            <a:ext cx="395274" cy="395274"/>
          </a:xfrm>
          <a:prstGeom prst="rect">
            <a:avLst/>
          </a:prstGeom>
        </p:spPr>
      </p:pic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55297CDB-0860-4E29-B054-B583F26B0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0919" y="5508365"/>
            <a:ext cx="395274" cy="39527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B82D0A7-DAA6-4922-8E13-078F93B11400}"/>
              </a:ext>
            </a:extLst>
          </p:cNvPr>
          <p:cNvSpPr txBox="1"/>
          <p:nvPr/>
        </p:nvSpPr>
        <p:spPr>
          <a:xfrm>
            <a:off x="8142859" y="1671642"/>
            <a:ext cx="3857248" cy="135421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buNone/>
            </a:pPr>
            <a:r>
              <a:rPr lang="en-US"/>
              <a:t>Ex., HITS: </a:t>
            </a:r>
            <a:r>
              <a:rPr lang="en-US" i="1"/>
              <a:t>How often does your partner:</a:t>
            </a:r>
            <a:br>
              <a:rPr lang="en-US"/>
            </a:br>
            <a:r>
              <a:rPr lang="en-US" sz="1600" i="1"/>
              <a:t>- </a:t>
            </a:r>
            <a:r>
              <a:rPr lang="en-US" sz="1600" b="1" i="1"/>
              <a:t>H</a:t>
            </a:r>
            <a:r>
              <a:rPr lang="en-US" sz="1600" i="1"/>
              <a:t>urt you physically?</a:t>
            </a:r>
            <a:br>
              <a:rPr lang="en-US" sz="1600" i="1"/>
            </a:br>
            <a:r>
              <a:rPr lang="en-US" sz="1600" i="1"/>
              <a:t>- </a:t>
            </a:r>
            <a:r>
              <a:rPr lang="en-US" sz="1600" b="1" i="1"/>
              <a:t>I</a:t>
            </a:r>
            <a:r>
              <a:rPr lang="en-US" sz="1600" i="1"/>
              <a:t>nsult you or talk down to you?</a:t>
            </a:r>
            <a:br>
              <a:rPr lang="en-US" sz="1600" i="1"/>
            </a:br>
            <a:r>
              <a:rPr lang="en-US" sz="1600" i="1"/>
              <a:t>- </a:t>
            </a:r>
            <a:r>
              <a:rPr lang="en-US" sz="1600" b="1" i="1"/>
              <a:t>T</a:t>
            </a:r>
            <a:r>
              <a:rPr lang="en-US" sz="1600" i="1"/>
              <a:t>hreaten you with harm?</a:t>
            </a:r>
            <a:br>
              <a:rPr lang="en-US" sz="1600" i="1"/>
            </a:br>
            <a:r>
              <a:rPr lang="en-US" sz="1600" i="1"/>
              <a:t>- </a:t>
            </a:r>
            <a:r>
              <a:rPr lang="en-US" sz="1600" b="1" i="1"/>
              <a:t>S</a:t>
            </a:r>
            <a:r>
              <a:rPr lang="en-US" sz="1600" i="1"/>
              <a:t>cream or curse at you?</a:t>
            </a:r>
            <a:endParaRPr lang="en-US" i="1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9A0C90E-2157-4362-A3C1-C5CDCD6A7FDB}"/>
              </a:ext>
            </a:extLst>
          </p:cNvPr>
          <p:cNvSpPr/>
          <p:nvPr/>
        </p:nvSpPr>
        <p:spPr>
          <a:xfrm>
            <a:off x="4711836" y="2343859"/>
            <a:ext cx="3243341" cy="699512"/>
          </a:xfrm>
          <a:prstGeom prst="rect">
            <a:avLst/>
          </a:prstGeom>
          <a:gradFill>
            <a:gsLst>
              <a:gs pos="71000">
                <a:srgbClr val="BFDDAB"/>
              </a:gs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Annual screen in reproductive age women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6662FE-840E-4B66-B4C6-4A718AA10C2A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7955177" y="2693615"/>
            <a:ext cx="187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60088038-245B-4BD2-8424-D7CB1BBB3864}"/>
              </a:ext>
            </a:extLst>
          </p:cNvPr>
          <p:cNvSpPr/>
          <p:nvPr/>
        </p:nvSpPr>
        <p:spPr>
          <a:xfrm flipH="1">
            <a:off x="6431527" y="3218518"/>
            <a:ext cx="2916203" cy="635931"/>
          </a:xfrm>
          <a:prstGeom prst="rect">
            <a:avLst/>
          </a:prstGeom>
          <a:gradFill>
            <a:gsLst>
              <a:gs pos="75000">
                <a:srgbClr val="B0D597"/>
              </a:gs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DEXA in post-menopausal women + RF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949E53-25D5-4A7F-AC4F-2B0E28F21267}"/>
              </a:ext>
            </a:extLst>
          </p:cNvPr>
          <p:cNvCxnSpPr>
            <a:cxnSpLocks/>
            <a:stCxn id="75" idx="1"/>
          </p:cNvCxnSpPr>
          <p:nvPr/>
        </p:nvCxnSpPr>
        <p:spPr>
          <a:xfrm flipH="1">
            <a:off x="7830399" y="4565388"/>
            <a:ext cx="1517334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0229E8F-D36B-4568-9E78-4236F59906C9}"/>
              </a:ext>
            </a:extLst>
          </p:cNvPr>
          <p:cNvSpPr txBox="1"/>
          <p:nvPr/>
        </p:nvSpPr>
        <p:spPr>
          <a:xfrm>
            <a:off x="4489197" y="3928190"/>
            <a:ext cx="4596467" cy="110799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3 key questions:</a:t>
            </a:r>
          </a:p>
          <a:p>
            <a:pPr marL="233363" indent="-233363">
              <a:buAutoNum type="arabicParenR"/>
            </a:pPr>
            <a:r>
              <a:rPr lang="en-US" sz="1600" i="1"/>
              <a:t>“Do you feel unsteady when standing or walking?”</a:t>
            </a:r>
          </a:p>
          <a:p>
            <a:pPr marL="233363" indent="-233363">
              <a:buAutoNum type="arabicParenR"/>
            </a:pPr>
            <a:r>
              <a:rPr lang="en-US" sz="1600" i="1"/>
              <a:t>“Do you worry about falling?”</a:t>
            </a:r>
          </a:p>
          <a:p>
            <a:pPr marL="233363" indent="-233363">
              <a:buAutoNum type="arabicParenR"/>
            </a:pPr>
            <a:r>
              <a:rPr lang="en-US" sz="1600" i="1"/>
              <a:t>“Have you fallen in the past year?”</a:t>
            </a:r>
            <a:endParaRPr lang="en-US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37A09-9B39-6307-D6A7-3C06B9E30430}"/>
              </a:ext>
            </a:extLst>
          </p:cNvPr>
          <p:cNvSpPr txBox="1"/>
          <p:nvPr/>
        </p:nvSpPr>
        <p:spPr>
          <a:xfrm>
            <a:off x="111087" y="6240421"/>
            <a:ext cx="3964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*As of 2022, USPSTF states insufficient evidence for screening in men</a:t>
            </a:r>
          </a:p>
        </p:txBody>
      </p:sp>
    </p:spTree>
    <p:extLst>
      <p:ext uri="{BB962C8B-B14F-4D97-AF65-F5344CB8AC3E}">
        <p14:creationId xmlns:p14="http://schemas.microsoft.com/office/powerpoint/2010/main" val="332264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</p:childTnLst>
        </p:cTn>
      </p:par>
    </p:tnLst>
    <p:bldLst>
      <p:bldP spid="131" grpId="0" animBg="1"/>
      <p:bldP spid="134" grpId="0" animBg="1"/>
      <p:bldP spid="137" grpId="0" animBg="1"/>
      <p:bldP spid="140" grpId="0" animBg="1"/>
      <p:bldP spid="143" grpId="0" animBg="1"/>
      <p:bldP spid="9" grpId="0" animBg="1"/>
      <p:bldP spid="74" grpId="0" animBg="1"/>
      <p:bldP spid="75" grpId="0" animBg="1"/>
      <p:bldP spid="76" grpId="0" animBg="1"/>
      <p:bldP spid="64" grpId="0" animBg="1"/>
      <p:bldP spid="65" grpId="0" animBg="1"/>
      <p:bldP spid="72" grpId="0" animBg="1"/>
      <p:bldP spid="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B20797-FA42-4BBA-ABF2-5CF06A40D43C}"/>
              </a:ext>
            </a:extLst>
          </p:cNvPr>
          <p:cNvCxnSpPr>
            <a:cxnSpLocks/>
          </p:cNvCxnSpPr>
          <p:nvPr/>
        </p:nvCxnSpPr>
        <p:spPr>
          <a:xfrm>
            <a:off x="4066012" y="208419"/>
            <a:ext cx="0" cy="64605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6ED83D-4D37-4A82-8C3A-63919FF9C74A}"/>
              </a:ext>
            </a:extLst>
          </p:cNvPr>
          <p:cNvCxnSpPr>
            <a:cxnSpLocks/>
          </p:cNvCxnSpPr>
          <p:nvPr/>
        </p:nvCxnSpPr>
        <p:spPr>
          <a:xfrm>
            <a:off x="8063449" y="235851"/>
            <a:ext cx="0" cy="6433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860048" y="164529"/>
            <a:ext cx="2194560" cy="41278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1</a:t>
            </a:r>
          </a:p>
        </p:txBody>
      </p:sp>
      <p:sp>
        <p:nvSpPr>
          <p:cNvPr id="13" name="Case 1 text">
            <a:extLst>
              <a:ext uri="{FF2B5EF4-FFF2-40B4-BE49-F238E27FC236}">
                <a16:creationId xmlns:a16="http://schemas.microsoft.com/office/drawing/2014/main" id="{28FAF219-B0F0-4D6F-A011-8C6E213E6DC1}"/>
              </a:ext>
            </a:extLst>
          </p:cNvPr>
          <p:cNvSpPr txBox="1"/>
          <p:nvPr/>
        </p:nvSpPr>
        <p:spPr>
          <a:xfrm>
            <a:off x="151890" y="737883"/>
            <a:ext cx="368416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26 </a:t>
            </a:r>
            <a:r>
              <a:rPr lang="en-US" sz="1400" dirty="0" err="1">
                <a:ea typeface="+mn-lt"/>
                <a:cs typeface="+mn-lt"/>
              </a:rPr>
              <a:t>yo</a:t>
            </a:r>
            <a:r>
              <a:rPr lang="en-US" sz="1400" dirty="0">
                <a:ea typeface="+mn-lt"/>
                <a:cs typeface="+mn-lt"/>
              </a:rPr>
              <a:t> W presents for an annual exam. Her immunizations are up to date aside from her COVID vaccine, which she declined.  She is interested in becoming pregnant with her boyfriend. 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VS: </a:t>
            </a:r>
            <a:r>
              <a:rPr lang="en-US" sz="1400" dirty="0" err="1">
                <a:ea typeface="+mn-lt"/>
                <a:cs typeface="+mn-lt"/>
              </a:rPr>
              <a:t>Ht</a:t>
            </a:r>
            <a:r>
              <a:rPr lang="en-US" sz="1400" dirty="0">
                <a:ea typeface="+mn-lt"/>
                <a:cs typeface="+mn-lt"/>
              </a:rPr>
              <a:t> 5’ 2”, </a:t>
            </a:r>
            <a:r>
              <a:rPr lang="en-US" sz="1400" dirty="0" err="1">
                <a:ea typeface="+mn-lt"/>
                <a:cs typeface="+mn-lt"/>
              </a:rPr>
              <a:t>Wt</a:t>
            </a:r>
            <a:r>
              <a:rPr lang="en-US" sz="1400" dirty="0">
                <a:ea typeface="+mn-lt"/>
                <a:cs typeface="+mn-lt"/>
              </a:rPr>
              <a:t> 175 </a:t>
            </a:r>
            <a:r>
              <a:rPr lang="en-US" sz="1400" dirty="0" err="1">
                <a:ea typeface="+mn-lt"/>
                <a:cs typeface="+mn-lt"/>
              </a:rPr>
              <a:t>lb</a:t>
            </a:r>
            <a:r>
              <a:rPr lang="en-US" sz="1400" dirty="0">
                <a:ea typeface="+mn-lt"/>
                <a:cs typeface="+mn-lt"/>
              </a:rPr>
              <a:t>, T 36.8, HR 80, RR 14, BP 138/82</a:t>
            </a:r>
          </a:p>
        </p:txBody>
      </p:sp>
      <p:sp>
        <p:nvSpPr>
          <p:cNvPr id="28" name="Case 1 - Pre-test button">
            <a:extLst>
              <a:ext uri="{FF2B5EF4-FFF2-40B4-BE49-F238E27FC236}">
                <a16:creationId xmlns:a16="http://schemas.microsoft.com/office/drawing/2014/main" id="{A720D17D-CBB7-401A-B329-CE14FDF24C03}"/>
              </a:ext>
            </a:extLst>
          </p:cNvPr>
          <p:cNvSpPr/>
          <p:nvPr/>
        </p:nvSpPr>
        <p:spPr>
          <a:xfrm>
            <a:off x="250858" y="2714333"/>
            <a:ext cx="3510238" cy="120679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R"/>
            </a:pPr>
            <a:r>
              <a:rPr lang="en-US" sz="1600" dirty="0"/>
              <a:t>What screening and prevention is indicated in this patient? </a:t>
            </a:r>
          </a:p>
          <a:p>
            <a:pPr marL="342900" indent="-342900" algn="ctr">
              <a:buAutoNum type="arabicParenR"/>
            </a:pPr>
            <a:r>
              <a:rPr lang="en-US" sz="1600" dirty="0"/>
              <a:t>What will you prioritize and why?</a:t>
            </a:r>
          </a:p>
        </p:txBody>
      </p:sp>
      <p:sp>
        <p:nvSpPr>
          <p:cNvPr id="33" name="Case 1 - Pre-test answer">
            <a:extLst>
              <a:ext uri="{FF2B5EF4-FFF2-40B4-BE49-F238E27FC236}">
                <a16:creationId xmlns:a16="http://schemas.microsoft.com/office/drawing/2014/main" id="{8E93BC3D-9A48-4519-87F0-DC82D5777AEB}"/>
              </a:ext>
            </a:extLst>
          </p:cNvPr>
          <p:cNvSpPr/>
          <p:nvPr/>
        </p:nvSpPr>
        <p:spPr>
          <a:xfrm>
            <a:off x="250858" y="4110348"/>
            <a:ext cx="3510238" cy="25256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Cervical cancer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STI, HIV and HCV testing (+/- syphilis screening depending on how they classify her risk)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COVID vaccine, influenza vaccine depending on the time of year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Substance use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Depression and anxiety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HTN and obesity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Diet/exercise counseling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Family planning counseling and folic acid supplementation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IPV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Advanced care planning</a:t>
            </a:r>
          </a:p>
        </p:txBody>
      </p:sp>
      <p:sp>
        <p:nvSpPr>
          <p:cNvPr id="129" name="Case 2">
            <a:extLst>
              <a:ext uri="{FF2B5EF4-FFF2-40B4-BE49-F238E27FC236}">
                <a16:creationId xmlns:a16="http://schemas.microsoft.com/office/drawing/2014/main" id="{41FEB336-49CA-4EC0-AC0A-587C0CD09C68}"/>
              </a:ext>
            </a:extLst>
          </p:cNvPr>
          <p:cNvSpPr/>
          <p:nvPr/>
        </p:nvSpPr>
        <p:spPr>
          <a:xfrm>
            <a:off x="4854602" y="164529"/>
            <a:ext cx="2194560" cy="41278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2</a:t>
            </a:r>
          </a:p>
        </p:txBody>
      </p:sp>
      <p:sp>
        <p:nvSpPr>
          <p:cNvPr id="131" name="Case 1 text">
            <a:extLst>
              <a:ext uri="{FF2B5EF4-FFF2-40B4-BE49-F238E27FC236}">
                <a16:creationId xmlns:a16="http://schemas.microsoft.com/office/drawing/2014/main" id="{83105C6D-94DC-444D-A80F-80E89A1ED833}"/>
              </a:ext>
            </a:extLst>
          </p:cNvPr>
          <p:cNvSpPr txBox="1"/>
          <p:nvPr/>
        </p:nvSpPr>
        <p:spPr>
          <a:xfrm>
            <a:off x="4147914" y="736018"/>
            <a:ext cx="383075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67 </a:t>
            </a:r>
            <a:r>
              <a:rPr lang="en-US" sz="1400" dirty="0" err="1"/>
              <a:t>yo</a:t>
            </a:r>
            <a:r>
              <a:rPr lang="en-US" sz="1400" dirty="0"/>
              <a:t> W with history of HTN on amlodipine coming in to establish care. She lives with her son who manages her finances for her. She is a former smoker and quit 20 years ago. Had a normal colonoscopy 7 years ago, no prior abnormal pap smears. Got the COVID shot at her pharmacy but prior to that had a tetanus shot about 5 years ago. Does not have her records today. Vitals and exam are normal. </a:t>
            </a:r>
          </a:p>
        </p:txBody>
      </p:sp>
      <p:sp>
        <p:nvSpPr>
          <p:cNvPr id="146" name="Case 3 button">
            <a:extLst>
              <a:ext uri="{FF2B5EF4-FFF2-40B4-BE49-F238E27FC236}">
                <a16:creationId xmlns:a16="http://schemas.microsoft.com/office/drawing/2014/main" id="{BCA0C0CD-F8E1-4146-83B0-B64E06FE4D1F}"/>
              </a:ext>
            </a:extLst>
          </p:cNvPr>
          <p:cNvSpPr/>
          <p:nvPr/>
        </p:nvSpPr>
        <p:spPr>
          <a:xfrm>
            <a:off x="8900462" y="167057"/>
            <a:ext cx="2194560" cy="41278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3</a:t>
            </a:r>
          </a:p>
        </p:txBody>
      </p:sp>
      <p:sp>
        <p:nvSpPr>
          <p:cNvPr id="148" name="Case 1 text">
            <a:extLst>
              <a:ext uri="{FF2B5EF4-FFF2-40B4-BE49-F238E27FC236}">
                <a16:creationId xmlns:a16="http://schemas.microsoft.com/office/drawing/2014/main" id="{E6A604B5-B4FA-4AC4-9DD7-10C3ABA8A1DE}"/>
              </a:ext>
            </a:extLst>
          </p:cNvPr>
          <p:cNvSpPr txBox="1"/>
          <p:nvPr/>
        </p:nvSpPr>
        <p:spPr>
          <a:xfrm>
            <a:off x="8273513" y="738348"/>
            <a:ext cx="375101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69 </a:t>
            </a:r>
            <a:r>
              <a:rPr lang="en-US" sz="1400" dirty="0" err="1">
                <a:ea typeface="+mn-lt"/>
                <a:cs typeface="+mn-lt"/>
              </a:rPr>
              <a:t>yo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Mwith</a:t>
            </a:r>
            <a:r>
              <a:rPr lang="en-US" sz="1400" dirty="0">
                <a:ea typeface="+mn-lt"/>
                <a:cs typeface="+mn-lt"/>
              </a:rPr>
              <a:t> history of homelessness presenting to establish care. He has a history of smoking in his 20s and drinks about 2 drinks every night. He had a colonoscopy 7 years ago and he remembers them telling him that he needed a repeat scope in 5 years. He is not on any medications. Vitals and exam are unremarkable today. </a:t>
            </a:r>
          </a:p>
        </p:txBody>
      </p:sp>
      <p:pic>
        <p:nvPicPr>
          <p:cNvPr id="50" name="Home button" descr="Home">
            <a:hlinkClick r:id="rId3" action="ppaction://hlinksldjump"/>
            <a:extLst>
              <a:ext uri="{FF2B5EF4-FFF2-40B4-BE49-F238E27FC236}">
                <a16:creationId xmlns:a16="http://schemas.microsoft.com/office/drawing/2014/main" id="{ECF00CE1-8075-46C1-A9BC-F3E9A7FE9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2127" y="139345"/>
            <a:ext cx="529725" cy="529725"/>
          </a:xfrm>
          <a:prstGeom prst="rect">
            <a:avLst/>
          </a:prstGeom>
        </p:spPr>
      </p:pic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7F468C7A-552C-4BB3-995C-8675315955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494" y="426062"/>
            <a:ext cx="302506" cy="302506"/>
          </a:xfrm>
          <a:prstGeom prst="rect">
            <a:avLst/>
          </a:prstGeom>
        </p:spPr>
      </p:pic>
      <p:sp>
        <p:nvSpPr>
          <p:cNvPr id="57" name="Case 2 - question1">
            <a:extLst>
              <a:ext uri="{FF2B5EF4-FFF2-40B4-BE49-F238E27FC236}">
                <a16:creationId xmlns:a16="http://schemas.microsoft.com/office/drawing/2014/main" id="{FC7CA112-FAF7-4731-AC02-423927DB914D}"/>
              </a:ext>
            </a:extLst>
          </p:cNvPr>
          <p:cNvSpPr/>
          <p:nvPr/>
        </p:nvSpPr>
        <p:spPr>
          <a:xfrm>
            <a:off x="4304796" y="2806347"/>
            <a:ext cx="3437124" cy="1074774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R"/>
            </a:pPr>
            <a:r>
              <a:rPr lang="en-US" sz="1600" dirty="0"/>
              <a:t>What screening and prevention is indicated in this patient? </a:t>
            </a:r>
          </a:p>
          <a:p>
            <a:pPr marL="342900" indent="-342900" algn="ctr">
              <a:buAutoNum type="arabicParenR"/>
            </a:pPr>
            <a:r>
              <a:rPr lang="en-US" sz="1600" dirty="0"/>
              <a:t>What will you prioritize and why?</a:t>
            </a:r>
          </a:p>
        </p:txBody>
      </p:sp>
      <p:sp>
        <p:nvSpPr>
          <p:cNvPr id="61" name="Case 2 - answer1">
            <a:extLst>
              <a:ext uri="{FF2B5EF4-FFF2-40B4-BE49-F238E27FC236}">
                <a16:creationId xmlns:a16="http://schemas.microsoft.com/office/drawing/2014/main" id="{E9E14381-F561-4E85-8173-20AB47B470CD}"/>
              </a:ext>
            </a:extLst>
          </p:cNvPr>
          <p:cNvSpPr/>
          <p:nvPr/>
        </p:nvSpPr>
        <p:spPr>
          <a:xfrm>
            <a:off x="4268239" y="4110349"/>
            <a:ext cx="3490293" cy="25323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Tdap, PCV20, Shingles, (influenza vaccine depending on the time of year)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Breast cancer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Substance use screening (she offers up tobacco hx but need to ask about alcohol and other substances)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Depression and anxiety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Obesity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Diabetes and lipid disorder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Diet/exercise counseling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8"/>
              </a:rPr>
              <a:t>Fall </a:t>
            </a:r>
            <a:r>
              <a:rPr lang="en-US" sz="1200" dirty="0"/>
              <a:t>and osteoporosis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Advanced Care Planning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Consideration for elder abuse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956F63E8-63DB-4A08-A83A-19CFAA440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0869" y="426062"/>
            <a:ext cx="302506" cy="302506"/>
          </a:xfrm>
          <a:prstGeom prst="rect">
            <a:avLst/>
          </a:prstGeom>
        </p:spPr>
      </p:pic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123343F4-467E-498D-8C79-43974CE6E8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76068" y="426062"/>
            <a:ext cx="302506" cy="302506"/>
          </a:xfrm>
          <a:prstGeom prst="rect">
            <a:avLst/>
          </a:prstGeom>
        </p:spPr>
      </p:pic>
      <p:sp>
        <p:nvSpPr>
          <p:cNvPr id="39" name="Case 3 - question1">
            <a:extLst>
              <a:ext uri="{FF2B5EF4-FFF2-40B4-BE49-F238E27FC236}">
                <a16:creationId xmlns:a16="http://schemas.microsoft.com/office/drawing/2014/main" id="{E9D3EEFD-602E-4B0B-9C9A-A0F3A5A386E4}"/>
              </a:ext>
            </a:extLst>
          </p:cNvPr>
          <p:cNvSpPr/>
          <p:nvPr/>
        </p:nvSpPr>
        <p:spPr>
          <a:xfrm>
            <a:off x="8266635" y="2807815"/>
            <a:ext cx="3510238" cy="114236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R"/>
            </a:pPr>
            <a:r>
              <a:rPr lang="en-US" sz="1600" dirty="0"/>
              <a:t>What screening and prevention is indicated in this patient? </a:t>
            </a:r>
          </a:p>
          <a:p>
            <a:pPr marL="342900" indent="-342900" algn="ctr">
              <a:buAutoNum type="arabicParenR"/>
            </a:pPr>
            <a:r>
              <a:rPr lang="en-US" sz="1600" dirty="0"/>
              <a:t>What will you prioritize and why?</a:t>
            </a:r>
          </a:p>
        </p:txBody>
      </p:sp>
      <p:sp>
        <p:nvSpPr>
          <p:cNvPr id="43" name="Case 3 - answer1">
            <a:extLst>
              <a:ext uri="{FF2B5EF4-FFF2-40B4-BE49-F238E27FC236}">
                <a16:creationId xmlns:a16="http://schemas.microsoft.com/office/drawing/2014/main" id="{0EBEB181-81BD-4935-BF8E-E90FD179405E}"/>
              </a:ext>
            </a:extLst>
          </p:cNvPr>
          <p:cNvSpPr/>
          <p:nvPr/>
        </p:nvSpPr>
        <p:spPr>
          <a:xfrm>
            <a:off x="8343351" y="4144965"/>
            <a:ext cx="3543669" cy="24564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Colon cancer screening (colonoscopy)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+/- prostate cancer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Tdap, shingles, PCV20  (influenza depending on the time of year)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HIV/HCV screening if not previously performed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Substance use and mental health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HTN, obesity, diabetes and lipid disorder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AAA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Diet/exercise counseling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Fall screening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Advanced Care Planning 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118C5D7E-E126-4BC6-B677-A96FE8D544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7149" y="3692520"/>
            <a:ext cx="302506" cy="302506"/>
          </a:xfrm>
          <a:prstGeom prst="rect">
            <a:avLst/>
          </a:prstGeom>
        </p:spPr>
      </p:pic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4DAAE46E-C1C8-4BAD-8D6E-8E91E2E517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95434" y="3728952"/>
            <a:ext cx="302506" cy="302506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6DE9CF0D-6C7A-4173-B99C-6059A6E74E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38636" y="3769878"/>
            <a:ext cx="302506" cy="30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7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3" grpId="0"/>
      <p:bldP spid="28" grpId="0" animBg="1"/>
      <p:bldP spid="33" grpId="0" animBg="1"/>
      <p:bldP spid="131" grpId="0"/>
      <p:bldP spid="148" grpId="0"/>
      <p:bldP spid="61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D9F477B4-AB64-400B-8761-D659F397ECB6}"/>
              </a:ext>
            </a:extLst>
          </p:cNvPr>
          <p:cNvSpPr/>
          <p:nvPr/>
        </p:nvSpPr>
        <p:spPr>
          <a:xfrm>
            <a:off x="2882283" y="118378"/>
            <a:ext cx="7162528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Family and Safety Planning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330A62-63AC-4E52-9D48-F4FA81E6B8D9}"/>
              </a:ext>
            </a:extLst>
          </p:cNvPr>
          <p:cNvGrpSpPr/>
          <p:nvPr/>
        </p:nvGrpSpPr>
        <p:grpSpPr>
          <a:xfrm>
            <a:off x="115410" y="1545024"/>
            <a:ext cx="11884697" cy="5157804"/>
            <a:chOff x="115410" y="1545024"/>
            <a:chExt cx="11884697" cy="515780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AE3D14D-2F46-4855-8246-3C14C8ECC4A1}"/>
                </a:ext>
              </a:extLst>
            </p:cNvPr>
            <p:cNvGrpSpPr/>
            <p:nvPr/>
          </p:nvGrpSpPr>
          <p:grpSpPr>
            <a:xfrm>
              <a:off x="2613679" y="5674914"/>
              <a:ext cx="9092358" cy="1027914"/>
              <a:chOff x="6718771" y="5674914"/>
              <a:chExt cx="5052419" cy="1027914"/>
            </a:xfrm>
          </p:grpSpPr>
          <p:sp>
            <p:nvSpPr>
              <p:cNvPr id="114" name="Arrow: Right 113">
                <a:extLst>
                  <a:ext uri="{FF2B5EF4-FFF2-40B4-BE49-F238E27FC236}">
                    <a16:creationId xmlns:a16="http://schemas.microsoft.com/office/drawing/2014/main" id="{F962A656-4AC9-4B7C-99EE-9BDADE86495E}"/>
                  </a:ext>
                </a:extLst>
              </p:cNvPr>
              <p:cNvSpPr/>
              <p:nvPr/>
            </p:nvSpPr>
            <p:spPr>
              <a:xfrm>
                <a:off x="6718771" y="5674914"/>
                <a:ext cx="5052419" cy="67035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008A33C-94B1-4331-AAD9-2314092CA925}"/>
                  </a:ext>
                </a:extLst>
              </p:cNvPr>
              <p:cNvCxnSpPr/>
              <p:nvPr/>
            </p:nvCxnSpPr>
            <p:spPr>
              <a:xfrm>
                <a:off x="6952907" y="5762432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E57341F-5C89-4A86-A8E0-2FDE2C2C387B}"/>
                  </a:ext>
                </a:extLst>
              </p:cNvPr>
              <p:cNvSpPr txBox="1"/>
              <p:nvPr/>
            </p:nvSpPr>
            <p:spPr>
              <a:xfrm>
                <a:off x="6718771" y="6333496"/>
                <a:ext cx="4277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20</a:t>
                </a: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D864A24-4F99-4D04-A732-8F4EFDCFEF33}"/>
                  </a:ext>
                </a:extLst>
              </p:cNvPr>
              <p:cNvCxnSpPr/>
              <p:nvPr/>
            </p:nvCxnSpPr>
            <p:spPr>
              <a:xfrm>
                <a:off x="7652218" y="5762432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2C17F17-4063-4D8E-BEF6-106BB812E3E6}"/>
                  </a:ext>
                </a:extLst>
              </p:cNvPr>
              <p:cNvSpPr txBox="1"/>
              <p:nvPr/>
            </p:nvSpPr>
            <p:spPr>
              <a:xfrm>
                <a:off x="7427553" y="6355651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30</a:t>
                </a:r>
              </a:p>
            </p:txBody>
          </p: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0FA0D207-0809-47C2-B196-F77A29374315}"/>
                  </a:ext>
                </a:extLst>
              </p:cNvPr>
              <p:cNvCxnSpPr/>
              <p:nvPr/>
            </p:nvCxnSpPr>
            <p:spPr>
              <a:xfrm>
                <a:off x="8348727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371585B-FE42-403D-B012-BACFB551870D}"/>
                  </a:ext>
                </a:extLst>
              </p:cNvPr>
              <p:cNvSpPr txBox="1"/>
              <p:nvPr/>
            </p:nvSpPr>
            <p:spPr>
              <a:xfrm>
                <a:off x="8136204" y="6355652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40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7E9A09E-1DC4-437C-9B03-0FBFAC859966}"/>
                  </a:ext>
                </a:extLst>
              </p:cNvPr>
              <p:cNvCxnSpPr/>
              <p:nvPr/>
            </p:nvCxnSpPr>
            <p:spPr>
              <a:xfrm>
                <a:off x="9033967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6E78BD20-1182-4FFB-AF94-1DF24E7F4509}"/>
                  </a:ext>
                </a:extLst>
              </p:cNvPr>
              <p:cNvSpPr txBox="1"/>
              <p:nvPr/>
            </p:nvSpPr>
            <p:spPr>
              <a:xfrm>
                <a:off x="8837044" y="6355652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50</a:t>
                </a: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042E5A71-68DA-4256-AB71-5A7AFBAC6D16}"/>
                  </a:ext>
                </a:extLst>
              </p:cNvPr>
              <p:cNvCxnSpPr/>
              <p:nvPr/>
            </p:nvCxnSpPr>
            <p:spPr>
              <a:xfrm>
                <a:off x="9692530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0299966-1B28-4412-B46E-DA3BF606E887}"/>
                  </a:ext>
                </a:extLst>
              </p:cNvPr>
              <p:cNvSpPr txBox="1"/>
              <p:nvPr/>
            </p:nvSpPr>
            <p:spPr>
              <a:xfrm>
                <a:off x="9478655" y="6355653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60</a:t>
                </a: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6F5B16E-21FA-46D6-ACDA-B052BBEA8758}"/>
                  </a:ext>
                </a:extLst>
              </p:cNvPr>
              <p:cNvCxnSpPr/>
              <p:nvPr/>
            </p:nvCxnSpPr>
            <p:spPr>
              <a:xfrm>
                <a:off x="10324973" y="5762434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6B8CB69-759B-4A9E-BCD7-6F74BA35B565}"/>
                  </a:ext>
                </a:extLst>
              </p:cNvPr>
              <p:cNvSpPr txBox="1"/>
              <p:nvPr/>
            </p:nvSpPr>
            <p:spPr>
              <a:xfrm>
                <a:off x="10111098" y="6355654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70</a:t>
                </a: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EDE5E2FB-04A7-4BD8-AF35-2129DEC27367}"/>
                  </a:ext>
                </a:extLst>
              </p:cNvPr>
              <p:cNvCxnSpPr/>
              <p:nvPr/>
            </p:nvCxnSpPr>
            <p:spPr>
              <a:xfrm>
                <a:off x="10966596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70A8228-4DA7-4627-946C-4DE6E34A95DB}"/>
                  </a:ext>
                </a:extLst>
              </p:cNvPr>
              <p:cNvSpPr txBox="1"/>
              <p:nvPr/>
            </p:nvSpPr>
            <p:spPr>
              <a:xfrm>
                <a:off x="10752722" y="6333496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80</a:t>
                </a:r>
              </a:p>
            </p:txBody>
          </p:sp>
        </p:grpSp>
        <p:sp>
          <p:nvSpPr>
            <p:cNvPr id="131" name="Family Planning">
              <a:extLst>
                <a:ext uri="{FF2B5EF4-FFF2-40B4-BE49-F238E27FC236}">
                  <a16:creationId xmlns:a16="http://schemas.microsoft.com/office/drawing/2014/main" id="{21B1571A-1004-4C19-8FB4-36573563B2B8}"/>
                </a:ext>
              </a:extLst>
            </p:cNvPr>
            <p:cNvSpPr txBox="1"/>
            <p:nvPr/>
          </p:nvSpPr>
          <p:spPr>
            <a:xfrm>
              <a:off x="115410" y="1690468"/>
              <a:ext cx="1827107" cy="40862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ysClr val="windowText" lastClr="000000"/>
                  </a:solidFill>
                </a:rPr>
                <a:t>Family planning</a:t>
              </a:r>
            </a:p>
          </p:txBody>
        </p:sp>
        <p:sp>
          <p:nvSpPr>
            <p:cNvPr id="134" name="IPV">
              <a:extLst>
                <a:ext uri="{FF2B5EF4-FFF2-40B4-BE49-F238E27FC236}">
                  <a16:creationId xmlns:a16="http://schemas.microsoft.com/office/drawing/2014/main" id="{DD6FFCDA-5A44-4475-913D-EF63029E1CAD}"/>
                </a:ext>
              </a:extLst>
            </p:cNvPr>
            <p:cNvSpPr txBox="1"/>
            <p:nvPr/>
          </p:nvSpPr>
          <p:spPr>
            <a:xfrm>
              <a:off x="115410" y="2523783"/>
              <a:ext cx="1827107" cy="40862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ysClr val="windowText" lastClr="000000"/>
                  </a:solidFill>
                </a:rPr>
                <a:t>IPV</a:t>
              </a:r>
            </a:p>
          </p:txBody>
        </p:sp>
        <p:sp>
          <p:nvSpPr>
            <p:cNvPr id="137" name="Osteoporosis">
              <a:extLst>
                <a:ext uri="{FF2B5EF4-FFF2-40B4-BE49-F238E27FC236}">
                  <a16:creationId xmlns:a16="http://schemas.microsoft.com/office/drawing/2014/main" id="{605D7D08-CD7F-40F6-8D12-D199D2B5C834}"/>
                </a:ext>
              </a:extLst>
            </p:cNvPr>
            <p:cNvSpPr txBox="1"/>
            <p:nvPr/>
          </p:nvSpPr>
          <p:spPr>
            <a:xfrm>
              <a:off x="115410" y="3330450"/>
              <a:ext cx="1827107" cy="40862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Osteoporosis</a:t>
              </a:r>
            </a:p>
          </p:txBody>
        </p:sp>
        <p:sp>
          <p:nvSpPr>
            <p:cNvPr id="140" name="Falls">
              <a:extLst>
                <a:ext uri="{FF2B5EF4-FFF2-40B4-BE49-F238E27FC236}">
                  <a16:creationId xmlns:a16="http://schemas.microsoft.com/office/drawing/2014/main" id="{56718252-7368-4BBD-B850-972E467ED98D}"/>
                </a:ext>
              </a:extLst>
            </p:cNvPr>
            <p:cNvSpPr txBox="1"/>
            <p:nvPr/>
          </p:nvSpPr>
          <p:spPr>
            <a:xfrm>
              <a:off x="115413" y="4292218"/>
              <a:ext cx="1827107" cy="40862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ysClr val="windowText" lastClr="000000"/>
                  </a:solidFill>
                </a:rPr>
                <a:t>Falls</a:t>
              </a:r>
            </a:p>
          </p:txBody>
        </p:sp>
        <p:sp>
          <p:nvSpPr>
            <p:cNvPr id="143" name="Advance care">
              <a:extLst>
                <a:ext uri="{FF2B5EF4-FFF2-40B4-BE49-F238E27FC236}">
                  <a16:creationId xmlns:a16="http://schemas.microsoft.com/office/drawing/2014/main" id="{B33185DD-A329-41F2-A7A1-46232D38347D}"/>
                </a:ext>
              </a:extLst>
            </p:cNvPr>
            <p:cNvSpPr txBox="1"/>
            <p:nvPr/>
          </p:nvSpPr>
          <p:spPr>
            <a:xfrm>
              <a:off x="115410" y="5125533"/>
              <a:ext cx="1827107" cy="40862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Advance care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E89A9A-9A27-4D33-8B64-2EB3529C216A}"/>
                </a:ext>
              </a:extLst>
            </p:cNvPr>
            <p:cNvSpPr/>
            <p:nvPr/>
          </p:nvSpPr>
          <p:spPr>
            <a:xfrm>
              <a:off x="2637494" y="1545024"/>
              <a:ext cx="4166441" cy="699512"/>
            </a:xfrm>
            <a:prstGeom prst="rect">
              <a:avLst/>
            </a:prstGeom>
            <a:gradFill>
              <a:gsLst>
                <a:gs pos="79000">
                  <a:srgbClr val="B5D89E"/>
                </a:gs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Reproductive goals in reproductive age patients</a:t>
              </a:r>
            </a:p>
          </p:txBody>
        </p: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1632C318-58F0-4042-9F4B-415C898B5983}"/>
                </a:ext>
              </a:extLst>
            </p:cNvPr>
            <p:cNvSpPr/>
            <p:nvPr/>
          </p:nvSpPr>
          <p:spPr>
            <a:xfrm>
              <a:off x="8592831" y="3141335"/>
              <a:ext cx="3137023" cy="786855"/>
            </a:xfrm>
            <a:prstGeom prst="rightArrow">
              <a:avLst>
                <a:gd name="adj1" fmla="val 80545"/>
                <a:gd name="adj2" fmla="val 37088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DEXA in all women</a:t>
              </a:r>
            </a:p>
            <a:p>
              <a:pPr algn="ctr"/>
              <a:r>
                <a:rPr lang="en-US" dirty="0"/>
                <a:t> or men at high-risk</a:t>
              </a:r>
            </a:p>
          </p:txBody>
        </p:sp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00DED867-9BC2-4099-9A41-EA7791493EC2}"/>
                </a:ext>
              </a:extLst>
            </p:cNvPr>
            <p:cNvSpPr/>
            <p:nvPr/>
          </p:nvSpPr>
          <p:spPr>
            <a:xfrm>
              <a:off x="8592831" y="4224647"/>
              <a:ext cx="3137023" cy="681482"/>
            </a:xfrm>
            <a:prstGeom prst="rightArrow">
              <a:avLst>
                <a:gd name="adj1" fmla="val 69275"/>
                <a:gd name="adj2" fmla="val 43051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Assess at least q1y</a:t>
              </a:r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09EDE01C-F0C5-4590-989F-F4C76A0DD4B9}"/>
                </a:ext>
              </a:extLst>
            </p:cNvPr>
            <p:cNvSpPr/>
            <p:nvPr/>
          </p:nvSpPr>
          <p:spPr>
            <a:xfrm>
              <a:off x="2613679" y="5057299"/>
              <a:ext cx="9092358" cy="590069"/>
            </a:xfrm>
            <a:prstGeom prst="rightArrow">
              <a:avLst>
                <a:gd name="adj1" fmla="val 70662"/>
                <a:gd name="adj2" fmla="val 50000"/>
              </a:avLst>
            </a:prstGeom>
            <a:gradFill>
              <a:gsLst>
                <a:gs pos="75000">
                  <a:schemeClr val="accent6">
                    <a:lumMod val="75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All patients at least once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B82D0A7-DAA6-4922-8E13-078F93B11400}"/>
                </a:ext>
              </a:extLst>
            </p:cNvPr>
            <p:cNvSpPr txBox="1"/>
            <p:nvPr/>
          </p:nvSpPr>
          <p:spPr>
            <a:xfrm>
              <a:off x="7045033" y="1671642"/>
              <a:ext cx="4955074" cy="1354217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0">
                <a:buNone/>
              </a:pPr>
              <a:r>
                <a:rPr lang="en-US"/>
                <a:t>Ex., HITS: </a:t>
              </a:r>
              <a:r>
                <a:rPr lang="en-US" i="1"/>
                <a:t>How often does your partner:</a:t>
              </a:r>
              <a:br>
                <a:rPr lang="en-US"/>
              </a:br>
              <a:r>
                <a:rPr lang="en-US" sz="1600" i="1"/>
                <a:t>- </a:t>
              </a:r>
              <a:r>
                <a:rPr lang="en-US" sz="1600" b="1" i="1"/>
                <a:t>H</a:t>
              </a:r>
              <a:r>
                <a:rPr lang="en-US" sz="1600" i="1"/>
                <a:t>urt you physically?</a:t>
              </a:r>
              <a:br>
                <a:rPr lang="en-US" sz="1600" i="1"/>
              </a:br>
              <a:r>
                <a:rPr lang="en-US" sz="1600" i="1"/>
                <a:t>- </a:t>
              </a:r>
              <a:r>
                <a:rPr lang="en-US" sz="1600" b="1" i="1"/>
                <a:t>I</a:t>
              </a:r>
              <a:r>
                <a:rPr lang="en-US" sz="1600" i="1"/>
                <a:t>nsult you or talk down to you?</a:t>
              </a:r>
              <a:br>
                <a:rPr lang="en-US" sz="1600" i="1"/>
              </a:br>
              <a:r>
                <a:rPr lang="en-US" sz="1600" i="1"/>
                <a:t>- </a:t>
              </a:r>
              <a:r>
                <a:rPr lang="en-US" sz="1600" b="1" i="1"/>
                <a:t>T</a:t>
              </a:r>
              <a:r>
                <a:rPr lang="en-US" sz="1600" i="1"/>
                <a:t>hreaten you with harm?</a:t>
              </a:r>
              <a:br>
                <a:rPr lang="en-US" sz="1600" i="1"/>
              </a:br>
              <a:r>
                <a:rPr lang="en-US" sz="1600" i="1"/>
                <a:t>- </a:t>
              </a:r>
              <a:r>
                <a:rPr lang="en-US" sz="1600" b="1" i="1"/>
                <a:t>S</a:t>
              </a:r>
              <a:r>
                <a:rPr lang="en-US" sz="1600" i="1"/>
                <a:t>cream or curse at you?</a:t>
              </a:r>
              <a:endParaRPr lang="en-US" i="1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9A0C90E-2157-4362-A3C1-C5CDCD6A7FDB}"/>
                </a:ext>
              </a:extLst>
            </p:cNvPr>
            <p:cNvSpPr/>
            <p:nvPr/>
          </p:nvSpPr>
          <p:spPr>
            <a:xfrm>
              <a:off x="2637494" y="2343859"/>
              <a:ext cx="4166441" cy="699512"/>
            </a:xfrm>
            <a:prstGeom prst="rect">
              <a:avLst/>
            </a:prstGeom>
            <a:gradFill>
              <a:gsLst>
                <a:gs pos="71000">
                  <a:srgbClr val="BFDDAB"/>
                </a:gs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Annual screen in reproductive age women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36662FE-840E-4B66-B4C6-4A718AA10C2A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6803934" y="2693615"/>
              <a:ext cx="241099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0088038-245B-4BD2-8424-D7CB1BBB3864}"/>
                </a:ext>
              </a:extLst>
            </p:cNvPr>
            <p:cNvSpPr/>
            <p:nvPr/>
          </p:nvSpPr>
          <p:spPr>
            <a:xfrm flipH="1">
              <a:off x="4846632" y="3218518"/>
              <a:ext cx="3746195" cy="635931"/>
            </a:xfrm>
            <a:prstGeom prst="rect">
              <a:avLst/>
            </a:prstGeom>
            <a:gradFill>
              <a:gsLst>
                <a:gs pos="75000">
                  <a:srgbClr val="B0D597"/>
                </a:gs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DEXA in post-menopausal women + RF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B949E53-25D5-4A7F-AC4F-2B0E28F21267}"/>
                </a:ext>
              </a:extLst>
            </p:cNvPr>
            <p:cNvCxnSpPr>
              <a:cxnSpLocks/>
              <a:stCxn id="75" idx="1"/>
            </p:cNvCxnSpPr>
            <p:nvPr/>
          </p:nvCxnSpPr>
          <p:spPr>
            <a:xfrm flipH="1">
              <a:off x="6643643" y="4565388"/>
              <a:ext cx="1949188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0229E8F-D36B-4568-9E78-4236F59906C9}"/>
                </a:ext>
              </a:extLst>
            </p:cNvPr>
            <p:cNvSpPr txBox="1"/>
            <p:nvPr/>
          </p:nvSpPr>
          <p:spPr>
            <a:xfrm>
              <a:off x="2351488" y="3928190"/>
              <a:ext cx="5904685" cy="1107996"/>
            </a:xfrm>
            <a:prstGeom prst="rect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/>
                <a:t>3 key questions:</a:t>
              </a:r>
            </a:p>
            <a:p>
              <a:pPr marL="233363" indent="-233363">
                <a:buAutoNum type="arabicParenR"/>
              </a:pPr>
              <a:r>
                <a:rPr lang="en-US" sz="1600" i="1"/>
                <a:t>“Do you feel unsteady when standing or walking?”</a:t>
              </a:r>
            </a:p>
            <a:p>
              <a:pPr marL="233363" indent="-233363">
                <a:buAutoNum type="arabicParenR"/>
              </a:pPr>
              <a:r>
                <a:rPr lang="en-US" sz="1600" i="1"/>
                <a:t>“Do you worry about falling?”</a:t>
              </a:r>
            </a:p>
            <a:p>
              <a:pPr marL="233363" indent="-233363">
                <a:buAutoNum type="arabicParenR"/>
              </a:pPr>
              <a:r>
                <a:rPr lang="en-US" sz="1600" i="1"/>
                <a:t>“Have you fallen in the past year?”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79087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75696C5-0364-4AC8-A06F-526433DA6018}"/>
              </a:ext>
            </a:extLst>
          </p:cNvPr>
          <p:cNvGrpSpPr/>
          <p:nvPr/>
        </p:nvGrpSpPr>
        <p:grpSpPr>
          <a:xfrm>
            <a:off x="2697703" y="436790"/>
            <a:ext cx="9073487" cy="6266038"/>
            <a:chOff x="4693298" y="436790"/>
            <a:chExt cx="7077892" cy="626603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CBECFA0-AA96-49FF-AB05-80DE28B2790C}"/>
                </a:ext>
              </a:extLst>
            </p:cNvPr>
            <p:cNvGrpSpPr/>
            <p:nvPr/>
          </p:nvGrpSpPr>
          <p:grpSpPr>
            <a:xfrm>
              <a:off x="4693298" y="5674914"/>
              <a:ext cx="7077892" cy="1027914"/>
              <a:chOff x="6718771" y="5674914"/>
              <a:chExt cx="5052419" cy="1027914"/>
            </a:xfrm>
          </p:grpSpPr>
          <p:sp>
            <p:nvSpPr>
              <p:cNvPr id="74" name="Arrow: Right 73">
                <a:extLst>
                  <a:ext uri="{FF2B5EF4-FFF2-40B4-BE49-F238E27FC236}">
                    <a16:creationId xmlns:a16="http://schemas.microsoft.com/office/drawing/2014/main" id="{8E45F113-DBCE-43DE-90C4-00A6F405B4EA}"/>
                  </a:ext>
                </a:extLst>
              </p:cNvPr>
              <p:cNvSpPr/>
              <p:nvPr/>
            </p:nvSpPr>
            <p:spPr>
              <a:xfrm>
                <a:off x="6718771" y="5674914"/>
                <a:ext cx="5052419" cy="67035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A522401-1621-44D0-949C-3DFB29F22476}"/>
                  </a:ext>
                </a:extLst>
              </p:cNvPr>
              <p:cNvCxnSpPr/>
              <p:nvPr/>
            </p:nvCxnSpPr>
            <p:spPr>
              <a:xfrm>
                <a:off x="6952907" y="5762432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9133BA9-DD34-4245-B6DF-B8063272A0FF}"/>
                  </a:ext>
                </a:extLst>
              </p:cNvPr>
              <p:cNvSpPr txBox="1"/>
              <p:nvPr/>
            </p:nvSpPr>
            <p:spPr>
              <a:xfrm>
                <a:off x="6718771" y="6333496"/>
                <a:ext cx="4277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20</a:t>
                </a: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987765F-D294-4DAA-9088-5836D37FB5A9}"/>
                  </a:ext>
                </a:extLst>
              </p:cNvPr>
              <p:cNvCxnSpPr/>
              <p:nvPr/>
            </p:nvCxnSpPr>
            <p:spPr>
              <a:xfrm>
                <a:off x="7652218" y="5762432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05C9A02-648D-4463-99A9-32D2CCCF1ADB}"/>
                  </a:ext>
                </a:extLst>
              </p:cNvPr>
              <p:cNvSpPr txBox="1"/>
              <p:nvPr/>
            </p:nvSpPr>
            <p:spPr>
              <a:xfrm>
                <a:off x="7427553" y="6355651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30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6D32696-5C84-46C6-A229-5DD791785B68}"/>
                  </a:ext>
                </a:extLst>
              </p:cNvPr>
              <p:cNvCxnSpPr/>
              <p:nvPr/>
            </p:nvCxnSpPr>
            <p:spPr>
              <a:xfrm>
                <a:off x="8348727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E0CB120-4DBD-46C6-B27C-3E4FEF485768}"/>
                  </a:ext>
                </a:extLst>
              </p:cNvPr>
              <p:cNvSpPr txBox="1"/>
              <p:nvPr/>
            </p:nvSpPr>
            <p:spPr>
              <a:xfrm>
                <a:off x="8136204" y="6355652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40</a:t>
                </a: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9FC0EB0-AF26-4C01-B7E0-490AFB6639D4}"/>
                  </a:ext>
                </a:extLst>
              </p:cNvPr>
              <p:cNvCxnSpPr/>
              <p:nvPr/>
            </p:nvCxnSpPr>
            <p:spPr>
              <a:xfrm>
                <a:off x="9033967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FC41032-0DB3-4708-9B99-718655CE0EA7}"/>
                  </a:ext>
                </a:extLst>
              </p:cNvPr>
              <p:cNvSpPr txBox="1"/>
              <p:nvPr/>
            </p:nvSpPr>
            <p:spPr>
              <a:xfrm>
                <a:off x="8837044" y="6355652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50</a:t>
                </a: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A5DAC48-EF40-40B9-95B2-C8AC7E03A00B}"/>
                  </a:ext>
                </a:extLst>
              </p:cNvPr>
              <p:cNvCxnSpPr/>
              <p:nvPr/>
            </p:nvCxnSpPr>
            <p:spPr>
              <a:xfrm>
                <a:off x="9692530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0B1B12C-D656-42EE-8122-057A3C8492CE}"/>
                  </a:ext>
                </a:extLst>
              </p:cNvPr>
              <p:cNvSpPr txBox="1"/>
              <p:nvPr/>
            </p:nvSpPr>
            <p:spPr>
              <a:xfrm>
                <a:off x="9478655" y="6355653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60</a:t>
                </a: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DA446C0-70C1-4841-B3D3-2488646D59C6}"/>
                  </a:ext>
                </a:extLst>
              </p:cNvPr>
              <p:cNvCxnSpPr/>
              <p:nvPr/>
            </p:nvCxnSpPr>
            <p:spPr>
              <a:xfrm>
                <a:off x="10324973" y="5762434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5D4EB68-930D-4EA8-BA0A-11ED92EE3958}"/>
                  </a:ext>
                </a:extLst>
              </p:cNvPr>
              <p:cNvSpPr txBox="1"/>
              <p:nvPr/>
            </p:nvSpPr>
            <p:spPr>
              <a:xfrm>
                <a:off x="10111098" y="6355654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70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6C054B0-253C-4D73-9470-640DC2E1C74F}"/>
                  </a:ext>
                </a:extLst>
              </p:cNvPr>
              <p:cNvCxnSpPr/>
              <p:nvPr/>
            </p:nvCxnSpPr>
            <p:spPr>
              <a:xfrm>
                <a:off x="10966596" y="5762433"/>
                <a:ext cx="0" cy="5932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4CBE717-0FDD-4DA2-B27C-61C5A05A4087}"/>
                  </a:ext>
                </a:extLst>
              </p:cNvPr>
              <p:cNvSpPr txBox="1"/>
              <p:nvPr/>
            </p:nvSpPr>
            <p:spPr>
              <a:xfrm>
                <a:off x="10752722" y="6333496"/>
                <a:ext cx="427749" cy="27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80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BBF1E7B-AE02-427C-B3AB-7F849F8EC32E}"/>
                </a:ext>
              </a:extLst>
            </p:cNvPr>
            <p:cNvCxnSpPr/>
            <p:nvPr/>
          </p:nvCxnSpPr>
          <p:spPr>
            <a:xfrm flipV="1">
              <a:off x="5021297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BDF9030-B217-4791-A51D-A3F508ECA20D}"/>
                </a:ext>
              </a:extLst>
            </p:cNvPr>
            <p:cNvCxnSpPr/>
            <p:nvPr/>
          </p:nvCxnSpPr>
          <p:spPr>
            <a:xfrm flipV="1">
              <a:off x="6000956" y="473379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562BEFC-CF95-450F-9809-E87040BC0CC7}"/>
                </a:ext>
              </a:extLst>
            </p:cNvPr>
            <p:cNvCxnSpPr/>
            <p:nvPr/>
          </p:nvCxnSpPr>
          <p:spPr>
            <a:xfrm flipV="1">
              <a:off x="6976690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8F18E50-1AAA-42EF-A229-99B20D211B1B}"/>
                </a:ext>
              </a:extLst>
            </p:cNvPr>
            <p:cNvCxnSpPr/>
            <p:nvPr/>
          </p:nvCxnSpPr>
          <p:spPr>
            <a:xfrm flipV="1">
              <a:off x="7936637" y="43974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8E42B32-7DBB-4C8C-B70C-6B0B728FB686}"/>
                </a:ext>
              </a:extLst>
            </p:cNvPr>
            <p:cNvCxnSpPr/>
            <p:nvPr/>
          </p:nvCxnSpPr>
          <p:spPr>
            <a:xfrm flipV="1">
              <a:off x="8859212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9B1F426-1F25-4C20-9CC0-B448FF5EE81A}"/>
                </a:ext>
              </a:extLst>
            </p:cNvPr>
            <p:cNvCxnSpPr/>
            <p:nvPr/>
          </p:nvCxnSpPr>
          <p:spPr>
            <a:xfrm flipV="1">
              <a:off x="9737294" y="473379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91957ED-0243-4FEB-85F4-7475AA302CDF}"/>
                </a:ext>
              </a:extLst>
            </p:cNvPr>
            <p:cNvCxnSpPr/>
            <p:nvPr/>
          </p:nvCxnSpPr>
          <p:spPr>
            <a:xfrm flipV="1">
              <a:off x="10644041" y="436790"/>
              <a:ext cx="0" cy="5325642"/>
            </a:xfrm>
            <a:prstGeom prst="line">
              <a:avLst/>
            </a:prstGeom>
            <a:ln w="31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Hypertension">
            <a:extLst>
              <a:ext uri="{FF2B5EF4-FFF2-40B4-BE49-F238E27FC236}">
                <a16:creationId xmlns:a16="http://schemas.microsoft.com/office/drawing/2014/main" id="{3523BFD4-0080-4975-A186-C9FB8950DF0F}"/>
              </a:ext>
            </a:extLst>
          </p:cNvPr>
          <p:cNvSpPr txBox="1"/>
          <p:nvPr/>
        </p:nvSpPr>
        <p:spPr>
          <a:xfrm>
            <a:off x="124287" y="826384"/>
            <a:ext cx="208913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Hypertension</a:t>
            </a:r>
          </a:p>
        </p:txBody>
      </p:sp>
      <p:sp>
        <p:nvSpPr>
          <p:cNvPr id="91" name="Obesity">
            <a:extLst>
              <a:ext uri="{FF2B5EF4-FFF2-40B4-BE49-F238E27FC236}">
                <a16:creationId xmlns:a16="http://schemas.microsoft.com/office/drawing/2014/main" id="{5E860F54-ACD4-4D5E-9EE1-F01B897CBB98}"/>
              </a:ext>
            </a:extLst>
          </p:cNvPr>
          <p:cNvSpPr txBox="1"/>
          <p:nvPr/>
        </p:nvSpPr>
        <p:spPr>
          <a:xfrm>
            <a:off x="128369" y="1457149"/>
            <a:ext cx="208913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Obesity</a:t>
            </a:r>
          </a:p>
        </p:txBody>
      </p:sp>
      <p:sp>
        <p:nvSpPr>
          <p:cNvPr id="93" name="Diabetes">
            <a:extLst>
              <a:ext uri="{FF2B5EF4-FFF2-40B4-BE49-F238E27FC236}">
                <a16:creationId xmlns:a16="http://schemas.microsoft.com/office/drawing/2014/main" id="{6F31DAE9-C18D-4C32-8229-375660362278}"/>
              </a:ext>
            </a:extLst>
          </p:cNvPr>
          <p:cNvSpPr txBox="1"/>
          <p:nvPr/>
        </p:nvSpPr>
        <p:spPr>
          <a:xfrm>
            <a:off x="179968" y="2577307"/>
            <a:ext cx="208913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Diabetes</a:t>
            </a:r>
          </a:p>
        </p:txBody>
      </p:sp>
      <p:sp>
        <p:nvSpPr>
          <p:cNvPr id="95" name="Lipid disorder">
            <a:extLst>
              <a:ext uri="{FF2B5EF4-FFF2-40B4-BE49-F238E27FC236}">
                <a16:creationId xmlns:a16="http://schemas.microsoft.com/office/drawing/2014/main" id="{C954A25F-AF15-4C0A-B7FF-2456EE46964E}"/>
              </a:ext>
            </a:extLst>
          </p:cNvPr>
          <p:cNvSpPr txBox="1"/>
          <p:nvPr/>
        </p:nvSpPr>
        <p:spPr>
          <a:xfrm>
            <a:off x="152066" y="3625422"/>
            <a:ext cx="208913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Lipid disorder</a:t>
            </a:r>
          </a:p>
        </p:txBody>
      </p:sp>
      <p:sp>
        <p:nvSpPr>
          <p:cNvPr id="97" name="AAA">
            <a:extLst>
              <a:ext uri="{FF2B5EF4-FFF2-40B4-BE49-F238E27FC236}">
                <a16:creationId xmlns:a16="http://schemas.microsoft.com/office/drawing/2014/main" id="{24A5287F-4D84-46DC-8E64-87A136148384}"/>
              </a:ext>
            </a:extLst>
          </p:cNvPr>
          <p:cNvSpPr txBox="1"/>
          <p:nvPr/>
        </p:nvSpPr>
        <p:spPr>
          <a:xfrm>
            <a:off x="124286" y="4361765"/>
            <a:ext cx="208913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AAA</a:t>
            </a:r>
          </a:p>
        </p:txBody>
      </p:sp>
      <p:sp>
        <p:nvSpPr>
          <p:cNvPr id="99" name="Diet and physical activity">
            <a:extLst>
              <a:ext uri="{FF2B5EF4-FFF2-40B4-BE49-F238E27FC236}">
                <a16:creationId xmlns:a16="http://schemas.microsoft.com/office/drawing/2014/main" id="{7BCA4FA7-397C-4370-9081-E3E39B017B41}"/>
              </a:ext>
            </a:extLst>
          </p:cNvPr>
          <p:cNvSpPr txBox="1"/>
          <p:nvPr/>
        </p:nvSpPr>
        <p:spPr>
          <a:xfrm>
            <a:off x="124286" y="4936177"/>
            <a:ext cx="2089131" cy="7150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Diet/ Physical activity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5DD9E0-E587-4F55-9E3B-62E49097FAAC}"/>
              </a:ext>
            </a:extLst>
          </p:cNvPr>
          <p:cNvSpPr/>
          <p:nvPr/>
        </p:nvSpPr>
        <p:spPr>
          <a:xfrm>
            <a:off x="2697703" y="834142"/>
            <a:ext cx="842625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Annually with office BP if &gt; 40 and/or has risk factors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3289F-F749-4FB0-9AAE-14A66CAA604F}"/>
              </a:ext>
            </a:extLst>
          </p:cNvPr>
          <p:cNvSpPr/>
          <p:nvPr/>
        </p:nvSpPr>
        <p:spPr>
          <a:xfrm>
            <a:off x="2697703" y="1455163"/>
            <a:ext cx="8426258" cy="39527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BMI calculation at each visit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BD693D9-B91E-41FC-A69A-5CE35DAECD1B}"/>
              </a:ext>
            </a:extLst>
          </p:cNvPr>
          <p:cNvSpPr/>
          <p:nvPr/>
        </p:nvSpPr>
        <p:spPr>
          <a:xfrm>
            <a:off x="6275914" y="2082986"/>
            <a:ext cx="4848048" cy="399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A1c/fasting BG/glucose tolerance q3 y  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F393754-7789-4193-86FD-A16507E28055}"/>
              </a:ext>
            </a:extLst>
          </p:cNvPr>
          <p:cNvSpPr/>
          <p:nvPr/>
        </p:nvSpPr>
        <p:spPr>
          <a:xfrm>
            <a:off x="2697705" y="2082986"/>
            <a:ext cx="3578211" cy="39955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Obesity + RF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A5A0F39-3353-43B3-81C6-0DC97F8DC837}"/>
              </a:ext>
            </a:extLst>
          </p:cNvPr>
          <p:cNvSpPr/>
          <p:nvPr/>
        </p:nvSpPr>
        <p:spPr>
          <a:xfrm>
            <a:off x="5604631" y="2596538"/>
            <a:ext cx="3549081" cy="7206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A1c/fasting BG/glucose tolerance q3 y 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E1BC05-5845-4645-9DB7-68C6C508BD2B}"/>
              </a:ext>
            </a:extLst>
          </p:cNvPr>
          <p:cNvSpPr/>
          <p:nvPr/>
        </p:nvSpPr>
        <p:spPr>
          <a:xfrm>
            <a:off x="5624892" y="3481403"/>
            <a:ext cx="4211079" cy="6703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Low risk: lipid panel q5 y</a:t>
            </a:r>
          </a:p>
          <a:p>
            <a:pPr algn="ctr"/>
            <a:r>
              <a:rPr lang="en-US"/>
              <a:t>High risk: lipid panel q3 y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3CC28D8-8E3B-4999-8098-4DB37B057B98}"/>
              </a:ext>
            </a:extLst>
          </p:cNvPr>
          <p:cNvSpPr/>
          <p:nvPr/>
        </p:nvSpPr>
        <p:spPr>
          <a:xfrm>
            <a:off x="8555301" y="4361765"/>
            <a:ext cx="1148324" cy="42613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EA7A7C-1A75-4FB2-8D9C-35638AE8B41C}"/>
              </a:ext>
            </a:extLst>
          </p:cNvPr>
          <p:cNvSpPr txBox="1"/>
          <p:nvPr/>
        </p:nvSpPr>
        <p:spPr>
          <a:xfrm>
            <a:off x="3465883" y="4401856"/>
            <a:ext cx="495639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Abdominal US once if + tobacco history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9579F96-E861-4EC8-AF29-FFA03E154CE6}"/>
              </a:ext>
            </a:extLst>
          </p:cNvPr>
          <p:cNvSpPr txBox="1"/>
          <p:nvPr/>
        </p:nvSpPr>
        <p:spPr>
          <a:xfrm>
            <a:off x="4449154" y="2831589"/>
            <a:ext cx="10331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USPSTF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184458C-BF70-4AF9-8AC1-C9F68E4A2F70}"/>
              </a:ext>
            </a:extLst>
          </p:cNvPr>
          <p:cNvSpPr txBox="1"/>
          <p:nvPr/>
        </p:nvSpPr>
        <p:spPr>
          <a:xfrm>
            <a:off x="1862450" y="2105085"/>
            <a:ext cx="7520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50000"/>
                  </a:schemeClr>
                </a:solidFill>
              </a:rPr>
              <a:t>ADA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F6B6AA-2F7B-44F1-93D5-D0E1E37BF1BC}"/>
              </a:ext>
            </a:extLst>
          </p:cNvPr>
          <p:cNvSpPr/>
          <p:nvPr/>
        </p:nvSpPr>
        <p:spPr>
          <a:xfrm>
            <a:off x="2614520" y="5110480"/>
            <a:ext cx="8509441" cy="3664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 adults should receive counseling on diet/exercise!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8D70D65-254D-42D5-92E8-A16356843BF0}"/>
              </a:ext>
            </a:extLst>
          </p:cNvPr>
          <p:cNvSpPr/>
          <p:nvPr/>
        </p:nvSpPr>
        <p:spPr>
          <a:xfrm>
            <a:off x="2882283" y="118378"/>
            <a:ext cx="7162528" cy="639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Cardiovascular Disease Screening</a:t>
            </a:r>
          </a:p>
        </p:txBody>
      </p:sp>
    </p:spTree>
    <p:extLst>
      <p:ext uri="{BB962C8B-B14F-4D97-AF65-F5344CB8AC3E}">
        <p14:creationId xmlns:p14="http://schemas.microsoft.com/office/powerpoint/2010/main" val="99912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Calibri"/>
              </a:rPr>
              <a:t>2024–2026 Update — CV Risk, Lipids &amp; Vaccines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32323"/>
                </a:solidFill>
                <a:latin typeface="Calibri"/>
              </a:rPr>
              <a:t>Standing teaching (screen all for alcohol/tobacco/drugs + depression [&lt;65 anxiety]; HTN, BMI/obesity, diabetes, AAA men 65–75 ever-smoked; folic acid; falls; DEXA women ≥65; IPV; advance care) verified CURRENT.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32323"/>
                </a:solidFill>
                <a:latin typeface="Calibri"/>
              </a:rPr>
              <a:t>NEW — 2026 ACC/AHA Multisociety Dyslipidemia Guideline: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•  Use the PREVENT calculator (ages 30–79) for primary-prevention risk — replaces Pooled Cohort Equations, which overestimated risk ~40–50%.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•  PREVENT 10-yr risk tiers: low &lt;3%, borderline 3–&lt;5%, intermediate 5–&lt;10%, high ≥10%. "Earlier and lower, for longer."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•  LDL targets: very-high-risk &lt;55, high-risk &lt;70, intermediate on statin &lt;100 mg/dL. Start statins earlier in familial hypercholesterolemia / young LDL ≥160 / high 30-yr risk.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•  USPSTF statin (primary prevention) still: age 40–75 + ≥1 RF and 10-yr risk ≥10% (Grade B; 7.5–10% selective).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Vaccines (2024 ACIP): PCV21 for adults ≥50 (cases list "PCV20" — PCV20 still valid; PCV21 now an option, age lowered to 50). RSV for ≥75 (and 60–74 high-risk) by shared decision.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Diabetes screening unchanged: ADA — all at 35, or any age if overweight/obese + ≥1 RF; USPSTF 35–70 overweight/obese.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32323"/>
                </a:solidFill>
                <a:latin typeface="Calibri"/>
              </a:rPr>
              <a:t>Work all five prevention domains every visit (Cancer + ID in Part 1; Psychosocial, Cardiovascular, Family/Safety here) and individualize by age, sex, and risk.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32323"/>
                </a:solidFill>
                <a:latin typeface="Calibri"/>
              </a:rPr>
              <a:t>Psychosocial: screen all adults annually for alcohol (SASQ/AUDIT-C), tobacco (every visit), and drug use; depression (all) and anxiety (&lt;65).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32323"/>
                </a:solidFill>
                <a:latin typeface="Calibri"/>
              </a:rPr>
              <a:t>Cardiovascular: HTN (office BP, annually if ≥40/at risk), obesity (BMI), diabetes (ADA all at 35), lipids (40–75 + risk), AAA one-time US in men 65–75 who ever smoked.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32323"/>
                </a:solidFill>
                <a:latin typeface="Calibri"/>
              </a:rPr>
              <a:t>Family/Safety: folic acid for those who may become pregnant; falls screen ≥65; DEXA women ≥65 (men insufficient evidence); annual IPV screen in reproductive-age women; advance-care planning for all.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32323"/>
                </a:solidFill>
                <a:latin typeface="Calibri"/>
              </a:rPr>
              <a:t>2026 ACC/AHA: use PREVENT (not Pooled Cohort) for CV risk; "earlier and lower for longer" LDL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Adapted from TeachIM.org — “Adult Disease Prevention Part 2: Cardiovascular Disease, Psychosocial Conditions and Family/Safety” (Melton, Guinn, Trefilek; Exec. Ed. Zhang; Sec. Ed. Brett; Univ. of Colorado / Washington). Published Sept 2021, last reviewed May 2024.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32323"/>
                </a:solidFill>
                <a:latin typeface="Calibri"/>
              </a:rPr>
              <a:t>Source URL: https://teachim.org/teaching_material/adult-disease-prevention-2/   |   Deck: Disease-Prevention-Part-2-2022-updates.pptx (embed-verified)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Licensed CC BY-NC 4.0. This optimized package is likewise CC BY-NC 4.0 — attribution required, non-commercial use only.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Optimized June 2026: original interactive board preserved (all 8 slides, animations &amp; BioRender graphics intact). 2 surgical fixes: "USPTF" → "USPSTF" on slides 5 and 8 (single runs each). 3 slides appended (this addendum).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323"/>
                </a:solidFill>
                <a:latin typeface="Calibri"/>
              </a:rPr>
              <a:t>Currency verified vs 2026 ACC/AHA dyslipidemia guideline (PREVENT), USPSTF (statin, depression/anxiety 2023, AAA, osteoporosis), 2024 ACIP (PCV21), CDC RSV. Companions: teaching script DOCX, CV/Family-Safety learner worksheet PDF, PCE summary PDF.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32323"/>
                </a:solidFill>
                <a:latin typeface="Calibri"/>
              </a:rPr>
              <a:t>Educational use only — clinician-reviewed before teaching; guidelines change frequently.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13B57B1B56684BAB1341979C003C65" ma:contentTypeVersion="14" ma:contentTypeDescription="Create a new document." ma:contentTypeScope="" ma:versionID="22d10200c4097f8c9b202e07d064cbcb">
  <xsd:schema xmlns:xsd="http://www.w3.org/2001/XMLSchema" xmlns:xs="http://www.w3.org/2001/XMLSchema" xmlns:p="http://schemas.microsoft.com/office/2006/metadata/properties" xmlns:ns3="b8b3ae3f-5481-4331-b963-02e70fee9004" xmlns:ns4="05428c74-abb2-4460-9816-fc88d4c40442" targetNamespace="http://schemas.microsoft.com/office/2006/metadata/properties" ma:root="true" ma:fieldsID="3d90526e0299bfe85644dd2a0298192e" ns3:_="" ns4:_="">
    <xsd:import namespace="b8b3ae3f-5481-4331-b963-02e70fee9004"/>
    <xsd:import namespace="05428c74-abb2-4460-9816-fc88d4c4044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b3ae3f-5481-4331-b963-02e70fee90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28c74-abb2-4460-9816-fc88d4c40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D3F6F7-A5B5-4AC6-B846-DF10AEA8DB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FCED1-FD1B-49DE-88CF-A2B119C61A4F}">
  <ds:schemaRefs>
    <ds:schemaRef ds:uri="05428c74-abb2-4460-9816-fc88d4c40442"/>
    <ds:schemaRef ds:uri="b8b3ae3f-5481-4331-b963-02e70fee9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684B7A8-0CC0-49B4-B49B-D479A7B6EAF7}">
  <ds:schemaRefs>
    <ds:schemaRef ds:uri="05428c74-abb2-4460-9816-fc88d4c40442"/>
    <ds:schemaRef ds:uri="b8b3ae3f-5481-4331-b963-02e70fee9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1242</Words>
  <Application>Microsoft Macintosh PowerPoint</Application>
  <PresentationFormat>Widescreen</PresentationFormat>
  <Paragraphs>227</Paragraphs>
  <Slides>8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Melton, Meara A2</dc:creator>
  <cp:lastModifiedBy>Molly Brett</cp:lastModifiedBy>
  <cp:revision>8</cp:revision>
  <dcterms:created xsi:type="dcterms:W3CDTF">2021-06-28T21:36:52Z</dcterms:created>
  <dcterms:modified xsi:type="dcterms:W3CDTF">2022-10-25T19:26:38Z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0x0101000913B57B1B56684BAB1341979C003C65</vt:lpwstr>
  </property>
</Properties>
</file>