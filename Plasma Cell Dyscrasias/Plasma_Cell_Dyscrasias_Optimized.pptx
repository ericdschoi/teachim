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5.svg" ContentType="image/svg+xml"/>
  <Override PartName="/ppt/media/image17.svg" ContentType="image/svg+xml"/>
  <Override PartName="/ppt/media/image19.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76" r:id="rId3"/>
    <p:sldId id="269" r:id="rId4"/>
    <p:sldId id="270" r:id="rId5"/>
    <p:sldId id="279" r:id="rId6"/>
    <p:sldId id="280" r:id="rId7"/>
    <p:sldId id="281" r:id="rId8"/>
    <p:sldId id="282" r:id="rId9"/>
    <p:sldId id="284" r:id="rId10"/>
    <p:sldId id="285" r:id="rId11"/>
    <p:sldId id="286" r:id="rId12"/>
    <p:sldId id="260" r:id="rId13"/>
    <p:sldId id="277" r:id="rId14"/>
    <p:sldId id="287" r:id="rId21"/>
    <p:sldId id="288" r:id="rId22"/>
    <p:sldId id="28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C15CB45-EF95-3E1B-90A3-B9645EAE3BCA}" name=" " initials="" userId="S::meryl.colton@cuanschutz.edu::dc1979e4-384d-49f1-ae02-6d6911cf3405" providerId="AD"/>
  <p188:author id="{93E0DF60-051D-8072-63EA-4CBCE0AE60AA}" name="Colton, Meryl MD" initials="CMM" userId="S::mcolton@dhha.org::2ef67469-1086-45da-b031-23dee04329f6" providerId="AD"/>
  <p188:author id="{AB810968-D91D-C19B-3655-B4D2DE7FDBEE}" name="Yilin Zhang" initials="YZ" userId="S::Yilin_Zhang@valleymed.org::40a11026-a9ab-441d-8256-d37e38926e9e" providerId="AD"/>
  <p188:author id="{B466D9B2-7FE7-ED95-04B2-E2967964833A}" name="Yilin Zhang" initials="YZ" userId="8f8df916e9767cd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7030A0"/>
    <a:srgbClr val="E65CB6"/>
    <a:srgbClr val="CF2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3" autoAdjust="0"/>
    <p:restoredTop sz="75634" autoAdjust="0"/>
  </p:normalViewPr>
  <p:slideViewPr>
    <p:cSldViewPr snapToGrid="0">
      <p:cViewPr varScale="1">
        <p:scale>
          <a:sx n="77" d="100"/>
          <a:sy n="77" d="100"/>
        </p:scale>
        <p:origin x="1716" y="84"/>
      </p:cViewPr>
      <p:guideLst>
        <p:guide orient="horz" pos="2208"/>
        <p:guide pos="3840"/>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97C60-DE5B-E343-909C-9ED91DCC9DEC}" type="datetimeFigureOut">
              <a:rPr lang="en-US" smtClean="0"/>
              <a:t>2/20/2023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33164F-09D1-574A-AABF-798E5AB0F3C1}" type="slidenum">
              <a:rPr lang="en-US" smtClean="0"/>
              <a:t>‹#›</a:t>
            </a:fld>
            <a:endParaRPr lang="en-US"/>
          </a:p>
        </p:txBody>
      </p:sp>
    </p:spTree>
    <p:extLst>
      <p:ext uri="{BB962C8B-B14F-4D97-AF65-F5344CB8AC3E}">
        <p14:creationId xmlns:p14="http://schemas.microsoft.com/office/powerpoint/2010/main" val="996109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rPr>
              <a:t>plasma cell disorders are a large group of disorders that includes multiple myeloma (MM), monoclonal gammopathy of undetermined significance (MGUS), smoldering multiple myeloma (SMM), solitary plasmacytoma, </a:t>
            </a:r>
            <a:r>
              <a:rPr lang="en-US" sz="1800" dirty="0" err="1">
                <a:effectLst/>
                <a:latin typeface="Calibri" panose="020F0502020204030204" pitchFamily="34" charset="0"/>
                <a:ea typeface="Calibri" panose="020F0502020204030204" pitchFamily="34" charset="0"/>
              </a:rPr>
              <a:t>Waldenström’s</a:t>
            </a:r>
            <a:r>
              <a:rPr lang="en-US" sz="1800" dirty="0">
                <a:effectLst/>
                <a:latin typeface="Calibri" panose="020F0502020204030204" pitchFamily="34" charset="0"/>
                <a:ea typeface="Calibri" panose="020F0502020204030204" pitchFamily="34" charset="0"/>
              </a:rPr>
              <a:t> macroglobulinemia, primary amyloidosis (AL), heavy chain disease, POEMS syndrome, type I and II cryoglobulinemia. For this talk, we will just focus on MGUS, SMM, and MM.</a:t>
            </a:r>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1</a:t>
            </a:fld>
            <a:endParaRPr lang="en-US"/>
          </a:p>
        </p:txBody>
      </p:sp>
    </p:spTree>
    <p:extLst>
      <p:ext uri="{BB962C8B-B14F-4D97-AF65-F5344CB8AC3E}">
        <p14:creationId xmlns:p14="http://schemas.microsoft.com/office/powerpoint/2010/main" val="3535331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Lymphoid progenitor cells differentiate into B cells which further differentiate into plasma cells once an antigen has been presented.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Plasma cells can make IgG, IgM, </a:t>
            </a:r>
            <a:r>
              <a:rPr lang="en-US" sz="1800" dirty="0" err="1">
                <a:effectLst/>
                <a:latin typeface="Calibri" panose="020F0502020204030204" pitchFamily="34" charset="0"/>
                <a:ea typeface="Calibri" panose="020F0502020204030204" pitchFamily="34" charset="0"/>
                <a:cs typeface="Calibri" panose="020F0502020204030204" pitchFamily="34" charset="0"/>
              </a:rPr>
              <a:t>IgD</a:t>
            </a:r>
            <a:r>
              <a:rPr lang="en-US" sz="1800" dirty="0">
                <a:effectLst/>
                <a:latin typeface="Calibri" panose="020F0502020204030204" pitchFamily="34" charset="0"/>
                <a:ea typeface="Calibri" panose="020F0502020204030204" pitchFamily="34" charset="0"/>
                <a:cs typeface="Calibri" panose="020F0502020204030204" pitchFamily="34" charset="0"/>
              </a:rPr>
              <a:t>, IgA, and </a:t>
            </a:r>
            <a:r>
              <a:rPr lang="en-US" sz="1800" dirty="0" err="1">
                <a:effectLst/>
                <a:latin typeface="Calibri" panose="020F0502020204030204" pitchFamily="34" charset="0"/>
                <a:ea typeface="Calibri" panose="020F0502020204030204" pitchFamily="34" charset="0"/>
                <a:cs typeface="Calibri" panose="020F0502020204030204" pitchFamily="34" charset="0"/>
              </a:rPr>
              <a:t>IgE</a:t>
            </a:r>
            <a:r>
              <a:rPr lang="en-US" sz="1800" dirty="0">
                <a:effectLst/>
                <a:latin typeface="Calibri" panose="020F0502020204030204" pitchFamily="34" charset="0"/>
                <a:ea typeface="Calibri" panose="020F0502020204030204" pitchFamily="34" charset="0"/>
                <a:cs typeface="Calibri" panose="020F0502020204030204" pitchFamily="34" charset="0"/>
              </a:rPr>
              <a:t>.</a:t>
            </a: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Each immunoglobulin is comprised of a heavy chain and a light chain. </a:t>
            </a: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Each light chain is either kappa or lambda in origin and in the absence of disease there is a relative balance of kappa and lambda light chains. </a:t>
            </a: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A “clonal” expansion” will have an abnormally high proportion of either kappa or lambda. An M protein (also called a paraprotein, monoclonal protein, or M component) is a monoclonal immunoglobulin secreted by an abnormally expanded clone of plasma cells in an amount that is above the polyclonal immunoglobulin background.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2</a:t>
            </a:fld>
            <a:endParaRPr lang="en-US"/>
          </a:p>
        </p:txBody>
      </p:sp>
    </p:spTree>
    <p:extLst>
      <p:ext uri="{BB962C8B-B14F-4D97-AF65-F5344CB8AC3E}">
        <p14:creationId xmlns:p14="http://schemas.microsoft.com/office/powerpoint/2010/main" val="3689440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M proteins wreak havoc and cause the clinical findings we see in plasma cell dyscrasias.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What clinical findings are a result of bone marrow infiltration?</a:t>
            </a:r>
            <a:endParaRPr lang="en-US" sz="1800" i="1" dirty="0">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This leads to anemia and, what many don’t think of, profound immunocompromise</a:t>
            </a:r>
          </a:p>
          <a:p>
            <a:pPr marL="0" marR="0" indent="0">
              <a:lnSpc>
                <a:spcPct val="115000"/>
              </a:lnSpc>
              <a:spcBef>
                <a:spcPts val="0"/>
              </a:spcBef>
              <a:spcAft>
                <a:spcPts val="1000"/>
              </a:spcAft>
              <a:buFontTx/>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What clinical findings are a result of RANK-L production</a:t>
            </a:r>
            <a:r>
              <a:rPr lang="en-US" sz="1800" i="1" dirty="0">
                <a:effectLst/>
                <a:latin typeface="Calibri" panose="020F0502020204030204" pitchFamily="34" charset="0"/>
                <a:ea typeface="Calibri" panose="020F0502020204030204" pitchFamily="34" charset="0"/>
                <a:cs typeface="Calibri" panose="020F0502020204030204" pitchFamily="34" charset="0"/>
              </a:rPr>
              <a:t>. </a:t>
            </a: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Increased RANK-L production and activation as well as direct activation of osteoclasts leads to hypercalcemia and osteolytic bone lesions and fracture.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Ask your learners to guess what clinical findings are a result of paraprotein (M protein)-related injury</a:t>
            </a:r>
            <a:r>
              <a:rPr lang="en-US" sz="1800" i="1" dirty="0">
                <a:effectLst/>
                <a:latin typeface="Calibri" panose="020F0502020204030204" pitchFamily="34" charset="0"/>
                <a:ea typeface="Calibri" panose="020F0502020204030204" pitchFamily="34" charset="0"/>
                <a:cs typeface="Calibri" panose="020F0502020204030204" pitchFamily="34" charset="0"/>
              </a:rPr>
              <a:t>. </a:t>
            </a:r>
          </a:p>
          <a:p>
            <a:pPr marL="285750" marR="0" indent="-285750">
              <a:lnSpc>
                <a:spcPct val="115000"/>
              </a:lnSpc>
              <a:spcBef>
                <a:spcPts val="0"/>
              </a:spcBef>
              <a:spcAft>
                <a:spcPts val="1000"/>
              </a:spcAft>
              <a:buFontTx/>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This leads to renal disease, with diverse pathology.  In myeloma, this is most commonly cast nephropathy with an acute reduction in GFR.  In other conditions like AL amyloid, it is often associated with nephrotic syndrome. In POEMs and </a:t>
            </a:r>
            <a:r>
              <a:rPr lang="en-US" sz="1800" dirty="0" err="1">
                <a:effectLst/>
                <a:latin typeface="Calibri" panose="020F0502020204030204" pitchFamily="34" charset="0"/>
                <a:ea typeface="Calibri" panose="020F0502020204030204" pitchFamily="34" charset="0"/>
                <a:cs typeface="Calibri" panose="020F0502020204030204" pitchFamily="34" charset="0"/>
              </a:rPr>
              <a:t>Waldenström’s</a:t>
            </a:r>
            <a:r>
              <a:rPr lang="en-US" sz="1800" dirty="0">
                <a:effectLst/>
                <a:latin typeface="Calibri" panose="020F0502020204030204" pitchFamily="34" charset="0"/>
                <a:ea typeface="Calibri" panose="020F0502020204030204" pitchFamily="34" charset="0"/>
                <a:cs typeface="Calibri" panose="020F0502020204030204" pitchFamily="34" charset="0"/>
              </a:rPr>
              <a:t>, this leads to neuropathy, but this is rare in MM.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suspect a plasma cell dyscrasia, what testing will you order?</a:t>
            </a:r>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3</a:t>
            </a:fld>
            <a:endParaRPr lang="en-US"/>
          </a:p>
        </p:txBody>
      </p:sp>
    </p:spTree>
    <p:extLst>
      <p:ext uri="{BB962C8B-B14F-4D97-AF65-F5344CB8AC3E}">
        <p14:creationId xmlns:p14="http://schemas.microsoft.com/office/powerpoint/2010/main" val="3311149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A serum protein electrophoresis is the standard screening method for the detection of multiple myeloma.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It involves using electrophoresis to separate out the total protein by charge. It tells you the SIZE (serum concentration) of each protein.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Alpha1 includes HDL and alpha1 antitrypsin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Alpha 2 includes haptoglobin</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Beta includes transferrin and C3</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Gamma is the globulin region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32323"/>
                </a:solidFill>
                <a:effectLst/>
                <a:latin typeface="Calibri" panose="020F0502020204030204" pitchFamily="34" charset="0"/>
                <a:ea typeface="Times New Roman" panose="02020603050405020304" pitchFamily="18" charset="0"/>
                <a:cs typeface="Calibri" panose="020F0502020204030204" pitchFamily="34" charset="0"/>
              </a:rPr>
              <a:t>Serum immunofixation, which is more sensitive than SPEP and also determines the heavy and light chain type of the monoclonal protein (i.e. IgG vs IgA).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32323"/>
                </a:solidFill>
                <a:effectLst/>
                <a:latin typeface="Calibri" panose="020F0502020204030204" pitchFamily="34" charset="0"/>
                <a:ea typeface="Times New Roman" panose="02020603050405020304" pitchFamily="18" charset="0"/>
                <a:cs typeface="Calibri" panose="020F0502020204030204" pitchFamily="34" charset="0"/>
              </a:rPr>
              <a:t>However, unlike SPEP, immunofixation does not give an estimate of the size of the M protein (i.e., its serum concentration).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32323"/>
                </a:solidFill>
                <a:effectLst/>
                <a:latin typeface="Calibri" panose="020F0502020204030204" pitchFamily="34" charset="0"/>
                <a:ea typeface="Times New Roman" panose="02020603050405020304" pitchFamily="18" charset="0"/>
                <a:cs typeface="Calibri" panose="020F0502020204030204" pitchFamily="34" charset="0"/>
              </a:rPr>
              <a:t>Should be done in conjunction with electrophoresis.</a:t>
            </a:r>
            <a:r>
              <a:rPr lang="en-US" sz="1800" i="1" dirty="0">
                <a:effectLst/>
                <a:latin typeface="Calibri" panose="020F0502020204030204" pitchFamily="34" charset="0"/>
                <a:ea typeface="Calibri" panose="020F0502020204030204" pitchFamily="34" charset="0"/>
                <a:cs typeface="Calibri" panose="020F0502020204030204" pitchFamily="34" charset="0"/>
              </a:rPr>
              <a:t> </a:t>
            </a:r>
            <a:r>
              <a:rPr lang="en-US" sz="1800" dirty="0">
                <a:solidFill>
                  <a:srgbClr val="232323"/>
                </a:solidFill>
                <a:effectLst/>
                <a:latin typeface="Calibri" panose="020F0502020204030204" pitchFamily="34" charset="0"/>
                <a:ea typeface="Times New Roman" panose="02020603050405020304" pitchFamily="18" charset="0"/>
                <a:cs typeface="Calibri" panose="020F0502020204030204" pitchFamily="34" charset="0"/>
              </a:rPr>
              <a:t>You can also have a false positive with polyclonal elevation in IgG I things like infection.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32323"/>
                </a:solidFill>
                <a:effectLst/>
                <a:latin typeface="Calibri" panose="020F0502020204030204" pitchFamily="34" charset="0"/>
                <a:ea typeface="Times New Roman" panose="02020603050405020304" pitchFamily="18" charset="0"/>
                <a:cs typeface="Calibri" panose="020F0502020204030204" pitchFamily="34" charset="0"/>
              </a:rPr>
              <a:t>Thus, it is always important to combine this test with a test for clonality.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232323"/>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32323"/>
                </a:solidFill>
                <a:effectLst/>
                <a:latin typeface="Calibri" panose="020F0502020204030204" pitchFamily="34" charset="0"/>
                <a:ea typeface="Times New Roman" panose="02020603050405020304" pitchFamily="18" charset="0"/>
              </a:rPr>
              <a:t>SPEP with immunofixation has 80% sensitivity to detect plasma cell dyscrasias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4</a:t>
            </a:fld>
            <a:endParaRPr lang="en-US"/>
          </a:p>
        </p:txBody>
      </p:sp>
    </p:spTree>
    <p:extLst>
      <p:ext uri="{BB962C8B-B14F-4D97-AF65-F5344CB8AC3E}">
        <p14:creationId xmlns:p14="http://schemas.microsoft.com/office/powerpoint/2010/main" val="137255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Traditionally, urine protein electrophoresis (UPEP) with urine immunofixation was used to increase the sensitivity of testing.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This test detects free light chains (so called “Bence Jones” proteins) that are small enough to pass through the glomeruli, into the urine.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Remember that urine protein on a dipstick is just albumin, so will miss Bence Jones proteins.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Combined, SPEP + UPEP increases the sensitivity to 95%.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However, this test must be collected on using a </a:t>
            </a:r>
            <a:r>
              <a:rPr lang="en-US" sz="1800" b="1" dirty="0">
                <a:effectLst/>
                <a:latin typeface="Calibri" panose="020F0502020204030204" pitchFamily="34" charset="0"/>
                <a:ea typeface="Calibri" panose="020F0502020204030204" pitchFamily="34" charset="0"/>
                <a:cs typeface="Calibri" panose="020F0502020204030204" pitchFamily="34" charset="0"/>
              </a:rPr>
              <a:t>24-hour urine collection</a:t>
            </a:r>
            <a:r>
              <a:rPr lang="en-US" sz="1800" dirty="0">
                <a:effectLst/>
                <a:latin typeface="Calibri" panose="020F0502020204030204" pitchFamily="34" charset="0"/>
                <a:ea typeface="Calibri" panose="020F0502020204030204" pitchFamily="34" charset="0"/>
                <a:cs typeface="Calibri" panose="020F0502020204030204" pitchFamily="34" charset="0"/>
              </a:rPr>
              <a:t>; thus, there is a newer method used to screen for plasma cell dyscrasias.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5</a:t>
            </a:fld>
            <a:endParaRPr lang="en-US"/>
          </a:p>
        </p:txBody>
      </p:sp>
    </p:spTree>
    <p:extLst>
      <p:ext uri="{BB962C8B-B14F-4D97-AF65-F5344CB8AC3E}">
        <p14:creationId xmlns:p14="http://schemas.microsoft.com/office/powerpoint/2010/main" val="4105838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Kappa Lambda free light chain assay is</a:t>
            </a:r>
            <a:r>
              <a:rPr lang="en-US" sz="1800" i="1"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a newer method, which can replace the time-consuming UPEP. This test</a:t>
            </a:r>
            <a:r>
              <a:rPr lang="en-US" sz="1800" i="1"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measures the ratio of kappa to </a:t>
            </a:r>
            <a:r>
              <a:rPr lang="en-US" sz="1800" dirty="0" err="1">
                <a:effectLst/>
                <a:latin typeface="Calibri" panose="020F0502020204030204" pitchFamily="34" charset="0"/>
                <a:ea typeface="Calibri" panose="020F0502020204030204" pitchFamily="34" charset="0"/>
                <a:cs typeface="Calibri" panose="020F0502020204030204" pitchFamily="34" charset="0"/>
              </a:rPr>
              <a:t>lamba</a:t>
            </a:r>
            <a:r>
              <a:rPr lang="en-US" sz="1800" dirty="0">
                <a:effectLst/>
                <a:latin typeface="Calibri" panose="020F0502020204030204" pitchFamily="34" charset="0"/>
                <a:ea typeface="Calibri" panose="020F0502020204030204" pitchFamily="34" charset="0"/>
                <a:cs typeface="Calibri" panose="020F0502020204030204" pitchFamily="34" charset="0"/>
              </a:rPr>
              <a:t> light chains in the serum.</a:t>
            </a:r>
            <a:r>
              <a:rPr lang="en-US" sz="1800" i="1"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In normal circumstances, the ratio of kappa to lambda light chains is roughly equal and a normal ratio is 0.26-1.65.</a:t>
            </a:r>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rPr>
              <a:t>A ratio &gt; than 1.65 suggests and kappa clone.</a:t>
            </a:r>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rPr>
              <a:t>A ratio &lt;0.26 suggests a gamma clone. </a:t>
            </a: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However, renal disease alone may elevate ratio to 3. You should have high suspicion of plasma cell dyscrasia when ratio &gt; 4 or &lt; .25. </a:t>
            </a:r>
          </a:p>
          <a:p>
            <a:pPr marL="0" marR="0" lvl="0" indent="0" algn="l" defTabSz="914400" rtl="0" eaLnBrk="1" fontAlgn="auto" latinLnBrk="0" hangingPunct="1">
              <a:lnSpc>
                <a:spcPct val="115000"/>
              </a:lnSpc>
              <a:spcBef>
                <a:spcPts val="0"/>
              </a:spcBef>
              <a:spcAft>
                <a:spcPts val="1000"/>
              </a:spcAft>
              <a:buClrTx/>
              <a:buSzTx/>
              <a:buFontTx/>
              <a:buNone/>
              <a:tabLst/>
              <a:defRPr/>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A ratio &gt;100 or &lt;0.01 is diagnostic of MM. </a:t>
            </a:r>
          </a:p>
          <a:p>
            <a:pPr marL="0" marR="0" lvl="0" indent="0" algn="l" defTabSz="914400" rtl="0" eaLnBrk="1" fontAlgn="auto" latinLnBrk="0" hangingPunct="1">
              <a:lnSpc>
                <a:spcPct val="115000"/>
              </a:lnSpc>
              <a:spcBef>
                <a:spcPts val="0"/>
              </a:spcBef>
              <a:spcAft>
                <a:spcPts val="1000"/>
              </a:spcAft>
              <a:buClrTx/>
              <a:buSzTx/>
              <a:buFontTx/>
              <a:buNone/>
              <a:tabLst/>
              <a:defRPr/>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Up to 16% of MM only have light chain disease which is not well captured on SPEP.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100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Calibri" panose="020F0502020204030204" pitchFamily="34" charset="0"/>
            </a:endParaRP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633164F-09D1-574A-AABF-798E5AB0F3C1}" type="slidenum">
              <a:rPr lang="en-US" smtClean="0"/>
              <a:t>6</a:t>
            </a:fld>
            <a:endParaRPr lang="en-US"/>
          </a:p>
        </p:txBody>
      </p:sp>
    </p:spTree>
    <p:extLst>
      <p:ext uri="{BB962C8B-B14F-4D97-AF65-F5344CB8AC3E}">
        <p14:creationId xmlns:p14="http://schemas.microsoft.com/office/powerpoint/2010/main" val="4174549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We use the tests we described as well as bone marrow biopsy, the presence of end organ damage, and a few myeloma-defining events to differentiate between MGUS, Smoldering myeloma and multiple myeloma</a:t>
            </a:r>
            <a:r>
              <a:rPr lang="en-US" sz="1800" i="1" dirty="0">
                <a:effectLst/>
                <a:latin typeface="Calibri" panose="020F0502020204030204" pitchFamily="34" charset="0"/>
                <a:ea typeface="Calibri" panose="020F0502020204030204" pitchFamily="34"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0"/>
              </a:spcAft>
              <a:buFont typeface="Calibri" panose="020F0502020204030204" pitchFamily="34" charset="0"/>
              <a:buChar char="-"/>
            </a:pPr>
            <a:r>
              <a:rPr lang="en-US" sz="1800" b="1" dirty="0">
                <a:effectLst/>
                <a:latin typeface="Calibri" panose="020F0502020204030204" pitchFamily="34" charset="0"/>
                <a:ea typeface="Calibri" panose="020F0502020204030204" pitchFamily="34" charset="0"/>
                <a:cs typeface="Calibri" panose="020F0502020204030204" pitchFamily="34" charset="0"/>
              </a:rPr>
              <a:t>MGUS</a:t>
            </a:r>
            <a:r>
              <a:rPr lang="en-US" sz="1800" i="1" dirty="0">
                <a:effectLst/>
                <a:latin typeface="Calibri" panose="020F0502020204030204" pitchFamily="34" charset="0"/>
                <a:ea typeface="Calibri" panose="020F0502020204030204" pitchFamily="34" charset="0"/>
                <a:cs typeface="Calibri" panose="020F0502020204030204" pitchFamily="34" charset="0"/>
              </a:rPr>
              <a:t> - </a:t>
            </a:r>
            <a:r>
              <a:rPr lang="en-US" sz="1800" dirty="0">
                <a:effectLst/>
                <a:latin typeface="Calibri" panose="020F0502020204030204" pitchFamily="34" charset="0"/>
                <a:ea typeface="Calibri" panose="020F0502020204030204" pitchFamily="34" charset="0"/>
                <a:cs typeface="Calibri" panose="020F0502020204030204" pitchFamily="34" charset="0"/>
              </a:rPr>
              <a:t>MGUS is defined as an M protein less than 3 grams/dL in serum and less than 500 mg/24-hour period in urine as well as less than 10% clonal cells in the bone marrow and no signs of end organ damage (referring to your CRABI symptoms). Specifically: Calcium ≥ 11 mg/dL, </a:t>
            </a:r>
            <a:r>
              <a:rPr lang="en-US" sz="1800" dirty="0" err="1">
                <a:effectLst/>
                <a:latin typeface="Calibri" panose="020F0502020204030204" pitchFamily="34" charset="0"/>
                <a:ea typeface="Calibri" panose="020F0502020204030204" pitchFamily="34" charset="0"/>
                <a:cs typeface="Calibri" panose="020F0502020204030204" pitchFamily="34" charset="0"/>
              </a:rPr>
              <a:t>SCr</a:t>
            </a:r>
            <a:r>
              <a:rPr lang="en-US" sz="1800" dirty="0">
                <a:effectLst/>
                <a:latin typeface="Calibri" panose="020F0502020204030204" pitchFamily="34" charset="0"/>
                <a:ea typeface="Calibri" panose="020F0502020204030204" pitchFamily="34" charset="0"/>
                <a:cs typeface="Calibri" panose="020F0502020204030204" pitchFamily="34" charset="0"/>
              </a:rPr>
              <a:t> ≥ 2 mg/dL, or Hb &lt; 12 g/dL not from another etiology, lytic lesions, pathologic fracture, or recurrent infections due to hypogammaglobulinemia.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1000"/>
              </a:spcAft>
              <a:buFont typeface="Calibri" panose="020F0502020204030204" pitchFamily="34" charset="0"/>
              <a:buChar char="-"/>
            </a:pPr>
            <a:r>
              <a:rPr lang="en-US" sz="1800" b="1" dirty="0">
                <a:effectLst/>
                <a:latin typeface="Calibri" panose="020F0502020204030204" pitchFamily="34" charset="0"/>
                <a:ea typeface="Calibri" panose="020F0502020204030204" pitchFamily="34" charset="0"/>
                <a:cs typeface="Calibri" panose="020F0502020204030204" pitchFamily="34" charset="0"/>
              </a:rPr>
              <a:t>Smoldering myeloma</a:t>
            </a:r>
            <a:r>
              <a:rPr lang="en-US" sz="1800" i="1" dirty="0">
                <a:effectLst/>
                <a:latin typeface="Calibri" panose="020F0502020204030204" pitchFamily="34" charset="0"/>
                <a:ea typeface="Calibri" panose="020F0502020204030204" pitchFamily="34" charset="0"/>
                <a:cs typeface="Calibri" panose="020F0502020204030204" pitchFamily="34"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  Smoldering myeloma is when we can measure the M protein greater than or equal to 3 g/dL or greater than or equal to 500 mg/24-hour period or a bone marrow biopsy with 10-60% plasma cells, but still no CRABI symptoms. </a:t>
            </a:r>
          </a:p>
          <a:p>
            <a:pPr marL="800100" marR="0" lvl="1" indent="-342900">
              <a:lnSpc>
                <a:spcPct val="115000"/>
              </a:lnSpc>
              <a:spcBef>
                <a:spcPts val="0"/>
              </a:spcBef>
              <a:spcAft>
                <a:spcPts val="1000"/>
              </a:spcAft>
              <a:buFont typeface="Calibri" panose="020F0502020204030204" pitchFamily="34" charset="0"/>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Sometimes this requires a thorough radiographic evaluation to ensure lytic lesions aren’t missed. While whole body x-rays are easy to obtain, they may miss small lytic lesions. MRI is more sensitive but may be challenging to obtain. </a:t>
            </a:r>
          </a:p>
          <a:p>
            <a:pPr marL="800100" marR="0" lvl="1" indent="-342900">
              <a:lnSpc>
                <a:spcPct val="115000"/>
              </a:lnSpc>
              <a:spcBef>
                <a:spcPts val="0"/>
              </a:spcBef>
              <a:spcAft>
                <a:spcPts val="1000"/>
              </a:spcAft>
              <a:buFont typeface="Calibri" panose="020F0502020204030204" pitchFamily="34" charset="0"/>
              <a:buChar char="-"/>
            </a:pPr>
            <a:r>
              <a:rPr lang="en-US" sz="1800" u="sng" dirty="0">
                <a:effectLst/>
                <a:latin typeface="Calibri" panose="020F0502020204030204" pitchFamily="34" charset="0"/>
                <a:ea typeface="Calibri" panose="020F0502020204030204" pitchFamily="34" charset="0"/>
                <a:cs typeface="Calibri" panose="020F0502020204030204" pitchFamily="34" charset="0"/>
              </a:rPr>
              <a:t>PET/CT</a:t>
            </a:r>
            <a:r>
              <a:rPr lang="en-US" sz="1800" dirty="0">
                <a:effectLst/>
                <a:latin typeface="Calibri" panose="020F0502020204030204" pitchFamily="34" charset="0"/>
                <a:ea typeface="Calibri" panose="020F0502020204030204" pitchFamily="34" charset="0"/>
                <a:cs typeface="Calibri" panose="020F0502020204030204" pitchFamily="34" charset="0"/>
              </a:rPr>
              <a:t> is the most sensitive modality and currently the gold standard for evaluation.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It is important to diagnose MGUS and MM because the risk of progression with MGUS is 1% per year and the risk of progression with smoldering myeloma is 10% for </a:t>
            </a:r>
            <a:r>
              <a:rPr lang="en-US" sz="1800">
                <a:effectLst/>
                <a:latin typeface="Calibri" panose="020F0502020204030204" pitchFamily="34" charset="0"/>
                <a:ea typeface="Calibri" panose="020F0502020204030204" pitchFamily="34" charset="0"/>
                <a:cs typeface="Calibri" panose="020F0502020204030204" pitchFamily="34" charset="0"/>
              </a:rPr>
              <a:t>first 5 </a:t>
            </a:r>
            <a:r>
              <a:rPr lang="en-US" sz="1800" dirty="0">
                <a:effectLst/>
                <a:latin typeface="Calibri" panose="020F0502020204030204" pitchFamily="34" charset="0"/>
                <a:ea typeface="Calibri" panose="020F0502020204030204" pitchFamily="34" charset="0"/>
                <a:cs typeface="Calibri" panose="020F0502020204030204" pitchFamily="34" charset="0"/>
              </a:rPr>
              <a:t>years </a:t>
            </a:r>
            <a:r>
              <a:rPr lang="en-US" sz="1800">
                <a:effectLst/>
                <a:latin typeface="Calibri" panose="020F0502020204030204" pitchFamily="34" charset="0"/>
                <a:ea typeface="Calibri" panose="020F0502020204030204" pitchFamily="34" charset="0"/>
                <a:cs typeface="Calibri" panose="020F0502020204030204" pitchFamily="34" charset="0"/>
              </a:rPr>
              <a:t>and 5% </a:t>
            </a:r>
            <a:r>
              <a:rPr lang="en-US" sz="1800" dirty="0">
                <a:effectLst/>
                <a:latin typeface="Calibri" panose="020F0502020204030204" pitchFamily="34" charset="0"/>
                <a:ea typeface="Calibri" panose="020F0502020204030204" pitchFamily="34" charset="0"/>
                <a:cs typeface="Calibri" panose="020F0502020204030204" pitchFamily="34" charset="0"/>
              </a:rPr>
              <a:t>per year thereafter.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en-US" sz="1200" dirty="0">
              <a:solidFill>
                <a:srgbClr val="000000"/>
              </a:solidFill>
              <a:ea typeface="ＭＳ Ｐゴシック" pitchFamily="34" charset="-128"/>
              <a:cs typeface="Helvetica" panose="020B0604020202020204" pitchFamily="34" charset="0"/>
            </a:endParaRPr>
          </a:p>
          <a:p>
            <a:pPr marL="342900" marR="0" lvl="0" indent="-342900">
              <a:lnSpc>
                <a:spcPct val="115000"/>
              </a:lnSpc>
              <a:spcBef>
                <a:spcPts val="0"/>
              </a:spcBef>
              <a:spcAft>
                <a:spcPts val="0"/>
              </a:spcAft>
              <a:buFont typeface="Calibri" panose="020F0502020204030204" pitchFamily="34" charset="0"/>
              <a:buChar char="-"/>
            </a:pPr>
            <a:r>
              <a:rPr lang="en-US" sz="1800" b="1" dirty="0">
                <a:effectLst/>
                <a:latin typeface="Calibri" panose="020F0502020204030204" pitchFamily="34" charset="0"/>
                <a:ea typeface="Calibri" panose="020F0502020204030204" pitchFamily="34" charset="0"/>
                <a:cs typeface="Calibri" panose="020F0502020204030204" pitchFamily="34" charset="0"/>
              </a:rPr>
              <a:t>MM</a:t>
            </a:r>
            <a:r>
              <a:rPr lang="en-US" sz="1800" dirty="0">
                <a:effectLst/>
                <a:latin typeface="Calibri" panose="020F0502020204030204" pitchFamily="34" charset="0"/>
                <a:ea typeface="Calibri" panose="020F0502020204030204" pitchFamily="34" charset="0"/>
                <a:cs typeface="Calibri" panose="020F0502020204030204" pitchFamily="34" charset="0"/>
              </a:rPr>
              <a:t> -  MM is diagnosed when the M protein is greater than or equal to 3 g/dL or greater than or equal to 500 mg/24-hour period or a bone marrow biopsy with 10-60% plasma cells AND there is presence of end organ damage or a MM defining events. These events were established by the International Myeloma Working Group as marrow involvement &gt;60%</a:t>
            </a:r>
            <a:r>
              <a:rPr lang="en-US" sz="1800" dirty="0">
                <a:effectLst/>
                <a:latin typeface="Calibri" panose="020F0502020204030204" pitchFamily="34" charset="0"/>
                <a:ea typeface="Calibri" panose="020F0502020204030204" pitchFamily="34" charset="0"/>
                <a:cs typeface="Times New Roman" panose="02020603050405020304" pitchFamily="18" charset="0"/>
              </a:rPr>
              <a:t>, a</a:t>
            </a:r>
            <a:r>
              <a:rPr lang="en-US" sz="1800" dirty="0">
                <a:effectLst/>
                <a:latin typeface="Calibri" panose="020F0502020204030204" pitchFamily="34" charset="0"/>
                <a:ea typeface="Calibri" panose="020F0502020204030204" pitchFamily="34" charset="0"/>
                <a:cs typeface="Calibri" panose="020F0502020204030204" pitchFamily="34" charset="0"/>
              </a:rPr>
              <a:t>n extramedullary plasmacytoma, an elevation in FLC greater than 100mg/dL with FLC ratio &gt;100 or &lt;0.1</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&gt;1 focal lesion on MRI</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en-US" sz="1200" dirty="0">
              <a:solidFill>
                <a:srgbClr val="000000"/>
              </a:solidFill>
              <a:ea typeface="ＭＳ Ｐゴシック" pitchFamily="34" charset="-128"/>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en-US" sz="1200" dirty="0">
              <a:solidFill>
                <a:srgbClr val="000000"/>
              </a:solidFill>
              <a:ea typeface="ＭＳ Ｐゴシック" pitchFamily="34" charset="-128"/>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en-US" sz="1200" dirty="0">
              <a:solidFill>
                <a:srgbClr val="000000"/>
              </a:solidFill>
              <a:ea typeface="ＭＳ Ｐゴシック" pitchFamily="34" charset="-128"/>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it-IT" altLang="en-US" sz="1200" dirty="0">
              <a:solidFill>
                <a:srgbClr val="000000"/>
              </a:solidFill>
              <a:ea typeface="ＭＳ Ｐゴシック" pitchFamily="34" charset="-128"/>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altLang="en-US" sz="1200" dirty="0">
                <a:solidFill>
                  <a:srgbClr val="000000"/>
                </a:solidFill>
                <a:ea typeface="ＭＳ Ｐゴシック" pitchFamily="34" charset="-128"/>
                <a:cs typeface="Helvetica" panose="020B0604020202020204" pitchFamily="34" charset="0"/>
              </a:rPr>
              <a:t>1. Rajkumar SV, Dimopoulos MA, Palumbo A, et al. </a:t>
            </a:r>
            <a:r>
              <a:rPr lang="en-US" sz="1200" dirty="0">
                <a:cs typeface="Helvetica" panose="020B0604020202020204" pitchFamily="34" charset="0"/>
              </a:rPr>
              <a:t>International Myeloma Working Group updated criteria for the diagnosis of multiple myeloma. </a:t>
            </a:r>
            <a:r>
              <a:rPr lang="it-IT" altLang="en-US" sz="1200" i="1" dirty="0">
                <a:solidFill>
                  <a:srgbClr val="000000"/>
                </a:solidFill>
                <a:ea typeface="ＭＳ Ｐゴシック" pitchFamily="34" charset="-128"/>
                <a:cs typeface="Helvetica" panose="020B0604020202020204" pitchFamily="34" charset="0"/>
              </a:rPr>
              <a:t>Lancet Oncol. </a:t>
            </a:r>
            <a:r>
              <a:rPr lang="it-IT" altLang="en-US" sz="1200" dirty="0">
                <a:solidFill>
                  <a:srgbClr val="000000"/>
                </a:solidFill>
                <a:ea typeface="ＭＳ Ｐゴシック" pitchFamily="34" charset="-128"/>
                <a:cs typeface="Helvetica" panose="020B0604020202020204" pitchFamily="34" charset="0"/>
              </a:rPr>
              <a:t>2014;15(12):e538-548</a:t>
            </a:r>
            <a:r>
              <a:rPr lang="en-US" altLang="en-US" sz="1200" dirty="0">
                <a:solidFill>
                  <a:srgbClr val="000000"/>
                </a:solidFill>
                <a:ea typeface="ＭＳ Ｐゴシック" pitchFamily="34" charset="-128"/>
                <a:cs typeface="Helvetica" panose="020B0604020202020204" pitchFamily="34" charset="0"/>
              </a:rPr>
              <a:t>.</a:t>
            </a:r>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7</a:t>
            </a:fld>
            <a:endParaRPr lang="en-US"/>
          </a:p>
        </p:txBody>
      </p:sp>
    </p:spTree>
    <p:extLst>
      <p:ext uri="{BB962C8B-B14F-4D97-AF65-F5344CB8AC3E}">
        <p14:creationId xmlns:p14="http://schemas.microsoft.com/office/powerpoint/2010/main" val="3603541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MM is a heterogenous disease with variable prognosis. We use the Revised International Staging System (R-ISS) to stratify patient’s risk.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Stage I is defined as serum beta2microglobulin &lt; 3.5 mg/L, </a:t>
            </a:r>
            <a:r>
              <a:rPr lang="en-US" sz="1800" i="1" dirty="0">
                <a:effectLst/>
                <a:latin typeface="Calibri" panose="020F0502020204030204" pitchFamily="34" charset="0"/>
                <a:ea typeface="Calibri" panose="020F0502020204030204" pitchFamily="34" charset="0"/>
                <a:cs typeface="Calibri" panose="020F0502020204030204" pitchFamily="34" charset="0"/>
              </a:rPr>
              <a:t>and</a:t>
            </a:r>
            <a:r>
              <a:rPr lang="en-US" sz="1800" dirty="0">
                <a:effectLst/>
                <a:latin typeface="Calibri" panose="020F0502020204030204" pitchFamily="34" charset="0"/>
                <a:ea typeface="Calibri" panose="020F0502020204030204" pitchFamily="34" charset="0"/>
                <a:cs typeface="Calibri" panose="020F0502020204030204" pitchFamily="34" charset="0"/>
              </a:rPr>
              <a:t> normal LDH, </a:t>
            </a:r>
            <a:r>
              <a:rPr lang="en-US" sz="1800" i="1" dirty="0">
                <a:effectLst/>
                <a:latin typeface="Calibri" panose="020F0502020204030204" pitchFamily="34" charset="0"/>
                <a:ea typeface="Calibri" panose="020F0502020204030204" pitchFamily="34" charset="0"/>
                <a:cs typeface="Calibri" panose="020F0502020204030204" pitchFamily="34" charset="0"/>
              </a:rPr>
              <a:t>and</a:t>
            </a:r>
            <a:r>
              <a:rPr lang="en-US" sz="1800" dirty="0">
                <a:effectLst/>
                <a:latin typeface="Calibri" panose="020F0502020204030204" pitchFamily="34" charset="0"/>
                <a:ea typeface="Calibri" panose="020F0502020204030204" pitchFamily="34" charset="0"/>
                <a:cs typeface="Calibri" panose="020F0502020204030204" pitchFamily="34" charset="0"/>
              </a:rPr>
              <a:t> standard-risk chromosomal abnormalities by iFISH, </a:t>
            </a:r>
            <a:r>
              <a:rPr lang="en-US" sz="1800" i="1" dirty="0">
                <a:effectLst/>
                <a:latin typeface="Calibri" panose="020F0502020204030204" pitchFamily="34" charset="0"/>
                <a:ea typeface="Calibri" panose="020F0502020204030204" pitchFamily="34" charset="0"/>
                <a:cs typeface="Calibri" panose="020F0502020204030204" pitchFamily="34" charset="0"/>
              </a:rPr>
              <a:t>and</a:t>
            </a:r>
            <a:r>
              <a:rPr lang="en-US" sz="1800" dirty="0">
                <a:effectLst/>
                <a:latin typeface="Calibri" panose="020F0502020204030204" pitchFamily="34" charset="0"/>
                <a:ea typeface="Calibri" panose="020F0502020204030204" pitchFamily="34" charset="0"/>
                <a:cs typeface="Calibri" panose="020F0502020204030204" pitchFamily="34" charset="0"/>
              </a:rPr>
              <a:t> serum albumin ≥ 3.5 g/dl. This is your reminder to order a beta2microglobulin, LDH, and albumin as you’re calling the oncologist with a new MM diagnosis.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cs typeface="Arial" panose="020B0604020202020204" pitchFamily="34" charset="0"/>
              </a:rPr>
              <a:t>Palumbo A, et al. </a:t>
            </a:r>
            <a:r>
              <a:rPr lang="en-US" altLang="en-US" i="1" dirty="0">
                <a:cs typeface="Arial" panose="020B0604020202020204" pitchFamily="34" charset="0"/>
              </a:rPr>
              <a:t>J Clin Oncol</a:t>
            </a:r>
            <a:r>
              <a:rPr lang="en-US" altLang="en-US" dirty="0">
                <a:cs typeface="Arial" panose="020B0604020202020204" pitchFamily="34" charset="0"/>
              </a:rPr>
              <a:t>. 2015;33(26):2863-2869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FR" b="0" i="0" dirty="0" err="1">
                <a:solidFill>
                  <a:srgbClr val="232323"/>
                </a:solidFill>
                <a:effectLst/>
                <a:latin typeface="Noto Sans" panose="020B0502040504020204" pitchFamily="34" charset="0"/>
              </a:rPr>
              <a:t>del</a:t>
            </a:r>
            <a:r>
              <a:rPr lang="fr-FR" b="0" i="0" dirty="0">
                <a:solidFill>
                  <a:srgbClr val="232323"/>
                </a:solidFill>
                <a:effectLst/>
                <a:latin typeface="Noto Sans" panose="020B0502040504020204" pitchFamily="34" charset="0"/>
              </a:rPr>
              <a:t>(17p), t(4;14), or t(14;16)</a:t>
            </a:r>
            <a:endParaRPr lang="en-US" dirty="0"/>
          </a:p>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8</a:t>
            </a:fld>
            <a:endParaRPr lang="en-US"/>
          </a:p>
        </p:txBody>
      </p:sp>
    </p:spTree>
    <p:extLst>
      <p:ext uri="{BB962C8B-B14F-4D97-AF65-F5344CB8AC3E}">
        <p14:creationId xmlns:p14="http://schemas.microsoft.com/office/powerpoint/2010/main" val="2196229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9</a:t>
            </a:fld>
            <a:endParaRPr lang="en-US"/>
          </a:p>
        </p:txBody>
      </p:sp>
    </p:spTree>
    <p:extLst>
      <p:ext uri="{BB962C8B-B14F-4D97-AF65-F5344CB8AC3E}">
        <p14:creationId xmlns:p14="http://schemas.microsoft.com/office/powerpoint/2010/main" val="18602081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1000"/>
              </a:spcAft>
            </a:pPr>
            <a:r>
              <a:rPr lang="en-US" sz="1800" u="sng" dirty="0">
                <a:effectLst/>
                <a:latin typeface="Calibri" panose="020F0502020204030204" pitchFamily="34" charset="0"/>
                <a:ea typeface="Calibri" panose="020F0502020204030204" pitchFamily="34" charset="0"/>
                <a:cs typeface="Calibri" panose="020F0502020204030204" pitchFamily="34" charset="0"/>
              </a:rPr>
              <a:t>Treatment – Med Tox</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The most common medications used to treat MM are proteasome inhibitors (such as Bortezomib/</a:t>
            </a:r>
            <a:r>
              <a:rPr lang="en-US" sz="1800" dirty="0" err="1">
                <a:effectLst/>
                <a:latin typeface="Calibri" panose="020F0502020204030204" pitchFamily="34" charset="0"/>
                <a:ea typeface="Calibri" panose="020F0502020204030204" pitchFamily="34" charset="0"/>
                <a:cs typeface="Calibri" panose="020F0502020204030204" pitchFamily="34" charset="0"/>
              </a:rPr>
              <a:t>Velcade</a:t>
            </a:r>
            <a:r>
              <a:rPr lang="en-US" sz="1800" dirty="0">
                <a:effectLst/>
                <a:latin typeface="Calibri" panose="020F0502020204030204" pitchFamily="34" charset="0"/>
                <a:ea typeface="Calibri" panose="020F0502020204030204" pitchFamily="34" charset="0"/>
                <a:cs typeface="Calibri" panose="020F0502020204030204" pitchFamily="34" charset="0"/>
              </a:rPr>
              <a:t> and Carfilzomib/</a:t>
            </a:r>
            <a:r>
              <a:rPr lang="en-US" sz="1800" dirty="0" err="1">
                <a:effectLst/>
                <a:latin typeface="Calibri" panose="020F0502020204030204" pitchFamily="34" charset="0"/>
                <a:ea typeface="Calibri" panose="020F0502020204030204" pitchFamily="34" charset="0"/>
                <a:cs typeface="Calibri" panose="020F0502020204030204" pitchFamily="34" charset="0"/>
              </a:rPr>
              <a:t>Kyprolis</a:t>
            </a:r>
            <a:r>
              <a:rPr lang="en-US" sz="1800" dirty="0">
                <a:effectLst/>
                <a:latin typeface="Calibri" panose="020F0502020204030204" pitchFamily="34" charset="0"/>
                <a:ea typeface="Calibri" panose="020F0502020204030204" pitchFamily="34" charset="0"/>
                <a:cs typeface="Calibri" panose="020F0502020204030204" pitchFamily="34" charset="0"/>
              </a:rPr>
              <a:t>), immunomodulatory agents (such as Lenalidomide/Revlimid and Pomalidomide/</a:t>
            </a:r>
            <a:r>
              <a:rPr lang="en-US" sz="1800" dirty="0" err="1">
                <a:effectLst/>
                <a:latin typeface="Calibri" panose="020F0502020204030204" pitchFamily="34" charset="0"/>
                <a:ea typeface="Calibri" panose="020F0502020204030204" pitchFamily="34" charset="0"/>
                <a:cs typeface="Calibri" panose="020F0502020204030204" pitchFamily="34" charset="0"/>
              </a:rPr>
              <a:t>Pomalyst</a:t>
            </a:r>
            <a:r>
              <a:rPr lang="en-US" sz="1800" dirty="0">
                <a:effectLst/>
                <a:latin typeface="Calibri" panose="020F0502020204030204" pitchFamily="34" charset="0"/>
                <a:ea typeface="Calibri" panose="020F0502020204030204" pitchFamily="34" charset="0"/>
                <a:cs typeface="Calibri" panose="020F0502020204030204" pitchFamily="34" charset="0"/>
              </a:rPr>
              <a:t>), steroids, and monoclonal antibodies [Daratumumab or </a:t>
            </a:r>
            <a:r>
              <a:rPr lang="en-US" sz="1800" dirty="0" err="1">
                <a:effectLst/>
                <a:latin typeface="Calibri" panose="020F0502020204030204" pitchFamily="34" charset="0"/>
                <a:ea typeface="Calibri" panose="020F0502020204030204" pitchFamily="34" charset="0"/>
                <a:cs typeface="Calibri" panose="020F0502020204030204" pitchFamily="34" charset="0"/>
              </a:rPr>
              <a:t>Isatuximab</a:t>
            </a:r>
            <a:r>
              <a:rPr lang="en-US" sz="1800" dirty="0">
                <a:effectLst/>
                <a:latin typeface="Calibri" panose="020F0502020204030204" pitchFamily="34" charset="0"/>
                <a:ea typeface="Calibri" panose="020F0502020204030204" pitchFamily="34" charset="0"/>
                <a:cs typeface="Calibri" panose="020F0502020204030204" pitchFamily="34" charset="0"/>
              </a:rPr>
              <a:t> (anti-CD38) and </a:t>
            </a:r>
            <a:r>
              <a:rPr lang="en-US" sz="1800" dirty="0" err="1">
                <a:effectLst/>
                <a:latin typeface="Calibri" panose="020F0502020204030204" pitchFamily="34" charset="0"/>
                <a:ea typeface="Calibri" panose="020F0502020204030204" pitchFamily="34" charset="0"/>
                <a:cs typeface="Calibri" panose="020F0502020204030204" pitchFamily="34" charset="0"/>
              </a:rPr>
              <a:t>Elotuzumab</a:t>
            </a:r>
            <a:r>
              <a:rPr lang="en-US" sz="1800" dirty="0">
                <a:effectLst/>
                <a:latin typeface="Calibri" panose="020F0502020204030204" pitchFamily="34" charset="0"/>
                <a:ea typeface="Calibri" panose="020F0502020204030204" pitchFamily="34" charset="0"/>
                <a:cs typeface="Calibri" panose="020F0502020204030204" pitchFamily="34" charset="0"/>
              </a:rPr>
              <a:t> (anti-SLAMF7)].</a:t>
            </a:r>
          </a:p>
          <a:p>
            <a:pPr marL="0" marR="0">
              <a:lnSpc>
                <a:spcPct val="115000"/>
              </a:lnSpc>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15000"/>
              </a:lnSpc>
              <a:spcBef>
                <a:spcPts val="0"/>
              </a:spcBef>
              <a:spcAft>
                <a:spcPts val="1000"/>
              </a:spcAft>
              <a:buFontTx/>
              <a:buChar char="-"/>
            </a:pPr>
            <a:r>
              <a:rPr lang="en-US" sz="1800" i="1" dirty="0">
                <a:effectLst/>
                <a:latin typeface="Calibri" panose="020F0502020204030204" pitchFamily="34" charset="0"/>
                <a:ea typeface="Calibri" panose="020F0502020204030204" pitchFamily="34" charset="0"/>
                <a:cs typeface="Calibri" panose="020F0502020204030204" pitchFamily="34" charset="0"/>
              </a:rPr>
              <a:t>Proteasome inhibitors: </a:t>
            </a:r>
            <a:r>
              <a:rPr lang="en-US" sz="1800" dirty="0">
                <a:effectLst/>
                <a:latin typeface="Calibri" panose="020F0502020204030204" pitchFamily="34" charset="0"/>
                <a:ea typeface="Calibri" panose="020F0502020204030204" pitchFamily="34" charset="0"/>
                <a:cs typeface="Calibri" panose="020F0502020204030204" pitchFamily="34" charset="0"/>
              </a:rPr>
              <a:t>The most common side effects of the proteasome inhibitors are myelosuppression, GI irritation, and profound neuropathy. It’s important to note that this medication puts you at high risk for herpes zoster reactivation and patients should be on continuous shingles prophylaxis.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15000"/>
              </a:lnSpc>
              <a:spcBef>
                <a:spcPts val="0"/>
              </a:spcBef>
              <a:spcAft>
                <a:spcPts val="1000"/>
              </a:spcAft>
              <a:buFontTx/>
              <a:buChar char="-"/>
            </a:pPr>
            <a:r>
              <a:rPr lang="en-US" sz="1800" i="1" dirty="0">
                <a:effectLst/>
                <a:latin typeface="Calibri" panose="020F0502020204030204" pitchFamily="34" charset="0"/>
                <a:ea typeface="Calibri" panose="020F0502020204030204" pitchFamily="34" charset="0"/>
                <a:cs typeface="Calibri" panose="020F0502020204030204" pitchFamily="34" charset="0"/>
              </a:rPr>
              <a:t>Immunomodulatory agents: </a:t>
            </a:r>
            <a:r>
              <a:rPr lang="en-US" sz="1800" dirty="0">
                <a:effectLst/>
                <a:latin typeface="Calibri" panose="020F0502020204030204" pitchFamily="34" charset="0"/>
                <a:ea typeface="Calibri" panose="020F0502020204030204" pitchFamily="34" charset="0"/>
                <a:cs typeface="Calibri" panose="020F0502020204030204" pitchFamily="34" charset="0"/>
              </a:rPr>
              <a:t>The most common side effects of the immunomodulatory agents are also myelosuppression, GI irritation, and infections. These patients are also at high risk for VTE and arterial thrombosis and should take prophylaxis using an aspirin or full anticoagulation.</a:t>
            </a:r>
          </a:p>
          <a:p>
            <a:pPr marL="285750" marR="0" indent="-285750">
              <a:lnSpc>
                <a:spcPct val="115000"/>
              </a:lnSpc>
              <a:spcBef>
                <a:spcPts val="0"/>
              </a:spcBef>
              <a:spcAft>
                <a:spcPts val="1000"/>
              </a:spcAft>
              <a:buFontTx/>
              <a:buChar char="-"/>
            </a:pPr>
            <a:r>
              <a:rPr lang="en-US" sz="1800" i="1" dirty="0">
                <a:effectLst/>
                <a:latin typeface="Calibri" panose="020F0502020204030204" pitchFamily="34" charset="0"/>
                <a:ea typeface="Calibri" panose="020F0502020204030204" pitchFamily="34" charset="0"/>
                <a:cs typeface="Calibri" panose="020F0502020204030204" pitchFamily="34" charset="0"/>
              </a:rPr>
              <a:t>Steroids: </a:t>
            </a:r>
            <a:r>
              <a:rPr lang="en-US" sz="1800" dirty="0">
                <a:effectLst/>
                <a:latin typeface="Calibri" panose="020F0502020204030204" pitchFamily="34" charset="0"/>
                <a:ea typeface="Calibri" panose="020F0502020204030204" pitchFamily="34" charset="0"/>
                <a:cs typeface="Calibri" panose="020F0502020204030204" pitchFamily="34" charset="0"/>
              </a:rPr>
              <a:t> We are more familiar with the side effects of steroids, but it’s important to note these patients may remain on high dose steroids for extended periods of time and to consider other GI, infectious, and bone health prophylaxis.</a:t>
            </a:r>
          </a:p>
          <a:p>
            <a:pPr marL="285750" marR="0" indent="-285750">
              <a:lnSpc>
                <a:spcPct val="115000"/>
              </a:lnSpc>
              <a:spcBef>
                <a:spcPts val="0"/>
              </a:spcBef>
              <a:spcAft>
                <a:spcPts val="1000"/>
              </a:spcAft>
              <a:buFontTx/>
              <a:buChar char="-"/>
            </a:pPr>
            <a:r>
              <a:rPr lang="en-US" sz="1800" i="1" dirty="0">
                <a:effectLst/>
                <a:latin typeface="Calibri" panose="020F0502020204030204" pitchFamily="34" charset="0"/>
                <a:ea typeface="Calibri" panose="020F0502020204030204" pitchFamily="34" charset="0"/>
                <a:cs typeface="Calibri" panose="020F0502020204030204" pitchFamily="34" charset="0"/>
              </a:rPr>
              <a:t>Monoclonal Abs: </a:t>
            </a:r>
            <a:r>
              <a:rPr lang="en-US" sz="1800" dirty="0">
                <a:effectLst/>
                <a:latin typeface="Calibri" panose="020F0502020204030204" pitchFamily="34" charset="0"/>
                <a:ea typeface="Calibri" panose="020F0502020204030204" pitchFamily="34" charset="0"/>
                <a:cs typeface="Calibri" panose="020F0502020204030204" pitchFamily="34" charset="0"/>
              </a:rPr>
              <a:t>There are new treatments for plasma cell dyscrasias emerging every year. Two of the most common for MM (daratumumab, </a:t>
            </a:r>
            <a:r>
              <a:rPr lang="en-US" sz="1800" dirty="0" err="1">
                <a:effectLst/>
                <a:latin typeface="Calibri" panose="020F0502020204030204" pitchFamily="34" charset="0"/>
                <a:ea typeface="Calibri" panose="020F0502020204030204" pitchFamily="34" charset="0"/>
                <a:cs typeface="Calibri" panose="020F0502020204030204" pitchFamily="34" charset="0"/>
              </a:rPr>
              <a:t>isatuximab</a:t>
            </a:r>
            <a:r>
              <a:rPr lang="en-US" sz="1800" dirty="0">
                <a:effectLst/>
                <a:latin typeface="Calibri" panose="020F0502020204030204" pitchFamily="34" charset="0"/>
                <a:ea typeface="Calibri" panose="020F0502020204030204" pitchFamily="34" charset="0"/>
                <a:cs typeface="Calibri" panose="020F0502020204030204" pitchFamily="34" charset="0"/>
              </a:rPr>
              <a:t>, and </a:t>
            </a:r>
            <a:r>
              <a:rPr lang="en-US" sz="1800" dirty="0" err="1">
                <a:effectLst/>
                <a:latin typeface="Calibri" panose="020F0502020204030204" pitchFamily="34" charset="0"/>
                <a:ea typeface="Calibri" panose="020F0502020204030204" pitchFamily="34" charset="0"/>
                <a:cs typeface="Calibri" panose="020F0502020204030204" pitchFamily="34" charset="0"/>
              </a:rPr>
              <a:t>elotuzumab</a:t>
            </a:r>
            <a:r>
              <a:rPr lang="en-US" sz="1800" dirty="0">
                <a:effectLst/>
                <a:latin typeface="Calibri" panose="020F0502020204030204" pitchFamily="34" charset="0"/>
                <a:ea typeface="Calibri" panose="020F0502020204030204" pitchFamily="34" charset="0"/>
                <a:cs typeface="Calibri" panose="020F0502020204030204" pitchFamily="34" charset="0"/>
              </a:rPr>
              <a:t>) have similar side effects of myelosuppression, GI irritation, and immunosuppression. Patients may also experience acute infusion reactions</a:t>
            </a:r>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10</a:t>
            </a:fld>
            <a:endParaRPr lang="en-US"/>
          </a:p>
        </p:txBody>
      </p:sp>
    </p:spTree>
    <p:extLst>
      <p:ext uri="{BB962C8B-B14F-4D97-AF65-F5344CB8AC3E}">
        <p14:creationId xmlns:p14="http://schemas.microsoft.com/office/powerpoint/2010/main" val="2494760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11</a:t>
            </a:fld>
            <a:endParaRPr lang="en-US"/>
          </a:p>
        </p:txBody>
      </p:sp>
    </p:spTree>
    <p:extLst>
      <p:ext uri="{BB962C8B-B14F-4D97-AF65-F5344CB8AC3E}">
        <p14:creationId xmlns:p14="http://schemas.microsoft.com/office/powerpoint/2010/main" val="1458463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12</a:t>
            </a:fld>
            <a:endParaRPr lang="en-US"/>
          </a:p>
        </p:txBody>
      </p:sp>
    </p:spTree>
    <p:extLst>
      <p:ext uri="{BB962C8B-B14F-4D97-AF65-F5344CB8AC3E}">
        <p14:creationId xmlns:p14="http://schemas.microsoft.com/office/powerpoint/2010/main" val="177609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Repeat SPEP and K/L FLC . The heme/</a:t>
            </a:r>
            <a:r>
              <a:rPr lang="en-US" sz="1200" dirty="0" err="1"/>
              <a:t>onc</a:t>
            </a:r>
            <a:r>
              <a:rPr lang="en-US" sz="1200" dirty="0"/>
              <a:t> consult service asks you to order total IgG, IgA, IgM, a UPEP, beta2microglubulin, LDH and serum albumin.</a:t>
            </a:r>
          </a:p>
          <a:p>
            <a:endParaRPr lang="en-US" sz="1200" dirty="0"/>
          </a:p>
          <a:p>
            <a:r>
              <a:rPr lang="en-US" sz="1200" dirty="0"/>
              <a:t>NCCN guidelines </a:t>
            </a:r>
            <a:endParaRPr lang="en-US" dirty="0"/>
          </a:p>
        </p:txBody>
      </p:sp>
      <p:sp>
        <p:nvSpPr>
          <p:cNvPr id="4" name="Slide Number Placeholder 3"/>
          <p:cNvSpPr>
            <a:spLocks noGrp="1"/>
          </p:cNvSpPr>
          <p:nvPr>
            <p:ph type="sldNum" sz="quarter" idx="5"/>
          </p:nvPr>
        </p:nvSpPr>
        <p:spPr/>
        <p:txBody>
          <a:bodyPr/>
          <a:lstStyle/>
          <a:p>
            <a:fld id="{7633164F-09D1-574A-AABF-798E5AB0F3C1}" type="slidenum">
              <a:rPr lang="en-US" smtClean="0"/>
              <a:t>13</a:t>
            </a:fld>
            <a:endParaRPr lang="en-US"/>
          </a:p>
        </p:txBody>
      </p:sp>
    </p:spTree>
    <p:extLst>
      <p:ext uri="{BB962C8B-B14F-4D97-AF65-F5344CB8AC3E}">
        <p14:creationId xmlns:p14="http://schemas.microsoft.com/office/powerpoint/2010/main" val="1509272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A47A9-D53B-43D9-8708-4A4F9CD95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AC791-CF7B-4E5A-829B-C1FEA7278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A3820-9C64-4254-B706-D7655C8874F1}"/>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DF6A3BB0-232D-4C30-81EA-22F168436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54119-109B-45F1-AE71-24E5326EF81B}"/>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5208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F50C-21F5-4629-9EC6-785D86A73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58CE0E-9445-461F-9ECE-DDFCB30DE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5AAB52-45BA-4DA5-8D42-A08F5258C10D}"/>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1282237F-3FF5-4808-8FD5-00EF68EB1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7A63D9-4B9C-4C5F-9F78-072EDC354ED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481301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EFD5A-4224-4D3C-B1F1-B90A847A5C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EB6431-F589-4041-83A9-477647B3D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6F8E7-1AA6-4BD7-A388-9A352EFFA539}"/>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47D54B6F-EDE8-4FBE-9CCD-D1DA25653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4CB8CD-7770-4694-A186-17FB1A0452A4}"/>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460745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048C-8CE6-4F5C-9D54-EEF648B5D0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51A9E7-68D0-4CAE-8EED-7E16296A6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93C60E-E3A3-43C5-9B70-2947682C4F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61302-CA24-440A-B4FF-2A215B8036C7}"/>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6" name="Footer Placeholder 5">
            <a:extLst>
              <a:ext uri="{FF2B5EF4-FFF2-40B4-BE49-F238E27FC236}">
                <a16:creationId xmlns:a16="http://schemas.microsoft.com/office/drawing/2014/main" id="{4C7EEBFF-4BF8-4D9A-877C-4E5B15B3B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C224-531D-4D5F-B138-C8C2DF558B5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977382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275BB-BA8C-4CC9-93B3-4A118DAD38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6F770-99FF-4877-A6E4-801BCDCA79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173736-8DED-4689-9646-4FBAC9D97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48A43-C6BB-4B91-88F4-AA4F08A7F1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14354-CC40-406E-99F5-5BC15D383A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7D4896-9FCB-4EF0-BFDF-E1D1B2FC7BF2}"/>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8" name="Footer Placeholder 7">
            <a:extLst>
              <a:ext uri="{FF2B5EF4-FFF2-40B4-BE49-F238E27FC236}">
                <a16:creationId xmlns:a16="http://schemas.microsoft.com/office/drawing/2014/main" id="{7B12BA49-F00F-4AFE-AB38-3A00DBD124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F7A29B-38B0-4F09-BE1C-9FA194FABC25}"/>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21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EDF8A-24FB-44E0-9F17-99FE29456C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4F6B9C-BC36-4C97-A0C2-298B31B7F242}"/>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4" name="Footer Placeholder 3">
            <a:extLst>
              <a:ext uri="{FF2B5EF4-FFF2-40B4-BE49-F238E27FC236}">
                <a16:creationId xmlns:a16="http://schemas.microsoft.com/office/drawing/2014/main" id="{D275006E-543E-470E-A609-8F2C7C4FA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5B6329-5671-4FC1-9965-4613377B21F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65707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7B9BC-B772-43F8-B4FC-CF88D87B4201}"/>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3" name="Footer Placeholder 2">
            <a:extLst>
              <a:ext uri="{FF2B5EF4-FFF2-40B4-BE49-F238E27FC236}">
                <a16:creationId xmlns:a16="http://schemas.microsoft.com/office/drawing/2014/main" id="{6148AABF-8B66-415F-B026-058588D73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B94FAD-0F36-4D49-8D81-BC7EBBED37D3}"/>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788563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4225D-6212-45BF-9127-F3496C1950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776053-9083-4DB1-AC75-EEAFE66D1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FCAA03-47AC-448C-BD62-44DFDB1CA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7466D0-E4EF-4DF9-8096-64AA0A64889E}"/>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6" name="Footer Placeholder 5">
            <a:extLst>
              <a:ext uri="{FF2B5EF4-FFF2-40B4-BE49-F238E27FC236}">
                <a16:creationId xmlns:a16="http://schemas.microsoft.com/office/drawing/2014/main" id="{9BD45805-0774-4915-B57B-553C8A9B7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4D829-266E-48F1-BED7-DD6BB3E4B33F}"/>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3542342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6985-27E5-4F8C-BF91-22DEDCF51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F96F4-60CE-40AC-AE3F-7773EA4447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A837F7-B670-4DDC-AFE1-EBA1784FB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39E62-6360-48A5-B5FE-258587AB417D}"/>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6" name="Footer Placeholder 5">
            <a:extLst>
              <a:ext uri="{FF2B5EF4-FFF2-40B4-BE49-F238E27FC236}">
                <a16:creationId xmlns:a16="http://schemas.microsoft.com/office/drawing/2014/main" id="{E5728423-8843-4CD6-A271-610D923268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BC43CA-DAE0-4E68-99E5-FF49B44A155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418171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CC0A-32B2-4D6B-A976-152A5A6BB2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C7FAE1-E8C3-4A04-99E1-FC26CF51F3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0D4EBF-9BC0-48F9-BBA1-256AA7B449F0}"/>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409FBAC2-A8AA-4365-8035-E8139DCAB9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A6C765-A941-41A8-ACE1-FC7EEB923CF8}"/>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1759857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BA6490-5CB4-4007-BF9C-C0B9BBFD82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A637B-55D1-4FD6-8826-8107FE6954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3F6E6-4340-45E1-8E17-57FEF9878CE3}"/>
              </a:ext>
            </a:extLst>
          </p:cNvPr>
          <p:cNvSpPr>
            <a:spLocks noGrp="1"/>
          </p:cNvSpPr>
          <p:nvPr>
            <p:ph type="dt" sz="half" idx="10"/>
          </p:nvPr>
        </p:nvSpPr>
        <p:spPr/>
        <p:txBody>
          <a:body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ECF51AFE-9DEF-42C3-B256-8BF6A263A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D9F0-0590-4283-85CE-FDF9A9299B6D}"/>
              </a:ext>
            </a:extLst>
          </p:cNvPr>
          <p:cNvSpPr>
            <a:spLocks noGrp="1"/>
          </p:cNvSpPr>
          <p:nvPr>
            <p:ph type="sldNum" sz="quarter" idx="12"/>
          </p:nvPr>
        </p:nvSpPr>
        <p:spPr/>
        <p:txBody>
          <a:bodyPr/>
          <a:lstStyle/>
          <a:p>
            <a:fld id="{DCAEE272-2248-4504-8802-E524313AA46D}" type="slidenum">
              <a:rPr lang="en-US" smtClean="0"/>
              <a:t>‹#›</a:t>
            </a:fld>
            <a:endParaRPr lang="en-US"/>
          </a:p>
        </p:txBody>
      </p:sp>
    </p:spTree>
    <p:extLst>
      <p:ext uri="{BB962C8B-B14F-4D97-AF65-F5344CB8AC3E}">
        <p14:creationId xmlns:p14="http://schemas.microsoft.com/office/powerpoint/2010/main" val="250808542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8B2958-4B36-4099-B770-95CB160AB6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895D57-598D-40AC-A83B-119200F92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33C1-0465-4F25-B77C-BB92D54D44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84F14A-D76B-40B9-B3E4-3854EC9865A5}" type="datetimeFigureOut">
              <a:rPr lang="en-US" smtClean="0"/>
              <a:t>2/20/2023</a:t>
            </a:fld>
            <a:endParaRPr lang="en-US"/>
          </a:p>
        </p:txBody>
      </p:sp>
      <p:sp>
        <p:nvSpPr>
          <p:cNvPr id="5" name="Footer Placeholder 4">
            <a:extLst>
              <a:ext uri="{FF2B5EF4-FFF2-40B4-BE49-F238E27FC236}">
                <a16:creationId xmlns:a16="http://schemas.microsoft.com/office/drawing/2014/main" id="{BB0183EC-0D02-4E7B-AF4B-BCEBEC804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85E90E-61B1-441D-88BB-8B212DF7DC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AEE272-2248-4504-8802-E524313AA46D}" type="slidenum">
              <a:rPr lang="en-US" smtClean="0"/>
              <a:t>‹#›</a:t>
            </a:fld>
            <a:endParaRPr lang="en-US"/>
          </a:p>
        </p:txBody>
      </p:sp>
    </p:spTree>
    <p:extLst>
      <p:ext uri="{BB962C8B-B14F-4D97-AF65-F5344CB8AC3E}">
        <p14:creationId xmlns:p14="http://schemas.microsoft.com/office/powerpoint/2010/main" val="1161362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slide2.xml"/><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 Target="slide4.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2.xml"/><Relationship Id="rId1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tiff"/><Relationship Id="rId4" Type="http://schemas.openxmlformats.org/officeDocument/2006/relationships/image" Target="../media/image5.tiff"/><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0.png"/><Relationship Id="rId7" Type="http://schemas.microsoft.com/office/2007/relationships/hdphoto" Target="../media/hdphoto2.wdp"/><Relationship Id="rId8" Type="http://schemas.openxmlformats.org/officeDocument/2006/relationships/image" Target="../media/image1.png"/><Relationship Id="rId9" Type="http://schemas.openxmlformats.org/officeDocument/2006/relationships/image" Target="../media/image2.svg"/><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7.xml"/><Relationship Id="rId14" Type="http://schemas.openxmlformats.org/officeDocument/2006/relationships/slide" Target="slide8.xml"/><Relationship Id="rId15" Type="http://schemas.openxmlformats.org/officeDocument/2006/relationships/slide" Target="slide9.xml"/><Relationship Id="rId16"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4.xml"/><Relationship Id="rId7" Type="http://schemas.openxmlformats.org/officeDocument/2006/relationships/slide" Target="slide3.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slide" Target="slide4.xml"/><Relationship Id="rId7" Type="http://schemas.openxmlformats.org/officeDocument/2006/relationships/slide" Target="slide3.xml"/><Relationship Id="rId8" Type="http://schemas.openxmlformats.org/officeDocument/2006/relationships/slide" Target="slide5.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png"/><Relationship Id="rId7" Type="http://schemas.openxmlformats.org/officeDocument/2006/relationships/image" Target="../media/image2.svg"/><Relationship Id="rId8" Type="http://schemas.openxmlformats.org/officeDocument/2006/relationships/slide" Target="slide2.xml"/><Relationship Id="rId9" Type="http://schemas.openxmlformats.org/officeDocument/2006/relationships/slide" Target="slide4.xml"/><Relationship Id="rId10" Type="http://schemas.openxmlformats.org/officeDocument/2006/relationships/slide" Target="slide3.xml"/><Relationship Id="rId11" Type="http://schemas.openxmlformats.org/officeDocument/2006/relationships/slide" Target="slide5.xml"/><Relationship Id="rId12" Type="http://schemas.openxmlformats.org/officeDocument/2006/relationships/slide" Target="slide6.xml"/><Relationship Id="rId13" Type="http://schemas.openxmlformats.org/officeDocument/2006/relationships/slide" Target="slide7.xml"/><Relationship Id="rId14" Type="http://schemas.openxmlformats.org/officeDocument/2006/relationships/slide" Target="slide8.xml"/><Relationship Id="rId15" Type="http://schemas.openxmlformats.org/officeDocument/2006/relationships/slide" Target="slide9.xml"/><Relationship Id="rId1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slide" Target="slide2.xml"/><Relationship Id="rId8" Type="http://schemas.openxmlformats.org/officeDocument/2006/relationships/slide" Target="slide4.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13.png"/><Relationship Id="rId6" Type="http://schemas.microsoft.com/office/2007/relationships/hdphoto" Target="../media/hdphoto3.wdp"/><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slide" Target="slide2.xml"/><Relationship Id="rId10" Type="http://schemas.openxmlformats.org/officeDocument/2006/relationships/slide" Target="slide4.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4.xml"/><Relationship Id="rId11" Type="http://schemas.openxmlformats.org/officeDocument/2006/relationships/slide" Target="slide11.xml"/><Relationship Id="rId12"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1.png"/><Relationship Id="rId8" Type="http://schemas.openxmlformats.org/officeDocument/2006/relationships/image" Target="../media/image2.svg"/><Relationship Id="rId9" Type="http://schemas.openxmlformats.org/officeDocument/2006/relationships/slide" Target="slide2.xml"/><Relationship Id="rId10" Type="http://schemas.openxmlformats.org/officeDocument/2006/relationships/slide" Target="slide7.xml"/><Relationship Id="rId11" Type="http://schemas.openxmlformats.org/officeDocument/2006/relationships/slide" Target="slide8.xml"/><Relationship Id="rId12" Type="http://schemas.openxmlformats.org/officeDocument/2006/relationships/slide" Target="slide9.xml"/><Relationship Id="rId13" Type="http://schemas.openxmlformats.org/officeDocument/2006/relationships/slide" Target="slide4.xml"/><Relationship Id="rId14" Type="http://schemas.openxmlformats.org/officeDocument/2006/relationships/slide" Target="slide10.xml"/><Relationship Id="rId15" Type="http://schemas.openxmlformats.org/officeDocument/2006/relationships/slide" Target="slide11.xml"/><Relationship Id="rId1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0.png"/><Relationship Id="rId5" Type="http://schemas.microsoft.com/office/2007/relationships/hdphoto" Target="../media/hdphoto4.wdp"/><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png"/><Relationship Id="rId9" Type="http://schemas.openxmlformats.org/officeDocument/2006/relationships/image" Target="../media/image2.svg"/><Relationship Id="rId10" Type="http://schemas.openxmlformats.org/officeDocument/2006/relationships/slide" Target="slide2.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9.xml"/><Relationship Id="rId14" Type="http://schemas.openxmlformats.org/officeDocument/2006/relationships/slide" Target="slide12.xml"/><Relationship Id="rId15" Type="http://schemas.openxmlformats.org/officeDocument/2006/relationships/slide" Target="slide10.xml"/><Relationship Id="rId16" Type="http://schemas.openxmlformats.org/officeDocument/2006/relationships/slide" Target="slide4.xml"/><Relationship Id="rId17"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4.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2.xml"/><Relationship Id="rId11" Type="http://schemas.openxmlformats.org/officeDocument/2006/relationships/slide" Target="slide10.xml"/><Relationship Id="rId12"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slide" Target="slide2.xml"/><Relationship Id="rId6" Type="http://schemas.openxmlformats.org/officeDocument/2006/relationships/slide" Target="slide4.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9.xml"/><Relationship Id="rId10" Type="http://schemas.openxmlformats.org/officeDocument/2006/relationships/slide" Target="slide12.xml"/><Relationship Id="rId11"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 1">
            <a:hlinkClick r:id="rId3" action="ppaction://hlinksldjump"/>
            <a:extLst>
              <a:ext uri="{FF2B5EF4-FFF2-40B4-BE49-F238E27FC236}">
                <a16:creationId xmlns:a16="http://schemas.microsoft.com/office/drawing/2014/main" id="{6E40EF01-40C8-4BBA-9302-094310544EE5}"/>
              </a:ext>
            </a:extLst>
          </p:cNvPr>
          <p:cNvSpPr/>
          <p:nvPr/>
        </p:nvSpPr>
        <p:spPr>
          <a:xfrm>
            <a:off x="183491" y="216531"/>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Pathogenesis</a:t>
            </a:r>
          </a:p>
        </p:txBody>
      </p:sp>
      <p:pic>
        <p:nvPicPr>
          <p:cNvPr id="6" name="Graphic 5" descr="Cursor with solid fill">
            <a:extLst>
              <a:ext uri="{FF2B5EF4-FFF2-40B4-BE49-F238E27FC236}">
                <a16:creationId xmlns:a16="http://schemas.microsoft.com/office/drawing/2014/main" id="{A70CEF10-430A-40AB-9918-5B1C8464891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489473"/>
            <a:ext cx="301752" cy="301752"/>
          </a:xfrm>
          <a:prstGeom prst="rect">
            <a:avLst/>
          </a:prstGeom>
        </p:spPr>
      </p:pic>
      <p:sp>
        <p:nvSpPr>
          <p:cNvPr id="12" name="TextBox 11">
            <a:extLst>
              <a:ext uri="{FF2B5EF4-FFF2-40B4-BE49-F238E27FC236}">
                <a16:creationId xmlns:a16="http://schemas.microsoft.com/office/drawing/2014/main" id="{EAFB72A1-C019-4ADE-A4C3-117AF97FE617}"/>
              </a:ext>
            </a:extLst>
          </p:cNvPr>
          <p:cNvSpPr txBox="1"/>
          <p:nvPr/>
        </p:nvSpPr>
        <p:spPr>
          <a:xfrm>
            <a:off x="3606043" y="195060"/>
            <a:ext cx="6009817" cy="830997"/>
          </a:xfrm>
          <a:prstGeom prst="rect">
            <a:avLst/>
          </a:prstGeom>
          <a:noFill/>
        </p:spPr>
        <p:txBody>
          <a:bodyPr wrap="square" rtlCol="0">
            <a:spAutoFit/>
          </a:bodyPr>
          <a:lstStyle/>
          <a:p>
            <a:pPr algn="ctr"/>
            <a:r>
              <a:rPr lang="en-US" sz="4800" b="1" dirty="0"/>
              <a:t>Plasma Cell Dyscrasias</a:t>
            </a:r>
          </a:p>
        </p:txBody>
      </p:sp>
      <p:sp>
        <p:nvSpPr>
          <p:cNvPr id="14" name="Obj 1">
            <a:hlinkClick r:id="rId6" action="ppaction://hlinksldjump"/>
            <a:extLst>
              <a:ext uri="{FF2B5EF4-FFF2-40B4-BE49-F238E27FC236}">
                <a16:creationId xmlns:a16="http://schemas.microsoft.com/office/drawing/2014/main" id="{4524BDF7-8324-5348-B62E-4D50D2E664A3}"/>
              </a:ext>
            </a:extLst>
          </p:cNvPr>
          <p:cNvSpPr/>
          <p:nvPr/>
        </p:nvSpPr>
        <p:spPr>
          <a:xfrm>
            <a:off x="183491" y="82031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6" name="Graphic 15" descr="Cursor with solid fill">
            <a:extLst>
              <a:ext uri="{FF2B5EF4-FFF2-40B4-BE49-F238E27FC236}">
                <a16:creationId xmlns:a16="http://schemas.microsoft.com/office/drawing/2014/main" id="{7D259E46-8F82-4A4C-8D70-9EA8A188826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1094197"/>
            <a:ext cx="301752" cy="301752"/>
          </a:xfrm>
          <a:prstGeom prst="rect">
            <a:avLst/>
          </a:prstGeom>
        </p:spPr>
      </p:pic>
      <p:sp>
        <p:nvSpPr>
          <p:cNvPr id="18" name="Obj 1">
            <a:hlinkClick r:id="rId7" action="ppaction://hlinksldjump"/>
            <a:extLst>
              <a:ext uri="{FF2B5EF4-FFF2-40B4-BE49-F238E27FC236}">
                <a16:creationId xmlns:a16="http://schemas.microsoft.com/office/drawing/2014/main" id="{91B8070F-6F91-5847-A622-512512DFF77B}"/>
              </a:ext>
            </a:extLst>
          </p:cNvPr>
          <p:cNvSpPr/>
          <p:nvPr/>
        </p:nvSpPr>
        <p:spPr>
          <a:xfrm>
            <a:off x="183491" y="142410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9" name="Graphic 18" descr="Cursor with solid fill">
            <a:extLst>
              <a:ext uri="{FF2B5EF4-FFF2-40B4-BE49-F238E27FC236}">
                <a16:creationId xmlns:a16="http://schemas.microsoft.com/office/drawing/2014/main" id="{AC66399A-94BB-244E-93B5-E81DF988C4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1698921"/>
            <a:ext cx="301752" cy="301752"/>
          </a:xfrm>
          <a:prstGeom prst="rect">
            <a:avLst/>
          </a:prstGeom>
        </p:spPr>
      </p:pic>
      <p:sp>
        <p:nvSpPr>
          <p:cNvPr id="20" name="Obj 1">
            <a:hlinkClick r:id="rId8" action="ppaction://hlinksldjump"/>
            <a:extLst>
              <a:ext uri="{FF2B5EF4-FFF2-40B4-BE49-F238E27FC236}">
                <a16:creationId xmlns:a16="http://schemas.microsoft.com/office/drawing/2014/main" id="{E59FFF7A-E2AC-294E-8F66-5F848FC794EB}"/>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1" name="Graphic 20" descr="Cursor with solid fill">
            <a:extLst>
              <a:ext uri="{FF2B5EF4-FFF2-40B4-BE49-F238E27FC236}">
                <a16:creationId xmlns:a16="http://schemas.microsoft.com/office/drawing/2014/main" id="{B2EAB26F-2821-BF44-B3DF-68C30684265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2303645"/>
            <a:ext cx="301752" cy="301752"/>
          </a:xfrm>
          <a:prstGeom prst="rect">
            <a:avLst/>
          </a:prstGeom>
        </p:spPr>
      </p:pic>
      <p:sp>
        <p:nvSpPr>
          <p:cNvPr id="22" name="Obj 1">
            <a:hlinkClick r:id="rId9" action="ppaction://hlinksldjump"/>
            <a:extLst>
              <a:ext uri="{FF2B5EF4-FFF2-40B4-BE49-F238E27FC236}">
                <a16:creationId xmlns:a16="http://schemas.microsoft.com/office/drawing/2014/main" id="{BD408B94-17FB-1044-9BAB-F65EF092FF57}"/>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23" name="Graphic 22" descr="Cursor with solid fill">
            <a:extLst>
              <a:ext uri="{FF2B5EF4-FFF2-40B4-BE49-F238E27FC236}">
                <a16:creationId xmlns:a16="http://schemas.microsoft.com/office/drawing/2014/main" id="{305B961B-9ADA-8F47-BEE1-25FE4BA13D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2908369"/>
            <a:ext cx="301752" cy="301752"/>
          </a:xfrm>
          <a:prstGeom prst="rect">
            <a:avLst/>
          </a:prstGeom>
        </p:spPr>
      </p:pic>
      <p:sp>
        <p:nvSpPr>
          <p:cNvPr id="24" name="Obj 1">
            <a:hlinkClick r:id="rId10" action="ppaction://hlinksldjump"/>
            <a:extLst>
              <a:ext uri="{FF2B5EF4-FFF2-40B4-BE49-F238E27FC236}">
                <a16:creationId xmlns:a16="http://schemas.microsoft.com/office/drawing/2014/main" id="{BB283409-30D4-3245-A815-7DF86D71108E}"/>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25" name="Graphic 24" descr="Cursor with solid fill">
            <a:extLst>
              <a:ext uri="{FF2B5EF4-FFF2-40B4-BE49-F238E27FC236}">
                <a16:creationId xmlns:a16="http://schemas.microsoft.com/office/drawing/2014/main" id="{E2276776-0DF2-2949-AEC7-D3143E864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5621" y="3513094"/>
            <a:ext cx="301752" cy="301752"/>
          </a:xfrm>
          <a:prstGeom prst="rect">
            <a:avLst/>
          </a:prstGeom>
        </p:spPr>
      </p:pic>
      <p:pic>
        <p:nvPicPr>
          <p:cNvPr id="5" name="Picture 4">
            <a:extLst>
              <a:ext uri="{FF2B5EF4-FFF2-40B4-BE49-F238E27FC236}">
                <a16:creationId xmlns:a16="http://schemas.microsoft.com/office/drawing/2014/main" id="{F2B7AE36-0C19-7241-965D-657B545B424C}"/>
              </a:ext>
            </a:extLst>
          </p:cNvPr>
          <p:cNvPicPr>
            <a:picLocks noChangeAspect="1"/>
          </p:cNvPicPr>
          <p:nvPr/>
        </p:nvPicPr>
        <p:blipFill>
          <a:blip r:embed="rId11"/>
          <a:stretch>
            <a:fillRect/>
          </a:stretch>
        </p:blipFill>
        <p:spPr>
          <a:xfrm>
            <a:off x="2990055" y="864666"/>
            <a:ext cx="7707313" cy="5591089"/>
          </a:xfrm>
          <a:prstGeom prst="rect">
            <a:avLst/>
          </a:prstGeom>
        </p:spPr>
      </p:pic>
    </p:spTree>
    <p:extLst>
      <p:ext uri="{BB962C8B-B14F-4D97-AF65-F5344CB8AC3E}">
        <p14:creationId xmlns:p14="http://schemas.microsoft.com/office/powerpoint/2010/main" val="40113429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AFB72A1-C019-4ADE-A4C3-117AF97FE617}"/>
              </a:ext>
            </a:extLst>
          </p:cNvPr>
          <p:cNvSpPr txBox="1"/>
          <p:nvPr/>
        </p:nvSpPr>
        <p:spPr>
          <a:xfrm>
            <a:off x="3557916" y="77401"/>
            <a:ext cx="6009817" cy="523220"/>
          </a:xfrm>
          <a:prstGeom prst="rect">
            <a:avLst/>
          </a:prstGeom>
          <a:noFill/>
        </p:spPr>
        <p:txBody>
          <a:bodyPr wrap="square" rtlCol="0">
            <a:spAutoFit/>
          </a:bodyPr>
          <a:lstStyle/>
          <a:p>
            <a:pPr algn="ctr"/>
            <a:r>
              <a:rPr lang="en-US" sz="2800" b="1" dirty="0"/>
              <a:t>Pathogenesis - Basics</a:t>
            </a:r>
          </a:p>
        </p:txBody>
      </p:sp>
      <p:pic>
        <p:nvPicPr>
          <p:cNvPr id="17" name="Picture 16">
            <a:extLst>
              <a:ext uri="{FF2B5EF4-FFF2-40B4-BE49-F238E27FC236}">
                <a16:creationId xmlns:a16="http://schemas.microsoft.com/office/drawing/2014/main" id="{ACEB6BB2-C78E-0D4C-8254-6F5867035BB1}"/>
              </a:ext>
            </a:extLst>
          </p:cNvPr>
          <p:cNvPicPr>
            <a:picLocks noChangeAspect="1"/>
          </p:cNvPicPr>
          <p:nvPr/>
        </p:nvPicPr>
        <p:blipFill rotWithShape="1">
          <a:blip r:embed="rId3"/>
          <a:srcRect l="12073" t="8607" r="9131" b="10628"/>
          <a:stretch/>
        </p:blipFill>
        <p:spPr>
          <a:xfrm>
            <a:off x="2480324" y="794547"/>
            <a:ext cx="3205129" cy="5325251"/>
          </a:xfrm>
          <a:prstGeom prst="rect">
            <a:avLst/>
          </a:prstGeom>
        </p:spPr>
      </p:pic>
      <p:pic>
        <p:nvPicPr>
          <p:cNvPr id="26" name="Picture 25">
            <a:extLst>
              <a:ext uri="{FF2B5EF4-FFF2-40B4-BE49-F238E27FC236}">
                <a16:creationId xmlns:a16="http://schemas.microsoft.com/office/drawing/2014/main" id="{95E269EB-4C3C-0844-9F96-B355D7611BEA}"/>
              </a:ext>
            </a:extLst>
          </p:cNvPr>
          <p:cNvPicPr>
            <a:picLocks noChangeAspect="1"/>
          </p:cNvPicPr>
          <p:nvPr/>
        </p:nvPicPr>
        <p:blipFill>
          <a:blip r:embed="rId4"/>
          <a:stretch>
            <a:fillRect/>
          </a:stretch>
        </p:blipFill>
        <p:spPr>
          <a:xfrm>
            <a:off x="6693212" y="930467"/>
            <a:ext cx="2874521" cy="2407017"/>
          </a:xfrm>
          <a:prstGeom prst="rect">
            <a:avLst/>
          </a:prstGeom>
        </p:spPr>
      </p:pic>
      <p:pic>
        <p:nvPicPr>
          <p:cNvPr id="2" name="Picture 1">
            <a:extLst>
              <a:ext uri="{FF2B5EF4-FFF2-40B4-BE49-F238E27FC236}">
                <a16:creationId xmlns:a16="http://schemas.microsoft.com/office/drawing/2014/main" id="{E1A50B0A-3AED-2642-B77E-E5DA661E0356}"/>
              </a:ext>
            </a:extLst>
          </p:cNvPr>
          <p:cNvPicPr>
            <a:picLocks noChangeAspect="1"/>
          </p:cNvPicPr>
          <p:nvPr/>
        </p:nvPicPr>
        <p:blipFill rotWithShape="1">
          <a:blip r:embed="rId5"/>
          <a:srcRect l="8543" t="19742" r="9496" b="9951"/>
          <a:stretch/>
        </p:blipFill>
        <p:spPr>
          <a:xfrm>
            <a:off x="9187737" y="506864"/>
            <a:ext cx="2911911" cy="2133073"/>
          </a:xfrm>
          <a:prstGeom prst="rect">
            <a:avLst/>
          </a:prstGeom>
        </p:spPr>
      </p:pic>
      <p:grpSp>
        <p:nvGrpSpPr>
          <p:cNvPr id="51" name="Group 50">
            <a:extLst>
              <a:ext uri="{FF2B5EF4-FFF2-40B4-BE49-F238E27FC236}">
                <a16:creationId xmlns:a16="http://schemas.microsoft.com/office/drawing/2014/main" id="{569278A0-BF2F-6048-AE9B-644DA7DEE6E6}"/>
              </a:ext>
            </a:extLst>
          </p:cNvPr>
          <p:cNvGrpSpPr/>
          <p:nvPr/>
        </p:nvGrpSpPr>
        <p:grpSpPr>
          <a:xfrm>
            <a:off x="6855473" y="3887039"/>
            <a:ext cx="4029100" cy="2583003"/>
            <a:chOff x="6495093" y="4167657"/>
            <a:chExt cx="4029100" cy="2583003"/>
          </a:xfrm>
        </p:grpSpPr>
        <p:pic>
          <p:nvPicPr>
            <p:cNvPr id="5" name="Picture 4">
              <a:extLst>
                <a:ext uri="{FF2B5EF4-FFF2-40B4-BE49-F238E27FC236}">
                  <a16:creationId xmlns:a16="http://schemas.microsoft.com/office/drawing/2014/main" id="{01D8FF8A-5602-AD44-AC42-FE8D63D28DF7}"/>
                </a:ext>
              </a:extLst>
            </p:cNvPr>
            <p:cNvPicPr>
              <a:picLocks noChangeAspect="1"/>
            </p:cNvPicPr>
            <p:nvPr/>
          </p:nvPicPr>
          <p:blipFill>
            <a:blip r:embed="rId6"/>
            <a:stretch>
              <a:fillRect/>
            </a:stretch>
          </p:blipFill>
          <p:spPr>
            <a:xfrm>
              <a:off x="6495093" y="4167657"/>
              <a:ext cx="2692644" cy="2583003"/>
            </a:xfrm>
            <a:prstGeom prst="rect">
              <a:avLst/>
            </a:prstGeom>
          </p:spPr>
        </p:pic>
        <p:sp>
          <p:nvSpPr>
            <p:cNvPr id="9" name="TextBox 8">
              <a:extLst>
                <a:ext uri="{FF2B5EF4-FFF2-40B4-BE49-F238E27FC236}">
                  <a16:creationId xmlns:a16="http://schemas.microsoft.com/office/drawing/2014/main" id="{9190CC1C-C7C9-FB46-B2B2-2F52F5AB483D}"/>
                </a:ext>
              </a:extLst>
            </p:cNvPr>
            <p:cNvSpPr txBox="1"/>
            <p:nvPr/>
          </p:nvSpPr>
          <p:spPr>
            <a:xfrm>
              <a:off x="8653034" y="5873934"/>
              <a:ext cx="1470724" cy="400110"/>
            </a:xfrm>
            <a:prstGeom prst="rect">
              <a:avLst/>
            </a:prstGeom>
            <a:noFill/>
          </p:spPr>
          <p:txBody>
            <a:bodyPr wrap="none" rtlCol="0">
              <a:spAutoFit/>
            </a:bodyPr>
            <a:lstStyle/>
            <a:p>
              <a:r>
                <a:rPr lang="en-US" sz="2000" dirty="0"/>
                <a:t>Heavy Chain</a:t>
              </a:r>
            </a:p>
          </p:txBody>
        </p:sp>
        <p:sp>
          <p:nvSpPr>
            <p:cNvPr id="10" name="TextBox 9">
              <a:extLst>
                <a:ext uri="{FF2B5EF4-FFF2-40B4-BE49-F238E27FC236}">
                  <a16:creationId xmlns:a16="http://schemas.microsoft.com/office/drawing/2014/main" id="{8D1374D8-6366-5446-B69C-461BE5620023}"/>
                </a:ext>
              </a:extLst>
            </p:cNvPr>
            <p:cNvSpPr txBox="1"/>
            <p:nvPr/>
          </p:nvSpPr>
          <p:spPr>
            <a:xfrm>
              <a:off x="9187737" y="5008177"/>
              <a:ext cx="1336456" cy="400110"/>
            </a:xfrm>
            <a:prstGeom prst="rect">
              <a:avLst/>
            </a:prstGeom>
            <a:noFill/>
          </p:spPr>
          <p:txBody>
            <a:bodyPr wrap="none" rtlCol="0">
              <a:spAutoFit/>
            </a:bodyPr>
            <a:lstStyle/>
            <a:p>
              <a:r>
                <a:rPr lang="en-US" sz="2000" dirty="0"/>
                <a:t>Light Chain</a:t>
              </a:r>
            </a:p>
          </p:txBody>
        </p:sp>
        <p:cxnSp>
          <p:nvCxnSpPr>
            <p:cNvPr id="28" name="Straight Connector 27">
              <a:extLst>
                <a:ext uri="{FF2B5EF4-FFF2-40B4-BE49-F238E27FC236}">
                  <a16:creationId xmlns:a16="http://schemas.microsoft.com/office/drawing/2014/main" id="{B95F58FA-7AC9-9540-B3BD-4889ABE3A13A}"/>
                </a:ext>
              </a:extLst>
            </p:cNvPr>
            <p:cNvCxnSpPr>
              <a:cxnSpLocks/>
            </p:cNvCxnSpPr>
            <p:nvPr/>
          </p:nvCxnSpPr>
          <p:spPr>
            <a:xfrm>
              <a:off x="8653034" y="5239205"/>
              <a:ext cx="534703" cy="0"/>
            </a:xfrm>
            <a:prstGeom prst="line">
              <a:avLst/>
            </a:prstGeom>
            <a:ln w="76200">
              <a:solidFill>
                <a:srgbClr val="CF21B1"/>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7CE651B-D515-2643-80B4-688C7BB921F4}"/>
                </a:ext>
              </a:extLst>
            </p:cNvPr>
            <p:cNvCxnSpPr>
              <a:cxnSpLocks/>
            </p:cNvCxnSpPr>
            <p:nvPr/>
          </p:nvCxnSpPr>
          <p:spPr>
            <a:xfrm>
              <a:off x="8118331" y="6058600"/>
              <a:ext cx="534703" cy="0"/>
            </a:xfrm>
            <a:prstGeom prst="line">
              <a:avLst/>
            </a:prstGeom>
            <a:ln w="76200">
              <a:solidFill>
                <a:srgbClr val="7030A0"/>
              </a:solidFill>
              <a:prstDash val="sysDot"/>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84571B36-B5B1-BA41-8293-F8D19B6776A0}"/>
              </a:ext>
            </a:extLst>
          </p:cNvPr>
          <p:cNvCxnSpPr>
            <a:cxnSpLocks/>
          </p:cNvCxnSpPr>
          <p:nvPr/>
        </p:nvCxnSpPr>
        <p:spPr>
          <a:xfrm flipH="1" flipV="1">
            <a:off x="4015314" y="0"/>
            <a:ext cx="3017960" cy="33920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C72B223-0FAB-8D47-85C4-D28FD5DEB131}"/>
              </a:ext>
            </a:extLst>
          </p:cNvPr>
          <p:cNvCxnSpPr>
            <a:cxnSpLocks/>
          </p:cNvCxnSpPr>
          <p:nvPr/>
        </p:nvCxnSpPr>
        <p:spPr>
          <a:xfrm flipV="1">
            <a:off x="4331644" y="3392051"/>
            <a:ext cx="2701630" cy="346594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0BF141D-F5E3-244A-B9C1-2290945BF466}"/>
              </a:ext>
            </a:extLst>
          </p:cNvPr>
          <p:cNvCxnSpPr>
            <a:cxnSpLocks/>
          </p:cNvCxnSpPr>
          <p:nvPr/>
        </p:nvCxnSpPr>
        <p:spPr>
          <a:xfrm flipH="1" flipV="1">
            <a:off x="7033275" y="3382157"/>
            <a:ext cx="5158725" cy="989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5FCABC8E-72CE-AE44-845A-5474C7EE2021}"/>
              </a:ext>
            </a:extLst>
          </p:cNvPr>
          <p:cNvSpPr txBox="1"/>
          <p:nvPr/>
        </p:nvSpPr>
        <p:spPr>
          <a:xfrm>
            <a:off x="9416336" y="5003883"/>
            <a:ext cx="2719847" cy="369332"/>
          </a:xfrm>
          <a:prstGeom prst="rect">
            <a:avLst/>
          </a:prstGeom>
          <a:noFill/>
        </p:spPr>
        <p:txBody>
          <a:bodyPr wrap="none" rtlCol="0">
            <a:spAutoFit/>
          </a:bodyPr>
          <a:lstStyle/>
          <a:p>
            <a:r>
              <a:rPr lang="en-US" dirty="0"/>
              <a:t>(kappa or lambda in origin)</a:t>
            </a:r>
          </a:p>
        </p:txBody>
      </p:sp>
      <p:sp>
        <p:nvSpPr>
          <p:cNvPr id="62" name="Plasma cell lineage">
            <a:extLst>
              <a:ext uri="{FF2B5EF4-FFF2-40B4-BE49-F238E27FC236}">
                <a16:creationId xmlns:a16="http://schemas.microsoft.com/office/drawing/2014/main" id="{1EAEF3C1-A99E-4858-BA71-36CAA2289B1C}"/>
              </a:ext>
            </a:extLst>
          </p:cNvPr>
          <p:cNvSpPr/>
          <p:nvPr/>
        </p:nvSpPr>
        <p:spPr>
          <a:xfrm>
            <a:off x="3074956" y="2625536"/>
            <a:ext cx="1949607" cy="71370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Lymphoid lineage</a:t>
            </a:r>
          </a:p>
        </p:txBody>
      </p:sp>
      <p:pic>
        <p:nvPicPr>
          <p:cNvPr id="63" name="Graphic 62" descr="Cursor with solid fill">
            <a:extLst>
              <a:ext uri="{FF2B5EF4-FFF2-40B4-BE49-F238E27FC236}">
                <a16:creationId xmlns:a16="http://schemas.microsoft.com/office/drawing/2014/main" id="{1CB04E0D-D198-423F-B04C-83243A7302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73687" y="3182722"/>
            <a:ext cx="301752" cy="301752"/>
          </a:xfrm>
          <a:prstGeom prst="rect">
            <a:avLst/>
          </a:prstGeom>
        </p:spPr>
      </p:pic>
      <p:sp>
        <p:nvSpPr>
          <p:cNvPr id="64" name="Plasma cell function">
            <a:extLst>
              <a:ext uri="{FF2B5EF4-FFF2-40B4-BE49-F238E27FC236}">
                <a16:creationId xmlns:a16="http://schemas.microsoft.com/office/drawing/2014/main" id="{96EA621E-3822-4F50-B3E4-A541BD855DE7}"/>
              </a:ext>
            </a:extLst>
          </p:cNvPr>
          <p:cNvSpPr/>
          <p:nvPr/>
        </p:nvSpPr>
        <p:spPr>
          <a:xfrm>
            <a:off x="8212933" y="1520258"/>
            <a:ext cx="1949607" cy="71370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Plasma cell function</a:t>
            </a:r>
          </a:p>
        </p:txBody>
      </p:sp>
      <p:pic>
        <p:nvPicPr>
          <p:cNvPr id="65" name="Graphic 64" descr="Cursor with solid fill">
            <a:extLst>
              <a:ext uri="{FF2B5EF4-FFF2-40B4-BE49-F238E27FC236}">
                <a16:creationId xmlns:a16="http://schemas.microsoft.com/office/drawing/2014/main" id="{635412C7-FD9A-439B-B415-8132AD51A3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24727" y="2077444"/>
            <a:ext cx="301752" cy="301752"/>
          </a:xfrm>
          <a:prstGeom prst="rect">
            <a:avLst/>
          </a:prstGeom>
        </p:spPr>
      </p:pic>
      <p:sp>
        <p:nvSpPr>
          <p:cNvPr id="66" name="Immnoglobulin structure">
            <a:extLst>
              <a:ext uri="{FF2B5EF4-FFF2-40B4-BE49-F238E27FC236}">
                <a16:creationId xmlns:a16="http://schemas.microsoft.com/office/drawing/2014/main" id="{02BAC73D-FFBA-4740-8978-473F6ED347AE}"/>
              </a:ext>
            </a:extLst>
          </p:cNvPr>
          <p:cNvSpPr/>
          <p:nvPr/>
        </p:nvSpPr>
        <p:spPr>
          <a:xfrm>
            <a:off x="7734301" y="4650194"/>
            <a:ext cx="2271444" cy="71370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Immunoglobulin structure</a:t>
            </a:r>
          </a:p>
        </p:txBody>
      </p:sp>
      <p:pic>
        <p:nvPicPr>
          <p:cNvPr id="67" name="Graphic 66" descr="Cursor with solid fill">
            <a:extLst>
              <a:ext uri="{FF2B5EF4-FFF2-40B4-BE49-F238E27FC236}">
                <a16:creationId xmlns:a16="http://schemas.microsoft.com/office/drawing/2014/main" id="{FAE02309-A82F-4F4A-9527-A99DF432C21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54868" y="5207380"/>
            <a:ext cx="301752" cy="301752"/>
          </a:xfrm>
          <a:prstGeom prst="rect">
            <a:avLst/>
          </a:prstGeom>
        </p:spPr>
      </p:pic>
      <p:cxnSp>
        <p:nvCxnSpPr>
          <p:cNvPr id="70" name="Connector: Elbow 12">
            <a:extLst>
              <a:ext uri="{FF2B5EF4-FFF2-40B4-BE49-F238E27FC236}">
                <a16:creationId xmlns:a16="http://schemas.microsoft.com/office/drawing/2014/main" id="{B79167CF-521B-447C-931D-C09CBC797F77}"/>
              </a:ext>
            </a:extLst>
          </p:cNvPr>
          <p:cNvCxnSpPr>
            <a:cxnSpLocks/>
            <a:endCxn id="6" idx="1"/>
          </p:cNvCxnSpPr>
          <p:nvPr/>
        </p:nvCxnSpPr>
        <p:spPr>
          <a:xfrm rot="16200000" flipH="1">
            <a:off x="216420" y="704434"/>
            <a:ext cx="373644" cy="26960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71" name="Connector: Elbow 30">
            <a:extLst>
              <a:ext uri="{FF2B5EF4-FFF2-40B4-BE49-F238E27FC236}">
                <a16:creationId xmlns:a16="http://schemas.microsoft.com/office/drawing/2014/main" id="{4B55DCF5-AA85-4C71-B6EB-9724C97BB21C}"/>
              </a:ext>
            </a:extLst>
          </p:cNvPr>
          <p:cNvCxnSpPr>
            <a:cxnSpLocks/>
            <a:endCxn id="8" idx="1"/>
          </p:cNvCxnSpPr>
          <p:nvPr/>
        </p:nvCxnSpPr>
        <p:spPr>
          <a:xfrm rot="16200000" flipH="1">
            <a:off x="-102805" y="988995"/>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 name="Obj 1">
            <a:hlinkClick r:id="rId9" action="ppaction://hlinksldjump"/>
            <a:extLst>
              <a:ext uri="{FF2B5EF4-FFF2-40B4-BE49-F238E27FC236}">
                <a16:creationId xmlns:a16="http://schemas.microsoft.com/office/drawing/2014/main" id="{D4613966-D87D-3CEE-9EA9-5BE7D986E45A}"/>
              </a:ext>
            </a:extLst>
          </p:cNvPr>
          <p:cNvSpPr/>
          <p:nvPr/>
        </p:nvSpPr>
        <p:spPr>
          <a:xfrm>
            <a:off x="183491" y="216531"/>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Pathogenesis</a:t>
            </a:r>
          </a:p>
        </p:txBody>
      </p:sp>
      <p:sp>
        <p:nvSpPr>
          <p:cNvPr id="6" name="Obj 1">
            <a:hlinkClick r:id="rId9" action="ppaction://hlinksldjump"/>
            <a:extLst>
              <a:ext uri="{FF2B5EF4-FFF2-40B4-BE49-F238E27FC236}">
                <a16:creationId xmlns:a16="http://schemas.microsoft.com/office/drawing/2014/main" id="{3ABC4BB8-0206-E0BA-EFBA-B39C2A50645E}"/>
              </a:ext>
            </a:extLst>
          </p:cNvPr>
          <p:cNvSpPr/>
          <p:nvPr/>
        </p:nvSpPr>
        <p:spPr>
          <a:xfrm>
            <a:off x="538043" y="820317"/>
            <a:ext cx="1199928"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Basics</a:t>
            </a:r>
          </a:p>
        </p:txBody>
      </p:sp>
      <p:sp>
        <p:nvSpPr>
          <p:cNvPr id="8" name="Obj 1">
            <a:hlinkClick r:id="rId10" action="ppaction://hlinksldjump"/>
            <a:extLst>
              <a:ext uri="{FF2B5EF4-FFF2-40B4-BE49-F238E27FC236}">
                <a16:creationId xmlns:a16="http://schemas.microsoft.com/office/drawing/2014/main" id="{441B79A9-D17C-6993-EDD0-D7560C1A9C64}"/>
              </a:ext>
            </a:extLst>
          </p:cNvPr>
          <p:cNvSpPr/>
          <p:nvPr/>
        </p:nvSpPr>
        <p:spPr>
          <a:xfrm>
            <a:off x="538043" y="1424103"/>
            <a:ext cx="1199928"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Pathology</a:t>
            </a:r>
          </a:p>
        </p:txBody>
      </p:sp>
      <p:pic>
        <p:nvPicPr>
          <p:cNvPr id="11" name="Graphic 10" descr="Cursor with solid fill">
            <a:extLst>
              <a:ext uri="{FF2B5EF4-FFF2-40B4-BE49-F238E27FC236}">
                <a16:creationId xmlns:a16="http://schemas.microsoft.com/office/drawing/2014/main" id="{031A1CC9-66FF-C72B-3D2B-D901CDA894B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1700127"/>
            <a:ext cx="301752" cy="301752"/>
          </a:xfrm>
          <a:prstGeom prst="rect">
            <a:avLst/>
          </a:prstGeom>
        </p:spPr>
      </p:pic>
      <p:sp>
        <p:nvSpPr>
          <p:cNvPr id="13" name="Obj 1">
            <a:hlinkClick r:id="rId11" action="ppaction://hlinksldjump"/>
            <a:extLst>
              <a:ext uri="{FF2B5EF4-FFF2-40B4-BE49-F238E27FC236}">
                <a16:creationId xmlns:a16="http://schemas.microsoft.com/office/drawing/2014/main" id="{F7F84C84-C879-EDE4-37FB-2CDB1B3BCD1C}"/>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4" name="Graphic 13" descr="Cursor with solid fill">
            <a:extLst>
              <a:ext uri="{FF2B5EF4-FFF2-40B4-BE49-F238E27FC236}">
                <a16:creationId xmlns:a16="http://schemas.microsoft.com/office/drawing/2014/main" id="{F919F8F3-D2A9-A19D-0DEB-913813BDCBD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2306030"/>
            <a:ext cx="301752" cy="301752"/>
          </a:xfrm>
          <a:prstGeom prst="rect">
            <a:avLst/>
          </a:prstGeom>
        </p:spPr>
      </p:pic>
      <p:sp>
        <p:nvSpPr>
          <p:cNvPr id="15" name="Obj 1">
            <a:hlinkClick r:id="rId12" action="ppaction://hlinksldjump"/>
            <a:extLst>
              <a:ext uri="{FF2B5EF4-FFF2-40B4-BE49-F238E27FC236}">
                <a16:creationId xmlns:a16="http://schemas.microsoft.com/office/drawing/2014/main" id="{36AD0035-160E-1245-9AFB-4C813FAD4268}"/>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6" name="Graphic 15" descr="Cursor with solid fill">
            <a:extLst>
              <a:ext uri="{FF2B5EF4-FFF2-40B4-BE49-F238E27FC236}">
                <a16:creationId xmlns:a16="http://schemas.microsoft.com/office/drawing/2014/main" id="{99893183-B250-E04F-85FA-D71D9AB0170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2902408"/>
            <a:ext cx="301752" cy="301752"/>
          </a:xfrm>
          <a:prstGeom prst="rect">
            <a:avLst/>
          </a:prstGeom>
        </p:spPr>
      </p:pic>
      <p:sp>
        <p:nvSpPr>
          <p:cNvPr id="18" name="Obj 1">
            <a:hlinkClick r:id="rId13" action="ppaction://hlinksldjump"/>
            <a:extLst>
              <a:ext uri="{FF2B5EF4-FFF2-40B4-BE49-F238E27FC236}">
                <a16:creationId xmlns:a16="http://schemas.microsoft.com/office/drawing/2014/main" id="{E8C06B3B-D217-0E45-31BB-6D38A79B50E9}"/>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19" name="Graphic 18" descr="Cursor with solid fill">
            <a:extLst>
              <a:ext uri="{FF2B5EF4-FFF2-40B4-BE49-F238E27FC236}">
                <a16:creationId xmlns:a16="http://schemas.microsoft.com/office/drawing/2014/main" id="{7B53B7A9-B687-B763-AFD3-65103C1ED8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3504773"/>
            <a:ext cx="301752" cy="301752"/>
          </a:xfrm>
          <a:prstGeom prst="rect">
            <a:avLst/>
          </a:prstGeom>
        </p:spPr>
      </p:pic>
      <p:sp>
        <p:nvSpPr>
          <p:cNvPr id="37" name="Obj 1">
            <a:hlinkClick r:id="rId12" action="ppaction://hlinksldjump"/>
            <a:extLst>
              <a:ext uri="{FF2B5EF4-FFF2-40B4-BE49-F238E27FC236}">
                <a16:creationId xmlns:a16="http://schemas.microsoft.com/office/drawing/2014/main" id="{04D097D9-365B-E62D-4F44-1A9820D3EF80}"/>
              </a:ext>
            </a:extLst>
          </p:cNvPr>
          <p:cNvSpPr/>
          <p:nvPr/>
        </p:nvSpPr>
        <p:spPr>
          <a:xfrm>
            <a:off x="183491" y="383984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38" name="Graphic 37" descr="Cursor with solid fill">
            <a:extLst>
              <a:ext uri="{FF2B5EF4-FFF2-40B4-BE49-F238E27FC236}">
                <a16:creationId xmlns:a16="http://schemas.microsoft.com/office/drawing/2014/main" id="{29D49CB6-9C60-20A8-1519-6DE679FC2B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4110676"/>
            <a:ext cx="301752" cy="301752"/>
          </a:xfrm>
          <a:prstGeom prst="rect">
            <a:avLst/>
          </a:prstGeom>
        </p:spPr>
      </p:pic>
      <p:sp>
        <p:nvSpPr>
          <p:cNvPr id="40" name="Obj 1">
            <a:hlinkClick r:id="rId13" action="ppaction://hlinksldjump"/>
            <a:extLst>
              <a:ext uri="{FF2B5EF4-FFF2-40B4-BE49-F238E27FC236}">
                <a16:creationId xmlns:a16="http://schemas.microsoft.com/office/drawing/2014/main" id="{D3D95831-7F66-D9AE-0BC7-CA1FAFA5D751}"/>
              </a:ext>
            </a:extLst>
          </p:cNvPr>
          <p:cNvSpPr/>
          <p:nvPr/>
        </p:nvSpPr>
        <p:spPr>
          <a:xfrm>
            <a:off x="183491" y="444363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41" name="Graphic 40" descr="Cursor with solid fill">
            <a:extLst>
              <a:ext uri="{FF2B5EF4-FFF2-40B4-BE49-F238E27FC236}">
                <a16:creationId xmlns:a16="http://schemas.microsoft.com/office/drawing/2014/main" id="{66B6BC66-1821-5BC1-338B-6D3BE5F15A5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91971" y="4729639"/>
            <a:ext cx="301752" cy="301752"/>
          </a:xfrm>
          <a:prstGeom prst="rect">
            <a:avLst/>
          </a:prstGeom>
        </p:spPr>
      </p:pic>
    </p:spTree>
    <p:extLst>
      <p:ext uri="{BB962C8B-B14F-4D97-AF65-F5344CB8AC3E}">
        <p14:creationId xmlns:p14="http://schemas.microsoft.com/office/powerpoint/2010/main" val="9820693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62"/>
                  </p:tgtEl>
                </p:cond>
              </p:nextCondLst>
            </p:seq>
            <p:seq concurrent="1" nextAc="seek">
              <p:cTn id="19" restart="whenNotActive" fill="hold" evtFilter="cancelBubble" nodeType="interactiveSeq">
                <p:stCondLst>
                  <p:cond evt="onClick" delay="0">
                    <p:tgtEl>
                      <p:spTgt spid="64"/>
                    </p:tgtEl>
                  </p:cond>
                </p:stCondLst>
                <p:endSync evt="end" delay="0">
                  <p:rtn val="all"/>
                </p:endSync>
                <p:childTnLst>
                  <p:par>
                    <p:cTn id="20" fill="hold">
                      <p:stCondLst>
                        <p:cond delay="0"/>
                      </p:stCondLst>
                      <p:childTnLst>
                        <p:par>
                          <p:cTn id="21" fill="hold">
                            <p:stCondLst>
                              <p:cond delay="0"/>
                            </p:stCondLst>
                            <p:childTnLst>
                              <p:par>
                                <p:cTn id="22" presetID="1" presetClass="exit" presetSubtype="0" fill="hold" grpId="0" nodeType="withEffect">
                                  <p:stCondLst>
                                    <p:cond delay="0"/>
                                  </p:stCondLst>
                                  <p:childTnLst>
                                    <p:set>
                                      <p:cBhvr>
                                        <p:cTn id="23" dur="1" fill="hold">
                                          <p:stCondLst>
                                            <p:cond delay="0"/>
                                          </p:stCondLst>
                                        </p:cTn>
                                        <p:tgtEl>
                                          <p:spTgt spid="64"/>
                                        </p:tgtEl>
                                        <p:attrNameLst>
                                          <p:attrName>style.visibility</p:attrName>
                                        </p:attrNameLst>
                                      </p:cBhvr>
                                      <p:to>
                                        <p:strVal val="hidden"/>
                                      </p:to>
                                    </p:set>
                                  </p:childTnLst>
                                </p:cTn>
                              </p:par>
                              <p:par>
                                <p:cTn id="24" presetID="1" presetClass="exit" presetSubtype="0" fill="hold" nodeType="withEffect">
                                  <p:stCondLst>
                                    <p:cond delay="0"/>
                                  </p:stCondLst>
                                  <p:childTnLst>
                                    <p:set>
                                      <p:cBhvr>
                                        <p:cTn id="25" dur="1" fill="hold">
                                          <p:stCondLst>
                                            <p:cond delay="0"/>
                                          </p:stCondLst>
                                        </p:cTn>
                                        <p:tgtEl>
                                          <p:spTgt spid="65"/>
                                        </p:tgtEl>
                                        <p:attrNameLst>
                                          <p:attrName>style.visibility</p:attrName>
                                        </p:attrNameLst>
                                      </p:cBhvr>
                                      <p:to>
                                        <p:strVal val="hidden"/>
                                      </p:to>
                                    </p:set>
                                  </p:childTnLst>
                                </p:cTn>
                              </p:par>
                              <p:par>
                                <p:cTn id="26" presetID="1" presetClass="entr" presetSubtype="0" fill="hold" grpId="1" nodeType="withEffect">
                                  <p:stCondLst>
                                    <p:cond delay="0"/>
                                  </p:stCondLst>
                                  <p:childTnLst>
                                    <p:set>
                                      <p:cBhvr>
                                        <p:cTn id="27" dur="1" fill="hold">
                                          <p:stCondLst>
                                            <p:cond delay="0"/>
                                          </p:stCondLst>
                                        </p:cTn>
                                        <p:tgtEl>
                                          <p:spTgt spid="6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67"/>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34" restart="whenNotActive" fill="hold" evtFilter="cancelBubble" nodeType="interactiveSeq">
                <p:stCondLst>
                  <p:cond evt="onClick" delay="0">
                    <p:tgtEl>
                      <p:spTgt spid="66"/>
                    </p:tgtEl>
                  </p:cond>
                </p:stCondLst>
                <p:endSync evt="end" delay="0">
                  <p:rtn val="all"/>
                </p:endSync>
                <p:childTnLst>
                  <p:par>
                    <p:cTn id="35" fill="hold">
                      <p:stCondLst>
                        <p:cond delay="0"/>
                      </p:stCondLst>
                      <p:childTnLst>
                        <p:par>
                          <p:cTn id="36" fill="hold">
                            <p:stCondLst>
                              <p:cond delay="0"/>
                            </p:stCondLst>
                            <p:childTnLst>
                              <p:par>
                                <p:cTn id="37" presetID="1" presetClass="exit" presetSubtype="0" fill="hold" grpId="0" nodeType="withEffect">
                                  <p:stCondLst>
                                    <p:cond delay="0"/>
                                  </p:stCondLst>
                                  <p:childTnLst>
                                    <p:set>
                                      <p:cBhvr>
                                        <p:cTn id="38" dur="1" fill="hold">
                                          <p:stCondLst>
                                            <p:cond delay="0"/>
                                          </p:stCondLst>
                                        </p:cTn>
                                        <p:tgtEl>
                                          <p:spTgt spid="66"/>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6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66"/>
                  </p:tgtEl>
                </p:cond>
              </p:nextCondLst>
            </p:seq>
          </p:childTnLst>
        </p:cTn>
      </p:par>
    </p:tnLst>
    <p:bldLst>
      <p:bldP spid="55" grpId="0"/>
      <p:bldP spid="62" grpId="0" animBg="1"/>
      <p:bldP spid="64" grpId="0" animBg="1"/>
      <p:bldP spid="64" grpId="1" animBg="1"/>
      <p:bldP spid="66" grpId="0" animBg="1"/>
      <p:bldP spid="6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Diagram&#10;&#10;Description automatically generated">
            <a:extLst>
              <a:ext uri="{FF2B5EF4-FFF2-40B4-BE49-F238E27FC236}">
                <a16:creationId xmlns:a16="http://schemas.microsoft.com/office/drawing/2014/main" id="{04B68417-370B-2241-BF82-2C7DCF99A6A5}"/>
              </a:ext>
            </a:extLst>
          </p:cNvPr>
          <p:cNvPicPr>
            <a:picLocks noChangeAspect="1"/>
          </p:cNvPicPr>
          <p:nvPr/>
        </p:nvPicPr>
        <p:blipFill rotWithShape="1">
          <a:blip r:embed="rId3">
            <a:extLst>
              <a:ext uri="{28A0092B-C50C-407E-A947-70E740481C1C}">
                <a14:useLocalDpi xmlns:a14="http://schemas.microsoft.com/office/drawing/2010/main" val="0"/>
              </a:ext>
            </a:extLst>
          </a:blip>
          <a:srcRect l="69737" t="63925" r="20731" b="16221"/>
          <a:stretch/>
        </p:blipFill>
        <p:spPr>
          <a:xfrm>
            <a:off x="8814932" y="4467711"/>
            <a:ext cx="857504" cy="1250302"/>
          </a:xfrm>
          <a:prstGeom prst="rect">
            <a:avLst/>
          </a:prstGeom>
        </p:spPr>
      </p:pic>
      <p:grpSp>
        <p:nvGrpSpPr>
          <p:cNvPr id="4" name="Group 3">
            <a:extLst>
              <a:ext uri="{FF2B5EF4-FFF2-40B4-BE49-F238E27FC236}">
                <a16:creationId xmlns:a16="http://schemas.microsoft.com/office/drawing/2014/main" id="{3D820BC2-11AF-4C6A-9CAE-697D20B815F2}"/>
              </a:ext>
            </a:extLst>
          </p:cNvPr>
          <p:cNvGrpSpPr/>
          <p:nvPr/>
        </p:nvGrpSpPr>
        <p:grpSpPr>
          <a:xfrm>
            <a:off x="8508076" y="5584755"/>
            <a:ext cx="2899039" cy="1296010"/>
            <a:chOff x="8079812" y="5609040"/>
            <a:chExt cx="2899039" cy="1296010"/>
          </a:xfrm>
        </p:grpSpPr>
        <p:sp>
          <p:nvSpPr>
            <p:cNvPr id="3" name="TextBox 2">
              <a:extLst>
                <a:ext uri="{FF2B5EF4-FFF2-40B4-BE49-F238E27FC236}">
                  <a16:creationId xmlns:a16="http://schemas.microsoft.com/office/drawing/2014/main" id="{B275B34B-4583-874C-A7C3-EC0C6EF4FB97}"/>
                </a:ext>
              </a:extLst>
            </p:cNvPr>
            <p:cNvSpPr txBox="1"/>
            <p:nvPr/>
          </p:nvSpPr>
          <p:spPr>
            <a:xfrm>
              <a:off x="9301789" y="5949268"/>
              <a:ext cx="1677062" cy="615553"/>
            </a:xfrm>
            <a:prstGeom prst="rect">
              <a:avLst/>
            </a:prstGeom>
            <a:noFill/>
          </p:spPr>
          <p:txBody>
            <a:bodyPr wrap="none" rtlCol="0">
              <a:spAutoFit/>
            </a:bodyPr>
            <a:lstStyle/>
            <a:p>
              <a:r>
                <a:rPr lang="en-US" sz="3400" b="1" u="sng" dirty="0"/>
                <a:t>C</a:t>
              </a:r>
              <a:r>
                <a:rPr lang="en-US" sz="3400" b="1" dirty="0"/>
                <a:t> </a:t>
              </a:r>
              <a:r>
                <a:rPr lang="en-US" sz="3400" b="1" u="sng" dirty="0"/>
                <a:t>R</a:t>
              </a:r>
              <a:r>
                <a:rPr lang="en-US" sz="3400" b="1" dirty="0"/>
                <a:t> </a:t>
              </a:r>
              <a:r>
                <a:rPr lang="en-US" sz="3400" b="1" u="sng" dirty="0"/>
                <a:t>A</a:t>
              </a:r>
              <a:r>
                <a:rPr lang="en-US" sz="3400" b="1" dirty="0"/>
                <a:t> </a:t>
              </a:r>
              <a:r>
                <a:rPr lang="en-US" sz="3400" b="1" u="sng" dirty="0"/>
                <a:t>B</a:t>
              </a:r>
              <a:r>
                <a:rPr lang="en-US" sz="3400" b="1" dirty="0"/>
                <a:t> </a:t>
              </a:r>
              <a:r>
                <a:rPr lang="en-US" sz="3400" b="1" u="sng" dirty="0"/>
                <a:t>I</a:t>
              </a:r>
            </a:p>
          </p:txBody>
        </p:sp>
        <p:pic>
          <p:nvPicPr>
            <p:cNvPr id="2050" name="Picture 2" descr="Cute Red Crab Vector Material Crab Clipart, Crab Clipart, Lovely, Crab PNG  and Vector with Transparent Background for Free Download">
              <a:extLst>
                <a:ext uri="{FF2B5EF4-FFF2-40B4-BE49-F238E27FC236}">
                  <a16:creationId xmlns:a16="http://schemas.microsoft.com/office/drawing/2014/main" id="{3BFF6B2A-1268-D34E-93BA-07D8C6FAB229}"/>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8079812" y="5609040"/>
              <a:ext cx="1296010" cy="1296010"/>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1">
            <a:extLst>
              <a:ext uri="{FF2B5EF4-FFF2-40B4-BE49-F238E27FC236}">
                <a16:creationId xmlns:a16="http://schemas.microsoft.com/office/drawing/2014/main" id="{91844B9E-4CB0-F84A-8040-5107E654CDB0}"/>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10667" b="77143" l="1467" r="65467">
                        <a14:foregroundMark x1="4133" y1="13524" x2="20867" y2="24190"/>
                        <a14:foregroundMark x1="20867" y1="24190" x2="27200" y2="24095"/>
                        <a14:foregroundMark x1="27200" y1="24095" x2="33867" y2="25333"/>
                        <a14:foregroundMark x1="33867" y1="25333" x2="38667" y2="30000"/>
                        <a14:foregroundMark x1="31075" y1="41018" x2="30333" y2="42095"/>
                        <a14:foregroundMark x1="31897" y1="39825" x2="31517" y2="40377"/>
                        <a14:foregroundMark x1="38667" y1="30000" x2="33024" y2="38190"/>
                        <a14:foregroundMark x1="30333" y1="42095" x2="23733" y2="68190"/>
                        <a14:foregroundMark x1="23733" y1="68190" x2="18933" y2="76095"/>
                        <a14:foregroundMark x1="18933" y1="76095" x2="9933" y2="71238"/>
                        <a14:foregroundMark x1="9933" y1="71238" x2="6200" y2="65524"/>
                        <a14:foregroundMark x1="6200" y1="65524" x2="2933" y2="43238"/>
                        <a14:foregroundMark x1="2933" y1="43238" x2="4000" y2="13714"/>
                        <a14:foregroundMark x1="2133" y1="43714" x2="2267" y2="35524"/>
                        <a14:foregroundMark x1="29133" y1="30381" x2="33800" y2="34571"/>
                        <a14:foregroundMark x1="33800" y1="34571" x2="29400" y2="32286"/>
                        <a14:foregroundMark x1="58533" y1="34857" x2="54467" y2="42952"/>
                        <a14:foregroundMark x1="54467" y1="42952" x2="59733" y2="50190"/>
                        <a14:foregroundMark x1="59733" y1="50190" x2="62533" y2="43048"/>
                        <a14:foregroundMark x1="62533" y1="43048" x2="58467" y2="35619"/>
                        <a14:foregroundMark x1="58467" y1="35619" x2="57800" y2="35333"/>
                        <a14:foregroundMark x1="60533" y1="33905" x2="54533" y2="40190"/>
                        <a14:foregroundMark x1="54533" y1="40190" x2="54467" y2="49238"/>
                        <a14:foregroundMark x1="54467" y1="49238" x2="61467" y2="49143"/>
                        <a14:foregroundMark x1="61467" y1="49143" x2="63133" y2="40952"/>
                        <a14:foregroundMark x1="63133" y1="40952" x2="60400" y2="34857"/>
                        <a14:foregroundMark x1="62933" y1="66476" x2="56133" y2="65905"/>
                        <a14:foregroundMark x1="56133" y1="65905" x2="51200" y2="72571"/>
                        <a14:foregroundMark x1="51200" y1="72571" x2="54600" y2="80190"/>
                        <a14:foregroundMark x1="54600" y1="80190" x2="62267" y2="80381"/>
                        <a14:foregroundMark x1="62267" y1="80381" x2="64933" y2="72857"/>
                        <a14:foregroundMark x1="64933" y1="72857" x2="63067" y2="65524"/>
                        <a14:foregroundMark x1="63067" y1="65524" x2="59667" y2="65333"/>
                        <a14:foregroundMark x1="59533" y1="64286" x2="53533" y2="66762"/>
                        <a14:foregroundMark x1="53533" y1="66762" x2="53600" y2="77238"/>
                        <a14:foregroundMark x1="53600" y1="77238" x2="61000" y2="83048"/>
                        <a14:foregroundMark x1="61000" y1="83048" x2="65467" y2="71714"/>
                        <a14:foregroundMark x1="65467" y1="71714" x2="61400" y2="66667"/>
                        <a14:foregroundMark x1="61400" y1="66667" x2="59400" y2="66095"/>
                        <a14:foregroundMark x1="59400" y1="66095" x2="53600" y2="66000"/>
                        <a14:foregroundMark x1="53600" y1="66000" x2="56200" y2="75619"/>
                        <a14:foregroundMark x1="56200" y1="75619" x2="63867" y2="70095"/>
                        <a14:foregroundMark x1="63867" y1="70095" x2="61400" y2="65048"/>
                        <a14:foregroundMark x1="61267" y1="65048" x2="55133" y2="62667"/>
                        <a14:foregroundMark x1="55133" y1="62667" x2="54733" y2="73429"/>
                        <a14:foregroundMark x1="54733" y1="73429" x2="60867" y2="77333"/>
                        <a14:foregroundMark x1="60867" y1="77333" x2="62933" y2="66476"/>
                        <a14:foregroundMark x1="62933" y1="66476" x2="62400" y2="65905"/>
                        <a14:foregroundMark x1="60933" y1="65714" x2="60800" y2="65048"/>
                        <a14:foregroundMark x1="60933" y1="65048" x2="61400" y2="65333"/>
                        <a14:foregroundMark x1="55133" y1="67143" x2="54400" y2="69810"/>
                        <a14:foregroundMark x1="5533" y1="19619" x2="23667" y2="31048"/>
                        <a14:foregroundMark x1="23667" y1="31048" x2="30667" y2="28667"/>
                        <a14:foregroundMark x1="30667" y1="28667" x2="35867" y2="30571"/>
                        <a14:foregroundMark x1="29555" y1="49792" x2="23200" y2="69143"/>
                        <a14:foregroundMark x1="30071" y1="48219" x2="29892" y2="48763"/>
                        <a14:foregroundMark x1="35867" y1="30571" x2="33499" y2="37781"/>
                        <a14:foregroundMark x1="23200" y1="69143" x2="18267" y2="74571"/>
                        <a14:foregroundMark x1="18267" y1="74571" x2="11000" y2="72190"/>
                        <a14:foregroundMark x1="11000" y1="72190" x2="1467" y2="50952"/>
                        <a14:foregroundMark x1="1467" y1="50952" x2="2133" y2="22000"/>
                        <a14:foregroundMark x1="2133" y1="22000" x2="5867" y2="18762"/>
                        <a14:foregroundMark x1="5867" y1="18762" x2="34602" y2="36831"/>
                        <a14:foregroundMark x1="29979" y1="54164" x2="26933" y2="63619"/>
                        <a14:foregroundMark x1="26933" y1="63619" x2="22600" y2="68286"/>
                        <a14:foregroundMark x1="22600" y1="68286" x2="6533" y2="24095"/>
                        <a14:foregroundMark x1="6533" y1="24095" x2="6267" y2="22857"/>
                        <a14:foregroundMark x1="34510" y1="43952" x2="34607" y2="44028"/>
                        <a14:foregroundMark x1="33560" y1="43210" x2="34504" y2="43947"/>
                        <a14:foregroundMark x1="7533" y1="22857" x2="31028" y2="41229"/>
                        <a14:foregroundMark x1="30839" y1="64081" x2="28467" y2="73524"/>
                        <a14:foregroundMark x1="28467" y1="73524" x2="14200" y2="63714"/>
                        <a14:foregroundMark x1="14200" y1="63714" x2="9133" y2="31333"/>
                        <a14:foregroundMark x1="9133" y1="31333" x2="10267" y2="23905"/>
                        <a14:foregroundMark x1="13133" y1="28000" x2="22667" y2="32952"/>
                        <a14:foregroundMark x1="22667" y1="32952" x2="28067" y2="47238"/>
                        <a14:foregroundMark x1="28067" y1="47238" x2="25800" y2="58952"/>
                        <a14:foregroundMark x1="25800" y1="58952" x2="6733" y2="35714"/>
                        <a14:foregroundMark x1="6733" y1="35714" x2="4533" y2="10667"/>
                        <a14:foregroundMark x1="4533" y1="10667" x2="11933" y2="17905"/>
                        <a14:foregroundMark x1="11933" y1="17905" x2="13733" y2="22476"/>
                        <a14:backgroundMark x1="38133" y1="36095" x2="32600" y2="40857"/>
                        <a14:backgroundMark x1="32600" y1="40857" x2="30867" y2="48571"/>
                        <a14:backgroundMark x1="30867" y1="48571" x2="32133" y2="61619"/>
                        <a14:backgroundMark x1="36800" y1="41429" x2="30867" y2="64095"/>
                        <a14:backgroundMark x1="30867" y1="64095" x2="35000" y2="41905"/>
                        <a14:backgroundMark x1="35000" y1="41905" x2="37533" y2="41238"/>
                        <a14:backgroundMark x1="36533" y1="41048" x2="35000" y2="41810"/>
                        <a14:backgroundMark x1="35400" y1="43429" x2="34133" y2="41048"/>
                      </a14:backgroundRemoval>
                    </a14:imgEffect>
                  </a14:imgLayer>
                </a14:imgProps>
              </a:ext>
            </a:extLst>
          </a:blip>
          <a:srcRect l="1934" t="10744" r="60886" b="20075"/>
          <a:stretch/>
        </p:blipFill>
        <p:spPr>
          <a:xfrm>
            <a:off x="2395001" y="1327859"/>
            <a:ext cx="3307299" cy="4307750"/>
          </a:xfrm>
          <a:prstGeom prst="rect">
            <a:avLst/>
          </a:prstGeom>
        </p:spPr>
      </p:pic>
      <p:cxnSp>
        <p:nvCxnSpPr>
          <p:cNvPr id="32" name="Straight Arrow Connector 31">
            <a:extLst>
              <a:ext uri="{FF2B5EF4-FFF2-40B4-BE49-F238E27FC236}">
                <a16:creationId xmlns:a16="http://schemas.microsoft.com/office/drawing/2014/main" id="{8D0C96F6-91F3-914D-AE22-C12F3A2F2512}"/>
              </a:ext>
            </a:extLst>
          </p:cNvPr>
          <p:cNvCxnSpPr>
            <a:cxnSpLocks/>
          </p:cNvCxnSpPr>
          <p:nvPr/>
        </p:nvCxnSpPr>
        <p:spPr>
          <a:xfrm flipV="1">
            <a:off x="4888283" y="3197136"/>
            <a:ext cx="942562" cy="102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7" name="Picture 26" descr="Diagram&#10;&#10;Description automatically generated">
            <a:extLst>
              <a:ext uri="{FF2B5EF4-FFF2-40B4-BE49-F238E27FC236}">
                <a16:creationId xmlns:a16="http://schemas.microsoft.com/office/drawing/2014/main" id="{C9BAB3CF-B5EB-D040-9097-A1599B853F4E}"/>
              </a:ext>
            </a:extLst>
          </p:cNvPr>
          <p:cNvPicPr>
            <a:picLocks noChangeAspect="1"/>
          </p:cNvPicPr>
          <p:nvPr/>
        </p:nvPicPr>
        <p:blipFill rotWithShape="1">
          <a:blip r:embed="rId3">
            <a:extLst>
              <a:ext uri="{28A0092B-C50C-407E-A947-70E740481C1C}">
                <a14:useLocalDpi xmlns:a14="http://schemas.microsoft.com/office/drawing/2010/main" val="0"/>
              </a:ext>
            </a:extLst>
          </a:blip>
          <a:srcRect l="69737" t="15139" r="21235" b="70195"/>
          <a:stretch/>
        </p:blipFill>
        <p:spPr>
          <a:xfrm>
            <a:off x="8814932" y="1302848"/>
            <a:ext cx="812196" cy="923553"/>
          </a:xfrm>
          <a:prstGeom prst="rect">
            <a:avLst/>
          </a:prstGeom>
        </p:spPr>
      </p:pic>
      <p:sp>
        <p:nvSpPr>
          <p:cNvPr id="2081" name="Arc 2080">
            <a:extLst>
              <a:ext uri="{FF2B5EF4-FFF2-40B4-BE49-F238E27FC236}">
                <a16:creationId xmlns:a16="http://schemas.microsoft.com/office/drawing/2014/main" id="{D2ED7CDD-6AD4-4C6D-B05B-BB002D71AE29}"/>
              </a:ext>
            </a:extLst>
          </p:cNvPr>
          <p:cNvSpPr/>
          <p:nvPr/>
        </p:nvSpPr>
        <p:spPr>
          <a:xfrm rot="15906173">
            <a:off x="5027281" y="1405902"/>
            <a:ext cx="812189" cy="864756"/>
          </a:xfrm>
          <a:custGeom>
            <a:avLst/>
            <a:gdLst>
              <a:gd name="connsiteX0" fmla="*/ 789005 w 1578010"/>
              <a:gd name="connsiteY0" fmla="*/ 0 h 2265169"/>
              <a:gd name="connsiteX1" fmla="*/ 1458703 w 1578010"/>
              <a:gd name="connsiteY1" fmla="*/ 533749 h 2265169"/>
              <a:gd name="connsiteX2" fmla="*/ 1575617 w 1578010"/>
              <a:gd name="connsiteY2" fmla="*/ 1220742 h 2265169"/>
              <a:gd name="connsiteX3" fmla="*/ 789005 w 1578010"/>
              <a:gd name="connsiteY3" fmla="*/ 1132585 h 2265169"/>
              <a:gd name="connsiteX4" fmla="*/ 789005 w 1578010"/>
              <a:gd name="connsiteY4" fmla="*/ 0 h 2265169"/>
              <a:gd name="connsiteX0" fmla="*/ 789005 w 1578010"/>
              <a:gd name="connsiteY0" fmla="*/ 0 h 2265169"/>
              <a:gd name="connsiteX1" fmla="*/ 1458703 w 1578010"/>
              <a:gd name="connsiteY1" fmla="*/ 533749 h 2265169"/>
              <a:gd name="connsiteX2" fmla="*/ 1575617 w 1578010"/>
              <a:gd name="connsiteY2" fmla="*/ 1220742 h 2265169"/>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58856 w 789006"/>
              <a:gd name="connsiteY1" fmla="*/ 660286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58856 w 789006"/>
              <a:gd name="connsiteY1" fmla="*/ 660286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7636 w 789006"/>
              <a:gd name="connsiteY1" fmla="*/ 616394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7636 w 789006"/>
              <a:gd name="connsiteY1" fmla="*/ 616394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7636 w 789006"/>
              <a:gd name="connsiteY1" fmla="*/ 616394 h 1220742"/>
              <a:gd name="connsiteX2" fmla="*/ 786612 w 789006"/>
              <a:gd name="connsiteY2" fmla="*/ 1220742 h 1220742"/>
            </a:gdLst>
            <a:ahLst/>
            <a:cxnLst>
              <a:cxn ang="0">
                <a:pos x="connsiteX0" y="connsiteY0"/>
              </a:cxn>
              <a:cxn ang="0">
                <a:pos x="connsiteX1" y="connsiteY1"/>
              </a:cxn>
              <a:cxn ang="0">
                <a:pos x="connsiteX2" y="connsiteY2"/>
              </a:cxn>
            </a:cxnLst>
            <a:rect l="l" t="t" r="r" b="b"/>
            <a:pathLst>
              <a:path w="789006" h="1220742" stroke="0" extrusionOk="0">
                <a:moveTo>
                  <a:pt x="0" y="0"/>
                </a:moveTo>
                <a:cubicBezTo>
                  <a:pt x="387163" y="165658"/>
                  <a:pt x="525639" y="201784"/>
                  <a:pt x="669698" y="533749"/>
                </a:cubicBezTo>
                <a:cubicBezTo>
                  <a:pt x="758753" y="738964"/>
                  <a:pt x="799722" y="979701"/>
                  <a:pt x="786612" y="1220742"/>
                </a:cubicBezTo>
                <a:lnTo>
                  <a:pt x="0" y="1132585"/>
                </a:lnTo>
                <a:lnTo>
                  <a:pt x="0" y="0"/>
                </a:lnTo>
                <a:close/>
              </a:path>
              <a:path w="789006" h="1220742" fill="none">
                <a:moveTo>
                  <a:pt x="0" y="0"/>
                </a:moveTo>
                <a:cubicBezTo>
                  <a:pt x="272459" y="0"/>
                  <a:pt x="577667" y="417119"/>
                  <a:pt x="667636" y="616394"/>
                </a:cubicBezTo>
                <a:cubicBezTo>
                  <a:pt x="730963" y="732936"/>
                  <a:pt x="799722" y="979701"/>
                  <a:pt x="786612" y="1220742"/>
                </a:cubicBezTo>
              </a:path>
            </a:pathLst>
          </a:cu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Arc 2080">
            <a:extLst>
              <a:ext uri="{FF2B5EF4-FFF2-40B4-BE49-F238E27FC236}">
                <a16:creationId xmlns:a16="http://schemas.microsoft.com/office/drawing/2014/main" id="{98072951-02EE-4135-BA21-318D1DCDBE43}"/>
              </a:ext>
            </a:extLst>
          </p:cNvPr>
          <p:cNvSpPr/>
          <p:nvPr/>
        </p:nvSpPr>
        <p:spPr>
          <a:xfrm rot="15906173" flipH="1">
            <a:off x="4728945" y="4064866"/>
            <a:ext cx="1152258" cy="956670"/>
          </a:xfrm>
          <a:custGeom>
            <a:avLst/>
            <a:gdLst>
              <a:gd name="connsiteX0" fmla="*/ 789005 w 1578010"/>
              <a:gd name="connsiteY0" fmla="*/ 0 h 2265169"/>
              <a:gd name="connsiteX1" fmla="*/ 1458703 w 1578010"/>
              <a:gd name="connsiteY1" fmla="*/ 533749 h 2265169"/>
              <a:gd name="connsiteX2" fmla="*/ 1575617 w 1578010"/>
              <a:gd name="connsiteY2" fmla="*/ 1220742 h 2265169"/>
              <a:gd name="connsiteX3" fmla="*/ 789005 w 1578010"/>
              <a:gd name="connsiteY3" fmla="*/ 1132585 h 2265169"/>
              <a:gd name="connsiteX4" fmla="*/ 789005 w 1578010"/>
              <a:gd name="connsiteY4" fmla="*/ 0 h 2265169"/>
              <a:gd name="connsiteX0" fmla="*/ 789005 w 1578010"/>
              <a:gd name="connsiteY0" fmla="*/ 0 h 2265169"/>
              <a:gd name="connsiteX1" fmla="*/ 1458703 w 1578010"/>
              <a:gd name="connsiteY1" fmla="*/ 533749 h 2265169"/>
              <a:gd name="connsiteX2" fmla="*/ 1575617 w 1578010"/>
              <a:gd name="connsiteY2" fmla="*/ 1220742 h 2265169"/>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69698 w 789006"/>
              <a:gd name="connsiteY1" fmla="*/ 533749 h 1220742"/>
              <a:gd name="connsiteX2" fmla="*/ 786612 w 789006"/>
              <a:gd name="connsiteY2" fmla="*/ 1220742 h 1220742"/>
              <a:gd name="connsiteX0" fmla="*/ 0 w 789006"/>
              <a:gd name="connsiteY0" fmla="*/ 0 h 1220742"/>
              <a:gd name="connsiteX1" fmla="*/ 669698 w 789006"/>
              <a:gd name="connsiteY1" fmla="*/ 533749 h 1220742"/>
              <a:gd name="connsiteX2" fmla="*/ 786612 w 789006"/>
              <a:gd name="connsiteY2" fmla="*/ 1220742 h 1220742"/>
              <a:gd name="connsiteX3" fmla="*/ 0 w 789006"/>
              <a:gd name="connsiteY3" fmla="*/ 1132585 h 1220742"/>
              <a:gd name="connsiteX4" fmla="*/ 0 w 789006"/>
              <a:gd name="connsiteY4" fmla="*/ 0 h 1220742"/>
              <a:gd name="connsiteX0" fmla="*/ 0 w 789006"/>
              <a:gd name="connsiteY0" fmla="*/ 0 h 1220742"/>
              <a:gd name="connsiteX1" fmla="*/ 658856 w 789006"/>
              <a:gd name="connsiteY1" fmla="*/ 660286 h 1220742"/>
              <a:gd name="connsiteX2" fmla="*/ 786612 w 789006"/>
              <a:gd name="connsiteY2" fmla="*/ 1220742 h 1220742"/>
              <a:gd name="connsiteX0" fmla="*/ 0 w 788627"/>
              <a:gd name="connsiteY0" fmla="*/ 0 h 1220742"/>
              <a:gd name="connsiteX1" fmla="*/ 669698 w 788627"/>
              <a:gd name="connsiteY1" fmla="*/ 533749 h 1220742"/>
              <a:gd name="connsiteX2" fmla="*/ 786612 w 788627"/>
              <a:gd name="connsiteY2" fmla="*/ 1220742 h 1220742"/>
              <a:gd name="connsiteX3" fmla="*/ 0 w 788627"/>
              <a:gd name="connsiteY3" fmla="*/ 1132585 h 1220742"/>
              <a:gd name="connsiteX4" fmla="*/ 0 w 788627"/>
              <a:gd name="connsiteY4" fmla="*/ 0 h 1220742"/>
              <a:gd name="connsiteX0" fmla="*/ 0 w 788627"/>
              <a:gd name="connsiteY0" fmla="*/ 0 h 1220742"/>
              <a:gd name="connsiteX1" fmla="*/ 658856 w 788627"/>
              <a:gd name="connsiteY1" fmla="*/ 660286 h 1220742"/>
              <a:gd name="connsiteX2" fmla="*/ 786612 w 788627"/>
              <a:gd name="connsiteY2" fmla="*/ 1220742 h 1220742"/>
            </a:gdLst>
            <a:ahLst/>
            <a:cxnLst>
              <a:cxn ang="0">
                <a:pos x="connsiteX0" y="connsiteY0"/>
              </a:cxn>
              <a:cxn ang="0">
                <a:pos x="connsiteX1" y="connsiteY1"/>
              </a:cxn>
              <a:cxn ang="0">
                <a:pos x="connsiteX2" y="connsiteY2"/>
              </a:cxn>
            </a:cxnLst>
            <a:rect l="l" t="t" r="r" b="b"/>
            <a:pathLst>
              <a:path w="788627" h="1220742" stroke="0" extrusionOk="0">
                <a:moveTo>
                  <a:pt x="0" y="0"/>
                </a:moveTo>
                <a:cubicBezTo>
                  <a:pt x="390322" y="112070"/>
                  <a:pt x="525639" y="201784"/>
                  <a:pt x="669698" y="533749"/>
                </a:cubicBezTo>
                <a:cubicBezTo>
                  <a:pt x="758753" y="738964"/>
                  <a:pt x="614886" y="890470"/>
                  <a:pt x="786612" y="1220742"/>
                </a:cubicBezTo>
                <a:lnTo>
                  <a:pt x="0" y="1132585"/>
                </a:lnTo>
                <a:lnTo>
                  <a:pt x="0" y="0"/>
                </a:lnTo>
                <a:close/>
              </a:path>
              <a:path w="788627" h="1220742" fill="none">
                <a:moveTo>
                  <a:pt x="0" y="0"/>
                </a:moveTo>
                <a:cubicBezTo>
                  <a:pt x="272459" y="0"/>
                  <a:pt x="514797" y="328321"/>
                  <a:pt x="658856" y="660286"/>
                </a:cubicBezTo>
                <a:cubicBezTo>
                  <a:pt x="747911" y="865501"/>
                  <a:pt x="799722" y="979701"/>
                  <a:pt x="786612" y="1220742"/>
                </a:cubicBezTo>
              </a:path>
            </a:pathLst>
          </a:cu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7" name="Group 66">
            <a:extLst>
              <a:ext uri="{FF2B5EF4-FFF2-40B4-BE49-F238E27FC236}">
                <a16:creationId xmlns:a16="http://schemas.microsoft.com/office/drawing/2014/main" id="{24E5B17A-6F9A-483D-8681-6CFC860A9BEB}"/>
              </a:ext>
            </a:extLst>
          </p:cNvPr>
          <p:cNvGrpSpPr/>
          <p:nvPr/>
        </p:nvGrpSpPr>
        <p:grpSpPr>
          <a:xfrm>
            <a:off x="5768179" y="2442135"/>
            <a:ext cx="6177738" cy="1983932"/>
            <a:chOff x="5768179" y="2442135"/>
            <a:chExt cx="6177738" cy="1983932"/>
          </a:xfrm>
        </p:grpSpPr>
        <p:pic>
          <p:nvPicPr>
            <p:cNvPr id="28" name="Picture 27" descr="Diagram&#10;&#10;Description automatically generated">
              <a:extLst>
                <a:ext uri="{FF2B5EF4-FFF2-40B4-BE49-F238E27FC236}">
                  <a16:creationId xmlns:a16="http://schemas.microsoft.com/office/drawing/2014/main" id="{94EB3B34-C75E-B040-9982-55605FF52243}"/>
                </a:ext>
              </a:extLst>
            </p:cNvPr>
            <p:cNvPicPr>
              <a:picLocks noChangeAspect="1"/>
            </p:cNvPicPr>
            <p:nvPr/>
          </p:nvPicPr>
          <p:blipFill rotWithShape="1">
            <a:blip r:embed="rId3">
              <a:extLst>
                <a:ext uri="{28A0092B-C50C-407E-A947-70E740481C1C}">
                  <a14:useLocalDpi xmlns:a14="http://schemas.microsoft.com/office/drawing/2010/main" val="0"/>
                </a:ext>
              </a:extLst>
            </a:blip>
            <a:srcRect l="70985" t="35962" r="22674" b="59219"/>
            <a:stretch/>
          </p:blipFill>
          <p:spPr>
            <a:xfrm>
              <a:off x="8814932" y="2442135"/>
              <a:ext cx="973715" cy="517895"/>
            </a:xfrm>
            <a:prstGeom prst="rect">
              <a:avLst/>
            </a:prstGeom>
          </p:spPr>
        </p:pic>
        <p:pic>
          <p:nvPicPr>
            <p:cNvPr id="29" name="Picture 28" descr="Diagram&#10;&#10;Description automatically generated">
              <a:extLst>
                <a:ext uri="{FF2B5EF4-FFF2-40B4-BE49-F238E27FC236}">
                  <a16:creationId xmlns:a16="http://schemas.microsoft.com/office/drawing/2014/main" id="{72D94C2D-D25E-154D-978E-83FB8E597056}"/>
                </a:ext>
              </a:extLst>
            </p:cNvPr>
            <p:cNvPicPr>
              <a:picLocks noChangeAspect="1"/>
            </p:cNvPicPr>
            <p:nvPr/>
          </p:nvPicPr>
          <p:blipFill rotWithShape="1">
            <a:blip r:embed="rId3">
              <a:extLst>
                <a:ext uri="{28A0092B-C50C-407E-A947-70E740481C1C}">
                  <a14:useLocalDpi xmlns:a14="http://schemas.microsoft.com/office/drawing/2010/main" val="0"/>
                </a:ext>
              </a:extLst>
            </a:blip>
            <a:srcRect l="69395" t="43253" r="20852" b="36894"/>
            <a:stretch/>
          </p:blipFill>
          <p:spPr>
            <a:xfrm>
              <a:off x="8814932" y="3175765"/>
              <a:ext cx="877365" cy="1250302"/>
            </a:xfrm>
            <a:prstGeom prst="rect">
              <a:avLst/>
            </a:prstGeom>
          </p:spPr>
        </p:pic>
        <p:grpSp>
          <p:nvGrpSpPr>
            <p:cNvPr id="2105" name="Group 2104">
              <a:extLst>
                <a:ext uri="{FF2B5EF4-FFF2-40B4-BE49-F238E27FC236}">
                  <a16:creationId xmlns:a16="http://schemas.microsoft.com/office/drawing/2014/main" id="{77740815-6DC0-4D96-9BF6-0E33F627EB2C}"/>
                </a:ext>
              </a:extLst>
            </p:cNvPr>
            <p:cNvGrpSpPr/>
            <p:nvPr/>
          </p:nvGrpSpPr>
          <p:grpSpPr>
            <a:xfrm>
              <a:off x="5768179" y="2786068"/>
              <a:ext cx="2003638" cy="1399861"/>
              <a:chOff x="5815884" y="2786068"/>
              <a:chExt cx="2318542" cy="1399861"/>
            </a:xfrm>
          </p:grpSpPr>
          <p:pic>
            <p:nvPicPr>
              <p:cNvPr id="104" name="Picture 103">
                <a:extLst>
                  <a:ext uri="{FF2B5EF4-FFF2-40B4-BE49-F238E27FC236}">
                    <a16:creationId xmlns:a16="http://schemas.microsoft.com/office/drawing/2014/main" id="{146085A3-E96E-48A4-AA06-29C9C13C743E}"/>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10667" b="77143" l="1467" r="65467">
                            <a14:foregroundMark x1="4133" y1="13524" x2="20867" y2="24190"/>
                            <a14:foregroundMark x1="20867" y1="24190" x2="27200" y2="24095"/>
                            <a14:foregroundMark x1="27200" y1="24095" x2="33867" y2="25333"/>
                            <a14:foregroundMark x1="33867" y1="25333" x2="38667" y2="30000"/>
                            <a14:foregroundMark x1="31075" y1="41018" x2="30333" y2="42095"/>
                            <a14:foregroundMark x1="31897" y1="39825" x2="31517" y2="40377"/>
                            <a14:foregroundMark x1="38667" y1="30000" x2="33024" y2="38190"/>
                            <a14:foregroundMark x1="30333" y1="42095" x2="23733" y2="68190"/>
                            <a14:foregroundMark x1="23733" y1="68190" x2="18933" y2="76095"/>
                            <a14:foregroundMark x1="18933" y1="76095" x2="9933" y2="71238"/>
                            <a14:foregroundMark x1="9933" y1="71238" x2="6200" y2="65524"/>
                            <a14:foregroundMark x1="6200" y1="65524" x2="2933" y2="43238"/>
                            <a14:foregroundMark x1="2933" y1="43238" x2="4000" y2="13714"/>
                            <a14:foregroundMark x1="2133" y1="43714" x2="2267" y2="35524"/>
                            <a14:foregroundMark x1="29133" y1="30381" x2="33800" y2="34571"/>
                            <a14:foregroundMark x1="33800" y1="34571" x2="29400" y2="32286"/>
                            <a14:foregroundMark x1="58533" y1="34857" x2="54467" y2="42952"/>
                            <a14:foregroundMark x1="54467" y1="42952" x2="59733" y2="50190"/>
                            <a14:foregroundMark x1="59733" y1="50190" x2="62533" y2="43048"/>
                            <a14:foregroundMark x1="62533" y1="43048" x2="58467" y2="35619"/>
                            <a14:foregroundMark x1="58467" y1="35619" x2="57800" y2="35333"/>
                            <a14:foregroundMark x1="60533" y1="33905" x2="54533" y2="40190"/>
                            <a14:foregroundMark x1="54533" y1="40190" x2="54467" y2="49238"/>
                            <a14:foregroundMark x1="54467" y1="49238" x2="61467" y2="49143"/>
                            <a14:foregroundMark x1="61467" y1="49143" x2="63133" y2="40952"/>
                            <a14:foregroundMark x1="63133" y1="40952" x2="60400" y2="34857"/>
                            <a14:foregroundMark x1="62933" y1="66476" x2="56133" y2="65905"/>
                            <a14:foregroundMark x1="56133" y1="65905" x2="51200" y2="72571"/>
                            <a14:foregroundMark x1="51200" y1="72571" x2="54600" y2="80190"/>
                            <a14:foregroundMark x1="54600" y1="80190" x2="62267" y2="80381"/>
                            <a14:foregroundMark x1="62267" y1="80381" x2="64933" y2="72857"/>
                            <a14:foregroundMark x1="64933" y1="72857" x2="63067" y2="65524"/>
                            <a14:foregroundMark x1="63067" y1="65524" x2="59667" y2="65333"/>
                            <a14:foregroundMark x1="59533" y1="64286" x2="53533" y2="66762"/>
                            <a14:foregroundMark x1="53533" y1="66762" x2="53600" y2="77238"/>
                            <a14:foregroundMark x1="53600" y1="77238" x2="61000" y2="83048"/>
                            <a14:foregroundMark x1="61000" y1="83048" x2="65467" y2="71714"/>
                            <a14:foregroundMark x1="65467" y1="71714" x2="61400" y2="66667"/>
                            <a14:foregroundMark x1="61400" y1="66667" x2="59400" y2="66095"/>
                            <a14:foregroundMark x1="59400" y1="66095" x2="53600" y2="66000"/>
                            <a14:foregroundMark x1="53600" y1="66000" x2="56200" y2="75619"/>
                            <a14:foregroundMark x1="56200" y1="75619" x2="63867" y2="70095"/>
                            <a14:foregroundMark x1="63867" y1="70095" x2="61400" y2="65048"/>
                            <a14:foregroundMark x1="61267" y1="65048" x2="55133" y2="62667"/>
                            <a14:foregroundMark x1="55133" y1="62667" x2="54733" y2="73429"/>
                            <a14:foregroundMark x1="54733" y1="73429" x2="60867" y2="77333"/>
                            <a14:foregroundMark x1="60867" y1="77333" x2="62933" y2="66476"/>
                            <a14:foregroundMark x1="62933" y1="66476" x2="62400" y2="65905"/>
                            <a14:foregroundMark x1="60933" y1="65714" x2="60800" y2="65048"/>
                            <a14:foregroundMark x1="60933" y1="65048" x2="61400" y2="65333"/>
                            <a14:foregroundMark x1="55133" y1="67143" x2="54400" y2="69810"/>
                            <a14:foregroundMark x1="5533" y1="19619" x2="23667" y2="31048"/>
                            <a14:foregroundMark x1="23667" y1="31048" x2="30667" y2="28667"/>
                            <a14:foregroundMark x1="30667" y1="28667" x2="35867" y2="30571"/>
                            <a14:foregroundMark x1="29555" y1="49792" x2="23200" y2="69143"/>
                            <a14:foregroundMark x1="30071" y1="48219" x2="29892" y2="48763"/>
                            <a14:foregroundMark x1="35867" y1="30571" x2="33499" y2="37781"/>
                            <a14:foregroundMark x1="23200" y1="69143" x2="18267" y2="74571"/>
                            <a14:foregroundMark x1="18267" y1="74571" x2="11000" y2="72190"/>
                            <a14:foregroundMark x1="11000" y1="72190" x2="1467" y2="50952"/>
                            <a14:foregroundMark x1="1467" y1="50952" x2="2133" y2="22000"/>
                            <a14:foregroundMark x1="2133" y1="22000" x2="5867" y2="18762"/>
                            <a14:foregroundMark x1="5867" y1="18762" x2="34602" y2="36831"/>
                            <a14:foregroundMark x1="29979" y1="54164" x2="26933" y2="63619"/>
                            <a14:foregroundMark x1="26933" y1="63619" x2="22600" y2="68286"/>
                            <a14:foregroundMark x1="22600" y1="68286" x2="6533" y2="24095"/>
                            <a14:foregroundMark x1="6533" y1="24095" x2="6267" y2="22857"/>
                            <a14:foregroundMark x1="34510" y1="43952" x2="34607" y2="44028"/>
                            <a14:foregroundMark x1="33560" y1="43210" x2="34504" y2="43947"/>
                            <a14:foregroundMark x1="7533" y1="22857" x2="31028" y2="41229"/>
                            <a14:foregroundMark x1="30839" y1="64081" x2="28467" y2="73524"/>
                            <a14:foregroundMark x1="28467" y1="73524" x2="14200" y2="63714"/>
                            <a14:foregroundMark x1="14200" y1="63714" x2="9133" y2="31333"/>
                            <a14:foregroundMark x1="9133" y1="31333" x2="10267" y2="23905"/>
                            <a14:foregroundMark x1="13133" y1="28000" x2="22667" y2="32952"/>
                            <a14:foregroundMark x1="22667" y1="32952" x2="28067" y2="47238"/>
                            <a14:foregroundMark x1="28067" y1="47238" x2="25800" y2="58952"/>
                            <a14:foregroundMark x1="25800" y1="58952" x2="6733" y2="35714"/>
                            <a14:foregroundMark x1="6733" y1="35714" x2="4533" y2="10667"/>
                            <a14:foregroundMark x1="4533" y1="10667" x2="11933" y2="17905"/>
                            <a14:foregroundMark x1="11933" y1="17905" x2="13733" y2="22476"/>
                            <a14:backgroundMark x1="38133" y1="36095" x2="32600" y2="40857"/>
                            <a14:backgroundMark x1="32600" y1="40857" x2="30867" y2="48571"/>
                            <a14:backgroundMark x1="30867" y1="48571" x2="32133" y2="61619"/>
                            <a14:backgroundMark x1="36800" y1="41429" x2="30867" y2="64095"/>
                            <a14:backgroundMark x1="30867" y1="64095" x2="35000" y2="41905"/>
                            <a14:backgroundMark x1="35000" y1="41905" x2="37533" y2="41238"/>
                            <a14:backgroundMark x1="36533" y1="41048" x2="35000" y2="41810"/>
                            <a14:backgroundMark x1="35400" y1="43429" x2="34133" y2="41048"/>
                          </a14:backgroundRemoval>
                        </a14:imgEffect>
                      </a14:imgLayer>
                    </a14:imgProps>
                  </a:ext>
                </a:extLst>
              </a:blip>
              <a:srcRect l="52187" t="37446" r="36306" b="51069"/>
              <a:stretch/>
            </p:blipFill>
            <p:spPr>
              <a:xfrm>
                <a:off x="6190539" y="2786068"/>
                <a:ext cx="1348424" cy="715152"/>
              </a:xfrm>
              <a:prstGeom prst="rect">
                <a:avLst/>
              </a:prstGeom>
            </p:spPr>
          </p:pic>
          <p:sp>
            <p:nvSpPr>
              <p:cNvPr id="108" name="TextBox 107">
                <a:extLst>
                  <a:ext uri="{FF2B5EF4-FFF2-40B4-BE49-F238E27FC236}">
                    <a16:creationId xmlns:a16="http://schemas.microsoft.com/office/drawing/2014/main" id="{424E6479-7DD8-40A5-82DD-51FD758AE270}"/>
                  </a:ext>
                </a:extLst>
              </p:cNvPr>
              <p:cNvSpPr txBox="1"/>
              <p:nvPr/>
            </p:nvSpPr>
            <p:spPr>
              <a:xfrm>
                <a:off x="5815884" y="3478043"/>
                <a:ext cx="2318542" cy="707886"/>
              </a:xfrm>
              <a:prstGeom prst="rect">
                <a:avLst/>
              </a:prstGeom>
              <a:noFill/>
            </p:spPr>
            <p:txBody>
              <a:bodyPr wrap="square" rtlCol="0">
                <a:spAutoFit/>
              </a:bodyPr>
              <a:lstStyle/>
              <a:p>
                <a:pPr algn="ctr"/>
                <a:r>
                  <a:rPr lang="en-US" sz="2000" dirty="0"/>
                  <a:t>Osteoclast activation</a:t>
                </a:r>
              </a:p>
            </p:txBody>
          </p:sp>
        </p:grpSp>
        <p:cxnSp>
          <p:nvCxnSpPr>
            <p:cNvPr id="109" name="Connector: Elbow 108">
              <a:extLst>
                <a:ext uri="{FF2B5EF4-FFF2-40B4-BE49-F238E27FC236}">
                  <a16:creationId xmlns:a16="http://schemas.microsoft.com/office/drawing/2014/main" id="{8B8267C3-45F2-4607-889E-7ACBB7040E6A}"/>
                </a:ext>
              </a:extLst>
            </p:cNvPr>
            <p:cNvCxnSpPr>
              <a:cxnSpLocks/>
              <a:stCxn id="104" idx="3"/>
              <a:endCxn id="28" idx="1"/>
            </p:cNvCxnSpPr>
            <p:nvPr/>
          </p:nvCxnSpPr>
          <p:spPr>
            <a:xfrm flipV="1">
              <a:off x="7257229" y="2701083"/>
              <a:ext cx="1557703" cy="442561"/>
            </a:xfrm>
            <a:prstGeom prst="bentConnector3">
              <a:avLst>
                <a:gd name="adj1" fmla="val 50000"/>
              </a:avLst>
            </a:prstGeom>
            <a:ln w="38100">
              <a:tailEnd type="triangle"/>
            </a:ln>
          </p:spPr>
          <p:style>
            <a:lnRef idx="3">
              <a:schemeClr val="dk1"/>
            </a:lnRef>
            <a:fillRef idx="0">
              <a:schemeClr val="dk1"/>
            </a:fillRef>
            <a:effectRef idx="2">
              <a:schemeClr val="dk1"/>
            </a:effectRef>
            <a:fontRef idx="minor">
              <a:schemeClr val="tx1"/>
            </a:fontRef>
          </p:style>
        </p:cxnSp>
        <p:cxnSp>
          <p:nvCxnSpPr>
            <p:cNvPr id="121" name="Connector: Elbow 120">
              <a:extLst>
                <a:ext uri="{FF2B5EF4-FFF2-40B4-BE49-F238E27FC236}">
                  <a16:creationId xmlns:a16="http://schemas.microsoft.com/office/drawing/2014/main" id="{60F19066-B07D-4D56-A486-E9A847FCC1D3}"/>
                </a:ext>
              </a:extLst>
            </p:cNvPr>
            <p:cNvCxnSpPr>
              <a:cxnSpLocks/>
              <a:stCxn id="104" idx="3"/>
              <a:endCxn id="29" idx="1"/>
            </p:cNvCxnSpPr>
            <p:nvPr/>
          </p:nvCxnSpPr>
          <p:spPr>
            <a:xfrm>
              <a:off x="7257229" y="3143644"/>
              <a:ext cx="1557703" cy="657272"/>
            </a:xfrm>
            <a:prstGeom prst="bentConnector3">
              <a:avLst>
                <a:gd name="adj1" fmla="val 50000"/>
              </a:avLst>
            </a:prstGeom>
            <a:ln w="38100">
              <a:tailEnd type="triangle"/>
            </a:ln>
          </p:spPr>
          <p:style>
            <a:lnRef idx="3">
              <a:schemeClr val="dk1"/>
            </a:lnRef>
            <a:fillRef idx="0">
              <a:schemeClr val="dk1"/>
            </a:fillRef>
            <a:effectRef idx="2">
              <a:schemeClr val="dk1"/>
            </a:effectRef>
            <a:fontRef idx="minor">
              <a:schemeClr val="tx1"/>
            </a:fontRef>
          </p:style>
        </p:cxnSp>
        <p:sp>
          <p:nvSpPr>
            <p:cNvPr id="127" name="TextBox 126">
              <a:extLst>
                <a:ext uri="{FF2B5EF4-FFF2-40B4-BE49-F238E27FC236}">
                  <a16:creationId xmlns:a16="http://schemas.microsoft.com/office/drawing/2014/main" id="{02E2DD0F-16E6-45C5-A3F9-27059939A446}"/>
                </a:ext>
              </a:extLst>
            </p:cNvPr>
            <p:cNvSpPr txBox="1"/>
            <p:nvPr/>
          </p:nvSpPr>
          <p:spPr>
            <a:xfrm>
              <a:off x="9759551" y="2467733"/>
              <a:ext cx="2186366" cy="400110"/>
            </a:xfrm>
            <a:prstGeom prst="rect">
              <a:avLst/>
            </a:prstGeom>
            <a:noFill/>
          </p:spPr>
          <p:txBody>
            <a:bodyPr wrap="square" rtlCol="0">
              <a:spAutoFit/>
            </a:bodyPr>
            <a:lstStyle/>
            <a:p>
              <a:r>
                <a:rPr lang="en-US" sz="2000" dirty="0" err="1"/>
                <a:t>Hyper</a:t>
              </a:r>
              <a:r>
                <a:rPr lang="en-US" sz="2000" b="1" u="sng" dirty="0" err="1"/>
                <a:t>C</a:t>
              </a:r>
              <a:r>
                <a:rPr lang="en-US" sz="2000" dirty="0" err="1"/>
                <a:t>alcemia</a:t>
              </a:r>
              <a:endParaRPr lang="en-US" sz="2000" dirty="0"/>
            </a:p>
          </p:txBody>
        </p:sp>
        <p:sp>
          <p:nvSpPr>
            <p:cNvPr id="128" name="TextBox 127">
              <a:extLst>
                <a:ext uri="{FF2B5EF4-FFF2-40B4-BE49-F238E27FC236}">
                  <a16:creationId xmlns:a16="http://schemas.microsoft.com/office/drawing/2014/main" id="{4D2271D5-E6F1-4F74-9587-F809CFBD458C}"/>
                </a:ext>
              </a:extLst>
            </p:cNvPr>
            <p:cNvSpPr txBox="1"/>
            <p:nvPr/>
          </p:nvSpPr>
          <p:spPr>
            <a:xfrm>
              <a:off x="9759551" y="3648853"/>
              <a:ext cx="2186366" cy="400110"/>
            </a:xfrm>
            <a:prstGeom prst="rect">
              <a:avLst/>
            </a:prstGeom>
            <a:noFill/>
          </p:spPr>
          <p:txBody>
            <a:bodyPr wrap="square" rtlCol="0">
              <a:spAutoFit/>
            </a:bodyPr>
            <a:lstStyle/>
            <a:p>
              <a:r>
                <a:rPr lang="en-US" sz="2000" b="1" u="sng" dirty="0"/>
                <a:t>B</a:t>
              </a:r>
              <a:r>
                <a:rPr lang="en-US" sz="2000" dirty="0"/>
                <a:t>oney lytic lesions</a:t>
              </a:r>
            </a:p>
          </p:txBody>
        </p:sp>
      </p:grpSp>
      <p:grpSp>
        <p:nvGrpSpPr>
          <p:cNvPr id="66" name="Group 65">
            <a:extLst>
              <a:ext uri="{FF2B5EF4-FFF2-40B4-BE49-F238E27FC236}">
                <a16:creationId xmlns:a16="http://schemas.microsoft.com/office/drawing/2014/main" id="{B4AF49FA-9647-44CF-BF5E-1CD6DEF023CF}"/>
              </a:ext>
            </a:extLst>
          </p:cNvPr>
          <p:cNvGrpSpPr/>
          <p:nvPr/>
        </p:nvGrpSpPr>
        <p:grpSpPr>
          <a:xfrm>
            <a:off x="5802324" y="400205"/>
            <a:ext cx="6143593" cy="1481957"/>
            <a:chOff x="5802324" y="400205"/>
            <a:chExt cx="6143593" cy="1481957"/>
          </a:xfrm>
        </p:grpSpPr>
        <p:sp>
          <p:nvSpPr>
            <p:cNvPr id="2049" name="TextBox 2048">
              <a:extLst>
                <a:ext uri="{FF2B5EF4-FFF2-40B4-BE49-F238E27FC236}">
                  <a16:creationId xmlns:a16="http://schemas.microsoft.com/office/drawing/2014/main" id="{CFB4B3CA-81B7-408D-B5A9-819AB5DC2813}"/>
                </a:ext>
              </a:extLst>
            </p:cNvPr>
            <p:cNvSpPr txBox="1"/>
            <p:nvPr/>
          </p:nvSpPr>
          <p:spPr>
            <a:xfrm>
              <a:off x="5802324" y="1032600"/>
              <a:ext cx="1935348" cy="707886"/>
            </a:xfrm>
            <a:prstGeom prst="rect">
              <a:avLst/>
            </a:prstGeom>
            <a:noFill/>
          </p:spPr>
          <p:txBody>
            <a:bodyPr wrap="square" rtlCol="0">
              <a:spAutoFit/>
            </a:bodyPr>
            <a:lstStyle/>
            <a:p>
              <a:pPr algn="ctr"/>
              <a:r>
                <a:rPr lang="en-US" sz="2000" dirty="0"/>
                <a:t>Bone marrow infiltration</a:t>
              </a:r>
            </a:p>
          </p:txBody>
        </p:sp>
        <p:cxnSp>
          <p:nvCxnSpPr>
            <p:cNvPr id="77" name="Connector: Elbow 76">
              <a:extLst>
                <a:ext uri="{FF2B5EF4-FFF2-40B4-BE49-F238E27FC236}">
                  <a16:creationId xmlns:a16="http://schemas.microsoft.com/office/drawing/2014/main" id="{E231637E-562E-449E-B2D0-8B2FBCAE2094}"/>
                </a:ext>
              </a:extLst>
            </p:cNvPr>
            <p:cNvCxnSpPr>
              <a:cxnSpLocks/>
              <a:stCxn id="2049" idx="3"/>
              <a:endCxn id="26" idx="1"/>
            </p:cNvCxnSpPr>
            <p:nvPr/>
          </p:nvCxnSpPr>
          <p:spPr>
            <a:xfrm flipV="1">
              <a:off x="7737672" y="743660"/>
              <a:ext cx="1077260" cy="642883"/>
            </a:xfrm>
            <a:prstGeom prst="bentConnector3">
              <a:avLst>
                <a:gd name="adj1" fmla="val 26893"/>
              </a:avLst>
            </a:prstGeom>
            <a:ln w="38100">
              <a:tailEnd type="triangle"/>
            </a:ln>
          </p:spPr>
          <p:style>
            <a:lnRef idx="3">
              <a:schemeClr val="dk1"/>
            </a:lnRef>
            <a:fillRef idx="0">
              <a:schemeClr val="dk1"/>
            </a:fillRef>
            <a:effectRef idx="2">
              <a:schemeClr val="dk1"/>
            </a:effectRef>
            <a:fontRef idx="minor">
              <a:schemeClr val="tx1"/>
            </a:fontRef>
          </p:style>
        </p:cxnSp>
        <p:cxnSp>
          <p:nvCxnSpPr>
            <p:cNvPr id="83" name="Connector: Elbow 82">
              <a:extLst>
                <a:ext uri="{FF2B5EF4-FFF2-40B4-BE49-F238E27FC236}">
                  <a16:creationId xmlns:a16="http://schemas.microsoft.com/office/drawing/2014/main" id="{7673C523-5D3A-40D6-866B-1EFEC6C1B884}"/>
                </a:ext>
              </a:extLst>
            </p:cNvPr>
            <p:cNvCxnSpPr>
              <a:cxnSpLocks/>
              <a:stCxn id="2049" idx="3"/>
              <a:endCxn id="27" idx="1"/>
            </p:cNvCxnSpPr>
            <p:nvPr/>
          </p:nvCxnSpPr>
          <p:spPr>
            <a:xfrm>
              <a:off x="7737672" y="1386543"/>
              <a:ext cx="1077260" cy="378082"/>
            </a:xfrm>
            <a:prstGeom prst="bentConnector3">
              <a:avLst>
                <a:gd name="adj1" fmla="val 26893"/>
              </a:avLst>
            </a:prstGeom>
            <a:ln w="38100">
              <a:tailEnd type="triangle"/>
            </a:ln>
          </p:spPr>
          <p:style>
            <a:lnRef idx="3">
              <a:schemeClr val="dk1"/>
            </a:lnRef>
            <a:fillRef idx="0">
              <a:schemeClr val="dk1"/>
            </a:fillRef>
            <a:effectRef idx="2">
              <a:schemeClr val="dk1"/>
            </a:effectRef>
            <a:fontRef idx="minor">
              <a:schemeClr val="tx1"/>
            </a:fontRef>
          </p:style>
        </p:cxnSp>
        <p:sp>
          <p:nvSpPr>
            <p:cNvPr id="91" name="TextBox 90">
              <a:extLst>
                <a:ext uri="{FF2B5EF4-FFF2-40B4-BE49-F238E27FC236}">
                  <a16:creationId xmlns:a16="http://schemas.microsoft.com/office/drawing/2014/main" id="{D4CF6AE8-56BF-4E7E-A318-A3EFD7D03429}"/>
                </a:ext>
              </a:extLst>
            </p:cNvPr>
            <p:cNvSpPr txBox="1"/>
            <p:nvPr/>
          </p:nvSpPr>
          <p:spPr>
            <a:xfrm>
              <a:off x="9759551" y="1482052"/>
              <a:ext cx="2186366" cy="400110"/>
            </a:xfrm>
            <a:prstGeom prst="rect">
              <a:avLst/>
            </a:prstGeom>
            <a:noFill/>
          </p:spPr>
          <p:txBody>
            <a:bodyPr wrap="square" rtlCol="0">
              <a:spAutoFit/>
            </a:bodyPr>
            <a:lstStyle/>
            <a:p>
              <a:r>
                <a:rPr lang="en-US" sz="2000" b="1" u="sng" dirty="0"/>
                <a:t>I</a:t>
              </a:r>
              <a:r>
                <a:rPr lang="en-US" sz="2000" dirty="0"/>
                <a:t>mmunodeficiency</a:t>
              </a:r>
            </a:p>
          </p:txBody>
        </p:sp>
        <p:pic>
          <p:nvPicPr>
            <p:cNvPr id="26" name="Picture 25" descr="Diagram&#10;&#10;Description automatically generated">
              <a:extLst>
                <a:ext uri="{FF2B5EF4-FFF2-40B4-BE49-F238E27FC236}">
                  <a16:creationId xmlns:a16="http://schemas.microsoft.com/office/drawing/2014/main" id="{54F5C3BC-08A0-484E-9F45-F46D51091B90}"/>
                </a:ext>
              </a:extLst>
            </p:cNvPr>
            <p:cNvPicPr>
              <a:picLocks noChangeAspect="1"/>
            </p:cNvPicPr>
            <p:nvPr/>
          </p:nvPicPr>
          <p:blipFill rotWithShape="1">
            <a:blip r:embed="rId3">
              <a:extLst>
                <a:ext uri="{28A0092B-C50C-407E-A947-70E740481C1C}">
                  <a14:useLocalDpi xmlns:a14="http://schemas.microsoft.com/office/drawing/2010/main" val="0"/>
                </a:ext>
              </a:extLst>
            </a:blip>
            <a:srcRect l="69737" t="3975" r="21576" b="85117"/>
            <a:stretch/>
          </p:blipFill>
          <p:spPr>
            <a:xfrm>
              <a:off x="8814932" y="400205"/>
              <a:ext cx="781497" cy="686909"/>
            </a:xfrm>
            <a:prstGeom prst="rect">
              <a:avLst/>
            </a:prstGeom>
          </p:spPr>
        </p:pic>
        <p:sp>
          <p:nvSpPr>
            <p:cNvPr id="81" name="TextBox 80">
              <a:extLst>
                <a:ext uri="{FF2B5EF4-FFF2-40B4-BE49-F238E27FC236}">
                  <a16:creationId xmlns:a16="http://schemas.microsoft.com/office/drawing/2014/main" id="{FF07B44B-8CA5-476A-9D70-961864C5B95A}"/>
                </a:ext>
              </a:extLst>
            </p:cNvPr>
            <p:cNvSpPr txBox="1"/>
            <p:nvPr/>
          </p:nvSpPr>
          <p:spPr>
            <a:xfrm>
              <a:off x="9759551" y="485023"/>
              <a:ext cx="1307801" cy="400110"/>
            </a:xfrm>
            <a:prstGeom prst="rect">
              <a:avLst/>
            </a:prstGeom>
            <a:noFill/>
          </p:spPr>
          <p:txBody>
            <a:bodyPr wrap="square" rtlCol="0">
              <a:spAutoFit/>
            </a:bodyPr>
            <a:lstStyle/>
            <a:p>
              <a:r>
                <a:rPr lang="en-US" sz="2000" b="1" u="sng" dirty="0"/>
                <a:t>A</a:t>
              </a:r>
              <a:r>
                <a:rPr lang="en-US" sz="2000" dirty="0"/>
                <a:t>nemia</a:t>
              </a:r>
            </a:p>
          </p:txBody>
        </p:sp>
      </p:grpSp>
      <p:grpSp>
        <p:nvGrpSpPr>
          <p:cNvPr id="68" name="Group 67">
            <a:extLst>
              <a:ext uri="{FF2B5EF4-FFF2-40B4-BE49-F238E27FC236}">
                <a16:creationId xmlns:a16="http://schemas.microsoft.com/office/drawing/2014/main" id="{7BBC9FAA-6AAC-4695-AA26-BA9F3BC7F208}"/>
              </a:ext>
            </a:extLst>
          </p:cNvPr>
          <p:cNvGrpSpPr/>
          <p:nvPr/>
        </p:nvGrpSpPr>
        <p:grpSpPr>
          <a:xfrm>
            <a:off x="5734034" y="4680514"/>
            <a:ext cx="6211883" cy="1612127"/>
            <a:chOff x="5734034" y="4680514"/>
            <a:chExt cx="6211883" cy="1612127"/>
          </a:xfrm>
        </p:grpSpPr>
        <p:cxnSp>
          <p:nvCxnSpPr>
            <p:cNvPr id="34" name="Straight Arrow Connector 33">
              <a:extLst>
                <a:ext uri="{FF2B5EF4-FFF2-40B4-BE49-F238E27FC236}">
                  <a16:creationId xmlns:a16="http://schemas.microsoft.com/office/drawing/2014/main" id="{3375A007-1A2F-6049-BF6C-FD7B53CBDEAF}"/>
                </a:ext>
              </a:extLst>
            </p:cNvPr>
            <p:cNvCxnSpPr>
              <a:cxnSpLocks/>
              <a:endCxn id="17" idx="1"/>
            </p:cNvCxnSpPr>
            <p:nvPr/>
          </p:nvCxnSpPr>
          <p:spPr>
            <a:xfrm>
              <a:off x="7442200" y="5092862"/>
              <a:ext cx="137273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109" name="Group 2108">
              <a:extLst>
                <a:ext uri="{FF2B5EF4-FFF2-40B4-BE49-F238E27FC236}">
                  <a16:creationId xmlns:a16="http://schemas.microsoft.com/office/drawing/2014/main" id="{9D763000-E4FD-4AB0-AF32-342FE5F728E1}"/>
                </a:ext>
              </a:extLst>
            </p:cNvPr>
            <p:cNvGrpSpPr/>
            <p:nvPr/>
          </p:nvGrpSpPr>
          <p:grpSpPr>
            <a:xfrm>
              <a:off x="5734034" y="4680514"/>
              <a:ext cx="2003638" cy="1612127"/>
              <a:chOff x="5720474" y="4394527"/>
              <a:chExt cx="2003638" cy="1612127"/>
            </a:xfrm>
          </p:grpSpPr>
          <p:pic>
            <p:nvPicPr>
              <p:cNvPr id="129" name="Picture 128">
                <a:extLst>
                  <a:ext uri="{FF2B5EF4-FFF2-40B4-BE49-F238E27FC236}">
                    <a16:creationId xmlns:a16="http://schemas.microsoft.com/office/drawing/2014/main" id="{A3A72617-90AC-4FF6-ACFA-0399F5221C0F}"/>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10667" b="77143" l="1467" r="65467">
                            <a14:foregroundMark x1="4133" y1="13524" x2="20867" y2="24190"/>
                            <a14:foregroundMark x1="20867" y1="24190" x2="27200" y2="24095"/>
                            <a14:foregroundMark x1="27200" y1="24095" x2="33867" y2="25333"/>
                            <a14:foregroundMark x1="33867" y1="25333" x2="38667" y2="30000"/>
                            <a14:foregroundMark x1="31075" y1="41018" x2="30333" y2="42095"/>
                            <a14:foregroundMark x1="31897" y1="39825" x2="31517" y2="40377"/>
                            <a14:foregroundMark x1="38667" y1="30000" x2="33024" y2="38190"/>
                            <a14:foregroundMark x1="30333" y1="42095" x2="23733" y2="68190"/>
                            <a14:foregroundMark x1="23733" y1="68190" x2="18933" y2="76095"/>
                            <a14:foregroundMark x1="18933" y1="76095" x2="9933" y2="71238"/>
                            <a14:foregroundMark x1="9933" y1="71238" x2="6200" y2="65524"/>
                            <a14:foregroundMark x1="6200" y1="65524" x2="2933" y2="43238"/>
                            <a14:foregroundMark x1="2933" y1="43238" x2="4000" y2="13714"/>
                            <a14:foregroundMark x1="2133" y1="43714" x2="2267" y2="35524"/>
                            <a14:foregroundMark x1="29133" y1="30381" x2="33800" y2="34571"/>
                            <a14:foregroundMark x1="33800" y1="34571" x2="29400" y2="32286"/>
                            <a14:foregroundMark x1="58533" y1="34857" x2="54467" y2="42952"/>
                            <a14:foregroundMark x1="54467" y1="42952" x2="59733" y2="50190"/>
                            <a14:foregroundMark x1="59733" y1="50190" x2="62533" y2="43048"/>
                            <a14:foregroundMark x1="62533" y1="43048" x2="58467" y2="35619"/>
                            <a14:foregroundMark x1="58467" y1="35619" x2="57800" y2="35333"/>
                            <a14:foregroundMark x1="60533" y1="33905" x2="54533" y2="40190"/>
                            <a14:foregroundMark x1="54533" y1="40190" x2="54467" y2="49238"/>
                            <a14:foregroundMark x1="54467" y1="49238" x2="61467" y2="49143"/>
                            <a14:foregroundMark x1="61467" y1="49143" x2="63133" y2="40952"/>
                            <a14:foregroundMark x1="63133" y1="40952" x2="60400" y2="34857"/>
                            <a14:foregroundMark x1="62933" y1="66476" x2="56133" y2="65905"/>
                            <a14:foregroundMark x1="56133" y1="65905" x2="51200" y2="72571"/>
                            <a14:foregroundMark x1="51200" y1="72571" x2="54600" y2="80190"/>
                            <a14:foregroundMark x1="54600" y1="80190" x2="62267" y2="80381"/>
                            <a14:foregroundMark x1="62267" y1="80381" x2="64933" y2="72857"/>
                            <a14:foregroundMark x1="64933" y1="72857" x2="63067" y2="65524"/>
                            <a14:foregroundMark x1="63067" y1="65524" x2="59667" y2="65333"/>
                            <a14:foregroundMark x1="59533" y1="64286" x2="53533" y2="66762"/>
                            <a14:foregroundMark x1="53533" y1="66762" x2="53600" y2="77238"/>
                            <a14:foregroundMark x1="53600" y1="77238" x2="61000" y2="83048"/>
                            <a14:foregroundMark x1="61000" y1="83048" x2="65467" y2="71714"/>
                            <a14:foregroundMark x1="65467" y1="71714" x2="61400" y2="66667"/>
                            <a14:foregroundMark x1="61400" y1="66667" x2="59400" y2="66095"/>
                            <a14:foregroundMark x1="59400" y1="66095" x2="53600" y2="66000"/>
                            <a14:foregroundMark x1="53600" y1="66000" x2="56200" y2="75619"/>
                            <a14:foregroundMark x1="56200" y1="75619" x2="63867" y2="70095"/>
                            <a14:foregroundMark x1="63867" y1="70095" x2="61400" y2="65048"/>
                            <a14:foregroundMark x1="61267" y1="65048" x2="55133" y2="62667"/>
                            <a14:foregroundMark x1="55133" y1="62667" x2="54733" y2="73429"/>
                            <a14:foregroundMark x1="54733" y1="73429" x2="60867" y2="77333"/>
                            <a14:foregroundMark x1="60867" y1="77333" x2="62933" y2="66476"/>
                            <a14:foregroundMark x1="62933" y1="66476" x2="62400" y2="65905"/>
                            <a14:foregroundMark x1="60933" y1="65714" x2="60800" y2="65048"/>
                            <a14:foregroundMark x1="60933" y1="65048" x2="61400" y2="65333"/>
                            <a14:foregroundMark x1="55133" y1="67143" x2="54400" y2="69810"/>
                            <a14:foregroundMark x1="5533" y1="19619" x2="23667" y2="31048"/>
                            <a14:foregroundMark x1="23667" y1="31048" x2="30667" y2="28667"/>
                            <a14:foregroundMark x1="30667" y1="28667" x2="35867" y2="30571"/>
                            <a14:foregroundMark x1="29555" y1="49792" x2="23200" y2="69143"/>
                            <a14:foregroundMark x1="30071" y1="48219" x2="29892" y2="48763"/>
                            <a14:foregroundMark x1="35867" y1="30571" x2="33499" y2="37781"/>
                            <a14:foregroundMark x1="23200" y1="69143" x2="18267" y2="74571"/>
                            <a14:foregroundMark x1="18267" y1="74571" x2="11000" y2="72190"/>
                            <a14:foregroundMark x1="11000" y1="72190" x2="1467" y2="50952"/>
                            <a14:foregroundMark x1="1467" y1="50952" x2="2133" y2="22000"/>
                            <a14:foregroundMark x1="2133" y1="22000" x2="5867" y2="18762"/>
                            <a14:foregroundMark x1="5867" y1="18762" x2="34602" y2="36831"/>
                            <a14:foregroundMark x1="29979" y1="54164" x2="26933" y2="63619"/>
                            <a14:foregroundMark x1="26933" y1="63619" x2="22600" y2="68286"/>
                            <a14:foregroundMark x1="22600" y1="68286" x2="6533" y2="24095"/>
                            <a14:foregroundMark x1="6533" y1="24095" x2="6267" y2="22857"/>
                            <a14:foregroundMark x1="34510" y1="43952" x2="34607" y2="44028"/>
                            <a14:foregroundMark x1="33560" y1="43210" x2="34504" y2="43947"/>
                            <a14:foregroundMark x1="7533" y1="22857" x2="31028" y2="41229"/>
                            <a14:foregroundMark x1="30839" y1="64081" x2="28467" y2="73524"/>
                            <a14:foregroundMark x1="28467" y1="73524" x2="14200" y2="63714"/>
                            <a14:foregroundMark x1="14200" y1="63714" x2="9133" y2="31333"/>
                            <a14:foregroundMark x1="9133" y1="31333" x2="10267" y2="23905"/>
                            <a14:foregroundMark x1="13133" y1="28000" x2="22667" y2="32952"/>
                            <a14:foregroundMark x1="22667" y1="32952" x2="28067" y2="47238"/>
                            <a14:foregroundMark x1="28067" y1="47238" x2="25800" y2="58952"/>
                            <a14:foregroundMark x1="25800" y1="58952" x2="6733" y2="35714"/>
                            <a14:foregroundMark x1="6733" y1="35714" x2="4533" y2="10667"/>
                            <a14:foregroundMark x1="4533" y1="10667" x2="11933" y2="17905"/>
                            <a14:foregroundMark x1="11933" y1="17905" x2="13733" y2="22476"/>
                            <a14:backgroundMark x1="38133" y1="36095" x2="32600" y2="40857"/>
                            <a14:backgroundMark x1="32600" y1="40857" x2="30867" y2="48571"/>
                            <a14:backgroundMark x1="30867" y1="48571" x2="32133" y2="61619"/>
                            <a14:backgroundMark x1="36800" y1="41429" x2="30867" y2="64095"/>
                            <a14:backgroundMark x1="30867" y1="64095" x2="35000" y2="41905"/>
                            <a14:backgroundMark x1="35000" y1="41905" x2="37533" y2="41238"/>
                            <a14:backgroundMark x1="36533" y1="41048" x2="35000" y2="41810"/>
                            <a14:backgroundMark x1="35400" y1="43429" x2="34133" y2="41048"/>
                          </a14:backgroundRemoval>
                        </a14:imgEffect>
                      </a14:imgLayer>
                    </a14:imgProps>
                  </a:ext>
                </a:extLst>
              </a:blip>
              <a:srcRect l="51900" t="64450" r="36593" b="17753"/>
              <a:stretch/>
            </p:blipFill>
            <p:spPr>
              <a:xfrm>
                <a:off x="6182693" y="4394527"/>
                <a:ext cx="1023571" cy="1108183"/>
              </a:xfrm>
              <a:prstGeom prst="rect">
                <a:avLst/>
              </a:prstGeom>
            </p:spPr>
          </p:pic>
          <p:sp>
            <p:nvSpPr>
              <p:cNvPr id="138" name="TextBox 137">
                <a:extLst>
                  <a:ext uri="{FF2B5EF4-FFF2-40B4-BE49-F238E27FC236}">
                    <a16:creationId xmlns:a16="http://schemas.microsoft.com/office/drawing/2014/main" id="{EE8D1BD7-0DF4-4EB6-A3C3-FFC4BBE6AED2}"/>
                  </a:ext>
                </a:extLst>
              </p:cNvPr>
              <p:cNvSpPr txBox="1"/>
              <p:nvPr/>
            </p:nvSpPr>
            <p:spPr>
              <a:xfrm>
                <a:off x="5720474" y="5298768"/>
                <a:ext cx="2003638" cy="707886"/>
              </a:xfrm>
              <a:prstGeom prst="rect">
                <a:avLst/>
              </a:prstGeom>
              <a:noFill/>
            </p:spPr>
            <p:txBody>
              <a:bodyPr wrap="square" rtlCol="0">
                <a:spAutoFit/>
              </a:bodyPr>
              <a:lstStyle/>
              <a:p>
                <a:pPr algn="ctr"/>
                <a:r>
                  <a:rPr lang="en-US" sz="2000" dirty="0"/>
                  <a:t>Paraprotein- related injury</a:t>
                </a:r>
              </a:p>
            </p:txBody>
          </p:sp>
        </p:grpSp>
        <p:sp>
          <p:nvSpPr>
            <p:cNvPr id="142" name="TextBox 141">
              <a:extLst>
                <a:ext uri="{FF2B5EF4-FFF2-40B4-BE49-F238E27FC236}">
                  <a16:creationId xmlns:a16="http://schemas.microsoft.com/office/drawing/2014/main" id="{5E2660E5-3A1A-4BF0-9830-A49C0B94234F}"/>
                </a:ext>
              </a:extLst>
            </p:cNvPr>
            <p:cNvSpPr txBox="1"/>
            <p:nvPr/>
          </p:nvSpPr>
          <p:spPr>
            <a:xfrm>
              <a:off x="9759551" y="4774187"/>
              <a:ext cx="2186366" cy="400110"/>
            </a:xfrm>
            <a:prstGeom prst="rect">
              <a:avLst/>
            </a:prstGeom>
            <a:noFill/>
          </p:spPr>
          <p:txBody>
            <a:bodyPr wrap="square" rtlCol="0">
              <a:spAutoFit/>
            </a:bodyPr>
            <a:lstStyle/>
            <a:p>
              <a:r>
                <a:rPr lang="en-US" sz="2000" b="1" u="sng" dirty="0"/>
                <a:t>R</a:t>
              </a:r>
              <a:r>
                <a:rPr lang="en-US" sz="2000" dirty="0"/>
                <a:t>enal disease</a:t>
              </a:r>
            </a:p>
          </p:txBody>
        </p:sp>
      </p:grpSp>
      <p:sp>
        <p:nvSpPr>
          <p:cNvPr id="148" name="Bone marrow infiltration">
            <a:extLst>
              <a:ext uri="{FF2B5EF4-FFF2-40B4-BE49-F238E27FC236}">
                <a16:creationId xmlns:a16="http://schemas.microsoft.com/office/drawing/2014/main" id="{3AE15FF0-538F-47CB-BE9D-63A420C81627}"/>
              </a:ext>
            </a:extLst>
          </p:cNvPr>
          <p:cNvSpPr/>
          <p:nvPr/>
        </p:nvSpPr>
        <p:spPr>
          <a:xfrm>
            <a:off x="5961931" y="1017226"/>
            <a:ext cx="1666308" cy="82383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Bone marrow infiltration</a:t>
            </a:r>
          </a:p>
        </p:txBody>
      </p:sp>
      <p:pic>
        <p:nvPicPr>
          <p:cNvPr id="149" name="Graphic 148" descr="Cursor with solid fill">
            <a:extLst>
              <a:ext uri="{FF2B5EF4-FFF2-40B4-BE49-F238E27FC236}">
                <a16:creationId xmlns:a16="http://schemas.microsoft.com/office/drawing/2014/main" id="{EB1ABB14-8AB3-437E-BA3F-3E353E72509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65604" y="1656063"/>
            <a:ext cx="301752" cy="301752"/>
          </a:xfrm>
          <a:prstGeom prst="rect">
            <a:avLst/>
          </a:prstGeom>
        </p:spPr>
      </p:pic>
      <p:sp>
        <p:nvSpPr>
          <p:cNvPr id="153" name="Rank-L production">
            <a:extLst>
              <a:ext uri="{FF2B5EF4-FFF2-40B4-BE49-F238E27FC236}">
                <a16:creationId xmlns:a16="http://schemas.microsoft.com/office/drawing/2014/main" id="{31BFDDC5-A8B6-4F75-9737-F043C6DF3D2A}"/>
              </a:ext>
            </a:extLst>
          </p:cNvPr>
          <p:cNvSpPr/>
          <p:nvPr/>
        </p:nvSpPr>
        <p:spPr>
          <a:xfrm>
            <a:off x="5948392" y="2786068"/>
            <a:ext cx="1666308" cy="79365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RANK-L production</a:t>
            </a:r>
          </a:p>
        </p:txBody>
      </p:sp>
      <p:pic>
        <p:nvPicPr>
          <p:cNvPr id="154" name="Graphic 153" descr="Cursor with solid fill">
            <a:extLst>
              <a:ext uri="{FF2B5EF4-FFF2-40B4-BE49-F238E27FC236}">
                <a16:creationId xmlns:a16="http://schemas.microsoft.com/office/drawing/2014/main" id="{78CF0CC6-CE2B-4E8B-9763-070B4ABFA50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77363" y="3373044"/>
            <a:ext cx="301752" cy="301752"/>
          </a:xfrm>
          <a:prstGeom prst="rect">
            <a:avLst/>
          </a:prstGeom>
        </p:spPr>
      </p:pic>
      <p:sp>
        <p:nvSpPr>
          <p:cNvPr id="159" name="Paraprotein deposition">
            <a:extLst>
              <a:ext uri="{FF2B5EF4-FFF2-40B4-BE49-F238E27FC236}">
                <a16:creationId xmlns:a16="http://schemas.microsoft.com/office/drawing/2014/main" id="{793954AE-1F73-46B2-A9E4-90B82FD2A0BC}"/>
              </a:ext>
            </a:extLst>
          </p:cNvPr>
          <p:cNvSpPr/>
          <p:nvPr/>
        </p:nvSpPr>
        <p:spPr>
          <a:xfrm>
            <a:off x="5951264" y="4666168"/>
            <a:ext cx="1666308" cy="79365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Paraprotein production</a:t>
            </a:r>
          </a:p>
        </p:txBody>
      </p:sp>
      <p:pic>
        <p:nvPicPr>
          <p:cNvPr id="160" name="Graphic 159" descr="Cursor with solid fill">
            <a:extLst>
              <a:ext uri="{FF2B5EF4-FFF2-40B4-BE49-F238E27FC236}">
                <a16:creationId xmlns:a16="http://schemas.microsoft.com/office/drawing/2014/main" id="{E9638161-7A01-4C2A-85CF-CE58E16D14E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87938" y="5286328"/>
            <a:ext cx="301752" cy="301752"/>
          </a:xfrm>
          <a:prstGeom prst="rect">
            <a:avLst/>
          </a:prstGeom>
        </p:spPr>
      </p:pic>
      <p:cxnSp>
        <p:nvCxnSpPr>
          <p:cNvPr id="5" name="Connector: Elbow 12">
            <a:extLst>
              <a:ext uri="{FF2B5EF4-FFF2-40B4-BE49-F238E27FC236}">
                <a16:creationId xmlns:a16="http://schemas.microsoft.com/office/drawing/2014/main" id="{8CF204A4-52F9-36BF-8E72-92F9EECD8A02}"/>
              </a:ext>
            </a:extLst>
          </p:cNvPr>
          <p:cNvCxnSpPr>
            <a:cxnSpLocks/>
            <a:endCxn id="9" idx="1"/>
          </p:cNvCxnSpPr>
          <p:nvPr/>
        </p:nvCxnSpPr>
        <p:spPr>
          <a:xfrm rot="16200000" flipH="1">
            <a:off x="216420" y="704434"/>
            <a:ext cx="373644" cy="26960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6" name="Connector: Elbow 30">
            <a:extLst>
              <a:ext uri="{FF2B5EF4-FFF2-40B4-BE49-F238E27FC236}">
                <a16:creationId xmlns:a16="http://schemas.microsoft.com/office/drawing/2014/main" id="{2378CB49-C94D-3184-4CA2-A2BCE3F3F648}"/>
              </a:ext>
            </a:extLst>
          </p:cNvPr>
          <p:cNvCxnSpPr>
            <a:cxnSpLocks/>
            <a:endCxn id="11" idx="1"/>
          </p:cNvCxnSpPr>
          <p:nvPr/>
        </p:nvCxnSpPr>
        <p:spPr>
          <a:xfrm rot="16200000" flipH="1">
            <a:off x="-102805" y="988995"/>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7" name="Obj 1">
            <a:hlinkClick r:id="rId10" action="ppaction://hlinksldjump"/>
            <a:extLst>
              <a:ext uri="{FF2B5EF4-FFF2-40B4-BE49-F238E27FC236}">
                <a16:creationId xmlns:a16="http://schemas.microsoft.com/office/drawing/2014/main" id="{A36A3770-1BF8-64EB-18B9-03B7C00195D4}"/>
              </a:ext>
            </a:extLst>
          </p:cNvPr>
          <p:cNvSpPr/>
          <p:nvPr/>
        </p:nvSpPr>
        <p:spPr>
          <a:xfrm>
            <a:off x="183491" y="216531"/>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Pathogenesis</a:t>
            </a:r>
          </a:p>
        </p:txBody>
      </p:sp>
      <p:pic>
        <p:nvPicPr>
          <p:cNvPr id="8" name="Graphic 7" descr="Cursor with solid fill">
            <a:extLst>
              <a:ext uri="{FF2B5EF4-FFF2-40B4-BE49-F238E27FC236}">
                <a16:creationId xmlns:a16="http://schemas.microsoft.com/office/drawing/2014/main" id="{6571EF63-A115-A920-7655-324B18A7E6D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488321"/>
            <a:ext cx="301752" cy="301752"/>
          </a:xfrm>
          <a:prstGeom prst="rect">
            <a:avLst/>
          </a:prstGeom>
        </p:spPr>
      </p:pic>
      <p:sp>
        <p:nvSpPr>
          <p:cNvPr id="9" name="Obj 1">
            <a:hlinkClick r:id="rId10" action="ppaction://hlinksldjump"/>
            <a:extLst>
              <a:ext uri="{FF2B5EF4-FFF2-40B4-BE49-F238E27FC236}">
                <a16:creationId xmlns:a16="http://schemas.microsoft.com/office/drawing/2014/main" id="{D59E85CE-CCF0-FF80-4C92-FD243578B849}"/>
              </a:ext>
            </a:extLst>
          </p:cNvPr>
          <p:cNvSpPr/>
          <p:nvPr/>
        </p:nvSpPr>
        <p:spPr>
          <a:xfrm>
            <a:off x="538043" y="820317"/>
            <a:ext cx="1199928"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Basics</a:t>
            </a:r>
          </a:p>
        </p:txBody>
      </p:sp>
      <p:pic>
        <p:nvPicPr>
          <p:cNvPr id="10" name="Graphic 9" descr="Cursor with solid fill">
            <a:extLst>
              <a:ext uri="{FF2B5EF4-FFF2-40B4-BE49-F238E27FC236}">
                <a16:creationId xmlns:a16="http://schemas.microsoft.com/office/drawing/2014/main" id="{F1D36C3D-C471-574F-50B3-90962912926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1094224"/>
            <a:ext cx="301752" cy="301752"/>
          </a:xfrm>
          <a:prstGeom prst="rect">
            <a:avLst/>
          </a:prstGeom>
        </p:spPr>
      </p:pic>
      <p:sp>
        <p:nvSpPr>
          <p:cNvPr id="11" name="Obj 1">
            <a:hlinkClick r:id="rId11" action="ppaction://hlinksldjump"/>
            <a:extLst>
              <a:ext uri="{FF2B5EF4-FFF2-40B4-BE49-F238E27FC236}">
                <a16:creationId xmlns:a16="http://schemas.microsoft.com/office/drawing/2014/main" id="{44CCCB2F-F7FA-016F-1B20-083C74F48935}"/>
              </a:ext>
            </a:extLst>
          </p:cNvPr>
          <p:cNvSpPr/>
          <p:nvPr/>
        </p:nvSpPr>
        <p:spPr>
          <a:xfrm>
            <a:off x="538043" y="1424103"/>
            <a:ext cx="1199928"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Pathology</a:t>
            </a:r>
          </a:p>
        </p:txBody>
      </p:sp>
      <p:pic>
        <p:nvPicPr>
          <p:cNvPr id="13" name="Graphic 12" descr="Cursor with solid fill">
            <a:extLst>
              <a:ext uri="{FF2B5EF4-FFF2-40B4-BE49-F238E27FC236}">
                <a16:creationId xmlns:a16="http://schemas.microsoft.com/office/drawing/2014/main" id="{23CEAA65-CCCE-20A0-7639-6C76D0E70A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1700127"/>
            <a:ext cx="301752" cy="301752"/>
          </a:xfrm>
          <a:prstGeom prst="rect">
            <a:avLst/>
          </a:prstGeom>
        </p:spPr>
      </p:pic>
      <p:sp>
        <p:nvSpPr>
          <p:cNvPr id="14" name="Obj 1">
            <a:hlinkClick r:id="rId12" action="ppaction://hlinksldjump"/>
            <a:extLst>
              <a:ext uri="{FF2B5EF4-FFF2-40B4-BE49-F238E27FC236}">
                <a16:creationId xmlns:a16="http://schemas.microsoft.com/office/drawing/2014/main" id="{402D9D56-3949-4DEA-2036-BC3A4B44AA87}"/>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5" name="Graphic 14" descr="Cursor with solid fill">
            <a:extLst>
              <a:ext uri="{FF2B5EF4-FFF2-40B4-BE49-F238E27FC236}">
                <a16:creationId xmlns:a16="http://schemas.microsoft.com/office/drawing/2014/main" id="{93D77A56-4404-D75A-3D00-58A9CFE00C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2306030"/>
            <a:ext cx="301752" cy="301752"/>
          </a:xfrm>
          <a:prstGeom prst="rect">
            <a:avLst/>
          </a:prstGeom>
        </p:spPr>
      </p:pic>
      <p:sp>
        <p:nvSpPr>
          <p:cNvPr id="16" name="Obj 1">
            <a:hlinkClick r:id="rId13" action="ppaction://hlinksldjump"/>
            <a:extLst>
              <a:ext uri="{FF2B5EF4-FFF2-40B4-BE49-F238E27FC236}">
                <a16:creationId xmlns:a16="http://schemas.microsoft.com/office/drawing/2014/main" id="{3DB991AC-09E1-C8D0-E463-4BB14A84D78B}"/>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8" name="Graphic 17" descr="Cursor with solid fill">
            <a:extLst>
              <a:ext uri="{FF2B5EF4-FFF2-40B4-BE49-F238E27FC236}">
                <a16:creationId xmlns:a16="http://schemas.microsoft.com/office/drawing/2014/main" id="{D5CCFF94-2EFE-8865-D86C-9D9397B9752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2902408"/>
            <a:ext cx="301752" cy="301752"/>
          </a:xfrm>
          <a:prstGeom prst="rect">
            <a:avLst/>
          </a:prstGeom>
        </p:spPr>
      </p:pic>
      <p:sp>
        <p:nvSpPr>
          <p:cNvPr id="19" name="Obj 1">
            <a:hlinkClick r:id="rId14" action="ppaction://hlinksldjump"/>
            <a:extLst>
              <a:ext uri="{FF2B5EF4-FFF2-40B4-BE49-F238E27FC236}">
                <a16:creationId xmlns:a16="http://schemas.microsoft.com/office/drawing/2014/main" id="{4C17417E-F6ED-8919-5643-105FC9D18240}"/>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0" name="Graphic 19" descr="Cursor with solid fill">
            <a:extLst>
              <a:ext uri="{FF2B5EF4-FFF2-40B4-BE49-F238E27FC236}">
                <a16:creationId xmlns:a16="http://schemas.microsoft.com/office/drawing/2014/main" id="{354FED76-E458-4992-B334-FAEAEDD4B47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3517836"/>
            <a:ext cx="301752" cy="301752"/>
          </a:xfrm>
          <a:prstGeom prst="rect">
            <a:avLst/>
          </a:prstGeom>
        </p:spPr>
      </p:pic>
      <p:sp>
        <p:nvSpPr>
          <p:cNvPr id="21" name="Obj 1">
            <a:hlinkClick r:id="rId15" action="ppaction://hlinksldjump"/>
            <a:extLst>
              <a:ext uri="{FF2B5EF4-FFF2-40B4-BE49-F238E27FC236}">
                <a16:creationId xmlns:a16="http://schemas.microsoft.com/office/drawing/2014/main" id="{81B1CA65-818B-5455-899C-0849A0176011}"/>
              </a:ext>
            </a:extLst>
          </p:cNvPr>
          <p:cNvSpPr/>
          <p:nvPr/>
        </p:nvSpPr>
        <p:spPr>
          <a:xfrm>
            <a:off x="183491" y="383984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22" name="Graphic 21" descr="Cursor with solid fill">
            <a:extLst>
              <a:ext uri="{FF2B5EF4-FFF2-40B4-BE49-F238E27FC236}">
                <a16:creationId xmlns:a16="http://schemas.microsoft.com/office/drawing/2014/main" id="{C1B3DA7B-F77F-EE58-099B-C3F6C6B9153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4110676"/>
            <a:ext cx="301752" cy="301752"/>
          </a:xfrm>
          <a:prstGeom prst="rect">
            <a:avLst/>
          </a:prstGeom>
        </p:spPr>
      </p:pic>
      <p:sp>
        <p:nvSpPr>
          <p:cNvPr id="23" name="Obj 1">
            <a:hlinkClick r:id="rId16" action="ppaction://hlinksldjump"/>
            <a:extLst>
              <a:ext uri="{FF2B5EF4-FFF2-40B4-BE49-F238E27FC236}">
                <a16:creationId xmlns:a16="http://schemas.microsoft.com/office/drawing/2014/main" id="{DD6A8254-7388-79E7-9B8B-4327A1BDB945}"/>
              </a:ext>
            </a:extLst>
          </p:cNvPr>
          <p:cNvSpPr/>
          <p:nvPr/>
        </p:nvSpPr>
        <p:spPr>
          <a:xfrm>
            <a:off x="183491" y="444363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24" name="Graphic 23" descr="Cursor with solid fill">
            <a:extLst>
              <a:ext uri="{FF2B5EF4-FFF2-40B4-BE49-F238E27FC236}">
                <a16:creationId xmlns:a16="http://schemas.microsoft.com/office/drawing/2014/main" id="{492D53D3-076C-AA14-711A-2C493C9F325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91971" y="4729639"/>
            <a:ext cx="301752" cy="301752"/>
          </a:xfrm>
          <a:prstGeom prst="rect">
            <a:avLst/>
          </a:prstGeom>
        </p:spPr>
      </p:pic>
      <p:sp>
        <p:nvSpPr>
          <p:cNvPr id="35" name="TextBox 34">
            <a:extLst>
              <a:ext uri="{FF2B5EF4-FFF2-40B4-BE49-F238E27FC236}">
                <a16:creationId xmlns:a16="http://schemas.microsoft.com/office/drawing/2014/main" id="{C0FFD8E5-75CB-79B0-B853-2064B7FD16D2}"/>
              </a:ext>
            </a:extLst>
          </p:cNvPr>
          <p:cNvSpPr txBox="1"/>
          <p:nvPr/>
        </p:nvSpPr>
        <p:spPr>
          <a:xfrm>
            <a:off x="3557916" y="77401"/>
            <a:ext cx="6009817" cy="523220"/>
          </a:xfrm>
          <a:prstGeom prst="rect">
            <a:avLst/>
          </a:prstGeom>
          <a:noFill/>
        </p:spPr>
        <p:txBody>
          <a:bodyPr wrap="square" rtlCol="0">
            <a:spAutoFit/>
          </a:bodyPr>
          <a:lstStyle/>
          <a:p>
            <a:pPr algn="ctr"/>
            <a:r>
              <a:rPr lang="en-US" sz="2800" b="1" dirty="0"/>
              <a:t>Pathogenesis - Pathology</a:t>
            </a:r>
          </a:p>
        </p:txBody>
      </p:sp>
    </p:spTree>
    <p:extLst>
      <p:ext uri="{BB962C8B-B14F-4D97-AF65-F5344CB8AC3E}">
        <p14:creationId xmlns:p14="http://schemas.microsoft.com/office/powerpoint/2010/main" val="1156993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4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48"/>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49"/>
                                        </p:tgtEl>
                                        <p:attrNameLst>
                                          <p:attrName>style.visibility</p:attrName>
                                        </p:attrNameLst>
                                      </p:cBhvr>
                                      <p:to>
                                        <p:strVal val="hidden"/>
                                      </p:to>
                                    </p:set>
                                  </p:childTnLst>
                                </p:cTn>
                              </p:par>
                            </p:childTnLst>
                          </p:cTn>
                        </p:par>
                      </p:childTnLst>
                    </p:cTn>
                  </p:par>
                </p:childTnLst>
              </p:cTn>
              <p:nextCondLst>
                <p:cond evt="onClick" delay="0">
                  <p:tgtEl>
                    <p:spTgt spid="148"/>
                  </p:tgtEl>
                </p:cond>
              </p:nextCondLst>
            </p:seq>
            <p:seq concurrent="1" nextAc="seek">
              <p:cTn id="13" restart="whenNotActive" fill="hold" evtFilter="cancelBubble" nodeType="interactiveSeq">
                <p:stCondLst>
                  <p:cond evt="onClick" delay="0">
                    <p:tgtEl>
                      <p:spTgt spid="153"/>
                    </p:tgtEl>
                  </p:cond>
                </p:stCondLst>
                <p:endSync evt="end" delay="0">
                  <p:rtn val="all"/>
                </p:endSync>
                <p:childTnLst>
                  <p:par>
                    <p:cTn id="14" fill="hold">
                      <p:stCondLst>
                        <p:cond delay="0"/>
                      </p:stCondLst>
                      <p:childTnLst>
                        <p:par>
                          <p:cTn id="15" fill="hold">
                            <p:stCondLst>
                              <p:cond delay="0"/>
                            </p:stCondLst>
                            <p:childTnLst>
                              <p:par>
                                <p:cTn id="16" presetID="1" presetClass="exit" presetSubtype="0" fill="hold" grpId="0" nodeType="withEffect">
                                  <p:stCondLst>
                                    <p:cond delay="0"/>
                                  </p:stCondLst>
                                  <p:childTnLst>
                                    <p:set>
                                      <p:cBhvr>
                                        <p:cTn id="17" dur="1" fill="hold">
                                          <p:stCondLst>
                                            <p:cond delay="0"/>
                                          </p:stCondLst>
                                        </p:cTn>
                                        <p:tgtEl>
                                          <p:spTgt spid="153"/>
                                        </p:tgtEl>
                                        <p:attrNameLst>
                                          <p:attrName>style.visibility</p:attrName>
                                        </p:attrNameLst>
                                      </p:cBhvr>
                                      <p:to>
                                        <p:strVal val="hidden"/>
                                      </p:to>
                                    </p:set>
                                  </p:childTnLst>
                                </p:cTn>
                              </p:par>
                              <p:par>
                                <p:cTn id="18" presetID="1" presetClass="entr" presetSubtype="0" fill="hold" nodeType="withEffect">
                                  <p:stCondLst>
                                    <p:cond delay="0"/>
                                  </p:stCondLst>
                                  <p:childTnLst>
                                    <p:set>
                                      <p:cBhvr>
                                        <p:cTn id="19" dur="1" fill="hold">
                                          <p:stCondLst>
                                            <p:cond delay="0"/>
                                          </p:stCondLst>
                                        </p:cTn>
                                        <p:tgtEl>
                                          <p:spTgt spid="67"/>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154"/>
                                        </p:tgtEl>
                                        <p:attrNameLst>
                                          <p:attrName>style.visibility</p:attrName>
                                        </p:attrNameLst>
                                      </p:cBhvr>
                                      <p:to>
                                        <p:strVal val="hidden"/>
                                      </p:to>
                                    </p:set>
                                  </p:childTnLst>
                                </p:cTn>
                              </p:par>
                            </p:childTnLst>
                          </p:cTn>
                        </p:par>
                      </p:childTnLst>
                    </p:cTn>
                  </p:par>
                </p:childTnLst>
              </p:cTn>
              <p:nextCondLst>
                <p:cond evt="onClick" delay="0">
                  <p:tgtEl>
                    <p:spTgt spid="153"/>
                  </p:tgtEl>
                </p:cond>
              </p:nextCondLst>
            </p:seq>
            <p:seq concurrent="1" nextAc="seek">
              <p:cTn id="22" restart="whenNotActive" fill="hold" evtFilter="cancelBubble" nodeType="interactiveSeq">
                <p:stCondLst>
                  <p:cond evt="onClick" delay="0">
                    <p:tgtEl>
                      <p:spTgt spid="15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withEffect">
                                  <p:stCondLst>
                                    <p:cond delay="0"/>
                                  </p:stCondLst>
                                  <p:childTnLst>
                                    <p:set>
                                      <p:cBhvr>
                                        <p:cTn id="26" dur="1" fill="hold">
                                          <p:stCondLst>
                                            <p:cond delay="0"/>
                                          </p:stCondLst>
                                        </p:cTn>
                                        <p:tgtEl>
                                          <p:spTgt spid="15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0"/>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159"/>
                  </p:tgtEl>
                </p:cond>
              </p:nextCondLst>
            </p:seq>
          </p:childTnLst>
        </p:cTn>
      </p:par>
    </p:tnLst>
    <p:bldLst>
      <p:bldP spid="148" grpId="0" animBg="1"/>
      <p:bldP spid="153" grpId="0" animBg="1"/>
      <p:bldP spid="15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C7AF06-E809-4FA6-2AE3-501C9681FD59}"/>
              </a:ext>
            </a:extLst>
          </p:cNvPr>
          <p:cNvSpPr/>
          <p:nvPr/>
        </p:nvSpPr>
        <p:spPr>
          <a:xfrm>
            <a:off x="6992347" y="3320732"/>
            <a:ext cx="4716395" cy="24941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957EA03C-AC41-248F-F979-C722FCEF417F}"/>
              </a:ext>
            </a:extLst>
          </p:cNvPr>
          <p:cNvSpPr/>
          <p:nvPr/>
        </p:nvSpPr>
        <p:spPr>
          <a:xfrm>
            <a:off x="2060812" y="3321601"/>
            <a:ext cx="4835428" cy="249417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3814766D-90BE-9E47-BD7C-897865591A77}"/>
              </a:ext>
            </a:extLst>
          </p:cNvPr>
          <p:cNvSpPr txBox="1"/>
          <p:nvPr/>
        </p:nvSpPr>
        <p:spPr>
          <a:xfrm>
            <a:off x="3737295" y="734179"/>
            <a:ext cx="1529586" cy="345943"/>
          </a:xfrm>
          <a:prstGeom prst="rect">
            <a:avLst/>
          </a:prstGeom>
          <a:noFill/>
        </p:spPr>
        <p:txBody>
          <a:bodyPr wrap="none" rtlCol="0">
            <a:spAutoFit/>
          </a:bodyPr>
          <a:lstStyle/>
          <a:p>
            <a:r>
              <a:rPr lang="en-US" sz="2000" dirty="0"/>
              <a:t>Normal SPEP</a:t>
            </a:r>
          </a:p>
        </p:txBody>
      </p:sp>
      <p:sp>
        <p:nvSpPr>
          <p:cNvPr id="48" name="TextBox 47">
            <a:extLst>
              <a:ext uri="{FF2B5EF4-FFF2-40B4-BE49-F238E27FC236}">
                <a16:creationId xmlns:a16="http://schemas.microsoft.com/office/drawing/2014/main" id="{B34609D5-0B8A-1C41-97F5-69712CFB28F4}"/>
              </a:ext>
            </a:extLst>
          </p:cNvPr>
          <p:cNvSpPr txBox="1"/>
          <p:nvPr/>
        </p:nvSpPr>
        <p:spPr>
          <a:xfrm>
            <a:off x="8180884" y="707780"/>
            <a:ext cx="1782860" cy="344160"/>
          </a:xfrm>
          <a:prstGeom prst="rect">
            <a:avLst/>
          </a:prstGeom>
          <a:noFill/>
        </p:spPr>
        <p:txBody>
          <a:bodyPr wrap="none" rtlCol="0">
            <a:spAutoFit/>
          </a:bodyPr>
          <a:lstStyle/>
          <a:p>
            <a:r>
              <a:rPr lang="en-US" sz="2000" dirty="0"/>
              <a:t>Abnormal SPEP</a:t>
            </a:r>
          </a:p>
        </p:txBody>
      </p:sp>
      <p:sp>
        <p:nvSpPr>
          <p:cNvPr id="49" name="TextBox 48">
            <a:extLst>
              <a:ext uri="{FF2B5EF4-FFF2-40B4-BE49-F238E27FC236}">
                <a16:creationId xmlns:a16="http://schemas.microsoft.com/office/drawing/2014/main" id="{79948793-1895-A54B-95D5-4D7BCD1F7722}"/>
              </a:ext>
            </a:extLst>
          </p:cNvPr>
          <p:cNvSpPr txBox="1"/>
          <p:nvPr/>
        </p:nvSpPr>
        <p:spPr>
          <a:xfrm>
            <a:off x="3662189" y="3304424"/>
            <a:ext cx="1828800" cy="457200"/>
          </a:xfrm>
          <a:prstGeom prst="rect">
            <a:avLst/>
          </a:prstGeom>
          <a:noFill/>
        </p:spPr>
        <p:txBody>
          <a:bodyPr wrap="square">
            <a:spAutoFit/>
          </a:bodyPr>
          <a:lstStyle/>
          <a:p>
            <a:pPr algn="ctr"/>
            <a:r>
              <a:rPr lang="en-US" sz="2000" i="0" dirty="0">
                <a:solidFill>
                  <a:srgbClr val="2A2A33"/>
                </a:solidFill>
                <a:effectLst/>
                <a:latin typeface="Calibri" panose="020F0502020204030204" pitchFamily="34" charset="0"/>
                <a:cs typeface="Calibri" panose="020F0502020204030204" pitchFamily="34" charset="0"/>
              </a:rPr>
              <a:t>Example SPEP</a:t>
            </a:r>
          </a:p>
        </p:txBody>
      </p:sp>
      <p:sp>
        <p:nvSpPr>
          <p:cNvPr id="50" name="TextBox 49">
            <a:extLst>
              <a:ext uri="{FF2B5EF4-FFF2-40B4-BE49-F238E27FC236}">
                <a16:creationId xmlns:a16="http://schemas.microsoft.com/office/drawing/2014/main" id="{4AD6BF92-D6DE-DC40-AFE9-D79DE4622D4C}"/>
              </a:ext>
            </a:extLst>
          </p:cNvPr>
          <p:cNvSpPr txBox="1"/>
          <p:nvPr/>
        </p:nvSpPr>
        <p:spPr>
          <a:xfrm>
            <a:off x="7591088" y="3299040"/>
            <a:ext cx="3017520" cy="457200"/>
          </a:xfrm>
          <a:prstGeom prst="rect">
            <a:avLst/>
          </a:prstGeom>
          <a:noFill/>
        </p:spPr>
        <p:txBody>
          <a:bodyPr wrap="square">
            <a:spAutoFit/>
          </a:bodyPr>
          <a:lstStyle/>
          <a:p>
            <a:pPr algn="ctr"/>
            <a:r>
              <a:rPr lang="en-US" sz="2000" i="0" dirty="0">
                <a:solidFill>
                  <a:srgbClr val="2A2A33"/>
                </a:solidFill>
                <a:effectLst/>
                <a:latin typeface="Calibri" panose="020F0502020204030204" pitchFamily="34" charset="0"/>
                <a:cs typeface="Calibri" panose="020F0502020204030204" pitchFamily="34" charset="0"/>
              </a:rPr>
              <a:t>Example Immunofixation</a:t>
            </a:r>
          </a:p>
        </p:txBody>
      </p:sp>
      <p:sp>
        <p:nvSpPr>
          <p:cNvPr id="53" name="TextBox 52">
            <a:extLst>
              <a:ext uri="{FF2B5EF4-FFF2-40B4-BE49-F238E27FC236}">
                <a16:creationId xmlns:a16="http://schemas.microsoft.com/office/drawing/2014/main" id="{B9F22581-9E99-B74A-B23E-9B9EAE7026B1}"/>
              </a:ext>
            </a:extLst>
          </p:cNvPr>
          <p:cNvSpPr txBox="1"/>
          <p:nvPr/>
        </p:nvSpPr>
        <p:spPr>
          <a:xfrm>
            <a:off x="7269543" y="4160392"/>
            <a:ext cx="1717043" cy="830997"/>
          </a:xfrm>
          <a:prstGeom prst="rect">
            <a:avLst/>
          </a:prstGeom>
          <a:noFill/>
        </p:spPr>
        <p:txBody>
          <a:bodyPr wrap="square">
            <a:spAutoFit/>
          </a:bodyPr>
          <a:lstStyle/>
          <a:p>
            <a:pPr algn="ctr"/>
            <a:r>
              <a:rPr lang="en-US" sz="1600" i="0" dirty="0">
                <a:solidFill>
                  <a:srgbClr val="2A2A33"/>
                </a:solidFill>
                <a:effectLst/>
                <a:latin typeface="Calibri" panose="020F0502020204030204" pitchFamily="34" charset="0"/>
                <a:cs typeface="Calibri" panose="020F0502020204030204" pitchFamily="34" charset="0"/>
              </a:rPr>
              <a:t>“There is an IgG Kappa restricted M-protein “</a:t>
            </a:r>
          </a:p>
        </p:txBody>
      </p:sp>
      <p:sp>
        <p:nvSpPr>
          <p:cNvPr id="108" name="Abnormal SPEP">
            <a:extLst>
              <a:ext uri="{FF2B5EF4-FFF2-40B4-BE49-F238E27FC236}">
                <a16:creationId xmlns:a16="http://schemas.microsoft.com/office/drawing/2014/main" id="{1300D61B-D774-45E6-AA10-99E6ED4A9CA5}"/>
              </a:ext>
            </a:extLst>
          </p:cNvPr>
          <p:cNvSpPr/>
          <p:nvPr/>
        </p:nvSpPr>
        <p:spPr>
          <a:xfrm>
            <a:off x="8150932" y="678556"/>
            <a:ext cx="1815468"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Abnormal SPEP</a:t>
            </a:r>
          </a:p>
        </p:txBody>
      </p:sp>
      <p:pic>
        <p:nvPicPr>
          <p:cNvPr id="109" name="Graphic 108" descr="Cursor with solid fill">
            <a:extLst>
              <a:ext uri="{FF2B5EF4-FFF2-40B4-BE49-F238E27FC236}">
                <a16:creationId xmlns:a16="http://schemas.microsoft.com/office/drawing/2014/main" id="{DFACBEAA-EB1B-425F-A753-20381D7B50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824172" y="993277"/>
            <a:ext cx="301752" cy="301752"/>
          </a:xfrm>
          <a:prstGeom prst="rect">
            <a:avLst/>
          </a:prstGeom>
        </p:spPr>
      </p:pic>
      <p:sp>
        <p:nvSpPr>
          <p:cNvPr id="78" name="Example SPEP">
            <a:extLst>
              <a:ext uri="{FF2B5EF4-FFF2-40B4-BE49-F238E27FC236}">
                <a16:creationId xmlns:a16="http://schemas.microsoft.com/office/drawing/2014/main" id="{6369D6AF-8E17-4703-9352-43CE7E11452C}"/>
              </a:ext>
            </a:extLst>
          </p:cNvPr>
          <p:cNvSpPr/>
          <p:nvPr/>
        </p:nvSpPr>
        <p:spPr>
          <a:xfrm>
            <a:off x="3662189" y="3277128"/>
            <a:ext cx="18288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Example SPEP</a:t>
            </a:r>
          </a:p>
        </p:txBody>
      </p:sp>
      <p:pic>
        <p:nvPicPr>
          <p:cNvPr id="79" name="Graphic 78" descr="Cursor with solid fill">
            <a:extLst>
              <a:ext uri="{FF2B5EF4-FFF2-40B4-BE49-F238E27FC236}">
                <a16:creationId xmlns:a16="http://schemas.microsoft.com/office/drawing/2014/main" id="{47EE4BCD-5A8D-49D4-BE73-B8B5FA3558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53761" y="3596613"/>
            <a:ext cx="301752" cy="301752"/>
          </a:xfrm>
          <a:prstGeom prst="rect">
            <a:avLst/>
          </a:prstGeom>
        </p:spPr>
      </p:pic>
      <p:sp>
        <p:nvSpPr>
          <p:cNvPr id="97" name="Example IFX">
            <a:extLst>
              <a:ext uri="{FF2B5EF4-FFF2-40B4-BE49-F238E27FC236}">
                <a16:creationId xmlns:a16="http://schemas.microsoft.com/office/drawing/2014/main" id="{4E0D9B4B-2CBC-4A08-9D10-B075430CD64B}"/>
              </a:ext>
            </a:extLst>
          </p:cNvPr>
          <p:cNvSpPr/>
          <p:nvPr/>
        </p:nvSpPr>
        <p:spPr>
          <a:xfrm>
            <a:off x="7591088" y="3271744"/>
            <a:ext cx="301752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Example Immunofixation</a:t>
            </a:r>
          </a:p>
        </p:txBody>
      </p:sp>
      <p:pic>
        <p:nvPicPr>
          <p:cNvPr id="98" name="Graphic 97" descr="Cursor with solid fill">
            <a:extLst>
              <a:ext uri="{FF2B5EF4-FFF2-40B4-BE49-F238E27FC236}">
                <a16:creationId xmlns:a16="http://schemas.microsoft.com/office/drawing/2014/main" id="{9BE0CD03-A5FC-4860-B2A0-129F623847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70941" y="3596613"/>
            <a:ext cx="301752" cy="301752"/>
          </a:xfrm>
          <a:prstGeom prst="rect">
            <a:avLst/>
          </a:prstGeom>
        </p:spPr>
      </p:pic>
      <p:sp>
        <p:nvSpPr>
          <p:cNvPr id="4" name="TextBox 3">
            <a:extLst>
              <a:ext uri="{FF2B5EF4-FFF2-40B4-BE49-F238E27FC236}">
                <a16:creationId xmlns:a16="http://schemas.microsoft.com/office/drawing/2014/main" id="{D6DD5561-54E1-DBFD-5D0C-CA746DC257B1}"/>
              </a:ext>
            </a:extLst>
          </p:cNvPr>
          <p:cNvSpPr txBox="1"/>
          <p:nvPr/>
        </p:nvSpPr>
        <p:spPr>
          <a:xfrm>
            <a:off x="3452884" y="77401"/>
            <a:ext cx="6211764" cy="523220"/>
          </a:xfrm>
          <a:prstGeom prst="rect">
            <a:avLst/>
          </a:prstGeom>
          <a:noFill/>
        </p:spPr>
        <p:txBody>
          <a:bodyPr wrap="square" rtlCol="0">
            <a:spAutoFit/>
          </a:bodyPr>
          <a:lstStyle/>
          <a:p>
            <a:pPr algn="ctr"/>
            <a:r>
              <a:rPr lang="en-US" sz="2800" b="1" dirty="0"/>
              <a:t>Testing – Serum Protein Electrophoresis</a:t>
            </a:r>
          </a:p>
        </p:txBody>
      </p:sp>
      <p:cxnSp>
        <p:nvCxnSpPr>
          <p:cNvPr id="6" name="Connector: Elbow 12">
            <a:extLst>
              <a:ext uri="{FF2B5EF4-FFF2-40B4-BE49-F238E27FC236}">
                <a16:creationId xmlns:a16="http://schemas.microsoft.com/office/drawing/2014/main" id="{3A4D4AF0-BDF0-6DAF-162B-A38492370EA8}"/>
              </a:ext>
            </a:extLst>
          </p:cNvPr>
          <p:cNvCxnSpPr>
            <a:cxnSpLocks/>
          </p:cNvCxnSpPr>
          <p:nvPr/>
        </p:nvCxnSpPr>
        <p:spPr>
          <a:xfrm rot="16200000" flipH="1">
            <a:off x="204101" y="1310599"/>
            <a:ext cx="373644" cy="26960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4" name="Connector: Elbow 30">
            <a:extLst>
              <a:ext uri="{FF2B5EF4-FFF2-40B4-BE49-F238E27FC236}">
                <a16:creationId xmlns:a16="http://schemas.microsoft.com/office/drawing/2014/main" id="{CCC0CDD9-6BF1-D030-4289-4BF23ED1591F}"/>
              </a:ext>
            </a:extLst>
          </p:cNvPr>
          <p:cNvCxnSpPr>
            <a:cxnSpLocks/>
          </p:cNvCxnSpPr>
          <p:nvPr/>
        </p:nvCxnSpPr>
        <p:spPr>
          <a:xfrm rot="16200000" flipH="1">
            <a:off x="-115124" y="1595160"/>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8" name="Obj 1">
            <a:hlinkClick r:id="rId5" action="ppaction://hlinksldjump"/>
            <a:extLst>
              <a:ext uri="{FF2B5EF4-FFF2-40B4-BE49-F238E27FC236}">
                <a16:creationId xmlns:a16="http://schemas.microsoft.com/office/drawing/2014/main" id="{7809A5D7-3729-090E-9546-9C7507687806}"/>
              </a:ext>
            </a:extLst>
          </p:cNvPr>
          <p:cNvSpPr/>
          <p:nvPr/>
        </p:nvSpPr>
        <p:spPr>
          <a:xfrm>
            <a:off x="183491"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19" name="Graphic 18" descr="Cursor with solid fill">
            <a:extLst>
              <a:ext uri="{FF2B5EF4-FFF2-40B4-BE49-F238E27FC236}">
                <a16:creationId xmlns:a16="http://schemas.microsoft.com/office/drawing/2014/main" id="{1F65AAA1-BF22-6404-81B7-B78D64D890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488321"/>
            <a:ext cx="301752" cy="301752"/>
          </a:xfrm>
          <a:prstGeom prst="rect">
            <a:avLst/>
          </a:prstGeom>
        </p:spPr>
      </p:pic>
      <p:sp>
        <p:nvSpPr>
          <p:cNvPr id="20" name="Obj 1">
            <a:hlinkClick r:id="rId6" action="ppaction://hlinksldjump"/>
            <a:extLst>
              <a:ext uri="{FF2B5EF4-FFF2-40B4-BE49-F238E27FC236}">
                <a16:creationId xmlns:a16="http://schemas.microsoft.com/office/drawing/2014/main" id="{C582F559-AC04-1DFC-3F39-2373588411C1}"/>
              </a:ext>
            </a:extLst>
          </p:cNvPr>
          <p:cNvSpPr/>
          <p:nvPr/>
        </p:nvSpPr>
        <p:spPr>
          <a:xfrm>
            <a:off x="183491" y="820317"/>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Testing</a:t>
            </a:r>
          </a:p>
        </p:txBody>
      </p:sp>
      <p:sp>
        <p:nvSpPr>
          <p:cNvPr id="22" name="Obj 1">
            <a:hlinkClick r:id="rId7" action="ppaction://hlinksldjump"/>
            <a:extLst>
              <a:ext uri="{FF2B5EF4-FFF2-40B4-BE49-F238E27FC236}">
                <a16:creationId xmlns:a16="http://schemas.microsoft.com/office/drawing/2014/main" id="{AF54C707-F434-4434-6897-75E2496256A1}"/>
              </a:ext>
            </a:extLst>
          </p:cNvPr>
          <p:cNvSpPr/>
          <p:nvPr/>
        </p:nvSpPr>
        <p:spPr>
          <a:xfrm>
            <a:off x="538043" y="1424103"/>
            <a:ext cx="1199928"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SPEP</a:t>
            </a:r>
          </a:p>
        </p:txBody>
      </p:sp>
      <p:sp>
        <p:nvSpPr>
          <p:cNvPr id="25" name="Obj 1">
            <a:hlinkClick r:id="rId8" action="ppaction://hlinksldjump"/>
            <a:extLst>
              <a:ext uri="{FF2B5EF4-FFF2-40B4-BE49-F238E27FC236}">
                <a16:creationId xmlns:a16="http://schemas.microsoft.com/office/drawing/2014/main" id="{123B8427-470C-E201-A7CA-579A8E4CD9CB}"/>
              </a:ext>
            </a:extLst>
          </p:cNvPr>
          <p:cNvSpPr/>
          <p:nvPr/>
        </p:nvSpPr>
        <p:spPr>
          <a:xfrm>
            <a:off x="525723" y="2027889"/>
            <a:ext cx="1212247"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UPEP</a:t>
            </a:r>
          </a:p>
        </p:txBody>
      </p:sp>
      <p:pic>
        <p:nvPicPr>
          <p:cNvPr id="33" name="Graphic 32" descr="Cursor with solid fill">
            <a:extLst>
              <a:ext uri="{FF2B5EF4-FFF2-40B4-BE49-F238E27FC236}">
                <a16:creationId xmlns:a16="http://schemas.microsoft.com/office/drawing/2014/main" id="{0B9107CB-6C14-4F84-49AF-9A8333E943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2306030"/>
            <a:ext cx="301752" cy="301752"/>
          </a:xfrm>
          <a:prstGeom prst="rect">
            <a:avLst/>
          </a:prstGeom>
        </p:spPr>
      </p:pic>
      <p:sp>
        <p:nvSpPr>
          <p:cNvPr id="47" name="Obj 1">
            <a:hlinkClick r:id="rId9" action="ppaction://hlinksldjump"/>
            <a:extLst>
              <a:ext uri="{FF2B5EF4-FFF2-40B4-BE49-F238E27FC236}">
                <a16:creationId xmlns:a16="http://schemas.microsoft.com/office/drawing/2014/main" id="{97C77F4F-4CC4-4D3F-57B5-27ACFD137213}"/>
              </a:ext>
            </a:extLst>
          </p:cNvPr>
          <p:cNvSpPr/>
          <p:nvPr/>
        </p:nvSpPr>
        <p:spPr>
          <a:xfrm>
            <a:off x="525723" y="2631675"/>
            <a:ext cx="1212248"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FLC</a:t>
            </a:r>
          </a:p>
        </p:txBody>
      </p:sp>
      <p:pic>
        <p:nvPicPr>
          <p:cNvPr id="52" name="Graphic 51" descr="Cursor with solid fill">
            <a:extLst>
              <a:ext uri="{FF2B5EF4-FFF2-40B4-BE49-F238E27FC236}">
                <a16:creationId xmlns:a16="http://schemas.microsoft.com/office/drawing/2014/main" id="{7808AA74-9A04-6B4A-524F-5F68E438EA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2902408"/>
            <a:ext cx="301752" cy="301752"/>
          </a:xfrm>
          <a:prstGeom prst="rect">
            <a:avLst/>
          </a:prstGeom>
        </p:spPr>
      </p:pic>
      <p:sp>
        <p:nvSpPr>
          <p:cNvPr id="60" name="Obj 1">
            <a:hlinkClick r:id="rId10" action="ppaction://hlinksldjump"/>
            <a:extLst>
              <a:ext uri="{FF2B5EF4-FFF2-40B4-BE49-F238E27FC236}">
                <a16:creationId xmlns:a16="http://schemas.microsoft.com/office/drawing/2014/main" id="{CBB8F7D1-2C50-82D4-21E6-A19C924865BF}"/>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61" name="Graphic 60" descr="Cursor with solid fill">
            <a:extLst>
              <a:ext uri="{FF2B5EF4-FFF2-40B4-BE49-F238E27FC236}">
                <a16:creationId xmlns:a16="http://schemas.microsoft.com/office/drawing/2014/main" id="{8587A660-C3D0-4811-AF7B-49DE55559A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3517836"/>
            <a:ext cx="301752" cy="301752"/>
          </a:xfrm>
          <a:prstGeom prst="rect">
            <a:avLst/>
          </a:prstGeom>
        </p:spPr>
      </p:pic>
      <p:sp>
        <p:nvSpPr>
          <p:cNvPr id="62" name="Obj 1">
            <a:hlinkClick r:id="rId11" action="ppaction://hlinksldjump"/>
            <a:extLst>
              <a:ext uri="{FF2B5EF4-FFF2-40B4-BE49-F238E27FC236}">
                <a16:creationId xmlns:a16="http://schemas.microsoft.com/office/drawing/2014/main" id="{DFB628E3-6C5B-FC61-B32C-B5C623554E0E}"/>
              </a:ext>
            </a:extLst>
          </p:cNvPr>
          <p:cNvSpPr/>
          <p:nvPr/>
        </p:nvSpPr>
        <p:spPr>
          <a:xfrm>
            <a:off x="183491" y="383984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63" name="Graphic 62" descr="Cursor with solid fill">
            <a:extLst>
              <a:ext uri="{FF2B5EF4-FFF2-40B4-BE49-F238E27FC236}">
                <a16:creationId xmlns:a16="http://schemas.microsoft.com/office/drawing/2014/main" id="{D11F4196-326A-0AB9-6A86-87DFFE4C25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4110676"/>
            <a:ext cx="301752" cy="301752"/>
          </a:xfrm>
          <a:prstGeom prst="rect">
            <a:avLst/>
          </a:prstGeom>
        </p:spPr>
      </p:pic>
      <p:sp>
        <p:nvSpPr>
          <p:cNvPr id="64" name="Obj 1">
            <a:hlinkClick r:id="rId12" action="ppaction://hlinksldjump"/>
            <a:extLst>
              <a:ext uri="{FF2B5EF4-FFF2-40B4-BE49-F238E27FC236}">
                <a16:creationId xmlns:a16="http://schemas.microsoft.com/office/drawing/2014/main" id="{16080DF2-8598-1E7D-550F-3BA8A45FFD48}"/>
              </a:ext>
            </a:extLst>
          </p:cNvPr>
          <p:cNvSpPr/>
          <p:nvPr/>
        </p:nvSpPr>
        <p:spPr>
          <a:xfrm>
            <a:off x="183491" y="444363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65" name="Graphic 64" descr="Cursor with solid fill">
            <a:extLst>
              <a:ext uri="{FF2B5EF4-FFF2-40B4-BE49-F238E27FC236}">
                <a16:creationId xmlns:a16="http://schemas.microsoft.com/office/drawing/2014/main" id="{A07C65D4-1204-107F-DD69-11CC00E8C8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1971" y="4729639"/>
            <a:ext cx="301752" cy="301752"/>
          </a:xfrm>
          <a:prstGeom prst="rect">
            <a:avLst/>
          </a:prstGeom>
        </p:spPr>
      </p:pic>
      <p:cxnSp>
        <p:nvCxnSpPr>
          <p:cNvPr id="68" name="Connector: Elbow 30">
            <a:extLst>
              <a:ext uri="{FF2B5EF4-FFF2-40B4-BE49-F238E27FC236}">
                <a16:creationId xmlns:a16="http://schemas.microsoft.com/office/drawing/2014/main" id="{CB0904ED-AED1-41CB-9505-30EDC22C96C9}"/>
              </a:ext>
            </a:extLst>
          </p:cNvPr>
          <p:cNvCxnSpPr>
            <a:cxnSpLocks/>
          </p:cNvCxnSpPr>
          <p:nvPr/>
        </p:nvCxnSpPr>
        <p:spPr>
          <a:xfrm rot="16200000" flipH="1">
            <a:off x="-115126" y="2196568"/>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70" name="Obj 1">
            <a:hlinkClick r:id="rId13" action="ppaction://hlinksldjump"/>
            <a:extLst>
              <a:ext uri="{FF2B5EF4-FFF2-40B4-BE49-F238E27FC236}">
                <a16:creationId xmlns:a16="http://schemas.microsoft.com/office/drawing/2014/main" id="{F5030B54-B84E-BA01-DE34-1FBEDAA5B90D}"/>
              </a:ext>
            </a:extLst>
          </p:cNvPr>
          <p:cNvSpPr/>
          <p:nvPr/>
        </p:nvSpPr>
        <p:spPr>
          <a:xfrm>
            <a:off x="169115" y="50462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71" name="Graphic 70" descr="Cursor with solid fill">
            <a:extLst>
              <a:ext uri="{FF2B5EF4-FFF2-40B4-BE49-F238E27FC236}">
                <a16:creationId xmlns:a16="http://schemas.microsoft.com/office/drawing/2014/main" id="{B198ABF0-4361-90B5-7150-F993CCCD1F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77595" y="5332271"/>
            <a:ext cx="301752" cy="301752"/>
          </a:xfrm>
          <a:prstGeom prst="rect">
            <a:avLst/>
          </a:prstGeom>
        </p:spPr>
      </p:pic>
      <p:grpSp>
        <p:nvGrpSpPr>
          <p:cNvPr id="125" name="Group 124">
            <a:extLst>
              <a:ext uri="{FF2B5EF4-FFF2-40B4-BE49-F238E27FC236}">
                <a16:creationId xmlns:a16="http://schemas.microsoft.com/office/drawing/2014/main" id="{14B21ABD-58EE-F813-9061-FBC11C902158}"/>
              </a:ext>
            </a:extLst>
          </p:cNvPr>
          <p:cNvGrpSpPr/>
          <p:nvPr/>
        </p:nvGrpSpPr>
        <p:grpSpPr>
          <a:xfrm>
            <a:off x="2682839" y="1226798"/>
            <a:ext cx="3698915" cy="1838733"/>
            <a:chOff x="2801226" y="1549479"/>
            <a:chExt cx="3698915" cy="2260639"/>
          </a:xfrm>
        </p:grpSpPr>
        <p:sp>
          <p:nvSpPr>
            <p:cNvPr id="7" name="Freeform 6">
              <a:extLst>
                <a:ext uri="{FF2B5EF4-FFF2-40B4-BE49-F238E27FC236}">
                  <a16:creationId xmlns:a16="http://schemas.microsoft.com/office/drawing/2014/main" id="{6F7D9894-719A-B14F-8692-7CDDE911604D}"/>
                </a:ext>
              </a:extLst>
            </p:cNvPr>
            <p:cNvSpPr/>
            <p:nvPr/>
          </p:nvSpPr>
          <p:spPr>
            <a:xfrm>
              <a:off x="2942338" y="1729962"/>
              <a:ext cx="3354036" cy="1750580"/>
            </a:xfrm>
            <a:custGeom>
              <a:avLst/>
              <a:gdLst>
                <a:gd name="connsiteX0" fmla="*/ 0 w 5127812"/>
                <a:gd name="connsiteY0" fmla="*/ 3263162 h 3349429"/>
                <a:gd name="connsiteX1" fmla="*/ 376518 w 5127812"/>
                <a:gd name="connsiteY1" fmla="*/ 9 h 3349429"/>
                <a:gd name="connsiteX2" fmla="*/ 1147482 w 5127812"/>
                <a:gd name="connsiteY2" fmla="*/ 3227303 h 3349429"/>
                <a:gd name="connsiteX3" fmla="*/ 1846729 w 5127812"/>
                <a:gd name="connsiteY3" fmla="*/ 2725280 h 3349429"/>
                <a:gd name="connsiteX4" fmla="*/ 2312894 w 5127812"/>
                <a:gd name="connsiteY4" fmla="*/ 3245233 h 3349429"/>
                <a:gd name="connsiteX5" fmla="*/ 2743200 w 5127812"/>
                <a:gd name="connsiteY5" fmla="*/ 2779068 h 3349429"/>
                <a:gd name="connsiteX6" fmla="*/ 3173506 w 5127812"/>
                <a:gd name="connsiteY6" fmla="*/ 3263162 h 3349429"/>
                <a:gd name="connsiteX7" fmla="*/ 3765176 w 5127812"/>
                <a:gd name="connsiteY7" fmla="*/ 2850786 h 3349429"/>
                <a:gd name="connsiteX8" fmla="*/ 4141694 w 5127812"/>
                <a:gd name="connsiteY8" fmla="*/ 3245233 h 3349429"/>
                <a:gd name="connsiteX9" fmla="*/ 4643718 w 5127812"/>
                <a:gd name="connsiteY9" fmla="*/ 2922503 h 3349429"/>
                <a:gd name="connsiteX10" fmla="*/ 5127812 w 5127812"/>
                <a:gd name="connsiteY10" fmla="*/ 3263162 h 3349429"/>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173506 w 5127812"/>
                <a:gd name="connsiteY6" fmla="*/ 3263162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842501 w 5127812"/>
                <a:gd name="connsiteY9" fmla="*/ 2922503 h 3348068"/>
                <a:gd name="connsiteX10" fmla="*/ 5127812 w 5127812"/>
                <a:gd name="connsiteY10" fmla="*/ 3263162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765176 w 5300090"/>
                <a:gd name="connsiteY7" fmla="*/ 2850786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809461 w 5300090"/>
                <a:gd name="connsiteY5" fmla="*/ 2858581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68263"/>
                <a:gd name="connsiteX1" fmla="*/ 376518 w 5300090"/>
                <a:gd name="connsiteY1" fmla="*/ 9 h 3368263"/>
                <a:gd name="connsiteX2" fmla="*/ 1147482 w 5300090"/>
                <a:gd name="connsiteY2" fmla="*/ 3227303 h 3368263"/>
                <a:gd name="connsiteX3" fmla="*/ 1873233 w 5300090"/>
                <a:gd name="connsiteY3" fmla="*/ 2844550 h 3368263"/>
                <a:gd name="connsiteX4" fmla="*/ 2312894 w 5300090"/>
                <a:gd name="connsiteY4" fmla="*/ 3337998 h 3368263"/>
                <a:gd name="connsiteX5" fmla="*/ 2809461 w 5300090"/>
                <a:gd name="connsiteY5" fmla="*/ 2858581 h 3368263"/>
                <a:gd name="connsiteX6" fmla="*/ 3306027 w 5300090"/>
                <a:gd name="connsiteY6" fmla="*/ 3329423 h 3368263"/>
                <a:gd name="connsiteX7" fmla="*/ 3831437 w 5300090"/>
                <a:gd name="connsiteY7" fmla="*/ 2956803 h 3368263"/>
                <a:gd name="connsiteX8" fmla="*/ 4260963 w 5300090"/>
                <a:gd name="connsiteY8" fmla="*/ 3284990 h 3368263"/>
                <a:gd name="connsiteX9" fmla="*/ 4842501 w 5300090"/>
                <a:gd name="connsiteY9" fmla="*/ 2922503 h 3368263"/>
                <a:gd name="connsiteX10" fmla="*/ 5300090 w 5300090"/>
                <a:gd name="connsiteY10" fmla="*/ 3316171 h 3368263"/>
                <a:gd name="connsiteX0" fmla="*/ 0 w 5300090"/>
                <a:gd name="connsiteY0" fmla="*/ 3263255 h 3338099"/>
                <a:gd name="connsiteX1" fmla="*/ 376518 w 5300090"/>
                <a:gd name="connsiteY1" fmla="*/ 102 h 3338099"/>
                <a:gd name="connsiteX2" fmla="*/ 1094473 w 5300090"/>
                <a:gd name="connsiteY2" fmla="*/ 3147883 h 3338099"/>
                <a:gd name="connsiteX3" fmla="*/ 1873233 w 5300090"/>
                <a:gd name="connsiteY3" fmla="*/ 2844643 h 3338099"/>
                <a:gd name="connsiteX4" fmla="*/ 2312894 w 5300090"/>
                <a:gd name="connsiteY4" fmla="*/ 3338091 h 3338099"/>
                <a:gd name="connsiteX5" fmla="*/ 2809461 w 5300090"/>
                <a:gd name="connsiteY5" fmla="*/ 2858674 h 3338099"/>
                <a:gd name="connsiteX6" fmla="*/ 3306027 w 5300090"/>
                <a:gd name="connsiteY6" fmla="*/ 3329516 h 3338099"/>
                <a:gd name="connsiteX7" fmla="*/ 3831437 w 5300090"/>
                <a:gd name="connsiteY7" fmla="*/ 2956896 h 3338099"/>
                <a:gd name="connsiteX8" fmla="*/ 4260963 w 5300090"/>
                <a:gd name="connsiteY8" fmla="*/ 3285083 h 3338099"/>
                <a:gd name="connsiteX9" fmla="*/ 4842501 w 5300090"/>
                <a:gd name="connsiteY9" fmla="*/ 2922596 h 3338099"/>
                <a:gd name="connsiteX10" fmla="*/ 5300090 w 5300090"/>
                <a:gd name="connsiteY10" fmla="*/ 3316264 h 3338099"/>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260963 w 5300090"/>
                <a:gd name="connsiteY8" fmla="*/ 3285011 h 3344467"/>
                <a:gd name="connsiteX9" fmla="*/ 4842501 w 5300090"/>
                <a:gd name="connsiteY9" fmla="*/ 2922524 h 3344467"/>
                <a:gd name="connsiteX10" fmla="*/ 5300090 w 5300090"/>
                <a:gd name="connsiteY10" fmla="*/ 3316192 h 3344467"/>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353729 w 5300090"/>
                <a:gd name="connsiteY8" fmla="*/ 3338020 h 3344467"/>
                <a:gd name="connsiteX9" fmla="*/ 4842501 w 5300090"/>
                <a:gd name="connsiteY9" fmla="*/ 2922524 h 3344467"/>
                <a:gd name="connsiteX10" fmla="*/ 5300090 w 5300090"/>
                <a:gd name="connsiteY10" fmla="*/ 3316192 h 3344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00090" h="3344467">
                  <a:moveTo>
                    <a:pt x="0" y="3263183"/>
                  </a:moveTo>
                  <a:cubicBezTo>
                    <a:pt x="92635" y="1634594"/>
                    <a:pt x="194106" y="10424"/>
                    <a:pt x="376518" y="30"/>
                  </a:cubicBezTo>
                  <a:cubicBezTo>
                    <a:pt x="558930" y="-10364"/>
                    <a:pt x="845021" y="2726730"/>
                    <a:pt x="1094473" y="3200820"/>
                  </a:cubicBezTo>
                  <a:cubicBezTo>
                    <a:pt x="1343926" y="3674910"/>
                    <a:pt x="1670163" y="2821705"/>
                    <a:pt x="1873233" y="2844571"/>
                  </a:cubicBezTo>
                  <a:cubicBezTo>
                    <a:pt x="2076303" y="2867438"/>
                    <a:pt x="2156856" y="3335681"/>
                    <a:pt x="2312894" y="3338019"/>
                  </a:cubicBezTo>
                  <a:cubicBezTo>
                    <a:pt x="2468932" y="3340357"/>
                    <a:pt x="2643939" y="2860031"/>
                    <a:pt x="2809461" y="2858602"/>
                  </a:cubicBezTo>
                  <a:cubicBezTo>
                    <a:pt x="2974983" y="2857173"/>
                    <a:pt x="3135698" y="3313074"/>
                    <a:pt x="3306027" y="3329444"/>
                  </a:cubicBezTo>
                  <a:cubicBezTo>
                    <a:pt x="3476356" y="3345814"/>
                    <a:pt x="3656820" y="2955395"/>
                    <a:pt x="3831437" y="2956824"/>
                  </a:cubicBezTo>
                  <a:cubicBezTo>
                    <a:pt x="4006054" y="2958253"/>
                    <a:pt x="4185218" y="3343737"/>
                    <a:pt x="4353729" y="3338020"/>
                  </a:cubicBezTo>
                  <a:cubicBezTo>
                    <a:pt x="4522240" y="3332303"/>
                    <a:pt x="4678148" y="2919536"/>
                    <a:pt x="4842501" y="2922524"/>
                  </a:cubicBezTo>
                  <a:cubicBezTo>
                    <a:pt x="5006854" y="2925512"/>
                    <a:pt x="5140219" y="3147356"/>
                    <a:pt x="5300090" y="331619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98A2C67-3E52-9E40-A376-6C0BAEBD6C74}"/>
                </a:ext>
              </a:extLst>
            </p:cNvPr>
            <p:cNvSpPr txBox="1"/>
            <p:nvPr/>
          </p:nvSpPr>
          <p:spPr>
            <a:xfrm>
              <a:off x="2874924" y="3544008"/>
              <a:ext cx="798617" cy="266110"/>
            </a:xfrm>
            <a:prstGeom prst="rect">
              <a:avLst/>
            </a:prstGeom>
            <a:noFill/>
          </p:spPr>
          <p:txBody>
            <a:bodyPr wrap="none" rtlCol="0">
              <a:spAutoFit/>
            </a:bodyPr>
            <a:lstStyle/>
            <a:p>
              <a:r>
                <a:rPr lang="en-US" sz="1400" dirty="0"/>
                <a:t>Albumin</a:t>
              </a:r>
            </a:p>
          </p:txBody>
        </p:sp>
        <p:sp>
          <p:nvSpPr>
            <p:cNvPr id="10" name="TextBox 9">
              <a:extLst>
                <a:ext uri="{FF2B5EF4-FFF2-40B4-BE49-F238E27FC236}">
                  <a16:creationId xmlns:a16="http://schemas.microsoft.com/office/drawing/2014/main" id="{903DE3A5-A874-DA4A-B422-7D11D1779E5B}"/>
                </a:ext>
              </a:extLst>
            </p:cNvPr>
            <p:cNvSpPr txBox="1"/>
            <p:nvPr/>
          </p:nvSpPr>
          <p:spPr>
            <a:xfrm>
              <a:off x="3781118" y="3544008"/>
              <a:ext cx="667170" cy="266110"/>
            </a:xfrm>
            <a:prstGeom prst="rect">
              <a:avLst/>
            </a:prstGeom>
            <a:noFill/>
          </p:spPr>
          <p:txBody>
            <a:bodyPr wrap="none" rtlCol="0">
              <a:spAutoFit/>
            </a:bodyPr>
            <a:lstStyle/>
            <a:p>
              <a:r>
                <a:rPr lang="en-US" sz="1400" dirty="0"/>
                <a:t>Alpha</a:t>
              </a:r>
              <a:r>
                <a:rPr lang="en-US" sz="1400" baseline="-25000" dirty="0"/>
                <a:t>1</a:t>
              </a:r>
              <a:endParaRPr lang="en-US" sz="1400" dirty="0"/>
            </a:p>
          </p:txBody>
        </p:sp>
        <p:sp>
          <p:nvSpPr>
            <p:cNvPr id="11" name="TextBox 10">
              <a:extLst>
                <a:ext uri="{FF2B5EF4-FFF2-40B4-BE49-F238E27FC236}">
                  <a16:creationId xmlns:a16="http://schemas.microsoft.com/office/drawing/2014/main" id="{0FDC6F5E-77E6-8344-817C-4EBA89A46F45}"/>
                </a:ext>
              </a:extLst>
            </p:cNvPr>
            <p:cNvSpPr txBox="1"/>
            <p:nvPr/>
          </p:nvSpPr>
          <p:spPr>
            <a:xfrm>
              <a:off x="4412700" y="3544008"/>
              <a:ext cx="667170" cy="266110"/>
            </a:xfrm>
            <a:prstGeom prst="rect">
              <a:avLst/>
            </a:prstGeom>
            <a:noFill/>
          </p:spPr>
          <p:txBody>
            <a:bodyPr wrap="none" rtlCol="0">
              <a:spAutoFit/>
            </a:bodyPr>
            <a:lstStyle/>
            <a:p>
              <a:r>
                <a:rPr lang="en-US" sz="1400" dirty="0"/>
                <a:t>Alpha</a:t>
              </a:r>
              <a:r>
                <a:rPr lang="en-US" sz="1400" baseline="-25000" dirty="0"/>
                <a:t>2</a:t>
              </a:r>
              <a:endParaRPr lang="en-US" sz="1400" dirty="0"/>
            </a:p>
          </p:txBody>
        </p:sp>
        <p:sp>
          <p:nvSpPr>
            <p:cNvPr id="13" name="TextBox 12">
              <a:extLst>
                <a:ext uri="{FF2B5EF4-FFF2-40B4-BE49-F238E27FC236}">
                  <a16:creationId xmlns:a16="http://schemas.microsoft.com/office/drawing/2014/main" id="{F7F20FA1-6DB1-A442-B21E-685ADFE75569}"/>
                </a:ext>
              </a:extLst>
            </p:cNvPr>
            <p:cNvSpPr txBox="1"/>
            <p:nvPr/>
          </p:nvSpPr>
          <p:spPr>
            <a:xfrm>
              <a:off x="5106794" y="3544008"/>
              <a:ext cx="516552" cy="266110"/>
            </a:xfrm>
            <a:prstGeom prst="rect">
              <a:avLst/>
            </a:prstGeom>
            <a:noFill/>
          </p:spPr>
          <p:txBody>
            <a:bodyPr wrap="none" rtlCol="0">
              <a:spAutoFit/>
            </a:bodyPr>
            <a:lstStyle/>
            <a:p>
              <a:r>
                <a:rPr lang="en-US" sz="1400" dirty="0"/>
                <a:t>Beta</a:t>
              </a:r>
            </a:p>
          </p:txBody>
        </p:sp>
        <p:sp>
          <p:nvSpPr>
            <p:cNvPr id="15" name="TextBox 14">
              <a:extLst>
                <a:ext uri="{FF2B5EF4-FFF2-40B4-BE49-F238E27FC236}">
                  <a16:creationId xmlns:a16="http://schemas.microsoft.com/office/drawing/2014/main" id="{1029CB50-517C-F942-BDB9-292252EAB29A}"/>
                </a:ext>
              </a:extLst>
            </p:cNvPr>
            <p:cNvSpPr txBox="1"/>
            <p:nvPr/>
          </p:nvSpPr>
          <p:spPr>
            <a:xfrm>
              <a:off x="5683642" y="3544008"/>
              <a:ext cx="756938" cy="266110"/>
            </a:xfrm>
            <a:prstGeom prst="rect">
              <a:avLst/>
            </a:prstGeom>
            <a:noFill/>
          </p:spPr>
          <p:txBody>
            <a:bodyPr wrap="none" rtlCol="0">
              <a:spAutoFit/>
            </a:bodyPr>
            <a:lstStyle/>
            <a:p>
              <a:r>
                <a:rPr lang="en-US" sz="1400" dirty="0"/>
                <a:t>Gamma</a:t>
              </a:r>
            </a:p>
          </p:txBody>
        </p:sp>
        <p:cxnSp>
          <p:nvCxnSpPr>
            <p:cNvPr id="72" name="Straight Arrow Connector 71">
              <a:extLst>
                <a:ext uri="{FF2B5EF4-FFF2-40B4-BE49-F238E27FC236}">
                  <a16:creationId xmlns:a16="http://schemas.microsoft.com/office/drawing/2014/main" id="{4F30240A-2EB6-72AB-7F11-E346FCCDDC64}"/>
                </a:ext>
              </a:extLst>
            </p:cNvPr>
            <p:cNvCxnSpPr>
              <a:cxnSpLocks/>
            </p:cNvCxnSpPr>
            <p:nvPr/>
          </p:nvCxnSpPr>
          <p:spPr>
            <a:xfrm flipH="1" flipV="1">
              <a:off x="2801226" y="1549479"/>
              <a:ext cx="11546" cy="19945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35C67351-0964-46FE-E4C9-6AF6A93E3FD0}"/>
                </a:ext>
              </a:extLst>
            </p:cNvPr>
            <p:cNvCxnSpPr>
              <a:cxnSpLocks/>
            </p:cNvCxnSpPr>
            <p:nvPr/>
          </p:nvCxnSpPr>
          <p:spPr>
            <a:xfrm flipV="1">
              <a:off x="2806603" y="3522825"/>
              <a:ext cx="3693538" cy="211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128" name="Group 127">
            <a:extLst>
              <a:ext uri="{FF2B5EF4-FFF2-40B4-BE49-F238E27FC236}">
                <a16:creationId xmlns:a16="http://schemas.microsoft.com/office/drawing/2014/main" id="{BB861BE2-5714-95B3-E826-8E09C5D992EB}"/>
              </a:ext>
            </a:extLst>
          </p:cNvPr>
          <p:cNvGrpSpPr/>
          <p:nvPr/>
        </p:nvGrpSpPr>
        <p:grpSpPr>
          <a:xfrm>
            <a:off x="7247216" y="1080348"/>
            <a:ext cx="3698915" cy="1970029"/>
            <a:chOff x="7365603" y="1329229"/>
            <a:chExt cx="3698915" cy="2449256"/>
          </a:xfrm>
        </p:grpSpPr>
        <p:sp>
          <p:nvSpPr>
            <p:cNvPr id="40" name="Freeform 39">
              <a:extLst>
                <a:ext uri="{FF2B5EF4-FFF2-40B4-BE49-F238E27FC236}">
                  <a16:creationId xmlns:a16="http://schemas.microsoft.com/office/drawing/2014/main" id="{CC2C2D75-A547-8F49-8FDF-F27F0B756F39}"/>
                </a:ext>
              </a:extLst>
            </p:cNvPr>
            <p:cNvSpPr/>
            <p:nvPr/>
          </p:nvSpPr>
          <p:spPr>
            <a:xfrm>
              <a:off x="7475058" y="1716486"/>
              <a:ext cx="3407044" cy="1741557"/>
            </a:xfrm>
            <a:custGeom>
              <a:avLst/>
              <a:gdLst>
                <a:gd name="connsiteX0" fmla="*/ 0 w 5127812"/>
                <a:gd name="connsiteY0" fmla="*/ 3263162 h 3349429"/>
                <a:gd name="connsiteX1" fmla="*/ 376518 w 5127812"/>
                <a:gd name="connsiteY1" fmla="*/ 9 h 3349429"/>
                <a:gd name="connsiteX2" fmla="*/ 1147482 w 5127812"/>
                <a:gd name="connsiteY2" fmla="*/ 3227303 h 3349429"/>
                <a:gd name="connsiteX3" fmla="*/ 1846729 w 5127812"/>
                <a:gd name="connsiteY3" fmla="*/ 2725280 h 3349429"/>
                <a:gd name="connsiteX4" fmla="*/ 2312894 w 5127812"/>
                <a:gd name="connsiteY4" fmla="*/ 3245233 h 3349429"/>
                <a:gd name="connsiteX5" fmla="*/ 2743200 w 5127812"/>
                <a:gd name="connsiteY5" fmla="*/ 2779068 h 3349429"/>
                <a:gd name="connsiteX6" fmla="*/ 3173506 w 5127812"/>
                <a:gd name="connsiteY6" fmla="*/ 3263162 h 3349429"/>
                <a:gd name="connsiteX7" fmla="*/ 3765176 w 5127812"/>
                <a:gd name="connsiteY7" fmla="*/ 2850786 h 3349429"/>
                <a:gd name="connsiteX8" fmla="*/ 4141694 w 5127812"/>
                <a:gd name="connsiteY8" fmla="*/ 3245233 h 3349429"/>
                <a:gd name="connsiteX9" fmla="*/ 4643718 w 5127812"/>
                <a:gd name="connsiteY9" fmla="*/ 2922503 h 3349429"/>
                <a:gd name="connsiteX10" fmla="*/ 5127812 w 5127812"/>
                <a:gd name="connsiteY10" fmla="*/ 3263162 h 3349429"/>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173506 w 5127812"/>
                <a:gd name="connsiteY6" fmla="*/ 3263162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842501 w 5127812"/>
                <a:gd name="connsiteY9" fmla="*/ 2922503 h 3348068"/>
                <a:gd name="connsiteX10" fmla="*/ 5127812 w 5127812"/>
                <a:gd name="connsiteY10" fmla="*/ 3263162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765176 w 5300090"/>
                <a:gd name="connsiteY7" fmla="*/ 2850786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809461 w 5300090"/>
                <a:gd name="connsiteY5" fmla="*/ 2858581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68263"/>
                <a:gd name="connsiteX1" fmla="*/ 376518 w 5300090"/>
                <a:gd name="connsiteY1" fmla="*/ 9 h 3368263"/>
                <a:gd name="connsiteX2" fmla="*/ 1147482 w 5300090"/>
                <a:gd name="connsiteY2" fmla="*/ 3227303 h 3368263"/>
                <a:gd name="connsiteX3" fmla="*/ 1873233 w 5300090"/>
                <a:gd name="connsiteY3" fmla="*/ 2844550 h 3368263"/>
                <a:gd name="connsiteX4" fmla="*/ 2312894 w 5300090"/>
                <a:gd name="connsiteY4" fmla="*/ 3337998 h 3368263"/>
                <a:gd name="connsiteX5" fmla="*/ 2809461 w 5300090"/>
                <a:gd name="connsiteY5" fmla="*/ 2858581 h 3368263"/>
                <a:gd name="connsiteX6" fmla="*/ 3306027 w 5300090"/>
                <a:gd name="connsiteY6" fmla="*/ 3329423 h 3368263"/>
                <a:gd name="connsiteX7" fmla="*/ 3831437 w 5300090"/>
                <a:gd name="connsiteY7" fmla="*/ 2956803 h 3368263"/>
                <a:gd name="connsiteX8" fmla="*/ 4260963 w 5300090"/>
                <a:gd name="connsiteY8" fmla="*/ 3284990 h 3368263"/>
                <a:gd name="connsiteX9" fmla="*/ 4842501 w 5300090"/>
                <a:gd name="connsiteY9" fmla="*/ 2922503 h 3368263"/>
                <a:gd name="connsiteX10" fmla="*/ 5300090 w 5300090"/>
                <a:gd name="connsiteY10" fmla="*/ 3316171 h 3368263"/>
                <a:gd name="connsiteX0" fmla="*/ 0 w 5300090"/>
                <a:gd name="connsiteY0" fmla="*/ 3263255 h 3338099"/>
                <a:gd name="connsiteX1" fmla="*/ 376518 w 5300090"/>
                <a:gd name="connsiteY1" fmla="*/ 102 h 3338099"/>
                <a:gd name="connsiteX2" fmla="*/ 1094473 w 5300090"/>
                <a:gd name="connsiteY2" fmla="*/ 3147883 h 3338099"/>
                <a:gd name="connsiteX3" fmla="*/ 1873233 w 5300090"/>
                <a:gd name="connsiteY3" fmla="*/ 2844643 h 3338099"/>
                <a:gd name="connsiteX4" fmla="*/ 2312894 w 5300090"/>
                <a:gd name="connsiteY4" fmla="*/ 3338091 h 3338099"/>
                <a:gd name="connsiteX5" fmla="*/ 2809461 w 5300090"/>
                <a:gd name="connsiteY5" fmla="*/ 2858674 h 3338099"/>
                <a:gd name="connsiteX6" fmla="*/ 3306027 w 5300090"/>
                <a:gd name="connsiteY6" fmla="*/ 3329516 h 3338099"/>
                <a:gd name="connsiteX7" fmla="*/ 3831437 w 5300090"/>
                <a:gd name="connsiteY7" fmla="*/ 2956896 h 3338099"/>
                <a:gd name="connsiteX8" fmla="*/ 4260963 w 5300090"/>
                <a:gd name="connsiteY8" fmla="*/ 3285083 h 3338099"/>
                <a:gd name="connsiteX9" fmla="*/ 4842501 w 5300090"/>
                <a:gd name="connsiteY9" fmla="*/ 2922596 h 3338099"/>
                <a:gd name="connsiteX10" fmla="*/ 5300090 w 5300090"/>
                <a:gd name="connsiteY10" fmla="*/ 3316264 h 3338099"/>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260963 w 5300090"/>
                <a:gd name="connsiteY8" fmla="*/ 3285011 h 3344467"/>
                <a:gd name="connsiteX9" fmla="*/ 4842501 w 5300090"/>
                <a:gd name="connsiteY9" fmla="*/ 2922524 h 3344467"/>
                <a:gd name="connsiteX10" fmla="*/ 5300090 w 5300090"/>
                <a:gd name="connsiteY10" fmla="*/ 3316192 h 3344467"/>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353729 w 5300090"/>
                <a:gd name="connsiteY8" fmla="*/ 3338020 h 3344467"/>
                <a:gd name="connsiteX9" fmla="*/ 4842501 w 5300090"/>
                <a:gd name="connsiteY9" fmla="*/ 2922524 h 3344467"/>
                <a:gd name="connsiteX10" fmla="*/ 5300090 w 5300090"/>
                <a:gd name="connsiteY10" fmla="*/ 3316192 h 3344467"/>
                <a:gd name="connsiteX0" fmla="*/ 0 w 5300090"/>
                <a:gd name="connsiteY0" fmla="*/ 3263183 h 3456309"/>
                <a:gd name="connsiteX1" fmla="*/ 376518 w 5300090"/>
                <a:gd name="connsiteY1" fmla="*/ 30 h 3456309"/>
                <a:gd name="connsiteX2" fmla="*/ 1094473 w 5300090"/>
                <a:gd name="connsiteY2" fmla="*/ 3200820 h 3456309"/>
                <a:gd name="connsiteX3" fmla="*/ 1873233 w 5300090"/>
                <a:gd name="connsiteY3" fmla="*/ 2844571 h 3456309"/>
                <a:gd name="connsiteX4" fmla="*/ 2312894 w 5300090"/>
                <a:gd name="connsiteY4" fmla="*/ 3338019 h 3456309"/>
                <a:gd name="connsiteX5" fmla="*/ 2809461 w 5300090"/>
                <a:gd name="connsiteY5" fmla="*/ 2858602 h 3456309"/>
                <a:gd name="connsiteX6" fmla="*/ 3306027 w 5300090"/>
                <a:gd name="connsiteY6" fmla="*/ 3329444 h 3456309"/>
                <a:gd name="connsiteX7" fmla="*/ 3831437 w 5300090"/>
                <a:gd name="connsiteY7" fmla="*/ 2956824 h 3456309"/>
                <a:gd name="connsiteX8" fmla="*/ 4353729 w 5300090"/>
                <a:gd name="connsiteY8" fmla="*/ 3338020 h 3456309"/>
                <a:gd name="connsiteX9" fmla="*/ 4821559 w 5300090"/>
                <a:gd name="connsiteY9" fmla="*/ 492668 h 3456309"/>
                <a:gd name="connsiteX10" fmla="*/ 5300090 w 5300090"/>
                <a:gd name="connsiteY10" fmla="*/ 3316192 h 3456309"/>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395611 w 5300090"/>
                <a:gd name="connsiteY8" fmla="*/ 3162896 h 3344467"/>
                <a:gd name="connsiteX9" fmla="*/ 4821559 w 5300090"/>
                <a:gd name="connsiteY9" fmla="*/ 492668 h 3344467"/>
                <a:gd name="connsiteX10" fmla="*/ 5300090 w 5300090"/>
                <a:gd name="connsiteY10" fmla="*/ 3316192 h 3344467"/>
                <a:gd name="connsiteX0" fmla="*/ 0 w 5383854"/>
                <a:gd name="connsiteY0" fmla="*/ 3263183 h 3344467"/>
                <a:gd name="connsiteX1" fmla="*/ 376518 w 5383854"/>
                <a:gd name="connsiteY1" fmla="*/ 30 h 3344467"/>
                <a:gd name="connsiteX2" fmla="*/ 1094473 w 5383854"/>
                <a:gd name="connsiteY2" fmla="*/ 3200820 h 3344467"/>
                <a:gd name="connsiteX3" fmla="*/ 1873233 w 5383854"/>
                <a:gd name="connsiteY3" fmla="*/ 2844571 h 3344467"/>
                <a:gd name="connsiteX4" fmla="*/ 2312894 w 5383854"/>
                <a:gd name="connsiteY4" fmla="*/ 3338019 h 3344467"/>
                <a:gd name="connsiteX5" fmla="*/ 2809461 w 5383854"/>
                <a:gd name="connsiteY5" fmla="*/ 2858602 h 3344467"/>
                <a:gd name="connsiteX6" fmla="*/ 3306027 w 5383854"/>
                <a:gd name="connsiteY6" fmla="*/ 3329444 h 3344467"/>
                <a:gd name="connsiteX7" fmla="*/ 3831437 w 5383854"/>
                <a:gd name="connsiteY7" fmla="*/ 2956824 h 3344467"/>
                <a:gd name="connsiteX8" fmla="*/ 4395611 w 5383854"/>
                <a:gd name="connsiteY8" fmla="*/ 3162896 h 3344467"/>
                <a:gd name="connsiteX9" fmla="*/ 4821559 w 5383854"/>
                <a:gd name="connsiteY9" fmla="*/ 492668 h 3344467"/>
                <a:gd name="connsiteX10" fmla="*/ 5383854 w 5383854"/>
                <a:gd name="connsiteY10" fmla="*/ 3272412 h 3344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83854" h="3344467">
                  <a:moveTo>
                    <a:pt x="0" y="3263183"/>
                  </a:moveTo>
                  <a:cubicBezTo>
                    <a:pt x="92635" y="1634594"/>
                    <a:pt x="194106" y="10424"/>
                    <a:pt x="376518" y="30"/>
                  </a:cubicBezTo>
                  <a:cubicBezTo>
                    <a:pt x="558930" y="-10364"/>
                    <a:pt x="845021" y="2726730"/>
                    <a:pt x="1094473" y="3200820"/>
                  </a:cubicBezTo>
                  <a:cubicBezTo>
                    <a:pt x="1343926" y="3674910"/>
                    <a:pt x="1670163" y="2821705"/>
                    <a:pt x="1873233" y="2844571"/>
                  </a:cubicBezTo>
                  <a:cubicBezTo>
                    <a:pt x="2076303" y="2867438"/>
                    <a:pt x="2156856" y="3335681"/>
                    <a:pt x="2312894" y="3338019"/>
                  </a:cubicBezTo>
                  <a:cubicBezTo>
                    <a:pt x="2468932" y="3340357"/>
                    <a:pt x="2643939" y="2860031"/>
                    <a:pt x="2809461" y="2858602"/>
                  </a:cubicBezTo>
                  <a:cubicBezTo>
                    <a:pt x="2974983" y="2857173"/>
                    <a:pt x="3135698" y="3313074"/>
                    <a:pt x="3306027" y="3329444"/>
                  </a:cubicBezTo>
                  <a:cubicBezTo>
                    <a:pt x="3476356" y="3345814"/>
                    <a:pt x="3649840" y="2984582"/>
                    <a:pt x="3831437" y="2956824"/>
                  </a:cubicBezTo>
                  <a:cubicBezTo>
                    <a:pt x="4013034" y="2929066"/>
                    <a:pt x="4230591" y="3573589"/>
                    <a:pt x="4395611" y="3162896"/>
                  </a:cubicBezTo>
                  <a:cubicBezTo>
                    <a:pt x="4560631" y="2752203"/>
                    <a:pt x="4657206" y="489680"/>
                    <a:pt x="4821559" y="492668"/>
                  </a:cubicBezTo>
                  <a:cubicBezTo>
                    <a:pt x="4985912" y="495656"/>
                    <a:pt x="5223983" y="3103576"/>
                    <a:pt x="5383854" y="327241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0586046-DB87-7046-9453-5CC495BDB95B}"/>
                </a:ext>
              </a:extLst>
            </p:cNvPr>
            <p:cNvSpPr txBox="1"/>
            <p:nvPr/>
          </p:nvSpPr>
          <p:spPr>
            <a:xfrm>
              <a:off x="7407645" y="3513746"/>
              <a:ext cx="798617" cy="264739"/>
            </a:xfrm>
            <a:prstGeom prst="rect">
              <a:avLst/>
            </a:prstGeom>
            <a:noFill/>
          </p:spPr>
          <p:txBody>
            <a:bodyPr wrap="none" rtlCol="0">
              <a:spAutoFit/>
            </a:bodyPr>
            <a:lstStyle/>
            <a:p>
              <a:r>
                <a:rPr lang="en-US" sz="1400" dirty="0"/>
                <a:t>Albumin</a:t>
              </a:r>
            </a:p>
          </p:txBody>
        </p:sp>
        <p:sp>
          <p:nvSpPr>
            <p:cNvPr id="42" name="TextBox 41">
              <a:extLst>
                <a:ext uri="{FF2B5EF4-FFF2-40B4-BE49-F238E27FC236}">
                  <a16:creationId xmlns:a16="http://schemas.microsoft.com/office/drawing/2014/main" id="{30BE283D-4142-844A-B2B0-428A5EA2D3BB}"/>
                </a:ext>
              </a:extLst>
            </p:cNvPr>
            <p:cNvSpPr txBox="1"/>
            <p:nvPr/>
          </p:nvSpPr>
          <p:spPr>
            <a:xfrm>
              <a:off x="8313839" y="3513746"/>
              <a:ext cx="667170" cy="264739"/>
            </a:xfrm>
            <a:prstGeom prst="rect">
              <a:avLst/>
            </a:prstGeom>
            <a:noFill/>
          </p:spPr>
          <p:txBody>
            <a:bodyPr wrap="none" rtlCol="0">
              <a:spAutoFit/>
            </a:bodyPr>
            <a:lstStyle/>
            <a:p>
              <a:r>
                <a:rPr lang="en-US" sz="1400" dirty="0"/>
                <a:t>Alpha</a:t>
              </a:r>
              <a:r>
                <a:rPr lang="en-US" sz="1400" baseline="-25000" dirty="0"/>
                <a:t>1</a:t>
              </a:r>
              <a:endParaRPr lang="en-US" sz="1400" dirty="0"/>
            </a:p>
          </p:txBody>
        </p:sp>
        <p:sp>
          <p:nvSpPr>
            <p:cNvPr id="43" name="TextBox 42">
              <a:extLst>
                <a:ext uri="{FF2B5EF4-FFF2-40B4-BE49-F238E27FC236}">
                  <a16:creationId xmlns:a16="http://schemas.microsoft.com/office/drawing/2014/main" id="{C33F72C7-41CA-4E4C-8FAC-8BF4D4841CB0}"/>
                </a:ext>
              </a:extLst>
            </p:cNvPr>
            <p:cNvSpPr txBox="1"/>
            <p:nvPr/>
          </p:nvSpPr>
          <p:spPr>
            <a:xfrm>
              <a:off x="8945421" y="3513746"/>
              <a:ext cx="667170" cy="264739"/>
            </a:xfrm>
            <a:prstGeom prst="rect">
              <a:avLst/>
            </a:prstGeom>
            <a:noFill/>
          </p:spPr>
          <p:txBody>
            <a:bodyPr wrap="none" rtlCol="0">
              <a:spAutoFit/>
            </a:bodyPr>
            <a:lstStyle/>
            <a:p>
              <a:r>
                <a:rPr lang="en-US" sz="1400" dirty="0"/>
                <a:t>Alpha</a:t>
              </a:r>
              <a:r>
                <a:rPr lang="en-US" sz="1400" baseline="-25000" dirty="0"/>
                <a:t>2</a:t>
              </a:r>
              <a:endParaRPr lang="en-US" sz="1400" dirty="0"/>
            </a:p>
          </p:txBody>
        </p:sp>
        <p:sp>
          <p:nvSpPr>
            <p:cNvPr id="44" name="TextBox 43">
              <a:extLst>
                <a:ext uri="{FF2B5EF4-FFF2-40B4-BE49-F238E27FC236}">
                  <a16:creationId xmlns:a16="http://schemas.microsoft.com/office/drawing/2014/main" id="{F7FC2548-E02D-C84D-BA04-C9100D3B8630}"/>
                </a:ext>
              </a:extLst>
            </p:cNvPr>
            <p:cNvSpPr txBox="1"/>
            <p:nvPr/>
          </p:nvSpPr>
          <p:spPr>
            <a:xfrm>
              <a:off x="9639515" y="3513746"/>
              <a:ext cx="516552" cy="264739"/>
            </a:xfrm>
            <a:prstGeom prst="rect">
              <a:avLst/>
            </a:prstGeom>
            <a:noFill/>
          </p:spPr>
          <p:txBody>
            <a:bodyPr wrap="none" rtlCol="0">
              <a:spAutoFit/>
            </a:bodyPr>
            <a:lstStyle/>
            <a:p>
              <a:r>
                <a:rPr lang="en-US" sz="1400" dirty="0"/>
                <a:t>Beta</a:t>
              </a:r>
            </a:p>
          </p:txBody>
        </p:sp>
        <p:sp>
          <p:nvSpPr>
            <p:cNvPr id="45" name="TextBox 44">
              <a:extLst>
                <a:ext uri="{FF2B5EF4-FFF2-40B4-BE49-F238E27FC236}">
                  <a16:creationId xmlns:a16="http://schemas.microsoft.com/office/drawing/2014/main" id="{F83B5CDF-7886-DA41-B91B-34733039B716}"/>
                </a:ext>
              </a:extLst>
            </p:cNvPr>
            <p:cNvSpPr txBox="1"/>
            <p:nvPr/>
          </p:nvSpPr>
          <p:spPr>
            <a:xfrm>
              <a:off x="10216363" y="3513746"/>
              <a:ext cx="756938" cy="264739"/>
            </a:xfrm>
            <a:prstGeom prst="rect">
              <a:avLst/>
            </a:prstGeom>
            <a:noFill/>
          </p:spPr>
          <p:txBody>
            <a:bodyPr wrap="none" rtlCol="0">
              <a:spAutoFit/>
            </a:bodyPr>
            <a:lstStyle/>
            <a:p>
              <a:r>
                <a:rPr lang="en-US" sz="1400" dirty="0"/>
                <a:t>Gamma</a:t>
              </a:r>
            </a:p>
          </p:txBody>
        </p:sp>
        <p:sp>
          <p:nvSpPr>
            <p:cNvPr id="27" name="TextBox 26">
              <a:extLst>
                <a:ext uri="{FF2B5EF4-FFF2-40B4-BE49-F238E27FC236}">
                  <a16:creationId xmlns:a16="http://schemas.microsoft.com/office/drawing/2014/main" id="{6CEECF49-F663-4D46-B36C-986A0E628AE5}"/>
                </a:ext>
              </a:extLst>
            </p:cNvPr>
            <p:cNvSpPr txBox="1"/>
            <p:nvPr/>
          </p:nvSpPr>
          <p:spPr>
            <a:xfrm>
              <a:off x="10065136" y="1329229"/>
              <a:ext cx="945067" cy="317686"/>
            </a:xfrm>
            <a:prstGeom prst="rect">
              <a:avLst/>
            </a:prstGeom>
            <a:noFill/>
          </p:spPr>
          <p:txBody>
            <a:bodyPr wrap="none" rtlCol="0">
              <a:spAutoFit/>
            </a:bodyPr>
            <a:lstStyle/>
            <a:p>
              <a:r>
                <a:rPr lang="en-US" dirty="0">
                  <a:solidFill>
                    <a:srgbClr val="FF0000"/>
                  </a:solidFill>
                </a:rPr>
                <a:t>M-Spike</a:t>
              </a:r>
            </a:p>
          </p:txBody>
        </p:sp>
        <p:sp>
          <p:nvSpPr>
            <p:cNvPr id="28" name="Down Arrow 27">
              <a:extLst>
                <a:ext uri="{FF2B5EF4-FFF2-40B4-BE49-F238E27FC236}">
                  <a16:creationId xmlns:a16="http://schemas.microsoft.com/office/drawing/2014/main" id="{27C89A85-5762-D94F-9FEB-B61DFFE62F5F}"/>
                </a:ext>
              </a:extLst>
            </p:cNvPr>
            <p:cNvSpPr/>
            <p:nvPr/>
          </p:nvSpPr>
          <p:spPr>
            <a:xfrm>
              <a:off x="10462745" y="1694213"/>
              <a:ext cx="95256" cy="207782"/>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 name="Straight Arrow Connector 125">
              <a:extLst>
                <a:ext uri="{FF2B5EF4-FFF2-40B4-BE49-F238E27FC236}">
                  <a16:creationId xmlns:a16="http://schemas.microsoft.com/office/drawing/2014/main" id="{72D6481F-5FA6-BC65-2928-A380203B31C3}"/>
                </a:ext>
              </a:extLst>
            </p:cNvPr>
            <p:cNvCxnSpPr>
              <a:cxnSpLocks/>
            </p:cNvCxnSpPr>
            <p:nvPr/>
          </p:nvCxnSpPr>
          <p:spPr>
            <a:xfrm flipH="1" flipV="1">
              <a:off x="7365603" y="1524344"/>
              <a:ext cx="11546" cy="19945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7" name="Straight Arrow Connector 126">
              <a:extLst>
                <a:ext uri="{FF2B5EF4-FFF2-40B4-BE49-F238E27FC236}">
                  <a16:creationId xmlns:a16="http://schemas.microsoft.com/office/drawing/2014/main" id="{458D0A34-B968-AA78-19BD-EE52D404B04F}"/>
                </a:ext>
              </a:extLst>
            </p:cNvPr>
            <p:cNvCxnSpPr>
              <a:cxnSpLocks/>
            </p:cNvCxnSpPr>
            <p:nvPr/>
          </p:nvCxnSpPr>
          <p:spPr>
            <a:xfrm flipV="1">
              <a:off x="7370980" y="3497690"/>
              <a:ext cx="3693538" cy="211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133" name="Group 132">
            <a:extLst>
              <a:ext uri="{FF2B5EF4-FFF2-40B4-BE49-F238E27FC236}">
                <a16:creationId xmlns:a16="http://schemas.microsoft.com/office/drawing/2014/main" id="{9FDA2A67-1858-D624-2F18-F5E8BD54D7CC}"/>
              </a:ext>
            </a:extLst>
          </p:cNvPr>
          <p:cNvGrpSpPr/>
          <p:nvPr/>
        </p:nvGrpSpPr>
        <p:grpSpPr>
          <a:xfrm>
            <a:off x="8775687" y="3719147"/>
            <a:ext cx="2729571" cy="1991885"/>
            <a:chOff x="8863295" y="4170270"/>
            <a:chExt cx="2729571" cy="2304556"/>
          </a:xfrm>
        </p:grpSpPr>
        <p:sp>
          <p:nvSpPr>
            <p:cNvPr id="59" name="TextBox 58">
              <a:extLst>
                <a:ext uri="{FF2B5EF4-FFF2-40B4-BE49-F238E27FC236}">
                  <a16:creationId xmlns:a16="http://schemas.microsoft.com/office/drawing/2014/main" id="{E38A0941-CA37-9449-9943-E585D6DC8827}"/>
                </a:ext>
              </a:extLst>
            </p:cNvPr>
            <p:cNvSpPr txBox="1"/>
            <p:nvPr/>
          </p:nvSpPr>
          <p:spPr>
            <a:xfrm>
              <a:off x="8863295" y="6077901"/>
              <a:ext cx="830090"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Lambda</a:t>
              </a:r>
            </a:p>
          </p:txBody>
        </p:sp>
        <p:grpSp>
          <p:nvGrpSpPr>
            <p:cNvPr id="132" name="Group 131">
              <a:extLst>
                <a:ext uri="{FF2B5EF4-FFF2-40B4-BE49-F238E27FC236}">
                  <a16:creationId xmlns:a16="http://schemas.microsoft.com/office/drawing/2014/main" id="{DB9DA0A5-6645-4DB8-0378-BFF84AED6D7E}"/>
                </a:ext>
              </a:extLst>
            </p:cNvPr>
            <p:cNvGrpSpPr/>
            <p:nvPr/>
          </p:nvGrpSpPr>
          <p:grpSpPr>
            <a:xfrm>
              <a:off x="8973895" y="4170270"/>
              <a:ext cx="2618971" cy="2304556"/>
              <a:chOff x="9311322" y="4262980"/>
              <a:chExt cx="2367427" cy="2073542"/>
            </a:xfrm>
          </p:grpSpPr>
          <p:sp>
            <p:nvSpPr>
              <p:cNvPr id="54" name="TextBox 53">
                <a:extLst>
                  <a:ext uri="{FF2B5EF4-FFF2-40B4-BE49-F238E27FC236}">
                    <a16:creationId xmlns:a16="http://schemas.microsoft.com/office/drawing/2014/main" id="{D927FAF4-6437-4D40-A5FE-7FA34944B355}"/>
                  </a:ext>
                </a:extLst>
              </p:cNvPr>
              <p:cNvSpPr txBox="1"/>
              <p:nvPr/>
            </p:nvSpPr>
            <p:spPr>
              <a:xfrm>
                <a:off x="9311322" y="4325272"/>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SPEP</a:t>
                </a:r>
              </a:p>
            </p:txBody>
          </p:sp>
          <p:sp>
            <p:nvSpPr>
              <p:cNvPr id="55" name="TextBox 54">
                <a:extLst>
                  <a:ext uri="{FF2B5EF4-FFF2-40B4-BE49-F238E27FC236}">
                    <a16:creationId xmlns:a16="http://schemas.microsoft.com/office/drawing/2014/main" id="{ED91F0C1-7DB3-8740-97EA-6A915F2D1CEF}"/>
                  </a:ext>
                </a:extLst>
              </p:cNvPr>
              <p:cNvSpPr txBox="1"/>
              <p:nvPr/>
            </p:nvSpPr>
            <p:spPr>
              <a:xfrm>
                <a:off x="9311323" y="4660813"/>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IgG</a:t>
                </a:r>
              </a:p>
            </p:txBody>
          </p:sp>
          <p:sp>
            <p:nvSpPr>
              <p:cNvPr id="56" name="TextBox 55">
                <a:extLst>
                  <a:ext uri="{FF2B5EF4-FFF2-40B4-BE49-F238E27FC236}">
                    <a16:creationId xmlns:a16="http://schemas.microsoft.com/office/drawing/2014/main" id="{949DA7C8-E9BD-2D46-9FD5-6A7372C36A76}"/>
                  </a:ext>
                </a:extLst>
              </p:cNvPr>
              <p:cNvSpPr txBox="1"/>
              <p:nvPr/>
            </p:nvSpPr>
            <p:spPr>
              <a:xfrm>
                <a:off x="9311323" y="4996354"/>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IgA</a:t>
                </a:r>
              </a:p>
            </p:txBody>
          </p:sp>
          <p:sp>
            <p:nvSpPr>
              <p:cNvPr id="57" name="TextBox 56">
                <a:extLst>
                  <a:ext uri="{FF2B5EF4-FFF2-40B4-BE49-F238E27FC236}">
                    <a16:creationId xmlns:a16="http://schemas.microsoft.com/office/drawing/2014/main" id="{63275848-DD3A-8342-B6C0-26002DB1D51A}"/>
                  </a:ext>
                </a:extLst>
              </p:cNvPr>
              <p:cNvSpPr txBox="1"/>
              <p:nvPr/>
            </p:nvSpPr>
            <p:spPr>
              <a:xfrm>
                <a:off x="9311323" y="5331895"/>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IgM</a:t>
                </a:r>
              </a:p>
            </p:txBody>
          </p:sp>
          <p:sp>
            <p:nvSpPr>
              <p:cNvPr id="58" name="TextBox 57">
                <a:extLst>
                  <a:ext uri="{FF2B5EF4-FFF2-40B4-BE49-F238E27FC236}">
                    <a16:creationId xmlns:a16="http://schemas.microsoft.com/office/drawing/2014/main" id="{946C6EFB-7911-7D4A-8FF7-A3A4DDAC031F}"/>
                  </a:ext>
                </a:extLst>
              </p:cNvPr>
              <p:cNvSpPr txBox="1"/>
              <p:nvPr/>
            </p:nvSpPr>
            <p:spPr>
              <a:xfrm>
                <a:off x="9311323" y="5667436"/>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Kappa</a:t>
                </a:r>
              </a:p>
            </p:txBody>
          </p:sp>
          <p:sp>
            <p:nvSpPr>
              <p:cNvPr id="82" name="Rectangle 81">
                <a:extLst>
                  <a:ext uri="{FF2B5EF4-FFF2-40B4-BE49-F238E27FC236}">
                    <a16:creationId xmlns:a16="http://schemas.microsoft.com/office/drawing/2014/main" id="{4C5D4B87-1500-CE4C-AF43-CD02CAD5AA34}"/>
                  </a:ext>
                </a:extLst>
              </p:cNvPr>
              <p:cNvSpPr/>
              <p:nvPr/>
            </p:nvSpPr>
            <p:spPr>
              <a:xfrm>
                <a:off x="9961705" y="5051334"/>
                <a:ext cx="1700792"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548CFF71-3637-414A-AA30-D58CE08EFFC7}"/>
                  </a:ext>
                </a:extLst>
              </p:cNvPr>
              <p:cNvSpPr/>
              <p:nvPr/>
            </p:nvSpPr>
            <p:spPr>
              <a:xfrm>
                <a:off x="9961705" y="5385391"/>
                <a:ext cx="1700791"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D69A3224-B8A9-554A-8FFE-5CF76B349BF2}"/>
                  </a:ext>
                </a:extLst>
              </p:cNvPr>
              <p:cNvSpPr/>
              <p:nvPr/>
            </p:nvSpPr>
            <p:spPr>
              <a:xfrm>
                <a:off x="9955841" y="6051257"/>
                <a:ext cx="1717043"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0" name="Group 129">
                <a:extLst>
                  <a:ext uri="{FF2B5EF4-FFF2-40B4-BE49-F238E27FC236}">
                    <a16:creationId xmlns:a16="http://schemas.microsoft.com/office/drawing/2014/main" id="{0A32706D-D4A2-8C71-6F23-02C983ADDA9D}"/>
                  </a:ext>
                </a:extLst>
              </p:cNvPr>
              <p:cNvGrpSpPr/>
              <p:nvPr/>
            </p:nvGrpSpPr>
            <p:grpSpPr>
              <a:xfrm>
                <a:off x="9961705" y="4719526"/>
                <a:ext cx="1717043" cy="190378"/>
                <a:chOff x="9961705" y="4714145"/>
                <a:chExt cx="1717043" cy="190378"/>
              </a:xfrm>
            </p:grpSpPr>
            <p:sp>
              <p:nvSpPr>
                <p:cNvPr id="81" name="Rectangle 80">
                  <a:extLst>
                    <a:ext uri="{FF2B5EF4-FFF2-40B4-BE49-F238E27FC236}">
                      <a16:creationId xmlns:a16="http://schemas.microsoft.com/office/drawing/2014/main" id="{1378ABBC-AF31-124D-B4D6-5588D3590507}"/>
                    </a:ext>
                  </a:extLst>
                </p:cNvPr>
                <p:cNvSpPr/>
                <p:nvPr/>
              </p:nvSpPr>
              <p:spPr>
                <a:xfrm>
                  <a:off x="9961705" y="4714145"/>
                  <a:ext cx="1717043" cy="1903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7AC0CB05-7FFB-4A4E-A42C-3C01CC224ECA}"/>
                    </a:ext>
                  </a:extLst>
                </p:cNvPr>
                <p:cNvSpPr/>
                <p:nvPr/>
              </p:nvSpPr>
              <p:spPr>
                <a:xfrm>
                  <a:off x="11301380" y="4714146"/>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 name="Group 130">
                <a:extLst>
                  <a:ext uri="{FF2B5EF4-FFF2-40B4-BE49-F238E27FC236}">
                    <a16:creationId xmlns:a16="http://schemas.microsoft.com/office/drawing/2014/main" id="{DEC5E750-7DE3-459C-07B2-7A5CD4483101}"/>
                  </a:ext>
                </a:extLst>
              </p:cNvPr>
              <p:cNvGrpSpPr/>
              <p:nvPr/>
            </p:nvGrpSpPr>
            <p:grpSpPr>
              <a:xfrm>
                <a:off x="9968055" y="5719447"/>
                <a:ext cx="1700790" cy="190378"/>
                <a:chOff x="9961705" y="5693876"/>
                <a:chExt cx="1700790" cy="190378"/>
              </a:xfrm>
            </p:grpSpPr>
            <p:sp>
              <p:nvSpPr>
                <p:cNvPr id="84" name="Rectangle 83">
                  <a:extLst>
                    <a:ext uri="{FF2B5EF4-FFF2-40B4-BE49-F238E27FC236}">
                      <a16:creationId xmlns:a16="http://schemas.microsoft.com/office/drawing/2014/main" id="{63C3E109-8CE4-1046-921B-75135E3DB180}"/>
                    </a:ext>
                  </a:extLst>
                </p:cNvPr>
                <p:cNvSpPr/>
                <p:nvPr/>
              </p:nvSpPr>
              <p:spPr>
                <a:xfrm>
                  <a:off x="9961705" y="5693876"/>
                  <a:ext cx="1700790" cy="1903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7635AE35-1646-5643-AF37-EF0B204E100B}"/>
                    </a:ext>
                  </a:extLst>
                </p:cNvPr>
                <p:cNvSpPr/>
                <p:nvPr/>
              </p:nvSpPr>
              <p:spPr>
                <a:xfrm>
                  <a:off x="11301380" y="5693877"/>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Group 128">
                <a:extLst>
                  <a:ext uri="{FF2B5EF4-FFF2-40B4-BE49-F238E27FC236}">
                    <a16:creationId xmlns:a16="http://schemas.microsoft.com/office/drawing/2014/main" id="{D723A7EA-BE69-9047-6F0F-80197EB097EA}"/>
                  </a:ext>
                </a:extLst>
              </p:cNvPr>
              <p:cNvGrpSpPr/>
              <p:nvPr/>
            </p:nvGrpSpPr>
            <p:grpSpPr>
              <a:xfrm>
                <a:off x="9961706" y="4387720"/>
                <a:ext cx="1717042" cy="190377"/>
                <a:chOff x="9961706" y="4391300"/>
                <a:chExt cx="1717042" cy="190377"/>
              </a:xfrm>
            </p:grpSpPr>
            <p:sp>
              <p:nvSpPr>
                <p:cNvPr id="80" name="Rectangle 79">
                  <a:extLst>
                    <a:ext uri="{FF2B5EF4-FFF2-40B4-BE49-F238E27FC236}">
                      <a16:creationId xmlns:a16="http://schemas.microsoft.com/office/drawing/2014/main" id="{D11B56B8-C1B2-9C49-98B3-A7EE1D7E09DF}"/>
                    </a:ext>
                  </a:extLst>
                </p:cNvPr>
                <p:cNvSpPr/>
                <p:nvPr/>
              </p:nvSpPr>
              <p:spPr>
                <a:xfrm>
                  <a:off x="9961706" y="4391300"/>
                  <a:ext cx="1717042"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03DBF747-F840-7747-ABB8-39E1AD651D94}"/>
                    </a:ext>
                  </a:extLst>
                </p:cNvPr>
                <p:cNvSpPr/>
                <p:nvPr/>
              </p:nvSpPr>
              <p:spPr>
                <a:xfrm>
                  <a:off x="10053507" y="4391300"/>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F5E96DFB-6208-854E-A7A0-270F21A327EC}"/>
                    </a:ext>
                  </a:extLst>
                </p:cNvPr>
                <p:cNvSpPr/>
                <p:nvPr/>
              </p:nvSpPr>
              <p:spPr>
                <a:xfrm>
                  <a:off x="11387917" y="4391300"/>
                  <a:ext cx="174575"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111E0975-79BF-EC42-87BE-86702F7C1324}"/>
                    </a:ext>
                  </a:extLst>
                </p:cNvPr>
                <p:cNvSpPr/>
                <p:nvPr/>
              </p:nvSpPr>
              <p:spPr>
                <a:xfrm>
                  <a:off x="10477139" y="4391300"/>
                  <a:ext cx="87288"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6260A444-D415-EB47-A924-3F5582693C5E}"/>
                    </a:ext>
                  </a:extLst>
                </p:cNvPr>
                <p:cNvSpPr/>
                <p:nvPr/>
              </p:nvSpPr>
              <p:spPr>
                <a:xfrm>
                  <a:off x="10746970" y="4391300"/>
                  <a:ext cx="113775" cy="182880"/>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47571EE9-773C-FB4E-BD39-837D692B3EEB}"/>
                    </a:ext>
                  </a:extLst>
                </p:cNvPr>
                <p:cNvSpPr/>
                <p:nvPr/>
              </p:nvSpPr>
              <p:spPr>
                <a:xfrm>
                  <a:off x="11081865" y="4391300"/>
                  <a:ext cx="113775"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ounded Rectangle 2">
                <a:extLst>
                  <a:ext uri="{FF2B5EF4-FFF2-40B4-BE49-F238E27FC236}">
                    <a16:creationId xmlns:a16="http://schemas.microsoft.com/office/drawing/2014/main" id="{629A7049-FF4A-F148-B740-65AA97D549E1}"/>
                  </a:ext>
                </a:extLst>
              </p:cNvPr>
              <p:cNvSpPr/>
              <p:nvPr/>
            </p:nvSpPr>
            <p:spPr>
              <a:xfrm>
                <a:off x="9961706" y="4262980"/>
                <a:ext cx="1717043" cy="2073542"/>
              </a:xfrm>
              <a:prstGeom prst="roundRect">
                <a:avLst>
                  <a:gd name="adj" fmla="val 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4" name="Sensitivity graph">
            <a:extLst>
              <a:ext uri="{FF2B5EF4-FFF2-40B4-BE49-F238E27FC236}">
                <a16:creationId xmlns:a16="http://schemas.microsoft.com/office/drawing/2014/main" id="{EE1538C0-FF80-AB3D-4DA5-500E92520149}"/>
              </a:ext>
            </a:extLst>
          </p:cNvPr>
          <p:cNvGrpSpPr>
            <a:grpSpLocks/>
          </p:cNvGrpSpPr>
          <p:nvPr/>
        </p:nvGrpSpPr>
        <p:grpSpPr>
          <a:xfrm>
            <a:off x="2531889" y="6138272"/>
            <a:ext cx="8414242" cy="642661"/>
            <a:chOff x="2536153" y="5402633"/>
            <a:chExt cx="8414242" cy="642661"/>
          </a:xfrm>
        </p:grpSpPr>
        <p:grpSp>
          <p:nvGrpSpPr>
            <p:cNvPr id="135" name="Group 134">
              <a:extLst>
                <a:ext uri="{FF2B5EF4-FFF2-40B4-BE49-F238E27FC236}">
                  <a16:creationId xmlns:a16="http://schemas.microsoft.com/office/drawing/2014/main" id="{61184BAE-3FEA-292E-562F-F03018CFAC02}"/>
                </a:ext>
              </a:extLst>
            </p:cNvPr>
            <p:cNvGrpSpPr>
              <a:grpSpLocks/>
            </p:cNvGrpSpPr>
            <p:nvPr/>
          </p:nvGrpSpPr>
          <p:grpSpPr>
            <a:xfrm>
              <a:off x="2536153" y="5402633"/>
              <a:ext cx="8414242" cy="380084"/>
              <a:chOff x="2172747" y="6233747"/>
              <a:chExt cx="8414242" cy="380084"/>
            </a:xfrm>
          </p:grpSpPr>
          <p:sp>
            <p:nvSpPr>
              <p:cNvPr id="141" name="TextBox 140">
                <a:extLst>
                  <a:ext uri="{FF2B5EF4-FFF2-40B4-BE49-F238E27FC236}">
                    <a16:creationId xmlns:a16="http://schemas.microsoft.com/office/drawing/2014/main" id="{7492D5D8-1C6B-5F3A-059E-20972ABFE6B5}"/>
                  </a:ext>
                </a:extLst>
              </p:cNvPr>
              <p:cNvSpPr txBox="1">
                <a:spLocks/>
              </p:cNvSpPr>
              <p:nvPr/>
            </p:nvSpPr>
            <p:spPr>
              <a:xfrm>
                <a:off x="2172747" y="6233747"/>
                <a:ext cx="1130300" cy="369332"/>
              </a:xfrm>
              <a:prstGeom prst="rect">
                <a:avLst/>
              </a:prstGeom>
              <a:noFill/>
              <a:ln w="38100">
                <a:noFill/>
              </a:ln>
            </p:spPr>
            <p:txBody>
              <a:bodyPr wrap="square" rtlCol="0" anchor="b">
                <a:spAutoFit/>
              </a:bodyPr>
              <a:lstStyle/>
              <a:p>
                <a:pPr algn="ctr"/>
                <a:r>
                  <a:rPr lang="en-US" dirty="0"/>
                  <a:t>Sensitivity</a:t>
                </a:r>
              </a:p>
            </p:txBody>
          </p:sp>
          <p:sp>
            <p:nvSpPr>
              <p:cNvPr id="142" name="TextBox 141">
                <a:extLst>
                  <a:ext uri="{FF2B5EF4-FFF2-40B4-BE49-F238E27FC236}">
                    <a16:creationId xmlns:a16="http://schemas.microsoft.com/office/drawing/2014/main" id="{06FB9DDB-3CF3-04A7-327E-A9C8341C3508}"/>
                  </a:ext>
                </a:extLst>
              </p:cNvPr>
              <p:cNvSpPr txBox="1">
                <a:spLocks/>
              </p:cNvSpPr>
              <p:nvPr/>
            </p:nvSpPr>
            <p:spPr>
              <a:xfrm>
                <a:off x="9827477" y="6244499"/>
                <a:ext cx="759512" cy="369332"/>
              </a:xfrm>
              <a:prstGeom prst="rect">
                <a:avLst/>
              </a:prstGeom>
              <a:noFill/>
              <a:ln w="38100">
                <a:noFill/>
              </a:ln>
            </p:spPr>
            <p:txBody>
              <a:bodyPr wrap="square" rtlCol="0" anchor="b">
                <a:spAutoFit/>
              </a:bodyPr>
              <a:lstStyle/>
              <a:p>
                <a:pPr algn="ctr"/>
                <a:r>
                  <a:rPr lang="en-US" dirty="0"/>
                  <a:t>100%</a:t>
                </a:r>
              </a:p>
            </p:txBody>
          </p:sp>
          <p:grpSp>
            <p:nvGrpSpPr>
              <p:cNvPr id="143" name="Group 142">
                <a:extLst>
                  <a:ext uri="{FF2B5EF4-FFF2-40B4-BE49-F238E27FC236}">
                    <a16:creationId xmlns:a16="http://schemas.microsoft.com/office/drawing/2014/main" id="{05B46238-0CA6-9DD6-53CA-ED02E4C84F73}"/>
                  </a:ext>
                </a:extLst>
              </p:cNvPr>
              <p:cNvGrpSpPr>
                <a:grpSpLocks/>
              </p:cNvGrpSpPr>
              <p:nvPr/>
            </p:nvGrpSpPr>
            <p:grpSpPr>
              <a:xfrm>
                <a:off x="3303047" y="6276904"/>
                <a:ext cx="6524431" cy="283018"/>
                <a:chOff x="2845847" y="6374682"/>
                <a:chExt cx="6524431" cy="283018"/>
              </a:xfrm>
            </p:grpSpPr>
            <p:cxnSp>
              <p:nvCxnSpPr>
                <p:cNvPr id="144" name="Straight Arrow Connector 143">
                  <a:extLst>
                    <a:ext uri="{FF2B5EF4-FFF2-40B4-BE49-F238E27FC236}">
                      <a16:creationId xmlns:a16="http://schemas.microsoft.com/office/drawing/2014/main" id="{73342629-8601-CDD6-8F27-D0D7E8535CE7}"/>
                    </a:ext>
                  </a:extLst>
                </p:cNvPr>
                <p:cNvCxnSpPr>
                  <a:cxnSpLocks/>
                  <a:stCxn id="141" idx="3"/>
                  <a:endCxn id="142" idx="1"/>
                </p:cNvCxnSpPr>
                <p:nvPr/>
              </p:nvCxnSpPr>
              <p:spPr>
                <a:xfrm>
                  <a:off x="2845847" y="6516191"/>
                  <a:ext cx="6524430" cy="10752"/>
                </a:xfrm>
                <a:prstGeom prst="straightConnector1">
                  <a:avLst/>
                </a:prstGeom>
                <a:ln w="38100">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45" name="Straight Connector 144">
                  <a:extLst>
                    <a:ext uri="{FF2B5EF4-FFF2-40B4-BE49-F238E27FC236}">
                      <a16:creationId xmlns:a16="http://schemas.microsoft.com/office/drawing/2014/main" id="{79476678-3748-200B-7098-87F3ACB478F0}"/>
                    </a:ext>
                  </a:extLst>
                </p:cNvPr>
                <p:cNvCxnSpPr>
                  <a:cxnSpLocks/>
                </p:cNvCxnSpPr>
                <p:nvPr/>
              </p:nvCxnSpPr>
              <p:spPr>
                <a:xfrm>
                  <a:off x="6108062"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46" name="Straight Connector 145">
                  <a:extLst>
                    <a:ext uri="{FF2B5EF4-FFF2-40B4-BE49-F238E27FC236}">
                      <a16:creationId xmlns:a16="http://schemas.microsoft.com/office/drawing/2014/main" id="{26614518-A3AC-D0FD-E334-035B74A7ABFC}"/>
                    </a:ext>
                  </a:extLst>
                </p:cNvPr>
                <p:cNvCxnSpPr>
                  <a:cxnSpLocks/>
                </p:cNvCxnSpPr>
                <p:nvPr/>
              </p:nvCxnSpPr>
              <p:spPr>
                <a:xfrm>
                  <a:off x="6760505"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47" name="Straight Connector 146">
                  <a:extLst>
                    <a:ext uri="{FF2B5EF4-FFF2-40B4-BE49-F238E27FC236}">
                      <a16:creationId xmlns:a16="http://schemas.microsoft.com/office/drawing/2014/main" id="{7FC3C6EE-4D0E-88F3-DDED-441942AFB892}"/>
                    </a:ext>
                  </a:extLst>
                </p:cNvPr>
                <p:cNvCxnSpPr>
                  <a:cxnSpLocks/>
                </p:cNvCxnSpPr>
                <p:nvPr/>
              </p:nvCxnSpPr>
              <p:spPr>
                <a:xfrm>
                  <a:off x="937027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48" name="Straight Connector 147">
                  <a:extLst>
                    <a:ext uri="{FF2B5EF4-FFF2-40B4-BE49-F238E27FC236}">
                      <a16:creationId xmlns:a16="http://schemas.microsoft.com/office/drawing/2014/main" id="{D60C0B37-0B34-1962-78C4-B2EA7072D5D5}"/>
                    </a:ext>
                  </a:extLst>
                </p:cNvPr>
                <p:cNvCxnSpPr>
                  <a:cxnSpLocks/>
                </p:cNvCxnSpPr>
                <p:nvPr/>
              </p:nvCxnSpPr>
              <p:spPr>
                <a:xfrm>
                  <a:off x="741294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49" name="Straight Connector 148">
                  <a:extLst>
                    <a:ext uri="{FF2B5EF4-FFF2-40B4-BE49-F238E27FC236}">
                      <a16:creationId xmlns:a16="http://schemas.microsoft.com/office/drawing/2014/main" id="{D5F1FA9B-8F0C-B5D7-C8EA-6D51B40A974E}"/>
                    </a:ext>
                  </a:extLst>
                </p:cNvPr>
                <p:cNvCxnSpPr>
                  <a:cxnSpLocks/>
                </p:cNvCxnSpPr>
                <p:nvPr/>
              </p:nvCxnSpPr>
              <p:spPr>
                <a:xfrm>
                  <a:off x="8065391"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0" name="Straight Connector 149">
                  <a:extLst>
                    <a:ext uri="{FF2B5EF4-FFF2-40B4-BE49-F238E27FC236}">
                      <a16:creationId xmlns:a16="http://schemas.microsoft.com/office/drawing/2014/main" id="{EA50E888-8D24-2E76-7621-D19EC34A613A}"/>
                    </a:ext>
                  </a:extLst>
                </p:cNvPr>
                <p:cNvCxnSpPr>
                  <a:cxnSpLocks/>
                </p:cNvCxnSpPr>
                <p:nvPr/>
              </p:nvCxnSpPr>
              <p:spPr>
                <a:xfrm>
                  <a:off x="8717834"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1" name="Straight Connector 150">
                  <a:extLst>
                    <a:ext uri="{FF2B5EF4-FFF2-40B4-BE49-F238E27FC236}">
                      <a16:creationId xmlns:a16="http://schemas.microsoft.com/office/drawing/2014/main" id="{D1430247-BFC2-409F-89A4-0A953FDE625E}"/>
                    </a:ext>
                  </a:extLst>
                </p:cNvPr>
                <p:cNvCxnSpPr>
                  <a:cxnSpLocks/>
                </p:cNvCxnSpPr>
                <p:nvPr/>
              </p:nvCxnSpPr>
              <p:spPr>
                <a:xfrm>
                  <a:off x="5455619"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2" name="Straight Connector 151">
                  <a:extLst>
                    <a:ext uri="{FF2B5EF4-FFF2-40B4-BE49-F238E27FC236}">
                      <a16:creationId xmlns:a16="http://schemas.microsoft.com/office/drawing/2014/main" id="{70BED186-132E-8503-F43A-FAA7C10E4E26}"/>
                    </a:ext>
                  </a:extLst>
                </p:cNvPr>
                <p:cNvCxnSpPr>
                  <a:cxnSpLocks/>
                </p:cNvCxnSpPr>
                <p:nvPr/>
              </p:nvCxnSpPr>
              <p:spPr>
                <a:xfrm>
                  <a:off x="2845847"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3" name="Straight Connector 152">
                  <a:extLst>
                    <a:ext uri="{FF2B5EF4-FFF2-40B4-BE49-F238E27FC236}">
                      <a16:creationId xmlns:a16="http://schemas.microsoft.com/office/drawing/2014/main" id="{98A7755D-0127-B2C1-A2C0-AF464CB690F9}"/>
                    </a:ext>
                  </a:extLst>
                </p:cNvPr>
                <p:cNvCxnSpPr>
                  <a:cxnSpLocks/>
                </p:cNvCxnSpPr>
                <p:nvPr/>
              </p:nvCxnSpPr>
              <p:spPr>
                <a:xfrm>
                  <a:off x="3498290"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4" name="Straight Connector 153">
                  <a:extLst>
                    <a:ext uri="{FF2B5EF4-FFF2-40B4-BE49-F238E27FC236}">
                      <a16:creationId xmlns:a16="http://schemas.microsoft.com/office/drawing/2014/main" id="{13F8562C-2E27-6D3B-9752-B509FE66018F}"/>
                    </a:ext>
                  </a:extLst>
                </p:cNvPr>
                <p:cNvCxnSpPr>
                  <a:cxnSpLocks/>
                </p:cNvCxnSpPr>
                <p:nvPr/>
              </p:nvCxnSpPr>
              <p:spPr>
                <a:xfrm>
                  <a:off x="4150733"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55" name="Straight Connector 154">
                  <a:extLst>
                    <a:ext uri="{FF2B5EF4-FFF2-40B4-BE49-F238E27FC236}">
                      <a16:creationId xmlns:a16="http://schemas.microsoft.com/office/drawing/2014/main" id="{2962B1BF-5070-B85A-8BF2-3DEB50E8D69C}"/>
                    </a:ext>
                  </a:extLst>
                </p:cNvPr>
                <p:cNvCxnSpPr>
                  <a:cxnSpLocks/>
                </p:cNvCxnSpPr>
                <p:nvPr/>
              </p:nvCxnSpPr>
              <p:spPr>
                <a:xfrm>
                  <a:off x="4803176"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grpSp>
        </p:grpSp>
        <p:sp>
          <p:nvSpPr>
            <p:cNvPr id="136" name="TextBox 135">
              <a:extLst>
                <a:ext uri="{FF2B5EF4-FFF2-40B4-BE49-F238E27FC236}">
                  <a16:creationId xmlns:a16="http://schemas.microsoft.com/office/drawing/2014/main" id="{D2AF1AC5-3C95-7F85-EDF2-66926A786BCB}"/>
                </a:ext>
              </a:extLst>
            </p:cNvPr>
            <p:cNvSpPr txBox="1">
              <a:spLocks/>
            </p:cNvSpPr>
            <p:nvPr/>
          </p:nvSpPr>
          <p:spPr>
            <a:xfrm>
              <a:off x="3355623" y="5737517"/>
              <a:ext cx="759512" cy="307777"/>
            </a:xfrm>
            <a:prstGeom prst="rect">
              <a:avLst/>
            </a:prstGeom>
            <a:noFill/>
            <a:ln w="38100">
              <a:noFill/>
            </a:ln>
          </p:spPr>
          <p:txBody>
            <a:bodyPr wrap="square" rtlCol="0" anchor="b">
              <a:spAutoFit/>
            </a:bodyPr>
            <a:lstStyle/>
            <a:p>
              <a:pPr algn="ctr"/>
              <a:r>
                <a:rPr lang="en-US" sz="1400" dirty="0"/>
                <a:t>50%</a:t>
              </a:r>
            </a:p>
          </p:txBody>
        </p:sp>
        <p:sp>
          <p:nvSpPr>
            <p:cNvPr id="137" name="TextBox 136">
              <a:extLst>
                <a:ext uri="{FF2B5EF4-FFF2-40B4-BE49-F238E27FC236}">
                  <a16:creationId xmlns:a16="http://schemas.microsoft.com/office/drawing/2014/main" id="{27F5D472-4F84-DF52-47A5-3038F980B180}"/>
                </a:ext>
              </a:extLst>
            </p:cNvPr>
            <p:cNvSpPr txBox="1">
              <a:spLocks/>
            </p:cNvSpPr>
            <p:nvPr/>
          </p:nvSpPr>
          <p:spPr>
            <a:xfrm>
              <a:off x="4649640" y="5737517"/>
              <a:ext cx="759512" cy="307777"/>
            </a:xfrm>
            <a:prstGeom prst="rect">
              <a:avLst/>
            </a:prstGeom>
            <a:noFill/>
            <a:ln w="38100">
              <a:noFill/>
            </a:ln>
          </p:spPr>
          <p:txBody>
            <a:bodyPr wrap="square" rtlCol="0" anchor="b">
              <a:spAutoFit/>
            </a:bodyPr>
            <a:lstStyle/>
            <a:p>
              <a:pPr algn="ctr"/>
              <a:r>
                <a:rPr lang="en-US" sz="1400" dirty="0"/>
                <a:t>60%</a:t>
              </a:r>
            </a:p>
          </p:txBody>
        </p:sp>
        <p:sp>
          <p:nvSpPr>
            <p:cNvPr id="138" name="TextBox 137">
              <a:extLst>
                <a:ext uri="{FF2B5EF4-FFF2-40B4-BE49-F238E27FC236}">
                  <a16:creationId xmlns:a16="http://schemas.microsoft.com/office/drawing/2014/main" id="{15920100-C0EA-CDE5-598D-6E352D047E46}"/>
                </a:ext>
              </a:extLst>
            </p:cNvPr>
            <p:cNvSpPr txBox="1">
              <a:spLocks/>
            </p:cNvSpPr>
            <p:nvPr/>
          </p:nvSpPr>
          <p:spPr>
            <a:xfrm>
              <a:off x="5919553" y="5737517"/>
              <a:ext cx="759512" cy="307777"/>
            </a:xfrm>
            <a:prstGeom prst="rect">
              <a:avLst/>
            </a:prstGeom>
            <a:noFill/>
            <a:ln w="38100">
              <a:noFill/>
            </a:ln>
          </p:spPr>
          <p:txBody>
            <a:bodyPr wrap="square" rtlCol="0" anchor="b">
              <a:spAutoFit/>
            </a:bodyPr>
            <a:lstStyle/>
            <a:p>
              <a:pPr algn="ctr"/>
              <a:r>
                <a:rPr lang="en-US" sz="1400" dirty="0"/>
                <a:t>70%</a:t>
              </a:r>
            </a:p>
          </p:txBody>
        </p:sp>
        <p:sp>
          <p:nvSpPr>
            <p:cNvPr id="139" name="TextBox 138">
              <a:extLst>
                <a:ext uri="{FF2B5EF4-FFF2-40B4-BE49-F238E27FC236}">
                  <a16:creationId xmlns:a16="http://schemas.microsoft.com/office/drawing/2014/main" id="{F534B986-5F78-DCDF-1AC2-76CCB8E14C50}"/>
                </a:ext>
              </a:extLst>
            </p:cNvPr>
            <p:cNvSpPr txBox="1">
              <a:spLocks/>
            </p:cNvSpPr>
            <p:nvPr/>
          </p:nvSpPr>
          <p:spPr>
            <a:xfrm>
              <a:off x="7192252" y="5737517"/>
              <a:ext cx="759512" cy="307777"/>
            </a:xfrm>
            <a:prstGeom prst="rect">
              <a:avLst/>
            </a:prstGeom>
            <a:noFill/>
            <a:ln w="38100">
              <a:noFill/>
            </a:ln>
          </p:spPr>
          <p:txBody>
            <a:bodyPr wrap="square" rtlCol="0" anchor="b">
              <a:spAutoFit/>
            </a:bodyPr>
            <a:lstStyle/>
            <a:p>
              <a:pPr algn="ctr"/>
              <a:r>
                <a:rPr lang="en-US" sz="1400" dirty="0"/>
                <a:t>80%</a:t>
              </a:r>
            </a:p>
          </p:txBody>
        </p:sp>
        <p:sp>
          <p:nvSpPr>
            <p:cNvPr id="140" name="TextBox 139">
              <a:extLst>
                <a:ext uri="{FF2B5EF4-FFF2-40B4-BE49-F238E27FC236}">
                  <a16:creationId xmlns:a16="http://schemas.microsoft.com/office/drawing/2014/main" id="{2DD3C0CC-43F4-9894-A8EE-46B76DB0FD30}"/>
                </a:ext>
              </a:extLst>
            </p:cNvPr>
            <p:cNvSpPr txBox="1">
              <a:spLocks/>
            </p:cNvSpPr>
            <p:nvPr/>
          </p:nvSpPr>
          <p:spPr>
            <a:xfrm>
              <a:off x="8497137" y="5737517"/>
              <a:ext cx="759512" cy="307777"/>
            </a:xfrm>
            <a:prstGeom prst="rect">
              <a:avLst/>
            </a:prstGeom>
            <a:noFill/>
            <a:ln w="38100">
              <a:noFill/>
            </a:ln>
          </p:spPr>
          <p:txBody>
            <a:bodyPr wrap="square" rtlCol="0" anchor="b">
              <a:spAutoFit/>
            </a:bodyPr>
            <a:lstStyle/>
            <a:p>
              <a:pPr algn="ctr"/>
              <a:r>
                <a:rPr lang="en-US" sz="1400" dirty="0"/>
                <a:t>90%</a:t>
              </a:r>
            </a:p>
          </p:txBody>
        </p:sp>
      </p:grpSp>
      <p:grpSp>
        <p:nvGrpSpPr>
          <p:cNvPr id="30" name="Group 29">
            <a:extLst>
              <a:ext uri="{FF2B5EF4-FFF2-40B4-BE49-F238E27FC236}">
                <a16:creationId xmlns:a16="http://schemas.microsoft.com/office/drawing/2014/main" id="{312B2A7B-36CD-4B3C-8B39-D72175D78568}"/>
              </a:ext>
            </a:extLst>
          </p:cNvPr>
          <p:cNvGrpSpPr/>
          <p:nvPr/>
        </p:nvGrpSpPr>
        <p:grpSpPr>
          <a:xfrm>
            <a:off x="7004949" y="5837677"/>
            <a:ext cx="1130300" cy="460787"/>
            <a:chOff x="7506406" y="6008369"/>
            <a:chExt cx="1130300" cy="460787"/>
          </a:xfrm>
        </p:grpSpPr>
        <p:sp>
          <p:nvSpPr>
            <p:cNvPr id="29" name="Isosceles Triangle 28">
              <a:extLst>
                <a:ext uri="{FF2B5EF4-FFF2-40B4-BE49-F238E27FC236}">
                  <a16:creationId xmlns:a16="http://schemas.microsoft.com/office/drawing/2014/main" id="{90F864A0-A19E-4A61-8531-782B6332429A}"/>
                </a:ext>
              </a:extLst>
            </p:cNvPr>
            <p:cNvSpPr/>
            <p:nvPr/>
          </p:nvSpPr>
          <p:spPr>
            <a:xfrm rot="10800000">
              <a:off x="7950173" y="6323062"/>
              <a:ext cx="256085" cy="14609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D21857C9-FBD5-4DE6-8852-C685FB20A6E0}"/>
                </a:ext>
              </a:extLst>
            </p:cNvPr>
            <p:cNvSpPr txBox="1"/>
            <p:nvPr/>
          </p:nvSpPr>
          <p:spPr>
            <a:xfrm>
              <a:off x="7506406" y="6008369"/>
              <a:ext cx="1130300" cy="369332"/>
            </a:xfrm>
            <a:prstGeom prst="rect">
              <a:avLst/>
            </a:prstGeom>
            <a:noFill/>
          </p:spPr>
          <p:txBody>
            <a:bodyPr wrap="square" rtlCol="0">
              <a:spAutoFit/>
            </a:bodyPr>
            <a:lstStyle/>
            <a:p>
              <a:pPr algn="ctr"/>
              <a:r>
                <a:rPr lang="en-US" dirty="0">
                  <a:solidFill>
                    <a:schemeClr val="accent1"/>
                  </a:solidFill>
                </a:rPr>
                <a:t>SPEP</a:t>
              </a:r>
            </a:p>
          </p:txBody>
        </p:sp>
      </p:grpSp>
      <p:sp>
        <p:nvSpPr>
          <p:cNvPr id="122" name="Sensitivity">
            <a:extLst>
              <a:ext uri="{FF2B5EF4-FFF2-40B4-BE49-F238E27FC236}">
                <a16:creationId xmlns:a16="http://schemas.microsoft.com/office/drawing/2014/main" id="{8A2E555E-A036-4888-A751-B2FCB8534E0F}"/>
              </a:ext>
            </a:extLst>
          </p:cNvPr>
          <p:cNvSpPr/>
          <p:nvPr/>
        </p:nvSpPr>
        <p:spPr>
          <a:xfrm>
            <a:off x="5887094" y="6041386"/>
            <a:ext cx="182880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Sensitivity</a:t>
            </a:r>
          </a:p>
        </p:txBody>
      </p:sp>
      <p:pic>
        <p:nvPicPr>
          <p:cNvPr id="123" name="Graphic 122" descr="Cursor with solid fill">
            <a:extLst>
              <a:ext uri="{FF2B5EF4-FFF2-40B4-BE49-F238E27FC236}">
                <a16:creationId xmlns:a16="http://schemas.microsoft.com/office/drawing/2014/main" id="{4956E3BC-95BE-4ADE-ABB6-05005CA9F76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59386" y="6366911"/>
            <a:ext cx="301752" cy="301752"/>
          </a:xfrm>
          <a:prstGeom prst="rect">
            <a:avLst/>
          </a:prstGeom>
        </p:spPr>
      </p:pic>
      <p:graphicFrame>
        <p:nvGraphicFramePr>
          <p:cNvPr id="110" name="Table 109">
            <a:extLst>
              <a:ext uri="{FF2B5EF4-FFF2-40B4-BE49-F238E27FC236}">
                <a16:creationId xmlns:a16="http://schemas.microsoft.com/office/drawing/2014/main" id="{B672342E-2777-4FF2-878F-B3FA2ED1CCA0}"/>
              </a:ext>
            </a:extLst>
          </p:cNvPr>
          <p:cNvGraphicFramePr>
            <a:graphicFrameLocks noGrp="1"/>
          </p:cNvGraphicFramePr>
          <p:nvPr>
            <p:extLst>
              <p:ext uri="{D42A27DB-BD31-4B8C-83A1-F6EECF244321}">
                <p14:modId xmlns:p14="http://schemas.microsoft.com/office/powerpoint/2010/main" val="1947801820"/>
              </p:ext>
            </p:extLst>
          </p:nvPr>
        </p:nvGraphicFramePr>
        <p:xfrm>
          <a:off x="2203216" y="3791872"/>
          <a:ext cx="4613656" cy="1749933"/>
        </p:xfrm>
        <a:graphic>
          <a:graphicData uri="http://schemas.openxmlformats.org/drawingml/2006/table">
            <a:tbl>
              <a:tblPr firstRow="1" firstCol="1" bandRow="1">
                <a:tableStyleId>{9D7B26C5-4107-4FEC-AEDC-1716B250A1EF}</a:tableStyleId>
              </a:tblPr>
              <a:tblGrid>
                <a:gridCol w="1406135">
                  <a:extLst>
                    <a:ext uri="{9D8B030D-6E8A-4147-A177-3AD203B41FA5}">
                      <a16:colId xmlns:a16="http://schemas.microsoft.com/office/drawing/2014/main" val="2214438739"/>
                    </a:ext>
                  </a:extLst>
                </a:gridCol>
                <a:gridCol w="1230008">
                  <a:extLst>
                    <a:ext uri="{9D8B030D-6E8A-4147-A177-3AD203B41FA5}">
                      <a16:colId xmlns:a16="http://schemas.microsoft.com/office/drawing/2014/main" val="4046166952"/>
                    </a:ext>
                  </a:extLst>
                </a:gridCol>
                <a:gridCol w="1977513">
                  <a:extLst>
                    <a:ext uri="{9D8B030D-6E8A-4147-A177-3AD203B41FA5}">
                      <a16:colId xmlns:a16="http://schemas.microsoft.com/office/drawing/2014/main" val="3951653431"/>
                    </a:ext>
                  </a:extLst>
                </a:gridCol>
              </a:tblGrid>
              <a:tr h="333076">
                <a:tc>
                  <a:txBody>
                    <a:bodyPr/>
                    <a:lstStyle/>
                    <a:p>
                      <a:pPr marL="0" marR="0" algn="ctr">
                        <a:lnSpc>
                          <a:spcPct val="150000"/>
                        </a:lnSpc>
                        <a:spcBef>
                          <a:spcPts val="0"/>
                        </a:spcBef>
                        <a:spcAft>
                          <a:spcPts val="0"/>
                        </a:spcAft>
                      </a:pP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400" dirty="0">
                          <a:effectLst/>
                        </a:rPr>
                        <a:t>Result (g/dL)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400" dirty="0">
                          <a:effectLst/>
                        </a:rPr>
                        <a:t>Reference Range (g/dL)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717539741"/>
                  </a:ext>
                </a:extLst>
              </a:tr>
              <a:tr h="241465">
                <a:tc>
                  <a:txBody>
                    <a:bodyPr/>
                    <a:lstStyle/>
                    <a:p>
                      <a:pPr marL="0" marR="0" algn="ctr">
                        <a:lnSpc>
                          <a:spcPct val="100000"/>
                        </a:lnSpc>
                        <a:spcBef>
                          <a:spcPts val="0"/>
                        </a:spcBef>
                        <a:spcAft>
                          <a:spcPts val="0"/>
                        </a:spcAft>
                      </a:pPr>
                      <a:r>
                        <a:rPr lang="en-US" sz="1200" dirty="0">
                          <a:effectLst/>
                        </a:rPr>
                        <a:t>Albumin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4.2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3.6 -5.4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028325281"/>
                  </a:ext>
                </a:extLst>
              </a:tr>
              <a:tr h="241465">
                <a:tc>
                  <a:txBody>
                    <a:bodyPr/>
                    <a:lstStyle/>
                    <a:p>
                      <a:pPr marL="0" marR="0" algn="ctr">
                        <a:lnSpc>
                          <a:spcPct val="100000"/>
                        </a:lnSpc>
                        <a:spcBef>
                          <a:spcPts val="0"/>
                        </a:spcBef>
                        <a:spcAft>
                          <a:spcPts val="0"/>
                        </a:spcAft>
                      </a:pPr>
                      <a:r>
                        <a:rPr lang="en-US" sz="1200">
                          <a:effectLst/>
                        </a:rPr>
                        <a:t>Alpha</a:t>
                      </a:r>
                      <a:r>
                        <a:rPr lang="en-US" sz="1200" baseline="-25000">
                          <a:effectLst/>
                        </a:rPr>
                        <a:t>1</a:t>
                      </a:r>
                      <a:r>
                        <a:rPr lang="en-US" sz="1200">
                          <a:effectLst/>
                        </a:rPr>
                        <a:t> globulin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0.1-0.3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1584688168"/>
                  </a:ext>
                </a:extLst>
              </a:tr>
              <a:tr h="241465">
                <a:tc>
                  <a:txBody>
                    <a:bodyPr/>
                    <a:lstStyle/>
                    <a:p>
                      <a:pPr marL="0" marR="0" algn="ctr">
                        <a:lnSpc>
                          <a:spcPct val="100000"/>
                        </a:lnSpc>
                        <a:spcBef>
                          <a:spcPts val="0"/>
                        </a:spcBef>
                        <a:spcAft>
                          <a:spcPts val="0"/>
                        </a:spcAft>
                      </a:pPr>
                      <a:r>
                        <a:rPr lang="en-US" sz="1200" dirty="0">
                          <a:effectLst/>
                        </a:rPr>
                        <a:t>Alpha</a:t>
                      </a:r>
                      <a:r>
                        <a:rPr lang="en-US" sz="1200" baseline="-25000" dirty="0">
                          <a:effectLst/>
                        </a:rPr>
                        <a:t>2</a:t>
                      </a:r>
                      <a:r>
                        <a:rPr lang="en-US" sz="1200" dirty="0">
                          <a:effectLst/>
                        </a:rPr>
                        <a:t> globulin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0.3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0.5-0.3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739897099"/>
                  </a:ext>
                </a:extLst>
              </a:tr>
              <a:tr h="241465">
                <a:tc>
                  <a:txBody>
                    <a:bodyPr/>
                    <a:lstStyle/>
                    <a:p>
                      <a:pPr marL="0" marR="0" algn="ctr">
                        <a:lnSpc>
                          <a:spcPct val="100000"/>
                        </a:lnSpc>
                        <a:spcBef>
                          <a:spcPts val="0"/>
                        </a:spcBef>
                        <a:spcAft>
                          <a:spcPts val="0"/>
                        </a:spcAft>
                      </a:pPr>
                      <a:r>
                        <a:rPr lang="en-US" sz="1200" dirty="0">
                          <a:effectLst/>
                        </a:rPr>
                        <a:t>Beta globulin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0.5-1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781225815"/>
                  </a:ext>
                </a:extLst>
              </a:tr>
              <a:tr h="241465">
                <a:tc>
                  <a:txBody>
                    <a:bodyPr/>
                    <a:lstStyle/>
                    <a:p>
                      <a:pPr marL="0" marR="0" algn="ctr">
                        <a:lnSpc>
                          <a:spcPct val="100000"/>
                        </a:lnSpc>
                        <a:spcBef>
                          <a:spcPts val="0"/>
                        </a:spcBef>
                        <a:spcAft>
                          <a:spcPts val="0"/>
                        </a:spcAft>
                      </a:pPr>
                      <a:r>
                        <a:rPr lang="en-US" sz="1200" dirty="0">
                          <a:effectLst/>
                        </a:rPr>
                        <a:t>Gamma globulin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solidFill>
                            <a:srgbClr val="FF0000"/>
                          </a:solidFill>
                          <a:effectLst/>
                        </a:rPr>
                        <a:t>4.5 (H</a:t>
                      </a:r>
                      <a:r>
                        <a:rPr lang="en-US" sz="1200" u="none" dirty="0">
                          <a:solidFill>
                            <a:srgbClr val="FF0000"/>
                          </a:solidFill>
                          <a:effectLst/>
                        </a:rPr>
                        <a:t>)</a:t>
                      </a:r>
                      <a:endParaRPr lang="en-US" sz="1200" u="none"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anchor="ctr"/>
                </a:tc>
                <a:tc>
                  <a:txBody>
                    <a:bodyPr/>
                    <a:lstStyle/>
                    <a:p>
                      <a:pPr marL="0" marR="0" algn="ctr">
                        <a:lnSpc>
                          <a:spcPct val="100000"/>
                        </a:lnSpc>
                        <a:spcBef>
                          <a:spcPts val="0"/>
                        </a:spcBef>
                        <a:spcAft>
                          <a:spcPts val="0"/>
                        </a:spcAft>
                      </a:pPr>
                      <a:r>
                        <a:rPr lang="en-US" sz="1200" dirty="0">
                          <a:effectLst/>
                        </a:rPr>
                        <a:t>0.5-1.4</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2476229942"/>
                  </a:ext>
                </a:extLst>
              </a:tr>
            </a:tbl>
          </a:graphicData>
        </a:graphic>
      </p:graphicFrame>
      <p:sp>
        <p:nvSpPr>
          <p:cNvPr id="111" name="TextBox 110">
            <a:extLst>
              <a:ext uri="{FF2B5EF4-FFF2-40B4-BE49-F238E27FC236}">
                <a16:creationId xmlns:a16="http://schemas.microsoft.com/office/drawing/2014/main" id="{6023D76E-FB36-4EC5-B9F7-07177B0B0253}"/>
              </a:ext>
            </a:extLst>
          </p:cNvPr>
          <p:cNvSpPr txBox="1"/>
          <p:nvPr/>
        </p:nvSpPr>
        <p:spPr>
          <a:xfrm>
            <a:off x="2044238" y="5539743"/>
            <a:ext cx="4786125" cy="338554"/>
          </a:xfrm>
          <a:prstGeom prst="rect">
            <a:avLst/>
          </a:prstGeom>
          <a:noFill/>
        </p:spPr>
        <p:txBody>
          <a:bodyPr wrap="square">
            <a:spAutoFit/>
          </a:bodyPr>
          <a:lstStyle/>
          <a:p>
            <a:pPr algn="ctr"/>
            <a:r>
              <a:rPr lang="en-US" sz="1600" i="0" dirty="0">
                <a:solidFill>
                  <a:srgbClr val="2A2A33"/>
                </a:solidFill>
                <a:effectLst/>
                <a:latin typeface="Calibri" panose="020F0502020204030204" pitchFamily="34" charset="0"/>
                <a:cs typeface="Calibri" panose="020F0502020204030204" pitchFamily="34" charset="0"/>
              </a:rPr>
              <a:t>“The monoclonal protein measures 3.2 g/dL“</a:t>
            </a:r>
          </a:p>
        </p:txBody>
      </p:sp>
    </p:spTree>
    <p:extLst>
      <p:ext uri="{BB962C8B-B14F-4D97-AF65-F5344CB8AC3E}">
        <p14:creationId xmlns:p14="http://schemas.microsoft.com/office/powerpoint/2010/main" val="34053268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0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9"/>
                                        </p:tgtEl>
                                        <p:attrNameLst>
                                          <p:attrName>style.visibility</p:attrName>
                                        </p:attrNameLst>
                                      </p:cBhvr>
                                      <p:to>
                                        <p:strVal val="hidden"/>
                                      </p:to>
                                    </p:set>
                                  </p:childTnLst>
                                </p:cTn>
                              </p:par>
                              <p:par>
                                <p:cTn id="9" presetID="1" presetClass="entr" presetSubtype="0" fill="hold" grpId="1"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8"/>
                                        </p:tgtEl>
                                        <p:attrNameLst>
                                          <p:attrName>style.visibility</p:attrName>
                                        </p:attrNameLst>
                                      </p:cBhvr>
                                      <p:to>
                                        <p:strVal val="visible"/>
                                      </p:to>
                                    </p:set>
                                  </p:childTnLst>
                                </p:cTn>
                              </p:par>
                            </p:childTnLst>
                          </p:cTn>
                        </p:par>
                      </p:childTnLst>
                    </p:cTn>
                  </p:par>
                </p:childTnLst>
              </p:cTn>
              <p:nextCondLst>
                <p:cond evt="onClick" delay="0">
                  <p:tgtEl>
                    <p:spTgt spid="108"/>
                  </p:tgtEl>
                </p:cond>
              </p:nextCondLst>
            </p:seq>
            <p:seq concurrent="1" nextAc="seek">
              <p:cTn id="19" restart="whenNotActive" fill="hold" evtFilter="cancelBubble" nodeType="interactiveSeq">
                <p:stCondLst>
                  <p:cond evt="onClick" delay="0">
                    <p:tgtEl>
                      <p:spTgt spid="78"/>
                    </p:tgtEl>
                  </p:cond>
                </p:stCondLst>
                <p:endSync evt="end" delay="0">
                  <p:rtn val="all"/>
                </p:endSync>
                <p:childTnLst>
                  <p:par>
                    <p:cTn id="20" fill="hold">
                      <p:stCondLst>
                        <p:cond delay="0"/>
                      </p:stCondLst>
                      <p:childTnLst>
                        <p:par>
                          <p:cTn id="21" fill="hold">
                            <p:stCondLst>
                              <p:cond delay="0"/>
                            </p:stCondLst>
                            <p:childTnLst>
                              <p:par>
                                <p:cTn id="22" presetID="1" presetClass="exit" presetSubtype="0" fill="hold" grpId="0" nodeType="withEffect">
                                  <p:stCondLst>
                                    <p:cond delay="0"/>
                                  </p:stCondLst>
                                  <p:childTnLst>
                                    <p:set>
                                      <p:cBhvr>
                                        <p:cTn id="23" dur="1" fill="hold">
                                          <p:stCondLst>
                                            <p:cond delay="0"/>
                                          </p:stCondLst>
                                        </p:cTn>
                                        <p:tgtEl>
                                          <p:spTgt spid="78"/>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childTnLst>
                                </p:cTn>
                              </p:par>
                              <p:par>
                                <p:cTn id="26" presetID="1" presetClass="exit" presetSubtype="0" fill="hold" nodeType="withEffect">
                                  <p:stCondLst>
                                    <p:cond delay="0"/>
                                  </p:stCondLst>
                                  <p:childTnLst>
                                    <p:set>
                                      <p:cBhvr>
                                        <p:cTn id="27" dur="1" fill="hold">
                                          <p:stCondLst>
                                            <p:cond delay="0"/>
                                          </p:stCondLst>
                                        </p:cTn>
                                        <p:tgtEl>
                                          <p:spTgt spid="79"/>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1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10"/>
                                        </p:tgtEl>
                                        <p:attrNameLst>
                                          <p:attrName>style.visibility</p:attrName>
                                        </p:attrNameLst>
                                      </p:cBhvr>
                                      <p:to>
                                        <p:strVal val="visible"/>
                                      </p:to>
                                    </p:set>
                                  </p:childTnLst>
                                </p:cTn>
                              </p:par>
                            </p:childTnLst>
                          </p:cTn>
                        </p:par>
                      </p:childTnLst>
                    </p:cTn>
                  </p:par>
                </p:childTnLst>
              </p:cTn>
              <p:nextCondLst>
                <p:cond evt="onClick" delay="0">
                  <p:tgtEl>
                    <p:spTgt spid="78"/>
                  </p:tgtEl>
                </p:cond>
              </p:nextCondLst>
            </p:seq>
            <p:seq concurrent="1" nextAc="seek">
              <p:cTn id="34" restart="whenNotActive" fill="hold" evtFilter="cancelBubble" nodeType="interactiveSeq">
                <p:stCondLst>
                  <p:cond evt="onClick" delay="0">
                    <p:tgtEl>
                      <p:spTgt spid="97"/>
                    </p:tgtEl>
                  </p:cond>
                </p:stCondLst>
                <p:endSync evt="end" delay="0">
                  <p:rtn val="all"/>
                </p:endSync>
                <p:childTnLst>
                  <p:par>
                    <p:cTn id="35" fill="hold">
                      <p:stCondLst>
                        <p:cond delay="0"/>
                      </p:stCondLst>
                      <p:childTnLst>
                        <p:par>
                          <p:cTn id="36" fill="hold">
                            <p:stCondLst>
                              <p:cond delay="0"/>
                            </p:stCondLst>
                            <p:childTnLst>
                              <p:par>
                                <p:cTn id="37" presetID="1" presetClass="exit" presetSubtype="0" fill="hold" grpId="0" nodeType="withEffect">
                                  <p:stCondLst>
                                    <p:cond delay="0"/>
                                  </p:stCondLst>
                                  <p:childTnLst>
                                    <p:set>
                                      <p:cBhvr>
                                        <p:cTn id="38" dur="1" fill="hold">
                                          <p:stCondLst>
                                            <p:cond delay="0"/>
                                          </p:stCondLst>
                                        </p:cTn>
                                        <p:tgtEl>
                                          <p:spTgt spid="97"/>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9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97"/>
                  </p:tgtEl>
                </p:cond>
              </p:nextCondLst>
            </p:seq>
            <p:seq concurrent="1" nextAc="seek">
              <p:cTn id="49" restart="whenNotActive" fill="hold" evtFilter="cancelBubble" nodeType="interactiveSeq">
                <p:stCondLst>
                  <p:cond evt="onClick" delay="0">
                    <p:tgtEl>
                      <p:spTgt spid="122"/>
                    </p:tgtEl>
                  </p:cond>
                </p:stCondLst>
                <p:endSync evt="end" delay="0">
                  <p:rtn val="all"/>
                </p:endSync>
                <p:childTnLst>
                  <p:par>
                    <p:cTn id="50" fill="hold">
                      <p:stCondLst>
                        <p:cond delay="0"/>
                      </p:stCondLst>
                      <p:childTnLst>
                        <p:par>
                          <p:cTn id="51" fill="hold">
                            <p:stCondLst>
                              <p:cond delay="0"/>
                            </p:stCondLst>
                            <p:childTnLst>
                              <p:par>
                                <p:cTn id="52" presetID="1" presetClass="exit" presetSubtype="0" fill="hold" grpId="0" nodeType="withEffect">
                                  <p:stCondLst>
                                    <p:cond delay="0"/>
                                  </p:stCondLst>
                                  <p:childTnLst>
                                    <p:set>
                                      <p:cBhvr>
                                        <p:cTn id="53" dur="1" fill="hold">
                                          <p:stCondLst>
                                            <p:cond delay="0"/>
                                          </p:stCondLst>
                                        </p:cTn>
                                        <p:tgtEl>
                                          <p:spTgt spid="122"/>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134"/>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123"/>
                                        </p:tgtEl>
                                        <p:attrNameLst>
                                          <p:attrName>style.visibility</p:attrName>
                                        </p:attrNameLst>
                                      </p:cBhvr>
                                      <p:to>
                                        <p:strVal val="hidden"/>
                                      </p:to>
                                    </p:set>
                                  </p:childTnLst>
                                </p:cTn>
                              </p:par>
                              <p:par>
                                <p:cTn id="58" presetID="1"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childTnLst>
                          </p:cTn>
                        </p:par>
                      </p:childTnLst>
                    </p:cTn>
                  </p:par>
                </p:childTnLst>
              </p:cTn>
              <p:nextCondLst>
                <p:cond evt="onClick" delay="0">
                  <p:tgtEl>
                    <p:spTgt spid="122"/>
                  </p:tgtEl>
                </p:cond>
              </p:nextCondLst>
            </p:seq>
          </p:childTnLst>
        </p:cTn>
      </p:par>
    </p:tnLst>
    <p:bldLst>
      <p:bldP spid="5" grpId="0" animBg="1"/>
      <p:bldP spid="2" grpId="0" animBg="1"/>
      <p:bldP spid="49" grpId="0"/>
      <p:bldP spid="50" grpId="0"/>
      <p:bldP spid="53" grpId="0"/>
      <p:bldP spid="108" grpId="0" animBg="1"/>
      <p:bldP spid="78" grpId="0" animBg="1"/>
      <p:bldP spid="78" grpId="1" animBg="1"/>
      <p:bldP spid="97" grpId="0" animBg="1"/>
      <p:bldP spid="97" grpId="1" animBg="1"/>
      <p:bldP spid="122" grpId="0" animBg="1"/>
      <p:bldP spid="1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ensitivity">
            <a:extLst>
              <a:ext uri="{FF2B5EF4-FFF2-40B4-BE49-F238E27FC236}">
                <a16:creationId xmlns:a16="http://schemas.microsoft.com/office/drawing/2014/main" id="{C47C607A-00A4-4F0A-A0D8-A18D56F5160A}"/>
              </a:ext>
            </a:extLst>
          </p:cNvPr>
          <p:cNvSpPr/>
          <p:nvPr/>
        </p:nvSpPr>
        <p:spPr>
          <a:xfrm>
            <a:off x="5192534" y="4206365"/>
            <a:ext cx="2859497"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Why obtain a UPEP?</a:t>
            </a:r>
          </a:p>
        </p:txBody>
      </p:sp>
      <p:sp>
        <p:nvSpPr>
          <p:cNvPr id="4" name="TextBox 3">
            <a:extLst>
              <a:ext uri="{FF2B5EF4-FFF2-40B4-BE49-F238E27FC236}">
                <a16:creationId xmlns:a16="http://schemas.microsoft.com/office/drawing/2014/main" id="{0F20CD12-D6F0-4A12-B25F-C771CD48C89F}"/>
              </a:ext>
            </a:extLst>
          </p:cNvPr>
          <p:cNvSpPr txBox="1"/>
          <p:nvPr/>
        </p:nvSpPr>
        <p:spPr>
          <a:xfrm>
            <a:off x="3849288" y="934999"/>
            <a:ext cx="5545989" cy="400110"/>
          </a:xfrm>
          <a:prstGeom prst="rect">
            <a:avLst/>
          </a:prstGeom>
          <a:noFill/>
        </p:spPr>
        <p:txBody>
          <a:bodyPr wrap="square" rtlCol="0">
            <a:spAutoFit/>
          </a:bodyPr>
          <a:lstStyle/>
          <a:p>
            <a:pPr algn="ctr"/>
            <a:r>
              <a:rPr lang="en-US" sz="2000" dirty="0"/>
              <a:t>Obtained from 24 h urine sample </a:t>
            </a:r>
          </a:p>
        </p:txBody>
      </p:sp>
      <p:sp>
        <p:nvSpPr>
          <p:cNvPr id="113" name="TextBox 112">
            <a:extLst>
              <a:ext uri="{FF2B5EF4-FFF2-40B4-BE49-F238E27FC236}">
                <a16:creationId xmlns:a16="http://schemas.microsoft.com/office/drawing/2014/main" id="{6304A184-3C22-4E39-9326-D045449B03BA}"/>
              </a:ext>
            </a:extLst>
          </p:cNvPr>
          <p:cNvSpPr txBox="1"/>
          <p:nvPr/>
        </p:nvSpPr>
        <p:spPr>
          <a:xfrm>
            <a:off x="3646348" y="4819204"/>
            <a:ext cx="5951869" cy="400110"/>
          </a:xfrm>
          <a:prstGeom prst="rect">
            <a:avLst/>
          </a:prstGeom>
          <a:noFill/>
        </p:spPr>
        <p:txBody>
          <a:bodyPr wrap="square" rtlCol="0">
            <a:spAutoFit/>
          </a:bodyPr>
          <a:lstStyle/>
          <a:p>
            <a:pPr algn="ctr"/>
            <a:r>
              <a:rPr lang="en-US" sz="2000" dirty="0"/>
              <a:t>UPEP improves sensitivity of SPEP from 80% to ~ 95%</a:t>
            </a:r>
          </a:p>
        </p:txBody>
      </p:sp>
      <p:grpSp>
        <p:nvGrpSpPr>
          <p:cNvPr id="14" name="Group 13">
            <a:extLst>
              <a:ext uri="{FF2B5EF4-FFF2-40B4-BE49-F238E27FC236}">
                <a16:creationId xmlns:a16="http://schemas.microsoft.com/office/drawing/2014/main" id="{7E397473-63F8-4963-BF70-677CC20208E7}"/>
              </a:ext>
            </a:extLst>
          </p:cNvPr>
          <p:cNvGrpSpPr/>
          <p:nvPr/>
        </p:nvGrpSpPr>
        <p:grpSpPr>
          <a:xfrm>
            <a:off x="2528719" y="5524327"/>
            <a:ext cx="8414242" cy="642661"/>
            <a:chOff x="2536153" y="5402633"/>
            <a:chExt cx="8414242" cy="642661"/>
          </a:xfrm>
        </p:grpSpPr>
        <p:grpSp>
          <p:nvGrpSpPr>
            <p:cNvPr id="10" name="Group 9">
              <a:extLst>
                <a:ext uri="{FF2B5EF4-FFF2-40B4-BE49-F238E27FC236}">
                  <a16:creationId xmlns:a16="http://schemas.microsoft.com/office/drawing/2014/main" id="{3F4A11E1-15C2-47BF-B60B-6469128359D3}"/>
                </a:ext>
              </a:extLst>
            </p:cNvPr>
            <p:cNvGrpSpPr/>
            <p:nvPr/>
          </p:nvGrpSpPr>
          <p:grpSpPr>
            <a:xfrm>
              <a:off x="2536153" y="5402633"/>
              <a:ext cx="8414242" cy="380084"/>
              <a:chOff x="2172747" y="6233747"/>
              <a:chExt cx="8414242" cy="380084"/>
            </a:xfrm>
          </p:grpSpPr>
          <p:sp>
            <p:nvSpPr>
              <p:cNvPr id="90" name="TextBox 89">
                <a:extLst>
                  <a:ext uri="{FF2B5EF4-FFF2-40B4-BE49-F238E27FC236}">
                    <a16:creationId xmlns:a16="http://schemas.microsoft.com/office/drawing/2014/main" id="{587F8DF9-7696-4BC3-9877-BAC913FB7CCE}"/>
                  </a:ext>
                </a:extLst>
              </p:cNvPr>
              <p:cNvSpPr txBox="1"/>
              <p:nvPr/>
            </p:nvSpPr>
            <p:spPr>
              <a:xfrm>
                <a:off x="2172747" y="6233747"/>
                <a:ext cx="1130300" cy="369332"/>
              </a:xfrm>
              <a:prstGeom prst="rect">
                <a:avLst/>
              </a:prstGeom>
              <a:noFill/>
              <a:ln w="38100">
                <a:noFill/>
              </a:ln>
            </p:spPr>
            <p:txBody>
              <a:bodyPr wrap="square" rtlCol="0" anchor="b">
                <a:spAutoFit/>
              </a:bodyPr>
              <a:lstStyle/>
              <a:p>
                <a:pPr algn="ctr"/>
                <a:r>
                  <a:rPr lang="en-US" dirty="0"/>
                  <a:t>Sensitivity</a:t>
                </a:r>
              </a:p>
            </p:txBody>
          </p:sp>
          <p:sp>
            <p:nvSpPr>
              <p:cNvPr id="91" name="TextBox 90">
                <a:extLst>
                  <a:ext uri="{FF2B5EF4-FFF2-40B4-BE49-F238E27FC236}">
                    <a16:creationId xmlns:a16="http://schemas.microsoft.com/office/drawing/2014/main" id="{EAF199E9-4BB7-4F53-8A21-64F6F5212131}"/>
                  </a:ext>
                </a:extLst>
              </p:cNvPr>
              <p:cNvSpPr txBox="1"/>
              <p:nvPr/>
            </p:nvSpPr>
            <p:spPr>
              <a:xfrm>
                <a:off x="9827477" y="6244499"/>
                <a:ext cx="759512" cy="369332"/>
              </a:xfrm>
              <a:prstGeom prst="rect">
                <a:avLst/>
              </a:prstGeom>
              <a:noFill/>
              <a:ln w="38100">
                <a:noFill/>
              </a:ln>
            </p:spPr>
            <p:txBody>
              <a:bodyPr wrap="square" rtlCol="0" anchor="b">
                <a:spAutoFit/>
              </a:bodyPr>
              <a:lstStyle/>
              <a:p>
                <a:pPr algn="ctr"/>
                <a:r>
                  <a:rPr lang="en-US" dirty="0"/>
                  <a:t>100%</a:t>
                </a:r>
              </a:p>
            </p:txBody>
          </p:sp>
          <p:grpSp>
            <p:nvGrpSpPr>
              <p:cNvPr id="92" name="Group 91">
                <a:extLst>
                  <a:ext uri="{FF2B5EF4-FFF2-40B4-BE49-F238E27FC236}">
                    <a16:creationId xmlns:a16="http://schemas.microsoft.com/office/drawing/2014/main" id="{2222251B-15AB-4B8C-9934-0D1B8CFD6046}"/>
                  </a:ext>
                </a:extLst>
              </p:cNvPr>
              <p:cNvGrpSpPr/>
              <p:nvPr/>
            </p:nvGrpSpPr>
            <p:grpSpPr>
              <a:xfrm>
                <a:off x="3303047" y="6276904"/>
                <a:ext cx="6524431" cy="283018"/>
                <a:chOff x="2845847" y="6374682"/>
                <a:chExt cx="6524431" cy="283018"/>
              </a:xfrm>
            </p:grpSpPr>
            <p:cxnSp>
              <p:nvCxnSpPr>
                <p:cNvPr id="93" name="Straight Arrow Connector 92">
                  <a:extLst>
                    <a:ext uri="{FF2B5EF4-FFF2-40B4-BE49-F238E27FC236}">
                      <a16:creationId xmlns:a16="http://schemas.microsoft.com/office/drawing/2014/main" id="{799F6FD6-BA5D-4F8F-8770-A1689E067EF7}"/>
                    </a:ext>
                  </a:extLst>
                </p:cNvPr>
                <p:cNvCxnSpPr>
                  <a:cxnSpLocks/>
                  <a:stCxn id="90" idx="3"/>
                  <a:endCxn id="91" idx="1"/>
                </p:cNvCxnSpPr>
                <p:nvPr/>
              </p:nvCxnSpPr>
              <p:spPr>
                <a:xfrm>
                  <a:off x="2845847" y="6516191"/>
                  <a:ext cx="6524430" cy="10752"/>
                </a:xfrm>
                <a:prstGeom prst="straightConnector1">
                  <a:avLst/>
                </a:prstGeom>
                <a:ln w="38100">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94" name="Straight Connector 93">
                  <a:extLst>
                    <a:ext uri="{FF2B5EF4-FFF2-40B4-BE49-F238E27FC236}">
                      <a16:creationId xmlns:a16="http://schemas.microsoft.com/office/drawing/2014/main" id="{1734B5F5-AC3D-44CE-8FB2-7A563D922B46}"/>
                    </a:ext>
                  </a:extLst>
                </p:cNvPr>
                <p:cNvCxnSpPr>
                  <a:cxnSpLocks/>
                </p:cNvCxnSpPr>
                <p:nvPr/>
              </p:nvCxnSpPr>
              <p:spPr>
                <a:xfrm>
                  <a:off x="6108062"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95" name="Straight Connector 94">
                  <a:extLst>
                    <a:ext uri="{FF2B5EF4-FFF2-40B4-BE49-F238E27FC236}">
                      <a16:creationId xmlns:a16="http://schemas.microsoft.com/office/drawing/2014/main" id="{1C2590C5-A2D2-4E18-B183-0DD6FCC7A5F8}"/>
                    </a:ext>
                  </a:extLst>
                </p:cNvPr>
                <p:cNvCxnSpPr>
                  <a:cxnSpLocks/>
                </p:cNvCxnSpPr>
                <p:nvPr/>
              </p:nvCxnSpPr>
              <p:spPr>
                <a:xfrm>
                  <a:off x="6760505"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96" name="Straight Connector 95">
                  <a:extLst>
                    <a:ext uri="{FF2B5EF4-FFF2-40B4-BE49-F238E27FC236}">
                      <a16:creationId xmlns:a16="http://schemas.microsoft.com/office/drawing/2014/main" id="{1A697105-667D-43E6-ACA3-9C4C161F7E1C}"/>
                    </a:ext>
                  </a:extLst>
                </p:cNvPr>
                <p:cNvCxnSpPr>
                  <a:cxnSpLocks/>
                </p:cNvCxnSpPr>
                <p:nvPr/>
              </p:nvCxnSpPr>
              <p:spPr>
                <a:xfrm>
                  <a:off x="937027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97" name="Straight Connector 96">
                  <a:extLst>
                    <a:ext uri="{FF2B5EF4-FFF2-40B4-BE49-F238E27FC236}">
                      <a16:creationId xmlns:a16="http://schemas.microsoft.com/office/drawing/2014/main" id="{C77FCF73-64CE-4EE2-A45F-D6E0742FBB24}"/>
                    </a:ext>
                  </a:extLst>
                </p:cNvPr>
                <p:cNvCxnSpPr>
                  <a:cxnSpLocks/>
                </p:cNvCxnSpPr>
                <p:nvPr/>
              </p:nvCxnSpPr>
              <p:spPr>
                <a:xfrm>
                  <a:off x="741294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98" name="Straight Connector 97">
                  <a:extLst>
                    <a:ext uri="{FF2B5EF4-FFF2-40B4-BE49-F238E27FC236}">
                      <a16:creationId xmlns:a16="http://schemas.microsoft.com/office/drawing/2014/main" id="{0E44326C-D048-4D15-AA7E-303A69660D92}"/>
                    </a:ext>
                  </a:extLst>
                </p:cNvPr>
                <p:cNvCxnSpPr>
                  <a:cxnSpLocks/>
                </p:cNvCxnSpPr>
                <p:nvPr/>
              </p:nvCxnSpPr>
              <p:spPr>
                <a:xfrm>
                  <a:off x="8065391"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99" name="Straight Connector 98">
                  <a:extLst>
                    <a:ext uri="{FF2B5EF4-FFF2-40B4-BE49-F238E27FC236}">
                      <a16:creationId xmlns:a16="http://schemas.microsoft.com/office/drawing/2014/main" id="{9639541C-1C6E-477D-A772-DA638EF36DE8}"/>
                    </a:ext>
                  </a:extLst>
                </p:cNvPr>
                <p:cNvCxnSpPr>
                  <a:cxnSpLocks/>
                </p:cNvCxnSpPr>
                <p:nvPr/>
              </p:nvCxnSpPr>
              <p:spPr>
                <a:xfrm>
                  <a:off x="8717834"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00" name="Straight Connector 99">
                  <a:extLst>
                    <a:ext uri="{FF2B5EF4-FFF2-40B4-BE49-F238E27FC236}">
                      <a16:creationId xmlns:a16="http://schemas.microsoft.com/office/drawing/2014/main" id="{A5D10E45-4492-4EEE-913F-205317CF3104}"/>
                    </a:ext>
                  </a:extLst>
                </p:cNvPr>
                <p:cNvCxnSpPr>
                  <a:cxnSpLocks/>
                </p:cNvCxnSpPr>
                <p:nvPr/>
              </p:nvCxnSpPr>
              <p:spPr>
                <a:xfrm>
                  <a:off x="5455619"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01" name="Straight Connector 100">
                  <a:extLst>
                    <a:ext uri="{FF2B5EF4-FFF2-40B4-BE49-F238E27FC236}">
                      <a16:creationId xmlns:a16="http://schemas.microsoft.com/office/drawing/2014/main" id="{0CC7F762-22BA-4C1C-9818-481B230AA40E}"/>
                    </a:ext>
                  </a:extLst>
                </p:cNvPr>
                <p:cNvCxnSpPr>
                  <a:cxnSpLocks/>
                </p:cNvCxnSpPr>
                <p:nvPr/>
              </p:nvCxnSpPr>
              <p:spPr>
                <a:xfrm>
                  <a:off x="2845847"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02" name="Straight Connector 101">
                  <a:extLst>
                    <a:ext uri="{FF2B5EF4-FFF2-40B4-BE49-F238E27FC236}">
                      <a16:creationId xmlns:a16="http://schemas.microsoft.com/office/drawing/2014/main" id="{3414A4DD-11E4-4B47-9617-67C76D87E317}"/>
                    </a:ext>
                  </a:extLst>
                </p:cNvPr>
                <p:cNvCxnSpPr>
                  <a:cxnSpLocks/>
                </p:cNvCxnSpPr>
                <p:nvPr/>
              </p:nvCxnSpPr>
              <p:spPr>
                <a:xfrm>
                  <a:off x="3498290"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03" name="Straight Connector 102">
                  <a:extLst>
                    <a:ext uri="{FF2B5EF4-FFF2-40B4-BE49-F238E27FC236}">
                      <a16:creationId xmlns:a16="http://schemas.microsoft.com/office/drawing/2014/main" id="{93ED8516-B89F-4642-8D6D-FBF092D08A2B}"/>
                    </a:ext>
                  </a:extLst>
                </p:cNvPr>
                <p:cNvCxnSpPr>
                  <a:cxnSpLocks/>
                </p:cNvCxnSpPr>
                <p:nvPr/>
              </p:nvCxnSpPr>
              <p:spPr>
                <a:xfrm>
                  <a:off x="4150733"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04" name="Straight Connector 103">
                  <a:extLst>
                    <a:ext uri="{FF2B5EF4-FFF2-40B4-BE49-F238E27FC236}">
                      <a16:creationId xmlns:a16="http://schemas.microsoft.com/office/drawing/2014/main" id="{8DEC5C24-7750-4893-B341-9168321E7E8C}"/>
                    </a:ext>
                  </a:extLst>
                </p:cNvPr>
                <p:cNvCxnSpPr>
                  <a:cxnSpLocks/>
                </p:cNvCxnSpPr>
                <p:nvPr/>
              </p:nvCxnSpPr>
              <p:spPr>
                <a:xfrm>
                  <a:off x="4803176"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grpSp>
        </p:grpSp>
        <p:sp>
          <p:nvSpPr>
            <p:cNvPr id="114" name="TextBox 113">
              <a:extLst>
                <a:ext uri="{FF2B5EF4-FFF2-40B4-BE49-F238E27FC236}">
                  <a16:creationId xmlns:a16="http://schemas.microsoft.com/office/drawing/2014/main" id="{84DEFB5C-DFE0-4AD2-80A9-5922B7A18C7A}"/>
                </a:ext>
              </a:extLst>
            </p:cNvPr>
            <p:cNvSpPr txBox="1"/>
            <p:nvPr/>
          </p:nvSpPr>
          <p:spPr>
            <a:xfrm>
              <a:off x="3355623" y="5737517"/>
              <a:ext cx="759512" cy="307777"/>
            </a:xfrm>
            <a:prstGeom prst="rect">
              <a:avLst/>
            </a:prstGeom>
            <a:noFill/>
            <a:ln w="38100">
              <a:noFill/>
            </a:ln>
          </p:spPr>
          <p:txBody>
            <a:bodyPr wrap="square" rtlCol="0" anchor="b">
              <a:spAutoFit/>
            </a:bodyPr>
            <a:lstStyle/>
            <a:p>
              <a:pPr algn="ctr"/>
              <a:r>
                <a:rPr lang="en-US" sz="1400" dirty="0"/>
                <a:t>50%</a:t>
              </a:r>
            </a:p>
          </p:txBody>
        </p:sp>
        <p:sp>
          <p:nvSpPr>
            <p:cNvPr id="115" name="TextBox 114">
              <a:extLst>
                <a:ext uri="{FF2B5EF4-FFF2-40B4-BE49-F238E27FC236}">
                  <a16:creationId xmlns:a16="http://schemas.microsoft.com/office/drawing/2014/main" id="{30FCBB4B-9B41-4244-BDFC-1A9CB7AC6E3A}"/>
                </a:ext>
              </a:extLst>
            </p:cNvPr>
            <p:cNvSpPr txBox="1"/>
            <p:nvPr/>
          </p:nvSpPr>
          <p:spPr>
            <a:xfrm>
              <a:off x="4649640" y="5737517"/>
              <a:ext cx="759512" cy="307777"/>
            </a:xfrm>
            <a:prstGeom prst="rect">
              <a:avLst/>
            </a:prstGeom>
            <a:noFill/>
            <a:ln w="38100">
              <a:noFill/>
            </a:ln>
          </p:spPr>
          <p:txBody>
            <a:bodyPr wrap="square" rtlCol="0" anchor="b">
              <a:spAutoFit/>
            </a:bodyPr>
            <a:lstStyle/>
            <a:p>
              <a:pPr algn="ctr"/>
              <a:r>
                <a:rPr lang="en-US" sz="1400" dirty="0"/>
                <a:t>60%</a:t>
              </a:r>
            </a:p>
          </p:txBody>
        </p:sp>
        <p:sp>
          <p:nvSpPr>
            <p:cNvPr id="116" name="TextBox 115">
              <a:extLst>
                <a:ext uri="{FF2B5EF4-FFF2-40B4-BE49-F238E27FC236}">
                  <a16:creationId xmlns:a16="http://schemas.microsoft.com/office/drawing/2014/main" id="{261394EB-4871-483D-97D1-69A0680F2740}"/>
                </a:ext>
              </a:extLst>
            </p:cNvPr>
            <p:cNvSpPr txBox="1"/>
            <p:nvPr/>
          </p:nvSpPr>
          <p:spPr>
            <a:xfrm>
              <a:off x="5919553" y="5737517"/>
              <a:ext cx="759512" cy="307777"/>
            </a:xfrm>
            <a:prstGeom prst="rect">
              <a:avLst/>
            </a:prstGeom>
            <a:noFill/>
            <a:ln w="38100">
              <a:noFill/>
            </a:ln>
          </p:spPr>
          <p:txBody>
            <a:bodyPr wrap="square" rtlCol="0" anchor="b">
              <a:spAutoFit/>
            </a:bodyPr>
            <a:lstStyle/>
            <a:p>
              <a:pPr algn="ctr"/>
              <a:r>
                <a:rPr lang="en-US" sz="1400" dirty="0"/>
                <a:t>70%</a:t>
              </a:r>
            </a:p>
          </p:txBody>
        </p:sp>
        <p:sp>
          <p:nvSpPr>
            <p:cNvPr id="117" name="TextBox 116">
              <a:extLst>
                <a:ext uri="{FF2B5EF4-FFF2-40B4-BE49-F238E27FC236}">
                  <a16:creationId xmlns:a16="http://schemas.microsoft.com/office/drawing/2014/main" id="{67510D22-C961-462E-9D37-9750D616B7C7}"/>
                </a:ext>
              </a:extLst>
            </p:cNvPr>
            <p:cNvSpPr txBox="1"/>
            <p:nvPr/>
          </p:nvSpPr>
          <p:spPr>
            <a:xfrm>
              <a:off x="7192252" y="5737517"/>
              <a:ext cx="759512" cy="307777"/>
            </a:xfrm>
            <a:prstGeom prst="rect">
              <a:avLst/>
            </a:prstGeom>
            <a:noFill/>
            <a:ln w="38100">
              <a:noFill/>
            </a:ln>
          </p:spPr>
          <p:txBody>
            <a:bodyPr wrap="square" rtlCol="0" anchor="b">
              <a:spAutoFit/>
            </a:bodyPr>
            <a:lstStyle/>
            <a:p>
              <a:pPr algn="ctr"/>
              <a:r>
                <a:rPr lang="en-US" sz="1400" dirty="0"/>
                <a:t>80%</a:t>
              </a:r>
            </a:p>
          </p:txBody>
        </p:sp>
        <p:sp>
          <p:nvSpPr>
            <p:cNvPr id="118" name="TextBox 117">
              <a:extLst>
                <a:ext uri="{FF2B5EF4-FFF2-40B4-BE49-F238E27FC236}">
                  <a16:creationId xmlns:a16="http://schemas.microsoft.com/office/drawing/2014/main" id="{2BB20680-3A3A-4CC0-8773-A8549D9116E9}"/>
                </a:ext>
              </a:extLst>
            </p:cNvPr>
            <p:cNvSpPr txBox="1"/>
            <p:nvPr/>
          </p:nvSpPr>
          <p:spPr>
            <a:xfrm>
              <a:off x="8497137" y="5737517"/>
              <a:ext cx="759512" cy="307777"/>
            </a:xfrm>
            <a:prstGeom prst="rect">
              <a:avLst/>
            </a:prstGeom>
            <a:noFill/>
            <a:ln w="38100">
              <a:noFill/>
            </a:ln>
          </p:spPr>
          <p:txBody>
            <a:bodyPr wrap="square" rtlCol="0" anchor="b">
              <a:spAutoFit/>
            </a:bodyPr>
            <a:lstStyle/>
            <a:p>
              <a:pPr algn="ctr"/>
              <a:r>
                <a:rPr lang="en-US" sz="1400" dirty="0"/>
                <a:t>90%</a:t>
              </a:r>
            </a:p>
          </p:txBody>
        </p:sp>
      </p:grpSp>
      <p:grpSp>
        <p:nvGrpSpPr>
          <p:cNvPr id="105" name="Group 104">
            <a:extLst>
              <a:ext uri="{FF2B5EF4-FFF2-40B4-BE49-F238E27FC236}">
                <a16:creationId xmlns:a16="http://schemas.microsoft.com/office/drawing/2014/main" id="{7108209D-45EF-4A5A-B83D-E990D1FE33B7}"/>
              </a:ext>
            </a:extLst>
          </p:cNvPr>
          <p:cNvGrpSpPr/>
          <p:nvPr/>
        </p:nvGrpSpPr>
        <p:grpSpPr>
          <a:xfrm>
            <a:off x="7013614" y="5200877"/>
            <a:ext cx="1130300" cy="479742"/>
            <a:chOff x="7874055" y="5081389"/>
            <a:chExt cx="1130300" cy="479742"/>
          </a:xfrm>
        </p:grpSpPr>
        <p:sp>
          <p:nvSpPr>
            <p:cNvPr id="106" name="Isosceles Triangle 105">
              <a:extLst>
                <a:ext uri="{FF2B5EF4-FFF2-40B4-BE49-F238E27FC236}">
                  <a16:creationId xmlns:a16="http://schemas.microsoft.com/office/drawing/2014/main" id="{A4950F16-8E76-4029-94D0-6844321811AC}"/>
                </a:ext>
              </a:extLst>
            </p:cNvPr>
            <p:cNvSpPr/>
            <p:nvPr/>
          </p:nvSpPr>
          <p:spPr>
            <a:xfrm rot="10800000">
              <a:off x="8300754" y="5415037"/>
              <a:ext cx="256085" cy="14609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576286FC-8875-442C-9EE5-3C912A556210}"/>
                </a:ext>
              </a:extLst>
            </p:cNvPr>
            <p:cNvSpPr txBox="1"/>
            <p:nvPr/>
          </p:nvSpPr>
          <p:spPr>
            <a:xfrm>
              <a:off x="7874055" y="5081389"/>
              <a:ext cx="1130300" cy="369332"/>
            </a:xfrm>
            <a:prstGeom prst="rect">
              <a:avLst/>
            </a:prstGeom>
            <a:noFill/>
          </p:spPr>
          <p:txBody>
            <a:bodyPr wrap="square" rtlCol="0">
              <a:spAutoFit/>
            </a:bodyPr>
            <a:lstStyle/>
            <a:p>
              <a:pPr algn="ctr"/>
              <a:r>
                <a:rPr lang="en-US" dirty="0">
                  <a:solidFill>
                    <a:schemeClr val="accent1"/>
                  </a:solidFill>
                </a:rPr>
                <a:t>SPEP</a:t>
              </a:r>
            </a:p>
          </p:txBody>
        </p:sp>
      </p:grpSp>
      <p:sp>
        <p:nvSpPr>
          <p:cNvPr id="119" name="Sensitivity">
            <a:extLst>
              <a:ext uri="{FF2B5EF4-FFF2-40B4-BE49-F238E27FC236}">
                <a16:creationId xmlns:a16="http://schemas.microsoft.com/office/drawing/2014/main" id="{D5345193-7026-49EA-A45A-6D409F99E556}"/>
              </a:ext>
            </a:extLst>
          </p:cNvPr>
          <p:cNvSpPr/>
          <p:nvPr/>
        </p:nvSpPr>
        <p:spPr>
          <a:xfrm>
            <a:off x="5192534" y="4206366"/>
            <a:ext cx="2859497" cy="45720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Why obtain a UPEP?</a:t>
            </a:r>
          </a:p>
        </p:txBody>
      </p:sp>
      <p:grpSp>
        <p:nvGrpSpPr>
          <p:cNvPr id="11" name="Group 10">
            <a:extLst>
              <a:ext uri="{FF2B5EF4-FFF2-40B4-BE49-F238E27FC236}">
                <a16:creationId xmlns:a16="http://schemas.microsoft.com/office/drawing/2014/main" id="{5E680180-7FA9-6DF9-48B9-5670FB1D079D}"/>
              </a:ext>
            </a:extLst>
          </p:cNvPr>
          <p:cNvGrpSpPr/>
          <p:nvPr/>
        </p:nvGrpSpPr>
        <p:grpSpPr>
          <a:xfrm>
            <a:off x="3529974" y="1461035"/>
            <a:ext cx="3062062" cy="2241198"/>
            <a:chOff x="3866606" y="1583026"/>
            <a:chExt cx="3062062" cy="2241198"/>
          </a:xfrm>
        </p:grpSpPr>
        <p:sp>
          <p:nvSpPr>
            <p:cNvPr id="29" name="Freeform 28">
              <a:extLst>
                <a:ext uri="{FF2B5EF4-FFF2-40B4-BE49-F238E27FC236}">
                  <a16:creationId xmlns:a16="http://schemas.microsoft.com/office/drawing/2014/main" id="{464B1A2F-21E0-674E-B681-9CEAF1C2A46B}"/>
                </a:ext>
              </a:extLst>
            </p:cNvPr>
            <p:cNvSpPr/>
            <p:nvPr/>
          </p:nvSpPr>
          <p:spPr>
            <a:xfrm>
              <a:off x="4021744" y="1971443"/>
              <a:ext cx="2546528" cy="1489108"/>
            </a:xfrm>
            <a:custGeom>
              <a:avLst/>
              <a:gdLst>
                <a:gd name="connsiteX0" fmla="*/ 0 w 5127812"/>
                <a:gd name="connsiteY0" fmla="*/ 3263162 h 3349429"/>
                <a:gd name="connsiteX1" fmla="*/ 376518 w 5127812"/>
                <a:gd name="connsiteY1" fmla="*/ 9 h 3349429"/>
                <a:gd name="connsiteX2" fmla="*/ 1147482 w 5127812"/>
                <a:gd name="connsiteY2" fmla="*/ 3227303 h 3349429"/>
                <a:gd name="connsiteX3" fmla="*/ 1846729 w 5127812"/>
                <a:gd name="connsiteY3" fmla="*/ 2725280 h 3349429"/>
                <a:gd name="connsiteX4" fmla="*/ 2312894 w 5127812"/>
                <a:gd name="connsiteY4" fmla="*/ 3245233 h 3349429"/>
                <a:gd name="connsiteX5" fmla="*/ 2743200 w 5127812"/>
                <a:gd name="connsiteY5" fmla="*/ 2779068 h 3349429"/>
                <a:gd name="connsiteX6" fmla="*/ 3173506 w 5127812"/>
                <a:gd name="connsiteY6" fmla="*/ 3263162 h 3349429"/>
                <a:gd name="connsiteX7" fmla="*/ 3765176 w 5127812"/>
                <a:gd name="connsiteY7" fmla="*/ 2850786 h 3349429"/>
                <a:gd name="connsiteX8" fmla="*/ 4141694 w 5127812"/>
                <a:gd name="connsiteY8" fmla="*/ 3245233 h 3349429"/>
                <a:gd name="connsiteX9" fmla="*/ 4643718 w 5127812"/>
                <a:gd name="connsiteY9" fmla="*/ 2922503 h 3349429"/>
                <a:gd name="connsiteX10" fmla="*/ 5127812 w 5127812"/>
                <a:gd name="connsiteY10" fmla="*/ 3263162 h 3349429"/>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173506 w 5127812"/>
                <a:gd name="connsiteY6" fmla="*/ 3263162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141694 w 5127812"/>
                <a:gd name="connsiteY8" fmla="*/ 3245233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643718 w 5127812"/>
                <a:gd name="connsiteY9" fmla="*/ 2922503 h 3348068"/>
                <a:gd name="connsiteX10" fmla="*/ 5127812 w 5127812"/>
                <a:gd name="connsiteY10" fmla="*/ 3263162 h 3348068"/>
                <a:gd name="connsiteX0" fmla="*/ 0 w 5127812"/>
                <a:gd name="connsiteY0" fmla="*/ 3263162 h 3348068"/>
                <a:gd name="connsiteX1" fmla="*/ 376518 w 5127812"/>
                <a:gd name="connsiteY1" fmla="*/ 9 h 3348068"/>
                <a:gd name="connsiteX2" fmla="*/ 1147482 w 5127812"/>
                <a:gd name="connsiteY2" fmla="*/ 3227303 h 3348068"/>
                <a:gd name="connsiteX3" fmla="*/ 1846729 w 5127812"/>
                <a:gd name="connsiteY3" fmla="*/ 2725280 h 3348068"/>
                <a:gd name="connsiteX4" fmla="*/ 2312894 w 5127812"/>
                <a:gd name="connsiteY4" fmla="*/ 3337998 h 3348068"/>
                <a:gd name="connsiteX5" fmla="*/ 2743200 w 5127812"/>
                <a:gd name="connsiteY5" fmla="*/ 2779068 h 3348068"/>
                <a:gd name="connsiteX6" fmla="*/ 3306027 w 5127812"/>
                <a:gd name="connsiteY6" fmla="*/ 3329423 h 3348068"/>
                <a:gd name="connsiteX7" fmla="*/ 3765176 w 5127812"/>
                <a:gd name="connsiteY7" fmla="*/ 2850786 h 3348068"/>
                <a:gd name="connsiteX8" fmla="*/ 4260963 w 5127812"/>
                <a:gd name="connsiteY8" fmla="*/ 3284990 h 3348068"/>
                <a:gd name="connsiteX9" fmla="*/ 4842501 w 5127812"/>
                <a:gd name="connsiteY9" fmla="*/ 2922503 h 3348068"/>
                <a:gd name="connsiteX10" fmla="*/ 5127812 w 5127812"/>
                <a:gd name="connsiteY10" fmla="*/ 3263162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765176 w 5300090"/>
                <a:gd name="connsiteY7" fmla="*/ 2850786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743200 w 5300090"/>
                <a:gd name="connsiteY5" fmla="*/ 2779068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48068"/>
                <a:gd name="connsiteX1" fmla="*/ 376518 w 5300090"/>
                <a:gd name="connsiteY1" fmla="*/ 9 h 3348068"/>
                <a:gd name="connsiteX2" fmla="*/ 1147482 w 5300090"/>
                <a:gd name="connsiteY2" fmla="*/ 3227303 h 3348068"/>
                <a:gd name="connsiteX3" fmla="*/ 1846729 w 5300090"/>
                <a:gd name="connsiteY3" fmla="*/ 2725280 h 3348068"/>
                <a:gd name="connsiteX4" fmla="*/ 2312894 w 5300090"/>
                <a:gd name="connsiteY4" fmla="*/ 3337998 h 3348068"/>
                <a:gd name="connsiteX5" fmla="*/ 2809461 w 5300090"/>
                <a:gd name="connsiteY5" fmla="*/ 2858581 h 3348068"/>
                <a:gd name="connsiteX6" fmla="*/ 3306027 w 5300090"/>
                <a:gd name="connsiteY6" fmla="*/ 3329423 h 3348068"/>
                <a:gd name="connsiteX7" fmla="*/ 3831437 w 5300090"/>
                <a:gd name="connsiteY7" fmla="*/ 2956803 h 3348068"/>
                <a:gd name="connsiteX8" fmla="*/ 4260963 w 5300090"/>
                <a:gd name="connsiteY8" fmla="*/ 3284990 h 3348068"/>
                <a:gd name="connsiteX9" fmla="*/ 4842501 w 5300090"/>
                <a:gd name="connsiteY9" fmla="*/ 2922503 h 3348068"/>
                <a:gd name="connsiteX10" fmla="*/ 5300090 w 5300090"/>
                <a:gd name="connsiteY10" fmla="*/ 3316171 h 3348068"/>
                <a:gd name="connsiteX0" fmla="*/ 0 w 5300090"/>
                <a:gd name="connsiteY0" fmla="*/ 3263162 h 3368263"/>
                <a:gd name="connsiteX1" fmla="*/ 376518 w 5300090"/>
                <a:gd name="connsiteY1" fmla="*/ 9 h 3368263"/>
                <a:gd name="connsiteX2" fmla="*/ 1147482 w 5300090"/>
                <a:gd name="connsiteY2" fmla="*/ 3227303 h 3368263"/>
                <a:gd name="connsiteX3" fmla="*/ 1873233 w 5300090"/>
                <a:gd name="connsiteY3" fmla="*/ 2844550 h 3368263"/>
                <a:gd name="connsiteX4" fmla="*/ 2312894 w 5300090"/>
                <a:gd name="connsiteY4" fmla="*/ 3337998 h 3368263"/>
                <a:gd name="connsiteX5" fmla="*/ 2809461 w 5300090"/>
                <a:gd name="connsiteY5" fmla="*/ 2858581 h 3368263"/>
                <a:gd name="connsiteX6" fmla="*/ 3306027 w 5300090"/>
                <a:gd name="connsiteY6" fmla="*/ 3329423 h 3368263"/>
                <a:gd name="connsiteX7" fmla="*/ 3831437 w 5300090"/>
                <a:gd name="connsiteY7" fmla="*/ 2956803 h 3368263"/>
                <a:gd name="connsiteX8" fmla="*/ 4260963 w 5300090"/>
                <a:gd name="connsiteY8" fmla="*/ 3284990 h 3368263"/>
                <a:gd name="connsiteX9" fmla="*/ 4842501 w 5300090"/>
                <a:gd name="connsiteY9" fmla="*/ 2922503 h 3368263"/>
                <a:gd name="connsiteX10" fmla="*/ 5300090 w 5300090"/>
                <a:gd name="connsiteY10" fmla="*/ 3316171 h 3368263"/>
                <a:gd name="connsiteX0" fmla="*/ 0 w 5300090"/>
                <a:gd name="connsiteY0" fmla="*/ 3263255 h 3338099"/>
                <a:gd name="connsiteX1" fmla="*/ 376518 w 5300090"/>
                <a:gd name="connsiteY1" fmla="*/ 102 h 3338099"/>
                <a:gd name="connsiteX2" fmla="*/ 1094473 w 5300090"/>
                <a:gd name="connsiteY2" fmla="*/ 3147883 h 3338099"/>
                <a:gd name="connsiteX3" fmla="*/ 1873233 w 5300090"/>
                <a:gd name="connsiteY3" fmla="*/ 2844643 h 3338099"/>
                <a:gd name="connsiteX4" fmla="*/ 2312894 w 5300090"/>
                <a:gd name="connsiteY4" fmla="*/ 3338091 h 3338099"/>
                <a:gd name="connsiteX5" fmla="*/ 2809461 w 5300090"/>
                <a:gd name="connsiteY5" fmla="*/ 2858674 h 3338099"/>
                <a:gd name="connsiteX6" fmla="*/ 3306027 w 5300090"/>
                <a:gd name="connsiteY6" fmla="*/ 3329516 h 3338099"/>
                <a:gd name="connsiteX7" fmla="*/ 3831437 w 5300090"/>
                <a:gd name="connsiteY7" fmla="*/ 2956896 h 3338099"/>
                <a:gd name="connsiteX8" fmla="*/ 4260963 w 5300090"/>
                <a:gd name="connsiteY8" fmla="*/ 3285083 h 3338099"/>
                <a:gd name="connsiteX9" fmla="*/ 4842501 w 5300090"/>
                <a:gd name="connsiteY9" fmla="*/ 2922596 h 3338099"/>
                <a:gd name="connsiteX10" fmla="*/ 5300090 w 5300090"/>
                <a:gd name="connsiteY10" fmla="*/ 3316264 h 3338099"/>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260963 w 5300090"/>
                <a:gd name="connsiteY8" fmla="*/ 3285011 h 3344467"/>
                <a:gd name="connsiteX9" fmla="*/ 4842501 w 5300090"/>
                <a:gd name="connsiteY9" fmla="*/ 2922524 h 3344467"/>
                <a:gd name="connsiteX10" fmla="*/ 5300090 w 5300090"/>
                <a:gd name="connsiteY10" fmla="*/ 3316192 h 3344467"/>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353729 w 5300090"/>
                <a:gd name="connsiteY8" fmla="*/ 3338020 h 3344467"/>
                <a:gd name="connsiteX9" fmla="*/ 4842501 w 5300090"/>
                <a:gd name="connsiteY9" fmla="*/ 2922524 h 3344467"/>
                <a:gd name="connsiteX10" fmla="*/ 5300090 w 5300090"/>
                <a:gd name="connsiteY10" fmla="*/ 3316192 h 3344467"/>
                <a:gd name="connsiteX0" fmla="*/ 0 w 5300090"/>
                <a:gd name="connsiteY0" fmla="*/ 3263183 h 3456309"/>
                <a:gd name="connsiteX1" fmla="*/ 376518 w 5300090"/>
                <a:gd name="connsiteY1" fmla="*/ 30 h 3456309"/>
                <a:gd name="connsiteX2" fmla="*/ 1094473 w 5300090"/>
                <a:gd name="connsiteY2" fmla="*/ 3200820 h 3456309"/>
                <a:gd name="connsiteX3" fmla="*/ 1873233 w 5300090"/>
                <a:gd name="connsiteY3" fmla="*/ 2844571 h 3456309"/>
                <a:gd name="connsiteX4" fmla="*/ 2312894 w 5300090"/>
                <a:gd name="connsiteY4" fmla="*/ 3338019 h 3456309"/>
                <a:gd name="connsiteX5" fmla="*/ 2809461 w 5300090"/>
                <a:gd name="connsiteY5" fmla="*/ 2858602 h 3456309"/>
                <a:gd name="connsiteX6" fmla="*/ 3306027 w 5300090"/>
                <a:gd name="connsiteY6" fmla="*/ 3329444 h 3456309"/>
                <a:gd name="connsiteX7" fmla="*/ 3831437 w 5300090"/>
                <a:gd name="connsiteY7" fmla="*/ 2956824 h 3456309"/>
                <a:gd name="connsiteX8" fmla="*/ 4353729 w 5300090"/>
                <a:gd name="connsiteY8" fmla="*/ 3338020 h 3456309"/>
                <a:gd name="connsiteX9" fmla="*/ 4821559 w 5300090"/>
                <a:gd name="connsiteY9" fmla="*/ 492668 h 3456309"/>
                <a:gd name="connsiteX10" fmla="*/ 5300090 w 5300090"/>
                <a:gd name="connsiteY10" fmla="*/ 3316192 h 3456309"/>
                <a:gd name="connsiteX0" fmla="*/ 0 w 5300090"/>
                <a:gd name="connsiteY0" fmla="*/ 3263183 h 3344467"/>
                <a:gd name="connsiteX1" fmla="*/ 376518 w 5300090"/>
                <a:gd name="connsiteY1" fmla="*/ 30 h 3344467"/>
                <a:gd name="connsiteX2" fmla="*/ 1094473 w 5300090"/>
                <a:gd name="connsiteY2" fmla="*/ 3200820 h 3344467"/>
                <a:gd name="connsiteX3" fmla="*/ 1873233 w 5300090"/>
                <a:gd name="connsiteY3" fmla="*/ 2844571 h 3344467"/>
                <a:gd name="connsiteX4" fmla="*/ 2312894 w 5300090"/>
                <a:gd name="connsiteY4" fmla="*/ 3338019 h 3344467"/>
                <a:gd name="connsiteX5" fmla="*/ 2809461 w 5300090"/>
                <a:gd name="connsiteY5" fmla="*/ 2858602 h 3344467"/>
                <a:gd name="connsiteX6" fmla="*/ 3306027 w 5300090"/>
                <a:gd name="connsiteY6" fmla="*/ 3329444 h 3344467"/>
                <a:gd name="connsiteX7" fmla="*/ 3831437 w 5300090"/>
                <a:gd name="connsiteY7" fmla="*/ 2956824 h 3344467"/>
                <a:gd name="connsiteX8" fmla="*/ 4395611 w 5300090"/>
                <a:gd name="connsiteY8" fmla="*/ 3162896 h 3344467"/>
                <a:gd name="connsiteX9" fmla="*/ 4821559 w 5300090"/>
                <a:gd name="connsiteY9" fmla="*/ 492668 h 3344467"/>
                <a:gd name="connsiteX10" fmla="*/ 5300090 w 5300090"/>
                <a:gd name="connsiteY10" fmla="*/ 3316192 h 3344467"/>
                <a:gd name="connsiteX0" fmla="*/ 0 w 5383854"/>
                <a:gd name="connsiteY0" fmla="*/ 3263183 h 3344467"/>
                <a:gd name="connsiteX1" fmla="*/ 376518 w 5383854"/>
                <a:gd name="connsiteY1" fmla="*/ 30 h 3344467"/>
                <a:gd name="connsiteX2" fmla="*/ 1094473 w 5383854"/>
                <a:gd name="connsiteY2" fmla="*/ 3200820 h 3344467"/>
                <a:gd name="connsiteX3" fmla="*/ 1873233 w 5383854"/>
                <a:gd name="connsiteY3" fmla="*/ 2844571 h 3344467"/>
                <a:gd name="connsiteX4" fmla="*/ 2312894 w 5383854"/>
                <a:gd name="connsiteY4" fmla="*/ 3338019 h 3344467"/>
                <a:gd name="connsiteX5" fmla="*/ 2809461 w 5383854"/>
                <a:gd name="connsiteY5" fmla="*/ 2858602 h 3344467"/>
                <a:gd name="connsiteX6" fmla="*/ 3306027 w 5383854"/>
                <a:gd name="connsiteY6" fmla="*/ 3329444 h 3344467"/>
                <a:gd name="connsiteX7" fmla="*/ 3831437 w 5383854"/>
                <a:gd name="connsiteY7" fmla="*/ 2956824 h 3344467"/>
                <a:gd name="connsiteX8" fmla="*/ 4395611 w 5383854"/>
                <a:gd name="connsiteY8" fmla="*/ 3162896 h 3344467"/>
                <a:gd name="connsiteX9" fmla="*/ 4821559 w 5383854"/>
                <a:gd name="connsiteY9" fmla="*/ 492668 h 3344467"/>
                <a:gd name="connsiteX10" fmla="*/ 5383854 w 5383854"/>
                <a:gd name="connsiteY10" fmla="*/ 3272412 h 3344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83854" h="3344467">
                  <a:moveTo>
                    <a:pt x="0" y="3263183"/>
                  </a:moveTo>
                  <a:cubicBezTo>
                    <a:pt x="92635" y="1634594"/>
                    <a:pt x="194106" y="10424"/>
                    <a:pt x="376518" y="30"/>
                  </a:cubicBezTo>
                  <a:cubicBezTo>
                    <a:pt x="558930" y="-10364"/>
                    <a:pt x="845021" y="2726730"/>
                    <a:pt x="1094473" y="3200820"/>
                  </a:cubicBezTo>
                  <a:cubicBezTo>
                    <a:pt x="1343926" y="3674910"/>
                    <a:pt x="1670163" y="2821705"/>
                    <a:pt x="1873233" y="2844571"/>
                  </a:cubicBezTo>
                  <a:cubicBezTo>
                    <a:pt x="2076303" y="2867438"/>
                    <a:pt x="2156856" y="3335681"/>
                    <a:pt x="2312894" y="3338019"/>
                  </a:cubicBezTo>
                  <a:cubicBezTo>
                    <a:pt x="2468932" y="3340357"/>
                    <a:pt x="2643939" y="2860031"/>
                    <a:pt x="2809461" y="2858602"/>
                  </a:cubicBezTo>
                  <a:cubicBezTo>
                    <a:pt x="2974983" y="2857173"/>
                    <a:pt x="3135698" y="3313074"/>
                    <a:pt x="3306027" y="3329444"/>
                  </a:cubicBezTo>
                  <a:cubicBezTo>
                    <a:pt x="3476356" y="3345814"/>
                    <a:pt x="3649840" y="2984582"/>
                    <a:pt x="3831437" y="2956824"/>
                  </a:cubicBezTo>
                  <a:cubicBezTo>
                    <a:pt x="4013034" y="2929066"/>
                    <a:pt x="4230591" y="3573589"/>
                    <a:pt x="4395611" y="3162896"/>
                  </a:cubicBezTo>
                  <a:cubicBezTo>
                    <a:pt x="4560631" y="2752203"/>
                    <a:pt x="4657206" y="489680"/>
                    <a:pt x="4821559" y="492668"/>
                  </a:cubicBezTo>
                  <a:cubicBezTo>
                    <a:pt x="4985912" y="495656"/>
                    <a:pt x="5223983" y="3103576"/>
                    <a:pt x="5383854" y="327241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9A7836F3-3EB3-EB48-89D3-5C39D9DF2F66}"/>
                </a:ext>
              </a:extLst>
            </p:cNvPr>
            <p:cNvSpPr txBox="1"/>
            <p:nvPr/>
          </p:nvSpPr>
          <p:spPr>
            <a:xfrm>
              <a:off x="3971357" y="3547225"/>
              <a:ext cx="708848" cy="276999"/>
            </a:xfrm>
            <a:prstGeom prst="rect">
              <a:avLst/>
            </a:prstGeom>
            <a:noFill/>
          </p:spPr>
          <p:txBody>
            <a:bodyPr wrap="none" rtlCol="0">
              <a:spAutoFit/>
            </a:bodyPr>
            <a:lstStyle/>
            <a:p>
              <a:r>
                <a:rPr lang="en-US" sz="1200" dirty="0"/>
                <a:t>Albumin</a:t>
              </a:r>
            </a:p>
          </p:txBody>
        </p:sp>
        <p:sp>
          <p:nvSpPr>
            <p:cNvPr id="44" name="TextBox 43">
              <a:extLst>
                <a:ext uri="{FF2B5EF4-FFF2-40B4-BE49-F238E27FC236}">
                  <a16:creationId xmlns:a16="http://schemas.microsoft.com/office/drawing/2014/main" id="{31E6253D-F3FC-2D48-8501-F0F11F8ACF6E}"/>
                </a:ext>
              </a:extLst>
            </p:cNvPr>
            <p:cNvSpPr txBox="1"/>
            <p:nvPr/>
          </p:nvSpPr>
          <p:spPr>
            <a:xfrm>
              <a:off x="4648674" y="3547225"/>
              <a:ext cx="595035" cy="276999"/>
            </a:xfrm>
            <a:prstGeom prst="rect">
              <a:avLst/>
            </a:prstGeom>
            <a:noFill/>
          </p:spPr>
          <p:txBody>
            <a:bodyPr wrap="none" rtlCol="0">
              <a:spAutoFit/>
            </a:bodyPr>
            <a:lstStyle/>
            <a:p>
              <a:r>
                <a:rPr lang="en-US" sz="1200" dirty="0"/>
                <a:t>Alpha</a:t>
              </a:r>
              <a:r>
                <a:rPr lang="en-US" sz="1200" baseline="-25000" dirty="0"/>
                <a:t>1</a:t>
              </a:r>
              <a:endParaRPr lang="en-US" sz="1200" dirty="0"/>
            </a:p>
          </p:txBody>
        </p:sp>
        <p:sp>
          <p:nvSpPr>
            <p:cNvPr id="45" name="TextBox 44">
              <a:extLst>
                <a:ext uri="{FF2B5EF4-FFF2-40B4-BE49-F238E27FC236}">
                  <a16:creationId xmlns:a16="http://schemas.microsoft.com/office/drawing/2014/main" id="{6B7EF85F-9AC0-D740-BF4D-BA07A67F2F52}"/>
                </a:ext>
              </a:extLst>
            </p:cNvPr>
            <p:cNvSpPr txBox="1"/>
            <p:nvPr/>
          </p:nvSpPr>
          <p:spPr>
            <a:xfrm>
              <a:off x="5120738" y="3547225"/>
              <a:ext cx="595035" cy="276999"/>
            </a:xfrm>
            <a:prstGeom prst="rect">
              <a:avLst/>
            </a:prstGeom>
            <a:noFill/>
          </p:spPr>
          <p:txBody>
            <a:bodyPr wrap="none" rtlCol="0">
              <a:spAutoFit/>
            </a:bodyPr>
            <a:lstStyle/>
            <a:p>
              <a:r>
                <a:rPr lang="en-US" sz="1200" dirty="0"/>
                <a:t>Alpha</a:t>
              </a:r>
              <a:r>
                <a:rPr lang="en-US" sz="1200" baseline="-25000" dirty="0"/>
                <a:t>2</a:t>
              </a:r>
              <a:endParaRPr lang="en-US" sz="1200" dirty="0"/>
            </a:p>
          </p:txBody>
        </p:sp>
        <p:sp>
          <p:nvSpPr>
            <p:cNvPr id="46" name="TextBox 45">
              <a:extLst>
                <a:ext uri="{FF2B5EF4-FFF2-40B4-BE49-F238E27FC236}">
                  <a16:creationId xmlns:a16="http://schemas.microsoft.com/office/drawing/2014/main" id="{35760EB5-5941-F949-AB8D-F56E099D8B5F}"/>
                </a:ext>
              </a:extLst>
            </p:cNvPr>
            <p:cNvSpPr txBox="1"/>
            <p:nvPr/>
          </p:nvSpPr>
          <p:spPr>
            <a:xfrm>
              <a:off x="5639524" y="3547225"/>
              <a:ext cx="467307" cy="276999"/>
            </a:xfrm>
            <a:prstGeom prst="rect">
              <a:avLst/>
            </a:prstGeom>
            <a:noFill/>
          </p:spPr>
          <p:txBody>
            <a:bodyPr wrap="none" rtlCol="0">
              <a:spAutoFit/>
            </a:bodyPr>
            <a:lstStyle/>
            <a:p>
              <a:r>
                <a:rPr lang="en-US" sz="1200" dirty="0"/>
                <a:t>Beta</a:t>
              </a:r>
            </a:p>
          </p:txBody>
        </p:sp>
        <p:sp>
          <p:nvSpPr>
            <p:cNvPr id="47" name="TextBox 46">
              <a:extLst>
                <a:ext uri="{FF2B5EF4-FFF2-40B4-BE49-F238E27FC236}">
                  <a16:creationId xmlns:a16="http://schemas.microsoft.com/office/drawing/2014/main" id="{30EE90F8-8C1A-EE4D-90B0-B214CC798AFD}"/>
                </a:ext>
              </a:extLst>
            </p:cNvPr>
            <p:cNvSpPr txBox="1"/>
            <p:nvPr/>
          </p:nvSpPr>
          <p:spPr>
            <a:xfrm>
              <a:off x="6070678" y="3547225"/>
              <a:ext cx="676788" cy="276999"/>
            </a:xfrm>
            <a:prstGeom prst="rect">
              <a:avLst/>
            </a:prstGeom>
            <a:noFill/>
          </p:spPr>
          <p:txBody>
            <a:bodyPr wrap="none" rtlCol="0">
              <a:spAutoFit/>
            </a:bodyPr>
            <a:lstStyle/>
            <a:p>
              <a:r>
                <a:rPr lang="en-US" sz="1200" dirty="0"/>
                <a:t>Gamma</a:t>
              </a:r>
            </a:p>
          </p:txBody>
        </p:sp>
        <p:sp>
          <p:nvSpPr>
            <p:cNvPr id="48" name="TextBox 47">
              <a:extLst>
                <a:ext uri="{FF2B5EF4-FFF2-40B4-BE49-F238E27FC236}">
                  <a16:creationId xmlns:a16="http://schemas.microsoft.com/office/drawing/2014/main" id="{EC41A7D1-405A-D04B-868B-7D815F6204BE}"/>
                </a:ext>
              </a:extLst>
            </p:cNvPr>
            <p:cNvSpPr txBox="1"/>
            <p:nvPr/>
          </p:nvSpPr>
          <p:spPr>
            <a:xfrm>
              <a:off x="5846102" y="1583026"/>
              <a:ext cx="1070747" cy="369332"/>
            </a:xfrm>
            <a:prstGeom prst="rect">
              <a:avLst/>
            </a:prstGeom>
            <a:noFill/>
          </p:spPr>
          <p:txBody>
            <a:bodyPr wrap="square" rtlCol="0">
              <a:spAutoFit/>
            </a:bodyPr>
            <a:lstStyle/>
            <a:p>
              <a:pPr algn="ctr"/>
              <a:r>
                <a:rPr lang="en-US" dirty="0">
                  <a:solidFill>
                    <a:srgbClr val="FF0000"/>
                  </a:solidFill>
                </a:rPr>
                <a:t>M-Spike</a:t>
              </a:r>
            </a:p>
          </p:txBody>
        </p:sp>
        <p:sp>
          <p:nvSpPr>
            <p:cNvPr id="49" name="Down Arrow 48">
              <a:extLst>
                <a:ext uri="{FF2B5EF4-FFF2-40B4-BE49-F238E27FC236}">
                  <a16:creationId xmlns:a16="http://schemas.microsoft.com/office/drawing/2014/main" id="{D8038FE7-C30E-8247-B6D5-91DB25306FEB}"/>
                </a:ext>
              </a:extLst>
            </p:cNvPr>
            <p:cNvSpPr/>
            <p:nvPr/>
          </p:nvSpPr>
          <p:spPr>
            <a:xfrm>
              <a:off x="6274608" y="1953598"/>
              <a:ext cx="71197" cy="177663"/>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A500BE1-651E-B0B5-F7DD-70DBC147F2FF}"/>
                </a:ext>
              </a:extLst>
            </p:cNvPr>
            <p:cNvGrpSpPr/>
            <p:nvPr/>
          </p:nvGrpSpPr>
          <p:grpSpPr>
            <a:xfrm>
              <a:off x="3866606" y="1797617"/>
              <a:ext cx="3062062" cy="1756888"/>
              <a:chOff x="3866606" y="1711648"/>
              <a:chExt cx="3062062" cy="1756888"/>
            </a:xfrm>
          </p:grpSpPr>
          <p:cxnSp>
            <p:nvCxnSpPr>
              <p:cNvPr id="5" name="Straight Arrow Connector 4">
                <a:extLst>
                  <a:ext uri="{FF2B5EF4-FFF2-40B4-BE49-F238E27FC236}">
                    <a16:creationId xmlns:a16="http://schemas.microsoft.com/office/drawing/2014/main" id="{1E8F962C-5A5E-A0B1-7ED2-632A1C04BE07}"/>
                  </a:ext>
                </a:extLst>
              </p:cNvPr>
              <p:cNvCxnSpPr/>
              <p:nvPr/>
            </p:nvCxnSpPr>
            <p:spPr>
              <a:xfrm flipV="1">
                <a:off x="3872775" y="1711648"/>
                <a:ext cx="0" cy="17568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D081EECD-5669-AB32-61B7-1550E6DE4F01}"/>
                  </a:ext>
                </a:extLst>
              </p:cNvPr>
              <p:cNvCxnSpPr>
                <a:cxnSpLocks/>
              </p:cNvCxnSpPr>
              <p:nvPr/>
            </p:nvCxnSpPr>
            <p:spPr>
              <a:xfrm flipV="1">
                <a:off x="3866606" y="3453977"/>
                <a:ext cx="3062062" cy="1455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cxnSp>
        <p:nvCxnSpPr>
          <p:cNvPr id="2" name="Connector: Elbow 12">
            <a:extLst>
              <a:ext uri="{FF2B5EF4-FFF2-40B4-BE49-F238E27FC236}">
                <a16:creationId xmlns:a16="http://schemas.microsoft.com/office/drawing/2014/main" id="{A02F1286-F328-8C8C-8BD8-EB4992EBF783}"/>
              </a:ext>
            </a:extLst>
          </p:cNvPr>
          <p:cNvCxnSpPr>
            <a:cxnSpLocks/>
          </p:cNvCxnSpPr>
          <p:nvPr/>
        </p:nvCxnSpPr>
        <p:spPr>
          <a:xfrm rot="16200000" flipH="1">
            <a:off x="204101" y="1310599"/>
            <a:ext cx="373644" cy="26960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3" name="Connector: Elbow 30">
            <a:extLst>
              <a:ext uri="{FF2B5EF4-FFF2-40B4-BE49-F238E27FC236}">
                <a16:creationId xmlns:a16="http://schemas.microsoft.com/office/drawing/2014/main" id="{42315D0B-AAE6-FFE6-D1DE-D18AC7D0B930}"/>
              </a:ext>
            </a:extLst>
          </p:cNvPr>
          <p:cNvCxnSpPr>
            <a:cxnSpLocks/>
          </p:cNvCxnSpPr>
          <p:nvPr/>
        </p:nvCxnSpPr>
        <p:spPr>
          <a:xfrm rot="16200000" flipH="1">
            <a:off x="-115124" y="1595160"/>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6" name="Obj 1">
            <a:hlinkClick r:id="rId3" action="ppaction://hlinksldjump"/>
            <a:extLst>
              <a:ext uri="{FF2B5EF4-FFF2-40B4-BE49-F238E27FC236}">
                <a16:creationId xmlns:a16="http://schemas.microsoft.com/office/drawing/2014/main" id="{DD1D68C3-CDC7-BA3F-7878-FE2BA321EA02}"/>
              </a:ext>
            </a:extLst>
          </p:cNvPr>
          <p:cNvSpPr/>
          <p:nvPr/>
        </p:nvSpPr>
        <p:spPr>
          <a:xfrm>
            <a:off x="183491"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8" name="Graphic 7" descr="Cursor with solid fill">
            <a:extLst>
              <a:ext uri="{FF2B5EF4-FFF2-40B4-BE49-F238E27FC236}">
                <a16:creationId xmlns:a16="http://schemas.microsoft.com/office/drawing/2014/main" id="{B318782C-830E-0650-D2DA-2A01116631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488321"/>
            <a:ext cx="301752" cy="301752"/>
          </a:xfrm>
          <a:prstGeom prst="rect">
            <a:avLst/>
          </a:prstGeom>
        </p:spPr>
      </p:pic>
      <p:sp>
        <p:nvSpPr>
          <p:cNvPr id="13" name="Obj 1">
            <a:hlinkClick r:id="rId6" action="ppaction://hlinksldjump"/>
            <a:extLst>
              <a:ext uri="{FF2B5EF4-FFF2-40B4-BE49-F238E27FC236}">
                <a16:creationId xmlns:a16="http://schemas.microsoft.com/office/drawing/2014/main" id="{F4A48891-12A9-3E7F-9499-7A5944B75718}"/>
              </a:ext>
            </a:extLst>
          </p:cNvPr>
          <p:cNvSpPr/>
          <p:nvPr/>
        </p:nvSpPr>
        <p:spPr>
          <a:xfrm>
            <a:off x="183491" y="820317"/>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Testing</a:t>
            </a:r>
          </a:p>
        </p:txBody>
      </p:sp>
      <p:sp>
        <p:nvSpPr>
          <p:cNvPr id="16" name="Obj 1">
            <a:hlinkClick r:id="rId7" action="ppaction://hlinksldjump"/>
            <a:extLst>
              <a:ext uri="{FF2B5EF4-FFF2-40B4-BE49-F238E27FC236}">
                <a16:creationId xmlns:a16="http://schemas.microsoft.com/office/drawing/2014/main" id="{6D5BCFE0-50F4-7205-64E8-334A41798EE4}"/>
              </a:ext>
            </a:extLst>
          </p:cNvPr>
          <p:cNvSpPr/>
          <p:nvPr/>
        </p:nvSpPr>
        <p:spPr>
          <a:xfrm>
            <a:off x="538043" y="1424103"/>
            <a:ext cx="1199928" cy="411480"/>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SPEP</a:t>
            </a:r>
          </a:p>
        </p:txBody>
      </p:sp>
      <p:pic>
        <p:nvPicPr>
          <p:cNvPr id="17" name="Graphic 16" descr="Cursor with solid fill">
            <a:hlinkClick r:id="rId6" action="ppaction://hlinksldjump"/>
            <a:extLst>
              <a:ext uri="{FF2B5EF4-FFF2-40B4-BE49-F238E27FC236}">
                <a16:creationId xmlns:a16="http://schemas.microsoft.com/office/drawing/2014/main" id="{3E76DA60-A2F0-CD10-6717-B0559212DA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1700127"/>
            <a:ext cx="301752" cy="301752"/>
          </a:xfrm>
          <a:prstGeom prst="rect">
            <a:avLst/>
          </a:prstGeom>
        </p:spPr>
      </p:pic>
      <p:sp>
        <p:nvSpPr>
          <p:cNvPr id="18" name="Obj 1">
            <a:hlinkClick r:id="rId8" action="ppaction://hlinksldjump"/>
            <a:extLst>
              <a:ext uri="{FF2B5EF4-FFF2-40B4-BE49-F238E27FC236}">
                <a16:creationId xmlns:a16="http://schemas.microsoft.com/office/drawing/2014/main" id="{6B1D2C33-D5B2-ABE9-02E1-AAE317FDFB77}"/>
              </a:ext>
            </a:extLst>
          </p:cNvPr>
          <p:cNvSpPr/>
          <p:nvPr/>
        </p:nvSpPr>
        <p:spPr>
          <a:xfrm>
            <a:off x="525723" y="2027889"/>
            <a:ext cx="1212247"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UPEP</a:t>
            </a:r>
          </a:p>
        </p:txBody>
      </p:sp>
      <p:sp>
        <p:nvSpPr>
          <p:cNvPr id="20" name="Obj 1">
            <a:hlinkClick r:id="rId9" action="ppaction://hlinksldjump"/>
            <a:extLst>
              <a:ext uri="{FF2B5EF4-FFF2-40B4-BE49-F238E27FC236}">
                <a16:creationId xmlns:a16="http://schemas.microsoft.com/office/drawing/2014/main" id="{CC4D01BD-7E95-D824-9100-7982D7FA4783}"/>
              </a:ext>
            </a:extLst>
          </p:cNvPr>
          <p:cNvSpPr/>
          <p:nvPr/>
        </p:nvSpPr>
        <p:spPr>
          <a:xfrm>
            <a:off x="525723" y="2631675"/>
            <a:ext cx="1212248"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FLC</a:t>
            </a:r>
          </a:p>
        </p:txBody>
      </p:sp>
      <p:pic>
        <p:nvPicPr>
          <p:cNvPr id="21" name="Graphic 20" descr="Cursor with solid fill">
            <a:extLst>
              <a:ext uri="{FF2B5EF4-FFF2-40B4-BE49-F238E27FC236}">
                <a16:creationId xmlns:a16="http://schemas.microsoft.com/office/drawing/2014/main" id="{1211A9B2-8CAB-9051-A008-0BE3E06B98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2902408"/>
            <a:ext cx="301752" cy="301752"/>
          </a:xfrm>
          <a:prstGeom prst="rect">
            <a:avLst/>
          </a:prstGeom>
        </p:spPr>
      </p:pic>
      <p:sp>
        <p:nvSpPr>
          <p:cNvPr id="22" name="Obj 1">
            <a:hlinkClick r:id="rId10" action="ppaction://hlinksldjump"/>
            <a:extLst>
              <a:ext uri="{FF2B5EF4-FFF2-40B4-BE49-F238E27FC236}">
                <a16:creationId xmlns:a16="http://schemas.microsoft.com/office/drawing/2014/main" id="{5CA48E44-14CA-A892-9279-03EE0485AFC7}"/>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23" name="Graphic 22" descr="Cursor with solid fill">
            <a:extLst>
              <a:ext uri="{FF2B5EF4-FFF2-40B4-BE49-F238E27FC236}">
                <a16:creationId xmlns:a16="http://schemas.microsoft.com/office/drawing/2014/main" id="{9B3E3735-56D4-F41B-DEE4-4B80F42EC4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3517836"/>
            <a:ext cx="301752" cy="301752"/>
          </a:xfrm>
          <a:prstGeom prst="rect">
            <a:avLst/>
          </a:prstGeom>
        </p:spPr>
      </p:pic>
      <p:sp>
        <p:nvSpPr>
          <p:cNvPr id="24" name="Obj 1">
            <a:hlinkClick r:id="rId11" action="ppaction://hlinksldjump"/>
            <a:extLst>
              <a:ext uri="{FF2B5EF4-FFF2-40B4-BE49-F238E27FC236}">
                <a16:creationId xmlns:a16="http://schemas.microsoft.com/office/drawing/2014/main" id="{A2DE679E-3771-0F91-BA50-24E0155E2387}"/>
              </a:ext>
            </a:extLst>
          </p:cNvPr>
          <p:cNvSpPr/>
          <p:nvPr/>
        </p:nvSpPr>
        <p:spPr>
          <a:xfrm>
            <a:off x="183491" y="383984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5" name="Graphic 24" descr="Cursor with solid fill">
            <a:extLst>
              <a:ext uri="{FF2B5EF4-FFF2-40B4-BE49-F238E27FC236}">
                <a16:creationId xmlns:a16="http://schemas.microsoft.com/office/drawing/2014/main" id="{1C4E3CEE-BCCF-498C-884F-D491A815A64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4110676"/>
            <a:ext cx="301752" cy="301752"/>
          </a:xfrm>
          <a:prstGeom prst="rect">
            <a:avLst/>
          </a:prstGeom>
        </p:spPr>
      </p:pic>
      <p:sp>
        <p:nvSpPr>
          <p:cNvPr id="26" name="Obj 1">
            <a:hlinkClick r:id="rId12" action="ppaction://hlinksldjump"/>
            <a:extLst>
              <a:ext uri="{FF2B5EF4-FFF2-40B4-BE49-F238E27FC236}">
                <a16:creationId xmlns:a16="http://schemas.microsoft.com/office/drawing/2014/main" id="{C614F982-471E-FF18-0A22-36A54CF21372}"/>
              </a:ext>
            </a:extLst>
          </p:cNvPr>
          <p:cNvSpPr/>
          <p:nvPr/>
        </p:nvSpPr>
        <p:spPr>
          <a:xfrm>
            <a:off x="183491" y="444363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27" name="Graphic 26" descr="Cursor with solid fill">
            <a:extLst>
              <a:ext uri="{FF2B5EF4-FFF2-40B4-BE49-F238E27FC236}">
                <a16:creationId xmlns:a16="http://schemas.microsoft.com/office/drawing/2014/main" id="{3B677494-48B8-2601-0531-2158DE1963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91971" y="4729639"/>
            <a:ext cx="301752" cy="301752"/>
          </a:xfrm>
          <a:prstGeom prst="rect">
            <a:avLst/>
          </a:prstGeom>
        </p:spPr>
      </p:pic>
      <p:cxnSp>
        <p:nvCxnSpPr>
          <p:cNvPr id="28" name="Connector: Elbow 30">
            <a:extLst>
              <a:ext uri="{FF2B5EF4-FFF2-40B4-BE49-F238E27FC236}">
                <a16:creationId xmlns:a16="http://schemas.microsoft.com/office/drawing/2014/main" id="{0DC2AAD2-F220-731C-5BD6-C47C59A0A6C1}"/>
              </a:ext>
            </a:extLst>
          </p:cNvPr>
          <p:cNvCxnSpPr>
            <a:cxnSpLocks/>
          </p:cNvCxnSpPr>
          <p:nvPr/>
        </p:nvCxnSpPr>
        <p:spPr>
          <a:xfrm rot="16200000" flipH="1">
            <a:off x="-115126" y="2196568"/>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0" name="Obj 1">
            <a:hlinkClick r:id="rId13" action="ppaction://hlinksldjump"/>
            <a:extLst>
              <a:ext uri="{FF2B5EF4-FFF2-40B4-BE49-F238E27FC236}">
                <a16:creationId xmlns:a16="http://schemas.microsoft.com/office/drawing/2014/main" id="{4966F63E-1974-AF5D-46CF-1D401E494551}"/>
              </a:ext>
            </a:extLst>
          </p:cNvPr>
          <p:cNvSpPr/>
          <p:nvPr/>
        </p:nvSpPr>
        <p:spPr>
          <a:xfrm>
            <a:off x="169115" y="50462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31" name="Graphic 30" descr="Cursor with solid fill">
            <a:extLst>
              <a:ext uri="{FF2B5EF4-FFF2-40B4-BE49-F238E27FC236}">
                <a16:creationId xmlns:a16="http://schemas.microsoft.com/office/drawing/2014/main" id="{7033198A-82F5-89F1-ED58-45B291AF51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77595" y="5332271"/>
            <a:ext cx="301752" cy="301752"/>
          </a:xfrm>
          <a:prstGeom prst="rect">
            <a:avLst/>
          </a:prstGeom>
        </p:spPr>
      </p:pic>
      <p:sp>
        <p:nvSpPr>
          <p:cNvPr id="32" name="TextBox 31">
            <a:extLst>
              <a:ext uri="{FF2B5EF4-FFF2-40B4-BE49-F238E27FC236}">
                <a16:creationId xmlns:a16="http://schemas.microsoft.com/office/drawing/2014/main" id="{3072B5D1-3D2E-BAE9-3809-D87BC3BF5375}"/>
              </a:ext>
            </a:extLst>
          </p:cNvPr>
          <p:cNvSpPr txBox="1"/>
          <p:nvPr/>
        </p:nvSpPr>
        <p:spPr>
          <a:xfrm>
            <a:off x="3617374" y="77401"/>
            <a:ext cx="6009817" cy="523220"/>
          </a:xfrm>
          <a:prstGeom prst="rect">
            <a:avLst/>
          </a:prstGeom>
          <a:noFill/>
        </p:spPr>
        <p:txBody>
          <a:bodyPr wrap="square" rtlCol="0">
            <a:spAutoFit/>
          </a:bodyPr>
          <a:lstStyle/>
          <a:p>
            <a:pPr algn="ctr"/>
            <a:r>
              <a:rPr lang="en-US" sz="2800" b="1" dirty="0"/>
              <a:t>Testing – Urine Protein Electrophoresis</a:t>
            </a:r>
          </a:p>
        </p:txBody>
      </p:sp>
      <p:grpSp>
        <p:nvGrpSpPr>
          <p:cNvPr id="33" name="Group 32">
            <a:extLst>
              <a:ext uri="{FF2B5EF4-FFF2-40B4-BE49-F238E27FC236}">
                <a16:creationId xmlns:a16="http://schemas.microsoft.com/office/drawing/2014/main" id="{09B470B8-7104-4989-EF2F-AC4D96BEA173}"/>
              </a:ext>
            </a:extLst>
          </p:cNvPr>
          <p:cNvGrpSpPr/>
          <p:nvPr/>
        </p:nvGrpSpPr>
        <p:grpSpPr>
          <a:xfrm>
            <a:off x="7119718" y="1534002"/>
            <a:ext cx="2729571" cy="1991885"/>
            <a:chOff x="8863295" y="4170270"/>
            <a:chExt cx="2729571" cy="2304556"/>
          </a:xfrm>
        </p:grpSpPr>
        <p:sp>
          <p:nvSpPr>
            <p:cNvPr id="34" name="TextBox 33">
              <a:extLst>
                <a:ext uri="{FF2B5EF4-FFF2-40B4-BE49-F238E27FC236}">
                  <a16:creationId xmlns:a16="http://schemas.microsoft.com/office/drawing/2014/main" id="{C9E9CBCD-70B8-3AAC-434E-70C9A1CFC0EC}"/>
                </a:ext>
              </a:extLst>
            </p:cNvPr>
            <p:cNvSpPr txBox="1"/>
            <p:nvPr/>
          </p:nvSpPr>
          <p:spPr>
            <a:xfrm>
              <a:off x="8863295" y="6077901"/>
              <a:ext cx="830090"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Lambda</a:t>
              </a:r>
            </a:p>
          </p:txBody>
        </p:sp>
        <p:grpSp>
          <p:nvGrpSpPr>
            <p:cNvPr id="35" name="Group 34">
              <a:extLst>
                <a:ext uri="{FF2B5EF4-FFF2-40B4-BE49-F238E27FC236}">
                  <a16:creationId xmlns:a16="http://schemas.microsoft.com/office/drawing/2014/main" id="{BB927B89-ECF0-A4A4-5C4B-38366C3CF26D}"/>
                </a:ext>
              </a:extLst>
            </p:cNvPr>
            <p:cNvGrpSpPr/>
            <p:nvPr/>
          </p:nvGrpSpPr>
          <p:grpSpPr>
            <a:xfrm>
              <a:off x="8973895" y="4170270"/>
              <a:ext cx="2618971" cy="2304556"/>
              <a:chOff x="9311322" y="4262980"/>
              <a:chExt cx="2367427" cy="2073542"/>
            </a:xfrm>
          </p:grpSpPr>
          <p:sp>
            <p:nvSpPr>
              <p:cNvPr id="36" name="TextBox 35">
                <a:extLst>
                  <a:ext uri="{FF2B5EF4-FFF2-40B4-BE49-F238E27FC236}">
                    <a16:creationId xmlns:a16="http://schemas.microsoft.com/office/drawing/2014/main" id="{BD3DFC3F-A35B-C81F-37EF-0560CE69A69C}"/>
                  </a:ext>
                </a:extLst>
              </p:cNvPr>
              <p:cNvSpPr txBox="1"/>
              <p:nvPr/>
            </p:nvSpPr>
            <p:spPr>
              <a:xfrm>
                <a:off x="9311322" y="4325272"/>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SPEP</a:t>
                </a:r>
              </a:p>
            </p:txBody>
          </p:sp>
          <p:sp>
            <p:nvSpPr>
              <p:cNvPr id="37" name="TextBox 36">
                <a:extLst>
                  <a:ext uri="{FF2B5EF4-FFF2-40B4-BE49-F238E27FC236}">
                    <a16:creationId xmlns:a16="http://schemas.microsoft.com/office/drawing/2014/main" id="{7798C76E-C029-FEA0-BEE6-D038809E7B39}"/>
                  </a:ext>
                </a:extLst>
              </p:cNvPr>
              <p:cNvSpPr txBox="1"/>
              <p:nvPr/>
            </p:nvSpPr>
            <p:spPr>
              <a:xfrm>
                <a:off x="9311323" y="4660813"/>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IgG</a:t>
                </a:r>
              </a:p>
            </p:txBody>
          </p:sp>
          <p:sp>
            <p:nvSpPr>
              <p:cNvPr id="39" name="TextBox 38">
                <a:extLst>
                  <a:ext uri="{FF2B5EF4-FFF2-40B4-BE49-F238E27FC236}">
                    <a16:creationId xmlns:a16="http://schemas.microsoft.com/office/drawing/2014/main" id="{64BAFAE6-85CB-B5B5-DBB8-18F25060702F}"/>
                  </a:ext>
                </a:extLst>
              </p:cNvPr>
              <p:cNvSpPr txBox="1"/>
              <p:nvPr/>
            </p:nvSpPr>
            <p:spPr>
              <a:xfrm>
                <a:off x="9311323" y="4996354"/>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IgA</a:t>
                </a:r>
              </a:p>
            </p:txBody>
          </p:sp>
          <p:sp>
            <p:nvSpPr>
              <p:cNvPr id="54" name="TextBox 53">
                <a:extLst>
                  <a:ext uri="{FF2B5EF4-FFF2-40B4-BE49-F238E27FC236}">
                    <a16:creationId xmlns:a16="http://schemas.microsoft.com/office/drawing/2014/main" id="{03A4CACA-0FB3-5D32-B101-382FE0CA7A3B}"/>
                  </a:ext>
                </a:extLst>
              </p:cNvPr>
              <p:cNvSpPr txBox="1"/>
              <p:nvPr/>
            </p:nvSpPr>
            <p:spPr>
              <a:xfrm>
                <a:off x="9311323" y="5331895"/>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IgM</a:t>
                </a:r>
              </a:p>
            </p:txBody>
          </p:sp>
          <p:sp>
            <p:nvSpPr>
              <p:cNvPr id="70" name="TextBox 69">
                <a:extLst>
                  <a:ext uri="{FF2B5EF4-FFF2-40B4-BE49-F238E27FC236}">
                    <a16:creationId xmlns:a16="http://schemas.microsoft.com/office/drawing/2014/main" id="{6CA41E9D-B696-1496-1B93-3521409F3D62}"/>
                  </a:ext>
                </a:extLst>
              </p:cNvPr>
              <p:cNvSpPr txBox="1"/>
              <p:nvPr/>
            </p:nvSpPr>
            <p:spPr>
              <a:xfrm>
                <a:off x="9311323" y="5667436"/>
                <a:ext cx="654277" cy="307777"/>
              </a:xfrm>
              <a:prstGeom prst="rect">
                <a:avLst/>
              </a:prstGeom>
              <a:noFill/>
            </p:spPr>
            <p:txBody>
              <a:bodyPr wrap="square">
                <a:spAutoFit/>
              </a:bodyPr>
              <a:lstStyle/>
              <a:p>
                <a:pPr algn="r"/>
                <a:r>
                  <a:rPr lang="en-US" sz="1400" b="1" i="0" dirty="0">
                    <a:solidFill>
                      <a:srgbClr val="2A2A33"/>
                    </a:solidFill>
                    <a:effectLst/>
                    <a:latin typeface="Calibri" panose="020F0502020204030204" pitchFamily="34" charset="0"/>
                    <a:cs typeface="Calibri" panose="020F0502020204030204" pitchFamily="34" charset="0"/>
                  </a:rPr>
                  <a:t>Kappa</a:t>
                </a:r>
              </a:p>
            </p:txBody>
          </p:sp>
          <p:sp>
            <p:nvSpPr>
              <p:cNvPr id="120" name="Rectangle 119">
                <a:extLst>
                  <a:ext uri="{FF2B5EF4-FFF2-40B4-BE49-F238E27FC236}">
                    <a16:creationId xmlns:a16="http://schemas.microsoft.com/office/drawing/2014/main" id="{FA8075F5-31D5-DC09-26D2-F27C90A93B29}"/>
                  </a:ext>
                </a:extLst>
              </p:cNvPr>
              <p:cNvSpPr/>
              <p:nvPr/>
            </p:nvSpPr>
            <p:spPr>
              <a:xfrm>
                <a:off x="9961705" y="5051334"/>
                <a:ext cx="1700792"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FE8C150A-D757-1239-4741-784CDFA87663}"/>
                  </a:ext>
                </a:extLst>
              </p:cNvPr>
              <p:cNvSpPr/>
              <p:nvPr/>
            </p:nvSpPr>
            <p:spPr>
              <a:xfrm>
                <a:off x="9961705" y="5385391"/>
                <a:ext cx="1700791"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FC0BB1B5-3473-888F-FEA6-FDC1C2E51066}"/>
                  </a:ext>
                </a:extLst>
              </p:cNvPr>
              <p:cNvSpPr/>
              <p:nvPr/>
            </p:nvSpPr>
            <p:spPr>
              <a:xfrm>
                <a:off x="9955841" y="6051257"/>
                <a:ext cx="1717043"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3" name="Group 122">
                <a:extLst>
                  <a:ext uri="{FF2B5EF4-FFF2-40B4-BE49-F238E27FC236}">
                    <a16:creationId xmlns:a16="http://schemas.microsoft.com/office/drawing/2014/main" id="{8550326A-8680-0FA2-E136-BA069D29E640}"/>
                  </a:ext>
                </a:extLst>
              </p:cNvPr>
              <p:cNvGrpSpPr/>
              <p:nvPr/>
            </p:nvGrpSpPr>
            <p:grpSpPr>
              <a:xfrm>
                <a:off x="9961705" y="4719526"/>
                <a:ext cx="1717043" cy="190378"/>
                <a:chOff x="9961705" y="4714145"/>
                <a:chExt cx="1717043" cy="190378"/>
              </a:xfrm>
            </p:grpSpPr>
            <p:sp>
              <p:nvSpPr>
                <p:cNvPr id="135" name="Rectangle 134">
                  <a:extLst>
                    <a:ext uri="{FF2B5EF4-FFF2-40B4-BE49-F238E27FC236}">
                      <a16:creationId xmlns:a16="http://schemas.microsoft.com/office/drawing/2014/main" id="{E75778DB-54DE-0D7E-BB41-54BD9868E8DD}"/>
                    </a:ext>
                  </a:extLst>
                </p:cNvPr>
                <p:cNvSpPr/>
                <p:nvPr/>
              </p:nvSpPr>
              <p:spPr>
                <a:xfrm>
                  <a:off x="9961705" y="4714145"/>
                  <a:ext cx="1717043" cy="1903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F26FCB60-3045-CEBB-FCB6-66ED3FFD600C}"/>
                    </a:ext>
                  </a:extLst>
                </p:cNvPr>
                <p:cNvSpPr/>
                <p:nvPr/>
              </p:nvSpPr>
              <p:spPr>
                <a:xfrm>
                  <a:off x="11301380" y="4714146"/>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4" name="Group 123">
                <a:extLst>
                  <a:ext uri="{FF2B5EF4-FFF2-40B4-BE49-F238E27FC236}">
                    <a16:creationId xmlns:a16="http://schemas.microsoft.com/office/drawing/2014/main" id="{603C7F51-D656-EA15-145C-39929142D8AB}"/>
                  </a:ext>
                </a:extLst>
              </p:cNvPr>
              <p:cNvGrpSpPr/>
              <p:nvPr/>
            </p:nvGrpSpPr>
            <p:grpSpPr>
              <a:xfrm>
                <a:off x="9968055" y="5719447"/>
                <a:ext cx="1700790" cy="190378"/>
                <a:chOff x="9961705" y="5693876"/>
                <a:chExt cx="1700790" cy="190378"/>
              </a:xfrm>
            </p:grpSpPr>
            <p:sp>
              <p:nvSpPr>
                <p:cNvPr id="133" name="Rectangle 132">
                  <a:extLst>
                    <a:ext uri="{FF2B5EF4-FFF2-40B4-BE49-F238E27FC236}">
                      <a16:creationId xmlns:a16="http://schemas.microsoft.com/office/drawing/2014/main" id="{ADCDAB49-5815-5857-FE1F-6DD61A7F2444}"/>
                    </a:ext>
                  </a:extLst>
                </p:cNvPr>
                <p:cNvSpPr/>
                <p:nvPr/>
              </p:nvSpPr>
              <p:spPr>
                <a:xfrm>
                  <a:off x="9961705" y="5693876"/>
                  <a:ext cx="1700790" cy="19037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0C91DAD5-9E2F-456D-258B-AA19CD399160}"/>
                    </a:ext>
                  </a:extLst>
                </p:cNvPr>
                <p:cNvSpPr/>
                <p:nvPr/>
              </p:nvSpPr>
              <p:spPr>
                <a:xfrm>
                  <a:off x="11301380" y="5693877"/>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B433139E-C6E9-CB50-C625-EDCCB81D8CD0}"/>
                  </a:ext>
                </a:extLst>
              </p:cNvPr>
              <p:cNvGrpSpPr/>
              <p:nvPr/>
            </p:nvGrpSpPr>
            <p:grpSpPr>
              <a:xfrm>
                <a:off x="9961706" y="4387720"/>
                <a:ext cx="1717042" cy="190377"/>
                <a:chOff x="9961706" y="4391300"/>
                <a:chExt cx="1717042" cy="190377"/>
              </a:xfrm>
            </p:grpSpPr>
            <p:sp>
              <p:nvSpPr>
                <p:cNvPr id="127" name="Rectangle 126">
                  <a:extLst>
                    <a:ext uri="{FF2B5EF4-FFF2-40B4-BE49-F238E27FC236}">
                      <a16:creationId xmlns:a16="http://schemas.microsoft.com/office/drawing/2014/main" id="{393E805E-D778-7728-C1C8-C4E4EF885E69}"/>
                    </a:ext>
                  </a:extLst>
                </p:cNvPr>
                <p:cNvSpPr/>
                <p:nvPr/>
              </p:nvSpPr>
              <p:spPr>
                <a:xfrm>
                  <a:off x="9961706" y="4391300"/>
                  <a:ext cx="1717042" cy="1903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D40ADEEC-EA16-9BD6-46A1-504E316D1A1D}"/>
                    </a:ext>
                  </a:extLst>
                </p:cNvPr>
                <p:cNvSpPr/>
                <p:nvPr/>
              </p:nvSpPr>
              <p:spPr>
                <a:xfrm>
                  <a:off x="10053507" y="4391300"/>
                  <a:ext cx="268314"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41E0E0E9-F07E-3934-6453-C21B1A6BFA54}"/>
                    </a:ext>
                  </a:extLst>
                </p:cNvPr>
                <p:cNvSpPr/>
                <p:nvPr/>
              </p:nvSpPr>
              <p:spPr>
                <a:xfrm>
                  <a:off x="11387917" y="4391300"/>
                  <a:ext cx="174575"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33DE7784-60F7-7C93-BE2E-F48982AED3A6}"/>
                    </a:ext>
                  </a:extLst>
                </p:cNvPr>
                <p:cNvSpPr/>
                <p:nvPr/>
              </p:nvSpPr>
              <p:spPr>
                <a:xfrm>
                  <a:off x="10477139" y="4391300"/>
                  <a:ext cx="87288"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018C674D-AF3B-2E95-9B7E-0915306C31D4}"/>
                    </a:ext>
                  </a:extLst>
                </p:cNvPr>
                <p:cNvSpPr/>
                <p:nvPr/>
              </p:nvSpPr>
              <p:spPr>
                <a:xfrm>
                  <a:off x="10746970" y="4391300"/>
                  <a:ext cx="113775" cy="182880"/>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D50BEABD-3D64-1F7C-C985-43CC87A596A8}"/>
                    </a:ext>
                  </a:extLst>
                </p:cNvPr>
                <p:cNvSpPr/>
                <p:nvPr/>
              </p:nvSpPr>
              <p:spPr>
                <a:xfrm>
                  <a:off x="11081865" y="4391300"/>
                  <a:ext cx="113775" cy="190377"/>
                </a:xfrm>
                <a:prstGeom prst="rect">
                  <a:avLst/>
                </a:prstGeom>
                <a:gradFill flip="none" rotWithShape="1">
                  <a:gsLst>
                    <a:gs pos="0">
                      <a:schemeClr val="bg1">
                        <a:lumMod val="95000"/>
                      </a:schemeClr>
                    </a:gs>
                    <a:gs pos="47000">
                      <a:schemeClr val="tx1">
                        <a:lumMod val="75000"/>
                        <a:lumOff val="25000"/>
                      </a:schemeClr>
                    </a:gs>
                    <a:gs pos="47000">
                      <a:schemeClr val="tx1">
                        <a:lumMod val="75000"/>
                        <a:lumOff val="25000"/>
                        <a:alpha val="47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6" name="Rounded Rectangle 2">
                <a:extLst>
                  <a:ext uri="{FF2B5EF4-FFF2-40B4-BE49-F238E27FC236}">
                    <a16:creationId xmlns:a16="http://schemas.microsoft.com/office/drawing/2014/main" id="{9557198C-8840-B107-5A4A-E5BC88E62D9D}"/>
                  </a:ext>
                </a:extLst>
              </p:cNvPr>
              <p:cNvSpPr/>
              <p:nvPr/>
            </p:nvSpPr>
            <p:spPr>
              <a:xfrm>
                <a:off x="9961706" y="4262980"/>
                <a:ext cx="1717043" cy="2073542"/>
              </a:xfrm>
              <a:prstGeom prst="roundRect">
                <a:avLst>
                  <a:gd name="adj" fmla="val 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09" name="Graphic 108" descr="Cursor with solid fill">
            <a:extLst>
              <a:ext uri="{FF2B5EF4-FFF2-40B4-BE49-F238E27FC236}">
                <a16:creationId xmlns:a16="http://schemas.microsoft.com/office/drawing/2014/main" id="{67D7AD99-0C1D-4266-9454-8319F46FD1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15977" y="4522802"/>
            <a:ext cx="301752" cy="301752"/>
          </a:xfrm>
          <a:prstGeom prst="rect">
            <a:avLst/>
          </a:prstGeom>
        </p:spPr>
      </p:pic>
      <p:grpSp>
        <p:nvGrpSpPr>
          <p:cNvPr id="161" name="Group 160">
            <a:extLst>
              <a:ext uri="{FF2B5EF4-FFF2-40B4-BE49-F238E27FC236}">
                <a16:creationId xmlns:a16="http://schemas.microsoft.com/office/drawing/2014/main" id="{B6FDA322-E039-2A45-6182-990D1CBCBAB2}"/>
              </a:ext>
            </a:extLst>
          </p:cNvPr>
          <p:cNvGrpSpPr/>
          <p:nvPr/>
        </p:nvGrpSpPr>
        <p:grpSpPr>
          <a:xfrm>
            <a:off x="9107097" y="5761200"/>
            <a:ext cx="1626735" cy="471087"/>
            <a:chOff x="9107097" y="5761200"/>
            <a:chExt cx="1626735" cy="471087"/>
          </a:xfrm>
        </p:grpSpPr>
        <p:sp>
          <p:nvSpPr>
            <p:cNvPr id="137" name="Isosceles Triangle 136">
              <a:extLst>
                <a:ext uri="{FF2B5EF4-FFF2-40B4-BE49-F238E27FC236}">
                  <a16:creationId xmlns:a16="http://schemas.microsoft.com/office/drawing/2014/main" id="{BB806E70-347D-7162-3068-F637B8491839}"/>
                </a:ext>
              </a:extLst>
            </p:cNvPr>
            <p:cNvSpPr/>
            <p:nvPr/>
          </p:nvSpPr>
          <p:spPr>
            <a:xfrm>
              <a:off x="9406201" y="5761200"/>
              <a:ext cx="256085" cy="14609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8" name="TextBox 137">
              <a:extLst>
                <a:ext uri="{FF2B5EF4-FFF2-40B4-BE49-F238E27FC236}">
                  <a16:creationId xmlns:a16="http://schemas.microsoft.com/office/drawing/2014/main" id="{45021999-B6E4-E627-EDF5-AF5AA497325E}"/>
                </a:ext>
              </a:extLst>
            </p:cNvPr>
            <p:cNvSpPr txBox="1"/>
            <p:nvPr/>
          </p:nvSpPr>
          <p:spPr>
            <a:xfrm>
              <a:off x="9107097" y="5925152"/>
              <a:ext cx="1626735" cy="307135"/>
            </a:xfrm>
            <a:prstGeom prst="rect">
              <a:avLst/>
            </a:prstGeom>
            <a:noFill/>
          </p:spPr>
          <p:txBody>
            <a:bodyPr wrap="square" rtlCol="0">
              <a:spAutoFit/>
            </a:bodyPr>
            <a:lstStyle/>
            <a:p>
              <a:pPr algn="ctr">
                <a:lnSpc>
                  <a:spcPts val="1600"/>
                </a:lnSpc>
              </a:pPr>
              <a:r>
                <a:rPr lang="en-US" dirty="0">
                  <a:solidFill>
                    <a:schemeClr val="accent6"/>
                  </a:solidFill>
                </a:rPr>
                <a:t>SPEP + UPEP</a:t>
              </a:r>
            </a:p>
          </p:txBody>
        </p:sp>
      </p:grpSp>
    </p:spTree>
    <p:extLst>
      <p:ext uri="{BB962C8B-B14F-4D97-AF65-F5344CB8AC3E}">
        <p14:creationId xmlns:p14="http://schemas.microsoft.com/office/powerpoint/2010/main" val="15099408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108"/>
                                        </p:tgtEl>
                                        <p:attrNameLst>
                                          <p:attrName>style.visibility</p:attrName>
                                        </p:attrNameLst>
                                      </p:cBhvr>
                                      <p:to>
                                        <p:strVal val="hidden"/>
                                      </p:to>
                                    </p:set>
                                  </p:childTnLst>
                                </p:cTn>
                              </p:par>
                              <p:par>
                                <p:cTn id="7" presetID="1" presetClass="entr" presetSubtype="0" fill="hold" grpId="1" nodeType="withEffect">
                                  <p:stCondLst>
                                    <p:cond delay="0"/>
                                  </p:stCondLst>
                                  <p:childTnLst>
                                    <p:set>
                                      <p:cBhvr>
                                        <p:cTn id="8" dur="1" fill="hold">
                                          <p:stCondLst>
                                            <p:cond delay="0"/>
                                          </p:stCondLst>
                                        </p:cTn>
                                        <p:tgtEl>
                                          <p:spTgt spid="119"/>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0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1"/>
                                        </p:tgtEl>
                                        <p:attrNameLst>
                                          <p:attrName>style.visibility</p:attrName>
                                        </p:attrNameLst>
                                      </p:cBhvr>
                                      <p:to>
                                        <p:strVal val="visible"/>
                                      </p:to>
                                    </p:set>
                                  </p:childTnLst>
                                </p:cTn>
                              </p:par>
                            </p:childTnLst>
                          </p:cTn>
                        </p:par>
                      </p:childTnLst>
                    </p:cTn>
                  </p:par>
                </p:childTnLst>
              </p:cTn>
              <p:nextCondLst>
                <p:cond evt="onClick" delay="0">
                  <p:tgtEl>
                    <p:spTgt spid="108"/>
                  </p:tgtEl>
                </p:cond>
              </p:nextCondLst>
            </p:seq>
          </p:childTnLst>
        </p:cTn>
      </p:par>
    </p:tnLst>
    <p:bldLst>
      <p:bldP spid="108" grpId="0" animBg="1"/>
      <p:bldP spid="113" grpId="0"/>
      <p:bldP spid="119"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Normal">
            <a:extLst>
              <a:ext uri="{FF2B5EF4-FFF2-40B4-BE49-F238E27FC236}">
                <a16:creationId xmlns:a16="http://schemas.microsoft.com/office/drawing/2014/main" id="{D44B5792-D381-4B0B-840E-E6DA8CDDB9B6}"/>
              </a:ext>
            </a:extLst>
          </p:cNvPr>
          <p:cNvSpPr/>
          <p:nvPr/>
        </p:nvSpPr>
        <p:spPr>
          <a:xfrm>
            <a:off x="5171288" y="1593811"/>
            <a:ext cx="999806" cy="411480"/>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Normal</a:t>
            </a:r>
          </a:p>
        </p:txBody>
      </p:sp>
      <p:sp>
        <p:nvSpPr>
          <p:cNvPr id="166" name="K disease">
            <a:extLst>
              <a:ext uri="{FF2B5EF4-FFF2-40B4-BE49-F238E27FC236}">
                <a16:creationId xmlns:a16="http://schemas.microsoft.com/office/drawing/2014/main" id="{05C09992-8F61-499E-A226-D6FB6A95028F}"/>
              </a:ext>
            </a:extLst>
          </p:cNvPr>
          <p:cNvSpPr/>
          <p:nvPr/>
        </p:nvSpPr>
        <p:spPr>
          <a:xfrm>
            <a:off x="6492375" y="1593811"/>
            <a:ext cx="1082308" cy="411480"/>
          </a:xfrm>
          <a:prstGeom prst="roundRect">
            <a:avLst/>
          </a:prstGeom>
          <a:solidFill>
            <a:srgbClr val="E65CB6"/>
          </a:solidFill>
          <a:ln w="38100">
            <a:solidFill>
              <a:srgbClr val="E65CB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κ</a:t>
            </a:r>
            <a:r>
              <a:rPr lang="en-US" dirty="0">
                <a:solidFill>
                  <a:schemeClr val="bg1"/>
                </a:solidFill>
              </a:rPr>
              <a:t> disease</a:t>
            </a:r>
          </a:p>
        </p:txBody>
      </p:sp>
      <p:sp>
        <p:nvSpPr>
          <p:cNvPr id="167" name="L disease">
            <a:extLst>
              <a:ext uri="{FF2B5EF4-FFF2-40B4-BE49-F238E27FC236}">
                <a16:creationId xmlns:a16="http://schemas.microsoft.com/office/drawing/2014/main" id="{1F0A2C60-C2DC-4AB3-BDD1-16FF9A94C3A8}"/>
              </a:ext>
            </a:extLst>
          </p:cNvPr>
          <p:cNvSpPr/>
          <p:nvPr/>
        </p:nvSpPr>
        <p:spPr>
          <a:xfrm>
            <a:off x="7896188" y="1593811"/>
            <a:ext cx="1091391" cy="411480"/>
          </a:xfrm>
          <a:prstGeom prst="roundRect">
            <a:avLst/>
          </a:prstGeom>
          <a:solidFill>
            <a:srgbClr val="CF21B1"/>
          </a:solidFill>
          <a:ln w="38100">
            <a:solidFill>
              <a:srgbClr val="CF21B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λ</a:t>
            </a:r>
            <a:r>
              <a:rPr lang="en-US" dirty="0">
                <a:solidFill>
                  <a:schemeClr val="bg1"/>
                </a:solidFill>
              </a:rPr>
              <a:t> disease</a:t>
            </a:r>
          </a:p>
        </p:txBody>
      </p:sp>
      <p:sp>
        <p:nvSpPr>
          <p:cNvPr id="168" name="ESRD">
            <a:extLst>
              <a:ext uri="{FF2B5EF4-FFF2-40B4-BE49-F238E27FC236}">
                <a16:creationId xmlns:a16="http://schemas.microsoft.com/office/drawing/2014/main" id="{27EF8F9C-4247-4473-8505-D59CAC597131}"/>
              </a:ext>
            </a:extLst>
          </p:cNvPr>
          <p:cNvSpPr/>
          <p:nvPr/>
        </p:nvSpPr>
        <p:spPr>
          <a:xfrm>
            <a:off x="9303329" y="1593811"/>
            <a:ext cx="906573" cy="411480"/>
          </a:xfrm>
          <a:prstGeom prst="roundRect">
            <a:avLst/>
          </a:prstGeom>
          <a:solidFill>
            <a:schemeClr val="bg2">
              <a:lumMod val="75000"/>
            </a:schemeClr>
          </a:solidFill>
          <a:ln w="38100">
            <a:solidFill>
              <a:schemeClr val="bg2">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ESRD</a:t>
            </a:r>
          </a:p>
        </p:txBody>
      </p:sp>
      <p:sp>
        <p:nvSpPr>
          <p:cNvPr id="174" name="MM final">
            <a:extLst>
              <a:ext uri="{FF2B5EF4-FFF2-40B4-BE49-F238E27FC236}">
                <a16:creationId xmlns:a16="http://schemas.microsoft.com/office/drawing/2014/main" id="{FD29873A-11DB-4A41-9EAD-7CB1D18B0FE7}"/>
              </a:ext>
            </a:extLst>
          </p:cNvPr>
          <p:cNvSpPr/>
          <p:nvPr/>
        </p:nvSpPr>
        <p:spPr>
          <a:xfrm>
            <a:off x="10537161" y="1593811"/>
            <a:ext cx="1059842" cy="41148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MM</a:t>
            </a:r>
          </a:p>
        </p:txBody>
      </p:sp>
      <p:sp>
        <p:nvSpPr>
          <p:cNvPr id="100" name="Sensitivity">
            <a:extLst>
              <a:ext uri="{FF2B5EF4-FFF2-40B4-BE49-F238E27FC236}">
                <a16:creationId xmlns:a16="http://schemas.microsoft.com/office/drawing/2014/main" id="{44DF90E9-18C9-4AA0-9ACA-E148A7FD9A32}"/>
              </a:ext>
            </a:extLst>
          </p:cNvPr>
          <p:cNvSpPr/>
          <p:nvPr/>
        </p:nvSpPr>
        <p:spPr>
          <a:xfrm>
            <a:off x="5613470" y="4295913"/>
            <a:ext cx="2377440"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Why obtain FLC?</a:t>
            </a:r>
          </a:p>
        </p:txBody>
      </p:sp>
      <p:grpSp>
        <p:nvGrpSpPr>
          <p:cNvPr id="146" name="Group 145">
            <a:extLst>
              <a:ext uri="{FF2B5EF4-FFF2-40B4-BE49-F238E27FC236}">
                <a16:creationId xmlns:a16="http://schemas.microsoft.com/office/drawing/2014/main" id="{4F0FBA68-61E6-42D0-8BB0-48A9CBBE543D}"/>
              </a:ext>
            </a:extLst>
          </p:cNvPr>
          <p:cNvGrpSpPr/>
          <p:nvPr/>
        </p:nvGrpSpPr>
        <p:grpSpPr>
          <a:xfrm>
            <a:off x="2013407" y="779918"/>
            <a:ext cx="3530371" cy="1773954"/>
            <a:chOff x="2739243" y="3799963"/>
            <a:chExt cx="3777369" cy="1773954"/>
          </a:xfrm>
        </p:grpSpPr>
        <p:pic>
          <p:nvPicPr>
            <p:cNvPr id="147" name="Picture 146">
              <a:extLst>
                <a:ext uri="{FF2B5EF4-FFF2-40B4-BE49-F238E27FC236}">
                  <a16:creationId xmlns:a16="http://schemas.microsoft.com/office/drawing/2014/main" id="{D4343012-A743-42D2-843C-0F75F6CD7DE3}"/>
                </a:ext>
              </a:extLst>
            </p:cNvPr>
            <p:cNvPicPr>
              <a:picLocks noChangeAspect="1"/>
            </p:cNvPicPr>
            <p:nvPr/>
          </p:nvPicPr>
          <p:blipFill rotWithShape="1">
            <a:blip r:embed="rId3"/>
            <a:srcRect t="13028"/>
            <a:stretch/>
          </p:blipFill>
          <p:spPr>
            <a:xfrm>
              <a:off x="2739243" y="3799963"/>
              <a:ext cx="2126262" cy="1773954"/>
            </a:xfrm>
            <a:prstGeom prst="rect">
              <a:avLst/>
            </a:prstGeom>
          </p:spPr>
        </p:pic>
        <p:sp>
          <p:nvSpPr>
            <p:cNvPr id="148" name="TextBox 147">
              <a:extLst>
                <a:ext uri="{FF2B5EF4-FFF2-40B4-BE49-F238E27FC236}">
                  <a16:creationId xmlns:a16="http://schemas.microsoft.com/office/drawing/2014/main" id="{0ABE9730-337F-4AEB-9698-B4BC8B130614}"/>
                </a:ext>
              </a:extLst>
            </p:cNvPr>
            <p:cNvSpPr txBox="1"/>
            <p:nvPr/>
          </p:nvSpPr>
          <p:spPr>
            <a:xfrm>
              <a:off x="4425959" y="4829386"/>
              <a:ext cx="1344342" cy="369332"/>
            </a:xfrm>
            <a:prstGeom prst="rect">
              <a:avLst/>
            </a:prstGeom>
            <a:noFill/>
          </p:spPr>
          <p:txBody>
            <a:bodyPr wrap="square" rtlCol="0">
              <a:spAutoFit/>
            </a:bodyPr>
            <a:lstStyle/>
            <a:p>
              <a:r>
                <a:rPr lang="en-US" dirty="0"/>
                <a:t>Heavy Chain</a:t>
              </a:r>
            </a:p>
          </p:txBody>
        </p:sp>
        <p:sp>
          <p:nvSpPr>
            <p:cNvPr id="149" name="TextBox 148">
              <a:extLst>
                <a:ext uri="{FF2B5EF4-FFF2-40B4-BE49-F238E27FC236}">
                  <a16:creationId xmlns:a16="http://schemas.microsoft.com/office/drawing/2014/main" id="{E1CCDB03-4B3C-4D88-B31B-FE82B03A723E}"/>
                </a:ext>
              </a:extLst>
            </p:cNvPr>
            <p:cNvSpPr txBox="1"/>
            <p:nvPr/>
          </p:nvSpPr>
          <p:spPr>
            <a:xfrm>
              <a:off x="4995933" y="3945217"/>
              <a:ext cx="1520679" cy="400110"/>
            </a:xfrm>
            <a:prstGeom prst="rect">
              <a:avLst/>
            </a:prstGeom>
            <a:noFill/>
          </p:spPr>
          <p:txBody>
            <a:bodyPr wrap="square" rtlCol="0">
              <a:spAutoFit/>
            </a:bodyPr>
            <a:lstStyle/>
            <a:p>
              <a:r>
                <a:rPr lang="en-US" sz="2000" b="1" dirty="0"/>
                <a:t>Light Chain</a:t>
              </a:r>
            </a:p>
          </p:txBody>
        </p:sp>
        <p:cxnSp>
          <p:nvCxnSpPr>
            <p:cNvPr id="150" name="Straight Connector 149">
              <a:extLst>
                <a:ext uri="{FF2B5EF4-FFF2-40B4-BE49-F238E27FC236}">
                  <a16:creationId xmlns:a16="http://schemas.microsoft.com/office/drawing/2014/main" id="{F9B58B25-CF63-4D27-AF2A-B82DF7E40A37}"/>
                </a:ext>
              </a:extLst>
            </p:cNvPr>
            <p:cNvCxnSpPr>
              <a:cxnSpLocks/>
            </p:cNvCxnSpPr>
            <p:nvPr/>
          </p:nvCxnSpPr>
          <p:spPr>
            <a:xfrm>
              <a:off x="4461231" y="4176245"/>
              <a:ext cx="534703" cy="0"/>
            </a:xfrm>
            <a:prstGeom prst="line">
              <a:avLst/>
            </a:prstGeom>
            <a:ln w="76200">
              <a:solidFill>
                <a:srgbClr val="CF21B1"/>
              </a:solidFill>
              <a:prstDash val="sysDot"/>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3B94EBB7-3A29-4826-8420-7A2B6D250FFB}"/>
                </a:ext>
              </a:extLst>
            </p:cNvPr>
            <p:cNvCxnSpPr>
              <a:cxnSpLocks/>
            </p:cNvCxnSpPr>
            <p:nvPr/>
          </p:nvCxnSpPr>
          <p:spPr>
            <a:xfrm>
              <a:off x="3891256" y="5014052"/>
              <a:ext cx="534703" cy="0"/>
            </a:xfrm>
            <a:prstGeom prst="line">
              <a:avLst/>
            </a:prstGeom>
            <a:ln w="76200">
              <a:solidFill>
                <a:srgbClr val="7030A0"/>
              </a:solidFill>
              <a:prstDash val="sysDot"/>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FD172A29-C65D-4B95-8455-55E525FF7C4A}"/>
                </a:ext>
              </a:extLst>
            </p:cNvPr>
            <p:cNvSpPr txBox="1"/>
            <p:nvPr/>
          </p:nvSpPr>
          <p:spPr>
            <a:xfrm>
              <a:off x="5077747" y="4230605"/>
              <a:ext cx="1215838" cy="369332"/>
            </a:xfrm>
            <a:prstGeom prst="rect">
              <a:avLst/>
            </a:prstGeom>
            <a:noFill/>
          </p:spPr>
          <p:txBody>
            <a:bodyPr wrap="square" rtlCol="0">
              <a:spAutoFit/>
            </a:bodyPr>
            <a:lstStyle/>
            <a:p>
              <a:pPr algn="ctr"/>
              <a:r>
                <a:rPr lang="en-US" sz="1800" dirty="0"/>
                <a:t>(</a:t>
              </a:r>
              <a:r>
                <a:rPr lang="el-GR" sz="1800" dirty="0"/>
                <a:t>κ</a:t>
              </a:r>
              <a:r>
                <a:rPr lang="en-US" dirty="0"/>
                <a:t> or </a:t>
              </a:r>
              <a:r>
                <a:rPr lang="el-GR" sz="1800" dirty="0"/>
                <a:t>λ</a:t>
              </a:r>
              <a:r>
                <a:rPr lang="en-US" sz="1800" dirty="0"/>
                <a:t>)</a:t>
              </a:r>
              <a:endParaRPr lang="en-US" dirty="0"/>
            </a:p>
          </p:txBody>
        </p:sp>
      </p:grp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2640635D-8849-49D8-B162-62050DB2A9C7}"/>
                  </a:ext>
                </a:extLst>
              </p:cNvPr>
              <p:cNvSpPr txBox="1"/>
              <p:nvPr/>
            </p:nvSpPr>
            <p:spPr>
              <a:xfrm>
                <a:off x="4861781" y="740105"/>
                <a:ext cx="2986480" cy="669094"/>
              </a:xfrm>
              <a:prstGeom prst="rect">
                <a:avLst/>
              </a:prstGeom>
              <a:noFill/>
            </p:spPr>
            <p:txBody>
              <a:bodyPr wrap="square" rtlCol="0">
                <a:spAutoFit/>
              </a:bodyPr>
              <a:lstStyle/>
              <a:p>
                <a:pPr algn="ctr"/>
                <a:r>
                  <a:rPr lang="en-US" dirty="0"/>
                  <a:t>Measures </a:t>
                </a:r>
                <a14:m>
                  <m:oMath xmlns:m="http://schemas.openxmlformats.org/officeDocument/2006/math">
                    <m:f>
                      <m:fPr>
                        <m:ctrlPr>
                          <a:rPr lang="en-US" sz="2800" i="1" smtClean="0">
                            <a:latin typeface="Cambria Math" panose="02040503050406030204" pitchFamily="18" charset="0"/>
                          </a:rPr>
                        </m:ctrlPr>
                      </m:fPr>
                      <m:num>
                        <m:r>
                          <m:rPr>
                            <m:sty m:val="p"/>
                          </m:rPr>
                          <a:rPr lang="el-GR" sz="2800" i="1" smtClean="0">
                            <a:latin typeface="Cambria Math" panose="02040503050406030204" pitchFamily="18" charset="0"/>
                          </a:rPr>
                          <m:t>κ</m:t>
                        </m:r>
                        <m:r>
                          <a:rPr lang="en-US" sz="2800" b="0" i="1" smtClean="0">
                            <a:latin typeface="Cambria Math" panose="02040503050406030204" pitchFamily="18" charset="0"/>
                          </a:rPr>
                          <m:t> </m:t>
                        </m:r>
                      </m:num>
                      <m:den>
                        <m:r>
                          <m:rPr>
                            <m:sty m:val="p"/>
                          </m:rPr>
                          <a:rPr lang="el-GR" sz="2800" i="1" smtClean="0">
                            <a:latin typeface="Cambria Math" panose="02040503050406030204" pitchFamily="18" charset="0"/>
                          </a:rPr>
                          <m:t>λ</m:t>
                        </m:r>
                      </m:den>
                    </m:f>
                  </m:oMath>
                </a14:m>
                <a:endParaRPr lang="en-US" dirty="0"/>
              </a:p>
            </p:txBody>
          </p:sp>
        </mc:Choice>
        <mc:Fallback xmlns="">
          <p:sp>
            <p:nvSpPr>
              <p:cNvPr id="153" name="TextBox 152">
                <a:extLst>
                  <a:ext uri="{FF2B5EF4-FFF2-40B4-BE49-F238E27FC236}">
                    <a16:creationId xmlns:a16="http://schemas.microsoft.com/office/drawing/2014/main" id="{2640635D-8849-49D8-B162-62050DB2A9C7}"/>
                  </a:ext>
                </a:extLst>
              </p:cNvPr>
              <p:cNvSpPr txBox="1">
                <a:spLocks noRot="1" noChangeAspect="1" noMove="1" noResize="1" noEditPoints="1" noAdjustHandles="1" noChangeArrowheads="1" noChangeShapeType="1" noTextEdit="1"/>
              </p:cNvSpPr>
              <p:nvPr/>
            </p:nvSpPr>
            <p:spPr>
              <a:xfrm>
                <a:off x="4861781" y="740105"/>
                <a:ext cx="2986480" cy="669094"/>
              </a:xfrm>
              <a:prstGeom prst="rect">
                <a:avLst/>
              </a:prstGeom>
              <a:blipFill>
                <a:blip r:embed="rId5"/>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8A693970-EC1B-402D-B8B0-707B9AA9391A}"/>
              </a:ext>
            </a:extLst>
          </p:cNvPr>
          <p:cNvSpPr txBox="1"/>
          <p:nvPr/>
        </p:nvSpPr>
        <p:spPr>
          <a:xfrm>
            <a:off x="3117164" y="5234057"/>
            <a:ext cx="7845519" cy="369332"/>
          </a:xfrm>
          <a:prstGeom prst="rect">
            <a:avLst/>
          </a:prstGeom>
          <a:noFill/>
        </p:spPr>
        <p:txBody>
          <a:bodyPr wrap="square" rtlCol="0">
            <a:spAutoFit/>
          </a:bodyPr>
          <a:lstStyle/>
          <a:p>
            <a:r>
              <a:rPr lang="en-US" dirty="0"/>
              <a:t>2. FLC (in conjunction with SPEP) ↑ sensitivity and can replace UPEP</a:t>
            </a:r>
          </a:p>
        </p:txBody>
      </p:sp>
      <p:sp>
        <p:nvSpPr>
          <p:cNvPr id="154" name="TextBox 153">
            <a:extLst>
              <a:ext uri="{FF2B5EF4-FFF2-40B4-BE49-F238E27FC236}">
                <a16:creationId xmlns:a16="http://schemas.microsoft.com/office/drawing/2014/main" id="{F47ED810-AA44-46BD-8CB4-31401BC14021}"/>
              </a:ext>
            </a:extLst>
          </p:cNvPr>
          <p:cNvSpPr txBox="1"/>
          <p:nvPr/>
        </p:nvSpPr>
        <p:spPr>
          <a:xfrm>
            <a:off x="3135098" y="4899475"/>
            <a:ext cx="7082093" cy="369332"/>
          </a:xfrm>
          <a:prstGeom prst="rect">
            <a:avLst/>
          </a:prstGeom>
          <a:noFill/>
        </p:spPr>
        <p:txBody>
          <a:bodyPr wrap="square" rtlCol="0">
            <a:spAutoFit/>
          </a:bodyPr>
          <a:lstStyle/>
          <a:p>
            <a:r>
              <a:rPr lang="en-US" dirty="0"/>
              <a:t>1. Up to 16% have “light chain” only disease</a:t>
            </a:r>
          </a:p>
        </p:txBody>
      </p:sp>
      <p:sp>
        <p:nvSpPr>
          <p:cNvPr id="65" name="Normal">
            <a:extLst>
              <a:ext uri="{FF2B5EF4-FFF2-40B4-BE49-F238E27FC236}">
                <a16:creationId xmlns:a16="http://schemas.microsoft.com/office/drawing/2014/main" id="{B5A914A3-D808-4BE4-A179-271522A1ED2D}"/>
              </a:ext>
            </a:extLst>
          </p:cNvPr>
          <p:cNvSpPr/>
          <p:nvPr/>
        </p:nvSpPr>
        <p:spPr>
          <a:xfrm>
            <a:off x="5171064" y="1593811"/>
            <a:ext cx="999806" cy="411480"/>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Normal</a:t>
            </a:r>
          </a:p>
        </p:txBody>
      </p:sp>
      <p:pic>
        <p:nvPicPr>
          <p:cNvPr id="66" name="Graphic 65" descr="Cursor with solid fill">
            <a:extLst>
              <a:ext uri="{FF2B5EF4-FFF2-40B4-BE49-F238E27FC236}">
                <a16:creationId xmlns:a16="http://schemas.microsoft.com/office/drawing/2014/main" id="{1AEBB9E5-89C4-4D13-9DFA-55225F30E73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27673" y="1870019"/>
            <a:ext cx="301752" cy="301752"/>
          </a:xfrm>
          <a:prstGeom prst="rect">
            <a:avLst/>
          </a:prstGeom>
        </p:spPr>
      </p:pic>
      <p:grpSp>
        <p:nvGrpSpPr>
          <p:cNvPr id="11" name="Group 10">
            <a:extLst>
              <a:ext uri="{FF2B5EF4-FFF2-40B4-BE49-F238E27FC236}">
                <a16:creationId xmlns:a16="http://schemas.microsoft.com/office/drawing/2014/main" id="{E34C1EE3-EA25-4A06-B74F-8038DC21CFBE}"/>
              </a:ext>
            </a:extLst>
          </p:cNvPr>
          <p:cNvGrpSpPr/>
          <p:nvPr/>
        </p:nvGrpSpPr>
        <p:grpSpPr>
          <a:xfrm>
            <a:off x="2507555" y="3014026"/>
            <a:ext cx="9058971" cy="589280"/>
            <a:chOff x="2936336" y="3218272"/>
            <a:chExt cx="8536637" cy="521074"/>
          </a:xfrm>
        </p:grpSpPr>
        <p:sp>
          <p:nvSpPr>
            <p:cNvPr id="69" name="TextBox 68">
              <a:extLst>
                <a:ext uri="{FF2B5EF4-FFF2-40B4-BE49-F238E27FC236}">
                  <a16:creationId xmlns:a16="http://schemas.microsoft.com/office/drawing/2014/main" id="{8B13F9EF-62C4-4D0E-B064-E93FCDD264AB}"/>
                </a:ext>
              </a:extLst>
            </p:cNvPr>
            <p:cNvSpPr txBox="1"/>
            <p:nvPr/>
          </p:nvSpPr>
          <p:spPr>
            <a:xfrm>
              <a:off x="2936336" y="3467193"/>
              <a:ext cx="759512" cy="272153"/>
            </a:xfrm>
            <a:prstGeom prst="rect">
              <a:avLst/>
            </a:prstGeom>
            <a:noFill/>
            <a:ln w="38100">
              <a:noFill/>
            </a:ln>
          </p:spPr>
          <p:txBody>
            <a:bodyPr wrap="square" rtlCol="0" anchor="b">
              <a:spAutoFit/>
            </a:bodyPr>
            <a:lstStyle/>
            <a:p>
              <a:pPr algn="ctr"/>
              <a:r>
                <a:rPr lang="en-US" sz="1400" dirty="0"/>
                <a:t>0.01</a:t>
              </a:r>
            </a:p>
          </p:txBody>
        </p:sp>
        <p:sp>
          <p:nvSpPr>
            <p:cNvPr id="70" name="TextBox 69">
              <a:extLst>
                <a:ext uri="{FF2B5EF4-FFF2-40B4-BE49-F238E27FC236}">
                  <a16:creationId xmlns:a16="http://schemas.microsoft.com/office/drawing/2014/main" id="{281DEA22-D5BF-483B-A7C4-E264163E0374}"/>
                </a:ext>
              </a:extLst>
            </p:cNvPr>
            <p:cNvSpPr txBox="1"/>
            <p:nvPr/>
          </p:nvSpPr>
          <p:spPr>
            <a:xfrm>
              <a:off x="4243449" y="3431569"/>
              <a:ext cx="759512" cy="307777"/>
            </a:xfrm>
            <a:prstGeom prst="rect">
              <a:avLst/>
            </a:prstGeom>
            <a:noFill/>
            <a:ln w="38100">
              <a:noFill/>
            </a:ln>
          </p:spPr>
          <p:txBody>
            <a:bodyPr wrap="square" rtlCol="0" anchor="b">
              <a:spAutoFit/>
            </a:bodyPr>
            <a:lstStyle/>
            <a:p>
              <a:pPr algn="ctr"/>
              <a:r>
                <a:rPr lang="en-US" sz="1400" dirty="0"/>
                <a:t>0.25</a:t>
              </a:r>
            </a:p>
          </p:txBody>
        </p:sp>
        <p:sp>
          <p:nvSpPr>
            <p:cNvPr id="71" name="TextBox 70">
              <a:extLst>
                <a:ext uri="{FF2B5EF4-FFF2-40B4-BE49-F238E27FC236}">
                  <a16:creationId xmlns:a16="http://schemas.microsoft.com/office/drawing/2014/main" id="{B2E6B87C-523A-4DB5-AF29-7831CBB77A91}"/>
                </a:ext>
              </a:extLst>
            </p:cNvPr>
            <p:cNvSpPr txBox="1"/>
            <p:nvPr/>
          </p:nvSpPr>
          <p:spPr>
            <a:xfrm>
              <a:off x="6834327" y="3431569"/>
              <a:ext cx="759512" cy="307777"/>
            </a:xfrm>
            <a:prstGeom prst="rect">
              <a:avLst/>
            </a:prstGeom>
            <a:noFill/>
            <a:ln w="38100">
              <a:noFill/>
            </a:ln>
          </p:spPr>
          <p:txBody>
            <a:bodyPr wrap="square" rtlCol="0" anchor="b">
              <a:spAutoFit/>
            </a:bodyPr>
            <a:lstStyle/>
            <a:p>
              <a:pPr algn="ctr"/>
              <a:r>
                <a:rPr lang="en-US" sz="1400" dirty="0"/>
                <a:t>1</a:t>
              </a:r>
            </a:p>
          </p:txBody>
        </p:sp>
        <p:sp>
          <p:nvSpPr>
            <p:cNvPr id="72" name="TextBox 71">
              <a:extLst>
                <a:ext uri="{FF2B5EF4-FFF2-40B4-BE49-F238E27FC236}">
                  <a16:creationId xmlns:a16="http://schemas.microsoft.com/office/drawing/2014/main" id="{51527713-026C-4F03-9C34-D25BB3B46D5A}"/>
                </a:ext>
              </a:extLst>
            </p:cNvPr>
            <p:cNvSpPr txBox="1"/>
            <p:nvPr/>
          </p:nvSpPr>
          <p:spPr>
            <a:xfrm>
              <a:off x="8121546" y="3431569"/>
              <a:ext cx="759512" cy="307777"/>
            </a:xfrm>
            <a:prstGeom prst="rect">
              <a:avLst/>
            </a:prstGeom>
            <a:noFill/>
            <a:ln w="38100">
              <a:noFill/>
            </a:ln>
          </p:spPr>
          <p:txBody>
            <a:bodyPr wrap="square" rtlCol="0" anchor="b">
              <a:spAutoFit/>
            </a:bodyPr>
            <a:lstStyle/>
            <a:p>
              <a:pPr algn="ctr"/>
              <a:r>
                <a:rPr lang="en-US" sz="1400" dirty="0"/>
                <a:t>3</a:t>
              </a:r>
            </a:p>
          </p:txBody>
        </p:sp>
        <p:sp>
          <p:nvSpPr>
            <p:cNvPr id="73" name="TextBox 72">
              <a:extLst>
                <a:ext uri="{FF2B5EF4-FFF2-40B4-BE49-F238E27FC236}">
                  <a16:creationId xmlns:a16="http://schemas.microsoft.com/office/drawing/2014/main" id="{832C5C0F-23C0-4A1D-9DB2-3BBCD8795FA6}"/>
                </a:ext>
              </a:extLst>
            </p:cNvPr>
            <p:cNvSpPr txBox="1"/>
            <p:nvPr/>
          </p:nvSpPr>
          <p:spPr>
            <a:xfrm>
              <a:off x="9447534" y="3431569"/>
              <a:ext cx="759512" cy="307777"/>
            </a:xfrm>
            <a:prstGeom prst="rect">
              <a:avLst/>
            </a:prstGeom>
            <a:noFill/>
            <a:ln w="38100">
              <a:noFill/>
            </a:ln>
          </p:spPr>
          <p:txBody>
            <a:bodyPr wrap="square" rtlCol="0" anchor="b">
              <a:spAutoFit/>
            </a:bodyPr>
            <a:lstStyle/>
            <a:p>
              <a:pPr algn="ctr"/>
              <a:r>
                <a:rPr lang="en-US" sz="1400" dirty="0"/>
                <a:t>5</a:t>
              </a:r>
            </a:p>
          </p:txBody>
        </p:sp>
        <p:sp>
          <p:nvSpPr>
            <p:cNvPr id="90" name="TextBox 89">
              <a:extLst>
                <a:ext uri="{FF2B5EF4-FFF2-40B4-BE49-F238E27FC236}">
                  <a16:creationId xmlns:a16="http://schemas.microsoft.com/office/drawing/2014/main" id="{49298668-F35A-416E-9DE3-AC5327F2886D}"/>
                </a:ext>
              </a:extLst>
            </p:cNvPr>
            <p:cNvSpPr txBox="1"/>
            <p:nvPr/>
          </p:nvSpPr>
          <p:spPr>
            <a:xfrm>
              <a:off x="5513466" y="3431569"/>
              <a:ext cx="759512" cy="307777"/>
            </a:xfrm>
            <a:prstGeom prst="rect">
              <a:avLst/>
            </a:prstGeom>
            <a:noFill/>
            <a:ln w="38100">
              <a:noFill/>
            </a:ln>
          </p:spPr>
          <p:txBody>
            <a:bodyPr wrap="square" rtlCol="0" anchor="b">
              <a:spAutoFit/>
            </a:bodyPr>
            <a:lstStyle/>
            <a:p>
              <a:pPr algn="ctr"/>
              <a:r>
                <a:rPr lang="en-US" sz="1400" dirty="0"/>
                <a:t>0.5</a:t>
              </a:r>
            </a:p>
          </p:txBody>
        </p:sp>
        <p:sp>
          <p:nvSpPr>
            <p:cNvPr id="94" name="TextBox 93">
              <a:extLst>
                <a:ext uri="{FF2B5EF4-FFF2-40B4-BE49-F238E27FC236}">
                  <a16:creationId xmlns:a16="http://schemas.microsoft.com/office/drawing/2014/main" id="{63C2294D-F410-4FD8-A97C-CF8937EC1F41}"/>
                </a:ext>
              </a:extLst>
            </p:cNvPr>
            <p:cNvSpPr txBox="1"/>
            <p:nvPr/>
          </p:nvSpPr>
          <p:spPr>
            <a:xfrm>
              <a:off x="10713461" y="3431569"/>
              <a:ext cx="759512" cy="307777"/>
            </a:xfrm>
            <a:prstGeom prst="rect">
              <a:avLst/>
            </a:prstGeom>
            <a:noFill/>
            <a:ln w="38100">
              <a:noFill/>
            </a:ln>
          </p:spPr>
          <p:txBody>
            <a:bodyPr wrap="square" rtlCol="0" anchor="b">
              <a:spAutoFit/>
            </a:bodyPr>
            <a:lstStyle/>
            <a:p>
              <a:pPr algn="ctr"/>
              <a:r>
                <a:rPr lang="en-US" sz="1400" dirty="0"/>
                <a:t>100</a:t>
              </a:r>
            </a:p>
          </p:txBody>
        </p:sp>
        <p:grpSp>
          <p:nvGrpSpPr>
            <p:cNvPr id="10" name="Group 9">
              <a:extLst>
                <a:ext uri="{FF2B5EF4-FFF2-40B4-BE49-F238E27FC236}">
                  <a16:creationId xmlns:a16="http://schemas.microsoft.com/office/drawing/2014/main" id="{9DD54D3E-455E-4CA1-96D7-13ABB775F6C1}"/>
                </a:ext>
              </a:extLst>
            </p:cNvPr>
            <p:cNvGrpSpPr/>
            <p:nvPr/>
          </p:nvGrpSpPr>
          <p:grpSpPr>
            <a:xfrm>
              <a:off x="3302329" y="3218272"/>
              <a:ext cx="7790888" cy="283018"/>
              <a:chOff x="3302329" y="3218272"/>
              <a:chExt cx="7790888" cy="283018"/>
            </a:xfrm>
          </p:grpSpPr>
          <p:cxnSp>
            <p:nvCxnSpPr>
              <p:cNvPr id="77" name="Straight Arrow Connector 76">
                <a:extLst>
                  <a:ext uri="{FF2B5EF4-FFF2-40B4-BE49-F238E27FC236}">
                    <a16:creationId xmlns:a16="http://schemas.microsoft.com/office/drawing/2014/main" id="{429FC182-4D88-47DA-A551-EF0B9386EDC6}"/>
                  </a:ext>
                </a:extLst>
              </p:cNvPr>
              <p:cNvCxnSpPr>
                <a:cxnSpLocks/>
              </p:cNvCxnSpPr>
              <p:nvPr/>
            </p:nvCxnSpPr>
            <p:spPr>
              <a:xfrm>
                <a:off x="3302329" y="3355295"/>
                <a:ext cx="7790888" cy="0"/>
              </a:xfrm>
              <a:prstGeom prst="straightConnector1">
                <a:avLst/>
              </a:prstGeom>
              <a:ln w="38100">
                <a:solidFill>
                  <a:schemeClr val="tx1"/>
                </a:solidFill>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78" name="Straight Connector 77">
                <a:extLst>
                  <a:ext uri="{FF2B5EF4-FFF2-40B4-BE49-F238E27FC236}">
                    <a16:creationId xmlns:a16="http://schemas.microsoft.com/office/drawing/2014/main" id="{031B6A58-5DB3-4E2A-A260-B38AF7A3583E}"/>
                  </a:ext>
                </a:extLst>
              </p:cNvPr>
              <p:cNvCxnSpPr>
                <a:cxnSpLocks/>
              </p:cNvCxnSpPr>
              <p:nvPr/>
            </p:nvCxnSpPr>
            <p:spPr>
              <a:xfrm>
                <a:off x="720737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79" name="Straight Connector 78">
                <a:extLst>
                  <a:ext uri="{FF2B5EF4-FFF2-40B4-BE49-F238E27FC236}">
                    <a16:creationId xmlns:a16="http://schemas.microsoft.com/office/drawing/2014/main" id="{E45E0AD5-F9F5-4115-A40E-424A7AD18F32}"/>
                  </a:ext>
                </a:extLst>
              </p:cNvPr>
              <p:cNvCxnSpPr>
                <a:cxnSpLocks/>
              </p:cNvCxnSpPr>
              <p:nvPr/>
            </p:nvCxnSpPr>
            <p:spPr>
              <a:xfrm>
                <a:off x="785501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0" name="Straight Connector 79">
                <a:extLst>
                  <a:ext uri="{FF2B5EF4-FFF2-40B4-BE49-F238E27FC236}">
                    <a16:creationId xmlns:a16="http://schemas.microsoft.com/office/drawing/2014/main" id="{DB08B66A-E839-4FD6-90D9-2B24F4922647}"/>
                  </a:ext>
                </a:extLst>
              </p:cNvPr>
              <p:cNvCxnSpPr>
                <a:cxnSpLocks/>
              </p:cNvCxnSpPr>
              <p:nvPr/>
            </p:nvCxnSpPr>
            <p:spPr>
              <a:xfrm>
                <a:off x="1044557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1" name="Straight Connector 80">
                <a:extLst>
                  <a:ext uri="{FF2B5EF4-FFF2-40B4-BE49-F238E27FC236}">
                    <a16:creationId xmlns:a16="http://schemas.microsoft.com/office/drawing/2014/main" id="{D6A9FDB2-D75B-494E-867E-75C8EAAC2001}"/>
                  </a:ext>
                </a:extLst>
              </p:cNvPr>
              <p:cNvCxnSpPr>
                <a:cxnSpLocks/>
              </p:cNvCxnSpPr>
              <p:nvPr/>
            </p:nvCxnSpPr>
            <p:spPr>
              <a:xfrm>
                <a:off x="850265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2" name="Straight Connector 81">
                <a:extLst>
                  <a:ext uri="{FF2B5EF4-FFF2-40B4-BE49-F238E27FC236}">
                    <a16:creationId xmlns:a16="http://schemas.microsoft.com/office/drawing/2014/main" id="{95BC0BBB-5ACB-4C03-9A67-54F77DB0D048}"/>
                  </a:ext>
                </a:extLst>
              </p:cNvPr>
              <p:cNvCxnSpPr>
                <a:cxnSpLocks/>
              </p:cNvCxnSpPr>
              <p:nvPr/>
            </p:nvCxnSpPr>
            <p:spPr>
              <a:xfrm>
                <a:off x="915029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3" name="Straight Connector 82">
                <a:extLst>
                  <a:ext uri="{FF2B5EF4-FFF2-40B4-BE49-F238E27FC236}">
                    <a16:creationId xmlns:a16="http://schemas.microsoft.com/office/drawing/2014/main" id="{EA10F538-CF2E-4258-902A-7B5030094529}"/>
                  </a:ext>
                </a:extLst>
              </p:cNvPr>
              <p:cNvCxnSpPr>
                <a:cxnSpLocks/>
              </p:cNvCxnSpPr>
              <p:nvPr/>
            </p:nvCxnSpPr>
            <p:spPr>
              <a:xfrm>
                <a:off x="979793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4" name="Straight Connector 83">
                <a:extLst>
                  <a:ext uri="{FF2B5EF4-FFF2-40B4-BE49-F238E27FC236}">
                    <a16:creationId xmlns:a16="http://schemas.microsoft.com/office/drawing/2014/main" id="{4B27EBA8-6EAC-442F-ACCF-ABB496371CAA}"/>
                  </a:ext>
                </a:extLst>
              </p:cNvPr>
              <p:cNvCxnSpPr>
                <a:cxnSpLocks/>
              </p:cNvCxnSpPr>
              <p:nvPr/>
            </p:nvCxnSpPr>
            <p:spPr>
              <a:xfrm>
                <a:off x="655973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5" name="Straight Connector 84">
                <a:extLst>
                  <a:ext uri="{FF2B5EF4-FFF2-40B4-BE49-F238E27FC236}">
                    <a16:creationId xmlns:a16="http://schemas.microsoft.com/office/drawing/2014/main" id="{65ED6302-D932-4A20-836E-1CAE0261E8A6}"/>
                  </a:ext>
                </a:extLst>
              </p:cNvPr>
              <p:cNvCxnSpPr>
                <a:cxnSpLocks/>
              </p:cNvCxnSpPr>
              <p:nvPr/>
            </p:nvCxnSpPr>
            <p:spPr>
              <a:xfrm>
                <a:off x="396917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6" name="Straight Connector 85">
                <a:extLst>
                  <a:ext uri="{FF2B5EF4-FFF2-40B4-BE49-F238E27FC236}">
                    <a16:creationId xmlns:a16="http://schemas.microsoft.com/office/drawing/2014/main" id="{F9968242-B198-4949-95C2-26C0D84D97F4}"/>
                  </a:ext>
                </a:extLst>
              </p:cNvPr>
              <p:cNvCxnSpPr>
                <a:cxnSpLocks/>
              </p:cNvCxnSpPr>
              <p:nvPr/>
            </p:nvCxnSpPr>
            <p:spPr>
              <a:xfrm>
                <a:off x="461681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7" name="Straight Connector 86">
                <a:extLst>
                  <a:ext uri="{FF2B5EF4-FFF2-40B4-BE49-F238E27FC236}">
                    <a16:creationId xmlns:a16="http://schemas.microsoft.com/office/drawing/2014/main" id="{D7559341-243F-40FE-BA0B-2B310B52AC9D}"/>
                  </a:ext>
                </a:extLst>
              </p:cNvPr>
              <p:cNvCxnSpPr>
                <a:cxnSpLocks/>
              </p:cNvCxnSpPr>
              <p:nvPr/>
            </p:nvCxnSpPr>
            <p:spPr>
              <a:xfrm>
                <a:off x="526445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88" name="Straight Connector 87">
                <a:extLst>
                  <a:ext uri="{FF2B5EF4-FFF2-40B4-BE49-F238E27FC236}">
                    <a16:creationId xmlns:a16="http://schemas.microsoft.com/office/drawing/2014/main" id="{8F8DF00C-3A3A-45FE-BBD5-6CA9112B2D0D}"/>
                  </a:ext>
                </a:extLst>
              </p:cNvPr>
              <p:cNvCxnSpPr>
                <a:cxnSpLocks/>
              </p:cNvCxnSpPr>
              <p:nvPr/>
            </p:nvCxnSpPr>
            <p:spPr>
              <a:xfrm>
                <a:off x="5912092" y="321827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grpSp>
      </p:grpSp>
      <p:sp>
        <p:nvSpPr>
          <p:cNvPr id="13" name="Rectangle 12">
            <a:extLst>
              <a:ext uri="{FF2B5EF4-FFF2-40B4-BE49-F238E27FC236}">
                <a16:creationId xmlns:a16="http://schemas.microsoft.com/office/drawing/2014/main" id="{F9C9991F-7736-4111-907F-7C527D667446}"/>
              </a:ext>
            </a:extLst>
          </p:cNvPr>
          <p:cNvSpPr/>
          <p:nvPr/>
        </p:nvSpPr>
        <p:spPr>
          <a:xfrm>
            <a:off x="4421898" y="2640700"/>
            <a:ext cx="2920937" cy="3200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Normal </a:t>
            </a:r>
          </a:p>
        </p:txBody>
      </p:sp>
      <p:sp>
        <p:nvSpPr>
          <p:cNvPr id="106" name="K disease">
            <a:extLst>
              <a:ext uri="{FF2B5EF4-FFF2-40B4-BE49-F238E27FC236}">
                <a16:creationId xmlns:a16="http://schemas.microsoft.com/office/drawing/2014/main" id="{B8A5A30F-AA9E-4F3E-83AF-2D40FAF9783E}"/>
              </a:ext>
            </a:extLst>
          </p:cNvPr>
          <p:cNvSpPr/>
          <p:nvPr/>
        </p:nvSpPr>
        <p:spPr>
          <a:xfrm>
            <a:off x="6492375" y="1593811"/>
            <a:ext cx="1082308" cy="411480"/>
          </a:xfrm>
          <a:prstGeom prst="roundRect">
            <a:avLst/>
          </a:prstGeom>
          <a:solidFill>
            <a:schemeClr val="bg1"/>
          </a:solidFill>
          <a:ln w="38100">
            <a:solidFill>
              <a:srgbClr val="E65CB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tx1"/>
                </a:solidFill>
              </a:rPr>
              <a:t>κ</a:t>
            </a:r>
            <a:r>
              <a:rPr lang="en-US" dirty="0">
                <a:solidFill>
                  <a:schemeClr val="tx1"/>
                </a:solidFill>
              </a:rPr>
              <a:t> disease</a:t>
            </a:r>
          </a:p>
        </p:txBody>
      </p:sp>
      <p:pic>
        <p:nvPicPr>
          <p:cNvPr id="107" name="Graphic 106" descr="Cursor with solid fill">
            <a:extLst>
              <a:ext uri="{FF2B5EF4-FFF2-40B4-BE49-F238E27FC236}">
                <a16:creationId xmlns:a16="http://schemas.microsoft.com/office/drawing/2014/main" id="{29B544B9-4F3B-4951-B6C1-5F0F09C894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32190" y="1870019"/>
            <a:ext cx="301752" cy="301752"/>
          </a:xfrm>
          <a:prstGeom prst="rect">
            <a:avLst/>
          </a:prstGeom>
        </p:spPr>
      </p:pic>
      <p:sp>
        <p:nvSpPr>
          <p:cNvPr id="14" name="Kappa arrow">
            <a:extLst>
              <a:ext uri="{FF2B5EF4-FFF2-40B4-BE49-F238E27FC236}">
                <a16:creationId xmlns:a16="http://schemas.microsoft.com/office/drawing/2014/main" id="{7BDC7B5C-0E8B-44E5-A806-BFE14F0E8C33}"/>
              </a:ext>
            </a:extLst>
          </p:cNvPr>
          <p:cNvSpPr/>
          <p:nvPr/>
        </p:nvSpPr>
        <p:spPr>
          <a:xfrm>
            <a:off x="7342835" y="2640700"/>
            <a:ext cx="3656699" cy="320040"/>
          </a:xfrm>
          <a:prstGeom prst="rightArrow">
            <a:avLst>
              <a:gd name="adj1" fmla="val 100000"/>
              <a:gd name="adj2" fmla="val 38095"/>
            </a:avLst>
          </a:prstGeom>
          <a:solidFill>
            <a:srgbClr val="E65C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κ</a:t>
            </a:r>
            <a:r>
              <a:rPr lang="en-US" dirty="0">
                <a:solidFill>
                  <a:schemeClr val="bg1"/>
                </a:solidFill>
              </a:rPr>
              <a:t> disease</a:t>
            </a:r>
          </a:p>
        </p:txBody>
      </p:sp>
      <p:cxnSp>
        <p:nvCxnSpPr>
          <p:cNvPr id="16" name="Straight Arrow Connector 15">
            <a:extLst>
              <a:ext uri="{FF2B5EF4-FFF2-40B4-BE49-F238E27FC236}">
                <a16:creationId xmlns:a16="http://schemas.microsoft.com/office/drawing/2014/main" id="{79B97175-8507-4C44-8E2A-70D55CF9FBCB}"/>
              </a:ext>
            </a:extLst>
          </p:cNvPr>
          <p:cNvCxnSpPr>
            <a:cxnSpLocks/>
          </p:cNvCxnSpPr>
          <p:nvPr/>
        </p:nvCxnSpPr>
        <p:spPr>
          <a:xfrm flipV="1">
            <a:off x="7068612" y="765017"/>
            <a:ext cx="0" cy="293268"/>
          </a:xfrm>
          <a:prstGeom prst="straightConnector1">
            <a:avLst/>
          </a:prstGeom>
          <a:ln w="38100">
            <a:solidFill>
              <a:srgbClr val="E65CB6"/>
            </a:solidFill>
            <a:tailEnd type="triangle"/>
          </a:ln>
        </p:spPr>
        <p:style>
          <a:lnRef idx="2">
            <a:schemeClr val="dk1"/>
          </a:lnRef>
          <a:fillRef idx="0">
            <a:schemeClr val="dk1"/>
          </a:fillRef>
          <a:effectRef idx="1">
            <a:schemeClr val="dk1"/>
          </a:effectRef>
          <a:fontRef idx="minor">
            <a:schemeClr val="tx1"/>
          </a:fontRef>
        </p:style>
      </p:cxnSp>
      <p:sp>
        <p:nvSpPr>
          <p:cNvPr id="140" name="L disease">
            <a:extLst>
              <a:ext uri="{FF2B5EF4-FFF2-40B4-BE49-F238E27FC236}">
                <a16:creationId xmlns:a16="http://schemas.microsoft.com/office/drawing/2014/main" id="{A4A549E1-E144-48F9-924F-A632D152A4F9}"/>
              </a:ext>
            </a:extLst>
          </p:cNvPr>
          <p:cNvSpPr/>
          <p:nvPr/>
        </p:nvSpPr>
        <p:spPr>
          <a:xfrm>
            <a:off x="7896188" y="1593811"/>
            <a:ext cx="1091391" cy="411480"/>
          </a:xfrm>
          <a:prstGeom prst="roundRect">
            <a:avLst/>
          </a:prstGeom>
          <a:solidFill>
            <a:schemeClr val="bg1"/>
          </a:solidFill>
          <a:ln w="38100">
            <a:solidFill>
              <a:srgbClr val="CF21B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tx1"/>
                </a:solidFill>
              </a:rPr>
              <a:t>λ</a:t>
            </a:r>
            <a:r>
              <a:rPr lang="en-US" dirty="0">
                <a:solidFill>
                  <a:schemeClr val="tx1"/>
                </a:solidFill>
              </a:rPr>
              <a:t> disease</a:t>
            </a:r>
          </a:p>
        </p:txBody>
      </p:sp>
      <p:pic>
        <p:nvPicPr>
          <p:cNvPr id="141" name="Graphic 140" descr="Cursor with solid fill">
            <a:extLst>
              <a:ext uri="{FF2B5EF4-FFF2-40B4-BE49-F238E27FC236}">
                <a16:creationId xmlns:a16="http://schemas.microsoft.com/office/drawing/2014/main" id="{EB304FA5-AE85-4E12-BC28-F67FF61F30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854207" y="1870019"/>
            <a:ext cx="301752" cy="301752"/>
          </a:xfrm>
          <a:prstGeom prst="rect">
            <a:avLst/>
          </a:prstGeom>
        </p:spPr>
      </p:pic>
      <p:sp>
        <p:nvSpPr>
          <p:cNvPr id="142" name="Kappa arrow">
            <a:extLst>
              <a:ext uri="{FF2B5EF4-FFF2-40B4-BE49-F238E27FC236}">
                <a16:creationId xmlns:a16="http://schemas.microsoft.com/office/drawing/2014/main" id="{41158F02-9B22-4F27-9C54-1810A31C0B0D}"/>
              </a:ext>
            </a:extLst>
          </p:cNvPr>
          <p:cNvSpPr/>
          <p:nvPr/>
        </p:nvSpPr>
        <p:spPr>
          <a:xfrm flipH="1">
            <a:off x="2913696" y="2640700"/>
            <a:ext cx="1508202" cy="320040"/>
          </a:xfrm>
          <a:prstGeom prst="rightArrow">
            <a:avLst>
              <a:gd name="adj1" fmla="val 100000"/>
              <a:gd name="adj2" fmla="val 33740"/>
            </a:avLst>
          </a:prstGeom>
          <a:solidFill>
            <a:srgbClr val="CF21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λ</a:t>
            </a:r>
            <a:r>
              <a:rPr lang="en-US" dirty="0">
                <a:solidFill>
                  <a:schemeClr val="bg1"/>
                </a:solidFill>
              </a:rPr>
              <a:t> disease</a:t>
            </a:r>
          </a:p>
        </p:txBody>
      </p:sp>
      <p:cxnSp>
        <p:nvCxnSpPr>
          <p:cNvPr id="143" name="Straight Arrow Connector 142">
            <a:extLst>
              <a:ext uri="{FF2B5EF4-FFF2-40B4-BE49-F238E27FC236}">
                <a16:creationId xmlns:a16="http://schemas.microsoft.com/office/drawing/2014/main" id="{16C134E5-B482-4DC7-8271-1F11D3AFB06A}"/>
              </a:ext>
            </a:extLst>
          </p:cNvPr>
          <p:cNvCxnSpPr>
            <a:cxnSpLocks/>
          </p:cNvCxnSpPr>
          <p:nvPr/>
        </p:nvCxnSpPr>
        <p:spPr>
          <a:xfrm flipV="1">
            <a:off x="7068612" y="1107791"/>
            <a:ext cx="0" cy="293268"/>
          </a:xfrm>
          <a:prstGeom prst="straightConnector1">
            <a:avLst/>
          </a:prstGeom>
          <a:ln w="38100">
            <a:solidFill>
              <a:srgbClr val="CF21B1"/>
            </a:solidFill>
            <a:tailEnd type="triangle"/>
          </a:ln>
        </p:spPr>
        <p:style>
          <a:lnRef idx="2">
            <a:schemeClr val="dk1"/>
          </a:lnRef>
          <a:fillRef idx="0">
            <a:schemeClr val="dk1"/>
          </a:fillRef>
          <a:effectRef idx="1">
            <a:schemeClr val="dk1"/>
          </a:effectRef>
          <a:fontRef idx="minor">
            <a:schemeClr val="tx1"/>
          </a:fontRef>
        </p:style>
      </p:cxnSp>
      <p:sp>
        <p:nvSpPr>
          <p:cNvPr id="144" name="TextBox 143">
            <a:extLst>
              <a:ext uri="{FF2B5EF4-FFF2-40B4-BE49-F238E27FC236}">
                <a16:creationId xmlns:a16="http://schemas.microsoft.com/office/drawing/2014/main" id="{C48540AD-0B0B-41B1-B04C-57D01B4366F9}"/>
              </a:ext>
            </a:extLst>
          </p:cNvPr>
          <p:cNvSpPr txBox="1"/>
          <p:nvPr/>
        </p:nvSpPr>
        <p:spPr>
          <a:xfrm>
            <a:off x="7174780" y="892905"/>
            <a:ext cx="3940237" cy="369332"/>
          </a:xfrm>
          <a:prstGeom prst="rect">
            <a:avLst/>
          </a:prstGeom>
          <a:noFill/>
        </p:spPr>
        <p:txBody>
          <a:bodyPr wrap="square" rtlCol="0">
            <a:spAutoFit/>
          </a:bodyPr>
          <a:lstStyle/>
          <a:p>
            <a:r>
              <a:rPr lang="en-US" i="1" dirty="0"/>
              <a:t>Normally produced in ~ equal amounts</a:t>
            </a:r>
          </a:p>
        </p:txBody>
      </p:sp>
      <p:sp>
        <p:nvSpPr>
          <p:cNvPr id="145" name="ESRD">
            <a:extLst>
              <a:ext uri="{FF2B5EF4-FFF2-40B4-BE49-F238E27FC236}">
                <a16:creationId xmlns:a16="http://schemas.microsoft.com/office/drawing/2014/main" id="{DF4DB3FC-A774-4835-A32B-56A3B81A96E4}"/>
              </a:ext>
            </a:extLst>
          </p:cNvPr>
          <p:cNvSpPr/>
          <p:nvPr/>
        </p:nvSpPr>
        <p:spPr>
          <a:xfrm>
            <a:off x="9303329" y="1593811"/>
            <a:ext cx="906573" cy="411480"/>
          </a:xfrm>
          <a:prstGeom prst="roundRect">
            <a:avLst/>
          </a:prstGeom>
          <a:solidFill>
            <a:schemeClr val="bg1"/>
          </a:solidFill>
          <a:ln w="38100">
            <a:solidFill>
              <a:schemeClr val="bg2">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ESRD</a:t>
            </a:r>
          </a:p>
        </p:txBody>
      </p:sp>
      <p:pic>
        <p:nvPicPr>
          <p:cNvPr id="155" name="Graphic 154" descr="Cursor with solid fill">
            <a:extLst>
              <a:ext uri="{FF2B5EF4-FFF2-40B4-BE49-F238E27FC236}">
                <a16:creationId xmlns:a16="http://schemas.microsoft.com/office/drawing/2014/main" id="{07390CD5-2CBD-4ECC-B809-7E7A2D2830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72642" y="1870019"/>
            <a:ext cx="301752" cy="301752"/>
          </a:xfrm>
          <a:prstGeom prst="rect">
            <a:avLst/>
          </a:prstGeom>
        </p:spPr>
      </p:pic>
      <p:grpSp>
        <p:nvGrpSpPr>
          <p:cNvPr id="18" name="Group 17">
            <a:extLst>
              <a:ext uri="{FF2B5EF4-FFF2-40B4-BE49-F238E27FC236}">
                <a16:creationId xmlns:a16="http://schemas.microsoft.com/office/drawing/2014/main" id="{9E488412-6E2A-476C-BD28-7E0C1749F3CB}"/>
              </a:ext>
            </a:extLst>
          </p:cNvPr>
          <p:cNvGrpSpPr/>
          <p:nvPr/>
        </p:nvGrpSpPr>
        <p:grpSpPr>
          <a:xfrm>
            <a:off x="2880540" y="3563480"/>
            <a:ext cx="7903207" cy="320040"/>
            <a:chOff x="2724657" y="3797267"/>
            <a:chExt cx="8342425" cy="320040"/>
          </a:xfrm>
        </p:grpSpPr>
        <p:sp>
          <p:nvSpPr>
            <p:cNvPr id="156" name="Rectangle 155">
              <a:extLst>
                <a:ext uri="{FF2B5EF4-FFF2-40B4-BE49-F238E27FC236}">
                  <a16:creationId xmlns:a16="http://schemas.microsoft.com/office/drawing/2014/main" id="{E75690CC-B37C-44C3-94C9-D3F98141E578}"/>
                </a:ext>
              </a:extLst>
            </p:cNvPr>
            <p:cNvSpPr/>
            <p:nvPr/>
          </p:nvSpPr>
          <p:spPr>
            <a:xfrm>
              <a:off x="4982040" y="3797267"/>
              <a:ext cx="3626260" cy="32004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ESRD </a:t>
              </a:r>
            </a:p>
          </p:txBody>
        </p:sp>
        <p:sp>
          <p:nvSpPr>
            <p:cNvPr id="157" name="Kappa arrow">
              <a:extLst>
                <a:ext uri="{FF2B5EF4-FFF2-40B4-BE49-F238E27FC236}">
                  <a16:creationId xmlns:a16="http://schemas.microsoft.com/office/drawing/2014/main" id="{0E57A445-AB8D-4D80-9D30-D41D36F6839F}"/>
                </a:ext>
              </a:extLst>
            </p:cNvPr>
            <p:cNvSpPr/>
            <p:nvPr/>
          </p:nvSpPr>
          <p:spPr>
            <a:xfrm>
              <a:off x="9318894" y="3797267"/>
              <a:ext cx="1748188" cy="320040"/>
            </a:xfrm>
            <a:prstGeom prst="rightArrow">
              <a:avLst>
                <a:gd name="adj1" fmla="val 100000"/>
                <a:gd name="adj2" fmla="val 5000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κ</a:t>
              </a:r>
              <a:r>
                <a:rPr lang="en-US" dirty="0">
                  <a:solidFill>
                    <a:schemeClr val="bg1"/>
                  </a:solidFill>
                </a:rPr>
                <a:t> disease</a:t>
              </a:r>
            </a:p>
          </p:txBody>
        </p:sp>
        <p:sp>
          <p:nvSpPr>
            <p:cNvPr id="158" name="Kappa arrow">
              <a:extLst>
                <a:ext uri="{FF2B5EF4-FFF2-40B4-BE49-F238E27FC236}">
                  <a16:creationId xmlns:a16="http://schemas.microsoft.com/office/drawing/2014/main" id="{6D714F38-8305-4036-B22E-5D066F816600}"/>
                </a:ext>
              </a:extLst>
            </p:cNvPr>
            <p:cNvSpPr/>
            <p:nvPr/>
          </p:nvSpPr>
          <p:spPr>
            <a:xfrm flipH="1">
              <a:off x="2724657" y="3797267"/>
              <a:ext cx="1587733" cy="320040"/>
            </a:xfrm>
            <a:prstGeom prst="rightArrow">
              <a:avLst>
                <a:gd name="adj1" fmla="val 100000"/>
                <a:gd name="adj2" fmla="val 5000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bg1"/>
                  </a:solidFill>
                </a:rPr>
                <a:t>λ</a:t>
              </a:r>
              <a:r>
                <a:rPr lang="en-US" dirty="0">
                  <a:solidFill>
                    <a:schemeClr val="bg1"/>
                  </a:solidFill>
                </a:rPr>
                <a:t> disease</a:t>
              </a:r>
            </a:p>
          </p:txBody>
        </p:sp>
      </p:grpSp>
      <p:grpSp>
        <p:nvGrpSpPr>
          <p:cNvPr id="19" name="Group 18">
            <a:extLst>
              <a:ext uri="{FF2B5EF4-FFF2-40B4-BE49-F238E27FC236}">
                <a16:creationId xmlns:a16="http://schemas.microsoft.com/office/drawing/2014/main" id="{62453007-C7F2-4042-B5A9-177484CF1051}"/>
              </a:ext>
            </a:extLst>
          </p:cNvPr>
          <p:cNvGrpSpPr/>
          <p:nvPr/>
        </p:nvGrpSpPr>
        <p:grpSpPr>
          <a:xfrm>
            <a:off x="7068612" y="769137"/>
            <a:ext cx="0" cy="636042"/>
            <a:chOff x="7923592" y="959656"/>
            <a:chExt cx="0" cy="636042"/>
          </a:xfrm>
        </p:grpSpPr>
        <p:cxnSp>
          <p:nvCxnSpPr>
            <p:cNvPr id="159" name="Straight Arrow Connector 158">
              <a:extLst>
                <a:ext uri="{FF2B5EF4-FFF2-40B4-BE49-F238E27FC236}">
                  <a16:creationId xmlns:a16="http://schemas.microsoft.com/office/drawing/2014/main" id="{27EE9F22-0119-4FFA-959B-00929FD9E302}"/>
                </a:ext>
              </a:extLst>
            </p:cNvPr>
            <p:cNvCxnSpPr>
              <a:cxnSpLocks/>
            </p:cNvCxnSpPr>
            <p:nvPr/>
          </p:nvCxnSpPr>
          <p:spPr>
            <a:xfrm flipV="1">
              <a:off x="7923592" y="959656"/>
              <a:ext cx="0" cy="293268"/>
            </a:xfrm>
            <a:prstGeom prst="straightConnector1">
              <a:avLst/>
            </a:prstGeom>
            <a:ln w="38100">
              <a:solidFill>
                <a:schemeClr val="accent3"/>
              </a:solidFill>
              <a:tailEnd type="triangle"/>
            </a:ln>
          </p:spPr>
          <p:style>
            <a:lnRef idx="2">
              <a:schemeClr val="dk1"/>
            </a:lnRef>
            <a:fillRef idx="0">
              <a:schemeClr val="dk1"/>
            </a:fillRef>
            <a:effectRef idx="1">
              <a:schemeClr val="dk1"/>
            </a:effectRef>
            <a:fontRef idx="minor">
              <a:schemeClr val="tx1"/>
            </a:fontRef>
          </p:style>
        </p:cxnSp>
        <p:cxnSp>
          <p:nvCxnSpPr>
            <p:cNvPr id="160" name="Straight Arrow Connector 159">
              <a:extLst>
                <a:ext uri="{FF2B5EF4-FFF2-40B4-BE49-F238E27FC236}">
                  <a16:creationId xmlns:a16="http://schemas.microsoft.com/office/drawing/2014/main" id="{CE875EF5-4F88-4EA5-9E2F-37C7AD9FE875}"/>
                </a:ext>
              </a:extLst>
            </p:cNvPr>
            <p:cNvCxnSpPr>
              <a:cxnSpLocks/>
            </p:cNvCxnSpPr>
            <p:nvPr/>
          </p:nvCxnSpPr>
          <p:spPr>
            <a:xfrm flipV="1">
              <a:off x="7923592" y="1302430"/>
              <a:ext cx="0" cy="293268"/>
            </a:xfrm>
            <a:prstGeom prst="straightConnector1">
              <a:avLst/>
            </a:prstGeom>
            <a:ln w="38100">
              <a:solidFill>
                <a:schemeClr val="accent3"/>
              </a:solidFill>
              <a:tailEnd type="triangle"/>
            </a:ln>
          </p:spPr>
          <p:style>
            <a:lnRef idx="2">
              <a:schemeClr val="dk1"/>
            </a:lnRef>
            <a:fillRef idx="0">
              <a:schemeClr val="dk1"/>
            </a:fillRef>
            <a:effectRef idx="1">
              <a:schemeClr val="dk1"/>
            </a:effectRef>
            <a:fontRef idx="minor">
              <a:schemeClr val="tx1"/>
            </a:fontRef>
          </p:style>
        </p:cxnSp>
      </p:grpSp>
      <p:sp>
        <p:nvSpPr>
          <p:cNvPr id="161" name="TextBox 160">
            <a:extLst>
              <a:ext uri="{FF2B5EF4-FFF2-40B4-BE49-F238E27FC236}">
                <a16:creationId xmlns:a16="http://schemas.microsoft.com/office/drawing/2014/main" id="{8A2BD707-FC74-4164-AFF5-2725E04AABB4}"/>
              </a:ext>
            </a:extLst>
          </p:cNvPr>
          <p:cNvSpPr txBox="1"/>
          <p:nvPr/>
        </p:nvSpPr>
        <p:spPr>
          <a:xfrm>
            <a:off x="7142264" y="893653"/>
            <a:ext cx="3940237" cy="369332"/>
          </a:xfrm>
          <a:prstGeom prst="rect">
            <a:avLst/>
          </a:prstGeom>
          <a:noFill/>
        </p:spPr>
        <p:txBody>
          <a:bodyPr wrap="square" rtlCol="0">
            <a:spAutoFit/>
          </a:bodyPr>
          <a:lstStyle/>
          <a:p>
            <a:r>
              <a:rPr lang="en-US" i="1" dirty="0"/>
              <a:t>↓clearance of all light chains</a:t>
            </a:r>
          </a:p>
        </p:txBody>
      </p:sp>
      <p:sp>
        <p:nvSpPr>
          <p:cNvPr id="162" name="Sensitivity">
            <a:extLst>
              <a:ext uri="{FF2B5EF4-FFF2-40B4-BE49-F238E27FC236}">
                <a16:creationId xmlns:a16="http://schemas.microsoft.com/office/drawing/2014/main" id="{65D2EF6E-633F-43BC-9307-5FA395473CE8}"/>
              </a:ext>
            </a:extLst>
          </p:cNvPr>
          <p:cNvSpPr/>
          <p:nvPr/>
        </p:nvSpPr>
        <p:spPr>
          <a:xfrm>
            <a:off x="5613470" y="4295913"/>
            <a:ext cx="2377440" cy="45720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Why obtain FLC?</a:t>
            </a:r>
          </a:p>
        </p:txBody>
      </p:sp>
      <p:sp>
        <p:nvSpPr>
          <p:cNvPr id="20" name="TextBox 19">
            <a:extLst>
              <a:ext uri="{FF2B5EF4-FFF2-40B4-BE49-F238E27FC236}">
                <a16:creationId xmlns:a16="http://schemas.microsoft.com/office/drawing/2014/main" id="{93881E6B-9812-497B-86CD-B75FAB3FF82B}"/>
              </a:ext>
            </a:extLst>
          </p:cNvPr>
          <p:cNvSpPr txBox="1"/>
          <p:nvPr/>
        </p:nvSpPr>
        <p:spPr>
          <a:xfrm>
            <a:off x="5184293" y="2026219"/>
            <a:ext cx="999806" cy="338554"/>
          </a:xfrm>
          <a:prstGeom prst="rect">
            <a:avLst/>
          </a:prstGeom>
          <a:noFill/>
        </p:spPr>
        <p:txBody>
          <a:bodyPr wrap="square" rtlCol="0">
            <a:spAutoFit/>
          </a:bodyPr>
          <a:lstStyle/>
          <a:p>
            <a:pPr algn="ctr"/>
            <a:r>
              <a:rPr lang="en-US" sz="1600" dirty="0"/>
              <a:t>0.26-1.65</a:t>
            </a:r>
          </a:p>
        </p:txBody>
      </p:sp>
      <p:sp>
        <p:nvSpPr>
          <p:cNvPr id="169" name="TextBox 168">
            <a:extLst>
              <a:ext uri="{FF2B5EF4-FFF2-40B4-BE49-F238E27FC236}">
                <a16:creationId xmlns:a16="http://schemas.microsoft.com/office/drawing/2014/main" id="{E6C88824-7D75-4DC0-A3D5-81F9F6F62992}"/>
              </a:ext>
            </a:extLst>
          </p:cNvPr>
          <p:cNvSpPr txBox="1"/>
          <p:nvPr/>
        </p:nvSpPr>
        <p:spPr>
          <a:xfrm>
            <a:off x="6484448" y="2026219"/>
            <a:ext cx="1041427" cy="338554"/>
          </a:xfrm>
          <a:prstGeom prst="rect">
            <a:avLst/>
          </a:prstGeom>
          <a:noFill/>
        </p:spPr>
        <p:txBody>
          <a:bodyPr wrap="square" rtlCol="0">
            <a:spAutoFit/>
          </a:bodyPr>
          <a:lstStyle/>
          <a:p>
            <a:pPr algn="ctr"/>
            <a:r>
              <a:rPr lang="en-US" sz="1600" dirty="0"/>
              <a:t>&gt;1.65</a:t>
            </a:r>
          </a:p>
        </p:txBody>
      </p:sp>
      <p:sp>
        <p:nvSpPr>
          <p:cNvPr id="170" name="TextBox 169">
            <a:extLst>
              <a:ext uri="{FF2B5EF4-FFF2-40B4-BE49-F238E27FC236}">
                <a16:creationId xmlns:a16="http://schemas.microsoft.com/office/drawing/2014/main" id="{67574C59-28F3-412F-AFAD-DF70E9515C97}"/>
              </a:ext>
            </a:extLst>
          </p:cNvPr>
          <p:cNvSpPr txBox="1"/>
          <p:nvPr/>
        </p:nvSpPr>
        <p:spPr>
          <a:xfrm>
            <a:off x="7991852" y="2026219"/>
            <a:ext cx="940762" cy="338554"/>
          </a:xfrm>
          <a:prstGeom prst="rect">
            <a:avLst/>
          </a:prstGeom>
          <a:noFill/>
        </p:spPr>
        <p:txBody>
          <a:bodyPr wrap="square" rtlCol="0">
            <a:spAutoFit/>
          </a:bodyPr>
          <a:lstStyle/>
          <a:p>
            <a:pPr algn="ctr"/>
            <a:r>
              <a:rPr lang="en-US" sz="1600" dirty="0"/>
              <a:t>&lt;0.26</a:t>
            </a:r>
          </a:p>
        </p:txBody>
      </p:sp>
      <p:sp>
        <p:nvSpPr>
          <p:cNvPr id="171" name="TextBox 170">
            <a:extLst>
              <a:ext uri="{FF2B5EF4-FFF2-40B4-BE49-F238E27FC236}">
                <a16:creationId xmlns:a16="http://schemas.microsoft.com/office/drawing/2014/main" id="{E5A8CD8F-595D-426A-9BCA-1F19E9DE6FDD}"/>
              </a:ext>
            </a:extLst>
          </p:cNvPr>
          <p:cNvSpPr txBox="1"/>
          <p:nvPr/>
        </p:nvSpPr>
        <p:spPr>
          <a:xfrm>
            <a:off x="9341576" y="2026219"/>
            <a:ext cx="906573" cy="338554"/>
          </a:xfrm>
          <a:prstGeom prst="rect">
            <a:avLst/>
          </a:prstGeom>
          <a:noFill/>
        </p:spPr>
        <p:txBody>
          <a:bodyPr wrap="square" rtlCol="0">
            <a:spAutoFit/>
          </a:bodyPr>
          <a:lstStyle/>
          <a:p>
            <a:pPr algn="ctr"/>
            <a:r>
              <a:rPr lang="en-US" sz="1600" dirty="0"/>
              <a:t>0.33-3.0</a:t>
            </a:r>
          </a:p>
        </p:txBody>
      </p:sp>
      <p:sp>
        <p:nvSpPr>
          <p:cNvPr id="172" name="MM">
            <a:extLst>
              <a:ext uri="{FF2B5EF4-FFF2-40B4-BE49-F238E27FC236}">
                <a16:creationId xmlns:a16="http://schemas.microsoft.com/office/drawing/2014/main" id="{5B3899C9-F607-4293-909A-AA7292BDBE7E}"/>
              </a:ext>
            </a:extLst>
          </p:cNvPr>
          <p:cNvSpPr/>
          <p:nvPr/>
        </p:nvSpPr>
        <p:spPr>
          <a:xfrm>
            <a:off x="10537162" y="1593811"/>
            <a:ext cx="1059842"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MM</a:t>
            </a:r>
          </a:p>
        </p:txBody>
      </p:sp>
      <p:pic>
        <p:nvPicPr>
          <p:cNvPr id="173" name="Graphic 172" descr="Cursor with solid fill">
            <a:extLst>
              <a:ext uri="{FF2B5EF4-FFF2-40B4-BE49-F238E27FC236}">
                <a16:creationId xmlns:a16="http://schemas.microsoft.com/office/drawing/2014/main" id="{698D17CE-B98E-464B-9476-826299B887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56709" y="1870019"/>
            <a:ext cx="301752" cy="301752"/>
          </a:xfrm>
          <a:prstGeom prst="rect">
            <a:avLst/>
          </a:prstGeom>
        </p:spPr>
      </p:pic>
      <p:sp>
        <p:nvSpPr>
          <p:cNvPr id="139" name="TextBox 138">
            <a:extLst>
              <a:ext uri="{FF2B5EF4-FFF2-40B4-BE49-F238E27FC236}">
                <a16:creationId xmlns:a16="http://schemas.microsoft.com/office/drawing/2014/main" id="{29CC133B-C88F-4587-8676-A4A371E1020F}"/>
              </a:ext>
            </a:extLst>
          </p:cNvPr>
          <p:cNvSpPr txBox="1"/>
          <p:nvPr/>
        </p:nvSpPr>
        <p:spPr>
          <a:xfrm>
            <a:off x="10422861" y="2026219"/>
            <a:ext cx="1395388" cy="338554"/>
          </a:xfrm>
          <a:prstGeom prst="rect">
            <a:avLst/>
          </a:prstGeom>
          <a:noFill/>
        </p:spPr>
        <p:txBody>
          <a:bodyPr wrap="square" rtlCol="0">
            <a:spAutoFit/>
          </a:bodyPr>
          <a:lstStyle/>
          <a:p>
            <a:pPr algn="ctr"/>
            <a:r>
              <a:rPr lang="en-US" sz="1600" dirty="0"/>
              <a:t>&gt;100 or &lt;0.01</a:t>
            </a:r>
          </a:p>
        </p:txBody>
      </p:sp>
      <p:grpSp>
        <p:nvGrpSpPr>
          <p:cNvPr id="3" name="Group 2">
            <a:extLst>
              <a:ext uri="{FF2B5EF4-FFF2-40B4-BE49-F238E27FC236}">
                <a16:creationId xmlns:a16="http://schemas.microsoft.com/office/drawing/2014/main" id="{3649C22B-773B-4B6C-8102-9C71115698C4}"/>
              </a:ext>
            </a:extLst>
          </p:cNvPr>
          <p:cNvGrpSpPr/>
          <p:nvPr/>
        </p:nvGrpSpPr>
        <p:grpSpPr>
          <a:xfrm>
            <a:off x="2230061" y="3032945"/>
            <a:ext cx="9705821" cy="320040"/>
            <a:chOff x="2274841" y="3237191"/>
            <a:chExt cx="9705821" cy="320040"/>
          </a:xfrm>
        </p:grpSpPr>
        <p:sp>
          <p:nvSpPr>
            <p:cNvPr id="21" name="Arrow: Right 20">
              <a:extLst>
                <a:ext uri="{FF2B5EF4-FFF2-40B4-BE49-F238E27FC236}">
                  <a16:creationId xmlns:a16="http://schemas.microsoft.com/office/drawing/2014/main" id="{6D598A0F-3A03-4CB9-BA74-ACCFD8E22C11}"/>
                </a:ext>
              </a:extLst>
            </p:cNvPr>
            <p:cNvSpPr/>
            <p:nvPr/>
          </p:nvSpPr>
          <p:spPr>
            <a:xfrm>
              <a:off x="11094537" y="3237191"/>
              <a:ext cx="886125" cy="320040"/>
            </a:xfrm>
            <a:prstGeom prst="rightArrow">
              <a:avLst>
                <a:gd name="adj1" fmla="val 100000"/>
                <a:gd name="adj2" fmla="val 30159"/>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MM</a:t>
              </a:r>
            </a:p>
          </p:txBody>
        </p:sp>
        <p:sp>
          <p:nvSpPr>
            <p:cNvPr id="164" name="Arrow: Right 163">
              <a:extLst>
                <a:ext uri="{FF2B5EF4-FFF2-40B4-BE49-F238E27FC236}">
                  <a16:creationId xmlns:a16="http://schemas.microsoft.com/office/drawing/2014/main" id="{90D86E98-BDA8-46EA-9B55-CB8FD8B30BC2}"/>
                </a:ext>
              </a:extLst>
            </p:cNvPr>
            <p:cNvSpPr/>
            <p:nvPr/>
          </p:nvSpPr>
          <p:spPr>
            <a:xfrm flipH="1">
              <a:off x="2274841" y="3237191"/>
              <a:ext cx="847665" cy="320040"/>
            </a:xfrm>
            <a:prstGeom prst="rightArrow">
              <a:avLst>
                <a:gd name="adj1" fmla="val 100000"/>
                <a:gd name="adj2" fmla="val 30157"/>
              </a:avLst>
            </a:prstGeom>
            <a:solidFill>
              <a:schemeClr val="tx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MM</a:t>
              </a:r>
            </a:p>
          </p:txBody>
        </p:sp>
      </p:grpSp>
      <p:cxnSp>
        <p:nvCxnSpPr>
          <p:cNvPr id="4" name="Connector: Elbow 12">
            <a:extLst>
              <a:ext uri="{FF2B5EF4-FFF2-40B4-BE49-F238E27FC236}">
                <a16:creationId xmlns:a16="http://schemas.microsoft.com/office/drawing/2014/main" id="{3350B18C-EFD7-B93A-C02A-B3CAE97C4F68}"/>
              </a:ext>
            </a:extLst>
          </p:cNvPr>
          <p:cNvCxnSpPr>
            <a:cxnSpLocks/>
          </p:cNvCxnSpPr>
          <p:nvPr/>
        </p:nvCxnSpPr>
        <p:spPr>
          <a:xfrm rot="16200000" flipH="1">
            <a:off x="204101" y="1310599"/>
            <a:ext cx="373644" cy="269602"/>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5" name="Connector: Elbow 30">
            <a:extLst>
              <a:ext uri="{FF2B5EF4-FFF2-40B4-BE49-F238E27FC236}">
                <a16:creationId xmlns:a16="http://schemas.microsoft.com/office/drawing/2014/main" id="{2A56231D-332B-596A-0B30-819E78D2AC4A}"/>
              </a:ext>
            </a:extLst>
          </p:cNvPr>
          <p:cNvCxnSpPr>
            <a:cxnSpLocks/>
          </p:cNvCxnSpPr>
          <p:nvPr/>
        </p:nvCxnSpPr>
        <p:spPr>
          <a:xfrm rot="16200000" flipH="1">
            <a:off x="-115124" y="1595160"/>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6" name="Obj 1">
            <a:hlinkClick r:id="rId8" action="ppaction://hlinksldjump"/>
            <a:extLst>
              <a:ext uri="{FF2B5EF4-FFF2-40B4-BE49-F238E27FC236}">
                <a16:creationId xmlns:a16="http://schemas.microsoft.com/office/drawing/2014/main" id="{87AFFD76-7486-2B4B-1049-CBE5EE2565CB}"/>
              </a:ext>
            </a:extLst>
          </p:cNvPr>
          <p:cNvSpPr/>
          <p:nvPr/>
        </p:nvSpPr>
        <p:spPr>
          <a:xfrm>
            <a:off x="183491"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7" name="Graphic 6" descr="Cursor with solid fill">
            <a:extLst>
              <a:ext uri="{FF2B5EF4-FFF2-40B4-BE49-F238E27FC236}">
                <a16:creationId xmlns:a16="http://schemas.microsoft.com/office/drawing/2014/main" id="{43BD3590-B568-8BDC-D60E-0F2F4065FD1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488321"/>
            <a:ext cx="301752" cy="301752"/>
          </a:xfrm>
          <a:prstGeom prst="rect">
            <a:avLst/>
          </a:prstGeom>
        </p:spPr>
      </p:pic>
      <p:sp>
        <p:nvSpPr>
          <p:cNvPr id="8" name="Obj 1">
            <a:hlinkClick r:id="rId9" action="ppaction://hlinksldjump"/>
            <a:extLst>
              <a:ext uri="{FF2B5EF4-FFF2-40B4-BE49-F238E27FC236}">
                <a16:creationId xmlns:a16="http://schemas.microsoft.com/office/drawing/2014/main" id="{3A5AC305-2255-25FE-97B0-F8E5A17CC190}"/>
              </a:ext>
            </a:extLst>
          </p:cNvPr>
          <p:cNvSpPr/>
          <p:nvPr/>
        </p:nvSpPr>
        <p:spPr>
          <a:xfrm>
            <a:off x="183491" y="820317"/>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Testing</a:t>
            </a:r>
          </a:p>
        </p:txBody>
      </p:sp>
      <p:sp>
        <p:nvSpPr>
          <p:cNvPr id="15" name="Obj 1">
            <a:hlinkClick r:id="rId10" action="ppaction://hlinksldjump"/>
            <a:extLst>
              <a:ext uri="{FF2B5EF4-FFF2-40B4-BE49-F238E27FC236}">
                <a16:creationId xmlns:a16="http://schemas.microsoft.com/office/drawing/2014/main" id="{D5B78F0F-791A-A5BB-1E9C-C9BDEA450E47}"/>
              </a:ext>
            </a:extLst>
          </p:cNvPr>
          <p:cNvSpPr/>
          <p:nvPr/>
        </p:nvSpPr>
        <p:spPr>
          <a:xfrm>
            <a:off x="538043" y="1424103"/>
            <a:ext cx="1199928" cy="411480"/>
          </a:xfrm>
          <a:prstGeom prst="roundRect">
            <a:avLst/>
          </a:prstGeom>
          <a:solidFill>
            <a:schemeClr val="bg1"/>
          </a:solidFill>
          <a:ln w="38100"/>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tx1"/>
                </a:solidFill>
              </a:rPr>
              <a:t>SPEP</a:t>
            </a:r>
          </a:p>
        </p:txBody>
      </p:sp>
      <p:pic>
        <p:nvPicPr>
          <p:cNvPr id="17" name="Graphic 16" descr="Cursor with solid fill">
            <a:hlinkClick r:id="rId9" action="ppaction://hlinksldjump"/>
            <a:extLst>
              <a:ext uri="{FF2B5EF4-FFF2-40B4-BE49-F238E27FC236}">
                <a16:creationId xmlns:a16="http://schemas.microsoft.com/office/drawing/2014/main" id="{E07383DF-732B-3695-9ADE-252CEC24F8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1700127"/>
            <a:ext cx="301752" cy="301752"/>
          </a:xfrm>
          <a:prstGeom prst="rect">
            <a:avLst/>
          </a:prstGeom>
        </p:spPr>
      </p:pic>
      <p:sp>
        <p:nvSpPr>
          <p:cNvPr id="22" name="Obj 1">
            <a:hlinkClick r:id="rId11" action="ppaction://hlinksldjump"/>
            <a:extLst>
              <a:ext uri="{FF2B5EF4-FFF2-40B4-BE49-F238E27FC236}">
                <a16:creationId xmlns:a16="http://schemas.microsoft.com/office/drawing/2014/main" id="{ACECE429-6A53-9278-5C3D-E329D70B2EF6}"/>
              </a:ext>
            </a:extLst>
          </p:cNvPr>
          <p:cNvSpPr/>
          <p:nvPr/>
        </p:nvSpPr>
        <p:spPr>
          <a:xfrm>
            <a:off x="525723" y="2027889"/>
            <a:ext cx="1212247"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UPEP</a:t>
            </a:r>
          </a:p>
        </p:txBody>
      </p:sp>
      <p:pic>
        <p:nvPicPr>
          <p:cNvPr id="23" name="Graphic 22" descr="Cursor with solid fill">
            <a:extLst>
              <a:ext uri="{FF2B5EF4-FFF2-40B4-BE49-F238E27FC236}">
                <a16:creationId xmlns:a16="http://schemas.microsoft.com/office/drawing/2014/main" id="{7C7398DA-24F2-FF36-970C-845C9EB5E32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2306030"/>
            <a:ext cx="301752" cy="301752"/>
          </a:xfrm>
          <a:prstGeom prst="rect">
            <a:avLst/>
          </a:prstGeom>
        </p:spPr>
      </p:pic>
      <p:sp>
        <p:nvSpPr>
          <p:cNvPr id="24" name="Obj 1">
            <a:hlinkClick r:id="rId12" action="ppaction://hlinksldjump"/>
            <a:extLst>
              <a:ext uri="{FF2B5EF4-FFF2-40B4-BE49-F238E27FC236}">
                <a16:creationId xmlns:a16="http://schemas.microsoft.com/office/drawing/2014/main" id="{6F569472-21A6-92CF-E5D5-4E9BCE7527CA}"/>
              </a:ext>
            </a:extLst>
          </p:cNvPr>
          <p:cNvSpPr/>
          <p:nvPr/>
        </p:nvSpPr>
        <p:spPr>
          <a:xfrm>
            <a:off x="525723" y="2631675"/>
            <a:ext cx="1212248"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FLC</a:t>
            </a:r>
          </a:p>
        </p:txBody>
      </p:sp>
      <p:sp>
        <p:nvSpPr>
          <p:cNvPr id="26" name="Obj 1">
            <a:hlinkClick r:id="rId13" action="ppaction://hlinksldjump"/>
            <a:extLst>
              <a:ext uri="{FF2B5EF4-FFF2-40B4-BE49-F238E27FC236}">
                <a16:creationId xmlns:a16="http://schemas.microsoft.com/office/drawing/2014/main" id="{EAA1F82C-1CF6-45FA-FEC6-069740DC199A}"/>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27" name="Graphic 26" descr="Cursor with solid fill">
            <a:extLst>
              <a:ext uri="{FF2B5EF4-FFF2-40B4-BE49-F238E27FC236}">
                <a16:creationId xmlns:a16="http://schemas.microsoft.com/office/drawing/2014/main" id="{328C625F-0437-CD8E-EF0A-5E2DC754B4F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3517836"/>
            <a:ext cx="301752" cy="301752"/>
          </a:xfrm>
          <a:prstGeom prst="rect">
            <a:avLst/>
          </a:prstGeom>
        </p:spPr>
      </p:pic>
      <p:sp>
        <p:nvSpPr>
          <p:cNvPr id="28" name="Obj 1">
            <a:hlinkClick r:id="rId14" action="ppaction://hlinksldjump"/>
            <a:extLst>
              <a:ext uri="{FF2B5EF4-FFF2-40B4-BE49-F238E27FC236}">
                <a16:creationId xmlns:a16="http://schemas.microsoft.com/office/drawing/2014/main" id="{BCFE2F07-E1D5-EC2B-D88D-79A3DF0310EC}"/>
              </a:ext>
            </a:extLst>
          </p:cNvPr>
          <p:cNvSpPr/>
          <p:nvPr/>
        </p:nvSpPr>
        <p:spPr>
          <a:xfrm>
            <a:off x="183491" y="383984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9" name="Graphic 28" descr="Cursor with solid fill">
            <a:extLst>
              <a:ext uri="{FF2B5EF4-FFF2-40B4-BE49-F238E27FC236}">
                <a16:creationId xmlns:a16="http://schemas.microsoft.com/office/drawing/2014/main" id="{94AE6F33-2E85-7DE2-B1F9-01AE3E5488E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4110676"/>
            <a:ext cx="301752" cy="301752"/>
          </a:xfrm>
          <a:prstGeom prst="rect">
            <a:avLst/>
          </a:prstGeom>
        </p:spPr>
      </p:pic>
      <p:sp>
        <p:nvSpPr>
          <p:cNvPr id="30" name="Obj 1">
            <a:hlinkClick r:id="rId15" action="ppaction://hlinksldjump"/>
            <a:extLst>
              <a:ext uri="{FF2B5EF4-FFF2-40B4-BE49-F238E27FC236}">
                <a16:creationId xmlns:a16="http://schemas.microsoft.com/office/drawing/2014/main" id="{93A7174C-BDBD-6A9A-8A8C-DC152A3D4B45}"/>
              </a:ext>
            </a:extLst>
          </p:cNvPr>
          <p:cNvSpPr/>
          <p:nvPr/>
        </p:nvSpPr>
        <p:spPr>
          <a:xfrm>
            <a:off x="183491" y="444363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31" name="Graphic 30" descr="Cursor with solid fill">
            <a:extLst>
              <a:ext uri="{FF2B5EF4-FFF2-40B4-BE49-F238E27FC236}">
                <a16:creationId xmlns:a16="http://schemas.microsoft.com/office/drawing/2014/main" id="{9674788A-2507-A9F3-9747-15818054CA8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91971" y="4729639"/>
            <a:ext cx="301752" cy="301752"/>
          </a:xfrm>
          <a:prstGeom prst="rect">
            <a:avLst/>
          </a:prstGeom>
        </p:spPr>
      </p:pic>
      <p:cxnSp>
        <p:nvCxnSpPr>
          <p:cNvPr id="32" name="Connector: Elbow 30">
            <a:extLst>
              <a:ext uri="{FF2B5EF4-FFF2-40B4-BE49-F238E27FC236}">
                <a16:creationId xmlns:a16="http://schemas.microsoft.com/office/drawing/2014/main" id="{BCF7DA59-95B1-DBCF-A36E-D7BACCA44FFB}"/>
              </a:ext>
            </a:extLst>
          </p:cNvPr>
          <p:cNvCxnSpPr>
            <a:cxnSpLocks/>
          </p:cNvCxnSpPr>
          <p:nvPr/>
        </p:nvCxnSpPr>
        <p:spPr>
          <a:xfrm rot="16200000" flipH="1">
            <a:off x="-115126" y="2196568"/>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3" name="Obj 1">
            <a:hlinkClick r:id="rId16" action="ppaction://hlinksldjump"/>
            <a:extLst>
              <a:ext uri="{FF2B5EF4-FFF2-40B4-BE49-F238E27FC236}">
                <a16:creationId xmlns:a16="http://schemas.microsoft.com/office/drawing/2014/main" id="{40FEB2FD-5D33-E317-CC52-F94B2433D498}"/>
              </a:ext>
            </a:extLst>
          </p:cNvPr>
          <p:cNvSpPr/>
          <p:nvPr/>
        </p:nvSpPr>
        <p:spPr>
          <a:xfrm>
            <a:off x="169115" y="50462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34" name="Graphic 33" descr="Cursor with solid fill">
            <a:extLst>
              <a:ext uri="{FF2B5EF4-FFF2-40B4-BE49-F238E27FC236}">
                <a16:creationId xmlns:a16="http://schemas.microsoft.com/office/drawing/2014/main" id="{51ECCA43-63F1-DE2A-2791-05A2D1D3827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77595" y="5332271"/>
            <a:ext cx="301752" cy="301752"/>
          </a:xfrm>
          <a:prstGeom prst="rect">
            <a:avLst/>
          </a:prstGeom>
        </p:spPr>
      </p:pic>
      <p:sp>
        <p:nvSpPr>
          <p:cNvPr id="35" name="TextBox 34">
            <a:extLst>
              <a:ext uri="{FF2B5EF4-FFF2-40B4-BE49-F238E27FC236}">
                <a16:creationId xmlns:a16="http://schemas.microsoft.com/office/drawing/2014/main" id="{BB74AE5E-6CDC-B02E-15CA-FB42F3BDF1B9}"/>
              </a:ext>
            </a:extLst>
          </p:cNvPr>
          <p:cNvSpPr txBox="1"/>
          <p:nvPr/>
        </p:nvSpPr>
        <p:spPr>
          <a:xfrm>
            <a:off x="3557916" y="77401"/>
            <a:ext cx="6009817" cy="523220"/>
          </a:xfrm>
          <a:prstGeom prst="rect">
            <a:avLst/>
          </a:prstGeom>
          <a:noFill/>
        </p:spPr>
        <p:txBody>
          <a:bodyPr wrap="square" rtlCol="0">
            <a:spAutoFit/>
          </a:bodyPr>
          <a:lstStyle/>
          <a:p>
            <a:pPr algn="ctr"/>
            <a:r>
              <a:rPr lang="en-US" sz="2800" b="1" dirty="0"/>
              <a:t>Testing – Free Light Chains</a:t>
            </a:r>
          </a:p>
        </p:txBody>
      </p:sp>
      <p:grpSp>
        <p:nvGrpSpPr>
          <p:cNvPr id="63" name="Group 62">
            <a:extLst>
              <a:ext uri="{FF2B5EF4-FFF2-40B4-BE49-F238E27FC236}">
                <a16:creationId xmlns:a16="http://schemas.microsoft.com/office/drawing/2014/main" id="{5A8371AD-172F-2CF1-239F-2D71571104CF}"/>
              </a:ext>
            </a:extLst>
          </p:cNvPr>
          <p:cNvGrpSpPr/>
          <p:nvPr/>
        </p:nvGrpSpPr>
        <p:grpSpPr>
          <a:xfrm>
            <a:off x="7068612" y="762684"/>
            <a:ext cx="123823" cy="637732"/>
            <a:chOff x="7068612" y="762684"/>
            <a:chExt cx="123823" cy="637732"/>
          </a:xfrm>
        </p:grpSpPr>
        <p:grpSp>
          <p:nvGrpSpPr>
            <p:cNvPr id="39" name="Group 38">
              <a:extLst>
                <a:ext uri="{FF2B5EF4-FFF2-40B4-BE49-F238E27FC236}">
                  <a16:creationId xmlns:a16="http://schemas.microsoft.com/office/drawing/2014/main" id="{19E913BD-9ADB-8CAF-78E8-3502B476863E}"/>
                </a:ext>
              </a:extLst>
            </p:cNvPr>
            <p:cNvGrpSpPr/>
            <p:nvPr/>
          </p:nvGrpSpPr>
          <p:grpSpPr>
            <a:xfrm>
              <a:off x="7068612" y="762684"/>
              <a:ext cx="0" cy="636042"/>
              <a:chOff x="7923592" y="959656"/>
              <a:chExt cx="0" cy="636042"/>
            </a:xfrm>
          </p:grpSpPr>
          <p:cxnSp>
            <p:nvCxnSpPr>
              <p:cNvPr id="40" name="Straight Arrow Connector 39">
                <a:extLst>
                  <a:ext uri="{FF2B5EF4-FFF2-40B4-BE49-F238E27FC236}">
                    <a16:creationId xmlns:a16="http://schemas.microsoft.com/office/drawing/2014/main" id="{CEFE0B5C-ABEF-98EE-C237-1512BB835AF6}"/>
                  </a:ext>
                </a:extLst>
              </p:cNvPr>
              <p:cNvCxnSpPr>
                <a:cxnSpLocks/>
              </p:cNvCxnSpPr>
              <p:nvPr/>
            </p:nvCxnSpPr>
            <p:spPr>
              <a:xfrm flipV="1">
                <a:off x="7923592" y="959656"/>
                <a:ext cx="0" cy="293268"/>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1F6EC597-37E6-EFCA-D6E1-3CA8A6EB0AEF}"/>
                  </a:ext>
                </a:extLst>
              </p:cNvPr>
              <p:cNvCxnSpPr>
                <a:cxnSpLocks/>
              </p:cNvCxnSpPr>
              <p:nvPr/>
            </p:nvCxnSpPr>
            <p:spPr>
              <a:xfrm flipV="1">
                <a:off x="7923592" y="1302430"/>
                <a:ext cx="0" cy="293268"/>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grpSp>
        <p:grpSp>
          <p:nvGrpSpPr>
            <p:cNvPr id="42" name="Group 41">
              <a:extLst>
                <a:ext uri="{FF2B5EF4-FFF2-40B4-BE49-F238E27FC236}">
                  <a16:creationId xmlns:a16="http://schemas.microsoft.com/office/drawing/2014/main" id="{EC0BE194-AC07-F21E-FDA4-EE8DDF98495B}"/>
                </a:ext>
              </a:extLst>
            </p:cNvPr>
            <p:cNvGrpSpPr/>
            <p:nvPr/>
          </p:nvGrpSpPr>
          <p:grpSpPr>
            <a:xfrm>
              <a:off x="7192435" y="764374"/>
              <a:ext cx="0" cy="636042"/>
              <a:chOff x="7923592" y="954893"/>
              <a:chExt cx="0" cy="636042"/>
            </a:xfrm>
          </p:grpSpPr>
          <p:cxnSp>
            <p:nvCxnSpPr>
              <p:cNvPr id="50" name="Straight Arrow Connector 49">
                <a:extLst>
                  <a:ext uri="{FF2B5EF4-FFF2-40B4-BE49-F238E27FC236}">
                    <a16:creationId xmlns:a16="http://schemas.microsoft.com/office/drawing/2014/main" id="{DA2258AE-15C9-8606-8756-D366FEA94F12}"/>
                  </a:ext>
                </a:extLst>
              </p:cNvPr>
              <p:cNvCxnSpPr>
                <a:cxnSpLocks/>
              </p:cNvCxnSpPr>
              <p:nvPr/>
            </p:nvCxnSpPr>
            <p:spPr>
              <a:xfrm flipV="1">
                <a:off x="7923592" y="954893"/>
                <a:ext cx="0" cy="293268"/>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62" name="Straight Arrow Connector 61">
                <a:extLst>
                  <a:ext uri="{FF2B5EF4-FFF2-40B4-BE49-F238E27FC236}">
                    <a16:creationId xmlns:a16="http://schemas.microsoft.com/office/drawing/2014/main" id="{63F18A82-0312-39C2-D3F8-EEC6BD629D63}"/>
                  </a:ext>
                </a:extLst>
              </p:cNvPr>
              <p:cNvCxnSpPr>
                <a:cxnSpLocks/>
              </p:cNvCxnSpPr>
              <p:nvPr/>
            </p:nvCxnSpPr>
            <p:spPr>
              <a:xfrm flipV="1">
                <a:off x="7923592" y="1297667"/>
                <a:ext cx="0" cy="293268"/>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grpSp>
      </p:grpSp>
      <p:pic>
        <p:nvPicPr>
          <p:cNvPr id="101" name="Graphic 100" descr="Cursor with solid fill">
            <a:extLst>
              <a:ext uri="{FF2B5EF4-FFF2-40B4-BE49-F238E27FC236}">
                <a16:creationId xmlns:a16="http://schemas.microsoft.com/office/drawing/2014/main" id="{B4CF34F4-27E5-40D2-B19E-D161EAD2E7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851236" y="4626249"/>
            <a:ext cx="301752" cy="301752"/>
          </a:xfrm>
          <a:prstGeom prst="rect">
            <a:avLst/>
          </a:prstGeom>
        </p:spPr>
      </p:pic>
      <p:grpSp>
        <p:nvGrpSpPr>
          <p:cNvPr id="200" name="Group 199">
            <a:extLst>
              <a:ext uri="{FF2B5EF4-FFF2-40B4-BE49-F238E27FC236}">
                <a16:creationId xmlns:a16="http://schemas.microsoft.com/office/drawing/2014/main" id="{B83F934B-76E9-CC3E-9CA4-D294FC67570F}"/>
              </a:ext>
            </a:extLst>
          </p:cNvPr>
          <p:cNvGrpSpPr/>
          <p:nvPr/>
        </p:nvGrpSpPr>
        <p:grpSpPr>
          <a:xfrm>
            <a:off x="2525841" y="5581746"/>
            <a:ext cx="8414242" cy="998919"/>
            <a:chOff x="2525841" y="5581746"/>
            <a:chExt cx="8414242" cy="998919"/>
          </a:xfrm>
        </p:grpSpPr>
        <p:sp>
          <p:nvSpPr>
            <p:cNvPr id="109" name="TextBox 108">
              <a:extLst>
                <a:ext uri="{FF2B5EF4-FFF2-40B4-BE49-F238E27FC236}">
                  <a16:creationId xmlns:a16="http://schemas.microsoft.com/office/drawing/2014/main" id="{BDB336C1-9422-4CDF-A19C-C6FD650A5F81}"/>
                </a:ext>
              </a:extLst>
            </p:cNvPr>
            <p:cNvSpPr txBox="1"/>
            <p:nvPr/>
          </p:nvSpPr>
          <p:spPr>
            <a:xfrm>
              <a:off x="9237533" y="5645393"/>
              <a:ext cx="1626735" cy="313932"/>
            </a:xfrm>
            <a:prstGeom prst="rect">
              <a:avLst/>
            </a:prstGeom>
            <a:noFill/>
          </p:spPr>
          <p:txBody>
            <a:bodyPr wrap="square" rtlCol="0">
              <a:spAutoFit/>
            </a:bodyPr>
            <a:lstStyle/>
            <a:p>
              <a:pPr algn="ctr">
                <a:lnSpc>
                  <a:spcPts val="1600"/>
                </a:lnSpc>
              </a:pPr>
              <a:r>
                <a:rPr lang="en-US" dirty="0">
                  <a:solidFill>
                    <a:srgbClr val="FF0000"/>
                  </a:solidFill>
                </a:rPr>
                <a:t>SPEP + FLC</a:t>
              </a:r>
            </a:p>
          </p:txBody>
        </p:sp>
        <p:grpSp>
          <p:nvGrpSpPr>
            <p:cNvPr id="110" name="Group 109">
              <a:extLst>
                <a:ext uri="{FF2B5EF4-FFF2-40B4-BE49-F238E27FC236}">
                  <a16:creationId xmlns:a16="http://schemas.microsoft.com/office/drawing/2014/main" id="{CC894F74-7F09-4982-A38C-89B3384A3015}"/>
                </a:ext>
              </a:extLst>
            </p:cNvPr>
            <p:cNvGrpSpPr/>
            <p:nvPr/>
          </p:nvGrpSpPr>
          <p:grpSpPr>
            <a:xfrm>
              <a:off x="2525841" y="5870175"/>
              <a:ext cx="8414242" cy="644779"/>
              <a:chOff x="2536153" y="5402633"/>
              <a:chExt cx="8414242" cy="644779"/>
            </a:xfrm>
          </p:grpSpPr>
          <p:grpSp>
            <p:nvGrpSpPr>
              <p:cNvPr id="111" name="Group 110">
                <a:extLst>
                  <a:ext uri="{FF2B5EF4-FFF2-40B4-BE49-F238E27FC236}">
                    <a16:creationId xmlns:a16="http://schemas.microsoft.com/office/drawing/2014/main" id="{BD84F068-5D43-4C69-BE53-996D01601E91}"/>
                  </a:ext>
                </a:extLst>
              </p:cNvPr>
              <p:cNvGrpSpPr/>
              <p:nvPr/>
            </p:nvGrpSpPr>
            <p:grpSpPr>
              <a:xfrm>
                <a:off x="2536153" y="5402633"/>
                <a:ext cx="8414242" cy="380084"/>
                <a:chOff x="2172747" y="6233747"/>
                <a:chExt cx="8414242" cy="380084"/>
              </a:xfrm>
            </p:grpSpPr>
            <p:sp>
              <p:nvSpPr>
                <p:cNvPr id="117" name="TextBox 116">
                  <a:extLst>
                    <a:ext uri="{FF2B5EF4-FFF2-40B4-BE49-F238E27FC236}">
                      <a16:creationId xmlns:a16="http://schemas.microsoft.com/office/drawing/2014/main" id="{BA3358E8-E866-48AA-B951-9F8023160D02}"/>
                    </a:ext>
                  </a:extLst>
                </p:cNvPr>
                <p:cNvSpPr txBox="1"/>
                <p:nvPr/>
              </p:nvSpPr>
              <p:spPr>
                <a:xfrm>
                  <a:off x="2172747" y="6233747"/>
                  <a:ext cx="1130300" cy="369332"/>
                </a:xfrm>
                <a:prstGeom prst="rect">
                  <a:avLst/>
                </a:prstGeom>
                <a:noFill/>
                <a:ln w="38100">
                  <a:noFill/>
                </a:ln>
              </p:spPr>
              <p:txBody>
                <a:bodyPr wrap="square" rtlCol="0" anchor="b">
                  <a:spAutoFit/>
                </a:bodyPr>
                <a:lstStyle/>
                <a:p>
                  <a:pPr algn="ctr"/>
                  <a:r>
                    <a:rPr lang="en-US" dirty="0"/>
                    <a:t>Sensitivity</a:t>
                  </a:r>
                </a:p>
              </p:txBody>
            </p:sp>
            <p:sp>
              <p:nvSpPr>
                <p:cNvPr id="118" name="TextBox 117">
                  <a:extLst>
                    <a:ext uri="{FF2B5EF4-FFF2-40B4-BE49-F238E27FC236}">
                      <a16:creationId xmlns:a16="http://schemas.microsoft.com/office/drawing/2014/main" id="{B4B64B2A-E5C0-4B24-8355-3818CBD42D78}"/>
                    </a:ext>
                  </a:extLst>
                </p:cNvPr>
                <p:cNvSpPr txBox="1"/>
                <p:nvPr/>
              </p:nvSpPr>
              <p:spPr>
                <a:xfrm>
                  <a:off x="9827477" y="6244499"/>
                  <a:ext cx="759512" cy="369332"/>
                </a:xfrm>
                <a:prstGeom prst="rect">
                  <a:avLst/>
                </a:prstGeom>
                <a:noFill/>
                <a:ln w="38100">
                  <a:noFill/>
                </a:ln>
              </p:spPr>
              <p:txBody>
                <a:bodyPr wrap="square" rtlCol="0" anchor="b">
                  <a:spAutoFit/>
                </a:bodyPr>
                <a:lstStyle/>
                <a:p>
                  <a:pPr algn="ctr"/>
                  <a:r>
                    <a:rPr lang="en-US" dirty="0"/>
                    <a:t>100%</a:t>
                  </a:r>
                </a:p>
              </p:txBody>
            </p:sp>
            <p:grpSp>
              <p:nvGrpSpPr>
                <p:cNvPr id="119" name="Group 118">
                  <a:extLst>
                    <a:ext uri="{FF2B5EF4-FFF2-40B4-BE49-F238E27FC236}">
                      <a16:creationId xmlns:a16="http://schemas.microsoft.com/office/drawing/2014/main" id="{0E1C3366-6DB9-4D5C-BFFA-06B5FBAE7347}"/>
                    </a:ext>
                  </a:extLst>
                </p:cNvPr>
                <p:cNvGrpSpPr/>
                <p:nvPr/>
              </p:nvGrpSpPr>
              <p:grpSpPr>
                <a:xfrm>
                  <a:off x="3303047" y="6276904"/>
                  <a:ext cx="6524431" cy="283018"/>
                  <a:chOff x="2845847" y="6374682"/>
                  <a:chExt cx="6524431" cy="283018"/>
                </a:xfrm>
              </p:grpSpPr>
              <p:cxnSp>
                <p:nvCxnSpPr>
                  <p:cNvPr id="120" name="Straight Arrow Connector 119">
                    <a:extLst>
                      <a:ext uri="{FF2B5EF4-FFF2-40B4-BE49-F238E27FC236}">
                        <a16:creationId xmlns:a16="http://schemas.microsoft.com/office/drawing/2014/main" id="{54701CC6-4395-49C0-8D48-CC3CD71B205B}"/>
                      </a:ext>
                    </a:extLst>
                  </p:cNvPr>
                  <p:cNvCxnSpPr>
                    <a:cxnSpLocks/>
                    <a:stCxn id="117" idx="3"/>
                    <a:endCxn id="118" idx="1"/>
                  </p:cNvCxnSpPr>
                  <p:nvPr/>
                </p:nvCxnSpPr>
                <p:spPr>
                  <a:xfrm>
                    <a:off x="2845847" y="6516191"/>
                    <a:ext cx="6524430" cy="10752"/>
                  </a:xfrm>
                  <a:prstGeom prst="straightConnector1">
                    <a:avLst/>
                  </a:prstGeom>
                  <a:ln w="38100">
                    <a:solidFill>
                      <a:schemeClr val="tx1"/>
                    </a:solidFill>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21" name="Straight Connector 120">
                    <a:extLst>
                      <a:ext uri="{FF2B5EF4-FFF2-40B4-BE49-F238E27FC236}">
                        <a16:creationId xmlns:a16="http://schemas.microsoft.com/office/drawing/2014/main" id="{7D582313-D54B-402E-9CB1-3C1C2B65A319}"/>
                      </a:ext>
                    </a:extLst>
                  </p:cNvPr>
                  <p:cNvCxnSpPr>
                    <a:cxnSpLocks/>
                  </p:cNvCxnSpPr>
                  <p:nvPr/>
                </p:nvCxnSpPr>
                <p:spPr>
                  <a:xfrm>
                    <a:off x="6108062"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2" name="Straight Connector 121">
                    <a:extLst>
                      <a:ext uri="{FF2B5EF4-FFF2-40B4-BE49-F238E27FC236}">
                        <a16:creationId xmlns:a16="http://schemas.microsoft.com/office/drawing/2014/main" id="{A8A57647-C125-4C56-8C1A-8276F3D68B4A}"/>
                      </a:ext>
                    </a:extLst>
                  </p:cNvPr>
                  <p:cNvCxnSpPr>
                    <a:cxnSpLocks/>
                  </p:cNvCxnSpPr>
                  <p:nvPr/>
                </p:nvCxnSpPr>
                <p:spPr>
                  <a:xfrm>
                    <a:off x="6760505"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3" name="Straight Connector 122">
                    <a:extLst>
                      <a:ext uri="{FF2B5EF4-FFF2-40B4-BE49-F238E27FC236}">
                        <a16:creationId xmlns:a16="http://schemas.microsoft.com/office/drawing/2014/main" id="{A20370AE-D8ED-4D12-BE6A-E51DB739F5E4}"/>
                      </a:ext>
                    </a:extLst>
                  </p:cNvPr>
                  <p:cNvCxnSpPr>
                    <a:cxnSpLocks/>
                  </p:cNvCxnSpPr>
                  <p:nvPr/>
                </p:nvCxnSpPr>
                <p:spPr>
                  <a:xfrm>
                    <a:off x="937027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4" name="Straight Connector 123">
                    <a:extLst>
                      <a:ext uri="{FF2B5EF4-FFF2-40B4-BE49-F238E27FC236}">
                        <a16:creationId xmlns:a16="http://schemas.microsoft.com/office/drawing/2014/main" id="{EF559290-6472-47CD-99E3-C4B9E6259A6B}"/>
                      </a:ext>
                    </a:extLst>
                  </p:cNvPr>
                  <p:cNvCxnSpPr>
                    <a:cxnSpLocks/>
                  </p:cNvCxnSpPr>
                  <p:nvPr/>
                </p:nvCxnSpPr>
                <p:spPr>
                  <a:xfrm>
                    <a:off x="7412948"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5" name="Straight Connector 124">
                    <a:extLst>
                      <a:ext uri="{FF2B5EF4-FFF2-40B4-BE49-F238E27FC236}">
                        <a16:creationId xmlns:a16="http://schemas.microsoft.com/office/drawing/2014/main" id="{12A9EC2E-C2E4-4943-8CCC-75FB2439BAAB}"/>
                      </a:ext>
                    </a:extLst>
                  </p:cNvPr>
                  <p:cNvCxnSpPr>
                    <a:cxnSpLocks/>
                  </p:cNvCxnSpPr>
                  <p:nvPr/>
                </p:nvCxnSpPr>
                <p:spPr>
                  <a:xfrm>
                    <a:off x="8065391"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6" name="Straight Connector 125">
                    <a:extLst>
                      <a:ext uri="{FF2B5EF4-FFF2-40B4-BE49-F238E27FC236}">
                        <a16:creationId xmlns:a16="http://schemas.microsoft.com/office/drawing/2014/main" id="{6F0B323E-F690-4CD1-9E7A-6C0E8C073F55}"/>
                      </a:ext>
                    </a:extLst>
                  </p:cNvPr>
                  <p:cNvCxnSpPr>
                    <a:cxnSpLocks/>
                  </p:cNvCxnSpPr>
                  <p:nvPr/>
                </p:nvCxnSpPr>
                <p:spPr>
                  <a:xfrm>
                    <a:off x="8717834"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7" name="Straight Connector 126">
                    <a:extLst>
                      <a:ext uri="{FF2B5EF4-FFF2-40B4-BE49-F238E27FC236}">
                        <a16:creationId xmlns:a16="http://schemas.microsoft.com/office/drawing/2014/main" id="{7D76C86D-4208-43FE-A76E-872713CA8511}"/>
                      </a:ext>
                    </a:extLst>
                  </p:cNvPr>
                  <p:cNvCxnSpPr>
                    <a:cxnSpLocks/>
                  </p:cNvCxnSpPr>
                  <p:nvPr/>
                </p:nvCxnSpPr>
                <p:spPr>
                  <a:xfrm>
                    <a:off x="5455619"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8" name="Straight Connector 127">
                    <a:extLst>
                      <a:ext uri="{FF2B5EF4-FFF2-40B4-BE49-F238E27FC236}">
                        <a16:creationId xmlns:a16="http://schemas.microsoft.com/office/drawing/2014/main" id="{5FC8B328-C2AE-4B96-B82D-B193FE3F3082}"/>
                      </a:ext>
                    </a:extLst>
                  </p:cNvPr>
                  <p:cNvCxnSpPr>
                    <a:cxnSpLocks/>
                  </p:cNvCxnSpPr>
                  <p:nvPr/>
                </p:nvCxnSpPr>
                <p:spPr>
                  <a:xfrm>
                    <a:off x="2845847"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29" name="Straight Connector 128">
                    <a:extLst>
                      <a:ext uri="{FF2B5EF4-FFF2-40B4-BE49-F238E27FC236}">
                        <a16:creationId xmlns:a16="http://schemas.microsoft.com/office/drawing/2014/main" id="{018C5B4E-CF2C-407C-801B-3E57ABB0EAD0}"/>
                      </a:ext>
                    </a:extLst>
                  </p:cNvPr>
                  <p:cNvCxnSpPr>
                    <a:cxnSpLocks/>
                  </p:cNvCxnSpPr>
                  <p:nvPr/>
                </p:nvCxnSpPr>
                <p:spPr>
                  <a:xfrm>
                    <a:off x="3498290"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30" name="Straight Connector 129">
                    <a:extLst>
                      <a:ext uri="{FF2B5EF4-FFF2-40B4-BE49-F238E27FC236}">
                        <a16:creationId xmlns:a16="http://schemas.microsoft.com/office/drawing/2014/main" id="{977F38E9-DF54-4EE4-8908-795B973F13E3}"/>
                      </a:ext>
                    </a:extLst>
                  </p:cNvPr>
                  <p:cNvCxnSpPr>
                    <a:cxnSpLocks/>
                  </p:cNvCxnSpPr>
                  <p:nvPr/>
                </p:nvCxnSpPr>
                <p:spPr>
                  <a:xfrm>
                    <a:off x="4150733"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cxnSp>
                <p:nvCxnSpPr>
                  <p:cNvPr id="131" name="Straight Connector 130">
                    <a:extLst>
                      <a:ext uri="{FF2B5EF4-FFF2-40B4-BE49-F238E27FC236}">
                        <a16:creationId xmlns:a16="http://schemas.microsoft.com/office/drawing/2014/main" id="{0AB93E96-68A2-4A7A-B9D4-541A5F07A2B4}"/>
                      </a:ext>
                    </a:extLst>
                  </p:cNvPr>
                  <p:cNvCxnSpPr>
                    <a:cxnSpLocks/>
                  </p:cNvCxnSpPr>
                  <p:nvPr/>
                </p:nvCxnSpPr>
                <p:spPr>
                  <a:xfrm>
                    <a:off x="4803176" y="6374682"/>
                    <a:ext cx="0" cy="283018"/>
                  </a:xfrm>
                  <a:prstGeom prst="line">
                    <a:avLst/>
                  </a:prstGeom>
                  <a:ln w="38100">
                    <a:solidFill>
                      <a:schemeClr val="tx1"/>
                    </a:solidFill>
                  </a:ln>
                </p:spPr>
                <p:style>
                  <a:lnRef idx="3">
                    <a:schemeClr val="accent1"/>
                  </a:lnRef>
                  <a:fillRef idx="0">
                    <a:schemeClr val="accent1"/>
                  </a:fillRef>
                  <a:effectRef idx="2">
                    <a:schemeClr val="accent1"/>
                  </a:effectRef>
                  <a:fontRef idx="minor">
                    <a:schemeClr val="tx1"/>
                  </a:fontRef>
                </p:style>
              </p:cxnSp>
            </p:grpSp>
          </p:grpSp>
          <p:sp>
            <p:nvSpPr>
              <p:cNvPr id="112" name="TextBox 111">
                <a:extLst>
                  <a:ext uri="{FF2B5EF4-FFF2-40B4-BE49-F238E27FC236}">
                    <a16:creationId xmlns:a16="http://schemas.microsoft.com/office/drawing/2014/main" id="{6D029645-9B4A-43A8-8355-B34362201D82}"/>
                  </a:ext>
                </a:extLst>
              </p:cNvPr>
              <p:cNvSpPr txBox="1"/>
              <p:nvPr/>
            </p:nvSpPr>
            <p:spPr>
              <a:xfrm>
                <a:off x="3355441" y="5739635"/>
                <a:ext cx="759512" cy="307777"/>
              </a:xfrm>
              <a:prstGeom prst="rect">
                <a:avLst/>
              </a:prstGeom>
              <a:noFill/>
              <a:ln w="38100">
                <a:noFill/>
              </a:ln>
            </p:spPr>
            <p:txBody>
              <a:bodyPr wrap="square" rtlCol="0" anchor="b">
                <a:spAutoFit/>
              </a:bodyPr>
              <a:lstStyle/>
              <a:p>
                <a:pPr algn="ctr"/>
                <a:r>
                  <a:rPr lang="en-US" sz="1400" dirty="0"/>
                  <a:t>50%</a:t>
                </a:r>
              </a:p>
            </p:txBody>
          </p:sp>
          <p:sp>
            <p:nvSpPr>
              <p:cNvPr id="113" name="TextBox 112">
                <a:extLst>
                  <a:ext uri="{FF2B5EF4-FFF2-40B4-BE49-F238E27FC236}">
                    <a16:creationId xmlns:a16="http://schemas.microsoft.com/office/drawing/2014/main" id="{3F8B9BA8-3D05-4591-9AF2-4A33F52D9E4B}"/>
                  </a:ext>
                </a:extLst>
              </p:cNvPr>
              <p:cNvSpPr txBox="1"/>
              <p:nvPr/>
            </p:nvSpPr>
            <p:spPr>
              <a:xfrm>
                <a:off x="4649458" y="5739635"/>
                <a:ext cx="759512" cy="307777"/>
              </a:xfrm>
              <a:prstGeom prst="rect">
                <a:avLst/>
              </a:prstGeom>
              <a:noFill/>
              <a:ln w="38100">
                <a:noFill/>
              </a:ln>
            </p:spPr>
            <p:txBody>
              <a:bodyPr wrap="square" rtlCol="0" anchor="b">
                <a:spAutoFit/>
              </a:bodyPr>
              <a:lstStyle/>
              <a:p>
                <a:pPr algn="ctr"/>
                <a:r>
                  <a:rPr lang="en-US" sz="1400" dirty="0"/>
                  <a:t>60%</a:t>
                </a:r>
              </a:p>
            </p:txBody>
          </p:sp>
          <p:sp>
            <p:nvSpPr>
              <p:cNvPr id="114" name="TextBox 113">
                <a:extLst>
                  <a:ext uri="{FF2B5EF4-FFF2-40B4-BE49-F238E27FC236}">
                    <a16:creationId xmlns:a16="http://schemas.microsoft.com/office/drawing/2014/main" id="{5D8C0E55-2A17-4B0D-A4E8-AA5A15E871F6}"/>
                  </a:ext>
                </a:extLst>
              </p:cNvPr>
              <p:cNvSpPr txBox="1"/>
              <p:nvPr/>
            </p:nvSpPr>
            <p:spPr>
              <a:xfrm>
                <a:off x="5919371" y="5739635"/>
                <a:ext cx="759512" cy="307777"/>
              </a:xfrm>
              <a:prstGeom prst="rect">
                <a:avLst/>
              </a:prstGeom>
              <a:noFill/>
              <a:ln w="38100">
                <a:noFill/>
              </a:ln>
            </p:spPr>
            <p:txBody>
              <a:bodyPr wrap="square" rtlCol="0" anchor="b">
                <a:spAutoFit/>
              </a:bodyPr>
              <a:lstStyle/>
              <a:p>
                <a:pPr algn="ctr"/>
                <a:r>
                  <a:rPr lang="en-US" sz="1400" dirty="0"/>
                  <a:t>70%</a:t>
                </a:r>
              </a:p>
            </p:txBody>
          </p:sp>
          <p:sp>
            <p:nvSpPr>
              <p:cNvPr id="115" name="TextBox 114">
                <a:extLst>
                  <a:ext uri="{FF2B5EF4-FFF2-40B4-BE49-F238E27FC236}">
                    <a16:creationId xmlns:a16="http://schemas.microsoft.com/office/drawing/2014/main" id="{9CD11F7E-8908-4492-BEF0-3EA5473988F4}"/>
                  </a:ext>
                </a:extLst>
              </p:cNvPr>
              <p:cNvSpPr txBox="1"/>
              <p:nvPr/>
            </p:nvSpPr>
            <p:spPr>
              <a:xfrm>
                <a:off x="7192070" y="5739635"/>
                <a:ext cx="759512" cy="307777"/>
              </a:xfrm>
              <a:prstGeom prst="rect">
                <a:avLst/>
              </a:prstGeom>
              <a:noFill/>
              <a:ln w="38100">
                <a:noFill/>
              </a:ln>
            </p:spPr>
            <p:txBody>
              <a:bodyPr wrap="square" rtlCol="0" anchor="b">
                <a:spAutoFit/>
              </a:bodyPr>
              <a:lstStyle/>
              <a:p>
                <a:pPr algn="ctr"/>
                <a:r>
                  <a:rPr lang="en-US" sz="1400" dirty="0"/>
                  <a:t>80%</a:t>
                </a:r>
              </a:p>
            </p:txBody>
          </p:sp>
          <p:sp>
            <p:nvSpPr>
              <p:cNvPr id="116" name="TextBox 115">
                <a:extLst>
                  <a:ext uri="{FF2B5EF4-FFF2-40B4-BE49-F238E27FC236}">
                    <a16:creationId xmlns:a16="http://schemas.microsoft.com/office/drawing/2014/main" id="{F7FE13F3-5E48-45E5-823A-71DA36031FF6}"/>
                  </a:ext>
                </a:extLst>
              </p:cNvPr>
              <p:cNvSpPr txBox="1"/>
              <p:nvPr/>
            </p:nvSpPr>
            <p:spPr>
              <a:xfrm>
                <a:off x="8496955" y="5739635"/>
                <a:ext cx="759512" cy="307777"/>
              </a:xfrm>
              <a:prstGeom prst="rect">
                <a:avLst/>
              </a:prstGeom>
              <a:noFill/>
              <a:ln w="38100">
                <a:noFill/>
              </a:ln>
            </p:spPr>
            <p:txBody>
              <a:bodyPr wrap="square" rtlCol="0" anchor="b">
                <a:spAutoFit/>
              </a:bodyPr>
              <a:lstStyle/>
              <a:p>
                <a:pPr algn="ctr"/>
                <a:r>
                  <a:rPr lang="en-US" sz="1400" dirty="0"/>
                  <a:t>90%</a:t>
                </a:r>
              </a:p>
            </p:txBody>
          </p:sp>
        </p:grpSp>
        <p:grpSp>
          <p:nvGrpSpPr>
            <p:cNvPr id="132" name="Group 131">
              <a:extLst>
                <a:ext uri="{FF2B5EF4-FFF2-40B4-BE49-F238E27FC236}">
                  <a16:creationId xmlns:a16="http://schemas.microsoft.com/office/drawing/2014/main" id="{84FE6EF9-8B68-426F-A8FB-1966767083AA}"/>
                </a:ext>
              </a:extLst>
            </p:cNvPr>
            <p:cNvGrpSpPr/>
            <p:nvPr/>
          </p:nvGrpSpPr>
          <p:grpSpPr>
            <a:xfrm>
              <a:off x="9045456" y="6115270"/>
              <a:ext cx="1626735" cy="465395"/>
              <a:chOff x="7941517" y="5641258"/>
              <a:chExt cx="1626735" cy="465395"/>
            </a:xfrm>
          </p:grpSpPr>
          <p:sp>
            <p:nvSpPr>
              <p:cNvPr id="133" name="Isosceles Triangle 132">
                <a:extLst>
                  <a:ext uri="{FF2B5EF4-FFF2-40B4-BE49-F238E27FC236}">
                    <a16:creationId xmlns:a16="http://schemas.microsoft.com/office/drawing/2014/main" id="{6512B972-AC86-4CC4-BF70-53857804CFE3}"/>
                  </a:ext>
                </a:extLst>
              </p:cNvPr>
              <p:cNvSpPr/>
              <p:nvPr/>
            </p:nvSpPr>
            <p:spPr>
              <a:xfrm>
                <a:off x="8290209" y="5641258"/>
                <a:ext cx="256085" cy="14609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4" name="TextBox 133">
                <a:extLst>
                  <a:ext uri="{FF2B5EF4-FFF2-40B4-BE49-F238E27FC236}">
                    <a16:creationId xmlns:a16="http://schemas.microsoft.com/office/drawing/2014/main" id="{6AB1B8B3-790E-40BD-95E3-CECF55AA99DE}"/>
                  </a:ext>
                </a:extLst>
              </p:cNvPr>
              <p:cNvSpPr txBox="1"/>
              <p:nvPr/>
            </p:nvSpPr>
            <p:spPr>
              <a:xfrm>
                <a:off x="7941517" y="5799518"/>
                <a:ext cx="1626735" cy="307135"/>
              </a:xfrm>
              <a:prstGeom prst="rect">
                <a:avLst/>
              </a:prstGeom>
              <a:noFill/>
            </p:spPr>
            <p:txBody>
              <a:bodyPr wrap="square" rtlCol="0">
                <a:spAutoFit/>
              </a:bodyPr>
              <a:lstStyle/>
              <a:p>
                <a:pPr algn="ctr">
                  <a:lnSpc>
                    <a:spcPts val="1600"/>
                  </a:lnSpc>
                </a:pPr>
                <a:r>
                  <a:rPr lang="en-US" dirty="0">
                    <a:solidFill>
                      <a:schemeClr val="accent6"/>
                    </a:solidFill>
                  </a:rPr>
                  <a:t>SPEP + UPEP</a:t>
                </a:r>
              </a:p>
            </p:txBody>
          </p:sp>
        </p:grpSp>
        <p:grpSp>
          <p:nvGrpSpPr>
            <p:cNvPr id="135" name="Group 134">
              <a:extLst>
                <a:ext uri="{FF2B5EF4-FFF2-40B4-BE49-F238E27FC236}">
                  <a16:creationId xmlns:a16="http://schemas.microsoft.com/office/drawing/2014/main" id="{7A61FB85-2844-4672-AE08-7B365D461A04}"/>
                </a:ext>
              </a:extLst>
            </p:cNvPr>
            <p:cNvGrpSpPr/>
            <p:nvPr/>
          </p:nvGrpSpPr>
          <p:grpSpPr>
            <a:xfrm>
              <a:off x="7043844" y="5581746"/>
              <a:ext cx="1130300" cy="460461"/>
              <a:chOff x="7892895" y="5100670"/>
              <a:chExt cx="1130300" cy="460461"/>
            </a:xfrm>
          </p:grpSpPr>
          <p:sp>
            <p:nvSpPr>
              <p:cNvPr id="136" name="Isosceles Triangle 135">
                <a:extLst>
                  <a:ext uri="{FF2B5EF4-FFF2-40B4-BE49-F238E27FC236}">
                    <a16:creationId xmlns:a16="http://schemas.microsoft.com/office/drawing/2014/main" id="{4106E837-7922-4895-9644-4FF064830A97}"/>
                  </a:ext>
                </a:extLst>
              </p:cNvPr>
              <p:cNvSpPr/>
              <p:nvPr/>
            </p:nvSpPr>
            <p:spPr>
              <a:xfrm rot="10800000">
                <a:off x="8300754" y="5415037"/>
                <a:ext cx="256085" cy="14609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37" name="TextBox 136">
                <a:extLst>
                  <a:ext uri="{FF2B5EF4-FFF2-40B4-BE49-F238E27FC236}">
                    <a16:creationId xmlns:a16="http://schemas.microsoft.com/office/drawing/2014/main" id="{842E8797-7DCE-4773-837C-DEB1B55854FC}"/>
                  </a:ext>
                </a:extLst>
              </p:cNvPr>
              <p:cNvSpPr txBox="1"/>
              <p:nvPr/>
            </p:nvSpPr>
            <p:spPr>
              <a:xfrm>
                <a:off x="7892895" y="5100670"/>
                <a:ext cx="1130300" cy="369332"/>
              </a:xfrm>
              <a:prstGeom prst="rect">
                <a:avLst/>
              </a:prstGeom>
              <a:noFill/>
            </p:spPr>
            <p:txBody>
              <a:bodyPr wrap="square" rtlCol="0">
                <a:spAutoFit/>
              </a:bodyPr>
              <a:lstStyle/>
              <a:p>
                <a:pPr algn="ctr"/>
                <a:r>
                  <a:rPr lang="en-US" dirty="0">
                    <a:solidFill>
                      <a:schemeClr val="accent1"/>
                    </a:solidFill>
                  </a:rPr>
                  <a:t>SPEP</a:t>
                </a:r>
              </a:p>
            </p:txBody>
          </p:sp>
        </p:grpSp>
        <p:sp>
          <p:nvSpPr>
            <p:cNvPr id="138" name="Isosceles Triangle 137">
              <a:extLst>
                <a:ext uri="{FF2B5EF4-FFF2-40B4-BE49-F238E27FC236}">
                  <a16:creationId xmlns:a16="http://schemas.microsoft.com/office/drawing/2014/main" id="{09D03A17-4F74-4581-AF1D-18E6F0A53357}"/>
                </a:ext>
              </a:extLst>
            </p:cNvPr>
            <p:cNvSpPr/>
            <p:nvPr/>
          </p:nvSpPr>
          <p:spPr>
            <a:xfrm rot="10800000">
              <a:off x="9980341" y="5902430"/>
              <a:ext cx="256085" cy="146094"/>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Tree>
    <p:extLst>
      <p:ext uri="{BB962C8B-B14F-4D97-AF65-F5344CB8AC3E}">
        <p14:creationId xmlns:p14="http://schemas.microsoft.com/office/powerpoint/2010/main" val="38435839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5"/>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65"/>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65"/>
                  </p:tgtEl>
                </p:cond>
              </p:nextCondLst>
            </p:seq>
            <p:seq concurrent="1" nextAc="seek">
              <p:cTn id="17" restart="whenNotActive" fill="hold" evtFilter="cancelBubble" nodeType="interactiveSeq">
                <p:stCondLst>
                  <p:cond evt="onClick" delay="0">
                    <p:tgtEl>
                      <p:spTgt spid="106"/>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withEffect">
                                  <p:stCondLst>
                                    <p:cond delay="0"/>
                                  </p:stCondLst>
                                  <p:childTnLst>
                                    <p:set>
                                      <p:cBhvr>
                                        <p:cTn id="21" dur="1" fill="hold">
                                          <p:stCondLst>
                                            <p:cond delay="0"/>
                                          </p:stCondLst>
                                        </p:cTn>
                                        <p:tgtEl>
                                          <p:spTgt spid="106"/>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16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44"/>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107"/>
                                        </p:tgtEl>
                                        <p:attrNameLst>
                                          <p:attrName>style.visibility</p:attrName>
                                        </p:attrNameLst>
                                      </p:cBhvr>
                                      <p:to>
                                        <p:strVal val="hidden"/>
                                      </p:to>
                                    </p:set>
                                  </p:childTnLst>
                                </p:cTn>
                              </p:par>
                            </p:childTnLst>
                          </p:cTn>
                        </p:par>
                      </p:childTnLst>
                    </p:cTn>
                  </p:par>
                </p:childTnLst>
              </p:cTn>
              <p:nextCondLst>
                <p:cond evt="onClick" delay="0">
                  <p:tgtEl>
                    <p:spTgt spid="106"/>
                  </p:tgtEl>
                </p:cond>
              </p:nextCondLst>
            </p:seq>
            <p:seq concurrent="1" nextAc="seek">
              <p:cTn id="34" restart="whenNotActive" fill="hold" evtFilter="cancelBubble" nodeType="interactiveSeq">
                <p:stCondLst>
                  <p:cond evt="onClick" delay="0">
                    <p:tgtEl>
                      <p:spTgt spid="140"/>
                    </p:tgtEl>
                  </p:cond>
                </p:stCondLst>
                <p:endSync evt="end" delay="0">
                  <p:rtn val="all"/>
                </p:endSync>
                <p:childTnLst>
                  <p:par>
                    <p:cTn id="35" fill="hold">
                      <p:stCondLst>
                        <p:cond delay="0"/>
                      </p:stCondLst>
                      <p:childTnLst>
                        <p:par>
                          <p:cTn id="36" fill="hold">
                            <p:stCondLst>
                              <p:cond delay="0"/>
                            </p:stCondLst>
                            <p:childTnLst>
                              <p:par>
                                <p:cTn id="37" presetID="1" presetClass="exit" presetSubtype="0" fill="hold" grpId="0" nodeType="withEffect">
                                  <p:stCondLst>
                                    <p:cond delay="0"/>
                                  </p:stCondLst>
                                  <p:childTnLst>
                                    <p:set>
                                      <p:cBhvr>
                                        <p:cTn id="38" dur="1" fill="hold">
                                          <p:stCondLst>
                                            <p:cond delay="0"/>
                                          </p:stCondLst>
                                        </p:cTn>
                                        <p:tgtEl>
                                          <p:spTgt spid="140"/>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1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3"/>
                                        </p:tgtEl>
                                        <p:attrNameLst>
                                          <p:attrName>style.visibility</p:attrName>
                                        </p:attrNameLst>
                                      </p:cBhvr>
                                      <p:to>
                                        <p:strVal val="visible"/>
                                      </p:to>
                                    </p:set>
                                  </p:childTnLst>
                                </p:cTn>
                              </p:par>
                              <p:par>
                                <p:cTn id="47" presetID="1" presetClass="exit" presetSubtype="0" fill="hold" grpId="2" nodeType="withEffect">
                                  <p:stCondLst>
                                    <p:cond delay="0"/>
                                  </p:stCondLst>
                                  <p:childTnLst>
                                    <p:set>
                                      <p:cBhvr>
                                        <p:cTn id="48" dur="1" fill="hold">
                                          <p:stCondLst>
                                            <p:cond delay="0"/>
                                          </p:stCondLst>
                                        </p:cTn>
                                        <p:tgtEl>
                                          <p:spTgt spid="144"/>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41"/>
                                        </p:tgtEl>
                                        <p:attrNameLst>
                                          <p:attrName>style.visibility</p:attrName>
                                        </p:attrNameLst>
                                      </p:cBhvr>
                                      <p:to>
                                        <p:strVal val="hidden"/>
                                      </p:to>
                                    </p:set>
                                  </p:childTnLst>
                                </p:cTn>
                              </p:par>
                            </p:childTnLst>
                          </p:cTn>
                        </p:par>
                      </p:childTnLst>
                    </p:cTn>
                  </p:par>
                </p:childTnLst>
              </p:cTn>
              <p:nextCondLst>
                <p:cond evt="onClick" delay="0">
                  <p:tgtEl>
                    <p:spTgt spid="140"/>
                  </p:tgtEl>
                </p:cond>
              </p:nextCondLst>
            </p:seq>
            <p:seq concurrent="1" nextAc="seek">
              <p:cTn id="53" restart="whenNotActive" fill="hold" evtFilter="cancelBubble" nodeType="interactiveSeq">
                <p:stCondLst>
                  <p:cond evt="onClick" delay="0">
                    <p:tgtEl>
                      <p:spTgt spid="145"/>
                    </p:tgtEl>
                  </p:cond>
                </p:stCondLst>
                <p:endSync evt="end" delay="0">
                  <p:rtn val="all"/>
                </p:endSync>
                <p:childTnLst>
                  <p:par>
                    <p:cTn id="54" fill="hold">
                      <p:stCondLst>
                        <p:cond delay="0"/>
                      </p:stCondLst>
                      <p:childTnLst>
                        <p:par>
                          <p:cTn id="55" fill="hold">
                            <p:stCondLst>
                              <p:cond delay="0"/>
                            </p:stCondLst>
                            <p:childTnLst>
                              <p:par>
                                <p:cTn id="56" presetID="1" presetClass="exit" presetSubtype="0" fill="hold" grpId="0" nodeType="withEffect">
                                  <p:stCondLst>
                                    <p:cond delay="0"/>
                                  </p:stCondLst>
                                  <p:childTnLst>
                                    <p:set>
                                      <p:cBhvr>
                                        <p:cTn id="57" dur="1" fill="hold">
                                          <p:stCondLst>
                                            <p:cond delay="0"/>
                                          </p:stCondLst>
                                        </p:cTn>
                                        <p:tgtEl>
                                          <p:spTgt spid="145"/>
                                        </p:tgtEl>
                                        <p:attrNameLst>
                                          <p:attrName>style.visibility</p:attrName>
                                        </p:attrNameLst>
                                      </p:cBhvr>
                                      <p:to>
                                        <p:strVal val="hidden"/>
                                      </p:to>
                                    </p:set>
                                  </p:childTnLst>
                                </p:cTn>
                              </p:par>
                              <p:par>
                                <p:cTn id="58" presetID="1" presetClass="entr" presetSubtype="0" fill="hold" grpId="0" nodeType="withEffect">
                                  <p:stCondLst>
                                    <p:cond delay="0"/>
                                  </p:stCondLst>
                                  <p:childTnLst>
                                    <p:set>
                                      <p:cBhvr>
                                        <p:cTn id="59" dur="1" fill="hold">
                                          <p:stCondLst>
                                            <p:cond delay="0"/>
                                          </p:stCondLst>
                                        </p:cTn>
                                        <p:tgtEl>
                                          <p:spTgt spid="161"/>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6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71"/>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8"/>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0"/>
                                          </p:stCondLst>
                                        </p:cTn>
                                        <p:tgtEl>
                                          <p:spTgt spid="155"/>
                                        </p:tgtEl>
                                        <p:attrNameLst>
                                          <p:attrName>style.visibility</p:attrName>
                                        </p:attrNameLst>
                                      </p:cBhvr>
                                      <p:to>
                                        <p:strVal val="hidden"/>
                                      </p:to>
                                    </p:set>
                                  </p:childTnLst>
                                </p:cTn>
                              </p:par>
                            </p:childTnLst>
                          </p:cTn>
                        </p:par>
                      </p:childTnLst>
                    </p:cTn>
                  </p:par>
                </p:childTnLst>
              </p:cTn>
              <p:nextCondLst>
                <p:cond evt="onClick" delay="0">
                  <p:tgtEl>
                    <p:spTgt spid="145"/>
                  </p:tgtEl>
                </p:cond>
              </p:nextCondLst>
            </p:seq>
            <p:seq concurrent="1" nextAc="seek">
              <p:cTn id="70" restart="whenNotActive" fill="hold" evtFilter="cancelBubble" nodeType="interactiveSeq">
                <p:stCondLst>
                  <p:cond evt="onClick" delay="0">
                    <p:tgtEl>
                      <p:spTgt spid="100"/>
                    </p:tgtEl>
                  </p:cond>
                </p:stCondLst>
                <p:endSync evt="end" delay="0">
                  <p:rtn val="all"/>
                </p:endSync>
                <p:childTnLst>
                  <p:par>
                    <p:cTn id="71" fill="hold">
                      <p:stCondLst>
                        <p:cond delay="0"/>
                      </p:stCondLst>
                      <p:childTnLst>
                        <p:par>
                          <p:cTn id="72" fill="hold">
                            <p:stCondLst>
                              <p:cond delay="0"/>
                            </p:stCondLst>
                            <p:childTnLst>
                              <p:par>
                                <p:cTn id="73" presetID="1" presetClass="exit" presetSubtype="0" fill="hold" grpId="0" nodeType="withEffect">
                                  <p:stCondLst>
                                    <p:cond delay="0"/>
                                  </p:stCondLst>
                                  <p:childTnLst>
                                    <p:set>
                                      <p:cBhvr>
                                        <p:cTn id="74" dur="1" fill="hold">
                                          <p:stCondLst>
                                            <p:cond delay="0"/>
                                          </p:stCondLst>
                                        </p:cTn>
                                        <p:tgtEl>
                                          <p:spTgt spid="100"/>
                                        </p:tgtEl>
                                        <p:attrNameLst>
                                          <p:attrName>style.visibility</p:attrName>
                                        </p:attrNameLst>
                                      </p:cBhvr>
                                      <p:to>
                                        <p:strVal val="hidden"/>
                                      </p:to>
                                    </p:set>
                                  </p:childTnLst>
                                </p:cTn>
                              </p:par>
                              <p:par>
                                <p:cTn id="75" presetID="1" presetClass="entr" presetSubtype="0" fill="hold" grpId="1" nodeType="withEffect">
                                  <p:stCondLst>
                                    <p:cond delay="0"/>
                                  </p:stCondLst>
                                  <p:childTnLst>
                                    <p:set>
                                      <p:cBhvr>
                                        <p:cTn id="76" dur="1" fill="hold">
                                          <p:stCondLst>
                                            <p:cond delay="0"/>
                                          </p:stCondLst>
                                        </p:cTn>
                                        <p:tgtEl>
                                          <p:spTgt spid="162"/>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101"/>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161"/>
                                        </p:tgtEl>
                                        <p:attrNameLst>
                                          <p:attrName>style.visibility</p:attrName>
                                        </p:attrNameLst>
                                      </p:cBhvr>
                                      <p:to>
                                        <p:strVal val="hidden"/>
                                      </p:to>
                                    </p:set>
                                  </p:childTnLst>
                                </p:cTn>
                              </p:par>
                              <p:par>
                                <p:cTn id="81" presetID="1" presetClass="exit" presetSubtype="0" fill="hold" grpId="2" nodeType="withEffect">
                                  <p:stCondLst>
                                    <p:cond delay="0"/>
                                  </p:stCondLst>
                                  <p:childTnLst>
                                    <p:set>
                                      <p:cBhvr>
                                        <p:cTn id="82" dur="1" fill="hold">
                                          <p:stCondLst>
                                            <p:cond delay="0"/>
                                          </p:stCondLst>
                                        </p:cTn>
                                        <p:tgtEl>
                                          <p:spTgt spid="161"/>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20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4"/>
                                        </p:tgtEl>
                                        <p:attrNameLst>
                                          <p:attrName>style.visibility</p:attrName>
                                        </p:attrNameLst>
                                      </p:cBhvr>
                                      <p:to>
                                        <p:strVal val="visible"/>
                                      </p:to>
                                    </p:set>
                                  </p:childTnLst>
                                </p:cTn>
                              </p:par>
                            </p:childTnLst>
                          </p:cTn>
                        </p:par>
                      </p:childTnLst>
                    </p:cTn>
                  </p:par>
                </p:childTnLst>
              </p:cTn>
              <p:nextCondLst>
                <p:cond evt="onClick" delay="0">
                  <p:tgtEl>
                    <p:spTgt spid="100"/>
                  </p:tgtEl>
                </p:cond>
              </p:nextCondLst>
            </p:seq>
            <p:seq concurrent="1" nextAc="seek">
              <p:cTn id="89" restart="whenNotActive" fill="hold" evtFilter="cancelBubble" nodeType="interactiveSeq">
                <p:stCondLst>
                  <p:cond evt="onClick" delay="0">
                    <p:tgtEl>
                      <p:spTgt spid="172"/>
                    </p:tgtEl>
                  </p:cond>
                </p:stCondLst>
                <p:endSync evt="end" delay="0">
                  <p:rtn val="all"/>
                </p:endSync>
                <p:childTnLst>
                  <p:par>
                    <p:cTn id="90" fill="hold">
                      <p:stCondLst>
                        <p:cond delay="0"/>
                      </p:stCondLst>
                      <p:childTnLst>
                        <p:par>
                          <p:cTn id="91" fill="hold">
                            <p:stCondLst>
                              <p:cond delay="0"/>
                            </p:stCondLst>
                            <p:childTnLst>
                              <p:par>
                                <p:cTn id="92" presetID="1" presetClass="exit" presetSubtype="0" fill="hold" grpId="0" nodeType="withEffect">
                                  <p:stCondLst>
                                    <p:cond delay="0"/>
                                  </p:stCondLst>
                                  <p:childTnLst>
                                    <p:set>
                                      <p:cBhvr>
                                        <p:cTn id="93" dur="1" fill="hold">
                                          <p:stCondLst>
                                            <p:cond delay="0"/>
                                          </p:stCondLst>
                                        </p:cTn>
                                        <p:tgtEl>
                                          <p:spTgt spid="172"/>
                                        </p:tgtEl>
                                        <p:attrNameLst>
                                          <p:attrName>style.visibility</p:attrName>
                                        </p:attrNameLst>
                                      </p:cBhvr>
                                      <p:to>
                                        <p:strVal val="hidden"/>
                                      </p:to>
                                    </p:set>
                                  </p:childTnLst>
                                </p:cTn>
                              </p:par>
                              <p:par>
                                <p:cTn id="94" presetID="1" presetClass="exit" presetSubtype="0" fill="hold" grpId="3" nodeType="withEffect">
                                  <p:stCondLst>
                                    <p:cond delay="0"/>
                                  </p:stCondLst>
                                  <p:childTnLst>
                                    <p:set>
                                      <p:cBhvr>
                                        <p:cTn id="95" dur="1" fill="hold">
                                          <p:stCondLst>
                                            <p:cond delay="0"/>
                                          </p:stCondLst>
                                        </p:cTn>
                                        <p:tgtEl>
                                          <p:spTgt spid="161"/>
                                        </p:tgtEl>
                                        <p:attrNameLst>
                                          <p:attrName>style.visibility</p:attrName>
                                        </p:attrNameLst>
                                      </p:cBhvr>
                                      <p:to>
                                        <p:strVal val="hidden"/>
                                      </p:to>
                                    </p:set>
                                  </p:childTnLst>
                                </p:cTn>
                              </p:par>
                              <p:par>
                                <p:cTn id="96" presetID="1" presetClass="entr" presetSubtype="0" fill="hold" nodeType="withEffect">
                                  <p:stCondLst>
                                    <p:cond delay="0"/>
                                  </p:stCondLst>
                                  <p:childTnLst>
                                    <p:set>
                                      <p:cBhvr>
                                        <p:cTn id="97" dur="1" fill="hold">
                                          <p:stCondLst>
                                            <p:cond delay="0"/>
                                          </p:stCondLst>
                                        </p:cTn>
                                        <p:tgtEl>
                                          <p:spTgt spid="63"/>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3"/>
                                        </p:tgtEl>
                                        <p:attrNameLst>
                                          <p:attrName>style.visibility</p:attrName>
                                        </p:attrNameLst>
                                      </p:cBhvr>
                                      <p:to>
                                        <p:strVal val="visible"/>
                                      </p:to>
                                    </p:set>
                                  </p:childTnLst>
                                </p:cTn>
                              </p:par>
                              <p:par>
                                <p:cTn id="100" presetID="1" presetClass="exit" presetSubtype="0" fill="hold" nodeType="withEffect">
                                  <p:stCondLst>
                                    <p:cond delay="0"/>
                                  </p:stCondLst>
                                  <p:childTnLst>
                                    <p:set>
                                      <p:cBhvr>
                                        <p:cTn id="101" dur="1" fill="hold">
                                          <p:stCondLst>
                                            <p:cond delay="0"/>
                                          </p:stCondLst>
                                        </p:cTn>
                                        <p:tgtEl>
                                          <p:spTgt spid="19"/>
                                        </p:tgtEl>
                                        <p:attrNameLst>
                                          <p:attrName>style.visibility</p:attrName>
                                        </p:attrNameLst>
                                      </p:cBhvr>
                                      <p:to>
                                        <p:strVal val="hidden"/>
                                      </p:to>
                                    </p:set>
                                  </p:childTnLst>
                                </p:cTn>
                              </p:par>
                              <p:par>
                                <p:cTn id="102" presetID="1" presetClass="entr" presetSubtype="0" fill="hold" grpId="0" nodeType="withEffect">
                                  <p:stCondLst>
                                    <p:cond delay="0"/>
                                  </p:stCondLst>
                                  <p:childTnLst>
                                    <p:set>
                                      <p:cBhvr>
                                        <p:cTn id="103" dur="1" fill="hold">
                                          <p:stCondLst>
                                            <p:cond delay="0"/>
                                          </p:stCondLst>
                                        </p:cTn>
                                        <p:tgtEl>
                                          <p:spTgt spid="174"/>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139"/>
                                        </p:tgtEl>
                                        <p:attrNameLst>
                                          <p:attrName>style.visibility</p:attrName>
                                        </p:attrNameLst>
                                      </p:cBhvr>
                                      <p:to>
                                        <p:strVal val="visible"/>
                                      </p:to>
                                    </p:set>
                                  </p:childTnLst>
                                </p:cTn>
                              </p:par>
                              <p:par>
                                <p:cTn id="106" presetID="1" presetClass="exit" presetSubtype="0" fill="hold" nodeType="withEffect">
                                  <p:stCondLst>
                                    <p:cond delay="0"/>
                                  </p:stCondLst>
                                  <p:childTnLst>
                                    <p:set>
                                      <p:cBhvr>
                                        <p:cTn id="107" dur="1" fill="hold">
                                          <p:stCondLst>
                                            <p:cond delay="0"/>
                                          </p:stCondLst>
                                        </p:cTn>
                                        <p:tgtEl>
                                          <p:spTgt spid="173"/>
                                        </p:tgtEl>
                                        <p:attrNameLst>
                                          <p:attrName>style.visibility</p:attrName>
                                        </p:attrNameLst>
                                      </p:cBhvr>
                                      <p:to>
                                        <p:strVal val="hidden"/>
                                      </p:to>
                                    </p:set>
                                  </p:childTnLst>
                                </p:cTn>
                              </p:par>
                            </p:childTnLst>
                          </p:cTn>
                        </p:par>
                      </p:childTnLst>
                    </p:cTn>
                  </p:par>
                </p:childTnLst>
              </p:cTn>
              <p:nextCondLst>
                <p:cond evt="onClick" delay="0">
                  <p:tgtEl>
                    <p:spTgt spid="172"/>
                  </p:tgtEl>
                </p:cond>
              </p:nextCondLst>
            </p:seq>
          </p:childTnLst>
        </p:cTn>
      </p:par>
    </p:tnLst>
    <p:bldLst>
      <p:bldP spid="165" grpId="0" animBg="1"/>
      <p:bldP spid="166" grpId="0" animBg="1"/>
      <p:bldP spid="167" grpId="0" animBg="1"/>
      <p:bldP spid="168" grpId="0" animBg="1"/>
      <p:bldP spid="174" grpId="0" animBg="1"/>
      <p:bldP spid="100" grpId="0" animBg="1"/>
      <p:bldP spid="105" grpId="0"/>
      <p:bldP spid="154" grpId="0"/>
      <p:bldP spid="65" grpId="0" animBg="1"/>
      <p:bldP spid="13" grpId="0" animBg="1"/>
      <p:bldP spid="106" grpId="0" animBg="1"/>
      <p:bldP spid="14" grpId="0" animBg="1"/>
      <p:bldP spid="140" grpId="0" animBg="1"/>
      <p:bldP spid="142" grpId="0" animBg="1"/>
      <p:bldP spid="144" grpId="0"/>
      <p:bldP spid="144" grpId="1"/>
      <p:bldP spid="144" grpId="2"/>
      <p:bldP spid="145" grpId="0" animBg="1"/>
      <p:bldP spid="161" grpId="0"/>
      <p:bldP spid="161" grpId="1"/>
      <p:bldP spid="161" grpId="2"/>
      <p:bldP spid="161" grpId="3"/>
      <p:bldP spid="162" grpId="1" animBg="1"/>
      <p:bldP spid="20" grpId="0"/>
      <p:bldP spid="169" grpId="0"/>
      <p:bldP spid="170" grpId="0"/>
      <p:bldP spid="171" grpId="0"/>
      <p:bldP spid="172" grpId="0" animBg="1"/>
      <p:bldP spid="1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MM final">
            <a:extLst>
              <a:ext uri="{FF2B5EF4-FFF2-40B4-BE49-F238E27FC236}">
                <a16:creationId xmlns:a16="http://schemas.microsoft.com/office/drawing/2014/main" id="{AB4162CB-F2E0-4644-8EA6-D711CE95DB6C}"/>
              </a:ext>
            </a:extLst>
          </p:cNvPr>
          <p:cNvSpPr/>
          <p:nvPr/>
        </p:nvSpPr>
        <p:spPr>
          <a:xfrm>
            <a:off x="8993451" y="957332"/>
            <a:ext cx="2467429"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Multiple Myeloma</a:t>
            </a:r>
          </a:p>
        </p:txBody>
      </p:sp>
      <p:sp>
        <p:nvSpPr>
          <p:cNvPr id="56" name="SM final">
            <a:extLst>
              <a:ext uri="{FF2B5EF4-FFF2-40B4-BE49-F238E27FC236}">
                <a16:creationId xmlns:a16="http://schemas.microsoft.com/office/drawing/2014/main" id="{086896F9-DA04-49AA-B320-47ED12E141AD}"/>
              </a:ext>
            </a:extLst>
          </p:cNvPr>
          <p:cNvSpPr/>
          <p:nvPr/>
        </p:nvSpPr>
        <p:spPr>
          <a:xfrm>
            <a:off x="5999080" y="957332"/>
            <a:ext cx="2800241" cy="457200"/>
          </a:xfrm>
          <a:prstGeom prst="roundRect">
            <a:avLst/>
          </a:prstGeom>
          <a:solidFill>
            <a:schemeClr val="bg2">
              <a:lumMod val="50000"/>
            </a:schemeClr>
          </a:solidFill>
          <a:ln w="38100">
            <a:solidFill>
              <a:schemeClr val="bg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Smoldering Myeloma</a:t>
            </a:r>
          </a:p>
        </p:txBody>
      </p:sp>
      <p:sp>
        <p:nvSpPr>
          <p:cNvPr id="59" name="MGUS final">
            <a:extLst>
              <a:ext uri="{FF2B5EF4-FFF2-40B4-BE49-F238E27FC236}">
                <a16:creationId xmlns:a16="http://schemas.microsoft.com/office/drawing/2014/main" id="{18F38457-07F2-4CCA-BA60-B14D7F938246}"/>
              </a:ext>
            </a:extLst>
          </p:cNvPr>
          <p:cNvSpPr/>
          <p:nvPr/>
        </p:nvSpPr>
        <p:spPr>
          <a:xfrm>
            <a:off x="4082955" y="957332"/>
            <a:ext cx="1689504" cy="457200"/>
          </a:xfrm>
          <a:prstGeom prst="roundRect">
            <a:avLst/>
          </a:prstGeom>
          <a:solidFill>
            <a:schemeClr val="bg2">
              <a:lumMod val="90000"/>
            </a:schemeClr>
          </a:solidFill>
          <a:ln w="38100">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MGUS</a:t>
            </a:r>
          </a:p>
        </p:txBody>
      </p:sp>
      <p:sp>
        <p:nvSpPr>
          <p:cNvPr id="3" name="TextBox 2">
            <a:extLst>
              <a:ext uri="{FF2B5EF4-FFF2-40B4-BE49-F238E27FC236}">
                <a16:creationId xmlns:a16="http://schemas.microsoft.com/office/drawing/2014/main" id="{63551FD4-D383-5547-8521-06EE0A263CB8}"/>
              </a:ext>
            </a:extLst>
          </p:cNvPr>
          <p:cNvSpPr txBox="1"/>
          <p:nvPr/>
        </p:nvSpPr>
        <p:spPr>
          <a:xfrm>
            <a:off x="8675708" y="5852795"/>
            <a:ext cx="2984833" cy="738664"/>
          </a:xfrm>
          <a:prstGeom prst="rect">
            <a:avLst/>
          </a:prstGeom>
          <a:noFill/>
        </p:spPr>
        <p:txBody>
          <a:bodyPr wrap="square" rtlCol="0">
            <a:spAutoFit/>
          </a:bodyPr>
          <a:lstStyle/>
          <a:p>
            <a:pPr algn="ctr"/>
            <a:r>
              <a:rPr lang="en-US" sz="1400" dirty="0"/>
              <a:t>*Oligo-secretory and non-secretory MM subtypes will not meet M-protein criteria</a:t>
            </a:r>
          </a:p>
        </p:txBody>
      </p:sp>
      <p:sp>
        <p:nvSpPr>
          <p:cNvPr id="51" name="MM">
            <a:extLst>
              <a:ext uri="{FF2B5EF4-FFF2-40B4-BE49-F238E27FC236}">
                <a16:creationId xmlns:a16="http://schemas.microsoft.com/office/drawing/2014/main" id="{67DA11B2-7C05-4CED-81A7-33E1CB109642}"/>
              </a:ext>
            </a:extLst>
          </p:cNvPr>
          <p:cNvSpPr/>
          <p:nvPr/>
        </p:nvSpPr>
        <p:spPr>
          <a:xfrm>
            <a:off x="8993451" y="957332"/>
            <a:ext cx="2467429"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Multiple Myeloma</a:t>
            </a:r>
          </a:p>
        </p:txBody>
      </p:sp>
      <p:sp>
        <p:nvSpPr>
          <p:cNvPr id="55" name="MM">
            <a:extLst>
              <a:ext uri="{FF2B5EF4-FFF2-40B4-BE49-F238E27FC236}">
                <a16:creationId xmlns:a16="http://schemas.microsoft.com/office/drawing/2014/main" id="{04EA7FC8-B672-4C1C-8E09-8387030C90C2}"/>
              </a:ext>
            </a:extLst>
          </p:cNvPr>
          <p:cNvSpPr/>
          <p:nvPr/>
        </p:nvSpPr>
        <p:spPr>
          <a:xfrm>
            <a:off x="5999080" y="957332"/>
            <a:ext cx="2800241" cy="457200"/>
          </a:xfrm>
          <a:prstGeom prst="roundRect">
            <a:avLst/>
          </a:prstGeom>
          <a:solidFill>
            <a:schemeClr val="bg1"/>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Smoldering Myeloma</a:t>
            </a:r>
          </a:p>
        </p:txBody>
      </p:sp>
      <p:sp>
        <p:nvSpPr>
          <p:cNvPr id="58" name="MGUS">
            <a:extLst>
              <a:ext uri="{FF2B5EF4-FFF2-40B4-BE49-F238E27FC236}">
                <a16:creationId xmlns:a16="http://schemas.microsoft.com/office/drawing/2014/main" id="{21685797-D1D3-4083-817C-8C96595F01A0}"/>
              </a:ext>
            </a:extLst>
          </p:cNvPr>
          <p:cNvSpPr/>
          <p:nvPr/>
        </p:nvSpPr>
        <p:spPr>
          <a:xfrm>
            <a:off x="4082955" y="957332"/>
            <a:ext cx="1689504" cy="457200"/>
          </a:xfrm>
          <a:prstGeom prst="roundRect">
            <a:avLst/>
          </a:prstGeom>
          <a:solidFill>
            <a:schemeClr val="bg1"/>
          </a:solidFill>
          <a:ln w="38100">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MGUS</a:t>
            </a:r>
          </a:p>
        </p:txBody>
      </p:sp>
      <p:sp>
        <p:nvSpPr>
          <p:cNvPr id="7" name="TextBox 6">
            <a:extLst>
              <a:ext uri="{FF2B5EF4-FFF2-40B4-BE49-F238E27FC236}">
                <a16:creationId xmlns:a16="http://schemas.microsoft.com/office/drawing/2014/main" id="{D554AFDC-E194-4770-B5EF-64A7B7F7DC5E}"/>
              </a:ext>
            </a:extLst>
          </p:cNvPr>
          <p:cNvSpPr txBox="1"/>
          <p:nvPr/>
        </p:nvSpPr>
        <p:spPr>
          <a:xfrm>
            <a:off x="2188344" y="1988795"/>
            <a:ext cx="1746327" cy="400110"/>
          </a:xfrm>
          <a:prstGeom prst="rect">
            <a:avLst/>
          </a:prstGeom>
          <a:noFill/>
        </p:spPr>
        <p:txBody>
          <a:bodyPr wrap="square" rtlCol="0">
            <a:spAutoFit/>
          </a:bodyPr>
          <a:lstStyle/>
          <a:p>
            <a:pPr algn="ctr"/>
            <a:r>
              <a:rPr lang="en-US" sz="2000" b="1" dirty="0"/>
              <a:t>M protein</a:t>
            </a:r>
          </a:p>
        </p:txBody>
      </p:sp>
      <p:sp>
        <p:nvSpPr>
          <p:cNvPr id="60" name="TextBox 59">
            <a:extLst>
              <a:ext uri="{FF2B5EF4-FFF2-40B4-BE49-F238E27FC236}">
                <a16:creationId xmlns:a16="http://schemas.microsoft.com/office/drawing/2014/main" id="{E3782089-9A68-4E38-92FC-993CB4EF7714}"/>
              </a:ext>
            </a:extLst>
          </p:cNvPr>
          <p:cNvSpPr txBox="1"/>
          <p:nvPr/>
        </p:nvSpPr>
        <p:spPr>
          <a:xfrm>
            <a:off x="2169912" y="2776147"/>
            <a:ext cx="1783191" cy="1015663"/>
          </a:xfrm>
          <a:prstGeom prst="rect">
            <a:avLst/>
          </a:prstGeom>
          <a:noFill/>
        </p:spPr>
        <p:txBody>
          <a:bodyPr wrap="square" rtlCol="0">
            <a:spAutoFit/>
          </a:bodyPr>
          <a:lstStyle/>
          <a:p>
            <a:pPr algn="ctr"/>
            <a:r>
              <a:rPr lang="en-US" sz="2000" b="1" dirty="0"/>
              <a:t>% clonal plasma cells (bone marrow)</a:t>
            </a:r>
          </a:p>
        </p:txBody>
      </p:sp>
      <p:sp>
        <p:nvSpPr>
          <p:cNvPr id="63" name="TextBox 62">
            <a:extLst>
              <a:ext uri="{FF2B5EF4-FFF2-40B4-BE49-F238E27FC236}">
                <a16:creationId xmlns:a16="http://schemas.microsoft.com/office/drawing/2014/main" id="{CEFD832B-245F-44A8-8727-3C866DEAB205}"/>
              </a:ext>
            </a:extLst>
          </p:cNvPr>
          <p:cNvSpPr txBox="1"/>
          <p:nvPr/>
        </p:nvSpPr>
        <p:spPr>
          <a:xfrm>
            <a:off x="2169912" y="3939682"/>
            <a:ext cx="1783191" cy="707886"/>
          </a:xfrm>
          <a:prstGeom prst="rect">
            <a:avLst/>
          </a:prstGeom>
          <a:noFill/>
        </p:spPr>
        <p:txBody>
          <a:bodyPr wrap="square" rtlCol="0">
            <a:spAutoFit/>
          </a:bodyPr>
          <a:lstStyle/>
          <a:p>
            <a:pPr algn="ctr"/>
            <a:r>
              <a:rPr lang="en-US" sz="2000" b="1" dirty="0"/>
              <a:t>End organ damage</a:t>
            </a:r>
          </a:p>
        </p:txBody>
      </p:sp>
      <p:cxnSp>
        <p:nvCxnSpPr>
          <p:cNvPr id="10" name="Straight Connector 9">
            <a:extLst>
              <a:ext uri="{FF2B5EF4-FFF2-40B4-BE49-F238E27FC236}">
                <a16:creationId xmlns:a16="http://schemas.microsoft.com/office/drawing/2014/main" id="{B0D56A0D-3EED-458F-A7BA-02DD74393507}"/>
              </a:ext>
            </a:extLst>
          </p:cNvPr>
          <p:cNvCxnSpPr>
            <a:cxnSpLocks/>
          </p:cNvCxnSpPr>
          <p:nvPr/>
        </p:nvCxnSpPr>
        <p:spPr>
          <a:xfrm>
            <a:off x="4060583" y="2121273"/>
            <a:ext cx="7640556" cy="0"/>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64" name="TextBox 63">
            <a:extLst>
              <a:ext uri="{FF2B5EF4-FFF2-40B4-BE49-F238E27FC236}">
                <a16:creationId xmlns:a16="http://schemas.microsoft.com/office/drawing/2014/main" id="{A385C47F-AE1E-4A0D-A93E-737A702FC315}"/>
              </a:ext>
            </a:extLst>
          </p:cNvPr>
          <p:cNvSpPr txBox="1"/>
          <p:nvPr/>
        </p:nvSpPr>
        <p:spPr>
          <a:xfrm>
            <a:off x="6196694" y="1669943"/>
            <a:ext cx="2405012" cy="369332"/>
          </a:xfrm>
          <a:prstGeom prst="rect">
            <a:avLst/>
          </a:prstGeom>
          <a:noFill/>
        </p:spPr>
        <p:txBody>
          <a:bodyPr wrap="square" rtlCol="0">
            <a:spAutoFit/>
          </a:bodyPr>
          <a:lstStyle/>
          <a:p>
            <a:pPr algn="ctr"/>
            <a:r>
              <a:rPr lang="en-US" dirty="0"/>
              <a:t>≥3 g/dL</a:t>
            </a:r>
          </a:p>
        </p:txBody>
      </p:sp>
      <p:pic>
        <p:nvPicPr>
          <p:cNvPr id="1026" name="Picture 2" descr="Test tube with blood Medical vial icon black color vector illustration flat  style image 5147090 Vector Art at Vecteezy">
            <a:extLst>
              <a:ext uri="{FF2B5EF4-FFF2-40B4-BE49-F238E27FC236}">
                <a16:creationId xmlns:a16="http://schemas.microsoft.com/office/drawing/2014/main" id="{D3B8F4B9-7272-485D-9C10-807A2EB77A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938" y="1597008"/>
            <a:ext cx="449643" cy="449643"/>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a:extLst>
              <a:ext uri="{FF2B5EF4-FFF2-40B4-BE49-F238E27FC236}">
                <a16:creationId xmlns:a16="http://schemas.microsoft.com/office/drawing/2014/main" id="{1F3F847D-91A7-4F18-8E58-DA2C323DC0CE}"/>
              </a:ext>
            </a:extLst>
          </p:cNvPr>
          <p:cNvSpPr txBox="1"/>
          <p:nvPr/>
        </p:nvSpPr>
        <p:spPr>
          <a:xfrm>
            <a:off x="9024659" y="1692108"/>
            <a:ext cx="2405012" cy="369332"/>
          </a:xfrm>
          <a:prstGeom prst="rect">
            <a:avLst/>
          </a:prstGeom>
          <a:noFill/>
        </p:spPr>
        <p:txBody>
          <a:bodyPr wrap="square" rtlCol="0">
            <a:spAutoFit/>
          </a:bodyPr>
          <a:lstStyle/>
          <a:p>
            <a:pPr algn="ctr"/>
            <a:r>
              <a:rPr lang="en-US" dirty="0"/>
              <a:t>≥3 g/dL*</a:t>
            </a:r>
          </a:p>
        </p:txBody>
      </p:sp>
      <p:pic>
        <p:nvPicPr>
          <p:cNvPr id="1028" name="Picture 4" descr="Urine Cup Images – Browse 1,879 Stock Photos, Vectors, and Video | Adobe  Stock">
            <a:extLst>
              <a:ext uri="{FF2B5EF4-FFF2-40B4-BE49-F238E27FC236}">
                <a16:creationId xmlns:a16="http://schemas.microsoft.com/office/drawing/2014/main" id="{E38B7787-F607-481A-B747-FAD9A542381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323" t="11675" r="18337" b="16118"/>
          <a:stretch/>
        </p:blipFill>
        <p:spPr bwMode="auto">
          <a:xfrm>
            <a:off x="3925777" y="2169216"/>
            <a:ext cx="416607" cy="515630"/>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291EFE4F-CF92-404F-9F07-BC804622BB60}"/>
              </a:ext>
            </a:extLst>
          </p:cNvPr>
          <p:cNvSpPr txBox="1"/>
          <p:nvPr/>
        </p:nvSpPr>
        <p:spPr>
          <a:xfrm>
            <a:off x="6283454" y="2242721"/>
            <a:ext cx="2231493" cy="380667"/>
          </a:xfrm>
          <a:prstGeom prst="rect">
            <a:avLst/>
          </a:prstGeom>
          <a:noFill/>
        </p:spPr>
        <p:txBody>
          <a:bodyPr wrap="square" rtlCol="0">
            <a:spAutoFit/>
          </a:bodyPr>
          <a:lstStyle/>
          <a:p>
            <a:pPr algn="ctr"/>
            <a:r>
              <a:rPr lang="en-US" dirty="0"/>
              <a:t>≥500 mg/24 h</a:t>
            </a:r>
          </a:p>
        </p:txBody>
      </p:sp>
      <p:sp>
        <p:nvSpPr>
          <p:cNvPr id="67" name="TextBox 66">
            <a:extLst>
              <a:ext uri="{FF2B5EF4-FFF2-40B4-BE49-F238E27FC236}">
                <a16:creationId xmlns:a16="http://schemas.microsoft.com/office/drawing/2014/main" id="{95A59820-A129-42D5-8605-98CCC167F70C}"/>
              </a:ext>
            </a:extLst>
          </p:cNvPr>
          <p:cNvSpPr txBox="1"/>
          <p:nvPr/>
        </p:nvSpPr>
        <p:spPr>
          <a:xfrm>
            <a:off x="9111419" y="2260195"/>
            <a:ext cx="2231493" cy="380667"/>
          </a:xfrm>
          <a:prstGeom prst="rect">
            <a:avLst/>
          </a:prstGeom>
          <a:noFill/>
        </p:spPr>
        <p:txBody>
          <a:bodyPr wrap="square" rtlCol="0">
            <a:spAutoFit/>
          </a:bodyPr>
          <a:lstStyle/>
          <a:p>
            <a:pPr algn="ctr"/>
            <a:r>
              <a:rPr lang="en-US" dirty="0"/>
              <a:t>≥500 mg/24 h</a:t>
            </a:r>
          </a:p>
        </p:txBody>
      </p:sp>
      <p:sp>
        <p:nvSpPr>
          <p:cNvPr id="68" name="TextBox 67">
            <a:extLst>
              <a:ext uri="{FF2B5EF4-FFF2-40B4-BE49-F238E27FC236}">
                <a16:creationId xmlns:a16="http://schemas.microsoft.com/office/drawing/2014/main" id="{BD59938D-441C-48F2-BE51-C79CCE9FE6CD}"/>
              </a:ext>
            </a:extLst>
          </p:cNvPr>
          <p:cNvSpPr txBox="1"/>
          <p:nvPr/>
        </p:nvSpPr>
        <p:spPr>
          <a:xfrm>
            <a:off x="4182170" y="3099312"/>
            <a:ext cx="1540683" cy="369332"/>
          </a:xfrm>
          <a:prstGeom prst="rect">
            <a:avLst/>
          </a:prstGeom>
          <a:noFill/>
        </p:spPr>
        <p:txBody>
          <a:bodyPr wrap="square" rtlCol="0">
            <a:spAutoFit/>
          </a:bodyPr>
          <a:lstStyle/>
          <a:p>
            <a:pPr algn="ctr"/>
            <a:r>
              <a:rPr lang="en-US" dirty="0"/>
              <a:t>&lt;10%</a:t>
            </a:r>
          </a:p>
        </p:txBody>
      </p:sp>
      <p:sp>
        <p:nvSpPr>
          <p:cNvPr id="69" name="TextBox 68">
            <a:extLst>
              <a:ext uri="{FF2B5EF4-FFF2-40B4-BE49-F238E27FC236}">
                <a16:creationId xmlns:a16="http://schemas.microsoft.com/office/drawing/2014/main" id="{6AB9C7AE-1CF6-4AA5-AA1F-294279B0239B}"/>
              </a:ext>
            </a:extLst>
          </p:cNvPr>
          <p:cNvSpPr txBox="1"/>
          <p:nvPr/>
        </p:nvSpPr>
        <p:spPr>
          <a:xfrm>
            <a:off x="6529646" y="3099312"/>
            <a:ext cx="1739109" cy="369332"/>
          </a:xfrm>
          <a:prstGeom prst="rect">
            <a:avLst/>
          </a:prstGeom>
          <a:noFill/>
        </p:spPr>
        <p:txBody>
          <a:bodyPr wrap="square" rtlCol="0">
            <a:spAutoFit/>
          </a:bodyPr>
          <a:lstStyle/>
          <a:p>
            <a:pPr algn="ctr"/>
            <a:r>
              <a:rPr lang="en-US" dirty="0"/>
              <a:t>10-60%</a:t>
            </a:r>
          </a:p>
        </p:txBody>
      </p:sp>
      <p:sp>
        <p:nvSpPr>
          <p:cNvPr id="73" name="TextBox 72">
            <a:extLst>
              <a:ext uri="{FF2B5EF4-FFF2-40B4-BE49-F238E27FC236}">
                <a16:creationId xmlns:a16="http://schemas.microsoft.com/office/drawing/2014/main" id="{F98A1A35-3D55-42C0-9480-2D66EFD61E09}"/>
              </a:ext>
            </a:extLst>
          </p:cNvPr>
          <p:cNvSpPr txBox="1"/>
          <p:nvPr/>
        </p:nvSpPr>
        <p:spPr>
          <a:xfrm>
            <a:off x="4182170" y="4108959"/>
            <a:ext cx="1540683" cy="369332"/>
          </a:xfrm>
          <a:prstGeom prst="rect">
            <a:avLst/>
          </a:prstGeom>
          <a:noFill/>
        </p:spPr>
        <p:txBody>
          <a:bodyPr wrap="square" rtlCol="0">
            <a:spAutoFit/>
          </a:bodyPr>
          <a:lstStyle/>
          <a:p>
            <a:pPr algn="ctr"/>
            <a:r>
              <a:rPr lang="en-US" dirty="0"/>
              <a:t>None</a:t>
            </a:r>
          </a:p>
        </p:txBody>
      </p:sp>
      <p:sp>
        <p:nvSpPr>
          <p:cNvPr id="72" name="TextBox 71">
            <a:extLst>
              <a:ext uri="{FF2B5EF4-FFF2-40B4-BE49-F238E27FC236}">
                <a16:creationId xmlns:a16="http://schemas.microsoft.com/office/drawing/2014/main" id="{1A22F472-ED6E-44BF-82F0-5705592E65BE}"/>
              </a:ext>
            </a:extLst>
          </p:cNvPr>
          <p:cNvSpPr txBox="1"/>
          <p:nvPr/>
        </p:nvSpPr>
        <p:spPr>
          <a:xfrm>
            <a:off x="9178385" y="2960813"/>
            <a:ext cx="2097561" cy="646331"/>
          </a:xfrm>
          <a:prstGeom prst="rect">
            <a:avLst/>
          </a:prstGeom>
          <a:noFill/>
        </p:spPr>
        <p:txBody>
          <a:bodyPr wrap="square" rtlCol="0">
            <a:spAutoFit/>
          </a:bodyPr>
          <a:lstStyle/>
          <a:p>
            <a:pPr algn="ctr"/>
            <a:r>
              <a:rPr lang="en-US" dirty="0"/>
              <a:t>≥10%</a:t>
            </a:r>
          </a:p>
          <a:p>
            <a:pPr algn="ctr"/>
            <a:r>
              <a:rPr lang="en-US" dirty="0"/>
              <a:t>(≥60% is diagnostic)</a:t>
            </a:r>
          </a:p>
        </p:txBody>
      </p:sp>
      <p:sp>
        <p:nvSpPr>
          <p:cNvPr id="75" name="TextBox 74">
            <a:extLst>
              <a:ext uri="{FF2B5EF4-FFF2-40B4-BE49-F238E27FC236}">
                <a16:creationId xmlns:a16="http://schemas.microsoft.com/office/drawing/2014/main" id="{70B93D5A-D76E-482E-A988-4BFBF590EEFD}"/>
              </a:ext>
            </a:extLst>
          </p:cNvPr>
          <p:cNvSpPr txBox="1"/>
          <p:nvPr/>
        </p:nvSpPr>
        <p:spPr>
          <a:xfrm>
            <a:off x="6628859" y="4108959"/>
            <a:ext cx="1540683" cy="369332"/>
          </a:xfrm>
          <a:prstGeom prst="rect">
            <a:avLst/>
          </a:prstGeom>
          <a:noFill/>
        </p:spPr>
        <p:txBody>
          <a:bodyPr wrap="square" rtlCol="0">
            <a:spAutoFit/>
          </a:bodyPr>
          <a:lstStyle/>
          <a:p>
            <a:pPr algn="ctr"/>
            <a:r>
              <a:rPr lang="en-US" dirty="0"/>
              <a:t>None</a:t>
            </a:r>
          </a:p>
        </p:txBody>
      </p:sp>
      <p:sp>
        <p:nvSpPr>
          <p:cNvPr id="76" name="TextBox 75">
            <a:extLst>
              <a:ext uri="{FF2B5EF4-FFF2-40B4-BE49-F238E27FC236}">
                <a16:creationId xmlns:a16="http://schemas.microsoft.com/office/drawing/2014/main" id="{A38C414E-D114-45F6-959A-EB082461154B}"/>
              </a:ext>
            </a:extLst>
          </p:cNvPr>
          <p:cNvSpPr txBox="1"/>
          <p:nvPr/>
        </p:nvSpPr>
        <p:spPr>
          <a:xfrm>
            <a:off x="9456824" y="4108959"/>
            <a:ext cx="1540683" cy="369332"/>
          </a:xfrm>
          <a:prstGeom prst="rect">
            <a:avLst/>
          </a:prstGeom>
          <a:noFill/>
        </p:spPr>
        <p:txBody>
          <a:bodyPr wrap="square" rtlCol="0">
            <a:spAutoFit/>
          </a:bodyPr>
          <a:lstStyle/>
          <a:p>
            <a:pPr algn="ctr"/>
            <a:r>
              <a:rPr lang="en-US" dirty="0"/>
              <a:t>CRABI</a:t>
            </a:r>
          </a:p>
        </p:txBody>
      </p:sp>
      <p:cxnSp>
        <p:nvCxnSpPr>
          <p:cNvPr id="26" name="Straight Connector 25">
            <a:extLst>
              <a:ext uri="{FF2B5EF4-FFF2-40B4-BE49-F238E27FC236}">
                <a16:creationId xmlns:a16="http://schemas.microsoft.com/office/drawing/2014/main" id="{CA0866EF-11FA-4E6D-98DF-3A63EAF351B5}"/>
              </a:ext>
            </a:extLst>
          </p:cNvPr>
          <p:cNvCxnSpPr>
            <a:cxnSpLocks/>
          </p:cNvCxnSpPr>
          <p:nvPr/>
        </p:nvCxnSpPr>
        <p:spPr>
          <a:xfrm>
            <a:off x="2240546" y="2713157"/>
            <a:ext cx="9554067" cy="17065"/>
          </a:xfrm>
          <a:prstGeom prst="line">
            <a:avLst/>
          </a:prstGeom>
        </p:spPr>
        <p:style>
          <a:lnRef idx="2">
            <a:schemeClr val="dk1"/>
          </a:lnRef>
          <a:fillRef idx="0">
            <a:schemeClr val="dk1"/>
          </a:fillRef>
          <a:effectRef idx="1">
            <a:schemeClr val="dk1"/>
          </a:effectRef>
          <a:fontRef idx="minor">
            <a:schemeClr val="tx1"/>
          </a:fontRef>
        </p:style>
      </p:cxnSp>
      <p:cxnSp>
        <p:nvCxnSpPr>
          <p:cNvPr id="86" name="Straight Connector 85">
            <a:extLst>
              <a:ext uri="{FF2B5EF4-FFF2-40B4-BE49-F238E27FC236}">
                <a16:creationId xmlns:a16="http://schemas.microsoft.com/office/drawing/2014/main" id="{2FA73853-DC74-47F6-9460-6CC78993D1A3}"/>
              </a:ext>
            </a:extLst>
          </p:cNvPr>
          <p:cNvCxnSpPr>
            <a:cxnSpLocks/>
          </p:cNvCxnSpPr>
          <p:nvPr/>
        </p:nvCxnSpPr>
        <p:spPr>
          <a:xfrm>
            <a:off x="2240546" y="3840580"/>
            <a:ext cx="9554067" cy="17065"/>
          </a:xfrm>
          <a:prstGeom prst="line">
            <a:avLst/>
          </a:prstGeom>
        </p:spPr>
        <p:style>
          <a:lnRef idx="2">
            <a:schemeClr val="dk1"/>
          </a:lnRef>
          <a:fillRef idx="0">
            <a:schemeClr val="dk1"/>
          </a:fillRef>
          <a:effectRef idx="1">
            <a:schemeClr val="dk1"/>
          </a:effectRef>
          <a:fontRef idx="minor">
            <a:schemeClr val="tx1"/>
          </a:fontRef>
        </p:style>
      </p:cxnSp>
      <p:cxnSp>
        <p:nvCxnSpPr>
          <p:cNvPr id="88" name="Straight Connector 87">
            <a:extLst>
              <a:ext uri="{FF2B5EF4-FFF2-40B4-BE49-F238E27FC236}">
                <a16:creationId xmlns:a16="http://schemas.microsoft.com/office/drawing/2014/main" id="{844C4F9D-3B45-46BB-A88E-2E8EEE942A9D}"/>
              </a:ext>
            </a:extLst>
          </p:cNvPr>
          <p:cNvCxnSpPr>
            <a:cxnSpLocks/>
          </p:cNvCxnSpPr>
          <p:nvPr/>
        </p:nvCxnSpPr>
        <p:spPr>
          <a:xfrm>
            <a:off x="2240546" y="4729750"/>
            <a:ext cx="9554067" cy="17065"/>
          </a:xfrm>
          <a:prstGeom prst="line">
            <a:avLst/>
          </a:prstGeom>
        </p:spPr>
        <p:style>
          <a:lnRef idx="2">
            <a:schemeClr val="dk1"/>
          </a:lnRef>
          <a:fillRef idx="0">
            <a:schemeClr val="dk1"/>
          </a:fillRef>
          <a:effectRef idx="1">
            <a:schemeClr val="dk1"/>
          </a:effectRef>
          <a:fontRef idx="minor">
            <a:schemeClr val="tx1"/>
          </a:fontRef>
        </p:style>
      </p:cxnSp>
      <p:sp>
        <p:nvSpPr>
          <p:cNvPr id="91" name="TextBox 90">
            <a:extLst>
              <a:ext uri="{FF2B5EF4-FFF2-40B4-BE49-F238E27FC236}">
                <a16:creationId xmlns:a16="http://schemas.microsoft.com/office/drawing/2014/main" id="{3DCF94F1-97C7-474C-A55B-D64B4A8BB42F}"/>
              </a:ext>
            </a:extLst>
          </p:cNvPr>
          <p:cNvSpPr txBox="1"/>
          <p:nvPr/>
        </p:nvSpPr>
        <p:spPr>
          <a:xfrm>
            <a:off x="2062431" y="4870609"/>
            <a:ext cx="1998152" cy="707886"/>
          </a:xfrm>
          <a:prstGeom prst="rect">
            <a:avLst/>
          </a:prstGeom>
          <a:noFill/>
        </p:spPr>
        <p:txBody>
          <a:bodyPr wrap="square" rtlCol="0">
            <a:spAutoFit/>
          </a:bodyPr>
          <a:lstStyle/>
          <a:p>
            <a:pPr algn="ctr"/>
            <a:r>
              <a:rPr lang="en-US" sz="2000" b="1" dirty="0"/>
              <a:t>Other MM defining events</a:t>
            </a:r>
          </a:p>
        </p:txBody>
      </p:sp>
      <p:sp>
        <p:nvSpPr>
          <p:cNvPr id="92" name="TextBox 91">
            <a:extLst>
              <a:ext uri="{FF2B5EF4-FFF2-40B4-BE49-F238E27FC236}">
                <a16:creationId xmlns:a16="http://schemas.microsoft.com/office/drawing/2014/main" id="{4E628BF1-E731-46DB-9652-B89196364B5A}"/>
              </a:ext>
            </a:extLst>
          </p:cNvPr>
          <p:cNvSpPr txBox="1"/>
          <p:nvPr/>
        </p:nvSpPr>
        <p:spPr>
          <a:xfrm>
            <a:off x="4182170" y="5039886"/>
            <a:ext cx="1540683" cy="369332"/>
          </a:xfrm>
          <a:prstGeom prst="rect">
            <a:avLst/>
          </a:prstGeom>
          <a:noFill/>
        </p:spPr>
        <p:txBody>
          <a:bodyPr wrap="square" rtlCol="0">
            <a:spAutoFit/>
          </a:bodyPr>
          <a:lstStyle/>
          <a:p>
            <a:pPr algn="ctr"/>
            <a:r>
              <a:rPr lang="en-US" dirty="0"/>
              <a:t>None</a:t>
            </a:r>
          </a:p>
        </p:txBody>
      </p:sp>
      <p:sp>
        <p:nvSpPr>
          <p:cNvPr id="93" name="TextBox 92">
            <a:extLst>
              <a:ext uri="{FF2B5EF4-FFF2-40B4-BE49-F238E27FC236}">
                <a16:creationId xmlns:a16="http://schemas.microsoft.com/office/drawing/2014/main" id="{A5DD3E27-3937-4696-8F7F-19829F4A21F2}"/>
              </a:ext>
            </a:extLst>
          </p:cNvPr>
          <p:cNvSpPr txBox="1"/>
          <p:nvPr/>
        </p:nvSpPr>
        <p:spPr>
          <a:xfrm>
            <a:off x="6628859" y="5039886"/>
            <a:ext cx="1540683" cy="369332"/>
          </a:xfrm>
          <a:prstGeom prst="rect">
            <a:avLst/>
          </a:prstGeom>
          <a:noFill/>
        </p:spPr>
        <p:txBody>
          <a:bodyPr wrap="square" rtlCol="0">
            <a:spAutoFit/>
          </a:bodyPr>
          <a:lstStyle/>
          <a:p>
            <a:pPr algn="ctr"/>
            <a:r>
              <a:rPr lang="en-US" dirty="0"/>
              <a:t>None</a:t>
            </a:r>
          </a:p>
        </p:txBody>
      </p:sp>
      <p:sp>
        <p:nvSpPr>
          <p:cNvPr id="95" name="TextBox 94">
            <a:extLst>
              <a:ext uri="{FF2B5EF4-FFF2-40B4-BE49-F238E27FC236}">
                <a16:creationId xmlns:a16="http://schemas.microsoft.com/office/drawing/2014/main" id="{4BCF6D2E-98D5-44E1-8642-6818ABB86002}"/>
              </a:ext>
            </a:extLst>
          </p:cNvPr>
          <p:cNvSpPr txBox="1"/>
          <p:nvPr/>
        </p:nvSpPr>
        <p:spPr>
          <a:xfrm>
            <a:off x="8546354" y="4685595"/>
            <a:ext cx="3361621" cy="1200329"/>
          </a:xfrm>
          <a:prstGeom prst="rect">
            <a:avLst/>
          </a:prstGeom>
          <a:noFill/>
        </p:spPr>
        <p:txBody>
          <a:bodyPr wrap="square">
            <a:spAutoFit/>
          </a:bodyPr>
          <a:lstStyle/>
          <a:p>
            <a:pPr marL="117475" indent="-117475" algn="l">
              <a:buFontTx/>
              <a:buChar char="-"/>
            </a:pPr>
            <a:r>
              <a:rPr lang="en-US" dirty="0"/>
              <a:t>Extramedullary plasmacytoma</a:t>
            </a:r>
          </a:p>
          <a:p>
            <a:pPr marL="117475" indent="-117475" algn="l">
              <a:buFontTx/>
              <a:buChar char="-"/>
            </a:pPr>
            <a:r>
              <a:rPr lang="en-US" dirty="0"/>
              <a:t>FLC &gt; 100mg/dl and FLC ratio &gt;100 or &lt; 0.01</a:t>
            </a:r>
          </a:p>
          <a:p>
            <a:pPr marL="117475" indent="-117475" algn="l">
              <a:buFontTx/>
              <a:buChar char="-"/>
            </a:pPr>
            <a:r>
              <a:rPr lang="en-US" dirty="0"/>
              <a:t>&gt;1 focal lesion on MRI</a:t>
            </a:r>
          </a:p>
        </p:txBody>
      </p:sp>
      <p:pic>
        <p:nvPicPr>
          <p:cNvPr id="38" name="Graphic 37" descr="Cursor with solid fill">
            <a:extLst>
              <a:ext uri="{FF2B5EF4-FFF2-40B4-BE49-F238E27FC236}">
                <a16:creationId xmlns:a16="http://schemas.microsoft.com/office/drawing/2014/main" id="{0AF5EB15-5025-6F49-824F-1E8C58C69F5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38351" y="1279762"/>
            <a:ext cx="301752" cy="301752"/>
          </a:xfrm>
          <a:prstGeom prst="rect">
            <a:avLst/>
          </a:prstGeom>
        </p:spPr>
      </p:pic>
      <p:pic>
        <p:nvPicPr>
          <p:cNvPr id="54" name="Graphic 53" descr="Cursor with solid fill">
            <a:extLst>
              <a:ext uri="{FF2B5EF4-FFF2-40B4-BE49-F238E27FC236}">
                <a16:creationId xmlns:a16="http://schemas.microsoft.com/office/drawing/2014/main" id="{BAA9F0C2-041D-42CE-BA69-F3832219BE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63337" y="1279762"/>
            <a:ext cx="301752" cy="301752"/>
          </a:xfrm>
          <a:prstGeom prst="rect">
            <a:avLst/>
          </a:prstGeom>
        </p:spPr>
      </p:pic>
      <p:pic>
        <p:nvPicPr>
          <p:cNvPr id="57" name="Graphic 56" descr="Cursor with solid fill">
            <a:extLst>
              <a:ext uri="{FF2B5EF4-FFF2-40B4-BE49-F238E27FC236}">
                <a16:creationId xmlns:a16="http://schemas.microsoft.com/office/drawing/2014/main" id="{3F7D90CE-3109-4CC2-9F9D-FD17E28866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72932" y="1279762"/>
            <a:ext cx="301752" cy="301752"/>
          </a:xfrm>
          <a:prstGeom prst="rect">
            <a:avLst/>
          </a:prstGeom>
        </p:spPr>
      </p:pic>
      <p:sp>
        <p:nvSpPr>
          <p:cNvPr id="2" name="Obj 1">
            <a:hlinkClick r:id="rId7" action="ppaction://hlinksldjump"/>
            <a:extLst>
              <a:ext uri="{FF2B5EF4-FFF2-40B4-BE49-F238E27FC236}">
                <a16:creationId xmlns:a16="http://schemas.microsoft.com/office/drawing/2014/main" id="{8A5D5058-A34B-D4FC-1D33-B0D9B62BC456}"/>
              </a:ext>
            </a:extLst>
          </p:cNvPr>
          <p:cNvSpPr/>
          <p:nvPr/>
        </p:nvSpPr>
        <p:spPr>
          <a:xfrm>
            <a:off x="183491" y="216531"/>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Pathogenesis</a:t>
            </a:r>
          </a:p>
        </p:txBody>
      </p:sp>
      <p:pic>
        <p:nvPicPr>
          <p:cNvPr id="4" name="Graphic 3" descr="Cursor with solid fill">
            <a:extLst>
              <a:ext uri="{FF2B5EF4-FFF2-40B4-BE49-F238E27FC236}">
                <a16:creationId xmlns:a16="http://schemas.microsoft.com/office/drawing/2014/main" id="{60E859DE-FBD1-B3F6-FD1A-03722C997E3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5621" y="489473"/>
            <a:ext cx="301752" cy="301752"/>
          </a:xfrm>
          <a:prstGeom prst="rect">
            <a:avLst/>
          </a:prstGeom>
        </p:spPr>
      </p:pic>
      <p:sp>
        <p:nvSpPr>
          <p:cNvPr id="5" name="Obj 1">
            <a:hlinkClick r:id="rId8" action="ppaction://hlinksldjump"/>
            <a:extLst>
              <a:ext uri="{FF2B5EF4-FFF2-40B4-BE49-F238E27FC236}">
                <a16:creationId xmlns:a16="http://schemas.microsoft.com/office/drawing/2014/main" id="{16200C94-A234-C4B2-FEA0-8CB53B55092B}"/>
              </a:ext>
            </a:extLst>
          </p:cNvPr>
          <p:cNvSpPr/>
          <p:nvPr/>
        </p:nvSpPr>
        <p:spPr>
          <a:xfrm>
            <a:off x="183491" y="82031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6" name="Graphic 5" descr="Cursor with solid fill">
            <a:extLst>
              <a:ext uri="{FF2B5EF4-FFF2-40B4-BE49-F238E27FC236}">
                <a16:creationId xmlns:a16="http://schemas.microsoft.com/office/drawing/2014/main" id="{F462580B-5B35-1508-165B-0F42357B54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5621" y="1094197"/>
            <a:ext cx="301752" cy="301752"/>
          </a:xfrm>
          <a:prstGeom prst="rect">
            <a:avLst/>
          </a:prstGeom>
        </p:spPr>
      </p:pic>
      <p:sp>
        <p:nvSpPr>
          <p:cNvPr id="9" name="Obj 1">
            <a:hlinkClick r:id="rId9" action="ppaction://hlinksldjump"/>
            <a:extLst>
              <a:ext uri="{FF2B5EF4-FFF2-40B4-BE49-F238E27FC236}">
                <a16:creationId xmlns:a16="http://schemas.microsoft.com/office/drawing/2014/main" id="{70719ECA-8F81-E8F5-0BD8-5D3DBA42A030}"/>
              </a:ext>
            </a:extLst>
          </p:cNvPr>
          <p:cNvSpPr/>
          <p:nvPr/>
        </p:nvSpPr>
        <p:spPr>
          <a:xfrm>
            <a:off x="183491" y="1424103"/>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Differential</a:t>
            </a:r>
          </a:p>
        </p:txBody>
      </p:sp>
      <p:sp>
        <p:nvSpPr>
          <p:cNvPr id="13" name="Obj 1">
            <a:hlinkClick r:id="rId10" action="ppaction://hlinksldjump"/>
            <a:extLst>
              <a:ext uri="{FF2B5EF4-FFF2-40B4-BE49-F238E27FC236}">
                <a16:creationId xmlns:a16="http://schemas.microsoft.com/office/drawing/2014/main" id="{CF18A99A-05C5-65CD-991C-AB9D78F3DA98}"/>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14" name="Graphic 13" descr="Cursor with solid fill">
            <a:extLst>
              <a:ext uri="{FF2B5EF4-FFF2-40B4-BE49-F238E27FC236}">
                <a16:creationId xmlns:a16="http://schemas.microsoft.com/office/drawing/2014/main" id="{D8A95D9D-ED0F-FBBB-2119-8935DC9DDBF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5621" y="2303645"/>
            <a:ext cx="301752" cy="301752"/>
          </a:xfrm>
          <a:prstGeom prst="rect">
            <a:avLst/>
          </a:prstGeom>
        </p:spPr>
      </p:pic>
      <p:sp>
        <p:nvSpPr>
          <p:cNvPr id="15" name="Obj 1">
            <a:hlinkClick r:id="rId11" action="ppaction://hlinksldjump"/>
            <a:extLst>
              <a:ext uri="{FF2B5EF4-FFF2-40B4-BE49-F238E27FC236}">
                <a16:creationId xmlns:a16="http://schemas.microsoft.com/office/drawing/2014/main" id="{BE78ED55-3345-C9EB-090F-B76833D7FD64}"/>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16" name="Graphic 15" descr="Cursor with solid fill">
            <a:extLst>
              <a:ext uri="{FF2B5EF4-FFF2-40B4-BE49-F238E27FC236}">
                <a16:creationId xmlns:a16="http://schemas.microsoft.com/office/drawing/2014/main" id="{8EE25A0C-3148-E947-A6E5-7D4A9C4878F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5621" y="2908369"/>
            <a:ext cx="301752" cy="301752"/>
          </a:xfrm>
          <a:prstGeom prst="rect">
            <a:avLst/>
          </a:prstGeom>
        </p:spPr>
      </p:pic>
      <p:sp>
        <p:nvSpPr>
          <p:cNvPr id="17" name="Obj 1">
            <a:hlinkClick r:id="rId12" action="ppaction://hlinksldjump"/>
            <a:extLst>
              <a:ext uri="{FF2B5EF4-FFF2-40B4-BE49-F238E27FC236}">
                <a16:creationId xmlns:a16="http://schemas.microsoft.com/office/drawing/2014/main" id="{D3110E8E-C038-9FC1-CC4D-C74B87F27BE9}"/>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8" name="Graphic 17" descr="Cursor with solid fill">
            <a:extLst>
              <a:ext uri="{FF2B5EF4-FFF2-40B4-BE49-F238E27FC236}">
                <a16:creationId xmlns:a16="http://schemas.microsoft.com/office/drawing/2014/main" id="{1C2B3512-2208-66AA-2561-C0302DF1A3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95621" y="3513094"/>
            <a:ext cx="301752" cy="301752"/>
          </a:xfrm>
          <a:prstGeom prst="rect">
            <a:avLst/>
          </a:prstGeom>
        </p:spPr>
      </p:pic>
      <p:sp>
        <p:nvSpPr>
          <p:cNvPr id="19" name="TextBox 18">
            <a:extLst>
              <a:ext uri="{FF2B5EF4-FFF2-40B4-BE49-F238E27FC236}">
                <a16:creationId xmlns:a16="http://schemas.microsoft.com/office/drawing/2014/main" id="{89E43E55-988C-C9A5-FBA9-B497BBD8304B}"/>
              </a:ext>
            </a:extLst>
          </p:cNvPr>
          <p:cNvSpPr txBox="1"/>
          <p:nvPr/>
        </p:nvSpPr>
        <p:spPr>
          <a:xfrm>
            <a:off x="3557916" y="77401"/>
            <a:ext cx="6009817" cy="523220"/>
          </a:xfrm>
          <a:prstGeom prst="rect">
            <a:avLst/>
          </a:prstGeom>
          <a:noFill/>
        </p:spPr>
        <p:txBody>
          <a:bodyPr wrap="square" rtlCol="0">
            <a:spAutoFit/>
          </a:bodyPr>
          <a:lstStyle/>
          <a:p>
            <a:pPr algn="ctr"/>
            <a:r>
              <a:rPr lang="en-US" sz="2800" b="1" dirty="0"/>
              <a:t>Differential Diagnosis</a:t>
            </a:r>
          </a:p>
        </p:txBody>
      </p:sp>
      <p:sp>
        <p:nvSpPr>
          <p:cNvPr id="52" name="TextBox 51">
            <a:extLst>
              <a:ext uri="{FF2B5EF4-FFF2-40B4-BE49-F238E27FC236}">
                <a16:creationId xmlns:a16="http://schemas.microsoft.com/office/drawing/2014/main" id="{EA80D6E0-7B14-46D6-9311-61F49D303EE7}"/>
              </a:ext>
            </a:extLst>
          </p:cNvPr>
          <p:cNvSpPr txBox="1"/>
          <p:nvPr/>
        </p:nvSpPr>
        <p:spPr>
          <a:xfrm>
            <a:off x="4372261" y="1666953"/>
            <a:ext cx="1059039" cy="369332"/>
          </a:xfrm>
          <a:prstGeom prst="rect">
            <a:avLst/>
          </a:prstGeom>
          <a:noFill/>
        </p:spPr>
        <p:txBody>
          <a:bodyPr wrap="square" rtlCol="0">
            <a:spAutoFit/>
          </a:bodyPr>
          <a:lstStyle/>
          <a:p>
            <a:pPr algn="ctr"/>
            <a:r>
              <a:rPr lang="en-US" dirty="0"/>
              <a:t>&lt;3 g/dL </a:t>
            </a:r>
          </a:p>
        </p:txBody>
      </p:sp>
      <p:sp>
        <p:nvSpPr>
          <p:cNvPr id="61" name="TextBox 60">
            <a:extLst>
              <a:ext uri="{FF2B5EF4-FFF2-40B4-BE49-F238E27FC236}">
                <a16:creationId xmlns:a16="http://schemas.microsoft.com/office/drawing/2014/main" id="{E931F75C-A8ED-4882-8F1D-A157FDB0E212}"/>
              </a:ext>
            </a:extLst>
          </p:cNvPr>
          <p:cNvSpPr txBox="1"/>
          <p:nvPr/>
        </p:nvSpPr>
        <p:spPr>
          <a:xfrm>
            <a:off x="4342384" y="2242721"/>
            <a:ext cx="1649863" cy="380667"/>
          </a:xfrm>
          <a:prstGeom prst="rect">
            <a:avLst/>
          </a:prstGeom>
          <a:noFill/>
        </p:spPr>
        <p:txBody>
          <a:bodyPr wrap="square" rtlCol="0">
            <a:spAutoFit/>
          </a:bodyPr>
          <a:lstStyle/>
          <a:p>
            <a:pPr algn="ctr"/>
            <a:r>
              <a:rPr lang="en-US" dirty="0"/>
              <a:t>&lt;500 mg/24 h</a:t>
            </a:r>
          </a:p>
        </p:txBody>
      </p:sp>
      <p:sp>
        <p:nvSpPr>
          <p:cNvPr id="8" name="TextBox 7">
            <a:extLst>
              <a:ext uri="{FF2B5EF4-FFF2-40B4-BE49-F238E27FC236}">
                <a16:creationId xmlns:a16="http://schemas.microsoft.com/office/drawing/2014/main" id="{0341BA82-AAEB-65EA-D66B-3762FB5C4AE0}"/>
              </a:ext>
            </a:extLst>
          </p:cNvPr>
          <p:cNvSpPr txBox="1"/>
          <p:nvPr/>
        </p:nvSpPr>
        <p:spPr>
          <a:xfrm>
            <a:off x="4132563" y="5780322"/>
            <a:ext cx="1639896" cy="923330"/>
          </a:xfrm>
          <a:prstGeom prst="rect">
            <a:avLst/>
          </a:prstGeom>
          <a:noFill/>
        </p:spPr>
        <p:txBody>
          <a:bodyPr wrap="square" rtlCol="0">
            <a:spAutoFit/>
          </a:bodyPr>
          <a:lstStyle/>
          <a:p>
            <a:pPr algn="ctr"/>
            <a:r>
              <a:rPr lang="en-US" dirty="0"/>
              <a:t>1%/y risk of progression to MM</a:t>
            </a:r>
          </a:p>
        </p:txBody>
      </p:sp>
      <p:sp>
        <p:nvSpPr>
          <p:cNvPr id="11" name="TextBox 10">
            <a:extLst>
              <a:ext uri="{FF2B5EF4-FFF2-40B4-BE49-F238E27FC236}">
                <a16:creationId xmlns:a16="http://schemas.microsoft.com/office/drawing/2014/main" id="{25AC9009-0034-7DB5-8F3F-49875CD3C938}"/>
              </a:ext>
            </a:extLst>
          </p:cNvPr>
          <p:cNvSpPr txBox="1"/>
          <p:nvPr/>
        </p:nvSpPr>
        <p:spPr>
          <a:xfrm>
            <a:off x="6579252" y="5780322"/>
            <a:ext cx="1639896" cy="923330"/>
          </a:xfrm>
          <a:prstGeom prst="rect">
            <a:avLst/>
          </a:prstGeom>
          <a:noFill/>
        </p:spPr>
        <p:txBody>
          <a:bodyPr wrap="square" rtlCol="0">
            <a:spAutoFit/>
          </a:bodyPr>
          <a:lstStyle/>
          <a:p>
            <a:pPr algn="ctr"/>
            <a:r>
              <a:rPr lang="en-US" dirty="0"/>
              <a:t>10% risk of progression to MM in first 5 y</a:t>
            </a:r>
          </a:p>
        </p:txBody>
      </p:sp>
      <p:sp>
        <p:nvSpPr>
          <p:cNvPr id="23" name="MM">
            <a:extLst>
              <a:ext uri="{FF2B5EF4-FFF2-40B4-BE49-F238E27FC236}">
                <a16:creationId xmlns:a16="http://schemas.microsoft.com/office/drawing/2014/main" id="{A5A8A249-2A04-754F-B26C-B352A71841F6}"/>
              </a:ext>
            </a:extLst>
          </p:cNvPr>
          <p:cNvSpPr/>
          <p:nvPr/>
        </p:nvSpPr>
        <p:spPr>
          <a:xfrm>
            <a:off x="4647969" y="5915406"/>
            <a:ext cx="3055774"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Why should we care?</a:t>
            </a:r>
          </a:p>
        </p:txBody>
      </p:sp>
      <p:pic>
        <p:nvPicPr>
          <p:cNvPr id="24" name="Graphic 23" descr="Cursor with solid fill">
            <a:extLst>
              <a:ext uri="{FF2B5EF4-FFF2-40B4-BE49-F238E27FC236}">
                <a16:creationId xmlns:a16="http://schemas.microsoft.com/office/drawing/2014/main" id="{6F8644C5-AE0F-9AE2-91CD-7C77F95DB0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11796" y="6223098"/>
            <a:ext cx="301752" cy="301752"/>
          </a:xfrm>
          <a:prstGeom prst="rect">
            <a:avLst/>
          </a:prstGeom>
        </p:spPr>
      </p:pic>
      <p:cxnSp>
        <p:nvCxnSpPr>
          <p:cNvPr id="29" name="Straight Connector 28">
            <a:extLst>
              <a:ext uri="{FF2B5EF4-FFF2-40B4-BE49-F238E27FC236}">
                <a16:creationId xmlns:a16="http://schemas.microsoft.com/office/drawing/2014/main" id="{A3A9833D-6728-12B3-4FE0-361D3045F80A}"/>
              </a:ext>
            </a:extLst>
          </p:cNvPr>
          <p:cNvCxnSpPr>
            <a:cxnSpLocks/>
          </p:cNvCxnSpPr>
          <p:nvPr/>
        </p:nvCxnSpPr>
        <p:spPr>
          <a:xfrm>
            <a:off x="2240546" y="5825618"/>
            <a:ext cx="9554067" cy="17065"/>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387510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1"/>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38"/>
                                        </p:tgtEl>
                                        <p:attrNameLst>
                                          <p:attrName>style.visibility</p:attrName>
                                        </p:attrNameLst>
                                      </p:cBhvr>
                                      <p:to>
                                        <p:strVal val="hidden"/>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6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5"/>
                                        </p:tgtEl>
                                        <p:attrNameLst>
                                          <p:attrName>style.visibility</p:attrName>
                                        </p:attrNameLst>
                                      </p:cBhvr>
                                      <p:to>
                                        <p:strVal val="visible"/>
                                      </p:to>
                                    </p:set>
                                  </p:childTnLst>
                                </p:cTn>
                              </p:par>
                            </p:childTnLst>
                          </p:cTn>
                        </p:par>
                      </p:childTnLst>
                    </p:cTn>
                  </p:par>
                </p:childTnLst>
              </p:cTn>
              <p:nextCondLst>
                <p:cond evt="onClick" delay="0">
                  <p:tgtEl>
                    <p:spTgt spid="51"/>
                  </p:tgtEl>
                </p:cond>
              </p:nextCondLst>
            </p:seq>
            <p:seq concurrent="1" nextAc="seek">
              <p:cTn id="24" restart="whenNotActive" fill="hold" evtFilter="cancelBubble" nodeType="interactiveSeq">
                <p:stCondLst>
                  <p:cond evt="onClick" delay="0">
                    <p:tgtEl>
                      <p:spTgt spid="55"/>
                    </p:tgtEl>
                  </p:cond>
                </p:stCondLst>
                <p:endSync evt="end" delay="0">
                  <p:rtn val="all"/>
                </p:endSync>
                <p:childTnLst>
                  <p:par>
                    <p:cTn id="25" fill="hold">
                      <p:stCondLst>
                        <p:cond delay="0"/>
                      </p:stCondLst>
                      <p:childTnLst>
                        <p:par>
                          <p:cTn id="26" fill="hold">
                            <p:stCondLst>
                              <p:cond delay="0"/>
                            </p:stCondLst>
                            <p:childTnLst>
                              <p:par>
                                <p:cTn id="27" presetID="1" presetClass="exit" presetSubtype="0" fill="hold" grpId="0" nodeType="withEffect">
                                  <p:stCondLst>
                                    <p:cond delay="0"/>
                                  </p:stCondLst>
                                  <p:childTnLst>
                                    <p:set>
                                      <p:cBhvr>
                                        <p:cTn id="28" dur="1" fill="hold">
                                          <p:stCondLst>
                                            <p:cond delay="0"/>
                                          </p:stCondLst>
                                        </p:cTn>
                                        <p:tgtEl>
                                          <p:spTgt spid="5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54"/>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9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6"/>
                                        </p:tgtEl>
                                        <p:attrNameLst>
                                          <p:attrName>style.visibility</p:attrName>
                                        </p:attrNameLst>
                                      </p:cBhvr>
                                      <p:to>
                                        <p:strVal val="visible"/>
                                      </p:to>
                                    </p:set>
                                  </p:childTnLst>
                                </p:cTn>
                              </p:par>
                            </p:childTnLst>
                          </p:cTn>
                        </p:par>
                      </p:childTnLst>
                    </p:cTn>
                  </p:par>
                </p:childTnLst>
              </p:cTn>
              <p:nextCondLst>
                <p:cond evt="onClick" delay="0">
                  <p:tgtEl>
                    <p:spTgt spid="55"/>
                  </p:tgtEl>
                </p:cond>
              </p:nextCondLst>
            </p:seq>
            <p:seq concurrent="1" nextAc="seek">
              <p:cTn id="45" restart="whenNotActive" fill="hold" evtFilter="cancelBubble" nodeType="interactiveSeq">
                <p:stCondLst>
                  <p:cond evt="onClick" delay="0">
                    <p:tgtEl>
                      <p:spTgt spid="58"/>
                    </p:tgtEl>
                  </p:cond>
                </p:stCondLst>
                <p:endSync evt="end" delay="0">
                  <p:rtn val="all"/>
                </p:endSync>
                <p:childTnLst>
                  <p:par>
                    <p:cTn id="46" fill="hold">
                      <p:stCondLst>
                        <p:cond delay="0"/>
                      </p:stCondLst>
                      <p:childTnLst>
                        <p:par>
                          <p:cTn id="47" fill="hold">
                            <p:stCondLst>
                              <p:cond delay="0"/>
                            </p:stCondLst>
                            <p:childTnLst>
                              <p:par>
                                <p:cTn id="48" presetID="1" presetClass="exit" presetSubtype="0" fill="hold" grpId="0" nodeType="withEffect">
                                  <p:stCondLst>
                                    <p:cond delay="0"/>
                                  </p:stCondLst>
                                  <p:childTnLst>
                                    <p:set>
                                      <p:cBhvr>
                                        <p:cTn id="49" dur="1" fill="hold">
                                          <p:stCondLst>
                                            <p:cond delay="0"/>
                                          </p:stCondLst>
                                        </p:cTn>
                                        <p:tgtEl>
                                          <p:spTgt spid="58"/>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57"/>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59"/>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6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7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9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52"/>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61"/>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02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028"/>
                                        </p:tgtEl>
                                        <p:attrNameLst>
                                          <p:attrName>style.visibility</p:attrName>
                                        </p:attrNameLst>
                                      </p:cBhvr>
                                      <p:to>
                                        <p:strVal val="visible"/>
                                      </p:to>
                                    </p:set>
                                  </p:childTnLst>
                                </p:cTn>
                              </p:par>
                            </p:childTnLst>
                          </p:cTn>
                        </p:par>
                      </p:childTnLst>
                    </p:cTn>
                  </p:par>
                </p:childTnLst>
              </p:cTn>
              <p:nextCondLst>
                <p:cond evt="onClick" delay="0">
                  <p:tgtEl>
                    <p:spTgt spid="58"/>
                  </p:tgtEl>
                </p:cond>
              </p:nextCondLst>
            </p:seq>
            <p:seq concurrent="1" nextAc="seek">
              <p:cTn id="68" restart="whenNotActive" fill="hold" evtFilter="cancelBubble" nodeType="interactiveSeq">
                <p:stCondLst>
                  <p:cond evt="onClick" delay="0">
                    <p:tgtEl>
                      <p:spTgt spid="23"/>
                    </p:tgtEl>
                  </p:cond>
                </p:stCondLst>
                <p:endSync evt="end" delay="0">
                  <p:rtn val="all"/>
                </p:endSync>
                <p:childTnLst>
                  <p:par>
                    <p:cTn id="69" fill="hold">
                      <p:stCondLst>
                        <p:cond delay="0"/>
                      </p:stCondLst>
                      <p:childTnLst>
                        <p:par>
                          <p:cTn id="70" fill="hold">
                            <p:stCondLst>
                              <p:cond delay="0"/>
                            </p:stCondLst>
                            <p:childTnLst>
                              <p:par>
                                <p:cTn id="71" presetID="1" presetClass="exit"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4"/>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childTnLst>
                          </p:cTn>
                        </p:par>
                      </p:childTnLst>
                    </p:cTn>
                  </p:par>
                </p:childTnLst>
              </p:cTn>
              <p:nextCondLst>
                <p:cond evt="onClick" delay="0">
                  <p:tgtEl>
                    <p:spTgt spid="23"/>
                  </p:tgtEl>
                </p:cond>
              </p:nextCondLst>
            </p:seq>
          </p:childTnLst>
        </p:cTn>
      </p:par>
    </p:tnLst>
    <p:bldLst>
      <p:bldP spid="53" grpId="0" animBg="1"/>
      <p:bldP spid="56" grpId="0" animBg="1"/>
      <p:bldP spid="59" grpId="0" animBg="1"/>
      <p:bldP spid="3" grpId="0"/>
      <p:bldP spid="51" grpId="0" animBg="1"/>
      <p:bldP spid="55" grpId="0" animBg="1"/>
      <p:bldP spid="58" grpId="0" animBg="1"/>
      <p:bldP spid="64" grpId="0"/>
      <p:bldP spid="65" grpId="0"/>
      <p:bldP spid="66" grpId="0"/>
      <p:bldP spid="67" grpId="0"/>
      <p:bldP spid="68" grpId="0"/>
      <p:bldP spid="69" grpId="0"/>
      <p:bldP spid="73" grpId="0"/>
      <p:bldP spid="72" grpId="0"/>
      <p:bldP spid="75" grpId="0"/>
      <p:bldP spid="76" grpId="0"/>
      <p:bldP spid="92" grpId="0"/>
      <p:bldP spid="93" grpId="0"/>
      <p:bldP spid="95" grpId="0"/>
      <p:bldP spid="52" grpId="0"/>
      <p:bldP spid="61" grpId="0"/>
      <p:bldP spid="8" grpId="0"/>
      <p:bldP spid="11" grpId="0"/>
      <p:bldP spid="2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tage III final">
            <a:extLst>
              <a:ext uri="{FF2B5EF4-FFF2-40B4-BE49-F238E27FC236}">
                <a16:creationId xmlns:a16="http://schemas.microsoft.com/office/drawing/2014/main" id="{4271379D-3690-40B7-8007-0F18D2266265}"/>
              </a:ext>
            </a:extLst>
          </p:cNvPr>
          <p:cNvSpPr/>
          <p:nvPr/>
        </p:nvSpPr>
        <p:spPr>
          <a:xfrm>
            <a:off x="9855941" y="797109"/>
            <a:ext cx="1737360" cy="457200"/>
          </a:xfrm>
          <a:prstGeom prst="roundRect">
            <a:avLst/>
          </a:prstGeom>
          <a:solidFill>
            <a:srgbClr val="C00000"/>
          </a:solidFill>
          <a:ln w="38100">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Stage III</a:t>
            </a:r>
          </a:p>
        </p:txBody>
      </p:sp>
      <p:sp>
        <p:nvSpPr>
          <p:cNvPr id="45" name="Stage II final">
            <a:extLst>
              <a:ext uri="{FF2B5EF4-FFF2-40B4-BE49-F238E27FC236}">
                <a16:creationId xmlns:a16="http://schemas.microsoft.com/office/drawing/2014/main" id="{2846D44C-AB0F-4CF7-BF64-9B1F2593358A}"/>
              </a:ext>
            </a:extLst>
          </p:cNvPr>
          <p:cNvSpPr/>
          <p:nvPr/>
        </p:nvSpPr>
        <p:spPr>
          <a:xfrm>
            <a:off x="7064788" y="797109"/>
            <a:ext cx="1737360" cy="457200"/>
          </a:xfrm>
          <a:prstGeom prst="roundRect">
            <a:avLst/>
          </a:prstGeom>
          <a:solidFill>
            <a:schemeClr val="accent2"/>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Stage II</a:t>
            </a:r>
          </a:p>
        </p:txBody>
      </p:sp>
      <p:sp>
        <p:nvSpPr>
          <p:cNvPr id="47" name="Stage 1 final">
            <a:extLst>
              <a:ext uri="{FF2B5EF4-FFF2-40B4-BE49-F238E27FC236}">
                <a16:creationId xmlns:a16="http://schemas.microsoft.com/office/drawing/2014/main" id="{31C845E7-0A23-49A2-B89A-9C2DF3D7D7CC}"/>
              </a:ext>
            </a:extLst>
          </p:cNvPr>
          <p:cNvSpPr/>
          <p:nvPr/>
        </p:nvSpPr>
        <p:spPr>
          <a:xfrm>
            <a:off x="4271884" y="797109"/>
            <a:ext cx="1737360" cy="457200"/>
          </a:xfrm>
          <a:prstGeom prst="roundRect">
            <a:avLst/>
          </a:prstGeom>
          <a:solidFill>
            <a:schemeClr val="accent4"/>
          </a:solidFill>
          <a:ln w="3810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Stage I</a:t>
            </a:r>
          </a:p>
        </p:txBody>
      </p:sp>
      <p:sp>
        <p:nvSpPr>
          <p:cNvPr id="42" name="Stage III">
            <a:extLst>
              <a:ext uri="{FF2B5EF4-FFF2-40B4-BE49-F238E27FC236}">
                <a16:creationId xmlns:a16="http://schemas.microsoft.com/office/drawing/2014/main" id="{B186DA15-19DE-4A6B-9F27-384A1A273F27}"/>
              </a:ext>
            </a:extLst>
          </p:cNvPr>
          <p:cNvSpPr/>
          <p:nvPr/>
        </p:nvSpPr>
        <p:spPr>
          <a:xfrm>
            <a:off x="9855941" y="797109"/>
            <a:ext cx="1737360" cy="457200"/>
          </a:xfrm>
          <a:prstGeom prst="roundRect">
            <a:avLst/>
          </a:prstGeom>
          <a:solidFill>
            <a:schemeClr val="bg1"/>
          </a:solidFill>
          <a:ln w="38100">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Stage III</a:t>
            </a:r>
          </a:p>
        </p:txBody>
      </p:sp>
      <p:sp>
        <p:nvSpPr>
          <p:cNvPr id="44" name="Stage II">
            <a:extLst>
              <a:ext uri="{FF2B5EF4-FFF2-40B4-BE49-F238E27FC236}">
                <a16:creationId xmlns:a16="http://schemas.microsoft.com/office/drawing/2014/main" id="{D3C8D1D9-04DB-494D-95D7-B2BF2B055729}"/>
              </a:ext>
            </a:extLst>
          </p:cNvPr>
          <p:cNvSpPr/>
          <p:nvPr/>
        </p:nvSpPr>
        <p:spPr>
          <a:xfrm>
            <a:off x="7064788" y="797109"/>
            <a:ext cx="1737360" cy="457200"/>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Stage II</a:t>
            </a:r>
          </a:p>
        </p:txBody>
      </p:sp>
      <p:sp>
        <p:nvSpPr>
          <p:cNvPr id="46" name="Stage 1">
            <a:extLst>
              <a:ext uri="{FF2B5EF4-FFF2-40B4-BE49-F238E27FC236}">
                <a16:creationId xmlns:a16="http://schemas.microsoft.com/office/drawing/2014/main" id="{F6776246-70C2-4272-AB68-D48638894E38}"/>
              </a:ext>
            </a:extLst>
          </p:cNvPr>
          <p:cNvSpPr/>
          <p:nvPr/>
        </p:nvSpPr>
        <p:spPr>
          <a:xfrm>
            <a:off x="4271882" y="797109"/>
            <a:ext cx="1737360" cy="457200"/>
          </a:xfrm>
          <a:prstGeom prst="roundRect">
            <a:avLst/>
          </a:prstGeom>
          <a:solidFill>
            <a:schemeClr val="bg1"/>
          </a:solidFill>
          <a:ln w="38100">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Stage I</a:t>
            </a:r>
          </a:p>
        </p:txBody>
      </p:sp>
      <p:sp>
        <p:nvSpPr>
          <p:cNvPr id="48" name="TextBox 47">
            <a:extLst>
              <a:ext uri="{FF2B5EF4-FFF2-40B4-BE49-F238E27FC236}">
                <a16:creationId xmlns:a16="http://schemas.microsoft.com/office/drawing/2014/main" id="{94961406-C481-4431-A134-225A370AAD5F}"/>
              </a:ext>
            </a:extLst>
          </p:cNvPr>
          <p:cNvSpPr txBox="1"/>
          <p:nvPr/>
        </p:nvSpPr>
        <p:spPr>
          <a:xfrm>
            <a:off x="2333484" y="1482012"/>
            <a:ext cx="1872239" cy="369332"/>
          </a:xfrm>
          <a:prstGeom prst="rect">
            <a:avLst/>
          </a:prstGeom>
          <a:noFill/>
        </p:spPr>
        <p:txBody>
          <a:bodyPr wrap="square" rtlCol="0">
            <a:spAutoFit/>
          </a:bodyPr>
          <a:lstStyle/>
          <a:p>
            <a:pPr algn="ctr"/>
            <a:r>
              <a:rPr lang="en-US" dirty="0"/>
              <a:t>β2- microglobulin</a:t>
            </a:r>
          </a:p>
        </p:txBody>
      </p:sp>
      <p:sp>
        <p:nvSpPr>
          <p:cNvPr id="49" name="TextBox 48">
            <a:extLst>
              <a:ext uri="{FF2B5EF4-FFF2-40B4-BE49-F238E27FC236}">
                <a16:creationId xmlns:a16="http://schemas.microsoft.com/office/drawing/2014/main" id="{CC77A6BD-7A67-4E1C-A644-A5D02B48EF4D}"/>
              </a:ext>
            </a:extLst>
          </p:cNvPr>
          <p:cNvSpPr txBox="1"/>
          <p:nvPr/>
        </p:nvSpPr>
        <p:spPr>
          <a:xfrm>
            <a:off x="2315052" y="2216022"/>
            <a:ext cx="1783191" cy="369332"/>
          </a:xfrm>
          <a:prstGeom prst="rect">
            <a:avLst/>
          </a:prstGeom>
          <a:noFill/>
        </p:spPr>
        <p:txBody>
          <a:bodyPr wrap="square" rtlCol="0">
            <a:spAutoFit/>
          </a:bodyPr>
          <a:lstStyle/>
          <a:p>
            <a:pPr algn="ctr"/>
            <a:r>
              <a:rPr lang="en-US" dirty="0"/>
              <a:t>LDH</a:t>
            </a:r>
          </a:p>
        </p:txBody>
      </p:sp>
      <p:sp>
        <p:nvSpPr>
          <p:cNvPr id="50" name="TextBox 49">
            <a:extLst>
              <a:ext uri="{FF2B5EF4-FFF2-40B4-BE49-F238E27FC236}">
                <a16:creationId xmlns:a16="http://schemas.microsoft.com/office/drawing/2014/main" id="{3966E005-B62A-439F-9613-E116F875D33B}"/>
              </a:ext>
            </a:extLst>
          </p:cNvPr>
          <p:cNvSpPr txBox="1"/>
          <p:nvPr/>
        </p:nvSpPr>
        <p:spPr>
          <a:xfrm>
            <a:off x="2315051" y="2985510"/>
            <a:ext cx="1783191" cy="369332"/>
          </a:xfrm>
          <a:prstGeom prst="rect">
            <a:avLst/>
          </a:prstGeom>
          <a:noFill/>
        </p:spPr>
        <p:txBody>
          <a:bodyPr wrap="square" rtlCol="0">
            <a:spAutoFit/>
          </a:bodyPr>
          <a:lstStyle/>
          <a:p>
            <a:pPr algn="ctr"/>
            <a:r>
              <a:rPr lang="en-US" dirty="0"/>
              <a:t>iFISH</a:t>
            </a:r>
          </a:p>
        </p:txBody>
      </p:sp>
      <p:sp>
        <p:nvSpPr>
          <p:cNvPr id="51" name="TextBox 50">
            <a:extLst>
              <a:ext uri="{FF2B5EF4-FFF2-40B4-BE49-F238E27FC236}">
                <a16:creationId xmlns:a16="http://schemas.microsoft.com/office/drawing/2014/main" id="{935888A7-0E0B-4BFF-80B6-8BC6C8FD959D}"/>
              </a:ext>
            </a:extLst>
          </p:cNvPr>
          <p:cNvSpPr txBox="1"/>
          <p:nvPr/>
        </p:nvSpPr>
        <p:spPr>
          <a:xfrm>
            <a:off x="4293567" y="1482012"/>
            <a:ext cx="1695742" cy="369332"/>
          </a:xfrm>
          <a:prstGeom prst="rect">
            <a:avLst/>
          </a:prstGeom>
          <a:noFill/>
        </p:spPr>
        <p:txBody>
          <a:bodyPr wrap="square" rtlCol="0">
            <a:spAutoFit/>
          </a:bodyPr>
          <a:lstStyle/>
          <a:p>
            <a:pPr algn="ctr"/>
            <a:r>
              <a:rPr lang="en-US" dirty="0"/>
              <a:t>&lt;3.5 mg/L</a:t>
            </a:r>
          </a:p>
        </p:txBody>
      </p:sp>
      <p:sp>
        <p:nvSpPr>
          <p:cNvPr id="59" name="TextBox 58">
            <a:extLst>
              <a:ext uri="{FF2B5EF4-FFF2-40B4-BE49-F238E27FC236}">
                <a16:creationId xmlns:a16="http://schemas.microsoft.com/office/drawing/2014/main" id="{BF17FE32-1C41-4369-A860-0BE35EDE792A}"/>
              </a:ext>
            </a:extLst>
          </p:cNvPr>
          <p:cNvSpPr txBox="1"/>
          <p:nvPr/>
        </p:nvSpPr>
        <p:spPr>
          <a:xfrm>
            <a:off x="4371097" y="2216022"/>
            <a:ext cx="1540683" cy="369332"/>
          </a:xfrm>
          <a:prstGeom prst="rect">
            <a:avLst/>
          </a:prstGeom>
          <a:noFill/>
        </p:spPr>
        <p:txBody>
          <a:bodyPr wrap="square" rtlCol="0">
            <a:spAutoFit/>
          </a:bodyPr>
          <a:lstStyle/>
          <a:p>
            <a:pPr algn="ctr"/>
            <a:r>
              <a:rPr lang="en-US" dirty="0"/>
              <a:t>Normal</a:t>
            </a:r>
          </a:p>
        </p:txBody>
      </p:sp>
      <p:sp>
        <p:nvSpPr>
          <p:cNvPr id="61" name="TextBox 60">
            <a:extLst>
              <a:ext uri="{FF2B5EF4-FFF2-40B4-BE49-F238E27FC236}">
                <a16:creationId xmlns:a16="http://schemas.microsoft.com/office/drawing/2014/main" id="{86032234-29FC-4B83-AC33-E8E9E3AE5072}"/>
              </a:ext>
            </a:extLst>
          </p:cNvPr>
          <p:cNvSpPr txBox="1"/>
          <p:nvPr/>
        </p:nvSpPr>
        <p:spPr>
          <a:xfrm>
            <a:off x="4371097" y="4245844"/>
            <a:ext cx="1540683" cy="646331"/>
          </a:xfrm>
          <a:prstGeom prst="rect">
            <a:avLst/>
          </a:prstGeom>
          <a:noFill/>
        </p:spPr>
        <p:txBody>
          <a:bodyPr wrap="square" rtlCol="0">
            <a:spAutoFit/>
          </a:bodyPr>
          <a:lstStyle/>
          <a:p>
            <a:pPr algn="ctr"/>
            <a:r>
              <a:rPr lang="en-US" dirty="0"/>
              <a:t>82% survival at 5 years</a:t>
            </a:r>
          </a:p>
        </p:txBody>
      </p:sp>
      <p:sp>
        <p:nvSpPr>
          <p:cNvPr id="62" name="TextBox 61">
            <a:extLst>
              <a:ext uri="{FF2B5EF4-FFF2-40B4-BE49-F238E27FC236}">
                <a16:creationId xmlns:a16="http://schemas.microsoft.com/office/drawing/2014/main" id="{B1DBABD1-4321-4F73-9F3A-49567BC0AFFD}"/>
              </a:ext>
            </a:extLst>
          </p:cNvPr>
          <p:cNvSpPr txBox="1"/>
          <p:nvPr/>
        </p:nvSpPr>
        <p:spPr>
          <a:xfrm>
            <a:off x="9675841" y="2216022"/>
            <a:ext cx="2097561" cy="369332"/>
          </a:xfrm>
          <a:prstGeom prst="rect">
            <a:avLst/>
          </a:prstGeom>
          <a:noFill/>
        </p:spPr>
        <p:txBody>
          <a:bodyPr wrap="square" rtlCol="0">
            <a:spAutoFit/>
          </a:bodyPr>
          <a:lstStyle/>
          <a:p>
            <a:pPr algn="ctr"/>
            <a:r>
              <a:rPr lang="en-US" dirty="0"/>
              <a:t>↑ LDH</a:t>
            </a:r>
          </a:p>
        </p:txBody>
      </p:sp>
      <p:sp>
        <p:nvSpPr>
          <p:cNvPr id="63" name="TextBox 62">
            <a:extLst>
              <a:ext uri="{FF2B5EF4-FFF2-40B4-BE49-F238E27FC236}">
                <a16:creationId xmlns:a16="http://schemas.microsoft.com/office/drawing/2014/main" id="{B0CA164A-BFD5-4D6A-A125-594D7A2817A0}"/>
              </a:ext>
            </a:extLst>
          </p:cNvPr>
          <p:cNvSpPr txBox="1"/>
          <p:nvPr/>
        </p:nvSpPr>
        <p:spPr>
          <a:xfrm>
            <a:off x="7135687" y="4400718"/>
            <a:ext cx="1540683" cy="369332"/>
          </a:xfrm>
          <a:prstGeom prst="rect">
            <a:avLst/>
          </a:prstGeom>
          <a:noFill/>
        </p:spPr>
        <p:txBody>
          <a:bodyPr wrap="square" rtlCol="0">
            <a:spAutoFit/>
          </a:bodyPr>
          <a:lstStyle/>
          <a:p>
            <a:pPr algn="ctr"/>
            <a:r>
              <a:rPr lang="en-US" dirty="0"/>
              <a:t>83 months</a:t>
            </a:r>
          </a:p>
        </p:txBody>
      </p:sp>
      <p:sp>
        <p:nvSpPr>
          <p:cNvPr id="64" name="TextBox 63">
            <a:extLst>
              <a:ext uri="{FF2B5EF4-FFF2-40B4-BE49-F238E27FC236}">
                <a16:creationId xmlns:a16="http://schemas.microsoft.com/office/drawing/2014/main" id="{760F4392-AF6F-4B32-94B2-FC15E0AF285A}"/>
              </a:ext>
            </a:extLst>
          </p:cNvPr>
          <p:cNvSpPr txBox="1"/>
          <p:nvPr/>
        </p:nvSpPr>
        <p:spPr>
          <a:xfrm>
            <a:off x="9504233" y="2985510"/>
            <a:ext cx="2440776" cy="584775"/>
          </a:xfrm>
          <a:prstGeom prst="rect">
            <a:avLst/>
          </a:prstGeom>
          <a:noFill/>
        </p:spPr>
        <p:txBody>
          <a:bodyPr wrap="square" rtlCol="0">
            <a:spAutoFit/>
          </a:bodyPr>
          <a:lstStyle/>
          <a:p>
            <a:pPr algn="ctr"/>
            <a:r>
              <a:rPr lang="en-US" dirty="0"/>
              <a:t>High risk</a:t>
            </a:r>
          </a:p>
          <a:p>
            <a:pPr algn="ctr"/>
            <a:r>
              <a:rPr lang="en-US" sz="1400" dirty="0"/>
              <a:t>del(17p), t(4;14), t(14;16)</a:t>
            </a:r>
          </a:p>
        </p:txBody>
      </p:sp>
      <p:cxnSp>
        <p:nvCxnSpPr>
          <p:cNvPr id="65" name="Straight Connector 64">
            <a:extLst>
              <a:ext uri="{FF2B5EF4-FFF2-40B4-BE49-F238E27FC236}">
                <a16:creationId xmlns:a16="http://schemas.microsoft.com/office/drawing/2014/main" id="{14250150-8DC9-4C4E-A121-8535F17D0AC6}"/>
              </a:ext>
            </a:extLst>
          </p:cNvPr>
          <p:cNvCxnSpPr>
            <a:cxnSpLocks/>
          </p:cNvCxnSpPr>
          <p:nvPr/>
        </p:nvCxnSpPr>
        <p:spPr>
          <a:xfrm>
            <a:off x="2408717" y="2039762"/>
            <a:ext cx="9554067" cy="17065"/>
          </a:xfrm>
          <a:prstGeom prst="line">
            <a:avLst/>
          </a:prstGeom>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6C0011D4-18A9-4A75-A26E-632AA3403E3B}"/>
              </a:ext>
            </a:extLst>
          </p:cNvPr>
          <p:cNvCxnSpPr>
            <a:cxnSpLocks/>
          </p:cNvCxnSpPr>
          <p:nvPr/>
        </p:nvCxnSpPr>
        <p:spPr>
          <a:xfrm>
            <a:off x="2408717" y="2884836"/>
            <a:ext cx="9554067" cy="17065"/>
          </a:xfrm>
          <a:prstGeom prst="line">
            <a:avLst/>
          </a:prstGeom>
        </p:spPr>
        <p:style>
          <a:lnRef idx="2">
            <a:schemeClr val="dk1"/>
          </a:lnRef>
          <a:fillRef idx="0">
            <a:schemeClr val="dk1"/>
          </a:fillRef>
          <a:effectRef idx="1">
            <a:schemeClr val="dk1"/>
          </a:effectRef>
          <a:fontRef idx="minor">
            <a:schemeClr val="tx1"/>
          </a:fontRef>
        </p:style>
      </p:cxnSp>
      <p:cxnSp>
        <p:nvCxnSpPr>
          <p:cNvPr id="67" name="Straight Connector 66">
            <a:extLst>
              <a:ext uri="{FF2B5EF4-FFF2-40B4-BE49-F238E27FC236}">
                <a16:creationId xmlns:a16="http://schemas.microsoft.com/office/drawing/2014/main" id="{F6F14F5C-16C1-4900-A9CA-52BCBA569FE5}"/>
              </a:ext>
            </a:extLst>
          </p:cNvPr>
          <p:cNvCxnSpPr>
            <a:cxnSpLocks/>
          </p:cNvCxnSpPr>
          <p:nvPr/>
        </p:nvCxnSpPr>
        <p:spPr>
          <a:xfrm>
            <a:off x="2408716" y="3607114"/>
            <a:ext cx="9554067" cy="17065"/>
          </a:xfrm>
          <a:prstGeom prst="line">
            <a:avLst/>
          </a:prstGeom>
        </p:spPr>
        <p:style>
          <a:lnRef idx="2">
            <a:schemeClr val="dk1"/>
          </a:lnRef>
          <a:fillRef idx="0">
            <a:schemeClr val="dk1"/>
          </a:fillRef>
          <a:effectRef idx="1">
            <a:schemeClr val="dk1"/>
          </a:effectRef>
          <a:fontRef idx="minor">
            <a:schemeClr val="tx1"/>
          </a:fontRef>
        </p:style>
      </p:cxnSp>
      <p:sp>
        <p:nvSpPr>
          <p:cNvPr id="68" name="TextBox 67">
            <a:extLst>
              <a:ext uri="{FF2B5EF4-FFF2-40B4-BE49-F238E27FC236}">
                <a16:creationId xmlns:a16="http://schemas.microsoft.com/office/drawing/2014/main" id="{86301B24-A6D8-43F1-9AAA-9CA42DA8D370}"/>
              </a:ext>
            </a:extLst>
          </p:cNvPr>
          <p:cNvSpPr txBox="1"/>
          <p:nvPr/>
        </p:nvSpPr>
        <p:spPr>
          <a:xfrm>
            <a:off x="2207570" y="3738655"/>
            <a:ext cx="1998152" cy="369332"/>
          </a:xfrm>
          <a:prstGeom prst="rect">
            <a:avLst/>
          </a:prstGeom>
          <a:noFill/>
        </p:spPr>
        <p:txBody>
          <a:bodyPr wrap="square" rtlCol="0">
            <a:spAutoFit/>
          </a:bodyPr>
          <a:lstStyle/>
          <a:p>
            <a:pPr algn="ctr"/>
            <a:r>
              <a:rPr lang="en-US" dirty="0"/>
              <a:t>Albumin</a:t>
            </a:r>
          </a:p>
        </p:txBody>
      </p:sp>
      <p:pic>
        <p:nvPicPr>
          <p:cNvPr id="72" name="Graphic 71" descr="Cursor with solid fill">
            <a:extLst>
              <a:ext uri="{FF2B5EF4-FFF2-40B4-BE49-F238E27FC236}">
                <a16:creationId xmlns:a16="http://schemas.microsoft.com/office/drawing/2014/main" id="{A99F8952-196F-41E4-8987-54E086569A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59007" y="1116468"/>
            <a:ext cx="301752" cy="301752"/>
          </a:xfrm>
          <a:prstGeom prst="rect">
            <a:avLst/>
          </a:prstGeom>
        </p:spPr>
      </p:pic>
      <p:pic>
        <p:nvPicPr>
          <p:cNvPr id="73" name="Graphic 72" descr="Cursor with solid fill">
            <a:extLst>
              <a:ext uri="{FF2B5EF4-FFF2-40B4-BE49-F238E27FC236}">
                <a16:creationId xmlns:a16="http://schemas.microsoft.com/office/drawing/2014/main" id="{5BA2DD87-84E9-409F-9FD2-E02473D4C6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60043" y="1116468"/>
            <a:ext cx="301752" cy="301752"/>
          </a:xfrm>
          <a:prstGeom prst="rect">
            <a:avLst/>
          </a:prstGeom>
        </p:spPr>
      </p:pic>
      <p:pic>
        <p:nvPicPr>
          <p:cNvPr id="74" name="Graphic 73" descr="Cursor with solid fill">
            <a:extLst>
              <a:ext uri="{FF2B5EF4-FFF2-40B4-BE49-F238E27FC236}">
                <a16:creationId xmlns:a16="http://schemas.microsoft.com/office/drawing/2014/main" id="{9409F66D-2861-4B66-91B5-FD4DF048F5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63685" y="1116468"/>
            <a:ext cx="301752" cy="301752"/>
          </a:xfrm>
          <a:prstGeom prst="rect">
            <a:avLst/>
          </a:prstGeom>
        </p:spPr>
      </p:pic>
      <p:sp>
        <p:nvSpPr>
          <p:cNvPr id="75" name="TextBox 74">
            <a:extLst>
              <a:ext uri="{FF2B5EF4-FFF2-40B4-BE49-F238E27FC236}">
                <a16:creationId xmlns:a16="http://schemas.microsoft.com/office/drawing/2014/main" id="{1AC020E9-AEAA-4BDF-844B-E555BBB5D5D9}"/>
              </a:ext>
            </a:extLst>
          </p:cNvPr>
          <p:cNvSpPr txBox="1"/>
          <p:nvPr/>
        </p:nvSpPr>
        <p:spPr>
          <a:xfrm>
            <a:off x="9876750" y="1482012"/>
            <a:ext cx="1695742" cy="369332"/>
          </a:xfrm>
          <a:prstGeom prst="rect">
            <a:avLst/>
          </a:prstGeom>
          <a:noFill/>
        </p:spPr>
        <p:txBody>
          <a:bodyPr wrap="square" rtlCol="0">
            <a:spAutoFit/>
          </a:bodyPr>
          <a:lstStyle/>
          <a:p>
            <a:pPr algn="ctr"/>
            <a:r>
              <a:rPr lang="en-US" dirty="0"/>
              <a:t>&gt;5.5 mg/L</a:t>
            </a:r>
          </a:p>
        </p:txBody>
      </p:sp>
      <p:sp>
        <p:nvSpPr>
          <p:cNvPr id="2" name="Rectangle 1">
            <a:extLst>
              <a:ext uri="{FF2B5EF4-FFF2-40B4-BE49-F238E27FC236}">
                <a16:creationId xmlns:a16="http://schemas.microsoft.com/office/drawing/2014/main" id="{5085F5BB-0699-4A1A-BC1F-E7E42B2025F0}"/>
              </a:ext>
            </a:extLst>
          </p:cNvPr>
          <p:cNvSpPr/>
          <p:nvPr/>
        </p:nvSpPr>
        <p:spPr>
          <a:xfrm>
            <a:off x="4950456" y="1885358"/>
            <a:ext cx="381965" cy="3249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a:t>
            </a:r>
          </a:p>
        </p:txBody>
      </p:sp>
      <p:sp>
        <p:nvSpPr>
          <p:cNvPr id="76" name="Rectangle 75">
            <a:extLst>
              <a:ext uri="{FF2B5EF4-FFF2-40B4-BE49-F238E27FC236}">
                <a16:creationId xmlns:a16="http://schemas.microsoft.com/office/drawing/2014/main" id="{2E4A4998-99B5-4D0F-99F0-20D8B49F2A0A}"/>
              </a:ext>
            </a:extLst>
          </p:cNvPr>
          <p:cNvSpPr/>
          <p:nvPr/>
        </p:nvSpPr>
        <p:spPr>
          <a:xfrm>
            <a:off x="10533639" y="1888927"/>
            <a:ext cx="381965" cy="3249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a:t>
            </a:r>
          </a:p>
        </p:txBody>
      </p:sp>
      <p:sp>
        <p:nvSpPr>
          <p:cNvPr id="77" name="TextBox 76">
            <a:extLst>
              <a:ext uri="{FF2B5EF4-FFF2-40B4-BE49-F238E27FC236}">
                <a16:creationId xmlns:a16="http://schemas.microsoft.com/office/drawing/2014/main" id="{D6928D88-3CA9-4298-8151-5BE13CCB450C}"/>
              </a:ext>
            </a:extLst>
          </p:cNvPr>
          <p:cNvSpPr txBox="1"/>
          <p:nvPr/>
        </p:nvSpPr>
        <p:spPr>
          <a:xfrm>
            <a:off x="4371097" y="2985510"/>
            <a:ext cx="1540683" cy="369332"/>
          </a:xfrm>
          <a:prstGeom prst="rect">
            <a:avLst/>
          </a:prstGeom>
          <a:noFill/>
        </p:spPr>
        <p:txBody>
          <a:bodyPr wrap="square" rtlCol="0">
            <a:spAutoFit/>
          </a:bodyPr>
          <a:lstStyle/>
          <a:p>
            <a:pPr algn="ctr"/>
            <a:r>
              <a:rPr lang="en-US" dirty="0"/>
              <a:t>Standard risk</a:t>
            </a:r>
          </a:p>
        </p:txBody>
      </p:sp>
      <p:sp>
        <p:nvSpPr>
          <p:cNvPr id="78" name="Rectangle 77">
            <a:extLst>
              <a:ext uri="{FF2B5EF4-FFF2-40B4-BE49-F238E27FC236}">
                <a16:creationId xmlns:a16="http://schemas.microsoft.com/office/drawing/2014/main" id="{206A60E4-283B-4C13-BDBD-CE8865E995B2}"/>
              </a:ext>
            </a:extLst>
          </p:cNvPr>
          <p:cNvSpPr/>
          <p:nvPr/>
        </p:nvSpPr>
        <p:spPr>
          <a:xfrm>
            <a:off x="4950456" y="2655786"/>
            <a:ext cx="381965" cy="3249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a:t>
            </a:r>
          </a:p>
        </p:txBody>
      </p:sp>
      <p:sp>
        <p:nvSpPr>
          <p:cNvPr id="79" name="Rectangle 78">
            <a:extLst>
              <a:ext uri="{FF2B5EF4-FFF2-40B4-BE49-F238E27FC236}">
                <a16:creationId xmlns:a16="http://schemas.microsoft.com/office/drawing/2014/main" id="{29824996-97A5-428A-B4A1-B1EEED1FB5AC}"/>
              </a:ext>
            </a:extLst>
          </p:cNvPr>
          <p:cNvSpPr/>
          <p:nvPr/>
        </p:nvSpPr>
        <p:spPr>
          <a:xfrm>
            <a:off x="10533639" y="2682446"/>
            <a:ext cx="381965" cy="3249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a:t>
            </a:r>
          </a:p>
        </p:txBody>
      </p:sp>
      <p:sp>
        <p:nvSpPr>
          <p:cNvPr id="80" name="Rectangle 79">
            <a:extLst>
              <a:ext uri="{FF2B5EF4-FFF2-40B4-BE49-F238E27FC236}">
                <a16:creationId xmlns:a16="http://schemas.microsoft.com/office/drawing/2014/main" id="{E9F27620-C1C0-40B8-BA2F-3F35D674147E}"/>
              </a:ext>
            </a:extLst>
          </p:cNvPr>
          <p:cNvSpPr/>
          <p:nvPr/>
        </p:nvSpPr>
        <p:spPr>
          <a:xfrm>
            <a:off x="4950456" y="3403613"/>
            <a:ext cx="381965" cy="324952"/>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a:t>
            </a:r>
          </a:p>
        </p:txBody>
      </p:sp>
      <p:sp>
        <p:nvSpPr>
          <p:cNvPr id="81" name="TextBox 80">
            <a:extLst>
              <a:ext uri="{FF2B5EF4-FFF2-40B4-BE49-F238E27FC236}">
                <a16:creationId xmlns:a16="http://schemas.microsoft.com/office/drawing/2014/main" id="{67D0F52D-D6A9-4859-85F4-BA19A0B077FB}"/>
              </a:ext>
            </a:extLst>
          </p:cNvPr>
          <p:cNvSpPr txBox="1"/>
          <p:nvPr/>
        </p:nvSpPr>
        <p:spPr>
          <a:xfrm>
            <a:off x="4371097" y="3738655"/>
            <a:ext cx="1540683" cy="369332"/>
          </a:xfrm>
          <a:prstGeom prst="rect">
            <a:avLst/>
          </a:prstGeom>
          <a:noFill/>
        </p:spPr>
        <p:txBody>
          <a:bodyPr wrap="square" rtlCol="0">
            <a:spAutoFit/>
          </a:bodyPr>
          <a:lstStyle/>
          <a:p>
            <a:pPr algn="ctr"/>
            <a:r>
              <a:rPr lang="en-US" dirty="0"/>
              <a:t>≥3.5 g/dL</a:t>
            </a:r>
          </a:p>
        </p:txBody>
      </p:sp>
      <p:sp>
        <p:nvSpPr>
          <p:cNvPr id="3" name="Rectangle 2">
            <a:extLst>
              <a:ext uri="{FF2B5EF4-FFF2-40B4-BE49-F238E27FC236}">
                <a16:creationId xmlns:a16="http://schemas.microsoft.com/office/drawing/2014/main" id="{25A9FD49-7736-443F-8382-25FF2ED3B1D6}"/>
              </a:ext>
            </a:extLst>
          </p:cNvPr>
          <p:cNvSpPr/>
          <p:nvPr/>
        </p:nvSpPr>
        <p:spPr>
          <a:xfrm>
            <a:off x="6952544" y="1481731"/>
            <a:ext cx="1949607" cy="269851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Not meeting criteria for R-ISS stage I or III</a:t>
            </a:r>
          </a:p>
        </p:txBody>
      </p:sp>
      <p:cxnSp>
        <p:nvCxnSpPr>
          <p:cNvPr id="82" name="Straight Connector 81">
            <a:extLst>
              <a:ext uri="{FF2B5EF4-FFF2-40B4-BE49-F238E27FC236}">
                <a16:creationId xmlns:a16="http://schemas.microsoft.com/office/drawing/2014/main" id="{18A0BC01-7E97-4A3E-8661-79041A275987}"/>
              </a:ext>
            </a:extLst>
          </p:cNvPr>
          <p:cNvCxnSpPr>
            <a:cxnSpLocks/>
          </p:cNvCxnSpPr>
          <p:nvPr/>
        </p:nvCxnSpPr>
        <p:spPr>
          <a:xfrm>
            <a:off x="2369424" y="4217699"/>
            <a:ext cx="9554067" cy="17065"/>
          </a:xfrm>
          <a:prstGeom prst="line">
            <a:avLst/>
          </a:prstGeom>
          <a:ln w="38100"/>
        </p:spPr>
        <p:style>
          <a:lnRef idx="2">
            <a:schemeClr val="dk1"/>
          </a:lnRef>
          <a:fillRef idx="0">
            <a:schemeClr val="dk1"/>
          </a:fillRef>
          <a:effectRef idx="1">
            <a:schemeClr val="dk1"/>
          </a:effectRef>
          <a:fontRef idx="minor">
            <a:schemeClr val="tx1"/>
          </a:fontRef>
        </p:style>
      </p:cxnSp>
      <p:sp>
        <p:nvSpPr>
          <p:cNvPr id="83" name="TextBox 82">
            <a:extLst>
              <a:ext uri="{FF2B5EF4-FFF2-40B4-BE49-F238E27FC236}">
                <a16:creationId xmlns:a16="http://schemas.microsoft.com/office/drawing/2014/main" id="{00D5C330-08E2-4CB7-A8EE-4558F9CD8080}"/>
              </a:ext>
            </a:extLst>
          </p:cNvPr>
          <p:cNvSpPr txBox="1"/>
          <p:nvPr/>
        </p:nvSpPr>
        <p:spPr>
          <a:xfrm>
            <a:off x="2315225" y="4231441"/>
            <a:ext cx="1782843" cy="707886"/>
          </a:xfrm>
          <a:prstGeom prst="rect">
            <a:avLst/>
          </a:prstGeom>
          <a:noFill/>
        </p:spPr>
        <p:txBody>
          <a:bodyPr wrap="square" rtlCol="0">
            <a:spAutoFit/>
          </a:bodyPr>
          <a:lstStyle/>
          <a:p>
            <a:pPr algn="ctr"/>
            <a:r>
              <a:rPr lang="en-US" sz="2000" b="1" dirty="0"/>
              <a:t>Median Survival</a:t>
            </a:r>
          </a:p>
        </p:txBody>
      </p:sp>
      <p:sp>
        <p:nvSpPr>
          <p:cNvPr id="84" name="TextBox 83">
            <a:extLst>
              <a:ext uri="{FF2B5EF4-FFF2-40B4-BE49-F238E27FC236}">
                <a16:creationId xmlns:a16="http://schemas.microsoft.com/office/drawing/2014/main" id="{37BD5B32-9D36-4262-A69A-B1AC514DDE85}"/>
              </a:ext>
            </a:extLst>
          </p:cNvPr>
          <p:cNvSpPr txBox="1"/>
          <p:nvPr/>
        </p:nvSpPr>
        <p:spPr>
          <a:xfrm>
            <a:off x="9954280" y="4400718"/>
            <a:ext cx="1540683" cy="369332"/>
          </a:xfrm>
          <a:prstGeom prst="rect">
            <a:avLst/>
          </a:prstGeom>
          <a:noFill/>
        </p:spPr>
        <p:txBody>
          <a:bodyPr wrap="square" rtlCol="0">
            <a:spAutoFit/>
          </a:bodyPr>
          <a:lstStyle/>
          <a:p>
            <a:pPr algn="ctr"/>
            <a:r>
              <a:rPr lang="en-US" dirty="0"/>
              <a:t>43 months</a:t>
            </a:r>
          </a:p>
        </p:txBody>
      </p:sp>
      <p:sp>
        <p:nvSpPr>
          <p:cNvPr id="85" name="TextBox 84">
            <a:extLst>
              <a:ext uri="{FF2B5EF4-FFF2-40B4-BE49-F238E27FC236}">
                <a16:creationId xmlns:a16="http://schemas.microsoft.com/office/drawing/2014/main" id="{9A100639-8C25-423D-BCA5-0A7FA7FD33E0}"/>
              </a:ext>
            </a:extLst>
          </p:cNvPr>
          <p:cNvSpPr txBox="1"/>
          <p:nvPr/>
        </p:nvSpPr>
        <p:spPr>
          <a:xfrm>
            <a:off x="2434136" y="715538"/>
            <a:ext cx="1507606" cy="707886"/>
          </a:xfrm>
          <a:prstGeom prst="rect">
            <a:avLst/>
          </a:prstGeom>
          <a:noFill/>
        </p:spPr>
        <p:txBody>
          <a:bodyPr wrap="square" rtlCol="0">
            <a:spAutoFit/>
          </a:bodyPr>
          <a:lstStyle/>
          <a:p>
            <a:pPr algn="ctr"/>
            <a:r>
              <a:rPr lang="en-US" sz="2000" b="1" dirty="0"/>
              <a:t>R-ISS Criteria</a:t>
            </a:r>
          </a:p>
        </p:txBody>
      </p:sp>
      <p:sp>
        <p:nvSpPr>
          <p:cNvPr id="86" name="Other prognostic factors">
            <a:extLst>
              <a:ext uri="{FF2B5EF4-FFF2-40B4-BE49-F238E27FC236}">
                <a16:creationId xmlns:a16="http://schemas.microsoft.com/office/drawing/2014/main" id="{549873C8-E44B-436A-BA2B-C222E21C6398}"/>
              </a:ext>
            </a:extLst>
          </p:cNvPr>
          <p:cNvSpPr/>
          <p:nvPr/>
        </p:nvSpPr>
        <p:spPr>
          <a:xfrm>
            <a:off x="547941" y="5261289"/>
            <a:ext cx="1737360" cy="118872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Other prognostic factors?</a:t>
            </a:r>
          </a:p>
        </p:txBody>
      </p:sp>
      <p:sp>
        <p:nvSpPr>
          <p:cNvPr id="88" name="Other progostic factors">
            <a:extLst>
              <a:ext uri="{FF2B5EF4-FFF2-40B4-BE49-F238E27FC236}">
                <a16:creationId xmlns:a16="http://schemas.microsoft.com/office/drawing/2014/main" id="{BD36499D-A3E7-454D-B9A5-A6148C22A16B}"/>
              </a:ext>
            </a:extLst>
          </p:cNvPr>
          <p:cNvSpPr/>
          <p:nvPr/>
        </p:nvSpPr>
        <p:spPr>
          <a:xfrm>
            <a:off x="547941" y="5261287"/>
            <a:ext cx="1737360" cy="1188720"/>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Other prognostic factors?</a:t>
            </a:r>
          </a:p>
        </p:txBody>
      </p:sp>
      <p:grpSp>
        <p:nvGrpSpPr>
          <p:cNvPr id="6" name="Group 5">
            <a:extLst>
              <a:ext uri="{FF2B5EF4-FFF2-40B4-BE49-F238E27FC236}">
                <a16:creationId xmlns:a16="http://schemas.microsoft.com/office/drawing/2014/main" id="{522D6DA6-29D5-4EFC-A6BE-B8451422CB23}"/>
              </a:ext>
            </a:extLst>
          </p:cNvPr>
          <p:cNvGrpSpPr/>
          <p:nvPr/>
        </p:nvGrpSpPr>
        <p:grpSpPr>
          <a:xfrm>
            <a:off x="3102364" y="5062781"/>
            <a:ext cx="3714482" cy="1419887"/>
            <a:chOff x="3225744" y="5138985"/>
            <a:chExt cx="3714482" cy="1419887"/>
          </a:xfrm>
        </p:grpSpPr>
        <p:pic>
          <p:nvPicPr>
            <p:cNvPr id="89" name="Picture 88">
              <a:extLst>
                <a:ext uri="{FF2B5EF4-FFF2-40B4-BE49-F238E27FC236}">
                  <a16:creationId xmlns:a16="http://schemas.microsoft.com/office/drawing/2014/main" id="{8139846A-50F3-4BDC-B3BE-AA3334CD1373}"/>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9974" b="89895" l="9001" r="89901">
                          <a14:foregroundMark x1="7355" y1="60367" x2="12623" y2="83202"/>
                          <a14:foregroundMark x1="12623" y1="83202" x2="13721" y2="62730"/>
                          <a14:foregroundMark x1="13721" y1="62730" x2="9001" y2="61417"/>
                        </a14:backgroundRemoval>
                      </a14:imgEffect>
                    </a14:imgLayer>
                  </a14:imgProps>
                </a:ext>
              </a:extLst>
            </a:blip>
            <a:srcRect l="3728" t="34263" r="54442" b="6747"/>
            <a:stretch/>
          </p:blipFill>
          <p:spPr>
            <a:xfrm>
              <a:off x="3225744" y="5138985"/>
              <a:ext cx="1202409" cy="1419887"/>
            </a:xfrm>
            <a:prstGeom prst="rect">
              <a:avLst/>
            </a:prstGeom>
          </p:spPr>
        </p:pic>
        <p:sp>
          <p:nvSpPr>
            <p:cNvPr id="90" name="TextBox 89">
              <a:extLst>
                <a:ext uri="{FF2B5EF4-FFF2-40B4-BE49-F238E27FC236}">
                  <a16:creationId xmlns:a16="http://schemas.microsoft.com/office/drawing/2014/main" id="{6455ADC0-25AE-429F-B578-C6EC22A38401}"/>
                </a:ext>
              </a:extLst>
            </p:cNvPr>
            <p:cNvSpPr txBox="1"/>
            <p:nvPr/>
          </p:nvSpPr>
          <p:spPr>
            <a:xfrm>
              <a:off x="4264554" y="5214683"/>
              <a:ext cx="2675672" cy="1200329"/>
            </a:xfrm>
            <a:prstGeom prst="rect">
              <a:avLst/>
            </a:prstGeom>
            <a:noFill/>
          </p:spPr>
          <p:txBody>
            <a:bodyPr wrap="square" rtlCol="0">
              <a:spAutoFit/>
            </a:bodyPr>
            <a:lstStyle/>
            <a:p>
              <a:pPr algn="ctr"/>
              <a:r>
                <a:rPr lang="en-US" u="sng" dirty="0"/>
                <a:t>Tumor factors</a:t>
              </a:r>
            </a:p>
            <a:p>
              <a:pPr algn="ctr"/>
              <a:r>
                <a:rPr lang="en-US" dirty="0"/>
                <a:t>Proliferation rate</a:t>
              </a:r>
            </a:p>
            <a:p>
              <a:pPr algn="ctr"/>
              <a:r>
                <a:rPr lang="en-US" dirty="0"/>
                <a:t>Plasma cell leukemia</a:t>
              </a:r>
            </a:p>
            <a:p>
              <a:pPr algn="ctr"/>
              <a:r>
                <a:rPr lang="en-US" dirty="0"/>
                <a:t>Extramedullary disease</a:t>
              </a:r>
            </a:p>
          </p:txBody>
        </p:sp>
      </p:grpSp>
      <p:grpSp>
        <p:nvGrpSpPr>
          <p:cNvPr id="8" name="Group 7">
            <a:extLst>
              <a:ext uri="{FF2B5EF4-FFF2-40B4-BE49-F238E27FC236}">
                <a16:creationId xmlns:a16="http://schemas.microsoft.com/office/drawing/2014/main" id="{47B43CF0-0FE1-44B9-A44E-7904DBECB443}"/>
              </a:ext>
            </a:extLst>
          </p:cNvPr>
          <p:cNvGrpSpPr/>
          <p:nvPr/>
        </p:nvGrpSpPr>
        <p:grpSpPr>
          <a:xfrm>
            <a:off x="7146457" y="5138479"/>
            <a:ext cx="4192354" cy="1477328"/>
            <a:chOff x="7146457" y="5138479"/>
            <a:chExt cx="4192354" cy="1477328"/>
          </a:xfrm>
        </p:grpSpPr>
        <p:pic>
          <p:nvPicPr>
            <p:cNvPr id="5" name="Graphic 4" descr="Man outline">
              <a:extLst>
                <a:ext uri="{FF2B5EF4-FFF2-40B4-BE49-F238E27FC236}">
                  <a16:creationId xmlns:a16="http://schemas.microsoft.com/office/drawing/2014/main" id="{390131BB-DCAE-4C2B-AAA2-9DA674709DF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46457" y="5246273"/>
              <a:ext cx="1202409" cy="1202409"/>
            </a:xfrm>
            <a:prstGeom prst="rect">
              <a:avLst/>
            </a:prstGeom>
          </p:spPr>
        </p:pic>
        <p:sp>
          <p:nvSpPr>
            <p:cNvPr id="92" name="TextBox 91">
              <a:extLst>
                <a:ext uri="{FF2B5EF4-FFF2-40B4-BE49-F238E27FC236}">
                  <a16:creationId xmlns:a16="http://schemas.microsoft.com/office/drawing/2014/main" id="{76C4DDC0-8171-45A1-A156-2C19F9051092}"/>
                </a:ext>
              </a:extLst>
            </p:cNvPr>
            <p:cNvSpPr txBox="1"/>
            <p:nvPr/>
          </p:nvSpPr>
          <p:spPr>
            <a:xfrm>
              <a:off x="7906028" y="5138479"/>
              <a:ext cx="3432783" cy="1477328"/>
            </a:xfrm>
            <a:prstGeom prst="rect">
              <a:avLst/>
            </a:prstGeom>
            <a:noFill/>
          </p:spPr>
          <p:txBody>
            <a:bodyPr wrap="square" rtlCol="0">
              <a:spAutoFit/>
            </a:bodyPr>
            <a:lstStyle/>
            <a:p>
              <a:pPr algn="ctr"/>
              <a:r>
                <a:rPr lang="en-US" u="sng" dirty="0"/>
                <a:t>Patient factors</a:t>
              </a:r>
            </a:p>
            <a:p>
              <a:pPr algn="ctr"/>
              <a:r>
                <a:rPr lang="en-US" dirty="0"/>
                <a:t>Age</a:t>
              </a:r>
            </a:p>
            <a:p>
              <a:pPr algn="ctr"/>
              <a:r>
                <a:rPr lang="en-US" dirty="0"/>
                <a:t>Comorbidities</a:t>
              </a:r>
            </a:p>
            <a:p>
              <a:pPr algn="ctr"/>
              <a:r>
                <a:rPr lang="en-US" dirty="0"/>
                <a:t>Renal function</a:t>
              </a:r>
            </a:p>
            <a:p>
              <a:pPr algn="ctr"/>
              <a:r>
                <a:rPr lang="en-US" dirty="0"/>
                <a:t>ECOG (performance status)</a:t>
              </a:r>
            </a:p>
          </p:txBody>
        </p:sp>
      </p:grpSp>
      <p:sp>
        <p:nvSpPr>
          <p:cNvPr id="4" name="TextBox 3">
            <a:extLst>
              <a:ext uri="{FF2B5EF4-FFF2-40B4-BE49-F238E27FC236}">
                <a16:creationId xmlns:a16="http://schemas.microsoft.com/office/drawing/2014/main" id="{FCB92422-BAD9-FDAC-755A-178346E995F0}"/>
              </a:ext>
            </a:extLst>
          </p:cNvPr>
          <p:cNvSpPr txBox="1"/>
          <p:nvPr/>
        </p:nvSpPr>
        <p:spPr>
          <a:xfrm>
            <a:off x="3557916" y="77401"/>
            <a:ext cx="6009817" cy="523220"/>
          </a:xfrm>
          <a:prstGeom prst="rect">
            <a:avLst/>
          </a:prstGeom>
          <a:noFill/>
        </p:spPr>
        <p:txBody>
          <a:bodyPr wrap="square" rtlCol="0">
            <a:spAutoFit/>
          </a:bodyPr>
          <a:lstStyle/>
          <a:p>
            <a:pPr algn="ctr"/>
            <a:r>
              <a:rPr lang="en-US" sz="2800" b="1" dirty="0"/>
              <a:t>Prognosis</a:t>
            </a:r>
          </a:p>
        </p:txBody>
      </p:sp>
      <p:sp>
        <p:nvSpPr>
          <p:cNvPr id="7" name="Obj 1">
            <a:hlinkClick r:id="rId9" action="ppaction://hlinksldjump"/>
            <a:extLst>
              <a:ext uri="{FF2B5EF4-FFF2-40B4-BE49-F238E27FC236}">
                <a16:creationId xmlns:a16="http://schemas.microsoft.com/office/drawing/2014/main" id="{6F1C26AE-ADA4-1780-CCF7-E9A6D6C6A3AB}"/>
              </a:ext>
            </a:extLst>
          </p:cNvPr>
          <p:cNvSpPr/>
          <p:nvPr/>
        </p:nvSpPr>
        <p:spPr>
          <a:xfrm>
            <a:off x="183491" y="216531"/>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Pathogenesis</a:t>
            </a:r>
          </a:p>
        </p:txBody>
      </p:sp>
      <p:pic>
        <p:nvPicPr>
          <p:cNvPr id="9" name="Graphic 8" descr="Cursor with solid fill">
            <a:extLst>
              <a:ext uri="{FF2B5EF4-FFF2-40B4-BE49-F238E27FC236}">
                <a16:creationId xmlns:a16="http://schemas.microsoft.com/office/drawing/2014/main" id="{DB99AC83-3101-2064-A288-532006D416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489473"/>
            <a:ext cx="301752" cy="301752"/>
          </a:xfrm>
          <a:prstGeom prst="rect">
            <a:avLst/>
          </a:prstGeom>
        </p:spPr>
      </p:pic>
      <p:sp>
        <p:nvSpPr>
          <p:cNvPr id="10" name="Obj 1">
            <a:hlinkClick r:id="rId10" action="ppaction://hlinksldjump"/>
            <a:extLst>
              <a:ext uri="{FF2B5EF4-FFF2-40B4-BE49-F238E27FC236}">
                <a16:creationId xmlns:a16="http://schemas.microsoft.com/office/drawing/2014/main" id="{96120FE8-B22C-2130-F198-9BA36CE5F133}"/>
              </a:ext>
            </a:extLst>
          </p:cNvPr>
          <p:cNvSpPr/>
          <p:nvPr/>
        </p:nvSpPr>
        <p:spPr>
          <a:xfrm>
            <a:off x="183491" y="82031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1" name="Graphic 10" descr="Cursor with solid fill">
            <a:extLst>
              <a:ext uri="{FF2B5EF4-FFF2-40B4-BE49-F238E27FC236}">
                <a16:creationId xmlns:a16="http://schemas.microsoft.com/office/drawing/2014/main" id="{69F881C1-8FCB-CBFA-8106-C7913C8EF4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094197"/>
            <a:ext cx="301752" cy="301752"/>
          </a:xfrm>
          <a:prstGeom prst="rect">
            <a:avLst/>
          </a:prstGeom>
        </p:spPr>
      </p:pic>
      <p:sp>
        <p:nvSpPr>
          <p:cNvPr id="13" name="Obj 1">
            <a:hlinkClick r:id="rId11" action="ppaction://hlinksldjump"/>
            <a:extLst>
              <a:ext uri="{FF2B5EF4-FFF2-40B4-BE49-F238E27FC236}">
                <a16:creationId xmlns:a16="http://schemas.microsoft.com/office/drawing/2014/main" id="{BB5F9478-550F-E407-86B6-2080E62DE062}"/>
              </a:ext>
            </a:extLst>
          </p:cNvPr>
          <p:cNvSpPr/>
          <p:nvPr/>
        </p:nvSpPr>
        <p:spPr>
          <a:xfrm>
            <a:off x="183491" y="142410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4" name="Graphic 13" descr="Cursor with solid fill">
            <a:extLst>
              <a:ext uri="{FF2B5EF4-FFF2-40B4-BE49-F238E27FC236}">
                <a16:creationId xmlns:a16="http://schemas.microsoft.com/office/drawing/2014/main" id="{236E81C6-3081-3A1F-933F-FB7508822D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698921"/>
            <a:ext cx="301752" cy="301752"/>
          </a:xfrm>
          <a:prstGeom prst="rect">
            <a:avLst/>
          </a:prstGeom>
        </p:spPr>
      </p:pic>
      <p:sp>
        <p:nvSpPr>
          <p:cNvPr id="15" name="Obj 1">
            <a:hlinkClick r:id="rId12" action="ppaction://hlinksldjump"/>
            <a:extLst>
              <a:ext uri="{FF2B5EF4-FFF2-40B4-BE49-F238E27FC236}">
                <a16:creationId xmlns:a16="http://schemas.microsoft.com/office/drawing/2014/main" id="{808E0443-9FAE-A517-82BB-612ED38CB681}"/>
              </a:ext>
            </a:extLst>
          </p:cNvPr>
          <p:cNvSpPr/>
          <p:nvPr/>
        </p:nvSpPr>
        <p:spPr>
          <a:xfrm>
            <a:off x="183491" y="2027889"/>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Prognosis</a:t>
            </a:r>
          </a:p>
        </p:txBody>
      </p:sp>
      <p:sp>
        <p:nvSpPr>
          <p:cNvPr id="17" name="Obj 1">
            <a:hlinkClick r:id="rId13" action="ppaction://hlinksldjump"/>
            <a:extLst>
              <a:ext uri="{FF2B5EF4-FFF2-40B4-BE49-F238E27FC236}">
                <a16:creationId xmlns:a16="http://schemas.microsoft.com/office/drawing/2014/main" id="{3C07F0FE-9EF0-B2E3-EC35-DC776CFEE1CF}"/>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18" name="Graphic 17" descr="Cursor with solid fill">
            <a:extLst>
              <a:ext uri="{FF2B5EF4-FFF2-40B4-BE49-F238E27FC236}">
                <a16:creationId xmlns:a16="http://schemas.microsoft.com/office/drawing/2014/main" id="{5AA717EF-0D54-ADCA-6641-BB0C07FEE3E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2908369"/>
            <a:ext cx="301752" cy="301752"/>
          </a:xfrm>
          <a:prstGeom prst="rect">
            <a:avLst/>
          </a:prstGeom>
        </p:spPr>
      </p:pic>
      <p:sp>
        <p:nvSpPr>
          <p:cNvPr id="19" name="Obj 1">
            <a:hlinkClick r:id="rId14" action="ppaction://hlinksldjump"/>
            <a:extLst>
              <a:ext uri="{FF2B5EF4-FFF2-40B4-BE49-F238E27FC236}">
                <a16:creationId xmlns:a16="http://schemas.microsoft.com/office/drawing/2014/main" id="{26660129-EDBF-758B-BEBC-A5979B77429D}"/>
              </a:ext>
            </a:extLst>
          </p:cNvPr>
          <p:cNvSpPr/>
          <p:nvPr/>
        </p:nvSpPr>
        <p:spPr>
          <a:xfrm>
            <a:off x="183491" y="323546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20" name="Graphic 19" descr="Cursor with solid fill">
            <a:extLst>
              <a:ext uri="{FF2B5EF4-FFF2-40B4-BE49-F238E27FC236}">
                <a16:creationId xmlns:a16="http://schemas.microsoft.com/office/drawing/2014/main" id="{4FCC9C81-F0AA-E91D-5627-BB21546D64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3513094"/>
            <a:ext cx="301752" cy="301752"/>
          </a:xfrm>
          <a:prstGeom prst="rect">
            <a:avLst/>
          </a:prstGeom>
        </p:spPr>
      </p:pic>
      <p:pic>
        <p:nvPicPr>
          <p:cNvPr id="87" name="Graphic 86" descr="Cursor with solid fill">
            <a:extLst>
              <a:ext uri="{FF2B5EF4-FFF2-40B4-BE49-F238E27FC236}">
                <a16:creationId xmlns:a16="http://schemas.microsoft.com/office/drawing/2014/main" id="{15363285-BB16-47EA-A045-B589A8EEA5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1433" y="6245461"/>
            <a:ext cx="301752" cy="301752"/>
          </a:xfrm>
          <a:prstGeom prst="rect">
            <a:avLst/>
          </a:prstGeom>
        </p:spPr>
      </p:pic>
    </p:spTree>
    <p:extLst>
      <p:ext uri="{BB962C8B-B14F-4D97-AF65-F5344CB8AC3E}">
        <p14:creationId xmlns:p14="http://schemas.microsoft.com/office/powerpoint/2010/main" val="29661318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42"/>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72"/>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childTnLst>
              </p:cTn>
              <p:nextCondLst>
                <p:cond evt="onClick" delay="0">
                  <p:tgtEl>
                    <p:spTgt spid="42"/>
                  </p:tgtEl>
                </p:cond>
              </p:nextCondLst>
            </p:seq>
            <p:seq concurrent="1" nextAc="seek">
              <p:cTn id="23" restart="whenNotActive" fill="hold" evtFilter="cancelBubble" nodeType="interactiveSeq">
                <p:stCondLst>
                  <p:cond evt="onClick" delay="0">
                    <p:tgtEl>
                      <p:spTgt spid="44"/>
                    </p:tgtEl>
                  </p:cond>
                </p:stCondLst>
                <p:endSync evt="end" delay="0">
                  <p:rtn val="all"/>
                </p:endSync>
                <p:childTnLst>
                  <p:par>
                    <p:cTn id="24" fill="hold">
                      <p:stCondLst>
                        <p:cond delay="0"/>
                      </p:stCondLst>
                      <p:childTnLst>
                        <p:par>
                          <p:cTn id="25" fill="hold">
                            <p:stCondLst>
                              <p:cond delay="0"/>
                            </p:stCondLst>
                            <p:childTnLst>
                              <p:par>
                                <p:cTn id="26" presetID="1" presetClass="exit"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73"/>
                                        </p:tgtEl>
                                        <p:attrNameLst>
                                          <p:attrName>style.visibility</p:attrName>
                                        </p:attrNameLst>
                                      </p:cBhvr>
                                      <p:to>
                                        <p:strVal val="hidden"/>
                                      </p:to>
                                    </p:set>
                                  </p:childTnLst>
                                </p:cTn>
                              </p:par>
                              <p:par>
                                <p:cTn id="30" presetID="1" presetClass="entr" presetSubtype="0" fill="hold" grpId="0" nodeType="withEffect">
                                  <p:stCondLst>
                                    <p:cond delay="0"/>
                                  </p:stCondLst>
                                  <p:childTnLst>
                                    <p:set>
                                      <p:cBhvr>
                                        <p:cTn id="31" dur="1" fill="hold">
                                          <p:stCondLst>
                                            <p:cond delay="0"/>
                                          </p:stCondLst>
                                        </p:cTn>
                                        <p:tgtEl>
                                          <p:spTgt spid="6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5"/>
                                        </p:tgtEl>
                                        <p:attrNameLst>
                                          <p:attrName>style.visibility</p:attrName>
                                        </p:attrNameLst>
                                      </p:cBhvr>
                                      <p:to>
                                        <p:strVal val="visible"/>
                                      </p:to>
                                    </p:set>
                                  </p:childTnLst>
                                </p:cTn>
                              </p:par>
                            </p:childTnLst>
                          </p:cTn>
                        </p:par>
                      </p:childTnLst>
                    </p:cTn>
                  </p:par>
                </p:childTnLst>
              </p:cTn>
              <p:nextCondLst>
                <p:cond evt="onClick" delay="0">
                  <p:tgtEl>
                    <p:spTgt spid="44"/>
                  </p:tgtEl>
                </p:cond>
              </p:nextCondLst>
            </p:seq>
            <p:seq concurrent="1" nextAc="seek">
              <p:cTn id="36" restart="whenNotActive" fill="hold" evtFilter="cancelBubble" nodeType="interactiveSeq">
                <p:stCondLst>
                  <p:cond evt="onClick" delay="0">
                    <p:tgtEl>
                      <p:spTgt spid="46"/>
                    </p:tgtEl>
                  </p:cond>
                </p:stCondLst>
                <p:endSync evt="end" delay="0">
                  <p:rtn val="all"/>
                </p:endSync>
                <p:childTnLst>
                  <p:par>
                    <p:cTn id="37" fill="hold">
                      <p:stCondLst>
                        <p:cond delay="0"/>
                      </p:stCondLst>
                      <p:childTnLst>
                        <p:par>
                          <p:cTn id="38" fill="hold">
                            <p:stCondLst>
                              <p:cond delay="0"/>
                            </p:stCondLst>
                            <p:childTnLst>
                              <p:par>
                                <p:cTn id="39" presetID="1" presetClass="exit"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74"/>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childTnLst>
              </p:cTn>
              <p:nextCondLst>
                <p:cond evt="onClick" delay="0">
                  <p:tgtEl>
                    <p:spTgt spid="46"/>
                  </p:tgtEl>
                </p:cond>
              </p:nextCondLst>
            </p:seq>
            <p:seq concurrent="1" nextAc="seek">
              <p:cTn id="61" restart="whenNotActive" fill="hold" evtFilter="cancelBubble" nodeType="interactiveSeq">
                <p:stCondLst>
                  <p:cond evt="onClick" delay="0">
                    <p:tgtEl>
                      <p:spTgt spid="86"/>
                    </p:tgtEl>
                  </p:cond>
                </p:stCondLst>
                <p:endSync evt="end" delay="0">
                  <p:rtn val="all"/>
                </p:endSync>
                <p:childTnLst>
                  <p:par>
                    <p:cTn id="62" fill="hold">
                      <p:stCondLst>
                        <p:cond delay="0"/>
                      </p:stCondLst>
                      <p:childTnLst>
                        <p:par>
                          <p:cTn id="63" fill="hold">
                            <p:stCondLst>
                              <p:cond delay="0"/>
                            </p:stCondLst>
                            <p:childTnLst>
                              <p:par>
                                <p:cTn id="64" presetID="1" presetClass="exit" presetSubtype="0" fill="hold" grpId="0" nodeType="withEffect">
                                  <p:stCondLst>
                                    <p:cond delay="0"/>
                                  </p:stCondLst>
                                  <p:childTnLst>
                                    <p:set>
                                      <p:cBhvr>
                                        <p:cTn id="65" dur="1" fill="hold">
                                          <p:stCondLst>
                                            <p:cond delay="0"/>
                                          </p:stCondLst>
                                        </p:cTn>
                                        <p:tgtEl>
                                          <p:spTgt spid="86"/>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8"/>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88"/>
                                        </p:tgtEl>
                                        <p:attrNameLst>
                                          <p:attrName>style.visibility</p:attrName>
                                        </p:attrNameLst>
                                      </p:cBhvr>
                                      <p:to>
                                        <p:strVal val="visible"/>
                                      </p:to>
                                    </p:set>
                                  </p:childTnLst>
                                </p:cTn>
                              </p:par>
                              <p:par>
                                <p:cTn id="72" presetID="1" presetClass="exit" presetSubtype="0" fill="hold" nodeType="withEffect">
                                  <p:stCondLst>
                                    <p:cond delay="0"/>
                                  </p:stCondLst>
                                  <p:childTnLst>
                                    <p:set>
                                      <p:cBhvr>
                                        <p:cTn id="73" dur="1" fill="hold">
                                          <p:stCondLst>
                                            <p:cond delay="0"/>
                                          </p:stCondLst>
                                        </p:cTn>
                                        <p:tgtEl>
                                          <p:spTgt spid="87"/>
                                        </p:tgtEl>
                                        <p:attrNameLst>
                                          <p:attrName>style.visibility</p:attrName>
                                        </p:attrNameLst>
                                      </p:cBhvr>
                                      <p:to>
                                        <p:strVal val="hidden"/>
                                      </p:to>
                                    </p:set>
                                  </p:childTnLst>
                                </p:cTn>
                              </p:par>
                            </p:childTnLst>
                          </p:cTn>
                        </p:par>
                      </p:childTnLst>
                    </p:cTn>
                  </p:par>
                </p:childTnLst>
              </p:cTn>
              <p:nextCondLst>
                <p:cond evt="onClick" delay="0">
                  <p:tgtEl>
                    <p:spTgt spid="86"/>
                  </p:tgtEl>
                </p:cond>
              </p:nextCondLst>
            </p:seq>
          </p:childTnLst>
        </p:cTn>
      </p:par>
    </p:tnLst>
    <p:bldLst>
      <p:bldP spid="43" grpId="0" animBg="1"/>
      <p:bldP spid="45" grpId="0" animBg="1"/>
      <p:bldP spid="47" grpId="0" animBg="1"/>
      <p:bldP spid="42" grpId="0" animBg="1"/>
      <p:bldP spid="44" grpId="0" animBg="1"/>
      <p:bldP spid="46" grpId="0" animBg="1"/>
      <p:bldP spid="51" grpId="0"/>
      <p:bldP spid="59" grpId="0"/>
      <p:bldP spid="61" grpId="0"/>
      <p:bldP spid="62" grpId="0"/>
      <p:bldP spid="63" grpId="0"/>
      <p:bldP spid="64" grpId="0"/>
      <p:bldP spid="75" grpId="0"/>
      <p:bldP spid="2" grpId="0" animBg="1"/>
      <p:bldP spid="76" grpId="0" animBg="1"/>
      <p:bldP spid="77" grpId="0"/>
      <p:bldP spid="78" grpId="0" animBg="1"/>
      <p:bldP spid="79" grpId="0" animBg="1"/>
      <p:bldP spid="80" grpId="0" animBg="1"/>
      <p:bldP spid="81" grpId="0"/>
      <p:bldP spid="3" grpId="0" animBg="1"/>
      <p:bldP spid="84" grpId="0"/>
      <p:bldP spid="86" grpId="0" animBg="1"/>
      <p:bldP spid="8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ubsequent relapse final">
            <a:extLst>
              <a:ext uri="{FF2B5EF4-FFF2-40B4-BE49-F238E27FC236}">
                <a16:creationId xmlns:a16="http://schemas.microsoft.com/office/drawing/2014/main" id="{346956F2-2F07-4B8E-B41B-72897F15F5A2}"/>
              </a:ext>
            </a:extLst>
          </p:cNvPr>
          <p:cNvSpPr/>
          <p:nvPr/>
        </p:nvSpPr>
        <p:spPr>
          <a:xfrm>
            <a:off x="8789653" y="2090713"/>
            <a:ext cx="1406969" cy="676865"/>
          </a:xfrm>
          <a:prstGeom prst="roundRect">
            <a:avLst/>
          </a:prstGeom>
          <a:solidFill>
            <a:schemeClr val="accent1">
              <a:lumMod val="75000"/>
            </a:schemeClr>
          </a:solidFill>
          <a:ln w="381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Subsequent relapses</a:t>
            </a:r>
          </a:p>
        </p:txBody>
      </p:sp>
      <p:sp>
        <p:nvSpPr>
          <p:cNvPr id="73" name="1st relapse final">
            <a:extLst>
              <a:ext uri="{FF2B5EF4-FFF2-40B4-BE49-F238E27FC236}">
                <a16:creationId xmlns:a16="http://schemas.microsoft.com/office/drawing/2014/main" id="{5FEEED71-F7B3-4F6C-AE28-3426B5D3ABEA}"/>
              </a:ext>
            </a:extLst>
          </p:cNvPr>
          <p:cNvSpPr>
            <a:spLocks/>
          </p:cNvSpPr>
          <p:nvPr/>
        </p:nvSpPr>
        <p:spPr>
          <a:xfrm>
            <a:off x="5227331" y="2319086"/>
            <a:ext cx="2510868" cy="714215"/>
          </a:xfrm>
          <a:prstGeom prst="roundRect">
            <a:avLst/>
          </a:prstGeom>
          <a:solidFill>
            <a:schemeClr val="accent1">
              <a:lumMod val="75000"/>
            </a:schemeClr>
          </a:solidFill>
          <a:ln w="38100">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Relapse and Treatment Intensification</a:t>
            </a:r>
          </a:p>
        </p:txBody>
      </p:sp>
      <p:sp>
        <p:nvSpPr>
          <p:cNvPr id="64" name="Maintenance">
            <a:extLst>
              <a:ext uri="{FF2B5EF4-FFF2-40B4-BE49-F238E27FC236}">
                <a16:creationId xmlns:a16="http://schemas.microsoft.com/office/drawing/2014/main" id="{236EC5CD-2C2D-4B4A-8FD9-2FAC7FC752EA}"/>
              </a:ext>
            </a:extLst>
          </p:cNvPr>
          <p:cNvSpPr/>
          <p:nvPr/>
        </p:nvSpPr>
        <p:spPr>
          <a:xfrm>
            <a:off x="4328542" y="4213643"/>
            <a:ext cx="1530511" cy="423516"/>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Maintenance</a:t>
            </a:r>
          </a:p>
        </p:txBody>
      </p:sp>
      <p:sp>
        <p:nvSpPr>
          <p:cNvPr id="70" name="SCT final">
            <a:extLst>
              <a:ext uri="{FF2B5EF4-FFF2-40B4-BE49-F238E27FC236}">
                <a16:creationId xmlns:a16="http://schemas.microsoft.com/office/drawing/2014/main" id="{BB954DB8-9EA2-4412-B957-E4559B081F29}"/>
              </a:ext>
            </a:extLst>
          </p:cNvPr>
          <p:cNvSpPr/>
          <p:nvPr/>
        </p:nvSpPr>
        <p:spPr>
          <a:xfrm>
            <a:off x="3333595" y="5402056"/>
            <a:ext cx="1280160" cy="457200"/>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autoSCT</a:t>
            </a:r>
            <a:endParaRPr lang="en-US" b="1" dirty="0">
              <a:solidFill>
                <a:schemeClr val="bg1"/>
              </a:solidFill>
            </a:endParaRPr>
          </a:p>
        </p:txBody>
      </p:sp>
      <p:sp>
        <p:nvSpPr>
          <p:cNvPr id="12" name="TextBox 11">
            <a:extLst>
              <a:ext uri="{FF2B5EF4-FFF2-40B4-BE49-F238E27FC236}">
                <a16:creationId xmlns:a16="http://schemas.microsoft.com/office/drawing/2014/main" id="{EAFB72A1-C019-4ADE-A4C3-117AF97FE617}"/>
              </a:ext>
            </a:extLst>
          </p:cNvPr>
          <p:cNvSpPr txBox="1"/>
          <p:nvPr/>
        </p:nvSpPr>
        <p:spPr>
          <a:xfrm>
            <a:off x="3557916" y="63753"/>
            <a:ext cx="6009817" cy="553998"/>
          </a:xfrm>
          <a:prstGeom prst="rect">
            <a:avLst/>
          </a:prstGeom>
          <a:noFill/>
        </p:spPr>
        <p:txBody>
          <a:bodyPr wrap="square" rtlCol="0">
            <a:spAutoFit/>
          </a:bodyPr>
          <a:lstStyle/>
          <a:p>
            <a:pPr algn="ctr"/>
            <a:r>
              <a:rPr lang="en-US" sz="3000" b="1" dirty="0"/>
              <a:t>Natural History</a:t>
            </a:r>
          </a:p>
        </p:txBody>
      </p:sp>
      <p:sp>
        <p:nvSpPr>
          <p:cNvPr id="59" name="Final freeform graph">
            <a:extLst>
              <a:ext uri="{FF2B5EF4-FFF2-40B4-BE49-F238E27FC236}">
                <a16:creationId xmlns:a16="http://schemas.microsoft.com/office/drawing/2014/main" id="{D0D9D890-1F5E-4942-87DB-C3B627A14FFA}"/>
              </a:ext>
            </a:extLst>
          </p:cNvPr>
          <p:cNvSpPr/>
          <p:nvPr/>
        </p:nvSpPr>
        <p:spPr>
          <a:xfrm>
            <a:off x="3126655" y="1900736"/>
            <a:ext cx="7601276" cy="3102841"/>
          </a:xfrm>
          <a:custGeom>
            <a:avLst/>
            <a:gdLst>
              <a:gd name="connsiteX0" fmla="*/ 0 w 5380383"/>
              <a:gd name="connsiteY0" fmla="*/ 951461 h 3086460"/>
              <a:gd name="connsiteX1" fmla="*/ 278296 w 5380383"/>
              <a:gd name="connsiteY1" fmla="*/ 103322 h 3086460"/>
              <a:gd name="connsiteX2" fmla="*/ 821635 w 5380383"/>
              <a:gd name="connsiteY2" fmla="*/ 3045305 h 3086460"/>
              <a:gd name="connsiteX3" fmla="*/ 1298713 w 5380383"/>
              <a:gd name="connsiteY3" fmla="*/ 1865861 h 3086460"/>
              <a:gd name="connsiteX4" fmla="*/ 1749287 w 5380383"/>
              <a:gd name="connsiteY4" fmla="*/ 2435705 h 3086460"/>
              <a:gd name="connsiteX5" fmla="*/ 2213113 w 5380383"/>
              <a:gd name="connsiteY5" fmla="*/ 1229757 h 3086460"/>
              <a:gd name="connsiteX6" fmla="*/ 2637183 w 5380383"/>
              <a:gd name="connsiteY6" fmla="*/ 1945374 h 3086460"/>
              <a:gd name="connsiteX7" fmla="*/ 3246783 w 5380383"/>
              <a:gd name="connsiteY7" fmla="*/ 726174 h 3086460"/>
              <a:gd name="connsiteX8" fmla="*/ 3750365 w 5380383"/>
              <a:gd name="connsiteY8" fmla="*/ 1402035 h 3086460"/>
              <a:gd name="connsiteX9" fmla="*/ 5062331 w 5380383"/>
              <a:gd name="connsiteY9" fmla="*/ 1375531 h 3086460"/>
              <a:gd name="connsiteX10" fmla="*/ 5380383 w 5380383"/>
              <a:gd name="connsiteY10" fmla="*/ 752679 h 3086460"/>
              <a:gd name="connsiteX11" fmla="*/ 5380383 w 5380383"/>
              <a:gd name="connsiteY11" fmla="*/ 752679 h 3086460"/>
              <a:gd name="connsiteX12" fmla="*/ 5380383 w 5380383"/>
              <a:gd name="connsiteY12" fmla="*/ 752679 h 3086460"/>
              <a:gd name="connsiteX0" fmla="*/ 0 w 5380383"/>
              <a:gd name="connsiteY0" fmla="*/ 951461 h 3172576"/>
              <a:gd name="connsiteX1" fmla="*/ 278296 w 5380383"/>
              <a:gd name="connsiteY1" fmla="*/ 103322 h 3172576"/>
              <a:gd name="connsiteX2" fmla="*/ 821635 w 5380383"/>
              <a:gd name="connsiteY2" fmla="*/ 3045305 h 3172576"/>
              <a:gd name="connsiteX3" fmla="*/ 1397459 w 5380383"/>
              <a:gd name="connsiteY3" fmla="*/ 2563809 h 3172576"/>
              <a:gd name="connsiteX4" fmla="*/ 1298713 w 5380383"/>
              <a:gd name="connsiteY4" fmla="*/ 1865861 h 3172576"/>
              <a:gd name="connsiteX5" fmla="*/ 1749287 w 5380383"/>
              <a:gd name="connsiteY5" fmla="*/ 2435705 h 3172576"/>
              <a:gd name="connsiteX6" fmla="*/ 2213113 w 5380383"/>
              <a:gd name="connsiteY6" fmla="*/ 1229757 h 3172576"/>
              <a:gd name="connsiteX7" fmla="*/ 2637183 w 5380383"/>
              <a:gd name="connsiteY7" fmla="*/ 1945374 h 3172576"/>
              <a:gd name="connsiteX8" fmla="*/ 3246783 w 5380383"/>
              <a:gd name="connsiteY8" fmla="*/ 726174 h 3172576"/>
              <a:gd name="connsiteX9" fmla="*/ 3750365 w 5380383"/>
              <a:gd name="connsiteY9" fmla="*/ 1402035 h 3172576"/>
              <a:gd name="connsiteX10" fmla="*/ 5062331 w 5380383"/>
              <a:gd name="connsiteY10" fmla="*/ 1375531 h 3172576"/>
              <a:gd name="connsiteX11" fmla="*/ 5380383 w 5380383"/>
              <a:gd name="connsiteY11" fmla="*/ 752679 h 3172576"/>
              <a:gd name="connsiteX12" fmla="*/ 5380383 w 5380383"/>
              <a:gd name="connsiteY12" fmla="*/ 752679 h 3172576"/>
              <a:gd name="connsiteX13" fmla="*/ 5380383 w 5380383"/>
              <a:gd name="connsiteY13" fmla="*/ 752679 h 3172576"/>
              <a:gd name="connsiteX0" fmla="*/ 0 w 5380383"/>
              <a:gd name="connsiteY0" fmla="*/ 935179 h 2943887"/>
              <a:gd name="connsiteX1" fmla="*/ 278296 w 5380383"/>
              <a:gd name="connsiteY1" fmla="*/ 87040 h 2943887"/>
              <a:gd name="connsiteX2" fmla="*/ 841662 w 5380383"/>
              <a:gd name="connsiteY2" fmla="*/ 2775023 h 2943887"/>
              <a:gd name="connsiteX3" fmla="*/ 1397459 w 5380383"/>
              <a:gd name="connsiteY3" fmla="*/ 2547527 h 2943887"/>
              <a:gd name="connsiteX4" fmla="*/ 1298713 w 5380383"/>
              <a:gd name="connsiteY4" fmla="*/ 1849579 h 2943887"/>
              <a:gd name="connsiteX5" fmla="*/ 1749287 w 5380383"/>
              <a:gd name="connsiteY5" fmla="*/ 2419423 h 2943887"/>
              <a:gd name="connsiteX6" fmla="*/ 2213113 w 5380383"/>
              <a:gd name="connsiteY6" fmla="*/ 1213475 h 2943887"/>
              <a:gd name="connsiteX7" fmla="*/ 2637183 w 5380383"/>
              <a:gd name="connsiteY7" fmla="*/ 1929092 h 2943887"/>
              <a:gd name="connsiteX8" fmla="*/ 3246783 w 5380383"/>
              <a:gd name="connsiteY8" fmla="*/ 709892 h 2943887"/>
              <a:gd name="connsiteX9" fmla="*/ 3750365 w 5380383"/>
              <a:gd name="connsiteY9" fmla="*/ 1385753 h 2943887"/>
              <a:gd name="connsiteX10" fmla="*/ 5062331 w 5380383"/>
              <a:gd name="connsiteY10" fmla="*/ 1359249 h 2943887"/>
              <a:gd name="connsiteX11" fmla="*/ 5380383 w 5380383"/>
              <a:gd name="connsiteY11" fmla="*/ 736397 h 2943887"/>
              <a:gd name="connsiteX12" fmla="*/ 5380383 w 5380383"/>
              <a:gd name="connsiteY12" fmla="*/ 736397 h 2943887"/>
              <a:gd name="connsiteX13" fmla="*/ 5380383 w 5380383"/>
              <a:gd name="connsiteY13" fmla="*/ 736397 h 2943887"/>
              <a:gd name="connsiteX0" fmla="*/ 0 w 5380383"/>
              <a:gd name="connsiteY0" fmla="*/ 935179 h 2860425"/>
              <a:gd name="connsiteX1" fmla="*/ 278296 w 5380383"/>
              <a:gd name="connsiteY1" fmla="*/ 87040 h 2860425"/>
              <a:gd name="connsiteX2" fmla="*/ 841662 w 5380383"/>
              <a:gd name="connsiteY2" fmla="*/ 2775023 h 2860425"/>
              <a:gd name="connsiteX3" fmla="*/ 1397459 w 5380383"/>
              <a:gd name="connsiteY3" fmla="*/ 2547527 h 2860425"/>
              <a:gd name="connsiteX4" fmla="*/ 1298713 w 5380383"/>
              <a:gd name="connsiteY4" fmla="*/ 1849579 h 2860425"/>
              <a:gd name="connsiteX5" fmla="*/ 1749287 w 5380383"/>
              <a:gd name="connsiteY5" fmla="*/ 2419423 h 2860425"/>
              <a:gd name="connsiteX6" fmla="*/ 2213113 w 5380383"/>
              <a:gd name="connsiteY6" fmla="*/ 1213475 h 2860425"/>
              <a:gd name="connsiteX7" fmla="*/ 2637183 w 5380383"/>
              <a:gd name="connsiteY7" fmla="*/ 1929092 h 2860425"/>
              <a:gd name="connsiteX8" fmla="*/ 3246783 w 5380383"/>
              <a:gd name="connsiteY8" fmla="*/ 709892 h 2860425"/>
              <a:gd name="connsiteX9" fmla="*/ 3750365 w 5380383"/>
              <a:gd name="connsiteY9" fmla="*/ 1385753 h 2860425"/>
              <a:gd name="connsiteX10" fmla="*/ 5062331 w 5380383"/>
              <a:gd name="connsiteY10" fmla="*/ 1359249 h 2860425"/>
              <a:gd name="connsiteX11" fmla="*/ 5380383 w 5380383"/>
              <a:gd name="connsiteY11" fmla="*/ 736397 h 2860425"/>
              <a:gd name="connsiteX12" fmla="*/ 5380383 w 5380383"/>
              <a:gd name="connsiteY12" fmla="*/ 736397 h 2860425"/>
              <a:gd name="connsiteX13" fmla="*/ 5380383 w 5380383"/>
              <a:gd name="connsiteY13" fmla="*/ 736397 h 2860425"/>
              <a:gd name="connsiteX0" fmla="*/ 0 w 5380383"/>
              <a:gd name="connsiteY0" fmla="*/ 935179 h 2827636"/>
              <a:gd name="connsiteX1" fmla="*/ 278296 w 5380383"/>
              <a:gd name="connsiteY1" fmla="*/ 87040 h 2827636"/>
              <a:gd name="connsiteX2" fmla="*/ 841662 w 5380383"/>
              <a:gd name="connsiteY2" fmla="*/ 2775023 h 2827636"/>
              <a:gd name="connsiteX3" fmla="*/ 1397459 w 5380383"/>
              <a:gd name="connsiteY3" fmla="*/ 2547527 h 2827636"/>
              <a:gd name="connsiteX4" fmla="*/ 1298713 w 5380383"/>
              <a:gd name="connsiteY4" fmla="*/ 1849579 h 2827636"/>
              <a:gd name="connsiteX5" fmla="*/ 1749287 w 5380383"/>
              <a:gd name="connsiteY5" fmla="*/ 2419423 h 2827636"/>
              <a:gd name="connsiteX6" fmla="*/ 2213113 w 5380383"/>
              <a:gd name="connsiteY6" fmla="*/ 1213475 h 2827636"/>
              <a:gd name="connsiteX7" fmla="*/ 2637183 w 5380383"/>
              <a:gd name="connsiteY7" fmla="*/ 1929092 h 2827636"/>
              <a:gd name="connsiteX8" fmla="*/ 3246783 w 5380383"/>
              <a:gd name="connsiteY8" fmla="*/ 709892 h 2827636"/>
              <a:gd name="connsiteX9" fmla="*/ 3750365 w 5380383"/>
              <a:gd name="connsiteY9" fmla="*/ 1385753 h 2827636"/>
              <a:gd name="connsiteX10" fmla="*/ 5062331 w 5380383"/>
              <a:gd name="connsiteY10" fmla="*/ 1359249 h 2827636"/>
              <a:gd name="connsiteX11" fmla="*/ 5380383 w 5380383"/>
              <a:gd name="connsiteY11" fmla="*/ 736397 h 2827636"/>
              <a:gd name="connsiteX12" fmla="*/ 5380383 w 5380383"/>
              <a:gd name="connsiteY12" fmla="*/ 736397 h 2827636"/>
              <a:gd name="connsiteX13" fmla="*/ 5380383 w 5380383"/>
              <a:gd name="connsiteY13" fmla="*/ 736397 h 2827636"/>
              <a:gd name="connsiteX0" fmla="*/ 0 w 5380383"/>
              <a:gd name="connsiteY0" fmla="*/ 935179 h 2812363"/>
              <a:gd name="connsiteX1" fmla="*/ 278296 w 5380383"/>
              <a:gd name="connsiteY1" fmla="*/ 87040 h 2812363"/>
              <a:gd name="connsiteX2" fmla="*/ 841662 w 5380383"/>
              <a:gd name="connsiteY2" fmla="*/ 2775023 h 2812363"/>
              <a:gd name="connsiteX3" fmla="*/ 1397459 w 5380383"/>
              <a:gd name="connsiteY3" fmla="*/ 2547527 h 2812363"/>
              <a:gd name="connsiteX4" fmla="*/ 1749287 w 5380383"/>
              <a:gd name="connsiteY4" fmla="*/ 2419423 h 2812363"/>
              <a:gd name="connsiteX5" fmla="*/ 2213113 w 5380383"/>
              <a:gd name="connsiteY5" fmla="*/ 1213475 h 2812363"/>
              <a:gd name="connsiteX6" fmla="*/ 2637183 w 5380383"/>
              <a:gd name="connsiteY6" fmla="*/ 1929092 h 2812363"/>
              <a:gd name="connsiteX7" fmla="*/ 3246783 w 5380383"/>
              <a:gd name="connsiteY7" fmla="*/ 709892 h 2812363"/>
              <a:gd name="connsiteX8" fmla="*/ 3750365 w 5380383"/>
              <a:gd name="connsiteY8" fmla="*/ 1385753 h 2812363"/>
              <a:gd name="connsiteX9" fmla="*/ 5062331 w 5380383"/>
              <a:gd name="connsiteY9" fmla="*/ 1359249 h 2812363"/>
              <a:gd name="connsiteX10" fmla="*/ 5380383 w 5380383"/>
              <a:gd name="connsiteY10" fmla="*/ 736397 h 2812363"/>
              <a:gd name="connsiteX11" fmla="*/ 5380383 w 5380383"/>
              <a:gd name="connsiteY11" fmla="*/ 736397 h 2812363"/>
              <a:gd name="connsiteX12" fmla="*/ 5380383 w 5380383"/>
              <a:gd name="connsiteY12" fmla="*/ 736397 h 2812363"/>
              <a:gd name="connsiteX0" fmla="*/ 0 w 5380383"/>
              <a:gd name="connsiteY0" fmla="*/ 935179 h 2920606"/>
              <a:gd name="connsiteX1" fmla="*/ 278296 w 5380383"/>
              <a:gd name="connsiteY1" fmla="*/ 87040 h 2920606"/>
              <a:gd name="connsiteX2" fmla="*/ 841662 w 5380383"/>
              <a:gd name="connsiteY2" fmla="*/ 2775023 h 2920606"/>
              <a:gd name="connsiteX3" fmla="*/ 1749287 w 5380383"/>
              <a:gd name="connsiteY3" fmla="*/ 2419423 h 2920606"/>
              <a:gd name="connsiteX4" fmla="*/ 2213113 w 5380383"/>
              <a:gd name="connsiteY4" fmla="*/ 1213475 h 2920606"/>
              <a:gd name="connsiteX5" fmla="*/ 2637183 w 5380383"/>
              <a:gd name="connsiteY5" fmla="*/ 1929092 h 2920606"/>
              <a:gd name="connsiteX6" fmla="*/ 3246783 w 5380383"/>
              <a:gd name="connsiteY6" fmla="*/ 709892 h 2920606"/>
              <a:gd name="connsiteX7" fmla="*/ 3750365 w 5380383"/>
              <a:gd name="connsiteY7" fmla="*/ 1385753 h 2920606"/>
              <a:gd name="connsiteX8" fmla="*/ 5062331 w 5380383"/>
              <a:gd name="connsiteY8" fmla="*/ 1359249 h 2920606"/>
              <a:gd name="connsiteX9" fmla="*/ 5380383 w 5380383"/>
              <a:gd name="connsiteY9" fmla="*/ 736397 h 2920606"/>
              <a:gd name="connsiteX10" fmla="*/ 5380383 w 5380383"/>
              <a:gd name="connsiteY10" fmla="*/ 736397 h 2920606"/>
              <a:gd name="connsiteX11" fmla="*/ 5380383 w 5380383"/>
              <a:gd name="connsiteY11" fmla="*/ 736397 h 2920606"/>
              <a:gd name="connsiteX0" fmla="*/ 0 w 5380383"/>
              <a:gd name="connsiteY0" fmla="*/ 935179 h 2861168"/>
              <a:gd name="connsiteX1" fmla="*/ 278296 w 5380383"/>
              <a:gd name="connsiteY1" fmla="*/ 87040 h 2861168"/>
              <a:gd name="connsiteX2" fmla="*/ 841662 w 5380383"/>
              <a:gd name="connsiteY2" fmla="*/ 2775023 h 2861168"/>
              <a:gd name="connsiteX3" fmla="*/ 1749287 w 5380383"/>
              <a:gd name="connsiteY3" fmla="*/ 2419423 h 2861168"/>
              <a:gd name="connsiteX4" fmla="*/ 2213113 w 5380383"/>
              <a:gd name="connsiteY4" fmla="*/ 1213475 h 2861168"/>
              <a:gd name="connsiteX5" fmla="*/ 2637183 w 5380383"/>
              <a:gd name="connsiteY5" fmla="*/ 1929092 h 2861168"/>
              <a:gd name="connsiteX6" fmla="*/ 3246783 w 5380383"/>
              <a:gd name="connsiteY6" fmla="*/ 709892 h 2861168"/>
              <a:gd name="connsiteX7" fmla="*/ 3750365 w 5380383"/>
              <a:gd name="connsiteY7" fmla="*/ 1385753 h 2861168"/>
              <a:gd name="connsiteX8" fmla="*/ 5062331 w 5380383"/>
              <a:gd name="connsiteY8" fmla="*/ 1359249 h 2861168"/>
              <a:gd name="connsiteX9" fmla="*/ 5380383 w 5380383"/>
              <a:gd name="connsiteY9" fmla="*/ 736397 h 2861168"/>
              <a:gd name="connsiteX10" fmla="*/ 5380383 w 5380383"/>
              <a:gd name="connsiteY10" fmla="*/ 736397 h 2861168"/>
              <a:gd name="connsiteX11" fmla="*/ 5380383 w 5380383"/>
              <a:gd name="connsiteY11" fmla="*/ 736397 h 2861168"/>
              <a:gd name="connsiteX0" fmla="*/ 0 w 5380383"/>
              <a:gd name="connsiteY0" fmla="*/ 935179 h 2814773"/>
              <a:gd name="connsiteX1" fmla="*/ 278296 w 5380383"/>
              <a:gd name="connsiteY1" fmla="*/ 87040 h 2814773"/>
              <a:gd name="connsiteX2" fmla="*/ 841662 w 5380383"/>
              <a:gd name="connsiteY2" fmla="*/ 2775023 h 2814773"/>
              <a:gd name="connsiteX3" fmla="*/ 1749287 w 5380383"/>
              <a:gd name="connsiteY3" fmla="*/ 2419423 h 2814773"/>
              <a:gd name="connsiteX4" fmla="*/ 2213113 w 5380383"/>
              <a:gd name="connsiteY4" fmla="*/ 1213475 h 2814773"/>
              <a:gd name="connsiteX5" fmla="*/ 2637183 w 5380383"/>
              <a:gd name="connsiteY5" fmla="*/ 1929092 h 2814773"/>
              <a:gd name="connsiteX6" fmla="*/ 3246783 w 5380383"/>
              <a:gd name="connsiteY6" fmla="*/ 709892 h 2814773"/>
              <a:gd name="connsiteX7" fmla="*/ 3750365 w 5380383"/>
              <a:gd name="connsiteY7" fmla="*/ 1385753 h 2814773"/>
              <a:gd name="connsiteX8" fmla="*/ 5062331 w 5380383"/>
              <a:gd name="connsiteY8" fmla="*/ 1359249 h 2814773"/>
              <a:gd name="connsiteX9" fmla="*/ 5380383 w 5380383"/>
              <a:gd name="connsiteY9" fmla="*/ 736397 h 2814773"/>
              <a:gd name="connsiteX10" fmla="*/ 5380383 w 5380383"/>
              <a:gd name="connsiteY10" fmla="*/ 736397 h 2814773"/>
              <a:gd name="connsiteX11" fmla="*/ 5380383 w 5380383"/>
              <a:gd name="connsiteY11" fmla="*/ 736397 h 2814773"/>
              <a:gd name="connsiteX0" fmla="*/ 0 w 5380383"/>
              <a:gd name="connsiteY0" fmla="*/ 935179 h 2927063"/>
              <a:gd name="connsiteX1" fmla="*/ 278296 w 5380383"/>
              <a:gd name="connsiteY1" fmla="*/ 87040 h 2927063"/>
              <a:gd name="connsiteX2" fmla="*/ 841662 w 5380383"/>
              <a:gd name="connsiteY2" fmla="*/ 2775023 h 2927063"/>
              <a:gd name="connsiteX3" fmla="*/ 1749287 w 5380383"/>
              <a:gd name="connsiteY3" fmla="*/ 2444823 h 2927063"/>
              <a:gd name="connsiteX4" fmla="*/ 2213113 w 5380383"/>
              <a:gd name="connsiteY4" fmla="*/ 1213475 h 2927063"/>
              <a:gd name="connsiteX5" fmla="*/ 2637183 w 5380383"/>
              <a:gd name="connsiteY5" fmla="*/ 1929092 h 2927063"/>
              <a:gd name="connsiteX6" fmla="*/ 3246783 w 5380383"/>
              <a:gd name="connsiteY6" fmla="*/ 709892 h 2927063"/>
              <a:gd name="connsiteX7" fmla="*/ 3750365 w 5380383"/>
              <a:gd name="connsiteY7" fmla="*/ 1385753 h 2927063"/>
              <a:gd name="connsiteX8" fmla="*/ 5062331 w 5380383"/>
              <a:gd name="connsiteY8" fmla="*/ 1359249 h 2927063"/>
              <a:gd name="connsiteX9" fmla="*/ 5380383 w 5380383"/>
              <a:gd name="connsiteY9" fmla="*/ 736397 h 2927063"/>
              <a:gd name="connsiteX10" fmla="*/ 5380383 w 5380383"/>
              <a:gd name="connsiteY10" fmla="*/ 736397 h 2927063"/>
              <a:gd name="connsiteX11" fmla="*/ 5380383 w 5380383"/>
              <a:gd name="connsiteY11" fmla="*/ 736397 h 2927063"/>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246783 w 5380383"/>
              <a:gd name="connsiteY7" fmla="*/ 7098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627296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2500 h 2729953"/>
              <a:gd name="connsiteX1" fmla="*/ 278296 w 5380383"/>
              <a:gd name="connsiteY1" fmla="*/ 84361 h 2729953"/>
              <a:gd name="connsiteX2" fmla="*/ 841662 w 5380383"/>
              <a:gd name="connsiteY2" fmla="*/ 2729952 h 2729953"/>
              <a:gd name="connsiteX3" fmla="*/ 1759301 w 5380383"/>
              <a:gd name="connsiteY3" fmla="*/ 2543744 h 2729953"/>
              <a:gd name="connsiteX4" fmla="*/ 2213113 w 5380383"/>
              <a:gd name="connsiteY4" fmla="*/ 1210796 h 2729953"/>
              <a:gd name="connsiteX5" fmla="*/ 2637183 w 5380383"/>
              <a:gd name="connsiteY5" fmla="*/ 1926413 h 2729953"/>
              <a:gd name="connsiteX6" fmla="*/ 3179862 w 5380383"/>
              <a:gd name="connsiteY6" fmla="*/ 1757451 h 2729953"/>
              <a:gd name="connsiteX7" fmla="*/ 3627296 w 5380383"/>
              <a:gd name="connsiteY7" fmla="*/ 631013 h 2729953"/>
              <a:gd name="connsiteX8" fmla="*/ 4100838 w 5380383"/>
              <a:gd name="connsiteY8" fmla="*/ 1395774 h 2729953"/>
              <a:gd name="connsiteX9" fmla="*/ 5092372 w 5380383"/>
              <a:gd name="connsiteY9" fmla="*/ 1229570 h 2729953"/>
              <a:gd name="connsiteX10" fmla="*/ 5380383 w 5380383"/>
              <a:gd name="connsiteY10" fmla="*/ 733718 h 2729953"/>
              <a:gd name="connsiteX11" fmla="*/ 5380383 w 5380383"/>
              <a:gd name="connsiteY11" fmla="*/ 733718 h 2729953"/>
              <a:gd name="connsiteX12" fmla="*/ 5380383 w 5380383"/>
              <a:gd name="connsiteY12" fmla="*/ 733718 h 2729953"/>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37183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64694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80383" h="2733086">
                <a:moveTo>
                  <a:pt x="0" y="932500"/>
                </a:moveTo>
                <a:cubicBezTo>
                  <a:pt x="70678" y="333943"/>
                  <a:pt x="138019" y="-215214"/>
                  <a:pt x="278296" y="84361"/>
                </a:cubicBezTo>
                <a:cubicBezTo>
                  <a:pt x="418573" y="383936"/>
                  <a:pt x="526403" y="2692588"/>
                  <a:pt x="841662" y="2729952"/>
                </a:cubicBezTo>
                <a:cubicBezTo>
                  <a:pt x="1156921" y="2744105"/>
                  <a:pt x="1486051" y="2715102"/>
                  <a:pt x="1764694" y="2543744"/>
                </a:cubicBezTo>
                <a:cubicBezTo>
                  <a:pt x="1993269" y="2283486"/>
                  <a:pt x="2064859" y="1313684"/>
                  <a:pt x="2213113" y="1210796"/>
                </a:cubicBezTo>
                <a:cubicBezTo>
                  <a:pt x="2361367" y="1107908"/>
                  <a:pt x="2493091" y="1835304"/>
                  <a:pt x="2654216" y="1926413"/>
                </a:cubicBezTo>
                <a:cubicBezTo>
                  <a:pt x="2815341" y="1890522"/>
                  <a:pt x="3008168" y="1859051"/>
                  <a:pt x="3179862" y="1757451"/>
                </a:cubicBezTo>
                <a:cubicBezTo>
                  <a:pt x="3281462" y="1554251"/>
                  <a:pt x="3473800" y="691292"/>
                  <a:pt x="3627296" y="631013"/>
                </a:cubicBezTo>
                <a:cubicBezTo>
                  <a:pt x="3780792" y="570734"/>
                  <a:pt x="3965139" y="1198648"/>
                  <a:pt x="4100838" y="1395774"/>
                </a:cubicBezTo>
                <a:cubicBezTo>
                  <a:pt x="4246552" y="1491300"/>
                  <a:pt x="4999277" y="1314513"/>
                  <a:pt x="5092372" y="1229570"/>
                </a:cubicBezTo>
                <a:cubicBezTo>
                  <a:pt x="5185467" y="1144627"/>
                  <a:pt x="5380383" y="733718"/>
                  <a:pt x="5380383" y="733718"/>
                </a:cubicBezTo>
                <a:lnTo>
                  <a:pt x="5380383" y="733718"/>
                </a:lnTo>
                <a:lnTo>
                  <a:pt x="5380383" y="733718"/>
                </a:ln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Induction">
            <a:extLst>
              <a:ext uri="{FF2B5EF4-FFF2-40B4-BE49-F238E27FC236}">
                <a16:creationId xmlns:a16="http://schemas.microsoft.com/office/drawing/2014/main" id="{4DE73D75-3BF8-4140-95DD-02567633F050}"/>
              </a:ext>
            </a:extLst>
          </p:cNvPr>
          <p:cNvSpPr/>
          <p:nvPr/>
        </p:nvSpPr>
        <p:spPr>
          <a:xfrm>
            <a:off x="2952311" y="1184312"/>
            <a:ext cx="1406969" cy="45720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Induction</a:t>
            </a:r>
          </a:p>
        </p:txBody>
      </p:sp>
      <p:sp>
        <p:nvSpPr>
          <p:cNvPr id="61" name="Induction final">
            <a:extLst>
              <a:ext uri="{FF2B5EF4-FFF2-40B4-BE49-F238E27FC236}">
                <a16:creationId xmlns:a16="http://schemas.microsoft.com/office/drawing/2014/main" id="{EB1A7B7D-8ACF-4636-BE09-4BFB97B01878}"/>
              </a:ext>
            </a:extLst>
          </p:cNvPr>
          <p:cNvSpPr/>
          <p:nvPr/>
        </p:nvSpPr>
        <p:spPr>
          <a:xfrm>
            <a:off x="2952311" y="1184312"/>
            <a:ext cx="1406969" cy="457200"/>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Induction</a:t>
            </a:r>
          </a:p>
        </p:txBody>
      </p:sp>
      <p:pic>
        <p:nvPicPr>
          <p:cNvPr id="62" name="Graphic 61" descr="Cursor with solid fill">
            <a:extLst>
              <a:ext uri="{FF2B5EF4-FFF2-40B4-BE49-F238E27FC236}">
                <a16:creationId xmlns:a16="http://schemas.microsoft.com/office/drawing/2014/main" id="{D5073A4B-E899-4CDD-B2E7-D0965B095B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08404" y="1506413"/>
            <a:ext cx="301752" cy="301752"/>
          </a:xfrm>
          <a:prstGeom prst="rect">
            <a:avLst/>
          </a:prstGeom>
        </p:spPr>
      </p:pic>
      <p:sp>
        <p:nvSpPr>
          <p:cNvPr id="68" name="Freeform 4">
            <a:extLst>
              <a:ext uri="{FF2B5EF4-FFF2-40B4-BE49-F238E27FC236}">
                <a16:creationId xmlns:a16="http://schemas.microsoft.com/office/drawing/2014/main" id="{B5898B3D-0952-455D-A8E2-8980DF9A786C}"/>
              </a:ext>
            </a:extLst>
          </p:cNvPr>
          <p:cNvSpPr/>
          <p:nvPr/>
        </p:nvSpPr>
        <p:spPr>
          <a:xfrm>
            <a:off x="3133379" y="1908192"/>
            <a:ext cx="7371350" cy="3099283"/>
          </a:xfrm>
          <a:custGeom>
            <a:avLst/>
            <a:gdLst>
              <a:gd name="connsiteX0" fmla="*/ 0 w 5380383"/>
              <a:gd name="connsiteY0" fmla="*/ 951461 h 3086460"/>
              <a:gd name="connsiteX1" fmla="*/ 278296 w 5380383"/>
              <a:gd name="connsiteY1" fmla="*/ 103322 h 3086460"/>
              <a:gd name="connsiteX2" fmla="*/ 821635 w 5380383"/>
              <a:gd name="connsiteY2" fmla="*/ 3045305 h 3086460"/>
              <a:gd name="connsiteX3" fmla="*/ 1298713 w 5380383"/>
              <a:gd name="connsiteY3" fmla="*/ 1865861 h 3086460"/>
              <a:gd name="connsiteX4" fmla="*/ 1749287 w 5380383"/>
              <a:gd name="connsiteY4" fmla="*/ 2435705 h 3086460"/>
              <a:gd name="connsiteX5" fmla="*/ 2213113 w 5380383"/>
              <a:gd name="connsiteY5" fmla="*/ 1229757 h 3086460"/>
              <a:gd name="connsiteX6" fmla="*/ 2637183 w 5380383"/>
              <a:gd name="connsiteY6" fmla="*/ 1945374 h 3086460"/>
              <a:gd name="connsiteX7" fmla="*/ 3246783 w 5380383"/>
              <a:gd name="connsiteY7" fmla="*/ 726174 h 3086460"/>
              <a:gd name="connsiteX8" fmla="*/ 3750365 w 5380383"/>
              <a:gd name="connsiteY8" fmla="*/ 1402035 h 3086460"/>
              <a:gd name="connsiteX9" fmla="*/ 5062331 w 5380383"/>
              <a:gd name="connsiteY9" fmla="*/ 1375531 h 3086460"/>
              <a:gd name="connsiteX10" fmla="*/ 5380383 w 5380383"/>
              <a:gd name="connsiteY10" fmla="*/ 752679 h 3086460"/>
              <a:gd name="connsiteX11" fmla="*/ 5380383 w 5380383"/>
              <a:gd name="connsiteY11" fmla="*/ 752679 h 3086460"/>
              <a:gd name="connsiteX12" fmla="*/ 5380383 w 5380383"/>
              <a:gd name="connsiteY12" fmla="*/ 752679 h 3086460"/>
              <a:gd name="connsiteX0" fmla="*/ 0 w 5380383"/>
              <a:gd name="connsiteY0" fmla="*/ 951461 h 3172576"/>
              <a:gd name="connsiteX1" fmla="*/ 278296 w 5380383"/>
              <a:gd name="connsiteY1" fmla="*/ 103322 h 3172576"/>
              <a:gd name="connsiteX2" fmla="*/ 821635 w 5380383"/>
              <a:gd name="connsiteY2" fmla="*/ 3045305 h 3172576"/>
              <a:gd name="connsiteX3" fmla="*/ 1397459 w 5380383"/>
              <a:gd name="connsiteY3" fmla="*/ 2563809 h 3172576"/>
              <a:gd name="connsiteX4" fmla="*/ 1298713 w 5380383"/>
              <a:gd name="connsiteY4" fmla="*/ 1865861 h 3172576"/>
              <a:gd name="connsiteX5" fmla="*/ 1749287 w 5380383"/>
              <a:gd name="connsiteY5" fmla="*/ 2435705 h 3172576"/>
              <a:gd name="connsiteX6" fmla="*/ 2213113 w 5380383"/>
              <a:gd name="connsiteY6" fmla="*/ 1229757 h 3172576"/>
              <a:gd name="connsiteX7" fmla="*/ 2637183 w 5380383"/>
              <a:gd name="connsiteY7" fmla="*/ 1945374 h 3172576"/>
              <a:gd name="connsiteX8" fmla="*/ 3246783 w 5380383"/>
              <a:gd name="connsiteY8" fmla="*/ 726174 h 3172576"/>
              <a:gd name="connsiteX9" fmla="*/ 3750365 w 5380383"/>
              <a:gd name="connsiteY9" fmla="*/ 1402035 h 3172576"/>
              <a:gd name="connsiteX10" fmla="*/ 5062331 w 5380383"/>
              <a:gd name="connsiteY10" fmla="*/ 1375531 h 3172576"/>
              <a:gd name="connsiteX11" fmla="*/ 5380383 w 5380383"/>
              <a:gd name="connsiteY11" fmla="*/ 752679 h 3172576"/>
              <a:gd name="connsiteX12" fmla="*/ 5380383 w 5380383"/>
              <a:gd name="connsiteY12" fmla="*/ 752679 h 3172576"/>
              <a:gd name="connsiteX13" fmla="*/ 5380383 w 5380383"/>
              <a:gd name="connsiteY13" fmla="*/ 752679 h 3172576"/>
              <a:gd name="connsiteX0" fmla="*/ 0 w 5380383"/>
              <a:gd name="connsiteY0" fmla="*/ 935179 h 2943887"/>
              <a:gd name="connsiteX1" fmla="*/ 278296 w 5380383"/>
              <a:gd name="connsiteY1" fmla="*/ 87040 h 2943887"/>
              <a:gd name="connsiteX2" fmla="*/ 841662 w 5380383"/>
              <a:gd name="connsiteY2" fmla="*/ 2775023 h 2943887"/>
              <a:gd name="connsiteX3" fmla="*/ 1397459 w 5380383"/>
              <a:gd name="connsiteY3" fmla="*/ 2547527 h 2943887"/>
              <a:gd name="connsiteX4" fmla="*/ 1298713 w 5380383"/>
              <a:gd name="connsiteY4" fmla="*/ 1849579 h 2943887"/>
              <a:gd name="connsiteX5" fmla="*/ 1749287 w 5380383"/>
              <a:gd name="connsiteY5" fmla="*/ 2419423 h 2943887"/>
              <a:gd name="connsiteX6" fmla="*/ 2213113 w 5380383"/>
              <a:gd name="connsiteY6" fmla="*/ 1213475 h 2943887"/>
              <a:gd name="connsiteX7" fmla="*/ 2637183 w 5380383"/>
              <a:gd name="connsiteY7" fmla="*/ 1929092 h 2943887"/>
              <a:gd name="connsiteX8" fmla="*/ 3246783 w 5380383"/>
              <a:gd name="connsiteY8" fmla="*/ 709892 h 2943887"/>
              <a:gd name="connsiteX9" fmla="*/ 3750365 w 5380383"/>
              <a:gd name="connsiteY9" fmla="*/ 1385753 h 2943887"/>
              <a:gd name="connsiteX10" fmla="*/ 5062331 w 5380383"/>
              <a:gd name="connsiteY10" fmla="*/ 1359249 h 2943887"/>
              <a:gd name="connsiteX11" fmla="*/ 5380383 w 5380383"/>
              <a:gd name="connsiteY11" fmla="*/ 736397 h 2943887"/>
              <a:gd name="connsiteX12" fmla="*/ 5380383 w 5380383"/>
              <a:gd name="connsiteY12" fmla="*/ 736397 h 2943887"/>
              <a:gd name="connsiteX13" fmla="*/ 5380383 w 5380383"/>
              <a:gd name="connsiteY13" fmla="*/ 736397 h 2943887"/>
              <a:gd name="connsiteX0" fmla="*/ 0 w 5380383"/>
              <a:gd name="connsiteY0" fmla="*/ 935179 h 2860425"/>
              <a:gd name="connsiteX1" fmla="*/ 278296 w 5380383"/>
              <a:gd name="connsiteY1" fmla="*/ 87040 h 2860425"/>
              <a:gd name="connsiteX2" fmla="*/ 841662 w 5380383"/>
              <a:gd name="connsiteY2" fmla="*/ 2775023 h 2860425"/>
              <a:gd name="connsiteX3" fmla="*/ 1397459 w 5380383"/>
              <a:gd name="connsiteY3" fmla="*/ 2547527 h 2860425"/>
              <a:gd name="connsiteX4" fmla="*/ 1298713 w 5380383"/>
              <a:gd name="connsiteY4" fmla="*/ 1849579 h 2860425"/>
              <a:gd name="connsiteX5" fmla="*/ 1749287 w 5380383"/>
              <a:gd name="connsiteY5" fmla="*/ 2419423 h 2860425"/>
              <a:gd name="connsiteX6" fmla="*/ 2213113 w 5380383"/>
              <a:gd name="connsiteY6" fmla="*/ 1213475 h 2860425"/>
              <a:gd name="connsiteX7" fmla="*/ 2637183 w 5380383"/>
              <a:gd name="connsiteY7" fmla="*/ 1929092 h 2860425"/>
              <a:gd name="connsiteX8" fmla="*/ 3246783 w 5380383"/>
              <a:gd name="connsiteY8" fmla="*/ 709892 h 2860425"/>
              <a:gd name="connsiteX9" fmla="*/ 3750365 w 5380383"/>
              <a:gd name="connsiteY9" fmla="*/ 1385753 h 2860425"/>
              <a:gd name="connsiteX10" fmla="*/ 5062331 w 5380383"/>
              <a:gd name="connsiteY10" fmla="*/ 1359249 h 2860425"/>
              <a:gd name="connsiteX11" fmla="*/ 5380383 w 5380383"/>
              <a:gd name="connsiteY11" fmla="*/ 736397 h 2860425"/>
              <a:gd name="connsiteX12" fmla="*/ 5380383 w 5380383"/>
              <a:gd name="connsiteY12" fmla="*/ 736397 h 2860425"/>
              <a:gd name="connsiteX13" fmla="*/ 5380383 w 5380383"/>
              <a:gd name="connsiteY13" fmla="*/ 736397 h 2860425"/>
              <a:gd name="connsiteX0" fmla="*/ 0 w 5380383"/>
              <a:gd name="connsiteY0" fmla="*/ 935179 h 2827636"/>
              <a:gd name="connsiteX1" fmla="*/ 278296 w 5380383"/>
              <a:gd name="connsiteY1" fmla="*/ 87040 h 2827636"/>
              <a:gd name="connsiteX2" fmla="*/ 841662 w 5380383"/>
              <a:gd name="connsiteY2" fmla="*/ 2775023 h 2827636"/>
              <a:gd name="connsiteX3" fmla="*/ 1397459 w 5380383"/>
              <a:gd name="connsiteY3" fmla="*/ 2547527 h 2827636"/>
              <a:gd name="connsiteX4" fmla="*/ 1298713 w 5380383"/>
              <a:gd name="connsiteY4" fmla="*/ 1849579 h 2827636"/>
              <a:gd name="connsiteX5" fmla="*/ 1749287 w 5380383"/>
              <a:gd name="connsiteY5" fmla="*/ 2419423 h 2827636"/>
              <a:gd name="connsiteX6" fmla="*/ 2213113 w 5380383"/>
              <a:gd name="connsiteY6" fmla="*/ 1213475 h 2827636"/>
              <a:gd name="connsiteX7" fmla="*/ 2637183 w 5380383"/>
              <a:gd name="connsiteY7" fmla="*/ 1929092 h 2827636"/>
              <a:gd name="connsiteX8" fmla="*/ 3246783 w 5380383"/>
              <a:gd name="connsiteY8" fmla="*/ 709892 h 2827636"/>
              <a:gd name="connsiteX9" fmla="*/ 3750365 w 5380383"/>
              <a:gd name="connsiteY9" fmla="*/ 1385753 h 2827636"/>
              <a:gd name="connsiteX10" fmla="*/ 5062331 w 5380383"/>
              <a:gd name="connsiteY10" fmla="*/ 1359249 h 2827636"/>
              <a:gd name="connsiteX11" fmla="*/ 5380383 w 5380383"/>
              <a:gd name="connsiteY11" fmla="*/ 736397 h 2827636"/>
              <a:gd name="connsiteX12" fmla="*/ 5380383 w 5380383"/>
              <a:gd name="connsiteY12" fmla="*/ 736397 h 2827636"/>
              <a:gd name="connsiteX13" fmla="*/ 5380383 w 5380383"/>
              <a:gd name="connsiteY13" fmla="*/ 736397 h 2827636"/>
              <a:gd name="connsiteX0" fmla="*/ 0 w 5380383"/>
              <a:gd name="connsiteY0" fmla="*/ 935179 h 2812363"/>
              <a:gd name="connsiteX1" fmla="*/ 278296 w 5380383"/>
              <a:gd name="connsiteY1" fmla="*/ 87040 h 2812363"/>
              <a:gd name="connsiteX2" fmla="*/ 841662 w 5380383"/>
              <a:gd name="connsiteY2" fmla="*/ 2775023 h 2812363"/>
              <a:gd name="connsiteX3" fmla="*/ 1397459 w 5380383"/>
              <a:gd name="connsiteY3" fmla="*/ 2547527 h 2812363"/>
              <a:gd name="connsiteX4" fmla="*/ 1749287 w 5380383"/>
              <a:gd name="connsiteY4" fmla="*/ 2419423 h 2812363"/>
              <a:gd name="connsiteX5" fmla="*/ 2213113 w 5380383"/>
              <a:gd name="connsiteY5" fmla="*/ 1213475 h 2812363"/>
              <a:gd name="connsiteX6" fmla="*/ 2637183 w 5380383"/>
              <a:gd name="connsiteY6" fmla="*/ 1929092 h 2812363"/>
              <a:gd name="connsiteX7" fmla="*/ 3246783 w 5380383"/>
              <a:gd name="connsiteY7" fmla="*/ 709892 h 2812363"/>
              <a:gd name="connsiteX8" fmla="*/ 3750365 w 5380383"/>
              <a:gd name="connsiteY8" fmla="*/ 1385753 h 2812363"/>
              <a:gd name="connsiteX9" fmla="*/ 5062331 w 5380383"/>
              <a:gd name="connsiteY9" fmla="*/ 1359249 h 2812363"/>
              <a:gd name="connsiteX10" fmla="*/ 5380383 w 5380383"/>
              <a:gd name="connsiteY10" fmla="*/ 736397 h 2812363"/>
              <a:gd name="connsiteX11" fmla="*/ 5380383 w 5380383"/>
              <a:gd name="connsiteY11" fmla="*/ 736397 h 2812363"/>
              <a:gd name="connsiteX12" fmla="*/ 5380383 w 5380383"/>
              <a:gd name="connsiteY12" fmla="*/ 736397 h 2812363"/>
              <a:gd name="connsiteX0" fmla="*/ 0 w 5380383"/>
              <a:gd name="connsiteY0" fmla="*/ 935179 h 2920606"/>
              <a:gd name="connsiteX1" fmla="*/ 278296 w 5380383"/>
              <a:gd name="connsiteY1" fmla="*/ 87040 h 2920606"/>
              <a:gd name="connsiteX2" fmla="*/ 841662 w 5380383"/>
              <a:gd name="connsiteY2" fmla="*/ 2775023 h 2920606"/>
              <a:gd name="connsiteX3" fmla="*/ 1749287 w 5380383"/>
              <a:gd name="connsiteY3" fmla="*/ 2419423 h 2920606"/>
              <a:gd name="connsiteX4" fmla="*/ 2213113 w 5380383"/>
              <a:gd name="connsiteY4" fmla="*/ 1213475 h 2920606"/>
              <a:gd name="connsiteX5" fmla="*/ 2637183 w 5380383"/>
              <a:gd name="connsiteY5" fmla="*/ 1929092 h 2920606"/>
              <a:gd name="connsiteX6" fmla="*/ 3246783 w 5380383"/>
              <a:gd name="connsiteY6" fmla="*/ 709892 h 2920606"/>
              <a:gd name="connsiteX7" fmla="*/ 3750365 w 5380383"/>
              <a:gd name="connsiteY7" fmla="*/ 1385753 h 2920606"/>
              <a:gd name="connsiteX8" fmla="*/ 5062331 w 5380383"/>
              <a:gd name="connsiteY8" fmla="*/ 1359249 h 2920606"/>
              <a:gd name="connsiteX9" fmla="*/ 5380383 w 5380383"/>
              <a:gd name="connsiteY9" fmla="*/ 736397 h 2920606"/>
              <a:gd name="connsiteX10" fmla="*/ 5380383 w 5380383"/>
              <a:gd name="connsiteY10" fmla="*/ 736397 h 2920606"/>
              <a:gd name="connsiteX11" fmla="*/ 5380383 w 5380383"/>
              <a:gd name="connsiteY11" fmla="*/ 736397 h 2920606"/>
              <a:gd name="connsiteX0" fmla="*/ 0 w 5380383"/>
              <a:gd name="connsiteY0" fmla="*/ 935179 h 2861168"/>
              <a:gd name="connsiteX1" fmla="*/ 278296 w 5380383"/>
              <a:gd name="connsiteY1" fmla="*/ 87040 h 2861168"/>
              <a:gd name="connsiteX2" fmla="*/ 841662 w 5380383"/>
              <a:gd name="connsiteY2" fmla="*/ 2775023 h 2861168"/>
              <a:gd name="connsiteX3" fmla="*/ 1749287 w 5380383"/>
              <a:gd name="connsiteY3" fmla="*/ 2419423 h 2861168"/>
              <a:gd name="connsiteX4" fmla="*/ 2213113 w 5380383"/>
              <a:gd name="connsiteY4" fmla="*/ 1213475 h 2861168"/>
              <a:gd name="connsiteX5" fmla="*/ 2637183 w 5380383"/>
              <a:gd name="connsiteY5" fmla="*/ 1929092 h 2861168"/>
              <a:gd name="connsiteX6" fmla="*/ 3246783 w 5380383"/>
              <a:gd name="connsiteY6" fmla="*/ 709892 h 2861168"/>
              <a:gd name="connsiteX7" fmla="*/ 3750365 w 5380383"/>
              <a:gd name="connsiteY7" fmla="*/ 1385753 h 2861168"/>
              <a:gd name="connsiteX8" fmla="*/ 5062331 w 5380383"/>
              <a:gd name="connsiteY8" fmla="*/ 1359249 h 2861168"/>
              <a:gd name="connsiteX9" fmla="*/ 5380383 w 5380383"/>
              <a:gd name="connsiteY9" fmla="*/ 736397 h 2861168"/>
              <a:gd name="connsiteX10" fmla="*/ 5380383 w 5380383"/>
              <a:gd name="connsiteY10" fmla="*/ 736397 h 2861168"/>
              <a:gd name="connsiteX11" fmla="*/ 5380383 w 5380383"/>
              <a:gd name="connsiteY11" fmla="*/ 736397 h 2861168"/>
              <a:gd name="connsiteX0" fmla="*/ 0 w 5380383"/>
              <a:gd name="connsiteY0" fmla="*/ 935179 h 2814773"/>
              <a:gd name="connsiteX1" fmla="*/ 278296 w 5380383"/>
              <a:gd name="connsiteY1" fmla="*/ 87040 h 2814773"/>
              <a:gd name="connsiteX2" fmla="*/ 841662 w 5380383"/>
              <a:gd name="connsiteY2" fmla="*/ 2775023 h 2814773"/>
              <a:gd name="connsiteX3" fmla="*/ 1749287 w 5380383"/>
              <a:gd name="connsiteY3" fmla="*/ 2419423 h 2814773"/>
              <a:gd name="connsiteX4" fmla="*/ 2213113 w 5380383"/>
              <a:gd name="connsiteY4" fmla="*/ 1213475 h 2814773"/>
              <a:gd name="connsiteX5" fmla="*/ 2637183 w 5380383"/>
              <a:gd name="connsiteY5" fmla="*/ 1929092 h 2814773"/>
              <a:gd name="connsiteX6" fmla="*/ 3246783 w 5380383"/>
              <a:gd name="connsiteY6" fmla="*/ 709892 h 2814773"/>
              <a:gd name="connsiteX7" fmla="*/ 3750365 w 5380383"/>
              <a:gd name="connsiteY7" fmla="*/ 1385753 h 2814773"/>
              <a:gd name="connsiteX8" fmla="*/ 5062331 w 5380383"/>
              <a:gd name="connsiteY8" fmla="*/ 1359249 h 2814773"/>
              <a:gd name="connsiteX9" fmla="*/ 5380383 w 5380383"/>
              <a:gd name="connsiteY9" fmla="*/ 736397 h 2814773"/>
              <a:gd name="connsiteX10" fmla="*/ 5380383 w 5380383"/>
              <a:gd name="connsiteY10" fmla="*/ 736397 h 2814773"/>
              <a:gd name="connsiteX11" fmla="*/ 5380383 w 5380383"/>
              <a:gd name="connsiteY11" fmla="*/ 736397 h 2814773"/>
              <a:gd name="connsiteX0" fmla="*/ 0 w 5380383"/>
              <a:gd name="connsiteY0" fmla="*/ 935179 h 2927063"/>
              <a:gd name="connsiteX1" fmla="*/ 278296 w 5380383"/>
              <a:gd name="connsiteY1" fmla="*/ 87040 h 2927063"/>
              <a:gd name="connsiteX2" fmla="*/ 841662 w 5380383"/>
              <a:gd name="connsiteY2" fmla="*/ 2775023 h 2927063"/>
              <a:gd name="connsiteX3" fmla="*/ 1749287 w 5380383"/>
              <a:gd name="connsiteY3" fmla="*/ 2444823 h 2927063"/>
              <a:gd name="connsiteX4" fmla="*/ 2213113 w 5380383"/>
              <a:gd name="connsiteY4" fmla="*/ 1213475 h 2927063"/>
              <a:gd name="connsiteX5" fmla="*/ 2637183 w 5380383"/>
              <a:gd name="connsiteY5" fmla="*/ 1929092 h 2927063"/>
              <a:gd name="connsiteX6" fmla="*/ 3246783 w 5380383"/>
              <a:gd name="connsiteY6" fmla="*/ 709892 h 2927063"/>
              <a:gd name="connsiteX7" fmla="*/ 3750365 w 5380383"/>
              <a:gd name="connsiteY7" fmla="*/ 1385753 h 2927063"/>
              <a:gd name="connsiteX8" fmla="*/ 5062331 w 5380383"/>
              <a:gd name="connsiteY8" fmla="*/ 1359249 h 2927063"/>
              <a:gd name="connsiteX9" fmla="*/ 5380383 w 5380383"/>
              <a:gd name="connsiteY9" fmla="*/ 736397 h 2927063"/>
              <a:gd name="connsiteX10" fmla="*/ 5380383 w 5380383"/>
              <a:gd name="connsiteY10" fmla="*/ 736397 h 2927063"/>
              <a:gd name="connsiteX11" fmla="*/ 5380383 w 5380383"/>
              <a:gd name="connsiteY11" fmla="*/ 736397 h 2927063"/>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246783 w 5380383"/>
              <a:gd name="connsiteY7" fmla="*/ 7098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627296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2500 h 2729953"/>
              <a:gd name="connsiteX1" fmla="*/ 278296 w 5380383"/>
              <a:gd name="connsiteY1" fmla="*/ 84361 h 2729953"/>
              <a:gd name="connsiteX2" fmla="*/ 841662 w 5380383"/>
              <a:gd name="connsiteY2" fmla="*/ 2729952 h 2729953"/>
              <a:gd name="connsiteX3" fmla="*/ 1759301 w 5380383"/>
              <a:gd name="connsiteY3" fmla="*/ 2543744 h 2729953"/>
              <a:gd name="connsiteX4" fmla="*/ 2213113 w 5380383"/>
              <a:gd name="connsiteY4" fmla="*/ 1210796 h 2729953"/>
              <a:gd name="connsiteX5" fmla="*/ 2637183 w 5380383"/>
              <a:gd name="connsiteY5" fmla="*/ 1926413 h 2729953"/>
              <a:gd name="connsiteX6" fmla="*/ 3179862 w 5380383"/>
              <a:gd name="connsiteY6" fmla="*/ 1757451 h 2729953"/>
              <a:gd name="connsiteX7" fmla="*/ 3627296 w 5380383"/>
              <a:gd name="connsiteY7" fmla="*/ 631013 h 2729953"/>
              <a:gd name="connsiteX8" fmla="*/ 4100838 w 5380383"/>
              <a:gd name="connsiteY8" fmla="*/ 1395774 h 2729953"/>
              <a:gd name="connsiteX9" fmla="*/ 5092372 w 5380383"/>
              <a:gd name="connsiteY9" fmla="*/ 1229570 h 2729953"/>
              <a:gd name="connsiteX10" fmla="*/ 5380383 w 5380383"/>
              <a:gd name="connsiteY10" fmla="*/ 733718 h 2729953"/>
              <a:gd name="connsiteX11" fmla="*/ 5380383 w 5380383"/>
              <a:gd name="connsiteY11" fmla="*/ 733718 h 2729953"/>
              <a:gd name="connsiteX12" fmla="*/ 5380383 w 5380383"/>
              <a:gd name="connsiteY12" fmla="*/ 733718 h 2729953"/>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37183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637183 w 5380383"/>
              <a:gd name="connsiteY4" fmla="*/ 1926413 h 2733086"/>
              <a:gd name="connsiteX5" fmla="*/ 3179862 w 5380383"/>
              <a:gd name="connsiteY5" fmla="*/ 1757451 h 2733086"/>
              <a:gd name="connsiteX6" fmla="*/ 3627296 w 5380383"/>
              <a:gd name="connsiteY6" fmla="*/ 631013 h 2733086"/>
              <a:gd name="connsiteX7" fmla="*/ 4100838 w 5380383"/>
              <a:gd name="connsiteY7" fmla="*/ 1395774 h 2733086"/>
              <a:gd name="connsiteX8" fmla="*/ 5092372 w 5380383"/>
              <a:gd name="connsiteY8" fmla="*/ 1229570 h 2733086"/>
              <a:gd name="connsiteX9" fmla="*/ 5380383 w 5380383"/>
              <a:gd name="connsiteY9" fmla="*/ 733718 h 2733086"/>
              <a:gd name="connsiteX10" fmla="*/ 5380383 w 5380383"/>
              <a:gd name="connsiteY10" fmla="*/ 733718 h 2733086"/>
              <a:gd name="connsiteX11" fmla="*/ 5380383 w 5380383"/>
              <a:gd name="connsiteY11"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3179862 w 5380383"/>
              <a:gd name="connsiteY4" fmla="*/ 1757451 h 2733086"/>
              <a:gd name="connsiteX5" fmla="*/ 3627296 w 5380383"/>
              <a:gd name="connsiteY5" fmla="*/ 631013 h 2733086"/>
              <a:gd name="connsiteX6" fmla="*/ 4100838 w 5380383"/>
              <a:gd name="connsiteY6" fmla="*/ 1395774 h 2733086"/>
              <a:gd name="connsiteX7" fmla="*/ 5092372 w 5380383"/>
              <a:gd name="connsiteY7" fmla="*/ 1229570 h 2733086"/>
              <a:gd name="connsiteX8" fmla="*/ 5380383 w 5380383"/>
              <a:gd name="connsiteY8" fmla="*/ 733718 h 2733086"/>
              <a:gd name="connsiteX9" fmla="*/ 5380383 w 5380383"/>
              <a:gd name="connsiteY9" fmla="*/ 733718 h 2733086"/>
              <a:gd name="connsiteX10" fmla="*/ 5380383 w 5380383"/>
              <a:gd name="connsiteY10"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3627296 w 5380383"/>
              <a:gd name="connsiteY4" fmla="*/ 631013 h 2733086"/>
              <a:gd name="connsiteX5" fmla="*/ 4100838 w 5380383"/>
              <a:gd name="connsiteY5" fmla="*/ 1395774 h 2733086"/>
              <a:gd name="connsiteX6" fmla="*/ 5092372 w 5380383"/>
              <a:gd name="connsiteY6" fmla="*/ 1229570 h 2733086"/>
              <a:gd name="connsiteX7" fmla="*/ 5380383 w 5380383"/>
              <a:gd name="connsiteY7" fmla="*/ 733718 h 2733086"/>
              <a:gd name="connsiteX8" fmla="*/ 5380383 w 5380383"/>
              <a:gd name="connsiteY8" fmla="*/ 733718 h 2733086"/>
              <a:gd name="connsiteX9" fmla="*/ 5380383 w 5380383"/>
              <a:gd name="connsiteY9"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4100838 w 5380383"/>
              <a:gd name="connsiteY4" fmla="*/ 1395774 h 2733086"/>
              <a:gd name="connsiteX5" fmla="*/ 5092372 w 5380383"/>
              <a:gd name="connsiteY5" fmla="*/ 1229570 h 2733086"/>
              <a:gd name="connsiteX6" fmla="*/ 5380383 w 5380383"/>
              <a:gd name="connsiteY6" fmla="*/ 733718 h 2733086"/>
              <a:gd name="connsiteX7" fmla="*/ 5380383 w 5380383"/>
              <a:gd name="connsiteY7" fmla="*/ 733718 h 2733086"/>
              <a:gd name="connsiteX8" fmla="*/ 5380383 w 5380383"/>
              <a:gd name="connsiteY8" fmla="*/ 733718 h 2733086"/>
              <a:gd name="connsiteX0" fmla="*/ 0 w 5462810"/>
              <a:gd name="connsiteY0" fmla="*/ 932500 h 2733086"/>
              <a:gd name="connsiteX1" fmla="*/ 278296 w 5462810"/>
              <a:gd name="connsiteY1" fmla="*/ 84361 h 2733086"/>
              <a:gd name="connsiteX2" fmla="*/ 841662 w 5462810"/>
              <a:gd name="connsiteY2" fmla="*/ 2729952 h 2733086"/>
              <a:gd name="connsiteX3" fmla="*/ 1759301 w 5462810"/>
              <a:gd name="connsiteY3" fmla="*/ 2543744 h 2733086"/>
              <a:gd name="connsiteX4" fmla="*/ 5092372 w 5462810"/>
              <a:gd name="connsiteY4" fmla="*/ 1229570 h 2733086"/>
              <a:gd name="connsiteX5" fmla="*/ 5380383 w 5462810"/>
              <a:gd name="connsiteY5" fmla="*/ 733718 h 2733086"/>
              <a:gd name="connsiteX6" fmla="*/ 5380383 w 5462810"/>
              <a:gd name="connsiteY6" fmla="*/ 733718 h 2733086"/>
              <a:gd name="connsiteX7" fmla="*/ 5380383 w 5462810"/>
              <a:gd name="connsiteY7"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5380383 w 5380383"/>
              <a:gd name="connsiteY4" fmla="*/ 733718 h 2733086"/>
              <a:gd name="connsiteX5" fmla="*/ 5380383 w 5380383"/>
              <a:gd name="connsiteY5" fmla="*/ 733718 h 2733086"/>
              <a:gd name="connsiteX6" fmla="*/ 5380383 w 5380383"/>
              <a:gd name="connsiteY6"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5380383 w 5380383"/>
              <a:gd name="connsiteY4" fmla="*/ 733718 h 2733086"/>
              <a:gd name="connsiteX5" fmla="*/ 5380383 w 5380383"/>
              <a:gd name="connsiteY5"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5380383 w 5380383"/>
              <a:gd name="connsiteY4" fmla="*/ 733718 h 2733086"/>
              <a:gd name="connsiteX0" fmla="*/ 0 w 1759301"/>
              <a:gd name="connsiteY0" fmla="*/ 932500 h 2733086"/>
              <a:gd name="connsiteX1" fmla="*/ 278296 w 1759301"/>
              <a:gd name="connsiteY1" fmla="*/ 84361 h 2733086"/>
              <a:gd name="connsiteX2" fmla="*/ 841662 w 1759301"/>
              <a:gd name="connsiteY2" fmla="*/ 2729952 h 2733086"/>
              <a:gd name="connsiteX3" fmla="*/ 1759301 w 1759301"/>
              <a:gd name="connsiteY3" fmla="*/ 2543744 h 2733086"/>
              <a:gd name="connsiteX0" fmla="*/ 0 w 4901804"/>
              <a:gd name="connsiteY0" fmla="*/ 932500 h 2733757"/>
              <a:gd name="connsiteX1" fmla="*/ 278296 w 4901804"/>
              <a:gd name="connsiteY1" fmla="*/ 84361 h 2733757"/>
              <a:gd name="connsiteX2" fmla="*/ 841662 w 4901804"/>
              <a:gd name="connsiteY2" fmla="*/ 2729952 h 2733757"/>
              <a:gd name="connsiteX3" fmla="*/ 4901804 w 4901804"/>
              <a:gd name="connsiteY3" fmla="*/ 2554342 h 2733757"/>
              <a:gd name="connsiteX0" fmla="*/ 0 w 4901804"/>
              <a:gd name="connsiteY0" fmla="*/ 932500 h 2729952"/>
              <a:gd name="connsiteX1" fmla="*/ 278296 w 4901804"/>
              <a:gd name="connsiteY1" fmla="*/ 84361 h 2729952"/>
              <a:gd name="connsiteX2" fmla="*/ 841662 w 4901804"/>
              <a:gd name="connsiteY2" fmla="*/ 2729952 h 2729952"/>
              <a:gd name="connsiteX3" fmla="*/ 4901804 w 4901804"/>
              <a:gd name="connsiteY3" fmla="*/ 2554342 h 2729952"/>
              <a:gd name="connsiteX0" fmla="*/ 0 w 5208390"/>
              <a:gd name="connsiteY0" fmla="*/ 932500 h 2729952"/>
              <a:gd name="connsiteX1" fmla="*/ 278296 w 5208390"/>
              <a:gd name="connsiteY1" fmla="*/ 84361 h 2729952"/>
              <a:gd name="connsiteX2" fmla="*/ 841662 w 5208390"/>
              <a:gd name="connsiteY2" fmla="*/ 2729952 h 2729952"/>
              <a:gd name="connsiteX3" fmla="*/ 5208390 w 5208390"/>
              <a:gd name="connsiteY3" fmla="*/ 2692114 h 2729952"/>
              <a:gd name="connsiteX0" fmla="*/ 0 w 5217636"/>
              <a:gd name="connsiteY0" fmla="*/ 932500 h 2761151"/>
              <a:gd name="connsiteX1" fmla="*/ 278296 w 5217636"/>
              <a:gd name="connsiteY1" fmla="*/ 84361 h 2761151"/>
              <a:gd name="connsiteX2" fmla="*/ 841662 w 5217636"/>
              <a:gd name="connsiteY2" fmla="*/ 2729952 h 2761151"/>
              <a:gd name="connsiteX3" fmla="*/ 5217636 w 5217636"/>
              <a:gd name="connsiteY3" fmla="*/ 2761151 h 2761151"/>
              <a:gd name="connsiteX0" fmla="*/ 0 w 5217636"/>
              <a:gd name="connsiteY0" fmla="*/ 932500 h 2729952"/>
              <a:gd name="connsiteX1" fmla="*/ 278296 w 5217636"/>
              <a:gd name="connsiteY1" fmla="*/ 84361 h 2729952"/>
              <a:gd name="connsiteX2" fmla="*/ 841662 w 5217636"/>
              <a:gd name="connsiteY2" fmla="*/ 2729952 h 2729952"/>
              <a:gd name="connsiteX3" fmla="*/ 5217636 w 5217636"/>
              <a:gd name="connsiteY3" fmla="*/ 2726632 h 2729952"/>
            </a:gdLst>
            <a:ahLst/>
            <a:cxnLst>
              <a:cxn ang="0">
                <a:pos x="connsiteX0" y="connsiteY0"/>
              </a:cxn>
              <a:cxn ang="0">
                <a:pos x="connsiteX1" y="connsiteY1"/>
              </a:cxn>
              <a:cxn ang="0">
                <a:pos x="connsiteX2" y="connsiteY2"/>
              </a:cxn>
              <a:cxn ang="0">
                <a:pos x="connsiteX3" y="connsiteY3"/>
              </a:cxn>
            </a:cxnLst>
            <a:rect l="l" t="t" r="r" b="b"/>
            <a:pathLst>
              <a:path w="5217636" h="2729952">
                <a:moveTo>
                  <a:pt x="0" y="932500"/>
                </a:moveTo>
                <a:cubicBezTo>
                  <a:pt x="70678" y="333943"/>
                  <a:pt x="138019" y="-215214"/>
                  <a:pt x="278296" y="84361"/>
                </a:cubicBezTo>
                <a:cubicBezTo>
                  <a:pt x="418573" y="383936"/>
                  <a:pt x="526403" y="2692588"/>
                  <a:pt x="841662" y="2729952"/>
                </a:cubicBezTo>
                <a:lnTo>
                  <a:pt x="5217636" y="2726632"/>
                </a:lnTo>
              </a:path>
            </a:pathLst>
          </a:cu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1st relapse">
            <a:extLst>
              <a:ext uri="{FF2B5EF4-FFF2-40B4-BE49-F238E27FC236}">
                <a16:creationId xmlns:a16="http://schemas.microsoft.com/office/drawing/2014/main" id="{9F7724F6-F3CA-41AC-9B73-911BA91E8519}"/>
              </a:ext>
            </a:extLst>
          </p:cNvPr>
          <p:cNvSpPr/>
          <p:nvPr/>
        </p:nvSpPr>
        <p:spPr>
          <a:xfrm>
            <a:off x="5227330" y="2319086"/>
            <a:ext cx="2510869" cy="714215"/>
          </a:xfrm>
          <a:prstGeom prst="roundRect">
            <a:avLst/>
          </a:prstGeom>
          <a:solidFill>
            <a:schemeClr val="bg1"/>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Relapse and Treatment Intensification</a:t>
            </a:r>
          </a:p>
        </p:txBody>
      </p:sp>
      <p:pic>
        <p:nvPicPr>
          <p:cNvPr id="74" name="Graphic 73" descr="Cursor with solid fill">
            <a:extLst>
              <a:ext uri="{FF2B5EF4-FFF2-40B4-BE49-F238E27FC236}">
                <a16:creationId xmlns:a16="http://schemas.microsoft.com/office/drawing/2014/main" id="{F60C4936-4DFF-4074-B283-F499CD15E83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4047" y="2886544"/>
            <a:ext cx="301752" cy="301752"/>
          </a:xfrm>
          <a:prstGeom prst="rect">
            <a:avLst/>
          </a:prstGeom>
        </p:spPr>
      </p:pic>
      <p:sp>
        <p:nvSpPr>
          <p:cNvPr id="75" name="1st relapse freeform">
            <a:extLst>
              <a:ext uri="{FF2B5EF4-FFF2-40B4-BE49-F238E27FC236}">
                <a16:creationId xmlns:a16="http://schemas.microsoft.com/office/drawing/2014/main" id="{AC88E8C5-87B4-4210-A5D6-A2F3EC9A7392}"/>
              </a:ext>
            </a:extLst>
          </p:cNvPr>
          <p:cNvSpPr/>
          <p:nvPr/>
        </p:nvSpPr>
        <p:spPr>
          <a:xfrm>
            <a:off x="3133429" y="1896617"/>
            <a:ext cx="3126633" cy="3102841"/>
          </a:xfrm>
          <a:custGeom>
            <a:avLst/>
            <a:gdLst>
              <a:gd name="connsiteX0" fmla="*/ 0 w 5380383"/>
              <a:gd name="connsiteY0" fmla="*/ 951461 h 3086460"/>
              <a:gd name="connsiteX1" fmla="*/ 278296 w 5380383"/>
              <a:gd name="connsiteY1" fmla="*/ 103322 h 3086460"/>
              <a:gd name="connsiteX2" fmla="*/ 821635 w 5380383"/>
              <a:gd name="connsiteY2" fmla="*/ 3045305 h 3086460"/>
              <a:gd name="connsiteX3" fmla="*/ 1298713 w 5380383"/>
              <a:gd name="connsiteY3" fmla="*/ 1865861 h 3086460"/>
              <a:gd name="connsiteX4" fmla="*/ 1749287 w 5380383"/>
              <a:gd name="connsiteY4" fmla="*/ 2435705 h 3086460"/>
              <a:gd name="connsiteX5" fmla="*/ 2213113 w 5380383"/>
              <a:gd name="connsiteY5" fmla="*/ 1229757 h 3086460"/>
              <a:gd name="connsiteX6" fmla="*/ 2637183 w 5380383"/>
              <a:gd name="connsiteY6" fmla="*/ 1945374 h 3086460"/>
              <a:gd name="connsiteX7" fmla="*/ 3246783 w 5380383"/>
              <a:gd name="connsiteY7" fmla="*/ 726174 h 3086460"/>
              <a:gd name="connsiteX8" fmla="*/ 3750365 w 5380383"/>
              <a:gd name="connsiteY8" fmla="*/ 1402035 h 3086460"/>
              <a:gd name="connsiteX9" fmla="*/ 5062331 w 5380383"/>
              <a:gd name="connsiteY9" fmla="*/ 1375531 h 3086460"/>
              <a:gd name="connsiteX10" fmla="*/ 5380383 w 5380383"/>
              <a:gd name="connsiteY10" fmla="*/ 752679 h 3086460"/>
              <a:gd name="connsiteX11" fmla="*/ 5380383 w 5380383"/>
              <a:gd name="connsiteY11" fmla="*/ 752679 h 3086460"/>
              <a:gd name="connsiteX12" fmla="*/ 5380383 w 5380383"/>
              <a:gd name="connsiteY12" fmla="*/ 752679 h 3086460"/>
              <a:gd name="connsiteX0" fmla="*/ 0 w 5380383"/>
              <a:gd name="connsiteY0" fmla="*/ 951461 h 3172576"/>
              <a:gd name="connsiteX1" fmla="*/ 278296 w 5380383"/>
              <a:gd name="connsiteY1" fmla="*/ 103322 h 3172576"/>
              <a:gd name="connsiteX2" fmla="*/ 821635 w 5380383"/>
              <a:gd name="connsiteY2" fmla="*/ 3045305 h 3172576"/>
              <a:gd name="connsiteX3" fmla="*/ 1397459 w 5380383"/>
              <a:gd name="connsiteY3" fmla="*/ 2563809 h 3172576"/>
              <a:gd name="connsiteX4" fmla="*/ 1298713 w 5380383"/>
              <a:gd name="connsiteY4" fmla="*/ 1865861 h 3172576"/>
              <a:gd name="connsiteX5" fmla="*/ 1749287 w 5380383"/>
              <a:gd name="connsiteY5" fmla="*/ 2435705 h 3172576"/>
              <a:gd name="connsiteX6" fmla="*/ 2213113 w 5380383"/>
              <a:gd name="connsiteY6" fmla="*/ 1229757 h 3172576"/>
              <a:gd name="connsiteX7" fmla="*/ 2637183 w 5380383"/>
              <a:gd name="connsiteY7" fmla="*/ 1945374 h 3172576"/>
              <a:gd name="connsiteX8" fmla="*/ 3246783 w 5380383"/>
              <a:gd name="connsiteY8" fmla="*/ 726174 h 3172576"/>
              <a:gd name="connsiteX9" fmla="*/ 3750365 w 5380383"/>
              <a:gd name="connsiteY9" fmla="*/ 1402035 h 3172576"/>
              <a:gd name="connsiteX10" fmla="*/ 5062331 w 5380383"/>
              <a:gd name="connsiteY10" fmla="*/ 1375531 h 3172576"/>
              <a:gd name="connsiteX11" fmla="*/ 5380383 w 5380383"/>
              <a:gd name="connsiteY11" fmla="*/ 752679 h 3172576"/>
              <a:gd name="connsiteX12" fmla="*/ 5380383 w 5380383"/>
              <a:gd name="connsiteY12" fmla="*/ 752679 h 3172576"/>
              <a:gd name="connsiteX13" fmla="*/ 5380383 w 5380383"/>
              <a:gd name="connsiteY13" fmla="*/ 752679 h 3172576"/>
              <a:gd name="connsiteX0" fmla="*/ 0 w 5380383"/>
              <a:gd name="connsiteY0" fmla="*/ 935179 h 2943887"/>
              <a:gd name="connsiteX1" fmla="*/ 278296 w 5380383"/>
              <a:gd name="connsiteY1" fmla="*/ 87040 h 2943887"/>
              <a:gd name="connsiteX2" fmla="*/ 841662 w 5380383"/>
              <a:gd name="connsiteY2" fmla="*/ 2775023 h 2943887"/>
              <a:gd name="connsiteX3" fmla="*/ 1397459 w 5380383"/>
              <a:gd name="connsiteY3" fmla="*/ 2547527 h 2943887"/>
              <a:gd name="connsiteX4" fmla="*/ 1298713 w 5380383"/>
              <a:gd name="connsiteY4" fmla="*/ 1849579 h 2943887"/>
              <a:gd name="connsiteX5" fmla="*/ 1749287 w 5380383"/>
              <a:gd name="connsiteY5" fmla="*/ 2419423 h 2943887"/>
              <a:gd name="connsiteX6" fmla="*/ 2213113 w 5380383"/>
              <a:gd name="connsiteY6" fmla="*/ 1213475 h 2943887"/>
              <a:gd name="connsiteX7" fmla="*/ 2637183 w 5380383"/>
              <a:gd name="connsiteY7" fmla="*/ 1929092 h 2943887"/>
              <a:gd name="connsiteX8" fmla="*/ 3246783 w 5380383"/>
              <a:gd name="connsiteY8" fmla="*/ 709892 h 2943887"/>
              <a:gd name="connsiteX9" fmla="*/ 3750365 w 5380383"/>
              <a:gd name="connsiteY9" fmla="*/ 1385753 h 2943887"/>
              <a:gd name="connsiteX10" fmla="*/ 5062331 w 5380383"/>
              <a:gd name="connsiteY10" fmla="*/ 1359249 h 2943887"/>
              <a:gd name="connsiteX11" fmla="*/ 5380383 w 5380383"/>
              <a:gd name="connsiteY11" fmla="*/ 736397 h 2943887"/>
              <a:gd name="connsiteX12" fmla="*/ 5380383 w 5380383"/>
              <a:gd name="connsiteY12" fmla="*/ 736397 h 2943887"/>
              <a:gd name="connsiteX13" fmla="*/ 5380383 w 5380383"/>
              <a:gd name="connsiteY13" fmla="*/ 736397 h 2943887"/>
              <a:gd name="connsiteX0" fmla="*/ 0 w 5380383"/>
              <a:gd name="connsiteY0" fmla="*/ 935179 h 2860425"/>
              <a:gd name="connsiteX1" fmla="*/ 278296 w 5380383"/>
              <a:gd name="connsiteY1" fmla="*/ 87040 h 2860425"/>
              <a:gd name="connsiteX2" fmla="*/ 841662 w 5380383"/>
              <a:gd name="connsiteY2" fmla="*/ 2775023 h 2860425"/>
              <a:gd name="connsiteX3" fmla="*/ 1397459 w 5380383"/>
              <a:gd name="connsiteY3" fmla="*/ 2547527 h 2860425"/>
              <a:gd name="connsiteX4" fmla="*/ 1298713 w 5380383"/>
              <a:gd name="connsiteY4" fmla="*/ 1849579 h 2860425"/>
              <a:gd name="connsiteX5" fmla="*/ 1749287 w 5380383"/>
              <a:gd name="connsiteY5" fmla="*/ 2419423 h 2860425"/>
              <a:gd name="connsiteX6" fmla="*/ 2213113 w 5380383"/>
              <a:gd name="connsiteY6" fmla="*/ 1213475 h 2860425"/>
              <a:gd name="connsiteX7" fmla="*/ 2637183 w 5380383"/>
              <a:gd name="connsiteY7" fmla="*/ 1929092 h 2860425"/>
              <a:gd name="connsiteX8" fmla="*/ 3246783 w 5380383"/>
              <a:gd name="connsiteY8" fmla="*/ 709892 h 2860425"/>
              <a:gd name="connsiteX9" fmla="*/ 3750365 w 5380383"/>
              <a:gd name="connsiteY9" fmla="*/ 1385753 h 2860425"/>
              <a:gd name="connsiteX10" fmla="*/ 5062331 w 5380383"/>
              <a:gd name="connsiteY10" fmla="*/ 1359249 h 2860425"/>
              <a:gd name="connsiteX11" fmla="*/ 5380383 w 5380383"/>
              <a:gd name="connsiteY11" fmla="*/ 736397 h 2860425"/>
              <a:gd name="connsiteX12" fmla="*/ 5380383 w 5380383"/>
              <a:gd name="connsiteY12" fmla="*/ 736397 h 2860425"/>
              <a:gd name="connsiteX13" fmla="*/ 5380383 w 5380383"/>
              <a:gd name="connsiteY13" fmla="*/ 736397 h 2860425"/>
              <a:gd name="connsiteX0" fmla="*/ 0 w 5380383"/>
              <a:gd name="connsiteY0" fmla="*/ 935179 h 2827636"/>
              <a:gd name="connsiteX1" fmla="*/ 278296 w 5380383"/>
              <a:gd name="connsiteY1" fmla="*/ 87040 h 2827636"/>
              <a:gd name="connsiteX2" fmla="*/ 841662 w 5380383"/>
              <a:gd name="connsiteY2" fmla="*/ 2775023 h 2827636"/>
              <a:gd name="connsiteX3" fmla="*/ 1397459 w 5380383"/>
              <a:gd name="connsiteY3" fmla="*/ 2547527 h 2827636"/>
              <a:gd name="connsiteX4" fmla="*/ 1298713 w 5380383"/>
              <a:gd name="connsiteY4" fmla="*/ 1849579 h 2827636"/>
              <a:gd name="connsiteX5" fmla="*/ 1749287 w 5380383"/>
              <a:gd name="connsiteY5" fmla="*/ 2419423 h 2827636"/>
              <a:gd name="connsiteX6" fmla="*/ 2213113 w 5380383"/>
              <a:gd name="connsiteY6" fmla="*/ 1213475 h 2827636"/>
              <a:gd name="connsiteX7" fmla="*/ 2637183 w 5380383"/>
              <a:gd name="connsiteY7" fmla="*/ 1929092 h 2827636"/>
              <a:gd name="connsiteX8" fmla="*/ 3246783 w 5380383"/>
              <a:gd name="connsiteY8" fmla="*/ 709892 h 2827636"/>
              <a:gd name="connsiteX9" fmla="*/ 3750365 w 5380383"/>
              <a:gd name="connsiteY9" fmla="*/ 1385753 h 2827636"/>
              <a:gd name="connsiteX10" fmla="*/ 5062331 w 5380383"/>
              <a:gd name="connsiteY10" fmla="*/ 1359249 h 2827636"/>
              <a:gd name="connsiteX11" fmla="*/ 5380383 w 5380383"/>
              <a:gd name="connsiteY11" fmla="*/ 736397 h 2827636"/>
              <a:gd name="connsiteX12" fmla="*/ 5380383 w 5380383"/>
              <a:gd name="connsiteY12" fmla="*/ 736397 h 2827636"/>
              <a:gd name="connsiteX13" fmla="*/ 5380383 w 5380383"/>
              <a:gd name="connsiteY13" fmla="*/ 736397 h 2827636"/>
              <a:gd name="connsiteX0" fmla="*/ 0 w 5380383"/>
              <a:gd name="connsiteY0" fmla="*/ 935179 h 2812363"/>
              <a:gd name="connsiteX1" fmla="*/ 278296 w 5380383"/>
              <a:gd name="connsiteY1" fmla="*/ 87040 h 2812363"/>
              <a:gd name="connsiteX2" fmla="*/ 841662 w 5380383"/>
              <a:gd name="connsiteY2" fmla="*/ 2775023 h 2812363"/>
              <a:gd name="connsiteX3" fmla="*/ 1397459 w 5380383"/>
              <a:gd name="connsiteY3" fmla="*/ 2547527 h 2812363"/>
              <a:gd name="connsiteX4" fmla="*/ 1749287 w 5380383"/>
              <a:gd name="connsiteY4" fmla="*/ 2419423 h 2812363"/>
              <a:gd name="connsiteX5" fmla="*/ 2213113 w 5380383"/>
              <a:gd name="connsiteY5" fmla="*/ 1213475 h 2812363"/>
              <a:gd name="connsiteX6" fmla="*/ 2637183 w 5380383"/>
              <a:gd name="connsiteY6" fmla="*/ 1929092 h 2812363"/>
              <a:gd name="connsiteX7" fmla="*/ 3246783 w 5380383"/>
              <a:gd name="connsiteY7" fmla="*/ 709892 h 2812363"/>
              <a:gd name="connsiteX8" fmla="*/ 3750365 w 5380383"/>
              <a:gd name="connsiteY8" fmla="*/ 1385753 h 2812363"/>
              <a:gd name="connsiteX9" fmla="*/ 5062331 w 5380383"/>
              <a:gd name="connsiteY9" fmla="*/ 1359249 h 2812363"/>
              <a:gd name="connsiteX10" fmla="*/ 5380383 w 5380383"/>
              <a:gd name="connsiteY10" fmla="*/ 736397 h 2812363"/>
              <a:gd name="connsiteX11" fmla="*/ 5380383 w 5380383"/>
              <a:gd name="connsiteY11" fmla="*/ 736397 h 2812363"/>
              <a:gd name="connsiteX12" fmla="*/ 5380383 w 5380383"/>
              <a:gd name="connsiteY12" fmla="*/ 736397 h 2812363"/>
              <a:gd name="connsiteX0" fmla="*/ 0 w 5380383"/>
              <a:gd name="connsiteY0" fmla="*/ 935179 h 2920606"/>
              <a:gd name="connsiteX1" fmla="*/ 278296 w 5380383"/>
              <a:gd name="connsiteY1" fmla="*/ 87040 h 2920606"/>
              <a:gd name="connsiteX2" fmla="*/ 841662 w 5380383"/>
              <a:gd name="connsiteY2" fmla="*/ 2775023 h 2920606"/>
              <a:gd name="connsiteX3" fmla="*/ 1749287 w 5380383"/>
              <a:gd name="connsiteY3" fmla="*/ 2419423 h 2920606"/>
              <a:gd name="connsiteX4" fmla="*/ 2213113 w 5380383"/>
              <a:gd name="connsiteY4" fmla="*/ 1213475 h 2920606"/>
              <a:gd name="connsiteX5" fmla="*/ 2637183 w 5380383"/>
              <a:gd name="connsiteY5" fmla="*/ 1929092 h 2920606"/>
              <a:gd name="connsiteX6" fmla="*/ 3246783 w 5380383"/>
              <a:gd name="connsiteY6" fmla="*/ 709892 h 2920606"/>
              <a:gd name="connsiteX7" fmla="*/ 3750365 w 5380383"/>
              <a:gd name="connsiteY7" fmla="*/ 1385753 h 2920606"/>
              <a:gd name="connsiteX8" fmla="*/ 5062331 w 5380383"/>
              <a:gd name="connsiteY8" fmla="*/ 1359249 h 2920606"/>
              <a:gd name="connsiteX9" fmla="*/ 5380383 w 5380383"/>
              <a:gd name="connsiteY9" fmla="*/ 736397 h 2920606"/>
              <a:gd name="connsiteX10" fmla="*/ 5380383 w 5380383"/>
              <a:gd name="connsiteY10" fmla="*/ 736397 h 2920606"/>
              <a:gd name="connsiteX11" fmla="*/ 5380383 w 5380383"/>
              <a:gd name="connsiteY11" fmla="*/ 736397 h 2920606"/>
              <a:gd name="connsiteX0" fmla="*/ 0 w 5380383"/>
              <a:gd name="connsiteY0" fmla="*/ 935179 h 2861168"/>
              <a:gd name="connsiteX1" fmla="*/ 278296 w 5380383"/>
              <a:gd name="connsiteY1" fmla="*/ 87040 h 2861168"/>
              <a:gd name="connsiteX2" fmla="*/ 841662 w 5380383"/>
              <a:gd name="connsiteY2" fmla="*/ 2775023 h 2861168"/>
              <a:gd name="connsiteX3" fmla="*/ 1749287 w 5380383"/>
              <a:gd name="connsiteY3" fmla="*/ 2419423 h 2861168"/>
              <a:gd name="connsiteX4" fmla="*/ 2213113 w 5380383"/>
              <a:gd name="connsiteY4" fmla="*/ 1213475 h 2861168"/>
              <a:gd name="connsiteX5" fmla="*/ 2637183 w 5380383"/>
              <a:gd name="connsiteY5" fmla="*/ 1929092 h 2861168"/>
              <a:gd name="connsiteX6" fmla="*/ 3246783 w 5380383"/>
              <a:gd name="connsiteY6" fmla="*/ 709892 h 2861168"/>
              <a:gd name="connsiteX7" fmla="*/ 3750365 w 5380383"/>
              <a:gd name="connsiteY7" fmla="*/ 1385753 h 2861168"/>
              <a:gd name="connsiteX8" fmla="*/ 5062331 w 5380383"/>
              <a:gd name="connsiteY8" fmla="*/ 1359249 h 2861168"/>
              <a:gd name="connsiteX9" fmla="*/ 5380383 w 5380383"/>
              <a:gd name="connsiteY9" fmla="*/ 736397 h 2861168"/>
              <a:gd name="connsiteX10" fmla="*/ 5380383 w 5380383"/>
              <a:gd name="connsiteY10" fmla="*/ 736397 h 2861168"/>
              <a:gd name="connsiteX11" fmla="*/ 5380383 w 5380383"/>
              <a:gd name="connsiteY11" fmla="*/ 736397 h 2861168"/>
              <a:gd name="connsiteX0" fmla="*/ 0 w 5380383"/>
              <a:gd name="connsiteY0" fmla="*/ 935179 h 2814773"/>
              <a:gd name="connsiteX1" fmla="*/ 278296 w 5380383"/>
              <a:gd name="connsiteY1" fmla="*/ 87040 h 2814773"/>
              <a:gd name="connsiteX2" fmla="*/ 841662 w 5380383"/>
              <a:gd name="connsiteY2" fmla="*/ 2775023 h 2814773"/>
              <a:gd name="connsiteX3" fmla="*/ 1749287 w 5380383"/>
              <a:gd name="connsiteY3" fmla="*/ 2419423 h 2814773"/>
              <a:gd name="connsiteX4" fmla="*/ 2213113 w 5380383"/>
              <a:gd name="connsiteY4" fmla="*/ 1213475 h 2814773"/>
              <a:gd name="connsiteX5" fmla="*/ 2637183 w 5380383"/>
              <a:gd name="connsiteY5" fmla="*/ 1929092 h 2814773"/>
              <a:gd name="connsiteX6" fmla="*/ 3246783 w 5380383"/>
              <a:gd name="connsiteY6" fmla="*/ 709892 h 2814773"/>
              <a:gd name="connsiteX7" fmla="*/ 3750365 w 5380383"/>
              <a:gd name="connsiteY7" fmla="*/ 1385753 h 2814773"/>
              <a:gd name="connsiteX8" fmla="*/ 5062331 w 5380383"/>
              <a:gd name="connsiteY8" fmla="*/ 1359249 h 2814773"/>
              <a:gd name="connsiteX9" fmla="*/ 5380383 w 5380383"/>
              <a:gd name="connsiteY9" fmla="*/ 736397 h 2814773"/>
              <a:gd name="connsiteX10" fmla="*/ 5380383 w 5380383"/>
              <a:gd name="connsiteY10" fmla="*/ 736397 h 2814773"/>
              <a:gd name="connsiteX11" fmla="*/ 5380383 w 5380383"/>
              <a:gd name="connsiteY11" fmla="*/ 736397 h 2814773"/>
              <a:gd name="connsiteX0" fmla="*/ 0 w 5380383"/>
              <a:gd name="connsiteY0" fmla="*/ 935179 h 2927063"/>
              <a:gd name="connsiteX1" fmla="*/ 278296 w 5380383"/>
              <a:gd name="connsiteY1" fmla="*/ 87040 h 2927063"/>
              <a:gd name="connsiteX2" fmla="*/ 841662 w 5380383"/>
              <a:gd name="connsiteY2" fmla="*/ 2775023 h 2927063"/>
              <a:gd name="connsiteX3" fmla="*/ 1749287 w 5380383"/>
              <a:gd name="connsiteY3" fmla="*/ 2444823 h 2927063"/>
              <a:gd name="connsiteX4" fmla="*/ 2213113 w 5380383"/>
              <a:gd name="connsiteY4" fmla="*/ 1213475 h 2927063"/>
              <a:gd name="connsiteX5" fmla="*/ 2637183 w 5380383"/>
              <a:gd name="connsiteY5" fmla="*/ 1929092 h 2927063"/>
              <a:gd name="connsiteX6" fmla="*/ 3246783 w 5380383"/>
              <a:gd name="connsiteY6" fmla="*/ 709892 h 2927063"/>
              <a:gd name="connsiteX7" fmla="*/ 3750365 w 5380383"/>
              <a:gd name="connsiteY7" fmla="*/ 1385753 h 2927063"/>
              <a:gd name="connsiteX8" fmla="*/ 5062331 w 5380383"/>
              <a:gd name="connsiteY8" fmla="*/ 1359249 h 2927063"/>
              <a:gd name="connsiteX9" fmla="*/ 5380383 w 5380383"/>
              <a:gd name="connsiteY9" fmla="*/ 736397 h 2927063"/>
              <a:gd name="connsiteX10" fmla="*/ 5380383 w 5380383"/>
              <a:gd name="connsiteY10" fmla="*/ 736397 h 2927063"/>
              <a:gd name="connsiteX11" fmla="*/ 5380383 w 5380383"/>
              <a:gd name="connsiteY11" fmla="*/ 736397 h 2927063"/>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246783 w 5380383"/>
              <a:gd name="connsiteY7" fmla="*/ 7098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627296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2500 h 2729953"/>
              <a:gd name="connsiteX1" fmla="*/ 278296 w 5380383"/>
              <a:gd name="connsiteY1" fmla="*/ 84361 h 2729953"/>
              <a:gd name="connsiteX2" fmla="*/ 841662 w 5380383"/>
              <a:gd name="connsiteY2" fmla="*/ 2729952 h 2729953"/>
              <a:gd name="connsiteX3" fmla="*/ 1759301 w 5380383"/>
              <a:gd name="connsiteY3" fmla="*/ 2543744 h 2729953"/>
              <a:gd name="connsiteX4" fmla="*/ 2213113 w 5380383"/>
              <a:gd name="connsiteY4" fmla="*/ 1210796 h 2729953"/>
              <a:gd name="connsiteX5" fmla="*/ 2637183 w 5380383"/>
              <a:gd name="connsiteY5" fmla="*/ 1926413 h 2729953"/>
              <a:gd name="connsiteX6" fmla="*/ 3179862 w 5380383"/>
              <a:gd name="connsiteY6" fmla="*/ 1757451 h 2729953"/>
              <a:gd name="connsiteX7" fmla="*/ 3627296 w 5380383"/>
              <a:gd name="connsiteY7" fmla="*/ 631013 h 2729953"/>
              <a:gd name="connsiteX8" fmla="*/ 4100838 w 5380383"/>
              <a:gd name="connsiteY8" fmla="*/ 1395774 h 2729953"/>
              <a:gd name="connsiteX9" fmla="*/ 5092372 w 5380383"/>
              <a:gd name="connsiteY9" fmla="*/ 1229570 h 2729953"/>
              <a:gd name="connsiteX10" fmla="*/ 5380383 w 5380383"/>
              <a:gd name="connsiteY10" fmla="*/ 733718 h 2729953"/>
              <a:gd name="connsiteX11" fmla="*/ 5380383 w 5380383"/>
              <a:gd name="connsiteY11" fmla="*/ 733718 h 2729953"/>
              <a:gd name="connsiteX12" fmla="*/ 5380383 w 5380383"/>
              <a:gd name="connsiteY12" fmla="*/ 733718 h 2729953"/>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37183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10" fmla="*/ 5380383 w 5380383"/>
              <a:gd name="connsiteY10"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5380383 w 5380383"/>
              <a:gd name="connsiteY8"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5380383 w 5380383"/>
              <a:gd name="connsiteY7" fmla="*/ 733718 h 2733086"/>
              <a:gd name="connsiteX0" fmla="*/ 0 w 3179862"/>
              <a:gd name="connsiteY0" fmla="*/ 932500 h 2733086"/>
              <a:gd name="connsiteX1" fmla="*/ 278296 w 3179862"/>
              <a:gd name="connsiteY1" fmla="*/ 84361 h 2733086"/>
              <a:gd name="connsiteX2" fmla="*/ 841662 w 3179862"/>
              <a:gd name="connsiteY2" fmla="*/ 2729952 h 2733086"/>
              <a:gd name="connsiteX3" fmla="*/ 1759301 w 3179862"/>
              <a:gd name="connsiteY3" fmla="*/ 2543744 h 2733086"/>
              <a:gd name="connsiteX4" fmla="*/ 2213113 w 3179862"/>
              <a:gd name="connsiteY4" fmla="*/ 1210796 h 2733086"/>
              <a:gd name="connsiteX5" fmla="*/ 2654216 w 3179862"/>
              <a:gd name="connsiteY5" fmla="*/ 1926413 h 2733086"/>
              <a:gd name="connsiteX6" fmla="*/ 3179862 w 3179862"/>
              <a:gd name="connsiteY6" fmla="*/ 1757451 h 2733086"/>
              <a:gd name="connsiteX0" fmla="*/ 0 w 2654216"/>
              <a:gd name="connsiteY0" fmla="*/ 932500 h 2733086"/>
              <a:gd name="connsiteX1" fmla="*/ 278296 w 2654216"/>
              <a:gd name="connsiteY1" fmla="*/ 84361 h 2733086"/>
              <a:gd name="connsiteX2" fmla="*/ 841662 w 2654216"/>
              <a:gd name="connsiteY2" fmla="*/ 2729952 h 2733086"/>
              <a:gd name="connsiteX3" fmla="*/ 1759301 w 2654216"/>
              <a:gd name="connsiteY3" fmla="*/ 2543744 h 2733086"/>
              <a:gd name="connsiteX4" fmla="*/ 2213113 w 2654216"/>
              <a:gd name="connsiteY4" fmla="*/ 1210796 h 2733086"/>
              <a:gd name="connsiteX5" fmla="*/ 2654216 w 2654216"/>
              <a:gd name="connsiteY5" fmla="*/ 1926413 h 2733086"/>
              <a:gd name="connsiteX0" fmla="*/ 0 w 2213113"/>
              <a:gd name="connsiteY0" fmla="*/ 932500 h 2733086"/>
              <a:gd name="connsiteX1" fmla="*/ 278296 w 2213113"/>
              <a:gd name="connsiteY1" fmla="*/ 84361 h 2733086"/>
              <a:gd name="connsiteX2" fmla="*/ 841662 w 2213113"/>
              <a:gd name="connsiteY2" fmla="*/ 2729952 h 2733086"/>
              <a:gd name="connsiteX3" fmla="*/ 1759301 w 2213113"/>
              <a:gd name="connsiteY3" fmla="*/ 2543744 h 2733086"/>
              <a:gd name="connsiteX4" fmla="*/ 2213113 w 2213113"/>
              <a:gd name="connsiteY4" fmla="*/ 1210796 h 2733086"/>
              <a:gd name="connsiteX0" fmla="*/ 0 w 2213113"/>
              <a:gd name="connsiteY0" fmla="*/ 932500 h 2733086"/>
              <a:gd name="connsiteX1" fmla="*/ 278296 w 2213113"/>
              <a:gd name="connsiteY1" fmla="*/ 84361 h 2733086"/>
              <a:gd name="connsiteX2" fmla="*/ 841662 w 2213113"/>
              <a:gd name="connsiteY2" fmla="*/ 2729952 h 2733086"/>
              <a:gd name="connsiteX3" fmla="*/ 1759301 w 2213113"/>
              <a:gd name="connsiteY3" fmla="*/ 2543744 h 2733086"/>
              <a:gd name="connsiteX4" fmla="*/ 2213113 w 2213113"/>
              <a:gd name="connsiteY4" fmla="*/ 1210796 h 2733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3113" h="2733086">
                <a:moveTo>
                  <a:pt x="0" y="932500"/>
                </a:moveTo>
                <a:cubicBezTo>
                  <a:pt x="70678" y="333943"/>
                  <a:pt x="138019" y="-215214"/>
                  <a:pt x="278296" y="84361"/>
                </a:cubicBezTo>
                <a:cubicBezTo>
                  <a:pt x="418573" y="383936"/>
                  <a:pt x="526403" y="2692588"/>
                  <a:pt x="841662" y="2729952"/>
                </a:cubicBezTo>
                <a:cubicBezTo>
                  <a:pt x="1156921" y="2744105"/>
                  <a:pt x="1480658" y="2715102"/>
                  <a:pt x="1759301" y="2543744"/>
                </a:cubicBezTo>
                <a:cubicBezTo>
                  <a:pt x="1987876" y="2283486"/>
                  <a:pt x="2047780" y="1306972"/>
                  <a:pt x="2213113" y="1210796"/>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Maintenance freeform">
            <a:extLst>
              <a:ext uri="{FF2B5EF4-FFF2-40B4-BE49-F238E27FC236}">
                <a16:creationId xmlns:a16="http://schemas.microsoft.com/office/drawing/2014/main" id="{96395239-C65F-426A-9E39-59F913BD53D3}"/>
              </a:ext>
            </a:extLst>
          </p:cNvPr>
          <p:cNvSpPr/>
          <p:nvPr/>
        </p:nvSpPr>
        <p:spPr>
          <a:xfrm>
            <a:off x="3126655" y="1900736"/>
            <a:ext cx="2485498" cy="3102841"/>
          </a:xfrm>
          <a:custGeom>
            <a:avLst/>
            <a:gdLst>
              <a:gd name="connsiteX0" fmla="*/ 0 w 5380383"/>
              <a:gd name="connsiteY0" fmla="*/ 951461 h 3086460"/>
              <a:gd name="connsiteX1" fmla="*/ 278296 w 5380383"/>
              <a:gd name="connsiteY1" fmla="*/ 103322 h 3086460"/>
              <a:gd name="connsiteX2" fmla="*/ 821635 w 5380383"/>
              <a:gd name="connsiteY2" fmla="*/ 3045305 h 3086460"/>
              <a:gd name="connsiteX3" fmla="*/ 1298713 w 5380383"/>
              <a:gd name="connsiteY3" fmla="*/ 1865861 h 3086460"/>
              <a:gd name="connsiteX4" fmla="*/ 1749287 w 5380383"/>
              <a:gd name="connsiteY4" fmla="*/ 2435705 h 3086460"/>
              <a:gd name="connsiteX5" fmla="*/ 2213113 w 5380383"/>
              <a:gd name="connsiteY5" fmla="*/ 1229757 h 3086460"/>
              <a:gd name="connsiteX6" fmla="*/ 2637183 w 5380383"/>
              <a:gd name="connsiteY6" fmla="*/ 1945374 h 3086460"/>
              <a:gd name="connsiteX7" fmla="*/ 3246783 w 5380383"/>
              <a:gd name="connsiteY7" fmla="*/ 726174 h 3086460"/>
              <a:gd name="connsiteX8" fmla="*/ 3750365 w 5380383"/>
              <a:gd name="connsiteY8" fmla="*/ 1402035 h 3086460"/>
              <a:gd name="connsiteX9" fmla="*/ 5062331 w 5380383"/>
              <a:gd name="connsiteY9" fmla="*/ 1375531 h 3086460"/>
              <a:gd name="connsiteX10" fmla="*/ 5380383 w 5380383"/>
              <a:gd name="connsiteY10" fmla="*/ 752679 h 3086460"/>
              <a:gd name="connsiteX11" fmla="*/ 5380383 w 5380383"/>
              <a:gd name="connsiteY11" fmla="*/ 752679 h 3086460"/>
              <a:gd name="connsiteX12" fmla="*/ 5380383 w 5380383"/>
              <a:gd name="connsiteY12" fmla="*/ 752679 h 3086460"/>
              <a:gd name="connsiteX0" fmla="*/ 0 w 5380383"/>
              <a:gd name="connsiteY0" fmla="*/ 951461 h 3172576"/>
              <a:gd name="connsiteX1" fmla="*/ 278296 w 5380383"/>
              <a:gd name="connsiteY1" fmla="*/ 103322 h 3172576"/>
              <a:gd name="connsiteX2" fmla="*/ 821635 w 5380383"/>
              <a:gd name="connsiteY2" fmla="*/ 3045305 h 3172576"/>
              <a:gd name="connsiteX3" fmla="*/ 1397459 w 5380383"/>
              <a:gd name="connsiteY3" fmla="*/ 2563809 h 3172576"/>
              <a:gd name="connsiteX4" fmla="*/ 1298713 w 5380383"/>
              <a:gd name="connsiteY4" fmla="*/ 1865861 h 3172576"/>
              <a:gd name="connsiteX5" fmla="*/ 1749287 w 5380383"/>
              <a:gd name="connsiteY5" fmla="*/ 2435705 h 3172576"/>
              <a:gd name="connsiteX6" fmla="*/ 2213113 w 5380383"/>
              <a:gd name="connsiteY6" fmla="*/ 1229757 h 3172576"/>
              <a:gd name="connsiteX7" fmla="*/ 2637183 w 5380383"/>
              <a:gd name="connsiteY7" fmla="*/ 1945374 h 3172576"/>
              <a:gd name="connsiteX8" fmla="*/ 3246783 w 5380383"/>
              <a:gd name="connsiteY8" fmla="*/ 726174 h 3172576"/>
              <a:gd name="connsiteX9" fmla="*/ 3750365 w 5380383"/>
              <a:gd name="connsiteY9" fmla="*/ 1402035 h 3172576"/>
              <a:gd name="connsiteX10" fmla="*/ 5062331 w 5380383"/>
              <a:gd name="connsiteY10" fmla="*/ 1375531 h 3172576"/>
              <a:gd name="connsiteX11" fmla="*/ 5380383 w 5380383"/>
              <a:gd name="connsiteY11" fmla="*/ 752679 h 3172576"/>
              <a:gd name="connsiteX12" fmla="*/ 5380383 w 5380383"/>
              <a:gd name="connsiteY12" fmla="*/ 752679 h 3172576"/>
              <a:gd name="connsiteX13" fmla="*/ 5380383 w 5380383"/>
              <a:gd name="connsiteY13" fmla="*/ 752679 h 3172576"/>
              <a:gd name="connsiteX0" fmla="*/ 0 w 5380383"/>
              <a:gd name="connsiteY0" fmla="*/ 935179 h 2943887"/>
              <a:gd name="connsiteX1" fmla="*/ 278296 w 5380383"/>
              <a:gd name="connsiteY1" fmla="*/ 87040 h 2943887"/>
              <a:gd name="connsiteX2" fmla="*/ 841662 w 5380383"/>
              <a:gd name="connsiteY2" fmla="*/ 2775023 h 2943887"/>
              <a:gd name="connsiteX3" fmla="*/ 1397459 w 5380383"/>
              <a:gd name="connsiteY3" fmla="*/ 2547527 h 2943887"/>
              <a:gd name="connsiteX4" fmla="*/ 1298713 w 5380383"/>
              <a:gd name="connsiteY4" fmla="*/ 1849579 h 2943887"/>
              <a:gd name="connsiteX5" fmla="*/ 1749287 w 5380383"/>
              <a:gd name="connsiteY5" fmla="*/ 2419423 h 2943887"/>
              <a:gd name="connsiteX6" fmla="*/ 2213113 w 5380383"/>
              <a:gd name="connsiteY6" fmla="*/ 1213475 h 2943887"/>
              <a:gd name="connsiteX7" fmla="*/ 2637183 w 5380383"/>
              <a:gd name="connsiteY7" fmla="*/ 1929092 h 2943887"/>
              <a:gd name="connsiteX8" fmla="*/ 3246783 w 5380383"/>
              <a:gd name="connsiteY8" fmla="*/ 709892 h 2943887"/>
              <a:gd name="connsiteX9" fmla="*/ 3750365 w 5380383"/>
              <a:gd name="connsiteY9" fmla="*/ 1385753 h 2943887"/>
              <a:gd name="connsiteX10" fmla="*/ 5062331 w 5380383"/>
              <a:gd name="connsiteY10" fmla="*/ 1359249 h 2943887"/>
              <a:gd name="connsiteX11" fmla="*/ 5380383 w 5380383"/>
              <a:gd name="connsiteY11" fmla="*/ 736397 h 2943887"/>
              <a:gd name="connsiteX12" fmla="*/ 5380383 w 5380383"/>
              <a:gd name="connsiteY12" fmla="*/ 736397 h 2943887"/>
              <a:gd name="connsiteX13" fmla="*/ 5380383 w 5380383"/>
              <a:gd name="connsiteY13" fmla="*/ 736397 h 2943887"/>
              <a:gd name="connsiteX0" fmla="*/ 0 w 5380383"/>
              <a:gd name="connsiteY0" fmla="*/ 935179 h 2860425"/>
              <a:gd name="connsiteX1" fmla="*/ 278296 w 5380383"/>
              <a:gd name="connsiteY1" fmla="*/ 87040 h 2860425"/>
              <a:gd name="connsiteX2" fmla="*/ 841662 w 5380383"/>
              <a:gd name="connsiteY2" fmla="*/ 2775023 h 2860425"/>
              <a:gd name="connsiteX3" fmla="*/ 1397459 w 5380383"/>
              <a:gd name="connsiteY3" fmla="*/ 2547527 h 2860425"/>
              <a:gd name="connsiteX4" fmla="*/ 1298713 w 5380383"/>
              <a:gd name="connsiteY4" fmla="*/ 1849579 h 2860425"/>
              <a:gd name="connsiteX5" fmla="*/ 1749287 w 5380383"/>
              <a:gd name="connsiteY5" fmla="*/ 2419423 h 2860425"/>
              <a:gd name="connsiteX6" fmla="*/ 2213113 w 5380383"/>
              <a:gd name="connsiteY6" fmla="*/ 1213475 h 2860425"/>
              <a:gd name="connsiteX7" fmla="*/ 2637183 w 5380383"/>
              <a:gd name="connsiteY7" fmla="*/ 1929092 h 2860425"/>
              <a:gd name="connsiteX8" fmla="*/ 3246783 w 5380383"/>
              <a:gd name="connsiteY8" fmla="*/ 709892 h 2860425"/>
              <a:gd name="connsiteX9" fmla="*/ 3750365 w 5380383"/>
              <a:gd name="connsiteY9" fmla="*/ 1385753 h 2860425"/>
              <a:gd name="connsiteX10" fmla="*/ 5062331 w 5380383"/>
              <a:gd name="connsiteY10" fmla="*/ 1359249 h 2860425"/>
              <a:gd name="connsiteX11" fmla="*/ 5380383 w 5380383"/>
              <a:gd name="connsiteY11" fmla="*/ 736397 h 2860425"/>
              <a:gd name="connsiteX12" fmla="*/ 5380383 w 5380383"/>
              <a:gd name="connsiteY12" fmla="*/ 736397 h 2860425"/>
              <a:gd name="connsiteX13" fmla="*/ 5380383 w 5380383"/>
              <a:gd name="connsiteY13" fmla="*/ 736397 h 2860425"/>
              <a:gd name="connsiteX0" fmla="*/ 0 w 5380383"/>
              <a:gd name="connsiteY0" fmla="*/ 935179 h 2827636"/>
              <a:gd name="connsiteX1" fmla="*/ 278296 w 5380383"/>
              <a:gd name="connsiteY1" fmla="*/ 87040 h 2827636"/>
              <a:gd name="connsiteX2" fmla="*/ 841662 w 5380383"/>
              <a:gd name="connsiteY2" fmla="*/ 2775023 h 2827636"/>
              <a:gd name="connsiteX3" fmla="*/ 1397459 w 5380383"/>
              <a:gd name="connsiteY3" fmla="*/ 2547527 h 2827636"/>
              <a:gd name="connsiteX4" fmla="*/ 1298713 w 5380383"/>
              <a:gd name="connsiteY4" fmla="*/ 1849579 h 2827636"/>
              <a:gd name="connsiteX5" fmla="*/ 1749287 w 5380383"/>
              <a:gd name="connsiteY5" fmla="*/ 2419423 h 2827636"/>
              <a:gd name="connsiteX6" fmla="*/ 2213113 w 5380383"/>
              <a:gd name="connsiteY6" fmla="*/ 1213475 h 2827636"/>
              <a:gd name="connsiteX7" fmla="*/ 2637183 w 5380383"/>
              <a:gd name="connsiteY7" fmla="*/ 1929092 h 2827636"/>
              <a:gd name="connsiteX8" fmla="*/ 3246783 w 5380383"/>
              <a:gd name="connsiteY8" fmla="*/ 709892 h 2827636"/>
              <a:gd name="connsiteX9" fmla="*/ 3750365 w 5380383"/>
              <a:gd name="connsiteY9" fmla="*/ 1385753 h 2827636"/>
              <a:gd name="connsiteX10" fmla="*/ 5062331 w 5380383"/>
              <a:gd name="connsiteY10" fmla="*/ 1359249 h 2827636"/>
              <a:gd name="connsiteX11" fmla="*/ 5380383 w 5380383"/>
              <a:gd name="connsiteY11" fmla="*/ 736397 h 2827636"/>
              <a:gd name="connsiteX12" fmla="*/ 5380383 w 5380383"/>
              <a:gd name="connsiteY12" fmla="*/ 736397 h 2827636"/>
              <a:gd name="connsiteX13" fmla="*/ 5380383 w 5380383"/>
              <a:gd name="connsiteY13" fmla="*/ 736397 h 2827636"/>
              <a:gd name="connsiteX0" fmla="*/ 0 w 5380383"/>
              <a:gd name="connsiteY0" fmla="*/ 935179 h 2812363"/>
              <a:gd name="connsiteX1" fmla="*/ 278296 w 5380383"/>
              <a:gd name="connsiteY1" fmla="*/ 87040 h 2812363"/>
              <a:gd name="connsiteX2" fmla="*/ 841662 w 5380383"/>
              <a:gd name="connsiteY2" fmla="*/ 2775023 h 2812363"/>
              <a:gd name="connsiteX3" fmla="*/ 1397459 w 5380383"/>
              <a:gd name="connsiteY3" fmla="*/ 2547527 h 2812363"/>
              <a:gd name="connsiteX4" fmla="*/ 1749287 w 5380383"/>
              <a:gd name="connsiteY4" fmla="*/ 2419423 h 2812363"/>
              <a:gd name="connsiteX5" fmla="*/ 2213113 w 5380383"/>
              <a:gd name="connsiteY5" fmla="*/ 1213475 h 2812363"/>
              <a:gd name="connsiteX6" fmla="*/ 2637183 w 5380383"/>
              <a:gd name="connsiteY6" fmla="*/ 1929092 h 2812363"/>
              <a:gd name="connsiteX7" fmla="*/ 3246783 w 5380383"/>
              <a:gd name="connsiteY7" fmla="*/ 709892 h 2812363"/>
              <a:gd name="connsiteX8" fmla="*/ 3750365 w 5380383"/>
              <a:gd name="connsiteY8" fmla="*/ 1385753 h 2812363"/>
              <a:gd name="connsiteX9" fmla="*/ 5062331 w 5380383"/>
              <a:gd name="connsiteY9" fmla="*/ 1359249 h 2812363"/>
              <a:gd name="connsiteX10" fmla="*/ 5380383 w 5380383"/>
              <a:gd name="connsiteY10" fmla="*/ 736397 h 2812363"/>
              <a:gd name="connsiteX11" fmla="*/ 5380383 w 5380383"/>
              <a:gd name="connsiteY11" fmla="*/ 736397 h 2812363"/>
              <a:gd name="connsiteX12" fmla="*/ 5380383 w 5380383"/>
              <a:gd name="connsiteY12" fmla="*/ 736397 h 2812363"/>
              <a:gd name="connsiteX0" fmla="*/ 0 w 5380383"/>
              <a:gd name="connsiteY0" fmla="*/ 935179 h 2920606"/>
              <a:gd name="connsiteX1" fmla="*/ 278296 w 5380383"/>
              <a:gd name="connsiteY1" fmla="*/ 87040 h 2920606"/>
              <a:gd name="connsiteX2" fmla="*/ 841662 w 5380383"/>
              <a:gd name="connsiteY2" fmla="*/ 2775023 h 2920606"/>
              <a:gd name="connsiteX3" fmla="*/ 1749287 w 5380383"/>
              <a:gd name="connsiteY3" fmla="*/ 2419423 h 2920606"/>
              <a:gd name="connsiteX4" fmla="*/ 2213113 w 5380383"/>
              <a:gd name="connsiteY4" fmla="*/ 1213475 h 2920606"/>
              <a:gd name="connsiteX5" fmla="*/ 2637183 w 5380383"/>
              <a:gd name="connsiteY5" fmla="*/ 1929092 h 2920606"/>
              <a:gd name="connsiteX6" fmla="*/ 3246783 w 5380383"/>
              <a:gd name="connsiteY6" fmla="*/ 709892 h 2920606"/>
              <a:gd name="connsiteX7" fmla="*/ 3750365 w 5380383"/>
              <a:gd name="connsiteY7" fmla="*/ 1385753 h 2920606"/>
              <a:gd name="connsiteX8" fmla="*/ 5062331 w 5380383"/>
              <a:gd name="connsiteY8" fmla="*/ 1359249 h 2920606"/>
              <a:gd name="connsiteX9" fmla="*/ 5380383 w 5380383"/>
              <a:gd name="connsiteY9" fmla="*/ 736397 h 2920606"/>
              <a:gd name="connsiteX10" fmla="*/ 5380383 w 5380383"/>
              <a:gd name="connsiteY10" fmla="*/ 736397 h 2920606"/>
              <a:gd name="connsiteX11" fmla="*/ 5380383 w 5380383"/>
              <a:gd name="connsiteY11" fmla="*/ 736397 h 2920606"/>
              <a:gd name="connsiteX0" fmla="*/ 0 w 5380383"/>
              <a:gd name="connsiteY0" fmla="*/ 935179 h 2861168"/>
              <a:gd name="connsiteX1" fmla="*/ 278296 w 5380383"/>
              <a:gd name="connsiteY1" fmla="*/ 87040 h 2861168"/>
              <a:gd name="connsiteX2" fmla="*/ 841662 w 5380383"/>
              <a:gd name="connsiteY2" fmla="*/ 2775023 h 2861168"/>
              <a:gd name="connsiteX3" fmla="*/ 1749287 w 5380383"/>
              <a:gd name="connsiteY3" fmla="*/ 2419423 h 2861168"/>
              <a:gd name="connsiteX4" fmla="*/ 2213113 w 5380383"/>
              <a:gd name="connsiteY4" fmla="*/ 1213475 h 2861168"/>
              <a:gd name="connsiteX5" fmla="*/ 2637183 w 5380383"/>
              <a:gd name="connsiteY5" fmla="*/ 1929092 h 2861168"/>
              <a:gd name="connsiteX6" fmla="*/ 3246783 w 5380383"/>
              <a:gd name="connsiteY6" fmla="*/ 709892 h 2861168"/>
              <a:gd name="connsiteX7" fmla="*/ 3750365 w 5380383"/>
              <a:gd name="connsiteY7" fmla="*/ 1385753 h 2861168"/>
              <a:gd name="connsiteX8" fmla="*/ 5062331 w 5380383"/>
              <a:gd name="connsiteY8" fmla="*/ 1359249 h 2861168"/>
              <a:gd name="connsiteX9" fmla="*/ 5380383 w 5380383"/>
              <a:gd name="connsiteY9" fmla="*/ 736397 h 2861168"/>
              <a:gd name="connsiteX10" fmla="*/ 5380383 w 5380383"/>
              <a:gd name="connsiteY10" fmla="*/ 736397 h 2861168"/>
              <a:gd name="connsiteX11" fmla="*/ 5380383 w 5380383"/>
              <a:gd name="connsiteY11" fmla="*/ 736397 h 2861168"/>
              <a:gd name="connsiteX0" fmla="*/ 0 w 5380383"/>
              <a:gd name="connsiteY0" fmla="*/ 935179 h 2814773"/>
              <a:gd name="connsiteX1" fmla="*/ 278296 w 5380383"/>
              <a:gd name="connsiteY1" fmla="*/ 87040 h 2814773"/>
              <a:gd name="connsiteX2" fmla="*/ 841662 w 5380383"/>
              <a:gd name="connsiteY2" fmla="*/ 2775023 h 2814773"/>
              <a:gd name="connsiteX3" fmla="*/ 1749287 w 5380383"/>
              <a:gd name="connsiteY3" fmla="*/ 2419423 h 2814773"/>
              <a:gd name="connsiteX4" fmla="*/ 2213113 w 5380383"/>
              <a:gd name="connsiteY4" fmla="*/ 1213475 h 2814773"/>
              <a:gd name="connsiteX5" fmla="*/ 2637183 w 5380383"/>
              <a:gd name="connsiteY5" fmla="*/ 1929092 h 2814773"/>
              <a:gd name="connsiteX6" fmla="*/ 3246783 w 5380383"/>
              <a:gd name="connsiteY6" fmla="*/ 709892 h 2814773"/>
              <a:gd name="connsiteX7" fmla="*/ 3750365 w 5380383"/>
              <a:gd name="connsiteY7" fmla="*/ 1385753 h 2814773"/>
              <a:gd name="connsiteX8" fmla="*/ 5062331 w 5380383"/>
              <a:gd name="connsiteY8" fmla="*/ 1359249 h 2814773"/>
              <a:gd name="connsiteX9" fmla="*/ 5380383 w 5380383"/>
              <a:gd name="connsiteY9" fmla="*/ 736397 h 2814773"/>
              <a:gd name="connsiteX10" fmla="*/ 5380383 w 5380383"/>
              <a:gd name="connsiteY10" fmla="*/ 736397 h 2814773"/>
              <a:gd name="connsiteX11" fmla="*/ 5380383 w 5380383"/>
              <a:gd name="connsiteY11" fmla="*/ 736397 h 2814773"/>
              <a:gd name="connsiteX0" fmla="*/ 0 w 5380383"/>
              <a:gd name="connsiteY0" fmla="*/ 935179 h 2927063"/>
              <a:gd name="connsiteX1" fmla="*/ 278296 w 5380383"/>
              <a:gd name="connsiteY1" fmla="*/ 87040 h 2927063"/>
              <a:gd name="connsiteX2" fmla="*/ 841662 w 5380383"/>
              <a:gd name="connsiteY2" fmla="*/ 2775023 h 2927063"/>
              <a:gd name="connsiteX3" fmla="*/ 1749287 w 5380383"/>
              <a:gd name="connsiteY3" fmla="*/ 2444823 h 2927063"/>
              <a:gd name="connsiteX4" fmla="*/ 2213113 w 5380383"/>
              <a:gd name="connsiteY4" fmla="*/ 1213475 h 2927063"/>
              <a:gd name="connsiteX5" fmla="*/ 2637183 w 5380383"/>
              <a:gd name="connsiteY5" fmla="*/ 1929092 h 2927063"/>
              <a:gd name="connsiteX6" fmla="*/ 3246783 w 5380383"/>
              <a:gd name="connsiteY6" fmla="*/ 709892 h 2927063"/>
              <a:gd name="connsiteX7" fmla="*/ 3750365 w 5380383"/>
              <a:gd name="connsiteY7" fmla="*/ 1385753 h 2927063"/>
              <a:gd name="connsiteX8" fmla="*/ 5062331 w 5380383"/>
              <a:gd name="connsiteY8" fmla="*/ 1359249 h 2927063"/>
              <a:gd name="connsiteX9" fmla="*/ 5380383 w 5380383"/>
              <a:gd name="connsiteY9" fmla="*/ 736397 h 2927063"/>
              <a:gd name="connsiteX10" fmla="*/ 5380383 w 5380383"/>
              <a:gd name="connsiteY10" fmla="*/ 736397 h 2927063"/>
              <a:gd name="connsiteX11" fmla="*/ 5380383 w 5380383"/>
              <a:gd name="connsiteY11" fmla="*/ 736397 h 2927063"/>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246783 w 5380383"/>
              <a:gd name="connsiteY7" fmla="*/ 7098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627296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2500 h 2729953"/>
              <a:gd name="connsiteX1" fmla="*/ 278296 w 5380383"/>
              <a:gd name="connsiteY1" fmla="*/ 84361 h 2729953"/>
              <a:gd name="connsiteX2" fmla="*/ 841662 w 5380383"/>
              <a:gd name="connsiteY2" fmla="*/ 2729952 h 2729953"/>
              <a:gd name="connsiteX3" fmla="*/ 1759301 w 5380383"/>
              <a:gd name="connsiteY3" fmla="*/ 2543744 h 2729953"/>
              <a:gd name="connsiteX4" fmla="*/ 2213113 w 5380383"/>
              <a:gd name="connsiteY4" fmla="*/ 1210796 h 2729953"/>
              <a:gd name="connsiteX5" fmla="*/ 2637183 w 5380383"/>
              <a:gd name="connsiteY5" fmla="*/ 1926413 h 2729953"/>
              <a:gd name="connsiteX6" fmla="*/ 3179862 w 5380383"/>
              <a:gd name="connsiteY6" fmla="*/ 1757451 h 2729953"/>
              <a:gd name="connsiteX7" fmla="*/ 3627296 w 5380383"/>
              <a:gd name="connsiteY7" fmla="*/ 631013 h 2729953"/>
              <a:gd name="connsiteX8" fmla="*/ 4100838 w 5380383"/>
              <a:gd name="connsiteY8" fmla="*/ 1395774 h 2729953"/>
              <a:gd name="connsiteX9" fmla="*/ 5092372 w 5380383"/>
              <a:gd name="connsiteY9" fmla="*/ 1229570 h 2729953"/>
              <a:gd name="connsiteX10" fmla="*/ 5380383 w 5380383"/>
              <a:gd name="connsiteY10" fmla="*/ 733718 h 2729953"/>
              <a:gd name="connsiteX11" fmla="*/ 5380383 w 5380383"/>
              <a:gd name="connsiteY11" fmla="*/ 733718 h 2729953"/>
              <a:gd name="connsiteX12" fmla="*/ 5380383 w 5380383"/>
              <a:gd name="connsiteY12" fmla="*/ 733718 h 2729953"/>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37183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10" fmla="*/ 5380383 w 5380383"/>
              <a:gd name="connsiteY10"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5380383 w 5380383"/>
              <a:gd name="connsiteY8"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5380383 w 5380383"/>
              <a:gd name="connsiteY7" fmla="*/ 733718 h 2733086"/>
              <a:gd name="connsiteX0" fmla="*/ 0 w 3179862"/>
              <a:gd name="connsiteY0" fmla="*/ 932500 h 2733086"/>
              <a:gd name="connsiteX1" fmla="*/ 278296 w 3179862"/>
              <a:gd name="connsiteY1" fmla="*/ 84361 h 2733086"/>
              <a:gd name="connsiteX2" fmla="*/ 841662 w 3179862"/>
              <a:gd name="connsiteY2" fmla="*/ 2729952 h 2733086"/>
              <a:gd name="connsiteX3" fmla="*/ 1759301 w 3179862"/>
              <a:gd name="connsiteY3" fmla="*/ 2543744 h 2733086"/>
              <a:gd name="connsiteX4" fmla="*/ 2213113 w 3179862"/>
              <a:gd name="connsiteY4" fmla="*/ 1210796 h 2733086"/>
              <a:gd name="connsiteX5" fmla="*/ 2654216 w 3179862"/>
              <a:gd name="connsiteY5" fmla="*/ 1926413 h 2733086"/>
              <a:gd name="connsiteX6" fmla="*/ 3179862 w 3179862"/>
              <a:gd name="connsiteY6" fmla="*/ 1757451 h 2733086"/>
              <a:gd name="connsiteX0" fmla="*/ 0 w 2654216"/>
              <a:gd name="connsiteY0" fmla="*/ 932500 h 2733086"/>
              <a:gd name="connsiteX1" fmla="*/ 278296 w 2654216"/>
              <a:gd name="connsiteY1" fmla="*/ 84361 h 2733086"/>
              <a:gd name="connsiteX2" fmla="*/ 841662 w 2654216"/>
              <a:gd name="connsiteY2" fmla="*/ 2729952 h 2733086"/>
              <a:gd name="connsiteX3" fmla="*/ 1759301 w 2654216"/>
              <a:gd name="connsiteY3" fmla="*/ 2543744 h 2733086"/>
              <a:gd name="connsiteX4" fmla="*/ 2213113 w 2654216"/>
              <a:gd name="connsiteY4" fmla="*/ 1210796 h 2733086"/>
              <a:gd name="connsiteX5" fmla="*/ 2654216 w 2654216"/>
              <a:gd name="connsiteY5" fmla="*/ 1926413 h 2733086"/>
              <a:gd name="connsiteX0" fmla="*/ 0 w 2213113"/>
              <a:gd name="connsiteY0" fmla="*/ 932500 h 2733086"/>
              <a:gd name="connsiteX1" fmla="*/ 278296 w 2213113"/>
              <a:gd name="connsiteY1" fmla="*/ 84361 h 2733086"/>
              <a:gd name="connsiteX2" fmla="*/ 841662 w 2213113"/>
              <a:gd name="connsiteY2" fmla="*/ 2729952 h 2733086"/>
              <a:gd name="connsiteX3" fmla="*/ 1759301 w 2213113"/>
              <a:gd name="connsiteY3" fmla="*/ 2543744 h 2733086"/>
              <a:gd name="connsiteX4" fmla="*/ 2213113 w 2213113"/>
              <a:gd name="connsiteY4" fmla="*/ 1210796 h 2733086"/>
              <a:gd name="connsiteX0" fmla="*/ 0 w 1759301"/>
              <a:gd name="connsiteY0" fmla="*/ 932500 h 2733086"/>
              <a:gd name="connsiteX1" fmla="*/ 278296 w 1759301"/>
              <a:gd name="connsiteY1" fmla="*/ 84361 h 2733086"/>
              <a:gd name="connsiteX2" fmla="*/ 841662 w 1759301"/>
              <a:gd name="connsiteY2" fmla="*/ 2729952 h 2733086"/>
              <a:gd name="connsiteX3" fmla="*/ 1759301 w 1759301"/>
              <a:gd name="connsiteY3" fmla="*/ 2543744 h 2733086"/>
            </a:gdLst>
            <a:ahLst/>
            <a:cxnLst>
              <a:cxn ang="0">
                <a:pos x="connsiteX0" y="connsiteY0"/>
              </a:cxn>
              <a:cxn ang="0">
                <a:pos x="connsiteX1" y="connsiteY1"/>
              </a:cxn>
              <a:cxn ang="0">
                <a:pos x="connsiteX2" y="connsiteY2"/>
              </a:cxn>
              <a:cxn ang="0">
                <a:pos x="connsiteX3" y="connsiteY3"/>
              </a:cxn>
            </a:cxnLst>
            <a:rect l="l" t="t" r="r" b="b"/>
            <a:pathLst>
              <a:path w="1759301" h="2733086">
                <a:moveTo>
                  <a:pt x="0" y="932500"/>
                </a:moveTo>
                <a:cubicBezTo>
                  <a:pt x="70678" y="333943"/>
                  <a:pt x="138019" y="-215214"/>
                  <a:pt x="278296" y="84361"/>
                </a:cubicBezTo>
                <a:cubicBezTo>
                  <a:pt x="418573" y="383936"/>
                  <a:pt x="526403" y="2692588"/>
                  <a:pt x="841662" y="2729952"/>
                </a:cubicBezTo>
                <a:cubicBezTo>
                  <a:pt x="1156921" y="2744105"/>
                  <a:pt x="1480658" y="2715102"/>
                  <a:pt x="1759301" y="2543744"/>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Induction free form">
            <a:extLst>
              <a:ext uri="{FF2B5EF4-FFF2-40B4-BE49-F238E27FC236}">
                <a16:creationId xmlns:a16="http://schemas.microsoft.com/office/drawing/2014/main" id="{860026A4-9E7D-418D-B055-02459B1763E0}"/>
              </a:ext>
            </a:extLst>
          </p:cNvPr>
          <p:cNvSpPr/>
          <p:nvPr/>
        </p:nvSpPr>
        <p:spPr>
          <a:xfrm>
            <a:off x="3132738" y="1903728"/>
            <a:ext cx="1189080" cy="3099283"/>
          </a:xfrm>
          <a:custGeom>
            <a:avLst/>
            <a:gdLst>
              <a:gd name="connsiteX0" fmla="*/ 0 w 5380383"/>
              <a:gd name="connsiteY0" fmla="*/ 951461 h 3086460"/>
              <a:gd name="connsiteX1" fmla="*/ 278296 w 5380383"/>
              <a:gd name="connsiteY1" fmla="*/ 103322 h 3086460"/>
              <a:gd name="connsiteX2" fmla="*/ 821635 w 5380383"/>
              <a:gd name="connsiteY2" fmla="*/ 3045305 h 3086460"/>
              <a:gd name="connsiteX3" fmla="*/ 1298713 w 5380383"/>
              <a:gd name="connsiteY3" fmla="*/ 1865861 h 3086460"/>
              <a:gd name="connsiteX4" fmla="*/ 1749287 w 5380383"/>
              <a:gd name="connsiteY4" fmla="*/ 2435705 h 3086460"/>
              <a:gd name="connsiteX5" fmla="*/ 2213113 w 5380383"/>
              <a:gd name="connsiteY5" fmla="*/ 1229757 h 3086460"/>
              <a:gd name="connsiteX6" fmla="*/ 2637183 w 5380383"/>
              <a:gd name="connsiteY6" fmla="*/ 1945374 h 3086460"/>
              <a:gd name="connsiteX7" fmla="*/ 3246783 w 5380383"/>
              <a:gd name="connsiteY7" fmla="*/ 726174 h 3086460"/>
              <a:gd name="connsiteX8" fmla="*/ 3750365 w 5380383"/>
              <a:gd name="connsiteY8" fmla="*/ 1402035 h 3086460"/>
              <a:gd name="connsiteX9" fmla="*/ 5062331 w 5380383"/>
              <a:gd name="connsiteY9" fmla="*/ 1375531 h 3086460"/>
              <a:gd name="connsiteX10" fmla="*/ 5380383 w 5380383"/>
              <a:gd name="connsiteY10" fmla="*/ 752679 h 3086460"/>
              <a:gd name="connsiteX11" fmla="*/ 5380383 w 5380383"/>
              <a:gd name="connsiteY11" fmla="*/ 752679 h 3086460"/>
              <a:gd name="connsiteX12" fmla="*/ 5380383 w 5380383"/>
              <a:gd name="connsiteY12" fmla="*/ 752679 h 3086460"/>
              <a:gd name="connsiteX0" fmla="*/ 0 w 5380383"/>
              <a:gd name="connsiteY0" fmla="*/ 951461 h 3172576"/>
              <a:gd name="connsiteX1" fmla="*/ 278296 w 5380383"/>
              <a:gd name="connsiteY1" fmla="*/ 103322 h 3172576"/>
              <a:gd name="connsiteX2" fmla="*/ 821635 w 5380383"/>
              <a:gd name="connsiteY2" fmla="*/ 3045305 h 3172576"/>
              <a:gd name="connsiteX3" fmla="*/ 1397459 w 5380383"/>
              <a:gd name="connsiteY3" fmla="*/ 2563809 h 3172576"/>
              <a:gd name="connsiteX4" fmla="*/ 1298713 w 5380383"/>
              <a:gd name="connsiteY4" fmla="*/ 1865861 h 3172576"/>
              <a:gd name="connsiteX5" fmla="*/ 1749287 w 5380383"/>
              <a:gd name="connsiteY5" fmla="*/ 2435705 h 3172576"/>
              <a:gd name="connsiteX6" fmla="*/ 2213113 w 5380383"/>
              <a:gd name="connsiteY6" fmla="*/ 1229757 h 3172576"/>
              <a:gd name="connsiteX7" fmla="*/ 2637183 w 5380383"/>
              <a:gd name="connsiteY7" fmla="*/ 1945374 h 3172576"/>
              <a:gd name="connsiteX8" fmla="*/ 3246783 w 5380383"/>
              <a:gd name="connsiteY8" fmla="*/ 726174 h 3172576"/>
              <a:gd name="connsiteX9" fmla="*/ 3750365 w 5380383"/>
              <a:gd name="connsiteY9" fmla="*/ 1402035 h 3172576"/>
              <a:gd name="connsiteX10" fmla="*/ 5062331 w 5380383"/>
              <a:gd name="connsiteY10" fmla="*/ 1375531 h 3172576"/>
              <a:gd name="connsiteX11" fmla="*/ 5380383 w 5380383"/>
              <a:gd name="connsiteY11" fmla="*/ 752679 h 3172576"/>
              <a:gd name="connsiteX12" fmla="*/ 5380383 w 5380383"/>
              <a:gd name="connsiteY12" fmla="*/ 752679 h 3172576"/>
              <a:gd name="connsiteX13" fmla="*/ 5380383 w 5380383"/>
              <a:gd name="connsiteY13" fmla="*/ 752679 h 3172576"/>
              <a:gd name="connsiteX0" fmla="*/ 0 w 5380383"/>
              <a:gd name="connsiteY0" fmla="*/ 935179 h 2943887"/>
              <a:gd name="connsiteX1" fmla="*/ 278296 w 5380383"/>
              <a:gd name="connsiteY1" fmla="*/ 87040 h 2943887"/>
              <a:gd name="connsiteX2" fmla="*/ 841662 w 5380383"/>
              <a:gd name="connsiteY2" fmla="*/ 2775023 h 2943887"/>
              <a:gd name="connsiteX3" fmla="*/ 1397459 w 5380383"/>
              <a:gd name="connsiteY3" fmla="*/ 2547527 h 2943887"/>
              <a:gd name="connsiteX4" fmla="*/ 1298713 w 5380383"/>
              <a:gd name="connsiteY4" fmla="*/ 1849579 h 2943887"/>
              <a:gd name="connsiteX5" fmla="*/ 1749287 w 5380383"/>
              <a:gd name="connsiteY5" fmla="*/ 2419423 h 2943887"/>
              <a:gd name="connsiteX6" fmla="*/ 2213113 w 5380383"/>
              <a:gd name="connsiteY6" fmla="*/ 1213475 h 2943887"/>
              <a:gd name="connsiteX7" fmla="*/ 2637183 w 5380383"/>
              <a:gd name="connsiteY7" fmla="*/ 1929092 h 2943887"/>
              <a:gd name="connsiteX8" fmla="*/ 3246783 w 5380383"/>
              <a:gd name="connsiteY8" fmla="*/ 709892 h 2943887"/>
              <a:gd name="connsiteX9" fmla="*/ 3750365 w 5380383"/>
              <a:gd name="connsiteY9" fmla="*/ 1385753 h 2943887"/>
              <a:gd name="connsiteX10" fmla="*/ 5062331 w 5380383"/>
              <a:gd name="connsiteY10" fmla="*/ 1359249 h 2943887"/>
              <a:gd name="connsiteX11" fmla="*/ 5380383 w 5380383"/>
              <a:gd name="connsiteY11" fmla="*/ 736397 h 2943887"/>
              <a:gd name="connsiteX12" fmla="*/ 5380383 w 5380383"/>
              <a:gd name="connsiteY12" fmla="*/ 736397 h 2943887"/>
              <a:gd name="connsiteX13" fmla="*/ 5380383 w 5380383"/>
              <a:gd name="connsiteY13" fmla="*/ 736397 h 2943887"/>
              <a:gd name="connsiteX0" fmla="*/ 0 w 5380383"/>
              <a:gd name="connsiteY0" fmla="*/ 935179 h 2860425"/>
              <a:gd name="connsiteX1" fmla="*/ 278296 w 5380383"/>
              <a:gd name="connsiteY1" fmla="*/ 87040 h 2860425"/>
              <a:gd name="connsiteX2" fmla="*/ 841662 w 5380383"/>
              <a:gd name="connsiteY2" fmla="*/ 2775023 h 2860425"/>
              <a:gd name="connsiteX3" fmla="*/ 1397459 w 5380383"/>
              <a:gd name="connsiteY3" fmla="*/ 2547527 h 2860425"/>
              <a:gd name="connsiteX4" fmla="*/ 1298713 w 5380383"/>
              <a:gd name="connsiteY4" fmla="*/ 1849579 h 2860425"/>
              <a:gd name="connsiteX5" fmla="*/ 1749287 w 5380383"/>
              <a:gd name="connsiteY5" fmla="*/ 2419423 h 2860425"/>
              <a:gd name="connsiteX6" fmla="*/ 2213113 w 5380383"/>
              <a:gd name="connsiteY6" fmla="*/ 1213475 h 2860425"/>
              <a:gd name="connsiteX7" fmla="*/ 2637183 w 5380383"/>
              <a:gd name="connsiteY7" fmla="*/ 1929092 h 2860425"/>
              <a:gd name="connsiteX8" fmla="*/ 3246783 w 5380383"/>
              <a:gd name="connsiteY8" fmla="*/ 709892 h 2860425"/>
              <a:gd name="connsiteX9" fmla="*/ 3750365 w 5380383"/>
              <a:gd name="connsiteY9" fmla="*/ 1385753 h 2860425"/>
              <a:gd name="connsiteX10" fmla="*/ 5062331 w 5380383"/>
              <a:gd name="connsiteY10" fmla="*/ 1359249 h 2860425"/>
              <a:gd name="connsiteX11" fmla="*/ 5380383 w 5380383"/>
              <a:gd name="connsiteY11" fmla="*/ 736397 h 2860425"/>
              <a:gd name="connsiteX12" fmla="*/ 5380383 w 5380383"/>
              <a:gd name="connsiteY12" fmla="*/ 736397 h 2860425"/>
              <a:gd name="connsiteX13" fmla="*/ 5380383 w 5380383"/>
              <a:gd name="connsiteY13" fmla="*/ 736397 h 2860425"/>
              <a:gd name="connsiteX0" fmla="*/ 0 w 5380383"/>
              <a:gd name="connsiteY0" fmla="*/ 935179 h 2827636"/>
              <a:gd name="connsiteX1" fmla="*/ 278296 w 5380383"/>
              <a:gd name="connsiteY1" fmla="*/ 87040 h 2827636"/>
              <a:gd name="connsiteX2" fmla="*/ 841662 w 5380383"/>
              <a:gd name="connsiteY2" fmla="*/ 2775023 h 2827636"/>
              <a:gd name="connsiteX3" fmla="*/ 1397459 w 5380383"/>
              <a:gd name="connsiteY3" fmla="*/ 2547527 h 2827636"/>
              <a:gd name="connsiteX4" fmla="*/ 1298713 w 5380383"/>
              <a:gd name="connsiteY4" fmla="*/ 1849579 h 2827636"/>
              <a:gd name="connsiteX5" fmla="*/ 1749287 w 5380383"/>
              <a:gd name="connsiteY5" fmla="*/ 2419423 h 2827636"/>
              <a:gd name="connsiteX6" fmla="*/ 2213113 w 5380383"/>
              <a:gd name="connsiteY6" fmla="*/ 1213475 h 2827636"/>
              <a:gd name="connsiteX7" fmla="*/ 2637183 w 5380383"/>
              <a:gd name="connsiteY7" fmla="*/ 1929092 h 2827636"/>
              <a:gd name="connsiteX8" fmla="*/ 3246783 w 5380383"/>
              <a:gd name="connsiteY8" fmla="*/ 709892 h 2827636"/>
              <a:gd name="connsiteX9" fmla="*/ 3750365 w 5380383"/>
              <a:gd name="connsiteY9" fmla="*/ 1385753 h 2827636"/>
              <a:gd name="connsiteX10" fmla="*/ 5062331 w 5380383"/>
              <a:gd name="connsiteY10" fmla="*/ 1359249 h 2827636"/>
              <a:gd name="connsiteX11" fmla="*/ 5380383 w 5380383"/>
              <a:gd name="connsiteY11" fmla="*/ 736397 h 2827636"/>
              <a:gd name="connsiteX12" fmla="*/ 5380383 w 5380383"/>
              <a:gd name="connsiteY12" fmla="*/ 736397 h 2827636"/>
              <a:gd name="connsiteX13" fmla="*/ 5380383 w 5380383"/>
              <a:gd name="connsiteY13" fmla="*/ 736397 h 2827636"/>
              <a:gd name="connsiteX0" fmla="*/ 0 w 5380383"/>
              <a:gd name="connsiteY0" fmla="*/ 935179 h 2812363"/>
              <a:gd name="connsiteX1" fmla="*/ 278296 w 5380383"/>
              <a:gd name="connsiteY1" fmla="*/ 87040 h 2812363"/>
              <a:gd name="connsiteX2" fmla="*/ 841662 w 5380383"/>
              <a:gd name="connsiteY2" fmla="*/ 2775023 h 2812363"/>
              <a:gd name="connsiteX3" fmla="*/ 1397459 w 5380383"/>
              <a:gd name="connsiteY3" fmla="*/ 2547527 h 2812363"/>
              <a:gd name="connsiteX4" fmla="*/ 1749287 w 5380383"/>
              <a:gd name="connsiteY4" fmla="*/ 2419423 h 2812363"/>
              <a:gd name="connsiteX5" fmla="*/ 2213113 w 5380383"/>
              <a:gd name="connsiteY5" fmla="*/ 1213475 h 2812363"/>
              <a:gd name="connsiteX6" fmla="*/ 2637183 w 5380383"/>
              <a:gd name="connsiteY6" fmla="*/ 1929092 h 2812363"/>
              <a:gd name="connsiteX7" fmla="*/ 3246783 w 5380383"/>
              <a:gd name="connsiteY7" fmla="*/ 709892 h 2812363"/>
              <a:gd name="connsiteX8" fmla="*/ 3750365 w 5380383"/>
              <a:gd name="connsiteY8" fmla="*/ 1385753 h 2812363"/>
              <a:gd name="connsiteX9" fmla="*/ 5062331 w 5380383"/>
              <a:gd name="connsiteY9" fmla="*/ 1359249 h 2812363"/>
              <a:gd name="connsiteX10" fmla="*/ 5380383 w 5380383"/>
              <a:gd name="connsiteY10" fmla="*/ 736397 h 2812363"/>
              <a:gd name="connsiteX11" fmla="*/ 5380383 w 5380383"/>
              <a:gd name="connsiteY11" fmla="*/ 736397 h 2812363"/>
              <a:gd name="connsiteX12" fmla="*/ 5380383 w 5380383"/>
              <a:gd name="connsiteY12" fmla="*/ 736397 h 2812363"/>
              <a:gd name="connsiteX0" fmla="*/ 0 w 5380383"/>
              <a:gd name="connsiteY0" fmla="*/ 935179 h 2920606"/>
              <a:gd name="connsiteX1" fmla="*/ 278296 w 5380383"/>
              <a:gd name="connsiteY1" fmla="*/ 87040 h 2920606"/>
              <a:gd name="connsiteX2" fmla="*/ 841662 w 5380383"/>
              <a:gd name="connsiteY2" fmla="*/ 2775023 h 2920606"/>
              <a:gd name="connsiteX3" fmla="*/ 1749287 w 5380383"/>
              <a:gd name="connsiteY3" fmla="*/ 2419423 h 2920606"/>
              <a:gd name="connsiteX4" fmla="*/ 2213113 w 5380383"/>
              <a:gd name="connsiteY4" fmla="*/ 1213475 h 2920606"/>
              <a:gd name="connsiteX5" fmla="*/ 2637183 w 5380383"/>
              <a:gd name="connsiteY5" fmla="*/ 1929092 h 2920606"/>
              <a:gd name="connsiteX6" fmla="*/ 3246783 w 5380383"/>
              <a:gd name="connsiteY6" fmla="*/ 709892 h 2920606"/>
              <a:gd name="connsiteX7" fmla="*/ 3750365 w 5380383"/>
              <a:gd name="connsiteY7" fmla="*/ 1385753 h 2920606"/>
              <a:gd name="connsiteX8" fmla="*/ 5062331 w 5380383"/>
              <a:gd name="connsiteY8" fmla="*/ 1359249 h 2920606"/>
              <a:gd name="connsiteX9" fmla="*/ 5380383 w 5380383"/>
              <a:gd name="connsiteY9" fmla="*/ 736397 h 2920606"/>
              <a:gd name="connsiteX10" fmla="*/ 5380383 w 5380383"/>
              <a:gd name="connsiteY10" fmla="*/ 736397 h 2920606"/>
              <a:gd name="connsiteX11" fmla="*/ 5380383 w 5380383"/>
              <a:gd name="connsiteY11" fmla="*/ 736397 h 2920606"/>
              <a:gd name="connsiteX0" fmla="*/ 0 w 5380383"/>
              <a:gd name="connsiteY0" fmla="*/ 935179 h 2861168"/>
              <a:gd name="connsiteX1" fmla="*/ 278296 w 5380383"/>
              <a:gd name="connsiteY1" fmla="*/ 87040 h 2861168"/>
              <a:gd name="connsiteX2" fmla="*/ 841662 w 5380383"/>
              <a:gd name="connsiteY2" fmla="*/ 2775023 h 2861168"/>
              <a:gd name="connsiteX3" fmla="*/ 1749287 w 5380383"/>
              <a:gd name="connsiteY3" fmla="*/ 2419423 h 2861168"/>
              <a:gd name="connsiteX4" fmla="*/ 2213113 w 5380383"/>
              <a:gd name="connsiteY4" fmla="*/ 1213475 h 2861168"/>
              <a:gd name="connsiteX5" fmla="*/ 2637183 w 5380383"/>
              <a:gd name="connsiteY5" fmla="*/ 1929092 h 2861168"/>
              <a:gd name="connsiteX6" fmla="*/ 3246783 w 5380383"/>
              <a:gd name="connsiteY6" fmla="*/ 709892 h 2861168"/>
              <a:gd name="connsiteX7" fmla="*/ 3750365 w 5380383"/>
              <a:gd name="connsiteY7" fmla="*/ 1385753 h 2861168"/>
              <a:gd name="connsiteX8" fmla="*/ 5062331 w 5380383"/>
              <a:gd name="connsiteY8" fmla="*/ 1359249 h 2861168"/>
              <a:gd name="connsiteX9" fmla="*/ 5380383 w 5380383"/>
              <a:gd name="connsiteY9" fmla="*/ 736397 h 2861168"/>
              <a:gd name="connsiteX10" fmla="*/ 5380383 w 5380383"/>
              <a:gd name="connsiteY10" fmla="*/ 736397 h 2861168"/>
              <a:gd name="connsiteX11" fmla="*/ 5380383 w 5380383"/>
              <a:gd name="connsiteY11" fmla="*/ 736397 h 2861168"/>
              <a:gd name="connsiteX0" fmla="*/ 0 w 5380383"/>
              <a:gd name="connsiteY0" fmla="*/ 935179 h 2814773"/>
              <a:gd name="connsiteX1" fmla="*/ 278296 w 5380383"/>
              <a:gd name="connsiteY1" fmla="*/ 87040 h 2814773"/>
              <a:gd name="connsiteX2" fmla="*/ 841662 w 5380383"/>
              <a:gd name="connsiteY2" fmla="*/ 2775023 h 2814773"/>
              <a:gd name="connsiteX3" fmla="*/ 1749287 w 5380383"/>
              <a:gd name="connsiteY3" fmla="*/ 2419423 h 2814773"/>
              <a:gd name="connsiteX4" fmla="*/ 2213113 w 5380383"/>
              <a:gd name="connsiteY4" fmla="*/ 1213475 h 2814773"/>
              <a:gd name="connsiteX5" fmla="*/ 2637183 w 5380383"/>
              <a:gd name="connsiteY5" fmla="*/ 1929092 h 2814773"/>
              <a:gd name="connsiteX6" fmla="*/ 3246783 w 5380383"/>
              <a:gd name="connsiteY6" fmla="*/ 709892 h 2814773"/>
              <a:gd name="connsiteX7" fmla="*/ 3750365 w 5380383"/>
              <a:gd name="connsiteY7" fmla="*/ 1385753 h 2814773"/>
              <a:gd name="connsiteX8" fmla="*/ 5062331 w 5380383"/>
              <a:gd name="connsiteY8" fmla="*/ 1359249 h 2814773"/>
              <a:gd name="connsiteX9" fmla="*/ 5380383 w 5380383"/>
              <a:gd name="connsiteY9" fmla="*/ 736397 h 2814773"/>
              <a:gd name="connsiteX10" fmla="*/ 5380383 w 5380383"/>
              <a:gd name="connsiteY10" fmla="*/ 736397 h 2814773"/>
              <a:gd name="connsiteX11" fmla="*/ 5380383 w 5380383"/>
              <a:gd name="connsiteY11" fmla="*/ 736397 h 2814773"/>
              <a:gd name="connsiteX0" fmla="*/ 0 w 5380383"/>
              <a:gd name="connsiteY0" fmla="*/ 935179 h 2927063"/>
              <a:gd name="connsiteX1" fmla="*/ 278296 w 5380383"/>
              <a:gd name="connsiteY1" fmla="*/ 87040 h 2927063"/>
              <a:gd name="connsiteX2" fmla="*/ 841662 w 5380383"/>
              <a:gd name="connsiteY2" fmla="*/ 2775023 h 2927063"/>
              <a:gd name="connsiteX3" fmla="*/ 1749287 w 5380383"/>
              <a:gd name="connsiteY3" fmla="*/ 2444823 h 2927063"/>
              <a:gd name="connsiteX4" fmla="*/ 2213113 w 5380383"/>
              <a:gd name="connsiteY4" fmla="*/ 1213475 h 2927063"/>
              <a:gd name="connsiteX5" fmla="*/ 2637183 w 5380383"/>
              <a:gd name="connsiteY5" fmla="*/ 1929092 h 2927063"/>
              <a:gd name="connsiteX6" fmla="*/ 3246783 w 5380383"/>
              <a:gd name="connsiteY6" fmla="*/ 709892 h 2927063"/>
              <a:gd name="connsiteX7" fmla="*/ 3750365 w 5380383"/>
              <a:gd name="connsiteY7" fmla="*/ 1385753 h 2927063"/>
              <a:gd name="connsiteX8" fmla="*/ 5062331 w 5380383"/>
              <a:gd name="connsiteY8" fmla="*/ 1359249 h 2927063"/>
              <a:gd name="connsiteX9" fmla="*/ 5380383 w 5380383"/>
              <a:gd name="connsiteY9" fmla="*/ 736397 h 2927063"/>
              <a:gd name="connsiteX10" fmla="*/ 5380383 w 5380383"/>
              <a:gd name="connsiteY10" fmla="*/ 736397 h 2927063"/>
              <a:gd name="connsiteX11" fmla="*/ 5380383 w 5380383"/>
              <a:gd name="connsiteY11" fmla="*/ 736397 h 2927063"/>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82242"/>
              <a:gd name="connsiteX1" fmla="*/ 278296 w 5380383"/>
              <a:gd name="connsiteY1" fmla="*/ 87040 h 2782242"/>
              <a:gd name="connsiteX2" fmla="*/ 841662 w 5380383"/>
              <a:gd name="connsiteY2" fmla="*/ 2775023 h 2782242"/>
              <a:gd name="connsiteX3" fmla="*/ 1749287 w 5380383"/>
              <a:gd name="connsiteY3" fmla="*/ 2444823 h 2782242"/>
              <a:gd name="connsiteX4" fmla="*/ 2213113 w 5380383"/>
              <a:gd name="connsiteY4" fmla="*/ 1213475 h 2782242"/>
              <a:gd name="connsiteX5" fmla="*/ 2637183 w 5380383"/>
              <a:gd name="connsiteY5" fmla="*/ 1929092 h 2782242"/>
              <a:gd name="connsiteX6" fmla="*/ 3246783 w 5380383"/>
              <a:gd name="connsiteY6" fmla="*/ 709892 h 2782242"/>
              <a:gd name="connsiteX7" fmla="*/ 3750365 w 5380383"/>
              <a:gd name="connsiteY7" fmla="*/ 1385753 h 2782242"/>
              <a:gd name="connsiteX8" fmla="*/ 5062331 w 5380383"/>
              <a:gd name="connsiteY8" fmla="*/ 1359249 h 2782242"/>
              <a:gd name="connsiteX9" fmla="*/ 5380383 w 5380383"/>
              <a:gd name="connsiteY9" fmla="*/ 736397 h 2782242"/>
              <a:gd name="connsiteX10" fmla="*/ 5380383 w 5380383"/>
              <a:gd name="connsiteY10" fmla="*/ 736397 h 2782242"/>
              <a:gd name="connsiteX11" fmla="*/ 5380383 w 5380383"/>
              <a:gd name="connsiteY11" fmla="*/ 736397 h 2782242"/>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49287 w 5380383"/>
              <a:gd name="connsiteY3" fmla="*/ 24448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246783 w 5380383"/>
              <a:gd name="connsiteY6" fmla="*/ 709892 h 2775023"/>
              <a:gd name="connsiteX7" fmla="*/ 3750365 w 5380383"/>
              <a:gd name="connsiteY7" fmla="*/ 1385753 h 2775023"/>
              <a:gd name="connsiteX8" fmla="*/ 5062331 w 5380383"/>
              <a:gd name="connsiteY8" fmla="*/ 1359249 h 2775023"/>
              <a:gd name="connsiteX9" fmla="*/ 5380383 w 5380383"/>
              <a:gd name="connsiteY9" fmla="*/ 736397 h 2775023"/>
              <a:gd name="connsiteX10" fmla="*/ 5380383 w 5380383"/>
              <a:gd name="connsiteY10" fmla="*/ 736397 h 2775023"/>
              <a:gd name="connsiteX11" fmla="*/ 5380383 w 5380383"/>
              <a:gd name="connsiteY11"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246783 w 5380383"/>
              <a:gd name="connsiteY7" fmla="*/ 7098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750365 w 5380383"/>
              <a:gd name="connsiteY8" fmla="*/ 13857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2999619 w 5380383"/>
              <a:gd name="connsiteY6" fmla="*/ 16712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406999 w 5380383"/>
              <a:gd name="connsiteY7" fmla="*/ 6463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3980676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359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020730 w 5380383"/>
              <a:gd name="connsiteY8" fmla="*/ 13730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62331 w 5380383"/>
              <a:gd name="connsiteY9" fmla="*/ 12703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527161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5179 h 2775023"/>
              <a:gd name="connsiteX1" fmla="*/ 278296 w 5380383"/>
              <a:gd name="connsiteY1" fmla="*/ 87040 h 2775023"/>
              <a:gd name="connsiteX2" fmla="*/ 841662 w 5380383"/>
              <a:gd name="connsiteY2" fmla="*/ 2775023 h 2775023"/>
              <a:gd name="connsiteX3" fmla="*/ 1759301 w 5380383"/>
              <a:gd name="connsiteY3" fmla="*/ 2546423 h 2775023"/>
              <a:gd name="connsiteX4" fmla="*/ 2213113 w 5380383"/>
              <a:gd name="connsiteY4" fmla="*/ 1213475 h 2775023"/>
              <a:gd name="connsiteX5" fmla="*/ 2637183 w 5380383"/>
              <a:gd name="connsiteY5" fmla="*/ 1929092 h 2775023"/>
              <a:gd name="connsiteX6" fmla="*/ 3179862 w 5380383"/>
              <a:gd name="connsiteY6" fmla="*/ 1760130 h 2775023"/>
              <a:gd name="connsiteX7" fmla="*/ 3627296 w 5380383"/>
              <a:gd name="connsiteY7" fmla="*/ 633692 h 2775023"/>
              <a:gd name="connsiteX8" fmla="*/ 4100838 w 5380383"/>
              <a:gd name="connsiteY8" fmla="*/ 1398453 h 2775023"/>
              <a:gd name="connsiteX9" fmla="*/ 5092372 w 5380383"/>
              <a:gd name="connsiteY9" fmla="*/ 1232249 h 2775023"/>
              <a:gd name="connsiteX10" fmla="*/ 5380383 w 5380383"/>
              <a:gd name="connsiteY10" fmla="*/ 736397 h 2775023"/>
              <a:gd name="connsiteX11" fmla="*/ 5380383 w 5380383"/>
              <a:gd name="connsiteY11" fmla="*/ 736397 h 2775023"/>
              <a:gd name="connsiteX12" fmla="*/ 5380383 w 5380383"/>
              <a:gd name="connsiteY12" fmla="*/ 736397 h 2775023"/>
              <a:gd name="connsiteX0" fmla="*/ 0 w 5380383"/>
              <a:gd name="connsiteY0" fmla="*/ 932500 h 2729953"/>
              <a:gd name="connsiteX1" fmla="*/ 278296 w 5380383"/>
              <a:gd name="connsiteY1" fmla="*/ 84361 h 2729953"/>
              <a:gd name="connsiteX2" fmla="*/ 841662 w 5380383"/>
              <a:gd name="connsiteY2" fmla="*/ 2729952 h 2729953"/>
              <a:gd name="connsiteX3" fmla="*/ 1759301 w 5380383"/>
              <a:gd name="connsiteY3" fmla="*/ 2543744 h 2729953"/>
              <a:gd name="connsiteX4" fmla="*/ 2213113 w 5380383"/>
              <a:gd name="connsiteY4" fmla="*/ 1210796 h 2729953"/>
              <a:gd name="connsiteX5" fmla="*/ 2637183 w 5380383"/>
              <a:gd name="connsiteY5" fmla="*/ 1926413 h 2729953"/>
              <a:gd name="connsiteX6" fmla="*/ 3179862 w 5380383"/>
              <a:gd name="connsiteY6" fmla="*/ 1757451 h 2729953"/>
              <a:gd name="connsiteX7" fmla="*/ 3627296 w 5380383"/>
              <a:gd name="connsiteY7" fmla="*/ 631013 h 2729953"/>
              <a:gd name="connsiteX8" fmla="*/ 4100838 w 5380383"/>
              <a:gd name="connsiteY8" fmla="*/ 1395774 h 2729953"/>
              <a:gd name="connsiteX9" fmla="*/ 5092372 w 5380383"/>
              <a:gd name="connsiteY9" fmla="*/ 1229570 h 2729953"/>
              <a:gd name="connsiteX10" fmla="*/ 5380383 w 5380383"/>
              <a:gd name="connsiteY10" fmla="*/ 733718 h 2729953"/>
              <a:gd name="connsiteX11" fmla="*/ 5380383 w 5380383"/>
              <a:gd name="connsiteY11" fmla="*/ 733718 h 2729953"/>
              <a:gd name="connsiteX12" fmla="*/ 5380383 w 5380383"/>
              <a:gd name="connsiteY12" fmla="*/ 733718 h 2729953"/>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37183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12" fmla="*/ 5380383 w 5380383"/>
              <a:gd name="connsiteY12"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092372 w 5380383"/>
              <a:gd name="connsiteY9" fmla="*/ 1229570 h 2733086"/>
              <a:gd name="connsiteX10" fmla="*/ 5380383 w 5380383"/>
              <a:gd name="connsiteY10" fmla="*/ 733718 h 2733086"/>
              <a:gd name="connsiteX11" fmla="*/ 5380383 w 5380383"/>
              <a:gd name="connsiteY11"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10" fmla="*/ 5380383 w 5380383"/>
              <a:gd name="connsiteY10"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4100838 w 5380383"/>
              <a:gd name="connsiteY8" fmla="*/ 1395774 h 2733086"/>
              <a:gd name="connsiteX9" fmla="*/ 5380383 w 5380383"/>
              <a:gd name="connsiteY9"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3627296 w 5380383"/>
              <a:gd name="connsiteY7" fmla="*/ 631013 h 2733086"/>
              <a:gd name="connsiteX8" fmla="*/ 5380383 w 5380383"/>
              <a:gd name="connsiteY8" fmla="*/ 733718 h 2733086"/>
              <a:gd name="connsiteX0" fmla="*/ 0 w 5380383"/>
              <a:gd name="connsiteY0" fmla="*/ 932500 h 2733086"/>
              <a:gd name="connsiteX1" fmla="*/ 278296 w 5380383"/>
              <a:gd name="connsiteY1" fmla="*/ 84361 h 2733086"/>
              <a:gd name="connsiteX2" fmla="*/ 841662 w 5380383"/>
              <a:gd name="connsiteY2" fmla="*/ 2729952 h 2733086"/>
              <a:gd name="connsiteX3" fmla="*/ 1759301 w 5380383"/>
              <a:gd name="connsiteY3" fmla="*/ 2543744 h 2733086"/>
              <a:gd name="connsiteX4" fmla="*/ 2213113 w 5380383"/>
              <a:gd name="connsiteY4" fmla="*/ 1210796 h 2733086"/>
              <a:gd name="connsiteX5" fmla="*/ 2654216 w 5380383"/>
              <a:gd name="connsiteY5" fmla="*/ 1926413 h 2733086"/>
              <a:gd name="connsiteX6" fmla="*/ 3179862 w 5380383"/>
              <a:gd name="connsiteY6" fmla="*/ 1757451 h 2733086"/>
              <a:gd name="connsiteX7" fmla="*/ 5380383 w 5380383"/>
              <a:gd name="connsiteY7" fmla="*/ 733718 h 2733086"/>
              <a:gd name="connsiteX0" fmla="*/ 0 w 3179862"/>
              <a:gd name="connsiteY0" fmla="*/ 932500 h 2733086"/>
              <a:gd name="connsiteX1" fmla="*/ 278296 w 3179862"/>
              <a:gd name="connsiteY1" fmla="*/ 84361 h 2733086"/>
              <a:gd name="connsiteX2" fmla="*/ 841662 w 3179862"/>
              <a:gd name="connsiteY2" fmla="*/ 2729952 h 2733086"/>
              <a:gd name="connsiteX3" fmla="*/ 1759301 w 3179862"/>
              <a:gd name="connsiteY3" fmla="*/ 2543744 h 2733086"/>
              <a:gd name="connsiteX4" fmla="*/ 2213113 w 3179862"/>
              <a:gd name="connsiteY4" fmla="*/ 1210796 h 2733086"/>
              <a:gd name="connsiteX5" fmla="*/ 2654216 w 3179862"/>
              <a:gd name="connsiteY5" fmla="*/ 1926413 h 2733086"/>
              <a:gd name="connsiteX6" fmla="*/ 3179862 w 3179862"/>
              <a:gd name="connsiteY6" fmla="*/ 1757451 h 2733086"/>
              <a:gd name="connsiteX0" fmla="*/ 0 w 2654216"/>
              <a:gd name="connsiteY0" fmla="*/ 932500 h 2733086"/>
              <a:gd name="connsiteX1" fmla="*/ 278296 w 2654216"/>
              <a:gd name="connsiteY1" fmla="*/ 84361 h 2733086"/>
              <a:gd name="connsiteX2" fmla="*/ 841662 w 2654216"/>
              <a:gd name="connsiteY2" fmla="*/ 2729952 h 2733086"/>
              <a:gd name="connsiteX3" fmla="*/ 1759301 w 2654216"/>
              <a:gd name="connsiteY3" fmla="*/ 2543744 h 2733086"/>
              <a:gd name="connsiteX4" fmla="*/ 2213113 w 2654216"/>
              <a:gd name="connsiteY4" fmla="*/ 1210796 h 2733086"/>
              <a:gd name="connsiteX5" fmla="*/ 2654216 w 2654216"/>
              <a:gd name="connsiteY5" fmla="*/ 1926413 h 2733086"/>
              <a:gd name="connsiteX0" fmla="*/ 0 w 2213113"/>
              <a:gd name="connsiteY0" fmla="*/ 932500 h 2733086"/>
              <a:gd name="connsiteX1" fmla="*/ 278296 w 2213113"/>
              <a:gd name="connsiteY1" fmla="*/ 84361 h 2733086"/>
              <a:gd name="connsiteX2" fmla="*/ 841662 w 2213113"/>
              <a:gd name="connsiteY2" fmla="*/ 2729952 h 2733086"/>
              <a:gd name="connsiteX3" fmla="*/ 1759301 w 2213113"/>
              <a:gd name="connsiteY3" fmla="*/ 2543744 h 2733086"/>
              <a:gd name="connsiteX4" fmla="*/ 2213113 w 2213113"/>
              <a:gd name="connsiteY4" fmla="*/ 1210796 h 2733086"/>
              <a:gd name="connsiteX0" fmla="*/ 0 w 1759301"/>
              <a:gd name="connsiteY0" fmla="*/ 932500 h 2733086"/>
              <a:gd name="connsiteX1" fmla="*/ 278296 w 1759301"/>
              <a:gd name="connsiteY1" fmla="*/ 84361 h 2733086"/>
              <a:gd name="connsiteX2" fmla="*/ 841662 w 1759301"/>
              <a:gd name="connsiteY2" fmla="*/ 2729952 h 2733086"/>
              <a:gd name="connsiteX3" fmla="*/ 1759301 w 1759301"/>
              <a:gd name="connsiteY3" fmla="*/ 2543744 h 2733086"/>
              <a:gd name="connsiteX0" fmla="*/ 0 w 841662"/>
              <a:gd name="connsiteY0" fmla="*/ 932500 h 2729952"/>
              <a:gd name="connsiteX1" fmla="*/ 278296 w 841662"/>
              <a:gd name="connsiteY1" fmla="*/ 84361 h 2729952"/>
              <a:gd name="connsiteX2" fmla="*/ 841662 w 841662"/>
              <a:gd name="connsiteY2" fmla="*/ 2729952 h 2729952"/>
            </a:gdLst>
            <a:ahLst/>
            <a:cxnLst>
              <a:cxn ang="0">
                <a:pos x="connsiteX0" y="connsiteY0"/>
              </a:cxn>
              <a:cxn ang="0">
                <a:pos x="connsiteX1" y="connsiteY1"/>
              </a:cxn>
              <a:cxn ang="0">
                <a:pos x="connsiteX2" y="connsiteY2"/>
              </a:cxn>
            </a:cxnLst>
            <a:rect l="l" t="t" r="r" b="b"/>
            <a:pathLst>
              <a:path w="841662" h="2729952">
                <a:moveTo>
                  <a:pt x="0" y="932500"/>
                </a:moveTo>
                <a:cubicBezTo>
                  <a:pt x="70678" y="333943"/>
                  <a:pt x="138019" y="-215214"/>
                  <a:pt x="278296" y="84361"/>
                </a:cubicBezTo>
                <a:cubicBezTo>
                  <a:pt x="418573" y="383936"/>
                  <a:pt x="526403" y="2692588"/>
                  <a:pt x="841662" y="272995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Subsequent relapse">
            <a:extLst>
              <a:ext uri="{FF2B5EF4-FFF2-40B4-BE49-F238E27FC236}">
                <a16:creationId xmlns:a16="http://schemas.microsoft.com/office/drawing/2014/main" id="{F6733A7D-CA57-40C5-BE56-D16DD8D5EB0D}"/>
              </a:ext>
            </a:extLst>
          </p:cNvPr>
          <p:cNvSpPr/>
          <p:nvPr/>
        </p:nvSpPr>
        <p:spPr>
          <a:xfrm>
            <a:off x="8789653" y="2090713"/>
            <a:ext cx="1406969" cy="676865"/>
          </a:xfrm>
          <a:prstGeom prst="roundRect">
            <a:avLst/>
          </a:prstGeom>
          <a:solidFill>
            <a:schemeClr val="bg1"/>
          </a:solidFill>
          <a:ln w="38100">
            <a:solidFill>
              <a:schemeClr val="accent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Subsequent relapses</a:t>
            </a:r>
          </a:p>
        </p:txBody>
      </p:sp>
      <p:pic>
        <p:nvPicPr>
          <p:cNvPr id="80" name="Graphic 79" descr="Cursor with solid fill">
            <a:extLst>
              <a:ext uri="{FF2B5EF4-FFF2-40B4-BE49-F238E27FC236}">
                <a16:creationId xmlns:a16="http://schemas.microsoft.com/office/drawing/2014/main" id="{E3044FD9-8176-401A-A7C6-5C9B28B511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5746" y="2611571"/>
            <a:ext cx="301752" cy="301752"/>
          </a:xfrm>
          <a:prstGeom prst="rect">
            <a:avLst/>
          </a:prstGeom>
        </p:spPr>
      </p:pic>
      <p:grpSp>
        <p:nvGrpSpPr>
          <p:cNvPr id="84" name="Group 83">
            <a:extLst>
              <a:ext uri="{FF2B5EF4-FFF2-40B4-BE49-F238E27FC236}">
                <a16:creationId xmlns:a16="http://schemas.microsoft.com/office/drawing/2014/main" id="{0F593995-28B9-4355-BA42-AC2914715776}"/>
              </a:ext>
            </a:extLst>
          </p:cNvPr>
          <p:cNvGrpSpPr/>
          <p:nvPr/>
        </p:nvGrpSpPr>
        <p:grpSpPr>
          <a:xfrm>
            <a:off x="4359280" y="700396"/>
            <a:ext cx="3315177" cy="1400383"/>
            <a:chOff x="4359280" y="334625"/>
            <a:chExt cx="3315177" cy="1400383"/>
          </a:xfrm>
        </p:grpSpPr>
        <p:sp>
          <p:nvSpPr>
            <p:cNvPr id="81" name="TextBox 80">
              <a:extLst>
                <a:ext uri="{FF2B5EF4-FFF2-40B4-BE49-F238E27FC236}">
                  <a16:creationId xmlns:a16="http://schemas.microsoft.com/office/drawing/2014/main" id="{52B18BB6-84BB-4F7D-B8DE-9496E9A01AE9}"/>
                </a:ext>
              </a:extLst>
            </p:cNvPr>
            <p:cNvSpPr txBox="1"/>
            <p:nvPr/>
          </p:nvSpPr>
          <p:spPr>
            <a:xfrm>
              <a:off x="4829528" y="334625"/>
              <a:ext cx="2844929" cy="1400383"/>
            </a:xfrm>
            <a:prstGeom prst="rect">
              <a:avLst/>
            </a:prstGeom>
            <a:solidFill>
              <a:schemeClr val="bg2">
                <a:lumMod val="90000"/>
              </a:schemeClr>
            </a:solidFill>
          </p:spPr>
          <p:txBody>
            <a:bodyPr wrap="square">
              <a:spAutoFit/>
            </a:bodyPr>
            <a:lstStyle/>
            <a:p>
              <a:pPr lvl="0"/>
              <a:r>
                <a:rPr lang="en-US" sz="1700" dirty="0"/>
                <a:t>Typically, 3 or 4 drug regimen:</a:t>
              </a:r>
            </a:p>
            <a:p>
              <a:pPr marL="114300" lvl="0" indent="-114300">
                <a:buFont typeface="Arial" panose="020B0604020202020204" pitchFamily="34" charset="0"/>
                <a:buChar char="•"/>
              </a:pPr>
              <a:r>
                <a:rPr lang="en-US" sz="1700" dirty="0"/>
                <a:t>Proteasome inhibitor</a:t>
              </a:r>
            </a:p>
            <a:p>
              <a:pPr marL="114300" lvl="0" indent="-114300">
                <a:buFont typeface="Arial" panose="020B0604020202020204" pitchFamily="34" charset="0"/>
                <a:buChar char="•"/>
              </a:pPr>
              <a:r>
                <a:rPr lang="en-US" sz="1700" dirty="0"/>
                <a:t>Immunomodulatory agent</a:t>
              </a:r>
            </a:p>
            <a:p>
              <a:pPr marL="114300" lvl="0" indent="-114300">
                <a:buFont typeface="Arial" panose="020B0604020202020204" pitchFamily="34" charset="0"/>
                <a:buChar char="•"/>
              </a:pPr>
              <a:r>
                <a:rPr lang="en-US" sz="1700" dirty="0"/>
                <a:t>Steroids</a:t>
              </a:r>
            </a:p>
            <a:p>
              <a:pPr marL="114300" lvl="0" indent="-114300">
                <a:buFont typeface="Arial" panose="020B0604020202020204" pitchFamily="34" charset="0"/>
                <a:buChar char="•"/>
              </a:pPr>
              <a:r>
                <a:rPr lang="en-US" sz="1700" dirty="0"/>
                <a:t>± monoclonal antibody</a:t>
              </a:r>
            </a:p>
          </p:txBody>
        </p:sp>
        <p:cxnSp>
          <p:nvCxnSpPr>
            <p:cNvPr id="82" name="Straight Connector 81">
              <a:extLst>
                <a:ext uri="{FF2B5EF4-FFF2-40B4-BE49-F238E27FC236}">
                  <a16:creationId xmlns:a16="http://schemas.microsoft.com/office/drawing/2014/main" id="{C559F45F-300C-4C49-9D96-212FD65781B1}"/>
                </a:ext>
              </a:extLst>
            </p:cNvPr>
            <p:cNvCxnSpPr>
              <a:cxnSpLocks/>
            </p:cNvCxnSpPr>
            <p:nvPr/>
          </p:nvCxnSpPr>
          <p:spPr>
            <a:xfrm>
              <a:off x="4359280" y="1030299"/>
              <a:ext cx="470248" cy="0"/>
            </a:xfrm>
            <a:prstGeom prst="line">
              <a:avLst/>
            </a:prstGeom>
          </p:spPr>
          <p:style>
            <a:lnRef idx="2">
              <a:schemeClr val="dk1"/>
            </a:lnRef>
            <a:fillRef idx="0">
              <a:schemeClr val="dk1"/>
            </a:fillRef>
            <a:effectRef idx="1">
              <a:schemeClr val="dk1"/>
            </a:effectRef>
            <a:fontRef idx="minor">
              <a:schemeClr val="tx1"/>
            </a:fontRef>
          </p:style>
        </p:cxnSp>
      </p:grpSp>
      <p:grpSp>
        <p:nvGrpSpPr>
          <p:cNvPr id="86" name="Group 85">
            <a:extLst>
              <a:ext uri="{FF2B5EF4-FFF2-40B4-BE49-F238E27FC236}">
                <a16:creationId xmlns:a16="http://schemas.microsoft.com/office/drawing/2014/main" id="{C9788607-C0F1-4746-9477-A4058AF4DFEF}"/>
              </a:ext>
            </a:extLst>
          </p:cNvPr>
          <p:cNvGrpSpPr/>
          <p:nvPr/>
        </p:nvGrpSpPr>
        <p:grpSpPr>
          <a:xfrm>
            <a:off x="5893111" y="4159222"/>
            <a:ext cx="2886088" cy="615553"/>
            <a:chOff x="-58160" y="1035112"/>
            <a:chExt cx="2886088" cy="615553"/>
          </a:xfrm>
        </p:grpSpPr>
        <p:sp>
          <p:nvSpPr>
            <p:cNvPr id="87" name="TextBox 86">
              <a:extLst>
                <a:ext uri="{FF2B5EF4-FFF2-40B4-BE49-F238E27FC236}">
                  <a16:creationId xmlns:a16="http://schemas.microsoft.com/office/drawing/2014/main" id="{53F6A6FB-3DF1-46FD-A946-E3BD22FFAA94}"/>
                </a:ext>
              </a:extLst>
            </p:cNvPr>
            <p:cNvSpPr txBox="1"/>
            <p:nvPr/>
          </p:nvSpPr>
          <p:spPr>
            <a:xfrm>
              <a:off x="282236" y="1035112"/>
              <a:ext cx="2545692" cy="615553"/>
            </a:xfrm>
            <a:prstGeom prst="rect">
              <a:avLst/>
            </a:prstGeom>
            <a:solidFill>
              <a:schemeClr val="bg2">
                <a:lumMod val="90000"/>
              </a:schemeClr>
            </a:solidFill>
          </p:spPr>
          <p:txBody>
            <a:bodyPr wrap="square">
              <a:spAutoFit/>
            </a:bodyPr>
            <a:lstStyle/>
            <a:p>
              <a:pPr lvl="0" algn="ctr"/>
              <a:r>
                <a:rPr lang="en-US" sz="1700" dirty="0"/>
                <a:t>De-escalation of treatment to 1-2 drugs</a:t>
              </a:r>
            </a:p>
          </p:txBody>
        </p:sp>
        <p:cxnSp>
          <p:nvCxnSpPr>
            <p:cNvPr id="88" name="Straight Connector 87">
              <a:extLst>
                <a:ext uri="{FF2B5EF4-FFF2-40B4-BE49-F238E27FC236}">
                  <a16:creationId xmlns:a16="http://schemas.microsoft.com/office/drawing/2014/main" id="{074B9D29-253B-4C6C-8768-6F2CC4109A64}"/>
                </a:ext>
              </a:extLst>
            </p:cNvPr>
            <p:cNvCxnSpPr>
              <a:cxnSpLocks/>
            </p:cNvCxnSpPr>
            <p:nvPr/>
          </p:nvCxnSpPr>
          <p:spPr>
            <a:xfrm>
              <a:off x="-58160" y="1342890"/>
              <a:ext cx="351447" cy="0"/>
            </a:xfrm>
            <a:prstGeom prst="line">
              <a:avLst/>
            </a:prstGeom>
          </p:spPr>
          <p:style>
            <a:lnRef idx="2">
              <a:schemeClr val="dk1"/>
            </a:lnRef>
            <a:fillRef idx="0">
              <a:schemeClr val="dk1"/>
            </a:fillRef>
            <a:effectRef idx="1">
              <a:schemeClr val="dk1"/>
            </a:effectRef>
            <a:fontRef idx="minor">
              <a:schemeClr val="tx1"/>
            </a:fontRef>
          </p:style>
        </p:cxnSp>
      </p:grpSp>
      <p:sp>
        <p:nvSpPr>
          <p:cNvPr id="69" name="autoSCT">
            <a:extLst>
              <a:ext uri="{FF2B5EF4-FFF2-40B4-BE49-F238E27FC236}">
                <a16:creationId xmlns:a16="http://schemas.microsoft.com/office/drawing/2014/main" id="{7913B0E4-8EE0-49E7-B27F-6AABAA59EAC7}"/>
              </a:ext>
            </a:extLst>
          </p:cNvPr>
          <p:cNvSpPr/>
          <p:nvPr/>
        </p:nvSpPr>
        <p:spPr>
          <a:xfrm>
            <a:off x="3333595" y="5402056"/>
            <a:ext cx="1280160" cy="457200"/>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autoSCT</a:t>
            </a:r>
            <a:endParaRPr lang="en-US" b="1" dirty="0">
              <a:solidFill>
                <a:schemeClr val="tx1"/>
              </a:solidFill>
            </a:endParaRPr>
          </a:p>
        </p:txBody>
      </p:sp>
      <p:pic>
        <p:nvPicPr>
          <p:cNvPr id="71" name="Graphic 70" descr="Cursor with solid fill">
            <a:extLst>
              <a:ext uri="{FF2B5EF4-FFF2-40B4-BE49-F238E27FC236}">
                <a16:creationId xmlns:a16="http://schemas.microsoft.com/office/drawing/2014/main" id="{D86F008F-8B7C-4682-9473-C801FA4CE2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3831" y="5719072"/>
            <a:ext cx="301752" cy="301752"/>
          </a:xfrm>
          <a:prstGeom prst="rect">
            <a:avLst/>
          </a:prstGeom>
        </p:spPr>
      </p:pic>
      <p:sp>
        <p:nvSpPr>
          <p:cNvPr id="65" name="Maintenance final">
            <a:extLst>
              <a:ext uri="{FF2B5EF4-FFF2-40B4-BE49-F238E27FC236}">
                <a16:creationId xmlns:a16="http://schemas.microsoft.com/office/drawing/2014/main" id="{192C2D54-8737-41AD-AD33-EC2AEAE4F305}"/>
              </a:ext>
            </a:extLst>
          </p:cNvPr>
          <p:cNvSpPr/>
          <p:nvPr/>
        </p:nvSpPr>
        <p:spPr>
          <a:xfrm>
            <a:off x="4328542" y="4213643"/>
            <a:ext cx="1530511" cy="423516"/>
          </a:xfrm>
          <a:prstGeom prst="roundRect">
            <a:avLst/>
          </a:prstGeom>
          <a:solidFill>
            <a:schemeClr val="tx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Maintenance</a:t>
            </a:r>
          </a:p>
        </p:txBody>
      </p:sp>
      <p:pic>
        <p:nvPicPr>
          <p:cNvPr id="66" name="Graphic 65" descr="Cursor with solid fill">
            <a:extLst>
              <a:ext uri="{FF2B5EF4-FFF2-40B4-BE49-F238E27FC236}">
                <a16:creationId xmlns:a16="http://schemas.microsoft.com/office/drawing/2014/main" id="{42ED090E-C4A9-4154-A423-2FFDF16E2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34926" y="4506647"/>
            <a:ext cx="301752" cy="301752"/>
          </a:xfrm>
          <a:prstGeom prst="rect">
            <a:avLst/>
          </a:prstGeom>
        </p:spPr>
      </p:pic>
      <p:grpSp>
        <p:nvGrpSpPr>
          <p:cNvPr id="126" name="Group 125">
            <a:extLst>
              <a:ext uri="{FF2B5EF4-FFF2-40B4-BE49-F238E27FC236}">
                <a16:creationId xmlns:a16="http://schemas.microsoft.com/office/drawing/2014/main" id="{680E26DB-2E36-2205-F9CE-22AA4C41DB72}"/>
              </a:ext>
            </a:extLst>
          </p:cNvPr>
          <p:cNvGrpSpPr/>
          <p:nvPr/>
        </p:nvGrpSpPr>
        <p:grpSpPr>
          <a:xfrm>
            <a:off x="2419299" y="1729050"/>
            <a:ext cx="9246977" cy="4499538"/>
            <a:chOff x="2562567" y="1363279"/>
            <a:chExt cx="9246977" cy="4499538"/>
          </a:xfrm>
        </p:grpSpPr>
        <p:sp>
          <p:nvSpPr>
            <p:cNvPr id="57" name="TextBox 56">
              <a:extLst>
                <a:ext uri="{FF2B5EF4-FFF2-40B4-BE49-F238E27FC236}">
                  <a16:creationId xmlns:a16="http://schemas.microsoft.com/office/drawing/2014/main" id="{7825BFAC-9CB3-40F5-B5BE-42EA517CB909}"/>
                </a:ext>
              </a:extLst>
            </p:cNvPr>
            <p:cNvSpPr txBox="1"/>
            <p:nvPr/>
          </p:nvSpPr>
          <p:spPr>
            <a:xfrm>
              <a:off x="11085098" y="5493485"/>
              <a:ext cx="724446" cy="369332"/>
            </a:xfrm>
            <a:prstGeom prst="rect">
              <a:avLst/>
            </a:prstGeom>
            <a:noFill/>
          </p:spPr>
          <p:txBody>
            <a:bodyPr wrap="square" rtlCol="0">
              <a:spAutoFit/>
            </a:bodyPr>
            <a:lstStyle/>
            <a:p>
              <a:pPr algn="ctr"/>
              <a:r>
                <a:rPr lang="en-US" dirty="0"/>
                <a:t>Time</a:t>
              </a:r>
            </a:p>
          </p:txBody>
        </p:sp>
        <p:sp>
          <p:nvSpPr>
            <p:cNvPr id="58" name="TextBox 57">
              <a:extLst>
                <a:ext uri="{FF2B5EF4-FFF2-40B4-BE49-F238E27FC236}">
                  <a16:creationId xmlns:a16="http://schemas.microsoft.com/office/drawing/2014/main" id="{184860C9-0834-4E54-8A03-AC0429DA0548}"/>
                </a:ext>
              </a:extLst>
            </p:cNvPr>
            <p:cNvSpPr txBox="1"/>
            <p:nvPr/>
          </p:nvSpPr>
          <p:spPr>
            <a:xfrm rot="16200000">
              <a:off x="2178023" y="3064850"/>
              <a:ext cx="1290872" cy="521783"/>
            </a:xfrm>
            <a:prstGeom prst="rect">
              <a:avLst/>
            </a:prstGeom>
            <a:noFill/>
          </p:spPr>
          <p:txBody>
            <a:bodyPr wrap="square" rtlCol="0">
              <a:spAutoFit/>
            </a:bodyPr>
            <a:lstStyle/>
            <a:p>
              <a:r>
                <a:rPr lang="en-US" dirty="0"/>
                <a:t>M-protein</a:t>
              </a:r>
            </a:p>
          </p:txBody>
        </p:sp>
        <p:cxnSp>
          <p:nvCxnSpPr>
            <p:cNvPr id="120" name="Straight Arrow Connector 119">
              <a:extLst>
                <a:ext uri="{FF2B5EF4-FFF2-40B4-BE49-F238E27FC236}">
                  <a16:creationId xmlns:a16="http://schemas.microsoft.com/office/drawing/2014/main" id="{A43D2C45-2B53-83CD-012F-0407E816E4E2}"/>
                </a:ext>
              </a:extLst>
            </p:cNvPr>
            <p:cNvCxnSpPr>
              <a:cxnSpLocks/>
            </p:cNvCxnSpPr>
            <p:nvPr/>
          </p:nvCxnSpPr>
          <p:spPr>
            <a:xfrm flipV="1">
              <a:off x="2999006" y="1363279"/>
              <a:ext cx="16304" cy="4314872"/>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21" name="Straight Arrow Connector 120">
              <a:extLst>
                <a:ext uri="{FF2B5EF4-FFF2-40B4-BE49-F238E27FC236}">
                  <a16:creationId xmlns:a16="http://schemas.microsoft.com/office/drawing/2014/main" id="{2E04F555-18F0-72EC-AA3E-42B59F3FB91D}"/>
                </a:ext>
              </a:extLst>
            </p:cNvPr>
            <p:cNvCxnSpPr>
              <a:cxnSpLocks/>
              <a:endCxn id="57" idx="1"/>
            </p:cNvCxnSpPr>
            <p:nvPr/>
          </p:nvCxnSpPr>
          <p:spPr>
            <a:xfrm>
              <a:off x="3015310" y="5678151"/>
              <a:ext cx="8069788"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grpSp>
      <p:grpSp>
        <p:nvGrpSpPr>
          <p:cNvPr id="17" name="Group 16">
            <a:extLst>
              <a:ext uri="{FF2B5EF4-FFF2-40B4-BE49-F238E27FC236}">
                <a16:creationId xmlns:a16="http://schemas.microsoft.com/office/drawing/2014/main" id="{D72D070D-20DE-4428-A6B7-AF526CF5FD90}"/>
              </a:ext>
            </a:extLst>
          </p:cNvPr>
          <p:cNvGrpSpPr/>
          <p:nvPr/>
        </p:nvGrpSpPr>
        <p:grpSpPr>
          <a:xfrm>
            <a:off x="4624707" y="5222199"/>
            <a:ext cx="4146117" cy="1400383"/>
            <a:chOff x="7141245" y="5379700"/>
            <a:chExt cx="4146117" cy="1400383"/>
          </a:xfrm>
        </p:grpSpPr>
        <p:cxnSp>
          <p:nvCxnSpPr>
            <p:cNvPr id="13" name="Straight Connector 12">
              <a:extLst>
                <a:ext uri="{FF2B5EF4-FFF2-40B4-BE49-F238E27FC236}">
                  <a16:creationId xmlns:a16="http://schemas.microsoft.com/office/drawing/2014/main" id="{D900ABAA-9113-4D80-8B43-499EF10E3737}"/>
                </a:ext>
              </a:extLst>
            </p:cNvPr>
            <p:cNvCxnSpPr>
              <a:cxnSpLocks/>
            </p:cNvCxnSpPr>
            <p:nvPr/>
          </p:nvCxnSpPr>
          <p:spPr>
            <a:xfrm>
              <a:off x="7141245" y="5805999"/>
              <a:ext cx="601010" cy="4853"/>
            </a:xfrm>
            <a:prstGeom prst="line">
              <a:avLst/>
            </a:prstGeom>
          </p:spPr>
          <p:style>
            <a:lnRef idx="2">
              <a:schemeClr val="accent6"/>
            </a:lnRef>
            <a:fillRef idx="0">
              <a:schemeClr val="accent6"/>
            </a:fillRef>
            <a:effectRef idx="1">
              <a:schemeClr val="accent6"/>
            </a:effectRef>
            <a:fontRef idx="minor">
              <a:schemeClr val="tx1"/>
            </a:fontRef>
          </p:style>
        </p:cxnSp>
        <p:sp>
          <p:nvSpPr>
            <p:cNvPr id="30" name="TextBox 29">
              <a:extLst>
                <a:ext uri="{FF2B5EF4-FFF2-40B4-BE49-F238E27FC236}">
                  <a16:creationId xmlns:a16="http://schemas.microsoft.com/office/drawing/2014/main" id="{0A2CD63A-806D-B946-A8DD-79C77270436B}"/>
                </a:ext>
              </a:extLst>
            </p:cNvPr>
            <p:cNvSpPr txBox="1"/>
            <p:nvPr/>
          </p:nvSpPr>
          <p:spPr>
            <a:xfrm>
              <a:off x="7282129" y="5379700"/>
              <a:ext cx="4005233" cy="1400383"/>
            </a:xfrm>
            <a:prstGeom prst="rect">
              <a:avLst/>
            </a:prstGeom>
            <a:solidFill>
              <a:schemeClr val="accent6">
                <a:lumMod val="20000"/>
                <a:lumOff val="80000"/>
              </a:schemeClr>
            </a:solidFill>
          </p:spPr>
          <p:txBody>
            <a:bodyPr wrap="square">
              <a:spAutoFit/>
            </a:bodyPr>
            <a:lstStyle/>
            <a:p>
              <a:pPr lvl="0"/>
              <a:r>
                <a:rPr lang="en-US" sz="1700" u="sng" dirty="0"/>
                <a:t>Eligibility:</a:t>
              </a:r>
            </a:p>
            <a:p>
              <a:pPr marL="114300" lvl="0" indent="-114300">
                <a:buFont typeface="Arial" panose="020B0604020202020204" pitchFamily="34" charset="0"/>
                <a:buChar char="•"/>
              </a:pPr>
              <a:r>
                <a:rPr lang="en-US" sz="1700" dirty="0"/>
                <a:t>Age &lt; 65 (up to age 75)</a:t>
              </a:r>
            </a:p>
            <a:p>
              <a:pPr marL="114300" lvl="0" indent="-114300">
                <a:buFont typeface="Arial" panose="020B0604020202020204" pitchFamily="34" charset="0"/>
                <a:buChar char="•"/>
              </a:pPr>
              <a:r>
                <a:rPr lang="en-US" sz="1700" dirty="0"/>
                <a:t>ECOG &lt; 3</a:t>
              </a:r>
            </a:p>
            <a:p>
              <a:pPr marL="114300" lvl="0" indent="-114300">
                <a:buFont typeface="Arial" panose="020B0604020202020204" pitchFamily="34" charset="0"/>
                <a:buChar char="•"/>
              </a:pPr>
              <a:r>
                <a:rPr lang="en-US" sz="1700" dirty="0"/>
                <a:t>No cirrhosis, severe HF</a:t>
              </a:r>
            </a:p>
            <a:p>
              <a:pPr marL="114300" lvl="0" indent="-114300">
                <a:buFont typeface="Arial" panose="020B0604020202020204" pitchFamily="34" charset="0"/>
                <a:buChar char="•"/>
              </a:pPr>
              <a:r>
                <a:rPr lang="en-US" sz="1700" dirty="0"/>
                <a:t>Renal disease is </a:t>
              </a:r>
              <a:r>
                <a:rPr lang="en-US" sz="1700" b="1" dirty="0"/>
                <a:t>NOT </a:t>
              </a:r>
              <a:r>
                <a:rPr lang="en-US" sz="1700" dirty="0"/>
                <a:t>a contraindication</a:t>
              </a:r>
            </a:p>
          </p:txBody>
        </p:sp>
      </p:grpSp>
      <p:sp>
        <p:nvSpPr>
          <p:cNvPr id="2" name="Obj 1">
            <a:hlinkClick r:id="rId5" action="ppaction://hlinksldjump"/>
            <a:extLst>
              <a:ext uri="{FF2B5EF4-FFF2-40B4-BE49-F238E27FC236}">
                <a16:creationId xmlns:a16="http://schemas.microsoft.com/office/drawing/2014/main" id="{6866A28F-84C2-53F8-6CD8-E65CC60596CE}"/>
              </a:ext>
            </a:extLst>
          </p:cNvPr>
          <p:cNvSpPr/>
          <p:nvPr/>
        </p:nvSpPr>
        <p:spPr>
          <a:xfrm>
            <a:off x="185167"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3" name="Graphic 2" descr="Cursor with solid fill">
            <a:extLst>
              <a:ext uri="{FF2B5EF4-FFF2-40B4-BE49-F238E27FC236}">
                <a16:creationId xmlns:a16="http://schemas.microsoft.com/office/drawing/2014/main" id="{45219E3A-E874-972D-D188-81D273AA67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488321"/>
            <a:ext cx="301752" cy="301752"/>
          </a:xfrm>
          <a:prstGeom prst="rect">
            <a:avLst/>
          </a:prstGeom>
        </p:spPr>
      </p:pic>
      <p:sp>
        <p:nvSpPr>
          <p:cNvPr id="4" name="Obj 1">
            <a:hlinkClick r:id="rId6" action="ppaction://hlinksldjump"/>
            <a:extLst>
              <a:ext uri="{FF2B5EF4-FFF2-40B4-BE49-F238E27FC236}">
                <a16:creationId xmlns:a16="http://schemas.microsoft.com/office/drawing/2014/main" id="{B0D7FE0B-8DA2-BCA8-C848-DECDBCE19650}"/>
              </a:ext>
            </a:extLst>
          </p:cNvPr>
          <p:cNvSpPr/>
          <p:nvPr/>
        </p:nvSpPr>
        <p:spPr>
          <a:xfrm>
            <a:off x="185167" y="142615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5" name="Graphic 4" descr="Cursor with solid fill">
            <a:extLst>
              <a:ext uri="{FF2B5EF4-FFF2-40B4-BE49-F238E27FC236}">
                <a16:creationId xmlns:a16="http://schemas.microsoft.com/office/drawing/2014/main" id="{F62F4A83-C8D6-BDE1-16C9-1F3D44DD605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1720750"/>
            <a:ext cx="301752" cy="301752"/>
          </a:xfrm>
          <a:prstGeom prst="rect">
            <a:avLst/>
          </a:prstGeom>
        </p:spPr>
      </p:pic>
      <p:sp>
        <p:nvSpPr>
          <p:cNvPr id="6" name="Obj 1">
            <a:hlinkClick r:id="rId7" action="ppaction://hlinksldjump"/>
            <a:extLst>
              <a:ext uri="{FF2B5EF4-FFF2-40B4-BE49-F238E27FC236}">
                <a16:creationId xmlns:a16="http://schemas.microsoft.com/office/drawing/2014/main" id="{4176CA33-279F-07F2-889D-EB63E6072BE3}"/>
              </a:ext>
            </a:extLst>
          </p:cNvPr>
          <p:cNvSpPr/>
          <p:nvPr/>
        </p:nvSpPr>
        <p:spPr>
          <a:xfrm>
            <a:off x="185167" y="20309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7" name="Graphic 6" descr="Cursor with solid fill">
            <a:extLst>
              <a:ext uri="{FF2B5EF4-FFF2-40B4-BE49-F238E27FC236}">
                <a16:creationId xmlns:a16="http://schemas.microsoft.com/office/drawing/2014/main" id="{1D6A0E49-8B03-0EFF-EDE9-4D25830A37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2300890"/>
            <a:ext cx="301752" cy="301752"/>
          </a:xfrm>
          <a:prstGeom prst="rect">
            <a:avLst/>
          </a:prstGeom>
        </p:spPr>
      </p:pic>
      <p:sp>
        <p:nvSpPr>
          <p:cNvPr id="8" name="Obj 1">
            <a:hlinkClick r:id="rId8" action="ppaction://hlinksldjump"/>
            <a:extLst>
              <a:ext uri="{FF2B5EF4-FFF2-40B4-BE49-F238E27FC236}">
                <a16:creationId xmlns:a16="http://schemas.microsoft.com/office/drawing/2014/main" id="{23A7D874-8B0F-3E72-F322-BB6BD5C77D17}"/>
              </a:ext>
            </a:extLst>
          </p:cNvPr>
          <p:cNvSpPr/>
          <p:nvPr/>
        </p:nvSpPr>
        <p:spPr>
          <a:xfrm>
            <a:off x="185167" y="2635779"/>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Treatment</a:t>
            </a:r>
          </a:p>
        </p:txBody>
      </p:sp>
      <p:cxnSp>
        <p:nvCxnSpPr>
          <p:cNvPr id="9" name="Connector: Elbow 12">
            <a:extLst>
              <a:ext uri="{FF2B5EF4-FFF2-40B4-BE49-F238E27FC236}">
                <a16:creationId xmlns:a16="http://schemas.microsoft.com/office/drawing/2014/main" id="{A87F55C3-E87E-B77D-1DB4-CD823F0D7B7F}"/>
              </a:ext>
            </a:extLst>
          </p:cNvPr>
          <p:cNvCxnSpPr>
            <a:cxnSpLocks/>
            <a:endCxn id="11" idx="1"/>
          </p:cNvCxnSpPr>
          <p:nvPr/>
        </p:nvCxnSpPr>
        <p:spPr>
          <a:xfrm rot="16200000" flipH="1">
            <a:off x="202132" y="3107414"/>
            <a:ext cx="366559" cy="28397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0" name="Connector: Elbow 30">
            <a:extLst>
              <a:ext uri="{FF2B5EF4-FFF2-40B4-BE49-F238E27FC236}">
                <a16:creationId xmlns:a16="http://schemas.microsoft.com/office/drawing/2014/main" id="{3333F26F-255B-44F1-1A14-A61270496617}"/>
              </a:ext>
            </a:extLst>
          </p:cNvPr>
          <p:cNvCxnSpPr>
            <a:cxnSpLocks/>
          </p:cNvCxnSpPr>
          <p:nvPr/>
        </p:nvCxnSpPr>
        <p:spPr>
          <a:xfrm rot="16200000" flipH="1">
            <a:off x="-127824" y="3418066"/>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11" name="Obj 1">
            <a:hlinkClick r:id="rId8" action="ppaction://hlinksldjump"/>
            <a:extLst>
              <a:ext uri="{FF2B5EF4-FFF2-40B4-BE49-F238E27FC236}">
                <a16:creationId xmlns:a16="http://schemas.microsoft.com/office/drawing/2014/main" id="{8F908BB9-AD6A-44BA-8712-0335F0AB166B}"/>
              </a:ext>
            </a:extLst>
          </p:cNvPr>
          <p:cNvSpPr/>
          <p:nvPr/>
        </p:nvSpPr>
        <p:spPr>
          <a:xfrm>
            <a:off x="527400" y="3226943"/>
            <a:ext cx="1212247"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Natural </a:t>
            </a:r>
            <a:r>
              <a:rPr lang="en-US" dirty="0" err="1">
                <a:solidFill>
                  <a:schemeClr val="bg1"/>
                </a:solidFill>
              </a:rPr>
              <a:t>Hx</a:t>
            </a:r>
            <a:endParaRPr lang="en-US" dirty="0">
              <a:solidFill>
                <a:schemeClr val="bg1"/>
              </a:solidFill>
            </a:endParaRPr>
          </a:p>
        </p:txBody>
      </p:sp>
      <p:sp>
        <p:nvSpPr>
          <p:cNvPr id="14" name="Obj 1">
            <a:hlinkClick r:id="rId9" action="ppaction://hlinksldjump"/>
            <a:extLst>
              <a:ext uri="{FF2B5EF4-FFF2-40B4-BE49-F238E27FC236}">
                <a16:creationId xmlns:a16="http://schemas.microsoft.com/office/drawing/2014/main" id="{DEA9E1F6-76A8-BE0F-8F5F-194F887019EE}"/>
              </a:ext>
            </a:extLst>
          </p:cNvPr>
          <p:cNvSpPr/>
          <p:nvPr/>
        </p:nvSpPr>
        <p:spPr>
          <a:xfrm>
            <a:off x="527400" y="3831755"/>
            <a:ext cx="1212247"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Med Tox</a:t>
            </a:r>
          </a:p>
        </p:txBody>
      </p:sp>
      <p:pic>
        <p:nvPicPr>
          <p:cNvPr id="15" name="Graphic 14" descr="Cursor with solid fill">
            <a:extLst>
              <a:ext uri="{FF2B5EF4-FFF2-40B4-BE49-F238E27FC236}">
                <a16:creationId xmlns:a16="http://schemas.microsoft.com/office/drawing/2014/main" id="{B8A81EAB-DCA7-A001-1546-0CAF5DFD72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4116008"/>
            <a:ext cx="301752" cy="301752"/>
          </a:xfrm>
          <a:prstGeom prst="rect">
            <a:avLst/>
          </a:prstGeom>
        </p:spPr>
      </p:pic>
      <p:sp>
        <p:nvSpPr>
          <p:cNvPr id="16" name="Obj 1">
            <a:hlinkClick r:id="rId10" action="ppaction://hlinksldjump"/>
            <a:extLst>
              <a:ext uri="{FF2B5EF4-FFF2-40B4-BE49-F238E27FC236}">
                <a16:creationId xmlns:a16="http://schemas.microsoft.com/office/drawing/2014/main" id="{602887CE-B8F3-5ACF-0678-9351B51D7F7E}"/>
              </a:ext>
            </a:extLst>
          </p:cNvPr>
          <p:cNvSpPr/>
          <p:nvPr/>
        </p:nvSpPr>
        <p:spPr>
          <a:xfrm>
            <a:off x="185167" y="82134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8" name="Graphic 17" descr="Cursor with solid fill">
            <a:extLst>
              <a:ext uri="{FF2B5EF4-FFF2-40B4-BE49-F238E27FC236}">
                <a16:creationId xmlns:a16="http://schemas.microsoft.com/office/drawing/2014/main" id="{C8E3DC7B-A797-F19B-E497-D3CFC384DF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1094318"/>
            <a:ext cx="301752" cy="301752"/>
          </a:xfrm>
          <a:prstGeom prst="rect">
            <a:avLst/>
          </a:prstGeom>
        </p:spPr>
      </p:pic>
      <p:sp>
        <p:nvSpPr>
          <p:cNvPr id="19" name="Obj 1">
            <a:hlinkClick r:id="rId11" action="ppaction://hlinksldjump"/>
            <a:extLst>
              <a:ext uri="{FF2B5EF4-FFF2-40B4-BE49-F238E27FC236}">
                <a16:creationId xmlns:a16="http://schemas.microsoft.com/office/drawing/2014/main" id="{BCA7C809-477E-97F7-24F6-A6A2318B22E2}"/>
              </a:ext>
            </a:extLst>
          </p:cNvPr>
          <p:cNvSpPr/>
          <p:nvPr/>
        </p:nvSpPr>
        <p:spPr>
          <a:xfrm>
            <a:off x="527399" y="4436568"/>
            <a:ext cx="1212248"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Comp</a:t>
            </a:r>
          </a:p>
        </p:txBody>
      </p:sp>
      <p:cxnSp>
        <p:nvCxnSpPr>
          <p:cNvPr id="20" name="Connector: Elbow 30">
            <a:extLst>
              <a:ext uri="{FF2B5EF4-FFF2-40B4-BE49-F238E27FC236}">
                <a16:creationId xmlns:a16="http://schemas.microsoft.com/office/drawing/2014/main" id="{BE347AEE-F7A2-BE52-6635-3B87E9D9FE77}"/>
              </a:ext>
            </a:extLst>
          </p:cNvPr>
          <p:cNvCxnSpPr>
            <a:cxnSpLocks/>
            <a:endCxn id="19" idx="1"/>
          </p:cNvCxnSpPr>
          <p:nvPr/>
        </p:nvCxnSpPr>
        <p:spPr>
          <a:xfrm rot="16200000" flipH="1">
            <a:off x="-119358" y="3995551"/>
            <a:ext cx="1012092" cy="28142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21" name="Graphic 20" descr="Cursor with solid fill">
            <a:extLst>
              <a:ext uri="{FF2B5EF4-FFF2-40B4-BE49-F238E27FC236}">
                <a16:creationId xmlns:a16="http://schemas.microsoft.com/office/drawing/2014/main" id="{558789FF-8A4F-7249-5662-7052348E09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4729178"/>
            <a:ext cx="301752" cy="301752"/>
          </a:xfrm>
          <a:prstGeom prst="rect">
            <a:avLst/>
          </a:prstGeom>
        </p:spPr>
      </p:pic>
      <p:sp>
        <p:nvSpPr>
          <p:cNvPr id="22" name="Obj 1">
            <a:hlinkClick r:id="rId12" action="ppaction://hlinksldjump"/>
            <a:extLst>
              <a:ext uri="{FF2B5EF4-FFF2-40B4-BE49-F238E27FC236}">
                <a16:creationId xmlns:a16="http://schemas.microsoft.com/office/drawing/2014/main" id="{D9D90424-935B-5717-C9BE-6B7A5D92418D}"/>
              </a:ext>
            </a:extLst>
          </p:cNvPr>
          <p:cNvSpPr/>
          <p:nvPr/>
        </p:nvSpPr>
        <p:spPr>
          <a:xfrm>
            <a:off x="185167" y="504918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23" name="Graphic 22" descr="Cursor with solid fill">
            <a:extLst>
              <a:ext uri="{FF2B5EF4-FFF2-40B4-BE49-F238E27FC236}">
                <a16:creationId xmlns:a16="http://schemas.microsoft.com/office/drawing/2014/main" id="{3A56E0B3-6E28-6B1C-E3B3-B9EBA6F1D6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5337738"/>
            <a:ext cx="301752" cy="301752"/>
          </a:xfrm>
          <a:prstGeom prst="rect">
            <a:avLst/>
          </a:prstGeom>
        </p:spPr>
      </p:pic>
    </p:spTree>
    <p:extLst>
      <p:ext uri="{BB962C8B-B14F-4D97-AF65-F5344CB8AC3E}">
        <p14:creationId xmlns:p14="http://schemas.microsoft.com/office/powerpoint/2010/main" val="26571154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6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60"/>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0"/>
                  </p:tgtEl>
                </p:cond>
              </p:nextCondLst>
            </p:seq>
            <p:seq concurrent="1" nextAc="seek">
              <p:cTn id="23" restart="whenNotActive" fill="hold" evtFilter="cancelBubble" nodeType="interactiveSeq">
                <p:stCondLst>
                  <p:cond evt="onClick" delay="0">
                    <p:tgtEl>
                      <p:spTgt spid="69"/>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1" nodeType="withEffect">
                                  <p:stCondLst>
                                    <p:cond delay="0"/>
                                  </p:stCondLst>
                                  <p:childTnLst>
                                    <p:set>
                                      <p:cBhvr>
                                        <p:cTn id="27" dur="1" fill="hold">
                                          <p:stCondLst>
                                            <p:cond delay="0"/>
                                          </p:stCondLst>
                                        </p:cTn>
                                        <p:tgtEl>
                                          <p:spTgt spid="6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xit" presetSubtype="0" fill="hold" grpId="1" nodeType="withEffect">
                                  <p:stCondLst>
                                    <p:cond delay="0"/>
                                  </p:stCondLst>
                                  <p:childTnLst>
                                    <p:set>
                                      <p:cBhvr>
                                        <p:cTn id="33" dur="1" fill="hold">
                                          <p:stCondLst>
                                            <p:cond delay="0"/>
                                          </p:stCondLst>
                                        </p:cTn>
                                        <p:tgtEl>
                                          <p:spTgt spid="69"/>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71"/>
                                        </p:tgtEl>
                                        <p:attrNameLst>
                                          <p:attrName>style.visibility</p:attrName>
                                        </p:attrNameLst>
                                      </p:cBhvr>
                                      <p:to>
                                        <p:strVal val="hidden"/>
                                      </p:to>
                                    </p:set>
                                  </p:childTnLst>
                                </p:cTn>
                              </p:par>
                            </p:childTnLst>
                          </p:cTn>
                        </p:par>
                      </p:childTnLst>
                    </p:cTn>
                  </p:par>
                </p:childTnLst>
              </p:cTn>
              <p:nextCondLst>
                <p:cond evt="onClick" delay="0">
                  <p:tgtEl>
                    <p:spTgt spid="69"/>
                  </p:tgtEl>
                </p:cond>
              </p:nextCondLst>
            </p:seq>
            <p:seq concurrent="1" nextAc="seek">
              <p:cTn id="36" restart="whenNotActive" fill="hold" evtFilter="cancelBubble" nodeType="interactiveSeq">
                <p:stCondLst>
                  <p:cond evt="onClick" delay="0">
                    <p:tgtEl>
                      <p:spTgt spid="64"/>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6"/>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64"/>
                                        </p:tgtEl>
                                        <p:attrNameLst>
                                          <p:attrName>style.visibility</p:attrName>
                                        </p:attrNameLst>
                                      </p:cBhvr>
                                      <p:to>
                                        <p:strVal val="hidden"/>
                                      </p:to>
                                    </p:set>
                                  </p:childTnLst>
                                </p:cTn>
                              </p:par>
                              <p:par>
                                <p:cTn id="47" presetID="1" presetClass="exit" presetSubtype="0" fill="hold" grpId="2" nodeType="withEffect">
                                  <p:stCondLst>
                                    <p:cond delay="0"/>
                                  </p:stCondLst>
                                  <p:childTnLst>
                                    <p:set>
                                      <p:cBhvr>
                                        <p:cTn id="48" dur="1" fill="hold">
                                          <p:stCondLst>
                                            <p:cond delay="0"/>
                                          </p:stCondLst>
                                        </p:cTn>
                                        <p:tgtEl>
                                          <p:spTgt spid="68"/>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77"/>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66"/>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childTnLst>
                          </p:cTn>
                        </p:par>
                      </p:childTnLst>
                    </p:cTn>
                  </p:par>
                </p:childTnLst>
              </p:cTn>
              <p:nextCondLst>
                <p:cond evt="onClick" delay="0">
                  <p:tgtEl>
                    <p:spTgt spid="64"/>
                  </p:tgtEl>
                </p:cond>
              </p:nextCondLst>
            </p:seq>
            <p:seq concurrent="1" nextAc="seek">
              <p:cTn id="57" restart="whenNotActive" fill="hold" evtFilter="cancelBubble" nodeType="interactiveSeq">
                <p:stCondLst>
                  <p:cond evt="onClick" delay="0">
                    <p:tgtEl>
                      <p:spTgt spid="72"/>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withEffect">
                                  <p:stCondLst>
                                    <p:cond delay="0"/>
                                  </p:stCondLst>
                                  <p:childTnLst>
                                    <p:set>
                                      <p:cBhvr>
                                        <p:cTn id="61" dur="1" fill="hold">
                                          <p:stCondLst>
                                            <p:cond delay="0"/>
                                          </p:stCondLst>
                                        </p:cTn>
                                        <p:tgtEl>
                                          <p:spTgt spid="72"/>
                                        </p:tgtEl>
                                        <p:attrNameLst>
                                          <p:attrName>style.visibility</p:attrName>
                                        </p:attrNameLst>
                                      </p:cBhvr>
                                      <p:to>
                                        <p:strVal val="hidden"/>
                                      </p:to>
                                    </p:set>
                                  </p:childTnLst>
                                </p:cTn>
                              </p:par>
                              <p:par>
                                <p:cTn id="62" presetID="1" presetClass="entr" presetSubtype="0" fill="hold" grpId="0"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par>
                                <p:cTn id="64" presetID="1" presetClass="exit" presetSubtype="0" fill="hold" grpId="1" nodeType="withEffect">
                                  <p:stCondLst>
                                    <p:cond delay="0"/>
                                  </p:stCondLst>
                                  <p:childTnLst>
                                    <p:set>
                                      <p:cBhvr>
                                        <p:cTn id="65" dur="1" fill="hold">
                                          <p:stCondLst>
                                            <p:cond delay="0"/>
                                          </p:stCondLst>
                                        </p:cTn>
                                        <p:tgtEl>
                                          <p:spTgt spid="76"/>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75"/>
                                        </p:tgtEl>
                                        <p:attrNameLst>
                                          <p:attrName>style.visibility</p:attrName>
                                        </p:attrNameLst>
                                      </p:cBhvr>
                                      <p:to>
                                        <p:strVal val="visible"/>
                                      </p:to>
                                    </p:set>
                                  </p:childTnLst>
                                </p:cTn>
                              </p:par>
                              <p:par>
                                <p:cTn id="68" presetID="1" presetClass="entr" presetSubtype="0" fill="hold" grpId="1" nodeType="withEffect">
                                  <p:stCondLst>
                                    <p:cond delay="0"/>
                                  </p:stCondLst>
                                  <p:childTnLst>
                                    <p:set>
                                      <p:cBhvr>
                                        <p:cTn id="69" dur="1" fill="hold">
                                          <p:stCondLst>
                                            <p:cond delay="0"/>
                                          </p:stCondLst>
                                        </p:cTn>
                                        <p:tgtEl>
                                          <p:spTgt spid="73"/>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74"/>
                                        </p:tgtEl>
                                        <p:attrNameLst>
                                          <p:attrName>style.visibility</p:attrName>
                                        </p:attrNameLst>
                                      </p:cBhvr>
                                      <p:to>
                                        <p:strVal val="hidden"/>
                                      </p:to>
                                    </p:set>
                                  </p:childTnLst>
                                </p:cTn>
                              </p:par>
                              <p:par>
                                <p:cTn id="72" presetID="1" presetClass="entr" presetSubtype="0" fill="hold" nodeType="withEffect">
                                  <p:stCondLst>
                                    <p:cond delay="0"/>
                                  </p:stCondLst>
                                  <p:childTnLst>
                                    <p:set>
                                      <p:cBhvr>
                                        <p:cTn id="73" dur="1" fill="hold">
                                          <p:stCondLst>
                                            <p:cond delay="0"/>
                                          </p:stCondLst>
                                        </p:cTn>
                                        <p:tgtEl>
                                          <p:spTgt spid="80"/>
                                        </p:tgtEl>
                                        <p:attrNameLst>
                                          <p:attrName>style.visibility</p:attrName>
                                        </p:attrNameLst>
                                      </p:cBhvr>
                                      <p:to>
                                        <p:strVal val="visible"/>
                                      </p:to>
                                    </p:set>
                                  </p:childTnLst>
                                </p:cTn>
                              </p:par>
                              <p:par>
                                <p:cTn id="74" presetID="1" presetClass="entr" presetSubtype="0" fill="hold" grpId="1" nodeType="withEffect">
                                  <p:stCondLst>
                                    <p:cond delay="0"/>
                                  </p:stCondLst>
                                  <p:childTnLst>
                                    <p:set>
                                      <p:cBhvr>
                                        <p:cTn id="75" dur="1" fill="hold">
                                          <p:stCondLst>
                                            <p:cond delay="0"/>
                                          </p:stCondLst>
                                        </p:cTn>
                                        <p:tgtEl>
                                          <p:spTgt spid="78"/>
                                        </p:tgtEl>
                                        <p:attrNameLst>
                                          <p:attrName>style.visibility</p:attrName>
                                        </p:attrNameLst>
                                      </p:cBhvr>
                                      <p:to>
                                        <p:strVal val="visible"/>
                                      </p:to>
                                    </p:set>
                                  </p:childTnLst>
                                </p:cTn>
                              </p:par>
                            </p:childTnLst>
                          </p:cTn>
                        </p:par>
                      </p:childTnLst>
                    </p:cTn>
                  </p:par>
                </p:childTnLst>
              </p:cTn>
              <p:nextCondLst>
                <p:cond evt="onClick" delay="0">
                  <p:tgtEl>
                    <p:spTgt spid="72"/>
                  </p:tgtEl>
                </p:cond>
              </p:nextCondLst>
            </p:seq>
            <p:seq concurrent="1" nextAc="seek">
              <p:cTn id="76" restart="whenNotActive" fill="hold" evtFilter="cancelBubble" nodeType="interactiveSeq">
                <p:stCondLst>
                  <p:cond evt="onClick" delay="0">
                    <p:tgtEl>
                      <p:spTgt spid="78"/>
                    </p:tgtEl>
                  </p:cond>
                </p:stCondLst>
                <p:endSync evt="end" delay="0">
                  <p:rtn val="all"/>
                </p:endSync>
                <p:childTnLst>
                  <p:par>
                    <p:cTn id="77" fill="hold">
                      <p:stCondLst>
                        <p:cond delay="0"/>
                      </p:stCondLst>
                      <p:childTnLst>
                        <p:par>
                          <p:cTn id="78" fill="hold">
                            <p:stCondLst>
                              <p:cond delay="0"/>
                            </p:stCondLst>
                            <p:childTnLst>
                              <p:par>
                                <p:cTn id="79" presetID="1" presetClass="exit"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79"/>
                                        </p:tgtEl>
                                        <p:attrNameLst>
                                          <p:attrName>style.visibility</p:attrName>
                                        </p:attrNameLst>
                                      </p:cBhvr>
                                      <p:to>
                                        <p:strVal val="visible"/>
                                      </p:to>
                                    </p:set>
                                  </p:childTnLst>
                                </p:cTn>
                              </p:par>
                              <p:par>
                                <p:cTn id="83" presetID="1" presetClass="exit" presetSubtype="0" fill="hold" grpId="1" nodeType="withEffect">
                                  <p:stCondLst>
                                    <p:cond delay="0"/>
                                  </p:stCondLst>
                                  <p:childTnLst>
                                    <p:set>
                                      <p:cBhvr>
                                        <p:cTn id="84" dur="1" fill="hold">
                                          <p:stCondLst>
                                            <p:cond delay="0"/>
                                          </p:stCondLst>
                                        </p:cTn>
                                        <p:tgtEl>
                                          <p:spTgt spid="75"/>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par>
                                <p:cTn id="87" presetID="1" presetClass="entr" presetSubtype="0" fill="hold" grpId="1" nodeType="withEffect">
                                  <p:stCondLst>
                                    <p:cond delay="0"/>
                                  </p:stCondLst>
                                  <p:childTnLst>
                                    <p:set>
                                      <p:cBhvr>
                                        <p:cTn id="88" dur="1" fill="hold">
                                          <p:stCondLst>
                                            <p:cond delay="0"/>
                                          </p:stCondLst>
                                        </p:cTn>
                                        <p:tgtEl>
                                          <p:spTgt spid="79"/>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80"/>
                                        </p:tgtEl>
                                        <p:attrNameLst>
                                          <p:attrName>style.visibility</p:attrName>
                                        </p:attrNameLst>
                                      </p:cBhvr>
                                      <p:to>
                                        <p:strVal val="hidden"/>
                                      </p:to>
                                    </p:set>
                                  </p:childTnLst>
                                </p:cTn>
                              </p:par>
                            </p:childTnLst>
                          </p:cTn>
                        </p:par>
                      </p:childTnLst>
                    </p:cTn>
                  </p:par>
                </p:childTnLst>
              </p:cTn>
              <p:nextCondLst>
                <p:cond evt="onClick" delay="0">
                  <p:tgtEl>
                    <p:spTgt spid="78"/>
                  </p:tgtEl>
                </p:cond>
              </p:nextCondLst>
            </p:seq>
          </p:childTnLst>
        </p:cTn>
      </p:par>
    </p:tnLst>
    <p:bldLst>
      <p:bldP spid="79" grpId="0" animBg="1"/>
      <p:bldP spid="79" grpId="1" animBg="1"/>
      <p:bldP spid="73" grpId="0" animBg="1"/>
      <p:bldP spid="73" grpId="1" animBg="1"/>
      <p:bldP spid="64" grpId="0" animBg="1"/>
      <p:bldP spid="64" grpId="1" animBg="1"/>
      <p:bldP spid="70" grpId="0" animBg="1"/>
      <p:bldP spid="59" grpId="0" animBg="1"/>
      <p:bldP spid="60" grpId="0" animBg="1"/>
      <p:bldP spid="61" grpId="0" animBg="1"/>
      <p:bldP spid="68" grpId="1" animBg="1"/>
      <p:bldP spid="68" grpId="2" animBg="1"/>
      <p:bldP spid="72" grpId="0" animBg="1"/>
      <p:bldP spid="72" grpId="1" animBg="1"/>
      <p:bldP spid="75" grpId="0" animBg="1"/>
      <p:bldP spid="75" grpId="1" animBg="1"/>
      <p:bldP spid="76" grpId="0" animBg="1"/>
      <p:bldP spid="76" grpId="1" animBg="1"/>
      <p:bldP spid="77" grpId="0" animBg="1"/>
      <p:bldP spid="77" grpId="1" animBg="1"/>
      <p:bldP spid="78" grpId="0" animBg="1"/>
      <p:bldP spid="78" grpId="1" animBg="1"/>
      <p:bldP spid="69" grpId="0" animBg="1"/>
      <p:bldP spid="69" grpId="1" animBg="1"/>
      <p:bldP spid="6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Rectangle 306">
            <a:extLst>
              <a:ext uri="{FF2B5EF4-FFF2-40B4-BE49-F238E27FC236}">
                <a16:creationId xmlns:a16="http://schemas.microsoft.com/office/drawing/2014/main" id="{3E2B3DA3-C59A-410C-BE40-B396C5C513C8}"/>
              </a:ext>
            </a:extLst>
          </p:cNvPr>
          <p:cNvSpPr/>
          <p:nvPr/>
        </p:nvSpPr>
        <p:spPr>
          <a:xfrm>
            <a:off x="9986171" y="2174702"/>
            <a:ext cx="1799891" cy="4399898"/>
          </a:xfrm>
          <a:prstGeom prst="rect">
            <a:avLst/>
          </a:prstGeom>
          <a:solidFill>
            <a:srgbClr val="CC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7" name="Rectangle 296">
            <a:extLst>
              <a:ext uri="{FF2B5EF4-FFF2-40B4-BE49-F238E27FC236}">
                <a16:creationId xmlns:a16="http://schemas.microsoft.com/office/drawing/2014/main" id="{80604AE1-AC3E-4254-B784-5C21FEFC2AB1}"/>
              </a:ext>
            </a:extLst>
          </p:cNvPr>
          <p:cNvSpPr/>
          <p:nvPr/>
        </p:nvSpPr>
        <p:spPr>
          <a:xfrm>
            <a:off x="8242092" y="2175150"/>
            <a:ext cx="1719326" cy="439989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6" name="Rectangle 295">
            <a:extLst>
              <a:ext uri="{FF2B5EF4-FFF2-40B4-BE49-F238E27FC236}">
                <a16:creationId xmlns:a16="http://schemas.microsoft.com/office/drawing/2014/main" id="{A316B093-CF10-4A76-B7A0-B4F1D4AE9EC3}"/>
              </a:ext>
            </a:extLst>
          </p:cNvPr>
          <p:cNvSpPr/>
          <p:nvPr/>
        </p:nvSpPr>
        <p:spPr>
          <a:xfrm>
            <a:off x="6084227" y="2176990"/>
            <a:ext cx="2114299" cy="439989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5" name="Rectangle 294">
            <a:extLst>
              <a:ext uri="{FF2B5EF4-FFF2-40B4-BE49-F238E27FC236}">
                <a16:creationId xmlns:a16="http://schemas.microsoft.com/office/drawing/2014/main" id="{3651FACB-2846-49E9-9B6D-6BA27F8E2DEE}"/>
              </a:ext>
            </a:extLst>
          </p:cNvPr>
          <p:cNvSpPr/>
          <p:nvPr/>
        </p:nvSpPr>
        <p:spPr>
          <a:xfrm>
            <a:off x="4075960" y="2175150"/>
            <a:ext cx="1985614" cy="439989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AFB72A1-C019-4ADE-A4C3-117AF97FE617}"/>
              </a:ext>
            </a:extLst>
          </p:cNvPr>
          <p:cNvSpPr txBox="1"/>
          <p:nvPr/>
        </p:nvSpPr>
        <p:spPr>
          <a:xfrm>
            <a:off x="3557916" y="63753"/>
            <a:ext cx="6009817" cy="553998"/>
          </a:xfrm>
          <a:prstGeom prst="rect">
            <a:avLst/>
          </a:prstGeom>
          <a:noFill/>
        </p:spPr>
        <p:txBody>
          <a:bodyPr wrap="square" rtlCol="0">
            <a:spAutoFit/>
          </a:bodyPr>
          <a:lstStyle/>
          <a:p>
            <a:pPr algn="ctr"/>
            <a:r>
              <a:rPr lang="en-US" sz="3000" b="1" dirty="0"/>
              <a:t>Complications of Therapies</a:t>
            </a:r>
          </a:p>
        </p:txBody>
      </p:sp>
      <p:sp>
        <p:nvSpPr>
          <p:cNvPr id="153" name="TextBox 152">
            <a:extLst>
              <a:ext uri="{FF2B5EF4-FFF2-40B4-BE49-F238E27FC236}">
                <a16:creationId xmlns:a16="http://schemas.microsoft.com/office/drawing/2014/main" id="{4457F6F5-CD67-4015-B5DE-1165E4133930}"/>
              </a:ext>
            </a:extLst>
          </p:cNvPr>
          <p:cNvSpPr txBox="1"/>
          <p:nvPr/>
        </p:nvSpPr>
        <p:spPr>
          <a:xfrm>
            <a:off x="2299883" y="3350602"/>
            <a:ext cx="1776077" cy="369332"/>
          </a:xfrm>
          <a:prstGeom prst="rect">
            <a:avLst/>
          </a:prstGeom>
          <a:noFill/>
        </p:spPr>
        <p:txBody>
          <a:bodyPr wrap="square" rtlCol="0">
            <a:spAutoFit/>
          </a:bodyPr>
          <a:lstStyle/>
          <a:p>
            <a:pPr algn="ctr"/>
            <a:r>
              <a:rPr lang="en-US" b="1" dirty="0"/>
              <a:t>GI irritation</a:t>
            </a:r>
            <a:endParaRPr lang="en-US" sz="1100" b="1" dirty="0"/>
          </a:p>
        </p:txBody>
      </p:sp>
      <p:sp>
        <p:nvSpPr>
          <p:cNvPr id="154" name="TextBox 153">
            <a:extLst>
              <a:ext uri="{FF2B5EF4-FFF2-40B4-BE49-F238E27FC236}">
                <a16:creationId xmlns:a16="http://schemas.microsoft.com/office/drawing/2014/main" id="{17EAE659-4121-4451-83F8-3F601F3F47CF}"/>
              </a:ext>
            </a:extLst>
          </p:cNvPr>
          <p:cNvSpPr txBox="1"/>
          <p:nvPr/>
        </p:nvSpPr>
        <p:spPr>
          <a:xfrm>
            <a:off x="2214238" y="5342096"/>
            <a:ext cx="1947366" cy="646331"/>
          </a:xfrm>
          <a:prstGeom prst="rect">
            <a:avLst/>
          </a:prstGeom>
          <a:noFill/>
        </p:spPr>
        <p:txBody>
          <a:bodyPr wrap="square" rtlCol="0">
            <a:spAutoFit/>
          </a:bodyPr>
          <a:lstStyle/>
          <a:p>
            <a:pPr algn="ctr"/>
            <a:r>
              <a:rPr lang="en-US" b="1" dirty="0"/>
              <a:t>Other</a:t>
            </a:r>
          </a:p>
          <a:p>
            <a:pPr algn="ctr"/>
            <a:r>
              <a:rPr lang="en-US" b="1" dirty="0"/>
              <a:t>Side Effects</a:t>
            </a:r>
          </a:p>
        </p:txBody>
      </p:sp>
      <p:sp>
        <p:nvSpPr>
          <p:cNvPr id="155" name="TextBox 154">
            <a:extLst>
              <a:ext uri="{FF2B5EF4-FFF2-40B4-BE49-F238E27FC236}">
                <a16:creationId xmlns:a16="http://schemas.microsoft.com/office/drawing/2014/main" id="{F90327B2-F22C-47D7-A691-834E95D67621}"/>
              </a:ext>
            </a:extLst>
          </p:cNvPr>
          <p:cNvSpPr txBox="1"/>
          <p:nvPr/>
        </p:nvSpPr>
        <p:spPr>
          <a:xfrm>
            <a:off x="2226527" y="2297736"/>
            <a:ext cx="1947365" cy="646331"/>
          </a:xfrm>
          <a:prstGeom prst="rect">
            <a:avLst/>
          </a:prstGeom>
          <a:noFill/>
        </p:spPr>
        <p:txBody>
          <a:bodyPr wrap="square" rtlCol="0">
            <a:spAutoFit/>
          </a:bodyPr>
          <a:lstStyle/>
          <a:p>
            <a:pPr algn="ctr"/>
            <a:r>
              <a:rPr lang="en-US" b="1" dirty="0" err="1"/>
              <a:t>Myelo</a:t>
            </a:r>
            <a:r>
              <a:rPr lang="en-US" b="1" dirty="0"/>
              <a:t>-suppression</a:t>
            </a:r>
          </a:p>
        </p:txBody>
      </p:sp>
      <p:sp>
        <p:nvSpPr>
          <p:cNvPr id="156" name="TextBox 155">
            <a:extLst>
              <a:ext uri="{FF2B5EF4-FFF2-40B4-BE49-F238E27FC236}">
                <a16:creationId xmlns:a16="http://schemas.microsoft.com/office/drawing/2014/main" id="{B98EE7EF-51D4-4241-815B-6AB32B9361CF}"/>
              </a:ext>
            </a:extLst>
          </p:cNvPr>
          <p:cNvSpPr txBox="1"/>
          <p:nvPr/>
        </p:nvSpPr>
        <p:spPr>
          <a:xfrm>
            <a:off x="2262773" y="4147144"/>
            <a:ext cx="1850297" cy="369332"/>
          </a:xfrm>
          <a:prstGeom prst="rect">
            <a:avLst/>
          </a:prstGeom>
          <a:noFill/>
        </p:spPr>
        <p:txBody>
          <a:bodyPr wrap="square" rtlCol="0">
            <a:spAutoFit/>
          </a:bodyPr>
          <a:lstStyle/>
          <a:p>
            <a:pPr algn="ctr"/>
            <a:r>
              <a:rPr lang="en-US" b="1" dirty="0"/>
              <a:t>Infections</a:t>
            </a:r>
          </a:p>
        </p:txBody>
      </p:sp>
      <p:grpSp>
        <p:nvGrpSpPr>
          <p:cNvPr id="284" name="Group 283">
            <a:extLst>
              <a:ext uri="{FF2B5EF4-FFF2-40B4-BE49-F238E27FC236}">
                <a16:creationId xmlns:a16="http://schemas.microsoft.com/office/drawing/2014/main" id="{C41ECF46-9F97-4D34-A2B6-4DEA4B751AD8}"/>
              </a:ext>
            </a:extLst>
          </p:cNvPr>
          <p:cNvGrpSpPr/>
          <p:nvPr/>
        </p:nvGrpSpPr>
        <p:grpSpPr>
          <a:xfrm>
            <a:off x="2322168" y="2166216"/>
            <a:ext cx="9478217" cy="4473048"/>
            <a:chOff x="2391815" y="2173811"/>
            <a:chExt cx="9372600" cy="4473048"/>
          </a:xfrm>
        </p:grpSpPr>
        <p:cxnSp>
          <p:nvCxnSpPr>
            <p:cNvPr id="148" name="Straight Connector 147">
              <a:extLst>
                <a:ext uri="{FF2B5EF4-FFF2-40B4-BE49-F238E27FC236}">
                  <a16:creationId xmlns:a16="http://schemas.microsoft.com/office/drawing/2014/main" id="{7B822EA9-B62A-4C0D-A52E-1756CA6653ED}"/>
                </a:ext>
              </a:extLst>
            </p:cNvPr>
            <p:cNvCxnSpPr>
              <a:cxnSpLocks/>
            </p:cNvCxnSpPr>
            <p:nvPr/>
          </p:nvCxnSpPr>
          <p:spPr>
            <a:xfrm>
              <a:off x="4112934" y="2173811"/>
              <a:ext cx="0" cy="44294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EF249CB8-8D06-437B-AD30-625FF45EB79D}"/>
                </a:ext>
              </a:extLst>
            </p:cNvPr>
            <p:cNvCxnSpPr>
              <a:cxnSpLocks/>
            </p:cNvCxnSpPr>
            <p:nvPr/>
          </p:nvCxnSpPr>
          <p:spPr>
            <a:xfrm>
              <a:off x="6090311" y="2173811"/>
              <a:ext cx="0" cy="4473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4D6856F3-435B-4449-BA9B-C5918F903FFC}"/>
                </a:ext>
              </a:extLst>
            </p:cNvPr>
            <p:cNvCxnSpPr>
              <a:cxnSpLocks/>
            </p:cNvCxnSpPr>
            <p:nvPr/>
          </p:nvCxnSpPr>
          <p:spPr>
            <a:xfrm>
              <a:off x="8212968" y="2173811"/>
              <a:ext cx="0" cy="442144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A3EE03E1-7C0C-4FB7-A240-A90146015DD2}"/>
                </a:ext>
              </a:extLst>
            </p:cNvPr>
            <p:cNvCxnSpPr>
              <a:cxnSpLocks/>
            </p:cNvCxnSpPr>
            <p:nvPr/>
          </p:nvCxnSpPr>
          <p:spPr>
            <a:xfrm>
              <a:off x="9965768" y="2173811"/>
              <a:ext cx="0" cy="44374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D21A7510-4794-41CC-90A0-B78CA97F05DA}"/>
                </a:ext>
              </a:extLst>
            </p:cNvPr>
            <p:cNvCxnSpPr>
              <a:cxnSpLocks/>
            </p:cNvCxnSpPr>
            <p:nvPr/>
          </p:nvCxnSpPr>
          <p:spPr>
            <a:xfrm>
              <a:off x="2391815" y="3917406"/>
              <a:ext cx="9372600" cy="18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4490A70-5B48-4209-9272-457A387DDCFC}"/>
                </a:ext>
              </a:extLst>
            </p:cNvPr>
            <p:cNvCxnSpPr>
              <a:cxnSpLocks/>
            </p:cNvCxnSpPr>
            <p:nvPr/>
          </p:nvCxnSpPr>
          <p:spPr>
            <a:xfrm>
              <a:off x="2391815" y="4744895"/>
              <a:ext cx="9372600" cy="95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35F186CC-697D-49D5-B183-E8A88BE2AD77}"/>
                </a:ext>
              </a:extLst>
            </p:cNvPr>
            <p:cNvCxnSpPr>
              <a:cxnSpLocks/>
            </p:cNvCxnSpPr>
            <p:nvPr/>
          </p:nvCxnSpPr>
          <p:spPr>
            <a:xfrm flipV="1">
              <a:off x="2391815" y="3079693"/>
              <a:ext cx="9372600" cy="18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08B9DDE-B30C-475A-A868-BEB5780DC360}"/>
                </a:ext>
              </a:extLst>
            </p:cNvPr>
            <p:cNvCxnSpPr>
              <a:cxnSpLocks/>
            </p:cNvCxnSpPr>
            <p:nvPr/>
          </p:nvCxnSpPr>
          <p:spPr>
            <a:xfrm flipV="1">
              <a:off x="2391815" y="2173811"/>
              <a:ext cx="9372600" cy="18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7BDC1A49-C8D8-48BD-AD85-A9DAC4B67FB8}"/>
                </a:ext>
              </a:extLst>
            </p:cNvPr>
            <p:cNvCxnSpPr>
              <a:cxnSpLocks/>
            </p:cNvCxnSpPr>
            <p:nvPr/>
          </p:nvCxnSpPr>
          <p:spPr>
            <a:xfrm>
              <a:off x="11764415" y="2173811"/>
              <a:ext cx="0" cy="44454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1" name="Group 270">
            <a:extLst>
              <a:ext uri="{FF2B5EF4-FFF2-40B4-BE49-F238E27FC236}">
                <a16:creationId xmlns:a16="http://schemas.microsoft.com/office/drawing/2014/main" id="{3FA1136C-4AE2-4AA4-8CE8-EB70A2E9F5D3}"/>
              </a:ext>
            </a:extLst>
          </p:cNvPr>
          <p:cNvGrpSpPr/>
          <p:nvPr/>
        </p:nvGrpSpPr>
        <p:grpSpPr>
          <a:xfrm>
            <a:off x="8305484" y="2321753"/>
            <a:ext cx="1627110" cy="3828945"/>
            <a:chOff x="8305484" y="2000479"/>
            <a:chExt cx="1627110" cy="3828945"/>
          </a:xfrm>
        </p:grpSpPr>
        <p:sp>
          <p:nvSpPr>
            <p:cNvPr id="166" name="TextBox 165">
              <a:extLst>
                <a:ext uri="{FF2B5EF4-FFF2-40B4-BE49-F238E27FC236}">
                  <a16:creationId xmlns:a16="http://schemas.microsoft.com/office/drawing/2014/main" id="{2ADAA34F-C3F8-48C3-B5C5-3E9DC41F96D6}"/>
                </a:ext>
              </a:extLst>
            </p:cNvPr>
            <p:cNvSpPr txBox="1"/>
            <p:nvPr/>
          </p:nvSpPr>
          <p:spPr>
            <a:xfrm>
              <a:off x="8305484" y="4475207"/>
              <a:ext cx="1627110" cy="1354217"/>
            </a:xfrm>
            <a:prstGeom prst="rect">
              <a:avLst/>
            </a:prstGeom>
            <a:noFill/>
          </p:spPr>
          <p:txBody>
            <a:bodyPr wrap="square" rtlCol="0">
              <a:spAutoFit/>
            </a:bodyPr>
            <a:lstStyle/>
            <a:p>
              <a:pPr algn="ctr"/>
              <a:r>
                <a:rPr lang="en-US" b="1" dirty="0"/>
                <a:t>Hyperglycemia</a:t>
              </a:r>
            </a:p>
            <a:p>
              <a:pPr algn="ctr"/>
              <a:endParaRPr lang="en-US" dirty="0"/>
            </a:p>
            <a:p>
              <a:pPr algn="ctr"/>
              <a:r>
                <a:rPr lang="en-US" b="1" dirty="0"/>
                <a:t>Bone loss</a:t>
              </a:r>
            </a:p>
            <a:p>
              <a:pPr algn="ctr"/>
              <a:r>
                <a:rPr lang="en-US" sz="1400" dirty="0"/>
                <a:t>Ca-Vit D or bisphosphonates</a:t>
              </a:r>
            </a:p>
          </p:txBody>
        </p:sp>
        <p:pic>
          <p:nvPicPr>
            <p:cNvPr id="221" name="Graphic 220" descr="Close with solid fill">
              <a:extLst>
                <a:ext uri="{FF2B5EF4-FFF2-40B4-BE49-F238E27FC236}">
                  <a16:creationId xmlns:a16="http://schemas.microsoft.com/office/drawing/2014/main" id="{76DC96B5-EB58-49E8-83C6-9D046F59C4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0535" y="2000479"/>
              <a:ext cx="617009" cy="617009"/>
            </a:xfrm>
            <a:prstGeom prst="rect">
              <a:avLst/>
            </a:prstGeom>
          </p:spPr>
        </p:pic>
        <p:grpSp>
          <p:nvGrpSpPr>
            <p:cNvPr id="252" name="Group 251">
              <a:extLst>
                <a:ext uri="{FF2B5EF4-FFF2-40B4-BE49-F238E27FC236}">
                  <a16:creationId xmlns:a16="http://schemas.microsoft.com/office/drawing/2014/main" id="{5614E4E3-658A-410D-8A96-2A90E192583B}"/>
                </a:ext>
              </a:extLst>
            </p:cNvPr>
            <p:cNvGrpSpPr/>
            <p:nvPr/>
          </p:nvGrpSpPr>
          <p:grpSpPr>
            <a:xfrm>
              <a:off x="8569049" y="2771363"/>
              <a:ext cx="1099981" cy="789023"/>
              <a:chOff x="6834896" y="1922435"/>
              <a:chExt cx="1099981" cy="789023"/>
            </a:xfrm>
          </p:grpSpPr>
          <p:pic>
            <p:nvPicPr>
              <p:cNvPr id="253" name="Graphic 252" descr="Checkmark with solid fill">
                <a:extLst>
                  <a:ext uri="{FF2B5EF4-FFF2-40B4-BE49-F238E27FC236}">
                    <a16:creationId xmlns:a16="http://schemas.microsoft.com/office/drawing/2014/main" id="{95810365-D3BF-4539-8595-4BB6EAF3D6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1883" y="1922435"/>
                <a:ext cx="626439" cy="626439"/>
              </a:xfrm>
              <a:prstGeom prst="rect">
                <a:avLst/>
              </a:prstGeom>
            </p:spPr>
          </p:pic>
          <p:sp>
            <p:nvSpPr>
              <p:cNvPr id="254" name="TextBox 253">
                <a:extLst>
                  <a:ext uri="{FF2B5EF4-FFF2-40B4-BE49-F238E27FC236}">
                    <a16:creationId xmlns:a16="http://schemas.microsoft.com/office/drawing/2014/main" id="{7D531063-7081-46AC-8625-4E98CFC5CAE3}"/>
                  </a:ext>
                </a:extLst>
              </p:cNvPr>
              <p:cNvSpPr txBox="1"/>
              <p:nvPr/>
            </p:nvSpPr>
            <p:spPr>
              <a:xfrm>
                <a:off x="6834896" y="2403681"/>
                <a:ext cx="1099981" cy="307777"/>
              </a:xfrm>
              <a:prstGeom prst="rect">
                <a:avLst/>
              </a:prstGeom>
              <a:noFill/>
            </p:spPr>
            <p:txBody>
              <a:bodyPr wrap="none" rtlCol="0">
                <a:spAutoFit/>
              </a:bodyPr>
              <a:lstStyle/>
              <a:p>
                <a:r>
                  <a:rPr lang="en-US" sz="1400" dirty="0"/>
                  <a:t>Consider PPI</a:t>
                </a:r>
              </a:p>
            </p:txBody>
          </p:sp>
        </p:grpSp>
        <p:grpSp>
          <p:nvGrpSpPr>
            <p:cNvPr id="259" name="Group 258">
              <a:extLst>
                <a:ext uri="{FF2B5EF4-FFF2-40B4-BE49-F238E27FC236}">
                  <a16:creationId xmlns:a16="http://schemas.microsoft.com/office/drawing/2014/main" id="{203279E1-C6FD-4D72-BD88-C5FB1C074951}"/>
                </a:ext>
              </a:extLst>
            </p:cNvPr>
            <p:cNvGrpSpPr/>
            <p:nvPr/>
          </p:nvGrpSpPr>
          <p:grpSpPr>
            <a:xfrm>
              <a:off x="8416667" y="3593579"/>
              <a:ext cx="1404744" cy="805447"/>
              <a:chOff x="4776504" y="1911933"/>
              <a:chExt cx="1404744" cy="805447"/>
            </a:xfrm>
          </p:grpSpPr>
          <p:pic>
            <p:nvPicPr>
              <p:cNvPr id="260" name="Graphic 259" descr="Checkmark with solid fill">
                <a:extLst>
                  <a:ext uri="{FF2B5EF4-FFF2-40B4-BE49-F238E27FC236}">
                    <a16:creationId xmlns:a16="http://schemas.microsoft.com/office/drawing/2014/main" id="{60125EE7-B3DA-495A-8A02-DCA83013AFC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34401" y="1911933"/>
                <a:ext cx="626439" cy="626439"/>
              </a:xfrm>
              <a:prstGeom prst="rect">
                <a:avLst/>
              </a:prstGeom>
            </p:spPr>
          </p:pic>
          <p:sp>
            <p:nvSpPr>
              <p:cNvPr id="261" name="TextBox 260">
                <a:extLst>
                  <a:ext uri="{FF2B5EF4-FFF2-40B4-BE49-F238E27FC236}">
                    <a16:creationId xmlns:a16="http://schemas.microsoft.com/office/drawing/2014/main" id="{8221C668-261B-4F87-959B-0C21AEB6351C}"/>
                  </a:ext>
                </a:extLst>
              </p:cNvPr>
              <p:cNvSpPr txBox="1"/>
              <p:nvPr/>
            </p:nvSpPr>
            <p:spPr>
              <a:xfrm>
                <a:off x="4776504" y="2409603"/>
                <a:ext cx="1404744" cy="307777"/>
              </a:xfrm>
              <a:prstGeom prst="rect">
                <a:avLst/>
              </a:prstGeom>
              <a:noFill/>
            </p:spPr>
            <p:txBody>
              <a:bodyPr wrap="none" rtlCol="0">
                <a:spAutoFit/>
              </a:bodyPr>
              <a:lstStyle/>
              <a:p>
                <a:r>
                  <a:rPr lang="en-US" sz="1400" dirty="0"/>
                  <a:t>Consider PJP </a:t>
                </a:r>
                <a:r>
                  <a:rPr lang="en-US" sz="1400" dirty="0" err="1"/>
                  <a:t>ppx</a:t>
                </a:r>
                <a:endParaRPr lang="en-US" sz="1400" dirty="0"/>
              </a:p>
            </p:txBody>
          </p:sp>
        </p:grpSp>
      </p:grpSp>
      <p:grpSp>
        <p:nvGrpSpPr>
          <p:cNvPr id="269" name="Group 268">
            <a:extLst>
              <a:ext uri="{FF2B5EF4-FFF2-40B4-BE49-F238E27FC236}">
                <a16:creationId xmlns:a16="http://schemas.microsoft.com/office/drawing/2014/main" id="{5AEE4C98-3A21-414A-B009-DE20EADED293}"/>
              </a:ext>
            </a:extLst>
          </p:cNvPr>
          <p:cNvGrpSpPr/>
          <p:nvPr/>
        </p:nvGrpSpPr>
        <p:grpSpPr>
          <a:xfrm>
            <a:off x="4152259" y="2250782"/>
            <a:ext cx="1798647" cy="4054844"/>
            <a:chOff x="4682856" y="1911933"/>
            <a:chExt cx="1798647" cy="4054844"/>
          </a:xfrm>
        </p:grpSpPr>
        <p:grpSp>
          <p:nvGrpSpPr>
            <p:cNvPr id="245" name="Group 244">
              <a:extLst>
                <a:ext uri="{FF2B5EF4-FFF2-40B4-BE49-F238E27FC236}">
                  <a16:creationId xmlns:a16="http://schemas.microsoft.com/office/drawing/2014/main" id="{273C9B9C-666C-4601-825A-80304B40430B}"/>
                </a:ext>
              </a:extLst>
            </p:cNvPr>
            <p:cNvGrpSpPr/>
            <p:nvPr/>
          </p:nvGrpSpPr>
          <p:grpSpPr>
            <a:xfrm>
              <a:off x="4967747" y="1911933"/>
              <a:ext cx="1196161" cy="794100"/>
              <a:chOff x="4849946" y="1911933"/>
              <a:chExt cx="1196161" cy="794100"/>
            </a:xfrm>
          </p:grpSpPr>
          <p:pic>
            <p:nvPicPr>
              <p:cNvPr id="237" name="Graphic 236" descr="Checkmark with solid fill">
                <a:extLst>
                  <a:ext uri="{FF2B5EF4-FFF2-40B4-BE49-F238E27FC236}">
                    <a16:creationId xmlns:a16="http://schemas.microsoft.com/office/drawing/2014/main" id="{19F1613C-595A-40BD-B1B8-E4DBDCBE59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34401" y="1911933"/>
                <a:ext cx="626439" cy="626439"/>
              </a:xfrm>
              <a:prstGeom prst="rect">
                <a:avLst/>
              </a:prstGeom>
            </p:spPr>
          </p:pic>
          <p:sp>
            <p:nvSpPr>
              <p:cNvPr id="241" name="TextBox 240">
                <a:extLst>
                  <a:ext uri="{FF2B5EF4-FFF2-40B4-BE49-F238E27FC236}">
                    <a16:creationId xmlns:a16="http://schemas.microsoft.com/office/drawing/2014/main" id="{A031A0CB-C28C-4EBA-B76F-8CA3417B1CB6}"/>
                  </a:ext>
                </a:extLst>
              </p:cNvPr>
              <p:cNvSpPr txBox="1"/>
              <p:nvPr/>
            </p:nvSpPr>
            <p:spPr>
              <a:xfrm>
                <a:off x="4849946" y="2398256"/>
                <a:ext cx="1196161" cy="307777"/>
              </a:xfrm>
              <a:prstGeom prst="rect">
                <a:avLst/>
              </a:prstGeom>
              <a:noFill/>
            </p:spPr>
            <p:txBody>
              <a:bodyPr wrap="none" rtlCol="0">
                <a:spAutoFit/>
              </a:bodyPr>
              <a:lstStyle/>
              <a:p>
                <a:r>
                  <a:rPr lang="en-US" sz="1400" dirty="0"/>
                  <a:t>↓ PMNs/ </a:t>
                </a:r>
                <a:r>
                  <a:rPr lang="en-US" sz="1400" dirty="0" err="1"/>
                  <a:t>plts</a:t>
                </a:r>
                <a:endParaRPr lang="en-US" sz="1400" dirty="0"/>
              </a:p>
            </p:txBody>
          </p:sp>
        </p:grpSp>
        <p:pic>
          <p:nvPicPr>
            <p:cNvPr id="248" name="Graphic 247" descr="Checkmark with solid fill">
              <a:extLst>
                <a:ext uri="{FF2B5EF4-FFF2-40B4-BE49-F238E27FC236}">
                  <a16:creationId xmlns:a16="http://schemas.microsoft.com/office/drawing/2014/main" id="{B17D863B-A070-4B95-976E-15595B520D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16437" y="2852627"/>
              <a:ext cx="626439" cy="626439"/>
            </a:xfrm>
            <a:prstGeom prst="rect">
              <a:avLst/>
            </a:prstGeom>
          </p:spPr>
        </p:pic>
        <p:grpSp>
          <p:nvGrpSpPr>
            <p:cNvPr id="256" name="Group 255">
              <a:extLst>
                <a:ext uri="{FF2B5EF4-FFF2-40B4-BE49-F238E27FC236}">
                  <a16:creationId xmlns:a16="http://schemas.microsoft.com/office/drawing/2014/main" id="{88490EDA-9019-4553-A76E-CF488356C3A1}"/>
                </a:ext>
              </a:extLst>
            </p:cNvPr>
            <p:cNvGrpSpPr/>
            <p:nvPr/>
          </p:nvGrpSpPr>
          <p:grpSpPr>
            <a:xfrm>
              <a:off x="5021640" y="3582603"/>
              <a:ext cx="1088375" cy="793856"/>
              <a:chOff x="4932825" y="1911933"/>
              <a:chExt cx="1088375" cy="793856"/>
            </a:xfrm>
          </p:grpSpPr>
          <p:pic>
            <p:nvPicPr>
              <p:cNvPr id="257" name="Graphic 256" descr="Checkmark with solid fill">
                <a:extLst>
                  <a:ext uri="{FF2B5EF4-FFF2-40B4-BE49-F238E27FC236}">
                    <a16:creationId xmlns:a16="http://schemas.microsoft.com/office/drawing/2014/main" id="{32A87BBE-AE25-4360-9128-FAE4199A3E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34401" y="1911933"/>
                <a:ext cx="626439" cy="626439"/>
              </a:xfrm>
              <a:prstGeom prst="rect">
                <a:avLst/>
              </a:prstGeom>
            </p:spPr>
          </p:pic>
          <p:sp>
            <p:nvSpPr>
              <p:cNvPr id="258" name="TextBox 257">
                <a:extLst>
                  <a:ext uri="{FF2B5EF4-FFF2-40B4-BE49-F238E27FC236}">
                    <a16:creationId xmlns:a16="http://schemas.microsoft.com/office/drawing/2014/main" id="{AA17485E-8C62-4033-839F-2BD6A3F1F7CA}"/>
                  </a:ext>
                </a:extLst>
              </p:cNvPr>
              <p:cNvSpPr txBox="1"/>
              <p:nvPr/>
            </p:nvSpPr>
            <p:spPr>
              <a:xfrm>
                <a:off x="4932825" y="2398012"/>
                <a:ext cx="1088375" cy="307777"/>
              </a:xfrm>
              <a:prstGeom prst="rect">
                <a:avLst/>
              </a:prstGeom>
              <a:noFill/>
            </p:spPr>
            <p:txBody>
              <a:bodyPr wrap="none" rtlCol="0">
                <a:spAutoFit/>
              </a:bodyPr>
              <a:lstStyle/>
              <a:p>
                <a:r>
                  <a:rPr lang="en-US" sz="1400" dirty="0"/>
                  <a:t>Shingles </a:t>
                </a:r>
                <a:r>
                  <a:rPr lang="en-US" sz="1400" dirty="0" err="1"/>
                  <a:t>ppx</a:t>
                </a:r>
                <a:endParaRPr lang="en-US" sz="1400" dirty="0"/>
              </a:p>
            </p:txBody>
          </p:sp>
        </p:grpSp>
        <p:sp>
          <p:nvSpPr>
            <p:cNvPr id="267" name="TextBox 266">
              <a:extLst>
                <a:ext uri="{FF2B5EF4-FFF2-40B4-BE49-F238E27FC236}">
                  <a16:creationId xmlns:a16="http://schemas.microsoft.com/office/drawing/2014/main" id="{DB61BC13-4FEF-4795-B0DB-95A779381313}"/>
                </a:ext>
              </a:extLst>
            </p:cNvPr>
            <p:cNvSpPr txBox="1"/>
            <p:nvPr/>
          </p:nvSpPr>
          <p:spPr>
            <a:xfrm>
              <a:off x="4682856" y="4520227"/>
              <a:ext cx="1798647" cy="1446550"/>
            </a:xfrm>
            <a:prstGeom prst="rect">
              <a:avLst/>
            </a:prstGeom>
            <a:noFill/>
          </p:spPr>
          <p:txBody>
            <a:bodyPr wrap="square" rtlCol="0">
              <a:spAutoFit/>
            </a:bodyPr>
            <a:lstStyle/>
            <a:p>
              <a:pPr algn="ctr"/>
              <a:r>
                <a:rPr lang="en-US" b="1" dirty="0"/>
                <a:t>Neuropathy</a:t>
              </a:r>
            </a:p>
            <a:p>
              <a:pPr algn="ctr"/>
              <a:r>
                <a:rPr lang="en-US" sz="1600" dirty="0" err="1"/>
                <a:t>Velcade</a:t>
              </a:r>
              <a:endParaRPr lang="en-US" sz="1600" dirty="0"/>
            </a:p>
            <a:p>
              <a:pPr algn="ctr"/>
              <a:endParaRPr lang="en-US" b="1" dirty="0"/>
            </a:p>
            <a:p>
              <a:pPr algn="ctr"/>
              <a:r>
                <a:rPr lang="en-US" b="1" dirty="0"/>
                <a:t>Cardiovascular</a:t>
              </a:r>
            </a:p>
            <a:p>
              <a:pPr algn="ctr"/>
              <a:r>
                <a:rPr lang="en-US" sz="1600" dirty="0"/>
                <a:t>Carfilzomib</a:t>
              </a:r>
            </a:p>
          </p:txBody>
        </p:sp>
      </p:grpSp>
      <p:sp>
        <p:nvSpPr>
          <p:cNvPr id="273" name="PI">
            <a:extLst>
              <a:ext uri="{FF2B5EF4-FFF2-40B4-BE49-F238E27FC236}">
                <a16:creationId xmlns:a16="http://schemas.microsoft.com/office/drawing/2014/main" id="{055A0D2D-5A63-49FC-A335-98ADEA6F38C4}"/>
              </a:ext>
            </a:extLst>
          </p:cNvPr>
          <p:cNvSpPr/>
          <p:nvPr/>
        </p:nvSpPr>
        <p:spPr>
          <a:xfrm>
            <a:off x="4058112" y="785221"/>
            <a:ext cx="1949606" cy="708087"/>
          </a:xfrm>
          <a:prstGeom prst="roundRect">
            <a:avLst/>
          </a:prstGeom>
          <a:solidFill>
            <a:schemeClr val="bg1"/>
          </a:solidFill>
          <a:ln w="381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Proteasome Inhibitors</a:t>
            </a:r>
          </a:p>
        </p:txBody>
      </p:sp>
      <p:sp>
        <p:nvSpPr>
          <p:cNvPr id="274" name="PI final">
            <a:extLst>
              <a:ext uri="{FF2B5EF4-FFF2-40B4-BE49-F238E27FC236}">
                <a16:creationId xmlns:a16="http://schemas.microsoft.com/office/drawing/2014/main" id="{B0183C30-E8D6-4BA7-B3E7-108E83DDE486}"/>
              </a:ext>
            </a:extLst>
          </p:cNvPr>
          <p:cNvSpPr/>
          <p:nvPr/>
        </p:nvSpPr>
        <p:spPr>
          <a:xfrm>
            <a:off x="4058112" y="785221"/>
            <a:ext cx="1949606" cy="708087"/>
          </a:xfrm>
          <a:prstGeom prst="roundRect">
            <a:avLst/>
          </a:prstGeom>
          <a:solidFill>
            <a:schemeClr val="accent1"/>
          </a:solidFill>
          <a:ln w="3810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Proteasome Inhibitors</a:t>
            </a:r>
          </a:p>
        </p:txBody>
      </p:sp>
      <p:pic>
        <p:nvPicPr>
          <p:cNvPr id="275" name="Graphic 274" descr="Cursor with solid fill">
            <a:extLst>
              <a:ext uri="{FF2B5EF4-FFF2-40B4-BE49-F238E27FC236}">
                <a16:creationId xmlns:a16="http://schemas.microsoft.com/office/drawing/2014/main" id="{6DFDD4D4-C96E-4F56-AF64-071D99AE77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60448" y="1369958"/>
            <a:ext cx="301752" cy="301752"/>
          </a:xfrm>
          <a:prstGeom prst="rect">
            <a:avLst/>
          </a:prstGeom>
        </p:spPr>
      </p:pic>
      <p:sp>
        <p:nvSpPr>
          <p:cNvPr id="279" name="TextBox 278">
            <a:extLst>
              <a:ext uri="{FF2B5EF4-FFF2-40B4-BE49-F238E27FC236}">
                <a16:creationId xmlns:a16="http://schemas.microsoft.com/office/drawing/2014/main" id="{0E0B83A1-78B5-483E-B0FF-0ECEC8850766}"/>
              </a:ext>
            </a:extLst>
          </p:cNvPr>
          <p:cNvSpPr txBox="1"/>
          <p:nvPr/>
        </p:nvSpPr>
        <p:spPr>
          <a:xfrm>
            <a:off x="4061373" y="1562665"/>
            <a:ext cx="2042576" cy="584775"/>
          </a:xfrm>
          <a:prstGeom prst="rect">
            <a:avLst/>
          </a:prstGeom>
          <a:noFill/>
        </p:spPr>
        <p:txBody>
          <a:bodyPr wrap="square">
            <a:spAutoFit/>
          </a:bodyPr>
          <a:lstStyle/>
          <a:p>
            <a:pPr lvl="0" algn="ctr"/>
            <a:r>
              <a:rPr lang="en-US" sz="1600" dirty="0">
                <a:solidFill>
                  <a:schemeClr val="accent1"/>
                </a:solidFill>
              </a:rPr>
              <a:t>Bortezomib (</a:t>
            </a:r>
            <a:r>
              <a:rPr lang="en-US" sz="1600" dirty="0" err="1">
                <a:solidFill>
                  <a:schemeClr val="accent1"/>
                </a:solidFill>
              </a:rPr>
              <a:t>Velcade</a:t>
            </a:r>
            <a:r>
              <a:rPr lang="en-US" sz="1600" dirty="0">
                <a:solidFill>
                  <a:schemeClr val="accent1"/>
                </a:solidFill>
              </a:rPr>
              <a:t>)</a:t>
            </a:r>
          </a:p>
          <a:p>
            <a:pPr lvl="0" algn="ctr"/>
            <a:r>
              <a:rPr lang="en-US" sz="1600" dirty="0">
                <a:solidFill>
                  <a:schemeClr val="accent1"/>
                </a:solidFill>
              </a:rPr>
              <a:t>Carfilzomib (</a:t>
            </a:r>
            <a:r>
              <a:rPr lang="en-US" sz="1600" dirty="0" err="1">
                <a:solidFill>
                  <a:schemeClr val="accent1"/>
                </a:solidFill>
              </a:rPr>
              <a:t>Kyprolis</a:t>
            </a:r>
            <a:r>
              <a:rPr lang="en-US" sz="1600" dirty="0">
                <a:solidFill>
                  <a:schemeClr val="accent1"/>
                </a:solidFill>
              </a:rPr>
              <a:t>)</a:t>
            </a:r>
            <a:endParaRPr lang="en-US" sz="1600" i="1" dirty="0">
              <a:solidFill>
                <a:schemeClr val="accent1"/>
              </a:solidFill>
            </a:endParaRPr>
          </a:p>
        </p:txBody>
      </p:sp>
      <p:sp>
        <p:nvSpPr>
          <p:cNvPr id="280" name="Immunomodulatory">
            <a:extLst>
              <a:ext uri="{FF2B5EF4-FFF2-40B4-BE49-F238E27FC236}">
                <a16:creationId xmlns:a16="http://schemas.microsoft.com/office/drawing/2014/main" id="{E74AA6F2-7604-4E02-9416-0DE1D0F4B1F1}"/>
              </a:ext>
            </a:extLst>
          </p:cNvPr>
          <p:cNvSpPr/>
          <p:nvPr/>
        </p:nvSpPr>
        <p:spPr>
          <a:xfrm>
            <a:off x="6124853" y="785221"/>
            <a:ext cx="2095120" cy="736503"/>
          </a:xfrm>
          <a:prstGeom prst="roundRect">
            <a:avLst/>
          </a:prstGeom>
          <a:solidFill>
            <a:schemeClr val="bg1"/>
          </a:solidFill>
          <a:ln w="381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Immuno-modulatory Agents</a:t>
            </a:r>
          </a:p>
        </p:txBody>
      </p:sp>
      <p:sp>
        <p:nvSpPr>
          <p:cNvPr id="281" name="Immunomodulatory final">
            <a:extLst>
              <a:ext uri="{FF2B5EF4-FFF2-40B4-BE49-F238E27FC236}">
                <a16:creationId xmlns:a16="http://schemas.microsoft.com/office/drawing/2014/main" id="{70E2D3F0-53CC-4E7F-8056-87E6249CDC0E}"/>
              </a:ext>
            </a:extLst>
          </p:cNvPr>
          <p:cNvSpPr/>
          <p:nvPr/>
        </p:nvSpPr>
        <p:spPr>
          <a:xfrm>
            <a:off x="6103949" y="785221"/>
            <a:ext cx="2116023" cy="736503"/>
          </a:xfrm>
          <a:prstGeom prst="roundRect">
            <a:avLst/>
          </a:prstGeom>
          <a:solidFill>
            <a:schemeClr val="accent6"/>
          </a:solidFill>
          <a:ln w="38100">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Immuno-modulatory Agents</a:t>
            </a:r>
          </a:p>
        </p:txBody>
      </p:sp>
      <p:pic>
        <p:nvPicPr>
          <p:cNvPr id="282" name="Graphic 281" descr="Cursor with solid fill">
            <a:extLst>
              <a:ext uri="{FF2B5EF4-FFF2-40B4-BE49-F238E27FC236}">
                <a16:creationId xmlns:a16="http://schemas.microsoft.com/office/drawing/2014/main" id="{6DD91DED-D566-4278-ADC5-3C8679EF816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69096" y="1369958"/>
            <a:ext cx="301752" cy="301752"/>
          </a:xfrm>
          <a:prstGeom prst="rect">
            <a:avLst/>
          </a:prstGeom>
        </p:spPr>
      </p:pic>
      <p:sp>
        <p:nvSpPr>
          <p:cNvPr id="283" name="TextBox 282">
            <a:extLst>
              <a:ext uri="{FF2B5EF4-FFF2-40B4-BE49-F238E27FC236}">
                <a16:creationId xmlns:a16="http://schemas.microsoft.com/office/drawing/2014/main" id="{BEFFC762-CC36-47A7-BBD4-3FD5375C4337}"/>
              </a:ext>
            </a:extLst>
          </p:cNvPr>
          <p:cNvSpPr txBox="1"/>
          <p:nvPr/>
        </p:nvSpPr>
        <p:spPr>
          <a:xfrm>
            <a:off x="5936691" y="1562665"/>
            <a:ext cx="2466254" cy="584775"/>
          </a:xfrm>
          <a:prstGeom prst="rect">
            <a:avLst/>
          </a:prstGeom>
          <a:noFill/>
        </p:spPr>
        <p:txBody>
          <a:bodyPr wrap="square">
            <a:spAutoFit/>
          </a:bodyPr>
          <a:lstStyle/>
          <a:p>
            <a:pPr lvl="0" algn="ctr"/>
            <a:r>
              <a:rPr lang="en-US" sz="1600" dirty="0">
                <a:solidFill>
                  <a:schemeClr val="accent6"/>
                </a:solidFill>
              </a:rPr>
              <a:t>Lena</a:t>
            </a:r>
            <a:r>
              <a:rPr lang="en-US" sz="1600" b="1" u="sng" dirty="0">
                <a:solidFill>
                  <a:schemeClr val="accent6"/>
                </a:solidFill>
              </a:rPr>
              <a:t>li</a:t>
            </a:r>
            <a:r>
              <a:rPr lang="en-US" sz="1600" dirty="0">
                <a:solidFill>
                  <a:schemeClr val="accent6"/>
                </a:solidFill>
              </a:rPr>
              <a:t>domide (Rev</a:t>
            </a:r>
            <a:r>
              <a:rPr lang="en-US" sz="1600" b="1" u="sng" dirty="0">
                <a:solidFill>
                  <a:schemeClr val="accent6"/>
                </a:solidFill>
              </a:rPr>
              <a:t>li</a:t>
            </a:r>
            <a:r>
              <a:rPr lang="en-US" sz="1600" dirty="0">
                <a:solidFill>
                  <a:schemeClr val="accent6"/>
                </a:solidFill>
              </a:rPr>
              <a:t>mid)</a:t>
            </a:r>
          </a:p>
          <a:p>
            <a:pPr lvl="0" algn="ctr"/>
            <a:r>
              <a:rPr lang="en-US" sz="1600" dirty="0">
                <a:solidFill>
                  <a:schemeClr val="accent6"/>
                </a:solidFill>
              </a:rPr>
              <a:t>Poma</a:t>
            </a:r>
            <a:r>
              <a:rPr lang="en-US" sz="1600" b="1" u="sng" dirty="0">
                <a:solidFill>
                  <a:schemeClr val="accent6"/>
                </a:solidFill>
              </a:rPr>
              <a:t>li</a:t>
            </a:r>
            <a:r>
              <a:rPr lang="en-US" sz="1600" dirty="0">
                <a:solidFill>
                  <a:schemeClr val="accent6"/>
                </a:solidFill>
              </a:rPr>
              <a:t>domide (</a:t>
            </a:r>
            <a:r>
              <a:rPr lang="en-US" sz="1600" dirty="0" err="1">
                <a:solidFill>
                  <a:schemeClr val="accent6"/>
                </a:solidFill>
              </a:rPr>
              <a:t>Pomalyst</a:t>
            </a:r>
            <a:r>
              <a:rPr lang="en-US" sz="1600" dirty="0">
                <a:solidFill>
                  <a:schemeClr val="accent6"/>
                </a:solidFill>
              </a:rPr>
              <a:t>)</a:t>
            </a:r>
            <a:endParaRPr lang="en-US" sz="1600" i="1" dirty="0">
              <a:solidFill>
                <a:schemeClr val="accent6"/>
              </a:solidFill>
            </a:endParaRPr>
          </a:p>
        </p:txBody>
      </p:sp>
      <p:sp>
        <p:nvSpPr>
          <p:cNvPr id="285" name="Steroids">
            <a:extLst>
              <a:ext uri="{FF2B5EF4-FFF2-40B4-BE49-F238E27FC236}">
                <a16:creationId xmlns:a16="http://schemas.microsoft.com/office/drawing/2014/main" id="{CBD5EA8B-88C2-43A0-ADCB-A9C73C5D87BF}"/>
              </a:ext>
            </a:extLst>
          </p:cNvPr>
          <p:cNvSpPr/>
          <p:nvPr/>
        </p:nvSpPr>
        <p:spPr>
          <a:xfrm>
            <a:off x="8344694" y="785221"/>
            <a:ext cx="1636776" cy="736503"/>
          </a:xfrm>
          <a:prstGeom prst="roundRect">
            <a:avLst/>
          </a:prstGeom>
          <a:solidFill>
            <a:schemeClr val="bg1"/>
          </a:solidFill>
          <a:ln w="38100">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Steroids</a:t>
            </a:r>
          </a:p>
        </p:txBody>
      </p:sp>
      <p:sp>
        <p:nvSpPr>
          <p:cNvPr id="286" name="Steroids final">
            <a:extLst>
              <a:ext uri="{FF2B5EF4-FFF2-40B4-BE49-F238E27FC236}">
                <a16:creationId xmlns:a16="http://schemas.microsoft.com/office/drawing/2014/main" id="{BD0C4399-D882-4B28-8D97-CF59220CB036}"/>
              </a:ext>
            </a:extLst>
          </p:cNvPr>
          <p:cNvSpPr/>
          <p:nvPr/>
        </p:nvSpPr>
        <p:spPr>
          <a:xfrm>
            <a:off x="8323791" y="785221"/>
            <a:ext cx="1657680" cy="736503"/>
          </a:xfrm>
          <a:prstGeom prst="roundRect">
            <a:avLst/>
          </a:prstGeom>
          <a:solidFill>
            <a:schemeClr val="accent2"/>
          </a:solidFill>
          <a:ln w="38100">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Steroids</a:t>
            </a:r>
          </a:p>
        </p:txBody>
      </p:sp>
      <p:pic>
        <p:nvPicPr>
          <p:cNvPr id="287" name="Graphic 286" descr="Cursor with solid fill">
            <a:extLst>
              <a:ext uri="{FF2B5EF4-FFF2-40B4-BE49-F238E27FC236}">
                <a16:creationId xmlns:a16="http://schemas.microsoft.com/office/drawing/2014/main" id="{505173CA-2C25-47A7-A669-6E7C1B0EFF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04439" y="1369958"/>
            <a:ext cx="301752" cy="301752"/>
          </a:xfrm>
          <a:prstGeom prst="rect">
            <a:avLst/>
          </a:prstGeom>
        </p:spPr>
      </p:pic>
      <p:sp>
        <p:nvSpPr>
          <p:cNvPr id="288" name="TextBox 287">
            <a:extLst>
              <a:ext uri="{FF2B5EF4-FFF2-40B4-BE49-F238E27FC236}">
                <a16:creationId xmlns:a16="http://schemas.microsoft.com/office/drawing/2014/main" id="{123AD4FD-39C0-4982-B3E1-A5642ADE2849}"/>
              </a:ext>
            </a:extLst>
          </p:cNvPr>
          <p:cNvSpPr txBox="1"/>
          <p:nvPr/>
        </p:nvSpPr>
        <p:spPr>
          <a:xfrm>
            <a:off x="8344694" y="1685775"/>
            <a:ext cx="1574618" cy="338554"/>
          </a:xfrm>
          <a:prstGeom prst="rect">
            <a:avLst/>
          </a:prstGeom>
          <a:noFill/>
        </p:spPr>
        <p:txBody>
          <a:bodyPr wrap="square">
            <a:spAutoFit/>
          </a:bodyPr>
          <a:lstStyle/>
          <a:p>
            <a:pPr lvl="0" algn="ctr"/>
            <a:r>
              <a:rPr lang="en-US" sz="1600" dirty="0">
                <a:solidFill>
                  <a:schemeClr val="accent2"/>
                </a:solidFill>
              </a:rPr>
              <a:t>Dexamethasone </a:t>
            </a:r>
            <a:endParaRPr lang="en-US" sz="1600" i="1" dirty="0">
              <a:solidFill>
                <a:schemeClr val="accent2"/>
              </a:solidFill>
            </a:endParaRPr>
          </a:p>
        </p:txBody>
      </p:sp>
      <p:sp>
        <p:nvSpPr>
          <p:cNvPr id="289" name="Mabs">
            <a:extLst>
              <a:ext uri="{FF2B5EF4-FFF2-40B4-BE49-F238E27FC236}">
                <a16:creationId xmlns:a16="http://schemas.microsoft.com/office/drawing/2014/main" id="{14A24F58-E380-480D-8106-5E324CD71646}"/>
              </a:ext>
            </a:extLst>
          </p:cNvPr>
          <p:cNvSpPr/>
          <p:nvPr/>
        </p:nvSpPr>
        <p:spPr>
          <a:xfrm>
            <a:off x="10107154" y="785221"/>
            <a:ext cx="1616136" cy="736503"/>
          </a:xfrm>
          <a:prstGeom prst="roundRect">
            <a:avLst/>
          </a:prstGeom>
          <a:solidFill>
            <a:schemeClr val="bg1"/>
          </a:solidFill>
          <a:ln w="38100">
            <a:solidFill>
              <a:srgbClr val="7030A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Monoclonal Abs</a:t>
            </a:r>
          </a:p>
        </p:txBody>
      </p:sp>
      <p:sp>
        <p:nvSpPr>
          <p:cNvPr id="290" name="Mabs final">
            <a:extLst>
              <a:ext uri="{FF2B5EF4-FFF2-40B4-BE49-F238E27FC236}">
                <a16:creationId xmlns:a16="http://schemas.microsoft.com/office/drawing/2014/main" id="{9A8E1023-E8B1-459E-A66A-CE1F49D0848F}"/>
              </a:ext>
            </a:extLst>
          </p:cNvPr>
          <p:cNvSpPr/>
          <p:nvPr/>
        </p:nvSpPr>
        <p:spPr>
          <a:xfrm>
            <a:off x="10085289" y="793340"/>
            <a:ext cx="1636776" cy="736503"/>
          </a:xfrm>
          <a:prstGeom prst="roundRect">
            <a:avLst/>
          </a:prstGeom>
          <a:solidFill>
            <a:srgbClr val="7030A0"/>
          </a:solidFill>
          <a:ln w="38100">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Monoclonal Abs</a:t>
            </a:r>
          </a:p>
        </p:txBody>
      </p:sp>
      <p:pic>
        <p:nvPicPr>
          <p:cNvPr id="291" name="Graphic 290" descr="Cursor with solid fill">
            <a:extLst>
              <a:ext uri="{FF2B5EF4-FFF2-40B4-BE49-F238E27FC236}">
                <a16:creationId xmlns:a16="http://schemas.microsoft.com/office/drawing/2014/main" id="{4DD8D60A-23DA-4286-BA20-1E6E51212B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86829" y="1369958"/>
            <a:ext cx="301752" cy="301752"/>
          </a:xfrm>
          <a:prstGeom prst="rect">
            <a:avLst/>
          </a:prstGeom>
        </p:spPr>
      </p:pic>
      <p:sp>
        <p:nvSpPr>
          <p:cNvPr id="293" name="TextBox 292">
            <a:extLst>
              <a:ext uri="{FF2B5EF4-FFF2-40B4-BE49-F238E27FC236}">
                <a16:creationId xmlns:a16="http://schemas.microsoft.com/office/drawing/2014/main" id="{529E9F91-148F-4604-9999-E2183D861A46}"/>
              </a:ext>
            </a:extLst>
          </p:cNvPr>
          <p:cNvSpPr txBox="1"/>
          <p:nvPr/>
        </p:nvSpPr>
        <p:spPr>
          <a:xfrm>
            <a:off x="10030053" y="1477055"/>
            <a:ext cx="1712126" cy="738664"/>
          </a:xfrm>
          <a:prstGeom prst="rect">
            <a:avLst/>
          </a:prstGeom>
          <a:noFill/>
        </p:spPr>
        <p:txBody>
          <a:bodyPr wrap="square">
            <a:spAutoFit/>
          </a:bodyPr>
          <a:lstStyle/>
          <a:p>
            <a:pPr lvl="0" algn="ctr">
              <a:lnSpc>
                <a:spcPct val="100000"/>
              </a:lnSpc>
            </a:pPr>
            <a:r>
              <a:rPr lang="en-US" sz="1400" dirty="0">
                <a:solidFill>
                  <a:srgbClr val="7030A0"/>
                </a:solidFill>
              </a:rPr>
              <a:t>Daratumumab</a:t>
            </a:r>
          </a:p>
          <a:p>
            <a:pPr lvl="0" algn="ctr">
              <a:lnSpc>
                <a:spcPct val="100000"/>
              </a:lnSpc>
            </a:pPr>
            <a:r>
              <a:rPr lang="en-US" sz="1400" dirty="0" err="1">
                <a:solidFill>
                  <a:srgbClr val="7030A0"/>
                </a:solidFill>
              </a:rPr>
              <a:t>Isatuximab</a:t>
            </a:r>
            <a:endParaRPr lang="en-US" sz="1400" dirty="0">
              <a:solidFill>
                <a:srgbClr val="7030A0"/>
              </a:solidFill>
            </a:endParaRPr>
          </a:p>
          <a:p>
            <a:pPr lvl="0" algn="ctr">
              <a:lnSpc>
                <a:spcPct val="100000"/>
              </a:lnSpc>
            </a:pPr>
            <a:r>
              <a:rPr lang="en-US" sz="1400" dirty="0" err="1">
                <a:solidFill>
                  <a:srgbClr val="7030A0"/>
                </a:solidFill>
              </a:rPr>
              <a:t>Elotuzumab</a:t>
            </a:r>
            <a:endParaRPr lang="en-US" sz="1400" dirty="0">
              <a:solidFill>
                <a:srgbClr val="7030A0"/>
              </a:solidFill>
            </a:endParaRPr>
          </a:p>
        </p:txBody>
      </p:sp>
      <p:grpSp>
        <p:nvGrpSpPr>
          <p:cNvPr id="4" name="Group 3">
            <a:extLst>
              <a:ext uri="{FF2B5EF4-FFF2-40B4-BE49-F238E27FC236}">
                <a16:creationId xmlns:a16="http://schemas.microsoft.com/office/drawing/2014/main" id="{A945D91D-771F-485D-BEA6-D059C1ACE2F3}"/>
              </a:ext>
            </a:extLst>
          </p:cNvPr>
          <p:cNvGrpSpPr/>
          <p:nvPr/>
        </p:nvGrpSpPr>
        <p:grpSpPr>
          <a:xfrm>
            <a:off x="9965767" y="2317038"/>
            <a:ext cx="1798647" cy="3214638"/>
            <a:chOff x="9965767" y="2317038"/>
            <a:chExt cx="1798647" cy="3214638"/>
          </a:xfrm>
        </p:grpSpPr>
        <p:grpSp>
          <p:nvGrpSpPr>
            <p:cNvPr id="272" name="Group 271">
              <a:extLst>
                <a:ext uri="{FF2B5EF4-FFF2-40B4-BE49-F238E27FC236}">
                  <a16:creationId xmlns:a16="http://schemas.microsoft.com/office/drawing/2014/main" id="{4FA287DB-1C6D-4CB3-9BA0-F67786138931}"/>
                </a:ext>
              </a:extLst>
            </p:cNvPr>
            <p:cNvGrpSpPr/>
            <p:nvPr/>
          </p:nvGrpSpPr>
          <p:grpSpPr>
            <a:xfrm>
              <a:off x="9965767" y="2317038"/>
              <a:ext cx="1798647" cy="3214638"/>
              <a:chOff x="9965767" y="1995764"/>
              <a:chExt cx="1798647" cy="3214638"/>
            </a:xfrm>
          </p:grpSpPr>
          <p:pic>
            <p:nvPicPr>
              <p:cNvPr id="239" name="Graphic 238" descr="Checkmark with solid fill">
                <a:extLst>
                  <a:ext uri="{FF2B5EF4-FFF2-40B4-BE49-F238E27FC236}">
                    <a16:creationId xmlns:a16="http://schemas.microsoft.com/office/drawing/2014/main" id="{4494E54F-C2B4-4072-81A6-846AA3217DD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51871" y="1995764"/>
                <a:ext cx="626439" cy="626439"/>
              </a:xfrm>
              <a:prstGeom prst="rect">
                <a:avLst/>
              </a:prstGeom>
            </p:spPr>
          </p:pic>
          <p:pic>
            <p:nvPicPr>
              <p:cNvPr id="251" name="Graphic 250" descr="Checkmark with solid fill">
                <a:extLst>
                  <a:ext uri="{FF2B5EF4-FFF2-40B4-BE49-F238E27FC236}">
                    <a16:creationId xmlns:a16="http://schemas.microsoft.com/office/drawing/2014/main" id="{3F6E1C4D-6E46-49D0-B2A7-D5A621E3BC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51871" y="2852655"/>
                <a:ext cx="626439" cy="626439"/>
              </a:xfrm>
              <a:prstGeom prst="rect">
                <a:avLst/>
              </a:prstGeom>
            </p:spPr>
          </p:pic>
          <p:sp>
            <p:nvSpPr>
              <p:cNvPr id="265" name="TextBox 264">
                <a:extLst>
                  <a:ext uri="{FF2B5EF4-FFF2-40B4-BE49-F238E27FC236}">
                    <a16:creationId xmlns:a16="http://schemas.microsoft.com/office/drawing/2014/main" id="{D2B40A58-3C95-4419-9BBA-1C37FB1A92B1}"/>
                  </a:ext>
                </a:extLst>
              </p:cNvPr>
              <p:cNvSpPr txBox="1"/>
              <p:nvPr/>
            </p:nvSpPr>
            <p:spPr>
              <a:xfrm>
                <a:off x="9965767" y="4471738"/>
                <a:ext cx="1798647" cy="738664"/>
              </a:xfrm>
              <a:prstGeom prst="rect">
                <a:avLst/>
              </a:prstGeom>
              <a:noFill/>
            </p:spPr>
            <p:txBody>
              <a:bodyPr wrap="square" rtlCol="0">
                <a:spAutoFit/>
              </a:bodyPr>
              <a:lstStyle/>
              <a:p>
                <a:pPr algn="ctr"/>
                <a:r>
                  <a:rPr lang="en-US" b="1" dirty="0"/>
                  <a:t>Acute infusion reaction</a:t>
                </a:r>
              </a:p>
              <a:p>
                <a:pPr algn="ctr"/>
                <a:endParaRPr lang="en-US" sz="600" dirty="0"/>
              </a:p>
            </p:txBody>
          </p:sp>
        </p:grpSp>
        <p:pic>
          <p:nvPicPr>
            <p:cNvPr id="84" name="Graphic 83" descr="Checkmark with solid fill">
              <a:extLst>
                <a:ext uri="{FF2B5EF4-FFF2-40B4-BE49-F238E27FC236}">
                  <a16:creationId xmlns:a16="http://schemas.microsoft.com/office/drawing/2014/main" id="{570650C2-4D0F-4DB8-A79E-D44B4FC7126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52949" y="4015416"/>
              <a:ext cx="626439" cy="626439"/>
            </a:xfrm>
            <a:prstGeom prst="rect">
              <a:avLst/>
            </a:prstGeom>
          </p:spPr>
        </p:pic>
      </p:grpSp>
      <p:grpSp>
        <p:nvGrpSpPr>
          <p:cNvPr id="3" name="Group 2">
            <a:extLst>
              <a:ext uri="{FF2B5EF4-FFF2-40B4-BE49-F238E27FC236}">
                <a16:creationId xmlns:a16="http://schemas.microsoft.com/office/drawing/2014/main" id="{78678B6C-74B6-4849-B338-FBD36931FA58}"/>
              </a:ext>
            </a:extLst>
          </p:cNvPr>
          <p:cNvGrpSpPr/>
          <p:nvPr/>
        </p:nvGrpSpPr>
        <p:grpSpPr>
          <a:xfrm>
            <a:off x="6078912" y="2258755"/>
            <a:ext cx="2134056" cy="3534926"/>
            <a:chOff x="6078912" y="2258755"/>
            <a:chExt cx="2134056" cy="3534926"/>
          </a:xfrm>
        </p:grpSpPr>
        <p:grpSp>
          <p:nvGrpSpPr>
            <p:cNvPr id="270" name="Group 269">
              <a:extLst>
                <a:ext uri="{FF2B5EF4-FFF2-40B4-BE49-F238E27FC236}">
                  <a16:creationId xmlns:a16="http://schemas.microsoft.com/office/drawing/2014/main" id="{2F45B3EF-F486-4A69-9DBA-273E6F403F98}"/>
                </a:ext>
              </a:extLst>
            </p:cNvPr>
            <p:cNvGrpSpPr/>
            <p:nvPr/>
          </p:nvGrpSpPr>
          <p:grpSpPr>
            <a:xfrm>
              <a:off x="6078912" y="2258755"/>
              <a:ext cx="2134056" cy="3534926"/>
              <a:chOff x="6356737" y="1915076"/>
              <a:chExt cx="2134056" cy="3534926"/>
            </a:xfrm>
          </p:grpSpPr>
          <p:grpSp>
            <p:nvGrpSpPr>
              <p:cNvPr id="246" name="Group 245">
                <a:extLst>
                  <a:ext uri="{FF2B5EF4-FFF2-40B4-BE49-F238E27FC236}">
                    <a16:creationId xmlns:a16="http://schemas.microsoft.com/office/drawing/2014/main" id="{3D14399F-A4A8-42B0-9E50-28C4EE844332}"/>
                  </a:ext>
                </a:extLst>
              </p:cNvPr>
              <p:cNvGrpSpPr/>
              <p:nvPr/>
            </p:nvGrpSpPr>
            <p:grpSpPr>
              <a:xfrm>
                <a:off x="6585034" y="1915076"/>
                <a:ext cx="1627369" cy="787561"/>
                <a:chOff x="6548939" y="1911933"/>
                <a:chExt cx="1627369" cy="787561"/>
              </a:xfrm>
            </p:grpSpPr>
            <p:pic>
              <p:nvPicPr>
                <p:cNvPr id="238" name="Graphic 237" descr="Checkmark with solid fill">
                  <a:extLst>
                    <a:ext uri="{FF2B5EF4-FFF2-40B4-BE49-F238E27FC236}">
                      <a16:creationId xmlns:a16="http://schemas.microsoft.com/office/drawing/2014/main" id="{C5F1006A-E8C8-46A8-A08A-0403D30A26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03057" y="1911933"/>
                  <a:ext cx="626439" cy="626439"/>
                </a:xfrm>
                <a:prstGeom prst="rect">
                  <a:avLst/>
                </a:prstGeom>
              </p:spPr>
            </p:pic>
            <p:sp>
              <p:nvSpPr>
                <p:cNvPr id="242" name="TextBox 241">
                  <a:extLst>
                    <a:ext uri="{FF2B5EF4-FFF2-40B4-BE49-F238E27FC236}">
                      <a16:creationId xmlns:a16="http://schemas.microsoft.com/office/drawing/2014/main" id="{225CAD41-5553-4904-82FF-BC4ADDFEA336}"/>
                    </a:ext>
                  </a:extLst>
                </p:cNvPr>
                <p:cNvSpPr txBox="1"/>
                <p:nvPr/>
              </p:nvSpPr>
              <p:spPr>
                <a:xfrm>
                  <a:off x="6548939" y="2391717"/>
                  <a:ext cx="1627369" cy="307777"/>
                </a:xfrm>
                <a:prstGeom prst="rect">
                  <a:avLst/>
                </a:prstGeom>
                <a:noFill/>
              </p:spPr>
              <p:txBody>
                <a:bodyPr wrap="none" rtlCol="0">
                  <a:spAutoFit/>
                </a:bodyPr>
                <a:lstStyle/>
                <a:p>
                  <a:r>
                    <a:rPr lang="en-US" sz="1400" dirty="0"/>
                    <a:t>↓ PMNs/RBCs/</a:t>
                  </a:r>
                  <a:r>
                    <a:rPr lang="en-US" sz="1400" dirty="0" err="1"/>
                    <a:t>plts</a:t>
                  </a:r>
                  <a:endParaRPr lang="en-US" sz="1400" dirty="0"/>
                </a:p>
              </p:txBody>
            </p:sp>
          </p:grpSp>
          <p:sp>
            <p:nvSpPr>
              <p:cNvPr id="266" name="TextBox 265">
                <a:extLst>
                  <a:ext uri="{FF2B5EF4-FFF2-40B4-BE49-F238E27FC236}">
                    <a16:creationId xmlns:a16="http://schemas.microsoft.com/office/drawing/2014/main" id="{8D7DC1DC-092B-4057-B6F4-5ACB3DC1F181}"/>
                  </a:ext>
                </a:extLst>
              </p:cNvPr>
              <p:cNvSpPr txBox="1"/>
              <p:nvPr/>
            </p:nvSpPr>
            <p:spPr>
              <a:xfrm>
                <a:off x="6356737" y="4495895"/>
                <a:ext cx="2134056" cy="954107"/>
              </a:xfrm>
              <a:prstGeom prst="rect">
                <a:avLst/>
              </a:prstGeom>
              <a:noFill/>
            </p:spPr>
            <p:txBody>
              <a:bodyPr wrap="square" rtlCol="0">
                <a:spAutoFit/>
              </a:bodyPr>
              <a:lstStyle/>
              <a:p>
                <a:pPr algn="ctr"/>
                <a:endParaRPr lang="en-US" sz="600" dirty="0"/>
              </a:p>
              <a:p>
                <a:pPr algn="ctr"/>
                <a:r>
                  <a:rPr lang="en-US" b="1" dirty="0"/>
                  <a:t>VTE/arterial thrombosis</a:t>
                </a:r>
              </a:p>
              <a:p>
                <a:pPr algn="ctr"/>
                <a:r>
                  <a:rPr lang="en-US" sz="1400" dirty="0"/>
                  <a:t>Asa vs. </a:t>
                </a:r>
                <a:r>
                  <a:rPr lang="en-US" sz="1400" dirty="0" err="1"/>
                  <a:t>anticoag</a:t>
                </a:r>
                <a:r>
                  <a:rPr lang="en-US" sz="1400" dirty="0"/>
                  <a:t> </a:t>
                </a:r>
                <a:r>
                  <a:rPr lang="en-US" sz="1400" dirty="0" err="1"/>
                  <a:t>ppx</a:t>
                </a:r>
                <a:endParaRPr lang="en-US" sz="1400" dirty="0"/>
              </a:p>
            </p:txBody>
          </p:sp>
        </p:grpSp>
        <p:pic>
          <p:nvPicPr>
            <p:cNvPr id="85" name="Graphic 84" descr="Checkmark with solid fill">
              <a:extLst>
                <a:ext uri="{FF2B5EF4-FFF2-40B4-BE49-F238E27FC236}">
                  <a16:creationId xmlns:a16="http://schemas.microsoft.com/office/drawing/2014/main" id="{36325173-A4C7-49BA-A51A-F1062E60EB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2721" y="3971955"/>
              <a:ext cx="626439" cy="626439"/>
            </a:xfrm>
            <a:prstGeom prst="rect">
              <a:avLst/>
            </a:prstGeom>
          </p:spPr>
        </p:pic>
        <p:pic>
          <p:nvPicPr>
            <p:cNvPr id="86" name="Graphic 85" descr="Checkmark with solid fill">
              <a:extLst>
                <a:ext uri="{FF2B5EF4-FFF2-40B4-BE49-F238E27FC236}">
                  <a16:creationId xmlns:a16="http://schemas.microsoft.com/office/drawing/2014/main" id="{C1ECC0DD-F814-4DBA-A085-7C7B99AED7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32721" y="3133113"/>
              <a:ext cx="626439" cy="626439"/>
            </a:xfrm>
            <a:prstGeom prst="rect">
              <a:avLst/>
            </a:prstGeom>
          </p:spPr>
        </p:pic>
      </p:grpSp>
      <p:sp>
        <p:nvSpPr>
          <p:cNvPr id="11" name="Obj 1">
            <a:hlinkClick r:id="rId9" action="ppaction://hlinksldjump"/>
            <a:extLst>
              <a:ext uri="{FF2B5EF4-FFF2-40B4-BE49-F238E27FC236}">
                <a16:creationId xmlns:a16="http://schemas.microsoft.com/office/drawing/2014/main" id="{806A730D-E9D2-0C60-BFDA-BDEDF55C7621}"/>
              </a:ext>
            </a:extLst>
          </p:cNvPr>
          <p:cNvSpPr/>
          <p:nvPr/>
        </p:nvSpPr>
        <p:spPr>
          <a:xfrm>
            <a:off x="185167"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13" name="Graphic 12" descr="Cursor with solid fill">
            <a:extLst>
              <a:ext uri="{FF2B5EF4-FFF2-40B4-BE49-F238E27FC236}">
                <a16:creationId xmlns:a16="http://schemas.microsoft.com/office/drawing/2014/main" id="{C9CEB8F0-4B7D-48FB-970D-1C11C99163D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488321"/>
            <a:ext cx="301752" cy="301752"/>
          </a:xfrm>
          <a:prstGeom prst="rect">
            <a:avLst/>
          </a:prstGeom>
        </p:spPr>
      </p:pic>
      <p:sp>
        <p:nvSpPr>
          <p:cNvPr id="14" name="Obj 1">
            <a:hlinkClick r:id="rId10" action="ppaction://hlinksldjump"/>
            <a:extLst>
              <a:ext uri="{FF2B5EF4-FFF2-40B4-BE49-F238E27FC236}">
                <a16:creationId xmlns:a16="http://schemas.microsoft.com/office/drawing/2014/main" id="{852BAD92-C283-7FA5-15AD-0EF0BB38FF67}"/>
              </a:ext>
            </a:extLst>
          </p:cNvPr>
          <p:cNvSpPr/>
          <p:nvPr/>
        </p:nvSpPr>
        <p:spPr>
          <a:xfrm>
            <a:off x="185167" y="142615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8" name="Graphic 17" descr="Cursor with solid fill">
            <a:extLst>
              <a:ext uri="{FF2B5EF4-FFF2-40B4-BE49-F238E27FC236}">
                <a16:creationId xmlns:a16="http://schemas.microsoft.com/office/drawing/2014/main" id="{7720410C-5513-F0CA-9EC2-2C1DC561B6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1720750"/>
            <a:ext cx="301752" cy="301752"/>
          </a:xfrm>
          <a:prstGeom prst="rect">
            <a:avLst/>
          </a:prstGeom>
        </p:spPr>
      </p:pic>
      <p:sp>
        <p:nvSpPr>
          <p:cNvPr id="19" name="Obj 1">
            <a:hlinkClick r:id="rId11" action="ppaction://hlinksldjump"/>
            <a:extLst>
              <a:ext uri="{FF2B5EF4-FFF2-40B4-BE49-F238E27FC236}">
                <a16:creationId xmlns:a16="http://schemas.microsoft.com/office/drawing/2014/main" id="{73FA00BC-4385-8BEB-0C94-21A6A90833B1}"/>
              </a:ext>
            </a:extLst>
          </p:cNvPr>
          <p:cNvSpPr/>
          <p:nvPr/>
        </p:nvSpPr>
        <p:spPr>
          <a:xfrm>
            <a:off x="185167" y="20309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2" name="Graphic 21" descr="Cursor with solid fill">
            <a:extLst>
              <a:ext uri="{FF2B5EF4-FFF2-40B4-BE49-F238E27FC236}">
                <a16:creationId xmlns:a16="http://schemas.microsoft.com/office/drawing/2014/main" id="{6BA40265-B858-786A-0C99-8CE6DEC2A68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2300890"/>
            <a:ext cx="301752" cy="301752"/>
          </a:xfrm>
          <a:prstGeom prst="rect">
            <a:avLst/>
          </a:prstGeom>
        </p:spPr>
      </p:pic>
      <p:sp>
        <p:nvSpPr>
          <p:cNvPr id="23" name="Obj 1">
            <a:hlinkClick r:id="rId12" action="ppaction://hlinksldjump"/>
            <a:extLst>
              <a:ext uri="{FF2B5EF4-FFF2-40B4-BE49-F238E27FC236}">
                <a16:creationId xmlns:a16="http://schemas.microsoft.com/office/drawing/2014/main" id="{0B79807D-02FB-175E-DF2F-9FD45FCAD8D4}"/>
              </a:ext>
            </a:extLst>
          </p:cNvPr>
          <p:cNvSpPr/>
          <p:nvPr/>
        </p:nvSpPr>
        <p:spPr>
          <a:xfrm>
            <a:off x="185167" y="2635779"/>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Treatment</a:t>
            </a:r>
          </a:p>
        </p:txBody>
      </p:sp>
      <p:cxnSp>
        <p:nvCxnSpPr>
          <p:cNvPr id="24" name="Connector: Elbow 12">
            <a:extLst>
              <a:ext uri="{FF2B5EF4-FFF2-40B4-BE49-F238E27FC236}">
                <a16:creationId xmlns:a16="http://schemas.microsoft.com/office/drawing/2014/main" id="{DD7C5D66-3556-24A6-9077-DD42F7AB3D48}"/>
              </a:ext>
            </a:extLst>
          </p:cNvPr>
          <p:cNvCxnSpPr>
            <a:cxnSpLocks/>
            <a:endCxn id="28" idx="1"/>
          </p:cNvCxnSpPr>
          <p:nvPr/>
        </p:nvCxnSpPr>
        <p:spPr>
          <a:xfrm rot="16200000" flipH="1">
            <a:off x="202132" y="3107414"/>
            <a:ext cx="366559" cy="28397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Connector: Elbow 30">
            <a:extLst>
              <a:ext uri="{FF2B5EF4-FFF2-40B4-BE49-F238E27FC236}">
                <a16:creationId xmlns:a16="http://schemas.microsoft.com/office/drawing/2014/main" id="{B089A070-E714-05EF-A914-5934AD9F744D}"/>
              </a:ext>
            </a:extLst>
          </p:cNvPr>
          <p:cNvCxnSpPr>
            <a:cxnSpLocks/>
          </p:cNvCxnSpPr>
          <p:nvPr/>
        </p:nvCxnSpPr>
        <p:spPr>
          <a:xfrm rot="16200000" flipH="1">
            <a:off x="-127824" y="3418066"/>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8" name="Obj 1">
            <a:hlinkClick r:id="rId12" action="ppaction://hlinksldjump"/>
            <a:extLst>
              <a:ext uri="{FF2B5EF4-FFF2-40B4-BE49-F238E27FC236}">
                <a16:creationId xmlns:a16="http://schemas.microsoft.com/office/drawing/2014/main" id="{61DCFD33-0CF2-2B4B-1A2F-F531C4D72C58}"/>
              </a:ext>
            </a:extLst>
          </p:cNvPr>
          <p:cNvSpPr/>
          <p:nvPr/>
        </p:nvSpPr>
        <p:spPr>
          <a:xfrm>
            <a:off x="527400" y="3226943"/>
            <a:ext cx="1212247"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Natural </a:t>
            </a:r>
            <a:r>
              <a:rPr lang="en-US" dirty="0" err="1">
                <a:solidFill>
                  <a:schemeClr val="tx1"/>
                </a:solidFill>
              </a:rPr>
              <a:t>Hx</a:t>
            </a:r>
            <a:endParaRPr lang="en-US" dirty="0">
              <a:solidFill>
                <a:schemeClr val="tx1"/>
              </a:solidFill>
            </a:endParaRPr>
          </a:p>
        </p:txBody>
      </p:sp>
      <p:sp>
        <p:nvSpPr>
          <p:cNvPr id="29" name="Obj 1">
            <a:hlinkClick r:id="rId13" action="ppaction://hlinksldjump"/>
            <a:extLst>
              <a:ext uri="{FF2B5EF4-FFF2-40B4-BE49-F238E27FC236}">
                <a16:creationId xmlns:a16="http://schemas.microsoft.com/office/drawing/2014/main" id="{5D10EDEF-38DA-9E8B-DA57-390B3490FD38}"/>
              </a:ext>
            </a:extLst>
          </p:cNvPr>
          <p:cNvSpPr/>
          <p:nvPr/>
        </p:nvSpPr>
        <p:spPr>
          <a:xfrm>
            <a:off x="185167" y="82134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32" name="Graphic 31" descr="Cursor with solid fill">
            <a:extLst>
              <a:ext uri="{FF2B5EF4-FFF2-40B4-BE49-F238E27FC236}">
                <a16:creationId xmlns:a16="http://schemas.microsoft.com/office/drawing/2014/main" id="{1826D953-EFA6-F383-45B9-343EFD637B7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1094318"/>
            <a:ext cx="301752" cy="301752"/>
          </a:xfrm>
          <a:prstGeom prst="rect">
            <a:avLst/>
          </a:prstGeom>
        </p:spPr>
      </p:pic>
      <p:cxnSp>
        <p:nvCxnSpPr>
          <p:cNvPr id="33" name="Connector: Elbow 30">
            <a:extLst>
              <a:ext uri="{FF2B5EF4-FFF2-40B4-BE49-F238E27FC236}">
                <a16:creationId xmlns:a16="http://schemas.microsoft.com/office/drawing/2014/main" id="{0E0FE6BB-1FF1-FF65-0113-8B8F592B178B}"/>
              </a:ext>
            </a:extLst>
          </p:cNvPr>
          <p:cNvCxnSpPr>
            <a:cxnSpLocks/>
          </p:cNvCxnSpPr>
          <p:nvPr/>
        </p:nvCxnSpPr>
        <p:spPr>
          <a:xfrm rot="16200000" flipH="1">
            <a:off x="-119358" y="3995551"/>
            <a:ext cx="1012092" cy="28142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pic>
        <p:nvPicPr>
          <p:cNvPr id="34" name="Graphic 33" descr="Cursor with solid fill">
            <a:extLst>
              <a:ext uri="{FF2B5EF4-FFF2-40B4-BE49-F238E27FC236}">
                <a16:creationId xmlns:a16="http://schemas.microsoft.com/office/drawing/2014/main" id="{380C020A-70FC-81E9-2F67-1BF4136006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3493800"/>
            <a:ext cx="301752" cy="301752"/>
          </a:xfrm>
          <a:prstGeom prst="rect">
            <a:avLst/>
          </a:prstGeom>
        </p:spPr>
      </p:pic>
      <p:sp>
        <p:nvSpPr>
          <p:cNvPr id="35" name="Obj 1">
            <a:hlinkClick r:id="rId14" action="ppaction://hlinksldjump"/>
            <a:extLst>
              <a:ext uri="{FF2B5EF4-FFF2-40B4-BE49-F238E27FC236}">
                <a16:creationId xmlns:a16="http://schemas.microsoft.com/office/drawing/2014/main" id="{2BE02930-6F83-A1F3-80AD-9EA8E391AE99}"/>
              </a:ext>
            </a:extLst>
          </p:cNvPr>
          <p:cNvSpPr/>
          <p:nvPr/>
        </p:nvSpPr>
        <p:spPr>
          <a:xfrm>
            <a:off x="527400" y="3831755"/>
            <a:ext cx="1212247"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Med Tox</a:t>
            </a:r>
          </a:p>
        </p:txBody>
      </p:sp>
      <p:sp>
        <p:nvSpPr>
          <p:cNvPr id="36" name="Obj 1">
            <a:hlinkClick r:id="rId15" action="ppaction://hlinksldjump"/>
            <a:extLst>
              <a:ext uri="{FF2B5EF4-FFF2-40B4-BE49-F238E27FC236}">
                <a16:creationId xmlns:a16="http://schemas.microsoft.com/office/drawing/2014/main" id="{F996F349-856B-17AF-E804-C4C9F9504DB4}"/>
              </a:ext>
            </a:extLst>
          </p:cNvPr>
          <p:cNvSpPr/>
          <p:nvPr/>
        </p:nvSpPr>
        <p:spPr>
          <a:xfrm>
            <a:off x="527399" y="4436568"/>
            <a:ext cx="1212248"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Comp</a:t>
            </a:r>
          </a:p>
        </p:txBody>
      </p:sp>
      <p:pic>
        <p:nvPicPr>
          <p:cNvPr id="37" name="Graphic 36" descr="Cursor with solid fill">
            <a:extLst>
              <a:ext uri="{FF2B5EF4-FFF2-40B4-BE49-F238E27FC236}">
                <a16:creationId xmlns:a16="http://schemas.microsoft.com/office/drawing/2014/main" id="{A5A7B59D-4B06-6F73-4D64-5392BEABC7F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4729178"/>
            <a:ext cx="301752" cy="301752"/>
          </a:xfrm>
          <a:prstGeom prst="rect">
            <a:avLst/>
          </a:prstGeom>
        </p:spPr>
      </p:pic>
      <p:sp>
        <p:nvSpPr>
          <p:cNvPr id="38" name="Obj 1">
            <a:hlinkClick r:id="rId16" action="ppaction://hlinksldjump"/>
            <a:extLst>
              <a:ext uri="{FF2B5EF4-FFF2-40B4-BE49-F238E27FC236}">
                <a16:creationId xmlns:a16="http://schemas.microsoft.com/office/drawing/2014/main" id="{4FDF3DAB-3047-55EC-DD73-43425DC1E9D4}"/>
              </a:ext>
            </a:extLst>
          </p:cNvPr>
          <p:cNvSpPr/>
          <p:nvPr/>
        </p:nvSpPr>
        <p:spPr>
          <a:xfrm>
            <a:off x="185167" y="504918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39" name="Graphic 38" descr="Cursor with solid fill">
            <a:extLst>
              <a:ext uri="{FF2B5EF4-FFF2-40B4-BE49-F238E27FC236}">
                <a16:creationId xmlns:a16="http://schemas.microsoft.com/office/drawing/2014/main" id="{D2DC92CE-8D9B-3898-AD08-7349BEB2BFF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0158" y="5337738"/>
            <a:ext cx="301752" cy="301752"/>
          </a:xfrm>
          <a:prstGeom prst="rect">
            <a:avLst/>
          </a:prstGeom>
        </p:spPr>
      </p:pic>
    </p:spTree>
    <p:extLst>
      <p:ext uri="{BB962C8B-B14F-4D97-AF65-F5344CB8AC3E}">
        <p14:creationId xmlns:p14="http://schemas.microsoft.com/office/powerpoint/2010/main" val="42270551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73"/>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27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75"/>
                                        </p:tgtEl>
                                        <p:attrNameLst>
                                          <p:attrName>style.visibility</p:attrName>
                                        </p:attrNameLst>
                                      </p:cBhvr>
                                      <p:to>
                                        <p:strVal val="hidden"/>
                                      </p:to>
                                    </p:set>
                                  </p:childTnLst>
                                </p:cTn>
                              </p:par>
                            </p:childTnLst>
                          </p:cTn>
                        </p:par>
                      </p:childTnLst>
                    </p:cTn>
                  </p:par>
                </p:childTnLst>
              </p:cTn>
              <p:nextCondLst>
                <p:cond evt="onClick" delay="0">
                  <p:tgtEl>
                    <p:spTgt spid="273"/>
                  </p:tgtEl>
                </p:cond>
              </p:nextCondLst>
            </p:seq>
            <p:seq concurrent="1" nextAc="seek">
              <p:cTn id="17" restart="whenNotActive" fill="hold" evtFilter="cancelBubble" nodeType="interactiveSeq">
                <p:stCondLst>
                  <p:cond evt="onClick" delay="0">
                    <p:tgtEl>
                      <p:spTgt spid="280"/>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withEffect">
                                  <p:stCondLst>
                                    <p:cond delay="0"/>
                                  </p:stCondLst>
                                  <p:childTnLst>
                                    <p:set>
                                      <p:cBhvr>
                                        <p:cTn id="21" dur="1" fill="hold">
                                          <p:stCondLst>
                                            <p:cond delay="0"/>
                                          </p:stCondLst>
                                        </p:cTn>
                                        <p:tgtEl>
                                          <p:spTgt spid="280"/>
                                        </p:tgtEl>
                                        <p:attrNameLst>
                                          <p:attrName>style.visibility</p:attrName>
                                        </p:attrNameLst>
                                      </p:cBhvr>
                                      <p:to>
                                        <p:strVal val="hidden"/>
                                      </p:to>
                                    </p:set>
                                  </p:childTnLst>
                                </p:cTn>
                              </p:par>
                              <p:par>
                                <p:cTn id="22" presetID="1"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9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81"/>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283"/>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282"/>
                                        </p:tgtEl>
                                        <p:attrNameLst>
                                          <p:attrName>style.visibility</p:attrName>
                                        </p:attrNameLst>
                                      </p:cBhvr>
                                      <p:to>
                                        <p:strVal val="hidden"/>
                                      </p:to>
                                    </p:set>
                                  </p:childTnLst>
                                </p:cTn>
                              </p:par>
                            </p:childTnLst>
                          </p:cTn>
                        </p:par>
                      </p:childTnLst>
                    </p:cTn>
                  </p:par>
                </p:childTnLst>
              </p:cTn>
              <p:nextCondLst>
                <p:cond evt="onClick" delay="0">
                  <p:tgtEl>
                    <p:spTgt spid="280"/>
                  </p:tgtEl>
                </p:cond>
              </p:nextCondLst>
            </p:seq>
            <p:seq concurrent="1" nextAc="seek">
              <p:cTn id="33" restart="whenNotActive" fill="hold" evtFilter="cancelBubble" nodeType="interactiveSeq">
                <p:stCondLst>
                  <p:cond evt="onClick" delay="0">
                    <p:tgtEl>
                      <p:spTgt spid="285"/>
                    </p:tgtEl>
                  </p:cond>
                </p:stCondLst>
                <p:endSync evt="end" delay="0">
                  <p:rtn val="all"/>
                </p:endSync>
                <p:childTnLst>
                  <p:par>
                    <p:cTn id="34" fill="hold">
                      <p:stCondLst>
                        <p:cond delay="0"/>
                      </p:stCondLst>
                      <p:childTnLst>
                        <p:par>
                          <p:cTn id="35" fill="hold">
                            <p:stCondLst>
                              <p:cond delay="0"/>
                            </p:stCondLst>
                            <p:childTnLst>
                              <p:par>
                                <p:cTn id="36" presetID="1" presetClass="exit" presetSubtype="0" fill="hold" grpId="0" nodeType="withEffect">
                                  <p:stCondLst>
                                    <p:cond delay="0"/>
                                  </p:stCondLst>
                                  <p:childTnLst>
                                    <p:set>
                                      <p:cBhvr>
                                        <p:cTn id="37" dur="1" fill="hold">
                                          <p:stCondLst>
                                            <p:cond delay="0"/>
                                          </p:stCondLst>
                                        </p:cTn>
                                        <p:tgtEl>
                                          <p:spTgt spid="285"/>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27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8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86"/>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87"/>
                                        </p:tgtEl>
                                        <p:attrNameLst>
                                          <p:attrName>style.visibility</p:attrName>
                                        </p:attrNameLst>
                                      </p:cBhvr>
                                      <p:to>
                                        <p:strVal val="hidden"/>
                                      </p:to>
                                    </p:set>
                                  </p:childTnLst>
                                </p:cTn>
                              </p:par>
                            </p:childTnLst>
                          </p:cTn>
                        </p:par>
                      </p:childTnLst>
                    </p:cTn>
                  </p:par>
                </p:childTnLst>
              </p:cTn>
              <p:nextCondLst>
                <p:cond evt="onClick" delay="0">
                  <p:tgtEl>
                    <p:spTgt spid="285"/>
                  </p:tgtEl>
                </p:cond>
              </p:nextCondLst>
            </p:seq>
            <p:seq concurrent="1" nextAc="seek">
              <p:cTn id="48" restart="whenNotActive" fill="hold" evtFilter="cancelBubble" nodeType="interactiveSeq">
                <p:stCondLst>
                  <p:cond evt="onClick" delay="0">
                    <p:tgtEl>
                      <p:spTgt spid="289"/>
                    </p:tgtEl>
                  </p:cond>
                </p:stCondLst>
                <p:endSync evt="end" delay="0">
                  <p:rtn val="all"/>
                </p:endSync>
                <p:childTnLst>
                  <p:par>
                    <p:cTn id="49" fill="hold">
                      <p:stCondLst>
                        <p:cond delay="0"/>
                      </p:stCondLst>
                      <p:childTnLst>
                        <p:par>
                          <p:cTn id="50" fill="hold">
                            <p:stCondLst>
                              <p:cond delay="0"/>
                            </p:stCondLst>
                            <p:childTnLst>
                              <p:par>
                                <p:cTn id="51" presetID="1" presetClass="exit" presetSubtype="0" fill="hold" grpId="0" nodeType="withEffect">
                                  <p:stCondLst>
                                    <p:cond delay="0"/>
                                  </p:stCondLst>
                                  <p:childTnLst>
                                    <p:set>
                                      <p:cBhvr>
                                        <p:cTn id="52" dur="1" fill="hold">
                                          <p:stCondLst>
                                            <p:cond delay="0"/>
                                          </p:stCondLst>
                                        </p:cTn>
                                        <p:tgtEl>
                                          <p:spTgt spid="289"/>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0"/>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291"/>
                                        </p:tgtEl>
                                        <p:attrNameLst>
                                          <p:attrName>style.visibility</p:attrName>
                                        </p:attrNameLst>
                                      </p:cBhvr>
                                      <p:to>
                                        <p:strVal val="hidden"/>
                                      </p:to>
                                    </p:set>
                                  </p:childTnLst>
                                </p:cTn>
                              </p:par>
                              <p:par>
                                <p:cTn id="59" presetID="1" presetClass="entr" presetSubtype="0" fill="hold" grpId="0" nodeType="withEffect">
                                  <p:stCondLst>
                                    <p:cond delay="0"/>
                                  </p:stCondLst>
                                  <p:childTnLst>
                                    <p:set>
                                      <p:cBhvr>
                                        <p:cTn id="60" dur="1" fill="hold">
                                          <p:stCondLst>
                                            <p:cond delay="0"/>
                                          </p:stCondLst>
                                        </p:cTn>
                                        <p:tgtEl>
                                          <p:spTgt spid="3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93"/>
                                        </p:tgtEl>
                                        <p:attrNameLst>
                                          <p:attrName>style.visibility</p:attrName>
                                        </p:attrNameLst>
                                      </p:cBhvr>
                                      <p:to>
                                        <p:strVal val="visible"/>
                                      </p:to>
                                    </p:set>
                                  </p:childTnLst>
                                </p:cTn>
                              </p:par>
                            </p:childTnLst>
                          </p:cTn>
                        </p:par>
                      </p:childTnLst>
                    </p:cTn>
                  </p:par>
                </p:childTnLst>
              </p:cTn>
              <p:nextCondLst>
                <p:cond evt="onClick" delay="0">
                  <p:tgtEl>
                    <p:spTgt spid="289"/>
                  </p:tgtEl>
                </p:cond>
              </p:nextCondLst>
            </p:seq>
          </p:childTnLst>
        </p:cTn>
      </p:par>
    </p:tnLst>
    <p:bldLst>
      <p:bldP spid="307" grpId="0" animBg="1"/>
      <p:bldP spid="297" grpId="0" animBg="1"/>
      <p:bldP spid="296" grpId="0" animBg="1"/>
      <p:bldP spid="295" grpId="0" animBg="1"/>
      <p:bldP spid="273" grpId="0" animBg="1"/>
      <p:bldP spid="274" grpId="0" animBg="1"/>
      <p:bldP spid="279" grpId="0"/>
      <p:bldP spid="280" grpId="0" animBg="1"/>
      <p:bldP spid="281" grpId="0" animBg="1"/>
      <p:bldP spid="283" grpId="0"/>
      <p:bldP spid="285" grpId="0" animBg="1"/>
      <p:bldP spid="286" grpId="0" animBg="1"/>
      <p:bldP spid="288" grpId="0"/>
      <p:bldP spid="289" grpId="0" animBg="1"/>
      <p:bldP spid="290" grpId="0" animBg="1"/>
      <p:bldP spid="29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22179E-4E5D-4E74-81E0-51A05810B175}"/>
              </a:ext>
            </a:extLst>
          </p:cNvPr>
          <p:cNvSpPr txBox="1"/>
          <p:nvPr/>
        </p:nvSpPr>
        <p:spPr>
          <a:xfrm>
            <a:off x="3557916" y="63753"/>
            <a:ext cx="6009817" cy="553998"/>
          </a:xfrm>
          <a:prstGeom prst="rect">
            <a:avLst/>
          </a:prstGeom>
          <a:noFill/>
        </p:spPr>
        <p:txBody>
          <a:bodyPr wrap="square" rtlCol="0">
            <a:spAutoFit/>
          </a:bodyPr>
          <a:lstStyle/>
          <a:p>
            <a:pPr algn="ctr"/>
            <a:r>
              <a:rPr lang="en-US" sz="3000" b="1" dirty="0"/>
              <a:t>Treatment of Complications</a:t>
            </a:r>
          </a:p>
        </p:txBody>
      </p:sp>
      <p:grpSp>
        <p:nvGrpSpPr>
          <p:cNvPr id="91" name="Hypercalcemia">
            <a:extLst>
              <a:ext uri="{FF2B5EF4-FFF2-40B4-BE49-F238E27FC236}">
                <a16:creationId xmlns:a16="http://schemas.microsoft.com/office/drawing/2014/main" id="{7B511701-CA91-4EB6-A298-CEB9CDFAE1A4}"/>
              </a:ext>
            </a:extLst>
          </p:cNvPr>
          <p:cNvGrpSpPr/>
          <p:nvPr/>
        </p:nvGrpSpPr>
        <p:grpSpPr>
          <a:xfrm>
            <a:off x="2560320" y="3084742"/>
            <a:ext cx="3265840" cy="792418"/>
            <a:chOff x="2567367" y="2815944"/>
            <a:chExt cx="3265840" cy="792418"/>
          </a:xfrm>
        </p:grpSpPr>
        <p:sp>
          <p:nvSpPr>
            <p:cNvPr id="83" name="Rectangle: Rounded Corners 82">
              <a:extLst>
                <a:ext uri="{FF2B5EF4-FFF2-40B4-BE49-F238E27FC236}">
                  <a16:creationId xmlns:a16="http://schemas.microsoft.com/office/drawing/2014/main" id="{F71716E0-B5F7-4717-AF8D-C47D7BC25746}"/>
                </a:ext>
              </a:extLst>
            </p:cNvPr>
            <p:cNvSpPr/>
            <p:nvPr/>
          </p:nvSpPr>
          <p:spPr>
            <a:xfrm>
              <a:off x="2567367" y="2815944"/>
              <a:ext cx="3023986" cy="79241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Diagram&#10;&#10;Description automatically generated">
              <a:extLst>
                <a:ext uri="{FF2B5EF4-FFF2-40B4-BE49-F238E27FC236}">
                  <a16:creationId xmlns:a16="http://schemas.microsoft.com/office/drawing/2014/main" id="{8763A14F-E8FC-43D2-A9BA-216B39A608FC}"/>
                </a:ext>
              </a:extLst>
            </p:cNvPr>
            <p:cNvPicPr>
              <a:picLocks noChangeAspect="1"/>
            </p:cNvPicPr>
            <p:nvPr/>
          </p:nvPicPr>
          <p:blipFill rotWithShape="1">
            <a:blip r:embed="rId3">
              <a:extLst>
                <a:ext uri="{28A0092B-C50C-407E-A947-70E740481C1C}">
                  <a14:useLocalDpi xmlns:a14="http://schemas.microsoft.com/office/drawing/2010/main" val="0"/>
                </a:ext>
              </a:extLst>
            </a:blip>
            <a:srcRect l="70985" t="35962" r="22674" b="59219"/>
            <a:stretch/>
          </p:blipFill>
          <p:spPr>
            <a:xfrm>
              <a:off x="2702222" y="2985218"/>
              <a:ext cx="973715" cy="517895"/>
            </a:xfrm>
            <a:prstGeom prst="rect">
              <a:avLst/>
            </a:prstGeom>
          </p:spPr>
        </p:pic>
        <p:sp>
          <p:nvSpPr>
            <p:cNvPr id="17" name="TextBox 16">
              <a:extLst>
                <a:ext uri="{FF2B5EF4-FFF2-40B4-BE49-F238E27FC236}">
                  <a16:creationId xmlns:a16="http://schemas.microsoft.com/office/drawing/2014/main" id="{6E8E219F-D984-4555-840C-1484A0E756CD}"/>
                </a:ext>
              </a:extLst>
            </p:cNvPr>
            <p:cNvSpPr txBox="1"/>
            <p:nvPr/>
          </p:nvSpPr>
          <p:spPr>
            <a:xfrm>
              <a:off x="3646841" y="3010816"/>
              <a:ext cx="2186366" cy="400110"/>
            </a:xfrm>
            <a:prstGeom prst="rect">
              <a:avLst/>
            </a:prstGeom>
            <a:noFill/>
          </p:spPr>
          <p:txBody>
            <a:bodyPr wrap="square" rtlCol="0">
              <a:spAutoFit/>
            </a:bodyPr>
            <a:lstStyle/>
            <a:p>
              <a:r>
                <a:rPr lang="en-US" sz="2000" dirty="0" err="1"/>
                <a:t>Hyper</a:t>
              </a:r>
              <a:r>
                <a:rPr lang="en-US" sz="2000" b="1" u="sng" dirty="0" err="1"/>
                <a:t>C</a:t>
              </a:r>
              <a:r>
                <a:rPr lang="en-US" sz="2000" dirty="0" err="1"/>
                <a:t>alcemia</a:t>
              </a:r>
              <a:endParaRPr lang="en-US" sz="2000" dirty="0"/>
            </a:p>
          </p:txBody>
        </p:sp>
      </p:grpSp>
      <p:grpSp>
        <p:nvGrpSpPr>
          <p:cNvPr id="86" name="Bone lytic lesions">
            <a:extLst>
              <a:ext uri="{FF2B5EF4-FFF2-40B4-BE49-F238E27FC236}">
                <a16:creationId xmlns:a16="http://schemas.microsoft.com/office/drawing/2014/main" id="{DEFA06BA-6264-4461-A56D-F00F647DA2F1}"/>
              </a:ext>
            </a:extLst>
          </p:cNvPr>
          <p:cNvGrpSpPr/>
          <p:nvPr/>
        </p:nvGrpSpPr>
        <p:grpSpPr>
          <a:xfrm>
            <a:off x="2560320" y="4301615"/>
            <a:ext cx="3023986" cy="809681"/>
            <a:chOff x="2543371" y="3693621"/>
            <a:chExt cx="3023986" cy="809681"/>
          </a:xfrm>
        </p:grpSpPr>
        <p:sp>
          <p:nvSpPr>
            <p:cNvPr id="85" name="Rectangle: Rounded Corners 84">
              <a:extLst>
                <a:ext uri="{FF2B5EF4-FFF2-40B4-BE49-F238E27FC236}">
                  <a16:creationId xmlns:a16="http://schemas.microsoft.com/office/drawing/2014/main" id="{A24E1229-152E-486A-9741-3873E5FBB863}"/>
                </a:ext>
              </a:extLst>
            </p:cNvPr>
            <p:cNvSpPr/>
            <p:nvPr/>
          </p:nvSpPr>
          <p:spPr>
            <a:xfrm>
              <a:off x="2543371" y="3693621"/>
              <a:ext cx="3023986" cy="79241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Diagram&#10;&#10;Description automatically generated">
              <a:extLst>
                <a:ext uri="{FF2B5EF4-FFF2-40B4-BE49-F238E27FC236}">
                  <a16:creationId xmlns:a16="http://schemas.microsoft.com/office/drawing/2014/main" id="{330D0BAA-93D4-43D0-A844-DB3754FFAC94}"/>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45190" b="61095" l="68000" r="78167">
                          <a14:foregroundMark x1="70367" y1="48952" x2="68000" y2="49619"/>
                        </a14:backgroundRemoval>
                      </a14:imgEffect>
                    </a14:imgLayer>
                  </a14:imgProps>
                </a:ext>
                <a:ext uri="{28A0092B-C50C-407E-A947-70E740481C1C}">
                  <a14:useLocalDpi xmlns:a14="http://schemas.microsoft.com/office/drawing/2010/main" val="0"/>
                </a:ext>
              </a:extLst>
            </a:blip>
            <a:srcRect l="69395" t="43253" r="20852" b="36894"/>
            <a:stretch/>
          </p:blipFill>
          <p:spPr>
            <a:xfrm>
              <a:off x="2712672" y="3711997"/>
              <a:ext cx="555276" cy="791305"/>
            </a:xfrm>
            <a:prstGeom prst="rect">
              <a:avLst/>
            </a:prstGeom>
          </p:spPr>
        </p:pic>
        <p:sp>
          <p:nvSpPr>
            <p:cNvPr id="18" name="TextBox 17">
              <a:extLst>
                <a:ext uri="{FF2B5EF4-FFF2-40B4-BE49-F238E27FC236}">
                  <a16:creationId xmlns:a16="http://schemas.microsoft.com/office/drawing/2014/main" id="{60493A3E-413A-44DF-B35C-E44F00A56012}"/>
                </a:ext>
              </a:extLst>
            </p:cNvPr>
            <p:cNvSpPr txBox="1"/>
            <p:nvPr/>
          </p:nvSpPr>
          <p:spPr>
            <a:xfrm>
              <a:off x="3250324" y="3907595"/>
              <a:ext cx="2186366" cy="400110"/>
            </a:xfrm>
            <a:prstGeom prst="rect">
              <a:avLst/>
            </a:prstGeom>
            <a:noFill/>
          </p:spPr>
          <p:txBody>
            <a:bodyPr wrap="square" rtlCol="0">
              <a:spAutoFit/>
            </a:bodyPr>
            <a:lstStyle/>
            <a:p>
              <a:r>
                <a:rPr lang="en-US" sz="2000" b="1" u="sng" dirty="0"/>
                <a:t>B</a:t>
              </a:r>
              <a:r>
                <a:rPr lang="en-US" sz="2000" dirty="0"/>
                <a:t>oney lytic lesions</a:t>
              </a:r>
            </a:p>
          </p:txBody>
        </p:sp>
      </p:grpSp>
      <p:grpSp>
        <p:nvGrpSpPr>
          <p:cNvPr id="75" name="Immunodeficiency">
            <a:extLst>
              <a:ext uri="{FF2B5EF4-FFF2-40B4-BE49-F238E27FC236}">
                <a16:creationId xmlns:a16="http://schemas.microsoft.com/office/drawing/2014/main" id="{E23FF303-E177-4AC4-9187-D6FCF576E4F2}"/>
              </a:ext>
            </a:extLst>
          </p:cNvPr>
          <p:cNvGrpSpPr/>
          <p:nvPr/>
        </p:nvGrpSpPr>
        <p:grpSpPr>
          <a:xfrm>
            <a:off x="2560320" y="2012422"/>
            <a:ext cx="3023986" cy="792418"/>
            <a:chOff x="2560320" y="1743287"/>
            <a:chExt cx="3023986" cy="792418"/>
          </a:xfrm>
        </p:grpSpPr>
        <p:sp>
          <p:nvSpPr>
            <p:cNvPr id="74" name="Rectangle: Rounded Corners 73">
              <a:extLst>
                <a:ext uri="{FF2B5EF4-FFF2-40B4-BE49-F238E27FC236}">
                  <a16:creationId xmlns:a16="http://schemas.microsoft.com/office/drawing/2014/main" id="{AF097517-72FD-42DC-BCD4-83A8EFF43481}"/>
                </a:ext>
              </a:extLst>
            </p:cNvPr>
            <p:cNvSpPr/>
            <p:nvPr/>
          </p:nvSpPr>
          <p:spPr>
            <a:xfrm>
              <a:off x="2560320" y="1743287"/>
              <a:ext cx="3023986" cy="79241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Diagram&#10;&#10;Description automatically generated">
              <a:extLst>
                <a:ext uri="{FF2B5EF4-FFF2-40B4-BE49-F238E27FC236}">
                  <a16:creationId xmlns:a16="http://schemas.microsoft.com/office/drawing/2014/main" id="{151E113B-C404-447B-B357-2417FC21E97F}"/>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15810" b="28286" l="69600" r="77800">
                          <a14:foregroundMark x1="74567" y1="17095" x2="70300" y2="24333"/>
                          <a14:foregroundMark x1="70300" y1="24333" x2="77100" y2="27857"/>
                          <a14:foregroundMark x1="77100" y1="27857" x2="77167" y2="17952"/>
                          <a14:foregroundMark x1="77167" y1="17952" x2="71733" y2="15810"/>
                          <a14:foregroundMark x1="72800" y1="17571" x2="72800" y2="17571"/>
                          <a14:foregroundMark x1="72433" y1="17095" x2="69600" y2="19857"/>
                          <a14:foregroundMark x1="73333" y1="17857" x2="74367" y2="27571"/>
                          <a14:foregroundMark x1="74367" y1="27571" x2="75400" y2="17524"/>
                          <a14:foregroundMark x1="75400" y1="17524" x2="70600" y2="24429"/>
                          <a14:foregroundMark x1="70600" y1="24429" x2="77600" y2="22524"/>
                          <a14:foregroundMark x1="77600" y1="22524" x2="77600" y2="20381"/>
                          <a14:foregroundMark x1="75267" y1="20381" x2="76700" y2="25714"/>
                        </a14:backgroundRemoval>
                      </a14:imgEffect>
                    </a14:imgLayer>
                  </a14:imgProps>
                </a:ext>
                <a:ext uri="{28A0092B-C50C-407E-A947-70E740481C1C}">
                  <a14:useLocalDpi xmlns:a14="http://schemas.microsoft.com/office/drawing/2010/main" val="0"/>
                </a:ext>
              </a:extLst>
            </a:blip>
            <a:srcRect l="69737" t="15139" r="21401" b="71393"/>
            <a:stretch/>
          </p:blipFill>
          <p:spPr>
            <a:xfrm>
              <a:off x="2726735" y="1779963"/>
              <a:ext cx="671207" cy="714097"/>
            </a:xfrm>
            <a:prstGeom prst="rect">
              <a:avLst/>
            </a:prstGeom>
          </p:spPr>
        </p:pic>
        <p:sp>
          <p:nvSpPr>
            <p:cNvPr id="25" name="TextBox 24">
              <a:extLst>
                <a:ext uri="{FF2B5EF4-FFF2-40B4-BE49-F238E27FC236}">
                  <a16:creationId xmlns:a16="http://schemas.microsoft.com/office/drawing/2014/main" id="{6F62B6CB-F2C0-4655-BE56-112956D73FDD}"/>
                </a:ext>
              </a:extLst>
            </p:cNvPr>
            <p:cNvSpPr txBox="1"/>
            <p:nvPr/>
          </p:nvSpPr>
          <p:spPr>
            <a:xfrm>
              <a:off x="3397940" y="1956362"/>
              <a:ext cx="2186366" cy="400110"/>
            </a:xfrm>
            <a:prstGeom prst="rect">
              <a:avLst/>
            </a:prstGeom>
            <a:noFill/>
          </p:spPr>
          <p:txBody>
            <a:bodyPr wrap="square" rtlCol="0">
              <a:spAutoFit/>
            </a:bodyPr>
            <a:lstStyle/>
            <a:p>
              <a:r>
                <a:rPr lang="en-US" sz="2000" b="1" u="sng" dirty="0"/>
                <a:t>I</a:t>
              </a:r>
              <a:r>
                <a:rPr lang="en-US" sz="2000" dirty="0"/>
                <a:t>mmunodeficiency</a:t>
              </a:r>
            </a:p>
          </p:txBody>
        </p:sp>
      </p:grpSp>
      <p:grpSp>
        <p:nvGrpSpPr>
          <p:cNvPr id="76" name="Anemia">
            <a:extLst>
              <a:ext uri="{FF2B5EF4-FFF2-40B4-BE49-F238E27FC236}">
                <a16:creationId xmlns:a16="http://schemas.microsoft.com/office/drawing/2014/main" id="{45368710-71E7-4EF4-981D-840EBA5EF826}"/>
              </a:ext>
            </a:extLst>
          </p:cNvPr>
          <p:cNvGrpSpPr/>
          <p:nvPr/>
        </p:nvGrpSpPr>
        <p:grpSpPr>
          <a:xfrm>
            <a:off x="2560320" y="940102"/>
            <a:ext cx="2246811" cy="792418"/>
            <a:chOff x="2560319" y="730366"/>
            <a:chExt cx="2246811" cy="792418"/>
          </a:xfrm>
        </p:grpSpPr>
        <p:sp>
          <p:nvSpPr>
            <p:cNvPr id="73" name="Rectangle: Rounded Corners 72">
              <a:extLst>
                <a:ext uri="{FF2B5EF4-FFF2-40B4-BE49-F238E27FC236}">
                  <a16:creationId xmlns:a16="http://schemas.microsoft.com/office/drawing/2014/main" id="{3BA89924-7E51-4197-A6D7-527B4C3E7763}"/>
                </a:ext>
              </a:extLst>
            </p:cNvPr>
            <p:cNvSpPr/>
            <p:nvPr/>
          </p:nvSpPr>
          <p:spPr>
            <a:xfrm>
              <a:off x="2560319" y="730366"/>
              <a:ext cx="2246811" cy="79241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Diagram&#10;&#10;Description automatically generated">
              <a:extLst>
                <a:ext uri="{FF2B5EF4-FFF2-40B4-BE49-F238E27FC236}">
                  <a16:creationId xmlns:a16="http://schemas.microsoft.com/office/drawing/2014/main" id="{D393EF18-92AA-4BAC-B219-324EDD8BF5FC}"/>
                </a:ext>
              </a:extLst>
            </p:cNvPr>
            <p:cNvPicPr>
              <a:picLocks noChangeAspect="1"/>
            </p:cNvPicPr>
            <p:nvPr/>
          </p:nvPicPr>
          <p:blipFill rotWithShape="1">
            <a:blip r:embed="rId3">
              <a:extLst>
                <a:ext uri="{28A0092B-C50C-407E-A947-70E740481C1C}">
                  <a14:useLocalDpi xmlns:a14="http://schemas.microsoft.com/office/drawing/2010/main" val="0"/>
                </a:ext>
              </a:extLst>
            </a:blip>
            <a:srcRect l="69737" t="3975" r="21340" b="86543"/>
            <a:stretch/>
          </p:blipFill>
          <p:spPr>
            <a:xfrm>
              <a:off x="2702222" y="835876"/>
              <a:ext cx="802716" cy="597080"/>
            </a:xfrm>
            <a:prstGeom prst="rect">
              <a:avLst/>
            </a:prstGeom>
          </p:spPr>
        </p:pic>
        <p:sp>
          <p:nvSpPr>
            <p:cNvPr id="27" name="TextBox 26">
              <a:extLst>
                <a:ext uri="{FF2B5EF4-FFF2-40B4-BE49-F238E27FC236}">
                  <a16:creationId xmlns:a16="http://schemas.microsoft.com/office/drawing/2014/main" id="{D7C14F48-1743-4BA6-A466-5A4B7B8065CD}"/>
                </a:ext>
              </a:extLst>
            </p:cNvPr>
            <p:cNvSpPr txBox="1"/>
            <p:nvPr/>
          </p:nvSpPr>
          <p:spPr>
            <a:xfrm>
              <a:off x="3646841" y="920693"/>
              <a:ext cx="1042725" cy="400110"/>
            </a:xfrm>
            <a:prstGeom prst="rect">
              <a:avLst/>
            </a:prstGeom>
            <a:noFill/>
          </p:spPr>
          <p:txBody>
            <a:bodyPr wrap="square" rtlCol="0">
              <a:spAutoFit/>
            </a:bodyPr>
            <a:lstStyle/>
            <a:p>
              <a:r>
                <a:rPr lang="en-US" sz="2000" b="1" u="sng" dirty="0"/>
                <a:t>A</a:t>
              </a:r>
              <a:r>
                <a:rPr lang="en-US" sz="2000" dirty="0"/>
                <a:t>nemia</a:t>
              </a:r>
            </a:p>
          </p:txBody>
        </p:sp>
      </p:grpSp>
      <p:grpSp>
        <p:nvGrpSpPr>
          <p:cNvPr id="90" name="Renal disease">
            <a:extLst>
              <a:ext uri="{FF2B5EF4-FFF2-40B4-BE49-F238E27FC236}">
                <a16:creationId xmlns:a16="http://schemas.microsoft.com/office/drawing/2014/main" id="{24331FAF-3707-4AD8-9E49-51D7DA607DF0}"/>
              </a:ext>
            </a:extLst>
          </p:cNvPr>
          <p:cNvGrpSpPr/>
          <p:nvPr/>
        </p:nvGrpSpPr>
        <p:grpSpPr>
          <a:xfrm>
            <a:off x="2560320" y="5516068"/>
            <a:ext cx="2410489" cy="792418"/>
            <a:chOff x="2567367" y="4949006"/>
            <a:chExt cx="2410489" cy="792418"/>
          </a:xfrm>
        </p:grpSpPr>
        <p:sp>
          <p:nvSpPr>
            <p:cNvPr id="88" name="Rectangle: Rounded Corners 87">
              <a:extLst>
                <a:ext uri="{FF2B5EF4-FFF2-40B4-BE49-F238E27FC236}">
                  <a16:creationId xmlns:a16="http://schemas.microsoft.com/office/drawing/2014/main" id="{A1CED94A-7F16-4EA8-B972-77D682E3CEF5}"/>
                </a:ext>
              </a:extLst>
            </p:cNvPr>
            <p:cNvSpPr/>
            <p:nvPr/>
          </p:nvSpPr>
          <p:spPr>
            <a:xfrm>
              <a:off x="2567367" y="4949006"/>
              <a:ext cx="2410489" cy="792418"/>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agram&#10;&#10;Description automatically generated">
              <a:extLst>
                <a:ext uri="{FF2B5EF4-FFF2-40B4-BE49-F238E27FC236}">
                  <a16:creationId xmlns:a16="http://schemas.microsoft.com/office/drawing/2014/main" id="{BC29DE89-EC5A-41E4-B3C7-9483157C7A7D}"/>
                </a:ext>
              </a:extLst>
            </p:cNvPr>
            <p:cNvPicPr>
              <a:picLocks noChangeAspect="1"/>
            </p:cNvPicPr>
            <p:nvPr/>
          </p:nvPicPr>
          <p:blipFill rotWithShape="1">
            <a:blip r:embed="rId7">
              <a:extLst>
                <a:ext uri="{BEBA8EAE-BF5A-486C-A8C5-ECC9F3942E4B}">
                  <a14:imgProps xmlns:a14="http://schemas.microsoft.com/office/drawing/2010/main">
                    <a14:imgLayer r:embed="rId5">
                      <a14:imgEffect>
                        <a14:backgroundRemoval t="65905" b="81762" l="69267" r="78300">
                          <a14:foregroundMark x1="72467" y1="70905" x2="69267" y2="78714"/>
                          <a14:foregroundMark x1="73233" y1="73762" x2="73467" y2="73762"/>
                        </a14:backgroundRemoval>
                      </a14:imgEffect>
                    </a14:imgLayer>
                  </a14:imgProps>
                </a:ext>
                <a:ext uri="{28A0092B-C50C-407E-A947-70E740481C1C}">
                  <a14:useLocalDpi xmlns:a14="http://schemas.microsoft.com/office/drawing/2010/main" val="0"/>
                </a:ext>
              </a:extLst>
            </a:blip>
            <a:srcRect l="69737" t="63925" r="20731" b="16221"/>
            <a:stretch/>
          </p:blipFill>
          <p:spPr>
            <a:xfrm>
              <a:off x="2702222" y="4966269"/>
              <a:ext cx="515999" cy="752363"/>
            </a:xfrm>
            <a:prstGeom prst="rect">
              <a:avLst/>
            </a:prstGeom>
          </p:spPr>
        </p:pic>
        <p:sp>
          <p:nvSpPr>
            <p:cNvPr id="31" name="TextBox 30">
              <a:extLst>
                <a:ext uri="{FF2B5EF4-FFF2-40B4-BE49-F238E27FC236}">
                  <a16:creationId xmlns:a16="http://schemas.microsoft.com/office/drawing/2014/main" id="{E393F019-707B-4669-9627-81409E63D717}"/>
                </a:ext>
              </a:extLst>
            </p:cNvPr>
            <p:cNvSpPr txBox="1"/>
            <p:nvPr/>
          </p:nvSpPr>
          <p:spPr>
            <a:xfrm>
              <a:off x="3230115" y="5161652"/>
              <a:ext cx="1604922" cy="400110"/>
            </a:xfrm>
            <a:prstGeom prst="rect">
              <a:avLst/>
            </a:prstGeom>
            <a:noFill/>
          </p:spPr>
          <p:txBody>
            <a:bodyPr wrap="square" rtlCol="0">
              <a:spAutoFit/>
            </a:bodyPr>
            <a:lstStyle/>
            <a:p>
              <a:r>
                <a:rPr lang="en-US" sz="2000" b="1" u="sng" dirty="0"/>
                <a:t>R</a:t>
              </a:r>
              <a:r>
                <a:rPr lang="en-US" sz="2000" dirty="0"/>
                <a:t>enal disease</a:t>
              </a:r>
            </a:p>
          </p:txBody>
        </p:sp>
      </p:grpSp>
      <p:cxnSp>
        <p:nvCxnSpPr>
          <p:cNvPr id="61" name="Straight Arrow Connector 60">
            <a:extLst>
              <a:ext uri="{FF2B5EF4-FFF2-40B4-BE49-F238E27FC236}">
                <a16:creationId xmlns:a16="http://schemas.microsoft.com/office/drawing/2014/main" id="{ADB88A5E-2EDF-4230-A6C6-64925D440ECF}"/>
              </a:ext>
            </a:extLst>
          </p:cNvPr>
          <p:cNvCxnSpPr>
            <a:cxnSpLocks/>
          </p:cNvCxnSpPr>
          <p:nvPr/>
        </p:nvCxnSpPr>
        <p:spPr>
          <a:xfrm>
            <a:off x="5852159" y="4683432"/>
            <a:ext cx="19594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2" name="TextBox 61">
            <a:extLst>
              <a:ext uri="{FF2B5EF4-FFF2-40B4-BE49-F238E27FC236}">
                <a16:creationId xmlns:a16="http://schemas.microsoft.com/office/drawing/2014/main" id="{3B6A3E8E-8115-4FE3-9411-9B18337DE911}"/>
              </a:ext>
            </a:extLst>
          </p:cNvPr>
          <p:cNvSpPr txBox="1"/>
          <p:nvPr/>
        </p:nvSpPr>
        <p:spPr>
          <a:xfrm>
            <a:off x="8079442" y="3962672"/>
            <a:ext cx="3942819" cy="1323439"/>
          </a:xfrm>
          <a:prstGeom prst="rect">
            <a:avLst/>
          </a:prstGeom>
          <a:noFill/>
        </p:spPr>
        <p:txBody>
          <a:bodyPr wrap="square" rtlCol="0">
            <a:spAutoFit/>
          </a:bodyPr>
          <a:lstStyle/>
          <a:p>
            <a:r>
              <a:rPr lang="en-US" sz="2000" dirty="0"/>
              <a:t>Ca and vit D </a:t>
            </a:r>
            <a:r>
              <a:rPr lang="en-US" dirty="0"/>
              <a:t>(if Ca normal)</a:t>
            </a:r>
          </a:p>
          <a:p>
            <a:r>
              <a:rPr lang="en-US" sz="2000" dirty="0"/>
              <a:t>Systemic therapy + bisphosphonates</a:t>
            </a:r>
          </a:p>
          <a:p>
            <a:r>
              <a:rPr lang="en-US" sz="2000" dirty="0"/>
              <a:t>Consider radiation</a:t>
            </a:r>
          </a:p>
          <a:p>
            <a:r>
              <a:rPr lang="en-US" sz="2000" dirty="0"/>
              <a:t>Avoid surgery unless emergency </a:t>
            </a:r>
          </a:p>
        </p:txBody>
      </p:sp>
      <p:sp>
        <p:nvSpPr>
          <p:cNvPr id="64" name="TextBox 63">
            <a:extLst>
              <a:ext uri="{FF2B5EF4-FFF2-40B4-BE49-F238E27FC236}">
                <a16:creationId xmlns:a16="http://schemas.microsoft.com/office/drawing/2014/main" id="{0D103295-659F-446A-94E7-8B21026388A9}"/>
              </a:ext>
            </a:extLst>
          </p:cNvPr>
          <p:cNvSpPr txBox="1"/>
          <p:nvPr/>
        </p:nvSpPr>
        <p:spPr>
          <a:xfrm>
            <a:off x="8079442" y="5494479"/>
            <a:ext cx="3676976" cy="1015663"/>
          </a:xfrm>
          <a:prstGeom prst="rect">
            <a:avLst/>
          </a:prstGeom>
          <a:noFill/>
        </p:spPr>
        <p:txBody>
          <a:bodyPr wrap="square" rtlCol="0">
            <a:spAutoFit/>
          </a:bodyPr>
          <a:lstStyle/>
          <a:p>
            <a:r>
              <a:rPr lang="en-US" sz="2000" dirty="0"/>
              <a:t>IVF to target high UOP</a:t>
            </a:r>
          </a:p>
          <a:p>
            <a:pPr marL="117475" indent="-117475"/>
            <a:r>
              <a:rPr lang="en-US" sz="2000" dirty="0"/>
              <a:t>Consider biopsy</a:t>
            </a:r>
          </a:p>
          <a:p>
            <a:r>
              <a:rPr lang="en-US" sz="2000" dirty="0"/>
              <a:t>Urgent systemic therapy</a:t>
            </a:r>
          </a:p>
        </p:txBody>
      </p:sp>
      <p:cxnSp>
        <p:nvCxnSpPr>
          <p:cNvPr id="65" name="Straight Arrow Connector 64">
            <a:extLst>
              <a:ext uri="{FF2B5EF4-FFF2-40B4-BE49-F238E27FC236}">
                <a16:creationId xmlns:a16="http://schemas.microsoft.com/office/drawing/2014/main" id="{C07DB164-1987-40B8-A744-5CE317FDB58B}"/>
              </a:ext>
            </a:extLst>
          </p:cNvPr>
          <p:cNvCxnSpPr>
            <a:cxnSpLocks/>
          </p:cNvCxnSpPr>
          <p:nvPr/>
        </p:nvCxnSpPr>
        <p:spPr>
          <a:xfrm>
            <a:off x="5251269" y="5938306"/>
            <a:ext cx="256032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D11EE812-E875-4A05-8F63-A2AB9E0B15E1}"/>
              </a:ext>
            </a:extLst>
          </p:cNvPr>
          <p:cNvCxnSpPr>
            <a:cxnSpLocks/>
          </p:cNvCxnSpPr>
          <p:nvPr/>
        </p:nvCxnSpPr>
        <p:spPr>
          <a:xfrm>
            <a:off x="5852159" y="2394749"/>
            <a:ext cx="19594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9266AA67-461B-4437-BAA3-124F601D7F07}"/>
              </a:ext>
            </a:extLst>
          </p:cNvPr>
          <p:cNvSpPr txBox="1"/>
          <p:nvPr/>
        </p:nvSpPr>
        <p:spPr>
          <a:xfrm>
            <a:off x="8079442" y="2124444"/>
            <a:ext cx="3676976" cy="707886"/>
          </a:xfrm>
          <a:prstGeom prst="rect">
            <a:avLst/>
          </a:prstGeom>
          <a:noFill/>
        </p:spPr>
        <p:txBody>
          <a:bodyPr wrap="square" rtlCol="0">
            <a:spAutoFit/>
          </a:bodyPr>
          <a:lstStyle/>
          <a:p>
            <a:r>
              <a:rPr lang="en-US" sz="2000" dirty="0"/>
              <a:t>IVIg if IgG is low (&lt;500) + recurrent infections </a:t>
            </a:r>
          </a:p>
        </p:txBody>
      </p:sp>
      <p:cxnSp>
        <p:nvCxnSpPr>
          <p:cNvPr id="68" name="Straight Arrow Connector 67">
            <a:extLst>
              <a:ext uri="{FF2B5EF4-FFF2-40B4-BE49-F238E27FC236}">
                <a16:creationId xmlns:a16="http://schemas.microsoft.com/office/drawing/2014/main" id="{62353507-1033-47A1-B1CE-8E7597728E3C}"/>
              </a:ext>
            </a:extLst>
          </p:cNvPr>
          <p:cNvCxnSpPr>
            <a:cxnSpLocks/>
          </p:cNvCxnSpPr>
          <p:nvPr/>
        </p:nvCxnSpPr>
        <p:spPr>
          <a:xfrm>
            <a:off x="5136789" y="1361360"/>
            <a:ext cx="26748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9" name="TextBox 68">
            <a:extLst>
              <a:ext uri="{FF2B5EF4-FFF2-40B4-BE49-F238E27FC236}">
                <a16:creationId xmlns:a16="http://schemas.microsoft.com/office/drawing/2014/main" id="{039A21C3-8EFE-476E-851C-1E68D8707C16}"/>
              </a:ext>
            </a:extLst>
          </p:cNvPr>
          <p:cNvSpPr txBox="1"/>
          <p:nvPr/>
        </p:nvSpPr>
        <p:spPr>
          <a:xfrm>
            <a:off x="8079442" y="1114929"/>
            <a:ext cx="3676976" cy="707886"/>
          </a:xfrm>
          <a:prstGeom prst="rect">
            <a:avLst/>
          </a:prstGeom>
          <a:noFill/>
        </p:spPr>
        <p:txBody>
          <a:bodyPr wrap="square" rtlCol="0">
            <a:spAutoFit/>
          </a:bodyPr>
          <a:lstStyle/>
          <a:p>
            <a:r>
              <a:rPr lang="en-US" sz="2000" dirty="0"/>
              <a:t>Evaluate and treat for other causes</a:t>
            </a:r>
          </a:p>
        </p:txBody>
      </p:sp>
      <p:cxnSp>
        <p:nvCxnSpPr>
          <p:cNvPr id="70" name="Straight Arrow Connector 69">
            <a:extLst>
              <a:ext uri="{FF2B5EF4-FFF2-40B4-BE49-F238E27FC236}">
                <a16:creationId xmlns:a16="http://schemas.microsoft.com/office/drawing/2014/main" id="{0A840B11-85CF-4C99-999E-1934A71A6B5D}"/>
              </a:ext>
            </a:extLst>
          </p:cNvPr>
          <p:cNvCxnSpPr>
            <a:cxnSpLocks/>
          </p:cNvCxnSpPr>
          <p:nvPr/>
        </p:nvCxnSpPr>
        <p:spPr>
          <a:xfrm>
            <a:off x="5852159" y="3478882"/>
            <a:ext cx="19594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1" name="TextBox 70">
            <a:extLst>
              <a:ext uri="{FF2B5EF4-FFF2-40B4-BE49-F238E27FC236}">
                <a16:creationId xmlns:a16="http://schemas.microsoft.com/office/drawing/2014/main" id="{8D20D8C0-067F-48A0-85B2-E246CEB1EFE7}"/>
              </a:ext>
            </a:extLst>
          </p:cNvPr>
          <p:cNvSpPr txBox="1"/>
          <p:nvPr/>
        </p:nvSpPr>
        <p:spPr>
          <a:xfrm>
            <a:off x="8079442" y="3144856"/>
            <a:ext cx="3676976" cy="707886"/>
          </a:xfrm>
          <a:prstGeom prst="rect">
            <a:avLst/>
          </a:prstGeom>
          <a:noFill/>
        </p:spPr>
        <p:txBody>
          <a:bodyPr wrap="square" rtlCol="0">
            <a:spAutoFit/>
          </a:bodyPr>
          <a:lstStyle/>
          <a:p>
            <a:r>
              <a:rPr lang="en-US" sz="2000" dirty="0"/>
              <a:t>Bisphosphonates</a:t>
            </a:r>
          </a:p>
          <a:p>
            <a:r>
              <a:rPr lang="en-US" sz="2000" dirty="0"/>
              <a:t>Acute hospitalization</a:t>
            </a:r>
          </a:p>
        </p:txBody>
      </p:sp>
      <p:pic>
        <p:nvPicPr>
          <p:cNvPr id="81" name="Graphic 80" descr="Cursor with solid fill">
            <a:extLst>
              <a:ext uri="{FF2B5EF4-FFF2-40B4-BE49-F238E27FC236}">
                <a16:creationId xmlns:a16="http://schemas.microsoft.com/office/drawing/2014/main" id="{E39DFA21-6E75-45A9-B27A-99CF5963C4A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76104" y="1593345"/>
            <a:ext cx="301752" cy="301752"/>
          </a:xfrm>
          <a:prstGeom prst="rect">
            <a:avLst/>
          </a:prstGeom>
        </p:spPr>
      </p:pic>
      <p:pic>
        <p:nvPicPr>
          <p:cNvPr id="82" name="Graphic 81" descr="Cursor with solid fill">
            <a:extLst>
              <a:ext uri="{FF2B5EF4-FFF2-40B4-BE49-F238E27FC236}">
                <a16:creationId xmlns:a16="http://schemas.microsoft.com/office/drawing/2014/main" id="{ACCA91CD-3332-45F7-BAE7-FD03C1534CE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3430" y="2663197"/>
            <a:ext cx="301752" cy="301752"/>
          </a:xfrm>
          <a:prstGeom prst="rect">
            <a:avLst/>
          </a:prstGeom>
        </p:spPr>
      </p:pic>
      <p:pic>
        <p:nvPicPr>
          <p:cNvPr id="84" name="Graphic 83" descr="Cursor with solid fill">
            <a:extLst>
              <a:ext uri="{FF2B5EF4-FFF2-40B4-BE49-F238E27FC236}">
                <a16:creationId xmlns:a16="http://schemas.microsoft.com/office/drawing/2014/main" id="{CBCB55CD-4B5A-45CD-8F35-5F6849C0699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3430" y="3709128"/>
            <a:ext cx="301752" cy="301752"/>
          </a:xfrm>
          <a:prstGeom prst="rect">
            <a:avLst/>
          </a:prstGeom>
        </p:spPr>
      </p:pic>
      <p:pic>
        <p:nvPicPr>
          <p:cNvPr id="87" name="Graphic 86" descr="Cursor with solid fill">
            <a:extLst>
              <a:ext uri="{FF2B5EF4-FFF2-40B4-BE49-F238E27FC236}">
                <a16:creationId xmlns:a16="http://schemas.microsoft.com/office/drawing/2014/main" id="{31C25A1C-C8AE-4CB2-92E2-2889FE5E364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33430" y="4942602"/>
            <a:ext cx="301752" cy="301752"/>
          </a:xfrm>
          <a:prstGeom prst="rect">
            <a:avLst/>
          </a:prstGeom>
        </p:spPr>
      </p:pic>
      <p:pic>
        <p:nvPicPr>
          <p:cNvPr id="89" name="Graphic 88" descr="Cursor with solid fill">
            <a:extLst>
              <a:ext uri="{FF2B5EF4-FFF2-40B4-BE49-F238E27FC236}">
                <a16:creationId xmlns:a16="http://schemas.microsoft.com/office/drawing/2014/main" id="{A112A9A8-A312-4785-96BB-B98A10D13DE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35037" y="6126325"/>
            <a:ext cx="301752" cy="301752"/>
          </a:xfrm>
          <a:prstGeom prst="rect">
            <a:avLst/>
          </a:prstGeom>
        </p:spPr>
      </p:pic>
      <p:grpSp>
        <p:nvGrpSpPr>
          <p:cNvPr id="92" name="Renal disease final">
            <a:extLst>
              <a:ext uri="{FF2B5EF4-FFF2-40B4-BE49-F238E27FC236}">
                <a16:creationId xmlns:a16="http://schemas.microsoft.com/office/drawing/2014/main" id="{427ECB52-C16B-4AD5-A6FC-5B25DFF89314}"/>
              </a:ext>
            </a:extLst>
          </p:cNvPr>
          <p:cNvGrpSpPr/>
          <p:nvPr/>
        </p:nvGrpSpPr>
        <p:grpSpPr>
          <a:xfrm>
            <a:off x="2560320" y="5494479"/>
            <a:ext cx="2410489" cy="814007"/>
            <a:chOff x="2567367" y="4949005"/>
            <a:chExt cx="2410489" cy="814007"/>
          </a:xfrm>
        </p:grpSpPr>
        <p:sp>
          <p:nvSpPr>
            <p:cNvPr id="93" name="Rectangle: Rounded Corners 92">
              <a:extLst>
                <a:ext uri="{FF2B5EF4-FFF2-40B4-BE49-F238E27FC236}">
                  <a16:creationId xmlns:a16="http://schemas.microsoft.com/office/drawing/2014/main" id="{6F38A882-0A5D-4CEA-83FD-DEB15E481A9A}"/>
                </a:ext>
              </a:extLst>
            </p:cNvPr>
            <p:cNvSpPr/>
            <p:nvPr/>
          </p:nvSpPr>
          <p:spPr>
            <a:xfrm>
              <a:off x="2567367" y="4949005"/>
              <a:ext cx="2410489" cy="814007"/>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4" name="Picture 93" descr="Diagram&#10;&#10;Description automatically generated">
              <a:extLst>
                <a:ext uri="{FF2B5EF4-FFF2-40B4-BE49-F238E27FC236}">
                  <a16:creationId xmlns:a16="http://schemas.microsoft.com/office/drawing/2014/main" id="{CDC68101-8517-439B-82C5-26E17D5AB011}"/>
                </a:ext>
              </a:extLst>
            </p:cNvPr>
            <p:cNvPicPr>
              <a:picLocks noChangeAspect="1"/>
            </p:cNvPicPr>
            <p:nvPr/>
          </p:nvPicPr>
          <p:blipFill rotWithShape="1">
            <a:blip r:embed="rId7">
              <a:extLst>
                <a:ext uri="{BEBA8EAE-BF5A-486C-A8C5-ECC9F3942E4B}">
                  <a14:imgProps xmlns:a14="http://schemas.microsoft.com/office/drawing/2010/main">
                    <a14:imgLayer r:embed="rId5">
                      <a14:imgEffect>
                        <a14:backgroundRemoval t="65905" b="81762" l="69267" r="78300">
                          <a14:foregroundMark x1="72467" y1="70905" x2="69267" y2="78714"/>
                          <a14:foregroundMark x1="73233" y1="73762" x2="73467" y2="73762"/>
                        </a14:backgroundRemoval>
                      </a14:imgEffect>
                    </a14:imgLayer>
                  </a14:imgProps>
                </a:ext>
                <a:ext uri="{28A0092B-C50C-407E-A947-70E740481C1C}">
                  <a14:useLocalDpi xmlns:a14="http://schemas.microsoft.com/office/drawing/2010/main" val="0"/>
                </a:ext>
              </a:extLst>
            </a:blip>
            <a:srcRect l="69737" t="63925" r="20731" b="16221"/>
            <a:stretch/>
          </p:blipFill>
          <p:spPr>
            <a:xfrm>
              <a:off x="2702222" y="4966269"/>
              <a:ext cx="515999" cy="752363"/>
            </a:xfrm>
            <a:prstGeom prst="rect">
              <a:avLst/>
            </a:prstGeom>
          </p:spPr>
        </p:pic>
        <p:sp>
          <p:nvSpPr>
            <p:cNvPr id="95" name="TextBox 94">
              <a:extLst>
                <a:ext uri="{FF2B5EF4-FFF2-40B4-BE49-F238E27FC236}">
                  <a16:creationId xmlns:a16="http://schemas.microsoft.com/office/drawing/2014/main" id="{8E39950A-03AE-437A-982F-516954C658F7}"/>
                </a:ext>
              </a:extLst>
            </p:cNvPr>
            <p:cNvSpPr txBox="1"/>
            <p:nvPr/>
          </p:nvSpPr>
          <p:spPr>
            <a:xfrm>
              <a:off x="3230115" y="5161652"/>
              <a:ext cx="1604922" cy="400110"/>
            </a:xfrm>
            <a:prstGeom prst="rect">
              <a:avLst/>
            </a:prstGeom>
            <a:noFill/>
          </p:spPr>
          <p:txBody>
            <a:bodyPr wrap="square" rtlCol="0">
              <a:spAutoFit/>
            </a:bodyPr>
            <a:lstStyle/>
            <a:p>
              <a:r>
                <a:rPr lang="en-US" sz="2000" b="1" u="sng" dirty="0"/>
                <a:t>R</a:t>
              </a:r>
              <a:r>
                <a:rPr lang="en-US" sz="2000" dirty="0"/>
                <a:t>enal disease</a:t>
              </a:r>
            </a:p>
          </p:txBody>
        </p:sp>
      </p:grpSp>
      <p:grpSp>
        <p:nvGrpSpPr>
          <p:cNvPr id="96" name="Bone lytic lesions final">
            <a:extLst>
              <a:ext uri="{FF2B5EF4-FFF2-40B4-BE49-F238E27FC236}">
                <a16:creationId xmlns:a16="http://schemas.microsoft.com/office/drawing/2014/main" id="{AB7C9D7D-6CED-4CDC-A76C-663290099F36}"/>
              </a:ext>
            </a:extLst>
          </p:cNvPr>
          <p:cNvGrpSpPr/>
          <p:nvPr/>
        </p:nvGrpSpPr>
        <p:grpSpPr>
          <a:xfrm>
            <a:off x="2560320" y="4301615"/>
            <a:ext cx="3023986" cy="809681"/>
            <a:chOff x="2543371" y="3693621"/>
            <a:chExt cx="3023986" cy="809681"/>
          </a:xfrm>
          <a:effectLst/>
        </p:grpSpPr>
        <p:sp>
          <p:nvSpPr>
            <p:cNvPr id="97" name="Rectangle: Rounded Corners 96">
              <a:extLst>
                <a:ext uri="{FF2B5EF4-FFF2-40B4-BE49-F238E27FC236}">
                  <a16:creationId xmlns:a16="http://schemas.microsoft.com/office/drawing/2014/main" id="{D1CDF5F7-749C-4FAD-BC46-EC0FBB6F8927}"/>
                </a:ext>
              </a:extLst>
            </p:cNvPr>
            <p:cNvSpPr/>
            <p:nvPr/>
          </p:nvSpPr>
          <p:spPr>
            <a:xfrm>
              <a:off x="2543371" y="3693621"/>
              <a:ext cx="3023986" cy="792418"/>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descr="Diagram&#10;&#10;Description automatically generated">
              <a:extLst>
                <a:ext uri="{FF2B5EF4-FFF2-40B4-BE49-F238E27FC236}">
                  <a16:creationId xmlns:a16="http://schemas.microsoft.com/office/drawing/2014/main" id="{C6439C1D-CF97-4E27-91E3-B079A621A956}"/>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45190" b="61095" l="68000" r="78167">
                          <a14:foregroundMark x1="70367" y1="48952" x2="68000" y2="49619"/>
                        </a14:backgroundRemoval>
                      </a14:imgEffect>
                    </a14:imgLayer>
                  </a14:imgProps>
                </a:ext>
                <a:ext uri="{28A0092B-C50C-407E-A947-70E740481C1C}">
                  <a14:useLocalDpi xmlns:a14="http://schemas.microsoft.com/office/drawing/2010/main" val="0"/>
                </a:ext>
              </a:extLst>
            </a:blip>
            <a:srcRect l="69395" t="43253" r="20852" b="36894"/>
            <a:stretch/>
          </p:blipFill>
          <p:spPr>
            <a:xfrm>
              <a:off x="2712672" y="3711997"/>
              <a:ext cx="555276" cy="791305"/>
            </a:xfrm>
            <a:prstGeom prst="rect">
              <a:avLst/>
            </a:prstGeom>
          </p:spPr>
        </p:pic>
        <p:sp>
          <p:nvSpPr>
            <p:cNvPr id="99" name="TextBox 98">
              <a:extLst>
                <a:ext uri="{FF2B5EF4-FFF2-40B4-BE49-F238E27FC236}">
                  <a16:creationId xmlns:a16="http://schemas.microsoft.com/office/drawing/2014/main" id="{13EFBF26-FB0E-45B5-A481-856C48DADC3F}"/>
                </a:ext>
              </a:extLst>
            </p:cNvPr>
            <p:cNvSpPr txBox="1"/>
            <p:nvPr/>
          </p:nvSpPr>
          <p:spPr>
            <a:xfrm>
              <a:off x="3250324" y="3907595"/>
              <a:ext cx="2186366" cy="400110"/>
            </a:xfrm>
            <a:prstGeom prst="rect">
              <a:avLst/>
            </a:prstGeom>
            <a:noFill/>
          </p:spPr>
          <p:txBody>
            <a:bodyPr wrap="square" rtlCol="0">
              <a:spAutoFit/>
            </a:bodyPr>
            <a:lstStyle/>
            <a:p>
              <a:r>
                <a:rPr lang="en-US" sz="2000" b="1" u="sng" dirty="0"/>
                <a:t>B</a:t>
              </a:r>
              <a:r>
                <a:rPr lang="en-US" sz="2000" dirty="0"/>
                <a:t>oney lytic lesions</a:t>
              </a:r>
            </a:p>
          </p:txBody>
        </p:sp>
      </p:grpSp>
      <p:grpSp>
        <p:nvGrpSpPr>
          <p:cNvPr id="100" name="Hypercalcemia final">
            <a:extLst>
              <a:ext uri="{FF2B5EF4-FFF2-40B4-BE49-F238E27FC236}">
                <a16:creationId xmlns:a16="http://schemas.microsoft.com/office/drawing/2014/main" id="{0AEE796F-D530-4A84-AD9F-0C17FACE305C}"/>
              </a:ext>
            </a:extLst>
          </p:cNvPr>
          <p:cNvGrpSpPr/>
          <p:nvPr/>
        </p:nvGrpSpPr>
        <p:grpSpPr>
          <a:xfrm>
            <a:off x="2560320" y="3084742"/>
            <a:ext cx="3265840" cy="792418"/>
            <a:chOff x="2567367" y="2815944"/>
            <a:chExt cx="3265840" cy="792418"/>
          </a:xfrm>
        </p:grpSpPr>
        <p:sp>
          <p:nvSpPr>
            <p:cNvPr id="101" name="Rectangle: Rounded Corners 100">
              <a:extLst>
                <a:ext uri="{FF2B5EF4-FFF2-40B4-BE49-F238E27FC236}">
                  <a16:creationId xmlns:a16="http://schemas.microsoft.com/office/drawing/2014/main" id="{4AF62E27-47E6-4B5D-A27A-498424DE98A9}"/>
                </a:ext>
              </a:extLst>
            </p:cNvPr>
            <p:cNvSpPr/>
            <p:nvPr/>
          </p:nvSpPr>
          <p:spPr>
            <a:xfrm>
              <a:off x="2567367" y="2815944"/>
              <a:ext cx="3023986" cy="792418"/>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1" descr="Diagram&#10;&#10;Description automatically generated">
              <a:extLst>
                <a:ext uri="{FF2B5EF4-FFF2-40B4-BE49-F238E27FC236}">
                  <a16:creationId xmlns:a16="http://schemas.microsoft.com/office/drawing/2014/main" id="{9D8B9123-1A3A-42E0-BC07-B45460AB12CA}"/>
                </a:ext>
              </a:extLst>
            </p:cNvPr>
            <p:cNvPicPr>
              <a:picLocks noChangeAspect="1"/>
            </p:cNvPicPr>
            <p:nvPr/>
          </p:nvPicPr>
          <p:blipFill rotWithShape="1">
            <a:blip r:embed="rId3">
              <a:extLst>
                <a:ext uri="{28A0092B-C50C-407E-A947-70E740481C1C}">
                  <a14:useLocalDpi xmlns:a14="http://schemas.microsoft.com/office/drawing/2010/main" val="0"/>
                </a:ext>
              </a:extLst>
            </a:blip>
            <a:srcRect l="70985" t="35962" r="22674" b="59219"/>
            <a:stretch/>
          </p:blipFill>
          <p:spPr>
            <a:xfrm>
              <a:off x="2702222" y="2985218"/>
              <a:ext cx="973715" cy="517895"/>
            </a:xfrm>
            <a:prstGeom prst="rect">
              <a:avLst/>
            </a:prstGeom>
          </p:spPr>
        </p:pic>
        <p:sp>
          <p:nvSpPr>
            <p:cNvPr id="103" name="TextBox 102">
              <a:extLst>
                <a:ext uri="{FF2B5EF4-FFF2-40B4-BE49-F238E27FC236}">
                  <a16:creationId xmlns:a16="http://schemas.microsoft.com/office/drawing/2014/main" id="{394AF5E2-2B39-446E-A4D2-E988F697F878}"/>
                </a:ext>
              </a:extLst>
            </p:cNvPr>
            <p:cNvSpPr txBox="1"/>
            <p:nvPr/>
          </p:nvSpPr>
          <p:spPr>
            <a:xfrm>
              <a:off x="3646841" y="3010816"/>
              <a:ext cx="2186366" cy="400110"/>
            </a:xfrm>
            <a:prstGeom prst="rect">
              <a:avLst/>
            </a:prstGeom>
            <a:noFill/>
          </p:spPr>
          <p:txBody>
            <a:bodyPr wrap="square" rtlCol="0">
              <a:spAutoFit/>
            </a:bodyPr>
            <a:lstStyle/>
            <a:p>
              <a:r>
                <a:rPr lang="en-US" sz="2000" dirty="0" err="1"/>
                <a:t>Hyper</a:t>
              </a:r>
              <a:r>
                <a:rPr lang="en-US" sz="2000" b="1" u="sng" dirty="0" err="1"/>
                <a:t>C</a:t>
              </a:r>
              <a:r>
                <a:rPr lang="en-US" sz="2000" dirty="0" err="1"/>
                <a:t>alcemia</a:t>
              </a:r>
              <a:endParaRPr lang="en-US" sz="2000" dirty="0"/>
            </a:p>
          </p:txBody>
        </p:sp>
      </p:grpSp>
      <p:grpSp>
        <p:nvGrpSpPr>
          <p:cNvPr id="105" name="Immunodeficiency final">
            <a:extLst>
              <a:ext uri="{FF2B5EF4-FFF2-40B4-BE49-F238E27FC236}">
                <a16:creationId xmlns:a16="http://schemas.microsoft.com/office/drawing/2014/main" id="{3DB65844-ACBE-4531-A950-C9874DE12433}"/>
              </a:ext>
            </a:extLst>
          </p:cNvPr>
          <p:cNvGrpSpPr/>
          <p:nvPr/>
        </p:nvGrpSpPr>
        <p:grpSpPr>
          <a:xfrm>
            <a:off x="2560320" y="2012422"/>
            <a:ext cx="3023986" cy="792418"/>
            <a:chOff x="2560320" y="1743287"/>
            <a:chExt cx="3023986" cy="792418"/>
          </a:xfrm>
        </p:grpSpPr>
        <p:sp>
          <p:nvSpPr>
            <p:cNvPr id="106" name="Rectangle: Rounded Corners 105">
              <a:extLst>
                <a:ext uri="{FF2B5EF4-FFF2-40B4-BE49-F238E27FC236}">
                  <a16:creationId xmlns:a16="http://schemas.microsoft.com/office/drawing/2014/main" id="{AEE0B26C-1152-4A28-86DB-EC2A53BA1F7E}"/>
                </a:ext>
              </a:extLst>
            </p:cNvPr>
            <p:cNvSpPr/>
            <p:nvPr/>
          </p:nvSpPr>
          <p:spPr>
            <a:xfrm>
              <a:off x="2560320" y="1743287"/>
              <a:ext cx="3023986" cy="792418"/>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7" name="Picture 106" descr="Diagram&#10;&#10;Description automatically generated">
              <a:extLst>
                <a:ext uri="{FF2B5EF4-FFF2-40B4-BE49-F238E27FC236}">
                  <a16:creationId xmlns:a16="http://schemas.microsoft.com/office/drawing/2014/main" id="{BBE5477A-546D-4DFA-8EC3-882F1D34C6CD}"/>
                </a:ext>
              </a:extLst>
            </p:cNvPr>
            <p:cNvPicPr>
              <a:picLocks noChangeAspect="1"/>
            </p:cNvPicPr>
            <p:nvPr/>
          </p:nvPicPr>
          <p:blipFill rotWithShape="1">
            <a:blip r:embed="rId6">
              <a:extLst>
                <a:ext uri="{BEBA8EAE-BF5A-486C-A8C5-ECC9F3942E4B}">
                  <a14:imgProps xmlns:a14="http://schemas.microsoft.com/office/drawing/2010/main">
                    <a14:imgLayer r:embed="rId5">
                      <a14:imgEffect>
                        <a14:backgroundRemoval t="15810" b="28286" l="69600" r="77800">
                          <a14:foregroundMark x1="74567" y1="17095" x2="70300" y2="24333"/>
                          <a14:foregroundMark x1="70300" y1="24333" x2="77100" y2="27857"/>
                          <a14:foregroundMark x1="77100" y1="27857" x2="77167" y2="17952"/>
                          <a14:foregroundMark x1="77167" y1="17952" x2="71733" y2="15810"/>
                          <a14:foregroundMark x1="72800" y1="17571" x2="72800" y2="17571"/>
                          <a14:foregroundMark x1="72433" y1="17095" x2="69600" y2="19857"/>
                          <a14:foregroundMark x1="73333" y1="17857" x2="74367" y2="27571"/>
                          <a14:foregroundMark x1="74367" y1="27571" x2="75400" y2="17524"/>
                          <a14:foregroundMark x1="75400" y1="17524" x2="70600" y2="24429"/>
                          <a14:foregroundMark x1="70600" y1="24429" x2="77600" y2="22524"/>
                          <a14:foregroundMark x1="77600" y1="22524" x2="77600" y2="20381"/>
                          <a14:foregroundMark x1="75267" y1="20381" x2="76700" y2="25714"/>
                        </a14:backgroundRemoval>
                      </a14:imgEffect>
                    </a14:imgLayer>
                  </a14:imgProps>
                </a:ext>
                <a:ext uri="{28A0092B-C50C-407E-A947-70E740481C1C}">
                  <a14:useLocalDpi xmlns:a14="http://schemas.microsoft.com/office/drawing/2010/main" val="0"/>
                </a:ext>
              </a:extLst>
            </a:blip>
            <a:srcRect l="69737" t="15139" r="21401" b="71393"/>
            <a:stretch/>
          </p:blipFill>
          <p:spPr>
            <a:xfrm>
              <a:off x="2726735" y="1779963"/>
              <a:ext cx="671207" cy="714097"/>
            </a:xfrm>
            <a:prstGeom prst="rect">
              <a:avLst/>
            </a:prstGeom>
          </p:spPr>
        </p:pic>
        <p:sp>
          <p:nvSpPr>
            <p:cNvPr id="108" name="TextBox 107">
              <a:extLst>
                <a:ext uri="{FF2B5EF4-FFF2-40B4-BE49-F238E27FC236}">
                  <a16:creationId xmlns:a16="http://schemas.microsoft.com/office/drawing/2014/main" id="{7DD4E6D3-ECC4-4585-A263-382FB8F4D9A2}"/>
                </a:ext>
              </a:extLst>
            </p:cNvPr>
            <p:cNvSpPr txBox="1"/>
            <p:nvPr/>
          </p:nvSpPr>
          <p:spPr>
            <a:xfrm>
              <a:off x="3397940" y="1956362"/>
              <a:ext cx="2186366" cy="400110"/>
            </a:xfrm>
            <a:prstGeom prst="rect">
              <a:avLst/>
            </a:prstGeom>
            <a:noFill/>
          </p:spPr>
          <p:txBody>
            <a:bodyPr wrap="square" rtlCol="0">
              <a:spAutoFit/>
            </a:bodyPr>
            <a:lstStyle/>
            <a:p>
              <a:r>
                <a:rPr lang="en-US" sz="2000" b="1" u="sng" dirty="0"/>
                <a:t>I</a:t>
              </a:r>
              <a:r>
                <a:rPr lang="en-US" sz="2000" dirty="0"/>
                <a:t>mmunodeficiency</a:t>
              </a:r>
            </a:p>
          </p:txBody>
        </p:sp>
      </p:grpSp>
      <p:grpSp>
        <p:nvGrpSpPr>
          <p:cNvPr id="109" name="Anemia fina">
            <a:extLst>
              <a:ext uri="{FF2B5EF4-FFF2-40B4-BE49-F238E27FC236}">
                <a16:creationId xmlns:a16="http://schemas.microsoft.com/office/drawing/2014/main" id="{C8E468AF-EA9B-447A-9606-39CD16CD3645}"/>
              </a:ext>
            </a:extLst>
          </p:cNvPr>
          <p:cNvGrpSpPr/>
          <p:nvPr/>
        </p:nvGrpSpPr>
        <p:grpSpPr>
          <a:xfrm>
            <a:off x="2560320" y="940102"/>
            <a:ext cx="2246811" cy="792418"/>
            <a:chOff x="2560319" y="730366"/>
            <a:chExt cx="2246811" cy="792418"/>
          </a:xfrm>
          <a:effectLst/>
        </p:grpSpPr>
        <p:sp>
          <p:nvSpPr>
            <p:cNvPr id="110" name="Rectangle: Rounded Corners 109">
              <a:extLst>
                <a:ext uri="{FF2B5EF4-FFF2-40B4-BE49-F238E27FC236}">
                  <a16:creationId xmlns:a16="http://schemas.microsoft.com/office/drawing/2014/main" id="{C0573E07-91F4-4027-828D-65C07AAA4CF0}"/>
                </a:ext>
              </a:extLst>
            </p:cNvPr>
            <p:cNvSpPr/>
            <p:nvPr/>
          </p:nvSpPr>
          <p:spPr>
            <a:xfrm>
              <a:off x="2560319" y="730366"/>
              <a:ext cx="2246811" cy="792418"/>
            </a:xfrm>
            <a:prstGeom prst="roundRect">
              <a:avLst/>
            </a:prstGeom>
            <a:solidFill>
              <a:schemeClr val="bg1"/>
            </a:solidFill>
            <a:ln w="381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descr="Diagram&#10;&#10;Description automatically generated">
              <a:extLst>
                <a:ext uri="{FF2B5EF4-FFF2-40B4-BE49-F238E27FC236}">
                  <a16:creationId xmlns:a16="http://schemas.microsoft.com/office/drawing/2014/main" id="{7BD39528-1B5D-4E5B-B8F6-878EF4621200}"/>
                </a:ext>
              </a:extLst>
            </p:cNvPr>
            <p:cNvPicPr>
              <a:picLocks noChangeAspect="1"/>
            </p:cNvPicPr>
            <p:nvPr/>
          </p:nvPicPr>
          <p:blipFill rotWithShape="1">
            <a:blip r:embed="rId3">
              <a:extLst>
                <a:ext uri="{28A0092B-C50C-407E-A947-70E740481C1C}">
                  <a14:useLocalDpi xmlns:a14="http://schemas.microsoft.com/office/drawing/2010/main" val="0"/>
                </a:ext>
              </a:extLst>
            </a:blip>
            <a:srcRect l="69737" t="3975" r="21340" b="86543"/>
            <a:stretch/>
          </p:blipFill>
          <p:spPr>
            <a:xfrm>
              <a:off x="2702222" y="835876"/>
              <a:ext cx="802716" cy="597080"/>
            </a:xfrm>
            <a:prstGeom prst="rect">
              <a:avLst/>
            </a:prstGeom>
          </p:spPr>
        </p:pic>
        <p:sp>
          <p:nvSpPr>
            <p:cNvPr id="112" name="TextBox 111">
              <a:extLst>
                <a:ext uri="{FF2B5EF4-FFF2-40B4-BE49-F238E27FC236}">
                  <a16:creationId xmlns:a16="http://schemas.microsoft.com/office/drawing/2014/main" id="{B68B6B82-FDC7-43F3-91AD-7B539316212D}"/>
                </a:ext>
              </a:extLst>
            </p:cNvPr>
            <p:cNvSpPr txBox="1"/>
            <p:nvPr/>
          </p:nvSpPr>
          <p:spPr>
            <a:xfrm>
              <a:off x="3646841" y="920693"/>
              <a:ext cx="1042725" cy="400110"/>
            </a:xfrm>
            <a:prstGeom prst="rect">
              <a:avLst/>
            </a:prstGeom>
            <a:noFill/>
          </p:spPr>
          <p:txBody>
            <a:bodyPr wrap="square" rtlCol="0">
              <a:spAutoFit/>
            </a:bodyPr>
            <a:lstStyle/>
            <a:p>
              <a:r>
                <a:rPr lang="en-US" sz="2000" b="1" u="sng" dirty="0"/>
                <a:t>A</a:t>
              </a:r>
              <a:r>
                <a:rPr lang="en-US" sz="2000" dirty="0"/>
                <a:t>nemia</a:t>
              </a:r>
            </a:p>
          </p:txBody>
        </p:sp>
      </p:grpSp>
      <p:sp>
        <p:nvSpPr>
          <p:cNvPr id="2" name="Obj 1">
            <a:hlinkClick r:id="rId10" action="ppaction://hlinksldjump"/>
            <a:extLst>
              <a:ext uri="{FF2B5EF4-FFF2-40B4-BE49-F238E27FC236}">
                <a16:creationId xmlns:a16="http://schemas.microsoft.com/office/drawing/2014/main" id="{1E58F6B8-BF40-91AF-6A0D-521CCC8B6368}"/>
              </a:ext>
            </a:extLst>
          </p:cNvPr>
          <p:cNvSpPr/>
          <p:nvPr/>
        </p:nvSpPr>
        <p:spPr>
          <a:xfrm>
            <a:off x="185167" y="216531"/>
            <a:ext cx="1554480"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Pathogenesis</a:t>
            </a:r>
          </a:p>
        </p:txBody>
      </p:sp>
      <p:pic>
        <p:nvPicPr>
          <p:cNvPr id="3" name="Graphic 2" descr="Cursor with solid fill">
            <a:extLst>
              <a:ext uri="{FF2B5EF4-FFF2-40B4-BE49-F238E27FC236}">
                <a16:creationId xmlns:a16="http://schemas.microsoft.com/office/drawing/2014/main" id="{C40A2858-2627-F5E4-51B8-5F7A7885146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488321"/>
            <a:ext cx="301752" cy="301752"/>
          </a:xfrm>
          <a:prstGeom prst="rect">
            <a:avLst/>
          </a:prstGeom>
        </p:spPr>
      </p:pic>
      <p:sp>
        <p:nvSpPr>
          <p:cNvPr id="6" name="Obj 1">
            <a:hlinkClick r:id="rId11" action="ppaction://hlinksldjump"/>
            <a:extLst>
              <a:ext uri="{FF2B5EF4-FFF2-40B4-BE49-F238E27FC236}">
                <a16:creationId xmlns:a16="http://schemas.microsoft.com/office/drawing/2014/main" id="{FC80881B-1364-5CFF-DCE8-9146028FB7EF}"/>
              </a:ext>
            </a:extLst>
          </p:cNvPr>
          <p:cNvSpPr/>
          <p:nvPr/>
        </p:nvSpPr>
        <p:spPr>
          <a:xfrm>
            <a:off x="185167" y="142615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7" name="Graphic 6" descr="Cursor with solid fill">
            <a:extLst>
              <a:ext uri="{FF2B5EF4-FFF2-40B4-BE49-F238E27FC236}">
                <a16:creationId xmlns:a16="http://schemas.microsoft.com/office/drawing/2014/main" id="{F6060E7A-556E-6A88-32BD-F3651557D5F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1720750"/>
            <a:ext cx="301752" cy="301752"/>
          </a:xfrm>
          <a:prstGeom prst="rect">
            <a:avLst/>
          </a:prstGeom>
        </p:spPr>
      </p:pic>
      <p:sp>
        <p:nvSpPr>
          <p:cNvPr id="9" name="Obj 1">
            <a:hlinkClick r:id="rId12" action="ppaction://hlinksldjump"/>
            <a:extLst>
              <a:ext uri="{FF2B5EF4-FFF2-40B4-BE49-F238E27FC236}">
                <a16:creationId xmlns:a16="http://schemas.microsoft.com/office/drawing/2014/main" id="{C06380E5-7114-D1E5-496D-466642C35EED}"/>
              </a:ext>
            </a:extLst>
          </p:cNvPr>
          <p:cNvSpPr/>
          <p:nvPr/>
        </p:nvSpPr>
        <p:spPr>
          <a:xfrm>
            <a:off x="185167" y="203096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10" name="Graphic 9" descr="Cursor with solid fill">
            <a:extLst>
              <a:ext uri="{FF2B5EF4-FFF2-40B4-BE49-F238E27FC236}">
                <a16:creationId xmlns:a16="http://schemas.microsoft.com/office/drawing/2014/main" id="{15A08401-FE6A-9D97-7F54-08640DB072C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2300890"/>
            <a:ext cx="301752" cy="301752"/>
          </a:xfrm>
          <a:prstGeom prst="rect">
            <a:avLst/>
          </a:prstGeom>
        </p:spPr>
      </p:pic>
      <p:sp>
        <p:nvSpPr>
          <p:cNvPr id="11" name="Obj 1">
            <a:hlinkClick r:id="rId13" action="ppaction://hlinksldjump"/>
            <a:extLst>
              <a:ext uri="{FF2B5EF4-FFF2-40B4-BE49-F238E27FC236}">
                <a16:creationId xmlns:a16="http://schemas.microsoft.com/office/drawing/2014/main" id="{AB5C3747-FD91-2016-2886-09614F4ED30C}"/>
              </a:ext>
            </a:extLst>
          </p:cNvPr>
          <p:cNvSpPr/>
          <p:nvPr/>
        </p:nvSpPr>
        <p:spPr>
          <a:xfrm>
            <a:off x="185167" y="2635779"/>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Treatment</a:t>
            </a:r>
          </a:p>
        </p:txBody>
      </p:sp>
      <p:sp>
        <p:nvSpPr>
          <p:cNvPr id="14" name="Obj 1">
            <a:hlinkClick r:id="rId14" action="ppaction://hlinksldjump"/>
            <a:extLst>
              <a:ext uri="{FF2B5EF4-FFF2-40B4-BE49-F238E27FC236}">
                <a16:creationId xmlns:a16="http://schemas.microsoft.com/office/drawing/2014/main" id="{940BCC0B-61E8-01E0-7A19-6BF821D35E3F}"/>
              </a:ext>
            </a:extLst>
          </p:cNvPr>
          <p:cNvSpPr/>
          <p:nvPr/>
        </p:nvSpPr>
        <p:spPr>
          <a:xfrm>
            <a:off x="185167" y="504918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Cases</a:t>
            </a:r>
          </a:p>
        </p:txBody>
      </p:sp>
      <p:pic>
        <p:nvPicPr>
          <p:cNvPr id="15" name="Graphic 14" descr="Cursor with solid fill">
            <a:extLst>
              <a:ext uri="{FF2B5EF4-FFF2-40B4-BE49-F238E27FC236}">
                <a16:creationId xmlns:a16="http://schemas.microsoft.com/office/drawing/2014/main" id="{79714FE8-0793-484D-4278-BC2F6DA4CEA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5337738"/>
            <a:ext cx="301752" cy="301752"/>
          </a:xfrm>
          <a:prstGeom prst="rect">
            <a:avLst/>
          </a:prstGeom>
        </p:spPr>
      </p:pic>
      <p:cxnSp>
        <p:nvCxnSpPr>
          <p:cNvPr id="16" name="Connector: Elbow 12">
            <a:extLst>
              <a:ext uri="{FF2B5EF4-FFF2-40B4-BE49-F238E27FC236}">
                <a16:creationId xmlns:a16="http://schemas.microsoft.com/office/drawing/2014/main" id="{C8364DDD-6F46-4B26-40BF-8214AF71FAEB}"/>
              </a:ext>
            </a:extLst>
          </p:cNvPr>
          <p:cNvCxnSpPr>
            <a:cxnSpLocks/>
          </p:cNvCxnSpPr>
          <p:nvPr/>
        </p:nvCxnSpPr>
        <p:spPr>
          <a:xfrm rot="16200000" flipH="1">
            <a:off x="202132" y="3107414"/>
            <a:ext cx="366559" cy="28397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Connector: Elbow 30">
            <a:extLst>
              <a:ext uri="{FF2B5EF4-FFF2-40B4-BE49-F238E27FC236}">
                <a16:creationId xmlns:a16="http://schemas.microsoft.com/office/drawing/2014/main" id="{0E5CC0CD-88C8-BC64-DD23-990B865C3F42}"/>
              </a:ext>
            </a:extLst>
          </p:cNvPr>
          <p:cNvCxnSpPr>
            <a:cxnSpLocks/>
          </p:cNvCxnSpPr>
          <p:nvPr/>
        </p:nvCxnSpPr>
        <p:spPr>
          <a:xfrm rot="16200000" flipH="1">
            <a:off x="-127824" y="3418066"/>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1" name="Obj 1">
            <a:hlinkClick r:id="rId15" action="ppaction://hlinksldjump"/>
            <a:extLst>
              <a:ext uri="{FF2B5EF4-FFF2-40B4-BE49-F238E27FC236}">
                <a16:creationId xmlns:a16="http://schemas.microsoft.com/office/drawing/2014/main" id="{BFAFCAE4-C7E9-9CC8-A740-2B39337BF442}"/>
              </a:ext>
            </a:extLst>
          </p:cNvPr>
          <p:cNvSpPr/>
          <p:nvPr/>
        </p:nvSpPr>
        <p:spPr>
          <a:xfrm>
            <a:off x="527400" y="3831755"/>
            <a:ext cx="1212247"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Med Tox</a:t>
            </a:r>
          </a:p>
        </p:txBody>
      </p:sp>
      <p:pic>
        <p:nvPicPr>
          <p:cNvPr id="22" name="Graphic 21" descr="Cursor with solid fill">
            <a:extLst>
              <a:ext uri="{FF2B5EF4-FFF2-40B4-BE49-F238E27FC236}">
                <a16:creationId xmlns:a16="http://schemas.microsoft.com/office/drawing/2014/main" id="{CC33D590-9EB6-C877-2106-2AEC0C80855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4116008"/>
            <a:ext cx="301752" cy="301752"/>
          </a:xfrm>
          <a:prstGeom prst="rect">
            <a:avLst/>
          </a:prstGeom>
        </p:spPr>
      </p:pic>
      <p:sp>
        <p:nvSpPr>
          <p:cNvPr id="23" name="Obj 1">
            <a:hlinkClick r:id="rId16" action="ppaction://hlinksldjump"/>
            <a:extLst>
              <a:ext uri="{FF2B5EF4-FFF2-40B4-BE49-F238E27FC236}">
                <a16:creationId xmlns:a16="http://schemas.microsoft.com/office/drawing/2014/main" id="{26ECE336-76AB-B77A-11C6-8BD5876A1628}"/>
              </a:ext>
            </a:extLst>
          </p:cNvPr>
          <p:cNvSpPr/>
          <p:nvPr/>
        </p:nvSpPr>
        <p:spPr>
          <a:xfrm>
            <a:off x="185167" y="82134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24" name="Graphic 23" descr="Cursor with solid fill">
            <a:extLst>
              <a:ext uri="{FF2B5EF4-FFF2-40B4-BE49-F238E27FC236}">
                <a16:creationId xmlns:a16="http://schemas.microsoft.com/office/drawing/2014/main" id="{354BBCD2-7731-F162-0897-6B199E9AFC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1094318"/>
            <a:ext cx="301752" cy="301752"/>
          </a:xfrm>
          <a:prstGeom prst="rect">
            <a:avLst/>
          </a:prstGeom>
        </p:spPr>
      </p:pic>
      <p:sp>
        <p:nvSpPr>
          <p:cNvPr id="28" name="Obj 1">
            <a:hlinkClick r:id="rId17" action="ppaction://hlinksldjump"/>
            <a:extLst>
              <a:ext uri="{FF2B5EF4-FFF2-40B4-BE49-F238E27FC236}">
                <a16:creationId xmlns:a16="http://schemas.microsoft.com/office/drawing/2014/main" id="{3F89C1FB-EECD-7A12-910B-7FA4F72BA1E7}"/>
              </a:ext>
            </a:extLst>
          </p:cNvPr>
          <p:cNvSpPr/>
          <p:nvPr/>
        </p:nvSpPr>
        <p:spPr>
          <a:xfrm>
            <a:off x="527399" y="4436568"/>
            <a:ext cx="1212248"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Comp</a:t>
            </a:r>
          </a:p>
        </p:txBody>
      </p:sp>
      <p:cxnSp>
        <p:nvCxnSpPr>
          <p:cNvPr id="29" name="Connector: Elbow 30">
            <a:extLst>
              <a:ext uri="{FF2B5EF4-FFF2-40B4-BE49-F238E27FC236}">
                <a16:creationId xmlns:a16="http://schemas.microsoft.com/office/drawing/2014/main" id="{93467157-2C00-0862-115F-C6513E37E009}"/>
              </a:ext>
            </a:extLst>
          </p:cNvPr>
          <p:cNvCxnSpPr>
            <a:cxnSpLocks/>
            <a:endCxn id="28" idx="1"/>
          </p:cNvCxnSpPr>
          <p:nvPr/>
        </p:nvCxnSpPr>
        <p:spPr>
          <a:xfrm rot="16200000" flipH="1">
            <a:off x="-119358" y="3995551"/>
            <a:ext cx="1012092" cy="281421"/>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32" name="Obj 1">
            <a:hlinkClick r:id="rId13" action="ppaction://hlinksldjump"/>
            <a:extLst>
              <a:ext uri="{FF2B5EF4-FFF2-40B4-BE49-F238E27FC236}">
                <a16:creationId xmlns:a16="http://schemas.microsoft.com/office/drawing/2014/main" id="{DAA2B313-9845-5670-2B3D-2E9EE2B406A1}"/>
              </a:ext>
            </a:extLst>
          </p:cNvPr>
          <p:cNvSpPr/>
          <p:nvPr/>
        </p:nvSpPr>
        <p:spPr>
          <a:xfrm>
            <a:off x="527400" y="3226943"/>
            <a:ext cx="1212247"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Natural </a:t>
            </a:r>
            <a:r>
              <a:rPr lang="en-US" dirty="0" err="1">
                <a:solidFill>
                  <a:schemeClr val="tx1"/>
                </a:solidFill>
              </a:rPr>
              <a:t>Hx</a:t>
            </a:r>
            <a:endParaRPr lang="en-US" dirty="0">
              <a:solidFill>
                <a:schemeClr val="tx1"/>
              </a:solidFill>
            </a:endParaRPr>
          </a:p>
        </p:txBody>
      </p:sp>
      <p:pic>
        <p:nvPicPr>
          <p:cNvPr id="33" name="Graphic 32" descr="Cursor with solid fill">
            <a:extLst>
              <a:ext uri="{FF2B5EF4-FFF2-40B4-BE49-F238E27FC236}">
                <a16:creationId xmlns:a16="http://schemas.microsoft.com/office/drawing/2014/main" id="{5D8173A6-C982-F934-5138-1DCA43361C3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0158" y="3493800"/>
            <a:ext cx="301752" cy="301752"/>
          </a:xfrm>
          <a:prstGeom prst="rect">
            <a:avLst/>
          </a:prstGeom>
        </p:spPr>
      </p:pic>
    </p:spTree>
    <p:extLst>
      <p:ext uri="{BB962C8B-B14F-4D97-AF65-F5344CB8AC3E}">
        <p14:creationId xmlns:p14="http://schemas.microsoft.com/office/powerpoint/2010/main" val="21832526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76"/>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1"/>
                                        </p:tgtEl>
                                        <p:attrNameLst>
                                          <p:attrName>style.visibility</p:attrName>
                                        </p:attrNameLst>
                                      </p:cBhvr>
                                      <p:to>
                                        <p:strVal val="hidden"/>
                                      </p:to>
                                    </p:set>
                                  </p:childTnLst>
                                </p:cTn>
                              </p:par>
                            </p:childTnLst>
                          </p:cTn>
                        </p:par>
                      </p:childTnLst>
                    </p:cTn>
                  </p:par>
                </p:childTnLst>
              </p:cTn>
              <p:nextCondLst>
                <p:cond evt="onClick" delay="0">
                  <p:tgtEl>
                    <p:spTgt spid="76"/>
                  </p:tgtEl>
                </p:cond>
              </p:nextCondLst>
            </p:seq>
            <p:seq concurrent="1" nextAc="seek">
              <p:cTn id="15" restart="whenNotActive" fill="hold" evtFilter="cancelBubble" nodeType="interactiveSeq">
                <p:stCondLst>
                  <p:cond evt="onClick" delay="0">
                    <p:tgtEl>
                      <p:spTgt spid="75"/>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0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7"/>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75"/>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82"/>
                                        </p:tgtEl>
                                        <p:attrNameLst>
                                          <p:attrName>style.visibility</p:attrName>
                                        </p:attrNameLst>
                                      </p:cBhvr>
                                      <p:to>
                                        <p:strVal val="hidden"/>
                                      </p:to>
                                    </p:set>
                                  </p:childTnLst>
                                </p:cTn>
                              </p:par>
                            </p:childTnLst>
                          </p:cTn>
                        </p:par>
                      </p:childTnLst>
                    </p:cTn>
                  </p:par>
                </p:childTnLst>
              </p:cTn>
              <p:nextCondLst>
                <p:cond evt="onClick" delay="0">
                  <p:tgtEl>
                    <p:spTgt spid="75"/>
                  </p:tgtEl>
                </p:cond>
              </p:nextCondLst>
            </p:seq>
            <p:seq concurrent="1" nextAc="seek">
              <p:cTn id="28" restart="whenNotActive" fill="hold" evtFilter="cancelBubble" nodeType="interactiveSeq">
                <p:stCondLst>
                  <p:cond evt="onClick" delay="0">
                    <p:tgtEl>
                      <p:spTgt spid="90"/>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90"/>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89"/>
                                        </p:tgtEl>
                                        <p:attrNameLst>
                                          <p:attrName>style.visibility</p:attrName>
                                        </p:attrNameLst>
                                      </p:cBhvr>
                                      <p:to>
                                        <p:strVal val="hidden"/>
                                      </p:to>
                                    </p:set>
                                  </p:childTnLst>
                                </p:cTn>
                              </p:par>
                            </p:childTnLst>
                          </p:cTn>
                        </p:par>
                      </p:childTnLst>
                    </p:cTn>
                  </p:par>
                </p:childTnLst>
              </p:cTn>
              <p:nextCondLst>
                <p:cond evt="onClick" delay="0">
                  <p:tgtEl>
                    <p:spTgt spid="90"/>
                  </p:tgtEl>
                </p:cond>
              </p:nextCondLst>
            </p:seq>
            <p:seq concurrent="1" nextAc="seek">
              <p:cTn id="41" restart="whenNotActive" fill="hold" evtFilter="cancelBubble" nodeType="interactiveSeq">
                <p:stCondLst>
                  <p:cond evt="onClick" delay="0">
                    <p:tgtEl>
                      <p:spTgt spid="86"/>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9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86"/>
                                        </p:tgtEl>
                                        <p:attrNameLst>
                                          <p:attrName>style.visibility</p:attrName>
                                        </p:attrNameLst>
                                      </p:cBhvr>
                                      <p:to>
                                        <p:strVal val="hidden"/>
                                      </p:to>
                                    </p:set>
                                  </p:childTnLst>
                                </p:cTn>
                              </p:par>
                              <p:par>
                                <p:cTn id="52" presetID="1" presetClass="exit" presetSubtype="0" fill="hold" nodeType="withEffect">
                                  <p:stCondLst>
                                    <p:cond delay="0"/>
                                  </p:stCondLst>
                                  <p:childTnLst>
                                    <p:set>
                                      <p:cBhvr>
                                        <p:cTn id="53" dur="1" fill="hold">
                                          <p:stCondLst>
                                            <p:cond delay="0"/>
                                          </p:stCondLst>
                                        </p:cTn>
                                        <p:tgtEl>
                                          <p:spTgt spid="87"/>
                                        </p:tgtEl>
                                        <p:attrNameLst>
                                          <p:attrName>style.visibility</p:attrName>
                                        </p:attrNameLst>
                                      </p:cBhvr>
                                      <p:to>
                                        <p:strVal val="hidden"/>
                                      </p:to>
                                    </p:set>
                                  </p:childTnLst>
                                </p:cTn>
                              </p:par>
                            </p:childTnLst>
                          </p:cTn>
                        </p:par>
                      </p:childTnLst>
                    </p:cTn>
                  </p:par>
                </p:childTnLst>
              </p:cTn>
              <p:nextCondLst>
                <p:cond evt="onClick" delay="0">
                  <p:tgtEl>
                    <p:spTgt spid="86"/>
                  </p:tgtEl>
                </p:cond>
              </p:nextCondLst>
            </p:seq>
            <p:seq concurrent="1" nextAc="seek">
              <p:cTn id="54" restart="whenNotActive" fill="hold" evtFilter="cancelBubble" nodeType="interactiveSeq">
                <p:stCondLst>
                  <p:cond evt="onClick" delay="0">
                    <p:tgtEl>
                      <p:spTgt spid="91"/>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1"/>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84"/>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91"/>
                                        </p:tgtEl>
                                        <p:attrNameLst>
                                          <p:attrName>style.visibility</p:attrName>
                                        </p:attrNameLst>
                                      </p:cBhvr>
                                      <p:to>
                                        <p:strVal val="hidden"/>
                                      </p:to>
                                    </p:set>
                                  </p:childTnLst>
                                </p:cTn>
                              </p:par>
                            </p:childTnLst>
                          </p:cTn>
                        </p:par>
                      </p:childTnLst>
                    </p:cTn>
                  </p:par>
                </p:childTnLst>
              </p:cTn>
              <p:nextCondLst>
                <p:cond evt="onClick" delay="0">
                  <p:tgtEl>
                    <p:spTgt spid="91"/>
                  </p:tgtEl>
                </p:cond>
              </p:nextCondLst>
            </p:seq>
          </p:childTnLst>
        </p:cTn>
      </p:par>
    </p:tnLst>
    <p:bldLst>
      <p:bldP spid="62" grpId="0"/>
      <p:bldP spid="64" grpId="0"/>
      <p:bldP spid="67" grpId="0"/>
      <p:bldP spid="69" grpId="0"/>
      <p:bldP spid="7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ase 1">
            <a:extLst>
              <a:ext uri="{FF2B5EF4-FFF2-40B4-BE49-F238E27FC236}">
                <a16:creationId xmlns:a16="http://schemas.microsoft.com/office/drawing/2014/main" id="{54FE0069-BD5E-4E9C-8F47-D4DBE66EB2AC}"/>
              </a:ext>
            </a:extLst>
          </p:cNvPr>
          <p:cNvSpPr/>
          <p:nvPr/>
        </p:nvSpPr>
        <p:spPr>
          <a:xfrm>
            <a:off x="3553655" y="192294"/>
            <a:ext cx="1474237"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1</a:t>
            </a:r>
          </a:p>
        </p:txBody>
      </p:sp>
      <p:pic>
        <p:nvPicPr>
          <p:cNvPr id="19" name="Graphic 18" descr="Cursor with solid fill">
            <a:extLst>
              <a:ext uri="{FF2B5EF4-FFF2-40B4-BE49-F238E27FC236}">
                <a16:creationId xmlns:a16="http://schemas.microsoft.com/office/drawing/2014/main" id="{257E0209-6A64-4BD1-A5E0-F2EEEBA639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98593" y="442831"/>
            <a:ext cx="270672" cy="270672"/>
          </a:xfrm>
          <a:prstGeom prst="rect">
            <a:avLst/>
          </a:prstGeom>
        </p:spPr>
      </p:pic>
      <p:sp>
        <p:nvSpPr>
          <p:cNvPr id="28" name="Case 2">
            <a:extLst>
              <a:ext uri="{FF2B5EF4-FFF2-40B4-BE49-F238E27FC236}">
                <a16:creationId xmlns:a16="http://schemas.microsoft.com/office/drawing/2014/main" id="{3DB9D911-753C-4E8B-A063-EC36C116CB59}"/>
              </a:ext>
            </a:extLst>
          </p:cNvPr>
          <p:cNvSpPr/>
          <p:nvPr/>
        </p:nvSpPr>
        <p:spPr>
          <a:xfrm>
            <a:off x="8808417" y="192294"/>
            <a:ext cx="1474237"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2a</a:t>
            </a:r>
          </a:p>
        </p:txBody>
      </p:sp>
      <p:pic>
        <p:nvPicPr>
          <p:cNvPr id="29" name="Graphic 28" descr="Cursor with solid fill">
            <a:extLst>
              <a:ext uri="{FF2B5EF4-FFF2-40B4-BE49-F238E27FC236}">
                <a16:creationId xmlns:a16="http://schemas.microsoft.com/office/drawing/2014/main" id="{8CFD6AEC-ACA7-4ED5-8B5D-482356854B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1310" y="424941"/>
            <a:ext cx="270672" cy="270672"/>
          </a:xfrm>
          <a:prstGeom prst="rect">
            <a:avLst/>
          </a:prstGeom>
        </p:spPr>
      </p:pic>
      <p:cxnSp>
        <p:nvCxnSpPr>
          <p:cNvPr id="3" name="Straight Connector 2">
            <a:extLst>
              <a:ext uri="{FF2B5EF4-FFF2-40B4-BE49-F238E27FC236}">
                <a16:creationId xmlns:a16="http://schemas.microsoft.com/office/drawing/2014/main" id="{9F3DC473-34A1-4CE0-AD85-44D5A7417B0B}"/>
              </a:ext>
            </a:extLst>
          </p:cNvPr>
          <p:cNvCxnSpPr>
            <a:cxnSpLocks/>
          </p:cNvCxnSpPr>
          <p:nvPr/>
        </p:nvCxnSpPr>
        <p:spPr>
          <a:xfrm>
            <a:off x="7020688" y="216531"/>
            <a:ext cx="0" cy="6341829"/>
          </a:xfrm>
          <a:prstGeom prst="line">
            <a:avLst/>
          </a:prstGeom>
          <a:ln w="38100">
            <a:solidFill>
              <a:schemeClr val="accent5"/>
            </a:solidFill>
          </a:ln>
        </p:spPr>
        <p:style>
          <a:lnRef idx="1">
            <a:schemeClr val="dk1"/>
          </a:lnRef>
          <a:fillRef idx="0">
            <a:schemeClr val="dk1"/>
          </a:fillRef>
          <a:effectRef idx="0">
            <a:schemeClr val="dk1"/>
          </a:effectRef>
          <a:fontRef idx="minor">
            <a:schemeClr val="tx1"/>
          </a:fontRef>
        </p:style>
      </p:cxnSp>
      <p:sp>
        <p:nvSpPr>
          <p:cNvPr id="6" name="Case 1 stem">
            <a:extLst>
              <a:ext uri="{FF2B5EF4-FFF2-40B4-BE49-F238E27FC236}">
                <a16:creationId xmlns:a16="http://schemas.microsoft.com/office/drawing/2014/main" id="{EE5CF056-B12F-4BAB-8EAA-A4A1F99EBB4D}"/>
              </a:ext>
            </a:extLst>
          </p:cNvPr>
          <p:cNvSpPr txBox="1"/>
          <p:nvPr/>
        </p:nvSpPr>
        <p:spPr>
          <a:xfrm>
            <a:off x="1955651" y="615307"/>
            <a:ext cx="4948611" cy="738664"/>
          </a:xfrm>
          <a:prstGeom prst="rect">
            <a:avLst/>
          </a:prstGeom>
          <a:noFill/>
        </p:spPr>
        <p:txBody>
          <a:bodyPr wrap="square" rtlCol="0">
            <a:spAutoFit/>
          </a:bodyPr>
          <a:lstStyle/>
          <a:p>
            <a:r>
              <a:rPr lang="en-US" sz="1400" dirty="0"/>
              <a:t>55 year-old recently admitted for AKI and proteinuria presents to clinic for hospital follow-up. AKI resolved on discharge. SPEP and FLC ordered for proteinuria shows:</a:t>
            </a:r>
          </a:p>
        </p:txBody>
      </p:sp>
      <p:sp>
        <p:nvSpPr>
          <p:cNvPr id="34" name="Case 1 Question 1">
            <a:extLst>
              <a:ext uri="{FF2B5EF4-FFF2-40B4-BE49-F238E27FC236}">
                <a16:creationId xmlns:a16="http://schemas.microsoft.com/office/drawing/2014/main" id="{27CD699D-5524-4807-8DDF-CFFCE617F7A3}"/>
              </a:ext>
            </a:extLst>
          </p:cNvPr>
          <p:cNvSpPr/>
          <p:nvPr/>
        </p:nvSpPr>
        <p:spPr>
          <a:xfrm>
            <a:off x="2032344" y="4342058"/>
            <a:ext cx="469063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other tests would you order to aid in diagnosis?</a:t>
            </a:r>
          </a:p>
        </p:txBody>
      </p:sp>
      <p:pic>
        <p:nvPicPr>
          <p:cNvPr id="35" name="Graphic 34" descr="Cursor with solid fill">
            <a:extLst>
              <a:ext uri="{FF2B5EF4-FFF2-40B4-BE49-F238E27FC236}">
                <a16:creationId xmlns:a16="http://schemas.microsoft.com/office/drawing/2014/main" id="{6CAF6B0D-85D5-4E41-B666-F1D4CCA2564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5046" y="4605557"/>
            <a:ext cx="270672" cy="270672"/>
          </a:xfrm>
          <a:prstGeom prst="rect">
            <a:avLst/>
          </a:prstGeom>
        </p:spPr>
      </p:pic>
      <p:sp>
        <p:nvSpPr>
          <p:cNvPr id="36" name="Case 1 Answer 1">
            <a:extLst>
              <a:ext uri="{FF2B5EF4-FFF2-40B4-BE49-F238E27FC236}">
                <a16:creationId xmlns:a16="http://schemas.microsoft.com/office/drawing/2014/main" id="{0EBD669A-1311-43D4-9C2E-39BF5A0ECBF3}"/>
              </a:ext>
            </a:extLst>
          </p:cNvPr>
          <p:cNvSpPr txBox="1"/>
          <p:nvPr/>
        </p:nvSpPr>
        <p:spPr>
          <a:xfrm>
            <a:off x="2029814" y="4779418"/>
            <a:ext cx="4825339" cy="307777"/>
          </a:xfrm>
          <a:prstGeom prst="rect">
            <a:avLst/>
          </a:prstGeom>
          <a:noFill/>
        </p:spPr>
        <p:txBody>
          <a:bodyPr wrap="square" rtlCol="0">
            <a:spAutoFit/>
          </a:bodyPr>
          <a:lstStyle/>
          <a:p>
            <a:pPr algn="ctr"/>
            <a:r>
              <a:rPr lang="en-US" sz="1400" dirty="0"/>
              <a:t>CBC, calcium, creatinine, imaging, bone marrow biopsy.  </a:t>
            </a:r>
          </a:p>
        </p:txBody>
      </p:sp>
      <p:sp>
        <p:nvSpPr>
          <p:cNvPr id="37" name="Case 1 Question 2">
            <a:extLst>
              <a:ext uri="{FF2B5EF4-FFF2-40B4-BE49-F238E27FC236}">
                <a16:creationId xmlns:a16="http://schemas.microsoft.com/office/drawing/2014/main" id="{3D504DDE-A211-4E97-B1BE-94AD60053F65}"/>
              </a:ext>
            </a:extLst>
          </p:cNvPr>
          <p:cNvSpPr/>
          <p:nvPr/>
        </p:nvSpPr>
        <p:spPr>
          <a:xfrm>
            <a:off x="2025774" y="6018159"/>
            <a:ext cx="4696432"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is the diagnosis?</a:t>
            </a:r>
          </a:p>
        </p:txBody>
      </p:sp>
      <p:pic>
        <p:nvPicPr>
          <p:cNvPr id="38" name="Graphic 37" descr="Cursor with solid fill">
            <a:extLst>
              <a:ext uri="{FF2B5EF4-FFF2-40B4-BE49-F238E27FC236}">
                <a16:creationId xmlns:a16="http://schemas.microsoft.com/office/drawing/2014/main" id="{64DEF6C0-174E-4A59-BE9A-7E2D8A631D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5046" y="6297988"/>
            <a:ext cx="270672" cy="270672"/>
          </a:xfrm>
          <a:prstGeom prst="rect">
            <a:avLst/>
          </a:prstGeom>
        </p:spPr>
      </p:pic>
      <p:sp>
        <p:nvSpPr>
          <p:cNvPr id="39" name="Case 1 Answer 2">
            <a:extLst>
              <a:ext uri="{FF2B5EF4-FFF2-40B4-BE49-F238E27FC236}">
                <a16:creationId xmlns:a16="http://schemas.microsoft.com/office/drawing/2014/main" id="{38A1EAB5-6FD6-431F-8B0A-DB3837605A46}"/>
              </a:ext>
            </a:extLst>
          </p:cNvPr>
          <p:cNvSpPr txBox="1"/>
          <p:nvPr/>
        </p:nvSpPr>
        <p:spPr>
          <a:xfrm>
            <a:off x="2051688" y="6453539"/>
            <a:ext cx="4670517" cy="307777"/>
          </a:xfrm>
          <a:prstGeom prst="rect">
            <a:avLst/>
          </a:prstGeom>
          <a:noFill/>
        </p:spPr>
        <p:txBody>
          <a:bodyPr wrap="square" rtlCol="0">
            <a:spAutoFit/>
          </a:bodyPr>
          <a:lstStyle/>
          <a:p>
            <a:pPr algn="ctr"/>
            <a:r>
              <a:rPr lang="en-US" sz="1400" b="1" dirty="0"/>
              <a:t>MGUS</a:t>
            </a:r>
          </a:p>
        </p:txBody>
      </p:sp>
      <p:sp>
        <p:nvSpPr>
          <p:cNvPr id="46" name="Case 2 stem">
            <a:extLst>
              <a:ext uri="{FF2B5EF4-FFF2-40B4-BE49-F238E27FC236}">
                <a16:creationId xmlns:a16="http://schemas.microsoft.com/office/drawing/2014/main" id="{71873D1E-0B14-427A-9FBF-BEA5E7332DCC}"/>
              </a:ext>
            </a:extLst>
          </p:cNvPr>
          <p:cNvSpPr txBox="1"/>
          <p:nvPr/>
        </p:nvSpPr>
        <p:spPr>
          <a:xfrm>
            <a:off x="7137110" y="615307"/>
            <a:ext cx="4886937" cy="523220"/>
          </a:xfrm>
          <a:prstGeom prst="rect">
            <a:avLst/>
          </a:prstGeom>
          <a:noFill/>
        </p:spPr>
        <p:txBody>
          <a:bodyPr wrap="square" rtlCol="0">
            <a:spAutoFit/>
          </a:bodyPr>
          <a:lstStyle/>
          <a:p>
            <a:r>
              <a:rPr lang="en-US" sz="1400" dirty="0"/>
              <a:t>64 year-old presents for follow-up of abnormal labs. SPEP, immunofixation, and K/L FLC assay results show:</a:t>
            </a:r>
          </a:p>
        </p:txBody>
      </p:sp>
      <p:graphicFrame>
        <p:nvGraphicFramePr>
          <p:cNvPr id="5" name="Table 6">
            <a:extLst>
              <a:ext uri="{FF2B5EF4-FFF2-40B4-BE49-F238E27FC236}">
                <a16:creationId xmlns:a16="http://schemas.microsoft.com/office/drawing/2014/main" id="{5C0FEFB9-2C61-FA49-9233-8E6B540836CA}"/>
              </a:ext>
            </a:extLst>
          </p:cNvPr>
          <p:cNvGraphicFramePr>
            <a:graphicFrameLocks noGrp="1"/>
          </p:cNvGraphicFramePr>
          <p:nvPr>
            <p:extLst>
              <p:ext uri="{D42A27DB-BD31-4B8C-83A1-F6EECF244321}">
                <p14:modId xmlns:p14="http://schemas.microsoft.com/office/powerpoint/2010/main" val="2966514806"/>
              </p:ext>
            </p:extLst>
          </p:nvPr>
        </p:nvGraphicFramePr>
        <p:xfrm>
          <a:off x="2672522" y="1402247"/>
          <a:ext cx="3536760" cy="1304861"/>
        </p:xfrm>
        <a:graphic>
          <a:graphicData uri="http://schemas.openxmlformats.org/drawingml/2006/table">
            <a:tbl>
              <a:tblPr firstRow="1" bandRow="1">
                <a:tableStyleId>{9D7B26C5-4107-4FEC-AEDC-1716B250A1EF}</a:tableStyleId>
              </a:tblPr>
              <a:tblGrid>
                <a:gridCol w="1235393">
                  <a:extLst>
                    <a:ext uri="{9D8B030D-6E8A-4147-A177-3AD203B41FA5}">
                      <a16:colId xmlns:a16="http://schemas.microsoft.com/office/drawing/2014/main" val="2112972644"/>
                    </a:ext>
                  </a:extLst>
                </a:gridCol>
                <a:gridCol w="1032002">
                  <a:extLst>
                    <a:ext uri="{9D8B030D-6E8A-4147-A177-3AD203B41FA5}">
                      <a16:colId xmlns:a16="http://schemas.microsoft.com/office/drawing/2014/main" val="3179749903"/>
                    </a:ext>
                  </a:extLst>
                </a:gridCol>
                <a:gridCol w="1269365">
                  <a:extLst>
                    <a:ext uri="{9D8B030D-6E8A-4147-A177-3AD203B41FA5}">
                      <a16:colId xmlns:a16="http://schemas.microsoft.com/office/drawing/2014/main" val="305056042"/>
                    </a:ext>
                  </a:extLst>
                </a:gridCol>
              </a:tblGrid>
              <a:tr h="0">
                <a:tc>
                  <a:txBody>
                    <a:bodyPr/>
                    <a:lstStyle/>
                    <a:p>
                      <a:pPr algn="ctr"/>
                      <a:r>
                        <a:rPr lang="en-US" sz="1100" dirty="0"/>
                        <a:t>Test</a:t>
                      </a:r>
                    </a:p>
                  </a:txBody>
                  <a:tcPr marL="18288" marR="18288" marT="18288" marB="18288" anchor="ctr"/>
                </a:tc>
                <a:tc>
                  <a:txBody>
                    <a:bodyPr/>
                    <a:lstStyle/>
                    <a:p>
                      <a:pPr algn="ctr"/>
                      <a:r>
                        <a:rPr lang="en-US" sz="1100" dirty="0"/>
                        <a:t>Result (g/dL)</a:t>
                      </a:r>
                    </a:p>
                  </a:txBody>
                  <a:tcPr marL="18288" marR="18288" marT="18288" marB="18288" anchor="ctr"/>
                </a:tc>
                <a:tc>
                  <a:txBody>
                    <a:bodyPr/>
                    <a:lstStyle/>
                    <a:p>
                      <a:pPr algn="ctr"/>
                      <a:r>
                        <a:rPr lang="en-US" sz="1100" dirty="0"/>
                        <a:t>Reference (g/dL)</a:t>
                      </a:r>
                    </a:p>
                  </a:txBody>
                  <a:tcPr marL="18288" marR="18288" marT="18288" marB="18288" anchor="ctr"/>
                </a:tc>
                <a:extLst>
                  <a:ext uri="{0D108BD9-81ED-4DB2-BD59-A6C34878D82A}">
                    <a16:rowId xmlns:a16="http://schemas.microsoft.com/office/drawing/2014/main" val="2688349845"/>
                  </a:ext>
                </a:extLst>
              </a:tr>
              <a:tr h="0">
                <a:tc>
                  <a:txBody>
                    <a:bodyPr/>
                    <a:lstStyle/>
                    <a:p>
                      <a:pPr algn="ctr"/>
                      <a:r>
                        <a:rPr lang="en-US" sz="1100" dirty="0"/>
                        <a:t>Albumin</a:t>
                      </a:r>
                    </a:p>
                  </a:txBody>
                  <a:tcPr marL="18288" marR="18288" marT="18288" marB="18288" anchor="ctr"/>
                </a:tc>
                <a:tc>
                  <a:txBody>
                    <a:bodyPr/>
                    <a:lstStyle/>
                    <a:p>
                      <a:pPr algn="ctr"/>
                      <a:r>
                        <a:rPr lang="en-US" sz="1100" dirty="0"/>
                        <a:t>4.2</a:t>
                      </a:r>
                    </a:p>
                  </a:txBody>
                  <a:tcPr marL="18288" marR="18288" marT="18288" marB="18288" anchor="ctr"/>
                </a:tc>
                <a:tc>
                  <a:txBody>
                    <a:bodyPr/>
                    <a:lstStyle/>
                    <a:p>
                      <a:pPr algn="ctr"/>
                      <a:r>
                        <a:rPr lang="en-US" sz="1100" dirty="0"/>
                        <a:t>3.6-5.4</a:t>
                      </a:r>
                    </a:p>
                  </a:txBody>
                  <a:tcPr marL="18288" marR="18288" marT="18288" marB="18288" anchor="ctr"/>
                </a:tc>
                <a:extLst>
                  <a:ext uri="{0D108BD9-81ED-4DB2-BD59-A6C34878D82A}">
                    <a16:rowId xmlns:a16="http://schemas.microsoft.com/office/drawing/2014/main" val="3290493476"/>
                  </a:ext>
                </a:extLst>
              </a:tr>
              <a:tr h="0">
                <a:tc>
                  <a:txBody>
                    <a:bodyPr/>
                    <a:lstStyle/>
                    <a:p>
                      <a:pPr algn="ctr"/>
                      <a:r>
                        <a:rPr lang="en-US" sz="1100" dirty="0"/>
                        <a:t>Alpha1 globulin</a:t>
                      </a:r>
                    </a:p>
                  </a:txBody>
                  <a:tcPr marL="18288" marR="18288" marT="18288" marB="18288" anchor="ctr"/>
                </a:tc>
                <a:tc>
                  <a:txBody>
                    <a:bodyPr/>
                    <a:lstStyle/>
                    <a:p>
                      <a:pPr algn="ctr"/>
                      <a:r>
                        <a:rPr lang="en-US" sz="1100" dirty="0"/>
                        <a:t>0.3</a:t>
                      </a:r>
                    </a:p>
                  </a:txBody>
                  <a:tcPr marL="18288" marR="18288" marT="18288" marB="18288" anchor="ctr"/>
                </a:tc>
                <a:tc>
                  <a:txBody>
                    <a:bodyPr/>
                    <a:lstStyle/>
                    <a:p>
                      <a:pPr algn="ctr"/>
                      <a:r>
                        <a:rPr lang="en-US" sz="1100" dirty="0"/>
                        <a:t>0.1-0.3</a:t>
                      </a:r>
                    </a:p>
                  </a:txBody>
                  <a:tcPr marL="18288" marR="18288" marT="18288" marB="18288" anchor="ctr"/>
                </a:tc>
                <a:extLst>
                  <a:ext uri="{0D108BD9-81ED-4DB2-BD59-A6C34878D82A}">
                    <a16:rowId xmlns:a16="http://schemas.microsoft.com/office/drawing/2014/main" val="3487184428"/>
                  </a:ext>
                </a:extLst>
              </a:tr>
              <a:tr h="222544">
                <a:tc>
                  <a:txBody>
                    <a:bodyPr/>
                    <a:lstStyle/>
                    <a:p>
                      <a:pPr algn="ctr"/>
                      <a:r>
                        <a:rPr lang="en-US" sz="1100" dirty="0"/>
                        <a:t>Alpha2 globulin</a:t>
                      </a:r>
                    </a:p>
                  </a:txBody>
                  <a:tcPr marL="18288" marR="18288" marT="18288" marB="18288" anchor="ctr"/>
                </a:tc>
                <a:tc>
                  <a:txBody>
                    <a:bodyPr/>
                    <a:lstStyle/>
                    <a:p>
                      <a:pPr algn="ctr"/>
                      <a:r>
                        <a:rPr lang="en-US" sz="1100" dirty="0"/>
                        <a:t>0.6</a:t>
                      </a:r>
                    </a:p>
                  </a:txBody>
                  <a:tcPr marL="18288" marR="18288" marT="18288" marB="18288" anchor="ctr"/>
                </a:tc>
                <a:tc>
                  <a:txBody>
                    <a:bodyPr/>
                    <a:lstStyle/>
                    <a:p>
                      <a:pPr algn="ctr"/>
                      <a:r>
                        <a:rPr lang="en-US" sz="1100" dirty="0"/>
                        <a:t>0.5-0.3</a:t>
                      </a:r>
                    </a:p>
                  </a:txBody>
                  <a:tcPr marL="18288" marR="18288" marT="18288" marB="18288" anchor="ctr"/>
                </a:tc>
                <a:extLst>
                  <a:ext uri="{0D108BD9-81ED-4DB2-BD59-A6C34878D82A}">
                    <a16:rowId xmlns:a16="http://schemas.microsoft.com/office/drawing/2014/main" val="230287893"/>
                  </a:ext>
                </a:extLst>
              </a:tr>
              <a:tr h="222544">
                <a:tc>
                  <a:txBody>
                    <a:bodyPr/>
                    <a:lstStyle/>
                    <a:p>
                      <a:pPr algn="ctr"/>
                      <a:r>
                        <a:rPr lang="en-US" sz="1100" dirty="0"/>
                        <a:t>Beta globulin</a:t>
                      </a:r>
                    </a:p>
                  </a:txBody>
                  <a:tcPr marL="18288" marR="18288" marT="18288" marB="18288" anchor="ctr"/>
                </a:tc>
                <a:tc>
                  <a:txBody>
                    <a:bodyPr/>
                    <a:lstStyle/>
                    <a:p>
                      <a:pPr algn="ctr"/>
                      <a:r>
                        <a:rPr lang="en-US" sz="1100" dirty="0"/>
                        <a:t>1</a:t>
                      </a:r>
                    </a:p>
                  </a:txBody>
                  <a:tcPr marL="18288" marR="18288" marT="18288" marB="18288" anchor="ctr"/>
                </a:tc>
                <a:tc>
                  <a:txBody>
                    <a:bodyPr/>
                    <a:lstStyle/>
                    <a:p>
                      <a:pPr algn="ctr"/>
                      <a:r>
                        <a:rPr lang="en-US" sz="1100" dirty="0"/>
                        <a:t>0.5-1</a:t>
                      </a:r>
                    </a:p>
                  </a:txBody>
                  <a:tcPr marL="18288" marR="18288" marT="18288" marB="18288" anchor="ctr"/>
                </a:tc>
                <a:extLst>
                  <a:ext uri="{0D108BD9-81ED-4DB2-BD59-A6C34878D82A}">
                    <a16:rowId xmlns:a16="http://schemas.microsoft.com/office/drawing/2014/main" val="3872889238"/>
                  </a:ext>
                </a:extLst>
              </a:tr>
              <a:tr h="247125">
                <a:tc>
                  <a:txBody>
                    <a:bodyPr/>
                    <a:lstStyle/>
                    <a:p>
                      <a:pPr algn="ctr"/>
                      <a:r>
                        <a:rPr lang="en-US" sz="1100" dirty="0"/>
                        <a:t>Gamma globulin</a:t>
                      </a:r>
                    </a:p>
                  </a:txBody>
                  <a:tcPr marL="18288" marR="18288" marT="18288" marB="18288" anchor="ctr"/>
                </a:tc>
                <a:tc>
                  <a:txBody>
                    <a:bodyPr/>
                    <a:lstStyle/>
                    <a:p>
                      <a:pPr algn="ctr"/>
                      <a:r>
                        <a:rPr lang="en-US" sz="1100" dirty="0"/>
                        <a:t>3 (H)</a:t>
                      </a:r>
                    </a:p>
                  </a:txBody>
                  <a:tcPr marL="18288" marR="18288" marT="18288" marB="18288" anchor="ctr"/>
                </a:tc>
                <a:tc>
                  <a:txBody>
                    <a:bodyPr/>
                    <a:lstStyle/>
                    <a:p>
                      <a:pPr algn="ctr"/>
                      <a:r>
                        <a:rPr lang="en-US" sz="1100" dirty="0"/>
                        <a:t>0.5-1.4</a:t>
                      </a:r>
                    </a:p>
                  </a:txBody>
                  <a:tcPr marL="18288" marR="18288" marT="18288" marB="18288" anchor="ctr"/>
                </a:tc>
                <a:extLst>
                  <a:ext uri="{0D108BD9-81ED-4DB2-BD59-A6C34878D82A}">
                    <a16:rowId xmlns:a16="http://schemas.microsoft.com/office/drawing/2014/main" val="3865864543"/>
                  </a:ext>
                </a:extLst>
              </a:tr>
            </a:tbl>
          </a:graphicData>
        </a:graphic>
      </p:graphicFrame>
      <p:sp>
        <p:nvSpPr>
          <p:cNvPr id="73" name="TextBox 72">
            <a:extLst>
              <a:ext uri="{FF2B5EF4-FFF2-40B4-BE49-F238E27FC236}">
                <a16:creationId xmlns:a16="http://schemas.microsoft.com/office/drawing/2014/main" id="{BF19E128-7137-3B4B-B6D6-A273566C2F54}"/>
              </a:ext>
            </a:extLst>
          </p:cNvPr>
          <p:cNvSpPr txBox="1"/>
          <p:nvPr/>
        </p:nvSpPr>
        <p:spPr>
          <a:xfrm>
            <a:off x="1960186" y="2656100"/>
            <a:ext cx="4911261" cy="738664"/>
          </a:xfrm>
          <a:prstGeom prst="rect">
            <a:avLst/>
          </a:prstGeom>
          <a:noFill/>
        </p:spPr>
        <p:txBody>
          <a:bodyPr wrap="square">
            <a:spAutoFit/>
          </a:bodyPr>
          <a:lstStyle/>
          <a:p>
            <a:pPr marL="120650" indent="-120650"/>
            <a:r>
              <a:rPr lang="en-US" sz="1400" dirty="0"/>
              <a:t>The monoclonal protein measures 2 g/dL</a:t>
            </a:r>
          </a:p>
          <a:p>
            <a:pPr marL="120650" indent="-120650"/>
            <a:r>
              <a:rPr lang="en-US" sz="1400" u="sng" dirty="0"/>
              <a:t>IFX</a:t>
            </a:r>
            <a:r>
              <a:rPr lang="en-US" sz="1400" dirty="0"/>
              <a:t>: “IgG kappa monoclonal protein identified”</a:t>
            </a:r>
          </a:p>
          <a:p>
            <a:pPr marL="120650" indent="-120650"/>
            <a:r>
              <a:rPr lang="en-US" sz="1400" u="sng" dirty="0"/>
              <a:t>Kappa: </a:t>
            </a:r>
            <a:r>
              <a:rPr lang="en-US" sz="1400" dirty="0"/>
              <a:t>6.3</a:t>
            </a:r>
            <a:r>
              <a:rPr lang="en-US" sz="1400" u="sng" dirty="0"/>
              <a:t> Lambda:</a:t>
            </a:r>
            <a:r>
              <a:rPr lang="en-US" sz="1400" dirty="0"/>
              <a:t>2.1 </a:t>
            </a:r>
            <a:r>
              <a:rPr lang="en-US" sz="1400" u="sng" dirty="0"/>
              <a:t>K/L Ratio</a:t>
            </a:r>
            <a:r>
              <a:rPr lang="en-US" sz="1400" dirty="0"/>
              <a:t>: 3</a:t>
            </a:r>
          </a:p>
        </p:txBody>
      </p:sp>
      <p:sp>
        <p:nvSpPr>
          <p:cNvPr id="74" name="Case 1 Answer 1">
            <a:extLst>
              <a:ext uri="{FF2B5EF4-FFF2-40B4-BE49-F238E27FC236}">
                <a16:creationId xmlns:a16="http://schemas.microsoft.com/office/drawing/2014/main" id="{F1E17CA0-9B0E-AF4E-A098-317AF7EED11A}"/>
              </a:ext>
            </a:extLst>
          </p:cNvPr>
          <p:cNvSpPr txBox="1"/>
          <p:nvPr/>
        </p:nvSpPr>
        <p:spPr>
          <a:xfrm>
            <a:off x="2025774" y="5253581"/>
            <a:ext cx="4825339" cy="738664"/>
          </a:xfrm>
          <a:prstGeom prst="rect">
            <a:avLst/>
          </a:prstGeom>
          <a:noFill/>
        </p:spPr>
        <p:txBody>
          <a:bodyPr wrap="square" rtlCol="0">
            <a:spAutoFit/>
          </a:bodyPr>
          <a:lstStyle/>
          <a:p>
            <a:r>
              <a:rPr lang="en-US" sz="1400" dirty="0"/>
              <a:t>…</a:t>
            </a:r>
            <a:r>
              <a:rPr lang="en-US" sz="1400" u="sng" dirty="0"/>
              <a:t>Labs</a:t>
            </a:r>
            <a:r>
              <a:rPr lang="en-US" sz="1400" dirty="0"/>
              <a:t>: Hgb 13. Calcium 9. Cr stable at 1. </a:t>
            </a:r>
          </a:p>
          <a:p>
            <a:r>
              <a:rPr lang="en-US" sz="1400" u="sng" dirty="0"/>
              <a:t>PET-CT</a:t>
            </a:r>
            <a:r>
              <a:rPr lang="en-US" sz="1400" dirty="0"/>
              <a:t> shows no lytic lesions. </a:t>
            </a:r>
            <a:r>
              <a:rPr lang="en-US" sz="1400" u="sng" dirty="0"/>
              <a:t>Bone marrow biopsy </a:t>
            </a:r>
            <a:r>
              <a:rPr lang="en-US" sz="1400" dirty="0"/>
              <a:t>shows 5% plasma clonal cells. </a:t>
            </a:r>
          </a:p>
        </p:txBody>
      </p:sp>
      <p:sp>
        <p:nvSpPr>
          <p:cNvPr id="43" name="Case 2 Question 1">
            <a:extLst>
              <a:ext uri="{FF2B5EF4-FFF2-40B4-BE49-F238E27FC236}">
                <a16:creationId xmlns:a16="http://schemas.microsoft.com/office/drawing/2014/main" id="{CCD75921-5DD9-BA49-896A-9DED5CF102AA}"/>
              </a:ext>
            </a:extLst>
          </p:cNvPr>
          <p:cNvSpPr/>
          <p:nvPr/>
        </p:nvSpPr>
        <p:spPr>
          <a:xfrm>
            <a:off x="7170226" y="3559552"/>
            <a:ext cx="4695045"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plasma cell dyscrasia does this patient have?</a:t>
            </a:r>
          </a:p>
        </p:txBody>
      </p:sp>
      <p:pic>
        <p:nvPicPr>
          <p:cNvPr id="44" name="Graphic 43" descr="Cursor with solid fill">
            <a:extLst>
              <a:ext uri="{FF2B5EF4-FFF2-40B4-BE49-F238E27FC236}">
                <a16:creationId xmlns:a16="http://schemas.microsoft.com/office/drawing/2014/main" id="{33B05759-9FFE-F341-809A-B79B1692F3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9820" y="3832842"/>
            <a:ext cx="270672" cy="270672"/>
          </a:xfrm>
          <a:prstGeom prst="rect">
            <a:avLst/>
          </a:prstGeom>
        </p:spPr>
      </p:pic>
      <p:sp>
        <p:nvSpPr>
          <p:cNvPr id="45" name="Case 2 Question 2">
            <a:extLst>
              <a:ext uri="{FF2B5EF4-FFF2-40B4-BE49-F238E27FC236}">
                <a16:creationId xmlns:a16="http://schemas.microsoft.com/office/drawing/2014/main" id="{A1FEE874-9B5B-4C4B-B7CC-1F4E5751033E}"/>
              </a:ext>
            </a:extLst>
          </p:cNvPr>
          <p:cNvSpPr/>
          <p:nvPr/>
        </p:nvSpPr>
        <p:spPr>
          <a:xfrm>
            <a:off x="7170226" y="4589414"/>
            <a:ext cx="4695045"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is this patient’s risk of progression every year?</a:t>
            </a:r>
          </a:p>
        </p:txBody>
      </p:sp>
      <p:pic>
        <p:nvPicPr>
          <p:cNvPr id="59" name="Graphic 58" descr="Cursor with solid fill">
            <a:extLst>
              <a:ext uri="{FF2B5EF4-FFF2-40B4-BE49-F238E27FC236}">
                <a16:creationId xmlns:a16="http://schemas.microsoft.com/office/drawing/2014/main" id="{5799052B-F9EA-1F44-8E15-85922653FA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9820" y="4863617"/>
            <a:ext cx="270672" cy="270672"/>
          </a:xfrm>
          <a:prstGeom prst="rect">
            <a:avLst/>
          </a:prstGeom>
        </p:spPr>
      </p:pic>
      <p:graphicFrame>
        <p:nvGraphicFramePr>
          <p:cNvPr id="60" name="Table 6">
            <a:extLst>
              <a:ext uri="{FF2B5EF4-FFF2-40B4-BE49-F238E27FC236}">
                <a16:creationId xmlns:a16="http://schemas.microsoft.com/office/drawing/2014/main" id="{F6035ACE-E736-CE4B-9B28-50535783A2F4}"/>
              </a:ext>
            </a:extLst>
          </p:cNvPr>
          <p:cNvGraphicFramePr>
            <a:graphicFrameLocks noGrp="1"/>
          </p:cNvGraphicFramePr>
          <p:nvPr>
            <p:extLst>
              <p:ext uri="{D42A27DB-BD31-4B8C-83A1-F6EECF244321}">
                <p14:modId xmlns:p14="http://schemas.microsoft.com/office/powerpoint/2010/main" val="2544932165"/>
              </p:ext>
            </p:extLst>
          </p:nvPr>
        </p:nvGraphicFramePr>
        <p:xfrm>
          <a:off x="7616598" y="1112100"/>
          <a:ext cx="3949214" cy="1345548"/>
        </p:xfrm>
        <a:graphic>
          <a:graphicData uri="http://schemas.openxmlformats.org/drawingml/2006/table">
            <a:tbl>
              <a:tblPr firstRow="1" bandRow="1">
                <a:tableStyleId>{9D7B26C5-4107-4FEC-AEDC-1716B250A1EF}</a:tableStyleId>
              </a:tblPr>
              <a:tblGrid>
                <a:gridCol w="1379464">
                  <a:extLst>
                    <a:ext uri="{9D8B030D-6E8A-4147-A177-3AD203B41FA5}">
                      <a16:colId xmlns:a16="http://schemas.microsoft.com/office/drawing/2014/main" val="2112972644"/>
                    </a:ext>
                  </a:extLst>
                </a:gridCol>
                <a:gridCol w="1152353">
                  <a:extLst>
                    <a:ext uri="{9D8B030D-6E8A-4147-A177-3AD203B41FA5}">
                      <a16:colId xmlns:a16="http://schemas.microsoft.com/office/drawing/2014/main" val="3179749903"/>
                    </a:ext>
                  </a:extLst>
                </a:gridCol>
                <a:gridCol w="1417397">
                  <a:extLst>
                    <a:ext uri="{9D8B030D-6E8A-4147-A177-3AD203B41FA5}">
                      <a16:colId xmlns:a16="http://schemas.microsoft.com/office/drawing/2014/main" val="305056042"/>
                    </a:ext>
                  </a:extLst>
                </a:gridCol>
              </a:tblGrid>
              <a:tr h="224258">
                <a:tc>
                  <a:txBody>
                    <a:bodyPr/>
                    <a:lstStyle/>
                    <a:p>
                      <a:pPr algn="ctr"/>
                      <a:r>
                        <a:rPr lang="en-US" sz="1100" dirty="0"/>
                        <a:t>Test</a:t>
                      </a:r>
                    </a:p>
                  </a:txBody>
                  <a:tcPr marL="18288" marR="18288" marT="18288" marB="18288" anchor="ctr"/>
                </a:tc>
                <a:tc>
                  <a:txBody>
                    <a:bodyPr/>
                    <a:lstStyle/>
                    <a:p>
                      <a:pPr algn="ctr"/>
                      <a:r>
                        <a:rPr lang="en-US" sz="1100" dirty="0"/>
                        <a:t>Result (g/dL)</a:t>
                      </a:r>
                    </a:p>
                  </a:txBody>
                  <a:tcPr marL="18288" marR="18288" marT="18288" marB="18288" anchor="ctr"/>
                </a:tc>
                <a:tc>
                  <a:txBody>
                    <a:bodyPr/>
                    <a:lstStyle/>
                    <a:p>
                      <a:pPr algn="ctr"/>
                      <a:r>
                        <a:rPr lang="en-US" sz="1100" dirty="0"/>
                        <a:t>Reference (g/dL)</a:t>
                      </a:r>
                    </a:p>
                  </a:txBody>
                  <a:tcPr marL="18288" marR="18288" marT="18288" marB="18288" anchor="ctr"/>
                </a:tc>
                <a:extLst>
                  <a:ext uri="{0D108BD9-81ED-4DB2-BD59-A6C34878D82A}">
                    <a16:rowId xmlns:a16="http://schemas.microsoft.com/office/drawing/2014/main" val="2688349845"/>
                  </a:ext>
                </a:extLst>
              </a:tr>
              <a:tr h="224258">
                <a:tc>
                  <a:txBody>
                    <a:bodyPr/>
                    <a:lstStyle/>
                    <a:p>
                      <a:pPr algn="ctr"/>
                      <a:r>
                        <a:rPr lang="en-US" sz="1100" dirty="0"/>
                        <a:t>Albumin</a:t>
                      </a:r>
                    </a:p>
                  </a:txBody>
                  <a:tcPr marL="18288" marR="18288" marT="18288" marB="18288" anchor="ctr"/>
                </a:tc>
                <a:tc>
                  <a:txBody>
                    <a:bodyPr/>
                    <a:lstStyle/>
                    <a:p>
                      <a:pPr algn="ctr"/>
                      <a:r>
                        <a:rPr lang="en-US" sz="1100" dirty="0"/>
                        <a:t>4.2</a:t>
                      </a:r>
                    </a:p>
                  </a:txBody>
                  <a:tcPr marL="18288" marR="18288" marT="18288" marB="18288" anchor="ctr"/>
                </a:tc>
                <a:tc>
                  <a:txBody>
                    <a:bodyPr/>
                    <a:lstStyle/>
                    <a:p>
                      <a:pPr algn="ctr"/>
                      <a:r>
                        <a:rPr lang="en-US" sz="1100" dirty="0"/>
                        <a:t>3.6-5.4</a:t>
                      </a:r>
                    </a:p>
                  </a:txBody>
                  <a:tcPr marL="18288" marR="18288" marT="18288" marB="18288" anchor="ctr"/>
                </a:tc>
                <a:extLst>
                  <a:ext uri="{0D108BD9-81ED-4DB2-BD59-A6C34878D82A}">
                    <a16:rowId xmlns:a16="http://schemas.microsoft.com/office/drawing/2014/main" val="3290493476"/>
                  </a:ext>
                </a:extLst>
              </a:tr>
              <a:tr h="224258">
                <a:tc>
                  <a:txBody>
                    <a:bodyPr/>
                    <a:lstStyle/>
                    <a:p>
                      <a:pPr algn="ctr"/>
                      <a:r>
                        <a:rPr lang="en-US" sz="1100" dirty="0"/>
                        <a:t>Alpha1 globulin</a:t>
                      </a:r>
                    </a:p>
                  </a:txBody>
                  <a:tcPr marL="18288" marR="18288" marT="18288" marB="18288" anchor="ctr"/>
                </a:tc>
                <a:tc>
                  <a:txBody>
                    <a:bodyPr/>
                    <a:lstStyle/>
                    <a:p>
                      <a:pPr algn="ctr"/>
                      <a:r>
                        <a:rPr lang="en-US" sz="1100" dirty="0"/>
                        <a:t>0.3</a:t>
                      </a:r>
                    </a:p>
                  </a:txBody>
                  <a:tcPr marL="18288" marR="18288" marT="18288" marB="18288" anchor="ctr"/>
                </a:tc>
                <a:tc>
                  <a:txBody>
                    <a:bodyPr/>
                    <a:lstStyle/>
                    <a:p>
                      <a:pPr algn="ctr"/>
                      <a:r>
                        <a:rPr lang="en-US" sz="1100" dirty="0"/>
                        <a:t>0.1-0.3</a:t>
                      </a:r>
                    </a:p>
                  </a:txBody>
                  <a:tcPr marL="18288" marR="18288" marT="18288" marB="18288" anchor="ctr"/>
                </a:tc>
                <a:extLst>
                  <a:ext uri="{0D108BD9-81ED-4DB2-BD59-A6C34878D82A}">
                    <a16:rowId xmlns:a16="http://schemas.microsoft.com/office/drawing/2014/main" val="3487184428"/>
                  </a:ext>
                </a:extLst>
              </a:tr>
              <a:tr h="224258">
                <a:tc>
                  <a:txBody>
                    <a:bodyPr/>
                    <a:lstStyle/>
                    <a:p>
                      <a:pPr algn="ctr"/>
                      <a:r>
                        <a:rPr lang="en-US" sz="1100" dirty="0"/>
                        <a:t>Alpha2 globulin</a:t>
                      </a:r>
                    </a:p>
                  </a:txBody>
                  <a:tcPr marL="18288" marR="18288" marT="18288" marB="18288" anchor="ctr"/>
                </a:tc>
                <a:tc>
                  <a:txBody>
                    <a:bodyPr/>
                    <a:lstStyle/>
                    <a:p>
                      <a:pPr algn="ctr"/>
                      <a:r>
                        <a:rPr lang="en-US" sz="1100" dirty="0"/>
                        <a:t>0.6</a:t>
                      </a:r>
                    </a:p>
                  </a:txBody>
                  <a:tcPr marL="18288" marR="18288" marT="18288" marB="18288" anchor="ctr"/>
                </a:tc>
                <a:tc>
                  <a:txBody>
                    <a:bodyPr/>
                    <a:lstStyle/>
                    <a:p>
                      <a:pPr algn="ctr"/>
                      <a:r>
                        <a:rPr lang="en-US" sz="1100" dirty="0"/>
                        <a:t>0.5-0.3</a:t>
                      </a:r>
                    </a:p>
                  </a:txBody>
                  <a:tcPr marL="18288" marR="18288" marT="18288" marB="18288" anchor="ctr"/>
                </a:tc>
                <a:extLst>
                  <a:ext uri="{0D108BD9-81ED-4DB2-BD59-A6C34878D82A}">
                    <a16:rowId xmlns:a16="http://schemas.microsoft.com/office/drawing/2014/main" val="230287893"/>
                  </a:ext>
                </a:extLst>
              </a:tr>
              <a:tr h="224258">
                <a:tc>
                  <a:txBody>
                    <a:bodyPr/>
                    <a:lstStyle/>
                    <a:p>
                      <a:pPr algn="ctr"/>
                      <a:r>
                        <a:rPr lang="en-US" sz="1100" dirty="0"/>
                        <a:t>Beta globulin</a:t>
                      </a:r>
                    </a:p>
                  </a:txBody>
                  <a:tcPr marL="18288" marR="18288" marT="18288" marB="18288" anchor="ctr"/>
                </a:tc>
                <a:tc>
                  <a:txBody>
                    <a:bodyPr/>
                    <a:lstStyle/>
                    <a:p>
                      <a:pPr algn="ctr"/>
                      <a:r>
                        <a:rPr lang="en-US" sz="1100" dirty="0"/>
                        <a:t>1</a:t>
                      </a:r>
                    </a:p>
                  </a:txBody>
                  <a:tcPr marL="18288" marR="18288" marT="18288" marB="18288" anchor="ctr"/>
                </a:tc>
                <a:tc>
                  <a:txBody>
                    <a:bodyPr/>
                    <a:lstStyle/>
                    <a:p>
                      <a:pPr algn="ctr"/>
                      <a:r>
                        <a:rPr lang="en-US" sz="1100" dirty="0"/>
                        <a:t>0.5-1</a:t>
                      </a:r>
                    </a:p>
                  </a:txBody>
                  <a:tcPr marL="18288" marR="18288" marT="18288" marB="18288" anchor="ctr"/>
                </a:tc>
                <a:extLst>
                  <a:ext uri="{0D108BD9-81ED-4DB2-BD59-A6C34878D82A}">
                    <a16:rowId xmlns:a16="http://schemas.microsoft.com/office/drawing/2014/main" val="3872889238"/>
                  </a:ext>
                </a:extLst>
              </a:tr>
              <a:tr h="224258">
                <a:tc>
                  <a:txBody>
                    <a:bodyPr/>
                    <a:lstStyle/>
                    <a:p>
                      <a:pPr algn="ctr"/>
                      <a:r>
                        <a:rPr lang="en-US" sz="1100" dirty="0"/>
                        <a:t>Gamma globulin</a:t>
                      </a:r>
                    </a:p>
                  </a:txBody>
                  <a:tcPr marL="18288" marR="18288" marT="18288" marB="18288" anchor="ctr"/>
                </a:tc>
                <a:tc>
                  <a:txBody>
                    <a:bodyPr/>
                    <a:lstStyle/>
                    <a:p>
                      <a:pPr algn="ctr"/>
                      <a:r>
                        <a:rPr lang="en-US" sz="1100" dirty="0"/>
                        <a:t>4.5  (H)</a:t>
                      </a:r>
                    </a:p>
                  </a:txBody>
                  <a:tcPr marL="18288" marR="18288" marT="18288" marB="18288" anchor="ctr"/>
                </a:tc>
                <a:tc>
                  <a:txBody>
                    <a:bodyPr/>
                    <a:lstStyle/>
                    <a:p>
                      <a:pPr algn="ctr"/>
                      <a:r>
                        <a:rPr lang="en-US" sz="1100" dirty="0"/>
                        <a:t>0.5-1.4</a:t>
                      </a:r>
                    </a:p>
                  </a:txBody>
                  <a:tcPr marL="18288" marR="18288" marT="18288" marB="18288" anchor="ctr"/>
                </a:tc>
                <a:extLst>
                  <a:ext uri="{0D108BD9-81ED-4DB2-BD59-A6C34878D82A}">
                    <a16:rowId xmlns:a16="http://schemas.microsoft.com/office/drawing/2014/main" val="3865864543"/>
                  </a:ext>
                </a:extLst>
              </a:tr>
            </a:tbl>
          </a:graphicData>
        </a:graphic>
      </p:graphicFrame>
      <p:sp>
        <p:nvSpPr>
          <p:cNvPr id="2" name="TextBox 1">
            <a:extLst>
              <a:ext uri="{FF2B5EF4-FFF2-40B4-BE49-F238E27FC236}">
                <a16:creationId xmlns:a16="http://schemas.microsoft.com/office/drawing/2014/main" id="{33893F70-893F-CE4B-A203-A6A3EF1FA3BF}"/>
              </a:ext>
            </a:extLst>
          </p:cNvPr>
          <p:cNvSpPr txBox="1"/>
          <p:nvPr/>
        </p:nvSpPr>
        <p:spPr>
          <a:xfrm>
            <a:off x="7327983" y="4000652"/>
            <a:ext cx="4445848" cy="523220"/>
          </a:xfrm>
          <a:prstGeom prst="rect">
            <a:avLst/>
          </a:prstGeom>
          <a:noFill/>
        </p:spPr>
        <p:txBody>
          <a:bodyPr wrap="square" rtlCol="0">
            <a:spAutoFit/>
          </a:bodyPr>
          <a:lstStyle/>
          <a:p>
            <a:pPr algn="ctr"/>
            <a:r>
              <a:rPr lang="en-US" sz="1400" b="1" dirty="0"/>
              <a:t>Smoldering MM. </a:t>
            </a:r>
            <a:r>
              <a:rPr lang="en-US" sz="1400" dirty="0"/>
              <a:t>M-spike &gt; 3 g/dL and &gt; 10% bone marrow involvement but no end organ damage. </a:t>
            </a:r>
          </a:p>
        </p:txBody>
      </p:sp>
      <p:sp>
        <p:nvSpPr>
          <p:cNvPr id="4" name="TextBox 3">
            <a:extLst>
              <a:ext uri="{FF2B5EF4-FFF2-40B4-BE49-F238E27FC236}">
                <a16:creationId xmlns:a16="http://schemas.microsoft.com/office/drawing/2014/main" id="{ED84B569-9A6B-8D47-B4A0-D3C0F8455D62}"/>
              </a:ext>
            </a:extLst>
          </p:cNvPr>
          <p:cNvSpPr txBox="1"/>
          <p:nvPr/>
        </p:nvSpPr>
        <p:spPr>
          <a:xfrm>
            <a:off x="7602548" y="5051595"/>
            <a:ext cx="4013984" cy="307777"/>
          </a:xfrm>
          <a:prstGeom prst="rect">
            <a:avLst/>
          </a:prstGeom>
          <a:noFill/>
        </p:spPr>
        <p:txBody>
          <a:bodyPr wrap="none" rtlCol="0">
            <a:spAutoFit/>
          </a:bodyPr>
          <a:lstStyle/>
          <a:p>
            <a:r>
              <a:rPr lang="en-US" sz="1400" dirty="0"/>
              <a:t>10% for first 5 years and 5% per </a:t>
            </a:r>
            <a:r>
              <a:rPr lang="en-US" sz="1400"/>
              <a:t>year for </a:t>
            </a:r>
            <a:r>
              <a:rPr lang="en-US" sz="1400" dirty="0"/>
              <a:t>next 5 years</a:t>
            </a:r>
          </a:p>
        </p:txBody>
      </p:sp>
      <p:sp>
        <p:nvSpPr>
          <p:cNvPr id="62" name="Case 2 Question 3">
            <a:extLst>
              <a:ext uri="{FF2B5EF4-FFF2-40B4-BE49-F238E27FC236}">
                <a16:creationId xmlns:a16="http://schemas.microsoft.com/office/drawing/2014/main" id="{ED9D3397-B0B1-2944-BA5C-CAD567DEF001}"/>
              </a:ext>
            </a:extLst>
          </p:cNvPr>
          <p:cNvSpPr/>
          <p:nvPr/>
        </p:nvSpPr>
        <p:spPr>
          <a:xfrm>
            <a:off x="7170226" y="5428396"/>
            <a:ext cx="4695045"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lab monitoring should this patient have?</a:t>
            </a:r>
          </a:p>
        </p:txBody>
      </p:sp>
      <p:sp>
        <p:nvSpPr>
          <p:cNvPr id="63" name="TextBox 62">
            <a:extLst>
              <a:ext uri="{FF2B5EF4-FFF2-40B4-BE49-F238E27FC236}">
                <a16:creationId xmlns:a16="http://schemas.microsoft.com/office/drawing/2014/main" id="{CF5DB5E9-FFC7-A446-80F5-0859F7170237}"/>
              </a:ext>
            </a:extLst>
          </p:cNvPr>
          <p:cNvSpPr txBox="1"/>
          <p:nvPr/>
        </p:nvSpPr>
        <p:spPr>
          <a:xfrm>
            <a:off x="7137110" y="5865913"/>
            <a:ext cx="4786708" cy="738664"/>
          </a:xfrm>
          <a:prstGeom prst="rect">
            <a:avLst/>
          </a:prstGeom>
          <a:noFill/>
        </p:spPr>
        <p:txBody>
          <a:bodyPr wrap="square" rtlCol="0">
            <a:spAutoFit/>
          </a:bodyPr>
          <a:lstStyle/>
          <a:p>
            <a:pPr marL="109538" indent="-109538">
              <a:buFont typeface="Arial" panose="020B0604020202020204" pitchFamily="34" charset="0"/>
              <a:buChar char="•"/>
            </a:pPr>
            <a:r>
              <a:rPr lang="en-US" sz="1400" dirty="0"/>
              <a:t>Serial SPEP, IFX, UPEP, serum FLC assay, CBC, Ca, and Cr.</a:t>
            </a:r>
          </a:p>
          <a:p>
            <a:pPr marL="109538" indent="-109538">
              <a:buFont typeface="Arial" panose="020B0604020202020204" pitchFamily="34" charset="0"/>
              <a:buChar char="•"/>
            </a:pPr>
            <a:r>
              <a:rPr lang="en-US" sz="1400" dirty="0"/>
              <a:t>Repeat at frequent intervals (~3 months initially), which may reduce over time if disease stable.</a:t>
            </a:r>
          </a:p>
        </p:txBody>
      </p:sp>
      <p:pic>
        <p:nvPicPr>
          <p:cNvPr id="64" name="Graphic 63" descr="Cursor with solid fill">
            <a:extLst>
              <a:ext uri="{FF2B5EF4-FFF2-40B4-BE49-F238E27FC236}">
                <a16:creationId xmlns:a16="http://schemas.microsoft.com/office/drawing/2014/main" id="{DDCDB2E5-765E-6349-999C-8040F8A921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9820" y="5699922"/>
            <a:ext cx="270672" cy="270672"/>
          </a:xfrm>
          <a:prstGeom prst="rect">
            <a:avLst/>
          </a:prstGeom>
        </p:spPr>
      </p:pic>
      <p:sp>
        <p:nvSpPr>
          <p:cNvPr id="41" name="Case 1 Question 1a">
            <a:extLst>
              <a:ext uri="{FF2B5EF4-FFF2-40B4-BE49-F238E27FC236}">
                <a16:creationId xmlns:a16="http://schemas.microsoft.com/office/drawing/2014/main" id="{690B6337-0BF1-4A04-BBAD-CD5DCC0F0491}"/>
              </a:ext>
            </a:extLst>
          </p:cNvPr>
          <p:cNvSpPr/>
          <p:nvPr/>
        </p:nvSpPr>
        <p:spPr>
          <a:xfrm>
            <a:off x="2032344" y="3429000"/>
            <a:ext cx="469063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How would you interpret these results?</a:t>
            </a:r>
          </a:p>
        </p:txBody>
      </p:sp>
      <p:sp>
        <p:nvSpPr>
          <p:cNvPr id="42" name="Case 1 Answer 1">
            <a:extLst>
              <a:ext uri="{FF2B5EF4-FFF2-40B4-BE49-F238E27FC236}">
                <a16:creationId xmlns:a16="http://schemas.microsoft.com/office/drawing/2014/main" id="{4EA4CD4F-5093-40F7-9BC7-3B6E7DF106D6}"/>
              </a:ext>
            </a:extLst>
          </p:cNvPr>
          <p:cNvSpPr txBox="1"/>
          <p:nvPr/>
        </p:nvSpPr>
        <p:spPr>
          <a:xfrm>
            <a:off x="1977669" y="3862172"/>
            <a:ext cx="4825339" cy="307777"/>
          </a:xfrm>
          <a:prstGeom prst="rect">
            <a:avLst/>
          </a:prstGeom>
          <a:noFill/>
        </p:spPr>
        <p:txBody>
          <a:bodyPr wrap="square" rtlCol="0">
            <a:spAutoFit/>
          </a:bodyPr>
          <a:lstStyle/>
          <a:p>
            <a:pPr algn="ctr"/>
            <a:r>
              <a:rPr lang="en-US" sz="1400" dirty="0"/>
              <a:t>There is an M-spike that measures &lt;3 g/dL. FLC ratio is elevated.</a:t>
            </a:r>
          </a:p>
        </p:txBody>
      </p:sp>
      <p:pic>
        <p:nvPicPr>
          <p:cNvPr id="47" name="Graphic 46" descr="Cursor with solid fill">
            <a:extLst>
              <a:ext uri="{FF2B5EF4-FFF2-40B4-BE49-F238E27FC236}">
                <a16:creationId xmlns:a16="http://schemas.microsoft.com/office/drawing/2014/main" id="{8CE8D91E-ABC3-484B-8A9A-C47002F654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15046" y="3678905"/>
            <a:ext cx="270672" cy="270672"/>
          </a:xfrm>
          <a:prstGeom prst="rect">
            <a:avLst/>
          </a:prstGeom>
        </p:spPr>
      </p:pic>
      <p:grpSp>
        <p:nvGrpSpPr>
          <p:cNvPr id="8" name="Group 7">
            <a:extLst>
              <a:ext uri="{FF2B5EF4-FFF2-40B4-BE49-F238E27FC236}">
                <a16:creationId xmlns:a16="http://schemas.microsoft.com/office/drawing/2014/main" id="{0675ACDA-6031-4AC6-B759-6D2E474F8165}"/>
              </a:ext>
            </a:extLst>
          </p:cNvPr>
          <p:cNvGrpSpPr/>
          <p:nvPr/>
        </p:nvGrpSpPr>
        <p:grpSpPr>
          <a:xfrm>
            <a:off x="6995006" y="2600609"/>
            <a:ext cx="5142548" cy="954107"/>
            <a:chOff x="6995008" y="2777695"/>
            <a:chExt cx="5142548" cy="954107"/>
          </a:xfrm>
        </p:grpSpPr>
        <p:sp>
          <p:nvSpPr>
            <p:cNvPr id="61" name="TextBox 60">
              <a:extLst>
                <a:ext uri="{FF2B5EF4-FFF2-40B4-BE49-F238E27FC236}">
                  <a16:creationId xmlns:a16="http://schemas.microsoft.com/office/drawing/2014/main" id="{7A462BDF-4BA6-7541-B693-09BDD7C21FCE}"/>
                </a:ext>
              </a:extLst>
            </p:cNvPr>
            <p:cNvSpPr txBox="1"/>
            <p:nvPr/>
          </p:nvSpPr>
          <p:spPr>
            <a:xfrm>
              <a:off x="6995008" y="2777695"/>
              <a:ext cx="3287648" cy="954107"/>
            </a:xfrm>
            <a:prstGeom prst="rect">
              <a:avLst/>
            </a:prstGeom>
            <a:noFill/>
          </p:spPr>
          <p:txBody>
            <a:bodyPr wrap="square">
              <a:spAutoFit/>
            </a:bodyPr>
            <a:lstStyle/>
            <a:p>
              <a:r>
                <a:rPr lang="en-US" sz="1400" dirty="0"/>
                <a:t>The monoclonal protein measures 3.5 g/dL</a:t>
              </a:r>
              <a:endParaRPr lang="en-US" sz="1400" u="sng" dirty="0"/>
            </a:p>
            <a:p>
              <a:r>
                <a:rPr lang="en-US" sz="1400" u="sng" dirty="0"/>
                <a:t>IFX</a:t>
              </a:r>
              <a:r>
                <a:rPr lang="en-US" sz="1400" dirty="0"/>
                <a:t>: “IgA lambda monoclonal protein”</a:t>
              </a:r>
            </a:p>
            <a:p>
              <a:pPr marL="120650" indent="-120650"/>
              <a:r>
                <a:rPr lang="en-US" sz="1400" u="sng" dirty="0"/>
                <a:t>Kappa: 1 Lambda: 5</a:t>
              </a:r>
              <a:r>
                <a:rPr lang="en-US" sz="1400" dirty="0"/>
                <a:t> </a:t>
              </a:r>
              <a:r>
                <a:rPr lang="en-US" sz="1400" u="sng" dirty="0"/>
                <a:t>K/L Ratio</a:t>
              </a:r>
              <a:r>
                <a:rPr lang="en-US" sz="1400" dirty="0"/>
                <a:t>: .2</a:t>
              </a:r>
            </a:p>
            <a:p>
              <a:r>
                <a:rPr lang="en-US" sz="1400" u="sng" dirty="0"/>
                <a:t>Labs</a:t>
              </a:r>
              <a:r>
                <a:rPr lang="en-US" sz="1400" dirty="0"/>
                <a:t>: Hgb 14, Cr 1.0, calcium of 9.5</a:t>
              </a:r>
            </a:p>
          </p:txBody>
        </p:sp>
        <p:sp>
          <p:nvSpPr>
            <p:cNvPr id="48" name="TextBox 47">
              <a:extLst>
                <a:ext uri="{FF2B5EF4-FFF2-40B4-BE49-F238E27FC236}">
                  <a16:creationId xmlns:a16="http://schemas.microsoft.com/office/drawing/2014/main" id="{FB426301-5112-4036-B773-59630834D137}"/>
                </a:ext>
              </a:extLst>
            </p:cNvPr>
            <p:cNvSpPr txBox="1"/>
            <p:nvPr/>
          </p:nvSpPr>
          <p:spPr>
            <a:xfrm>
              <a:off x="10215484" y="2786833"/>
              <a:ext cx="1922072" cy="738664"/>
            </a:xfrm>
            <a:prstGeom prst="rect">
              <a:avLst/>
            </a:prstGeom>
            <a:noFill/>
          </p:spPr>
          <p:txBody>
            <a:bodyPr wrap="square">
              <a:spAutoFit/>
            </a:bodyPr>
            <a:lstStyle/>
            <a:p>
              <a:r>
                <a:rPr lang="en-US" sz="1400" u="sng" dirty="0"/>
                <a:t>PET/CT</a:t>
              </a:r>
              <a:r>
                <a:rPr lang="en-US" sz="1400" dirty="0"/>
                <a:t>: no lytic lesions</a:t>
              </a:r>
            </a:p>
            <a:p>
              <a:r>
                <a:rPr lang="en-US" sz="1400" u="sng" dirty="0"/>
                <a:t>Bone marrow biopsy</a:t>
              </a:r>
              <a:r>
                <a:rPr lang="en-US" sz="1400" dirty="0"/>
                <a:t>: 12% involvement. </a:t>
              </a:r>
            </a:p>
          </p:txBody>
        </p:sp>
      </p:grpSp>
      <p:sp>
        <p:nvSpPr>
          <p:cNvPr id="7" name="Rectangle 6">
            <a:extLst>
              <a:ext uri="{FF2B5EF4-FFF2-40B4-BE49-F238E27FC236}">
                <a16:creationId xmlns:a16="http://schemas.microsoft.com/office/drawing/2014/main" id="{9E1A345D-2B9F-6295-41BB-6B999EC21BD7}"/>
              </a:ext>
            </a:extLst>
          </p:cNvPr>
          <p:cNvSpPr/>
          <p:nvPr/>
        </p:nvSpPr>
        <p:spPr>
          <a:xfrm>
            <a:off x="2012541" y="2700948"/>
            <a:ext cx="3536759" cy="23716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8BBD682-AB6F-A092-C957-1A073705E0EA}"/>
              </a:ext>
            </a:extLst>
          </p:cNvPr>
          <p:cNvSpPr txBox="1"/>
          <p:nvPr/>
        </p:nvSpPr>
        <p:spPr>
          <a:xfrm>
            <a:off x="1963673" y="2653712"/>
            <a:ext cx="4911261" cy="738664"/>
          </a:xfrm>
          <a:prstGeom prst="rect">
            <a:avLst/>
          </a:prstGeom>
          <a:noFill/>
        </p:spPr>
        <p:txBody>
          <a:bodyPr wrap="square">
            <a:spAutoFit/>
          </a:bodyPr>
          <a:lstStyle/>
          <a:p>
            <a:pPr marL="120650" indent="-120650"/>
            <a:r>
              <a:rPr lang="en-US" sz="1400" dirty="0"/>
              <a:t>The monoclonal protein measures 2 g/dL</a:t>
            </a:r>
            <a:endParaRPr lang="en-US" sz="1400" u="sng" dirty="0"/>
          </a:p>
          <a:p>
            <a:pPr marL="120650" indent="-120650"/>
            <a:r>
              <a:rPr lang="en-US" sz="1400" u="sng" dirty="0"/>
              <a:t>IFX</a:t>
            </a:r>
            <a:r>
              <a:rPr lang="en-US" sz="1400" dirty="0"/>
              <a:t>: “IgG kappa monoclonal protein identified”</a:t>
            </a:r>
          </a:p>
          <a:p>
            <a:pPr marL="120650" indent="-120650"/>
            <a:r>
              <a:rPr lang="en-US" sz="1400" u="sng" dirty="0"/>
              <a:t>Kappa: </a:t>
            </a:r>
            <a:r>
              <a:rPr lang="en-US" sz="1400" dirty="0"/>
              <a:t>6.3</a:t>
            </a:r>
            <a:r>
              <a:rPr lang="en-US" sz="1400" u="sng" dirty="0"/>
              <a:t> Lambda:</a:t>
            </a:r>
            <a:r>
              <a:rPr lang="en-US" sz="1400" dirty="0"/>
              <a:t>2.1 </a:t>
            </a:r>
            <a:r>
              <a:rPr lang="en-US" sz="1400" u="sng" dirty="0"/>
              <a:t>K/L Ratio</a:t>
            </a:r>
            <a:r>
              <a:rPr lang="en-US" sz="1400" dirty="0"/>
              <a:t>: </a:t>
            </a:r>
            <a:r>
              <a:rPr lang="en-US" sz="1400" dirty="0">
                <a:solidFill>
                  <a:srgbClr val="FF0000"/>
                </a:solidFill>
              </a:rPr>
              <a:t>3</a:t>
            </a:r>
          </a:p>
        </p:txBody>
      </p:sp>
      <p:sp>
        <p:nvSpPr>
          <p:cNvPr id="10" name="Rectangle 9">
            <a:extLst>
              <a:ext uri="{FF2B5EF4-FFF2-40B4-BE49-F238E27FC236}">
                <a16:creationId xmlns:a16="http://schemas.microsoft.com/office/drawing/2014/main" id="{A43C2B00-576D-70DC-93B3-85F4E91FDC53}"/>
              </a:ext>
            </a:extLst>
          </p:cNvPr>
          <p:cNvSpPr/>
          <p:nvPr/>
        </p:nvSpPr>
        <p:spPr>
          <a:xfrm>
            <a:off x="7016374" y="2628129"/>
            <a:ext cx="3280272" cy="24561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bj 1">
            <a:hlinkClick r:id="rId5" action="ppaction://hlinksldjump"/>
            <a:extLst>
              <a:ext uri="{FF2B5EF4-FFF2-40B4-BE49-F238E27FC236}">
                <a16:creationId xmlns:a16="http://schemas.microsoft.com/office/drawing/2014/main" id="{D09FD937-24EA-1C8B-95E6-EAADF0D13349}"/>
              </a:ext>
            </a:extLst>
          </p:cNvPr>
          <p:cNvSpPr/>
          <p:nvPr/>
        </p:nvSpPr>
        <p:spPr>
          <a:xfrm>
            <a:off x="183491" y="216531"/>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Pathogenesis</a:t>
            </a:r>
          </a:p>
        </p:txBody>
      </p:sp>
      <p:pic>
        <p:nvPicPr>
          <p:cNvPr id="15" name="Graphic 14" descr="Cursor with solid fill">
            <a:extLst>
              <a:ext uri="{FF2B5EF4-FFF2-40B4-BE49-F238E27FC236}">
                <a16:creationId xmlns:a16="http://schemas.microsoft.com/office/drawing/2014/main" id="{FB6FBD88-D255-E2B5-6877-08BE0B7C1A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489473"/>
            <a:ext cx="301752" cy="301752"/>
          </a:xfrm>
          <a:prstGeom prst="rect">
            <a:avLst/>
          </a:prstGeom>
        </p:spPr>
      </p:pic>
      <p:sp>
        <p:nvSpPr>
          <p:cNvPr id="16" name="Obj 1">
            <a:hlinkClick r:id="rId6" action="ppaction://hlinksldjump"/>
            <a:extLst>
              <a:ext uri="{FF2B5EF4-FFF2-40B4-BE49-F238E27FC236}">
                <a16:creationId xmlns:a16="http://schemas.microsoft.com/office/drawing/2014/main" id="{6910CC87-F338-9D06-7A0F-82C8F3AE0F19}"/>
              </a:ext>
            </a:extLst>
          </p:cNvPr>
          <p:cNvSpPr/>
          <p:nvPr/>
        </p:nvSpPr>
        <p:spPr>
          <a:xfrm>
            <a:off x="183491" y="82031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17" name="Graphic 16" descr="Cursor with solid fill">
            <a:extLst>
              <a:ext uri="{FF2B5EF4-FFF2-40B4-BE49-F238E27FC236}">
                <a16:creationId xmlns:a16="http://schemas.microsoft.com/office/drawing/2014/main" id="{F83C5348-3360-FE0E-051C-65A3EBC30E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094197"/>
            <a:ext cx="301752" cy="301752"/>
          </a:xfrm>
          <a:prstGeom prst="rect">
            <a:avLst/>
          </a:prstGeom>
        </p:spPr>
      </p:pic>
      <p:sp>
        <p:nvSpPr>
          <p:cNvPr id="20" name="Obj 1">
            <a:hlinkClick r:id="rId7" action="ppaction://hlinksldjump"/>
            <a:extLst>
              <a:ext uri="{FF2B5EF4-FFF2-40B4-BE49-F238E27FC236}">
                <a16:creationId xmlns:a16="http://schemas.microsoft.com/office/drawing/2014/main" id="{230598B5-BC95-E7C7-83BC-53545AE6CAC1}"/>
              </a:ext>
            </a:extLst>
          </p:cNvPr>
          <p:cNvSpPr/>
          <p:nvPr/>
        </p:nvSpPr>
        <p:spPr>
          <a:xfrm>
            <a:off x="183491" y="142410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21" name="Graphic 20" descr="Cursor with solid fill">
            <a:extLst>
              <a:ext uri="{FF2B5EF4-FFF2-40B4-BE49-F238E27FC236}">
                <a16:creationId xmlns:a16="http://schemas.microsoft.com/office/drawing/2014/main" id="{22DA903C-EFFB-88C9-C1AD-A34E4E83B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698921"/>
            <a:ext cx="301752" cy="301752"/>
          </a:xfrm>
          <a:prstGeom prst="rect">
            <a:avLst/>
          </a:prstGeom>
        </p:spPr>
      </p:pic>
      <p:sp>
        <p:nvSpPr>
          <p:cNvPr id="22" name="Obj 1">
            <a:hlinkClick r:id="rId8" action="ppaction://hlinksldjump"/>
            <a:extLst>
              <a:ext uri="{FF2B5EF4-FFF2-40B4-BE49-F238E27FC236}">
                <a16:creationId xmlns:a16="http://schemas.microsoft.com/office/drawing/2014/main" id="{99C83CD1-9982-8BC2-9711-5FB21343057D}"/>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23" name="Graphic 22" descr="Cursor with solid fill">
            <a:extLst>
              <a:ext uri="{FF2B5EF4-FFF2-40B4-BE49-F238E27FC236}">
                <a16:creationId xmlns:a16="http://schemas.microsoft.com/office/drawing/2014/main" id="{CE2DDF4D-8BF2-4F72-899F-1317EFD7D4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2303645"/>
            <a:ext cx="301752" cy="301752"/>
          </a:xfrm>
          <a:prstGeom prst="rect">
            <a:avLst/>
          </a:prstGeom>
        </p:spPr>
      </p:pic>
      <p:sp>
        <p:nvSpPr>
          <p:cNvPr id="24" name="Obj 1">
            <a:hlinkClick r:id="rId9" action="ppaction://hlinksldjump"/>
            <a:extLst>
              <a:ext uri="{FF2B5EF4-FFF2-40B4-BE49-F238E27FC236}">
                <a16:creationId xmlns:a16="http://schemas.microsoft.com/office/drawing/2014/main" id="{3A532AF2-146C-3E25-1D87-A5C198038984}"/>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25" name="Graphic 24" descr="Cursor with solid fill">
            <a:extLst>
              <a:ext uri="{FF2B5EF4-FFF2-40B4-BE49-F238E27FC236}">
                <a16:creationId xmlns:a16="http://schemas.microsoft.com/office/drawing/2014/main" id="{6E7179AA-C61C-29AE-64CE-3FA321EB60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2908369"/>
            <a:ext cx="301752" cy="301752"/>
          </a:xfrm>
          <a:prstGeom prst="rect">
            <a:avLst/>
          </a:prstGeom>
        </p:spPr>
      </p:pic>
      <p:sp>
        <p:nvSpPr>
          <p:cNvPr id="26" name="Obj 1">
            <a:hlinkClick r:id="rId10" action="ppaction://hlinksldjump"/>
            <a:extLst>
              <a:ext uri="{FF2B5EF4-FFF2-40B4-BE49-F238E27FC236}">
                <a16:creationId xmlns:a16="http://schemas.microsoft.com/office/drawing/2014/main" id="{95F24608-1489-26CE-101A-11F1D569D6A3}"/>
              </a:ext>
            </a:extLst>
          </p:cNvPr>
          <p:cNvSpPr/>
          <p:nvPr/>
        </p:nvSpPr>
        <p:spPr>
          <a:xfrm>
            <a:off x="183491" y="3235463"/>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Cases</a:t>
            </a:r>
          </a:p>
        </p:txBody>
      </p:sp>
      <p:cxnSp>
        <p:nvCxnSpPr>
          <p:cNvPr id="76" name="Connector: Elbow 12">
            <a:extLst>
              <a:ext uri="{FF2B5EF4-FFF2-40B4-BE49-F238E27FC236}">
                <a16:creationId xmlns:a16="http://schemas.microsoft.com/office/drawing/2014/main" id="{A5EA38EA-E6F6-8B91-934E-FAC71F8F5218}"/>
              </a:ext>
            </a:extLst>
          </p:cNvPr>
          <p:cNvCxnSpPr>
            <a:cxnSpLocks/>
            <a:endCxn id="78" idx="1"/>
          </p:cNvCxnSpPr>
          <p:nvPr/>
        </p:nvCxnSpPr>
        <p:spPr>
          <a:xfrm rot="16200000" flipH="1">
            <a:off x="202132" y="3721573"/>
            <a:ext cx="366559" cy="28397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77" name="Connector: Elbow 30">
            <a:extLst>
              <a:ext uri="{FF2B5EF4-FFF2-40B4-BE49-F238E27FC236}">
                <a16:creationId xmlns:a16="http://schemas.microsoft.com/office/drawing/2014/main" id="{AD4FA869-5480-7B85-7C48-23259075457F}"/>
              </a:ext>
            </a:extLst>
          </p:cNvPr>
          <p:cNvCxnSpPr>
            <a:cxnSpLocks/>
          </p:cNvCxnSpPr>
          <p:nvPr/>
        </p:nvCxnSpPr>
        <p:spPr>
          <a:xfrm rot="16200000" flipH="1">
            <a:off x="-127824" y="4032225"/>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78" name="Obj 1">
            <a:hlinkClick r:id="rId11" action="ppaction://hlinksldjump"/>
            <a:extLst>
              <a:ext uri="{FF2B5EF4-FFF2-40B4-BE49-F238E27FC236}">
                <a16:creationId xmlns:a16="http://schemas.microsoft.com/office/drawing/2014/main" id="{0196FB91-42FF-2A39-ABCE-173245A331B0}"/>
              </a:ext>
            </a:extLst>
          </p:cNvPr>
          <p:cNvSpPr/>
          <p:nvPr/>
        </p:nvSpPr>
        <p:spPr>
          <a:xfrm>
            <a:off x="527400" y="3841102"/>
            <a:ext cx="1212247"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1 &amp; 2a</a:t>
            </a:r>
          </a:p>
        </p:txBody>
      </p:sp>
      <p:sp>
        <p:nvSpPr>
          <p:cNvPr id="79" name="Obj 1">
            <a:hlinkClick r:id="rId12" action="ppaction://hlinksldjump"/>
            <a:extLst>
              <a:ext uri="{FF2B5EF4-FFF2-40B4-BE49-F238E27FC236}">
                <a16:creationId xmlns:a16="http://schemas.microsoft.com/office/drawing/2014/main" id="{25788E7D-E151-04C3-17EF-9EF7E2883618}"/>
              </a:ext>
            </a:extLst>
          </p:cNvPr>
          <p:cNvSpPr/>
          <p:nvPr/>
        </p:nvSpPr>
        <p:spPr>
          <a:xfrm>
            <a:off x="527400" y="4445914"/>
            <a:ext cx="1212247"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2b &amp; 2c</a:t>
            </a:r>
          </a:p>
        </p:txBody>
      </p:sp>
      <p:pic>
        <p:nvPicPr>
          <p:cNvPr id="80" name="Graphic 79" descr="Cursor with solid fill">
            <a:extLst>
              <a:ext uri="{FF2B5EF4-FFF2-40B4-BE49-F238E27FC236}">
                <a16:creationId xmlns:a16="http://schemas.microsoft.com/office/drawing/2014/main" id="{B6AFB17A-EA7D-331E-E2C7-5EC4EDBFDE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4730167"/>
            <a:ext cx="301752" cy="301752"/>
          </a:xfrm>
          <a:prstGeom prst="rect">
            <a:avLst/>
          </a:prstGeom>
        </p:spPr>
      </p:pic>
      <p:grpSp>
        <p:nvGrpSpPr>
          <p:cNvPr id="56" name="Group 55">
            <a:extLst>
              <a:ext uri="{FF2B5EF4-FFF2-40B4-BE49-F238E27FC236}">
                <a16:creationId xmlns:a16="http://schemas.microsoft.com/office/drawing/2014/main" id="{177922EE-C7A1-4791-8014-29E4FF675FB7}"/>
              </a:ext>
            </a:extLst>
          </p:cNvPr>
          <p:cNvGrpSpPr/>
          <p:nvPr/>
        </p:nvGrpSpPr>
        <p:grpSpPr>
          <a:xfrm>
            <a:off x="6998493" y="2603698"/>
            <a:ext cx="5135172" cy="954107"/>
            <a:chOff x="7007339" y="7400786"/>
            <a:chExt cx="5135172" cy="954107"/>
          </a:xfrm>
        </p:grpSpPr>
        <p:sp>
          <p:nvSpPr>
            <p:cNvPr id="57" name="TextBox 56">
              <a:extLst>
                <a:ext uri="{FF2B5EF4-FFF2-40B4-BE49-F238E27FC236}">
                  <a16:creationId xmlns:a16="http://schemas.microsoft.com/office/drawing/2014/main" id="{9A9AAE12-399F-4DC3-A8F9-398B1C0030BC}"/>
                </a:ext>
              </a:extLst>
            </p:cNvPr>
            <p:cNvSpPr txBox="1"/>
            <p:nvPr/>
          </p:nvSpPr>
          <p:spPr>
            <a:xfrm>
              <a:off x="7007339" y="7400786"/>
              <a:ext cx="3287648" cy="954107"/>
            </a:xfrm>
            <a:prstGeom prst="rect">
              <a:avLst/>
            </a:prstGeom>
            <a:noFill/>
          </p:spPr>
          <p:txBody>
            <a:bodyPr wrap="square">
              <a:spAutoFit/>
            </a:bodyPr>
            <a:lstStyle/>
            <a:p>
              <a:r>
                <a:rPr lang="en-US" sz="1400" dirty="0"/>
                <a:t>The monoclonal protein measures 3.5 g/dL</a:t>
              </a:r>
              <a:endParaRPr lang="en-US" sz="1400" u="sng" dirty="0"/>
            </a:p>
            <a:p>
              <a:r>
                <a:rPr lang="en-US" sz="1400" u="sng" dirty="0"/>
                <a:t>IFX</a:t>
              </a:r>
              <a:r>
                <a:rPr lang="en-US" sz="1400" dirty="0"/>
                <a:t>: “IgA lambda monoclonal protein”</a:t>
              </a:r>
            </a:p>
            <a:p>
              <a:pPr marL="120650" indent="-120650"/>
              <a:r>
                <a:rPr lang="en-US" sz="1400" u="sng" dirty="0"/>
                <a:t>Kappa:</a:t>
              </a:r>
              <a:r>
                <a:rPr lang="en-US" sz="1400" dirty="0"/>
                <a:t> 1 </a:t>
              </a:r>
              <a:r>
                <a:rPr lang="en-US" sz="1400" u="sng" dirty="0"/>
                <a:t>Lambda:</a:t>
              </a:r>
              <a:r>
                <a:rPr lang="en-US" sz="1400" dirty="0"/>
                <a:t> 5 </a:t>
              </a:r>
              <a:r>
                <a:rPr lang="en-US" sz="1400" u="sng" dirty="0"/>
                <a:t>K/L Ratio</a:t>
              </a:r>
              <a:r>
                <a:rPr lang="en-US" sz="1400" dirty="0"/>
                <a:t>:</a:t>
              </a:r>
              <a:r>
                <a:rPr lang="en-US" sz="1400" dirty="0">
                  <a:solidFill>
                    <a:srgbClr val="FF0000"/>
                  </a:solidFill>
                </a:rPr>
                <a:t> .2</a:t>
              </a:r>
            </a:p>
            <a:p>
              <a:r>
                <a:rPr lang="en-US" sz="1400" u="sng" dirty="0"/>
                <a:t>Labs</a:t>
              </a:r>
              <a:r>
                <a:rPr lang="en-US" sz="1400" dirty="0"/>
                <a:t>: Hgb 14, Cr 1.0, calcium of 9.5</a:t>
              </a:r>
            </a:p>
          </p:txBody>
        </p:sp>
        <p:sp>
          <p:nvSpPr>
            <p:cNvPr id="58" name="TextBox 57">
              <a:extLst>
                <a:ext uri="{FF2B5EF4-FFF2-40B4-BE49-F238E27FC236}">
                  <a16:creationId xmlns:a16="http://schemas.microsoft.com/office/drawing/2014/main" id="{5ADC2551-87A1-4405-A732-87EBA866A1BC}"/>
                </a:ext>
              </a:extLst>
            </p:cNvPr>
            <p:cNvSpPr txBox="1"/>
            <p:nvPr/>
          </p:nvSpPr>
          <p:spPr>
            <a:xfrm>
              <a:off x="10220439" y="7417399"/>
              <a:ext cx="1922072" cy="738664"/>
            </a:xfrm>
            <a:prstGeom prst="rect">
              <a:avLst/>
            </a:prstGeom>
            <a:noFill/>
          </p:spPr>
          <p:txBody>
            <a:bodyPr wrap="square">
              <a:spAutoFit/>
            </a:bodyPr>
            <a:lstStyle/>
            <a:p>
              <a:endParaRPr lang="en-US" sz="1400" dirty="0"/>
            </a:p>
            <a:p>
              <a:endParaRPr lang="en-US" sz="1400" dirty="0"/>
            </a:p>
            <a:p>
              <a:r>
                <a:rPr lang="en-US" sz="1400" dirty="0">
                  <a:solidFill>
                    <a:srgbClr val="FF0000"/>
                  </a:solidFill>
                </a:rPr>
                <a:t>12% involvement. </a:t>
              </a:r>
            </a:p>
          </p:txBody>
        </p:sp>
      </p:grpSp>
    </p:spTree>
    <p:extLst>
      <p:ext uri="{BB962C8B-B14F-4D97-AF65-F5344CB8AC3E}">
        <p14:creationId xmlns:p14="http://schemas.microsoft.com/office/powerpoint/2010/main" val="940204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7" restart="whenNotActive" fill="hold" evtFilter="cancelBubble" nodeType="interactiveSeq">
                <p:stCondLst>
                  <p:cond evt="onClick" delay="0">
                    <p:tgtEl>
                      <p:spTgt spid="41"/>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nodeType="withEffect">
                                  <p:stCondLst>
                                    <p:cond delay="0"/>
                                  </p:stCondLst>
                                  <p:childTnLst>
                                    <p:set>
                                      <p:cBhvr>
                                        <p:cTn id="21" dur="1" fill="hold">
                                          <p:stCondLst>
                                            <p:cond delay="0"/>
                                          </p:stCondLst>
                                        </p:cTn>
                                        <p:tgtEl>
                                          <p:spTgt spid="47"/>
                                        </p:tgtEl>
                                        <p:attrNameLst>
                                          <p:attrName>style.visibility</p:attrName>
                                        </p:attrNameLst>
                                      </p:cBhvr>
                                      <p:to>
                                        <p:strVal val="hidden"/>
                                      </p:to>
                                    </p:set>
                                  </p:childTnLst>
                                </p:cTn>
                              </p:par>
                              <p:par>
                                <p:cTn id="22" presetID="1"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73"/>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childTnLst>
              </p:cTn>
              <p:nextCondLst>
                <p:cond evt="onClick" delay="0">
                  <p:tgtEl>
                    <p:spTgt spid="41"/>
                  </p:tgtEl>
                </p:cond>
              </p:nextCondLst>
            </p:seq>
            <p:seq concurrent="1" nextAc="seek">
              <p:cTn id="34" restart="whenNotActive" fill="hold" evtFilter="cancelBubble" nodeType="interactiveSeq">
                <p:stCondLst>
                  <p:cond evt="onClick" delay="0">
                    <p:tgtEl>
                      <p:spTgt spid="34"/>
                    </p:tgtEl>
                  </p:cond>
                </p:stCondLst>
                <p:endSync evt="end" delay="0">
                  <p:rtn val="all"/>
                </p:endSync>
                <p:childTnLst>
                  <p:par>
                    <p:cTn id="35" fill="hold">
                      <p:stCondLst>
                        <p:cond delay="0"/>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35"/>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47" restart="whenNotActive" fill="hold" evtFilter="cancelBubble" nodeType="interactiveSeq">
                <p:stCondLst>
                  <p:cond evt="onClick" delay="0">
                    <p:tgtEl>
                      <p:spTgt spid="37"/>
                    </p:tgtEl>
                  </p:cond>
                </p:stCondLst>
                <p:endSync evt="end" delay="0">
                  <p:rtn val="all"/>
                </p:endSync>
                <p:childTnLst>
                  <p:par>
                    <p:cTn id="48" fill="hold">
                      <p:stCondLst>
                        <p:cond delay="0"/>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54" restart="whenNotActive" fill="hold" evtFilter="cancelBubble" nodeType="interactiveSeq">
                <p:stCondLst>
                  <p:cond evt="onClick" delay="0">
                    <p:tgtEl>
                      <p:spTgt spid="28"/>
                    </p:tgtEl>
                  </p:cond>
                </p:stCondLst>
                <p:endSync evt="end" delay="0">
                  <p:rtn val="all"/>
                </p:endSync>
                <p:childTnLst>
                  <p:par>
                    <p:cTn id="55" fill="hold">
                      <p:stCondLst>
                        <p:cond delay="0"/>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69" restart="whenNotActive" fill="hold" evtFilter="cancelBubble" nodeType="interactiveSeq">
                <p:stCondLst>
                  <p:cond evt="onClick" delay="0">
                    <p:tgtEl>
                      <p:spTgt spid="43"/>
                    </p:tgtEl>
                  </p:cond>
                </p:stCondLst>
                <p:endSync evt="end" delay="0">
                  <p:rtn val="all"/>
                </p:endSync>
                <p:childTnLst>
                  <p:par>
                    <p:cTn id="70" fill="hold">
                      <p:stCondLst>
                        <p:cond delay="0"/>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44"/>
                                        </p:tgtEl>
                                        <p:attrNameLst>
                                          <p:attrName>style.visibility</p:attrName>
                                        </p:attrNameLst>
                                      </p:cBhvr>
                                      <p:to>
                                        <p:strVal val="hidden"/>
                                      </p:to>
                                    </p:set>
                                  </p:childTnLst>
                                </p:cTn>
                              </p:par>
                              <p:par>
                                <p:cTn id="74" presetID="1" presetClass="entr" presetSubtype="0" fill="hold" nodeType="withEffect">
                                  <p:stCondLst>
                                    <p:cond delay="0"/>
                                  </p:stCondLst>
                                  <p:childTnLst>
                                    <p:set>
                                      <p:cBhvr>
                                        <p:cTn id="75" dur="1" fill="hold">
                                          <p:stCondLst>
                                            <p:cond delay="0"/>
                                          </p:stCondLst>
                                        </p:cTn>
                                        <p:tgtEl>
                                          <p:spTgt spid="59"/>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0"/>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56"/>
                                        </p:tgtEl>
                                        <p:attrNameLst>
                                          <p:attrName>style.visibility</p:attrName>
                                        </p:attrNameLst>
                                      </p:cBhvr>
                                      <p:to>
                                        <p:strVal val="visible"/>
                                      </p:to>
                                    </p:set>
                                  </p:childTnLst>
                                </p:cTn>
                              </p:par>
                            </p:childTnLst>
                          </p:cTn>
                        </p:par>
                      </p:childTnLst>
                    </p:cTn>
                  </p:par>
                </p:childTnLst>
              </p:cTn>
              <p:nextCondLst>
                <p:cond evt="onClick" delay="0">
                  <p:tgtEl>
                    <p:spTgt spid="43"/>
                  </p:tgtEl>
                </p:cond>
              </p:nextCondLst>
            </p:seq>
            <p:seq concurrent="1" nextAc="seek">
              <p:cTn id="84" restart="whenNotActive" fill="hold" evtFilter="cancelBubble" nodeType="interactiveSeq">
                <p:stCondLst>
                  <p:cond evt="onClick" delay="0">
                    <p:tgtEl>
                      <p:spTgt spid="45"/>
                    </p:tgtEl>
                  </p:cond>
                </p:stCondLst>
                <p:endSync evt="end" delay="0">
                  <p:rtn val="all"/>
                </p:endSync>
                <p:childTnLst>
                  <p:par>
                    <p:cTn id="85" fill="hold">
                      <p:stCondLst>
                        <p:cond delay="0"/>
                      </p:stCondLst>
                      <p:childTnLst>
                        <p:par>
                          <p:cTn id="86" fill="hold">
                            <p:stCondLst>
                              <p:cond delay="0"/>
                            </p:stCondLst>
                            <p:childTnLst>
                              <p:par>
                                <p:cTn id="87" presetID="1" presetClass="exit" presetSubtype="0" fill="hold" nodeType="withEffect">
                                  <p:stCondLst>
                                    <p:cond delay="0"/>
                                  </p:stCondLst>
                                  <p:childTnLst>
                                    <p:set>
                                      <p:cBhvr>
                                        <p:cTn id="88" dur="1" fill="hold">
                                          <p:stCondLst>
                                            <p:cond delay="0"/>
                                          </p:stCondLst>
                                        </p:cTn>
                                        <p:tgtEl>
                                          <p:spTgt spid="59"/>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6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45"/>
                  </p:tgtEl>
                </p:cond>
              </p:nextCondLst>
            </p:seq>
            <p:seq concurrent="1" nextAc="seek">
              <p:cTn id="95" restart="whenNotActive" fill="hold" evtFilter="cancelBubble" nodeType="interactiveSeq">
                <p:stCondLst>
                  <p:cond evt="onClick" delay="0">
                    <p:tgtEl>
                      <p:spTgt spid="62"/>
                    </p:tgtEl>
                  </p:cond>
                </p:stCondLst>
                <p:endSync evt="end" delay="0">
                  <p:rtn val="all"/>
                </p:endSync>
                <p:childTnLst>
                  <p:par>
                    <p:cTn id="96" fill="hold">
                      <p:stCondLst>
                        <p:cond delay="0"/>
                      </p:stCondLst>
                      <p:childTnLst>
                        <p:par>
                          <p:cTn id="97" fill="hold">
                            <p:stCondLst>
                              <p:cond delay="0"/>
                            </p:stCondLst>
                            <p:childTnLst>
                              <p:par>
                                <p:cTn id="98" presetID="1" presetClass="exit" presetSubtype="0" fill="hold" nodeType="withEffect">
                                  <p:stCondLst>
                                    <p:cond delay="0"/>
                                  </p:stCondLst>
                                  <p:childTnLst>
                                    <p:set>
                                      <p:cBhvr>
                                        <p:cTn id="99" dur="1" fill="hold">
                                          <p:stCondLst>
                                            <p:cond delay="0"/>
                                          </p:stCondLst>
                                        </p:cTn>
                                        <p:tgtEl>
                                          <p:spTgt spid="64"/>
                                        </p:tgtEl>
                                        <p:attrNameLst>
                                          <p:attrName>style.visibility</p:attrName>
                                        </p:attrNameLst>
                                      </p:cBhvr>
                                      <p:to>
                                        <p:strVal val="hidden"/>
                                      </p:to>
                                    </p:set>
                                  </p:childTnLst>
                                </p:cTn>
                              </p:par>
                              <p:par>
                                <p:cTn id="100" presetID="1" presetClass="entr" presetSubtype="0" fill="hold" grpId="0" nodeType="withEffect">
                                  <p:stCondLst>
                                    <p:cond delay="0"/>
                                  </p:stCondLst>
                                  <p:childTnLst>
                                    <p:set>
                                      <p:cBhvr>
                                        <p:cTn id="101" dur="1" fill="hold">
                                          <p:stCondLst>
                                            <p:cond delay="0"/>
                                          </p:stCondLst>
                                        </p:cTn>
                                        <p:tgtEl>
                                          <p:spTgt spid="63"/>
                                        </p:tgtEl>
                                        <p:attrNameLst>
                                          <p:attrName>style.visibility</p:attrName>
                                        </p:attrNameLst>
                                      </p:cBhvr>
                                      <p:to>
                                        <p:strVal val="visible"/>
                                      </p:to>
                                    </p:set>
                                  </p:childTnLst>
                                </p:cTn>
                              </p:par>
                            </p:childTnLst>
                          </p:cTn>
                        </p:par>
                      </p:childTnLst>
                    </p:cTn>
                  </p:par>
                </p:childTnLst>
              </p:cTn>
              <p:nextCondLst>
                <p:cond evt="onClick" delay="0">
                  <p:tgtEl>
                    <p:spTgt spid="62"/>
                  </p:tgtEl>
                </p:cond>
              </p:nextCondLst>
            </p:seq>
          </p:childTnLst>
        </p:cTn>
      </p:par>
    </p:tnLst>
    <p:bldLst>
      <p:bldP spid="6" grpId="0"/>
      <p:bldP spid="34" grpId="0" animBg="1"/>
      <p:bldP spid="36" grpId="0"/>
      <p:bldP spid="37" grpId="0" animBg="1"/>
      <p:bldP spid="39" grpId="0"/>
      <p:bldP spid="46" grpId="0"/>
      <p:bldP spid="73" grpId="0"/>
      <p:bldP spid="73" grpId="1"/>
      <p:bldP spid="74" grpId="0"/>
      <p:bldP spid="43" grpId="0" animBg="1"/>
      <p:bldP spid="45" grpId="0" animBg="1"/>
      <p:bldP spid="2" grpId="0"/>
      <p:bldP spid="4" grpId="0"/>
      <p:bldP spid="62" grpId="0" animBg="1"/>
      <p:bldP spid="63" grpId="0"/>
      <p:bldP spid="41" grpId="0" animBg="1"/>
      <p:bldP spid="42" grpId="0"/>
      <p:bldP spid="7" grpId="0" animBg="1"/>
      <p:bldP spid="9" grpId="0"/>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 2b">
            <a:extLst>
              <a:ext uri="{FF2B5EF4-FFF2-40B4-BE49-F238E27FC236}">
                <a16:creationId xmlns:a16="http://schemas.microsoft.com/office/drawing/2014/main" id="{5EBABD40-6F67-A34F-82E6-2532491B1500}"/>
              </a:ext>
            </a:extLst>
          </p:cNvPr>
          <p:cNvSpPr/>
          <p:nvPr/>
        </p:nvSpPr>
        <p:spPr>
          <a:xfrm>
            <a:off x="3732627" y="192302"/>
            <a:ext cx="1474237"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2b</a:t>
            </a:r>
          </a:p>
        </p:txBody>
      </p:sp>
      <p:pic>
        <p:nvPicPr>
          <p:cNvPr id="5" name="Graphic 4" descr="Cursor with solid fill">
            <a:extLst>
              <a:ext uri="{FF2B5EF4-FFF2-40B4-BE49-F238E27FC236}">
                <a16:creationId xmlns:a16="http://schemas.microsoft.com/office/drawing/2014/main" id="{F0F6757B-801A-F14C-A163-A23A01177B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04363" y="441419"/>
            <a:ext cx="270672" cy="270672"/>
          </a:xfrm>
          <a:prstGeom prst="rect">
            <a:avLst/>
          </a:prstGeom>
        </p:spPr>
      </p:pic>
      <p:sp>
        <p:nvSpPr>
          <p:cNvPr id="6" name="Case 2b Q1">
            <a:extLst>
              <a:ext uri="{FF2B5EF4-FFF2-40B4-BE49-F238E27FC236}">
                <a16:creationId xmlns:a16="http://schemas.microsoft.com/office/drawing/2014/main" id="{77729CC1-884A-5540-ADD1-3330B4FDF1E3}"/>
              </a:ext>
            </a:extLst>
          </p:cNvPr>
          <p:cNvSpPr/>
          <p:nvPr/>
        </p:nvSpPr>
        <p:spPr>
          <a:xfrm>
            <a:off x="1986018" y="1674805"/>
            <a:ext cx="4549463"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plasma cell dyscrasia does this patient have?</a:t>
            </a:r>
          </a:p>
        </p:txBody>
      </p:sp>
      <p:sp>
        <p:nvSpPr>
          <p:cNvPr id="23" name="Case 2c">
            <a:extLst>
              <a:ext uri="{FF2B5EF4-FFF2-40B4-BE49-F238E27FC236}">
                <a16:creationId xmlns:a16="http://schemas.microsoft.com/office/drawing/2014/main" id="{9CAFAB15-A50E-5949-B26B-6BE5008BA2A5}"/>
              </a:ext>
            </a:extLst>
          </p:cNvPr>
          <p:cNvSpPr/>
          <p:nvPr/>
        </p:nvSpPr>
        <p:spPr>
          <a:xfrm>
            <a:off x="8730998" y="192302"/>
            <a:ext cx="1474237" cy="367979"/>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Case 2c</a:t>
            </a:r>
          </a:p>
        </p:txBody>
      </p:sp>
      <p:pic>
        <p:nvPicPr>
          <p:cNvPr id="24" name="Graphic 23" descr="Cursor with solid fill">
            <a:extLst>
              <a:ext uri="{FF2B5EF4-FFF2-40B4-BE49-F238E27FC236}">
                <a16:creationId xmlns:a16="http://schemas.microsoft.com/office/drawing/2014/main" id="{CFC750C6-30D2-784A-AAFF-04B7EAEE9E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83891" y="424948"/>
            <a:ext cx="270672" cy="270672"/>
          </a:xfrm>
          <a:prstGeom prst="rect">
            <a:avLst/>
          </a:prstGeom>
        </p:spPr>
      </p:pic>
      <p:cxnSp>
        <p:nvCxnSpPr>
          <p:cNvPr id="25" name="Straight Connector 24">
            <a:extLst>
              <a:ext uri="{FF2B5EF4-FFF2-40B4-BE49-F238E27FC236}">
                <a16:creationId xmlns:a16="http://schemas.microsoft.com/office/drawing/2014/main" id="{565AE2D1-BB1E-A64D-A7D5-2EC24A75A647}"/>
              </a:ext>
            </a:extLst>
          </p:cNvPr>
          <p:cNvCxnSpPr>
            <a:cxnSpLocks/>
          </p:cNvCxnSpPr>
          <p:nvPr/>
        </p:nvCxnSpPr>
        <p:spPr>
          <a:xfrm>
            <a:off x="6718802" y="216531"/>
            <a:ext cx="0" cy="6321655"/>
          </a:xfrm>
          <a:prstGeom prst="line">
            <a:avLst/>
          </a:prstGeom>
          <a:ln w="38100"/>
        </p:spPr>
        <p:style>
          <a:lnRef idx="3">
            <a:schemeClr val="accent5"/>
          </a:lnRef>
          <a:fillRef idx="0">
            <a:schemeClr val="accent5"/>
          </a:fillRef>
          <a:effectRef idx="2">
            <a:schemeClr val="accent5"/>
          </a:effectRef>
          <a:fontRef idx="minor">
            <a:schemeClr val="tx1"/>
          </a:fontRef>
        </p:style>
      </p:cxnSp>
      <p:sp>
        <p:nvSpPr>
          <p:cNvPr id="26" name="Question 2c Q2">
            <a:extLst>
              <a:ext uri="{FF2B5EF4-FFF2-40B4-BE49-F238E27FC236}">
                <a16:creationId xmlns:a16="http://schemas.microsoft.com/office/drawing/2014/main" id="{BB4CFC6D-AB63-1A42-813A-4060184D839F}"/>
              </a:ext>
            </a:extLst>
          </p:cNvPr>
          <p:cNvSpPr/>
          <p:nvPr/>
        </p:nvSpPr>
        <p:spPr>
          <a:xfrm>
            <a:off x="6938408" y="4092389"/>
            <a:ext cx="494916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are the potential sources of this patient’s presentation?</a:t>
            </a:r>
          </a:p>
        </p:txBody>
      </p:sp>
      <p:sp>
        <p:nvSpPr>
          <p:cNvPr id="27" name="Case 2c Q3">
            <a:extLst>
              <a:ext uri="{FF2B5EF4-FFF2-40B4-BE49-F238E27FC236}">
                <a16:creationId xmlns:a16="http://schemas.microsoft.com/office/drawing/2014/main" id="{225B50CE-0B98-CC4E-BD56-E44DC9A4E6BB}"/>
              </a:ext>
            </a:extLst>
          </p:cNvPr>
          <p:cNvSpPr/>
          <p:nvPr/>
        </p:nvSpPr>
        <p:spPr>
          <a:xfrm>
            <a:off x="6902124" y="5613165"/>
            <a:ext cx="4970513" cy="545411"/>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additional therapy can we offer this patient if they present with repeat infections?</a:t>
            </a:r>
          </a:p>
        </p:txBody>
      </p:sp>
      <p:sp>
        <p:nvSpPr>
          <p:cNvPr id="28" name="Case 1 stem">
            <a:extLst>
              <a:ext uri="{FF2B5EF4-FFF2-40B4-BE49-F238E27FC236}">
                <a16:creationId xmlns:a16="http://schemas.microsoft.com/office/drawing/2014/main" id="{5BEAFD3D-5EE4-D14B-AF61-D9E4711529E4}"/>
              </a:ext>
            </a:extLst>
          </p:cNvPr>
          <p:cNvSpPr txBox="1"/>
          <p:nvPr/>
        </p:nvSpPr>
        <p:spPr>
          <a:xfrm>
            <a:off x="1901910" y="615307"/>
            <a:ext cx="4728247" cy="954107"/>
          </a:xfrm>
          <a:prstGeom prst="rect">
            <a:avLst/>
          </a:prstGeom>
          <a:noFill/>
        </p:spPr>
        <p:txBody>
          <a:bodyPr wrap="square" rtlCol="0">
            <a:spAutoFit/>
          </a:bodyPr>
          <a:lstStyle/>
          <a:p>
            <a:r>
              <a:rPr lang="en-US" sz="1400" dirty="0"/>
              <a:t>One year later, the patient presents to the ED with acute onset back pain. Lumbar XR shows two vertebral fractures and several other boney lucencies. Labs shows Cr of 2.1 (baseline 1.1), Ca is 10.5. </a:t>
            </a:r>
          </a:p>
        </p:txBody>
      </p:sp>
      <p:sp>
        <p:nvSpPr>
          <p:cNvPr id="2" name="TextBox 1">
            <a:extLst>
              <a:ext uri="{FF2B5EF4-FFF2-40B4-BE49-F238E27FC236}">
                <a16:creationId xmlns:a16="http://schemas.microsoft.com/office/drawing/2014/main" id="{72E7C887-D82D-9C41-8C8F-E1B649525DB0}"/>
              </a:ext>
            </a:extLst>
          </p:cNvPr>
          <p:cNvSpPr txBox="1"/>
          <p:nvPr/>
        </p:nvSpPr>
        <p:spPr>
          <a:xfrm>
            <a:off x="1970546" y="2092974"/>
            <a:ext cx="4541768" cy="523220"/>
          </a:xfrm>
          <a:prstGeom prst="rect">
            <a:avLst/>
          </a:prstGeom>
          <a:noFill/>
        </p:spPr>
        <p:txBody>
          <a:bodyPr wrap="square" rtlCol="0">
            <a:spAutoFit/>
          </a:bodyPr>
          <a:lstStyle/>
          <a:p>
            <a:pPr algn="ctr"/>
            <a:r>
              <a:rPr lang="en-US" sz="1400" b="1" dirty="0"/>
              <a:t>IgA lambda multiple myeloma. </a:t>
            </a:r>
            <a:r>
              <a:rPr lang="en-US" sz="1400" dirty="0"/>
              <a:t>They now have signs of end-organ damage (boney lesions). </a:t>
            </a:r>
            <a:endParaRPr lang="en-US" sz="1400" b="1" dirty="0"/>
          </a:p>
        </p:txBody>
      </p:sp>
      <p:sp>
        <p:nvSpPr>
          <p:cNvPr id="29" name="TextBox 28">
            <a:extLst>
              <a:ext uri="{FF2B5EF4-FFF2-40B4-BE49-F238E27FC236}">
                <a16:creationId xmlns:a16="http://schemas.microsoft.com/office/drawing/2014/main" id="{44E93321-097F-534F-9F83-A6F413A20A85}"/>
              </a:ext>
            </a:extLst>
          </p:cNvPr>
          <p:cNvSpPr txBox="1"/>
          <p:nvPr/>
        </p:nvSpPr>
        <p:spPr>
          <a:xfrm>
            <a:off x="1977599" y="4173772"/>
            <a:ext cx="4687154" cy="738664"/>
          </a:xfrm>
          <a:prstGeom prst="rect">
            <a:avLst/>
          </a:prstGeom>
          <a:noFill/>
        </p:spPr>
        <p:txBody>
          <a:bodyPr wrap="square" rtlCol="0">
            <a:spAutoFit/>
          </a:bodyPr>
          <a:lstStyle/>
          <a:p>
            <a:r>
              <a:rPr lang="en-US" sz="1400" dirty="0"/>
              <a:t>…A bone marrow biopsy, which shows no high-risk features. R-ISS stage is 1. They are started on </a:t>
            </a:r>
            <a:r>
              <a:rPr lang="en-US" sz="1400" dirty="0" err="1"/>
              <a:t>RVd</a:t>
            </a:r>
            <a:r>
              <a:rPr lang="en-US" sz="1400" dirty="0"/>
              <a:t>  (lenalidomide, bortezomib and dexamethasone)</a:t>
            </a:r>
          </a:p>
        </p:txBody>
      </p:sp>
      <p:pic>
        <p:nvPicPr>
          <p:cNvPr id="30" name="Graphic 29" descr="Cursor with solid fill">
            <a:extLst>
              <a:ext uri="{FF2B5EF4-FFF2-40B4-BE49-F238E27FC236}">
                <a16:creationId xmlns:a16="http://schemas.microsoft.com/office/drawing/2014/main" id="{BC6E5352-8EAD-A244-9BFC-3CB61DBBE8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93134" y="1932443"/>
            <a:ext cx="270672" cy="270672"/>
          </a:xfrm>
          <a:prstGeom prst="rect">
            <a:avLst/>
          </a:prstGeom>
        </p:spPr>
      </p:pic>
      <p:sp>
        <p:nvSpPr>
          <p:cNvPr id="31" name="Case 2b Q3">
            <a:extLst>
              <a:ext uri="{FF2B5EF4-FFF2-40B4-BE49-F238E27FC236}">
                <a16:creationId xmlns:a16="http://schemas.microsoft.com/office/drawing/2014/main" id="{C0A92792-9FAD-7B4B-9174-A4702BAF29E0}"/>
              </a:ext>
            </a:extLst>
          </p:cNvPr>
          <p:cNvSpPr/>
          <p:nvPr/>
        </p:nvSpPr>
        <p:spPr>
          <a:xfrm>
            <a:off x="2010590" y="4943119"/>
            <a:ext cx="4524885" cy="54864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other supportive/prophylactic medications does this patient need?</a:t>
            </a:r>
          </a:p>
        </p:txBody>
      </p:sp>
      <p:sp>
        <p:nvSpPr>
          <p:cNvPr id="32" name="TextBox 31">
            <a:extLst>
              <a:ext uri="{FF2B5EF4-FFF2-40B4-BE49-F238E27FC236}">
                <a16:creationId xmlns:a16="http://schemas.microsoft.com/office/drawing/2014/main" id="{02581F11-1765-D640-BBC5-A2A28AE71DD9}"/>
              </a:ext>
            </a:extLst>
          </p:cNvPr>
          <p:cNvSpPr txBox="1"/>
          <p:nvPr/>
        </p:nvSpPr>
        <p:spPr>
          <a:xfrm>
            <a:off x="2010591" y="5536090"/>
            <a:ext cx="4554932" cy="954107"/>
          </a:xfrm>
          <a:prstGeom prst="rect">
            <a:avLst/>
          </a:prstGeom>
          <a:noFill/>
        </p:spPr>
        <p:txBody>
          <a:bodyPr wrap="square" rtlCol="0">
            <a:spAutoFit/>
          </a:bodyPr>
          <a:lstStyle/>
          <a:p>
            <a:pPr marL="166688" indent="-166688">
              <a:buFont typeface="Arial" panose="020B0604020202020204" pitchFamily="34" charset="0"/>
              <a:buChar char="•"/>
            </a:pPr>
            <a:r>
              <a:rPr lang="en-US" sz="1400" dirty="0"/>
              <a:t>Bisphosphonate</a:t>
            </a:r>
          </a:p>
          <a:p>
            <a:pPr marL="166688" indent="-166688">
              <a:buFont typeface="Arial" panose="020B0604020202020204" pitchFamily="34" charset="0"/>
              <a:buChar char="•"/>
            </a:pPr>
            <a:r>
              <a:rPr lang="en-US" sz="1400" dirty="0"/>
              <a:t>Acyclovir </a:t>
            </a:r>
            <a:r>
              <a:rPr lang="en-US" sz="1400" dirty="0" err="1"/>
              <a:t>ppx</a:t>
            </a:r>
            <a:r>
              <a:rPr lang="en-US" sz="1400" dirty="0"/>
              <a:t> when on bortezomib</a:t>
            </a:r>
          </a:p>
          <a:p>
            <a:pPr marL="166688" indent="-166688">
              <a:buFont typeface="Arial" panose="020B0604020202020204" pitchFamily="34" charset="0"/>
              <a:buChar char="•"/>
            </a:pPr>
            <a:r>
              <a:rPr lang="en-US" sz="1400" dirty="0"/>
              <a:t>ASA (or full anticoagulation) when on lenalidomide</a:t>
            </a:r>
          </a:p>
          <a:p>
            <a:pPr marL="166688" indent="-166688">
              <a:buFont typeface="Arial" panose="020B0604020202020204" pitchFamily="34" charset="0"/>
              <a:buChar char="•"/>
            </a:pPr>
            <a:r>
              <a:rPr lang="en-US" sz="1400" dirty="0"/>
              <a:t>PJP </a:t>
            </a:r>
            <a:r>
              <a:rPr lang="en-US" sz="1400" dirty="0" err="1"/>
              <a:t>ppx</a:t>
            </a:r>
            <a:r>
              <a:rPr lang="en-US" sz="1400" dirty="0"/>
              <a:t>, PPI, vitamin D and calcium if continuing steroids</a:t>
            </a:r>
          </a:p>
        </p:txBody>
      </p:sp>
      <p:pic>
        <p:nvPicPr>
          <p:cNvPr id="34" name="Graphic 33" descr="Cursor with solid fill">
            <a:extLst>
              <a:ext uri="{FF2B5EF4-FFF2-40B4-BE49-F238E27FC236}">
                <a16:creationId xmlns:a16="http://schemas.microsoft.com/office/drawing/2014/main" id="{A9ED706D-7075-A448-A3C3-DFF3B7230A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0632" y="5365948"/>
            <a:ext cx="270672" cy="270672"/>
          </a:xfrm>
          <a:prstGeom prst="rect">
            <a:avLst/>
          </a:prstGeom>
        </p:spPr>
      </p:pic>
      <p:sp>
        <p:nvSpPr>
          <p:cNvPr id="35" name="Case 2c">
            <a:extLst>
              <a:ext uri="{FF2B5EF4-FFF2-40B4-BE49-F238E27FC236}">
                <a16:creationId xmlns:a16="http://schemas.microsoft.com/office/drawing/2014/main" id="{E361F910-CE88-EA42-A82D-C1519E49FF06}"/>
              </a:ext>
            </a:extLst>
          </p:cNvPr>
          <p:cNvSpPr txBox="1"/>
          <p:nvPr/>
        </p:nvSpPr>
        <p:spPr>
          <a:xfrm>
            <a:off x="6836645" y="617239"/>
            <a:ext cx="5171864" cy="1169551"/>
          </a:xfrm>
          <a:prstGeom prst="rect">
            <a:avLst/>
          </a:prstGeom>
          <a:noFill/>
        </p:spPr>
        <p:txBody>
          <a:bodyPr wrap="square" rtlCol="0">
            <a:spAutoFit/>
          </a:bodyPr>
          <a:lstStyle/>
          <a:p>
            <a:r>
              <a:rPr lang="en-US" sz="1400" dirty="0"/>
              <a:t>After treatment with </a:t>
            </a:r>
            <a:r>
              <a:rPr lang="en-US" sz="1400" dirty="0" err="1"/>
              <a:t>RVd</a:t>
            </a:r>
            <a:r>
              <a:rPr lang="en-US" sz="1400" dirty="0"/>
              <a:t>, they went into remission and was maintained on lenalidomide for 1 year. They represent with AKI with Cr up to 2.3. Subsequent testing revealed an increase in IgA lambda monoclonal spike. Kidney biopsy shows tubular deposition of light chain casts. </a:t>
            </a:r>
          </a:p>
        </p:txBody>
      </p:sp>
      <p:sp>
        <p:nvSpPr>
          <p:cNvPr id="36" name="TextBox 35">
            <a:extLst>
              <a:ext uri="{FF2B5EF4-FFF2-40B4-BE49-F238E27FC236}">
                <a16:creationId xmlns:a16="http://schemas.microsoft.com/office/drawing/2014/main" id="{2F1B3CA6-45A5-A149-9204-44F0BB5713B0}"/>
              </a:ext>
            </a:extLst>
          </p:cNvPr>
          <p:cNvSpPr txBox="1"/>
          <p:nvPr/>
        </p:nvSpPr>
        <p:spPr>
          <a:xfrm>
            <a:off x="6921946" y="4519193"/>
            <a:ext cx="4990144" cy="954107"/>
          </a:xfrm>
          <a:prstGeom prst="rect">
            <a:avLst/>
          </a:prstGeom>
          <a:noFill/>
        </p:spPr>
        <p:txBody>
          <a:bodyPr wrap="square" rtlCol="0">
            <a:spAutoFit/>
          </a:bodyPr>
          <a:lstStyle/>
          <a:p>
            <a:r>
              <a:rPr lang="en-US" sz="1400" b="1" dirty="0"/>
              <a:t>Common causes of CAP </a:t>
            </a:r>
            <a:r>
              <a:rPr lang="en-US" sz="1400" dirty="0"/>
              <a:t>(</a:t>
            </a:r>
            <a:r>
              <a:rPr lang="en-US" sz="1400" i="1" dirty="0"/>
              <a:t>S. </a:t>
            </a:r>
            <a:r>
              <a:rPr lang="en-US" sz="1400" dirty="0" err="1"/>
              <a:t>pneumo</a:t>
            </a:r>
            <a:r>
              <a:rPr lang="en-US" sz="1400" dirty="0"/>
              <a:t>, COVID-19, viruses), </a:t>
            </a:r>
            <a:r>
              <a:rPr lang="en-US" sz="1400" b="1" dirty="0"/>
              <a:t>Opportunistic pathogens </a:t>
            </a:r>
            <a:r>
              <a:rPr lang="en-US" sz="1400" dirty="0"/>
              <a:t>(PJP, aspergillus, endemic fungi) and </a:t>
            </a:r>
            <a:r>
              <a:rPr lang="en-US" sz="1400" b="1" dirty="0"/>
              <a:t>Nosocomial infections </a:t>
            </a:r>
            <a:r>
              <a:rPr lang="en-US" sz="1400" dirty="0"/>
              <a:t>(</a:t>
            </a:r>
            <a:r>
              <a:rPr lang="en-US" sz="1400" i="1" dirty="0"/>
              <a:t>Staph </a:t>
            </a:r>
            <a:r>
              <a:rPr lang="en-US" sz="1400" dirty="0"/>
              <a:t>and </a:t>
            </a:r>
            <a:r>
              <a:rPr lang="en-US" sz="1400" i="1" dirty="0"/>
              <a:t>Pseudomonas</a:t>
            </a:r>
            <a:r>
              <a:rPr lang="en-US" sz="1400" dirty="0"/>
              <a:t>). It is rare, but in extremely advanced myeloma, the infiltrates could also be </a:t>
            </a:r>
            <a:r>
              <a:rPr lang="en-US" sz="1400" b="1" dirty="0"/>
              <a:t>cancer</a:t>
            </a:r>
            <a:r>
              <a:rPr lang="en-US" sz="1400" dirty="0"/>
              <a:t>. </a:t>
            </a:r>
          </a:p>
        </p:txBody>
      </p:sp>
      <p:sp>
        <p:nvSpPr>
          <p:cNvPr id="37" name="TextBox 36">
            <a:extLst>
              <a:ext uri="{FF2B5EF4-FFF2-40B4-BE49-F238E27FC236}">
                <a16:creationId xmlns:a16="http://schemas.microsoft.com/office/drawing/2014/main" id="{3BFBBE95-C233-CE49-A23C-AD851B407A88}"/>
              </a:ext>
            </a:extLst>
          </p:cNvPr>
          <p:cNvSpPr txBox="1"/>
          <p:nvPr/>
        </p:nvSpPr>
        <p:spPr>
          <a:xfrm>
            <a:off x="6985043" y="6224151"/>
            <a:ext cx="4787160" cy="307777"/>
          </a:xfrm>
          <a:prstGeom prst="rect">
            <a:avLst/>
          </a:prstGeom>
          <a:noFill/>
        </p:spPr>
        <p:txBody>
          <a:bodyPr wrap="square" rtlCol="0">
            <a:spAutoFit/>
          </a:bodyPr>
          <a:lstStyle/>
          <a:p>
            <a:r>
              <a:rPr lang="en-US" sz="1400" b="1" dirty="0"/>
              <a:t>IVIg</a:t>
            </a:r>
            <a:r>
              <a:rPr lang="en-US" sz="1400" dirty="0"/>
              <a:t> is indicated for patients with MM and multiple infections.</a:t>
            </a:r>
          </a:p>
        </p:txBody>
      </p:sp>
      <p:pic>
        <p:nvPicPr>
          <p:cNvPr id="38" name="Graphic 37" descr="Cursor with solid fill">
            <a:extLst>
              <a:ext uri="{FF2B5EF4-FFF2-40B4-BE49-F238E27FC236}">
                <a16:creationId xmlns:a16="http://schemas.microsoft.com/office/drawing/2014/main" id="{5CF21B4B-0F56-D841-8C14-1A812560B4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87134" y="4331703"/>
            <a:ext cx="270672" cy="270672"/>
          </a:xfrm>
          <a:prstGeom prst="rect">
            <a:avLst/>
          </a:prstGeom>
        </p:spPr>
      </p:pic>
      <p:pic>
        <p:nvPicPr>
          <p:cNvPr id="39" name="Graphic 38" descr="Cursor with solid fill">
            <a:extLst>
              <a:ext uri="{FF2B5EF4-FFF2-40B4-BE49-F238E27FC236}">
                <a16:creationId xmlns:a16="http://schemas.microsoft.com/office/drawing/2014/main" id="{6B6B49A8-4792-8E4C-A949-873A9BC1D4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72203" y="6055929"/>
            <a:ext cx="270672" cy="270672"/>
          </a:xfrm>
          <a:prstGeom prst="rect">
            <a:avLst/>
          </a:prstGeom>
        </p:spPr>
      </p:pic>
      <p:sp>
        <p:nvSpPr>
          <p:cNvPr id="56" name="Case 2b Q2">
            <a:extLst>
              <a:ext uri="{FF2B5EF4-FFF2-40B4-BE49-F238E27FC236}">
                <a16:creationId xmlns:a16="http://schemas.microsoft.com/office/drawing/2014/main" id="{9E94C336-B5C8-4116-9107-DB162F0C7360}"/>
              </a:ext>
            </a:extLst>
          </p:cNvPr>
          <p:cNvSpPr/>
          <p:nvPr/>
        </p:nvSpPr>
        <p:spPr>
          <a:xfrm>
            <a:off x="1970546" y="2759862"/>
            <a:ext cx="4558761"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What studies would you order next?</a:t>
            </a:r>
          </a:p>
        </p:txBody>
      </p:sp>
      <p:sp>
        <p:nvSpPr>
          <p:cNvPr id="57" name="TextBox 56">
            <a:extLst>
              <a:ext uri="{FF2B5EF4-FFF2-40B4-BE49-F238E27FC236}">
                <a16:creationId xmlns:a16="http://schemas.microsoft.com/office/drawing/2014/main" id="{CDF91743-A0EB-4568-A0A4-B117203C3705}"/>
              </a:ext>
            </a:extLst>
          </p:cNvPr>
          <p:cNvSpPr txBox="1"/>
          <p:nvPr/>
        </p:nvSpPr>
        <p:spPr>
          <a:xfrm>
            <a:off x="1977599" y="3210984"/>
            <a:ext cx="4631792" cy="738664"/>
          </a:xfrm>
          <a:prstGeom prst="rect">
            <a:avLst/>
          </a:prstGeom>
          <a:noFill/>
        </p:spPr>
        <p:txBody>
          <a:bodyPr wrap="square" rtlCol="0">
            <a:spAutoFit/>
          </a:bodyPr>
          <a:lstStyle/>
          <a:p>
            <a:r>
              <a:rPr lang="en-US" sz="1400" dirty="0"/>
              <a:t>Repeat SPEP, UPEP,  serum FLC. Bone marrow biopsy.  Albumin, beta-2 microglobulin, LDH are all helpful in staging and prognosis. </a:t>
            </a:r>
          </a:p>
        </p:txBody>
      </p:sp>
      <p:pic>
        <p:nvPicPr>
          <p:cNvPr id="58" name="Graphic 57" descr="Cursor with solid fill">
            <a:extLst>
              <a:ext uri="{FF2B5EF4-FFF2-40B4-BE49-F238E27FC236}">
                <a16:creationId xmlns:a16="http://schemas.microsoft.com/office/drawing/2014/main" id="{001D1A9F-5A1D-46A9-81C2-4CF6EA09D4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97720" y="3013671"/>
            <a:ext cx="270672" cy="270672"/>
          </a:xfrm>
          <a:prstGeom prst="rect">
            <a:avLst/>
          </a:prstGeom>
        </p:spPr>
      </p:pic>
      <p:sp>
        <p:nvSpPr>
          <p:cNvPr id="59" name="Case 1 stem">
            <a:extLst>
              <a:ext uri="{FF2B5EF4-FFF2-40B4-BE49-F238E27FC236}">
                <a16:creationId xmlns:a16="http://schemas.microsoft.com/office/drawing/2014/main" id="{313F6146-4F71-4A31-A588-03CCDD745D41}"/>
              </a:ext>
            </a:extLst>
          </p:cNvPr>
          <p:cNvSpPr txBox="1"/>
          <p:nvPr/>
        </p:nvSpPr>
        <p:spPr>
          <a:xfrm>
            <a:off x="6902124" y="3178705"/>
            <a:ext cx="5155679" cy="954107"/>
          </a:xfrm>
          <a:prstGeom prst="rect">
            <a:avLst/>
          </a:prstGeom>
          <a:noFill/>
        </p:spPr>
        <p:txBody>
          <a:bodyPr wrap="square" rtlCol="0">
            <a:spAutoFit/>
          </a:bodyPr>
          <a:lstStyle/>
          <a:p>
            <a:r>
              <a:rPr lang="en-US" sz="1400" dirty="0"/>
              <a:t>…They received second line therapy and subsequently underwent an </a:t>
            </a:r>
            <a:r>
              <a:rPr lang="en-US" sz="1400" dirty="0" err="1"/>
              <a:t>autoSCT</a:t>
            </a:r>
            <a:r>
              <a:rPr lang="en-US" sz="1400" dirty="0"/>
              <a:t>. They remained in remission for a few years until they represented  to the ED with fevers, cough, hypoxia. A CT shows bilateral ground glass opacities.</a:t>
            </a:r>
          </a:p>
        </p:txBody>
      </p:sp>
      <p:sp>
        <p:nvSpPr>
          <p:cNvPr id="60" name="Case 2c Q1">
            <a:extLst>
              <a:ext uri="{FF2B5EF4-FFF2-40B4-BE49-F238E27FC236}">
                <a16:creationId xmlns:a16="http://schemas.microsoft.com/office/drawing/2014/main" id="{9F26A64A-318E-4156-8544-C5677638CF35}"/>
              </a:ext>
            </a:extLst>
          </p:cNvPr>
          <p:cNvSpPr/>
          <p:nvPr/>
        </p:nvSpPr>
        <p:spPr>
          <a:xfrm>
            <a:off x="6938407" y="1857092"/>
            <a:ext cx="4949160" cy="365760"/>
          </a:xfrm>
          <a:prstGeom prst="roundRect">
            <a:avLst/>
          </a:prstGeom>
          <a:solidFill>
            <a:schemeClr val="accent5"/>
          </a:solidFill>
          <a:ln w="381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How would you treat the AKI?</a:t>
            </a:r>
          </a:p>
        </p:txBody>
      </p:sp>
      <p:sp>
        <p:nvSpPr>
          <p:cNvPr id="61" name="TextBox 60">
            <a:extLst>
              <a:ext uri="{FF2B5EF4-FFF2-40B4-BE49-F238E27FC236}">
                <a16:creationId xmlns:a16="http://schemas.microsoft.com/office/drawing/2014/main" id="{41674322-72C3-4434-9F03-63C1170D3780}"/>
              </a:ext>
            </a:extLst>
          </p:cNvPr>
          <p:cNvSpPr txBox="1"/>
          <p:nvPr/>
        </p:nvSpPr>
        <p:spPr>
          <a:xfrm>
            <a:off x="6902124" y="2256077"/>
            <a:ext cx="4996318" cy="738664"/>
          </a:xfrm>
          <a:prstGeom prst="rect">
            <a:avLst/>
          </a:prstGeom>
          <a:noFill/>
        </p:spPr>
        <p:txBody>
          <a:bodyPr wrap="square" rtlCol="0">
            <a:spAutoFit/>
          </a:bodyPr>
          <a:lstStyle/>
          <a:p>
            <a:r>
              <a:rPr lang="en-US" sz="1400" dirty="0"/>
              <a:t>This is </a:t>
            </a:r>
            <a:r>
              <a:rPr lang="en-US" sz="1400" b="1" dirty="0"/>
              <a:t>myeloma kidney</a:t>
            </a:r>
            <a:r>
              <a:rPr lang="en-US" sz="1400" dirty="0"/>
              <a:t>. Aggressive </a:t>
            </a:r>
            <a:r>
              <a:rPr lang="en-US" sz="1400" b="1" dirty="0"/>
              <a:t>IVF</a:t>
            </a:r>
            <a:r>
              <a:rPr lang="en-US" sz="1400" dirty="0"/>
              <a:t> (if no contraindication) to target ~3 L of UOP/day to prevent further cast deposition in tubules. Need to start urgent salvage systemic therapy</a:t>
            </a:r>
          </a:p>
        </p:txBody>
      </p:sp>
      <p:pic>
        <p:nvPicPr>
          <p:cNvPr id="62" name="Graphic 61" descr="Cursor with solid fill">
            <a:extLst>
              <a:ext uri="{FF2B5EF4-FFF2-40B4-BE49-F238E27FC236}">
                <a16:creationId xmlns:a16="http://schemas.microsoft.com/office/drawing/2014/main" id="{B030ADFB-6C6C-4123-B54D-AE30C8D529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87133" y="2096406"/>
            <a:ext cx="270672" cy="270672"/>
          </a:xfrm>
          <a:prstGeom prst="rect">
            <a:avLst/>
          </a:prstGeom>
        </p:spPr>
      </p:pic>
      <p:sp>
        <p:nvSpPr>
          <p:cNvPr id="3" name="Obj 1">
            <a:hlinkClick r:id="rId5" action="ppaction://hlinksldjump"/>
            <a:extLst>
              <a:ext uri="{FF2B5EF4-FFF2-40B4-BE49-F238E27FC236}">
                <a16:creationId xmlns:a16="http://schemas.microsoft.com/office/drawing/2014/main" id="{A2BF1377-973F-345A-8485-029F13EA0C87}"/>
              </a:ext>
            </a:extLst>
          </p:cNvPr>
          <p:cNvSpPr/>
          <p:nvPr/>
        </p:nvSpPr>
        <p:spPr>
          <a:xfrm>
            <a:off x="183491" y="216531"/>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Pathogenesis</a:t>
            </a:r>
          </a:p>
        </p:txBody>
      </p:sp>
      <p:pic>
        <p:nvPicPr>
          <p:cNvPr id="7" name="Graphic 6" descr="Cursor with solid fill">
            <a:extLst>
              <a:ext uri="{FF2B5EF4-FFF2-40B4-BE49-F238E27FC236}">
                <a16:creationId xmlns:a16="http://schemas.microsoft.com/office/drawing/2014/main" id="{5B4D9018-E2A8-B9A2-5CBC-A729FA8FDA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489473"/>
            <a:ext cx="301752" cy="301752"/>
          </a:xfrm>
          <a:prstGeom prst="rect">
            <a:avLst/>
          </a:prstGeom>
        </p:spPr>
      </p:pic>
      <p:sp>
        <p:nvSpPr>
          <p:cNvPr id="8" name="Obj 1">
            <a:hlinkClick r:id="rId6" action="ppaction://hlinksldjump"/>
            <a:extLst>
              <a:ext uri="{FF2B5EF4-FFF2-40B4-BE49-F238E27FC236}">
                <a16:creationId xmlns:a16="http://schemas.microsoft.com/office/drawing/2014/main" id="{EC2FE192-8D4B-5F63-B127-5075CA4718A8}"/>
              </a:ext>
            </a:extLst>
          </p:cNvPr>
          <p:cNvSpPr/>
          <p:nvPr/>
        </p:nvSpPr>
        <p:spPr>
          <a:xfrm>
            <a:off x="183491" y="820317"/>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Testing</a:t>
            </a:r>
          </a:p>
        </p:txBody>
      </p:sp>
      <p:pic>
        <p:nvPicPr>
          <p:cNvPr id="9" name="Graphic 8" descr="Cursor with solid fill">
            <a:extLst>
              <a:ext uri="{FF2B5EF4-FFF2-40B4-BE49-F238E27FC236}">
                <a16:creationId xmlns:a16="http://schemas.microsoft.com/office/drawing/2014/main" id="{26CC81A6-97A9-AA48-D11D-7728EDF0E90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094197"/>
            <a:ext cx="301752" cy="301752"/>
          </a:xfrm>
          <a:prstGeom prst="rect">
            <a:avLst/>
          </a:prstGeom>
        </p:spPr>
      </p:pic>
      <p:sp>
        <p:nvSpPr>
          <p:cNvPr id="10" name="Obj 1">
            <a:hlinkClick r:id="rId7" action="ppaction://hlinksldjump"/>
            <a:extLst>
              <a:ext uri="{FF2B5EF4-FFF2-40B4-BE49-F238E27FC236}">
                <a16:creationId xmlns:a16="http://schemas.microsoft.com/office/drawing/2014/main" id="{47CDA2D6-CE7E-EC28-D84E-80F53ABFAA07}"/>
              </a:ext>
            </a:extLst>
          </p:cNvPr>
          <p:cNvSpPr/>
          <p:nvPr/>
        </p:nvSpPr>
        <p:spPr>
          <a:xfrm>
            <a:off x="183491" y="1424103"/>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Differential</a:t>
            </a:r>
          </a:p>
        </p:txBody>
      </p:sp>
      <p:pic>
        <p:nvPicPr>
          <p:cNvPr id="11" name="Graphic 10" descr="Cursor with solid fill">
            <a:extLst>
              <a:ext uri="{FF2B5EF4-FFF2-40B4-BE49-F238E27FC236}">
                <a16:creationId xmlns:a16="http://schemas.microsoft.com/office/drawing/2014/main" id="{A62965F4-6C24-30C2-8A6E-107D8B848C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1698921"/>
            <a:ext cx="301752" cy="301752"/>
          </a:xfrm>
          <a:prstGeom prst="rect">
            <a:avLst/>
          </a:prstGeom>
        </p:spPr>
      </p:pic>
      <p:sp>
        <p:nvSpPr>
          <p:cNvPr id="12" name="Obj 1">
            <a:hlinkClick r:id="rId8" action="ppaction://hlinksldjump"/>
            <a:extLst>
              <a:ext uri="{FF2B5EF4-FFF2-40B4-BE49-F238E27FC236}">
                <a16:creationId xmlns:a16="http://schemas.microsoft.com/office/drawing/2014/main" id="{FA3A119D-49E2-5890-37A0-74DB06C964C7}"/>
              </a:ext>
            </a:extLst>
          </p:cNvPr>
          <p:cNvSpPr/>
          <p:nvPr/>
        </p:nvSpPr>
        <p:spPr>
          <a:xfrm>
            <a:off x="183491" y="2027889"/>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Prognosis</a:t>
            </a:r>
          </a:p>
        </p:txBody>
      </p:sp>
      <p:pic>
        <p:nvPicPr>
          <p:cNvPr id="13" name="Graphic 12" descr="Cursor with solid fill">
            <a:extLst>
              <a:ext uri="{FF2B5EF4-FFF2-40B4-BE49-F238E27FC236}">
                <a16:creationId xmlns:a16="http://schemas.microsoft.com/office/drawing/2014/main" id="{745E8F1D-FA5C-7C38-CE52-A3AF22B3F21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2303645"/>
            <a:ext cx="301752" cy="301752"/>
          </a:xfrm>
          <a:prstGeom prst="rect">
            <a:avLst/>
          </a:prstGeom>
        </p:spPr>
      </p:pic>
      <p:sp>
        <p:nvSpPr>
          <p:cNvPr id="14" name="Obj 1">
            <a:hlinkClick r:id="rId9" action="ppaction://hlinksldjump"/>
            <a:extLst>
              <a:ext uri="{FF2B5EF4-FFF2-40B4-BE49-F238E27FC236}">
                <a16:creationId xmlns:a16="http://schemas.microsoft.com/office/drawing/2014/main" id="{717EE404-6974-FABF-E123-F108F8083BD6}"/>
              </a:ext>
            </a:extLst>
          </p:cNvPr>
          <p:cNvSpPr/>
          <p:nvPr/>
        </p:nvSpPr>
        <p:spPr>
          <a:xfrm>
            <a:off x="183491" y="2631675"/>
            <a:ext cx="1554480" cy="411480"/>
          </a:xfrm>
          <a:prstGeom prst="round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Treatment</a:t>
            </a:r>
          </a:p>
        </p:txBody>
      </p:sp>
      <p:pic>
        <p:nvPicPr>
          <p:cNvPr id="15" name="Graphic 14" descr="Cursor with solid fill">
            <a:extLst>
              <a:ext uri="{FF2B5EF4-FFF2-40B4-BE49-F238E27FC236}">
                <a16:creationId xmlns:a16="http://schemas.microsoft.com/office/drawing/2014/main" id="{8CABFA0F-4217-2B1B-E040-CFE4A1688E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5621" y="2908369"/>
            <a:ext cx="301752" cy="301752"/>
          </a:xfrm>
          <a:prstGeom prst="rect">
            <a:avLst/>
          </a:prstGeom>
        </p:spPr>
      </p:pic>
      <p:sp>
        <p:nvSpPr>
          <p:cNvPr id="16" name="Obj 1">
            <a:hlinkClick r:id="rId10" action="ppaction://hlinksldjump"/>
            <a:extLst>
              <a:ext uri="{FF2B5EF4-FFF2-40B4-BE49-F238E27FC236}">
                <a16:creationId xmlns:a16="http://schemas.microsoft.com/office/drawing/2014/main" id="{9682BF73-3F29-791E-A58D-CC05E16CB361}"/>
              </a:ext>
            </a:extLst>
          </p:cNvPr>
          <p:cNvSpPr/>
          <p:nvPr/>
        </p:nvSpPr>
        <p:spPr>
          <a:xfrm>
            <a:off x="183491" y="3235463"/>
            <a:ext cx="1554480"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Cases</a:t>
            </a:r>
          </a:p>
        </p:txBody>
      </p:sp>
      <p:cxnSp>
        <p:nvCxnSpPr>
          <p:cNvPr id="18" name="Connector: Elbow 12">
            <a:extLst>
              <a:ext uri="{FF2B5EF4-FFF2-40B4-BE49-F238E27FC236}">
                <a16:creationId xmlns:a16="http://schemas.microsoft.com/office/drawing/2014/main" id="{CE25F716-44A6-F62F-C9AB-897827640982}"/>
              </a:ext>
            </a:extLst>
          </p:cNvPr>
          <p:cNvCxnSpPr>
            <a:cxnSpLocks/>
            <a:endCxn id="20" idx="1"/>
          </p:cNvCxnSpPr>
          <p:nvPr/>
        </p:nvCxnSpPr>
        <p:spPr>
          <a:xfrm rot="16200000" flipH="1">
            <a:off x="202132" y="3721573"/>
            <a:ext cx="366559" cy="283978"/>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Connector: Elbow 30">
            <a:extLst>
              <a:ext uri="{FF2B5EF4-FFF2-40B4-BE49-F238E27FC236}">
                <a16:creationId xmlns:a16="http://schemas.microsoft.com/office/drawing/2014/main" id="{68E1B841-5730-E69A-8948-3EAF17EF793A}"/>
              </a:ext>
            </a:extLst>
          </p:cNvPr>
          <p:cNvCxnSpPr>
            <a:cxnSpLocks/>
          </p:cNvCxnSpPr>
          <p:nvPr/>
        </p:nvCxnSpPr>
        <p:spPr>
          <a:xfrm rot="16200000" flipH="1">
            <a:off x="-127824" y="4032225"/>
            <a:ext cx="1012092" cy="269604"/>
          </a:xfrm>
          <a:prstGeom prst="bentConnector2">
            <a:avLst/>
          </a:prstGeom>
          <a:ln w="38100">
            <a:tailEnd type="triangle"/>
          </a:ln>
        </p:spPr>
        <p:style>
          <a:lnRef idx="1">
            <a:schemeClr val="dk1"/>
          </a:lnRef>
          <a:fillRef idx="0">
            <a:schemeClr val="dk1"/>
          </a:fillRef>
          <a:effectRef idx="0">
            <a:schemeClr val="dk1"/>
          </a:effectRef>
          <a:fontRef idx="minor">
            <a:schemeClr val="tx1"/>
          </a:fontRef>
        </p:style>
      </p:cxnSp>
      <p:sp>
        <p:nvSpPr>
          <p:cNvPr id="20" name="Obj 1">
            <a:hlinkClick r:id="rId10" action="ppaction://hlinksldjump"/>
            <a:extLst>
              <a:ext uri="{FF2B5EF4-FFF2-40B4-BE49-F238E27FC236}">
                <a16:creationId xmlns:a16="http://schemas.microsoft.com/office/drawing/2014/main" id="{6A4F56F3-F97E-E87E-4D3A-180CABF1D433}"/>
              </a:ext>
            </a:extLst>
          </p:cNvPr>
          <p:cNvSpPr/>
          <p:nvPr/>
        </p:nvSpPr>
        <p:spPr>
          <a:xfrm>
            <a:off x="527400" y="3841102"/>
            <a:ext cx="1212247" cy="411480"/>
          </a:xfrm>
          <a:prstGeom prst="roundRect">
            <a:avLst/>
          </a:prstGeom>
          <a:ln w="38100"/>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rPr>
              <a:t>1 &amp; 2a</a:t>
            </a:r>
          </a:p>
        </p:txBody>
      </p:sp>
      <p:sp>
        <p:nvSpPr>
          <p:cNvPr id="21" name="Obj 1">
            <a:hlinkClick r:id="rId11" action="ppaction://hlinksldjump"/>
            <a:extLst>
              <a:ext uri="{FF2B5EF4-FFF2-40B4-BE49-F238E27FC236}">
                <a16:creationId xmlns:a16="http://schemas.microsoft.com/office/drawing/2014/main" id="{03B596F2-CE58-E6DC-8EDF-D73E9D16B720}"/>
              </a:ext>
            </a:extLst>
          </p:cNvPr>
          <p:cNvSpPr/>
          <p:nvPr/>
        </p:nvSpPr>
        <p:spPr>
          <a:xfrm>
            <a:off x="527400" y="4445914"/>
            <a:ext cx="1212247" cy="411480"/>
          </a:xfrm>
          <a:prstGeom prst="round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solidFill>
                  <a:schemeClr val="bg1"/>
                </a:solidFill>
              </a:rPr>
              <a:t>2b &amp; 2c</a:t>
            </a:r>
          </a:p>
        </p:txBody>
      </p:sp>
      <p:pic>
        <p:nvPicPr>
          <p:cNvPr id="22" name="Graphic 21" descr="Cursor with solid fill">
            <a:extLst>
              <a:ext uri="{FF2B5EF4-FFF2-40B4-BE49-F238E27FC236}">
                <a16:creationId xmlns:a16="http://schemas.microsoft.com/office/drawing/2014/main" id="{5A4EEF77-7763-2B87-B283-27E7156B81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0158" y="4129656"/>
            <a:ext cx="301752" cy="301752"/>
          </a:xfrm>
          <a:prstGeom prst="rect">
            <a:avLst/>
          </a:prstGeom>
        </p:spPr>
      </p:pic>
    </p:spTree>
    <p:extLst>
      <p:ext uri="{BB962C8B-B14F-4D97-AF65-F5344CB8AC3E}">
        <p14:creationId xmlns:p14="http://schemas.microsoft.com/office/powerpoint/2010/main" val="7804340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17" restart="whenNotActive" fill="hold" evtFilter="cancelBubble" nodeType="interactiveSeq">
                <p:stCondLst>
                  <p:cond evt="onClick" delay="0">
                    <p:tgtEl>
                      <p:spTgt spid="6"/>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30"/>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24" restart="whenNotActive" fill="hold" evtFilter="cancelBubble" nodeType="interactiveSeq">
                <p:stCondLst>
                  <p:cond evt="onClick" delay="0">
                    <p:tgtEl>
                      <p:spTgt spid="56"/>
                    </p:tgtEl>
                  </p:cond>
                </p:stCondLst>
                <p:endSync evt="end" delay="0">
                  <p:rtn val="all"/>
                </p:endSync>
                <p:childTnLst>
                  <p:par>
                    <p:cTn id="25" fill="hold">
                      <p:stCondLst>
                        <p:cond delay="0"/>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58"/>
                                        </p:tgtEl>
                                        <p:attrNameLst>
                                          <p:attrName>style.visibility</p:attrName>
                                        </p:attrNameLst>
                                      </p:cBhvr>
                                      <p:to>
                                        <p:strVal val="hidden"/>
                                      </p:to>
                                    </p:set>
                                  </p:childTnLst>
                                </p:cTn>
                              </p:par>
                            </p:childTnLst>
                          </p:cTn>
                        </p:par>
                      </p:childTnLst>
                    </p:cTn>
                  </p:par>
                </p:childTnLst>
              </p:cTn>
              <p:nextCondLst>
                <p:cond evt="onClick" delay="0">
                  <p:tgtEl>
                    <p:spTgt spid="56"/>
                  </p:tgtEl>
                </p:cond>
              </p:nextCondLst>
            </p:seq>
            <p:seq concurrent="1" nextAc="seek">
              <p:cTn id="37" restart="whenNotActive" fill="hold" evtFilter="cancelBubble" nodeType="interactiveSeq">
                <p:stCondLst>
                  <p:cond evt="onClick" delay="0">
                    <p:tgtEl>
                      <p:spTgt spid="31"/>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par>
                                <p:cTn id="42" presetID="1" presetClass="exit" presetSubtype="0" fill="hold" nodeType="withEffect">
                                  <p:stCondLst>
                                    <p:cond delay="0"/>
                                  </p:stCondLst>
                                  <p:childTnLst>
                                    <p:set>
                                      <p:cBhvr>
                                        <p:cTn id="43" dur="1" fill="hold">
                                          <p:stCondLst>
                                            <p:cond delay="0"/>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1"/>
                  </p:tgtEl>
                </p:cond>
              </p:nextCondLst>
            </p:seq>
            <p:seq concurrent="1" nextAc="seek">
              <p:cTn id="44" restart="whenNotActive" fill="hold" evtFilter="cancelBubble" nodeType="interactiveSeq">
                <p:stCondLst>
                  <p:cond evt="onClick" delay="0">
                    <p:tgtEl>
                      <p:spTgt spid="23"/>
                    </p:tgtEl>
                  </p:cond>
                </p:stCondLst>
                <p:endSync evt="end" delay="0">
                  <p:rtn val="all"/>
                </p:endSync>
                <p:childTnLst>
                  <p:par>
                    <p:cTn id="45" fill="hold">
                      <p:stCondLst>
                        <p:cond delay="0"/>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55" restart="whenNotActive" fill="hold" evtFilter="cancelBubble" nodeType="interactiveSeq">
                <p:stCondLst>
                  <p:cond evt="onClick" delay="0">
                    <p:tgtEl>
                      <p:spTgt spid="60"/>
                    </p:tgtEl>
                  </p:cond>
                </p:stCondLst>
                <p:endSync evt="end" delay="0">
                  <p:rtn val="all"/>
                </p:endSync>
                <p:childTnLst>
                  <p:par>
                    <p:cTn id="56" fill="hold">
                      <p:stCondLst>
                        <p:cond delay="0"/>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1"/>
                                        </p:tgtEl>
                                        <p:attrNameLst>
                                          <p:attrName>style.visibility</p:attrName>
                                        </p:attrNameLst>
                                      </p:cBhvr>
                                      <p:to>
                                        <p:strVal val="visible"/>
                                      </p:to>
                                    </p:set>
                                  </p:childTnLst>
                                </p:cTn>
                              </p:par>
                              <p:par>
                                <p:cTn id="60" presetID="1" presetClass="exit" presetSubtype="0" fill="hold" nodeType="withEffect">
                                  <p:stCondLst>
                                    <p:cond delay="0"/>
                                  </p:stCondLst>
                                  <p:childTnLst>
                                    <p:set>
                                      <p:cBhvr>
                                        <p:cTn id="61" dur="1" fill="hold">
                                          <p:stCondLst>
                                            <p:cond delay="0"/>
                                          </p:stCondLst>
                                        </p:cTn>
                                        <p:tgtEl>
                                          <p:spTgt spid="62"/>
                                        </p:tgtEl>
                                        <p:attrNameLst>
                                          <p:attrName>style.visibility</p:attrName>
                                        </p:attrNameLst>
                                      </p:cBhvr>
                                      <p:to>
                                        <p:strVal val="hidden"/>
                                      </p:to>
                                    </p:set>
                                  </p:childTnLst>
                                </p:cTn>
                              </p:par>
                              <p:par>
                                <p:cTn id="62" presetID="1" presetClass="entr" presetSubtype="0" fill="hold" grpId="0" nodeType="withEffect">
                                  <p:stCondLst>
                                    <p:cond delay="0"/>
                                  </p:stCondLst>
                                  <p:childTnLst>
                                    <p:set>
                                      <p:cBhvr>
                                        <p:cTn id="63" dur="1" fill="hold">
                                          <p:stCondLst>
                                            <p:cond delay="0"/>
                                          </p:stCondLst>
                                        </p:cTn>
                                        <p:tgtEl>
                                          <p:spTgt spid="5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8"/>
                                        </p:tgtEl>
                                        <p:attrNameLst>
                                          <p:attrName>style.visibility</p:attrName>
                                        </p:attrNameLst>
                                      </p:cBhvr>
                                      <p:to>
                                        <p:strVal val="visible"/>
                                      </p:to>
                                    </p:set>
                                  </p:childTnLst>
                                </p:cTn>
                              </p:par>
                            </p:childTnLst>
                          </p:cTn>
                        </p:par>
                      </p:childTnLst>
                    </p:cTn>
                  </p:par>
                </p:childTnLst>
              </p:cTn>
              <p:nextCondLst>
                <p:cond evt="onClick" delay="0">
                  <p:tgtEl>
                    <p:spTgt spid="60"/>
                  </p:tgtEl>
                </p:cond>
              </p:nextCondLst>
            </p:seq>
            <p:seq concurrent="1" nextAc="seek">
              <p:cTn id="68" restart="whenNotActive" fill="hold" evtFilter="cancelBubble" nodeType="interactiveSeq">
                <p:stCondLst>
                  <p:cond evt="onClick" delay="0">
                    <p:tgtEl>
                      <p:spTgt spid="26"/>
                    </p:tgtEl>
                  </p:cond>
                </p:stCondLst>
                <p:endSync evt="end" delay="0">
                  <p:rtn val="all"/>
                </p:endSync>
                <p:childTnLst>
                  <p:par>
                    <p:cTn id="69" fill="hold">
                      <p:stCondLst>
                        <p:cond delay="0"/>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38"/>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childTnLst>
              </p:cTn>
              <p:nextCondLst>
                <p:cond evt="onClick" delay="0">
                  <p:tgtEl>
                    <p:spTgt spid="26"/>
                  </p:tgtEl>
                </p:cond>
              </p:nextCondLst>
            </p:seq>
            <p:seq concurrent="1" nextAc="seek">
              <p:cTn id="79" restart="whenNotActive" fill="hold" evtFilter="cancelBubble" nodeType="interactiveSeq">
                <p:stCondLst>
                  <p:cond evt="onClick" delay="0">
                    <p:tgtEl>
                      <p:spTgt spid="27"/>
                    </p:tgtEl>
                  </p:cond>
                </p:stCondLst>
                <p:endSync evt="end" delay="0">
                  <p:rtn val="all"/>
                </p:endSync>
                <p:childTnLst>
                  <p:par>
                    <p:cTn id="80" fill="hold">
                      <p:stCondLst>
                        <p:cond delay="0"/>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7"/>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27"/>
                  </p:tgtEl>
                </p:cond>
              </p:nextCondLst>
            </p:seq>
          </p:childTnLst>
        </p:cTn>
      </p:par>
    </p:tnLst>
    <p:bldLst>
      <p:bldP spid="6" grpId="0" animBg="1"/>
      <p:bldP spid="26" grpId="0" animBg="1"/>
      <p:bldP spid="27" grpId="0" animBg="1"/>
      <p:bldP spid="28" grpId="0"/>
      <p:bldP spid="2" grpId="0"/>
      <p:bldP spid="29" grpId="0"/>
      <p:bldP spid="31" grpId="1" animBg="1"/>
      <p:bldP spid="32" grpId="0"/>
      <p:bldP spid="35" grpId="0"/>
      <p:bldP spid="36" grpId="0"/>
      <p:bldP spid="37" grpId="0"/>
      <p:bldP spid="56" grpId="0" animBg="1"/>
      <p:bldP spid="57" grpId="0"/>
      <p:bldP spid="59" grpId="0"/>
      <p:bldP spid="60" grpId="0" animBg="1"/>
      <p:bldP spid="61"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wrap="square"/>
          <a:lstStyle/>
          <a:p>
            <a:pPr algn="ctr"/>
            <a:r>
              <a:rPr sz="2600" b="1">
                <a:solidFill>
                  <a:srgbClr val="FFFFFF"/>
                </a:solidFill>
                <a:latin typeface="Calibri"/>
              </a:rPr>
              <a:t>Newer Context — Updates Since 2023</a:t>
            </a:r>
          </a:p>
        </p:txBody>
      </p:sp>
      <p:sp>
        <p:nvSpPr>
          <p:cNvPr id="3" name="TextBox 2"/>
          <p:cNvSpPr txBox="1"/>
          <p:nvPr/>
        </p:nvSpPr>
        <p:spPr>
          <a:xfrm>
            <a:off x="360000" y="760000"/>
            <a:ext cx="11472000" cy="5738000"/>
          </a:xfrm>
          <a:prstGeom prst="rect">
            <a:avLst/>
          </a:prstGeom>
          <a:noFill/>
        </p:spPr>
        <p:txBody>
          <a:bodyPr wrap="square">
            <a:spAutoFit/>
          </a:bodyPr>
          <a:lstStyle/>
          <a:p>
            <a:pPr>
              <a:spcAft>
                <a:spcPts val="1000"/>
              </a:spcAft>
              <a:buNone/>
            </a:pPr>
            <a:r>
              <a:rPr sz="1500" b="1">
                <a:solidFill>
                  <a:srgbClr val="555555"/>
                </a:solidFill>
                <a:latin typeface="Calibri"/>
              </a:rPr>
              <a:t>Standing diagnostic framework (SPEP/IFX + serum FLC, CRABI, MGUS→SMM→MM thresholds) is unchanged. Updates since 2023 are in therapy and prognosis:</a:t>
            </a:r>
          </a:p>
          <a:p>
            <a:pPr>
              <a:spcAft>
                <a:spcPts val="600"/>
              </a:spcAft>
            </a:pPr>
            <a:r>
              <a:rPr sz="1500" b="0">
                <a:solidFill>
                  <a:srgbClr val="222222"/>
                </a:solidFill>
                <a:latin typeface="Calibri"/>
              </a:rPr>
              <a:t>Front-line induction is now a QUADRUPLET: add an anti-CD38 mAb (daratumumab) to VRd. D-VRd reduced progression/death ~60% vs VRd — PERSEUS, NEJM 2024; FDA-approved for transplant-eligible NDMM (Jul 2024); Isa-VRd approved transplant-ineligible (IMROZ, 2024).</a:t>
            </a:r>
          </a:p>
          <a:p>
            <a:pPr>
              <a:spcAft>
                <a:spcPts val="600"/>
              </a:spcAft>
            </a:pPr>
            <a:r>
              <a:rPr sz="1500" b="0">
                <a:solidFill>
                  <a:srgbClr val="222222"/>
                </a:solidFill>
                <a:latin typeface="Calibri"/>
              </a:rPr>
              <a:t>R2-ISS (D’Agostino, JCO 2022) refines R-ISS by adding gain/amp 1q21 (+ LDH, del17p/t(4;14)) into a 4-tier additive score — better separates the large R-ISS stage II group.</a:t>
            </a:r>
          </a:p>
          <a:p>
            <a:pPr>
              <a:spcAft>
                <a:spcPts val="600"/>
              </a:spcAft>
            </a:pPr>
            <a:r>
              <a:rPr sz="1500" b="0">
                <a:solidFill>
                  <a:srgbClr val="222222"/>
                </a:solidFill>
                <a:latin typeface="Calibri"/>
              </a:rPr>
              <a:t>High-risk smoldering myeloma: daratumumab monotherapy delayed progression (5-yr PFS 63% vs 41%) — AQUILA, NEJM 2024; supports earlier intervention vs active monitoring in select high-risk SMM.</a:t>
            </a:r>
          </a:p>
          <a:p>
            <a:pPr>
              <a:spcAft>
                <a:spcPts val="600"/>
              </a:spcAft>
            </a:pPr>
            <a:r>
              <a:rPr sz="1500" b="0">
                <a:solidFill>
                  <a:srgbClr val="222222"/>
                </a:solidFill>
                <a:latin typeface="Calibri"/>
              </a:rPr>
              <a:t>Relapsed/refractory: BCMA-targeted classes now standard — CAR-T cilta-cel (CARTITUDE-4, FDA Apr 2024, ≥1 prior line) &amp; ide-cel; bispecifics teclistamab (Oct 2022), elranatamab, talquetamab (GPRC5D).</a:t>
            </a:r>
          </a:p>
          <a:p>
            <a:pPr>
              <a:spcAft>
                <a:spcPts val="600"/>
              </a:spcAft>
            </a:pPr>
            <a:r>
              <a:rPr sz="1500" b="0">
                <a:solidFill>
                  <a:srgbClr val="222222"/>
                </a:solidFill>
                <a:latin typeface="Calibri"/>
              </a:rPr>
              <a:t>Monitoring: mass spectrometry (MALDI-TOF) emerging as a more sensitive alternative to immunofixation (not yet routine).</a:t>
            </a:r>
          </a:p>
          <a:p>
            <a:pPr>
              <a:spcAft>
                <a:spcPts val="0"/>
              </a:spcAft>
              <a:buNone/>
            </a:pPr>
            <a:r>
              <a:rPr sz="1100" b="0">
                <a:solidFill>
                  <a:srgbClr val="555555"/>
                </a:solidFill>
                <a:latin typeface="Calibri"/>
              </a:rPr>
              <a:t>All updates clinician/heme-onc–reviewed before teaching. Sources: PERSEUS NEJM 2024; D’Agostino JCO 2022; AQUILA NEJM 2024; FDA approvals 2022–2024.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wrap="square"/>
          <a:lstStyle/>
          <a:p>
            <a:pPr algn="ctr"/>
            <a:r>
              <a:rPr sz="2600" b="1">
                <a:solidFill>
                  <a:srgbClr val="FFFFFF"/>
                </a:solidFill>
                <a:latin typeface="Calibri"/>
              </a:rPr>
              <a:t>Take-Home Points</a:t>
            </a:r>
          </a:p>
        </p:txBody>
      </p:sp>
      <p:sp>
        <p:nvSpPr>
          <p:cNvPr id="3" name="TextBox 2"/>
          <p:cNvSpPr txBox="1"/>
          <p:nvPr/>
        </p:nvSpPr>
        <p:spPr>
          <a:xfrm>
            <a:off x="360000" y="760000"/>
            <a:ext cx="11472000" cy="5738000"/>
          </a:xfrm>
          <a:prstGeom prst="rect">
            <a:avLst/>
          </a:prstGeom>
          <a:noFill/>
        </p:spPr>
        <p:txBody>
          <a:bodyPr wrap="square">
            <a:spAutoFit/>
          </a:bodyPr>
          <a:lstStyle/>
          <a:p>
            <a:pPr>
              <a:spcAft>
                <a:spcPts val="1000"/>
              </a:spcAft>
            </a:pPr>
            <a:r>
              <a:rPr sz="1500" b="0">
                <a:solidFill>
                  <a:srgbClr val="222222"/>
                </a:solidFill>
                <a:latin typeface="Calibri"/>
              </a:rPr>
              <a:t>MGUS, smoldering myeloma (SMM), and MM are a spectrum of clonal plasma-cell disorders; complications follow CRABI — hyperCalcemia, Renal dysfunction, Anemia, Boney lytic lesions, Immunodeficiency.</a:t>
            </a:r>
          </a:p>
          <a:p>
            <a:pPr>
              <a:spcAft>
                <a:spcPts val="1000"/>
              </a:spcAft>
            </a:pPr>
            <a:r>
              <a:rPr sz="1500" b="0">
                <a:solidFill>
                  <a:srgbClr val="222222"/>
                </a:solidFill>
                <a:latin typeface="Calibri"/>
              </a:rPr>
              <a:t>Screen with SPEP + serum immunofixation AND serum free light chains (FLC). FLC catches the ~16% of light-chain-only myeloma SPEP misses; SPEP+FLC sensitivity ~99% and replaces the 24-h UPEP.</a:t>
            </a:r>
          </a:p>
          <a:p>
            <a:pPr>
              <a:spcAft>
                <a:spcPts val="1000"/>
              </a:spcAft>
            </a:pPr>
            <a:r>
              <a:rPr sz="1500" b="0">
                <a:solidFill>
                  <a:srgbClr val="222222"/>
                </a:solidFill>
                <a:latin typeface="Calibri"/>
              </a:rPr>
              <a:t>Distinguish MGUS / SMM / MM by M-protein size, % clonal marrow plasma cells, and end-organ damage (CRABI) or a myeloma-defining biomarker (≥60% marrow, FLC ratio ≥100, &gt;1 focal MRI lesion).</a:t>
            </a:r>
          </a:p>
          <a:p>
            <a:pPr>
              <a:spcAft>
                <a:spcPts val="1000"/>
              </a:spcAft>
            </a:pPr>
            <a:r>
              <a:rPr sz="1500" b="0">
                <a:solidFill>
                  <a:srgbClr val="222222"/>
                </a:solidFill>
                <a:latin typeface="Calibri"/>
              </a:rPr>
              <a:t>Progression risk: MGUS ~1%/yr; SMM ~10%/yr for the first 5 years. Order β2-microglobulin (mg/L), LDH, albumin, and FISH at diagnosis for R-ISS / R2-ISS staging.</a:t>
            </a:r>
          </a:p>
          <a:p>
            <a:pPr>
              <a:spcAft>
                <a:spcPts val="1000"/>
              </a:spcAft>
            </a:pPr>
            <a:r>
              <a:rPr sz="1500" b="0">
                <a:solidFill>
                  <a:srgbClr val="222222"/>
                </a:solidFill>
                <a:latin typeface="Calibri"/>
              </a:rPr>
              <a:t>Front-line therapy is now quadruplet (anti-CD38 mAb + VRd) ± autoSCT then maintenance; manage hypercalcemia, cast nephropathy (aggressive IVF, urgent systemic therapy), and infection/VTE prophylaxis.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60000"/>
          </a:xfrm>
          <a:prstGeom prst="rect">
            <a:avLst/>
          </a:prstGeom>
          <a:solidFill>
            <a:srgbClr val="0E6E8C"/>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wrap="square"/>
          <a:lstStyle/>
          <a:p>
            <a:pPr algn="ctr"/>
            <a:r>
              <a:rPr sz="2600" b="1">
                <a:solidFill>
                  <a:srgbClr val="FFFFFF"/>
                </a:solidFill>
                <a:latin typeface="Calibri"/>
              </a:rPr>
              <a:t>Attribution &amp; Optimization Changelog</a:t>
            </a:r>
          </a:p>
        </p:txBody>
      </p:sp>
      <p:sp>
        <p:nvSpPr>
          <p:cNvPr id="3" name="TextBox 2"/>
          <p:cNvSpPr txBox="1"/>
          <p:nvPr/>
        </p:nvSpPr>
        <p:spPr>
          <a:xfrm>
            <a:off x="360000" y="760000"/>
            <a:ext cx="11472000" cy="5738000"/>
          </a:xfrm>
          <a:prstGeom prst="rect">
            <a:avLst/>
          </a:prstGeom>
          <a:noFill/>
        </p:spPr>
        <p:txBody>
          <a:bodyPr wrap="square">
            <a:spAutoFit/>
          </a:bodyPr>
          <a:lstStyle/>
          <a:p>
            <a:pPr>
              <a:spcAft>
                <a:spcPts val="400"/>
              </a:spcAft>
              <a:buNone/>
            </a:pPr>
            <a:r>
              <a:rPr sz="1400" b="1">
                <a:solidFill>
                  <a:srgbClr val="222222"/>
                </a:solidFill>
                <a:latin typeface="Calibri"/>
              </a:rPr>
              <a:t>Original lesson: “Plasma Cell Dyscrasias,” TeachIM.org (Published Jan 2023).</a:t>
            </a:r>
          </a:p>
          <a:p>
            <a:pPr>
              <a:spcAft>
                <a:spcPts val="400"/>
              </a:spcAft>
              <a:buNone/>
            </a:pPr>
            <a:r>
              <a:rPr sz="1200" b="0">
                <a:solidFill>
                  <a:srgbClr val="555555"/>
                </a:solidFill>
                <a:latin typeface="Calibri"/>
              </a:rPr>
              <a:t>Authors: Meryl Colton MD MSc; Peter Forsberg MD. Section Editor: Christopher Geiger MD. Executive Editor: Yilin Zhang MD. University of Colorado.</a:t>
            </a:r>
          </a:p>
          <a:p>
            <a:pPr>
              <a:spcAft>
                <a:spcPts val="1000"/>
              </a:spcAft>
              <a:buNone/>
            </a:pPr>
            <a:r>
              <a:rPr sz="1200" b="0">
                <a:solidFill>
                  <a:srgbClr val="555555"/>
                </a:solidFill>
                <a:latin typeface="Calibri"/>
              </a:rPr>
              <a:t>https://teachim.org/teaching_material/plasma-cell-dyscrasias/</a:t>
            </a:r>
          </a:p>
          <a:p>
            <a:pPr>
              <a:spcAft>
                <a:spcPts val="1000"/>
              </a:spcAft>
              <a:buNone/>
            </a:pPr>
            <a:r>
              <a:rPr sz="1200" b="0">
                <a:solidFill>
                  <a:srgbClr val="222222"/>
                </a:solidFill>
                <a:latin typeface="Calibri"/>
              </a:rPr>
              <a:t>License: Creative Commons Attribution-NonCommercial 4.0 (CC BY-NC 4.0). Educational, non-commercial use only.</a:t>
            </a:r>
          </a:p>
          <a:p>
            <a:pPr>
              <a:spcAft>
                <a:spcPts val="400"/>
              </a:spcAft>
              <a:buNone/>
            </a:pPr>
            <a:r>
              <a:rPr sz="1300" b="1">
                <a:solidFill>
                  <a:srgbClr val="222222"/>
                </a:solidFill>
                <a:latin typeface="Calibri"/>
              </a:rPr>
              <a:t>Optimization (2026-06-10) — surgical corrections, animations/graphics preserved:</a:t>
            </a:r>
          </a:p>
          <a:p>
            <a:pPr>
              <a:spcAft>
                <a:spcPts val="200"/>
              </a:spcAft>
              <a:buNone/>
            </a:pPr>
            <a:r>
              <a:rPr sz="1200" b="0">
                <a:solidFill>
                  <a:srgbClr val="222222"/>
                </a:solidFill>
                <a:latin typeface="Calibri"/>
              </a:rPr>
              <a:t>• Slide 8 (R-ISS): β2-microglobulin units “g/dL” → “mg/L” (×2; β2M is reported in mg/L — lesson page uses mg/L); albumin g/dL left unchanged.</a:t>
            </a:r>
          </a:p>
          <a:p>
            <a:pPr>
              <a:spcAft>
                <a:spcPts val="200"/>
              </a:spcAft>
              <a:buNone/>
            </a:pPr>
            <a:r>
              <a:rPr sz="1200" b="0">
                <a:solidFill>
                  <a:srgbClr val="222222"/>
                </a:solidFill>
                <a:latin typeface="Calibri"/>
              </a:rPr>
              <a:t>• Slide 8: R-ISS stage III median survival “42 months” → “43 months” (matches lesson page table &amp; Palumbo, JCO 2015).</a:t>
            </a:r>
          </a:p>
          <a:p>
            <a:pPr>
              <a:spcAft>
                <a:spcPts val="200"/>
              </a:spcAft>
              <a:buNone/>
            </a:pPr>
            <a:r>
              <a:rPr sz="1200" b="0">
                <a:solidFill>
                  <a:srgbClr val="222222"/>
                </a:solidFill>
                <a:latin typeface="Calibri"/>
              </a:rPr>
              <a:t>• Slides 9–10 (incl. notes): spelling “Proteosome” → “Proteasome”.</a:t>
            </a:r>
          </a:p>
          <a:p>
            <a:pPr>
              <a:spcAft>
                <a:spcPts val="200"/>
              </a:spcAft>
              <a:buNone/>
            </a:pPr>
            <a:r>
              <a:rPr sz="1200" b="0">
                <a:solidFill>
                  <a:srgbClr val="222222"/>
                </a:solidFill>
                <a:latin typeface="Calibri"/>
              </a:rPr>
              <a:t>• Appended: this attribution slide, a take-home slide, and a 2023–2026 newer-context slide.</a:t>
            </a:r>
          </a:p>
          <a:p>
            <a:pPr>
              <a:spcAft>
                <a:spcPts val="0"/>
              </a:spcAft>
              <a:buNone/>
            </a:pPr>
            <a:r>
              <a:rPr sz="1100" b="0">
                <a:solidFill>
                  <a:srgbClr val="555555"/>
                </a:solidFill>
                <a:latin typeface="Calibri"/>
              </a:rPr>
              <a:t>Human review: Slide 4 &amp; case tables list Alpha-2 globulin reference range as “0.5-0.3” (reversed/implausible); intended value not stated, left unedited — confirm correct range. Medical content should be clinician-reviewed before teaching.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32395</TotalTime>
  <Words>3382</Words>
  <Application>Microsoft Office PowerPoint</Application>
  <PresentationFormat>Widescreen</PresentationFormat>
  <Paragraphs>607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Cambria Math</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Fainstad</dc:creator>
  <cp:lastModifiedBy>Yilin Zhang</cp:lastModifiedBy>
  <cp:revision>160</cp:revision>
  <dcterms:created xsi:type="dcterms:W3CDTF">2020-12-09T20:37:45Z</dcterms:created>
  <dcterms:modified xsi:type="dcterms:W3CDTF">2023-02-20T20:06:21Z</dcterms:modified>
</cp:coreProperties>
</file>