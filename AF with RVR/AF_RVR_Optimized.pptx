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71" r:id="rId2"/>
    <p:sldId id="257" r:id="rId3"/>
    <p:sldId id="272" r:id="rId4"/>
    <p:sldId id="273" r:id="rId5"/>
    <p:sldId id="269" r:id="rId6"/>
    <p:sldId id="274" r:id="rId13"/>
    <p:sldId id="275" r:id="rId14"/>
    <p:sldId id="27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lin Zhang" initials="YZ" lastIdx="5" clrIdx="0">
    <p:extLst>
      <p:ext uri="{19B8F6BF-5375-455C-9EA6-DF929625EA0E}">
        <p15:presenceInfo xmlns:p15="http://schemas.microsoft.com/office/powerpoint/2012/main" userId="8f8df916e9767c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994" autoAdjust="0"/>
    <p:restoredTop sz="91442" autoAdjust="0"/>
  </p:normalViewPr>
  <p:slideViewPr>
    <p:cSldViewPr snapToGrid="0" snapToObjects="1">
      <p:cViewPr varScale="1">
        <p:scale>
          <a:sx n="85" d="100"/>
          <a:sy n="85" d="100"/>
        </p:scale>
        <p:origin x="102"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5F3147-5D57-4C2A-A338-2021A11F9AA9}" type="datetimeFigureOut">
              <a:rPr lang="en-US" smtClean="0"/>
              <a:t>4/7/2021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826FEC-78D2-4D72-B4B9-8D49B86A3F7A}" type="slidenum">
              <a:rPr lang="en-US" smtClean="0"/>
              <a:t>‹#›</a:t>
            </a:fld>
            <a:endParaRPr lang="en-US"/>
          </a:p>
        </p:txBody>
      </p:sp>
    </p:spTree>
    <p:extLst>
      <p:ext uri="{BB962C8B-B14F-4D97-AF65-F5344CB8AC3E}">
        <p14:creationId xmlns:p14="http://schemas.microsoft.com/office/powerpoint/2010/main" val="424462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826FEC-78D2-4D72-B4B9-8D49B86A3F7A}" type="slidenum">
              <a:rPr lang="en-US" smtClean="0"/>
              <a:t>5</a:t>
            </a:fld>
            <a:endParaRPr lang="en-US"/>
          </a:p>
        </p:txBody>
      </p:sp>
    </p:spTree>
    <p:extLst>
      <p:ext uri="{BB962C8B-B14F-4D97-AF65-F5344CB8AC3E}">
        <p14:creationId xmlns:p14="http://schemas.microsoft.com/office/powerpoint/2010/main" val="2657874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AE98-5E0A-6D47-B075-47E2EAFEFA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1D31BD-05C4-3A42-89DF-D37DCA3CED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D63E7A-9F77-5049-9E68-6BC698E60368}"/>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0530F0ED-082E-EE44-84E5-C887F20B87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7DBDE-D807-2946-A802-D9B377E9FC27}"/>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759074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40BBC-612B-B647-960B-9D7846BBD6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3030F-02EA-0646-B102-1C37054E01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702DF-0426-2243-9440-F42D03AED6EB}"/>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D6CF1021-8510-5B40-816F-3763D4E0B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463C9C-081D-9C48-8679-A4D834B7E75F}"/>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27392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1F53-07A6-454F-9CC7-EAD6015815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346C08-6DB7-5B4D-8912-FC20E5CAB4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02FD5D-FFF7-6D41-B272-BA615C59E105}"/>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58224248-014F-C942-9D35-429BD77CF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13625-BF7D-2444-A4E8-58A1119D108E}"/>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650119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CAE29-8F89-324C-A37F-5A03D29DF4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CCF01-D7F0-F345-9E8C-151DD746C9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D9161F-7E2D-B047-A0D4-196F927F99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EE0982-B22F-C948-B145-8F50DEB7AEF1}"/>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3E25A404-C592-E046-8A0C-AAB4067157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11C462-FD5D-6E42-A380-DF7A78A71FD9}"/>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161220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277F-1788-EC45-9946-5C92746363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7D97D6-50DE-864B-BC55-F5A6EE552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3CEA39-29F2-C54A-BD52-B2537EBB70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73E993-3C0E-9F45-9249-0831B11BB3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965647-05C1-D84A-BDD6-BFF8823FC9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5E97A4-1AFE-644A-A430-501FFC0A69F2}"/>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8" name="Footer Placeholder 7">
            <a:extLst>
              <a:ext uri="{FF2B5EF4-FFF2-40B4-BE49-F238E27FC236}">
                <a16:creationId xmlns:a16="http://schemas.microsoft.com/office/drawing/2014/main" id="{2E51E422-9CAB-0F43-9FE9-6471F75F3B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9B9A0D-2044-4A47-8F0B-EE3DA252A2B8}"/>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2109988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E030-3B12-4C43-8D34-068C6B641D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924222-F954-7041-B9F3-8ABE35888164}"/>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4" name="Footer Placeholder 3">
            <a:extLst>
              <a:ext uri="{FF2B5EF4-FFF2-40B4-BE49-F238E27FC236}">
                <a16:creationId xmlns:a16="http://schemas.microsoft.com/office/drawing/2014/main" id="{78FDF7A8-8330-F64C-BFB2-45F1939F7C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A2A605-1415-ED42-8455-163039181AAD}"/>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172071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E127CD-2AFC-4B42-A358-CE78A2C0EB35}"/>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3" name="Footer Placeholder 2">
            <a:extLst>
              <a:ext uri="{FF2B5EF4-FFF2-40B4-BE49-F238E27FC236}">
                <a16:creationId xmlns:a16="http://schemas.microsoft.com/office/drawing/2014/main" id="{EF2001B7-0204-694B-BA14-E872DEF1CD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4E2D6D-F942-CA4A-9975-F81D534CC119}"/>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877232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9FBE0-465D-AE48-878B-D29F198B1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79E413-6B5A-F147-98BB-6D3660719F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AC9D14-CB5E-CA45-A8CD-3650C5A0B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D90165-9C33-3F42-BBD3-C224A7E6E2FB}"/>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8B10EAD5-631F-1943-9A69-C81A25DD26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D0EAE-2E7B-D848-97CF-5DF55AAAFFAD}"/>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140623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114D-DD46-D84D-BF13-7E662F0BEA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FCD0DC-2350-9141-8F3E-C520DCB569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A002E6-CF1D-E347-8770-E71109BAE9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30F4D3-CFEC-0D48-9991-416357856646}"/>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40954E17-CDF2-7B45-B87D-D4C34AEC0A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41050-41D7-2C49-A579-2B715A383CB0}"/>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86628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D0487-B44B-FB4E-B518-62115871A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73ACB2-536C-134F-86A8-ED9F101843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924E6-1532-EF44-B697-9D8E6BA5B060}"/>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1331F976-97A2-4A4B-AD73-D1357C627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486E6-AFEB-3F4B-ACC7-92224CCE9196}"/>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25430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F54F0E-A0F0-E14D-927E-54D52553DC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5AE6-9C7D-3E46-B080-4E00A538F8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BDAEE-EFBA-E340-A648-20527E5047FF}"/>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4D7B998C-3C89-8E4D-B328-15E31473B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7F328-7A6C-FC4E-A7AB-997913CACBA2}"/>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16578883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35399-E875-5F46-B081-A71F68407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DBFD29-620D-0F40-9381-04D569279A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8E359-E1EC-6D4E-A1E8-3FD9A34286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B04757A3-13DF-B947-A482-FD7C87CB9E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3C5B0-150E-FB4D-AC47-41A15D8EE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FF412-2298-F54F-83DD-7DBC0A9DD52F}" type="slidenum">
              <a:rPr lang="en-US" smtClean="0"/>
              <a:t>‹#›</a:t>
            </a:fld>
            <a:endParaRPr lang="en-US"/>
          </a:p>
        </p:txBody>
      </p:sp>
    </p:spTree>
    <p:extLst>
      <p:ext uri="{BB962C8B-B14F-4D97-AF65-F5344CB8AC3E}">
        <p14:creationId xmlns:p14="http://schemas.microsoft.com/office/powerpoint/2010/main" val="1140023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ustomXml" Target="../ink/ink1.xml"/><Relationship Id="rId3" Type="http://schemas.openxmlformats.org/officeDocument/2006/relationships/image" Target="../media/image4.emf"/><Relationship Id="rId4" Type="http://schemas.openxmlformats.org/officeDocument/2006/relationships/customXml" Target="../ink/ink2.xml"/><Relationship Id="rId5" Type="http://schemas.openxmlformats.org/officeDocument/2006/relationships/image" Target="../media/image5.emf"/><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slide" Target="slide4.xml"/><Relationship Id="rId11"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ustomXml" Target="../ink/ink3.xml"/><Relationship Id="rId3" Type="http://schemas.openxmlformats.org/officeDocument/2006/relationships/image" Target="../media/image6.emf"/><Relationship Id="rId4" Type="http://schemas.openxmlformats.org/officeDocument/2006/relationships/customXml" Target="../ink/ink4.xml"/><Relationship Id="rId5" Type="http://schemas.openxmlformats.org/officeDocument/2006/relationships/image" Target="../media/image7.emf"/><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ustomXml" Target="../ink/ink5.xml"/><Relationship Id="rId3" Type="http://schemas.openxmlformats.org/officeDocument/2006/relationships/image" Target="../media/image4.emf"/><Relationship Id="rId4" Type="http://schemas.openxmlformats.org/officeDocument/2006/relationships/customXml" Target="../ink/ink6.xml"/><Relationship Id="rId5" Type="http://schemas.openxmlformats.org/officeDocument/2006/relationships/image" Target="../media/image5.emf"/><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image" Target="../media/image4.png"/><Relationship Id="rId9" Type="http://schemas.openxmlformats.org/officeDocument/2006/relationships/image" Target="../media/image5.svg"/><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CG" descr="A picture containing timeline&#10;&#10;Description automatically generated">
            <a:extLst>
              <a:ext uri="{FF2B5EF4-FFF2-40B4-BE49-F238E27FC236}">
                <a16:creationId xmlns:a16="http://schemas.microsoft.com/office/drawing/2014/main" id="{8D19A420-B90C-9743-B6D2-4AC43B815137}"/>
              </a:ext>
            </a:extLst>
          </p:cNvPr>
          <p:cNvPicPr>
            <a:picLocks noChangeAspect="1"/>
          </p:cNvPicPr>
          <p:nvPr/>
        </p:nvPicPr>
        <p:blipFill>
          <a:blip r:embed="rId2"/>
          <a:stretch>
            <a:fillRect/>
          </a:stretch>
        </p:blipFill>
        <p:spPr>
          <a:xfrm>
            <a:off x="18516" y="1124908"/>
            <a:ext cx="12192000" cy="5828528"/>
          </a:xfrm>
          <a:prstGeom prst="rect">
            <a:avLst/>
          </a:prstGeom>
        </p:spPr>
      </p:pic>
      <p:sp>
        <p:nvSpPr>
          <p:cNvPr id="6" name="Rectangle: Rounded Corners 5">
            <a:hlinkClick r:id="rId3" action="ppaction://hlinksldjump"/>
            <a:extLst>
              <a:ext uri="{FF2B5EF4-FFF2-40B4-BE49-F238E27FC236}">
                <a16:creationId xmlns:a16="http://schemas.microsoft.com/office/drawing/2014/main" id="{CF430FD2-F87B-498E-9FB8-E9648EDAF9B5}"/>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9" name="Graphic 8" descr="Cursor with solid fill">
            <a:extLst>
              <a:ext uri="{FF2B5EF4-FFF2-40B4-BE49-F238E27FC236}">
                <a16:creationId xmlns:a16="http://schemas.microsoft.com/office/drawing/2014/main" id="{36E1FF84-2246-41E2-891A-55A594B44F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08338" y="272732"/>
            <a:ext cx="278936" cy="278936"/>
          </a:xfrm>
          <a:prstGeom prst="rect">
            <a:avLst/>
          </a:prstGeom>
        </p:spPr>
      </p:pic>
      <p:sp>
        <p:nvSpPr>
          <p:cNvPr id="7" name="Rectangle: Rounded Corners 6">
            <a:hlinkClick r:id="rId6" action="ppaction://hlinksldjump"/>
            <a:extLst>
              <a:ext uri="{FF2B5EF4-FFF2-40B4-BE49-F238E27FC236}">
                <a16:creationId xmlns:a16="http://schemas.microsoft.com/office/drawing/2014/main" id="{08AA1495-BEEF-47BF-920E-047623C8FC35}"/>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10" name="Graphic 9" descr="Cursor with solid fill">
            <a:extLst>
              <a:ext uri="{FF2B5EF4-FFF2-40B4-BE49-F238E27FC236}">
                <a16:creationId xmlns:a16="http://schemas.microsoft.com/office/drawing/2014/main" id="{27028CB5-99C1-4564-9746-092318E4A4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94548" y="666455"/>
            <a:ext cx="278936" cy="278936"/>
          </a:xfrm>
          <a:prstGeom prst="rect">
            <a:avLst/>
          </a:prstGeom>
        </p:spPr>
      </p:pic>
      <p:sp>
        <p:nvSpPr>
          <p:cNvPr id="11" name="Rectangle: Rounded Corners 10">
            <a:hlinkClick r:id="rId7" action="ppaction://hlinksldjump"/>
            <a:extLst>
              <a:ext uri="{FF2B5EF4-FFF2-40B4-BE49-F238E27FC236}">
                <a16:creationId xmlns:a16="http://schemas.microsoft.com/office/drawing/2014/main" id="{4CAAE7F7-5AFC-4181-BBA1-E10098045677}"/>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12" name="Graphic 11" descr="Cursor with solid fill">
            <a:extLst>
              <a:ext uri="{FF2B5EF4-FFF2-40B4-BE49-F238E27FC236}">
                <a16:creationId xmlns:a16="http://schemas.microsoft.com/office/drawing/2014/main" id="{D4EFE437-0E91-463B-975E-0A45646160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12507" y="1070433"/>
            <a:ext cx="280861" cy="280861"/>
          </a:xfrm>
          <a:prstGeom prst="rect">
            <a:avLst/>
          </a:prstGeom>
        </p:spPr>
      </p:pic>
      <p:sp>
        <p:nvSpPr>
          <p:cNvPr id="16" name="TextBox 15">
            <a:extLst>
              <a:ext uri="{FF2B5EF4-FFF2-40B4-BE49-F238E27FC236}">
                <a16:creationId xmlns:a16="http://schemas.microsoft.com/office/drawing/2014/main" id="{CAC9009A-231D-4CA2-9CE4-77C9061B8885}"/>
              </a:ext>
            </a:extLst>
          </p:cNvPr>
          <p:cNvSpPr txBox="1"/>
          <p:nvPr/>
        </p:nvSpPr>
        <p:spPr>
          <a:xfrm>
            <a:off x="781517" y="152976"/>
            <a:ext cx="9550142" cy="954107"/>
          </a:xfrm>
          <a:prstGeom prst="rect">
            <a:avLst/>
          </a:prstGeom>
          <a:noFill/>
        </p:spPr>
        <p:txBody>
          <a:bodyPr wrap="square" rtlCol="0">
            <a:spAutoFit/>
          </a:bodyPr>
          <a:lstStyle/>
          <a:p>
            <a:pPr algn="ctr"/>
            <a:r>
              <a:rPr lang="en-US" sz="2800" dirty="0">
                <a:ea typeface="+mn-lt"/>
                <a:cs typeface="+mn-lt"/>
              </a:rPr>
              <a:t>68 yo M with hx of HTN, DMII and COPD who presents with dyspnea on exertion and palpitations.</a:t>
            </a:r>
          </a:p>
        </p:txBody>
      </p:sp>
      <p:grpSp>
        <p:nvGrpSpPr>
          <p:cNvPr id="17" name="Diagnosis">
            <a:extLst>
              <a:ext uri="{FF2B5EF4-FFF2-40B4-BE49-F238E27FC236}">
                <a16:creationId xmlns:a16="http://schemas.microsoft.com/office/drawing/2014/main" id="{49D4C203-EB6B-495D-91BE-EA78CF204C67}"/>
              </a:ext>
            </a:extLst>
          </p:cNvPr>
          <p:cNvGrpSpPr/>
          <p:nvPr/>
        </p:nvGrpSpPr>
        <p:grpSpPr>
          <a:xfrm>
            <a:off x="5256332" y="3864940"/>
            <a:ext cx="1776644" cy="642214"/>
            <a:chOff x="392067" y="6014907"/>
            <a:chExt cx="1776644" cy="642214"/>
          </a:xfrm>
        </p:grpSpPr>
        <p:sp>
          <p:nvSpPr>
            <p:cNvPr id="18" name="Rectangle: Rounded Corners 17">
              <a:extLst>
                <a:ext uri="{FF2B5EF4-FFF2-40B4-BE49-F238E27FC236}">
                  <a16:creationId xmlns:a16="http://schemas.microsoft.com/office/drawing/2014/main" id="{AC8F9FC8-088C-46D3-983E-2DE506C5B327}"/>
                </a:ext>
              </a:extLst>
            </p:cNvPr>
            <p:cNvSpPr/>
            <p:nvPr/>
          </p:nvSpPr>
          <p:spPr>
            <a:xfrm>
              <a:off x="392067" y="6014907"/>
              <a:ext cx="1637176" cy="502746"/>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DIAGNOSIS</a:t>
              </a:r>
            </a:p>
          </p:txBody>
        </p:sp>
        <p:pic>
          <p:nvPicPr>
            <p:cNvPr id="19" name="Graphic 18" descr="Cursor with solid fill">
              <a:extLst>
                <a:ext uri="{FF2B5EF4-FFF2-40B4-BE49-F238E27FC236}">
                  <a16:creationId xmlns:a16="http://schemas.microsoft.com/office/drawing/2014/main" id="{A3925DA3-5FFF-4A8A-8530-3AFE55F8DC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89775" y="6378185"/>
              <a:ext cx="278936" cy="278936"/>
            </a:xfrm>
            <a:prstGeom prst="rect">
              <a:avLst/>
            </a:prstGeom>
          </p:spPr>
        </p:pic>
      </p:grpSp>
      <p:grpSp>
        <p:nvGrpSpPr>
          <p:cNvPr id="25" name="Narrow QRS">
            <a:extLst>
              <a:ext uri="{FF2B5EF4-FFF2-40B4-BE49-F238E27FC236}">
                <a16:creationId xmlns:a16="http://schemas.microsoft.com/office/drawing/2014/main" id="{421DF9F2-7F71-458D-A23C-452882E874DA}"/>
              </a:ext>
            </a:extLst>
          </p:cNvPr>
          <p:cNvGrpSpPr/>
          <p:nvPr/>
        </p:nvGrpSpPr>
        <p:grpSpPr>
          <a:xfrm>
            <a:off x="885037" y="2009608"/>
            <a:ext cx="2529574" cy="875899"/>
            <a:chOff x="781517" y="2011680"/>
            <a:chExt cx="2529574" cy="875899"/>
          </a:xfrm>
        </p:grpSpPr>
        <p:cxnSp>
          <p:nvCxnSpPr>
            <p:cNvPr id="22" name="Straight Arrow Connector 21">
              <a:extLst>
                <a:ext uri="{FF2B5EF4-FFF2-40B4-BE49-F238E27FC236}">
                  <a16:creationId xmlns:a16="http://schemas.microsoft.com/office/drawing/2014/main" id="{3922A63B-D641-4B7A-ACC4-F56A6B814387}"/>
                </a:ext>
              </a:extLst>
            </p:cNvPr>
            <p:cNvCxnSpPr>
              <a:cxnSpLocks/>
            </p:cNvCxnSpPr>
            <p:nvPr/>
          </p:nvCxnSpPr>
          <p:spPr>
            <a:xfrm flipH="1" flipV="1">
              <a:off x="1091493" y="2011680"/>
              <a:ext cx="221380" cy="423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DB19255-8612-4AC0-B260-128842804758}"/>
                </a:ext>
              </a:extLst>
            </p:cNvPr>
            <p:cNvSpPr/>
            <p:nvPr/>
          </p:nvSpPr>
          <p:spPr>
            <a:xfrm>
              <a:off x="781517" y="2435192"/>
              <a:ext cx="2529574"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Narrow QRS (&lt;120 </a:t>
              </a:r>
              <a:r>
                <a:rPr lang="en-US" dirty="0" err="1"/>
                <a:t>ms</a:t>
              </a:r>
              <a:r>
                <a:rPr lang="en-US" dirty="0"/>
                <a:t>)</a:t>
              </a:r>
            </a:p>
          </p:txBody>
        </p:sp>
      </p:grpSp>
      <p:grpSp>
        <p:nvGrpSpPr>
          <p:cNvPr id="44" name="Irregular rhythm">
            <a:extLst>
              <a:ext uri="{FF2B5EF4-FFF2-40B4-BE49-F238E27FC236}">
                <a16:creationId xmlns:a16="http://schemas.microsoft.com/office/drawing/2014/main" id="{727F700A-CCA7-4DAF-A4E1-5EC423859B57}"/>
              </a:ext>
            </a:extLst>
          </p:cNvPr>
          <p:cNvGrpSpPr/>
          <p:nvPr/>
        </p:nvGrpSpPr>
        <p:grpSpPr>
          <a:xfrm>
            <a:off x="979405" y="4806497"/>
            <a:ext cx="4571734" cy="714408"/>
            <a:chOff x="433403" y="5280705"/>
            <a:chExt cx="4571734" cy="714408"/>
          </a:xfrm>
        </p:grpSpPr>
        <p:cxnSp>
          <p:nvCxnSpPr>
            <p:cNvPr id="27" name="Straight Arrow Connector 26">
              <a:extLst>
                <a:ext uri="{FF2B5EF4-FFF2-40B4-BE49-F238E27FC236}">
                  <a16:creationId xmlns:a16="http://schemas.microsoft.com/office/drawing/2014/main" id="{D6F23B8D-612E-4006-B7ED-5B9977CF6F6F}"/>
                </a:ext>
              </a:extLst>
            </p:cNvPr>
            <p:cNvCxnSpPr>
              <a:cxnSpLocks/>
            </p:cNvCxnSpPr>
            <p:nvPr/>
          </p:nvCxnSpPr>
          <p:spPr>
            <a:xfrm flipH="1">
              <a:off x="649011" y="5534737"/>
              <a:ext cx="553172" cy="460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62A26E0-A5F2-488D-AC14-EA890EE86E7B}"/>
                </a:ext>
              </a:extLst>
            </p:cNvPr>
            <p:cNvCxnSpPr>
              <a:cxnSpLocks/>
            </p:cNvCxnSpPr>
            <p:nvPr/>
          </p:nvCxnSpPr>
          <p:spPr>
            <a:xfrm flipH="1">
              <a:off x="1004254" y="5534737"/>
              <a:ext cx="197929" cy="393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6EA85F2-D61B-463A-BBE3-563648632AD7}"/>
                </a:ext>
              </a:extLst>
            </p:cNvPr>
            <p:cNvCxnSpPr>
              <a:cxnSpLocks/>
            </p:cNvCxnSpPr>
            <p:nvPr/>
          </p:nvCxnSpPr>
          <p:spPr>
            <a:xfrm>
              <a:off x="1559294" y="5627094"/>
              <a:ext cx="77947" cy="33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C9CFBC-3F22-47DF-B680-185C8CD52ABE}"/>
                </a:ext>
              </a:extLst>
            </p:cNvPr>
            <p:cNvCxnSpPr>
              <a:cxnSpLocks/>
            </p:cNvCxnSpPr>
            <p:nvPr/>
          </p:nvCxnSpPr>
          <p:spPr>
            <a:xfrm>
              <a:off x="1780505" y="5687137"/>
              <a:ext cx="330296" cy="27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33965B8-8A5F-48FA-A61E-BD64A373110B}"/>
                </a:ext>
              </a:extLst>
            </p:cNvPr>
            <p:cNvCxnSpPr>
              <a:cxnSpLocks/>
            </p:cNvCxnSpPr>
            <p:nvPr/>
          </p:nvCxnSpPr>
          <p:spPr>
            <a:xfrm>
              <a:off x="2110801" y="5616544"/>
              <a:ext cx="429293" cy="31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DF2EE56-44F3-4A08-BA56-3BB2EC56807D}"/>
                </a:ext>
              </a:extLst>
            </p:cNvPr>
            <p:cNvSpPr/>
            <p:nvPr/>
          </p:nvSpPr>
          <p:spPr>
            <a:xfrm>
              <a:off x="433403" y="5280705"/>
              <a:ext cx="4571734"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Irregularly irregular ventricular rate &gt; 100 bpm</a:t>
              </a:r>
            </a:p>
          </p:txBody>
        </p:sp>
      </p:grpSp>
      <p:grpSp>
        <p:nvGrpSpPr>
          <p:cNvPr id="45" name="P waves">
            <a:extLst>
              <a:ext uri="{FF2B5EF4-FFF2-40B4-BE49-F238E27FC236}">
                <a16:creationId xmlns:a16="http://schemas.microsoft.com/office/drawing/2014/main" id="{13FC947A-A6D1-4CFA-AC91-E8D22ABA424D}"/>
              </a:ext>
            </a:extLst>
          </p:cNvPr>
          <p:cNvGrpSpPr/>
          <p:nvPr/>
        </p:nvGrpSpPr>
        <p:grpSpPr>
          <a:xfrm>
            <a:off x="7815986" y="4816590"/>
            <a:ext cx="2445075" cy="829590"/>
            <a:chOff x="581116" y="5342336"/>
            <a:chExt cx="2445075" cy="829590"/>
          </a:xfrm>
        </p:grpSpPr>
        <p:cxnSp>
          <p:nvCxnSpPr>
            <p:cNvPr id="46" name="Straight Arrow Connector 45">
              <a:extLst>
                <a:ext uri="{FF2B5EF4-FFF2-40B4-BE49-F238E27FC236}">
                  <a16:creationId xmlns:a16="http://schemas.microsoft.com/office/drawing/2014/main" id="{FE2FDB23-589A-4A00-BE7D-181D91CBF55B}"/>
                </a:ext>
              </a:extLst>
            </p:cNvPr>
            <p:cNvCxnSpPr>
              <a:cxnSpLocks/>
            </p:cNvCxnSpPr>
            <p:nvPr/>
          </p:nvCxnSpPr>
          <p:spPr>
            <a:xfrm>
              <a:off x="995912" y="5758310"/>
              <a:ext cx="8951" cy="393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641AB68-B4F4-491B-87A4-4C4983CE7987}"/>
                </a:ext>
              </a:extLst>
            </p:cNvPr>
            <p:cNvCxnSpPr>
              <a:cxnSpLocks/>
            </p:cNvCxnSpPr>
            <p:nvPr/>
          </p:nvCxnSpPr>
          <p:spPr>
            <a:xfrm>
              <a:off x="1330798" y="5665597"/>
              <a:ext cx="65175" cy="475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0BD8FEF-B59A-4931-ADA1-635F179ECEC8}"/>
                </a:ext>
              </a:extLst>
            </p:cNvPr>
            <p:cNvCxnSpPr>
              <a:cxnSpLocks/>
            </p:cNvCxnSpPr>
            <p:nvPr/>
          </p:nvCxnSpPr>
          <p:spPr>
            <a:xfrm>
              <a:off x="1740105" y="5665597"/>
              <a:ext cx="109846" cy="480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796AADA-D10E-497E-914E-D2E063151B0F}"/>
                </a:ext>
              </a:extLst>
            </p:cNvPr>
            <p:cNvCxnSpPr>
              <a:cxnSpLocks/>
            </p:cNvCxnSpPr>
            <p:nvPr/>
          </p:nvCxnSpPr>
          <p:spPr>
            <a:xfrm>
              <a:off x="2194763" y="5678632"/>
              <a:ext cx="96865" cy="493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99308C0F-AF6F-4AC1-8453-547BA10E0A29}"/>
                </a:ext>
              </a:extLst>
            </p:cNvPr>
            <p:cNvSpPr/>
            <p:nvPr/>
          </p:nvSpPr>
          <p:spPr>
            <a:xfrm>
              <a:off x="581116" y="5342336"/>
              <a:ext cx="2445075"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No discernible P waves</a:t>
              </a:r>
            </a:p>
          </p:txBody>
        </p:sp>
      </p:grpSp>
      <p:sp>
        <p:nvSpPr>
          <p:cNvPr id="57" name="AF with RVR">
            <a:extLst>
              <a:ext uri="{FF2B5EF4-FFF2-40B4-BE49-F238E27FC236}">
                <a16:creationId xmlns:a16="http://schemas.microsoft.com/office/drawing/2014/main" id="{9021C488-CFA3-4819-87E4-D6F805C2B551}"/>
              </a:ext>
            </a:extLst>
          </p:cNvPr>
          <p:cNvSpPr/>
          <p:nvPr/>
        </p:nvSpPr>
        <p:spPr>
          <a:xfrm>
            <a:off x="2719270" y="3846577"/>
            <a:ext cx="7326209" cy="4523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ATRIAL FIBRILLATION WITH RAPID VENTRICULAR RATE</a:t>
            </a:r>
          </a:p>
        </p:txBody>
      </p:sp>
      <p:sp>
        <p:nvSpPr>
          <p:cNvPr id="36" name="Rectangle: Rounded Corners 35">
            <a:hlinkClick r:id="rId8" action="ppaction://hlinksldjump"/>
            <a:extLst>
              <a:ext uri="{FF2B5EF4-FFF2-40B4-BE49-F238E27FC236}">
                <a16:creationId xmlns:a16="http://schemas.microsoft.com/office/drawing/2014/main" id="{CD5C2ABB-A23C-4B4E-BC30-D30C753CA39D}"/>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37" name="Graphic 36" descr="Cursor with solid fill">
            <a:extLst>
              <a:ext uri="{FF2B5EF4-FFF2-40B4-BE49-F238E27FC236}">
                <a16:creationId xmlns:a16="http://schemas.microsoft.com/office/drawing/2014/main" id="{B9EF752B-976D-44F2-A7B3-B3CE8EEA38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12507" y="1480541"/>
            <a:ext cx="280861" cy="280861"/>
          </a:xfrm>
          <a:prstGeom prst="rect">
            <a:avLst/>
          </a:prstGeom>
        </p:spPr>
      </p:pic>
    </p:spTree>
    <p:extLst>
      <p:ext uri="{BB962C8B-B14F-4D97-AF65-F5344CB8AC3E}">
        <p14:creationId xmlns:p14="http://schemas.microsoft.com/office/powerpoint/2010/main" val="22384954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childTnLst>
        </p:cTn>
      </p:par>
    </p:tnLst>
    <p:bldLst>
      <p:bldP spid="5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703629" y="2684032"/>
            <a:ext cx="637388" cy="532252"/>
          </a:xfrm>
          <a:prstGeom prst="rect">
            <a:avLst/>
          </a:prstGeom>
          <a:noFill/>
        </p:spPr>
        <p:txBody>
          <a:bodyPr wrap="square" rtlCol="0">
            <a:spAutoFit/>
          </a:bodyPr>
          <a:lstStyle/>
          <a:p>
            <a:r>
              <a:rPr lang="en-US" sz="3200" dirty="0"/>
              <a:t>AV</a:t>
            </a:r>
          </a:p>
        </p:txBody>
      </p:sp>
      <p:sp>
        <p:nvSpPr>
          <p:cNvPr id="23" name="Freeform: Shape 22">
            <a:extLst>
              <a:ext uri="{FF2B5EF4-FFF2-40B4-BE49-F238E27FC236}">
                <a16:creationId xmlns:a16="http://schemas.microsoft.com/office/drawing/2014/main" id="{705B4774-F88F-4B0E-8F14-E4D642445ED6}"/>
              </a:ext>
            </a:extLst>
          </p:cNvPr>
          <p:cNvSpPr/>
          <p:nvPr/>
        </p:nvSpPr>
        <p:spPr>
          <a:xfrm>
            <a:off x="5361379" y="1547505"/>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BB47720-91A3-41A7-B925-118A39164336}"/>
              </a:ext>
            </a:extLst>
          </p:cNvPr>
          <p:cNvSpPr/>
          <p:nvPr/>
        </p:nvSpPr>
        <p:spPr>
          <a:xfrm>
            <a:off x="5838978" y="138968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A838001-D3E7-421D-A40D-BBCF01D35778}"/>
              </a:ext>
            </a:extLst>
          </p:cNvPr>
          <p:cNvSpPr/>
          <p:nvPr/>
        </p:nvSpPr>
        <p:spPr>
          <a:xfrm>
            <a:off x="5444711" y="1916303"/>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BAB2A2A1-C39F-4AF7-9C12-6BD62737EC0D}"/>
              </a:ext>
            </a:extLst>
          </p:cNvPr>
          <p:cNvSpPr/>
          <p:nvPr/>
        </p:nvSpPr>
        <p:spPr>
          <a:xfrm>
            <a:off x="5973150" y="1732878"/>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65300C6A-4F3D-4B39-97D8-30EE6EE5DE98}"/>
              </a:ext>
            </a:extLst>
          </p:cNvPr>
          <p:cNvSpPr/>
          <p:nvPr/>
        </p:nvSpPr>
        <p:spPr>
          <a:xfrm>
            <a:off x="6325847" y="19098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49DF8B05-FB51-4B96-8557-26DB530FD986}"/>
              </a:ext>
            </a:extLst>
          </p:cNvPr>
          <p:cNvSpPr/>
          <p:nvPr/>
        </p:nvSpPr>
        <p:spPr>
          <a:xfrm>
            <a:off x="6198156" y="22415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B8EF7AAC-337E-43BC-BF4F-946810084B0E}"/>
              </a:ext>
            </a:extLst>
          </p:cNvPr>
          <p:cNvSpPr/>
          <p:nvPr/>
        </p:nvSpPr>
        <p:spPr>
          <a:xfrm>
            <a:off x="5806359" y="213834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22B7BA36-C208-4AD9-A6E6-A3D85DFECCB3}"/>
              </a:ext>
            </a:extLst>
          </p:cNvPr>
          <p:cNvSpPr/>
          <p:nvPr/>
        </p:nvSpPr>
        <p:spPr>
          <a:xfrm>
            <a:off x="5819460" y="2453067"/>
            <a:ext cx="255259" cy="238249"/>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PATHOPHYSIOLOGY</a:t>
            </a:r>
          </a:p>
        </p:txBody>
      </p:sp>
      <p:cxnSp>
        <p:nvCxnSpPr>
          <p:cNvPr id="31" name="Straight Arrow Connector 30">
            <a:extLst>
              <a:ext uri="{FF2B5EF4-FFF2-40B4-BE49-F238E27FC236}">
                <a16:creationId xmlns:a16="http://schemas.microsoft.com/office/drawing/2014/main" id="{D522D0FC-2740-434E-BEA5-DBAD6C78915C}"/>
              </a:ext>
            </a:extLst>
          </p:cNvPr>
          <p:cNvCxnSpPr/>
          <p:nvPr/>
        </p:nvCxnSpPr>
        <p:spPr>
          <a:xfrm>
            <a:off x="5777195" y="3216464"/>
            <a:ext cx="444980" cy="8079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hlinkClick r:id="rId6" action="ppaction://hlinksldjump"/>
            <a:extLst>
              <a:ext uri="{FF2B5EF4-FFF2-40B4-BE49-F238E27FC236}">
                <a16:creationId xmlns:a16="http://schemas.microsoft.com/office/drawing/2014/main" id="{4FC72703-A231-420A-8C2C-6DDD095D79D9}"/>
              </a:ext>
            </a:extLst>
          </p:cNvPr>
          <p:cNvSpPr/>
          <p:nvPr/>
        </p:nvSpPr>
        <p:spPr>
          <a:xfrm>
            <a:off x="10431173" y="97577"/>
            <a:ext cx="1637176" cy="35031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Pathophysiology</a:t>
            </a:r>
          </a:p>
        </p:txBody>
      </p:sp>
      <p:sp>
        <p:nvSpPr>
          <p:cNvPr id="58" name="Rectangle: Rounded Corners 57">
            <a:hlinkClick r:id="rId7" action="ppaction://hlinksldjump"/>
            <a:extLst>
              <a:ext uri="{FF2B5EF4-FFF2-40B4-BE49-F238E27FC236}">
                <a16:creationId xmlns:a16="http://schemas.microsoft.com/office/drawing/2014/main" id="{A749E936-5CA6-44ED-A94E-E0E2EA9416CD}"/>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59" name="Graphic 58" descr="Cursor with solid fill">
            <a:extLst>
              <a:ext uri="{FF2B5EF4-FFF2-40B4-BE49-F238E27FC236}">
                <a16:creationId xmlns:a16="http://schemas.microsoft.com/office/drawing/2014/main" id="{5B80872F-7238-4D30-B63A-42CA531171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894548" y="666455"/>
            <a:ext cx="278936" cy="278936"/>
          </a:xfrm>
          <a:prstGeom prst="rect">
            <a:avLst/>
          </a:prstGeom>
        </p:spPr>
      </p:pic>
      <p:sp>
        <p:nvSpPr>
          <p:cNvPr id="60" name="Rectangle: Rounded Corners 59">
            <a:hlinkClick r:id="rId10" action="ppaction://hlinksldjump"/>
            <a:extLst>
              <a:ext uri="{FF2B5EF4-FFF2-40B4-BE49-F238E27FC236}">
                <a16:creationId xmlns:a16="http://schemas.microsoft.com/office/drawing/2014/main" id="{F1884C30-075F-4269-9176-33C2A3F7750B}"/>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61" name="Graphic 60" descr="Cursor with solid fill">
            <a:extLst>
              <a:ext uri="{FF2B5EF4-FFF2-40B4-BE49-F238E27FC236}">
                <a16:creationId xmlns:a16="http://schemas.microsoft.com/office/drawing/2014/main" id="{C2CCDDFD-0C0C-4E64-BA23-B34C924723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12507" y="1070433"/>
            <a:ext cx="280861" cy="280861"/>
          </a:xfrm>
          <a:prstGeom prst="rect">
            <a:avLst/>
          </a:prstGeom>
        </p:spPr>
      </p:pic>
      <p:sp>
        <p:nvSpPr>
          <p:cNvPr id="62" name="Rectangle: Rounded Corners 61">
            <a:hlinkClick r:id="rId11" action="ppaction://hlinksldjump"/>
            <a:extLst>
              <a:ext uri="{FF2B5EF4-FFF2-40B4-BE49-F238E27FC236}">
                <a16:creationId xmlns:a16="http://schemas.microsoft.com/office/drawing/2014/main" id="{5D595596-35CC-48D5-A224-FCDE197EC19F}"/>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63" name="Graphic 62" descr="Cursor with solid fill">
            <a:extLst>
              <a:ext uri="{FF2B5EF4-FFF2-40B4-BE49-F238E27FC236}">
                <a16:creationId xmlns:a16="http://schemas.microsoft.com/office/drawing/2014/main" id="{58DA0AEB-7FA8-4CEE-9D7B-9114C30FC3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12507" y="1480541"/>
            <a:ext cx="280861" cy="280861"/>
          </a:xfrm>
          <a:prstGeom prst="rect">
            <a:avLst/>
          </a:prstGeom>
        </p:spPr>
      </p:pic>
      <p:sp>
        <p:nvSpPr>
          <p:cNvPr id="2" name="TextBox 1">
            <a:extLst>
              <a:ext uri="{FF2B5EF4-FFF2-40B4-BE49-F238E27FC236}">
                <a16:creationId xmlns:a16="http://schemas.microsoft.com/office/drawing/2014/main" id="{D9530A4D-F2F6-4842-BF63-81EC40BA08E6}"/>
              </a:ext>
            </a:extLst>
          </p:cNvPr>
          <p:cNvSpPr txBox="1"/>
          <p:nvPr/>
        </p:nvSpPr>
        <p:spPr>
          <a:xfrm>
            <a:off x="7021109" y="1524803"/>
            <a:ext cx="3229896" cy="646331"/>
          </a:xfrm>
          <a:prstGeom prst="rect">
            <a:avLst/>
          </a:prstGeom>
          <a:noFill/>
        </p:spPr>
        <p:txBody>
          <a:bodyPr wrap="square" rtlCol="0">
            <a:spAutoFit/>
          </a:bodyPr>
          <a:lstStyle/>
          <a:p>
            <a:pPr marL="176213" indent="-176213">
              <a:buFont typeface="Arial" panose="020B0604020202020204" pitchFamily="34" charset="0"/>
              <a:buChar char="•"/>
            </a:pPr>
            <a:r>
              <a:rPr lang="en-US" dirty="0"/>
              <a:t>Multiple micro-reentry circuits </a:t>
            </a:r>
          </a:p>
          <a:p>
            <a:pPr marL="176213" indent="-176213">
              <a:buFont typeface="Arial" panose="020B0604020202020204" pitchFamily="34" charset="0"/>
              <a:buChar char="•"/>
            </a:pPr>
            <a:r>
              <a:rPr lang="en-US" dirty="0"/>
              <a:t>Atrial rate of ~400 bpm</a:t>
            </a:r>
          </a:p>
        </p:txBody>
      </p:sp>
      <p:grpSp>
        <p:nvGrpSpPr>
          <p:cNvPr id="8" name="Group 7">
            <a:extLst>
              <a:ext uri="{FF2B5EF4-FFF2-40B4-BE49-F238E27FC236}">
                <a16:creationId xmlns:a16="http://schemas.microsoft.com/office/drawing/2014/main" id="{3B6A99FA-BB3E-4BC5-A06E-4058F5989575}"/>
              </a:ext>
            </a:extLst>
          </p:cNvPr>
          <p:cNvGrpSpPr/>
          <p:nvPr/>
        </p:nvGrpSpPr>
        <p:grpSpPr>
          <a:xfrm>
            <a:off x="604166" y="1070433"/>
            <a:ext cx="2767021" cy="707215"/>
            <a:chOff x="604166" y="1070433"/>
            <a:chExt cx="2767021" cy="707215"/>
          </a:xfrm>
        </p:grpSpPr>
        <p:sp>
          <p:nvSpPr>
            <p:cNvPr id="7" name="Rectangle 6">
              <a:extLst>
                <a:ext uri="{FF2B5EF4-FFF2-40B4-BE49-F238E27FC236}">
                  <a16:creationId xmlns:a16="http://schemas.microsoft.com/office/drawing/2014/main" id="{C7380D4A-D2C4-4E90-8196-4439C2F35D21}"/>
                </a:ext>
              </a:extLst>
            </p:cNvPr>
            <p:cNvSpPr/>
            <p:nvPr/>
          </p:nvSpPr>
          <p:spPr>
            <a:xfrm>
              <a:off x="604166" y="1070433"/>
              <a:ext cx="2767021" cy="7072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6" name="Group 5">
              <a:extLst>
                <a:ext uri="{FF2B5EF4-FFF2-40B4-BE49-F238E27FC236}">
                  <a16:creationId xmlns:a16="http://schemas.microsoft.com/office/drawing/2014/main" id="{32E80AAD-9AF6-40D5-80FA-F7CA97354553}"/>
                </a:ext>
              </a:extLst>
            </p:cNvPr>
            <p:cNvGrpSpPr/>
            <p:nvPr/>
          </p:nvGrpSpPr>
          <p:grpSpPr>
            <a:xfrm>
              <a:off x="804511" y="1131317"/>
              <a:ext cx="2566676" cy="646331"/>
              <a:chOff x="804511" y="1131317"/>
              <a:chExt cx="2566676" cy="646331"/>
            </a:xfrm>
          </p:grpSpPr>
          <p:sp>
            <p:nvSpPr>
              <p:cNvPr id="4" name="Star: 5 Points 3">
                <a:extLst>
                  <a:ext uri="{FF2B5EF4-FFF2-40B4-BE49-F238E27FC236}">
                    <a16:creationId xmlns:a16="http://schemas.microsoft.com/office/drawing/2014/main" id="{5F1E20F0-A0A3-4015-AEF7-EB19CA948618}"/>
                  </a:ext>
                </a:extLst>
              </p:cNvPr>
              <p:cNvSpPr/>
              <p:nvPr/>
            </p:nvSpPr>
            <p:spPr>
              <a:xfrm>
                <a:off x="804511" y="1227224"/>
                <a:ext cx="368409" cy="375305"/>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30839E-C85E-4120-80C6-69621B721F51}"/>
                  </a:ext>
                </a:extLst>
              </p:cNvPr>
              <p:cNvSpPr txBox="1"/>
              <p:nvPr/>
            </p:nvSpPr>
            <p:spPr>
              <a:xfrm>
                <a:off x="1223099" y="1131317"/>
                <a:ext cx="2148088" cy="646331"/>
              </a:xfrm>
              <a:prstGeom prst="rect">
                <a:avLst/>
              </a:prstGeom>
              <a:noFill/>
            </p:spPr>
            <p:txBody>
              <a:bodyPr wrap="square" rtlCol="0">
                <a:spAutoFit/>
              </a:bodyPr>
              <a:lstStyle/>
              <a:p>
                <a:r>
                  <a:rPr lang="en-US" dirty="0"/>
                  <a:t>Click anywhere to continue</a:t>
                </a:r>
              </a:p>
            </p:txBody>
          </p:sp>
        </p:grpSp>
      </p:grpSp>
      <p:sp>
        <p:nvSpPr>
          <p:cNvPr id="36" name="TextBox 35">
            <a:extLst>
              <a:ext uri="{FF2B5EF4-FFF2-40B4-BE49-F238E27FC236}">
                <a16:creationId xmlns:a16="http://schemas.microsoft.com/office/drawing/2014/main" id="{9FA2CDF0-BDA1-4993-9371-9265F4989A86}"/>
              </a:ext>
            </a:extLst>
          </p:cNvPr>
          <p:cNvSpPr txBox="1"/>
          <p:nvPr/>
        </p:nvSpPr>
        <p:spPr>
          <a:xfrm>
            <a:off x="8053236" y="3213952"/>
            <a:ext cx="3229896" cy="646331"/>
          </a:xfrm>
          <a:prstGeom prst="rect">
            <a:avLst/>
          </a:prstGeom>
          <a:noFill/>
        </p:spPr>
        <p:txBody>
          <a:bodyPr wrap="square" rtlCol="0">
            <a:spAutoFit/>
          </a:bodyPr>
          <a:lstStyle/>
          <a:p>
            <a:pPr marL="176213" indent="-176213">
              <a:buFont typeface="Arial" panose="020B0604020202020204" pitchFamily="34" charset="0"/>
              <a:buChar char="•"/>
            </a:pPr>
            <a:r>
              <a:rPr lang="en-US" dirty="0"/>
              <a:t>Ventricular rate is determined by AV node refractory period</a:t>
            </a:r>
          </a:p>
        </p:txBody>
      </p:sp>
    </p:spTree>
    <p:extLst>
      <p:ext uri="{BB962C8B-B14F-4D97-AF65-F5344CB8AC3E}">
        <p14:creationId xmlns:p14="http://schemas.microsoft.com/office/powerpoint/2010/main" val="338508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par>
                          <p:cTn id="13" fill="hold">
                            <p:stCondLst>
                              <p:cond delay="0"/>
                            </p:stCondLst>
                            <p:childTnLst>
                              <p:par>
                                <p:cTn id="14" presetID="26" presetClass="emph" presetSubtype="0" fill="hold" nodeType="afterEffect">
                                  <p:stCondLst>
                                    <p:cond delay="0"/>
                                  </p:stCondLst>
                                  <p:childTnLst>
                                    <p:animEffect transition="out" filter="fade">
                                      <p:cBhvr>
                                        <p:cTn id="15" dur="500" tmFilter="0, 0; .2, .5; .8, .5; 1, 0"/>
                                        <p:tgtEl>
                                          <p:spTgt spid="31"/>
                                        </p:tgtEl>
                                      </p:cBhvr>
                                    </p:animEffect>
                                    <p:animScale>
                                      <p:cBhvr>
                                        <p:cTn id="16" dur="250" autoRev="1" fill="hold"/>
                                        <p:tgtEl>
                                          <p:spTgt spid="31"/>
                                        </p:tgtEl>
                                      </p:cBhvr>
                                      <p:by x="105000" y="105000"/>
                                    </p:animScale>
                                  </p:childTnLst>
                                </p:cTn>
                              </p:par>
                            </p:childTnLst>
                          </p:cTn>
                        </p:par>
                        <p:par>
                          <p:cTn id="17" fill="hold">
                            <p:stCondLst>
                              <p:cond delay="500"/>
                            </p:stCondLst>
                            <p:childTnLst>
                              <p:par>
                                <p:cTn id="18" presetID="26" presetClass="emph" presetSubtype="0" fill="hold" nodeType="afterEffect">
                                  <p:stCondLst>
                                    <p:cond delay="0"/>
                                  </p:stCondLst>
                                  <p:childTnLst>
                                    <p:animEffect transition="out" filter="fade">
                                      <p:cBhvr>
                                        <p:cTn id="19" dur="500" tmFilter="0, 0; .2, .5; .8, .5; 1, 0"/>
                                        <p:tgtEl>
                                          <p:spTgt spid="31"/>
                                        </p:tgtEl>
                                      </p:cBhvr>
                                    </p:animEffect>
                                    <p:animScale>
                                      <p:cBhvr>
                                        <p:cTn id="20" dur="250" autoRev="1" fill="hold"/>
                                        <p:tgtEl>
                                          <p:spTgt spid="31"/>
                                        </p:tgtEl>
                                      </p:cBhvr>
                                      <p:by x="105000" y="105000"/>
                                    </p:animScale>
                                  </p:childTnLst>
                                </p:cTn>
                              </p:par>
                            </p:childTnLst>
                          </p:cTn>
                        </p:par>
                        <p:par>
                          <p:cTn id="21" fill="hold">
                            <p:stCondLst>
                              <p:cond delay="1000"/>
                            </p:stCondLst>
                            <p:childTnLst>
                              <p:par>
                                <p:cTn id="22" presetID="26" presetClass="emph" presetSubtype="0" fill="hold" nodeType="afterEffect">
                                  <p:stCondLst>
                                    <p:cond delay="0"/>
                                  </p:stCondLst>
                                  <p:childTnLst>
                                    <p:animEffect transition="out" filter="fade">
                                      <p:cBhvr>
                                        <p:cTn id="23" dur="500" tmFilter="0, 0; .2, .5; .8, .5; 1, 0"/>
                                        <p:tgtEl>
                                          <p:spTgt spid="31"/>
                                        </p:tgtEl>
                                      </p:cBhvr>
                                    </p:animEffect>
                                    <p:animScale>
                                      <p:cBhvr>
                                        <p:cTn id="24" dur="250" autoRev="1" fill="hold"/>
                                        <p:tgtEl>
                                          <p:spTgt spid="31"/>
                                        </p:tgtEl>
                                      </p:cBhvr>
                                      <p:by x="105000" y="105000"/>
                                    </p:animScale>
                                  </p:childTnLst>
                                </p:cTn>
                              </p:par>
                              <p:par>
                                <p:cTn id="25" presetID="1" presetClass="exit" presetSubtype="0" fill="hold"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703629" y="2684032"/>
            <a:ext cx="637388" cy="532252"/>
          </a:xfrm>
          <a:prstGeom prst="rect">
            <a:avLst/>
          </a:prstGeom>
          <a:noFill/>
        </p:spPr>
        <p:txBody>
          <a:bodyPr wrap="square" rtlCol="0">
            <a:spAutoFit/>
          </a:bodyPr>
          <a:lstStyle/>
          <a:p>
            <a:r>
              <a:rPr lang="en-US" sz="3200" dirty="0"/>
              <a:t>AV</a:t>
            </a:r>
          </a:p>
        </p:txBody>
      </p:sp>
      <p:grpSp>
        <p:nvGrpSpPr>
          <p:cNvPr id="28" name="Group 27">
            <a:extLst>
              <a:ext uri="{FF2B5EF4-FFF2-40B4-BE49-F238E27FC236}">
                <a16:creationId xmlns:a16="http://schemas.microsoft.com/office/drawing/2014/main" id="{2CFB0B5E-C965-4027-8953-F006E8D995BA}"/>
              </a:ext>
            </a:extLst>
          </p:cNvPr>
          <p:cNvGrpSpPr/>
          <p:nvPr/>
        </p:nvGrpSpPr>
        <p:grpSpPr>
          <a:xfrm>
            <a:off x="5361379" y="1389686"/>
            <a:ext cx="1202108" cy="1301630"/>
            <a:chOff x="5361379" y="1389686"/>
            <a:chExt cx="1202108" cy="1301630"/>
          </a:xfrm>
        </p:grpSpPr>
        <p:sp>
          <p:nvSpPr>
            <p:cNvPr id="23" name="Freeform: Shape 22">
              <a:extLst>
                <a:ext uri="{FF2B5EF4-FFF2-40B4-BE49-F238E27FC236}">
                  <a16:creationId xmlns:a16="http://schemas.microsoft.com/office/drawing/2014/main" id="{705B4774-F88F-4B0E-8F14-E4D642445ED6}"/>
                </a:ext>
              </a:extLst>
            </p:cNvPr>
            <p:cNvSpPr/>
            <p:nvPr/>
          </p:nvSpPr>
          <p:spPr>
            <a:xfrm>
              <a:off x="5361379" y="1547505"/>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BB47720-91A3-41A7-B925-118A39164336}"/>
                </a:ext>
              </a:extLst>
            </p:cNvPr>
            <p:cNvSpPr/>
            <p:nvPr/>
          </p:nvSpPr>
          <p:spPr>
            <a:xfrm>
              <a:off x="5838978" y="138968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A838001-D3E7-421D-A40D-BBCF01D35778}"/>
                </a:ext>
              </a:extLst>
            </p:cNvPr>
            <p:cNvSpPr/>
            <p:nvPr/>
          </p:nvSpPr>
          <p:spPr>
            <a:xfrm>
              <a:off x="5444711" y="1916303"/>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BAB2A2A1-C39F-4AF7-9C12-6BD62737EC0D}"/>
                </a:ext>
              </a:extLst>
            </p:cNvPr>
            <p:cNvSpPr/>
            <p:nvPr/>
          </p:nvSpPr>
          <p:spPr>
            <a:xfrm>
              <a:off x="5973150" y="1732878"/>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65300C6A-4F3D-4B39-97D8-30EE6EE5DE98}"/>
                </a:ext>
              </a:extLst>
            </p:cNvPr>
            <p:cNvSpPr/>
            <p:nvPr/>
          </p:nvSpPr>
          <p:spPr>
            <a:xfrm>
              <a:off x="6325847" y="19098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49DF8B05-FB51-4B96-8557-26DB530FD986}"/>
                </a:ext>
              </a:extLst>
            </p:cNvPr>
            <p:cNvSpPr/>
            <p:nvPr/>
          </p:nvSpPr>
          <p:spPr>
            <a:xfrm>
              <a:off x="6198156" y="22415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B8EF7AAC-337E-43BC-BF4F-946810084B0E}"/>
                </a:ext>
              </a:extLst>
            </p:cNvPr>
            <p:cNvSpPr/>
            <p:nvPr/>
          </p:nvSpPr>
          <p:spPr>
            <a:xfrm>
              <a:off x="5806359" y="213834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22B7BA36-C208-4AD9-A6E6-A3D85DFECCB3}"/>
                </a:ext>
              </a:extLst>
            </p:cNvPr>
            <p:cNvSpPr/>
            <p:nvPr/>
          </p:nvSpPr>
          <p:spPr>
            <a:xfrm>
              <a:off x="5819460" y="2453067"/>
              <a:ext cx="255259" cy="238249"/>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WORK-UP</a:t>
            </a:r>
          </a:p>
        </p:txBody>
      </p:sp>
      <p:cxnSp>
        <p:nvCxnSpPr>
          <p:cNvPr id="30" name="Straight Arrow Connector 29">
            <a:extLst>
              <a:ext uri="{FF2B5EF4-FFF2-40B4-BE49-F238E27FC236}">
                <a16:creationId xmlns:a16="http://schemas.microsoft.com/office/drawing/2014/main" id="{8EA75DC6-3262-4F18-BE9F-B48527EBB9F7}"/>
              </a:ext>
            </a:extLst>
          </p:cNvPr>
          <p:cNvCxnSpPr/>
          <p:nvPr/>
        </p:nvCxnSpPr>
        <p:spPr>
          <a:xfrm>
            <a:off x="5599019" y="3302298"/>
            <a:ext cx="444980" cy="8079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 name="Cardiac button">
            <a:extLst>
              <a:ext uri="{FF2B5EF4-FFF2-40B4-BE49-F238E27FC236}">
                <a16:creationId xmlns:a16="http://schemas.microsoft.com/office/drawing/2014/main" id="{F9265AC9-DB97-4D8D-8FBA-AC67361910E5}"/>
              </a:ext>
            </a:extLst>
          </p:cNvPr>
          <p:cNvSpPr/>
          <p:nvPr/>
        </p:nvSpPr>
        <p:spPr>
          <a:xfrm>
            <a:off x="276980" y="1789572"/>
            <a:ext cx="1728422" cy="427112"/>
          </a:xfrm>
          <a:prstGeom prst="roundRect">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Cardiac</a:t>
            </a:r>
          </a:p>
        </p:txBody>
      </p:sp>
      <p:sp>
        <p:nvSpPr>
          <p:cNvPr id="35" name="Noncardiac button">
            <a:extLst>
              <a:ext uri="{FF2B5EF4-FFF2-40B4-BE49-F238E27FC236}">
                <a16:creationId xmlns:a16="http://schemas.microsoft.com/office/drawing/2014/main" id="{F4E69EC6-4598-48BA-9A2C-CDBACCF6582C}"/>
              </a:ext>
            </a:extLst>
          </p:cNvPr>
          <p:cNvSpPr/>
          <p:nvPr/>
        </p:nvSpPr>
        <p:spPr>
          <a:xfrm>
            <a:off x="236206" y="4240487"/>
            <a:ext cx="1728422" cy="427112"/>
          </a:xfrm>
          <a:prstGeom prst="roundRect">
            <a:avLst/>
          </a:prstGeom>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Non-cardiac</a:t>
            </a:r>
          </a:p>
        </p:txBody>
      </p:sp>
      <p:pic>
        <p:nvPicPr>
          <p:cNvPr id="39" name="Graphic 38" descr="Cursor with solid fill">
            <a:extLst>
              <a:ext uri="{FF2B5EF4-FFF2-40B4-BE49-F238E27FC236}">
                <a16:creationId xmlns:a16="http://schemas.microsoft.com/office/drawing/2014/main" id="{C0F5D350-90C2-46B6-9E06-1C728E5539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34821" y="2067077"/>
            <a:ext cx="280861" cy="280861"/>
          </a:xfrm>
          <a:prstGeom prst="rect">
            <a:avLst/>
          </a:prstGeom>
        </p:spPr>
      </p:pic>
      <p:pic>
        <p:nvPicPr>
          <p:cNvPr id="40" name="Graphic 39" descr="Cursor with solid fill">
            <a:extLst>
              <a:ext uri="{FF2B5EF4-FFF2-40B4-BE49-F238E27FC236}">
                <a16:creationId xmlns:a16="http://schemas.microsoft.com/office/drawing/2014/main" id="{2AF71B19-7BEF-44ED-AD33-BBE9350D7E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95671" y="4527168"/>
            <a:ext cx="280861" cy="280861"/>
          </a:xfrm>
          <a:prstGeom prst="rect">
            <a:avLst/>
          </a:prstGeom>
        </p:spPr>
      </p:pic>
      <p:grpSp>
        <p:nvGrpSpPr>
          <p:cNvPr id="17" name="Cardiac explanation">
            <a:extLst>
              <a:ext uri="{FF2B5EF4-FFF2-40B4-BE49-F238E27FC236}">
                <a16:creationId xmlns:a16="http://schemas.microsoft.com/office/drawing/2014/main" id="{2D175DB3-9BF4-4A61-8743-5A3F8BCC6F4E}"/>
              </a:ext>
            </a:extLst>
          </p:cNvPr>
          <p:cNvGrpSpPr/>
          <p:nvPr/>
        </p:nvGrpSpPr>
        <p:grpSpPr>
          <a:xfrm>
            <a:off x="154504" y="2347938"/>
            <a:ext cx="3675744" cy="1905373"/>
            <a:chOff x="154504" y="2347938"/>
            <a:chExt cx="3675744" cy="1905373"/>
          </a:xfrm>
        </p:grpSpPr>
        <p:sp>
          <p:nvSpPr>
            <p:cNvPr id="4" name="TextBox 3">
              <a:extLst>
                <a:ext uri="{FF2B5EF4-FFF2-40B4-BE49-F238E27FC236}">
                  <a16:creationId xmlns:a16="http://schemas.microsoft.com/office/drawing/2014/main" id="{C4CEF04F-5931-4C33-90CF-70422D63D0B6}"/>
                </a:ext>
              </a:extLst>
            </p:cNvPr>
            <p:cNvSpPr txBox="1"/>
            <p:nvPr/>
          </p:nvSpPr>
          <p:spPr>
            <a:xfrm>
              <a:off x="204873" y="2391473"/>
              <a:ext cx="2316754" cy="369332"/>
            </a:xfrm>
            <a:prstGeom prst="rect">
              <a:avLst/>
            </a:prstGeom>
            <a:noFill/>
          </p:spPr>
          <p:txBody>
            <a:bodyPr wrap="square" rtlCol="0">
              <a:spAutoFit/>
            </a:bodyPr>
            <a:lstStyle/>
            <a:p>
              <a:r>
                <a:rPr lang="en-US" dirty="0"/>
                <a:t>Valvular heart disease</a:t>
              </a:r>
            </a:p>
          </p:txBody>
        </p:sp>
        <p:sp>
          <p:nvSpPr>
            <p:cNvPr id="41" name="TextBox 40">
              <a:extLst>
                <a:ext uri="{FF2B5EF4-FFF2-40B4-BE49-F238E27FC236}">
                  <a16:creationId xmlns:a16="http://schemas.microsoft.com/office/drawing/2014/main" id="{AF20E47B-9A3A-4075-B91E-2BAE634BD770}"/>
                </a:ext>
              </a:extLst>
            </p:cNvPr>
            <p:cNvSpPr txBox="1"/>
            <p:nvPr/>
          </p:nvSpPr>
          <p:spPr>
            <a:xfrm>
              <a:off x="189223" y="2804067"/>
              <a:ext cx="2515861" cy="369332"/>
            </a:xfrm>
            <a:prstGeom prst="rect">
              <a:avLst/>
            </a:prstGeom>
            <a:noFill/>
          </p:spPr>
          <p:txBody>
            <a:bodyPr wrap="square" rtlCol="0">
              <a:spAutoFit/>
            </a:bodyPr>
            <a:lstStyle/>
            <a:p>
              <a:r>
                <a:rPr lang="en-US" dirty="0"/>
                <a:t>Structural heart disease</a:t>
              </a:r>
            </a:p>
          </p:txBody>
        </p:sp>
        <p:sp>
          <p:nvSpPr>
            <p:cNvPr id="42" name="TextBox 41">
              <a:extLst>
                <a:ext uri="{FF2B5EF4-FFF2-40B4-BE49-F238E27FC236}">
                  <a16:creationId xmlns:a16="http://schemas.microsoft.com/office/drawing/2014/main" id="{4042C862-2B09-4A4B-BEEB-4217D93E0527}"/>
                </a:ext>
              </a:extLst>
            </p:cNvPr>
            <p:cNvSpPr txBox="1"/>
            <p:nvPr/>
          </p:nvSpPr>
          <p:spPr>
            <a:xfrm>
              <a:off x="189223" y="3678590"/>
              <a:ext cx="1486620" cy="369332"/>
            </a:xfrm>
            <a:prstGeom prst="rect">
              <a:avLst/>
            </a:prstGeom>
            <a:noFill/>
          </p:spPr>
          <p:txBody>
            <a:bodyPr wrap="square" rtlCol="0">
              <a:spAutoFit/>
            </a:bodyPr>
            <a:lstStyle/>
            <a:p>
              <a:r>
                <a:rPr lang="en-US" dirty="0"/>
                <a:t>New ischemia</a:t>
              </a:r>
            </a:p>
          </p:txBody>
        </p:sp>
        <p:sp>
          <p:nvSpPr>
            <p:cNvPr id="5" name="Right Brace 4">
              <a:extLst>
                <a:ext uri="{FF2B5EF4-FFF2-40B4-BE49-F238E27FC236}">
                  <a16:creationId xmlns:a16="http://schemas.microsoft.com/office/drawing/2014/main" id="{F388EC10-3837-4225-B1E6-39F97F73D368}"/>
                </a:ext>
              </a:extLst>
            </p:cNvPr>
            <p:cNvSpPr/>
            <p:nvPr/>
          </p:nvSpPr>
          <p:spPr>
            <a:xfrm>
              <a:off x="2654005" y="2347938"/>
              <a:ext cx="51079" cy="89169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a:extLst>
                <a:ext uri="{FF2B5EF4-FFF2-40B4-BE49-F238E27FC236}">
                  <a16:creationId xmlns:a16="http://schemas.microsoft.com/office/drawing/2014/main" id="{FB0767DC-E1D1-4BAC-841E-E0B3A81FBCAF}"/>
                </a:ext>
              </a:extLst>
            </p:cNvPr>
            <p:cNvSpPr txBox="1"/>
            <p:nvPr/>
          </p:nvSpPr>
          <p:spPr>
            <a:xfrm>
              <a:off x="2760472" y="2619401"/>
              <a:ext cx="675381" cy="369332"/>
            </a:xfrm>
            <a:prstGeom prst="rect">
              <a:avLst/>
            </a:prstGeom>
            <a:noFill/>
          </p:spPr>
          <p:txBody>
            <a:bodyPr wrap="square" rtlCol="0">
              <a:spAutoFit/>
            </a:bodyPr>
            <a:lstStyle/>
            <a:p>
              <a:pPr algn="ctr"/>
              <a:r>
                <a:rPr lang="en-US" dirty="0"/>
                <a:t>TTE</a:t>
              </a:r>
            </a:p>
          </p:txBody>
        </p:sp>
        <p:cxnSp>
          <p:nvCxnSpPr>
            <p:cNvPr id="7" name="Straight Arrow Connector 6">
              <a:extLst>
                <a:ext uri="{FF2B5EF4-FFF2-40B4-BE49-F238E27FC236}">
                  <a16:creationId xmlns:a16="http://schemas.microsoft.com/office/drawing/2014/main" id="{15C4F014-2166-440D-86B1-D69E9E34791B}"/>
                </a:ext>
              </a:extLst>
            </p:cNvPr>
            <p:cNvCxnSpPr>
              <a:cxnSpLocks/>
              <a:stCxn id="42" idx="3"/>
            </p:cNvCxnSpPr>
            <p:nvPr/>
          </p:nvCxnSpPr>
          <p:spPr>
            <a:xfrm>
              <a:off x="1675843" y="3863256"/>
              <a:ext cx="1029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1F76129-63E0-4CB9-82E4-C3F691456BF5}"/>
                </a:ext>
              </a:extLst>
            </p:cNvPr>
            <p:cNvSpPr txBox="1"/>
            <p:nvPr/>
          </p:nvSpPr>
          <p:spPr>
            <a:xfrm>
              <a:off x="2711141" y="3606980"/>
              <a:ext cx="1109994" cy="646331"/>
            </a:xfrm>
            <a:prstGeom prst="rect">
              <a:avLst/>
            </a:prstGeom>
            <a:noFill/>
          </p:spPr>
          <p:txBody>
            <a:bodyPr wrap="square" rtlCol="0">
              <a:spAutoFit/>
            </a:bodyPr>
            <a:lstStyle/>
            <a:p>
              <a:pPr algn="ctr"/>
              <a:r>
                <a:rPr lang="en-US" dirty="0"/>
                <a:t>ECG ± troponin</a:t>
              </a:r>
            </a:p>
          </p:txBody>
        </p:sp>
        <p:sp>
          <p:nvSpPr>
            <p:cNvPr id="56" name="TextBox 55">
              <a:extLst>
                <a:ext uri="{FF2B5EF4-FFF2-40B4-BE49-F238E27FC236}">
                  <a16:creationId xmlns:a16="http://schemas.microsoft.com/office/drawing/2014/main" id="{10FAC4E2-94FF-466F-AF63-17F768508040}"/>
                </a:ext>
              </a:extLst>
            </p:cNvPr>
            <p:cNvSpPr txBox="1"/>
            <p:nvPr/>
          </p:nvSpPr>
          <p:spPr>
            <a:xfrm>
              <a:off x="154504" y="3230888"/>
              <a:ext cx="2096411" cy="369332"/>
            </a:xfrm>
            <a:prstGeom prst="rect">
              <a:avLst/>
            </a:prstGeom>
            <a:noFill/>
          </p:spPr>
          <p:txBody>
            <a:bodyPr wrap="square" rtlCol="0">
              <a:spAutoFit/>
            </a:bodyPr>
            <a:lstStyle/>
            <a:p>
              <a:r>
                <a:rPr lang="en-US" dirty="0"/>
                <a:t>Decompensated HF</a:t>
              </a:r>
            </a:p>
          </p:txBody>
        </p:sp>
        <p:cxnSp>
          <p:nvCxnSpPr>
            <p:cNvPr id="12" name="Straight Arrow Connector 11">
              <a:extLst>
                <a:ext uri="{FF2B5EF4-FFF2-40B4-BE49-F238E27FC236}">
                  <a16:creationId xmlns:a16="http://schemas.microsoft.com/office/drawing/2014/main" id="{223A1F8E-2477-4687-A206-2FD1A948930A}"/>
                </a:ext>
              </a:extLst>
            </p:cNvPr>
            <p:cNvCxnSpPr>
              <a:cxnSpLocks/>
              <a:stCxn id="56" idx="3"/>
              <a:endCxn id="57" idx="1"/>
            </p:cNvCxnSpPr>
            <p:nvPr/>
          </p:nvCxnSpPr>
          <p:spPr>
            <a:xfrm flipV="1">
              <a:off x="2250915" y="3415404"/>
              <a:ext cx="469339" cy="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D439643-4674-4EA3-9704-3642E0812579}"/>
                </a:ext>
              </a:extLst>
            </p:cNvPr>
            <p:cNvSpPr txBox="1"/>
            <p:nvPr/>
          </p:nvSpPr>
          <p:spPr>
            <a:xfrm>
              <a:off x="2720254" y="3230738"/>
              <a:ext cx="1109994" cy="369332"/>
            </a:xfrm>
            <a:prstGeom prst="rect">
              <a:avLst/>
            </a:prstGeom>
            <a:noFill/>
          </p:spPr>
          <p:txBody>
            <a:bodyPr wrap="square" rtlCol="0">
              <a:spAutoFit/>
            </a:bodyPr>
            <a:lstStyle/>
            <a:p>
              <a:pPr algn="ctr"/>
              <a:r>
                <a:rPr lang="en-US" dirty="0"/>
                <a:t>± BNP</a:t>
              </a:r>
            </a:p>
          </p:txBody>
        </p:sp>
      </p:grpSp>
      <p:grpSp>
        <p:nvGrpSpPr>
          <p:cNvPr id="101" name="Noncardiac explanation">
            <a:extLst>
              <a:ext uri="{FF2B5EF4-FFF2-40B4-BE49-F238E27FC236}">
                <a16:creationId xmlns:a16="http://schemas.microsoft.com/office/drawing/2014/main" id="{790ECC6A-96CB-4933-9222-381AAFD2AC8C}"/>
              </a:ext>
            </a:extLst>
          </p:cNvPr>
          <p:cNvGrpSpPr/>
          <p:nvPr/>
        </p:nvGrpSpPr>
        <p:grpSpPr>
          <a:xfrm>
            <a:off x="150075" y="4735990"/>
            <a:ext cx="5122131" cy="1813449"/>
            <a:chOff x="189224" y="4826712"/>
            <a:chExt cx="5122131" cy="1813449"/>
          </a:xfrm>
        </p:grpSpPr>
        <p:sp>
          <p:nvSpPr>
            <p:cNvPr id="43" name="TextBox 42">
              <a:extLst>
                <a:ext uri="{FF2B5EF4-FFF2-40B4-BE49-F238E27FC236}">
                  <a16:creationId xmlns:a16="http://schemas.microsoft.com/office/drawing/2014/main" id="{9F135B4D-F1B3-492A-BCB3-1F49482795BF}"/>
                </a:ext>
              </a:extLst>
            </p:cNvPr>
            <p:cNvSpPr txBox="1"/>
            <p:nvPr/>
          </p:nvSpPr>
          <p:spPr>
            <a:xfrm>
              <a:off x="204874" y="4965591"/>
              <a:ext cx="2080760" cy="369332"/>
            </a:xfrm>
            <a:prstGeom prst="rect">
              <a:avLst/>
            </a:prstGeom>
            <a:noFill/>
          </p:spPr>
          <p:txBody>
            <a:bodyPr wrap="square" rtlCol="0">
              <a:spAutoFit/>
            </a:bodyPr>
            <a:lstStyle/>
            <a:p>
              <a:r>
                <a:rPr lang="en-US" dirty="0"/>
                <a:t>Pulmonary disease</a:t>
              </a:r>
            </a:p>
          </p:txBody>
        </p:sp>
        <p:sp>
          <p:nvSpPr>
            <p:cNvPr id="60" name="TextBox 59">
              <a:extLst>
                <a:ext uri="{FF2B5EF4-FFF2-40B4-BE49-F238E27FC236}">
                  <a16:creationId xmlns:a16="http://schemas.microsoft.com/office/drawing/2014/main" id="{3CDCA5A0-402B-4755-BB7B-B1F7195E6384}"/>
                </a:ext>
              </a:extLst>
            </p:cNvPr>
            <p:cNvSpPr txBox="1"/>
            <p:nvPr/>
          </p:nvSpPr>
          <p:spPr>
            <a:xfrm>
              <a:off x="204874" y="5399115"/>
              <a:ext cx="1470969" cy="369332"/>
            </a:xfrm>
            <a:prstGeom prst="rect">
              <a:avLst/>
            </a:prstGeom>
            <a:noFill/>
          </p:spPr>
          <p:txBody>
            <a:bodyPr wrap="square" rtlCol="0">
              <a:spAutoFit/>
            </a:bodyPr>
            <a:lstStyle/>
            <a:p>
              <a:r>
                <a:rPr lang="en-US" dirty="0"/>
                <a:t>Drugs/ toxins</a:t>
              </a:r>
            </a:p>
          </p:txBody>
        </p:sp>
        <p:sp>
          <p:nvSpPr>
            <p:cNvPr id="61" name="TextBox 60">
              <a:extLst>
                <a:ext uri="{FF2B5EF4-FFF2-40B4-BE49-F238E27FC236}">
                  <a16:creationId xmlns:a16="http://schemas.microsoft.com/office/drawing/2014/main" id="{B74FC5AD-5FAD-4D24-828E-6DE33C881741}"/>
                </a:ext>
              </a:extLst>
            </p:cNvPr>
            <p:cNvSpPr txBox="1"/>
            <p:nvPr/>
          </p:nvSpPr>
          <p:spPr>
            <a:xfrm>
              <a:off x="204873" y="5825936"/>
              <a:ext cx="1221620" cy="369332"/>
            </a:xfrm>
            <a:prstGeom prst="rect">
              <a:avLst/>
            </a:prstGeom>
            <a:noFill/>
          </p:spPr>
          <p:txBody>
            <a:bodyPr wrap="square" rtlCol="0">
              <a:spAutoFit/>
            </a:bodyPr>
            <a:lstStyle/>
            <a:p>
              <a:r>
                <a:rPr lang="en-US" dirty="0"/>
                <a:t>Metabolic</a:t>
              </a:r>
            </a:p>
          </p:txBody>
        </p:sp>
        <p:sp>
          <p:nvSpPr>
            <p:cNvPr id="62" name="TextBox 61">
              <a:extLst>
                <a:ext uri="{FF2B5EF4-FFF2-40B4-BE49-F238E27FC236}">
                  <a16:creationId xmlns:a16="http://schemas.microsoft.com/office/drawing/2014/main" id="{96E6F3EA-AD56-4899-ADCF-6F215C2E18AE}"/>
                </a:ext>
              </a:extLst>
            </p:cNvPr>
            <p:cNvSpPr txBox="1"/>
            <p:nvPr/>
          </p:nvSpPr>
          <p:spPr>
            <a:xfrm>
              <a:off x="189224" y="6270829"/>
              <a:ext cx="1845886" cy="369332"/>
            </a:xfrm>
            <a:prstGeom prst="rect">
              <a:avLst/>
            </a:prstGeom>
            <a:noFill/>
          </p:spPr>
          <p:txBody>
            <a:bodyPr wrap="square" rtlCol="0">
              <a:spAutoFit/>
            </a:bodyPr>
            <a:lstStyle/>
            <a:p>
              <a:r>
                <a:rPr lang="en-US" dirty="0"/>
                <a:t>Endocrinopathies</a:t>
              </a:r>
            </a:p>
          </p:txBody>
        </p:sp>
        <p:cxnSp>
          <p:nvCxnSpPr>
            <p:cNvPr id="21" name="Straight Arrow Connector 20">
              <a:extLst>
                <a:ext uri="{FF2B5EF4-FFF2-40B4-BE49-F238E27FC236}">
                  <a16:creationId xmlns:a16="http://schemas.microsoft.com/office/drawing/2014/main" id="{E153471B-F12C-47CA-A5F6-07BAFF22456B}"/>
                </a:ext>
              </a:extLst>
            </p:cNvPr>
            <p:cNvCxnSpPr>
              <a:cxnSpLocks/>
              <a:stCxn id="43" idx="3"/>
              <a:endCxn id="65" idx="1"/>
            </p:cNvCxnSpPr>
            <p:nvPr/>
          </p:nvCxnSpPr>
          <p:spPr>
            <a:xfrm flipV="1">
              <a:off x="2285634" y="5149878"/>
              <a:ext cx="393910" cy="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CF0ACB87-9EF0-4043-ACBE-9FCA83643919}"/>
                </a:ext>
              </a:extLst>
            </p:cNvPr>
            <p:cNvSpPr txBox="1"/>
            <p:nvPr/>
          </p:nvSpPr>
          <p:spPr>
            <a:xfrm>
              <a:off x="2679544" y="4826712"/>
              <a:ext cx="1591870" cy="646331"/>
            </a:xfrm>
            <a:prstGeom prst="rect">
              <a:avLst/>
            </a:prstGeom>
            <a:noFill/>
          </p:spPr>
          <p:txBody>
            <a:bodyPr wrap="square" rtlCol="0">
              <a:spAutoFit/>
            </a:bodyPr>
            <a:lstStyle/>
            <a:p>
              <a:pPr algn="ctr"/>
              <a:r>
                <a:rPr lang="en-US" dirty="0"/>
                <a:t>TTE, ± CXR, </a:t>
              </a:r>
            </a:p>
            <a:p>
              <a:pPr algn="ctr"/>
              <a:r>
                <a:rPr lang="en-US" dirty="0"/>
                <a:t>± OSA screen </a:t>
              </a:r>
            </a:p>
          </p:txBody>
        </p:sp>
        <p:sp>
          <p:nvSpPr>
            <p:cNvPr id="70" name="TextBox 69">
              <a:extLst>
                <a:ext uri="{FF2B5EF4-FFF2-40B4-BE49-F238E27FC236}">
                  <a16:creationId xmlns:a16="http://schemas.microsoft.com/office/drawing/2014/main" id="{1E02E436-28BA-4AC7-A473-E29BB8F47249}"/>
                </a:ext>
              </a:extLst>
            </p:cNvPr>
            <p:cNvSpPr txBox="1"/>
            <p:nvPr/>
          </p:nvSpPr>
          <p:spPr>
            <a:xfrm>
              <a:off x="1949939" y="5397998"/>
              <a:ext cx="3361416" cy="369332"/>
            </a:xfrm>
            <a:prstGeom prst="rect">
              <a:avLst/>
            </a:prstGeom>
            <a:noFill/>
          </p:spPr>
          <p:txBody>
            <a:bodyPr wrap="square" rtlCol="0">
              <a:spAutoFit/>
            </a:bodyPr>
            <a:lstStyle/>
            <a:p>
              <a:pPr algn="ctr"/>
              <a:r>
                <a:rPr lang="en-US" dirty="0"/>
                <a:t>± urine tox screen, ETOH level</a:t>
              </a:r>
            </a:p>
          </p:txBody>
        </p:sp>
        <p:cxnSp>
          <p:nvCxnSpPr>
            <p:cNvPr id="64" name="Straight Arrow Connector 63">
              <a:extLst>
                <a:ext uri="{FF2B5EF4-FFF2-40B4-BE49-F238E27FC236}">
                  <a16:creationId xmlns:a16="http://schemas.microsoft.com/office/drawing/2014/main" id="{68975C8D-2D94-411F-B94A-06696DA6ECF0}"/>
                </a:ext>
              </a:extLst>
            </p:cNvPr>
            <p:cNvCxnSpPr>
              <a:cxnSpLocks/>
              <a:stCxn id="60" idx="3"/>
              <a:endCxn id="70" idx="1"/>
            </p:cNvCxnSpPr>
            <p:nvPr/>
          </p:nvCxnSpPr>
          <p:spPr>
            <a:xfrm flipV="1">
              <a:off x="1675843" y="5582664"/>
              <a:ext cx="274096" cy="1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1C3476D-B0ED-419B-BFA0-ADA9B041823A}"/>
                </a:ext>
              </a:extLst>
            </p:cNvPr>
            <p:cNvSpPr txBox="1"/>
            <p:nvPr/>
          </p:nvSpPr>
          <p:spPr>
            <a:xfrm>
              <a:off x="1975250" y="5825936"/>
              <a:ext cx="1845885" cy="369332"/>
            </a:xfrm>
            <a:prstGeom prst="rect">
              <a:avLst/>
            </a:prstGeom>
            <a:noFill/>
          </p:spPr>
          <p:txBody>
            <a:bodyPr wrap="square" rtlCol="0">
              <a:spAutoFit/>
            </a:bodyPr>
            <a:lstStyle/>
            <a:p>
              <a:pPr algn="ctr"/>
              <a:r>
                <a:rPr lang="en-US" dirty="0"/>
                <a:t>BMP + Mg, CBC</a:t>
              </a:r>
            </a:p>
          </p:txBody>
        </p:sp>
        <p:cxnSp>
          <p:nvCxnSpPr>
            <p:cNvPr id="81" name="Straight Arrow Connector 80">
              <a:extLst>
                <a:ext uri="{FF2B5EF4-FFF2-40B4-BE49-F238E27FC236}">
                  <a16:creationId xmlns:a16="http://schemas.microsoft.com/office/drawing/2014/main" id="{12FC566E-BFAB-47FD-835A-6389746A3307}"/>
                </a:ext>
              </a:extLst>
            </p:cNvPr>
            <p:cNvCxnSpPr>
              <a:cxnSpLocks/>
              <a:stCxn id="61" idx="3"/>
              <a:endCxn id="80" idx="1"/>
            </p:cNvCxnSpPr>
            <p:nvPr/>
          </p:nvCxnSpPr>
          <p:spPr>
            <a:xfrm>
              <a:off x="1426493" y="6010602"/>
              <a:ext cx="5487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83544D85-6F41-43E3-B738-C90812085A43}"/>
                </a:ext>
              </a:extLst>
            </p:cNvPr>
            <p:cNvSpPr txBox="1"/>
            <p:nvPr/>
          </p:nvSpPr>
          <p:spPr>
            <a:xfrm>
              <a:off x="2285634" y="6267801"/>
              <a:ext cx="1643593" cy="369332"/>
            </a:xfrm>
            <a:prstGeom prst="rect">
              <a:avLst/>
            </a:prstGeom>
            <a:noFill/>
          </p:spPr>
          <p:txBody>
            <a:bodyPr wrap="square" rtlCol="0">
              <a:spAutoFit/>
            </a:bodyPr>
            <a:lstStyle/>
            <a:p>
              <a:pPr algn="ctr"/>
              <a:r>
                <a:rPr lang="en-US" dirty="0"/>
                <a:t>TSH + reflex T4</a:t>
              </a:r>
            </a:p>
          </p:txBody>
        </p:sp>
        <p:cxnSp>
          <p:nvCxnSpPr>
            <p:cNvPr id="90" name="Straight Arrow Connector 89">
              <a:extLst>
                <a:ext uri="{FF2B5EF4-FFF2-40B4-BE49-F238E27FC236}">
                  <a16:creationId xmlns:a16="http://schemas.microsoft.com/office/drawing/2014/main" id="{34C315ED-CB4D-4253-9665-3448F30D2084}"/>
                </a:ext>
              </a:extLst>
            </p:cNvPr>
            <p:cNvCxnSpPr>
              <a:cxnSpLocks/>
              <a:stCxn id="62" idx="3"/>
              <a:endCxn id="87" idx="1"/>
            </p:cNvCxnSpPr>
            <p:nvPr/>
          </p:nvCxnSpPr>
          <p:spPr>
            <a:xfrm flipV="1">
              <a:off x="2035110" y="6452467"/>
              <a:ext cx="250524" cy="3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8" name="Rectangle: Rounded Corners 77">
            <a:hlinkClick r:id="rId8" action="ppaction://hlinksldjump"/>
            <a:extLst>
              <a:ext uri="{FF2B5EF4-FFF2-40B4-BE49-F238E27FC236}">
                <a16:creationId xmlns:a16="http://schemas.microsoft.com/office/drawing/2014/main" id="{92863E4E-A73B-4DFB-9187-9308410364EB}"/>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79" name="Graphic 78" descr="Cursor with solid fill">
            <a:extLst>
              <a:ext uri="{FF2B5EF4-FFF2-40B4-BE49-F238E27FC236}">
                <a16:creationId xmlns:a16="http://schemas.microsoft.com/office/drawing/2014/main" id="{915AFDA1-4193-42DC-8E8B-A3B2ACB212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8338" y="272732"/>
            <a:ext cx="278936" cy="278936"/>
          </a:xfrm>
          <a:prstGeom prst="rect">
            <a:avLst/>
          </a:prstGeom>
        </p:spPr>
      </p:pic>
      <p:sp>
        <p:nvSpPr>
          <p:cNvPr id="82" name="Rectangle: Rounded Corners 81">
            <a:hlinkClick r:id="rId9" action="ppaction://hlinksldjump"/>
            <a:extLst>
              <a:ext uri="{FF2B5EF4-FFF2-40B4-BE49-F238E27FC236}">
                <a16:creationId xmlns:a16="http://schemas.microsoft.com/office/drawing/2014/main" id="{5FD95CA8-8109-47FF-93D6-76096C4F8150}"/>
              </a:ext>
            </a:extLst>
          </p:cNvPr>
          <p:cNvSpPr/>
          <p:nvPr/>
        </p:nvSpPr>
        <p:spPr>
          <a:xfrm>
            <a:off x="11080777" y="520765"/>
            <a:ext cx="993105" cy="330385"/>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Work-up</a:t>
            </a:r>
          </a:p>
        </p:txBody>
      </p:sp>
      <p:sp>
        <p:nvSpPr>
          <p:cNvPr id="84" name="Rectangle: Rounded Corners 83">
            <a:hlinkClick r:id="rId10" action="ppaction://hlinksldjump"/>
            <a:extLst>
              <a:ext uri="{FF2B5EF4-FFF2-40B4-BE49-F238E27FC236}">
                <a16:creationId xmlns:a16="http://schemas.microsoft.com/office/drawing/2014/main" id="{EBB915D0-E56F-47F3-84C0-6C9828F5865C}"/>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85" name="Graphic 84" descr="Cursor with solid fill">
            <a:extLst>
              <a:ext uri="{FF2B5EF4-FFF2-40B4-BE49-F238E27FC236}">
                <a16:creationId xmlns:a16="http://schemas.microsoft.com/office/drawing/2014/main" id="{FEA4864F-80EF-4094-96F2-6AEE8AE20A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12507" y="1070433"/>
            <a:ext cx="280861" cy="280861"/>
          </a:xfrm>
          <a:prstGeom prst="rect">
            <a:avLst/>
          </a:prstGeom>
        </p:spPr>
      </p:pic>
      <p:sp>
        <p:nvSpPr>
          <p:cNvPr id="86" name="Rectangle: Rounded Corners 85">
            <a:hlinkClick r:id="rId11" action="ppaction://hlinksldjump"/>
            <a:extLst>
              <a:ext uri="{FF2B5EF4-FFF2-40B4-BE49-F238E27FC236}">
                <a16:creationId xmlns:a16="http://schemas.microsoft.com/office/drawing/2014/main" id="{EDF49A5E-EB2E-4DE1-9E7A-849C81FFC0D7}"/>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88" name="Graphic 87" descr="Cursor with solid fill">
            <a:extLst>
              <a:ext uri="{FF2B5EF4-FFF2-40B4-BE49-F238E27FC236}">
                <a16:creationId xmlns:a16="http://schemas.microsoft.com/office/drawing/2014/main" id="{727EFFF9-569B-4B00-B48E-83CC178201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12507" y="1480541"/>
            <a:ext cx="280861" cy="280861"/>
          </a:xfrm>
          <a:prstGeom prst="rect">
            <a:avLst/>
          </a:prstGeom>
        </p:spPr>
      </p:pic>
    </p:spTree>
    <p:extLst>
      <p:ext uri="{BB962C8B-B14F-4D97-AF65-F5344CB8AC3E}">
        <p14:creationId xmlns:p14="http://schemas.microsoft.com/office/powerpoint/2010/main" val="42895057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2"/>
                  </p:tgtEl>
                </p:cond>
              </p:nextCondLst>
            </p:seq>
            <p:seq concurrent="1" nextAc="seek">
              <p:cTn id="9" restart="whenNotActive" fill="hold" evtFilter="cancelBubble" nodeType="interactiveSeq">
                <p:stCondLst>
                  <p:cond evt="onClick" delay="0">
                    <p:tgtEl>
                      <p:spTgt spid="35"/>
                    </p:tgtEl>
                  </p:cond>
                </p:stCondLst>
                <p:endSync evt="end" delay="0">
                  <p:rtn val="all"/>
                </p:endSync>
                <p:childTnLst>
                  <p:par>
                    <p:cTn id="10" fill="hold">
                      <p:stCondLst>
                        <p:cond delay="0"/>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40"/>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nextCondLst>
                <p:cond evt="onClick" delay="0">
                  <p:tgtEl>
                    <p:spTgt spid="3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462549" y="2277431"/>
            <a:ext cx="637388" cy="532252"/>
          </a:xfrm>
          <a:prstGeom prst="rect">
            <a:avLst/>
          </a:prstGeom>
          <a:noFill/>
        </p:spPr>
        <p:txBody>
          <a:bodyPr wrap="square" rtlCol="0">
            <a:spAutoFit/>
          </a:bodyPr>
          <a:lstStyle/>
          <a:p>
            <a:r>
              <a:rPr lang="en-US" sz="3200" dirty="0"/>
              <a:t>AV</a:t>
            </a:r>
          </a:p>
        </p:txBody>
      </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MANAGEMENT</a:t>
            </a:r>
          </a:p>
        </p:txBody>
      </p:sp>
      <p:sp>
        <p:nvSpPr>
          <p:cNvPr id="2" name="TextBox 1">
            <a:extLst>
              <a:ext uri="{FF2B5EF4-FFF2-40B4-BE49-F238E27FC236}">
                <a16:creationId xmlns:a16="http://schemas.microsoft.com/office/drawing/2014/main" id="{9435A93F-F223-49C5-9085-52E49A696CBC}"/>
              </a:ext>
            </a:extLst>
          </p:cNvPr>
          <p:cNvSpPr txBox="1"/>
          <p:nvPr/>
        </p:nvSpPr>
        <p:spPr>
          <a:xfrm>
            <a:off x="972824" y="467167"/>
            <a:ext cx="1535617" cy="4001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sz="2000" dirty="0"/>
              <a:t>UNSTABLE?</a:t>
            </a:r>
          </a:p>
        </p:txBody>
      </p:sp>
      <p:sp>
        <p:nvSpPr>
          <p:cNvPr id="84" name="1 button">
            <a:extLst>
              <a:ext uri="{FF2B5EF4-FFF2-40B4-BE49-F238E27FC236}">
                <a16:creationId xmlns:a16="http://schemas.microsoft.com/office/drawing/2014/main" id="{5BB119FB-9E32-4195-8494-E2D4AB767FF6}"/>
              </a:ext>
            </a:extLst>
          </p:cNvPr>
          <p:cNvSpPr/>
          <p:nvPr/>
        </p:nvSpPr>
        <p:spPr>
          <a:xfrm>
            <a:off x="295047" y="422325"/>
            <a:ext cx="485150" cy="444952"/>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7" name="Graphic 86" descr="Cursor with solid fill">
            <a:extLst>
              <a:ext uri="{FF2B5EF4-FFF2-40B4-BE49-F238E27FC236}">
                <a16:creationId xmlns:a16="http://schemas.microsoft.com/office/drawing/2014/main" id="{2E444826-D7B1-48B7-AE9E-59E1237202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8343" y="670044"/>
            <a:ext cx="280861" cy="280861"/>
          </a:xfrm>
          <a:prstGeom prst="rect">
            <a:avLst/>
          </a:prstGeom>
        </p:spPr>
      </p:pic>
      <p:grpSp>
        <p:nvGrpSpPr>
          <p:cNvPr id="66" name="Button 1 explanation">
            <a:extLst>
              <a:ext uri="{FF2B5EF4-FFF2-40B4-BE49-F238E27FC236}">
                <a16:creationId xmlns:a16="http://schemas.microsoft.com/office/drawing/2014/main" id="{C900665A-64C9-4E18-B992-EDCD8D1A43DA}"/>
              </a:ext>
            </a:extLst>
          </p:cNvPr>
          <p:cNvGrpSpPr/>
          <p:nvPr/>
        </p:nvGrpSpPr>
        <p:grpSpPr>
          <a:xfrm>
            <a:off x="40363" y="867277"/>
            <a:ext cx="3259880" cy="3238962"/>
            <a:chOff x="40363" y="867277"/>
            <a:chExt cx="3259880" cy="3238962"/>
          </a:xfrm>
        </p:grpSpPr>
        <p:cxnSp>
          <p:nvCxnSpPr>
            <p:cNvPr id="5" name="Connector: Elbow 4">
              <a:extLst>
                <a:ext uri="{FF2B5EF4-FFF2-40B4-BE49-F238E27FC236}">
                  <a16:creationId xmlns:a16="http://schemas.microsoft.com/office/drawing/2014/main" id="{F80B05CD-232C-4DCA-BC7B-F7A6A14E31B7}"/>
                </a:ext>
              </a:extLst>
            </p:cNvPr>
            <p:cNvCxnSpPr>
              <a:cxnSpLocks/>
              <a:stCxn id="57" idx="2"/>
              <a:endCxn id="6" idx="0"/>
            </p:cNvCxnSpPr>
            <p:nvPr/>
          </p:nvCxnSpPr>
          <p:spPr>
            <a:xfrm rot="16200000" flipH="1">
              <a:off x="1935275" y="1605048"/>
              <a:ext cx="724237" cy="1113523"/>
            </a:xfrm>
            <a:prstGeom prst="bentConnector3">
              <a:avLst>
                <a:gd name="adj1" fmla="val 49344"/>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00301794-FC58-4050-A4A0-B51B383D8163}"/>
                </a:ext>
              </a:extLst>
            </p:cNvPr>
            <p:cNvSpPr txBox="1"/>
            <p:nvPr/>
          </p:nvSpPr>
          <p:spPr>
            <a:xfrm>
              <a:off x="2408067" y="2523929"/>
              <a:ext cx="892176"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solidFill>
                    <a:schemeClr val="bg1"/>
                  </a:solidFill>
                </a:rPr>
                <a:t>No</a:t>
              </a:r>
            </a:p>
          </p:txBody>
        </p:sp>
        <p:cxnSp>
          <p:nvCxnSpPr>
            <p:cNvPr id="9" name="Connector: Elbow 8">
              <a:extLst>
                <a:ext uri="{FF2B5EF4-FFF2-40B4-BE49-F238E27FC236}">
                  <a16:creationId xmlns:a16="http://schemas.microsoft.com/office/drawing/2014/main" id="{0513BA2D-CA58-4287-8E35-1E5EB54C45FA}"/>
                </a:ext>
              </a:extLst>
            </p:cNvPr>
            <p:cNvCxnSpPr>
              <a:cxnSpLocks/>
              <a:stCxn id="57" idx="2"/>
              <a:endCxn id="40" idx="0"/>
            </p:cNvCxnSpPr>
            <p:nvPr/>
          </p:nvCxnSpPr>
          <p:spPr>
            <a:xfrm rot="5400000">
              <a:off x="874829" y="1647329"/>
              <a:ext cx="713440" cy="10181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C8C3AE0E-A406-4819-BCDA-090288A94679}"/>
                </a:ext>
              </a:extLst>
            </p:cNvPr>
            <p:cNvSpPr txBox="1"/>
            <p:nvPr/>
          </p:nvSpPr>
          <p:spPr>
            <a:xfrm>
              <a:off x="309547" y="2513132"/>
              <a:ext cx="825837" cy="369332"/>
            </a:xfrm>
            <a:prstGeom prst="rect">
              <a:avLst/>
            </a:prstGeom>
            <a:solidFill>
              <a:srgbClr val="FF0000"/>
            </a:solidFill>
            <a:ln>
              <a:solidFill>
                <a:srgbClr val="C00000"/>
              </a:solidFill>
            </a:ln>
          </p:spPr>
          <p:txBody>
            <a:bodyPr wrap="square" rtlCol="0">
              <a:spAutoFit/>
            </a:bodyPr>
            <a:lstStyle/>
            <a:p>
              <a:pPr algn="ctr"/>
              <a:r>
                <a:rPr lang="en-US" dirty="0">
                  <a:solidFill>
                    <a:schemeClr val="bg1"/>
                  </a:solidFill>
                </a:rPr>
                <a:t>Yes</a:t>
              </a:r>
            </a:p>
          </p:txBody>
        </p:sp>
        <p:sp>
          <p:nvSpPr>
            <p:cNvPr id="57" name="Rectangle 56">
              <a:extLst>
                <a:ext uri="{FF2B5EF4-FFF2-40B4-BE49-F238E27FC236}">
                  <a16:creationId xmlns:a16="http://schemas.microsoft.com/office/drawing/2014/main" id="{5F00DE1C-D645-46F5-B709-80437BF80BC7}"/>
                </a:ext>
              </a:extLst>
            </p:cNvPr>
            <p:cNvSpPr/>
            <p:nvPr/>
          </p:nvSpPr>
          <p:spPr>
            <a:xfrm>
              <a:off x="189149" y="1161725"/>
              <a:ext cx="3102966" cy="6379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15888" indent="-115888">
                <a:buFont typeface="Arial" panose="020B0604020202020204" pitchFamily="34" charset="0"/>
                <a:buChar char="•"/>
              </a:pPr>
              <a:r>
                <a:rPr lang="en-US" sz="1600" dirty="0"/>
                <a:t>Sustained hypotension (SBP &lt; 90)</a:t>
              </a:r>
            </a:p>
            <a:p>
              <a:pPr marL="115888" indent="-115888">
                <a:buFont typeface="Arial" panose="020B0604020202020204" pitchFamily="34" charset="0"/>
                <a:buChar char="•"/>
              </a:pPr>
              <a:r>
                <a:rPr lang="en-US" sz="1600" dirty="0"/>
                <a:t>SBP </a:t>
              </a:r>
              <a:r>
                <a:rPr lang="en-US" sz="1600" dirty="0">
                  <a:latin typeface="Calibri" panose="020F0502020204030204" pitchFamily="34" charset="0"/>
                  <a:cs typeface="Calibri" panose="020F0502020204030204" pitchFamily="34" charset="0"/>
                </a:rPr>
                <a:t>↓ &gt;30 mmHg + CP/AMS/SOB</a:t>
              </a:r>
              <a:endParaRPr lang="en-US" sz="1600" dirty="0"/>
            </a:p>
          </p:txBody>
        </p:sp>
        <p:cxnSp>
          <p:nvCxnSpPr>
            <p:cNvPr id="61" name="Straight Connector 60">
              <a:extLst>
                <a:ext uri="{FF2B5EF4-FFF2-40B4-BE49-F238E27FC236}">
                  <a16:creationId xmlns:a16="http://schemas.microsoft.com/office/drawing/2014/main" id="{9DB01360-5E1B-4061-AE03-1D8168E3B503}"/>
                </a:ext>
              </a:extLst>
            </p:cNvPr>
            <p:cNvCxnSpPr>
              <a:cxnSpLocks/>
              <a:stCxn id="2" idx="2"/>
              <a:endCxn id="57" idx="0"/>
            </p:cNvCxnSpPr>
            <p:nvPr/>
          </p:nvCxnSpPr>
          <p:spPr>
            <a:xfrm flipH="1">
              <a:off x="1740632" y="867277"/>
              <a:ext cx="1" cy="294448"/>
            </a:xfrm>
            <a:prstGeom prst="line">
              <a:avLst/>
            </a:prstGeom>
          </p:spPr>
          <p:style>
            <a:lnRef idx="2">
              <a:schemeClr val="dk1"/>
            </a:lnRef>
            <a:fillRef idx="1">
              <a:schemeClr val="lt1"/>
            </a:fillRef>
            <a:effectRef idx="0">
              <a:schemeClr val="dk1"/>
            </a:effectRef>
            <a:fontRef idx="minor">
              <a:schemeClr val="dk1"/>
            </a:fontRef>
          </p:style>
        </p:cxnSp>
        <p:grpSp>
          <p:nvGrpSpPr>
            <p:cNvPr id="65" name="Unstable explanation">
              <a:extLst>
                <a:ext uri="{FF2B5EF4-FFF2-40B4-BE49-F238E27FC236}">
                  <a16:creationId xmlns:a16="http://schemas.microsoft.com/office/drawing/2014/main" id="{527E6002-93AA-408E-823D-8A434D7F1F40}"/>
                </a:ext>
              </a:extLst>
            </p:cNvPr>
            <p:cNvGrpSpPr/>
            <p:nvPr/>
          </p:nvGrpSpPr>
          <p:grpSpPr>
            <a:xfrm>
              <a:off x="40363" y="2882464"/>
              <a:ext cx="2065190" cy="1223775"/>
              <a:chOff x="40363" y="2882464"/>
              <a:chExt cx="2065190" cy="1223775"/>
            </a:xfrm>
          </p:grpSpPr>
          <p:cxnSp>
            <p:nvCxnSpPr>
              <p:cNvPr id="42" name="Straight Arrow Connector 41">
                <a:extLst>
                  <a:ext uri="{FF2B5EF4-FFF2-40B4-BE49-F238E27FC236}">
                    <a16:creationId xmlns:a16="http://schemas.microsoft.com/office/drawing/2014/main" id="{1B8808EC-5ABE-4991-AB8A-44889B35EA29}"/>
                  </a:ext>
                </a:extLst>
              </p:cNvPr>
              <p:cNvCxnSpPr>
                <a:cxnSpLocks/>
                <a:stCxn id="40" idx="2"/>
              </p:cNvCxnSpPr>
              <p:nvPr/>
            </p:nvCxnSpPr>
            <p:spPr>
              <a:xfrm>
                <a:off x="722466" y="2882464"/>
                <a:ext cx="0" cy="297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8" name="Group 57">
                <a:extLst>
                  <a:ext uri="{FF2B5EF4-FFF2-40B4-BE49-F238E27FC236}">
                    <a16:creationId xmlns:a16="http://schemas.microsoft.com/office/drawing/2014/main" id="{5FF3EFED-37A9-466A-B75D-A61B86D73BBA}"/>
                  </a:ext>
                </a:extLst>
              </p:cNvPr>
              <p:cNvGrpSpPr/>
              <p:nvPr/>
            </p:nvGrpSpPr>
            <p:grpSpPr>
              <a:xfrm>
                <a:off x="40363" y="3173114"/>
                <a:ext cx="2065190" cy="933125"/>
                <a:chOff x="125832" y="3231762"/>
                <a:chExt cx="2065190" cy="933125"/>
              </a:xfrm>
            </p:grpSpPr>
            <p:sp>
              <p:nvSpPr>
                <p:cNvPr id="43" name="Rectangle 42">
                  <a:extLst>
                    <a:ext uri="{FF2B5EF4-FFF2-40B4-BE49-F238E27FC236}">
                      <a16:creationId xmlns:a16="http://schemas.microsoft.com/office/drawing/2014/main" id="{D59FA95A-5C29-476F-855C-93F65BB141DF}"/>
                    </a:ext>
                  </a:extLst>
                </p:cNvPr>
                <p:cNvSpPr/>
                <p:nvPr/>
              </p:nvSpPr>
              <p:spPr>
                <a:xfrm>
                  <a:off x="203937" y="3231762"/>
                  <a:ext cx="1808908" cy="933125"/>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Graphic 53" descr="Lightning bolt">
                  <a:extLst>
                    <a:ext uri="{FF2B5EF4-FFF2-40B4-BE49-F238E27FC236}">
                      <a16:creationId xmlns:a16="http://schemas.microsoft.com/office/drawing/2014/main" id="{19DB0C09-CE46-4BE2-B878-9FA488A6D99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5832" y="3347371"/>
                  <a:ext cx="536655" cy="817516"/>
                </a:xfrm>
                <a:prstGeom prst="rect">
                  <a:avLst/>
                </a:prstGeom>
              </p:spPr>
            </p:pic>
            <p:sp>
              <p:nvSpPr>
                <p:cNvPr id="56" name="TextBox 55">
                  <a:extLst>
                    <a:ext uri="{FF2B5EF4-FFF2-40B4-BE49-F238E27FC236}">
                      <a16:creationId xmlns:a16="http://schemas.microsoft.com/office/drawing/2014/main" id="{CD5E0C2F-379C-45BA-9A25-D11C43BD0BE1}"/>
                    </a:ext>
                  </a:extLst>
                </p:cNvPr>
                <p:cNvSpPr txBox="1"/>
                <p:nvPr/>
              </p:nvSpPr>
              <p:spPr>
                <a:xfrm>
                  <a:off x="563838" y="3270626"/>
                  <a:ext cx="1627184" cy="861774"/>
                </a:xfrm>
                <a:prstGeom prst="rect">
                  <a:avLst/>
                </a:prstGeom>
                <a:noFill/>
              </p:spPr>
              <p:txBody>
                <a:bodyPr wrap="square" rtlCol="0">
                  <a:spAutoFit/>
                </a:bodyPr>
                <a:lstStyle/>
                <a:p>
                  <a:r>
                    <a:rPr lang="en-US" sz="1600" dirty="0"/>
                    <a:t>Sedation</a:t>
                  </a:r>
                </a:p>
                <a:p>
                  <a:r>
                    <a:rPr lang="en-US" sz="1600" dirty="0"/>
                    <a:t>DCCV 120-200J</a:t>
                  </a:r>
                </a:p>
                <a:p>
                  <a:r>
                    <a:rPr lang="en-US" sz="1600" dirty="0"/>
                    <a:t>Anticoagulation</a:t>
                  </a:r>
                </a:p>
              </p:txBody>
            </p:sp>
          </p:grpSp>
        </p:grpSp>
      </p:grpSp>
      <p:sp>
        <p:nvSpPr>
          <p:cNvPr id="76" name="2 button">
            <a:extLst>
              <a:ext uri="{FF2B5EF4-FFF2-40B4-BE49-F238E27FC236}">
                <a16:creationId xmlns:a16="http://schemas.microsoft.com/office/drawing/2014/main" id="{C0F1A19F-B551-459D-BD09-0BA4B9F457AD}"/>
              </a:ext>
            </a:extLst>
          </p:cNvPr>
          <p:cNvSpPr/>
          <p:nvPr/>
        </p:nvSpPr>
        <p:spPr>
          <a:xfrm>
            <a:off x="1622132" y="2448309"/>
            <a:ext cx="485150" cy="444952"/>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77" name="Graphic 76" descr="Cursor with solid fill">
            <a:extLst>
              <a:ext uri="{FF2B5EF4-FFF2-40B4-BE49-F238E27FC236}">
                <a16:creationId xmlns:a16="http://schemas.microsoft.com/office/drawing/2014/main" id="{65018171-07DC-48A6-A3DE-8DB1338DA2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15428" y="2696028"/>
            <a:ext cx="280861" cy="280861"/>
          </a:xfrm>
          <a:prstGeom prst="rect">
            <a:avLst/>
          </a:prstGeom>
        </p:spPr>
      </p:pic>
      <p:grpSp>
        <p:nvGrpSpPr>
          <p:cNvPr id="129" name="Button 2 explanation">
            <a:extLst>
              <a:ext uri="{FF2B5EF4-FFF2-40B4-BE49-F238E27FC236}">
                <a16:creationId xmlns:a16="http://schemas.microsoft.com/office/drawing/2014/main" id="{19A82F96-33FA-4FA7-BDD3-1B7158186633}"/>
              </a:ext>
            </a:extLst>
          </p:cNvPr>
          <p:cNvGrpSpPr/>
          <p:nvPr/>
        </p:nvGrpSpPr>
        <p:grpSpPr>
          <a:xfrm>
            <a:off x="1431969" y="2893261"/>
            <a:ext cx="2777334" cy="2616585"/>
            <a:chOff x="1431969" y="2893261"/>
            <a:chExt cx="2777334" cy="2616585"/>
          </a:xfrm>
        </p:grpSpPr>
        <p:grpSp>
          <p:nvGrpSpPr>
            <p:cNvPr id="120" name="Button 2 explanation">
              <a:extLst>
                <a:ext uri="{FF2B5EF4-FFF2-40B4-BE49-F238E27FC236}">
                  <a16:creationId xmlns:a16="http://schemas.microsoft.com/office/drawing/2014/main" id="{518FCC73-2C6F-49C2-8FE5-7ECE04CEE41C}"/>
                </a:ext>
              </a:extLst>
            </p:cNvPr>
            <p:cNvGrpSpPr/>
            <p:nvPr/>
          </p:nvGrpSpPr>
          <p:grpSpPr>
            <a:xfrm>
              <a:off x="1607985" y="2893261"/>
              <a:ext cx="2519222" cy="1999505"/>
              <a:chOff x="1607985" y="2893261"/>
              <a:chExt cx="2519222" cy="1999505"/>
            </a:xfrm>
          </p:grpSpPr>
          <p:cxnSp>
            <p:nvCxnSpPr>
              <p:cNvPr id="68" name="Straight Connector 67">
                <a:extLst>
                  <a:ext uri="{FF2B5EF4-FFF2-40B4-BE49-F238E27FC236}">
                    <a16:creationId xmlns:a16="http://schemas.microsoft.com/office/drawing/2014/main" id="{2E26B49B-7B03-46C7-A2D6-D6C17EC81CB1}"/>
                  </a:ext>
                </a:extLst>
              </p:cNvPr>
              <p:cNvCxnSpPr>
                <a:cxnSpLocks/>
                <a:stCxn id="6" idx="2"/>
                <a:endCxn id="69" idx="0"/>
              </p:cNvCxnSpPr>
              <p:nvPr/>
            </p:nvCxnSpPr>
            <p:spPr>
              <a:xfrm>
                <a:off x="2854155" y="2893261"/>
                <a:ext cx="0" cy="350345"/>
              </a:xfrm>
              <a:prstGeom prst="line">
                <a:avLst/>
              </a:prstGeom>
            </p:spPr>
            <p:style>
              <a:lnRef idx="2">
                <a:schemeClr val="dk1"/>
              </a:lnRef>
              <a:fillRef idx="1">
                <a:schemeClr val="lt1"/>
              </a:fillRef>
              <a:effectRef idx="0">
                <a:schemeClr val="dk1"/>
              </a:effectRef>
              <a:fontRef idx="minor">
                <a:schemeClr val="dk1"/>
              </a:fontRef>
            </p:style>
          </p:cxnSp>
          <p:grpSp>
            <p:nvGrpSpPr>
              <p:cNvPr id="119" name="Group 118">
                <a:extLst>
                  <a:ext uri="{FF2B5EF4-FFF2-40B4-BE49-F238E27FC236}">
                    <a16:creationId xmlns:a16="http://schemas.microsoft.com/office/drawing/2014/main" id="{D9BE4889-C7EA-4F63-A9FA-59C067F6DDE6}"/>
                  </a:ext>
                </a:extLst>
              </p:cNvPr>
              <p:cNvGrpSpPr/>
              <p:nvPr/>
            </p:nvGrpSpPr>
            <p:grpSpPr>
              <a:xfrm>
                <a:off x="1607985" y="3243606"/>
                <a:ext cx="2519222" cy="1649160"/>
                <a:chOff x="1607985" y="3243606"/>
                <a:chExt cx="2519222" cy="1649160"/>
              </a:xfrm>
            </p:grpSpPr>
            <p:sp>
              <p:nvSpPr>
                <p:cNvPr id="69" name="Rectangle 68">
                  <a:extLst>
                    <a:ext uri="{FF2B5EF4-FFF2-40B4-BE49-F238E27FC236}">
                      <a16:creationId xmlns:a16="http://schemas.microsoft.com/office/drawing/2014/main" id="{3BC164CF-4104-42C1-A276-4D819D02D44F}"/>
                    </a:ext>
                  </a:extLst>
                </p:cNvPr>
                <p:cNvSpPr/>
                <p:nvPr/>
              </p:nvSpPr>
              <p:spPr>
                <a:xfrm>
                  <a:off x="2144457" y="3243606"/>
                  <a:ext cx="1419395" cy="4658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Rate control</a:t>
                  </a:r>
                </a:p>
              </p:txBody>
            </p:sp>
            <p:cxnSp>
              <p:nvCxnSpPr>
                <p:cNvPr id="83" name="Connector: Elbow 82">
                  <a:extLst>
                    <a:ext uri="{FF2B5EF4-FFF2-40B4-BE49-F238E27FC236}">
                      <a16:creationId xmlns:a16="http://schemas.microsoft.com/office/drawing/2014/main" id="{9234F37D-B549-4462-9AA1-657641EE3F55}"/>
                    </a:ext>
                  </a:extLst>
                </p:cNvPr>
                <p:cNvCxnSpPr>
                  <a:cxnSpLocks/>
                  <a:stCxn id="69" idx="2"/>
                  <a:endCxn id="86" idx="0"/>
                </p:cNvCxnSpPr>
                <p:nvPr/>
              </p:nvCxnSpPr>
              <p:spPr>
                <a:xfrm rot="16200000" flipH="1">
                  <a:off x="2809905" y="3753656"/>
                  <a:ext cx="798197" cy="709697"/>
                </a:xfrm>
                <a:prstGeom prst="bentConnector3">
                  <a:avLst>
                    <a:gd name="adj1" fmla="val 50598"/>
                  </a:avLst>
                </a:prstGeom>
                <a:ln>
                  <a:tailEnd type="triangle"/>
                </a:ln>
              </p:spPr>
              <p:style>
                <a:lnRef idx="1">
                  <a:schemeClr val="dk1"/>
                </a:lnRef>
                <a:fillRef idx="0">
                  <a:schemeClr val="dk1"/>
                </a:fillRef>
                <a:effectRef idx="0">
                  <a:schemeClr val="dk1"/>
                </a:effectRef>
                <a:fontRef idx="minor">
                  <a:schemeClr val="tx1"/>
                </a:fontRef>
              </p:style>
            </p:cxnSp>
            <p:sp>
              <p:nvSpPr>
                <p:cNvPr id="86" name="Rectangle 85">
                  <a:extLst>
                    <a:ext uri="{FF2B5EF4-FFF2-40B4-BE49-F238E27FC236}">
                      <a16:creationId xmlns:a16="http://schemas.microsoft.com/office/drawing/2014/main" id="{2B447719-FAD1-4D8E-9F8F-B7600B1CDE19}"/>
                    </a:ext>
                  </a:extLst>
                </p:cNvPr>
                <p:cNvSpPr/>
                <p:nvPr/>
              </p:nvSpPr>
              <p:spPr>
                <a:xfrm>
                  <a:off x="3000497" y="4507604"/>
                  <a:ext cx="1126710" cy="37611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HR &gt; 130</a:t>
                  </a:r>
                </a:p>
              </p:txBody>
            </p:sp>
            <p:sp>
              <p:nvSpPr>
                <p:cNvPr id="93" name="Rectangle 92">
                  <a:extLst>
                    <a:ext uri="{FF2B5EF4-FFF2-40B4-BE49-F238E27FC236}">
                      <a16:creationId xmlns:a16="http://schemas.microsoft.com/office/drawing/2014/main" id="{4B621C33-FC5A-4177-99FE-046B4FFFDE6C}"/>
                    </a:ext>
                  </a:extLst>
                </p:cNvPr>
                <p:cNvSpPr/>
                <p:nvPr/>
              </p:nvSpPr>
              <p:spPr>
                <a:xfrm>
                  <a:off x="1607985" y="4516651"/>
                  <a:ext cx="1126710" cy="37611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HR &lt; 130</a:t>
                  </a:r>
                </a:p>
              </p:txBody>
            </p:sp>
            <p:cxnSp>
              <p:nvCxnSpPr>
                <p:cNvPr id="92" name="Connector: Elbow 91">
                  <a:extLst>
                    <a:ext uri="{FF2B5EF4-FFF2-40B4-BE49-F238E27FC236}">
                      <a16:creationId xmlns:a16="http://schemas.microsoft.com/office/drawing/2014/main" id="{812648F1-378D-4B2E-83E1-5C3E6E5FDF09}"/>
                    </a:ext>
                  </a:extLst>
                </p:cNvPr>
                <p:cNvCxnSpPr>
                  <a:stCxn id="69" idx="2"/>
                  <a:endCxn id="93" idx="0"/>
                </p:cNvCxnSpPr>
                <p:nvPr/>
              </p:nvCxnSpPr>
              <p:spPr>
                <a:xfrm rot="5400000">
                  <a:off x="2109126" y="3771622"/>
                  <a:ext cx="807244" cy="6828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grpSp>
        <p:sp>
          <p:nvSpPr>
            <p:cNvPr id="127" name="TextBox 126">
              <a:extLst>
                <a:ext uri="{FF2B5EF4-FFF2-40B4-BE49-F238E27FC236}">
                  <a16:creationId xmlns:a16="http://schemas.microsoft.com/office/drawing/2014/main" id="{794C540B-A0B7-4764-AB76-284306AA675D}"/>
                </a:ext>
              </a:extLst>
            </p:cNvPr>
            <p:cNvSpPr txBox="1"/>
            <p:nvPr/>
          </p:nvSpPr>
          <p:spPr>
            <a:xfrm>
              <a:off x="1431969" y="4925071"/>
              <a:ext cx="1458158" cy="584775"/>
            </a:xfrm>
            <a:prstGeom prst="rect">
              <a:avLst/>
            </a:prstGeom>
            <a:noFill/>
          </p:spPr>
          <p:txBody>
            <a:bodyPr wrap="square" rtlCol="0">
              <a:spAutoFit/>
            </a:bodyPr>
            <a:lstStyle/>
            <a:p>
              <a:pPr algn="ctr"/>
              <a:r>
                <a:rPr lang="en-US" sz="1600" dirty="0"/>
                <a:t>Oral meds</a:t>
              </a:r>
            </a:p>
            <a:p>
              <a:pPr algn="ctr"/>
              <a:r>
                <a:rPr lang="en-US" sz="1600" dirty="0"/>
                <a:t>HR goal &lt;110</a:t>
              </a:r>
            </a:p>
          </p:txBody>
        </p:sp>
        <p:sp>
          <p:nvSpPr>
            <p:cNvPr id="128" name="TextBox 127">
              <a:extLst>
                <a:ext uri="{FF2B5EF4-FFF2-40B4-BE49-F238E27FC236}">
                  <a16:creationId xmlns:a16="http://schemas.microsoft.com/office/drawing/2014/main" id="{96684234-A91D-42F4-A921-BE2BF29F3D72}"/>
                </a:ext>
              </a:extLst>
            </p:cNvPr>
            <p:cNvSpPr txBox="1"/>
            <p:nvPr/>
          </p:nvSpPr>
          <p:spPr>
            <a:xfrm>
              <a:off x="2977280" y="4897338"/>
              <a:ext cx="1232023" cy="338554"/>
            </a:xfrm>
            <a:prstGeom prst="rect">
              <a:avLst/>
            </a:prstGeom>
            <a:noFill/>
          </p:spPr>
          <p:txBody>
            <a:bodyPr wrap="square" rtlCol="0">
              <a:spAutoFit/>
            </a:bodyPr>
            <a:lstStyle/>
            <a:p>
              <a:pPr algn="ctr"/>
              <a:r>
                <a:rPr lang="en-US" sz="1600" dirty="0"/>
                <a:t>IV meds</a:t>
              </a:r>
            </a:p>
          </p:txBody>
        </p:sp>
      </p:grpSp>
      <p:sp>
        <p:nvSpPr>
          <p:cNvPr id="19" name="background">
            <a:extLst>
              <a:ext uri="{FF2B5EF4-FFF2-40B4-BE49-F238E27FC236}">
                <a16:creationId xmlns:a16="http://schemas.microsoft.com/office/drawing/2014/main" id="{13BBFA9E-2AC0-4BC0-97E6-C52FEBE765DE}"/>
              </a:ext>
            </a:extLst>
          </p:cNvPr>
          <p:cNvSpPr/>
          <p:nvPr/>
        </p:nvSpPr>
        <p:spPr>
          <a:xfrm>
            <a:off x="7019261" y="2022764"/>
            <a:ext cx="5268346" cy="4214162"/>
          </a:xfrm>
          <a:custGeom>
            <a:avLst/>
            <a:gdLst>
              <a:gd name="connsiteX0" fmla="*/ 642303 w 5268346"/>
              <a:gd name="connsiteY0" fmla="*/ 0 h 4214162"/>
              <a:gd name="connsiteX1" fmla="*/ 4937212 w 5268346"/>
              <a:gd name="connsiteY1" fmla="*/ 13854 h 4214162"/>
              <a:gd name="connsiteX2" fmla="*/ 4757103 w 5268346"/>
              <a:gd name="connsiteY2" fmla="*/ 166254 h 4214162"/>
              <a:gd name="connsiteX3" fmla="*/ 5075757 w 5268346"/>
              <a:gd name="connsiteY3" fmla="*/ 1080654 h 4214162"/>
              <a:gd name="connsiteX4" fmla="*/ 4964921 w 5268346"/>
              <a:gd name="connsiteY4" fmla="*/ 4045527 h 4214162"/>
              <a:gd name="connsiteX5" fmla="*/ 1542848 w 5268346"/>
              <a:gd name="connsiteY5" fmla="*/ 3851563 h 4214162"/>
              <a:gd name="connsiteX6" fmla="*/ 157394 w 5268346"/>
              <a:gd name="connsiteY6" fmla="*/ 3893127 h 4214162"/>
              <a:gd name="connsiteX7" fmla="*/ 157394 w 5268346"/>
              <a:gd name="connsiteY7" fmla="*/ 3241963 h 4214162"/>
              <a:gd name="connsiteX8" fmla="*/ 670012 w 5268346"/>
              <a:gd name="connsiteY8" fmla="*/ 2230581 h 4214162"/>
              <a:gd name="connsiteX9" fmla="*/ 462194 w 5268346"/>
              <a:gd name="connsiteY9" fmla="*/ 1246909 h 4214162"/>
              <a:gd name="connsiteX10" fmla="*/ 18848 w 5268346"/>
              <a:gd name="connsiteY10" fmla="*/ 609600 h 4214162"/>
              <a:gd name="connsiteX11" fmla="*/ 143539 w 5268346"/>
              <a:gd name="connsiteY11" fmla="*/ 69272 h 4214162"/>
              <a:gd name="connsiteX12" fmla="*/ 697721 w 5268346"/>
              <a:gd name="connsiteY12" fmla="*/ 13854 h 4214162"/>
              <a:gd name="connsiteX13" fmla="*/ 642303 w 5268346"/>
              <a:gd name="connsiteY13" fmla="*/ 0 h 421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68346" h="4214162">
                <a:moveTo>
                  <a:pt x="642303" y="0"/>
                </a:moveTo>
                <a:lnTo>
                  <a:pt x="4937212" y="13854"/>
                </a:lnTo>
                <a:cubicBezTo>
                  <a:pt x="5623012" y="41563"/>
                  <a:pt x="4734012" y="-11546"/>
                  <a:pt x="4757103" y="166254"/>
                </a:cubicBezTo>
                <a:cubicBezTo>
                  <a:pt x="4780194" y="344054"/>
                  <a:pt x="5041121" y="434109"/>
                  <a:pt x="5075757" y="1080654"/>
                </a:cubicBezTo>
                <a:cubicBezTo>
                  <a:pt x="5110393" y="1727200"/>
                  <a:pt x="5553739" y="3583709"/>
                  <a:pt x="4964921" y="4045527"/>
                </a:cubicBezTo>
                <a:cubicBezTo>
                  <a:pt x="4376103" y="4507345"/>
                  <a:pt x="2344103" y="3876963"/>
                  <a:pt x="1542848" y="3851563"/>
                </a:cubicBezTo>
                <a:cubicBezTo>
                  <a:pt x="741594" y="3826163"/>
                  <a:pt x="388303" y="3994727"/>
                  <a:pt x="157394" y="3893127"/>
                </a:cubicBezTo>
                <a:cubicBezTo>
                  <a:pt x="-73515" y="3791527"/>
                  <a:pt x="71958" y="3519054"/>
                  <a:pt x="157394" y="3241963"/>
                </a:cubicBezTo>
                <a:cubicBezTo>
                  <a:pt x="242830" y="2964872"/>
                  <a:pt x="619212" y="2563090"/>
                  <a:pt x="670012" y="2230581"/>
                </a:cubicBezTo>
                <a:cubicBezTo>
                  <a:pt x="720812" y="1898072"/>
                  <a:pt x="570721" y="1517072"/>
                  <a:pt x="462194" y="1246909"/>
                </a:cubicBezTo>
                <a:cubicBezTo>
                  <a:pt x="353667" y="976746"/>
                  <a:pt x="71957" y="805873"/>
                  <a:pt x="18848" y="609600"/>
                </a:cubicBezTo>
                <a:cubicBezTo>
                  <a:pt x="-34261" y="413327"/>
                  <a:pt x="30394" y="168563"/>
                  <a:pt x="143539" y="69272"/>
                </a:cubicBezTo>
                <a:cubicBezTo>
                  <a:pt x="256684" y="-30019"/>
                  <a:pt x="612285" y="23090"/>
                  <a:pt x="697721" y="13854"/>
                </a:cubicBezTo>
                <a:cubicBezTo>
                  <a:pt x="783157" y="4618"/>
                  <a:pt x="-64279" y="0"/>
                  <a:pt x="642303" y="0"/>
                </a:cubicBezTo>
                <a:close/>
              </a:path>
            </a:pathLst>
          </a:custGeom>
          <a:solidFill>
            <a:schemeClr val="bg1">
              <a:alpha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BB button">
            <a:extLst>
              <a:ext uri="{FF2B5EF4-FFF2-40B4-BE49-F238E27FC236}">
                <a16:creationId xmlns:a16="http://schemas.microsoft.com/office/drawing/2014/main" id="{01FC0B41-E388-4383-8F74-689D0A890499}"/>
              </a:ext>
            </a:extLst>
          </p:cNvPr>
          <p:cNvSpPr/>
          <p:nvPr/>
        </p:nvSpPr>
        <p:spPr>
          <a:xfrm>
            <a:off x="7129722" y="2308514"/>
            <a:ext cx="1331045" cy="434155"/>
          </a:xfrm>
          <a:prstGeom prst="roundRect">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Metoprolol</a:t>
            </a:r>
          </a:p>
        </p:txBody>
      </p:sp>
      <p:pic>
        <p:nvPicPr>
          <p:cNvPr id="132" name="Graphic 131" descr="Cursor with solid fill">
            <a:extLst>
              <a:ext uri="{FF2B5EF4-FFF2-40B4-BE49-F238E27FC236}">
                <a16:creationId xmlns:a16="http://schemas.microsoft.com/office/drawing/2014/main" id="{49E0AC9E-EDBA-4968-BED3-57A46B0DE7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0797" y="2620404"/>
            <a:ext cx="278936" cy="278936"/>
          </a:xfrm>
          <a:prstGeom prst="rect">
            <a:avLst/>
          </a:prstGeom>
        </p:spPr>
      </p:pic>
      <p:sp>
        <p:nvSpPr>
          <p:cNvPr id="133" name="CCB button">
            <a:extLst>
              <a:ext uri="{FF2B5EF4-FFF2-40B4-BE49-F238E27FC236}">
                <a16:creationId xmlns:a16="http://schemas.microsoft.com/office/drawing/2014/main" id="{E75246A0-55A6-4231-B2A8-59A6B2C933E3}"/>
              </a:ext>
            </a:extLst>
          </p:cNvPr>
          <p:cNvSpPr/>
          <p:nvPr/>
        </p:nvSpPr>
        <p:spPr>
          <a:xfrm>
            <a:off x="7144265" y="3370512"/>
            <a:ext cx="1302423" cy="406767"/>
          </a:xfrm>
          <a:prstGeom prst="roundRect">
            <a:avLst/>
          </a:prstGeom>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Diltiazem</a:t>
            </a:r>
          </a:p>
        </p:txBody>
      </p:sp>
      <p:pic>
        <p:nvPicPr>
          <p:cNvPr id="134" name="Graphic 133" descr="Cursor with solid fill">
            <a:extLst>
              <a:ext uri="{FF2B5EF4-FFF2-40B4-BE49-F238E27FC236}">
                <a16:creationId xmlns:a16="http://schemas.microsoft.com/office/drawing/2014/main" id="{EC921CD4-BE05-4591-BEB2-F8381435E0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6718" y="3682402"/>
            <a:ext cx="278936" cy="278936"/>
          </a:xfrm>
          <a:prstGeom prst="rect">
            <a:avLst/>
          </a:prstGeom>
        </p:spPr>
      </p:pic>
      <p:sp>
        <p:nvSpPr>
          <p:cNvPr id="135" name="Digoxin button">
            <a:extLst>
              <a:ext uri="{FF2B5EF4-FFF2-40B4-BE49-F238E27FC236}">
                <a16:creationId xmlns:a16="http://schemas.microsoft.com/office/drawing/2014/main" id="{B9930CDE-4303-4978-87C9-2CBA82E8D1C9}"/>
              </a:ext>
            </a:extLst>
          </p:cNvPr>
          <p:cNvSpPr/>
          <p:nvPr/>
        </p:nvSpPr>
        <p:spPr>
          <a:xfrm>
            <a:off x="7538572" y="4314980"/>
            <a:ext cx="967043" cy="434155"/>
          </a:xfrm>
          <a:prstGeom prst="roundRect">
            <a:avLst/>
          </a:prstGeom>
          <a:solidFill>
            <a:srgbClr val="7030A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Digoxin</a:t>
            </a:r>
          </a:p>
        </p:txBody>
      </p:sp>
      <p:pic>
        <p:nvPicPr>
          <p:cNvPr id="136" name="Graphic 135" descr="Cursor with solid fill">
            <a:extLst>
              <a:ext uri="{FF2B5EF4-FFF2-40B4-BE49-F238E27FC236}">
                <a16:creationId xmlns:a16="http://schemas.microsoft.com/office/drawing/2014/main" id="{3A4D7CFF-7EF4-430D-AFF3-CFAC7E8C66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51761" y="4616309"/>
            <a:ext cx="278936" cy="278936"/>
          </a:xfrm>
          <a:prstGeom prst="rect">
            <a:avLst/>
          </a:prstGeom>
        </p:spPr>
      </p:pic>
      <p:sp>
        <p:nvSpPr>
          <p:cNvPr id="137" name="Amiodarone button">
            <a:extLst>
              <a:ext uri="{FF2B5EF4-FFF2-40B4-BE49-F238E27FC236}">
                <a16:creationId xmlns:a16="http://schemas.microsoft.com/office/drawing/2014/main" id="{7E0CC515-8DE4-4C8E-85C6-4D0755D17608}"/>
              </a:ext>
            </a:extLst>
          </p:cNvPr>
          <p:cNvSpPr/>
          <p:nvPr/>
        </p:nvSpPr>
        <p:spPr>
          <a:xfrm>
            <a:off x="7137060" y="5165939"/>
            <a:ext cx="1391987" cy="434155"/>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Amiodarone</a:t>
            </a:r>
          </a:p>
        </p:txBody>
      </p:sp>
      <p:pic>
        <p:nvPicPr>
          <p:cNvPr id="138" name="Graphic 137" descr="Cursor with solid fill">
            <a:extLst>
              <a:ext uri="{FF2B5EF4-FFF2-40B4-BE49-F238E27FC236}">
                <a16:creationId xmlns:a16="http://schemas.microsoft.com/office/drawing/2014/main" id="{9F2F5719-2329-4811-B183-537E67BED2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02038" y="5460626"/>
            <a:ext cx="254018" cy="278936"/>
          </a:xfrm>
          <a:prstGeom prst="rect">
            <a:avLst/>
          </a:prstGeom>
        </p:spPr>
      </p:pic>
      <p:cxnSp>
        <p:nvCxnSpPr>
          <p:cNvPr id="175" name="Straight Connector 174">
            <a:extLst>
              <a:ext uri="{FF2B5EF4-FFF2-40B4-BE49-F238E27FC236}">
                <a16:creationId xmlns:a16="http://schemas.microsoft.com/office/drawing/2014/main" id="{48C5F00E-3C35-47BC-953F-5C7BF86ABDBE}"/>
              </a:ext>
            </a:extLst>
          </p:cNvPr>
          <p:cNvCxnSpPr>
            <a:cxnSpLocks/>
          </p:cNvCxnSpPr>
          <p:nvPr/>
        </p:nvCxnSpPr>
        <p:spPr>
          <a:xfrm>
            <a:off x="7818975" y="3033319"/>
            <a:ext cx="4216883" cy="5816"/>
          </a:xfrm>
          <a:prstGeom prst="line">
            <a:avLst/>
          </a:prstGeom>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2193AC93-3312-4C35-A10F-CFA63E27F196}"/>
              </a:ext>
            </a:extLst>
          </p:cNvPr>
          <p:cNvCxnSpPr>
            <a:cxnSpLocks/>
          </p:cNvCxnSpPr>
          <p:nvPr/>
        </p:nvCxnSpPr>
        <p:spPr>
          <a:xfrm>
            <a:off x="7792312" y="4024235"/>
            <a:ext cx="4254531" cy="0"/>
          </a:xfrm>
          <a:prstGeom prst="line">
            <a:avLst/>
          </a:prstGeom>
        </p:spPr>
        <p:style>
          <a:lnRef idx="1">
            <a:schemeClr val="dk1"/>
          </a:lnRef>
          <a:fillRef idx="0">
            <a:schemeClr val="dk1"/>
          </a:fillRef>
          <a:effectRef idx="0">
            <a:schemeClr val="dk1"/>
          </a:effectRef>
          <a:fontRef idx="minor">
            <a:schemeClr val="tx1"/>
          </a:fontRef>
        </p:style>
      </p:cxnSp>
      <p:cxnSp>
        <p:nvCxnSpPr>
          <p:cNvPr id="177" name="Straight Connector 176">
            <a:extLst>
              <a:ext uri="{FF2B5EF4-FFF2-40B4-BE49-F238E27FC236}">
                <a16:creationId xmlns:a16="http://schemas.microsoft.com/office/drawing/2014/main" id="{C788C021-4656-43D8-AFBA-08944679BF56}"/>
              </a:ext>
            </a:extLst>
          </p:cNvPr>
          <p:cNvCxnSpPr>
            <a:cxnSpLocks/>
          </p:cNvCxnSpPr>
          <p:nvPr/>
        </p:nvCxnSpPr>
        <p:spPr>
          <a:xfrm>
            <a:off x="7144265" y="5018415"/>
            <a:ext cx="4764073" cy="0"/>
          </a:xfrm>
          <a:prstGeom prst="line">
            <a:avLst/>
          </a:prstGeom>
        </p:spPr>
        <p:style>
          <a:lnRef idx="1">
            <a:schemeClr val="dk1"/>
          </a:lnRef>
          <a:fillRef idx="0">
            <a:schemeClr val="dk1"/>
          </a:fillRef>
          <a:effectRef idx="0">
            <a:schemeClr val="dk1"/>
          </a:effectRef>
          <a:fontRef idx="minor">
            <a:schemeClr val="tx1"/>
          </a:fontRef>
        </p:style>
      </p:cxnSp>
      <p:grpSp>
        <p:nvGrpSpPr>
          <p:cNvPr id="173" name="BB pictorial">
            <a:extLst>
              <a:ext uri="{FF2B5EF4-FFF2-40B4-BE49-F238E27FC236}">
                <a16:creationId xmlns:a16="http://schemas.microsoft.com/office/drawing/2014/main" id="{F830301D-EBF8-49D7-8AF8-0E0F2CDD7767}"/>
              </a:ext>
            </a:extLst>
          </p:cNvPr>
          <p:cNvGrpSpPr/>
          <p:nvPr/>
        </p:nvGrpSpPr>
        <p:grpSpPr>
          <a:xfrm>
            <a:off x="4495113" y="3065696"/>
            <a:ext cx="841750" cy="1419887"/>
            <a:chOff x="4495113" y="3065696"/>
            <a:chExt cx="841750" cy="1419887"/>
          </a:xfrm>
        </p:grpSpPr>
        <p:grpSp>
          <p:nvGrpSpPr>
            <p:cNvPr id="148" name="Group 147">
              <a:extLst>
                <a:ext uri="{FF2B5EF4-FFF2-40B4-BE49-F238E27FC236}">
                  <a16:creationId xmlns:a16="http://schemas.microsoft.com/office/drawing/2014/main" id="{0FFC970F-CEE9-47DD-9BA2-4D92521E51E0}"/>
                </a:ext>
              </a:extLst>
            </p:cNvPr>
            <p:cNvGrpSpPr/>
            <p:nvPr/>
          </p:nvGrpSpPr>
          <p:grpSpPr>
            <a:xfrm>
              <a:off x="4495113" y="3065696"/>
              <a:ext cx="841750" cy="553488"/>
              <a:chOff x="4495113" y="3065696"/>
              <a:chExt cx="841750" cy="553488"/>
            </a:xfrm>
          </p:grpSpPr>
          <p:sp>
            <p:nvSpPr>
              <p:cNvPr id="139" name="TextBox 138">
                <a:extLst>
                  <a:ext uri="{FF2B5EF4-FFF2-40B4-BE49-F238E27FC236}">
                    <a16:creationId xmlns:a16="http://schemas.microsoft.com/office/drawing/2014/main" id="{531D7175-1D16-4221-8B52-112BF0A81816}"/>
                  </a:ext>
                </a:extLst>
              </p:cNvPr>
              <p:cNvSpPr txBox="1"/>
              <p:nvPr/>
            </p:nvSpPr>
            <p:spPr>
              <a:xfrm>
                <a:off x="4495113" y="3249852"/>
                <a:ext cx="468507" cy="369332"/>
              </a:xfrm>
              <a:prstGeom prst="rect">
                <a:avLst/>
              </a:prstGeom>
              <a:noFill/>
            </p:spPr>
            <p:txBody>
              <a:bodyPr wrap="square" rtlCol="0">
                <a:spAutoFit/>
              </a:bodyPr>
              <a:lstStyle/>
              <a:p>
                <a:r>
                  <a:rPr lang="en-US" dirty="0">
                    <a:solidFill>
                      <a:schemeClr val="accent2"/>
                    </a:solidFill>
                  </a:rPr>
                  <a:t>BB</a:t>
                </a:r>
              </a:p>
            </p:txBody>
          </p:sp>
          <p:cxnSp>
            <p:nvCxnSpPr>
              <p:cNvPr id="141" name="Straight Connector 140">
                <a:extLst>
                  <a:ext uri="{FF2B5EF4-FFF2-40B4-BE49-F238E27FC236}">
                    <a16:creationId xmlns:a16="http://schemas.microsoft.com/office/drawing/2014/main" id="{D240C52D-CDCA-4D24-8BCD-017BEC5C118C}"/>
                  </a:ext>
                </a:extLst>
              </p:cNvPr>
              <p:cNvCxnSpPr>
                <a:cxnSpLocks/>
              </p:cNvCxnSpPr>
              <p:nvPr/>
            </p:nvCxnSpPr>
            <p:spPr>
              <a:xfrm flipV="1">
                <a:off x="4936042" y="3173114"/>
                <a:ext cx="341832" cy="188381"/>
              </a:xfrm>
              <a:prstGeom prst="line">
                <a:avLst/>
              </a:prstGeom>
            </p:spPr>
            <p:style>
              <a:lnRef idx="3">
                <a:schemeClr val="accent2"/>
              </a:lnRef>
              <a:fillRef idx="0">
                <a:schemeClr val="accent2"/>
              </a:fillRef>
              <a:effectRef idx="2">
                <a:schemeClr val="accent2"/>
              </a:effectRef>
              <a:fontRef idx="minor">
                <a:schemeClr val="tx1"/>
              </a:fontRef>
            </p:style>
          </p:cxnSp>
          <p:cxnSp>
            <p:nvCxnSpPr>
              <p:cNvPr id="143" name="Straight Connector 142">
                <a:extLst>
                  <a:ext uri="{FF2B5EF4-FFF2-40B4-BE49-F238E27FC236}">
                    <a16:creationId xmlns:a16="http://schemas.microsoft.com/office/drawing/2014/main" id="{9568BDE7-BCA5-4614-8C4C-65561D05F434}"/>
                  </a:ext>
                </a:extLst>
              </p:cNvPr>
              <p:cNvCxnSpPr>
                <a:cxnSpLocks/>
              </p:cNvCxnSpPr>
              <p:nvPr/>
            </p:nvCxnSpPr>
            <p:spPr>
              <a:xfrm>
                <a:off x="5207771" y="3065696"/>
                <a:ext cx="129092" cy="236602"/>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149" name="Straight Connector 148">
              <a:extLst>
                <a:ext uri="{FF2B5EF4-FFF2-40B4-BE49-F238E27FC236}">
                  <a16:creationId xmlns:a16="http://schemas.microsoft.com/office/drawing/2014/main" id="{720F4FDB-77B3-470C-8814-9AF3E797DF59}"/>
                </a:ext>
              </a:extLst>
            </p:cNvPr>
            <p:cNvCxnSpPr>
              <a:cxnSpLocks/>
              <a:stCxn id="139" idx="2"/>
            </p:cNvCxnSpPr>
            <p:nvPr/>
          </p:nvCxnSpPr>
          <p:spPr>
            <a:xfrm>
              <a:off x="4729367" y="3619184"/>
              <a:ext cx="234253" cy="866399"/>
            </a:xfrm>
            <a:prstGeom prst="line">
              <a:avLst/>
            </a:prstGeom>
          </p:spPr>
          <p:style>
            <a:lnRef idx="3">
              <a:schemeClr val="accent2"/>
            </a:lnRef>
            <a:fillRef idx="0">
              <a:schemeClr val="accent2"/>
            </a:fillRef>
            <a:effectRef idx="2">
              <a:schemeClr val="accent2"/>
            </a:effectRef>
            <a:fontRef idx="minor">
              <a:schemeClr val="tx1"/>
            </a:fontRef>
          </p:style>
        </p:cxnSp>
        <p:cxnSp>
          <p:nvCxnSpPr>
            <p:cNvPr id="150" name="Straight Connector 149">
              <a:extLst>
                <a:ext uri="{FF2B5EF4-FFF2-40B4-BE49-F238E27FC236}">
                  <a16:creationId xmlns:a16="http://schemas.microsoft.com/office/drawing/2014/main" id="{0B3DA527-5EBC-4831-A9AF-FD7DC082D0CD}"/>
                </a:ext>
              </a:extLst>
            </p:cNvPr>
            <p:cNvCxnSpPr>
              <a:cxnSpLocks/>
            </p:cNvCxnSpPr>
            <p:nvPr/>
          </p:nvCxnSpPr>
          <p:spPr>
            <a:xfrm>
              <a:off x="4799909" y="4474979"/>
              <a:ext cx="280403" cy="0"/>
            </a:xfrm>
            <a:prstGeom prst="line">
              <a:avLst/>
            </a:prstGeom>
          </p:spPr>
          <p:style>
            <a:lnRef idx="3">
              <a:schemeClr val="accent2"/>
            </a:lnRef>
            <a:fillRef idx="0">
              <a:schemeClr val="accent2"/>
            </a:fillRef>
            <a:effectRef idx="2">
              <a:schemeClr val="accent2"/>
            </a:effectRef>
            <a:fontRef idx="minor">
              <a:schemeClr val="tx1"/>
            </a:fontRef>
          </p:style>
        </p:cxnSp>
      </p:grpSp>
      <p:sp>
        <p:nvSpPr>
          <p:cNvPr id="180" name="TextBox 179">
            <a:extLst>
              <a:ext uri="{FF2B5EF4-FFF2-40B4-BE49-F238E27FC236}">
                <a16:creationId xmlns:a16="http://schemas.microsoft.com/office/drawing/2014/main" id="{C951E72D-97C7-478A-8288-D7F8CE283C87}"/>
              </a:ext>
            </a:extLst>
          </p:cNvPr>
          <p:cNvSpPr txBox="1"/>
          <p:nvPr/>
        </p:nvSpPr>
        <p:spPr>
          <a:xfrm>
            <a:off x="4850098" y="4419591"/>
            <a:ext cx="1039707" cy="338554"/>
          </a:xfrm>
          <a:prstGeom prst="rect">
            <a:avLst/>
          </a:prstGeom>
          <a:noFill/>
        </p:spPr>
        <p:txBody>
          <a:bodyPr wrap="square" rtlCol="0">
            <a:spAutoFit/>
          </a:bodyPr>
          <a:lstStyle/>
          <a:p>
            <a:pPr algn="ctr"/>
            <a:r>
              <a:rPr lang="en-US" sz="1600" dirty="0"/>
              <a:t>Inotropy</a:t>
            </a:r>
          </a:p>
        </p:txBody>
      </p:sp>
      <p:grpSp>
        <p:nvGrpSpPr>
          <p:cNvPr id="185" name="CCB pictorial">
            <a:extLst>
              <a:ext uri="{FF2B5EF4-FFF2-40B4-BE49-F238E27FC236}">
                <a16:creationId xmlns:a16="http://schemas.microsoft.com/office/drawing/2014/main" id="{B1C59814-74F3-4EC1-B9A9-EDEDCF10733D}"/>
              </a:ext>
            </a:extLst>
          </p:cNvPr>
          <p:cNvGrpSpPr/>
          <p:nvPr/>
        </p:nvGrpSpPr>
        <p:grpSpPr>
          <a:xfrm>
            <a:off x="4852446" y="3280778"/>
            <a:ext cx="719910" cy="1157205"/>
            <a:chOff x="4508868" y="3141032"/>
            <a:chExt cx="719910" cy="1157205"/>
          </a:xfrm>
        </p:grpSpPr>
        <p:grpSp>
          <p:nvGrpSpPr>
            <p:cNvPr id="187" name="Group 186">
              <a:extLst>
                <a:ext uri="{FF2B5EF4-FFF2-40B4-BE49-F238E27FC236}">
                  <a16:creationId xmlns:a16="http://schemas.microsoft.com/office/drawing/2014/main" id="{B73949F5-DA6C-4EA6-BFFB-8DA6F55F2403}"/>
                </a:ext>
              </a:extLst>
            </p:cNvPr>
            <p:cNvGrpSpPr/>
            <p:nvPr/>
          </p:nvGrpSpPr>
          <p:grpSpPr>
            <a:xfrm>
              <a:off x="4508868" y="3141032"/>
              <a:ext cx="719910" cy="567147"/>
              <a:chOff x="4508868" y="3141032"/>
              <a:chExt cx="719910" cy="567147"/>
            </a:xfrm>
          </p:grpSpPr>
          <p:sp>
            <p:nvSpPr>
              <p:cNvPr id="190" name="TextBox 189">
                <a:extLst>
                  <a:ext uri="{FF2B5EF4-FFF2-40B4-BE49-F238E27FC236}">
                    <a16:creationId xmlns:a16="http://schemas.microsoft.com/office/drawing/2014/main" id="{B08F0D44-77D1-4D80-93F9-EC9280A60BC5}"/>
                  </a:ext>
                </a:extLst>
              </p:cNvPr>
              <p:cNvSpPr txBox="1"/>
              <p:nvPr/>
            </p:nvSpPr>
            <p:spPr>
              <a:xfrm>
                <a:off x="4508868" y="3338847"/>
                <a:ext cx="566049" cy="369332"/>
              </a:xfrm>
              <a:prstGeom prst="rect">
                <a:avLst/>
              </a:prstGeom>
              <a:noFill/>
            </p:spPr>
            <p:txBody>
              <a:bodyPr wrap="square" rtlCol="0">
                <a:spAutoFit/>
              </a:bodyPr>
              <a:lstStyle/>
              <a:p>
                <a:r>
                  <a:rPr lang="en-US" dirty="0">
                    <a:solidFill>
                      <a:schemeClr val="accent4"/>
                    </a:solidFill>
                  </a:rPr>
                  <a:t>CCB</a:t>
                </a:r>
              </a:p>
            </p:txBody>
          </p:sp>
          <p:cxnSp>
            <p:nvCxnSpPr>
              <p:cNvPr id="191" name="Straight Connector 190">
                <a:extLst>
                  <a:ext uri="{FF2B5EF4-FFF2-40B4-BE49-F238E27FC236}">
                    <a16:creationId xmlns:a16="http://schemas.microsoft.com/office/drawing/2014/main" id="{622D0D4C-816A-4A6C-91AC-18BB6592EA1A}"/>
                  </a:ext>
                </a:extLst>
              </p:cNvPr>
              <p:cNvCxnSpPr>
                <a:cxnSpLocks/>
              </p:cNvCxnSpPr>
              <p:nvPr/>
            </p:nvCxnSpPr>
            <p:spPr>
              <a:xfrm flipV="1">
                <a:off x="4936042" y="3208942"/>
                <a:ext cx="182929" cy="152554"/>
              </a:xfrm>
              <a:prstGeom prst="line">
                <a:avLst/>
              </a:prstGeom>
            </p:spPr>
            <p:style>
              <a:lnRef idx="3">
                <a:schemeClr val="accent4"/>
              </a:lnRef>
              <a:fillRef idx="0">
                <a:schemeClr val="accent4"/>
              </a:fillRef>
              <a:effectRef idx="2">
                <a:schemeClr val="accent4"/>
              </a:effectRef>
              <a:fontRef idx="minor">
                <a:schemeClr val="tx1"/>
              </a:fontRef>
            </p:style>
          </p:cxnSp>
          <p:cxnSp>
            <p:nvCxnSpPr>
              <p:cNvPr id="192" name="Straight Connector 191">
                <a:extLst>
                  <a:ext uri="{FF2B5EF4-FFF2-40B4-BE49-F238E27FC236}">
                    <a16:creationId xmlns:a16="http://schemas.microsoft.com/office/drawing/2014/main" id="{A775A11D-774C-4007-A7F7-B3214472A02B}"/>
                  </a:ext>
                </a:extLst>
              </p:cNvPr>
              <p:cNvCxnSpPr>
                <a:cxnSpLocks/>
              </p:cNvCxnSpPr>
              <p:nvPr/>
            </p:nvCxnSpPr>
            <p:spPr>
              <a:xfrm>
                <a:off x="5070766" y="3141032"/>
                <a:ext cx="158012" cy="176528"/>
              </a:xfrm>
              <a:prstGeom prst="line">
                <a:avLst/>
              </a:prstGeom>
            </p:spPr>
            <p:style>
              <a:lnRef idx="3">
                <a:schemeClr val="accent4"/>
              </a:lnRef>
              <a:fillRef idx="0">
                <a:schemeClr val="accent4"/>
              </a:fillRef>
              <a:effectRef idx="2">
                <a:schemeClr val="accent4"/>
              </a:effectRef>
              <a:fontRef idx="minor">
                <a:schemeClr val="tx1"/>
              </a:fontRef>
            </p:style>
          </p:cxnSp>
        </p:grpSp>
        <p:cxnSp>
          <p:nvCxnSpPr>
            <p:cNvPr id="188" name="Straight Connector 187">
              <a:extLst>
                <a:ext uri="{FF2B5EF4-FFF2-40B4-BE49-F238E27FC236}">
                  <a16:creationId xmlns:a16="http://schemas.microsoft.com/office/drawing/2014/main" id="{FA0EDC80-A876-4121-98FD-71DEB61A9456}"/>
                </a:ext>
              </a:extLst>
            </p:cNvPr>
            <p:cNvCxnSpPr>
              <a:cxnSpLocks/>
              <a:stCxn id="190" idx="2"/>
              <a:endCxn id="180" idx="0"/>
            </p:cNvCxnSpPr>
            <p:nvPr/>
          </p:nvCxnSpPr>
          <p:spPr>
            <a:xfrm>
              <a:off x="4791893" y="3708179"/>
              <a:ext cx="234481" cy="571666"/>
            </a:xfrm>
            <a:prstGeom prst="line">
              <a:avLst/>
            </a:prstGeom>
          </p:spPr>
          <p:style>
            <a:lnRef idx="3">
              <a:schemeClr val="accent4"/>
            </a:lnRef>
            <a:fillRef idx="0">
              <a:schemeClr val="accent4"/>
            </a:fillRef>
            <a:effectRef idx="2">
              <a:schemeClr val="accent4"/>
            </a:effectRef>
            <a:fontRef idx="minor">
              <a:schemeClr val="tx1"/>
            </a:fontRef>
          </p:style>
        </p:cxnSp>
        <p:cxnSp>
          <p:nvCxnSpPr>
            <p:cNvPr id="189" name="Straight Connector 188">
              <a:extLst>
                <a:ext uri="{FF2B5EF4-FFF2-40B4-BE49-F238E27FC236}">
                  <a16:creationId xmlns:a16="http://schemas.microsoft.com/office/drawing/2014/main" id="{C8F21331-61D5-4EF8-8723-5E312CA31E96}"/>
                </a:ext>
              </a:extLst>
            </p:cNvPr>
            <p:cNvCxnSpPr>
              <a:cxnSpLocks/>
            </p:cNvCxnSpPr>
            <p:nvPr/>
          </p:nvCxnSpPr>
          <p:spPr>
            <a:xfrm flipV="1">
              <a:off x="4888519" y="4298236"/>
              <a:ext cx="272558" cy="1"/>
            </a:xfrm>
            <a:prstGeom prst="line">
              <a:avLst/>
            </a:prstGeom>
          </p:spPr>
          <p:style>
            <a:lnRef idx="3">
              <a:schemeClr val="accent4"/>
            </a:lnRef>
            <a:fillRef idx="0">
              <a:schemeClr val="accent4"/>
            </a:fillRef>
            <a:effectRef idx="2">
              <a:schemeClr val="accent4"/>
            </a:effectRef>
            <a:fontRef idx="minor">
              <a:schemeClr val="tx1"/>
            </a:fontRef>
          </p:style>
        </p:cxnSp>
      </p:grpSp>
      <p:grpSp>
        <p:nvGrpSpPr>
          <p:cNvPr id="218" name="Digoxin pictoria">
            <a:extLst>
              <a:ext uri="{FF2B5EF4-FFF2-40B4-BE49-F238E27FC236}">
                <a16:creationId xmlns:a16="http://schemas.microsoft.com/office/drawing/2014/main" id="{3E7D16E8-6536-4053-A34F-A00AEC2B9D00}"/>
              </a:ext>
            </a:extLst>
          </p:cNvPr>
          <p:cNvGrpSpPr/>
          <p:nvPr/>
        </p:nvGrpSpPr>
        <p:grpSpPr>
          <a:xfrm>
            <a:off x="5713947" y="3191307"/>
            <a:ext cx="1430318" cy="1433592"/>
            <a:chOff x="5713947" y="3191307"/>
            <a:chExt cx="1430318" cy="1433592"/>
          </a:xfrm>
        </p:grpSpPr>
        <p:sp>
          <p:nvSpPr>
            <p:cNvPr id="207" name="TextBox 206">
              <a:extLst>
                <a:ext uri="{FF2B5EF4-FFF2-40B4-BE49-F238E27FC236}">
                  <a16:creationId xmlns:a16="http://schemas.microsoft.com/office/drawing/2014/main" id="{0A06405C-A4DD-4ED8-82F7-15E8CFD4188F}"/>
                </a:ext>
              </a:extLst>
            </p:cNvPr>
            <p:cNvSpPr txBox="1"/>
            <p:nvPr/>
          </p:nvSpPr>
          <p:spPr>
            <a:xfrm>
              <a:off x="6222175" y="3226449"/>
              <a:ext cx="922090" cy="369332"/>
            </a:xfrm>
            <a:prstGeom prst="rect">
              <a:avLst/>
            </a:prstGeom>
            <a:noFill/>
          </p:spPr>
          <p:txBody>
            <a:bodyPr wrap="square" rtlCol="0">
              <a:spAutoFit/>
            </a:bodyPr>
            <a:lstStyle/>
            <a:p>
              <a:r>
                <a:rPr lang="en-US" dirty="0">
                  <a:solidFill>
                    <a:srgbClr val="7030A0"/>
                  </a:solidFill>
                </a:rPr>
                <a:t>Digoxin</a:t>
              </a:r>
            </a:p>
          </p:txBody>
        </p:sp>
        <p:cxnSp>
          <p:nvCxnSpPr>
            <p:cNvPr id="210" name="Straight Connector 209">
              <a:extLst>
                <a:ext uri="{FF2B5EF4-FFF2-40B4-BE49-F238E27FC236}">
                  <a16:creationId xmlns:a16="http://schemas.microsoft.com/office/drawing/2014/main" id="{26AF40A4-CA04-4D31-81E7-616AE8AD3833}"/>
                </a:ext>
              </a:extLst>
            </p:cNvPr>
            <p:cNvCxnSpPr>
              <a:cxnSpLocks/>
              <a:stCxn id="207" idx="1"/>
            </p:cNvCxnSpPr>
            <p:nvPr/>
          </p:nvCxnSpPr>
          <p:spPr>
            <a:xfrm flipH="1" flipV="1">
              <a:off x="5784507" y="3288723"/>
              <a:ext cx="437668" cy="122392"/>
            </a:xfrm>
            <a:prstGeom prst="line">
              <a:avLst/>
            </a:prstGeom>
            <a:ln>
              <a:solidFill>
                <a:srgbClr val="7030A0"/>
              </a:solidFill>
            </a:ln>
          </p:spPr>
          <p:style>
            <a:lnRef idx="3">
              <a:schemeClr val="accent1"/>
            </a:lnRef>
            <a:fillRef idx="0">
              <a:schemeClr val="accent1"/>
            </a:fillRef>
            <a:effectRef idx="2">
              <a:schemeClr val="accent1"/>
            </a:effectRef>
            <a:fontRef idx="minor">
              <a:schemeClr val="tx1"/>
            </a:fontRef>
          </p:style>
        </p:cxnSp>
        <p:cxnSp>
          <p:nvCxnSpPr>
            <p:cNvPr id="212" name="Straight Connector 211">
              <a:extLst>
                <a:ext uri="{FF2B5EF4-FFF2-40B4-BE49-F238E27FC236}">
                  <a16:creationId xmlns:a16="http://schemas.microsoft.com/office/drawing/2014/main" id="{BD8F24FC-017E-4D63-95DD-CC74AAD4EEB5}"/>
                </a:ext>
              </a:extLst>
            </p:cNvPr>
            <p:cNvCxnSpPr>
              <a:cxnSpLocks/>
            </p:cNvCxnSpPr>
            <p:nvPr/>
          </p:nvCxnSpPr>
          <p:spPr>
            <a:xfrm flipV="1">
              <a:off x="5713947" y="3191307"/>
              <a:ext cx="142901" cy="194831"/>
            </a:xfrm>
            <a:prstGeom prst="line">
              <a:avLst/>
            </a:prstGeom>
            <a:ln>
              <a:solidFill>
                <a:srgbClr val="7030A0"/>
              </a:solidFill>
            </a:ln>
          </p:spPr>
          <p:style>
            <a:lnRef idx="3">
              <a:schemeClr val="accent1"/>
            </a:lnRef>
            <a:fillRef idx="0">
              <a:schemeClr val="accent1"/>
            </a:fillRef>
            <a:effectRef idx="2">
              <a:schemeClr val="accent1"/>
            </a:effectRef>
            <a:fontRef idx="minor">
              <a:schemeClr val="tx1"/>
            </a:fontRef>
          </p:style>
        </p:cxnSp>
        <p:cxnSp>
          <p:nvCxnSpPr>
            <p:cNvPr id="213" name="Straight Connector 212">
              <a:extLst>
                <a:ext uri="{FF2B5EF4-FFF2-40B4-BE49-F238E27FC236}">
                  <a16:creationId xmlns:a16="http://schemas.microsoft.com/office/drawing/2014/main" id="{DC548BDC-A80C-4298-967D-A94C6977AFCA}"/>
                </a:ext>
              </a:extLst>
            </p:cNvPr>
            <p:cNvCxnSpPr>
              <a:cxnSpLocks/>
              <a:stCxn id="207" idx="2"/>
              <a:endCxn id="180" idx="3"/>
            </p:cNvCxnSpPr>
            <p:nvPr/>
          </p:nvCxnSpPr>
          <p:spPr>
            <a:xfrm flipH="1">
              <a:off x="5889805" y="3595781"/>
              <a:ext cx="793415" cy="993087"/>
            </a:xfrm>
            <a:prstGeom prst="line">
              <a:avLst/>
            </a:prstGeom>
            <a:ln>
              <a:solidFill>
                <a:srgbClr val="7030A0"/>
              </a:solidFill>
              <a:tailEnd type="triangle"/>
            </a:ln>
          </p:spPr>
          <p:style>
            <a:lnRef idx="3">
              <a:schemeClr val="accent1"/>
            </a:lnRef>
            <a:fillRef idx="0">
              <a:schemeClr val="accent1"/>
            </a:fillRef>
            <a:effectRef idx="2">
              <a:schemeClr val="accent1"/>
            </a:effectRef>
            <a:fontRef idx="minor">
              <a:schemeClr val="tx1"/>
            </a:fontRef>
          </p:style>
        </p:cxnSp>
        <p:sp>
          <p:nvSpPr>
            <p:cNvPr id="217" name="TextBox 216">
              <a:extLst>
                <a:ext uri="{FF2B5EF4-FFF2-40B4-BE49-F238E27FC236}">
                  <a16:creationId xmlns:a16="http://schemas.microsoft.com/office/drawing/2014/main" id="{B8890A64-C333-42A6-891B-559D6F74083F}"/>
                </a:ext>
              </a:extLst>
            </p:cNvPr>
            <p:cNvSpPr txBox="1"/>
            <p:nvPr/>
          </p:nvSpPr>
          <p:spPr>
            <a:xfrm>
              <a:off x="5992333" y="4255567"/>
              <a:ext cx="315933" cy="369332"/>
            </a:xfrm>
            <a:prstGeom prst="rect">
              <a:avLst/>
            </a:prstGeom>
            <a:noFill/>
          </p:spPr>
          <p:txBody>
            <a:bodyPr wrap="square" rtlCol="0">
              <a:spAutoFit/>
            </a:bodyPr>
            <a:lstStyle/>
            <a:p>
              <a:r>
                <a:rPr lang="en-US" dirty="0">
                  <a:solidFill>
                    <a:srgbClr val="7030A0"/>
                  </a:solidFill>
                </a:rPr>
                <a:t>+</a:t>
              </a:r>
            </a:p>
          </p:txBody>
        </p:sp>
      </p:grpSp>
      <p:grpSp>
        <p:nvGrpSpPr>
          <p:cNvPr id="231" name="Amio pictorial">
            <a:extLst>
              <a:ext uri="{FF2B5EF4-FFF2-40B4-BE49-F238E27FC236}">
                <a16:creationId xmlns:a16="http://schemas.microsoft.com/office/drawing/2014/main" id="{F5A0D8FD-DF8E-490C-9FB3-B40A5DE0315C}"/>
              </a:ext>
            </a:extLst>
          </p:cNvPr>
          <p:cNvGrpSpPr/>
          <p:nvPr/>
        </p:nvGrpSpPr>
        <p:grpSpPr>
          <a:xfrm>
            <a:off x="5866658" y="2892977"/>
            <a:ext cx="1584673" cy="388431"/>
            <a:chOff x="5866658" y="2892977"/>
            <a:chExt cx="1584673" cy="388431"/>
          </a:xfrm>
        </p:grpSpPr>
        <p:sp>
          <p:nvSpPr>
            <p:cNvPr id="221" name="TextBox 220">
              <a:extLst>
                <a:ext uri="{FF2B5EF4-FFF2-40B4-BE49-F238E27FC236}">
                  <a16:creationId xmlns:a16="http://schemas.microsoft.com/office/drawing/2014/main" id="{05892EE1-A7FB-4512-9C5D-55E788A6F994}"/>
                </a:ext>
              </a:extLst>
            </p:cNvPr>
            <p:cNvSpPr txBox="1"/>
            <p:nvPr/>
          </p:nvSpPr>
          <p:spPr>
            <a:xfrm>
              <a:off x="6692913" y="2912076"/>
              <a:ext cx="758418" cy="369332"/>
            </a:xfrm>
            <a:prstGeom prst="rect">
              <a:avLst/>
            </a:prstGeom>
            <a:noFill/>
          </p:spPr>
          <p:txBody>
            <a:bodyPr wrap="square" rtlCol="0">
              <a:spAutoFit/>
            </a:bodyPr>
            <a:lstStyle/>
            <a:p>
              <a:r>
                <a:rPr lang="en-US" dirty="0" err="1">
                  <a:solidFill>
                    <a:schemeClr val="accent1"/>
                  </a:solidFill>
                </a:rPr>
                <a:t>Amio</a:t>
              </a:r>
              <a:r>
                <a:rPr lang="en-US" dirty="0">
                  <a:solidFill>
                    <a:schemeClr val="accent1"/>
                  </a:solidFill>
                </a:rPr>
                <a:t> </a:t>
              </a:r>
            </a:p>
          </p:txBody>
        </p:sp>
        <p:cxnSp>
          <p:nvCxnSpPr>
            <p:cNvPr id="223" name="Straight Connector 222">
              <a:extLst>
                <a:ext uri="{FF2B5EF4-FFF2-40B4-BE49-F238E27FC236}">
                  <a16:creationId xmlns:a16="http://schemas.microsoft.com/office/drawing/2014/main" id="{5AA0095D-92B0-4C83-8E23-445063C83AFF}"/>
                </a:ext>
              </a:extLst>
            </p:cNvPr>
            <p:cNvCxnSpPr>
              <a:cxnSpLocks/>
              <a:stCxn id="221" idx="1"/>
            </p:cNvCxnSpPr>
            <p:nvPr/>
          </p:nvCxnSpPr>
          <p:spPr>
            <a:xfrm flipH="1" flipV="1">
              <a:off x="5878667" y="3009810"/>
              <a:ext cx="814246" cy="86932"/>
            </a:xfrm>
            <a:prstGeom prst="line">
              <a:avLst/>
            </a:prstGeom>
          </p:spPr>
          <p:style>
            <a:lnRef idx="3">
              <a:schemeClr val="accent1"/>
            </a:lnRef>
            <a:fillRef idx="0">
              <a:schemeClr val="accent1"/>
            </a:fillRef>
            <a:effectRef idx="2">
              <a:schemeClr val="accent1"/>
            </a:effectRef>
            <a:fontRef idx="minor">
              <a:schemeClr val="tx1"/>
            </a:fontRef>
          </p:style>
        </p:cxnSp>
        <p:cxnSp>
          <p:nvCxnSpPr>
            <p:cNvPr id="225" name="Straight Connector 224">
              <a:extLst>
                <a:ext uri="{FF2B5EF4-FFF2-40B4-BE49-F238E27FC236}">
                  <a16:creationId xmlns:a16="http://schemas.microsoft.com/office/drawing/2014/main" id="{1B3E6ED7-C8B0-4B9A-8360-F182EE9BC79D}"/>
                </a:ext>
              </a:extLst>
            </p:cNvPr>
            <p:cNvCxnSpPr>
              <a:cxnSpLocks/>
            </p:cNvCxnSpPr>
            <p:nvPr/>
          </p:nvCxnSpPr>
          <p:spPr>
            <a:xfrm>
              <a:off x="5866658" y="2892977"/>
              <a:ext cx="0" cy="233090"/>
            </a:xfrm>
            <a:prstGeom prst="line">
              <a:avLst/>
            </a:prstGeom>
          </p:spPr>
          <p:style>
            <a:lnRef idx="3">
              <a:schemeClr val="accent1"/>
            </a:lnRef>
            <a:fillRef idx="0">
              <a:schemeClr val="accent1"/>
            </a:fillRef>
            <a:effectRef idx="2">
              <a:schemeClr val="accent1"/>
            </a:effectRef>
            <a:fontRef idx="minor">
              <a:schemeClr val="tx1"/>
            </a:fontRef>
          </p:style>
        </p:cxnSp>
      </p:grpSp>
      <p:sp>
        <p:nvSpPr>
          <p:cNvPr id="117" name="Rectangle: Rounded Corners 116">
            <a:hlinkClick r:id="rId10" action="ppaction://hlinksldjump"/>
            <a:extLst>
              <a:ext uri="{FF2B5EF4-FFF2-40B4-BE49-F238E27FC236}">
                <a16:creationId xmlns:a16="http://schemas.microsoft.com/office/drawing/2014/main" id="{5FCFC3CE-285C-4BDB-BB74-7E1ED46B600D}"/>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118" name="Graphic 117" descr="Cursor with solid fill">
            <a:extLst>
              <a:ext uri="{FF2B5EF4-FFF2-40B4-BE49-F238E27FC236}">
                <a16:creationId xmlns:a16="http://schemas.microsoft.com/office/drawing/2014/main" id="{67BDC600-29D9-4896-974E-8FD0A8EB61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8338" y="272732"/>
            <a:ext cx="278936" cy="278936"/>
          </a:xfrm>
          <a:prstGeom prst="rect">
            <a:avLst/>
          </a:prstGeom>
        </p:spPr>
      </p:pic>
      <p:sp>
        <p:nvSpPr>
          <p:cNvPr id="121" name="Rectangle: Rounded Corners 120">
            <a:hlinkClick r:id="rId11" action="ppaction://hlinksldjump"/>
            <a:extLst>
              <a:ext uri="{FF2B5EF4-FFF2-40B4-BE49-F238E27FC236}">
                <a16:creationId xmlns:a16="http://schemas.microsoft.com/office/drawing/2014/main" id="{2087A68D-90FC-45F9-AA9F-51A83D1C72F6}"/>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122" name="Graphic 121" descr="Cursor with solid fill">
            <a:extLst>
              <a:ext uri="{FF2B5EF4-FFF2-40B4-BE49-F238E27FC236}">
                <a16:creationId xmlns:a16="http://schemas.microsoft.com/office/drawing/2014/main" id="{143CCA55-DC79-4553-B59C-856D5DDED3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94548" y="666455"/>
            <a:ext cx="278936" cy="278936"/>
          </a:xfrm>
          <a:prstGeom prst="rect">
            <a:avLst/>
          </a:prstGeom>
        </p:spPr>
      </p:pic>
      <p:sp>
        <p:nvSpPr>
          <p:cNvPr id="123" name="Rectangle: Rounded Corners 122">
            <a:hlinkClick r:id="rId12" action="ppaction://hlinksldjump"/>
            <a:extLst>
              <a:ext uri="{FF2B5EF4-FFF2-40B4-BE49-F238E27FC236}">
                <a16:creationId xmlns:a16="http://schemas.microsoft.com/office/drawing/2014/main" id="{D8BAF982-44C5-4D35-82BB-2A8C7AAD5C12}"/>
              </a:ext>
            </a:extLst>
          </p:cNvPr>
          <p:cNvSpPr/>
          <p:nvPr/>
        </p:nvSpPr>
        <p:spPr>
          <a:xfrm>
            <a:off x="10675924" y="930048"/>
            <a:ext cx="1392426" cy="350310"/>
          </a:xfrm>
          <a:prstGeom prst="roundRect">
            <a:avLst/>
          </a:prstGeom>
          <a:solidFill>
            <a:schemeClr val="accent5"/>
          </a:solidFill>
          <a:ln w="285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Management</a:t>
            </a:r>
          </a:p>
        </p:txBody>
      </p:sp>
      <p:sp>
        <p:nvSpPr>
          <p:cNvPr id="125" name="Rectangle: Rounded Corners 124">
            <a:hlinkClick r:id="rId13" action="ppaction://hlinksldjump"/>
            <a:extLst>
              <a:ext uri="{FF2B5EF4-FFF2-40B4-BE49-F238E27FC236}">
                <a16:creationId xmlns:a16="http://schemas.microsoft.com/office/drawing/2014/main" id="{0574E86D-27F8-4F17-BB05-66D335766D4A}"/>
              </a:ext>
            </a:extLst>
          </p:cNvPr>
          <p:cNvSpPr/>
          <p:nvPr/>
        </p:nvSpPr>
        <p:spPr>
          <a:xfrm>
            <a:off x="11256719" y="1384077"/>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126" name="Graphic 125" descr="Cursor with solid fill">
            <a:extLst>
              <a:ext uri="{FF2B5EF4-FFF2-40B4-BE49-F238E27FC236}">
                <a16:creationId xmlns:a16="http://schemas.microsoft.com/office/drawing/2014/main" id="{393D7776-65CB-4DB9-8FD5-6ACEEDCC8F2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6413" y="1572842"/>
            <a:ext cx="280861" cy="280861"/>
          </a:xfrm>
          <a:prstGeom prst="rect">
            <a:avLst/>
          </a:prstGeom>
        </p:spPr>
      </p:pic>
      <p:grpSp>
        <p:nvGrpSpPr>
          <p:cNvPr id="13" name="Betablocker explanation">
            <a:extLst>
              <a:ext uri="{FF2B5EF4-FFF2-40B4-BE49-F238E27FC236}">
                <a16:creationId xmlns:a16="http://schemas.microsoft.com/office/drawing/2014/main" id="{D4E11E00-7887-4282-816F-06A5A3BBF346}"/>
              </a:ext>
            </a:extLst>
          </p:cNvPr>
          <p:cNvGrpSpPr/>
          <p:nvPr/>
        </p:nvGrpSpPr>
        <p:grpSpPr>
          <a:xfrm>
            <a:off x="8523816" y="2139794"/>
            <a:ext cx="3487988" cy="738664"/>
            <a:chOff x="8523816" y="2139794"/>
            <a:chExt cx="3487988" cy="738664"/>
          </a:xfrm>
        </p:grpSpPr>
        <p:sp>
          <p:nvSpPr>
            <p:cNvPr id="4" name="TextBox 3">
              <a:extLst>
                <a:ext uri="{FF2B5EF4-FFF2-40B4-BE49-F238E27FC236}">
                  <a16:creationId xmlns:a16="http://schemas.microsoft.com/office/drawing/2014/main" id="{454E5EB3-BD06-4CCC-AE89-0FB7593A6A77}"/>
                </a:ext>
              </a:extLst>
            </p:cNvPr>
            <p:cNvSpPr txBox="1"/>
            <p:nvPr/>
          </p:nvSpPr>
          <p:spPr>
            <a:xfrm>
              <a:off x="8523816" y="2271919"/>
              <a:ext cx="1738487" cy="523220"/>
            </a:xfrm>
            <a:prstGeom prst="rect">
              <a:avLst/>
            </a:prstGeom>
            <a:noFill/>
          </p:spPr>
          <p:txBody>
            <a:bodyPr wrap="square" rtlCol="0">
              <a:spAutoFit/>
            </a:bodyPr>
            <a:lstStyle/>
            <a:p>
              <a:pPr algn="ctr"/>
              <a:r>
                <a:rPr lang="en-US" sz="1400" dirty="0"/>
                <a:t>IV 5 mg q5min x 3</a:t>
              </a:r>
            </a:p>
            <a:p>
              <a:pPr algn="ctr"/>
              <a:r>
                <a:rPr lang="en-US" sz="1400" dirty="0"/>
                <a:t>PO 12.5-37.5 mg q6h</a:t>
              </a:r>
            </a:p>
          </p:txBody>
        </p:sp>
        <p:sp>
          <p:nvSpPr>
            <p:cNvPr id="12" name="Rectangle 11">
              <a:extLst>
                <a:ext uri="{FF2B5EF4-FFF2-40B4-BE49-F238E27FC236}">
                  <a16:creationId xmlns:a16="http://schemas.microsoft.com/office/drawing/2014/main" id="{E9318689-6490-407E-B20E-FB1B5812FD47}"/>
                </a:ext>
              </a:extLst>
            </p:cNvPr>
            <p:cNvSpPr/>
            <p:nvPr/>
          </p:nvSpPr>
          <p:spPr>
            <a:xfrm>
              <a:off x="10213752" y="2277431"/>
              <a:ext cx="508473" cy="523220"/>
            </a:xfrm>
            <a:prstGeom prst="rect">
              <a:avLst/>
            </a:prstGeom>
          </p:spPr>
          <p:txBody>
            <a:bodyPr wrap="none">
              <a:spAutoFit/>
            </a:bodyPr>
            <a:lstStyle/>
            <a:p>
              <a:pPr algn="ctr"/>
              <a:r>
                <a:rPr lang="en-US" sz="1400" dirty="0"/>
                <a:t>↓↓</a:t>
              </a:r>
            </a:p>
            <a:p>
              <a:pPr algn="ctr"/>
              <a:r>
                <a:rPr lang="en-US" sz="1400" dirty="0"/>
                <a:t>BP</a:t>
              </a:r>
            </a:p>
          </p:txBody>
        </p:sp>
        <p:sp>
          <p:nvSpPr>
            <p:cNvPr id="145" name="Rectangle 144">
              <a:extLst>
                <a:ext uri="{FF2B5EF4-FFF2-40B4-BE49-F238E27FC236}">
                  <a16:creationId xmlns:a16="http://schemas.microsoft.com/office/drawing/2014/main" id="{8D3365B7-3418-4D1D-93B1-2C6E96BA1CB6}"/>
                </a:ext>
              </a:extLst>
            </p:cNvPr>
            <p:cNvSpPr/>
            <p:nvPr/>
          </p:nvSpPr>
          <p:spPr>
            <a:xfrm>
              <a:off x="10900581" y="2139794"/>
              <a:ext cx="1111223" cy="738664"/>
            </a:xfrm>
            <a:prstGeom prst="rect">
              <a:avLst/>
            </a:prstGeom>
          </p:spPr>
          <p:txBody>
            <a:bodyPr wrap="square">
              <a:spAutoFit/>
            </a:bodyPr>
            <a:lstStyle/>
            <a:p>
              <a:pPr algn="ctr"/>
              <a:r>
                <a:rPr lang="en-US" sz="1400" dirty="0"/>
                <a:t>Caution in decomp </a:t>
              </a:r>
              <a:r>
                <a:rPr lang="en-US" sz="1400" dirty="0" err="1"/>
                <a:t>HFrEF</a:t>
              </a:r>
              <a:r>
                <a:rPr lang="en-US" sz="1400" dirty="0"/>
                <a:t>, sepsis</a:t>
              </a:r>
            </a:p>
          </p:txBody>
        </p:sp>
      </p:grpSp>
      <p:grpSp>
        <p:nvGrpSpPr>
          <p:cNvPr id="147" name="CCB explanation">
            <a:extLst>
              <a:ext uri="{FF2B5EF4-FFF2-40B4-BE49-F238E27FC236}">
                <a16:creationId xmlns:a16="http://schemas.microsoft.com/office/drawing/2014/main" id="{52E2A2C1-A1BA-475D-91C6-BB00D919CE99}"/>
              </a:ext>
            </a:extLst>
          </p:cNvPr>
          <p:cNvGrpSpPr/>
          <p:nvPr/>
        </p:nvGrpSpPr>
        <p:grpSpPr>
          <a:xfrm>
            <a:off x="8538085" y="3113154"/>
            <a:ext cx="3473719" cy="738664"/>
            <a:chOff x="8565654" y="1992920"/>
            <a:chExt cx="3473719" cy="738664"/>
          </a:xfrm>
        </p:grpSpPr>
        <p:sp>
          <p:nvSpPr>
            <p:cNvPr id="151" name="TextBox 150">
              <a:extLst>
                <a:ext uri="{FF2B5EF4-FFF2-40B4-BE49-F238E27FC236}">
                  <a16:creationId xmlns:a16="http://schemas.microsoft.com/office/drawing/2014/main" id="{A82AFBC1-ADCE-4B80-ABAC-96647B62B6CF}"/>
                </a:ext>
              </a:extLst>
            </p:cNvPr>
            <p:cNvSpPr txBox="1"/>
            <p:nvPr/>
          </p:nvSpPr>
          <p:spPr>
            <a:xfrm>
              <a:off x="8565654" y="1992920"/>
              <a:ext cx="1510358" cy="738664"/>
            </a:xfrm>
            <a:prstGeom prst="rect">
              <a:avLst/>
            </a:prstGeom>
            <a:noFill/>
          </p:spPr>
          <p:txBody>
            <a:bodyPr wrap="square" rtlCol="0">
              <a:spAutoFit/>
            </a:bodyPr>
            <a:lstStyle/>
            <a:p>
              <a:pPr algn="ctr"/>
              <a:r>
                <a:rPr lang="en-US" sz="1400" dirty="0"/>
                <a:t>IV 10-20 mg bolus + drip</a:t>
              </a:r>
            </a:p>
            <a:p>
              <a:pPr algn="ctr"/>
              <a:r>
                <a:rPr lang="en-US" sz="1400" dirty="0"/>
                <a:t>PO 30-90 mg q6h</a:t>
              </a:r>
            </a:p>
          </p:txBody>
        </p:sp>
        <p:sp>
          <p:nvSpPr>
            <p:cNvPr id="152" name="Rectangle 151">
              <a:extLst>
                <a:ext uri="{FF2B5EF4-FFF2-40B4-BE49-F238E27FC236}">
                  <a16:creationId xmlns:a16="http://schemas.microsoft.com/office/drawing/2014/main" id="{D6630578-92F9-4005-B81D-9C23D340449D}"/>
                </a:ext>
              </a:extLst>
            </p:cNvPr>
            <p:cNvSpPr/>
            <p:nvPr/>
          </p:nvSpPr>
          <p:spPr>
            <a:xfrm>
              <a:off x="10239387" y="2162240"/>
              <a:ext cx="508473" cy="523220"/>
            </a:xfrm>
            <a:prstGeom prst="rect">
              <a:avLst/>
            </a:prstGeom>
          </p:spPr>
          <p:txBody>
            <a:bodyPr wrap="none">
              <a:spAutoFit/>
            </a:bodyPr>
            <a:lstStyle/>
            <a:p>
              <a:pPr algn="ctr"/>
              <a:r>
                <a:rPr lang="en-US" sz="1400" dirty="0"/>
                <a:t>↓↓</a:t>
              </a:r>
            </a:p>
            <a:p>
              <a:pPr algn="ctr"/>
              <a:r>
                <a:rPr lang="en-US" sz="1400" dirty="0"/>
                <a:t>BP</a:t>
              </a:r>
            </a:p>
          </p:txBody>
        </p:sp>
        <p:sp>
          <p:nvSpPr>
            <p:cNvPr id="153" name="Rectangle 152">
              <a:extLst>
                <a:ext uri="{FF2B5EF4-FFF2-40B4-BE49-F238E27FC236}">
                  <a16:creationId xmlns:a16="http://schemas.microsoft.com/office/drawing/2014/main" id="{8E456128-7D71-4E4A-B8D6-712038DA4F99}"/>
                </a:ext>
              </a:extLst>
            </p:cNvPr>
            <p:cNvSpPr/>
            <p:nvPr/>
          </p:nvSpPr>
          <p:spPr>
            <a:xfrm>
              <a:off x="10928150" y="2154380"/>
              <a:ext cx="1111223" cy="523220"/>
            </a:xfrm>
            <a:prstGeom prst="rect">
              <a:avLst/>
            </a:prstGeom>
          </p:spPr>
          <p:txBody>
            <a:bodyPr wrap="square">
              <a:spAutoFit/>
            </a:bodyPr>
            <a:lstStyle/>
            <a:p>
              <a:pPr algn="ctr"/>
              <a:r>
                <a:rPr lang="en-US" sz="1400" dirty="0"/>
                <a:t>Caution in </a:t>
              </a:r>
              <a:r>
                <a:rPr lang="en-US" sz="1400" dirty="0" err="1"/>
                <a:t>HFrEF</a:t>
              </a:r>
              <a:r>
                <a:rPr lang="en-US" sz="1400" dirty="0"/>
                <a:t>, sepsis</a:t>
              </a:r>
            </a:p>
          </p:txBody>
        </p:sp>
      </p:grpSp>
      <p:grpSp>
        <p:nvGrpSpPr>
          <p:cNvPr id="154" name="digoxin explanation">
            <a:extLst>
              <a:ext uri="{FF2B5EF4-FFF2-40B4-BE49-F238E27FC236}">
                <a16:creationId xmlns:a16="http://schemas.microsoft.com/office/drawing/2014/main" id="{E2FD64EE-96D8-4FD0-BAB0-D5E2C6EBF95C}"/>
              </a:ext>
            </a:extLst>
          </p:cNvPr>
          <p:cNvGrpSpPr/>
          <p:nvPr/>
        </p:nvGrpSpPr>
        <p:grpSpPr>
          <a:xfrm>
            <a:off x="8622549" y="4130394"/>
            <a:ext cx="3427438" cy="738664"/>
            <a:chOff x="8650118" y="1916844"/>
            <a:chExt cx="3427438" cy="738664"/>
          </a:xfrm>
        </p:grpSpPr>
        <p:sp>
          <p:nvSpPr>
            <p:cNvPr id="155" name="TextBox 154">
              <a:extLst>
                <a:ext uri="{FF2B5EF4-FFF2-40B4-BE49-F238E27FC236}">
                  <a16:creationId xmlns:a16="http://schemas.microsoft.com/office/drawing/2014/main" id="{F0E9A209-7CE3-45C5-BA2A-F4BCCBBFB3C3}"/>
                </a:ext>
              </a:extLst>
            </p:cNvPr>
            <p:cNvSpPr txBox="1"/>
            <p:nvPr/>
          </p:nvSpPr>
          <p:spPr>
            <a:xfrm>
              <a:off x="8650118" y="2032443"/>
              <a:ext cx="1632085" cy="523220"/>
            </a:xfrm>
            <a:prstGeom prst="rect">
              <a:avLst/>
            </a:prstGeom>
            <a:noFill/>
          </p:spPr>
          <p:txBody>
            <a:bodyPr wrap="square" rtlCol="0">
              <a:spAutoFit/>
            </a:bodyPr>
            <a:lstStyle/>
            <a:p>
              <a:pPr algn="ctr"/>
              <a:r>
                <a:rPr lang="en-US" sz="1400" dirty="0"/>
                <a:t>IV 0.25-0.5 mg → 0.25 mg IV q6h x 2</a:t>
              </a:r>
            </a:p>
          </p:txBody>
        </p:sp>
        <p:sp>
          <p:nvSpPr>
            <p:cNvPr id="156" name="Rectangle 155">
              <a:extLst>
                <a:ext uri="{FF2B5EF4-FFF2-40B4-BE49-F238E27FC236}">
                  <a16:creationId xmlns:a16="http://schemas.microsoft.com/office/drawing/2014/main" id="{C87D1C00-3B41-4DB3-A57D-17BBC9280CC7}"/>
                </a:ext>
              </a:extLst>
            </p:cNvPr>
            <p:cNvSpPr/>
            <p:nvPr/>
          </p:nvSpPr>
          <p:spPr>
            <a:xfrm>
              <a:off x="10285874" y="2209151"/>
              <a:ext cx="415498" cy="307777"/>
            </a:xfrm>
            <a:prstGeom prst="rect">
              <a:avLst/>
            </a:prstGeom>
          </p:spPr>
          <p:txBody>
            <a:bodyPr wrap="none">
              <a:spAutoFit/>
            </a:bodyPr>
            <a:lstStyle/>
            <a:p>
              <a:pPr algn="ctr"/>
              <a:r>
                <a:rPr lang="en-US" sz="1400" dirty="0"/>
                <a:t>↔</a:t>
              </a:r>
            </a:p>
          </p:txBody>
        </p:sp>
        <p:sp>
          <p:nvSpPr>
            <p:cNvPr id="157" name="Rectangle 156">
              <a:extLst>
                <a:ext uri="{FF2B5EF4-FFF2-40B4-BE49-F238E27FC236}">
                  <a16:creationId xmlns:a16="http://schemas.microsoft.com/office/drawing/2014/main" id="{84CAF820-894F-4F3E-8B18-582BC152DC36}"/>
                </a:ext>
              </a:extLst>
            </p:cNvPr>
            <p:cNvSpPr/>
            <p:nvPr/>
          </p:nvSpPr>
          <p:spPr>
            <a:xfrm>
              <a:off x="10824582" y="1916844"/>
              <a:ext cx="1252974" cy="738664"/>
            </a:xfrm>
            <a:prstGeom prst="rect">
              <a:avLst/>
            </a:prstGeom>
          </p:spPr>
          <p:txBody>
            <a:bodyPr wrap="square">
              <a:spAutoFit/>
            </a:bodyPr>
            <a:lstStyle/>
            <a:p>
              <a:pPr algn="ctr"/>
              <a:r>
                <a:rPr lang="en-US" sz="1400" dirty="0"/>
                <a:t>Caution in elderly, renal failure</a:t>
              </a:r>
            </a:p>
          </p:txBody>
        </p:sp>
      </p:grpSp>
      <p:grpSp>
        <p:nvGrpSpPr>
          <p:cNvPr id="159" name="amiodarone explanation">
            <a:extLst>
              <a:ext uri="{FF2B5EF4-FFF2-40B4-BE49-F238E27FC236}">
                <a16:creationId xmlns:a16="http://schemas.microsoft.com/office/drawing/2014/main" id="{30AF0C50-81A0-4238-BB30-9760952C7BA8}"/>
              </a:ext>
            </a:extLst>
          </p:cNvPr>
          <p:cNvGrpSpPr/>
          <p:nvPr/>
        </p:nvGrpSpPr>
        <p:grpSpPr>
          <a:xfrm>
            <a:off x="8565654" y="5128492"/>
            <a:ext cx="3538656" cy="525808"/>
            <a:chOff x="8607301" y="2098842"/>
            <a:chExt cx="3538656" cy="525808"/>
          </a:xfrm>
        </p:grpSpPr>
        <p:sp>
          <p:nvSpPr>
            <p:cNvPr id="160" name="TextBox 159">
              <a:extLst>
                <a:ext uri="{FF2B5EF4-FFF2-40B4-BE49-F238E27FC236}">
                  <a16:creationId xmlns:a16="http://schemas.microsoft.com/office/drawing/2014/main" id="{8DD6DFE3-D499-47F4-87D5-1758D5E57299}"/>
                </a:ext>
              </a:extLst>
            </p:cNvPr>
            <p:cNvSpPr txBox="1"/>
            <p:nvPr/>
          </p:nvSpPr>
          <p:spPr>
            <a:xfrm>
              <a:off x="8607301" y="2101430"/>
              <a:ext cx="1632085" cy="523220"/>
            </a:xfrm>
            <a:prstGeom prst="rect">
              <a:avLst/>
            </a:prstGeom>
            <a:noFill/>
          </p:spPr>
          <p:txBody>
            <a:bodyPr wrap="square" rtlCol="0">
              <a:spAutoFit/>
            </a:bodyPr>
            <a:lstStyle/>
            <a:p>
              <a:pPr algn="ctr"/>
              <a:r>
                <a:rPr lang="en-US" sz="1400" dirty="0"/>
                <a:t>IV 150 mg bolus then drip </a:t>
              </a:r>
            </a:p>
          </p:txBody>
        </p:sp>
        <p:sp>
          <p:nvSpPr>
            <p:cNvPr id="161" name="Rectangle 160">
              <a:extLst>
                <a:ext uri="{FF2B5EF4-FFF2-40B4-BE49-F238E27FC236}">
                  <a16:creationId xmlns:a16="http://schemas.microsoft.com/office/drawing/2014/main" id="{35E59B9F-0B20-42E2-B008-00158CCE75C6}"/>
                </a:ext>
              </a:extLst>
            </p:cNvPr>
            <p:cNvSpPr/>
            <p:nvPr/>
          </p:nvSpPr>
          <p:spPr>
            <a:xfrm>
              <a:off x="10305912" y="2098842"/>
              <a:ext cx="375423" cy="523220"/>
            </a:xfrm>
            <a:prstGeom prst="rect">
              <a:avLst/>
            </a:prstGeom>
          </p:spPr>
          <p:txBody>
            <a:bodyPr wrap="none">
              <a:spAutoFit/>
            </a:bodyPr>
            <a:lstStyle/>
            <a:p>
              <a:pPr algn="ctr"/>
              <a:r>
                <a:rPr lang="en-US" sz="1400" dirty="0"/>
                <a:t>↓</a:t>
              </a:r>
            </a:p>
            <a:p>
              <a:pPr algn="ctr"/>
              <a:r>
                <a:rPr lang="en-US" sz="1400" dirty="0"/>
                <a:t>BP</a:t>
              </a:r>
            </a:p>
          </p:txBody>
        </p:sp>
        <p:sp>
          <p:nvSpPr>
            <p:cNvPr id="162" name="Rectangle 161">
              <a:extLst>
                <a:ext uri="{FF2B5EF4-FFF2-40B4-BE49-F238E27FC236}">
                  <a16:creationId xmlns:a16="http://schemas.microsoft.com/office/drawing/2014/main" id="{F87DD888-20F4-42D3-80FA-583020529529}"/>
                </a:ext>
              </a:extLst>
            </p:cNvPr>
            <p:cNvSpPr/>
            <p:nvPr/>
          </p:nvSpPr>
          <p:spPr>
            <a:xfrm>
              <a:off x="10892983" y="2098842"/>
              <a:ext cx="1252974" cy="523220"/>
            </a:xfrm>
            <a:prstGeom prst="rect">
              <a:avLst/>
            </a:prstGeom>
          </p:spPr>
          <p:txBody>
            <a:bodyPr wrap="square">
              <a:spAutoFit/>
            </a:bodyPr>
            <a:lstStyle/>
            <a:p>
              <a:pPr algn="ctr"/>
              <a:r>
                <a:rPr lang="en-US" sz="1400" dirty="0"/>
                <a:t>Caution in chronic AF</a:t>
              </a:r>
            </a:p>
          </p:txBody>
        </p:sp>
      </p:grpSp>
      <p:sp>
        <p:nvSpPr>
          <p:cNvPr id="102" name="Acute">
            <a:extLst>
              <a:ext uri="{FF2B5EF4-FFF2-40B4-BE49-F238E27FC236}">
                <a16:creationId xmlns:a16="http://schemas.microsoft.com/office/drawing/2014/main" id="{68E1D096-F732-49ED-A672-2EFD46C9AA04}"/>
              </a:ext>
            </a:extLst>
          </p:cNvPr>
          <p:cNvSpPr txBox="1"/>
          <p:nvPr/>
        </p:nvSpPr>
        <p:spPr>
          <a:xfrm>
            <a:off x="409697" y="4561201"/>
            <a:ext cx="1010948" cy="338554"/>
          </a:xfrm>
          <a:prstGeom prst="rect">
            <a:avLst/>
          </a:prstGeom>
          <a:noFill/>
        </p:spPr>
        <p:txBody>
          <a:bodyPr wrap="square" rtlCol="0">
            <a:spAutoFit/>
          </a:bodyPr>
          <a:lstStyle/>
          <a:p>
            <a:pPr algn="ctr"/>
            <a:r>
              <a:rPr lang="en-US" sz="1600" b="1" dirty="0"/>
              <a:t>ACUTE</a:t>
            </a:r>
          </a:p>
        </p:txBody>
      </p:sp>
      <p:sp>
        <p:nvSpPr>
          <p:cNvPr id="103" name="Chronic">
            <a:extLst>
              <a:ext uri="{FF2B5EF4-FFF2-40B4-BE49-F238E27FC236}">
                <a16:creationId xmlns:a16="http://schemas.microsoft.com/office/drawing/2014/main" id="{9C33E1CE-2902-43E2-AA6D-B4B38826D964}"/>
              </a:ext>
            </a:extLst>
          </p:cNvPr>
          <p:cNvSpPr txBox="1"/>
          <p:nvPr/>
        </p:nvSpPr>
        <p:spPr>
          <a:xfrm>
            <a:off x="360587" y="5141107"/>
            <a:ext cx="1124579" cy="338554"/>
          </a:xfrm>
          <a:prstGeom prst="rect">
            <a:avLst/>
          </a:prstGeom>
          <a:noFill/>
        </p:spPr>
        <p:txBody>
          <a:bodyPr wrap="square" rtlCol="0">
            <a:spAutoFit/>
          </a:bodyPr>
          <a:lstStyle/>
          <a:p>
            <a:pPr algn="ctr"/>
            <a:r>
              <a:rPr lang="en-US" sz="1600" b="1" dirty="0"/>
              <a:t>CHRONIC</a:t>
            </a:r>
          </a:p>
        </p:txBody>
      </p:sp>
    </p:spTree>
    <p:extLst>
      <p:ext uri="{BB962C8B-B14F-4D97-AF65-F5344CB8AC3E}">
        <p14:creationId xmlns:p14="http://schemas.microsoft.com/office/powerpoint/2010/main" val="291685846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87"/>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childTnLst>
                          </p:cTn>
                        </p:par>
                      </p:childTnLst>
                    </p:cTn>
                  </p:par>
                </p:childTnLst>
              </p:cTn>
              <p:nextCondLst>
                <p:cond evt="onClick" delay="0">
                  <p:tgtEl>
                    <p:spTgt spid="84"/>
                  </p:tgtEl>
                </p:cond>
              </p:nextCondLst>
            </p:seq>
            <p:seq concurrent="1" nextAc="seek">
              <p:cTn id="13" restart="whenNotActive" fill="hold" evtFilter="cancelBubble" nodeType="interactiveSeq">
                <p:stCondLst>
                  <p:cond evt="onClick" delay="0">
                    <p:tgtEl>
                      <p:spTgt spid="76"/>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9"/>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77"/>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13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36"/>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3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3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7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7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0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03"/>
                                        </p:tgtEl>
                                        <p:attrNameLst>
                                          <p:attrName>style.visibility</p:attrName>
                                        </p:attrNameLst>
                                      </p:cBhvr>
                                      <p:to>
                                        <p:strVal val="visible"/>
                                      </p:to>
                                    </p:set>
                                  </p:childTnLst>
                                </p:cTn>
                              </p:par>
                            </p:childTnLst>
                          </p:cTn>
                        </p:par>
                      </p:childTnLst>
                    </p:cTn>
                  </p:par>
                </p:childTnLst>
              </p:cTn>
              <p:nextCondLst>
                <p:cond evt="onClick" delay="0">
                  <p:tgtEl>
                    <p:spTgt spid="76"/>
                  </p:tgtEl>
                </p:cond>
              </p:nextCondLst>
            </p:seq>
            <p:seq concurrent="1" nextAc="seek">
              <p:cTn id="48" restart="whenNotActive" fill="hold" evtFilter="cancelBubble" nodeType="interactiveSeq">
                <p:stCondLst>
                  <p:cond evt="onClick" delay="0">
                    <p:tgtEl>
                      <p:spTgt spid="131"/>
                    </p:tgtEl>
                  </p:cond>
                </p:stCondLst>
                <p:endSync evt="end" delay="0">
                  <p:rtn val="all"/>
                </p:endSync>
                <p:childTnLst>
                  <p:par>
                    <p:cTn id="49" fill="hold">
                      <p:stCondLst>
                        <p:cond delay="0"/>
                      </p:stCondLst>
                      <p:childTnLst>
                        <p:par>
                          <p:cTn id="50" fill="hold">
                            <p:stCondLst>
                              <p:cond delay="0"/>
                            </p:stCondLst>
                            <p:childTnLst>
                              <p:par>
                                <p:cTn id="51" presetID="1" presetClass="entr" presetSubtype="0" fill="hold" nodeType="withEffect">
                                  <p:stCondLst>
                                    <p:cond delay="0"/>
                                  </p:stCondLst>
                                  <p:childTnLst>
                                    <p:set>
                                      <p:cBhvr>
                                        <p:cTn id="52" dur="1" fill="hold">
                                          <p:stCondLst>
                                            <p:cond delay="0"/>
                                          </p:stCondLst>
                                        </p:cTn>
                                        <p:tgtEl>
                                          <p:spTgt spid="17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132"/>
                                        </p:tgtEl>
                                        <p:attrNameLst>
                                          <p:attrName>style.visibility</p:attrName>
                                        </p:attrNameLst>
                                      </p:cBhvr>
                                      <p:to>
                                        <p:strVal val="hidden"/>
                                      </p:to>
                                    </p:set>
                                  </p:childTnLst>
                                </p:cTn>
                              </p:par>
                            </p:childTnLst>
                          </p:cTn>
                        </p:par>
                      </p:childTnLst>
                    </p:cTn>
                  </p:par>
                </p:childTnLst>
              </p:cTn>
              <p:nextCondLst>
                <p:cond evt="onClick" delay="0">
                  <p:tgtEl>
                    <p:spTgt spid="131"/>
                  </p:tgtEl>
                </p:cond>
              </p:nextCondLst>
            </p:seq>
            <p:seq concurrent="1" nextAc="seek">
              <p:cTn id="57" restart="whenNotActive" fill="hold" evtFilter="cancelBubble" nodeType="interactiveSeq">
                <p:stCondLst>
                  <p:cond evt="onClick" delay="0">
                    <p:tgtEl>
                      <p:spTgt spid="133"/>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nodeType="withEffect">
                                  <p:stCondLst>
                                    <p:cond delay="0"/>
                                  </p:stCondLst>
                                  <p:childTnLst>
                                    <p:set>
                                      <p:cBhvr>
                                        <p:cTn id="61" dur="1" fill="hold">
                                          <p:stCondLst>
                                            <p:cond delay="0"/>
                                          </p:stCondLst>
                                        </p:cTn>
                                        <p:tgtEl>
                                          <p:spTgt spid="18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147"/>
                                        </p:tgtEl>
                                        <p:attrNameLst>
                                          <p:attrName>style.visibility</p:attrName>
                                        </p:attrNameLst>
                                      </p:cBhvr>
                                      <p:to>
                                        <p:strVal val="visible"/>
                                      </p:to>
                                    </p:set>
                                  </p:childTnLst>
                                </p:cTn>
                              </p:par>
                              <p:par>
                                <p:cTn id="64" presetID="1" presetClass="exit" presetSubtype="0" fill="hold" nodeType="withEffect">
                                  <p:stCondLst>
                                    <p:cond delay="0"/>
                                  </p:stCondLst>
                                  <p:childTnLst>
                                    <p:set>
                                      <p:cBhvr>
                                        <p:cTn id="65" dur="1" fill="hold">
                                          <p:stCondLst>
                                            <p:cond delay="0"/>
                                          </p:stCondLst>
                                        </p:cTn>
                                        <p:tgtEl>
                                          <p:spTgt spid="134"/>
                                        </p:tgtEl>
                                        <p:attrNameLst>
                                          <p:attrName>style.visibility</p:attrName>
                                        </p:attrNameLst>
                                      </p:cBhvr>
                                      <p:to>
                                        <p:strVal val="hidden"/>
                                      </p:to>
                                    </p:set>
                                  </p:childTnLst>
                                </p:cTn>
                              </p:par>
                            </p:childTnLst>
                          </p:cTn>
                        </p:par>
                      </p:childTnLst>
                    </p:cTn>
                  </p:par>
                </p:childTnLst>
              </p:cTn>
              <p:nextCondLst>
                <p:cond evt="onClick" delay="0">
                  <p:tgtEl>
                    <p:spTgt spid="133"/>
                  </p:tgtEl>
                </p:cond>
              </p:nextCondLst>
            </p:seq>
            <p:seq concurrent="1" nextAc="seek">
              <p:cTn id="66" restart="whenNotActive" fill="hold" evtFilter="cancelBubble" nodeType="interactiveSeq">
                <p:stCondLst>
                  <p:cond evt="onClick" delay="0">
                    <p:tgtEl>
                      <p:spTgt spid="135"/>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nodeType="withEffect">
                                  <p:stCondLst>
                                    <p:cond delay="0"/>
                                  </p:stCondLst>
                                  <p:childTnLst>
                                    <p:set>
                                      <p:cBhvr>
                                        <p:cTn id="70" dur="1" fill="hold">
                                          <p:stCondLst>
                                            <p:cond delay="0"/>
                                          </p:stCondLst>
                                        </p:cTn>
                                        <p:tgtEl>
                                          <p:spTgt spid="21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4"/>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136"/>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seq concurrent="1" nextAc="seek">
              <p:cTn id="75" restart="whenNotActive" fill="hold" evtFilter="cancelBubble" nodeType="interactiveSeq">
                <p:stCondLst>
                  <p:cond evt="onClick" delay="0">
                    <p:tgtEl>
                      <p:spTgt spid="137"/>
                    </p:tgtEl>
                  </p:cond>
                </p:stCondLst>
                <p:endSync evt="end" delay="0">
                  <p:rtn val="all"/>
                </p:endSync>
                <p:childTnLst>
                  <p:par>
                    <p:cTn id="76" fill="hold">
                      <p:stCondLst>
                        <p:cond delay="0"/>
                      </p:stCondLst>
                      <p:childTnLst>
                        <p:par>
                          <p:cTn id="77" fill="hold">
                            <p:stCondLst>
                              <p:cond delay="0"/>
                            </p:stCondLst>
                            <p:childTnLst>
                              <p:par>
                                <p:cTn id="78" presetID="1" presetClass="entr" presetSubtype="0" fill="hold" nodeType="withEffect">
                                  <p:stCondLst>
                                    <p:cond delay="0"/>
                                  </p:stCondLst>
                                  <p:childTnLst>
                                    <p:set>
                                      <p:cBhvr>
                                        <p:cTn id="79" dur="1" fill="hold">
                                          <p:stCondLst>
                                            <p:cond delay="0"/>
                                          </p:stCondLst>
                                        </p:cTn>
                                        <p:tgtEl>
                                          <p:spTgt spid="231"/>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59"/>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138"/>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childTnLst>
        </p:cTn>
      </p:par>
    </p:tnLst>
    <p:bldLst>
      <p:bldP spid="76" grpId="0" animBg="1"/>
      <p:bldP spid="131" grpId="0" animBg="1"/>
      <p:bldP spid="133" grpId="0" animBg="1"/>
      <p:bldP spid="135" grpId="0" animBg="1"/>
      <p:bldP spid="137" grpId="0" animBg="1"/>
      <p:bldP spid="180" grpId="0"/>
      <p:bldP spid="102" grpId="0"/>
      <p:bldP spid="10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3913612" y="23033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7911049" y="179082"/>
            <a:ext cx="0" cy="6433127"/>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50719" y="713425"/>
            <a:ext cx="3537686" cy="1077218"/>
          </a:xfrm>
          <a:prstGeom prst="rect">
            <a:avLst/>
          </a:prstGeom>
          <a:noFill/>
        </p:spPr>
        <p:txBody>
          <a:bodyPr wrap="square" lIns="91440" tIns="45720" rIns="91440" bIns="45720" rtlCol="0" anchor="t">
            <a:spAutoFit/>
          </a:bodyPr>
          <a:lstStyle/>
          <a:p>
            <a:r>
              <a:rPr lang="en-US" sz="1600" dirty="0">
                <a:ea typeface="+mn-lt"/>
                <a:cs typeface="+mn-lt"/>
              </a:rPr>
              <a:t>68 </a:t>
            </a:r>
            <a:r>
              <a:rPr lang="en-US" sz="1600" dirty="0" err="1">
                <a:ea typeface="+mn-lt"/>
                <a:cs typeface="+mn-lt"/>
              </a:rPr>
              <a:t>yo</a:t>
            </a:r>
            <a:r>
              <a:rPr lang="en-US" sz="1600" dirty="0">
                <a:ea typeface="+mn-lt"/>
                <a:cs typeface="+mn-lt"/>
              </a:rPr>
              <a:t> M with hx of HTN and DMII presents with new onset AF with RVR, HR of 160s. BPs are 120s/60s. He reports dyspnea and palpitations.</a:t>
            </a:r>
          </a:p>
        </p:txBody>
      </p:sp>
      <p:sp>
        <p:nvSpPr>
          <p:cNvPr id="28" name="Case 1 - question 1">
            <a:extLst>
              <a:ext uri="{FF2B5EF4-FFF2-40B4-BE49-F238E27FC236}">
                <a16:creationId xmlns:a16="http://schemas.microsoft.com/office/drawing/2014/main" id="{A720D17D-CBB7-401A-B329-CE14FDF24C03}"/>
              </a:ext>
            </a:extLst>
          </p:cNvPr>
          <p:cNvSpPr/>
          <p:nvPr/>
        </p:nvSpPr>
        <p:spPr>
          <a:xfrm>
            <a:off x="207650" y="1930503"/>
            <a:ext cx="3482485" cy="1320311"/>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1" name="Case 1 - question 2">
            <a:extLst>
              <a:ext uri="{FF2B5EF4-FFF2-40B4-BE49-F238E27FC236}">
                <a16:creationId xmlns:a16="http://schemas.microsoft.com/office/drawing/2014/main" id="{FC95995F-E4E4-4637-AB4F-6B3EE9F47547}"/>
              </a:ext>
            </a:extLst>
          </p:cNvPr>
          <p:cNvSpPr/>
          <p:nvPr/>
        </p:nvSpPr>
        <p:spPr>
          <a:xfrm>
            <a:off x="205501" y="3979134"/>
            <a:ext cx="3479160" cy="650311"/>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0" name="Case 1 - question 3">
            <a:extLst>
              <a:ext uri="{FF2B5EF4-FFF2-40B4-BE49-F238E27FC236}">
                <a16:creationId xmlns:a16="http://schemas.microsoft.com/office/drawing/2014/main" id="{731DFEAB-EA12-4B9E-A4F6-084CAEC77E91}"/>
              </a:ext>
            </a:extLst>
          </p:cNvPr>
          <p:cNvSpPr/>
          <p:nvPr/>
        </p:nvSpPr>
        <p:spPr>
          <a:xfrm>
            <a:off x="183923" y="5451234"/>
            <a:ext cx="3479160" cy="120353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3" name="Case 1 - answer 1">
            <a:extLst>
              <a:ext uri="{FF2B5EF4-FFF2-40B4-BE49-F238E27FC236}">
                <a16:creationId xmlns:a16="http://schemas.microsoft.com/office/drawing/2014/main" id="{8E93BC3D-9A48-4519-87F0-DC82D5777AEB}"/>
              </a:ext>
            </a:extLst>
          </p:cNvPr>
          <p:cNvSpPr/>
          <p:nvPr/>
        </p:nvSpPr>
        <p:spPr>
          <a:xfrm>
            <a:off x="195801" y="1935376"/>
            <a:ext cx="3493774" cy="130010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He has stable AF with RVR. </a:t>
            </a:r>
          </a:p>
          <a:p>
            <a:pPr algn="ctr"/>
            <a:r>
              <a:rPr lang="en-US" sz="1600" dirty="0"/>
              <a:t>With HRs &gt; 130, give IV metoprolol 5 mg or IV diltiazem 10 mg.</a:t>
            </a:r>
          </a:p>
          <a:p>
            <a:pPr algn="ctr"/>
            <a:r>
              <a:rPr lang="en-US" sz="1600" dirty="0"/>
              <a:t>Work-up: CBC, BMP/Mg, TSH, ECG, Troponin, CXR</a:t>
            </a:r>
          </a:p>
        </p:txBody>
      </p:sp>
      <p:sp>
        <p:nvSpPr>
          <p:cNvPr id="34" name="Case 1 - answer 2">
            <a:extLst>
              <a:ext uri="{FF2B5EF4-FFF2-40B4-BE49-F238E27FC236}">
                <a16:creationId xmlns:a16="http://schemas.microsoft.com/office/drawing/2014/main" id="{78D59F4F-3EF0-4B50-B0DE-BD1DB0BEC628}"/>
              </a:ext>
            </a:extLst>
          </p:cNvPr>
          <p:cNvSpPr/>
          <p:nvPr/>
        </p:nvSpPr>
        <p:spPr>
          <a:xfrm>
            <a:off x="187421" y="3969175"/>
            <a:ext cx="3493774" cy="650311"/>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His HRs remain &gt; 130s with stable BPs. Give another dose IV metoprolol 5 mg.</a:t>
            </a:r>
          </a:p>
        </p:txBody>
      </p:sp>
      <p:sp>
        <p:nvSpPr>
          <p:cNvPr id="36" name="Case 1 - answer 3">
            <a:extLst>
              <a:ext uri="{FF2B5EF4-FFF2-40B4-BE49-F238E27FC236}">
                <a16:creationId xmlns:a16="http://schemas.microsoft.com/office/drawing/2014/main" id="{F597A406-81A5-40AC-9888-C00B46C26B0C}"/>
              </a:ext>
            </a:extLst>
          </p:cNvPr>
          <p:cNvSpPr/>
          <p:nvPr/>
        </p:nvSpPr>
        <p:spPr>
          <a:xfrm>
            <a:off x="147850" y="5419110"/>
            <a:ext cx="3546696" cy="123864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His HRs are now &lt; 130, transition to PO metoprolol 12.5 – 25 mg q6h. </a:t>
            </a:r>
          </a:p>
          <a:p>
            <a:pPr algn="ctr"/>
            <a:r>
              <a:rPr lang="en-US" sz="1600" dirty="0"/>
              <a:t>His CHADS-</a:t>
            </a:r>
            <a:r>
              <a:rPr lang="en-US" sz="1600" dirty="0" err="1"/>
              <a:t>VASc</a:t>
            </a:r>
            <a:r>
              <a:rPr lang="en-US" sz="1600" dirty="0"/>
              <a:t> is 3, consider anticoagulation.  </a:t>
            </a:r>
          </a:p>
        </p:txBody>
      </p:sp>
      <p:sp>
        <p:nvSpPr>
          <p:cNvPr id="129" name="Case 2">
            <a:extLst>
              <a:ext uri="{FF2B5EF4-FFF2-40B4-BE49-F238E27FC236}">
                <a16:creationId xmlns:a16="http://schemas.microsoft.com/office/drawing/2014/main" id="{41FEB336-49CA-4EC0-AC0A-587C0CD09C68}"/>
              </a:ext>
            </a:extLst>
          </p:cNvPr>
          <p:cNvSpPr/>
          <p:nvPr/>
        </p:nvSpPr>
        <p:spPr>
          <a:xfrm>
            <a:off x="4703097" y="149672"/>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4085887" y="682875"/>
            <a:ext cx="3651845" cy="1323439"/>
          </a:xfrm>
          <a:prstGeom prst="rect">
            <a:avLst/>
          </a:prstGeom>
          <a:noFill/>
        </p:spPr>
        <p:txBody>
          <a:bodyPr wrap="square" lIns="91440" tIns="45720" rIns="91440" bIns="45720" rtlCol="0" anchor="t">
            <a:spAutoFit/>
          </a:bodyPr>
          <a:lstStyle/>
          <a:p>
            <a:pPr marL="0" indent="0">
              <a:spcBef>
                <a:spcPts val="0"/>
              </a:spcBef>
              <a:buNone/>
            </a:pPr>
            <a:r>
              <a:rPr lang="en-US" sz="1600" dirty="0"/>
              <a:t>54 </a:t>
            </a:r>
            <a:r>
              <a:rPr lang="en-US" sz="1600" dirty="0" err="1"/>
              <a:t>yo</a:t>
            </a:r>
            <a:r>
              <a:rPr lang="en-US" sz="1600" dirty="0"/>
              <a:t> F with HTN and ETOH use disorder is admitted for septic shock on vasopressors. You are called for new onset AF with HRs in the 150s. MAPs are 70s on 0.1 of norepinephrine.</a:t>
            </a:r>
          </a:p>
        </p:txBody>
      </p:sp>
      <p:sp>
        <p:nvSpPr>
          <p:cNvPr id="146" name="Case 4 button">
            <a:extLst>
              <a:ext uri="{FF2B5EF4-FFF2-40B4-BE49-F238E27FC236}">
                <a16:creationId xmlns:a16="http://schemas.microsoft.com/office/drawing/2014/main" id="{BCA0C0CD-F8E1-4146-83B0-B64E06FE4D1F}"/>
              </a:ext>
            </a:extLst>
          </p:cNvPr>
          <p:cNvSpPr/>
          <p:nvPr/>
        </p:nvSpPr>
        <p:spPr>
          <a:xfrm>
            <a:off x="8448312" y="149386"/>
            <a:ext cx="1637175"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4</a:t>
            </a:r>
          </a:p>
        </p:txBody>
      </p:sp>
      <p:sp>
        <p:nvSpPr>
          <p:cNvPr id="148" name="Case 4 text">
            <a:extLst>
              <a:ext uri="{FF2B5EF4-FFF2-40B4-BE49-F238E27FC236}">
                <a16:creationId xmlns:a16="http://schemas.microsoft.com/office/drawing/2014/main" id="{E6A604B5-B4FA-4AC4-9DD7-10C3ABA8A1DE}"/>
              </a:ext>
            </a:extLst>
          </p:cNvPr>
          <p:cNvSpPr txBox="1"/>
          <p:nvPr/>
        </p:nvSpPr>
        <p:spPr>
          <a:xfrm>
            <a:off x="8208187" y="722582"/>
            <a:ext cx="2467733" cy="1323439"/>
          </a:xfrm>
          <a:prstGeom prst="rect">
            <a:avLst/>
          </a:prstGeom>
          <a:noFill/>
        </p:spPr>
        <p:txBody>
          <a:bodyPr wrap="square" lIns="91440" tIns="45720" rIns="91440" bIns="45720" rtlCol="0" anchor="t">
            <a:spAutoFit/>
          </a:bodyPr>
          <a:lstStyle/>
          <a:p>
            <a:r>
              <a:rPr lang="en-US" sz="1600" dirty="0">
                <a:ea typeface="+mn-lt"/>
                <a:cs typeface="+mn-lt"/>
              </a:rPr>
              <a:t>72 </a:t>
            </a:r>
            <a:r>
              <a:rPr lang="en-US" sz="1600" dirty="0" err="1">
                <a:ea typeface="+mn-lt"/>
                <a:cs typeface="+mn-lt"/>
              </a:rPr>
              <a:t>yo</a:t>
            </a:r>
            <a:r>
              <a:rPr lang="en-US" sz="1600" dirty="0">
                <a:ea typeface="+mn-lt"/>
                <a:cs typeface="+mn-lt"/>
              </a:rPr>
              <a:t> M with DMII, HTN, and </a:t>
            </a:r>
            <a:r>
              <a:rPr lang="en-US" sz="1600" dirty="0" err="1">
                <a:ea typeface="+mn-lt"/>
                <a:cs typeface="+mn-lt"/>
              </a:rPr>
              <a:t>HFrEF</a:t>
            </a:r>
            <a:r>
              <a:rPr lang="en-US" sz="1600" dirty="0">
                <a:ea typeface="+mn-lt"/>
                <a:cs typeface="+mn-lt"/>
              </a:rPr>
              <a:t> (25%) presents with AF with RVR with HRs of 160s. BPs 110s/60s. He denies orthopnea, PND.</a:t>
            </a:r>
          </a:p>
        </p:txBody>
      </p:sp>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6494" y="426062"/>
            <a:ext cx="302506"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4083705" y="2087317"/>
            <a:ext cx="3625092" cy="1128865"/>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58" name="Case 3 - question 1">
            <a:extLst>
              <a:ext uri="{FF2B5EF4-FFF2-40B4-BE49-F238E27FC236}">
                <a16:creationId xmlns:a16="http://schemas.microsoft.com/office/drawing/2014/main" id="{BD5CFEB8-C474-46CA-BDD5-725CAFB73BAA}"/>
              </a:ext>
            </a:extLst>
          </p:cNvPr>
          <p:cNvSpPr/>
          <p:nvPr/>
        </p:nvSpPr>
        <p:spPr>
          <a:xfrm>
            <a:off x="4107415" y="5280615"/>
            <a:ext cx="3663269" cy="1235311"/>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61" name="Case 2 - answer1">
            <a:extLst>
              <a:ext uri="{FF2B5EF4-FFF2-40B4-BE49-F238E27FC236}">
                <a16:creationId xmlns:a16="http://schemas.microsoft.com/office/drawing/2014/main" id="{E9E14381-F561-4E85-8173-20AB47B470CD}"/>
              </a:ext>
            </a:extLst>
          </p:cNvPr>
          <p:cNvSpPr/>
          <p:nvPr/>
        </p:nvSpPr>
        <p:spPr>
          <a:xfrm>
            <a:off x="4083706" y="2087317"/>
            <a:ext cx="3644272" cy="112886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Despite being on vasopressors, this patient is in stable AF with RVR. Given septic shock, amiodarone &gt; metoprolol or diltiazem. </a:t>
            </a:r>
          </a:p>
        </p:txBody>
      </p:sp>
      <p:sp>
        <p:nvSpPr>
          <p:cNvPr id="62" name="Case 3 - answer 1">
            <a:extLst>
              <a:ext uri="{FF2B5EF4-FFF2-40B4-BE49-F238E27FC236}">
                <a16:creationId xmlns:a16="http://schemas.microsoft.com/office/drawing/2014/main" id="{0BCE2D94-A3FD-4365-B4EA-AC7ABC7E185D}"/>
              </a:ext>
            </a:extLst>
          </p:cNvPr>
          <p:cNvSpPr/>
          <p:nvPr/>
        </p:nvSpPr>
        <p:spPr>
          <a:xfrm>
            <a:off x="4107416" y="5286096"/>
            <a:ext cx="3663268" cy="1230099"/>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This patient is unstable! Place pads and prepare for DCCV with 120-200 J. </a:t>
            </a:r>
          </a:p>
          <a:p>
            <a:pPr algn="ctr"/>
            <a:r>
              <a:rPr lang="en-US" sz="1600" dirty="0"/>
              <a:t>All cardioverted patients should receive anticoagulation. </a:t>
            </a:r>
          </a:p>
        </p:txBody>
      </p:sp>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364" y="421378"/>
            <a:ext cx="302506" cy="302506"/>
          </a:xfrm>
          <a:prstGeom prst="rect">
            <a:avLst/>
          </a:prstGeom>
        </p:spPr>
      </p:pic>
      <p:pic>
        <p:nvPicPr>
          <p:cNvPr id="82" name="Graphic 81" descr="Cursor with solid fill">
            <a:extLst>
              <a:ext uri="{FF2B5EF4-FFF2-40B4-BE49-F238E27FC236}">
                <a16:creationId xmlns:a16="http://schemas.microsoft.com/office/drawing/2014/main" id="{123343F4-467E-498D-8C79-43974CE6E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55278" y="410919"/>
            <a:ext cx="302506" cy="302506"/>
          </a:xfrm>
          <a:prstGeom prst="rect">
            <a:avLst/>
          </a:prstGeom>
        </p:spPr>
      </p:pic>
      <p:sp>
        <p:nvSpPr>
          <p:cNvPr id="39" name="Case 4- question1">
            <a:extLst>
              <a:ext uri="{FF2B5EF4-FFF2-40B4-BE49-F238E27FC236}">
                <a16:creationId xmlns:a16="http://schemas.microsoft.com/office/drawing/2014/main" id="{E9D3EEFD-602E-4B0B-9C9A-A0F3A5A386E4}"/>
              </a:ext>
            </a:extLst>
          </p:cNvPr>
          <p:cNvSpPr/>
          <p:nvPr/>
        </p:nvSpPr>
        <p:spPr>
          <a:xfrm>
            <a:off x="8113302" y="2206432"/>
            <a:ext cx="3751010" cy="1093695"/>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40" name="Case 4 - question 2">
            <a:extLst>
              <a:ext uri="{FF2B5EF4-FFF2-40B4-BE49-F238E27FC236}">
                <a16:creationId xmlns:a16="http://schemas.microsoft.com/office/drawing/2014/main" id="{00315A18-00C4-42C5-9C89-5019D2E0B091}"/>
              </a:ext>
            </a:extLst>
          </p:cNvPr>
          <p:cNvSpPr/>
          <p:nvPr/>
        </p:nvSpPr>
        <p:spPr>
          <a:xfrm>
            <a:off x="8128121" y="4907960"/>
            <a:ext cx="3818006" cy="1423701"/>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43" name="Case 4 - answer 1">
            <a:extLst>
              <a:ext uri="{FF2B5EF4-FFF2-40B4-BE49-F238E27FC236}">
                <a16:creationId xmlns:a16="http://schemas.microsoft.com/office/drawing/2014/main" id="{0EBEB181-81BD-4935-BF8E-E90FD179405E}"/>
              </a:ext>
            </a:extLst>
          </p:cNvPr>
          <p:cNvSpPr/>
          <p:nvPr/>
        </p:nvSpPr>
        <p:spPr>
          <a:xfrm>
            <a:off x="8113302" y="2206433"/>
            <a:ext cx="3751010" cy="10936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He has stable AF with RVR. Given </a:t>
            </a:r>
            <a:r>
              <a:rPr lang="en-US" sz="1600" dirty="0" err="1"/>
              <a:t>HFrEF</a:t>
            </a:r>
            <a:r>
              <a:rPr lang="en-US" sz="1600" dirty="0"/>
              <a:t>, he should not receive CCBs. </a:t>
            </a:r>
            <a:r>
              <a:rPr lang="el-GR" sz="1600" dirty="0"/>
              <a:t>Β</a:t>
            </a:r>
            <a:r>
              <a:rPr lang="en-US" sz="1600" dirty="0"/>
              <a:t>-blockers can be used in compensated </a:t>
            </a:r>
            <a:r>
              <a:rPr lang="en-US" sz="1600" dirty="0" err="1"/>
              <a:t>HFrEF</a:t>
            </a:r>
            <a:r>
              <a:rPr lang="en-US" sz="1600" dirty="0"/>
              <a:t>. Give IV metoprolol 5 mg. </a:t>
            </a:r>
          </a:p>
        </p:txBody>
      </p:sp>
      <p:sp>
        <p:nvSpPr>
          <p:cNvPr id="44" name="Case 3 - answer2">
            <a:extLst>
              <a:ext uri="{FF2B5EF4-FFF2-40B4-BE49-F238E27FC236}">
                <a16:creationId xmlns:a16="http://schemas.microsoft.com/office/drawing/2014/main" id="{E832D7C1-2453-49C1-845B-A4238F5A4D0C}"/>
              </a:ext>
            </a:extLst>
          </p:cNvPr>
          <p:cNvSpPr/>
          <p:nvPr/>
        </p:nvSpPr>
        <p:spPr>
          <a:xfrm>
            <a:off x="8103487" y="4911449"/>
            <a:ext cx="3843726" cy="1420212"/>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He remains stable but has low BPs from IV metoprolol. Digoxin is the only BP neutral medication and has positive inotropy and should be used as your next agent. </a:t>
            </a:r>
          </a:p>
          <a:p>
            <a:pPr algn="ctr"/>
            <a:r>
              <a:rPr lang="en-US" sz="1600" dirty="0"/>
              <a:t>Give an IV load of 0.25 – 0.5 mg digoxin. </a:t>
            </a:r>
          </a:p>
        </p:txBody>
      </p:sp>
      <p:sp>
        <p:nvSpPr>
          <p:cNvPr id="59" name="Case 1 text">
            <a:extLst>
              <a:ext uri="{FF2B5EF4-FFF2-40B4-BE49-F238E27FC236}">
                <a16:creationId xmlns:a16="http://schemas.microsoft.com/office/drawing/2014/main" id="{AE6C0832-3F0D-4A68-BB1D-0FD94F16134A}"/>
              </a:ext>
            </a:extLst>
          </p:cNvPr>
          <p:cNvSpPr txBox="1"/>
          <p:nvPr/>
        </p:nvSpPr>
        <p:spPr>
          <a:xfrm>
            <a:off x="178817" y="3307277"/>
            <a:ext cx="3493774" cy="584775"/>
          </a:xfrm>
          <a:prstGeom prst="rect">
            <a:avLst/>
          </a:prstGeom>
          <a:noFill/>
        </p:spPr>
        <p:txBody>
          <a:bodyPr wrap="square" lIns="91440" tIns="45720" rIns="91440" bIns="45720" rtlCol="0" anchor="t">
            <a:spAutoFit/>
          </a:bodyPr>
          <a:lstStyle/>
          <a:p>
            <a:r>
              <a:rPr lang="en-US" sz="1600" dirty="0">
                <a:ea typeface="+mn-lt"/>
                <a:cs typeface="+mn-lt"/>
              </a:rPr>
              <a:t>He receives IV metoprolol 5 mg and his HRs improve to 140s. BPs are 110/70s. </a:t>
            </a:r>
          </a:p>
        </p:txBody>
      </p:sp>
      <p:sp>
        <p:nvSpPr>
          <p:cNvPr id="45" name="Case 1 text">
            <a:extLst>
              <a:ext uri="{FF2B5EF4-FFF2-40B4-BE49-F238E27FC236}">
                <a16:creationId xmlns:a16="http://schemas.microsoft.com/office/drawing/2014/main" id="{C420C5FA-582E-4B92-8150-30E2066E598D}"/>
              </a:ext>
            </a:extLst>
          </p:cNvPr>
          <p:cNvSpPr txBox="1"/>
          <p:nvPr/>
        </p:nvSpPr>
        <p:spPr>
          <a:xfrm>
            <a:off x="144854" y="4757212"/>
            <a:ext cx="3609253" cy="584775"/>
          </a:xfrm>
          <a:prstGeom prst="rect">
            <a:avLst/>
          </a:prstGeom>
          <a:noFill/>
        </p:spPr>
        <p:txBody>
          <a:bodyPr wrap="square" lIns="91440" tIns="45720" rIns="91440" bIns="45720" rtlCol="0" anchor="t">
            <a:spAutoFit/>
          </a:bodyPr>
          <a:lstStyle/>
          <a:p>
            <a:r>
              <a:rPr lang="en-US" sz="1600" dirty="0">
                <a:ea typeface="+mn-lt"/>
                <a:cs typeface="+mn-lt"/>
              </a:rPr>
              <a:t>He receives IV metoprolol 5 mg and his HRs improve to 120s. BPs are 100/70s. </a:t>
            </a:r>
          </a:p>
        </p:txBody>
      </p:sp>
      <p:sp>
        <p:nvSpPr>
          <p:cNvPr id="55" name="Case 3 button">
            <a:extLst>
              <a:ext uri="{FF2B5EF4-FFF2-40B4-BE49-F238E27FC236}">
                <a16:creationId xmlns:a16="http://schemas.microsoft.com/office/drawing/2014/main" id="{64C2F726-5122-445D-91FF-3C9DF1D09BF5}"/>
              </a:ext>
            </a:extLst>
          </p:cNvPr>
          <p:cNvSpPr/>
          <p:nvPr/>
        </p:nvSpPr>
        <p:spPr>
          <a:xfrm>
            <a:off x="4723861" y="3604534"/>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3</a:t>
            </a:r>
          </a:p>
        </p:txBody>
      </p:sp>
      <p:pic>
        <p:nvPicPr>
          <p:cNvPr id="63" name="Graphic 62" descr="Cursor with solid fill">
            <a:extLst>
              <a:ext uri="{FF2B5EF4-FFF2-40B4-BE49-F238E27FC236}">
                <a16:creationId xmlns:a16="http://schemas.microsoft.com/office/drawing/2014/main" id="{87092A6B-46D4-47C1-A01D-D19A340789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99467" y="3882638"/>
            <a:ext cx="302506" cy="302506"/>
          </a:xfrm>
          <a:prstGeom prst="rect">
            <a:avLst/>
          </a:prstGeom>
        </p:spPr>
      </p:pic>
      <p:sp>
        <p:nvSpPr>
          <p:cNvPr id="69" name="Case 3 text">
            <a:extLst>
              <a:ext uri="{FF2B5EF4-FFF2-40B4-BE49-F238E27FC236}">
                <a16:creationId xmlns:a16="http://schemas.microsoft.com/office/drawing/2014/main" id="{CA1C3D40-D898-4561-8FD8-777418E30E3F}"/>
              </a:ext>
            </a:extLst>
          </p:cNvPr>
          <p:cNvSpPr txBox="1"/>
          <p:nvPr/>
        </p:nvSpPr>
        <p:spPr>
          <a:xfrm>
            <a:off x="4071116" y="4102190"/>
            <a:ext cx="3751011" cy="1077218"/>
          </a:xfrm>
          <a:prstGeom prst="rect">
            <a:avLst/>
          </a:prstGeom>
          <a:noFill/>
        </p:spPr>
        <p:txBody>
          <a:bodyPr wrap="square" lIns="91440" tIns="45720" rIns="91440" bIns="45720" rtlCol="0" anchor="t">
            <a:spAutoFit/>
          </a:bodyPr>
          <a:lstStyle/>
          <a:p>
            <a:r>
              <a:rPr lang="en-US" sz="1600" dirty="0">
                <a:ea typeface="+mn-lt"/>
                <a:cs typeface="+mn-lt"/>
              </a:rPr>
              <a:t>68 </a:t>
            </a:r>
            <a:r>
              <a:rPr lang="en-US" sz="1600" dirty="0" err="1">
                <a:ea typeface="+mn-lt"/>
                <a:cs typeface="+mn-lt"/>
              </a:rPr>
              <a:t>yo</a:t>
            </a:r>
            <a:r>
              <a:rPr lang="en-US" sz="1600" dirty="0">
                <a:ea typeface="+mn-lt"/>
                <a:cs typeface="+mn-lt"/>
              </a:rPr>
              <a:t> M with AF with RVR currently on an esmolol drip in the ICU. You are called for HRs in the 160s, BPs that dropped to 85/palp, and the patient is unresponsive. </a:t>
            </a:r>
          </a:p>
        </p:txBody>
      </p:sp>
      <p:sp>
        <p:nvSpPr>
          <p:cNvPr id="71" name="Case 4 text 2">
            <a:extLst>
              <a:ext uri="{FF2B5EF4-FFF2-40B4-BE49-F238E27FC236}">
                <a16:creationId xmlns:a16="http://schemas.microsoft.com/office/drawing/2014/main" id="{9C80FD32-0CE9-474B-9D09-BC9DF51E5991}"/>
              </a:ext>
            </a:extLst>
          </p:cNvPr>
          <p:cNvSpPr txBox="1"/>
          <p:nvPr/>
        </p:nvSpPr>
        <p:spPr>
          <a:xfrm>
            <a:off x="8128121" y="3429000"/>
            <a:ext cx="3829339" cy="1323439"/>
          </a:xfrm>
          <a:prstGeom prst="rect">
            <a:avLst/>
          </a:prstGeom>
          <a:noFill/>
        </p:spPr>
        <p:txBody>
          <a:bodyPr wrap="square" lIns="91440" tIns="45720" rIns="91440" bIns="45720" rtlCol="0" anchor="t">
            <a:spAutoFit/>
          </a:bodyPr>
          <a:lstStyle/>
          <a:p>
            <a:r>
              <a:rPr lang="en-US" sz="1600" dirty="0">
                <a:ea typeface="+mn-lt"/>
                <a:cs typeface="+mn-lt"/>
              </a:rPr>
              <a:t>He receives IV metoprolol 5 mg x 3 and his HRs improve to 140s. BPs are 90/60s. He reports palpitations, but no chest pain, dyspnea, or altered mentation. BMP is normal. Urine output is adequate. </a:t>
            </a:r>
          </a:p>
        </p:txBody>
      </p:sp>
      <p:sp>
        <p:nvSpPr>
          <p:cNvPr id="73" name="Rectangle: Rounded Corners 72">
            <a:hlinkClick r:id="rId5" action="ppaction://hlinksldjump"/>
            <a:extLst>
              <a:ext uri="{FF2B5EF4-FFF2-40B4-BE49-F238E27FC236}">
                <a16:creationId xmlns:a16="http://schemas.microsoft.com/office/drawing/2014/main" id="{FEB025B9-BC6D-42C8-81F3-78A681DE9F40}"/>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74" name="Graphic 73" descr="Cursor with solid fill">
            <a:extLst>
              <a:ext uri="{FF2B5EF4-FFF2-40B4-BE49-F238E27FC236}">
                <a16:creationId xmlns:a16="http://schemas.microsoft.com/office/drawing/2014/main" id="{4F2CF34C-DFED-4B44-A1F7-9A5B7FC2B7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08338" y="272732"/>
            <a:ext cx="278936" cy="278936"/>
          </a:xfrm>
          <a:prstGeom prst="rect">
            <a:avLst/>
          </a:prstGeom>
        </p:spPr>
      </p:pic>
      <p:sp>
        <p:nvSpPr>
          <p:cNvPr id="75" name="Rectangle: Rounded Corners 74">
            <a:hlinkClick r:id="rId6" action="ppaction://hlinksldjump"/>
            <a:extLst>
              <a:ext uri="{FF2B5EF4-FFF2-40B4-BE49-F238E27FC236}">
                <a16:creationId xmlns:a16="http://schemas.microsoft.com/office/drawing/2014/main" id="{93F2C015-4F2A-4466-BAA8-DD3D66EE018B}"/>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76" name="Graphic 75" descr="Cursor with solid fill">
            <a:extLst>
              <a:ext uri="{FF2B5EF4-FFF2-40B4-BE49-F238E27FC236}">
                <a16:creationId xmlns:a16="http://schemas.microsoft.com/office/drawing/2014/main" id="{508F1461-7348-4D39-AEDF-44C4F13170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94548" y="666455"/>
            <a:ext cx="278936" cy="278936"/>
          </a:xfrm>
          <a:prstGeom prst="rect">
            <a:avLst/>
          </a:prstGeom>
        </p:spPr>
      </p:pic>
      <p:sp>
        <p:nvSpPr>
          <p:cNvPr id="80" name="Rectangle: Rounded Corners 79">
            <a:hlinkClick r:id="rId7" action="ppaction://hlinksldjump"/>
            <a:extLst>
              <a:ext uri="{FF2B5EF4-FFF2-40B4-BE49-F238E27FC236}">
                <a16:creationId xmlns:a16="http://schemas.microsoft.com/office/drawing/2014/main" id="{469AB1CA-CBE0-4B06-B8B2-870BC8663B73}"/>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83" name="Graphic 82" descr="Cursor with solid fill">
            <a:extLst>
              <a:ext uri="{FF2B5EF4-FFF2-40B4-BE49-F238E27FC236}">
                <a16:creationId xmlns:a16="http://schemas.microsoft.com/office/drawing/2014/main" id="{B47B2543-0556-451D-86C9-99A0C2DEA9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12507" y="1070433"/>
            <a:ext cx="280861" cy="280861"/>
          </a:xfrm>
          <a:prstGeom prst="rect">
            <a:avLst/>
          </a:prstGeom>
        </p:spPr>
      </p:pic>
      <p:sp>
        <p:nvSpPr>
          <p:cNvPr id="84" name="Rectangle: Rounded Corners 83">
            <a:hlinkClick r:id="rId8" action="ppaction://hlinksldjump"/>
            <a:extLst>
              <a:ext uri="{FF2B5EF4-FFF2-40B4-BE49-F238E27FC236}">
                <a16:creationId xmlns:a16="http://schemas.microsoft.com/office/drawing/2014/main" id="{E1985927-4CEE-4ECD-88DC-C07CC72F0812}"/>
              </a:ext>
            </a:extLst>
          </p:cNvPr>
          <p:cNvSpPr/>
          <p:nvPr/>
        </p:nvSpPr>
        <p:spPr>
          <a:xfrm>
            <a:off x="11254877" y="1392441"/>
            <a:ext cx="779139" cy="35031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Cases</a:t>
            </a:r>
          </a:p>
        </p:txBody>
      </p:sp>
      <p:pic>
        <p:nvPicPr>
          <p:cNvPr id="41" name="Graphic 40" descr="Cursor with solid fill">
            <a:extLst>
              <a:ext uri="{FF2B5EF4-FFF2-40B4-BE49-F238E27FC236}">
                <a16:creationId xmlns:a16="http://schemas.microsoft.com/office/drawing/2014/main" id="{2111EB1C-4093-B647-896E-23DA53903F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05007" y="3099561"/>
            <a:ext cx="302506" cy="302506"/>
          </a:xfrm>
          <a:prstGeom prst="rect">
            <a:avLst/>
          </a:prstGeom>
        </p:spPr>
      </p:pic>
      <p:pic>
        <p:nvPicPr>
          <p:cNvPr id="42" name="Graphic 41" descr="Cursor with solid fill">
            <a:extLst>
              <a:ext uri="{FF2B5EF4-FFF2-40B4-BE49-F238E27FC236}">
                <a16:creationId xmlns:a16="http://schemas.microsoft.com/office/drawing/2014/main" id="{CA55D70C-9178-F947-B4C3-672FC0A287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18497" y="4496712"/>
            <a:ext cx="302506" cy="302506"/>
          </a:xfrm>
          <a:prstGeom prst="rect">
            <a:avLst/>
          </a:prstGeom>
        </p:spPr>
      </p:pic>
      <p:pic>
        <p:nvPicPr>
          <p:cNvPr id="46" name="Graphic 45" descr="Cursor with solid fill">
            <a:extLst>
              <a:ext uri="{FF2B5EF4-FFF2-40B4-BE49-F238E27FC236}">
                <a16:creationId xmlns:a16="http://schemas.microsoft.com/office/drawing/2014/main" id="{CEE303DE-E503-244C-9AA3-9F02753C4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03675" y="6503517"/>
            <a:ext cx="302506" cy="302506"/>
          </a:xfrm>
          <a:prstGeom prst="rect">
            <a:avLst/>
          </a:prstGeom>
        </p:spPr>
      </p:pic>
      <p:pic>
        <p:nvPicPr>
          <p:cNvPr id="47" name="Graphic 46" descr="Cursor with solid fill">
            <a:extLst>
              <a:ext uri="{FF2B5EF4-FFF2-40B4-BE49-F238E27FC236}">
                <a16:creationId xmlns:a16="http://schemas.microsoft.com/office/drawing/2014/main" id="{AFA88892-16B7-974D-BD16-01B0B44022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18924" y="3064538"/>
            <a:ext cx="302506" cy="302506"/>
          </a:xfrm>
          <a:prstGeom prst="rect">
            <a:avLst/>
          </a:prstGeom>
        </p:spPr>
      </p:pic>
      <p:pic>
        <p:nvPicPr>
          <p:cNvPr id="48" name="Graphic 47" descr="Cursor with solid fill">
            <a:extLst>
              <a:ext uri="{FF2B5EF4-FFF2-40B4-BE49-F238E27FC236}">
                <a16:creationId xmlns:a16="http://schemas.microsoft.com/office/drawing/2014/main" id="{E78408BF-9D77-9549-8216-8E6EC83FE6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05670" y="6389276"/>
            <a:ext cx="302506" cy="302506"/>
          </a:xfrm>
          <a:prstGeom prst="rect">
            <a:avLst/>
          </a:prstGeom>
        </p:spPr>
      </p:pic>
      <p:pic>
        <p:nvPicPr>
          <p:cNvPr id="49" name="Graphic 48" descr="Cursor with solid fill">
            <a:extLst>
              <a:ext uri="{FF2B5EF4-FFF2-40B4-BE49-F238E27FC236}">
                <a16:creationId xmlns:a16="http://schemas.microsoft.com/office/drawing/2014/main" id="{98196197-1D96-A040-BB2E-0ACB74569D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31510" y="3153142"/>
            <a:ext cx="302506" cy="302506"/>
          </a:xfrm>
          <a:prstGeom prst="rect">
            <a:avLst/>
          </a:prstGeom>
        </p:spPr>
      </p:pic>
      <p:pic>
        <p:nvPicPr>
          <p:cNvPr id="50" name="Graphic 49" descr="Cursor with solid fill">
            <a:extLst>
              <a:ext uri="{FF2B5EF4-FFF2-40B4-BE49-F238E27FC236}">
                <a16:creationId xmlns:a16="http://schemas.microsoft.com/office/drawing/2014/main" id="{C8A0089A-9022-3E4A-AF00-0A5F9E773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5843" y="6184676"/>
            <a:ext cx="302506" cy="302506"/>
          </a:xfrm>
          <a:prstGeom prst="rect">
            <a:avLst/>
          </a:prstGeom>
        </p:spPr>
      </p:pic>
      <p:cxnSp>
        <p:nvCxnSpPr>
          <p:cNvPr id="51" name="Straight Connector 50">
            <a:extLst>
              <a:ext uri="{FF2B5EF4-FFF2-40B4-BE49-F238E27FC236}">
                <a16:creationId xmlns:a16="http://schemas.microsoft.com/office/drawing/2014/main" id="{177AB94E-F765-487A-8486-18907991A683}"/>
              </a:ext>
            </a:extLst>
          </p:cNvPr>
          <p:cNvCxnSpPr>
            <a:cxnSpLocks/>
          </p:cNvCxnSpPr>
          <p:nvPr/>
        </p:nvCxnSpPr>
        <p:spPr>
          <a:xfrm>
            <a:off x="3930275" y="3395633"/>
            <a:ext cx="3994754" cy="12795"/>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057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6"/>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47"/>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4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11"/>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56"/>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30" restart="whenNotActive" fill="hold" evtFilter="cancelBubble" nodeType="interactiveSeq">
                <p:stCondLst>
                  <p:cond evt="onClick" delay="0">
                    <p:tgtEl>
                      <p:spTgt spid="28"/>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4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43" restart="whenNotActive" fill="hold" evtFilter="cancelBubble" nodeType="interactiveSeq">
                <p:stCondLst>
                  <p:cond evt="onClick" delay="0">
                    <p:tgtEl>
                      <p:spTgt spid="31"/>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42"/>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56" restart="whenNotActive" fill="hold" evtFilter="cancelBubble" nodeType="interactiveSeq">
                <p:stCondLst>
                  <p:cond evt="onClick" delay="0">
                    <p:tgtEl>
                      <p:spTgt spid="30"/>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63" restart="whenNotActive" fill="hold" evtFilter="cancelBubble" nodeType="interactiveSeq">
                <p:stCondLst>
                  <p:cond evt="onClick" delay="0">
                    <p:tgtEl>
                      <p:spTgt spid="129"/>
                    </p:tgtEl>
                  </p:cond>
                </p:stCondLst>
                <p:endSync evt="end" delay="0">
                  <p:rtn val="all"/>
                </p:endSync>
                <p:childTnLst>
                  <p:par>
                    <p:cTn id="64" fill="hold">
                      <p:stCondLst>
                        <p:cond delay="0"/>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7"/>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31"/>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81"/>
                                        </p:tgtEl>
                                        <p:attrNameLst>
                                          <p:attrName>style.visibility</p:attrName>
                                        </p:attrNameLst>
                                      </p:cBhvr>
                                      <p:to>
                                        <p:strVal val="hidden"/>
                                      </p:to>
                                    </p:set>
                                  </p:childTnLst>
                                </p:cTn>
                              </p:par>
                              <p:par>
                                <p:cTn id="72" presetID="1" presetClass="entr" presetSubtype="0" fill="hold" nodeType="withEffect">
                                  <p:stCondLst>
                                    <p:cond delay="0"/>
                                  </p:stCondLst>
                                  <p:childTnLst>
                                    <p:set>
                                      <p:cBhvr>
                                        <p:cTn id="73"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74" restart="whenNotActive" fill="hold" evtFilter="cancelBubble" nodeType="interactiveSeq">
                <p:stCondLst>
                  <p:cond evt="onClick" delay="0">
                    <p:tgtEl>
                      <p:spTgt spid="57"/>
                    </p:tgtEl>
                  </p:cond>
                </p:stCondLst>
                <p:endSync evt="end" delay="0">
                  <p:rtn val="all"/>
                </p:endSync>
                <p:childTnLst>
                  <p:par>
                    <p:cTn id="75" fill="hold">
                      <p:stCondLst>
                        <p:cond delay="0"/>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1"/>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81" restart="whenNotActive" fill="hold" evtFilter="cancelBubble" nodeType="interactiveSeq">
                <p:stCondLst>
                  <p:cond evt="onClick" delay="0">
                    <p:tgtEl>
                      <p:spTgt spid="58"/>
                    </p:tgtEl>
                  </p:cond>
                </p:stCondLst>
                <p:endSync evt="end" delay="0">
                  <p:rtn val="all"/>
                </p:endSync>
                <p:childTnLst>
                  <p:par>
                    <p:cTn id="82" fill="hold">
                      <p:stCondLst>
                        <p:cond delay="0"/>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par>
                                <p:cTn id="86" presetID="1" presetClass="exit" presetSubtype="0" fill="hold" nodeType="withEffect">
                                  <p:stCondLst>
                                    <p:cond delay="0"/>
                                  </p:stCondLst>
                                  <p:childTnLst>
                                    <p:set>
                                      <p:cBhvr>
                                        <p:cTn id="87"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88" restart="whenNotActive" fill="hold" evtFilter="cancelBubble" nodeType="interactiveSeq">
                <p:stCondLst>
                  <p:cond evt="onClick" delay="0">
                    <p:tgtEl>
                      <p:spTgt spid="39"/>
                    </p:tgtEl>
                  </p:cond>
                </p:stCondLst>
                <p:endSync evt="end" delay="0">
                  <p:rtn val="all"/>
                </p:endSync>
                <p:childTnLst>
                  <p:par>
                    <p:cTn id="89" fill="hold">
                      <p:stCondLst>
                        <p:cond delay="0"/>
                      </p:stCondLst>
                      <p:childTnLst>
                        <p:par>
                          <p:cTn id="90" fill="hold">
                            <p:stCondLst>
                              <p:cond delay="0"/>
                            </p:stCondLst>
                            <p:childTnLst>
                              <p:par>
                                <p:cTn id="91" presetID="1" presetClass="entr" presetSubtype="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49"/>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50"/>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103" restart="whenNotActive" fill="hold" evtFilter="cancelBubble" nodeType="interactiveSeq">
                <p:stCondLst>
                  <p:cond evt="onClick" delay="0">
                    <p:tgtEl>
                      <p:spTgt spid="40"/>
                    </p:tgtEl>
                  </p:cond>
                </p:stCondLst>
                <p:endSync evt="end" delay="0">
                  <p:rtn val="all"/>
                </p:endSync>
                <p:childTnLst>
                  <p:par>
                    <p:cTn id="104" fill="hold">
                      <p:stCondLst>
                        <p:cond delay="0"/>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44"/>
                                        </p:tgtEl>
                                        <p:attrNameLst>
                                          <p:attrName>style.visibility</p:attrName>
                                        </p:attrNameLst>
                                      </p:cBhvr>
                                      <p:to>
                                        <p:strVal val="visible"/>
                                      </p:to>
                                    </p:set>
                                  </p:childTnLst>
                                </p:cTn>
                              </p:par>
                              <p:par>
                                <p:cTn id="108" presetID="1" presetClass="exit" presetSubtype="0" fill="hold" nodeType="withEffect">
                                  <p:stCondLst>
                                    <p:cond delay="0"/>
                                  </p:stCondLst>
                                  <p:childTnLst>
                                    <p:set>
                                      <p:cBhvr>
                                        <p:cTn id="109"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110" restart="whenNotActive" fill="hold" evtFilter="cancelBubble" nodeType="interactiveSeq">
                <p:stCondLst>
                  <p:cond evt="onClick" delay="0">
                    <p:tgtEl>
                      <p:spTgt spid="146"/>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4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39"/>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82"/>
                                        </p:tgtEl>
                                        <p:attrNameLst>
                                          <p:attrName>style.visibility</p:attrName>
                                        </p:attrNameLst>
                                      </p:cBhvr>
                                      <p:to>
                                        <p:strVal val="hidden"/>
                                      </p:to>
                                    </p:set>
                                  </p:childTnLst>
                                </p:cTn>
                              </p:par>
                              <p:par>
                                <p:cTn id="119" presetID="1" presetClass="entr" presetSubtype="0" fill="hold" nodeType="withEffect">
                                  <p:stCondLst>
                                    <p:cond delay="0"/>
                                  </p:stCondLst>
                                  <p:childTnLst>
                                    <p:set>
                                      <p:cBhvr>
                                        <p:cTn id="120" dur="1" fill="hold">
                                          <p:stCondLst>
                                            <p:cond delay="0"/>
                                          </p:stCondLst>
                                        </p:cTn>
                                        <p:tgtEl>
                                          <p:spTgt spid="49"/>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121" restart="whenNotActive" fill="hold" evtFilter="cancelBubble" nodeType="interactiveSeq">
                <p:stCondLst>
                  <p:cond evt="onClick" delay="0">
                    <p:tgtEl>
                      <p:spTgt spid="55"/>
                    </p:tgtEl>
                  </p:cond>
                </p:stCondLst>
                <p:endSync evt="end" delay="0">
                  <p:rtn val="all"/>
                </p:endSync>
                <p:childTnLst>
                  <p:par>
                    <p:cTn id="122" fill="hold">
                      <p:stCondLst>
                        <p:cond delay="0"/>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69"/>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58"/>
                                        </p:tgtEl>
                                        <p:attrNameLst>
                                          <p:attrName>style.visibility</p:attrName>
                                        </p:attrNameLst>
                                      </p:cBhvr>
                                      <p:to>
                                        <p:strVal val="visible"/>
                                      </p:to>
                                    </p:set>
                                  </p:childTnLst>
                                </p:cTn>
                              </p:par>
                              <p:par>
                                <p:cTn id="128" presetID="1" presetClass="exit" presetSubtype="0" fill="hold" nodeType="withEffect">
                                  <p:stCondLst>
                                    <p:cond delay="0"/>
                                  </p:stCondLst>
                                  <p:childTnLst>
                                    <p:set>
                                      <p:cBhvr>
                                        <p:cTn id="129" dur="1" fill="hold">
                                          <p:stCondLst>
                                            <p:cond delay="0"/>
                                          </p:stCondLst>
                                        </p:cTn>
                                        <p:tgtEl>
                                          <p:spTgt spid="63"/>
                                        </p:tgtEl>
                                        <p:attrNameLst>
                                          <p:attrName>style.visibility</p:attrName>
                                        </p:attrNameLst>
                                      </p:cBhvr>
                                      <p:to>
                                        <p:strVal val="hidden"/>
                                      </p:to>
                                    </p:set>
                                  </p:childTnLst>
                                </p:cTn>
                              </p:par>
                              <p:par>
                                <p:cTn id="130" presetID="1"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childTnLst>
                                </p:cTn>
                              </p:par>
                            </p:childTnLst>
                          </p:cTn>
                        </p:par>
                      </p:childTnLst>
                    </p:cTn>
                  </p:par>
                </p:childTnLst>
              </p:cTn>
              <p:nextCondLst>
                <p:cond evt="onClick" delay="0">
                  <p:tgtEl>
                    <p:spTgt spid="55"/>
                  </p:tgtEl>
                </p:cond>
              </p:nextCondLst>
            </p:seq>
          </p:childTnLst>
        </p:cTn>
      </p:par>
    </p:tnLst>
    <p:bldLst>
      <p:bldP spid="13" grpId="0"/>
      <p:bldP spid="28" grpId="0" animBg="1"/>
      <p:bldP spid="31" grpId="0" animBg="1"/>
      <p:bldP spid="30" grpId="0" animBg="1"/>
      <p:bldP spid="33" grpId="0" animBg="1"/>
      <p:bldP spid="34" grpId="0" animBg="1"/>
      <p:bldP spid="36" grpId="0" animBg="1"/>
      <p:bldP spid="131" grpId="0"/>
      <p:bldP spid="148" grpId="0"/>
      <p:bldP spid="61" grpId="0" animBg="1"/>
      <p:bldP spid="62" grpId="0" animBg="1"/>
      <p:bldP spid="43" grpId="0" animBg="1"/>
      <p:bldP spid="44" grpId="0" animBg="1"/>
      <p:bldP spid="59" grpId="0"/>
      <p:bldP spid="45" grpId="0"/>
      <p:bldP spid="69" grpId="0"/>
      <p:bldP spid="71"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2023 ACC/AHA/ACCP/HRS — Currency Note</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900"/>
              </a:spcAft>
            </a:pPr>
            <a:r>
              <a:rPr sz="1800" b="1">
                <a:solidFill>
                  <a:srgbClr val="0E6E8C"/>
                </a:solidFill>
                <a:latin typeface="Calibri"/>
              </a:rPr>
              <a:t>•  </a:t>
            </a:r>
            <a:r>
              <a:rPr sz="1800" b="1">
                <a:solidFill>
                  <a:srgbClr val="222222"/>
                </a:solidFill>
                <a:latin typeface="Calibri"/>
              </a:rPr>
              <a:t>Acute rate-control teaching is unchanged: BB or non-DHP CCB first-line; digoxin and amiodarone second-line; lenient resting HR &lt;110 is acceptable when asymptomatic with preserved LVEF (RACE II).</a:t>
            </a:r>
          </a:p>
          <a:p>
            <a:pPr>
              <a:spcAft>
                <a:spcPts val="900"/>
              </a:spcAft>
            </a:pPr>
            <a:r>
              <a:rPr sz="1800" b="1">
                <a:solidFill>
                  <a:srgbClr val="0E6E8C"/>
                </a:solidFill>
                <a:latin typeface="Calibri"/>
              </a:rPr>
              <a:t>•  </a:t>
            </a:r>
            <a:r>
              <a:rPr sz="1800" b="0">
                <a:solidFill>
                  <a:srgbClr val="222222"/>
                </a:solidFill>
                <a:latin typeface="Calibri"/>
              </a:rPr>
              <a:t>Avoid non-DHP CCBs (diltiazem/verapamil) in HFrEF — use a β-blocker once compensated; amiodarone or digoxin if BP-limited (as in the deck's cases).</a:t>
            </a:r>
          </a:p>
          <a:p>
            <a:pPr>
              <a:spcAft>
                <a:spcPts val="900"/>
              </a:spcAft>
            </a:pPr>
            <a:r>
              <a:rPr sz="1800" b="1">
                <a:solidFill>
                  <a:srgbClr val="0E6E8C"/>
                </a:solidFill>
                <a:latin typeface="Calibri"/>
              </a:rPr>
              <a:t>•  </a:t>
            </a:r>
            <a:r>
              <a:rPr sz="1800" b="0">
                <a:solidFill>
                  <a:srgbClr val="222222"/>
                </a:solidFill>
                <a:latin typeface="Calibri"/>
              </a:rPr>
              <a:t>Unstable AF (hypotension, ischemia, AMS, shock) → synchronized DCCV without delay — unchanged.</a:t>
            </a:r>
          </a:p>
          <a:p>
            <a:pPr>
              <a:spcAft>
                <a:spcPts val="500"/>
              </a:spcAft>
            </a:pPr>
            <a:r>
              <a:rPr sz="1700" b="1">
                <a:solidFill>
                  <a:srgbClr val="0E6E8C"/>
                </a:solidFill>
                <a:latin typeface="Calibri"/>
              </a:rPr>
              <a:t>•  </a:t>
            </a:r>
            <a:r>
              <a:rPr sz="1700" b="0">
                <a:solidFill>
                  <a:srgbClr val="222222"/>
                </a:solidFill>
                <a:latin typeface="Calibri"/>
              </a:rPr>
              <a:t>Cardioversion + anticoagulation: if AF ≥48 h or unknown duration, ≥3 wk therapeutic anticoagulation before, OR a TEE to exclude thrombus; then ≥4 wk after regardless of CHA₂DS₂-VASc. Long-term stroke prophylaxis by CHA₂DS₂-VASc (2023 ACC); the 2024 ESC uses CHA₂DS₂-VA (drops the sex category).</a:t>
            </a:r>
          </a:p>
          <a:p>
            <a:pPr>
              <a:spcAft>
                <a:spcPts val="0"/>
              </a:spcAft>
            </a:pPr>
            <a:r>
              <a:rPr sz="1300" b="0">
                <a:solidFill>
                  <a:srgbClr val="555555"/>
                </a:solidFill>
                <a:latin typeface="Calibri"/>
              </a:rPr>
              <a:t>Source: 2023 ACC/AHA/ACCP/HRS AF Guideline (Circulation 2024); ESC 2024 AF Guideline.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Take-Home Points</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900"/>
              </a:spcAft>
            </a:pPr>
            <a:r>
              <a:rPr sz="1900" b="1">
                <a:solidFill>
                  <a:srgbClr val="0E6E8C"/>
                </a:solidFill>
                <a:latin typeface="Calibri"/>
              </a:rPr>
              <a:t>•  </a:t>
            </a:r>
            <a:r>
              <a:rPr sz="1900" b="1">
                <a:solidFill>
                  <a:srgbClr val="222222"/>
                </a:solidFill>
                <a:latin typeface="Calibri"/>
              </a:rPr>
              <a:t>AF with RVR on ECG = irregularly irregular, narrow QRS (&lt;120 ms), no discernible P waves, ventricular rate &gt;100.</a:t>
            </a:r>
          </a:p>
          <a:p>
            <a:pPr>
              <a:spcAft>
                <a:spcPts val="900"/>
              </a:spcAft>
            </a:pPr>
            <a:r>
              <a:rPr sz="1800" b="1">
                <a:solidFill>
                  <a:srgbClr val="0E6E8C"/>
                </a:solidFill>
                <a:latin typeface="Calibri"/>
              </a:rPr>
              <a:t>•  </a:t>
            </a:r>
            <a:r>
              <a:rPr sz="1800" b="0">
                <a:solidFill>
                  <a:srgbClr val="222222"/>
                </a:solidFill>
                <a:latin typeface="Calibri"/>
              </a:rPr>
              <a:t>Work up new AF for cardiac and non-cardiac triggers: TTE, BMP+Mg, CBC, TSH, ECG ± troponin; add CXR / OSA / tox / EtOH per the story.</a:t>
            </a:r>
          </a:p>
          <a:p>
            <a:pPr>
              <a:spcAft>
                <a:spcPts val="900"/>
              </a:spcAft>
            </a:pPr>
            <a:r>
              <a:rPr sz="1800" b="1">
                <a:solidFill>
                  <a:srgbClr val="0E6E8C"/>
                </a:solidFill>
                <a:latin typeface="Calibri"/>
              </a:rPr>
              <a:t>•  </a:t>
            </a:r>
            <a:r>
              <a:rPr sz="1800" b="0">
                <a:solidFill>
                  <a:srgbClr val="222222"/>
                </a:solidFill>
                <a:latin typeface="Calibri"/>
              </a:rPr>
              <a:t>First decide stability: unstable (SBP &lt;90, or SBP drop &gt;30 with CP/AMS/SOB) → synchronized DCCV 120–200 J; don't let sedation delay it.</a:t>
            </a:r>
          </a:p>
          <a:p>
            <a:pPr>
              <a:spcAft>
                <a:spcPts val="900"/>
              </a:spcAft>
            </a:pPr>
            <a:r>
              <a:rPr sz="1800" b="1">
                <a:solidFill>
                  <a:srgbClr val="0E6E8C"/>
                </a:solidFill>
                <a:latin typeface="Calibri"/>
              </a:rPr>
              <a:t>•  </a:t>
            </a:r>
            <a:r>
              <a:rPr sz="1800" b="0">
                <a:solidFill>
                  <a:srgbClr val="222222"/>
                </a:solidFill>
                <a:latin typeface="Calibri"/>
              </a:rPr>
              <a:t>If stable, rate-control to HR &lt;110: IV agents if HR &gt;130, oral if 110–130. BB and CCB are first-line; avoid CCB in HFrEF; digoxin is the BP-neutral choice; amiodarone favored in shock.</a:t>
            </a:r>
          </a:p>
          <a:p>
            <a:pPr>
              <a:spcAft>
                <a:spcPts val="500"/>
              </a:spcAft>
            </a:pPr>
            <a:r>
              <a:rPr sz="1800" b="1">
                <a:solidFill>
                  <a:srgbClr val="0E6E8C"/>
                </a:solidFill>
                <a:latin typeface="Calibri"/>
              </a:rPr>
              <a:t>•  </a:t>
            </a:r>
            <a:r>
              <a:rPr sz="1800" b="0">
                <a:solidFill>
                  <a:srgbClr val="222222"/>
                </a:solidFill>
                <a:latin typeface="Calibri"/>
              </a:rPr>
              <a:t>Anticoagulate anyone cardioverted (≥4 wk after) and guide long-term therapy by CHA₂DS₂-VASc.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200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300000" wrap="square"/>
          <a:lstStyle/>
          <a:p>
            <a:pPr algn="ctr"/>
            <a:r>
              <a:rPr sz="3000" b="1">
                <a:solidFill>
                  <a:srgbClr val="FFFFFF"/>
                </a:solidFill>
                <a:latin typeface="Calibri"/>
              </a:rPr>
              <a:t>Attribution &amp; Optimization Notes</a:t>
            </a:r>
          </a:p>
        </p:txBody>
      </p:sp>
      <p:sp>
        <p:nvSpPr>
          <p:cNvPr id="3" name="TextBox 2"/>
          <p:cNvSpPr txBox="1"/>
          <p:nvPr/>
        </p:nvSpPr>
        <p:spPr>
          <a:xfrm>
            <a:off x="500000" y="820000"/>
            <a:ext cx="11192000" cy="5738000"/>
          </a:xfrm>
          <a:prstGeom prst="rect">
            <a:avLst/>
          </a:prstGeom>
          <a:noFill/>
        </p:spPr>
        <p:txBody>
          <a:bodyPr wrap="square">
            <a:spAutoFit/>
          </a:bodyPr>
          <a:lstStyle/>
          <a:p>
            <a:pPr>
              <a:spcAft>
                <a:spcPts val="800"/>
              </a:spcAft>
            </a:pPr>
            <a:r>
              <a:rPr sz="1600" b="1">
                <a:solidFill>
                  <a:srgbClr val="0E6E8C"/>
                </a:solidFill>
                <a:latin typeface="Calibri"/>
              </a:rPr>
              <a:t>•  </a:t>
            </a:r>
            <a:r>
              <a:rPr sz="1600" b="1">
                <a:solidFill>
                  <a:srgbClr val="222222"/>
                </a:solidFill>
                <a:latin typeface="Calibri"/>
              </a:rPr>
              <a:t>Original: "Management of Atrial Fibrillation with Rapid Ventricular Response," TeachIM.org — Buchanan C, Prouse A, Zhang Y. Published April 2021.</a:t>
            </a:r>
          </a:p>
          <a:p>
            <a:pPr>
              <a:spcAft>
                <a:spcPts val="800"/>
              </a:spcAft>
            </a:pPr>
            <a:r>
              <a:rPr sz="1400" b="1">
                <a:solidFill>
                  <a:srgbClr val="0E6E8C"/>
                </a:solidFill>
                <a:latin typeface="Calibri"/>
              </a:rPr>
              <a:t>•  </a:t>
            </a:r>
            <a:r>
              <a:rPr sz="1400" b="0">
                <a:solidFill>
                  <a:srgbClr val="222222"/>
                </a:solidFill>
                <a:latin typeface="Calibri"/>
              </a:rPr>
              <a:t>Source URL: teachim.org/teaching_material/management-of-atrial-fibrillation-with-rapid-ventricular-response/</a:t>
            </a:r>
          </a:p>
          <a:p>
            <a:pPr>
              <a:spcAft>
                <a:spcPts val="800"/>
              </a:spcAft>
            </a:pPr>
            <a:r>
              <a:rPr sz="1500" b="1">
                <a:solidFill>
                  <a:srgbClr val="0E6E8C"/>
                </a:solidFill>
                <a:latin typeface="Calibri"/>
              </a:rPr>
              <a:t>•  </a:t>
            </a:r>
            <a:r>
              <a:rPr sz="1500" b="0">
                <a:solidFill>
                  <a:srgbClr val="222222"/>
                </a:solidFill>
                <a:latin typeface="Calibri"/>
              </a:rPr>
              <a:t>License: Creative Commons Attribution-NonCommercial 4.0 International (CC BY-NC 4.0). Educational use only; not medical advice.</a:t>
            </a:r>
          </a:p>
          <a:p>
            <a:pPr>
              <a:spcAft>
                <a:spcPts val="800"/>
              </a:spcAft>
            </a:pPr>
            <a:r>
              <a:rPr sz="1600" b="1">
                <a:solidFill>
                  <a:srgbClr val="0E6E8C"/>
                </a:solidFill>
                <a:latin typeface="Calibri"/>
              </a:rPr>
              <a:t>•  </a:t>
            </a:r>
            <a:r>
              <a:rPr sz="1600" b="0">
                <a:solidFill>
                  <a:srgbClr val="222222"/>
                </a:solidFill>
                <a:latin typeface="Calibri"/>
              </a:rPr>
              <a:t>Correction (this copy + learner board): drug-class label "CBB" → "CCB" (calcium channel blocker) on the Management slide — "CCB" is used correctly elsewhere in the same deck.</a:t>
            </a:r>
          </a:p>
          <a:p>
            <a:pPr>
              <a:spcAft>
                <a:spcPts val="800"/>
              </a:spcAft>
            </a:pPr>
            <a:r>
              <a:rPr sz="1600" b="1">
                <a:solidFill>
                  <a:srgbClr val="0E6E8C"/>
                </a:solidFill>
                <a:latin typeface="Calibri"/>
              </a:rPr>
              <a:t>•  </a:t>
            </a:r>
            <a:r>
              <a:rPr sz="1600" b="0">
                <a:solidFill>
                  <a:srgbClr val="222222"/>
                </a:solidFill>
                <a:latin typeface="Calibri"/>
              </a:rPr>
              <a:t>Added context: 2023 ACC/AHA/ACCP/HRS currency note (rate-control targets/agents unchanged; cardioversion anticoagulation rule; CHA₂DS₂-VASc vs ESC 2024 CHA₂DS₂-VA). Original animated slides preserved; content appended only.</a:t>
            </a:r>
          </a:p>
          <a:p>
            <a:pPr>
              <a:spcAft>
                <a:spcPts val="0"/>
              </a:spcAft>
            </a:pPr>
            <a:r>
              <a:rPr sz="1400" b="1">
                <a:solidFill>
                  <a:srgbClr val="0E6E8C"/>
                </a:solidFill>
                <a:latin typeface="Calibri"/>
              </a:rPr>
              <a:t>•  </a:t>
            </a:r>
            <a:r>
              <a:rPr sz="1400" b="0">
                <a:solidFill>
                  <a:srgbClr val="555555"/>
                </a:solidFill>
                <a:latin typeface="Calibri"/>
              </a:rPr>
              <a:t>Teaching (presenter) board optimized here; learner board included as a companion (same CBB→CCB fix). Optimized 2026-06-10. Clinician-review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22023</TotalTime>
  <Words>742</Words>
  <Application>Microsoft Office PowerPoint</Application>
  <PresentationFormat>Widescreen</PresentationFormat>
  <Paragraphs>133</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Buchanan, Cullen</dc:creator>
  <cp:lastModifiedBy>Yilin Zhang</cp:lastModifiedBy>
  <cp:revision>84</cp:revision>
  <dcterms:created xsi:type="dcterms:W3CDTF">2021-01-02T22:00:36Z</dcterms:created>
  <dcterms:modified xsi:type="dcterms:W3CDTF">2021-04-08T15:11:32Z</dcterms:modified>
</cp:coreProperties>
</file>