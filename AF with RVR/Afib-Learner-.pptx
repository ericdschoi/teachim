
<file path=[Content_Types].xml><?xml version="1.0" encoding="utf-8"?>
<Types xmlns="http://schemas.openxmlformats.org/package/2006/content-types">
  <Default Extension="png" ContentType="image/png"/>
  <Default Extension="svg" ContentType="image/svg+xml"/>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71" r:id="rId2"/>
    <p:sldId id="257" r:id="rId3"/>
    <p:sldId id="272" r:id="rId4"/>
    <p:sldId id="273" r:id="rId5"/>
    <p:sldId id="274" r:id="rId6"/>
    <p:sldId id="269"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Yilin Zhang" initials="YZ" lastIdx="5" clrIdx="0">
    <p:extLst>
      <p:ext uri="{19B8F6BF-5375-455C-9EA6-DF929625EA0E}">
        <p15:presenceInfo xmlns:p15="http://schemas.microsoft.com/office/powerpoint/2012/main" userId="8f8df916e9767cd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330" autoAdjust="0"/>
    <p:restoredTop sz="95728" autoAdjust="0"/>
  </p:normalViewPr>
  <p:slideViewPr>
    <p:cSldViewPr snapToGrid="0" snapToObjects="1">
      <p:cViewPr varScale="1">
        <p:scale>
          <a:sx n="74" d="100"/>
          <a:sy n="74" d="100"/>
        </p:scale>
        <p:origin x="90" y="5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commentAuthors" Target="commentAuthor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1-02T22:12:26.248"/>
    </inkml:context>
    <inkml:brush xml:id="br0">
      <inkml:brushProperty name="width" value="0.35" units="cm"/>
      <inkml:brushProperty name="height" value="0.35" units="cm"/>
      <inkml:brushProperty name="color" value="#4472C4"/>
    </inkml:brush>
  </inkml:definitions>
  <inkml:trace contextRef="#ctx0" brushRef="#br0">0 1 24575,'0'0'0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1-02T22:12:38.564"/>
    </inkml:context>
    <inkml:brush xml:id="br0">
      <inkml:brushProperty name="width" value="0.35" units="cm"/>
      <inkml:brushProperty name="height" value="0.35" units="cm"/>
      <inkml:brushProperty name="color" value="#4472C4"/>
    </inkml:brush>
  </inkml:definitions>
  <inkml:trace contextRef="#ctx0" brushRef="#br0">34 56 24575,'26'0'0,"-9"3"0,-9-2 0,-8 6 0,7 0 0,-3-1 0,1 3 0,-2-2 0,1 2 0,-3 1 0,2-3 0,-3 1 0,0 2 0,0-1 0,0 2 0,0-4 0,0 0 0,0 4 0,0-3 0,-3 3 0,-5-8 0,-1 1 0,-3-4 0,4 0 0,0 0 0,-3 0 0,3 0 0,-1-7 0,3 5 0,5-12 0,-7 8 0,7-5 0,-2 3 0,3 0 0,0 0 0,-4 0 0,3 0 0,-3 1 0,4-4 0,0 3 0,0-3 0,0 4 0,-3 0 0,2-5 0,-3 4 0,4-3 0,0 3 0,0 1 0,4-4 0,0 6 0,4-1 0,3 6 0,-3 0 0,4 0 0,-4 0 0,0 0 0,3 0 0,-2 0 0,2 2 0,-4-1 0,1 3 0,3-1 0,-3-2 0,4 2 0,-5 0 0,-2 5 0,1-3 0,-1 8 0,2-8 0,-2 6 0,2-7 0,-7 6 0,4-6 0,-4 7 0,0 0 0,0-3 0,0 3 0,0-4 0,0 0 0,0 4 0,0-3 0,0 2 0,0-3 0,0 1 0,-7 0 0,2-5 0,-6 1 0,3-4 0,0 0 0,-4 0 0,4 0 0,-4-4 0,4 3 0,1-2 0,-5 3 0,4 0 0,-3 0 0,3-3 0,0-1 0,1-4 0,-1 4 0,4-2 0,-3 1 0,2-2 0,1-1 0,0 1 0,4-1 0,-4 0 0,3 1 0,-2-1 0,3-3 0,0 3 0,0-4 0,0 5 0,0-1 0,0-3 0,0 3 0,0-2 0,0 2 0,3 1 0,2 0 0,2-1 0,1 5 0,-1-1 0,2 4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1-02T22:12:26.248"/>
    </inkml:context>
    <inkml:brush xml:id="br0">
      <inkml:brushProperty name="width" value="0.35" units="cm"/>
      <inkml:brushProperty name="height" value="0.35" units="cm"/>
      <inkml:brushProperty name="color" value="#4472C4"/>
    </inkml:brush>
  </inkml:definitions>
  <inkml:trace contextRef="#ctx0" brushRef="#br0">0 1 24575,'0'0'0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1-02T22:12:38.564"/>
    </inkml:context>
    <inkml:brush xml:id="br0">
      <inkml:brushProperty name="width" value="0.35" units="cm"/>
      <inkml:brushProperty name="height" value="0.35" units="cm"/>
      <inkml:brushProperty name="color" value="#4472C4"/>
    </inkml:brush>
  </inkml:definitions>
  <inkml:trace contextRef="#ctx0" brushRef="#br0">34 56 24575,'26'0'0,"-9"3"0,-9-2 0,-8 6 0,7 0 0,-3-1 0,1 3 0,-2-2 0,1 2 0,-3 1 0,2-3 0,-3 1 0,0 2 0,0-1 0,0 2 0,0-4 0,0 0 0,0 4 0,0-3 0,-3 3 0,-5-8 0,-1 1 0,-3-4 0,4 0 0,0 0 0,-3 0 0,3 0 0,-1-7 0,3 5 0,5-12 0,-7 8 0,7-5 0,-2 3 0,3 0 0,0 0 0,-4 0 0,3 0 0,-3 1 0,4-4 0,0 3 0,0-3 0,0 4 0,-3 0 0,2-5 0,-3 4 0,4-3 0,0 3 0,0 1 0,4-4 0,0 6 0,4-1 0,3 6 0,-3 0 0,4 0 0,-4 0 0,0 0 0,3 0 0,-2 0 0,2 2 0,-4-1 0,1 3 0,3-1 0,-3-2 0,4 2 0,-5 0 0,-2 5 0,1-3 0,-1 8 0,2-8 0,-2 6 0,2-7 0,-7 6 0,4-6 0,-4 7 0,0 0 0,0-3 0,0 3 0,0-4 0,0 0 0,0 4 0,0-3 0,0 2 0,0-3 0,0 1 0,-7 0 0,2-5 0,-6 1 0,3-4 0,0 0 0,-4 0 0,4 0 0,-4-4 0,4 3 0,1-2 0,-5 3 0,4 0 0,-3 0 0,3-3 0,0-1 0,1-4 0,-1 4 0,4-2 0,-3 1 0,2-2 0,1-1 0,0 1 0,4-1 0,-4 0 0,3 1 0,-2-1 0,3-3 0,0 3 0,0-4 0,0 5 0,0-1 0,0-3 0,0 3 0,0-2 0,0 2 0,3 1 0,2 0 0,2-1 0,1 5 0,-1-1 0,2 4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1-02T22:12:26.248"/>
    </inkml:context>
    <inkml:brush xml:id="br0">
      <inkml:brushProperty name="width" value="0.35" units="cm"/>
      <inkml:brushProperty name="height" value="0.35" units="cm"/>
      <inkml:brushProperty name="color" value="#4472C4"/>
    </inkml:brush>
  </inkml:definitions>
  <inkml:trace contextRef="#ctx0" brushRef="#br0">0 1 24575,'0'0'0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1-02T22:12:38.564"/>
    </inkml:context>
    <inkml:brush xml:id="br0">
      <inkml:brushProperty name="width" value="0.35" units="cm"/>
      <inkml:brushProperty name="height" value="0.35" units="cm"/>
      <inkml:brushProperty name="color" value="#4472C4"/>
    </inkml:brush>
  </inkml:definitions>
  <inkml:trace contextRef="#ctx0" brushRef="#br0">34 56 24575,'26'0'0,"-9"3"0,-9-2 0,-8 6 0,7 0 0,-3-1 0,1 3 0,-2-2 0,1 2 0,-3 1 0,2-3 0,-3 1 0,0 2 0,0-1 0,0 2 0,0-4 0,0 0 0,0 4 0,0-3 0,-3 3 0,-5-8 0,-1 1 0,-3-4 0,4 0 0,0 0 0,-3 0 0,3 0 0,-1-7 0,3 5 0,5-12 0,-7 8 0,7-5 0,-2 3 0,3 0 0,0 0 0,-4 0 0,3 0 0,-3 1 0,4-4 0,0 3 0,0-3 0,0 4 0,-3 0 0,2-5 0,-3 4 0,4-3 0,0 3 0,0 1 0,4-4 0,0 6 0,4-1 0,3 6 0,-3 0 0,4 0 0,-4 0 0,0 0 0,3 0 0,-2 0 0,2 2 0,-4-1 0,1 3 0,3-1 0,-3-2 0,4 2 0,-5 0 0,-2 5 0,1-3 0,-1 8 0,2-8 0,-2 6 0,2-7 0,-7 6 0,4-6 0,-4 7 0,0 0 0,0-3 0,0 3 0,0-4 0,0 0 0,0 4 0,0-3 0,0 2 0,0-3 0,0 1 0,-7 0 0,2-5 0,-6 1 0,3-4 0,0 0 0,-4 0 0,4 0 0,-4-4 0,4 3 0,1-2 0,-5 3 0,4 0 0,-3 0 0,3-3 0,0-1 0,1-4 0,-1 4 0,4-2 0,-3 1 0,2-2 0,1-1 0,0 1 0,4-1 0,-4 0 0,3 1 0,-2-1 0,3-3 0,0 3 0,0-4 0,0 5 0,0-1 0,0-3 0,0 3 0,0-2 0,0 2 0,3 1 0,2 0 0,2-1 0,1 5 0,-1-1 0,2 4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5F3147-5D57-4C2A-A338-2021A11F9AA9}" type="datetimeFigureOut">
              <a:rPr lang="en-US" smtClean="0"/>
              <a:t>4/7/2021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826FEC-78D2-4D72-B4B9-8D49B86A3F7A}" type="slidenum">
              <a:rPr lang="en-US" smtClean="0"/>
              <a:t>‹#›</a:t>
            </a:fld>
            <a:endParaRPr lang="en-US"/>
          </a:p>
        </p:txBody>
      </p:sp>
    </p:spTree>
    <p:extLst>
      <p:ext uri="{BB962C8B-B14F-4D97-AF65-F5344CB8AC3E}">
        <p14:creationId xmlns:p14="http://schemas.microsoft.com/office/powerpoint/2010/main" val="42446233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Esmolol can also be used as a short acting beta-blocker. </a:t>
            </a:r>
          </a:p>
          <a:p>
            <a:r>
              <a:rPr lang="en-US" dirty="0"/>
              <a:t>Verapamil is no longer favored because it has more pronounced negative inotropic effects </a:t>
            </a:r>
          </a:p>
          <a:p>
            <a:r>
              <a:rPr lang="en-US" dirty="0"/>
              <a:t>Digoxin is less effective and does not work immediately (can take several hours). </a:t>
            </a:r>
          </a:p>
          <a:p>
            <a:r>
              <a:rPr lang="en-US" dirty="0"/>
              <a:t>All of these agents act at the AV node! </a:t>
            </a:r>
          </a:p>
        </p:txBody>
      </p:sp>
      <p:sp>
        <p:nvSpPr>
          <p:cNvPr id="4" name="Slide Number Placeholder 3"/>
          <p:cNvSpPr>
            <a:spLocks noGrp="1"/>
          </p:cNvSpPr>
          <p:nvPr>
            <p:ph type="sldNum" sz="quarter" idx="5"/>
          </p:nvPr>
        </p:nvSpPr>
        <p:spPr/>
        <p:txBody>
          <a:bodyPr/>
          <a:lstStyle/>
          <a:p>
            <a:fld id="{89AAA0A7-72B6-4E22-8F25-10B0B5318478}" type="slidenum">
              <a:rPr lang="en-US" smtClean="0"/>
              <a:t>5</a:t>
            </a:fld>
            <a:endParaRPr lang="en-US"/>
          </a:p>
        </p:txBody>
      </p:sp>
    </p:spTree>
    <p:extLst>
      <p:ext uri="{BB962C8B-B14F-4D97-AF65-F5344CB8AC3E}">
        <p14:creationId xmlns:p14="http://schemas.microsoft.com/office/powerpoint/2010/main" val="39795946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1826FEC-78D2-4D72-B4B9-8D49B86A3F7A}" type="slidenum">
              <a:rPr lang="en-US" smtClean="0"/>
              <a:t>6</a:t>
            </a:fld>
            <a:endParaRPr lang="en-US"/>
          </a:p>
        </p:txBody>
      </p:sp>
    </p:spTree>
    <p:extLst>
      <p:ext uri="{BB962C8B-B14F-4D97-AF65-F5344CB8AC3E}">
        <p14:creationId xmlns:p14="http://schemas.microsoft.com/office/powerpoint/2010/main" val="26578749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DAE98-5E0A-6D47-B075-47E2EAFEFA9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11D31BD-05C4-3A42-89DF-D37DCA3CED6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AD63E7A-9F77-5049-9E68-6BC698E60368}"/>
              </a:ext>
            </a:extLst>
          </p:cNvPr>
          <p:cNvSpPr>
            <a:spLocks noGrp="1"/>
          </p:cNvSpPr>
          <p:nvPr>
            <p:ph type="dt" sz="half" idx="10"/>
          </p:nvPr>
        </p:nvSpPr>
        <p:spPr/>
        <p:txBody>
          <a:bodyPr/>
          <a:lstStyle/>
          <a:p>
            <a:fld id="{1E71AE6C-6226-EA44-B70D-30A7130421BC}" type="datetimeFigureOut">
              <a:rPr lang="en-US" smtClean="0"/>
              <a:t>4/7/2021</a:t>
            </a:fld>
            <a:endParaRPr lang="en-US"/>
          </a:p>
        </p:txBody>
      </p:sp>
      <p:sp>
        <p:nvSpPr>
          <p:cNvPr id="5" name="Footer Placeholder 4">
            <a:extLst>
              <a:ext uri="{FF2B5EF4-FFF2-40B4-BE49-F238E27FC236}">
                <a16:creationId xmlns:a16="http://schemas.microsoft.com/office/drawing/2014/main" id="{0530F0ED-082E-EE44-84E5-C887F20B87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47DBDE-D807-2946-A802-D9B377E9FC27}"/>
              </a:ext>
            </a:extLst>
          </p:cNvPr>
          <p:cNvSpPr>
            <a:spLocks noGrp="1"/>
          </p:cNvSpPr>
          <p:nvPr>
            <p:ph type="sldNum" sz="quarter" idx="12"/>
          </p:nvPr>
        </p:nvSpPr>
        <p:spPr/>
        <p:txBody>
          <a:bodyPr/>
          <a:lstStyle/>
          <a:p>
            <a:fld id="{237FF412-2298-F54F-83DD-7DBC0A9DD52F}" type="slidenum">
              <a:rPr lang="en-US" smtClean="0"/>
              <a:t>‹#›</a:t>
            </a:fld>
            <a:endParaRPr lang="en-US"/>
          </a:p>
        </p:txBody>
      </p:sp>
    </p:spTree>
    <p:extLst>
      <p:ext uri="{BB962C8B-B14F-4D97-AF65-F5344CB8AC3E}">
        <p14:creationId xmlns:p14="http://schemas.microsoft.com/office/powerpoint/2010/main" val="37590744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40BBC-612B-B647-960B-9D7846BBD6E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D33030F-02EA-0646-B102-1C37054E01E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6702DF-0426-2243-9440-F42D03AED6EB}"/>
              </a:ext>
            </a:extLst>
          </p:cNvPr>
          <p:cNvSpPr>
            <a:spLocks noGrp="1"/>
          </p:cNvSpPr>
          <p:nvPr>
            <p:ph type="dt" sz="half" idx="10"/>
          </p:nvPr>
        </p:nvSpPr>
        <p:spPr/>
        <p:txBody>
          <a:bodyPr/>
          <a:lstStyle/>
          <a:p>
            <a:fld id="{1E71AE6C-6226-EA44-B70D-30A7130421BC}" type="datetimeFigureOut">
              <a:rPr lang="en-US" smtClean="0"/>
              <a:t>4/7/2021</a:t>
            </a:fld>
            <a:endParaRPr lang="en-US"/>
          </a:p>
        </p:txBody>
      </p:sp>
      <p:sp>
        <p:nvSpPr>
          <p:cNvPr id="5" name="Footer Placeholder 4">
            <a:extLst>
              <a:ext uri="{FF2B5EF4-FFF2-40B4-BE49-F238E27FC236}">
                <a16:creationId xmlns:a16="http://schemas.microsoft.com/office/drawing/2014/main" id="{D6CF1021-8510-5B40-816F-3763D4E0B3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463C9C-081D-9C48-8679-A4D834B7E75F}"/>
              </a:ext>
            </a:extLst>
          </p:cNvPr>
          <p:cNvSpPr>
            <a:spLocks noGrp="1"/>
          </p:cNvSpPr>
          <p:nvPr>
            <p:ph type="sldNum" sz="quarter" idx="12"/>
          </p:nvPr>
        </p:nvSpPr>
        <p:spPr/>
        <p:txBody>
          <a:bodyPr/>
          <a:lstStyle/>
          <a:p>
            <a:fld id="{237FF412-2298-F54F-83DD-7DBC0A9DD52F}" type="slidenum">
              <a:rPr lang="en-US" smtClean="0"/>
              <a:t>‹#›</a:t>
            </a:fld>
            <a:endParaRPr lang="en-US"/>
          </a:p>
        </p:txBody>
      </p:sp>
    </p:spTree>
    <p:extLst>
      <p:ext uri="{BB962C8B-B14F-4D97-AF65-F5344CB8AC3E}">
        <p14:creationId xmlns:p14="http://schemas.microsoft.com/office/powerpoint/2010/main" val="42739276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01F53-07A6-454F-9CC7-EAD6015815D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B346C08-6DB7-5B4D-8912-FC20E5CAB46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F02FD5D-FFF7-6D41-B272-BA615C59E105}"/>
              </a:ext>
            </a:extLst>
          </p:cNvPr>
          <p:cNvSpPr>
            <a:spLocks noGrp="1"/>
          </p:cNvSpPr>
          <p:nvPr>
            <p:ph type="dt" sz="half" idx="10"/>
          </p:nvPr>
        </p:nvSpPr>
        <p:spPr/>
        <p:txBody>
          <a:bodyPr/>
          <a:lstStyle/>
          <a:p>
            <a:fld id="{1E71AE6C-6226-EA44-B70D-30A7130421BC}" type="datetimeFigureOut">
              <a:rPr lang="en-US" smtClean="0"/>
              <a:t>4/7/2021</a:t>
            </a:fld>
            <a:endParaRPr lang="en-US"/>
          </a:p>
        </p:txBody>
      </p:sp>
      <p:sp>
        <p:nvSpPr>
          <p:cNvPr id="5" name="Footer Placeholder 4">
            <a:extLst>
              <a:ext uri="{FF2B5EF4-FFF2-40B4-BE49-F238E27FC236}">
                <a16:creationId xmlns:a16="http://schemas.microsoft.com/office/drawing/2014/main" id="{58224248-014F-C942-9D35-429BD77CF0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713625-BF7D-2444-A4E8-58A1119D108E}"/>
              </a:ext>
            </a:extLst>
          </p:cNvPr>
          <p:cNvSpPr>
            <a:spLocks noGrp="1"/>
          </p:cNvSpPr>
          <p:nvPr>
            <p:ph type="sldNum" sz="quarter" idx="12"/>
          </p:nvPr>
        </p:nvSpPr>
        <p:spPr/>
        <p:txBody>
          <a:bodyPr/>
          <a:lstStyle/>
          <a:p>
            <a:fld id="{237FF412-2298-F54F-83DD-7DBC0A9DD52F}" type="slidenum">
              <a:rPr lang="en-US" smtClean="0"/>
              <a:t>‹#›</a:t>
            </a:fld>
            <a:endParaRPr lang="en-US"/>
          </a:p>
        </p:txBody>
      </p:sp>
    </p:spTree>
    <p:extLst>
      <p:ext uri="{BB962C8B-B14F-4D97-AF65-F5344CB8AC3E}">
        <p14:creationId xmlns:p14="http://schemas.microsoft.com/office/powerpoint/2010/main" val="6501191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CAE29-8F89-324C-A37F-5A03D29DF4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E3CCF01-D7F0-F345-9E8C-151DD746C9E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DD9161F-7E2D-B047-A0D4-196F927F993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FEE0982-B22F-C948-B145-8F50DEB7AEF1}"/>
              </a:ext>
            </a:extLst>
          </p:cNvPr>
          <p:cNvSpPr>
            <a:spLocks noGrp="1"/>
          </p:cNvSpPr>
          <p:nvPr>
            <p:ph type="dt" sz="half" idx="10"/>
          </p:nvPr>
        </p:nvSpPr>
        <p:spPr/>
        <p:txBody>
          <a:bodyPr/>
          <a:lstStyle/>
          <a:p>
            <a:fld id="{1E71AE6C-6226-EA44-B70D-30A7130421BC}" type="datetimeFigureOut">
              <a:rPr lang="en-US" smtClean="0"/>
              <a:t>4/7/2021</a:t>
            </a:fld>
            <a:endParaRPr lang="en-US"/>
          </a:p>
        </p:txBody>
      </p:sp>
      <p:sp>
        <p:nvSpPr>
          <p:cNvPr id="6" name="Footer Placeholder 5">
            <a:extLst>
              <a:ext uri="{FF2B5EF4-FFF2-40B4-BE49-F238E27FC236}">
                <a16:creationId xmlns:a16="http://schemas.microsoft.com/office/drawing/2014/main" id="{3E25A404-C592-E046-8A0C-AAB4067157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511C462-FD5D-6E42-A380-DF7A78A71FD9}"/>
              </a:ext>
            </a:extLst>
          </p:cNvPr>
          <p:cNvSpPr>
            <a:spLocks noGrp="1"/>
          </p:cNvSpPr>
          <p:nvPr>
            <p:ph type="sldNum" sz="quarter" idx="12"/>
          </p:nvPr>
        </p:nvSpPr>
        <p:spPr/>
        <p:txBody>
          <a:bodyPr/>
          <a:lstStyle/>
          <a:p>
            <a:fld id="{237FF412-2298-F54F-83DD-7DBC0A9DD52F}" type="slidenum">
              <a:rPr lang="en-US" smtClean="0"/>
              <a:t>‹#›</a:t>
            </a:fld>
            <a:endParaRPr lang="en-US"/>
          </a:p>
        </p:txBody>
      </p:sp>
    </p:spTree>
    <p:extLst>
      <p:ext uri="{BB962C8B-B14F-4D97-AF65-F5344CB8AC3E}">
        <p14:creationId xmlns:p14="http://schemas.microsoft.com/office/powerpoint/2010/main" val="41612206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8277F-1788-EC45-9946-5C92746363B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67D97D6-50DE-864B-BC55-F5A6EE55213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B3CEA39-29F2-C54A-BD52-B2537EBB709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773E993-3C0E-9F45-9249-0831B11BB3A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1965647-05C1-D84A-BDD6-BFF8823FC90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25E97A4-1AFE-644A-A430-501FFC0A69F2}"/>
              </a:ext>
            </a:extLst>
          </p:cNvPr>
          <p:cNvSpPr>
            <a:spLocks noGrp="1"/>
          </p:cNvSpPr>
          <p:nvPr>
            <p:ph type="dt" sz="half" idx="10"/>
          </p:nvPr>
        </p:nvSpPr>
        <p:spPr/>
        <p:txBody>
          <a:bodyPr/>
          <a:lstStyle/>
          <a:p>
            <a:fld id="{1E71AE6C-6226-EA44-B70D-30A7130421BC}" type="datetimeFigureOut">
              <a:rPr lang="en-US" smtClean="0"/>
              <a:t>4/7/2021</a:t>
            </a:fld>
            <a:endParaRPr lang="en-US"/>
          </a:p>
        </p:txBody>
      </p:sp>
      <p:sp>
        <p:nvSpPr>
          <p:cNvPr id="8" name="Footer Placeholder 7">
            <a:extLst>
              <a:ext uri="{FF2B5EF4-FFF2-40B4-BE49-F238E27FC236}">
                <a16:creationId xmlns:a16="http://schemas.microsoft.com/office/drawing/2014/main" id="{2E51E422-9CAB-0F43-9FE9-6471F75F3B1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F9B9A0D-2044-4A47-8F0B-EE3DA252A2B8}"/>
              </a:ext>
            </a:extLst>
          </p:cNvPr>
          <p:cNvSpPr>
            <a:spLocks noGrp="1"/>
          </p:cNvSpPr>
          <p:nvPr>
            <p:ph type="sldNum" sz="quarter" idx="12"/>
          </p:nvPr>
        </p:nvSpPr>
        <p:spPr/>
        <p:txBody>
          <a:bodyPr/>
          <a:lstStyle/>
          <a:p>
            <a:fld id="{237FF412-2298-F54F-83DD-7DBC0A9DD52F}" type="slidenum">
              <a:rPr lang="en-US" smtClean="0"/>
              <a:t>‹#›</a:t>
            </a:fld>
            <a:endParaRPr lang="en-US"/>
          </a:p>
        </p:txBody>
      </p:sp>
    </p:spTree>
    <p:extLst>
      <p:ext uri="{BB962C8B-B14F-4D97-AF65-F5344CB8AC3E}">
        <p14:creationId xmlns:p14="http://schemas.microsoft.com/office/powerpoint/2010/main" val="21099884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DE030-3B12-4C43-8D34-068C6B641D0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A924222-F954-7041-B9F3-8ABE35888164}"/>
              </a:ext>
            </a:extLst>
          </p:cNvPr>
          <p:cNvSpPr>
            <a:spLocks noGrp="1"/>
          </p:cNvSpPr>
          <p:nvPr>
            <p:ph type="dt" sz="half" idx="10"/>
          </p:nvPr>
        </p:nvSpPr>
        <p:spPr/>
        <p:txBody>
          <a:bodyPr/>
          <a:lstStyle/>
          <a:p>
            <a:fld id="{1E71AE6C-6226-EA44-B70D-30A7130421BC}" type="datetimeFigureOut">
              <a:rPr lang="en-US" smtClean="0"/>
              <a:t>4/7/2021</a:t>
            </a:fld>
            <a:endParaRPr lang="en-US"/>
          </a:p>
        </p:txBody>
      </p:sp>
      <p:sp>
        <p:nvSpPr>
          <p:cNvPr id="4" name="Footer Placeholder 3">
            <a:extLst>
              <a:ext uri="{FF2B5EF4-FFF2-40B4-BE49-F238E27FC236}">
                <a16:creationId xmlns:a16="http://schemas.microsoft.com/office/drawing/2014/main" id="{78FDF7A8-8330-F64C-BFB2-45F1939F7CB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FA2A605-1415-ED42-8455-163039181AAD}"/>
              </a:ext>
            </a:extLst>
          </p:cNvPr>
          <p:cNvSpPr>
            <a:spLocks noGrp="1"/>
          </p:cNvSpPr>
          <p:nvPr>
            <p:ph type="sldNum" sz="quarter" idx="12"/>
          </p:nvPr>
        </p:nvSpPr>
        <p:spPr/>
        <p:txBody>
          <a:bodyPr/>
          <a:lstStyle/>
          <a:p>
            <a:fld id="{237FF412-2298-F54F-83DD-7DBC0A9DD52F}" type="slidenum">
              <a:rPr lang="en-US" smtClean="0"/>
              <a:t>‹#›</a:t>
            </a:fld>
            <a:endParaRPr lang="en-US"/>
          </a:p>
        </p:txBody>
      </p:sp>
    </p:spTree>
    <p:extLst>
      <p:ext uri="{BB962C8B-B14F-4D97-AF65-F5344CB8AC3E}">
        <p14:creationId xmlns:p14="http://schemas.microsoft.com/office/powerpoint/2010/main" val="41720710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E127CD-2AFC-4B42-A358-CE78A2C0EB35}"/>
              </a:ext>
            </a:extLst>
          </p:cNvPr>
          <p:cNvSpPr>
            <a:spLocks noGrp="1"/>
          </p:cNvSpPr>
          <p:nvPr>
            <p:ph type="dt" sz="half" idx="10"/>
          </p:nvPr>
        </p:nvSpPr>
        <p:spPr/>
        <p:txBody>
          <a:bodyPr/>
          <a:lstStyle/>
          <a:p>
            <a:fld id="{1E71AE6C-6226-EA44-B70D-30A7130421BC}" type="datetimeFigureOut">
              <a:rPr lang="en-US" smtClean="0"/>
              <a:t>4/7/2021</a:t>
            </a:fld>
            <a:endParaRPr lang="en-US"/>
          </a:p>
        </p:txBody>
      </p:sp>
      <p:sp>
        <p:nvSpPr>
          <p:cNvPr id="3" name="Footer Placeholder 2">
            <a:extLst>
              <a:ext uri="{FF2B5EF4-FFF2-40B4-BE49-F238E27FC236}">
                <a16:creationId xmlns:a16="http://schemas.microsoft.com/office/drawing/2014/main" id="{EF2001B7-0204-694B-BA14-E872DEF1CDE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44E2D6D-F942-CA4A-9975-F81D534CC119}"/>
              </a:ext>
            </a:extLst>
          </p:cNvPr>
          <p:cNvSpPr>
            <a:spLocks noGrp="1"/>
          </p:cNvSpPr>
          <p:nvPr>
            <p:ph type="sldNum" sz="quarter" idx="12"/>
          </p:nvPr>
        </p:nvSpPr>
        <p:spPr/>
        <p:txBody>
          <a:bodyPr/>
          <a:lstStyle/>
          <a:p>
            <a:fld id="{237FF412-2298-F54F-83DD-7DBC0A9DD52F}" type="slidenum">
              <a:rPr lang="en-US" smtClean="0"/>
              <a:t>‹#›</a:t>
            </a:fld>
            <a:endParaRPr lang="en-US"/>
          </a:p>
        </p:txBody>
      </p:sp>
    </p:spTree>
    <p:extLst>
      <p:ext uri="{BB962C8B-B14F-4D97-AF65-F5344CB8AC3E}">
        <p14:creationId xmlns:p14="http://schemas.microsoft.com/office/powerpoint/2010/main" val="38772328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9FBE0-465D-AE48-878B-D29F198B12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279E413-6B5A-F147-98BB-6D3660719FE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6AC9D14-CB5E-CA45-A8CD-3650C5A0BB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8D90165-9C33-3F42-BBD3-C224A7E6E2FB}"/>
              </a:ext>
            </a:extLst>
          </p:cNvPr>
          <p:cNvSpPr>
            <a:spLocks noGrp="1"/>
          </p:cNvSpPr>
          <p:nvPr>
            <p:ph type="dt" sz="half" idx="10"/>
          </p:nvPr>
        </p:nvSpPr>
        <p:spPr/>
        <p:txBody>
          <a:bodyPr/>
          <a:lstStyle/>
          <a:p>
            <a:fld id="{1E71AE6C-6226-EA44-B70D-30A7130421BC}" type="datetimeFigureOut">
              <a:rPr lang="en-US" smtClean="0"/>
              <a:t>4/7/2021</a:t>
            </a:fld>
            <a:endParaRPr lang="en-US"/>
          </a:p>
        </p:txBody>
      </p:sp>
      <p:sp>
        <p:nvSpPr>
          <p:cNvPr id="6" name="Footer Placeholder 5">
            <a:extLst>
              <a:ext uri="{FF2B5EF4-FFF2-40B4-BE49-F238E27FC236}">
                <a16:creationId xmlns:a16="http://schemas.microsoft.com/office/drawing/2014/main" id="{8B10EAD5-631F-1943-9A69-C81A25DD26B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8D0EAE-2E7B-D848-97CF-5DF55AAAFFAD}"/>
              </a:ext>
            </a:extLst>
          </p:cNvPr>
          <p:cNvSpPr>
            <a:spLocks noGrp="1"/>
          </p:cNvSpPr>
          <p:nvPr>
            <p:ph type="sldNum" sz="quarter" idx="12"/>
          </p:nvPr>
        </p:nvSpPr>
        <p:spPr/>
        <p:txBody>
          <a:bodyPr/>
          <a:lstStyle/>
          <a:p>
            <a:fld id="{237FF412-2298-F54F-83DD-7DBC0A9DD52F}" type="slidenum">
              <a:rPr lang="en-US" smtClean="0"/>
              <a:t>‹#›</a:t>
            </a:fld>
            <a:endParaRPr lang="en-US"/>
          </a:p>
        </p:txBody>
      </p:sp>
    </p:spTree>
    <p:extLst>
      <p:ext uri="{BB962C8B-B14F-4D97-AF65-F5344CB8AC3E}">
        <p14:creationId xmlns:p14="http://schemas.microsoft.com/office/powerpoint/2010/main" val="14062323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4114D-DD46-D84D-BF13-7E662F0BEA2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1FCD0DC-2350-9141-8F3E-C520DCB5694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BA002E6-CF1D-E347-8770-E71109BAE9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F30F4D3-CFEC-0D48-9991-416357856646}"/>
              </a:ext>
            </a:extLst>
          </p:cNvPr>
          <p:cNvSpPr>
            <a:spLocks noGrp="1"/>
          </p:cNvSpPr>
          <p:nvPr>
            <p:ph type="dt" sz="half" idx="10"/>
          </p:nvPr>
        </p:nvSpPr>
        <p:spPr/>
        <p:txBody>
          <a:bodyPr/>
          <a:lstStyle/>
          <a:p>
            <a:fld id="{1E71AE6C-6226-EA44-B70D-30A7130421BC}" type="datetimeFigureOut">
              <a:rPr lang="en-US" smtClean="0"/>
              <a:t>4/7/2021</a:t>
            </a:fld>
            <a:endParaRPr lang="en-US"/>
          </a:p>
        </p:txBody>
      </p:sp>
      <p:sp>
        <p:nvSpPr>
          <p:cNvPr id="6" name="Footer Placeholder 5">
            <a:extLst>
              <a:ext uri="{FF2B5EF4-FFF2-40B4-BE49-F238E27FC236}">
                <a16:creationId xmlns:a16="http://schemas.microsoft.com/office/drawing/2014/main" id="{40954E17-CDF2-7B45-B87D-D4C34AEC0A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D241050-41D7-2C49-A579-2B715A383CB0}"/>
              </a:ext>
            </a:extLst>
          </p:cNvPr>
          <p:cNvSpPr>
            <a:spLocks noGrp="1"/>
          </p:cNvSpPr>
          <p:nvPr>
            <p:ph type="sldNum" sz="quarter" idx="12"/>
          </p:nvPr>
        </p:nvSpPr>
        <p:spPr/>
        <p:txBody>
          <a:bodyPr/>
          <a:lstStyle/>
          <a:p>
            <a:fld id="{237FF412-2298-F54F-83DD-7DBC0A9DD52F}" type="slidenum">
              <a:rPr lang="en-US" smtClean="0"/>
              <a:t>‹#›</a:t>
            </a:fld>
            <a:endParaRPr lang="en-US"/>
          </a:p>
        </p:txBody>
      </p:sp>
    </p:spTree>
    <p:extLst>
      <p:ext uri="{BB962C8B-B14F-4D97-AF65-F5344CB8AC3E}">
        <p14:creationId xmlns:p14="http://schemas.microsoft.com/office/powerpoint/2010/main" val="4866282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D0487-B44B-FB4E-B518-62115871A32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573ACB2-536C-134F-86A8-ED9F101843B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1924E6-1532-EF44-B697-9D8E6BA5B060}"/>
              </a:ext>
            </a:extLst>
          </p:cNvPr>
          <p:cNvSpPr>
            <a:spLocks noGrp="1"/>
          </p:cNvSpPr>
          <p:nvPr>
            <p:ph type="dt" sz="half" idx="10"/>
          </p:nvPr>
        </p:nvSpPr>
        <p:spPr/>
        <p:txBody>
          <a:bodyPr/>
          <a:lstStyle/>
          <a:p>
            <a:fld id="{1E71AE6C-6226-EA44-B70D-30A7130421BC}" type="datetimeFigureOut">
              <a:rPr lang="en-US" smtClean="0"/>
              <a:t>4/7/2021</a:t>
            </a:fld>
            <a:endParaRPr lang="en-US"/>
          </a:p>
        </p:txBody>
      </p:sp>
      <p:sp>
        <p:nvSpPr>
          <p:cNvPr id="5" name="Footer Placeholder 4">
            <a:extLst>
              <a:ext uri="{FF2B5EF4-FFF2-40B4-BE49-F238E27FC236}">
                <a16:creationId xmlns:a16="http://schemas.microsoft.com/office/drawing/2014/main" id="{1331F976-97A2-4A4B-AD73-D1357C6279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A486E6-AFEB-3F4B-ACC7-92224CCE9196}"/>
              </a:ext>
            </a:extLst>
          </p:cNvPr>
          <p:cNvSpPr>
            <a:spLocks noGrp="1"/>
          </p:cNvSpPr>
          <p:nvPr>
            <p:ph type="sldNum" sz="quarter" idx="12"/>
          </p:nvPr>
        </p:nvSpPr>
        <p:spPr/>
        <p:txBody>
          <a:bodyPr/>
          <a:lstStyle/>
          <a:p>
            <a:fld id="{237FF412-2298-F54F-83DD-7DBC0A9DD52F}" type="slidenum">
              <a:rPr lang="en-US" smtClean="0"/>
              <a:t>‹#›</a:t>
            </a:fld>
            <a:endParaRPr lang="en-US"/>
          </a:p>
        </p:txBody>
      </p:sp>
    </p:spTree>
    <p:extLst>
      <p:ext uri="{BB962C8B-B14F-4D97-AF65-F5344CB8AC3E}">
        <p14:creationId xmlns:p14="http://schemas.microsoft.com/office/powerpoint/2010/main" val="32543033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8F54F0E-A0F0-E14D-927E-54D52553DCB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BAD5AE6-9C7D-3E46-B080-4E00A538F89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BBDAEE-EFBA-E340-A648-20527E5047FF}"/>
              </a:ext>
            </a:extLst>
          </p:cNvPr>
          <p:cNvSpPr>
            <a:spLocks noGrp="1"/>
          </p:cNvSpPr>
          <p:nvPr>
            <p:ph type="dt" sz="half" idx="10"/>
          </p:nvPr>
        </p:nvSpPr>
        <p:spPr/>
        <p:txBody>
          <a:bodyPr/>
          <a:lstStyle/>
          <a:p>
            <a:fld id="{1E71AE6C-6226-EA44-B70D-30A7130421BC}" type="datetimeFigureOut">
              <a:rPr lang="en-US" smtClean="0"/>
              <a:t>4/7/2021</a:t>
            </a:fld>
            <a:endParaRPr lang="en-US"/>
          </a:p>
        </p:txBody>
      </p:sp>
      <p:sp>
        <p:nvSpPr>
          <p:cNvPr id="5" name="Footer Placeholder 4">
            <a:extLst>
              <a:ext uri="{FF2B5EF4-FFF2-40B4-BE49-F238E27FC236}">
                <a16:creationId xmlns:a16="http://schemas.microsoft.com/office/drawing/2014/main" id="{4D7B998C-3C89-8E4D-B328-15E31473B3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B7F328-7A6C-FC4E-A7AB-997913CACBA2}"/>
              </a:ext>
            </a:extLst>
          </p:cNvPr>
          <p:cNvSpPr>
            <a:spLocks noGrp="1"/>
          </p:cNvSpPr>
          <p:nvPr>
            <p:ph type="sldNum" sz="quarter" idx="12"/>
          </p:nvPr>
        </p:nvSpPr>
        <p:spPr/>
        <p:txBody>
          <a:bodyPr/>
          <a:lstStyle/>
          <a:p>
            <a:fld id="{237FF412-2298-F54F-83DD-7DBC0A9DD52F}" type="slidenum">
              <a:rPr lang="en-US" smtClean="0"/>
              <a:t>‹#›</a:t>
            </a:fld>
            <a:endParaRPr lang="en-US"/>
          </a:p>
        </p:txBody>
      </p:sp>
    </p:spTree>
    <p:extLst>
      <p:ext uri="{BB962C8B-B14F-4D97-AF65-F5344CB8AC3E}">
        <p14:creationId xmlns:p14="http://schemas.microsoft.com/office/powerpoint/2010/main" val="16578883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635399-E875-5F46-B081-A71F6840720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9DBFD29-620D-0F40-9381-04D569279AB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B8E359-E1EC-6D4E-A1E8-3FD9A342864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E71AE6C-6226-EA44-B70D-30A7130421BC}" type="datetimeFigureOut">
              <a:rPr lang="en-US" smtClean="0"/>
              <a:t>4/7/2021</a:t>
            </a:fld>
            <a:endParaRPr lang="en-US"/>
          </a:p>
        </p:txBody>
      </p:sp>
      <p:sp>
        <p:nvSpPr>
          <p:cNvPr id="5" name="Footer Placeholder 4">
            <a:extLst>
              <a:ext uri="{FF2B5EF4-FFF2-40B4-BE49-F238E27FC236}">
                <a16:creationId xmlns:a16="http://schemas.microsoft.com/office/drawing/2014/main" id="{B04757A3-13DF-B947-A482-FD7C87CB9E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973C5B0-150E-FB4D-AC47-41A15D8EE6E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37FF412-2298-F54F-83DD-7DBC0A9DD52F}" type="slidenum">
              <a:rPr lang="en-US" smtClean="0"/>
              <a:t>‹#›</a:t>
            </a:fld>
            <a:endParaRPr lang="en-US"/>
          </a:p>
        </p:txBody>
      </p:sp>
    </p:spTree>
    <p:extLst>
      <p:ext uri="{BB962C8B-B14F-4D97-AF65-F5344CB8AC3E}">
        <p14:creationId xmlns:p14="http://schemas.microsoft.com/office/powerpoint/2010/main" val="11400237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 Target="slide6.xml"/><Relationship Id="rId3" Type="http://schemas.openxmlformats.org/officeDocument/2006/relationships/slide" Target="slide2.xml"/><Relationship Id="rId7" Type="http://schemas.openxmlformats.org/officeDocument/2006/relationships/slide" Target="slide4.xm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 Target="slide3.xml"/><Relationship Id="rId5" Type="http://schemas.openxmlformats.org/officeDocument/2006/relationships/image" Target="../media/image3.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4.emf"/><Relationship Id="rId7" Type="http://schemas.openxmlformats.org/officeDocument/2006/relationships/slide" Target="slide3.xml"/><Relationship Id="rId2" Type="http://schemas.openxmlformats.org/officeDocument/2006/relationships/customXml" Target="../ink/ink1.xml"/><Relationship Id="rId1" Type="http://schemas.openxmlformats.org/officeDocument/2006/relationships/slideLayout" Target="../slideLayouts/slideLayout1.xml"/><Relationship Id="rId6" Type="http://schemas.openxmlformats.org/officeDocument/2006/relationships/slide" Target="slide2.xml"/><Relationship Id="rId11" Type="http://schemas.openxmlformats.org/officeDocument/2006/relationships/slide" Target="slide6.xml"/><Relationship Id="rId5" Type="http://schemas.openxmlformats.org/officeDocument/2006/relationships/image" Target="../media/image5.emf"/><Relationship Id="rId10" Type="http://schemas.openxmlformats.org/officeDocument/2006/relationships/slide" Target="slide4.xml"/><Relationship Id="rId4" Type="http://schemas.openxmlformats.org/officeDocument/2006/relationships/customXml" Target="../ink/ink2.xml"/><Relationship Id="rId9" Type="http://schemas.openxmlformats.org/officeDocument/2006/relationships/image" Target="../media/image3.svg"/></Relationships>
</file>

<file path=ppt/slides/_rels/slide3.xml.rels><?xml version="1.0" encoding="UTF-8" standalone="yes"?>
<Relationships xmlns="http://schemas.openxmlformats.org/package/2006/relationships"><Relationship Id="rId8" Type="http://schemas.openxmlformats.org/officeDocument/2006/relationships/slide" Target="slide2.xml"/><Relationship Id="rId3" Type="http://schemas.openxmlformats.org/officeDocument/2006/relationships/image" Target="../media/image6.emf"/><Relationship Id="rId7" Type="http://schemas.openxmlformats.org/officeDocument/2006/relationships/image" Target="../media/image3.svg"/><Relationship Id="rId2" Type="http://schemas.openxmlformats.org/officeDocument/2006/relationships/customXml" Target="../ink/ink3.xml"/><Relationship Id="rId1" Type="http://schemas.openxmlformats.org/officeDocument/2006/relationships/slideLayout" Target="../slideLayouts/slideLayout1.xml"/><Relationship Id="rId6" Type="http://schemas.openxmlformats.org/officeDocument/2006/relationships/image" Target="../media/image2.png"/><Relationship Id="rId11" Type="http://schemas.openxmlformats.org/officeDocument/2006/relationships/slide" Target="slide6.xml"/><Relationship Id="rId5" Type="http://schemas.openxmlformats.org/officeDocument/2006/relationships/image" Target="../media/image7.emf"/><Relationship Id="rId10" Type="http://schemas.openxmlformats.org/officeDocument/2006/relationships/slide" Target="slide4.xml"/><Relationship Id="rId4" Type="http://schemas.openxmlformats.org/officeDocument/2006/relationships/customXml" Target="../ink/ink4.xml"/><Relationship Id="rId9" Type="http://schemas.openxmlformats.org/officeDocument/2006/relationships/slide" Target="slide3.xml"/></Relationships>
</file>

<file path=ppt/slides/_rels/slide4.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slide" Target="slide6.xml"/><Relationship Id="rId3" Type="http://schemas.openxmlformats.org/officeDocument/2006/relationships/image" Target="../media/image4.emf"/><Relationship Id="rId7" Type="http://schemas.openxmlformats.org/officeDocument/2006/relationships/image" Target="../media/image3.svg"/><Relationship Id="rId12" Type="http://schemas.openxmlformats.org/officeDocument/2006/relationships/slide" Target="slide4.xml"/><Relationship Id="rId2" Type="http://schemas.openxmlformats.org/officeDocument/2006/relationships/customXml" Target="../ink/ink5.xml"/><Relationship Id="rId1" Type="http://schemas.openxmlformats.org/officeDocument/2006/relationships/slideLayout" Target="../slideLayouts/slideLayout1.xml"/><Relationship Id="rId6" Type="http://schemas.openxmlformats.org/officeDocument/2006/relationships/image" Target="../media/image2.png"/><Relationship Id="rId11" Type="http://schemas.openxmlformats.org/officeDocument/2006/relationships/slide" Target="slide3.xml"/><Relationship Id="rId5" Type="http://schemas.openxmlformats.org/officeDocument/2006/relationships/image" Target="../media/image5.emf"/><Relationship Id="rId10" Type="http://schemas.openxmlformats.org/officeDocument/2006/relationships/slide" Target="slide2.xml"/><Relationship Id="rId4" Type="http://schemas.openxmlformats.org/officeDocument/2006/relationships/customXml" Target="../ink/ink6.xml"/><Relationship Id="rId9" Type="http://schemas.openxmlformats.org/officeDocument/2006/relationships/image" Target="../media/image5.svg"/><Relationship Id="rId14" Type="http://schemas.openxmlformats.org/officeDocument/2006/relationships/slide" Target="slide5.xml"/></Relationships>
</file>

<file path=ppt/slides/_rels/slide5.xml.rels><?xml version="1.0" encoding="UTF-8" standalone="yes"?>
<Relationships xmlns="http://schemas.openxmlformats.org/package/2006/relationships"><Relationship Id="rId8" Type="http://schemas.openxmlformats.org/officeDocument/2006/relationships/slide" Target="slide3.xml"/><Relationship Id="rId3" Type="http://schemas.openxmlformats.org/officeDocument/2006/relationships/image" Target="../media/image6.png"/><Relationship Id="rId7" Type="http://schemas.openxmlformats.org/officeDocument/2006/relationships/slide" Target="slide2.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3.svg"/><Relationship Id="rId11" Type="http://schemas.openxmlformats.org/officeDocument/2006/relationships/slide" Target="slide4.xml"/><Relationship Id="rId5" Type="http://schemas.openxmlformats.org/officeDocument/2006/relationships/image" Target="../media/image2.png"/><Relationship Id="rId10" Type="http://schemas.openxmlformats.org/officeDocument/2006/relationships/slide" Target="slide5.xml"/><Relationship Id="rId4" Type="http://schemas.openxmlformats.org/officeDocument/2006/relationships/image" Target="../media/image7.svg"/><Relationship Id="rId9" Type="http://schemas.openxmlformats.org/officeDocument/2006/relationships/slide" Target="slide6.xml"/></Relationships>
</file>

<file path=ppt/slides/_rels/slide6.xml.rels><?xml version="1.0" encoding="UTF-8" standalone="yes"?>
<Relationships xmlns="http://schemas.openxmlformats.org/package/2006/relationships"><Relationship Id="rId8" Type="http://schemas.openxmlformats.org/officeDocument/2006/relationships/slide" Target="slide6.xml"/><Relationship Id="rId3" Type="http://schemas.openxmlformats.org/officeDocument/2006/relationships/image" Target="../media/image2.png"/><Relationship Id="rId7" Type="http://schemas.openxmlformats.org/officeDocument/2006/relationships/slide" Target="slide4.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3.xml"/><Relationship Id="rId5" Type="http://schemas.openxmlformats.org/officeDocument/2006/relationships/slide" Target="slide2.xml"/><Relationship Id="rId4" Type="http://schemas.openxmlformats.org/officeDocument/2006/relationships/image" Target="../media/image3.svg"/><Relationship Id="rId9" Type="http://schemas.openxmlformats.org/officeDocument/2006/relationships/slide" Target="slide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ECG" descr="A picture containing timeline&#10;&#10;Description automatically generated">
            <a:extLst>
              <a:ext uri="{FF2B5EF4-FFF2-40B4-BE49-F238E27FC236}">
                <a16:creationId xmlns:a16="http://schemas.microsoft.com/office/drawing/2014/main" id="{5C49E484-2AF7-B54D-B95E-44D6DBDE1833}"/>
              </a:ext>
            </a:extLst>
          </p:cNvPr>
          <p:cNvPicPr>
            <a:picLocks noChangeAspect="1"/>
          </p:cNvPicPr>
          <p:nvPr/>
        </p:nvPicPr>
        <p:blipFill>
          <a:blip r:embed="rId2"/>
          <a:stretch>
            <a:fillRect/>
          </a:stretch>
        </p:blipFill>
        <p:spPr>
          <a:xfrm>
            <a:off x="0" y="1107083"/>
            <a:ext cx="12192000" cy="5804631"/>
          </a:xfrm>
          <a:prstGeom prst="rect">
            <a:avLst/>
          </a:prstGeom>
        </p:spPr>
      </p:pic>
      <p:sp>
        <p:nvSpPr>
          <p:cNvPr id="6" name="Rectangle: Rounded Corners 5">
            <a:hlinkClick r:id="rId3" action="ppaction://hlinksldjump"/>
            <a:extLst>
              <a:ext uri="{FF2B5EF4-FFF2-40B4-BE49-F238E27FC236}">
                <a16:creationId xmlns:a16="http://schemas.microsoft.com/office/drawing/2014/main" id="{CF430FD2-F87B-498E-9FB8-E9648EDAF9B5}"/>
              </a:ext>
            </a:extLst>
          </p:cNvPr>
          <p:cNvSpPr/>
          <p:nvPr/>
        </p:nvSpPr>
        <p:spPr>
          <a:xfrm>
            <a:off x="10431173" y="97577"/>
            <a:ext cx="1637176" cy="350310"/>
          </a:xfrm>
          <a:prstGeom prst="roundRect">
            <a:avLst/>
          </a:prstGeom>
          <a:solidFill>
            <a:schemeClr val="bg1"/>
          </a:solidFill>
          <a:ln w="28575"/>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accent1"/>
                </a:solidFill>
              </a:rPr>
              <a:t>Pathophysiology</a:t>
            </a:r>
          </a:p>
        </p:txBody>
      </p:sp>
      <p:pic>
        <p:nvPicPr>
          <p:cNvPr id="9" name="Graphic 8" descr="Cursor with solid fill">
            <a:extLst>
              <a:ext uri="{FF2B5EF4-FFF2-40B4-BE49-F238E27FC236}">
                <a16:creationId xmlns:a16="http://schemas.microsoft.com/office/drawing/2014/main" id="{36E1FF84-2246-41E2-891A-55A594B44F8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908338" y="272732"/>
            <a:ext cx="278936" cy="278936"/>
          </a:xfrm>
          <a:prstGeom prst="rect">
            <a:avLst/>
          </a:prstGeom>
        </p:spPr>
      </p:pic>
      <p:sp>
        <p:nvSpPr>
          <p:cNvPr id="7" name="Rectangle: Rounded Corners 6">
            <a:hlinkClick r:id="rId6" action="ppaction://hlinksldjump"/>
            <a:extLst>
              <a:ext uri="{FF2B5EF4-FFF2-40B4-BE49-F238E27FC236}">
                <a16:creationId xmlns:a16="http://schemas.microsoft.com/office/drawing/2014/main" id="{08AA1495-BEEF-47BF-920E-047623C8FC35}"/>
              </a:ext>
            </a:extLst>
          </p:cNvPr>
          <p:cNvSpPr/>
          <p:nvPr/>
        </p:nvSpPr>
        <p:spPr>
          <a:xfrm>
            <a:off x="11080777" y="520765"/>
            <a:ext cx="993105" cy="330385"/>
          </a:xfrm>
          <a:prstGeom prst="roundRect">
            <a:avLst/>
          </a:prstGeom>
          <a:solidFill>
            <a:schemeClr val="bg1"/>
          </a:solidFill>
          <a:ln w="28575"/>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accent1"/>
                </a:solidFill>
              </a:rPr>
              <a:t>Work-up</a:t>
            </a:r>
          </a:p>
        </p:txBody>
      </p:sp>
      <p:pic>
        <p:nvPicPr>
          <p:cNvPr id="10" name="Graphic 9" descr="Cursor with solid fill">
            <a:extLst>
              <a:ext uri="{FF2B5EF4-FFF2-40B4-BE49-F238E27FC236}">
                <a16:creationId xmlns:a16="http://schemas.microsoft.com/office/drawing/2014/main" id="{27028CB5-99C1-4564-9746-092318E4A48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894548" y="666455"/>
            <a:ext cx="278936" cy="278936"/>
          </a:xfrm>
          <a:prstGeom prst="rect">
            <a:avLst/>
          </a:prstGeom>
        </p:spPr>
      </p:pic>
      <p:sp>
        <p:nvSpPr>
          <p:cNvPr id="11" name="Rectangle: Rounded Corners 10">
            <a:hlinkClick r:id="rId7" action="ppaction://hlinksldjump"/>
            <a:extLst>
              <a:ext uri="{FF2B5EF4-FFF2-40B4-BE49-F238E27FC236}">
                <a16:creationId xmlns:a16="http://schemas.microsoft.com/office/drawing/2014/main" id="{4CAAE7F7-5AFC-4181-BBA1-E10098045677}"/>
              </a:ext>
            </a:extLst>
          </p:cNvPr>
          <p:cNvSpPr/>
          <p:nvPr/>
        </p:nvSpPr>
        <p:spPr>
          <a:xfrm>
            <a:off x="10675924" y="930048"/>
            <a:ext cx="1392426" cy="350310"/>
          </a:xfrm>
          <a:prstGeom prst="roundRect">
            <a:avLst/>
          </a:prstGeom>
          <a:solidFill>
            <a:schemeClr val="bg1"/>
          </a:solidFill>
          <a:ln w="28575"/>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accent1"/>
                </a:solidFill>
              </a:rPr>
              <a:t>Management</a:t>
            </a:r>
          </a:p>
        </p:txBody>
      </p:sp>
      <p:pic>
        <p:nvPicPr>
          <p:cNvPr id="12" name="Graphic 11" descr="Cursor with solid fill">
            <a:extLst>
              <a:ext uri="{FF2B5EF4-FFF2-40B4-BE49-F238E27FC236}">
                <a16:creationId xmlns:a16="http://schemas.microsoft.com/office/drawing/2014/main" id="{D4EFE437-0E91-463B-975E-0A45646160F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912507" y="1070433"/>
            <a:ext cx="280861" cy="280861"/>
          </a:xfrm>
          <a:prstGeom prst="rect">
            <a:avLst/>
          </a:prstGeom>
        </p:spPr>
      </p:pic>
      <p:sp>
        <p:nvSpPr>
          <p:cNvPr id="16" name="TextBox 15">
            <a:extLst>
              <a:ext uri="{FF2B5EF4-FFF2-40B4-BE49-F238E27FC236}">
                <a16:creationId xmlns:a16="http://schemas.microsoft.com/office/drawing/2014/main" id="{CAC9009A-231D-4CA2-9CE4-77C9061B8885}"/>
              </a:ext>
            </a:extLst>
          </p:cNvPr>
          <p:cNvSpPr txBox="1"/>
          <p:nvPr/>
        </p:nvSpPr>
        <p:spPr>
          <a:xfrm>
            <a:off x="781517" y="152976"/>
            <a:ext cx="9550142" cy="954107"/>
          </a:xfrm>
          <a:prstGeom prst="rect">
            <a:avLst/>
          </a:prstGeom>
          <a:noFill/>
        </p:spPr>
        <p:txBody>
          <a:bodyPr wrap="square" rtlCol="0">
            <a:spAutoFit/>
          </a:bodyPr>
          <a:lstStyle/>
          <a:p>
            <a:pPr algn="ctr"/>
            <a:r>
              <a:rPr lang="en-US" sz="2800" dirty="0">
                <a:ea typeface="+mn-lt"/>
                <a:cs typeface="+mn-lt"/>
              </a:rPr>
              <a:t>68 yo M with hx of HTN, DMII and COPD who presents with dyspnea on exertion and palpitations.</a:t>
            </a:r>
          </a:p>
        </p:txBody>
      </p:sp>
      <p:grpSp>
        <p:nvGrpSpPr>
          <p:cNvPr id="17" name="Diagnosis">
            <a:extLst>
              <a:ext uri="{FF2B5EF4-FFF2-40B4-BE49-F238E27FC236}">
                <a16:creationId xmlns:a16="http://schemas.microsoft.com/office/drawing/2014/main" id="{49D4C203-EB6B-495D-91BE-EA78CF204C67}"/>
              </a:ext>
            </a:extLst>
          </p:cNvPr>
          <p:cNvGrpSpPr/>
          <p:nvPr/>
        </p:nvGrpSpPr>
        <p:grpSpPr>
          <a:xfrm>
            <a:off x="5256332" y="3864940"/>
            <a:ext cx="1776644" cy="642214"/>
            <a:chOff x="392067" y="6014907"/>
            <a:chExt cx="1776644" cy="642214"/>
          </a:xfrm>
        </p:grpSpPr>
        <p:sp>
          <p:nvSpPr>
            <p:cNvPr id="18" name="Rectangle: Rounded Corners 17">
              <a:extLst>
                <a:ext uri="{FF2B5EF4-FFF2-40B4-BE49-F238E27FC236}">
                  <a16:creationId xmlns:a16="http://schemas.microsoft.com/office/drawing/2014/main" id="{AC8F9FC8-088C-46D3-983E-2DE506C5B327}"/>
                </a:ext>
              </a:extLst>
            </p:cNvPr>
            <p:cNvSpPr/>
            <p:nvPr/>
          </p:nvSpPr>
          <p:spPr>
            <a:xfrm>
              <a:off x="392067" y="6014907"/>
              <a:ext cx="1637176" cy="502746"/>
            </a:xfrm>
            <a:prstGeom prst="round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DIAGNOSIS</a:t>
              </a:r>
            </a:p>
          </p:txBody>
        </p:sp>
        <p:pic>
          <p:nvPicPr>
            <p:cNvPr id="19" name="Graphic 18" descr="Cursor with solid fill">
              <a:extLst>
                <a:ext uri="{FF2B5EF4-FFF2-40B4-BE49-F238E27FC236}">
                  <a16:creationId xmlns:a16="http://schemas.microsoft.com/office/drawing/2014/main" id="{A3925DA3-5FFF-4A8A-8530-3AFE55F8DC2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889775" y="6378185"/>
              <a:ext cx="278936" cy="278936"/>
            </a:xfrm>
            <a:prstGeom prst="rect">
              <a:avLst/>
            </a:prstGeom>
          </p:spPr>
        </p:pic>
      </p:grpSp>
      <p:grpSp>
        <p:nvGrpSpPr>
          <p:cNvPr id="25" name="Narrow QRS">
            <a:extLst>
              <a:ext uri="{FF2B5EF4-FFF2-40B4-BE49-F238E27FC236}">
                <a16:creationId xmlns:a16="http://schemas.microsoft.com/office/drawing/2014/main" id="{421DF9F2-7F71-458D-A23C-452882E874DA}"/>
              </a:ext>
            </a:extLst>
          </p:cNvPr>
          <p:cNvGrpSpPr/>
          <p:nvPr/>
        </p:nvGrpSpPr>
        <p:grpSpPr>
          <a:xfrm>
            <a:off x="781517" y="2011680"/>
            <a:ext cx="2529574" cy="875899"/>
            <a:chOff x="781517" y="2011680"/>
            <a:chExt cx="2529574" cy="875899"/>
          </a:xfrm>
        </p:grpSpPr>
        <p:cxnSp>
          <p:nvCxnSpPr>
            <p:cNvPr id="22" name="Straight Arrow Connector 21">
              <a:extLst>
                <a:ext uri="{FF2B5EF4-FFF2-40B4-BE49-F238E27FC236}">
                  <a16:creationId xmlns:a16="http://schemas.microsoft.com/office/drawing/2014/main" id="{3922A63B-D641-4B7A-ACC4-F56A6B814387}"/>
                </a:ext>
              </a:extLst>
            </p:cNvPr>
            <p:cNvCxnSpPr>
              <a:cxnSpLocks/>
            </p:cNvCxnSpPr>
            <p:nvPr/>
          </p:nvCxnSpPr>
          <p:spPr>
            <a:xfrm flipH="1" flipV="1">
              <a:off x="1091493" y="2011680"/>
              <a:ext cx="221380" cy="4235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5DB19255-8612-4AC0-B260-128842804758}"/>
                </a:ext>
              </a:extLst>
            </p:cNvPr>
            <p:cNvSpPr/>
            <p:nvPr/>
          </p:nvSpPr>
          <p:spPr>
            <a:xfrm>
              <a:off x="781517" y="2435192"/>
              <a:ext cx="2529574" cy="45238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Narrow QRS (&lt;120 </a:t>
              </a:r>
              <a:r>
                <a:rPr lang="en-US" dirty="0" err="1"/>
                <a:t>ms</a:t>
              </a:r>
              <a:r>
                <a:rPr lang="en-US" dirty="0"/>
                <a:t>)</a:t>
              </a:r>
            </a:p>
          </p:txBody>
        </p:sp>
      </p:grpSp>
      <p:grpSp>
        <p:nvGrpSpPr>
          <p:cNvPr id="44" name="Irregular rhythm">
            <a:extLst>
              <a:ext uri="{FF2B5EF4-FFF2-40B4-BE49-F238E27FC236}">
                <a16:creationId xmlns:a16="http://schemas.microsoft.com/office/drawing/2014/main" id="{727F700A-CCA7-4DAF-A4E1-5EC423859B57}"/>
              </a:ext>
            </a:extLst>
          </p:cNvPr>
          <p:cNvGrpSpPr/>
          <p:nvPr/>
        </p:nvGrpSpPr>
        <p:grpSpPr>
          <a:xfrm>
            <a:off x="925279" y="4766458"/>
            <a:ext cx="4571734" cy="696583"/>
            <a:chOff x="433403" y="5280705"/>
            <a:chExt cx="4571734" cy="696583"/>
          </a:xfrm>
        </p:grpSpPr>
        <p:cxnSp>
          <p:nvCxnSpPr>
            <p:cNvPr id="27" name="Straight Arrow Connector 26">
              <a:extLst>
                <a:ext uri="{FF2B5EF4-FFF2-40B4-BE49-F238E27FC236}">
                  <a16:creationId xmlns:a16="http://schemas.microsoft.com/office/drawing/2014/main" id="{D6F23B8D-612E-4006-B7ED-5B9977CF6F6F}"/>
                </a:ext>
              </a:extLst>
            </p:cNvPr>
            <p:cNvCxnSpPr>
              <a:cxnSpLocks/>
            </p:cNvCxnSpPr>
            <p:nvPr/>
          </p:nvCxnSpPr>
          <p:spPr>
            <a:xfrm flipH="1">
              <a:off x="683488" y="5534737"/>
              <a:ext cx="518695" cy="3600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D62A26E0-A5F2-488D-AC14-EA890EE86E7B}"/>
                </a:ext>
              </a:extLst>
            </p:cNvPr>
            <p:cNvCxnSpPr>
              <a:cxnSpLocks/>
            </p:cNvCxnSpPr>
            <p:nvPr/>
          </p:nvCxnSpPr>
          <p:spPr>
            <a:xfrm flipH="1">
              <a:off x="1018921" y="5534737"/>
              <a:ext cx="183263" cy="3753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66EA85F2-D61B-463A-BBE3-563648632AD7}"/>
                </a:ext>
              </a:extLst>
            </p:cNvPr>
            <p:cNvCxnSpPr>
              <a:cxnSpLocks/>
            </p:cNvCxnSpPr>
            <p:nvPr/>
          </p:nvCxnSpPr>
          <p:spPr>
            <a:xfrm>
              <a:off x="1559294" y="5627094"/>
              <a:ext cx="109431" cy="3501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DFC9CFBC-3F22-47DF-B680-185C8CD52ABE}"/>
                </a:ext>
              </a:extLst>
            </p:cNvPr>
            <p:cNvCxnSpPr>
              <a:cxnSpLocks/>
            </p:cNvCxnSpPr>
            <p:nvPr/>
          </p:nvCxnSpPr>
          <p:spPr>
            <a:xfrm>
              <a:off x="1912973" y="5687137"/>
              <a:ext cx="188889" cy="2229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E33965B8-8A5F-48FA-A61E-BD64A373110B}"/>
                </a:ext>
              </a:extLst>
            </p:cNvPr>
            <p:cNvCxnSpPr>
              <a:cxnSpLocks/>
            </p:cNvCxnSpPr>
            <p:nvPr/>
          </p:nvCxnSpPr>
          <p:spPr>
            <a:xfrm flipH="1">
              <a:off x="2657891" y="5602933"/>
              <a:ext cx="2372" cy="2918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7DF2EE56-44F3-4A08-BA56-3BB2EC56807D}"/>
                </a:ext>
              </a:extLst>
            </p:cNvPr>
            <p:cNvSpPr/>
            <p:nvPr/>
          </p:nvSpPr>
          <p:spPr>
            <a:xfrm>
              <a:off x="433403" y="5280705"/>
              <a:ext cx="4571734" cy="45238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Irregularly irregular ventricular rate &gt; 100 bpm</a:t>
              </a:r>
            </a:p>
          </p:txBody>
        </p:sp>
      </p:grpSp>
      <p:grpSp>
        <p:nvGrpSpPr>
          <p:cNvPr id="45" name="P waves">
            <a:extLst>
              <a:ext uri="{FF2B5EF4-FFF2-40B4-BE49-F238E27FC236}">
                <a16:creationId xmlns:a16="http://schemas.microsoft.com/office/drawing/2014/main" id="{13FC947A-A6D1-4CFA-AC91-E8D22ABA424D}"/>
              </a:ext>
            </a:extLst>
          </p:cNvPr>
          <p:cNvGrpSpPr/>
          <p:nvPr/>
        </p:nvGrpSpPr>
        <p:grpSpPr>
          <a:xfrm>
            <a:off x="7986098" y="4904027"/>
            <a:ext cx="2445075" cy="1069273"/>
            <a:chOff x="769046" y="5220570"/>
            <a:chExt cx="2445075" cy="1069273"/>
          </a:xfrm>
        </p:grpSpPr>
        <p:cxnSp>
          <p:nvCxnSpPr>
            <p:cNvPr id="46" name="Straight Arrow Connector 45">
              <a:extLst>
                <a:ext uri="{FF2B5EF4-FFF2-40B4-BE49-F238E27FC236}">
                  <a16:creationId xmlns:a16="http://schemas.microsoft.com/office/drawing/2014/main" id="{FE2FDB23-589A-4A00-BE7D-181D91CBF55B}"/>
                </a:ext>
              </a:extLst>
            </p:cNvPr>
            <p:cNvCxnSpPr>
              <a:cxnSpLocks/>
            </p:cNvCxnSpPr>
            <p:nvPr/>
          </p:nvCxnSpPr>
          <p:spPr>
            <a:xfrm>
              <a:off x="870025" y="5602747"/>
              <a:ext cx="127113" cy="6870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B641AB68-B4F4-491B-87A4-4C4983CE7987}"/>
                </a:ext>
              </a:extLst>
            </p:cNvPr>
            <p:cNvCxnSpPr>
              <a:cxnSpLocks/>
            </p:cNvCxnSpPr>
            <p:nvPr/>
          </p:nvCxnSpPr>
          <p:spPr>
            <a:xfrm>
              <a:off x="1202183" y="5534737"/>
              <a:ext cx="202627" cy="7551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C0BD8FEF-B59A-4931-ADA1-635F179ECEC8}"/>
                </a:ext>
              </a:extLst>
            </p:cNvPr>
            <p:cNvCxnSpPr>
              <a:cxnSpLocks/>
            </p:cNvCxnSpPr>
            <p:nvPr/>
          </p:nvCxnSpPr>
          <p:spPr>
            <a:xfrm>
              <a:off x="1703129" y="5701125"/>
              <a:ext cx="134818" cy="5768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1796AADA-D10E-497E-914E-D2E063151B0F}"/>
                </a:ext>
              </a:extLst>
            </p:cNvPr>
            <p:cNvCxnSpPr>
              <a:cxnSpLocks/>
            </p:cNvCxnSpPr>
            <p:nvPr/>
          </p:nvCxnSpPr>
          <p:spPr>
            <a:xfrm>
              <a:off x="2479321" y="5661036"/>
              <a:ext cx="349106" cy="6169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99308C0F-AF6F-4AC1-8453-547BA10E0A29}"/>
                </a:ext>
              </a:extLst>
            </p:cNvPr>
            <p:cNvSpPr/>
            <p:nvPr/>
          </p:nvSpPr>
          <p:spPr>
            <a:xfrm>
              <a:off x="769046" y="5220570"/>
              <a:ext cx="2445075" cy="45238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No discernible P waves</a:t>
              </a:r>
            </a:p>
          </p:txBody>
        </p:sp>
      </p:grpSp>
      <p:sp>
        <p:nvSpPr>
          <p:cNvPr id="57" name="AF with RVR">
            <a:extLst>
              <a:ext uri="{FF2B5EF4-FFF2-40B4-BE49-F238E27FC236}">
                <a16:creationId xmlns:a16="http://schemas.microsoft.com/office/drawing/2014/main" id="{9021C488-CFA3-4819-87E4-D6F805C2B551}"/>
              </a:ext>
            </a:extLst>
          </p:cNvPr>
          <p:cNvSpPr/>
          <p:nvPr/>
        </p:nvSpPr>
        <p:spPr>
          <a:xfrm>
            <a:off x="2719270" y="3846577"/>
            <a:ext cx="7326209" cy="4523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ATRIAL FIBRILLATION WITH RAPID VENTRICULAR RATE</a:t>
            </a:r>
          </a:p>
        </p:txBody>
      </p:sp>
      <p:sp>
        <p:nvSpPr>
          <p:cNvPr id="36" name="Rectangle: Rounded Corners 35">
            <a:hlinkClick r:id="rId8" action="ppaction://hlinksldjump"/>
            <a:extLst>
              <a:ext uri="{FF2B5EF4-FFF2-40B4-BE49-F238E27FC236}">
                <a16:creationId xmlns:a16="http://schemas.microsoft.com/office/drawing/2014/main" id="{CD5C2ABB-A23C-4B4E-BC30-D30C753CA39D}"/>
              </a:ext>
            </a:extLst>
          </p:cNvPr>
          <p:cNvSpPr/>
          <p:nvPr/>
        </p:nvSpPr>
        <p:spPr>
          <a:xfrm>
            <a:off x="11289210" y="1330295"/>
            <a:ext cx="779139" cy="350310"/>
          </a:xfrm>
          <a:prstGeom prst="roundRect">
            <a:avLst/>
          </a:prstGeom>
          <a:solidFill>
            <a:schemeClr val="bg1"/>
          </a:solidFill>
          <a:ln w="28575"/>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accent1"/>
                </a:solidFill>
              </a:rPr>
              <a:t>Cases</a:t>
            </a:r>
          </a:p>
        </p:txBody>
      </p:sp>
      <p:pic>
        <p:nvPicPr>
          <p:cNvPr id="37" name="Graphic 36" descr="Cursor with solid fill">
            <a:extLst>
              <a:ext uri="{FF2B5EF4-FFF2-40B4-BE49-F238E27FC236}">
                <a16:creationId xmlns:a16="http://schemas.microsoft.com/office/drawing/2014/main" id="{B9EF752B-976D-44F2-A7B3-B3CE8EEA38A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912507" y="1480541"/>
            <a:ext cx="280861" cy="280861"/>
          </a:xfrm>
          <a:prstGeom prst="rect">
            <a:avLst/>
          </a:prstGeom>
        </p:spPr>
      </p:pic>
    </p:spTree>
    <p:extLst>
      <p:ext uri="{BB962C8B-B14F-4D97-AF65-F5344CB8AC3E}">
        <p14:creationId xmlns:p14="http://schemas.microsoft.com/office/powerpoint/2010/main" val="2238495462"/>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7"/>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7"/>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17"/>
                                        </p:tgtEl>
                                        <p:attrNameLst>
                                          <p:attrName>style.visibility</p:attrName>
                                        </p:attrNameLst>
                                      </p:cBhvr>
                                      <p:to>
                                        <p:strVal val="hidden"/>
                                      </p:to>
                                    </p:set>
                                  </p:childTnLst>
                                </p:cTn>
                              </p:par>
                              <p:par>
                                <p:cTn id="9" presetID="1" presetClass="entr" presetSubtype="0" fill="hold" nodeType="withEffect">
                                  <p:stCondLst>
                                    <p:cond delay="0"/>
                                  </p:stCondLst>
                                  <p:childTnLst>
                                    <p:set>
                                      <p:cBhvr>
                                        <p:cTn id="10" dur="1" fill="hold">
                                          <p:stCondLst>
                                            <p:cond delay="0"/>
                                          </p:stCondLst>
                                        </p:cTn>
                                        <p:tgtEl>
                                          <p:spTgt spid="4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childTnLst>
              </p:cTn>
              <p:nextCondLst>
                <p:cond evt="onClick" delay="0">
                  <p:tgtEl>
                    <p:spTgt spid="17"/>
                  </p:tgtEl>
                </p:cond>
              </p:nextCondLst>
            </p:seq>
          </p:childTnLst>
        </p:cTn>
      </p:par>
    </p:tnLst>
    <p:bldLst>
      <p:bldP spid="57"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Freeform: Shape 17">
            <a:extLst>
              <a:ext uri="{FF2B5EF4-FFF2-40B4-BE49-F238E27FC236}">
                <a16:creationId xmlns:a16="http://schemas.microsoft.com/office/drawing/2014/main" id="{D13FC38C-52EC-4E3A-B581-F43980BFDA96}"/>
              </a:ext>
            </a:extLst>
          </p:cNvPr>
          <p:cNvSpPr/>
          <p:nvPr/>
        </p:nvSpPr>
        <p:spPr>
          <a:xfrm>
            <a:off x="5599019" y="3039135"/>
            <a:ext cx="2193293" cy="2591641"/>
          </a:xfrm>
          <a:custGeom>
            <a:avLst/>
            <a:gdLst>
              <a:gd name="connsiteX0" fmla="*/ 0 w 2454387"/>
              <a:gd name="connsiteY0" fmla="*/ 0 h 2704793"/>
              <a:gd name="connsiteX1" fmla="*/ 1297172 w 2454387"/>
              <a:gd name="connsiteY1" fmla="*/ 2530548 h 2704793"/>
              <a:gd name="connsiteX2" fmla="*/ 2339163 w 2454387"/>
              <a:gd name="connsiteY2" fmla="*/ 2360427 h 2704793"/>
              <a:gd name="connsiteX3" fmla="*/ 2381693 w 2454387"/>
              <a:gd name="connsiteY3" fmla="*/ 1360967 h 2704793"/>
              <a:gd name="connsiteX0" fmla="*/ 0 w 2408040"/>
              <a:gd name="connsiteY0" fmla="*/ 0 h 2671586"/>
              <a:gd name="connsiteX1" fmla="*/ 1297172 w 2408040"/>
              <a:gd name="connsiteY1" fmla="*/ 2530548 h 2671586"/>
              <a:gd name="connsiteX2" fmla="*/ 2200939 w 2408040"/>
              <a:gd name="connsiteY2" fmla="*/ 2243469 h 2671586"/>
              <a:gd name="connsiteX3" fmla="*/ 2381693 w 2408040"/>
              <a:gd name="connsiteY3" fmla="*/ 1360967 h 2671586"/>
              <a:gd name="connsiteX0" fmla="*/ 0 w 2408040"/>
              <a:gd name="connsiteY0" fmla="*/ 0 h 2997607"/>
              <a:gd name="connsiteX1" fmla="*/ 1765004 w 2408040"/>
              <a:gd name="connsiteY1" fmla="*/ 2902687 h 2997607"/>
              <a:gd name="connsiteX2" fmla="*/ 2200939 w 2408040"/>
              <a:gd name="connsiteY2" fmla="*/ 2243469 h 2997607"/>
              <a:gd name="connsiteX3" fmla="*/ 2381693 w 2408040"/>
              <a:gd name="connsiteY3" fmla="*/ 1360967 h 2997607"/>
              <a:gd name="connsiteX0" fmla="*/ 0 w 2408040"/>
              <a:gd name="connsiteY0" fmla="*/ 0 h 2997607"/>
              <a:gd name="connsiteX1" fmla="*/ 1765004 w 2408040"/>
              <a:gd name="connsiteY1" fmla="*/ 2902687 h 2997607"/>
              <a:gd name="connsiteX2" fmla="*/ 2200939 w 2408040"/>
              <a:gd name="connsiteY2" fmla="*/ 2243469 h 2997607"/>
              <a:gd name="connsiteX3" fmla="*/ 2381693 w 2408040"/>
              <a:gd name="connsiteY3" fmla="*/ 1360967 h 2997607"/>
              <a:gd name="connsiteX0" fmla="*/ 0 w 2381693"/>
              <a:gd name="connsiteY0" fmla="*/ 0 h 2926690"/>
              <a:gd name="connsiteX1" fmla="*/ 1765004 w 2381693"/>
              <a:gd name="connsiteY1" fmla="*/ 2902687 h 2926690"/>
              <a:gd name="connsiteX2" fmla="*/ 2381693 w 2381693"/>
              <a:gd name="connsiteY2" fmla="*/ 1360967 h 2926690"/>
              <a:gd name="connsiteX0" fmla="*/ 0 w 2381693"/>
              <a:gd name="connsiteY0" fmla="*/ 0 h 2822052"/>
              <a:gd name="connsiteX1" fmla="*/ 1860697 w 2381693"/>
              <a:gd name="connsiteY1" fmla="*/ 2796361 h 2822052"/>
              <a:gd name="connsiteX2" fmla="*/ 2381693 w 2381693"/>
              <a:gd name="connsiteY2" fmla="*/ 1360967 h 2822052"/>
              <a:gd name="connsiteX0" fmla="*/ 0 w 2349795"/>
              <a:gd name="connsiteY0" fmla="*/ 0 h 2898970"/>
              <a:gd name="connsiteX1" fmla="*/ 1828799 w 2349795"/>
              <a:gd name="connsiteY1" fmla="*/ 2870789 h 2898970"/>
              <a:gd name="connsiteX2" fmla="*/ 2349795 w 2349795"/>
              <a:gd name="connsiteY2" fmla="*/ 1435395 h 2898970"/>
              <a:gd name="connsiteX0" fmla="*/ 0 w 2355903"/>
              <a:gd name="connsiteY0" fmla="*/ 0 h 2900999"/>
              <a:gd name="connsiteX1" fmla="*/ 1828799 w 2355903"/>
              <a:gd name="connsiteY1" fmla="*/ 2870789 h 2900999"/>
              <a:gd name="connsiteX2" fmla="*/ 2349795 w 2355903"/>
              <a:gd name="connsiteY2" fmla="*/ 1435395 h 2900999"/>
            </a:gdLst>
            <a:ahLst/>
            <a:cxnLst>
              <a:cxn ang="0">
                <a:pos x="connsiteX0" y="connsiteY0"/>
              </a:cxn>
              <a:cxn ang="0">
                <a:pos x="connsiteX1" y="connsiteY1"/>
              </a:cxn>
              <a:cxn ang="0">
                <a:pos x="connsiteX2" y="connsiteY2"/>
              </a:cxn>
            </a:cxnLst>
            <a:rect l="l" t="t" r="r" b="b"/>
            <a:pathLst>
              <a:path w="2355903" h="2900999">
                <a:moveTo>
                  <a:pt x="0" y="0"/>
                </a:moveTo>
                <a:cubicBezTo>
                  <a:pt x="453656" y="1068572"/>
                  <a:pt x="1437167" y="2631557"/>
                  <a:pt x="1828799" y="2870789"/>
                </a:cubicBezTo>
                <a:cubicBezTo>
                  <a:pt x="2220432" y="3110022"/>
                  <a:pt x="2391439" y="1862913"/>
                  <a:pt x="2349795" y="1435395"/>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2131A475-74B5-4F88-A09B-E234BABEB8BE}"/>
              </a:ext>
            </a:extLst>
          </p:cNvPr>
          <p:cNvSpPr/>
          <p:nvPr/>
        </p:nvSpPr>
        <p:spPr>
          <a:xfrm>
            <a:off x="5420843" y="4169483"/>
            <a:ext cx="1202962" cy="1575079"/>
          </a:xfrm>
          <a:custGeom>
            <a:avLst/>
            <a:gdLst>
              <a:gd name="connsiteX0" fmla="*/ 925033 w 1658735"/>
              <a:gd name="connsiteY0" fmla="*/ 0 h 1552609"/>
              <a:gd name="connsiteX1" fmla="*/ 1658679 w 1658735"/>
              <a:gd name="connsiteY1" fmla="*/ 1360967 h 1552609"/>
              <a:gd name="connsiteX2" fmla="*/ 893135 w 1658735"/>
              <a:gd name="connsiteY2" fmla="*/ 1520456 h 1552609"/>
              <a:gd name="connsiteX3" fmla="*/ 0 w 1658735"/>
              <a:gd name="connsiteY3" fmla="*/ 1148316 h 1552609"/>
              <a:gd name="connsiteX0" fmla="*/ 925033 w 1414291"/>
              <a:gd name="connsiteY0" fmla="*/ 0 h 1612582"/>
              <a:gd name="connsiteX1" fmla="*/ 1414130 w 1414291"/>
              <a:gd name="connsiteY1" fmla="*/ 1477925 h 1612582"/>
              <a:gd name="connsiteX2" fmla="*/ 893135 w 1414291"/>
              <a:gd name="connsiteY2" fmla="*/ 1520456 h 1612582"/>
              <a:gd name="connsiteX3" fmla="*/ 0 w 1414291"/>
              <a:gd name="connsiteY3" fmla="*/ 1148316 h 1612582"/>
              <a:gd name="connsiteX0" fmla="*/ 861238 w 1414213"/>
              <a:gd name="connsiteY0" fmla="*/ 0 h 1794959"/>
              <a:gd name="connsiteX1" fmla="*/ 1414130 w 1414213"/>
              <a:gd name="connsiteY1" fmla="*/ 1648046 h 1794959"/>
              <a:gd name="connsiteX2" fmla="*/ 893135 w 1414213"/>
              <a:gd name="connsiteY2" fmla="*/ 1690577 h 1794959"/>
              <a:gd name="connsiteX3" fmla="*/ 0 w 1414213"/>
              <a:gd name="connsiteY3" fmla="*/ 1318437 h 1794959"/>
              <a:gd name="connsiteX0" fmla="*/ 861238 w 1448677"/>
              <a:gd name="connsiteY0" fmla="*/ 0 h 1705131"/>
              <a:gd name="connsiteX1" fmla="*/ 1414130 w 1448677"/>
              <a:gd name="connsiteY1" fmla="*/ 1648046 h 1705131"/>
              <a:gd name="connsiteX2" fmla="*/ 0 w 1448677"/>
              <a:gd name="connsiteY2" fmla="*/ 1318437 h 1705131"/>
              <a:gd name="connsiteX0" fmla="*/ 861238 w 1188978"/>
              <a:gd name="connsiteY0" fmla="*/ 0 h 1714835"/>
              <a:gd name="connsiteX1" fmla="*/ 1105786 w 1188978"/>
              <a:gd name="connsiteY1" fmla="*/ 1658679 h 1714835"/>
              <a:gd name="connsiteX2" fmla="*/ 0 w 1188978"/>
              <a:gd name="connsiteY2" fmla="*/ 1318437 h 1714835"/>
              <a:gd name="connsiteX0" fmla="*/ 839973 w 1166148"/>
              <a:gd name="connsiteY0" fmla="*/ 0 h 1711803"/>
              <a:gd name="connsiteX1" fmla="*/ 1084521 w 1166148"/>
              <a:gd name="connsiteY1" fmla="*/ 1658679 h 1711803"/>
              <a:gd name="connsiteX2" fmla="*/ 0 w 1166148"/>
              <a:gd name="connsiteY2" fmla="*/ 1297172 h 1711803"/>
              <a:gd name="connsiteX0" fmla="*/ 839973 w 1166148"/>
              <a:gd name="connsiteY0" fmla="*/ 0 h 1725346"/>
              <a:gd name="connsiteX1" fmla="*/ 1084521 w 1166148"/>
              <a:gd name="connsiteY1" fmla="*/ 1658679 h 1725346"/>
              <a:gd name="connsiteX2" fmla="*/ 0 w 1166148"/>
              <a:gd name="connsiteY2" fmla="*/ 1297172 h 1725346"/>
              <a:gd name="connsiteX0" fmla="*/ 839973 w 1292149"/>
              <a:gd name="connsiteY0" fmla="*/ 0 h 1763092"/>
              <a:gd name="connsiteX1" fmla="*/ 1244009 w 1292149"/>
              <a:gd name="connsiteY1" fmla="*/ 1701210 h 1763092"/>
              <a:gd name="connsiteX2" fmla="*/ 0 w 1292149"/>
              <a:gd name="connsiteY2" fmla="*/ 1297172 h 1763092"/>
            </a:gdLst>
            <a:ahLst/>
            <a:cxnLst>
              <a:cxn ang="0">
                <a:pos x="connsiteX0" y="connsiteY0"/>
              </a:cxn>
              <a:cxn ang="0">
                <a:pos x="connsiteX1" y="connsiteY1"/>
              </a:cxn>
              <a:cxn ang="0">
                <a:pos x="connsiteX2" y="connsiteY2"/>
              </a:cxn>
            </a:cxnLst>
            <a:rect l="l" t="t" r="r" b="b"/>
            <a:pathLst>
              <a:path w="1292149" h="1763092">
                <a:moveTo>
                  <a:pt x="839973" y="0"/>
                </a:moveTo>
                <a:cubicBezTo>
                  <a:pt x="1209454" y="553779"/>
                  <a:pt x="1384004" y="1485015"/>
                  <a:pt x="1244009" y="1701210"/>
                </a:cubicBezTo>
                <a:cubicBezTo>
                  <a:pt x="1104014" y="1917405"/>
                  <a:pt x="252080" y="1514697"/>
                  <a:pt x="0" y="129717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2">
            <p14:nvContentPartPr>
              <p14:cNvPr id="96" name="Ink 95">
                <a:extLst>
                  <a:ext uri="{FF2B5EF4-FFF2-40B4-BE49-F238E27FC236}">
                    <a16:creationId xmlns:a16="http://schemas.microsoft.com/office/drawing/2014/main" id="{2EB1830A-B6B2-974C-A6AB-025A278B2B27}"/>
                  </a:ext>
                </a:extLst>
              </p14:cNvPr>
              <p14:cNvContentPartPr/>
              <p14:nvPr/>
            </p14:nvContentPartPr>
            <p14:xfrm>
              <a:off x="3992223" y="2146690"/>
              <a:ext cx="335" cy="322"/>
            </p14:xfrm>
          </p:contentPart>
        </mc:Choice>
        <mc:Fallback xmlns="">
          <p:pic>
            <p:nvPicPr>
              <p:cNvPr id="96" name="Ink 95">
                <a:extLst>
                  <a:ext uri="{FF2B5EF4-FFF2-40B4-BE49-F238E27FC236}">
                    <a16:creationId xmlns:a16="http://schemas.microsoft.com/office/drawing/2014/main" id="{2EB1830A-B6B2-974C-A6AB-025A278B2B27}"/>
                  </a:ext>
                </a:extLst>
              </p:cNvPr>
              <p:cNvPicPr/>
              <p:nvPr/>
            </p:nvPicPr>
            <p:blipFill>
              <a:blip r:embed="rId3"/>
              <a:stretch>
                <a:fillRect/>
              </a:stretch>
            </p:blipFill>
            <p:spPr>
              <a:xfrm>
                <a:off x="3933598" y="2090340"/>
                <a:ext cx="117250" cy="112700"/>
              </a:xfrm>
              <a:prstGeom prst="rect">
                <a:avLst/>
              </a:prstGeom>
            </p:spPr>
          </p:pic>
        </mc:Fallback>
      </mc:AlternateContent>
      <p:grpSp>
        <p:nvGrpSpPr>
          <p:cNvPr id="24" name="Heart border">
            <a:extLst>
              <a:ext uri="{FF2B5EF4-FFF2-40B4-BE49-F238E27FC236}">
                <a16:creationId xmlns:a16="http://schemas.microsoft.com/office/drawing/2014/main" id="{615907A9-094E-4895-8030-AD649E6A89D2}"/>
              </a:ext>
            </a:extLst>
          </p:cNvPr>
          <p:cNvGrpSpPr/>
          <p:nvPr/>
        </p:nvGrpSpPr>
        <p:grpSpPr>
          <a:xfrm>
            <a:off x="3460694" y="1120393"/>
            <a:ext cx="4652763" cy="5107874"/>
            <a:chOff x="3465986" y="531628"/>
            <a:chExt cx="4997718" cy="5717587"/>
          </a:xfrm>
        </p:grpSpPr>
        <p:sp>
          <p:nvSpPr>
            <p:cNvPr id="3" name="Freeform: Shape 2">
              <a:extLst>
                <a:ext uri="{FF2B5EF4-FFF2-40B4-BE49-F238E27FC236}">
                  <a16:creationId xmlns:a16="http://schemas.microsoft.com/office/drawing/2014/main" id="{0FF375B0-F966-4A73-A871-8A662FB7E5C3}"/>
                </a:ext>
              </a:extLst>
            </p:cNvPr>
            <p:cNvSpPr/>
            <p:nvPr/>
          </p:nvSpPr>
          <p:spPr>
            <a:xfrm>
              <a:off x="3465986" y="880607"/>
              <a:ext cx="2275596" cy="2093373"/>
            </a:xfrm>
            <a:custGeom>
              <a:avLst/>
              <a:gdLst>
                <a:gd name="connsiteX0" fmla="*/ 1555951 w 1555951"/>
                <a:gd name="connsiteY0" fmla="*/ 191278 h 2048839"/>
                <a:gd name="connsiteX1" fmla="*/ 907365 w 1555951"/>
                <a:gd name="connsiteY1" fmla="*/ 10524 h 2048839"/>
                <a:gd name="connsiteX2" fmla="*/ 131189 w 1555951"/>
                <a:gd name="connsiteY2" fmla="*/ 467724 h 2048839"/>
                <a:gd name="connsiteX3" fmla="*/ 56761 w 1555951"/>
                <a:gd name="connsiteY3" fmla="*/ 1626673 h 2048839"/>
                <a:gd name="connsiteX4" fmla="*/ 715979 w 1555951"/>
                <a:gd name="connsiteY4" fmla="*/ 2020078 h 2048839"/>
                <a:gd name="connsiteX5" fmla="*/ 1077486 w 1555951"/>
                <a:gd name="connsiteY5" fmla="*/ 1988180 h 2048839"/>
                <a:gd name="connsiteX0" fmla="*/ 2406556 w 2406556"/>
                <a:gd name="connsiteY0" fmla="*/ 1804396 h 2098971"/>
                <a:gd name="connsiteX1" fmla="*/ 907365 w 2406556"/>
                <a:gd name="connsiteY1" fmla="*/ 60656 h 2098971"/>
                <a:gd name="connsiteX2" fmla="*/ 131189 w 2406556"/>
                <a:gd name="connsiteY2" fmla="*/ 517856 h 2098971"/>
                <a:gd name="connsiteX3" fmla="*/ 56761 w 2406556"/>
                <a:gd name="connsiteY3" fmla="*/ 1676805 h 2098971"/>
                <a:gd name="connsiteX4" fmla="*/ 715979 w 2406556"/>
                <a:gd name="connsiteY4" fmla="*/ 2070210 h 2098971"/>
                <a:gd name="connsiteX5" fmla="*/ 1077486 w 2406556"/>
                <a:gd name="connsiteY5" fmla="*/ 2038312 h 2098971"/>
                <a:gd name="connsiteX0" fmla="*/ 2406556 w 2406556"/>
                <a:gd name="connsiteY0" fmla="*/ 1775183 h 2069758"/>
                <a:gd name="connsiteX1" fmla="*/ 1619746 w 2406556"/>
                <a:gd name="connsiteY1" fmla="*/ 233462 h 2069758"/>
                <a:gd name="connsiteX2" fmla="*/ 907365 w 2406556"/>
                <a:gd name="connsiteY2" fmla="*/ 31443 h 2069758"/>
                <a:gd name="connsiteX3" fmla="*/ 131189 w 2406556"/>
                <a:gd name="connsiteY3" fmla="*/ 488643 h 2069758"/>
                <a:gd name="connsiteX4" fmla="*/ 56761 w 2406556"/>
                <a:gd name="connsiteY4" fmla="*/ 1647592 h 2069758"/>
                <a:gd name="connsiteX5" fmla="*/ 715979 w 2406556"/>
                <a:gd name="connsiteY5" fmla="*/ 2040997 h 2069758"/>
                <a:gd name="connsiteX6" fmla="*/ 1077486 w 2406556"/>
                <a:gd name="connsiteY6" fmla="*/ 2009099 h 2069758"/>
                <a:gd name="connsiteX0" fmla="*/ 2403187 w 2403187"/>
                <a:gd name="connsiteY0" fmla="*/ 1798798 h 2093373"/>
                <a:gd name="connsiteX1" fmla="*/ 1616377 w 2403187"/>
                <a:gd name="connsiteY1" fmla="*/ 257077 h 2093373"/>
                <a:gd name="connsiteX2" fmla="*/ 829569 w 2403187"/>
                <a:gd name="connsiteY2" fmla="*/ 23160 h 2093373"/>
                <a:gd name="connsiteX3" fmla="*/ 127820 w 2403187"/>
                <a:gd name="connsiteY3" fmla="*/ 512258 h 2093373"/>
                <a:gd name="connsiteX4" fmla="*/ 53392 w 2403187"/>
                <a:gd name="connsiteY4" fmla="*/ 1671207 h 2093373"/>
                <a:gd name="connsiteX5" fmla="*/ 712610 w 2403187"/>
                <a:gd name="connsiteY5" fmla="*/ 2064612 h 2093373"/>
                <a:gd name="connsiteX6" fmla="*/ 1074117 w 2403187"/>
                <a:gd name="connsiteY6" fmla="*/ 2032714 h 2093373"/>
                <a:gd name="connsiteX0" fmla="*/ 2318126 w 2318126"/>
                <a:gd name="connsiteY0" fmla="*/ 1809431 h 2093373"/>
                <a:gd name="connsiteX1" fmla="*/ 1616377 w 2318126"/>
                <a:gd name="connsiteY1" fmla="*/ 257077 h 2093373"/>
                <a:gd name="connsiteX2" fmla="*/ 829569 w 2318126"/>
                <a:gd name="connsiteY2" fmla="*/ 23160 h 2093373"/>
                <a:gd name="connsiteX3" fmla="*/ 127820 w 2318126"/>
                <a:gd name="connsiteY3" fmla="*/ 512258 h 2093373"/>
                <a:gd name="connsiteX4" fmla="*/ 53392 w 2318126"/>
                <a:gd name="connsiteY4" fmla="*/ 1671207 h 2093373"/>
                <a:gd name="connsiteX5" fmla="*/ 712610 w 2318126"/>
                <a:gd name="connsiteY5" fmla="*/ 2064612 h 2093373"/>
                <a:gd name="connsiteX6" fmla="*/ 1074117 w 2318126"/>
                <a:gd name="connsiteY6" fmla="*/ 2032714 h 2093373"/>
                <a:gd name="connsiteX0" fmla="*/ 2275596 w 2275596"/>
                <a:gd name="connsiteY0" fmla="*/ 1862594 h 2093373"/>
                <a:gd name="connsiteX1" fmla="*/ 1616377 w 2275596"/>
                <a:gd name="connsiteY1" fmla="*/ 257077 h 2093373"/>
                <a:gd name="connsiteX2" fmla="*/ 829569 w 2275596"/>
                <a:gd name="connsiteY2" fmla="*/ 23160 h 2093373"/>
                <a:gd name="connsiteX3" fmla="*/ 127820 w 2275596"/>
                <a:gd name="connsiteY3" fmla="*/ 512258 h 2093373"/>
                <a:gd name="connsiteX4" fmla="*/ 53392 w 2275596"/>
                <a:gd name="connsiteY4" fmla="*/ 1671207 h 2093373"/>
                <a:gd name="connsiteX5" fmla="*/ 712610 w 2275596"/>
                <a:gd name="connsiteY5" fmla="*/ 2064612 h 2093373"/>
                <a:gd name="connsiteX6" fmla="*/ 1074117 w 2275596"/>
                <a:gd name="connsiteY6" fmla="*/ 2032714 h 2093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75596" h="2093373">
                  <a:moveTo>
                    <a:pt x="2275596" y="1862594"/>
                  </a:moveTo>
                  <a:cubicBezTo>
                    <a:pt x="2089526" y="1637538"/>
                    <a:pt x="1866242" y="547700"/>
                    <a:pt x="1616377" y="257077"/>
                  </a:cubicBezTo>
                  <a:cubicBezTo>
                    <a:pt x="1366512" y="-33546"/>
                    <a:pt x="1077662" y="-19370"/>
                    <a:pt x="829569" y="23160"/>
                  </a:cubicBezTo>
                  <a:cubicBezTo>
                    <a:pt x="581476" y="65690"/>
                    <a:pt x="257183" y="237584"/>
                    <a:pt x="127820" y="512258"/>
                  </a:cubicBezTo>
                  <a:cubicBezTo>
                    <a:pt x="-1543" y="786932"/>
                    <a:pt x="-44073" y="1412481"/>
                    <a:pt x="53392" y="1671207"/>
                  </a:cubicBezTo>
                  <a:cubicBezTo>
                    <a:pt x="150857" y="1929933"/>
                    <a:pt x="542489" y="2004361"/>
                    <a:pt x="712610" y="2064612"/>
                  </a:cubicBezTo>
                  <a:cubicBezTo>
                    <a:pt x="882731" y="2124863"/>
                    <a:pt x="978424" y="2078788"/>
                    <a:pt x="1074117" y="2032714"/>
                  </a:cubicBezTo>
                </a:path>
              </a:pathLst>
            </a:cu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5" name="Freeform: Shape 14">
              <a:extLst>
                <a:ext uri="{FF2B5EF4-FFF2-40B4-BE49-F238E27FC236}">
                  <a16:creationId xmlns:a16="http://schemas.microsoft.com/office/drawing/2014/main" id="{73264A90-FA82-479E-ADC6-08D8D61D0C89}"/>
                </a:ext>
              </a:extLst>
            </p:cNvPr>
            <p:cNvSpPr/>
            <p:nvPr/>
          </p:nvSpPr>
          <p:spPr>
            <a:xfrm>
              <a:off x="5014773" y="531628"/>
              <a:ext cx="2195202" cy="2111245"/>
            </a:xfrm>
            <a:custGeom>
              <a:avLst/>
              <a:gdLst>
                <a:gd name="connsiteX0" fmla="*/ 3794 w 2195202"/>
                <a:gd name="connsiteY0" fmla="*/ 606056 h 2111245"/>
                <a:gd name="connsiteX1" fmla="*/ 120753 w 2195202"/>
                <a:gd name="connsiteY1" fmla="*/ 276446 h 2111245"/>
                <a:gd name="connsiteX2" fmla="*/ 801236 w 2195202"/>
                <a:gd name="connsiteY2" fmla="*/ 0 h 2111245"/>
                <a:gd name="connsiteX3" fmla="*/ 1683739 w 2195202"/>
                <a:gd name="connsiteY3" fmla="*/ 276446 h 2111245"/>
                <a:gd name="connsiteX4" fmla="*/ 2194101 w 2195202"/>
                <a:gd name="connsiteY4" fmla="*/ 1435395 h 2111245"/>
                <a:gd name="connsiteX5" fmla="*/ 1811329 w 2195202"/>
                <a:gd name="connsiteY5" fmla="*/ 2041451 h 2111245"/>
                <a:gd name="connsiteX6" fmla="*/ 1524250 w 2195202"/>
                <a:gd name="connsiteY6" fmla="*/ 2073349 h 2111245"/>
                <a:gd name="connsiteX0" fmla="*/ 3794 w 2195202"/>
                <a:gd name="connsiteY0" fmla="*/ 606056 h 2111245"/>
                <a:gd name="connsiteX1" fmla="*/ 120753 w 2195202"/>
                <a:gd name="connsiteY1" fmla="*/ 276446 h 2111245"/>
                <a:gd name="connsiteX2" fmla="*/ 801236 w 2195202"/>
                <a:gd name="connsiteY2" fmla="*/ 0 h 2111245"/>
                <a:gd name="connsiteX3" fmla="*/ 1683739 w 2195202"/>
                <a:gd name="connsiteY3" fmla="*/ 276446 h 2111245"/>
                <a:gd name="connsiteX4" fmla="*/ 2194101 w 2195202"/>
                <a:gd name="connsiteY4" fmla="*/ 1435395 h 2111245"/>
                <a:gd name="connsiteX5" fmla="*/ 1811329 w 2195202"/>
                <a:gd name="connsiteY5" fmla="*/ 2041451 h 2111245"/>
                <a:gd name="connsiteX6" fmla="*/ 1524250 w 2195202"/>
                <a:gd name="connsiteY6" fmla="*/ 2073349 h 2111245"/>
                <a:gd name="connsiteX0" fmla="*/ 3794 w 2195202"/>
                <a:gd name="connsiteY0" fmla="*/ 531628 h 2111245"/>
                <a:gd name="connsiteX1" fmla="*/ 120753 w 2195202"/>
                <a:gd name="connsiteY1" fmla="*/ 276446 h 2111245"/>
                <a:gd name="connsiteX2" fmla="*/ 801236 w 2195202"/>
                <a:gd name="connsiteY2" fmla="*/ 0 h 2111245"/>
                <a:gd name="connsiteX3" fmla="*/ 1683739 w 2195202"/>
                <a:gd name="connsiteY3" fmla="*/ 276446 h 2111245"/>
                <a:gd name="connsiteX4" fmla="*/ 2194101 w 2195202"/>
                <a:gd name="connsiteY4" fmla="*/ 1435395 h 2111245"/>
                <a:gd name="connsiteX5" fmla="*/ 1811329 w 2195202"/>
                <a:gd name="connsiteY5" fmla="*/ 2041451 h 2111245"/>
                <a:gd name="connsiteX6" fmla="*/ 1524250 w 2195202"/>
                <a:gd name="connsiteY6" fmla="*/ 2073349 h 2111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95202" h="2111245">
                  <a:moveTo>
                    <a:pt x="3794" y="531628"/>
                  </a:moveTo>
                  <a:cubicBezTo>
                    <a:pt x="-4180" y="417327"/>
                    <a:pt x="-12154" y="365051"/>
                    <a:pt x="120753" y="276446"/>
                  </a:cubicBezTo>
                  <a:cubicBezTo>
                    <a:pt x="253660" y="187841"/>
                    <a:pt x="540738" y="0"/>
                    <a:pt x="801236" y="0"/>
                  </a:cubicBezTo>
                  <a:cubicBezTo>
                    <a:pt x="1061734" y="0"/>
                    <a:pt x="1451595" y="37214"/>
                    <a:pt x="1683739" y="276446"/>
                  </a:cubicBezTo>
                  <a:cubicBezTo>
                    <a:pt x="1915883" y="515678"/>
                    <a:pt x="2172836" y="1141228"/>
                    <a:pt x="2194101" y="1435395"/>
                  </a:cubicBezTo>
                  <a:cubicBezTo>
                    <a:pt x="2215366" y="1729562"/>
                    <a:pt x="1922971" y="1935125"/>
                    <a:pt x="1811329" y="2041451"/>
                  </a:cubicBezTo>
                  <a:cubicBezTo>
                    <a:pt x="1699687" y="2147777"/>
                    <a:pt x="1611968" y="2110563"/>
                    <a:pt x="1524250" y="2073349"/>
                  </a:cubicBezTo>
                </a:path>
              </a:pathLst>
            </a:cu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6" name="Freeform: Shape 15">
              <a:extLst>
                <a:ext uri="{FF2B5EF4-FFF2-40B4-BE49-F238E27FC236}">
                  <a16:creationId xmlns:a16="http://schemas.microsoft.com/office/drawing/2014/main" id="{684A4ABE-BAE4-4927-9196-8301BCD5C301}"/>
                </a:ext>
              </a:extLst>
            </p:cNvPr>
            <p:cNvSpPr/>
            <p:nvPr/>
          </p:nvSpPr>
          <p:spPr>
            <a:xfrm>
              <a:off x="4120987" y="2275944"/>
              <a:ext cx="4342717" cy="3973271"/>
            </a:xfrm>
            <a:custGeom>
              <a:avLst/>
              <a:gdLst>
                <a:gd name="connsiteX0" fmla="*/ 120840 w 4780250"/>
                <a:gd name="connsiteY0" fmla="*/ 733661 h 4129960"/>
                <a:gd name="connsiteX1" fmla="*/ 195268 w 4780250"/>
                <a:gd name="connsiteY1" fmla="*/ 882517 h 4129960"/>
                <a:gd name="connsiteX2" fmla="*/ 88942 w 4780250"/>
                <a:gd name="connsiteY2" fmla="*/ 2222219 h 4129960"/>
                <a:gd name="connsiteX3" fmla="*/ 1683826 w 4780250"/>
                <a:gd name="connsiteY3" fmla="*/ 3891530 h 4129960"/>
                <a:gd name="connsiteX4" fmla="*/ 4118682 w 4780250"/>
                <a:gd name="connsiteY4" fmla="*/ 3923428 h 4129960"/>
                <a:gd name="connsiteX5" fmla="*/ 4777900 w 4780250"/>
                <a:gd name="connsiteY5" fmla="*/ 2052098 h 4129960"/>
                <a:gd name="connsiteX6" fmla="*/ 3969826 w 4780250"/>
                <a:gd name="connsiteY6" fmla="*/ 255196 h 4129960"/>
                <a:gd name="connsiteX7" fmla="*/ 3225547 w 4780250"/>
                <a:gd name="connsiteY7" fmla="*/ 53177 h 4129960"/>
                <a:gd name="connsiteX0" fmla="*/ 120840 w 4779195"/>
                <a:gd name="connsiteY0" fmla="*/ 690539 h 4086838"/>
                <a:gd name="connsiteX1" fmla="*/ 195268 w 4779195"/>
                <a:gd name="connsiteY1" fmla="*/ 839395 h 4086838"/>
                <a:gd name="connsiteX2" fmla="*/ 88942 w 4779195"/>
                <a:gd name="connsiteY2" fmla="*/ 2179097 h 4086838"/>
                <a:gd name="connsiteX3" fmla="*/ 1683826 w 4779195"/>
                <a:gd name="connsiteY3" fmla="*/ 3848408 h 4086838"/>
                <a:gd name="connsiteX4" fmla="*/ 4118682 w 4779195"/>
                <a:gd name="connsiteY4" fmla="*/ 3880306 h 4086838"/>
                <a:gd name="connsiteX5" fmla="*/ 4777900 w 4779195"/>
                <a:gd name="connsiteY5" fmla="*/ 2008976 h 4086838"/>
                <a:gd name="connsiteX6" fmla="*/ 4012356 w 4779195"/>
                <a:gd name="connsiteY6" fmla="*/ 541684 h 4086838"/>
                <a:gd name="connsiteX7" fmla="*/ 3225547 w 4779195"/>
                <a:gd name="connsiteY7" fmla="*/ 10055 h 4086838"/>
                <a:gd name="connsiteX0" fmla="*/ 195268 w 4779195"/>
                <a:gd name="connsiteY0" fmla="*/ 839395 h 4086838"/>
                <a:gd name="connsiteX1" fmla="*/ 88942 w 4779195"/>
                <a:gd name="connsiteY1" fmla="*/ 2179097 h 4086838"/>
                <a:gd name="connsiteX2" fmla="*/ 1683826 w 4779195"/>
                <a:gd name="connsiteY2" fmla="*/ 3848408 h 4086838"/>
                <a:gd name="connsiteX3" fmla="*/ 4118682 w 4779195"/>
                <a:gd name="connsiteY3" fmla="*/ 3880306 h 4086838"/>
                <a:gd name="connsiteX4" fmla="*/ 4777900 w 4779195"/>
                <a:gd name="connsiteY4" fmla="*/ 2008976 h 4086838"/>
                <a:gd name="connsiteX5" fmla="*/ 4012356 w 4779195"/>
                <a:gd name="connsiteY5" fmla="*/ 541684 h 4086838"/>
                <a:gd name="connsiteX6" fmla="*/ 3225547 w 4779195"/>
                <a:gd name="connsiteY6" fmla="*/ 10055 h 4086838"/>
                <a:gd name="connsiteX0" fmla="*/ 219840 w 4771869"/>
                <a:gd name="connsiteY0" fmla="*/ 658642 h 4086838"/>
                <a:gd name="connsiteX1" fmla="*/ 81616 w 4771869"/>
                <a:gd name="connsiteY1" fmla="*/ 2179097 h 4086838"/>
                <a:gd name="connsiteX2" fmla="*/ 1676500 w 4771869"/>
                <a:gd name="connsiteY2" fmla="*/ 3848408 h 4086838"/>
                <a:gd name="connsiteX3" fmla="*/ 4111356 w 4771869"/>
                <a:gd name="connsiteY3" fmla="*/ 3880306 h 4086838"/>
                <a:gd name="connsiteX4" fmla="*/ 4770574 w 4771869"/>
                <a:gd name="connsiteY4" fmla="*/ 2008976 h 4086838"/>
                <a:gd name="connsiteX5" fmla="*/ 4005030 w 4771869"/>
                <a:gd name="connsiteY5" fmla="*/ 541684 h 4086838"/>
                <a:gd name="connsiteX6" fmla="*/ 3218221 w 4771869"/>
                <a:gd name="connsiteY6" fmla="*/ 10055 h 4086838"/>
                <a:gd name="connsiteX0" fmla="*/ 449 w 4552478"/>
                <a:gd name="connsiteY0" fmla="*/ 658642 h 4077792"/>
                <a:gd name="connsiteX1" fmla="*/ 276894 w 4552478"/>
                <a:gd name="connsiteY1" fmla="*/ 2338585 h 4077792"/>
                <a:gd name="connsiteX2" fmla="*/ 1457109 w 4552478"/>
                <a:gd name="connsiteY2" fmla="*/ 3848408 h 4077792"/>
                <a:gd name="connsiteX3" fmla="*/ 3891965 w 4552478"/>
                <a:gd name="connsiteY3" fmla="*/ 3880306 h 4077792"/>
                <a:gd name="connsiteX4" fmla="*/ 4551183 w 4552478"/>
                <a:gd name="connsiteY4" fmla="*/ 2008976 h 4077792"/>
                <a:gd name="connsiteX5" fmla="*/ 3785639 w 4552478"/>
                <a:gd name="connsiteY5" fmla="*/ 541684 h 4077792"/>
                <a:gd name="connsiteX6" fmla="*/ 2998830 w 4552478"/>
                <a:gd name="connsiteY6" fmla="*/ 10055 h 4077792"/>
                <a:gd name="connsiteX0" fmla="*/ 4445 w 4556091"/>
                <a:gd name="connsiteY0" fmla="*/ 658642 h 4005308"/>
                <a:gd name="connsiteX1" fmla="*/ 280890 w 4556091"/>
                <a:gd name="connsiteY1" fmla="*/ 2338585 h 4005308"/>
                <a:gd name="connsiteX2" fmla="*/ 1939570 w 4556091"/>
                <a:gd name="connsiteY2" fmla="*/ 3667654 h 4005308"/>
                <a:gd name="connsiteX3" fmla="*/ 3895961 w 4556091"/>
                <a:gd name="connsiteY3" fmla="*/ 3880306 h 4005308"/>
                <a:gd name="connsiteX4" fmla="*/ 4555179 w 4556091"/>
                <a:gd name="connsiteY4" fmla="*/ 2008976 h 4005308"/>
                <a:gd name="connsiteX5" fmla="*/ 3789635 w 4556091"/>
                <a:gd name="connsiteY5" fmla="*/ 541684 h 4005308"/>
                <a:gd name="connsiteX6" fmla="*/ 3002826 w 4556091"/>
                <a:gd name="connsiteY6" fmla="*/ 10055 h 4005308"/>
                <a:gd name="connsiteX0" fmla="*/ 4445 w 4555291"/>
                <a:gd name="connsiteY0" fmla="*/ 658642 h 3980358"/>
                <a:gd name="connsiteX1" fmla="*/ 280890 w 4555291"/>
                <a:gd name="connsiteY1" fmla="*/ 2338585 h 3980358"/>
                <a:gd name="connsiteX2" fmla="*/ 1939570 w 4555291"/>
                <a:gd name="connsiteY2" fmla="*/ 3667654 h 3980358"/>
                <a:gd name="connsiteX3" fmla="*/ 3736472 w 4555291"/>
                <a:gd name="connsiteY3" fmla="*/ 3848408 h 3980358"/>
                <a:gd name="connsiteX4" fmla="*/ 4555179 w 4555291"/>
                <a:gd name="connsiteY4" fmla="*/ 2008976 h 3980358"/>
                <a:gd name="connsiteX5" fmla="*/ 3789635 w 4555291"/>
                <a:gd name="connsiteY5" fmla="*/ 541684 h 3980358"/>
                <a:gd name="connsiteX6" fmla="*/ 3002826 w 4555291"/>
                <a:gd name="connsiteY6" fmla="*/ 10055 h 3980358"/>
                <a:gd name="connsiteX0" fmla="*/ 4445 w 4342717"/>
                <a:gd name="connsiteY0" fmla="*/ 658642 h 3973271"/>
                <a:gd name="connsiteX1" fmla="*/ 280890 w 4342717"/>
                <a:gd name="connsiteY1" fmla="*/ 2338585 h 3973271"/>
                <a:gd name="connsiteX2" fmla="*/ 1939570 w 4342717"/>
                <a:gd name="connsiteY2" fmla="*/ 3667654 h 3973271"/>
                <a:gd name="connsiteX3" fmla="*/ 3736472 w 4342717"/>
                <a:gd name="connsiteY3" fmla="*/ 3848408 h 3973271"/>
                <a:gd name="connsiteX4" fmla="*/ 4342528 w 4342717"/>
                <a:gd name="connsiteY4" fmla="*/ 2104670 h 3973271"/>
                <a:gd name="connsiteX5" fmla="*/ 3789635 w 4342717"/>
                <a:gd name="connsiteY5" fmla="*/ 541684 h 3973271"/>
                <a:gd name="connsiteX6" fmla="*/ 3002826 w 4342717"/>
                <a:gd name="connsiteY6" fmla="*/ 10055 h 3973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42717" h="3973271">
                  <a:moveTo>
                    <a:pt x="4445" y="658642"/>
                  </a:moveTo>
                  <a:cubicBezTo>
                    <a:pt x="-871" y="906735"/>
                    <a:pt x="-41631" y="1837083"/>
                    <a:pt x="280890" y="2338585"/>
                  </a:cubicBezTo>
                  <a:cubicBezTo>
                    <a:pt x="603411" y="2840087"/>
                    <a:pt x="1363640" y="3416017"/>
                    <a:pt x="1939570" y="3667654"/>
                  </a:cubicBezTo>
                  <a:cubicBezTo>
                    <a:pt x="2515500" y="3919291"/>
                    <a:pt x="3335979" y="4108905"/>
                    <a:pt x="3736472" y="3848408"/>
                  </a:cubicBezTo>
                  <a:cubicBezTo>
                    <a:pt x="4136965" y="3587911"/>
                    <a:pt x="4333668" y="2655791"/>
                    <a:pt x="4342528" y="2104670"/>
                  </a:cubicBezTo>
                  <a:cubicBezTo>
                    <a:pt x="4351388" y="1553549"/>
                    <a:pt x="4048360" y="874837"/>
                    <a:pt x="3789635" y="541684"/>
                  </a:cubicBezTo>
                  <a:cubicBezTo>
                    <a:pt x="3530910" y="208531"/>
                    <a:pt x="3245603" y="-55512"/>
                    <a:pt x="3002826" y="10055"/>
                  </a:cubicBezTo>
                </a:path>
              </a:pathLst>
            </a:cu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grpSp>
      <mc:AlternateContent xmlns:mc="http://schemas.openxmlformats.org/markup-compatibility/2006" xmlns:p14="http://schemas.microsoft.com/office/powerpoint/2010/main">
        <mc:Choice Requires="p14">
          <p:contentPart p14:bwMode="auto" r:id="rId4">
            <p14:nvContentPartPr>
              <p14:cNvPr id="99" name="Ink 98">
                <a:extLst>
                  <a:ext uri="{FF2B5EF4-FFF2-40B4-BE49-F238E27FC236}">
                    <a16:creationId xmlns:a16="http://schemas.microsoft.com/office/drawing/2014/main" id="{DF3E3FB8-E611-A14B-8753-69880EDFF458}"/>
                  </a:ext>
                </a:extLst>
              </p14:cNvPr>
              <p14:cNvContentPartPr/>
              <p14:nvPr/>
            </p14:nvContentPartPr>
            <p14:xfrm>
              <a:off x="5509791" y="2989474"/>
              <a:ext cx="67030" cy="76222"/>
            </p14:xfrm>
          </p:contentPart>
        </mc:Choice>
        <mc:Fallback xmlns="">
          <p:pic>
            <p:nvPicPr>
              <p:cNvPr id="99" name="Ink 98">
                <a:extLst>
                  <a:ext uri="{FF2B5EF4-FFF2-40B4-BE49-F238E27FC236}">
                    <a16:creationId xmlns:a16="http://schemas.microsoft.com/office/drawing/2014/main" id="{DF3E3FB8-E611-A14B-8753-69880EDFF458}"/>
                  </a:ext>
                </a:extLst>
              </p:cNvPr>
              <p:cNvPicPr/>
              <p:nvPr/>
            </p:nvPicPr>
            <p:blipFill>
              <a:blip r:embed="rId5"/>
              <a:stretch>
                <a:fillRect/>
              </a:stretch>
            </p:blipFill>
            <p:spPr>
              <a:xfrm>
                <a:off x="5447062" y="2926555"/>
                <a:ext cx="192129" cy="201701"/>
              </a:xfrm>
              <a:prstGeom prst="rect">
                <a:avLst/>
              </a:prstGeom>
            </p:spPr>
          </p:pic>
        </mc:Fallback>
      </mc:AlternateContent>
      <p:sp>
        <p:nvSpPr>
          <p:cNvPr id="22" name="TextBox 21">
            <a:extLst>
              <a:ext uri="{FF2B5EF4-FFF2-40B4-BE49-F238E27FC236}">
                <a16:creationId xmlns:a16="http://schemas.microsoft.com/office/drawing/2014/main" id="{43F9A5F9-79FE-48E7-90D6-A3FEF209211C}"/>
              </a:ext>
            </a:extLst>
          </p:cNvPr>
          <p:cNvSpPr txBox="1"/>
          <p:nvPr/>
        </p:nvSpPr>
        <p:spPr>
          <a:xfrm>
            <a:off x="4081734" y="1777648"/>
            <a:ext cx="637388" cy="532252"/>
          </a:xfrm>
          <a:prstGeom prst="rect">
            <a:avLst/>
          </a:prstGeom>
          <a:noFill/>
        </p:spPr>
        <p:txBody>
          <a:bodyPr wrap="square" rtlCol="0">
            <a:spAutoFit/>
          </a:bodyPr>
          <a:lstStyle/>
          <a:p>
            <a:r>
              <a:rPr lang="en-US" sz="3200" dirty="0"/>
              <a:t>SA</a:t>
            </a:r>
          </a:p>
        </p:txBody>
      </p:sp>
      <p:sp>
        <p:nvSpPr>
          <p:cNvPr id="45" name="TextBox 44">
            <a:extLst>
              <a:ext uri="{FF2B5EF4-FFF2-40B4-BE49-F238E27FC236}">
                <a16:creationId xmlns:a16="http://schemas.microsoft.com/office/drawing/2014/main" id="{60F92D45-5A0C-4E62-85C5-369D06BAF6EE}"/>
              </a:ext>
            </a:extLst>
          </p:cNvPr>
          <p:cNvSpPr txBox="1"/>
          <p:nvPr/>
        </p:nvSpPr>
        <p:spPr>
          <a:xfrm>
            <a:off x="5703629" y="2684032"/>
            <a:ext cx="637388" cy="532252"/>
          </a:xfrm>
          <a:prstGeom prst="rect">
            <a:avLst/>
          </a:prstGeom>
          <a:noFill/>
        </p:spPr>
        <p:txBody>
          <a:bodyPr wrap="square" rtlCol="0">
            <a:spAutoFit/>
          </a:bodyPr>
          <a:lstStyle/>
          <a:p>
            <a:r>
              <a:rPr lang="en-US" sz="3200" dirty="0"/>
              <a:t>AV</a:t>
            </a:r>
          </a:p>
        </p:txBody>
      </p:sp>
      <p:sp>
        <p:nvSpPr>
          <p:cNvPr id="23" name="Freeform: Shape 22">
            <a:extLst>
              <a:ext uri="{FF2B5EF4-FFF2-40B4-BE49-F238E27FC236}">
                <a16:creationId xmlns:a16="http://schemas.microsoft.com/office/drawing/2014/main" id="{705B4774-F88F-4B0E-8F14-E4D642445ED6}"/>
              </a:ext>
            </a:extLst>
          </p:cNvPr>
          <p:cNvSpPr/>
          <p:nvPr/>
        </p:nvSpPr>
        <p:spPr>
          <a:xfrm>
            <a:off x="5361379" y="1547505"/>
            <a:ext cx="237640" cy="212843"/>
          </a:xfrm>
          <a:custGeom>
            <a:avLst/>
            <a:gdLst>
              <a:gd name="connsiteX0" fmla="*/ 86476 w 381053"/>
              <a:gd name="connsiteY0" fmla="*/ 86890 h 315774"/>
              <a:gd name="connsiteX1" fmla="*/ 12049 w 381053"/>
              <a:gd name="connsiteY1" fmla="*/ 267644 h 315774"/>
              <a:gd name="connsiteX2" fmla="*/ 309760 w 381053"/>
              <a:gd name="connsiteY2" fmla="*/ 299542 h 315774"/>
              <a:gd name="connsiteX3" fmla="*/ 373556 w 381053"/>
              <a:gd name="connsiteY3" fmla="*/ 44360 h 315774"/>
              <a:gd name="connsiteX4" fmla="*/ 182169 w 381053"/>
              <a:gd name="connsiteY4" fmla="*/ 1830 h 315774"/>
              <a:gd name="connsiteX0" fmla="*/ 25146 w 442490"/>
              <a:gd name="connsiteY0" fmla="*/ 103823 h 315228"/>
              <a:gd name="connsiteX1" fmla="*/ 73486 w 442490"/>
              <a:gd name="connsiteY1" fmla="*/ 267644 h 315228"/>
              <a:gd name="connsiteX2" fmla="*/ 371197 w 442490"/>
              <a:gd name="connsiteY2" fmla="*/ 299542 h 315228"/>
              <a:gd name="connsiteX3" fmla="*/ 434993 w 442490"/>
              <a:gd name="connsiteY3" fmla="*/ 44360 h 315228"/>
              <a:gd name="connsiteX4" fmla="*/ 243606 w 442490"/>
              <a:gd name="connsiteY4" fmla="*/ 1830 h 315228"/>
              <a:gd name="connsiteX0" fmla="*/ 8275 w 425619"/>
              <a:gd name="connsiteY0" fmla="*/ 103823 h 315228"/>
              <a:gd name="connsiteX1" fmla="*/ 56615 w 425619"/>
              <a:gd name="connsiteY1" fmla="*/ 267644 h 315228"/>
              <a:gd name="connsiteX2" fmla="*/ 354326 w 425619"/>
              <a:gd name="connsiteY2" fmla="*/ 299542 h 315228"/>
              <a:gd name="connsiteX3" fmla="*/ 418122 w 425619"/>
              <a:gd name="connsiteY3" fmla="*/ 44360 h 315228"/>
              <a:gd name="connsiteX4" fmla="*/ 226735 w 425619"/>
              <a:gd name="connsiteY4" fmla="*/ 1830 h 315228"/>
              <a:gd name="connsiteX0" fmla="*/ 3381 w 419816"/>
              <a:gd name="connsiteY0" fmla="*/ 103823 h 328880"/>
              <a:gd name="connsiteX1" fmla="*/ 98287 w 419816"/>
              <a:gd name="connsiteY1" fmla="*/ 301511 h 328880"/>
              <a:gd name="connsiteX2" fmla="*/ 349432 w 419816"/>
              <a:gd name="connsiteY2" fmla="*/ 299542 h 328880"/>
              <a:gd name="connsiteX3" fmla="*/ 413228 w 419816"/>
              <a:gd name="connsiteY3" fmla="*/ 44360 h 328880"/>
              <a:gd name="connsiteX4" fmla="*/ 221841 w 419816"/>
              <a:gd name="connsiteY4" fmla="*/ 1830 h 328880"/>
              <a:gd name="connsiteX0" fmla="*/ 3381 w 398069"/>
              <a:gd name="connsiteY0" fmla="*/ 102364 h 325789"/>
              <a:gd name="connsiteX1" fmla="*/ 98287 w 398069"/>
              <a:gd name="connsiteY1" fmla="*/ 300052 h 325789"/>
              <a:gd name="connsiteX2" fmla="*/ 349432 w 398069"/>
              <a:gd name="connsiteY2" fmla="*/ 298083 h 325789"/>
              <a:gd name="connsiteX3" fmla="*/ 387828 w 398069"/>
              <a:gd name="connsiteY3" fmla="*/ 68301 h 325789"/>
              <a:gd name="connsiteX4" fmla="*/ 221841 w 398069"/>
              <a:gd name="connsiteY4" fmla="*/ 371 h 325789"/>
              <a:gd name="connsiteX0" fmla="*/ 10279 w 341467"/>
              <a:gd name="connsiteY0" fmla="*/ 93897 h 326314"/>
              <a:gd name="connsiteX1" fmla="*/ 41685 w 341467"/>
              <a:gd name="connsiteY1" fmla="*/ 300052 h 326314"/>
              <a:gd name="connsiteX2" fmla="*/ 292830 w 341467"/>
              <a:gd name="connsiteY2" fmla="*/ 298083 h 326314"/>
              <a:gd name="connsiteX3" fmla="*/ 331226 w 341467"/>
              <a:gd name="connsiteY3" fmla="*/ 68301 h 326314"/>
              <a:gd name="connsiteX4" fmla="*/ 165239 w 341467"/>
              <a:gd name="connsiteY4" fmla="*/ 371 h 326314"/>
              <a:gd name="connsiteX0" fmla="*/ 4606 w 334698"/>
              <a:gd name="connsiteY0" fmla="*/ 93897 h 326314"/>
              <a:gd name="connsiteX1" fmla="*/ 69879 w 334698"/>
              <a:gd name="connsiteY1" fmla="*/ 300052 h 326314"/>
              <a:gd name="connsiteX2" fmla="*/ 287157 w 334698"/>
              <a:gd name="connsiteY2" fmla="*/ 298083 h 326314"/>
              <a:gd name="connsiteX3" fmla="*/ 325553 w 334698"/>
              <a:gd name="connsiteY3" fmla="*/ 68301 h 326314"/>
              <a:gd name="connsiteX4" fmla="*/ 159566 w 334698"/>
              <a:gd name="connsiteY4" fmla="*/ 371 h 326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4698" h="326314">
                <a:moveTo>
                  <a:pt x="4606" y="93897"/>
                </a:moveTo>
                <a:cubicBezTo>
                  <a:pt x="-13115" y="238520"/>
                  <a:pt x="22787" y="266021"/>
                  <a:pt x="69879" y="300052"/>
                </a:cubicBezTo>
                <a:cubicBezTo>
                  <a:pt x="116971" y="334083"/>
                  <a:pt x="244545" y="336708"/>
                  <a:pt x="287157" y="298083"/>
                </a:cubicBezTo>
                <a:cubicBezTo>
                  <a:pt x="329769" y="259458"/>
                  <a:pt x="346818" y="117920"/>
                  <a:pt x="325553" y="68301"/>
                </a:cubicBezTo>
                <a:cubicBezTo>
                  <a:pt x="304288" y="18682"/>
                  <a:pt x="244627" y="-3174"/>
                  <a:pt x="159566" y="371"/>
                </a:cubicBezTo>
              </a:path>
            </a:pathLst>
          </a:custGeom>
          <a:noFill/>
          <a:ln>
            <a:solidFill>
              <a:schemeClr val="accent2"/>
            </a:solidFill>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Shape 46">
            <a:extLst>
              <a:ext uri="{FF2B5EF4-FFF2-40B4-BE49-F238E27FC236}">
                <a16:creationId xmlns:a16="http://schemas.microsoft.com/office/drawing/2014/main" id="{ABB47720-91A3-41A7-B925-118A39164336}"/>
              </a:ext>
            </a:extLst>
          </p:cNvPr>
          <p:cNvSpPr/>
          <p:nvPr/>
        </p:nvSpPr>
        <p:spPr>
          <a:xfrm>
            <a:off x="5838978" y="1389686"/>
            <a:ext cx="237640" cy="212843"/>
          </a:xfrm>
          <a:custGeom>
            <a:avLst/>
            <a:gdLst>
              <a:gd name="connsiteX0" fmla="*/ 86476 w 381053"/>
              <a:gd name="connsiteY0" fmla="*/ 86890 h 315774"/>
              <a:gd name="connsiteX1" fmla="*/ 12049 w 381053"/>
              <a:gd name="connsiteY1" fmla="*/ 267644 h 315774"/>
              <a:gd name="connsiteX2" fmla="*/ 309760 w 381053"/>
              <a:gd name="connsiteY2" fmla="*/ 299542 h 315774"/>
              <a:gd name="connsiteX3" fmla="*/ 373556 w 381053"/>
              <a:gd name="connsiteY3" fmla="*/ 44360 h 315774"/>
              <a:gd name="connsiteX4" fmla="*/ 182169 w 381053"/>
              <a:gd name="connsiteY4" fmla="*/ 1830 h 315774"/>
              <a:gd name="connsiteX0" fmla="*/ 25146 w 442490"/>
              <a:gd name="connsiteY0" fmla="*/ 103823 h 315228"/>
              <a:gd name="connsiteX1" fmla="*/ 73486 w 442490"/>
              <a:gd name="connsiteY1" fmla="*/ 267644 h 315228"/>
              <a:gd name="connsiteX2" fmla="*/ 371197 w 442490"/>
              <a:gd name="connsiteY2" fmla="*/ 299542 h 315228"/>
              <a:gd name="connsiteX3" fmla="*/ 434993 w 442490"/>
              <a:gd name="connsiteY3" fmla="*/ 44360 h 315228"/>
              <a:gd name="connsiteX4" fmla="*/ 243606 w 442490"/>
              <a:gd name="connsiteY4" fmla="*/ 1830 h 315228"/>
              <a:gd name="connsiteX0" fmla="*/ 8275 w 425619"/>
              <a:gd name="connsiteY0" fmla="*/ 103823 h 315228"/>
              <a:gd name="connsiteX1" fmla="*/ 56615 w 425619"/>
              <a:gd name="connsiteY1" fmla="*/ 267644 h 315228"/>
              <a:gd name="connsiteX2" fmla="*/ 354326 w 425619"/>
              <a:gd name="connsiteY2" fmla="*/ 299542 h 315228"/>
              <a:gd name="connsiteX3" fmla="*/ 418122 w 425619"/>
              <a:gd name="connsiteY3" fmla="*/ 44360 h 315228"/>
              <a:gd name="connsiteX4" fmla="*/ 226735 w 425619"/>
              <a:gd name="connsiteY4" fmla="*/ 1830 h 315228"/>
              <a:gd name="connsiteX0" fmla="*/ 3381 w 419816"/>
              <a:gd name="connsiteY0" fmla="*/ 103823 h 328880"/>
              <a:gd name="connsiteX1" fmla="*/ 98287 w 419816"/>
              <a:gd name="connsiteY1" fmla="*/ 301511 h 328880"/>
              <a:gd name="connsiteX2" fmla="*/ 349432 w 419816"/>
              <a:gd name="connsiteY2" fmla="*/ 299542 h 328880"/>
              <a:gd name="connsiteX3" fmla="*/ 413228 w 419816"/>
              <a:gd name="connsiteY3" fmla="*/ 44360 h 328880"/>
              <a:gd name="connsiteX4" fmla="*/ 221841 w 419816"/>
              <a:gd name="connsiteY4" fmla="*/ 1830 h 328880"/>
              <a:gd name="connsiteX0" fmla="*/ 3381 w 398069"/>
              <a:gd name="connsiteY0" fmla="*/ 102364 h 325789"/>
              <a:gd name="connsiteX1" fmla="*/ 98287 w 398069"/>
              <a:gd name="connsiteY1" fmla="*/ 300052 h 325789"/>
              <a:gd name="connsiteX2" fmla="*/ 349432 w 398069"/>
              <a:gd name="connsiteY2" fmla="*/ 298083 h 325789"/>
              <a:gd name="connsiteX3" fmla="*/ 387828 w 398069"/>
              <a:gd name="connsiteY3" fmla="*/ 68301 h 325789"/>
              <a:gd name="connsiteX4" fmla="*/ 221841 w 398069"/>
              <a:gd name="connsiteY4" fmla="*/ 371 h 325789"/>
              <a:gd name="connsiteX0" fmla="*/ 10279 w 341467"/>
              <a:gd name="connsiteY0" fmla="*/ 93897 h 326314"/>
              <a:gd name="connsiteX1" fmla="*/ 41685 w 341467"/>
              <a:gd name="connsiteY1" fmla="*/ 300052 h 326314"/>
              <a:gd name="connsiteX2" fmla="*/ 292830 w 341467"/>
              <a:gd name="connsiteY2" fmla="*/ 298083 h 326314"/>
              <a:gd name="connsiteX3" fmla="*/ 331226 w 341467"/>
              <a:gd name="connsiteY3" fmla="*/ 68301 h 326314"/>
              <a:gd name="connsiteX4" fmla="*/ 165239 w 341467"/>
              <a:gd name="connsiteY4" fmla="*/ 371 h 326314"/>
              <a:gd name="connsiteX0" fmla="*/ 4606 w 334698"/>
              <a:gd name="connsiteY0" fmla="*/ 93897 h 326314"/>
              <a:gd name="connsiteX1" fmla="*/ 69879 w 334698"/>
              <a:gd name="connsiteY1" fmla="*/ 300052 h 326314"/>
              <a:gd name="connsiteX2" fmla="*/ 287157 w 334698"/>
              <a:gd name="connsiteY2" fmla="*/ 298083 h 326314"/>
              <a:gd name="connsiteX3" fmla="*/ 325553 w 334698"/>
              <a:gd name="connsiteY3" fmla="*/ 68301 h 326314"/>
              <a:gd name="connsiteX4" fmla="*/ 159566 w 334698"/>
              <a:gd name="connsiteY4" fmla="*/ 371 h 326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4698" h="326314">
                <a:moveTo>
                  <a:pt x="4606" y="93897"/>
                </a:moveTo>
                <a:cubicBezTo>
                  <a:pt x="-13115" y="238520"/>
                  <a:pt x="22787" y="266021"/>
                  <a:pt x="69879" y="300052"/>
                </a:cubicBezTo>
                <a:cubicBezTo>
                  <a:pt x="116971" y="334083"/>
                  <a:pt x="244545" y="336708"/>
                  <a:pt x="287157" y="298083"/>
                </a:cubicBezTo>
                <a:cubicBezTo>
                  <a:pt x="329769" y="259458"/>
                  <a:pt x="346818" y="117920"/>
                  <a:pt x="325553" y="68301"/>
                </a:cubicBezTo>
                <a:cubicBezTo>
                  <a:pt x="304288" y="18682"/>
                  <a:pt x="244627" y="-3174"/>
                  <a:pt x="159566" y="371"/>
                </a:cubicBezTo>
              </a:path>
            </a:pathLst>
          </a:custGeom>
          <a:noFill/>
          <a:ln>
            <a:solidFill>
              <a:schemeClr val="accent2"/>
            </a:solidFill>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Freeform: Shape 47">
            <a:extLst>
              <a:ext uri="{FF2B5EF4-FFF2-40B4-BE49-F238E27FC236}">
                <a16:creationId xmlns:a16="http://schemas.microsoft.com/office/drawing/2014/main" id="{FA838001-D3E7-421D-A40D-BBCF01D35778}"/>
              </a:ext>
            </a:extLst>
          </p:cNvPr>
          <p:cNvSpPr/>
          <p:nvPr/>
        </p:nvSpPr>
        <p:spPr>
          <a:xfrm>
            <a:off x="5444711" y="1916303"/>
            <a:ext cx="237640" cy="212843"/>
          </a:xfrm>
          <a:custGeom>
            <a:avLst/>
            <a:gdLst>
              <a:gd name="connsiteX0" fmla="*/ 86476 w 381053"/>
              <a:gd name="connsiteY0" fmla="*/ 86890 h 315774"/>
              <a:gd name="connsiteX1" fmla="*/ 12049 w 381053"/>
              <a:gd name="connsiteY1" fmla="*/ 267644 h 315774"/>
              <a:gd name="connsiteX2" fmla="*/ 309760 w 381053"/>
              <a:gd name="connsiteY2" fmla="*/ 299542 h 315774"/>
              <a:gd name="connsiteX3" fmla="*/ 373556 w 381053"/>
              <a:gd name="connsiteY3" fmla="*/ 44360 h 315774"/>
              <a:gd name="connsiteX4" fmla="*/ 182169 w 381053"/>
              <a:gd name="connsiteY4" fmla="*/ 1830 h 315774"/>
              <a:gd name="connsiteX0" fmla="*/ 25146 w 442490"/>
              <a:gd name="connsiteY0" fmla="*/ 103823 h 315228"/>
              <a:gd name="connsiteX1" fmla="*/ 73486 w 442490"/>
              <a:gd name="connsiteY1" fmla="*/ 267644 h 315228"/>
              <a:gd name="connsiteX2" fmla="*/ 371197 w 442490"/>
              <a:gd name="connsiteY2" fmla="*/ 299542 h 315228"/>
              <a:gd name="connsiteX3" fmla="*/ 434993 w 442490"/>
              <a:gd name="connsiteY3" fmla="*/ 44360 h 315228"/>
              <a:gd name="connsiteX4" fmla="*/ 243606 w 442490"/>
              <a:gd name="connsiteY4" fmla="*/ 1830 h 315228"/>
              <a:gd name="connsiteX0" fmla="*/ 8275 w 425619"/>
              <a:gd name="connsiteY0" fmla="*/ 103823 h 315228"/>
              <a:gd name="connsiteX1" fmla="*/ 56615 w 425619"/>
              <a:gd name="connsiteY1" fmla="*/ 267644 h 315228"/>
              <a:gd name="connsiteX2" fmla="*/ 354326 w 425619"/>
              <a:gd name="connsiteY2" fmla="*/ 299542 h 315228"/>
              <a:gd name="connsiteX3" fmla="*/ 418122 w 425619"/>
              <a:gd name="connsiteY3" fmla="*/ 44360 h 315228"/>
              <a:gd name="connsiteX4" fmla="*/ 226735 w 425619"/>
              <a:gd name="connsiteY4" fmla="*/ 1830 h 315228"/>
              <a:gd name="connsiteX0" fmla="*/ 3381 w 419816"/>
              <a:gd name="connsiteY0" fmla="*/ 103823 h 328880"/>
              <a:gd name="connsiteX1" fmla="*/ 98287 w 419816"/>
              <a:gd name="connsiteY1" fmla="*/ 301511 h 328880"/>
              <a:gd name="connsiteX2" fmla="*/ 349432 w 419816"/>
              <a:gd name="connsiteY2" fmla="*/ 299542 h 328880"/>
              <a:gd name="connsiteX3" fmla="*/ 413228 w 419816"/>
              <a:gd name="connsiteY3" fmla="*/ 44360 h 328880"/>
              <a:gd name="connsiteX4" fmla="*/ 221841 w 419816"/>
              <a:gd name="connsiteY4" fmla="*/ 1830 h 328880"/>
              <a:gd name="connsiteX0" fmla="*/ 3381 w 398069"/>
              <a:gd name="connsiteY0" fmla="*/ 102364 h 325789"/>
              <a:gd name="connsiteX1" fmla="*/ 98287 w 398069"/>
              <a:gd name="connsiteY1" fmla="*/ 300052 h 325789"/>
              <a:gd name="connsiteX2" fmla="*/ 349432 w 398069"/>
              <a:gd name="connsiteY2" fmla="*/ 298083 h 325789"/>
              <a:gd name="connsiteX3" fmla="*/ 387828 w 398069"/>
              <a:gd name="connsiteY3" fmla="*/ 68301 h 325789"/>
              <a:gd name="connsiteX4" fmla="*/ 221841 w 398069"/>
              <a:gd name="connsiteY4" fmla="*/ 371 h 325789"/>
              <a:gd name="connsiteX0" fmla="*/ 10279 w 341467"/>
              <a:gd name="connsiteY0" fmla="*/ 93897 h 326314"/>
              <a:gd name="connsiteX1" fmla="*/ 41685 w 341467"/>
              <a:gd name="connsiteY1" fmla="*/ 300052 h 326314"/>
              <a:gd name="connsiteX2" fmla="*/ 292830 w 341467"/>
              <a:gd name="connsiteY2" fmla="*/ 298083 h 326314"/>
              <a:gd name="connsiteX3" fmla="*/ 331226 w 341467"/>
              <a:gd name="connsiteY3" fmla="*/ 68301 h 326314"/>
              <a:gd name="connsiteX4" fmla="*/ 165239 w 341467"/>
              <a:gd name="connsiteY4" fmla="*/ 371 h 326314"/>
              <a:gd name="connsiteX0" fmla="*/ 4606 w 334698"/>
              <a:gd name="connsiteY0" fmla="*/ 93897 h 326314"/>
              <a:gd name="connsiteX1" fmla="*/ 69879 w 334698"/>
              <a:gd name="connsiteY1" fmla="*/ 300052 h 326314"/>
              <a:gd name="connsiteX2" fmla="*/ 287157 w 334698"/>
              <a:gd name="connsiteY2" fmla="*/ 298083 h 326314"/>
              <a:gd name="connsiteX3" fmla="*/ 325553 w 334698"/>
              <a:gd name="connsiteY3" fmla="*/ 68301 h 326314"/>
              <a:gd name="connsiteX4" fmla="*/ 159566 w 334698"/>
              <a:gd name="connsiteY4" fmla="*/ 371 h 326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4698" h="326314">
                <a:moveTo>
                  <a:pt x="4606" y="93897"/>
                </a:moveTo>
                <a:cubicBezTo>
                  <a:pt x="-13115" y="238520"/>
                  <a:pt x="22787" y="266021"/>
                  <a:pt x="69879" y="300052"/>
                </a:cubicBezTo>
                <a:cubicBezTo>
                  <a:pt x="116971" y="334083"/>
                  <a:pt x="244545" y="336708"/>
                  <a:pt x="287157" y="298083"/>
                </a:cubicBezTo>
                <a:cubicBezTo>
                  <a:pt x="329769" y="259458"/>
                  <a:pt x="346818" y="117920"/>
                  <a:pt x="325553" y="68301"/>
                </a:cubicBezTo>
                <a:cubicBezTo>
                  <a:pt x="304288" y="18682"/>
                  <a:pt x="244627" y="-3174"/>
                  <a:pt x="159566" y="371"/>
                </a:cubicBezTo>
              </a:path>
            </a:pathLst>
          </a:custGeom>
          <a:noFill/>
          <a:ln>
            <a:solidFill>
              <a:schemeClr val="accent2"/>
            </a:solidFill>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Freeform: Shape 48">
            <a:extLst>
              <a:ext uri="{FF2B5EF4-FFF2-40B4-BE49-F238E27FC236}">
                <a16:creationId xmlns:a16="http://schemas.microsoft.com/office/drawing/2014/main" id="{BAB2A2A1-C39F-4AF7-9C12-6BD62737EC0D}"/>
              </a:ext>
            </a:extLst>
          </p:cNvPr>
          <p:cNvSpPr/>
          <p:nvPr/>
        </p:nvSpPr>
        <p:spPr>
          <a:xfrm>
            <a:off x="5973150" y="1732878"/>
            <a:ext cx="237640" cy="212843"/>
          </a:xfrm>
          <a:custGeom>
            <a:avLst/>
            <a:gdLst>
              <a:gd name="connsiteX0" fmla="*/ 86476 w 381053"/>
              <a:gd name="connsiteY0" fmla="*/ 86890 h 315774"/>
              <a:gd name="connsiteX1" fmla="*/ 12049 w 381053"/>
              <a:gd name="connsiteY1" fmla="*/ 267644 h 315774"/>
              <a:gd name="connsiteX2" fmla="*/ 309760 w 381053"/>
              <a:gd name="connsiteY2" fmla="*/ 299542 h 315774"/>
              <a:gd name="connsiteX3" fmla="*/ 373556 w 381053"/>
              <a:gd name="connsiteY3" fmla="*/ 44360 h 315774"/>
              <a:gd name="connsiteX4" fmla="*/ 182169 w 381053"/>
              <a:gd name="connsiteY4" fmla="*/ 1830 h 315774"/>
              <a:gd name="connsiteX0" fmla="*/ 25146 w 442490"/>
              <a:gd name="connsiteY0" fmla="*/ 103823 h 315228"/>
              <a:gd name="connsiteX1" fmla="*/ 73486 w 442490"/>
              <a:gd name="connsiteY1" fmla="*/ 267644 h 315228"/>
              <a:gd name="connsiteX2" fmla="*/ 371197 w 442490"/>
              <a:gd name="connsiteY2" fmla="*/ 299542 h 315228"/>
              <a:gd name="connsiteX3" fmla="*/ 434993 w 442490"/>
              <a:gd name="connsiteY3" fmla="*/ 44360 h 315228"/>
              <a:gd name="connsiteX4" fmla="*/ 243606 w 442490"/>
              <a:gd name="connsiteY4" fmla="*/ 1830 h 315228"/>
              <a:gd name="connsiteX0" fmla="*/ 8275 w 425619"/>
              <a:gd name="connsiteY0" fmla="*/ 103823 h 315228"/>
              <a:gd name="connsiteX1" fmla="*/ 56615 w 425619"/>
              <a:gd name="connsiteY1" fmla="*/ 267644 h 315228"/>
              <a:gd name="connsiteX2" fmla="*/ 354326 w 425619"/>
              <a:gd name="connsiteY2" fmla="*/ 299542 h 315228"/>
              <a:gd name="connsiteX3" fmla="*/ 418122 w 425619"/>
              <a:gd name="connsiteY3" fmla="*/ 44360 h 315228"/>
              <a:gd name="connsiteX4" fmla="*/ 226735 w 425619"/>
              <a:gd name="connsiteY4" fmla="*/ 1830 h 315228"/>
              <a:gd name="connsiteX0" fmla="*/ 3381 w 419816"/>
              <a:gd name="connsiteY0" fmla="*/ 103823 h 328880"/>
              <a:gd name="connsiteX1" fmla="*/ 98287 w 419816"/>
              <a:gd name="connsiteY1" fmla="*/ 301511 h 328880"/>
              <a:gd name="connsiteX2" fmla="*/ 349432 w 419816"/>
              <a:gd name="connsiteY2" fmla="*/ 299542 h 328880"/>
              <a:gd name="connsiteX3" fmla="*/ 413228 w 419816"/>
              <a:gd name="connsiteY3" fmla="*/ 44360 h 328880"/>
              <a:gd name="connsiteX4" fmla="*/ 221841 w 419816"/>
              <a:gd name="connsiteY4" fmla="*/ 1830 h 328880"/>
              <a:gd name="connsiteX0" fmla="*/ 3381 w 398069"/>
              <a:gd name="connsiteY0" fmla="*/ 102364 h 325789"/>
              <a:gd name="connsiteX1" fmla="*/ 98287 w 398069"/>
              <a:gd name="connsiteY1" fmla="*/ 300052 h 325789"/>
              <a:gd name="connsiteX2" fmla="*/ 349432 w 398069"/>
              <a:gd name="connsiteY2" fmla="*/ 298083 h 325789"/>
              <a:gd name="connsiteX3" fmla="*/ 387828 w 398069"/>
              <a:gd name="connsiteY3" fmla="*/ 68301 h 325789"/>
              <a:gd name="connsiteX4" fmla="*/ 221841 w 398069"/>
              <a:gd name="connsiteY4" fmla="*/ 371 h 325789"/>
              <a:gd name="connsiteX0" fmla="*/ 10279 w 341467"/>
              <a:gd name="connsiteY0" fmla="*/ 93897 h 326314"/>
              <a:gd name="connsiteX1" fmla="*/ 41685 w 341467"/>
              <a:gd name="connsiteY1" fmla="*/ 300052 h 326314"/>
              <a:gd name="connsiteX2" fmla="*/ 292830 w 341467"/>
              <a:gd name="connsiteY2" fmla="*/ 298083 h 326314"/>
              <a:gd name="connsiteX3" fmla="*/ 331226 w 341467"/>
              <a:gd name="connsiteY3" fmla="*/ 68301 h 326314"/>
              <a:gd name="connsiteX4" fmla="*/ 165239 w 341467"/>
              <a:gd name="connsiteY4" fmla="*/ 371 h 326314"/>
              <a:gd name="connsiteX0" fmla="*/ 4606 w 334698"/>
              <a:gd name="connsiteY0" fmla="*/ 93897 h 326314"/>
              <a:gd name="connsiteX1" fmla="*/ 69879 w 334698"/>
              <a:gd name="connsiteY1" fmla="*/ 300052 h 326314"/>
              <a:gd name="connsiteX2" fmla="*/ 287157 w 334698"/>
              <a:gd name="connsiteY2" fmla="*/ 298083 h 326314"/>
              <a:gd name="connsiteX3" fmla="*/ 325553 w 334698"/>
              <a:gd name="connsiteY3" fmla="*/ 68301 h 326314"/>
              <a:gd name="connsiteX4" fmla="*/ 159566 w 334698"/>
              <a:gd name="connsiteY4" fmla="*/ 371 h 326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4698" h="326314">
                <a:moveTo>
                  <a:pt x="4606" y="93897"/>
                </a:moveTo>
                <a:cubicBezTo>
                  <a:pt x="-13115" y="238520"/>
                  <a:pt x="22787" y="266021"/>
                  <a:pt x="69879" y="300052"/>
                </a:cubicBezTo>
                <a:cubicBezTo>
                  <a:pt x="116971" y="334083"/>
                  <a:pt x="244545" y="336708"/>
                  <a:pt x="287157" y="298083"/>
                </a:cubicBezTo>
                <a:cubicBezTo>
                  <a:pt x="329769" y="259458"/>
                  <a:pt x="346818" y="117920"/>
                  <a:pt x="325553" y="68301"/>
                </a:cubicBezTo>
                <a:cubicBezTo>
                  <a:pt x="304288" y="18682"/>
                  <a:pt x="244627" y="-3174"/>
                  <a:pt x="159566" y="371"/>
                </a:cubicBezTo>
              </a:path>
            </a:pathLst>
          </a:custGeom>
          <a:noFill/>
          <a:ln>
            <a:solidFill>
              <a:schemeClr val="accent2"/>
            </a:solidFill>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Freeform: Shape 49">
            <a:extLst>
              <a:ext uri="{FF2B5EF4-FFF2-40B4-BE49-F238E27FC236}">
                <a16:creationId xmlns:a16="http://schemas.microsoft.com/office/drawing/2014/main" id="{65300C6A-4F3D-4B39-97D8-30EE6EE5DE98}"/>
              </a:ext>
            </a:extLst>
          </p:cNvPr>
          <p:cNvSpPr/>
          <p:nvPr/>
        </p:nvSpPr>
        <p:spPr>
          <a:xfrm>
            <a:off x="6325847" y="1909819"/>
            <a:ext cx="237640" cy="212843"/>
          </a:xfrm>
          <a:custGeom>
            <a:avLst/>
            <a:gdLst>
              <a:gd name="connsiteX0" fmla="*/ 86476 w 381053"/>
              <a:gd name="connsiteY0" fmla="*/ 86890 h 315774"/>
              <a:gd name="connsiteX1" fmla="*/ 12049 w 381053"/>
              <a:gd name="connsiteY1" fmla="*/ 267644 h 315774"/>
              <a:gd name="connsiteX2" fmla="*/ 309760 w 381053"/>
              <a:gd name="connsiteY2" fmla="*/ 299542 h 315774"/>
              <a:gd name="connsiteX3" fmla="*/ 373556 w 381053"/>
              <a:gd name="connsiteY3" fmla="*/ 44360 h 315774"/>
              <a:gd name="connsiteX4" fmla="*/ 182169 w 381053"/>
              <a:gd name="connsiteY4" fmla="*/ 1830 h 315774"/>
              <a:gd name="connsiteX0" fmla="*/ 25146 w 442490"/>
              <a:gd name="connsiteY0" fmla="*/ 103823 h 315228"/>
              <a:gd name="connsiteX1" fmla="*/ 73486 w 442490"/>
              <a:gd name="connsiteY1" fmla="*/ 267644 h 315228"/>
              <a:gd name="connsiteX2" fmla="*/ 371197 w 442490"/>
              <a:gd name="connsiteY2" fmla="*/ 299542 h 315228"/>
              <a:gd name="connsiteX3" fmla="*/ 434993 w 442490"/>
              <a:gd name="connsiteY3" fmla="*/ 44360 h 315228"/>
              <a:gd name="connsiteX4" fmla="*/ 243606 w 442490"/>
              <a:gd name="connsiteY4" fmla="*/ 1830 h 315228"/>
              <a:gd name="connsiteX0" fmla="*/ 8275 w 425619"/>
              <a:gd name="connsiteY0" fmla="*/ 103823 h 315228"/>
              <a:gd name="connsiteX1" fmla="*/ 56615 w 425619"/>
              <a:gd name="connsiteY1" fmla="*/ 267644 h 315228"/>
              <a:gd name="connsiteX2" fmla="*/ 354326 w 425619"/>
              <a:gd name="connsiteY2" fmla="*/ 299542 h 315228"/>
              <a:gd name="connsiteX3" fmla="*/ 418122 w 425619"/>
              <a:gd name="connsiteY3" fmla="*/ 44360 h 315228"/>
              <a:gd name="connsiteX4" fmla="*/ 226735 w 425619"/>
              <a:gd name="connsiteY4" fmla="*/ 1830 h 315228"/>
              <a:gd name="connsiteX0" fmla="*/ 3381 w 419816"/>
              <a:gd name="connsiteY0" fmla="*/ 103823 h 328880"/>
              <a:gd name="connsiteX1" fmla="*/ 98287 w 419816"/>
              <a:gd name="connsiteY1" fmla="*/ 301511 h 328880"/>
              <a:gd name="connsiteX2" fmla="*/ 349432 w 419816"/>
              <a:gd name="connsiteY2" fmla="*/ 299542 h 328880"/>
              <a:gd name="connsiteX3" fmla="*/ 413228 w 419816"/>
              <a:gd name="connsiteY3" fmla="*/ 44360 h 328880"/>
              <a:gd name="connsiteX4" fmla="*/ 221841 w 419816"/>
              <a:gd name="connsiteY4" fmla="*/ 1830 h 328880"/>
              <a:gd name="connsiteX0" fmla="*/ 3381 w 398069"/>
              <a:gd name="connsiteY0" fmla="*/ 102364 h 325789"/>
              <a:gd name="connsiteX1" fmla="*/ 98287 w 398069"/>
              <a:gd name="connsiteY1" fmla="*/ 300052 h 325789"/>
              <a:gd name="connsiteX2" fmla="*/ 349432 w 398069"/>
              <a:gd name="connsiteY2" fmla="*/ 298083 h 325789"/>
              <a:gd name="connsiteX3" fmla="*/ 387828 w 398069"/>
              <a:gd name="connsiteY3" fmla="*/ 68301 h 325789"/>
              <a:gd name="connsiteX4" fmla="*/ 221841 w 398069"/>
              <a:gd name="connsiteY4" fmla="*/ 371 h 325789"/>
              <a:gd name="connsiteX0" fmla="*/ 10279 w 341467"/>
              <a:gd name="connsiteY0" fmla="*/ 93897 h 326314"/>
              <a:gd name="connsiteX1" fmla="*/ 41685 w 341467"/>
              <a:gd name="connsiteY1" fmla="*/ 300052 h 326314"/>
              <a:gd name="connsiteX2" fmla="*/ 292830 w 341467"/>
              <a:gd name="connsiteY2" fmla="*/ 298083 h 326314"/>
              <a:gd name="connsiteX3" fmla="*/ 331226 w 341467"/>
              <a:gd name="connsiteY3" fmla="*/ 68301 h 326314"/>
              <a:gd name="connsiteX4" fmla="*/ 165239 w 341467"/>
              <a:gd name="connsiteY4" fmla="*/ 371 h 326314"/>
              <a:gd name="connsiteX0" fmla="*/ 4606 w 334698"/>
              <a:gd name="connsiteY0" fmla="*/ 93897 h 326314"/>
              <a:gd name="connsiteX1" fmla="*/ 69879 w 334698"/>
              <a:gd name="connsiteY1" fmla="*/ 300052 h 326314"/>
              <a:gd name="connsiteX2" fmla="*/ 287157 w 334698"/>
              <a:gd name="connsiteY2" fmla="*/ 298083 h 326314"/>
              <a:gd name="connsiteX3" fmla="*/ 325553 w 334698"/>
              <a:gd name="connsiteY3" fmla="*/ 68301 h 326314"/>
              <a:gd name="connsiteX4" fmla="*/ 159566 w 334698"/>
              <a:gd name="connsiteY4" fmla="*/ 371 h 326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4698" h="326314">
                <a:moveTo>
                  <a:pt x="4606" y="93897"/>
                </a:moveTo>
                <a:cubicBezTo>
                  <a:pt x="-13115" y="238520"/>
                  <a:pt x="22787" y="266021"/>
                  <a:pt x="69879" y="300052"/>
                </a:cubicBezTo>
                <a:cubicBezTo>
                  <a:pt x="116971" y="334083"/>
                  <a:pt x="244545" y="336708"/>
                  <a:pt x="287157" y="298083"/>
                </a:cubicBezTo>
                <a:cubicBezTo>
                  <a:pt x="329769" y="259458"/>
                  <a:pt x="346818" y="117920"/>
                  <a:pt x="325553" y="68301"/>
                </a:cubicBezTo>
                <a:cubicBezTo>
                  <a:pt x="304288" y="18682"/>
                  <a:pt x="244627" y="-3174"/>
                  <a:pt x="159566" y="371"/>
                </a:cubicBezTo>
              </a:path>
            </a:pathLst>
          </a:custGeom>
          <a:noFill/>
          <a:ln>
            <a:solidFill>
              <a:schemeClr val="accent2"/>
            </a:solidFill>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Freeform: Shape 50">
            <a:extLst>
              <a:ext uri="{FF2B5EF4-FFF2-40B4-BE49-F238E27FC236}">
                <a16:creationId xmlns:a16="http://schemas.microsoft.com/office/drawing/2014/main" id="{49DF8B05-FB51-4B96-8557-26DB530FD986}"/>
              </a:ext>
            </a:extLst>
          </p:cNvPr>
          <p:cNvSpPr/>
          <p:nvPr/>
        </p:nvSpPr>
        <p:spPr>
          <a:xfrm>
            <a:off x="6198156" y="2241519"/>
            <a:ext cx="237640" cy="212843"/>
          </a:xfrm>
          <a:custGeom>
            <a:avLst/>
            <a:gdLst>
              <a:gd name="connsiteX0" fmla="*/ 86476 w 381053"/>
              <a:gd name="connsiteY0" fmla="*/ 86890 h 315774"/>
              <a:gd name="connsiteX1" fmla="*/ 12049 w 381053"/>
              <a:gd name="connsiteY1" fmla="*/ 267644 h 315774"/>
              <a:gd name="connsiteX2" fmla="*/ 309760 w 381053"/>
              <a:gd name="connsiteY2" fmla="*/ 299542 h 315774"/>
              <a:gd name="connsiteX3" fmla="*/ 373556 w 381053"/>
              <a:gd name="connsiteY3" fmla="*/ 44360 h 315774"/>
              <a:gd name="connsiteX4" fmla="*/ 182169 w 381053"/>
              <a:gd name="connsiteY4" fmla="*/ 1830 h 315774"/>
              <a:gd name="connsiteX0" fmla="*/ 25146 w 442490"/>
              <a:gd name="connsiteY0" fmla="*/ 103823 h 315228"/>
              <a:gd name="connsiteX1" fmla="*/ 73486 w 442490"/>
              <a:gd name="connsiteY1" fmla="*/ 267644 h 315228"/>
              <a:gd name="connsiteX2" fmla="*/ 371197 w 442490"/>
              <a:gd name="connsiteY2" fmla="*/ 299542 h 315228"/>
              <a:gd name="connsiteX3" fmla="*/ 434993 w 442490"/>
              <a:gd name="connsiteY3" fmla="*/ 44360 h 315228"/>
              <a:gd name="connsiteX4" fmla="*/ 243606 w 442490"/>
              <a:gd name="connsiteY4" fmla="*/ 1830 h 315228"/>
              <a:gd name="connsiteX0" fmla="*/ 8275 w 425619"/>
              <a:gd name="connsiteY0" fmla="*/ 103823 h 315228"/>
              <a:gd name="connsiteX1" fmla="*/ 56615 w 425619"/>
              <a:gd name="connsiteY1" fmla="*/ 267644 h 315228"/>
              <a:gd name="connsiteX2" fmla="*/ 354326 w 425619"/>
              <a:gd name="connsiteY2" fmla="*/ 299542 h 315228"/>
              <a:gd name="connsiteX3" fmla="*/ 418122 w 425619"/>
              <a:gd name="connsiteY3" fmla="*/ 44360 h 315228"/>
              <a:gd name="connsiteX4" fmla="*/ 226735 w 425619"/>
              <a:gd name="connsiteY4" fmla="*/ 1830 h 315228"/>
              <a:gd name="connsiteX0" fmla="*/ 3381 w 419816"/>
              <a:gd name="connsiteY0" fmla="*/ 103823 h 328880"/>
              <a:gd name="connsiteX1" fmla="*/ 98287 w 419816"/>
              <a:gd name="connsiteY1" fmla="*/ 301511 h 328880"/>
              <a:gd name="connsiteX2" fmla="*/ 349432 w 419816"/>
              <a:gd name="connsiteY2" fmla="*/ 299542 h 328880"/>
              <a:gd name="connsiteX3" fmla="*/ 413228 w 419816"/>
              <a:gd name="connsiteY3" fmla="*/ 44360 h 328880"/>
              <a:gd name="connsiteX4" fmla="*/ 221841 w 419816"/>
              <a:gd name="connsiteY4" fmla="*/ 1830 h 328880"/>
              <a:gd name="connsiteX0" fmla="*/ 3381 w 398069"/>
              <a:gd name="connsiteY0" fmla="*/ 102364 h 325789"/>
              <a:gd name="connsiteX1" fmla="*/ 98287 w 398069"/>
              <a:gd name="connsiteY1" fmla="*/ 300052 h 325789"/>
              <a:gd name="connsiteX2" fmla="*/ 349432 w 398069"/>
              <a:gd name="connsiteY2" fmla="*/ 298083 h 325789"/>
              <a:gd name="connsiteX3" fmla="*/ 387828 w 398069"/>
              <a:gd name="connsiteY3" fmla="*/ 68301 h 325789"/>
              <a:gd name="connsiteX4" fmla="*/ 221841 w 398069"/>
              <a:gd name="connsiteY4" fmla="*/ 371 h 325789"/>
              <a:gd name="connsiteX0" fmla="*/ 10279 w 341467"/>
              <a:gd name="connsiteY0" fmla="*/ 93897 h 326314"/>
              <a:gd name="connsiteX1" fmla="*/ 41685 w 341467"/>
              <a:gd name="connsiteY1" fmla="*/ 300052 h 326314"/>
              <a:gd name="connsiteX2" fmla="*/ 292830 w 341467"/>
              <a:gd name="connsiteY2" fmla="*/ 298083 h 326314"/>
              <a:gd name="connsiteX3" fmla="*/ 331226 w 341467"/>
              <a:gd name="connsiteY3" fmla="*/ 68301 h 326314"/>
              <a:gd name="connsiteX4" fmla="*/ 165239 w 341467"/>
              <a:gd name="connsiteY4" fmla="*/ 371 h 326314"/>
              <a:gd name="connsiteX0" fmla="*/ 4606 w 334698"/>
              <a:gd name="connsiteY0" fmla="*/ 93897 h 326314"/>
              <a:gd name="connsiteX1" fmla="*/ 69879 w 334698"/>
              <a:gd name="connsiteY1" fmla="*/ 300052 h 326314"/>
              <a:gd name="connsiteX2" fmla="*/ 287157 w 334698"/>
              <a:gd name="connsiteY2" fmla="*/ 298083 h 326314"/>
              <a:gd name="connsiteX3" fmla="*/ 325553 w 334698"/>
              <a:gd name="connsiteY3" fmla="*/ 68301 h 326314"/>
              <a:gd name="connsiteX4" fmla="*/ 159566 w 334698"/>
              <a:gd name="connsiteY4" fmla="*/ 371 h 326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4698" h="326314">
                <a:moveTo>
                  <a:pt x="4606" y="93897"/>
                </a:moveTo>
                <a:cubicBezTo>
                  <a:pt x="-13115" y="238520"/>
                  <a:pt x="22787" y="266021"/>
                  <a:pt x="69879" y="300052"/>
                </a:cubicBezTo>
                <a:cubicBezTo>
                  <a:pt x="116971" y="334083"/>
                  <a:pt x="244545" y="336708"/>
                  <a:pt x="287157" y="298083"/>
                </a:cubicBezTo>
                <a:cubicBezTo>
                  <a:pt x="329769" y="259458"/>
                  <a:pt x="346818" y="117920"/>
                  <a:pt x="325553" y="68301"/>
                </a:cubicBezTo>
                <a:cubicBezTo>
                  <a:pt x="304288" y="18682"/>
                  <a:pt x="244627" y="-3174"/>
                  <a:pt x="159566" y="371"/>
                </a:cubicBezTo>
              </a:path>
            </a:pathLst>
          </a:custGeom>
          <a:noFill/>
          <a:ln>
            <a:solidFill>
              <a:schemeClr val="accent2"/>
            </a:solidFill>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Freeform: Shape 51">
            <a:extLst>
              <a:ext uri="{FF2B5EF4-FFF2-40B4-BE49-F238E27FC236}">
                <a16:creationId xmlns:a16="http://schemas.microsoft.com/office/drawing/2014/main" id="{B8EF7AAC-337E-43BC-BF4F-946810084B0E}"/>
              </a:ext>
            </a:extLst>
          </p:cNvPr>
          <p:cNvSpPr/>
          <p:nvPr/>
        </p:nvSpPr>
        <p:spPr>
          <a:xfrm>
            <a:off x="5806359" y="2138346"/>
            <a:ext cx="237640" cy="212843"/>
          </a:xfrm>
          <a:custGeom>
            <a:avLst/>
            <a:gdLst>
              <a:gd name="connsiteX0" fmla="*/ 86476 w 381053"/>
              <a:gd name="connsiteY0" fmla="*/ 86890 h 315774"/>
              <a:gd name="connsiteX1" fmla="*/ 12049 w 381053"/>
              <a:gd name="connsiteY1" fmla="*/ 267644 h 315774"/>
              <a:gd name="connsiteX2" fmla="*/ 309760 w 381053"/>
              <a:gd name="connsiteY2" fmla="*/ 299542 h 315774"/>
              <a:gd name="connsiteX3" fmla="*/ 373556 w 381053"/>
              <a:gd name="connsiteY3" fmla="*/ 44360 h 315774"/>
              <a:gd name="connsiteX4" fmla="*/ 182169 w 381053"/>
              <a:gd name="connsiteY4" fmla="*/ 1830 h 315774"/>
              <a:gd name="connsiteX0" fmla="*/ 25146 w 442490"/>
              <a:gd name="connsiteY0" fmla="*/ 103823 h 315228"/>
              <a:gd name="connsiteX1" fmla="*/ 73486 w 442490"/>
              <a:gd name="connsiteY1" fmla="*/ 267644 h 315228"/>
              <a:gd name="connsiteX2" fmla="*/ 371197 w 442490"/>
              <a:gd name="connsiteY2" fmla="*/ 299542 h 315228"/>
              <a:gd name="connsiteX3" fmla="*/ 434993 w 442490"/>
              <a:gd name="connsiteY3" fmla="*/ 44360 h 315228"/>
              <a:gd name="connsiteX4" fmla="*/ 243606 w 442490"/>
              <a:gd name="connsiteY4" fmla="*/ 1830 h 315228"/>
              <a:gd name="connsiteX0" fmla="*/ 8275 w 425619"/>
              <a:gd name="connsiteY0" fmla="*/ 103823 h 315228"/>
              <a:gd name="connsiteX1" fmla="*/ 56615 w 425619"/>
              <a:gd name="connsiteY1" fmla="*/ 267644 h 315228"/>
              <a:gd name="connsiteX2" fmla="*/ 354326 w 425619"/>
              <a:gd name="connsiteY2" fmla="*/ 299542 h 315228"/>
              <a:gd name="connsiteX3" fmla="*/ 418122 w 425619"/>
              <a:gd name="connsiteY3" fmla="*/ 44360 h 315228"/>
              <a:gd name="connsiteX4" fmla="*/ 226735 w 425619"/>
              <a:gd name="connsiteY4" fmla="*/ 1830 h 315228"/>
              <a:gd name="connsiteX0" fmla="*/ 3381 w 419816"/>
              <a:gd name="connsiteY0" fmla="*/ 103823 h 328880"/>
              <a:gd name="connsiteX1" fmla="*/ 98287 w 419816"/>
              <a:gd name="connsiteY1" fmla="*/ 301511 h 328880"/>
              <a:gd name="connsiteX2" fmla="*/ 349432 w 419816"/>
              <a:gd name="connsiteY2" fmla="*/ 299542 h 328880"/>
              <a:gd name="connsiteX3" fmla="*/ 413228 w 419816"/>
              <a:gd name="connsiteY3" fmla="*/ 44360 h 328880"/>
              <a:gd name="connsiteX4" fmla="*/ 221841 w 419816"/>
              <a:gd name="connsiteY4" fmla="*/ 1830 h 328880"/>
              <a:gd name="connsiteX0" fmla="*/ 3381 w 398069"/>
              <a:gd name="connsiteY0" fmla="*/ 102364 h 325789"/>
              <a:gd name="connsiteX1" fmla="*/ 98287 w 398069"/>
              <a:gd name="connsiteY1" fmla="*/ 300052 h 325789"/>
              <a:gd name="connsiteX2" fmla="*/ 349432 w 398069"/>
              <a:gd name="connsiteY2" fmla="*/ 298083 h 325789"/>
              <a:gd name="connsiteX3" fmla="*/ 387828 w 398069"/>
              <a:gd name="connsiteY3" fmla="*/ 68301 h 325789"/>
              <a:gd name="connsiteX4" fmla="*/ 221841 w 398069"/>
              <a:gd name="connsiteY4" fmla="*/ 371 h 325789"/>
              <a:gd name="connsiteX0" fmla="*/ 10279 w 341467"/>
              <a:gd name="connsiteY0" fmla="*/ 93897 h 326314"/>
              <a:gd name="connsiteX1" fmla="*/ 41685 w 341467"/>
              <a:gd name="connsiteY1" fmla="*/ 300052 h 326314"/>
              <a:gd name="connsiteX2" fmla="*/ 292830 w 341467"/>
              <a:gd name="connsiteY2" fmla="*/ 298083 h 326314"/>
              <a:gd name="connsiteX3" fmla="*/ 331226 w 341467"/>
              <a:gd name="connsiteY3" fmla="*/ 68301 h 326314"/>
              <a:gd name="connsiteX4" fmla="*/ 165239 w 341467"/>
              <a:gd name="connsiteY4" fmla="*/ 371 h 326314"/>
              <a:gd name="connsiteX0" fmla="*/ 4606 w 334698"/>
              <a:gd name="connsiteY0" fmla="*/ 93897 h 326314"/>
              <a:gd name="connsiteX1" fmla="*/ 69879 w 334698"/>
              <a:gd name="connsiteY1" fmla="*/ 300052 h 326314"/>
              <a:gd name="connsiteX2" fmla="*/ 287157 w 334698"/>
              <a:gd name="connsiteY2" fmla="*/ 298083 h 326314"/>
              <a:gd name="connsiteX3" fmla="*/ 325553 w 334698"/>
              <a:gd name="connsiteY3" fmla="*/ 68301 h 326314"/>
              <a:gd name="connsiteX4" fmla="*/ 159566 w 334698"/>
              <a:gd name="connsiteY4" fmla="*/ 371 h 326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4698" h="326314">
                <a:moveTo>
                  <a:pt x="4606" y="93897"/>
                </a:moveTo>
                <a:cubicBezTo>
                  <a:pt x="-13115" y="238520"/>
                  <a:pt x="22787" y="266021"/>
                  <a:pt x="69879" y="300052"/>
                </a:cubicBezTo>
                <a:cubicBezTo>
                  <a:pt x="116971" y="334083"/>
                  <a:pt x="244545" y="336708"/>
                  <a:pt x="287157" y="298083"/>
                </a:cubicBezTo>
                <a:cubicBezTo>
                  <a:pt x="329769" y="259458"/>
                  <a:pt x="346818" y="117920"/>
                  <a:pt x="325553" y="68301"/>
                </a:cubicBezTo>
                <a:cubicBezTo>
                  <a:pt x="304288" y="18682"/>
                  <a:pt x="244627" y="-3174"/>
                  <a:pt x="159566" y="371"/>
                </a:cubicBezTo>
              </a:path>
            </a:pathLst>
          </a:custGeom>
          <a:noFill/>
          <a:ln>
            <a:solidFill>
              <a:schemeClr val="accent2"/>
            </a:solidFill>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Freeform: Shape 52">
            <a:extLst>
              <a:ext uri="{FF2B5EF4-FFF2-40B4-BE49-F238E27FC236}">
                <a16:creationId xmlns:a16="http://schemas.microsoft.com/office/drawing/2014/main" id="{22B7BA36-C208-4AD9-A6E6-A3D85DFECCB3}"/>
              </a:ext>
            </a:extLst>
          </p:cNvPr>
          <p:cNvSpPr/>
          <p:nvPr/>
        </p:nvSpPr>
        <p:spPr>
          <a:xfrm>
            <a:off x="5819460" y="2453067"/>
            <a:ext cx="255259" cy="238249"/>
          </a:xfrm>
          <a:custGeom>
            <a:avLst/>
            <a:gdLst>
              <a:gd name="connsiteX0" fmla="*/ 86476 w 381053"/>
              <a:gd name="connsiteY0" fmla="*/ 86890 h 315774"/>
              <a:gd name="connsiteX1" fmla="*/ 12049 w 381053"/>
              <a:gd name="connsiteY1" fmla="*/ 267644 h 315774"/>
              <a:gd name="connsiteX2" fmla="*/ 309760 w 381053"/>
              <a:gd name="connsiteY2" fmla="*/ 299542 h 315774"/>
              <a:gd name="connsiteX3" fmla="*/ 373556 w 381053"/>
              <a:gd name="connsiteY3" fmla="*/ 44360 h 315774"/>
              <a:gd name="connsiteX4" fmla="*/ 182169 w 381053"/>
              <a:gd name="connsiteY4" fmla="*/ 1830 h 315774"/>
              <a:gd name="connsiteX0" fmla="*/ 25146 w 442490"/>
              <a:gd name="connsiteY0" fmla="*/ 103823 h 315228"/>
              <a:gd name="connsiteX1" fmla="*/ 73486 w 442490"/>
              <a:gd name="connsiteY1" fmla="*/ 267644 h 315228"/>
              <a:gd name="connsiteX2" fmla="*/ 371197 w 442490"/>
              <a:gd name="connsiteY2" fmla="*/ 299542 h 315228"/>
              <a:gd name="connsiteX3" fmla="*/ 434993 w 442490"/>
              <a:gd name="connsiteY3" fmla="*/ 44360 h 315228"/>
              <a:gd name="connsiteX4" fmla="*/ 243606 w 442490"/>
              <a:gd name="connsiteY4" fmla="*/ 1830 h 315228"/>
              <a:gd name="connsiteX0" fmla="*/ 8275 w 425619"/>
              <a:gd name="connsiteY0" fmla="*/ 103823 h 315228"/>
              <a:gd name="connsiteX1" fmla="*/ 56615 w 425619"/>
              <a:gd name="connsiteY1" fmla="*/ 267644 h 315228"/>
              <a:gd name="connsiteX2" fmla="*/ 354326 w 425619"/>
              <a:gd name="connsiteY2" fmla="*/ 299542 h 315228"/>
              <a:gd name="connsiteX3" fmla="*/ 418122 w 425619"/>
              <a:gd name="connsiteY3" fmla="*/ 44360 h 315228"/>
              <a:gd name="connsiteX4" fmla="*/ 226735 w 425619"/>
              <a:gd name="connsiteY4" fmla="*/ 1830 h 315228"/>
              <a:gd name="connsiteX0" fmla="*/ 3381 w 419816"/>
              <a:gd name="connsiteY0" fmla="*/ 103823 h 328880"/>
              <a:gd name="connsiteX1" fmla="*/ 98287 w 419816"/>
              <a:gd name="connsiteY1" fmla="*/ 301511 h 328880"/>
              <a:gd name="connsiteX2" fmla="*/ 349432 w 419816"/>
              <a:gd name="connsiteY2" fmla="*/ 299542 h 328880"/>
              <a:gd name="connsiteX3" fmla="*/ 413228 w 419816"/>
              <a:gd name="connsiteY3" fmla="*/ 44360 h 328880"/>
              <a:gd name="connsiteX4" fmla="*/ 221841 w 419816"/>
              <a:gd name="connsiteY4" fmla="*/ 1830 h 328880"/>
              <a:gd name="connsiteX0" fmla="*/ 3381 w 398069"/>
              <a:gd name="connsiteY0" fmla="*/ 102364 h 325789"/>
              <a:gd name="connsiteX1" fmla="*/ 98287 w 398069"/>
              <a:gd name="connsiteY1" fmla="*/ 300052 h 325789"/>
              <a:gd name="connsiteX2" fmla="*/ 349432 w 398069"/>
              <a:gd name="connsiteY2" fmla="*/ 298083 h 325789"/>
              <a:gd name="connsiteX3" fmla="*/ 387828 w 398069"/>
              <a:gd name="connsiteY3" fmla="*/ 68301 h 325789"/>
              <a:gd name="connsiteX4" fmla="*/ 221841 w 398069"/>
              <a:gd name="connsiteY4" fmla="*/ 371 h 325789"/>
              <a:gd name="connsiteX0" fmla="*/ 10279 w 341467"/>
              <a:gd name="connsiteY0" fmla="*/ 93897 h 326314"/>
              <a:gd name="connsiteX1" fmla="*/ 41685 w 341467"/>
              <a:gd name="connsiteY1" fmla="*/ 300052 h 326314"/>
              <a:gd name="connsiteX2" fmla="*/ 292830 w 341467"/>
              <a:gd name="connsiteY2" fmla="*/ 298083 h 326314"/>
              <a:gd name="connsiteX3" fmla="*/ 331226 w 341467"/>
              <a:gd name="connsiteY3" fmla="*/ 68301 h 326314"/>
              <a:gd name="connsiteX4" fmla="*/ 165239 w 341467"/>
              <a:gd name="connsiteY4" fmla="*/ 371 h 326314"/>
              <a:gd name="connsiteX0" fmla="*/ 4606 w 334698"/>
              <a:gd name="connsiteY0" fmla="*/ 93897 h 326314"/>
              <a:gd name="connsiteX1" fmla="*/ 69879 w 334698"/>
              <a:gd name="connsiteY1" fmla="*/ 300052 h 326314"/>
              <a:gd name="connsiteX2" fmla="*/ 287157 w 334698"/>
              <a:gd name="connsiteY2" fmla="*/ 298083 h 326314"/>
              <a:gd name="connsiteX3" fmla="*/ 325553 w 334698"/>
              <a:gd name="connsiteY3" fmla="*/ 68301 h 326314"/>
              <a:gd name="connsiteX4" fmla="*/ 159566 w 334698"/>
              <a:gd name="connsiteY4" fmla="*/ 371 h 326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4698" h="326314">
                <a:moveTo>
                  <a:pt x="4606" y="93897"/>
                </a:moveTo>
                <a:cubicBezTo>
                  <a:pt x="-13115" y="238520"/>
                  <a:pt x="22787" y="266021"/>
                  <a:pt x="69879" y="300052"/>
                </a:cubicBezTo>
                <a:cubicBezTo>
                  <a:pt x="116971" y="334083"/>
                  <a:pt x="244545" y="336708"/>
                  <a:pt x="287157" y="298083"/>
                </a:cubicBezTo>
                <a:cubicBezTo>
                  <a:pt x="329769" y="259458"/>
                  <a:pt x="346818" y="117920"/>
                  <a:pt x="325553" y="68301"/>
                </a:cubicBezTo>
                <a:cubicBezTo>
                  <a:pt x="304288" y="18682"/>
                  <a:pt x="244627" y="-3174"/>
                  <a:pt x="159566" y="371"/>
                </a:cubicBezTo>
              </a:path>
            </a:pathLst>
          </a:custGeom>
          <a:noFill/>
          <a:ln>
            <a:solidFill>
              <a:schemeClr val="accent2"/>
            </a:solidFill>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extBox 54">
            <a:extLst>
              <a:ext uri="{FF2B5EF4-FFF2-40B4-BE49-F238E27FC236}">
                <a16:creationId xmlns:a16="http://schemas.microsoft.com/office/drawing/2014/main" id="{12C5214E-E265-48AB-92E6-EE5167C4BE8C}"/>
              </a:ext>
            </a:extLst>
          </p:cNvPr>
          <p:cNvSpPr txBox="1"/>
          <p:nvPr/>
        </p:nvSpPr>
        <p:spPr>
          <a:xfrm>
            <a:off x="1962698" y="160329"/>
            <a:ext cx="7854215" cy="584775"/>
          </a:xfrm>
          <a:prstGeom prst="rect">
            <a:avLst/>
          </a:prstGeom>
          <a:noFill/>
        </p:spPr>
        <p:txBody>
          <a:bodyPr wrap="square" rtlCol="0">
            <a:spAutoFit/>
          </a:bodyPr>
          <a:lstStyle/>
          <a:p>
            <a:pPr algn="ctr"/>
            <a:r>
              <a:rPr lang="en-US" sz="3200" b="1" dirty="0"/>
              <a:t>PATHOPHYSIOLOGY</a:t>
            </a:r>
          </a:p>
        </p:txBody>
      </p:sp>
      <p:sp>
        <p:nvSpPr>
          <p:cNvPr id="27" name="Rectangle 26">
            <a:extLst>
              <a:ext uri="{FF2B5EF4-FFF2-40B4-BE49-F238E27FC236}">
                <a16:creationId xmlns:a16="http://schemas.microsoft.com/office/drawing/2014/main" id="{444C41C7-18BE-421D-85C9-9B2786F0CC07}"/>
              </a:ext>
            </a:extLst>
          </p:cNvPr>
          <p:cNvSpPr/>
          <p:nvPr/>
        </p:nvSpPr>
        <p:spPr>
          <a:xfrm>
            <a:off x="8306687" y="2006904"/>
            <a:ext cx="3364335" cy="354956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lang="en-US" b="1" dirty="0"/>
              <a:t>AF </a:t>
            </a:r>
            <a:r>
              <a:rPr lang="en-US" dirty="0"/>
              <a:t>is characterized by disorganized, irregular atrial activity comprised of multiple small reentrant circuits. The atrial rate can exceed &gt; 400 bpm. </a:t>
            </a:r>
          </a:p>
          <a:p>
            <a:endParaRPr lang="en-US" dirty="0"/>
          </a:p>
          <a:p>
            <a:r>
              <a:rPr lang="en-US" dirty="0"/>
              <a:t>Because of the refractory period of the AV node, not all of the atrial impulses are conducted to the ventricles. The ventricular rate in AF determined by the AV node refractory period.</a:t>
            </a:r>
          </a:p>
        </p:txBody>
      </p:sp>
      <p:cxnSp>
        <p:nvCxnSpPr>
          <p:cNvPr id="30" name="Straight Arrow Connector 29">
            <a:extLst>
              <a:ext uri="{FF2B5EF4-FFF2-40B4-BE49-F238E27FC236}">
                <a16:creationId xmlns:a16="http://schemas.microsoft.com/office/drawing/2014/main" id="{8EA75DC6-3262-4F18-BE9F-B48527EBB9F7}"/>
              </a:ext>
            </a:extLst>
          </p:cNvPr>
          <p:cNvCxnSpPr/>
          <p:nvPr/>
        </p:nvCxnSpPr>
        <p:spPr>
          <a:xfrm>
            <a:off x="5599019" y="3302298"/>
            <a:ext cx="444980" cy="807988"/>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D522D0FC-2740-434E-BEA5-DBAD6C78915C}"/>
              </a:ext>
            </a:extLst>
          </p:cNvPr>
          <p:cNvCxnSpPr/>
          <p:nvPr/>
        </p:nvCxnSpPr>
        <p:spPr>
          <a:xfrm>
            <a:off x="5777195" y="3216464"/>
            <a:ext cx="444980" cy="807988"/>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56" name="Rectangle: Rounded Corners 55">
            <a:hlinkClick r:id="rId6" action="ppaction://hlinksldjump"/>
            <a:extLst>
              <a:ext uri="{FF2B5EF4-FFF2-40B4-BE49-F238E27FC236}">
                <a16:creationId xmlns:a16="http://schemas.microsoft.com/office/drawing/2014/main" id="{4FC72703-A231-420A-8C2C-6DDD095D79D9}"/>
              </a:ext>
            </a:extLst>
          </p:cNvPr>
          <p:cNvSpPr/>
          <p:nvPr/>
        </p:nvSpPr>
        <p:spPr>
          <a:xfrm>
            <a:off x="10431173" y="97577"/>
            <a:ext cx="1637176" cy="350310"/>
          </a:xfrm>
          <a:prstGeom prst="roundRect">
            <a:avLst/>
          </a:prstGeom>
          <a:ln>
            <a:solidFill>
              <a:schemeClr val="accent5"/>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600" dirty="0">
                <a:solidFill>
                  <a:schemeClr val="bg1"/>
                </a:solidFill>
              </a:rPr>
              <a:t>Pathophysiology</a:t>
            </a:r>
          </a:p>
        </p:txBody>
      </p:sp>
      <p:sp>
        <p:nvSpPr>
          <p:cNvPr id="58" name="Rectangle: Rounded Corners 57">
            <a:hlinkClick r:id="rId7" action="ppaction://hlinksldjump"/>
            <a:extLst>
              <a:ext uri="{FF2B5EF4-FFF2-40B4-BE49-F238E27FC236}">
                <a16:creationId xmlns:a16="http://schemas.microsoft.com/office/drawing/2014/main" id="{A749E936-5CA6-44ED-A94E-E0E2EA9416CD}"/>
              </a:ext>
            </a:extLst>
          </p:cNvPr>
          <p:cNvSpPr/>
          <p:nvPr/>
        </p:nvSpPr>
        <p:spPr>
          <a:xfrm>
            <a:off x="11080777" y="520765"/>
            <a:ext cx="993105" cy="330385"/>
          </a:xfrm>
          <a:prstGeom prst="roundRect">
            <a:avLst/>
          </a:prstGeom>
          <a:solidFill>
            <a:schemeClr val="bg1"/>
          </a:solidFill>
          <a:ln w="28575"/>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accent1"/>
                </a:solidFill>
              </a:rPr>
              <a:t>Work-up</a:t>
            </a:r>
          </a:p>
        </p:txBody>
      </p:sp>
      <p:pic>
        <p:nvPicPr>
          <p:cNvPr id="59" name="Graphic 58" descr="Cursor with solid fill">
            <a:extLst>
              <a:ext uri="{FF2B5EF4-FFF2-40B4-BE49-F238E27FC236}">
                <a16:creationId xmlns:a16="http://schemas.microsoft.com/office/drawing/2014/main" id="{5B80872F-7238-4D30-B63A-42CA531171D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1894548" y="666455"/>
            <a:ext cx="278936" cy="278936"/>
          </a:xfrm>
          <a:prstGeom prst="rect">
            <a:avLst/>
          </a:prstGeom>
        </p:spPr>
      </p:pic>
      <p:sp>
        <p:nvSpPr>
          <p:cNvPr id="60" name="Rectangle: Rounded Corners 59">
            <a:hlinkClick r:id="rId10" action="ppaction://hlinksldjump"/>
            <a:extLst>
              <a:ext uri="{FF2B5EF4-FFF2-40B4-BE49-F238E27FC236}">
                <a16:creationId xmlns:a16="http://schemas.microsoft.com/office/drawing/2014/main" id="{F1884C30-075F-4269-9176-33C2A3F7750B}"/>
              </a:ext>
            </a:extLst>
          </p:cNvPr>
          <p:cNvSpPr/>
          <p:nvPr/>
        </p:nvSpPr>
        <p:spPr>
          <a:xfrm>
            <a:off x="10675924" y="930048"/>
            <a:ext cx="1392426" cy="350310"/>
          </a:xfrm>
          <a:prstGeom prst="roundRect">
            <a:avLst/>
          </a:prstGeom>
          <a:solidFill>
            <a:schemeClr val="bg1"/>
          </a:solidFill>
          <a:ln w="28575"/>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accent1"/>
                </a:solidFill>
              </a:rPr>
              <a:t>Management</a:t>
            </a:r>
          </a:p>
        </p:txBody>
      </p:sp>
      <p:pic>
        <p:nvPicPr>
          <p:cNvPr id="61" name="Graphic 60" descr="Cursor with solid fill">
            <a:extLst>
              <a:ext uri="{FF2B5EF4-FFF2-40B4-BE49-F238E27FC236}">
                <a16:creationId xmlns:a16="http://schemas.microsoft.com/office/drawing/2014/main" id="{C2CCDDFD-0C0C-4E64-BA23-B34C9247235A}"/>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1912507" y="1070433"/>
            <a:ext cx="280861" cy="280861"/>
          </a:xfrm>
          <a:prstGeom prst="rect">
            <a:avLst/>
          </a:prstGeom>
        </p:spPr>
      </p:pic>
      <p:sp>
        <p:nvSpPr>
          <p:cNvPr id="62" name="Rectangle: Rounded Corners 61">
            <a:hlinkClick r:id="rId11" action="ppaction://hlinksldjump"/>
            <a:extLst>
              <a:ext uri="{FF2B5EF4-FFF2-40B4-BE49-F238E27FC236}">
                <a16:creationId xmlns:a16="http://schemas.microsoft.com/office/drawing/2014/main" id="{5D595596-35CC-48D5-A224-FCDE197EC19F}"/>
              </a:ext>
            </a:extLst>
          </p:cNvPr>
          <p:cNvSpPr/>
          <p:nvPr/>
        </p:nvSpPr>
        <p:spPr>
          <a:xfrm>
            <a:off x="11289210" y="1330295"/>
            <a:ext cx="779139" cy="350310"/>
          </a:xfrm>
          <a:prstGeom prst="roundRect">
            <a:avLst/>
          </a:prstGeom>
          <a:solidFill>
            <a:schemeClr val="bg1"/>
          </a:solidFill>
          <a:ln w="28575"/>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accent1"/>
                </a:solidFill>
              </a:rPr>
              <a:t>Cases</a:t>
            </a:r>
          </a:p>
        </p:txBody>
      </p:sp>
      <p:pic>
        <p:nvPicPr>
          <p:cNvPr id="63" name="Graphic 62" descr="Cursor with solid fill">
            <a:extLst>
              <a:ext uri="{FF2B5EF4-FFF2-40B4-BE49-F238E27FC236}">
                <a16:creationId xmlns:a16="http://schemas.microsoft.com/office/drawing/2014/main" id="{58DA0AEB-7FA8-4CEE-9D7B-9114C30FC3A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1912507" y="1480541"/>
            <a:ext cx="280861" cy="280861"/>
          </a:xfrm>
          <a:prstGeom prst="rect">
            <a:avLst/>
          </a:prstGeom>
        </p:spPr>
      </p:pic>
    </p:spTree>
    <p:extLst>
      <p:ext uri="{BB962C8B-B14F-4D97-AF65-F5344CB8AC3E}">
        <p14:creationId xmlns:p14="http://schemas.microsoft.com/office/powerpoint/2010/main" val="33850834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Freeform: Shape 17">
            <a:extLst>
              <a:ext uri="{FF2B5EF4-FFF2-40B4-BE49-F238E27FC236}">
                <a16:creationId xmlns:a16="http://schemas.microsoft.com/office/drawing/2014/main" id="{D13FC38C-52EC-4E3A-B581-F43980BFDA96}"/>
              </a:ext>
            </a:extLst>
          </p:cNvPr>
          <p:cNvSpPr/>
          <p:nvPr/>
        </p:nvSpPr>
        <p:spPr>
          <a:xfrm>
            <a:off x="5599019" y="3039135"/>
            <a:ext cx="2193293" cy="2591641"/>
          </a:xfrm>
          <a:custGeom>
            <a:avLst/>
            <a:gdLst>
              <a:gd name="connsiteX0" fmla="*/ 0 w 2454387"/>
              <a:gd name="connsiteY0" fmla="*/ 0 h 2704793"/>
              <a:gd name="connsiteX1" fmla="*/ 1297172 w 2454387"/>
              <a:gd name="connsiteY1" fmla="*/ 2530548 h 2704793"/>
              <a:gd name="connsiteX2" fmla="*/ 2339163 w 2454387"/>
              <a:gd name="connsiteY2" fmla="*/ 2360427 h 2704793"/>
              <a:gd name="connsiteX3" fmla="*/ 2381693 w 2454387"/>
              <a:gd name="connsiteY3" fmla="*/ 1360967 h 2704793"/>
              <a:gd name="connsiteX0" fmla="*/ 0 w 2408040"/>
              <a:gd name="connsiteY0" fmla="*/ 0 h 2671586"/>
              <a:gd name="connsiteX1" fmla="*/ 1297172 w 2408040"/>
              <a:gd name="connsiteY1" fmla="*/ 2530548 h 2671586"/>
              <a:gd name="connsiteX2" fmla="*/ 2200939 w 2408040"/>
              <a:gd name="connsiteY2" fmla="*/ 2243469 h 2671586"/>
              <a:gd name="connsiteX3" fmla="*/ 2381693 w 2408040"/>
              <a:gd name="connsiteY3" fmla="*/ 1360967 h 2671586"/>
              <a:gd name="connsiteX0" fmla="*/ 0 w 2408040"/>
              <a:gd name="connsiteY0" fmla="*/ 0 h 2997607"/>
              <a:gd name="connsiteX1" fmla="*/ 1765004 w 2408040"/>
              <a:gd name="connsiteY1" fmla="*/ 2902687 h 2997607"/>
              <a:gd name="connsiteX2" fmla="*/ 2200939 w 2408040"/>
              <a:gd name="connsiteY2" fmla="*/ 2243469 h 2997607"/>
              <a:gd name="connsiteX3" fmla="*/ 2381693 w 2408040"/>
              <a:gd name="connsiteY3" fmla="*/ 1360967 h 2997607"/>
              <a:gd name="connsiteX0" fmla="*/ 0 w 2408040"/>
              <a:gd name="connsiteY0" fmla="*/ 0 h 2997607"/>
              <a:gd name="connsiteX1" fmla="*/ 1765004 w 2408040"/>
              <a:gd name="connsiteY1" fmla="*/ 2902687 h 2997607"/>
              <a:gd name="connsiteX2" fmla="*/ 2200939 w 2408040"/>
              <a:gd name="connsiteY2" fmla="*/ 2243469 h 2997607"/>
              <a:gd name="connsiteX3" fmla="*/ 2381693 w 2408040"/>
              <a:gd name="connsiteY3" fmla="*/ 1360967 h 2997607"/>
              <a:gd name="connsiteX0" fmla="*/ 0 w 2381693"/>
              <a:gd name="connsiteY0" fmla="*/ 0 h 2926690"/>
              <a:gd name="connsiteX1" fmla="*/ 1765004 w 2381693"/>
              <a:gd name="connsiteY1" fmla="*/ 2902687 h 2926690"/>
              <a:gd name="connsiteX2" fmla="*/ 2381693 w 2381693"/>
              <a:gd name="connsiteY2" fmla="*/ 1360967 h 2926690"/>
              <a:gd name="connsiteX0" fmla="*/ 0 w 2381693"/>
              <a:gd name="connsiteY0" fmla="*/ 0 h 2822052"/>
              <a:gd name="connsiteX1" fmla="*/ 1860697 w 2381693"/>
              <a:gd name="connsiteY1" fmla="*/ 2796361 h 2822052"/>
              <a:gd name="connsiteX2" fmla="*/ 2381693 w 2381693"/>
              <a:gd name="connsiteY2" fmla="*/ 1360967 h 2822052"/>
              <a:gd name="connsiteX0" fmla="*/ 0 w 2349795"/>
              <a:gd name="connsiteY0" fmla="*/ 0 h 2898970"/>
              <a:gd name="connsiteX1" fmla="*/ 1828799 w 2349795"/>
              <a:gd name="connsiteY1" fmla="*/ 2870789 h 2898970"/>
              <a:gd name="connsiteX2" fmla="*/ 2349795 w 2349795"/>
              <a:gd name="connsiteY2" fmla="*/ 1435395 h 2898970"/>
              <a:gd name="connsiteX0" fmla="*/ 0 w 2355903"/>
              <a:gd name="connsiteY0" fmla="*/ 0 h 2900999"/>
              <a:gd name="connsiteX1" fmla="*/ 1828799 w 2355903"/>
              <a:gd name="connsiteY1" fmla="*/ 2870789 h 2900999"/>
              <a:gd name="connsiteX2" fmla="*/ 2349795 w 2355903"/>
              <a:gd name="connsiteY2" fmla="*/ 1435395 h 2900999"/>
            </a:gdLst>
            <a:ahLst/>
            <a:cxnLst>
              <a:cxn ang="0">
                <a:pos x="connsiteX0" y="connsiteY0"/>
              </a:cxn>
              <a:cxn ang="0">
                <a:pos x="connsiteX1" y="connsiteY1"/>
              </a:cxn>
              <a:cxn ang="0">
                <a:pos x="connsiteX2" y="connsiteY2"/>
              </a:cxn>
            </a:cxnLst>
            <a:rect l="l" t="t" r="r" b="b"/>
            <a:pathLst>
              <a:path w="2355903" h="2900999">
                <a:moveTo>
                  <a:pt x="0" y="0"/>
                </a:moveTo>
                <a:cubicBezTo>
                  <a:pt x="453656" y="1068572"/>
                  <a:pt x="1437167" y="2631557"/>
                  <a:pt x="1828799" y="2870789"/>
                </a:cubicBezTo>
                <a:cubicBezTo>
                  <a:pt x="2220432" y="3110022"/>
                  <a:pt x="2391439" y="1862913"/>
                  <a:pt x="2349795" y="1435395"/>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2131A475-74B5-4F88-A09B-E234BABEB8BE}"/>
              </a:ext>
            </a:extLst>
          </p:cNvPr>
          <p:cNvSpPr/>
          <p:nvPr/>
        </p:nvSpPr>
        <p:spPr>
          <a:xfrm>
            <a:off x="5420843" y="4169483"/>
            <a:ext cx="1202962" cy="1575079"/>
          </a:xfrm>
          <a:custGeom>
            <a:avLst/>
            <a:gdLst>
              <a:gd name="connsiteX0" fmla="*/ 925033 w 1658735"/>
              <a:gd name="connsiteY0" fmla="*/ 0 h 1552609"/>
              <a:gd name="connsiteX1" fmla="*/ 1658679 w 1658735"/>
              <a:gd name="connsiteY1" fmla="*/ 1360967 h 1552609"/>
              <a:gd name="connsiteX2" fmla="*/ 893135 w 1658735"/>
              <a:gd name="connsiteY2" fmla="*/ 1520456 h 1552609"/>
              <a:gd name="connsiteX3" fmla="*/ 0 w 1658735"/>
              <a:gd name="connsiteY3" fmla="*/ 1148316 h 1552609"/>
              <a:gd name="connsiteX0" fmla="*/ 925033 w 1414291"/>
              <a:gd name="connsiteY0" fmla="*/ 0 h 1612582"/>
              <a:gd name="connsiteX1" fmla="*/ 1414130 w 1414291"/>
              <a:gd name="connsiteY1" fmla="*/ 1477925 h 1612582"/>
              <a:gd name="connsiteX2" fmla="*/ 893135 w 1414291"/>
              <a:gd name="connsiteY2" fmla="*/ 1520456 h 1612582"/>
              <a:gd name="connsiteX3" fmla="*/ 0 w 1414291"/>
              <a:gd name="connsiteY3" fmla="*/ 1148316 h 1612582"/>
              <a:gd name="connsiteX0" fmla="*/ 861238 w 1414213"/>
              <a:gd name="connsiteY0" fmla="*/ 0 h 1794959"/>
              <a:gd name="connsiteX1" fmla="*/ 1414130 w 1414213"/>
              <a:gd name="connsiteY1" fmla="*/ 1648046 h 1794959"/>
              <a:gd name="connsiteX2" fmla="*/ 893135 w 1414213"/>
              <a:gd name="connsiteY2" fmla="*/ 1690577 h 1794959"/>
              <a:gd name="connsiteX3" fmla="*/ 0 w 1414213"/>
              <a:gd name="connsiteY3" fmla="*/ 1318437 h 1794959"/>
              <a:gd name="connsiteX0" fmla="*/ 861238 w 1448677"/>
              <a:gd name="connsiteY0" fmla="*/ 0 h 1705131"/>
              <a:gd name="connsiteX1" fmla="*/ 1414130 w 1448677"/>
              <a:gd name="connsiteY1" fmla="*/ 1648046 h 1705131"/>
              <a:gd name="connsiteX2" fmla="*/ 0 w 1448677"/>
              <a:gd name="connsiteY2" fmla="*/ 1318437 h 1705131"/>
              <a:gd name="connsiteX0" fmla="*/ 861238 w 1188978"/>
              <a:gd name="connsiteY0" fmla="*/ 0 h 1714835"/>
              <a:gd name="connsiteX1" fmla="*/ 1105786 w 1188978"/>
              <a:gd name="connsiteY1" fmla="*/ 1658679 h 1714835"/>
              <a:gd name="connsiteX2" fmla="*/ 0 w 1188978"/>
              <a:gd name="connsiteY2" fmla="*/ 1318437 h 1714835"/>
              <a:gd name="connsiteX0" fmla="*/ 839973 w 1166148"/>
              <a:gd name="connsiteY0" fmla="*/ 0 h 1711803"/>
              <a:gd name="connsiteX1" fmla="*/ 1084521 w 1166148"/>
              <a:gd name="connsiteY1" fmla="*/ 1658679 h 1711803"/>
              <a:gd name="connsiteX2" fmla="*/ 0 w 1166148"/>
              <a:gd name="connsiteY2" fmla="*/ 1297172 h 1711803"/>
              <a:gd name="connsiteX0" fmla="*/ 839973 w 1166148"/>
              <a:gd name="connsiteY0" fmla="*/ 0 h 1725346"/>
              <a:gd name="connsiteX1" fmla="*/ 1084521 w 1166148"/>
              <a:gd name="connsiteY1" fmla="*/ 1658679 h 1725346"/>
              <a:gd name="connsiteX2" fmla="*/ 0 w 1166148"/>
              <a:gd name="connsiteY2" fmla="*/ 1297172 h 1725346"/>
              <a:gd name="connsiteX0" fmla="*/ 839973 w 1292149"/>
              <a:gd name="connsiteY0" fmla="*/ 0 h 1763092"/>
              <a:gd name="connsiteX1" fmla="*/ 1244009 w 1292149"/>
              <a:gd name="connsiteY1" fmla="*/ 1701210 h 1763092"/>
              <a:gd name="connsiteX2" fmla="*/ 0 w 1292149"/>
              <a:gd name="connsiteY2" fmla="*/ 1297172 h 1763092"/>
            </a:gdLst>
            <a:ahLst/>
            <a:cxnLst>
              <a:cxn ang="0">
                <a:pos x="connsiteX0" y="connsiteY0"/>
              </a:cxn>
              <a:cxn ang="0">
                <a:pos x="connsiteX1" y="connsiteY1"/>
              </a:cxn>
              <a:cxn ang="0">
                <a:pos x="connsiteX2" y="connsiteY2"/>
              </a:cxn>
            </a:cxnLst>
            <a:rect l="l" t="t" r="r" b="b"/>
            <a:pathLst>
              <a:path w="1292149" h="1763092">
                <a:moveTo>
                  <a:pt x="839973" y="0"/>
                </a:moveTo>
                <a:cubicBezTo>
                  <a:pt x="1209454" y="553779"/>
                  <a:pt x="1384004" y="1485015"/>
                  <a:pt x="1244009" y="1701210"/>
                </a:cubicBezTo>
                <a:cubicBezTo>
                  <a:pt x="1104014" y="1917405"/>
                  <a:pt x="252080" y="1514697"/>
                  <a:pt x="0" y="129717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2">
            <p14:nvContentPartPr>
              <p14:cNvPr id="96" name="Ink 95">
                <a:extLst>
                  <a:ext uri="{FF2B5EF4-FFF2-40B4-BE49-F238E27FC236}">
                    <a16:creationId xmlns:a16="http://schemas.microsoft.com/office/drawing/2014/main" id="{2EB1830A-B6B2-974C-A6AB-025A278B2B27}"/>
                  </a:ext>
                </a:extLst>
              </p14:cNvPr>
              <p14:cNvContentPartPr/>
              <p14:nvPr/>
            </p14:nvContentPartPr>
            <p14:xfrm>
              <a:off x="3992223" y="2146690"/>
              <a:ext cx="335" cy="322"/>
            </p14:xfrm>
          </p:contentPart>
        </mc:Choice>
        <mc:Fallback xmlns="">
          <p:pic>
            <p:nvPicPr>
              <p:cNvPr id="96" name="Ink 95">
                <a:extLst>
                  <a:ext uri="{FF2B5EF4-FFF2-40B4-BE49-F238E27FC236}">
                    <a16:creationId xmlns:a16="http://schemas.microsoft.com/office/drawing/2014/main" id="{2EB1830A-B6B2-974C-A6AB-025A278B2B27}"/>
                  </a:ext>
                </a:extLst>
              </p:cNvPr>
              <p:cNvPicPr/>
              <p:nvPr/>
            </p:nvPicPr>
            <p:blipFill>
              <a:blip r:embed="rId3"/>
              <a:stretch>
                <a:fillRect/>
              </a:stretch>
            </p:blipFill>
            <p:spPr>
              <a:xfrm>
                <a:off x="3933598" y="2090340"/>
                <a:ext cx="117250" cy="112700"/>
              </a:xfrm>
              <a:prstGeom prst="rect">
                <a:avLst/>
              </a:prstGeom>
            </p:spPr>
          </p:pic>
        </mc:Fallback>
      </mc:AlternateContent>
      <p:grpSp>
        <p:nvGrpSpPr>
          <p:cNvPr id="24" name="Heart border">
            <a:extLst>
              <a:ext uri="{FF2B5EF4-FFF2-40B4-BE49-F238E27FC236}">
                <a16:creationId xmlns:a16="http://schemas.microsoft.com/office/drawing/2014/main" id="{615907A9-094E-4895-8030-AD649E6A89D2}"/>
              </a:ext>
            </a:extLst>
          </p:cNvPr>
          <p:cNvGrpSpPr/>
          <p:nvPr/>
        </p:nvGrpSpPr>
        <p:grpSpPr>
          <a:xfrm>
            <a:off x="3460694" y="1120393"/>
            <a:ext cx="4652763" cy="5107874"/>
            <a:chOff x="3465986" y="531628"/>
            <a:chExt cx="4997718" cy="5717587"/>
          </a:xfrm>
        </p:grpSpPr>
        <p:sp>
          <p:nvSpPr>
            <p:cNvPr id="3" name="Freeform: Shape 2">
              <a:extLst>
                <a:ext uri="{FF2B5EF4-FFF2-40B4-BE49-F238E27FC236}">
                  <a16:creationId xmlns:a16="http://schemas.microsoft.com/office/drawing/2014/main" id="{0FF375B0-F966-4A73-A871-8A662FB7E5C3}"/>
                </a:ext>
              </a:extLst>
            </p:cNvPr>
            <p:cNvSpPr/>
            <p:nvPr/>
          </p:nvSpPr>
          <p:spPr>
            <a:xfrm>
              <a:off x="3465986" y="880607"/>
              <a:ext cx="2275596" cy="2093373"/>
            </a:xfrm>
            <a:custGeom>
              <a:avLst/>
              <a:gdLst>
                <a:gd name="connsiteX0" fmla="*/ 1555951 w 1555951"/>
                <a:gd name="connsiteY0" fmla="*/ 191278 h 2048839"/>
                <a:gd name="connsiteX1" fmla="*/ 907365 w 1555951"/>
                <a:gd name="connsiteY1" fmla="*/ 10524 h 2048839"/>
                <a:gd name="connsiteX2" fmla="*/ 131189 w 1555951"/>
                <a:gd name="connsiteY2" fmla="*/ 467724 h 2048839"/>
                <a:gd name="connsiteX3" fmla="*/ 56761 w 1555951"/>
                <a:gd name="connsiteY3" fmla="*/ 1626673 h 2048839"/>
                <a:gd name="connsiteX4" fmla="*/ 715979 w 1555951"/>
                <a:gd name="connsiteY4" fmla="*/ 2020078 h 2048839"/>
                <a:gd name="connsiteX5" fmla="*/ 1077486 w 1555951"/>
                <a:gd name="connsiteY5" fmla="*/ 1988180 h 2048839"/>
                <a:gd name="connsiteX0" fmla="*/ 2406556 w 2406556"/>
                <a:gd name="connsiteY0" fmla="*/ 1804396 h 2098971"/>
                <a:gd name="connsiteX1" fmla="*/ 907365 w 2406556"/>
                <a:gd name="connsiteY1" fmla="*/ 60656 h 2098971"/>
                <a:gd name="connsiteX2" fmla="*/ 131189 w 2406556"/>
                <a:gd name="connsiteY2" fmla="*/ 517856 h 2098971"/>
                <a:gd name="connsiteX3" fmla="*/ 56761 w 2406556"/>
                <a:gd name="connsiteY3" fmla="*/ 1676805 h 2098971"/>
                <a:gd name="connsiteX4" fmla="*/ 715979 w 2406556"/>
                <a:gd name="connsiteY4" fmla="*/ 2070210 h 2098971"/>
                <a:gd name="connsiteX5" fmla="*/ 1077486 w 2406556"/>
                <a:gd name="connsiteY5" fmla="*/ 2038312 h 2098971"/>
                <a:gd name="connsiteX0" fmla="*/ 2406556 w 2406556"/>
                <a:gd name="connsiteY0" fmla="*/ 1775183 h 2069758"/>
                <a:gd name="connsiteX1" fmla="*/ 1619746 w 2406556"/>
                <a:gd name="connsiteY1" fmla="*/ 233462 h 2069758"/>
                <a:gd name="connsiteX2" fmla="*/ 907365 w 2406556"/>
                <a:gd name="connsiteY2" fmla="*/ 31443 h 2069758"/>
                <a:gd name="connsiteX3" fmla="*/ 131189 w 2406556"/>
                <a:gd name="connsiteY3" fmla="*/ 488643 h 2069758"/>
                <a:gd name="connsiteX4" fmla="*/ 56761 w 2406556"/>
                <a:gd name="connsiteY4" fmla="*/ 1647592 h 2069758"/>
                <a:gd name="connsiteX5" fmla="*/ 715979 w 2406556"/>
                <a:gd name="connsiteY5" fmla="*/ 2040997 h 2069758"/>
                <a:gd name="connsiteX6" fmla="*/ 1077486 w 2406556"/>
                <a:gd name="connsiteY6" fmla="*/ 2009099 h 2069758"/>
                <a:gd name="connsiteX0" fmla="*/ 2403187 w 2403187"/>
                <a:gd name="connsiteY0" fmla="*/ 1798798 h 2093373"/>
                <a:gd name="connsiteX1" fmla="*/ 1616377 w 2403187"/>
                <a:gd name="connsiteY1" fmla="*/ 257077 h 2093373"/>
                <a:gd name="connsiteX2" fmla="*/ 829569 w 2403187"/>
                <a:gd name="connsiteY2" fmla="*/ 23160 h 2093373"/>
                <a:gd name="connsiteX3" fmla="*/ 127820 w 2403187"/>
                <a:gd name="connsiteY3" fmla="*/ 512258 h 2093373"/>
                <a:gd name="connsiteX4" fmla="*/ 53392 w 2403187"/>
                <a:gd name="connsiteY4" fmla="*/ 1671207 h 2093373"/>
                <a:gd name="connsiteX5" fmla="*/ 712610 w 2403187"/>
                <a:gd name="connsiteY5" fmla="*/ 2064612 h 2093373"/>
                <a:gd name="connsiteX6" fmla="*/ 1074117 w 2403187"/>
                <a:gd name="connsiteY6" fmla="*/ 2032714 h 2093373"/>
                <a:gd name="connsiteX0" fmla="*/ 2318126 w 2318126"/>
                <a:gd name="connsiteY0" fmla="*/ 1809431 h 2093373"/>
                <a:gd name="connsiteX1" fmla="*/ 1616377 w 2318126"/>
                <a:gd name="connsiteY1" fmla="*/ 257077 h 2093373"/>
                <a:gd name="connsiteX2" fmla="*/ 829569 w 2318126"/>
                <a:gd name="connsiteY2" fmla="*/ 23160 h 2093373"/>
                <a:gd name="connsiteX3" fmla="*/ 127820 w 2318126"/>
                <a:gd name="connsiteY3" fmla="*/ 512258 h 2093373"/>
                <a:gd name="connsiteX4" fmla="*/ 53392 w 2318126"/>
                <a:gd name="connsiteY4" fmla="*/ 1671207 h 2093373"/>
                <a:gd name="connsiteX5" fmla="*/ 712610 w 2318126"/>
                <a:gd name="connsiteY5" fmla="*/ 2064612 h 2093373"/>
                <a:gd name="connsiteX6" fmla="*/ 1074117 w 2318126"/>
                <a:gd name="connsiteY6" fmla="*/ 2032714 h 2093373"/>
                <a:gd name="connsiteX0" fmla="*/ 2275596 w 2275596"/>
                <a:gd name="connsiteY0" fmla="*/ 1862594 h 2093373"/>
                <a:gd name="connsiteX1" fmla="*/ 1616377 w 2275596"/>
                <a:gd name="connsiteY1" fmla="*/ 257077 h 2093373"/>
                <a:gd name="connsiteX2" fmla="*/ 829569 w 2275596"/>
                <a:gd name="connsiteY2" fmla="*/ 23160 h 2093373"/>
                <a:gd name="connsiteX3" fmla="*/ 127820 w 2275596"/>
                <a:gd name="connsiteY3" fmla="*/ 512258 h 2093373"/>
                <a:gd name="connsiteX4" fmla="*/ 53392 w 2275596"/>
                <a:gd name="connsiteY4" fmla="*/ 1671207 h 2093373"/>
                <a:gd name="connsiteX5" fmla="*/ 712610 w 2275596"/>
                <a:gd name="connsiteY5" fmla="*/ 2064612 h 2093373"/>
                <a:gd name="connsiteX6" fmla="*/ 1074117 w 2275596"/>
                <a:gd name="connsiteY6" fmla="*/ 2032714 h 2093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75596" h="2093373">
                  <a:moveTo>
                    <a:pt x="2275596" y="1862594"/>
                  </a:moveTo>
                  <a:cubicBezTo>
                    <a:pt x="2089526" y="1637538"/>
                    <a:pt x="1866242" y="547700"/>
                    <a:pt x="1616377" y="257077"/>
                  </a:cubicBezTo>
                  <a:cubicBezTo>
                    <a:pt x="1366512" y="-33546"/>
                    <a:pt x="1077662" y="-19370"/>
                    <a:pt x="829569" y="23160"/>
                  </a:cubicBezTo>
                  <a:cubicBezTo>
                    <a:pt x="581476" y="65690"/>
                    <a:pt x="257183" y="237584"/>
                    <a:pt x="127820" y="512258"/>
                  </a:cubicBezTo>
                  <a:cubicBezTo>
                    <a:pt x="-1543" y="786932"/>
                    <a:pt x="-44073" y="1412481"/>
                    <a:pt x="53392" y="1671207"/>
                  </a:cubicBezTo>
                  <a:cubicBezTo>
                    <a:pt x="150857" y="1929933"/>
                    <a:pt x="542489" y="2004361"/>
                    <a:pt x="712610" y="2064612"/>
                  </a:cubicBezTo>
                  <a:cubicBezTo>
                    <a:pt x="882731" y="2124863"/>
                    <a:pt x="978424" y="2078788"/>
                    <a:pt x="1074117" y="2032714"/>
                  </a:cubicBezTo>
                </a:path>
              </a:pathLst>
            </a:cu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5" name="Freeform: Shape 14">
              <a:extLst>
                <a:ext uri="{FF2B5EF4-FFF2-40B4-BE49-F238E27FC236}">
                  <a16:creationId xmlns:a16="http://schemas.microsoft.com/office/drawing/2014/main" id="{73264A90-FA82-479E-ADC6-08D8D61D0C89}"/>
                </a:ext>
              </a:extLst>
            </p:cNvPr>
            <p:cNvSpPr/>
            <p:nvPr/>
          </p:nvSpPr>
          <p:spPr>
            <a:xfrm>
              <a:off x="5014773" y="531628"/>
              <a:ext cx="2195202" cy="2111245"/>
            </a:xfrm>
            <a:custGeom>
              <a:avLst/>
              <a:gdLst>
                <a:gd name="connsiteX0" fmla="*/ 3794 w 2195202"/>
                <a:gd name="connsiteY0" fmla="*/ 606056 h 2111245"/>
                <a:gd name="connsiteX1" fmla="*/ 120753 w 2195202"/>
                <a:gd name="connsiteY1" fmla="*/ 276446 h 2111245"/>
                <a:gd name="connsiteX2" fmla="*/ 801236 w 2195202"/>
                <a:gd name="connsiteY2" fmla="*/ 0 h 2111245"/>
                <a:gd name="connsiteX3" fmla="*/ 1683739 w 2195202"/>
                <a:gd name="connsiteY3" fmla="*/ 276446 h 2111245"/>
                <a:gd name="connsiteX4" fmla="*/ 2194101 w 2195202"/>
                <a:gd name="connsiteY4" fmla="*/ 1435395 h 2111245"/>
                <a:gd name="connsiteX5" fmla="*/ 1811329 w 2195202"/>
                <a:gd name="connsiteY5" fmla="*/ 2041451 h 2111245"/>
                <a:gd name="connsiteX6" fmla="*/ 1524250 w 2195202"/>
                <a:gd name="connsiteY6" fmla="*/ 2073349 h 2111245"/>
                <a:gd name="connsiteX0" fmla="*/ 3794 w 2195202"/>
                <a:gd name="connsiteY0" fmla="*/ 606056 h 2111245"/>
                <a:gd name="connsiteX1" fmla="*/ 120753 w 2195202"/>
                <a:gd name="connsiteY1" fmla="*/ 276446 h 2111245"/>
                <a:gd name="connsiteX2" fmla="*/ 801236 w 2195202"/>
                <a:gd name="connsiteY2" fmla="*/ 0 h 2111245"/>
                <a:gd name="connsiteX3" fmla="*/ 1683739 w 2195202"/>
                <a:gd name="connsiteY3" fmla="*/ 276446 h 2111245"/>
                <a:gd name="connsiteX4" fmla="*/ 2194101 w 2195202"/>
                <a:gd name="connsiteY4" fmla="*/ 1435395 h 2111245"/>
                <a:gd name="connsiteX5" fmla="*/ 1811329 w 2195202"/>
                <a:gd name="connsiteY5" fmla="*/ 2041451 h 2111245"/>
                <a:gd name="connsiteX6" fmla="*/ 1524250 w 2195202"/>
                <a:gd name="connsiteY6" fmla="*/ 2073349 h 2111245"/>
                <a:gd name="connsiteX0" fmla="*/ 3794 w 2195202"/>
                <a:gd name="connsiteY0" fmla="*/ 531628 h 2111245"/>
                <a:gd name="connsiteX1" fmla="*/ 120753 w 2195202"/>
                <a:gd name="connsiteY1" fmla="*/ 276446 h 2111245"/>
                <a:gd name="connsiteX2" fmla="*/ 801236 w 2195202"/>
                <a:gd name="connsiteY2" fmla="*/ 0 h 2111245"/>
                <a:gd name="connsiteX3" fmla="*/ 1683739 w 2195202"/>
                <a:gd name="connsiteY3" fmla="*/ 276446 h 2111245"/>
                <a:gd name="connsiteX4" fmla="*/ 2194101 w 2195202"/>
                <a:gd name="connsiteY4" fmla="*/ 1435395 h 2111245"/>
                <a:gd name="connsiteX5" fmla="*/ 1811329 w 2195202"/>
                <a:gd name="connsiteY5" fmla="*/ 2041451 h 2111245"/>
                <a:gd name="connsiteX6" fmla="*/ 1524250 w 2195202"/>
                <a:gd name="connsiteY6" fmla="*/ 2073349 h 2111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95202" h="2111245">
                  <a:moveTo>
                    <a:pt x="3794" y="531628"/>
                  </a:moveTo>
                  <a:cubicBezTo>
                    <a:pt x="-4180" y="417327"/>
                    <a:pt x="-12154" y="365051"/>
                    <a:pt x="120753" y="276446"/>
                  </a:cubicBezTo>
                  <a:cubicBezTo>
                    <a:pt x="253660" y="187841"/>
                    <a:pt x="540738" y="0"/>
                    <a:pt x="801236" y="0"/>
                  </a:cubicBezTo>
                  <a:cubicBezTo>
                    <a:pt x="1061734" y="0"/>
                    <a:pt x="1451595" y="37214"/>
                    <a:pt x="1683739" y="276446"/>
                  </a:cubicBezTo>
                  <a:cubicBezTo>
                    <a:pt x="1915883" y="515678"/>
                    <a:pt x="2172836" y="1141228"/>
                    <a:pt x="2194101" y="1435395"/>
                  </a:cubicBezTo>
                  <a:cubicBezTo>
                    <a:pt x="2215366" y="1729562"/>
                    <a:pt x="1922971" y="1935125"/>
                    <a:pt x="1811329" y="2041451"/>
                  </a:cubicBezTo>
                  <a:cubicBezTo>
                    <a:pt x="1699687" y="2147777"/>
                    <a:pt x="1611968" y="2110563"/>
                    <a:pt x="1524250" y="2073349"/>
                  </a:cubicBezTo>
                </a:path>
              </a:pathLst>
            </a:cu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6" name="Freeform: Shape 15">
              <a:extLst>
                <a:ext uri="{FF2B5EF4-FFF2-40B4-BE49-F238E27FC236}">
                  <a16:creationId xmlns:a16="http://schemas.microsoft.com/office/drawing/2014/main" id="{684A4ABE-BAE4-4927-9196-8301BCD5C301}"/>
                </a:ext>
              </a:extLst>
            </p:cNvPr>
            <p:cNvSpPr/>
            <p:nvPr/>
          </p:nvSpPr>
          <p:spPr>
            <a:xfrm>
              <a:off x="4120987" y="2275944"/>
              <a:ext cx="4342717" cy="3973271"/>
            </a:xfrm>
            <a:custGeom>
              <a:avLst/>
              <a:gdLst>
                <a:gd name="connsiteX0" fmla="*/ 120840 w 4780250"/>
                <a:gd name="connsiteY0" fmla="*/ 733661 h 4129960"/>
                <a:gd name="connsiteX1" fmla="*/ 195268 w 4780250"/>
                <a:gd name="connsiteY1" fmla="*/ 882517 h 4129960"/>
                <a:gd name="connsiteX2" fmla="*/ 88942 w 4780250"/>
                <a:gd name="connsiteY2" fmla="*/ 2222219 h 4129960"/>
                <a:gd name="connsiteX3" fmla="*/ 1683826 w 4780250"/>
                <a:gd name="connsiteY3" fmla="*/ 3891530 h 4129960"/>
                <a:gd name="connsiteX4" fmla="*/ 4118682 w 4780250"/>
                <a:gd name="connsiteY4" fmla="*/ 3923428 h 4129960"/>
                <a:gd name="connsiteX5" fmla="*/ 4777900 w 4780250"/>
                <a:gd name="connsiteY5" fmla="*/ 2052098 h 4129960"/>
                <a:gd name="connsiteX6" fmla="*/ 3969826 w 4780250"/>
                <a:gd name="connsiteY6" fmla="*/ 255196 h 4129960"/>
                <a:gd name="connsiteX7" fmla="*/ 3225547 w 4780250"/>
                <a:gd name="connsiteY7" fmla="*/ 53177 h 4129960"/>
                <a:gd name="connsiteX0" fmla="*/ 120840 w 4779195"/>
                <a:gd name="connsiteY0" fmla="*/ 690539 h 4086838"/>
                <a:gd name="connsiteX1" fmla="*/ 195268 w 4779195"/>
                <a:gd name="connsiteY1" fmla="*/ 839395 h 4086838"/>
                <a:gd name="connsiteX2" fmla="*/ 88942 w 4779195"/>
                <a:gd name="connsiteY2" fmla="*/ 2179097 h 4086838"/>
                <a:gd name="connsiteX3" fmla="*/ 1683826 w 4779195"/>
                <a:gd name="connsiteY3" fmla="*/ 3848408 h 4086838"/>
                <a:gd name="connsiteX4" fmla="*/ 4118682 w 4779195"/>
                <a:gd name="connsiteY4" fmla="*/ 3880306 h 4086838"/>
                <a:gd name="connsiteX5" fmla="*/ 4777900 w 4779195"/>
                <a:gd name="connsiteY5" fmla="*/ 2008976 h 4086838"/>
                <a:gd name="connsiteX6" fmla="*/ 4012356 w 4779195"/>
                <a:gd name="connsiteY6" fmla="*/ 541684 h 4086838"/>
                <a:gd name="connsiteX7" fmla="*/ 3225547 w 4779195"/>
                <a:gd name="connsiteY7" fmla="*/ 10055 h 4086838"/>
                <a:gd name="connsiteX0" fmla="*/ 195268 w 4779195"/>
                <a:gd name="connsiteY0" fmla="*/ 839395 h 4086838"/>
                <a:gd name="connsiteX1" fmla="*/ 88942 w 4779195"/>
                <a:gd name="connsiteY1" fmla="*/ 2179097 h 4086838"/>
                <a:gd name="connsiteX2" fmla="*/ 1683826 w 4779195"/>
                <a:gd name="connsiteY2" fmla="*/ 3848408 h 4086838"/>
                <a:gd name="connsiteX3" fmla="*/ 4118682 w 4779195"/>
                <a:gd name="connsiteY3" fmla="*/ 3880306 h 4086838"/>
                <a:gd name="connsiteX4" fmla="*/ 4777900 w 4779195"/>
                <a:gd name="connsiteY4" fmla="*/ 2008976 h 4086838"/>
                <a:gd name="connsiteX5" fmla="*/ 4012356 w 4779195"/>
                <a:gd name="connsiteY5" fmla="*/ 541684 h 4086838"/>
                <a:gd name="connsiteX6" fmla="*/ 3225547 w 4779195"/>
                <a:gd name="connsiteY6" fmla="*/ 10055 h 4086838"/>
                <a:gd name="connsiteX0" fmla="*/ 219840 w 4771869"/>
                <a:gd name="connsiteY0" fmla="*/ 658642 h 4086838"/>
                <a:gd name="connsiteX1" fmla="*/ 81616 w 4771869"/>
                <a:gd name="connsiteY1" fmla="*/ 2179097 h 4086838"/>
                <a:gd name="connsiteX2" fmla="*/ 1676500 w 4771869"/>
                <a:gd name="connsiteY2" fmla="*/ 3848408 h 4086838"/>
                <a:gd name="connsiteX3" fmla="*/ 4111356 w 4771869"/>
                <a:gd name="connsiteY3" fmla="*/ 3880306 h 4086838"/>
                <a:gd name="connsiteX4" fmla="*/ 4770574 w 4771869"/>
                <a:gd name="connsiteY4" fmla="*/ 2008976 h 4086838"/>
                <a:gd name="connsiteX5" fmla="*/ 4005030 w 4771869"/>
                <a:gd name="connsiteY5" fmla="*/ 541684 h 4086838"/>
                <a:gd name="connsiteX6" fmla="*/ 3218221 w 4771869"/>
                <a:gd name="connsiteY6" fmla="*/ 10055 h 4086838"/>
                <a:gd name="connsiteX0" fmla="*/ 449 w 4552478"/>
                <a:gd name="connsiteY0" fmla="*/ 658642 h 4077792"/>
                <a:gd name="connsiteX1" fmla="*/ 276894 w 4552478"/>
                <a:gd name="connsiteY1" fmla="*/ 2338585 h 4077792"/>
                <a:gd name="connsiteX2" fmla="*/ 1457109 w 4552478"/>
                <a:gd name="connsiteY2" fmla="*/ 3848408 h 4077792"/>
                <a:gd name="connsiteX3" fmla="*/ 3891965 w 4552478"/>
                <a:gd name="connsiteY3" fmla="*/ 3880306 h 4077792"/>
                <a:gd name="connsiteX4" fmla="*/ 4551183 w 4552478"/>
                <a:gd name="connsiteY4" fmla="*/ 2008976 h 4077792"/>
                <a:gd name="connsiteX5" fmla="*/ 3785639 w 4552478"/>
                <a:gd name="connsiteY5" fmla="*/ 541684 h 4077792"/>
                <a:gd name="connsiteX6" fmla="*/ 2998830 w 4552478"/>
                <a:gd name="connsiteY6" fmla="*/ 10055 h 4077792"/>
                <a:gd name="connsiteX0" fmla="*/ 4445 w 4556091"/>
                <a:gd name="connsiteY0" fmla="*/ 658642 h 4005308"/>
                <a:gd name="connsiteX1" fmla="*/ 280890 w 4556091"/>
                <a:gd name="connsiteY1" fmla="*/ 2338585 h 4005308"/>
                <a:gd name="connsiteX2" fmla="*/ 1939570 w 4556091"/>
                <a:gd name="connsiteY2" fmla="*/ 3667654 h 4005308"/>
                <a:gd name="connsiteX3" fmla="*/ 3895961 w 4556091"/>
                <a:gd name="connsiteY3" fmla="*/ 3880306 h 4005308"/>
                <a:gd name="connsiteX4" fmla="*/ 4555179 w 4556091"/>
                <a:gd name="connsiteY4" fmla="*/ 2008976 h 4005308"/>
                <a:gd name="connsiteX5" fmla="*/ 3789635 w 4556091"/>
                <a:gd name="connsiteY5" fmla="*/ 541684 h 4005308"/>
                <a:gd name="connsiteX6" fmla="*/ 3002826 w 4556091"/>
                <a:gd name="connsiteY6" fmla="*/ 10055 h 4005308"/>
                <a:gd name="connsiteX0" fmla="*/ 4445 w 4555291"/>
                <a:gd name="connsiteY0" fmla="*/ 658642 h 3980358"/>
                <a:gd name="connsiteX1" fmla="*/ 280890 w 4555291"/>
                <a:gd name="connsiteY1" fmla="*/ 2338585 h 3980358"/>
                <a:gd name="connsiteX2" fmla="*/ 1939570 w 4555291"/>
                <a:gd name="connsiteY2" fmla="*/ 3667654 h 3980358"/>
                <a:gd name="connsiteX3" fmla="*/ 3736472 w 4555291"/>
                <a:gd name="connsiteY3" fmla="*/ 3848408 h 3980358"/>
                <a:gd name="connsiteX4" fmla="*/ 4555179 w 4555291"/>
                <a:gd name="connsiteY4" fmla="*/ 2008976 h 3980358"/>
                <a:gd name="connsiteX5" fmla="*/ 3789635 w 4555291"/>
                <a:gd name="connsiteY5" fmla="*/ 541684 h 3980358"/>
                <a:gd name="connsiteX6" fmla="*/ 3002826 w 4555291"/>
                <a:gd name="connsiteY6" fmla="*/ 10055 h 3980358"/>
                <a:gd name="connsiteX0" fmla="*/ 4445 w 4342717"/>
                <a:gd name="connsiteY0" fmla="*/ 658642 h 3973271"/>
                <a:gd name="connsiteX1" fmla="*/ 280890 w 4342717"/>
                <a:gd name="connsiteY1" fmla="*/ 2338585 h 3973271"/>
                <a:gd name="connsiteX2" fmla="*/ 1939570 w 4342717"/>
                <a:gd name="connsiteY2" fmla="*/ 3667654 h 3973271"/>
                <a:gd name="connsiteX3" fmla="*/ 3736472 w 4342717"/>
                <a:gd name="connsiteY3" fmla="*/ 3848408 h 3973271"/>
                <a:gd name="connsiteX4" fmla="*/ 4342528 w 4342717"/>
                <a:gd name="connsiteY4" fmla="*/ 2104670 h 3973271"/>
                <a:gd name="connsiteX5" fmla="*/ 3789635 w 4342717"/>
                <a:gd name="connsiteY5" fmla="*/ 541684 h 3973271"/>
                <a:gd name="connsiteX6" fmla="*/ 3002826 w 4342717"/>
                <a:gd name="connsiteY6" fmla="*/ 10055 h 3973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42717" h="3973271">
                  <a:moveTo>
                    <a:pt x="4445" y="658642"/>
                  </a:moveTo>
                  <a:cubicBezTo>
                    <a:pt x="-871" y="906735"/>
                    <a:pt x="-41631" y="1837083"/>
                    <a:pt x="280890" y="2338585"/>
                  </a:cubicBezTo>
                  <a:cubicBezTo>
                    <a:pt x="603411" y="2840087"/>
                    <a:pt x="1363640" y="3416017"/>
                    <a:pt x="1939570" y="3667654"/>
                  </a:cubicBezTo>
                  <a:cubicBezTo>
                    <a:pt x="2515500" y="3919291"/>
                    <a:pt x="3335979" y="4108905"/>
                    <a:pt x="3736472" y="3848408"/>
                  </a:cubicBezTo>
                  <a:cubicBezTo>
                    <a:pt x="4136965" y="3587911"/>
                    <a:pt x="4333668" y="2655791"/>
                    <a:pt x="4342528" y="2104670"/>
                  </a:cubicBezTo>
                  <a:cubicBezTo>
                    <a:pt x="4351388" y="1553549"/>
                    <a:pt x="4048360" y="874837"/>
                    <a:pt x="3789635" y="541684"/>
                  </a:cubicBezTo>
                  <a:cubicBezTo>
                    <a:pt x="3530910" y="208531"/>
                    <a:pt x="3245603" y="-55512"/>
                    <a:pt x="3002826" y="10055"/>
                  </a:cubicBezTo>
                </a:path>
              </a:pathLst>
            </a:cu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grpSp>
      <mc:AlternateContent xmlns:mc="http://schemas.openxmlformats.org/markup-compatibility/2006" xmlns:p14="http://schemas.microsoft.com/office/powerpoint/2010/main">
        <mc:Choice Requires="p14">
          <p:contentPart p14:bwMode="auto" r:id="rId4">
            <p14:nvContentPartPr>
              <p14:cNvPr id="99" name="Ink 98">
                <a:extLst>
                  <a:ext uri="{FF2B5EF4-FFF2-40B4-BE49-F238E27FC236}">
                    <a16:creationId xmlns:a16="http://schemas.microsoft.com/office/drawing/2014/main" id="{DF3E3FB8-E611-A14B-8753-69880EDFF458}"/>
                  </a:ext>
                </a:extLst>
              </p14:cNvPr>
              <p14:cNvContentPartPr/>
              <p14:nvPr/>
            </p14:nvContentPartPr>
            <p14:xfrm>
              <a:off x="5509791" y="2989474"/>
              <a:ext cx="67030" cy="76222"/>
            </p14:xfrm>
          </p:contentPart>
        </mc:Choice>
        <mc:Fallback xmlns="">
          <p:pic>
            <p:nvPicPr>
              <p:cNvPr id="99" name="Ink 98">
                <a:extLst>
                  <a:ext uri="{FF2B5EF4-FFF2-40B4-BE49-F238E27FC236}">
                    <a16:creationId xmlns:a16="http://schemas.microsoft.com/office/drawing/2014/main" id="{DF3E3FB8-E611-A14B-8753-69880EDFF458}"/>
                  </a:ext>
                </a:extLst>
              </p:cNvPr>
              <p:cNvPicPr/>
              <p:nvPr/>
            </p:nvPicPr>
            <p:blipFill>
              <a:blip r:embed="rId5"/>
              <a:stretch>
                <a:fillRect/>
              </a:stretch>
            </p:blipFill>
            <p:spPr>
              <a:xfrm>
                <a:off x="5447062" y="2926555"/>
                <a:ext cx="192129" cy="201701"/>
              </a:xfrm>
              <a:prstGeom prst="rect">
                <a:avLst/>
              </a:prstGeom>
            </p:spPr>
          </p:pic>
        </mc:Fallback>
      </mc:AlternateContent>
      <p:sp>
        <p:nvSpPr>
          <p:cNvPr id="22" name="TextBox 21">
            <a:extLst>
              <a:ext uri="{FF2B5EF4-FFF2-40B4-BE49-F238E27FC236}">
                <a16:creationId xmlns:a16="http://schemas.microsoft.com/office/drawing/2014/main" id="{43F9A5F9-79FE-48E7-90D6-A3FEF209211C}"/>
              </a:ext>
            </a:extLst>
          </p:cNvPr>
          <p:cNvSpPr txBox="1"/>
          <p:nvPr/>
        </p:nvSpPr>
        <p:spPr>
          <a:xfrm>
            <a:off x="4081734" y="1777648"/>
            <a:ext cx="637388" cy="532252"/>
          </a:xfrm>
          <a:prstGeom prst="rect">
            <a:avLst/>
          </a:prstGeom>
          <a:noFill/>
        </p:spPr>
        <p:txBody>
          <a:bodyPr wrap="square" rtlCol="0">
            <a:spAutoFit/>
          </a:bodyPr>
          <a:lstStyle/>
          <a:p>
            <a:r>
              <a:rPr lang="en-US" sz="3200" dirty="0"/>
              <a:t>SA</a:t>
            </a:r>
          </a:p>
        </p:txBody>
      </p:sp>
      <p:sp>
        <p:nvSpPr>
          <p:cNvPr id="45" name="TextBox 44">
            <a:extLst>
              <a:ext uri="{FF2B5EF4-FFF2-40B4-BE49-F238E27FC236}">
                <a16:creationId xmlns:a16="http://schemas.microsoft.com/office/drawing/2014/main" id="{60F92D45-5A0C-4E62-85C5-369D06BAF6EE}"/>
              </a:ext>
            </a:extLst>
          </p:cNvPr>
          <p:cNvSpPr txBox="1"/>
          <p:nvPr/>
        </p:nvSpPr>
        <p:spPr>
          <a:xfrm>
            <a:off x="5703629" y="2684032"/>
            <a:ext cx="637388" cy="532252"/>
          </a:xfrm>
          <a:prstGeom prst="rect">
            <a:avLst/>
          </a:prstGeom>
          <a:noFill/>
        </p:spPr>
        <p:txBody>
          <a:bodyPr wrap="square" rtlCol="0">
            <a:spAutoFit/>
          </a:bodyPr>
          <a:lstStyle/>
          <a:p>
            <a:r>
              <a:rPr lang="en-US" sz="3200" dirty="0"/>
              <a:t>AV</a:t>
            </a:r>
          </a:p>
        </p:txBody>
      </p:sp>
      <p:grpSp>
        <p:nvGrpSpPr>
          <p:cNvPr id="28" name="Group 27">
            <a:extLst>
              <a:ext uri="{FF2B5EF4-FFF2-40B4-BE49-F238E27FC236}">
                <a16:creationId xmlns:a16="http://schemas.microsoft.com/office/drawing/2014/main" id="{2CFB0B5E-C965-4027-8953-F006E8D995BA}"/>
              </a:ext>
            </a:extLst>
          </p:cNvPr>
          <p:cNvGrpSpPr/>
          <p:nvPr/>
        </p:nvGrpSpPr>
        <p:grpSpPr>
          <a:xfrm>
            <a:off x="5361379" y="1389686"/>
            <a:ext cx="1202108" cy="1301630"/>
            <a:chOff x="5361379" y="1389686"/>
            <a:chExt cx="1202108" cy="1301630"/>
          </a:xfrm>
        </p:grpSpPr>
        <p:sp>
          <p:nvSpPr>
            <p:cNvPr id="23" name="Freeform: Shape 22">
              <a:extLst>
                <a:ext uri="{FF2B5EF4-FFF2-40B4-BE49-F238E27FC236}">
                  <a16:creationId xmlns:a16="http://schemas.microsoft.com/office/drawing/2014/main" id="{705B4774-F88F-4B0E-8F14-E4D642445ED6}"/>
                </a:ext>
              </a:extLst>
            </p:cNvPr>
            <p:cNvSpPr/>
            <p:nvPr/>
          </p:nvSpPr>
          <p:spPr>
            <a:xfrm>
              <a:off x="5361379" y="1547505"/>
              <a:ext cx="237640" cy="212843"/>
            </a:xfrm>
            <a:custGeom>
              <a:avLst/>
              <a:gdLst>
                <a:gd name="connsiteX0" fmla="*/ 86476 w 381053"/>
                <a:gd name="connsiteY0" fmla="*/ 86890 h 315774"/>
                <a:gd name="connsiteX1" fmla="*/ 12049 w 381053"/>
                <a:gd name="connsiteY1" fmla="*/ 267644 h 315774"/>
                <a:gd name="connsiteX2" fmla="*/ 309760 w 381053"/>
                <a:gd name="connsiteY2" fmla="*/ 299542 h 315774"/>
                <a:gd name="connsiteX3" fmla="*/ 373556 w 381053"/>
                <a:gd name="connsiteY3" fmla="*/ 44360 h 315774"/>
                <a:gd name="connsiteX4" fmla="*/ 182169 w 381053"/>
                <a:gd name="connsiteY4" fmla="*/ 1830 h 315774"/>
                <a:gd name="connsiteX0" fmla="*/ 25146 w 442490"/>
                <a:gd name="connsiteY0" fmla="*/ 103823 h 315228"/>
                <a:gd name="connsiteX1" fmla="*/ 73486 w 442490"/>
                <a:gd name="connsiteY1" fmla="*/ 267644 h 315228"/>
                <a:gd name="connsiteX2" fmla="*/ 371197 w 442490"/>
                <a:gd name="connsiteY2" fmla="*/ 299542 h 315228"/>
                <a:gd name="connsiteX3" fmla="*/ 434993 w 442490"/>
                <a:gd name="connsiteY3" fmla="*/ 44360 h 315228"/>
                <a:gd name="connsiteX4" fmla="*/ 243606 w 442490"/>
                <a:gd name="connsiteY4" fmla="*/ 1830 h 315228"/>
                <a:gd name="connsiteX0" fmla="*/ 8275 w 425619"/>
                <a:gd name="connsiteY0" fmla="*/ 103823 h 315228"/>
                <a:gd name="connsiteX1" fmla="*/ 56615 w 425619"/>
                <a:gd name="connsiteY1" fmla="*/ 267644 h 315228"/>
                <a:gd name="connsiteX2" fmla="*/ 354326 w 425619"/>
                <a:gd name="connsiteY2" fmla="*/ 299542 h 315228"/>
                <a:gd name="connsiteX3" fmla="*/ 418122 w 425619"/>
                <a:gd name="connsiteY3" fmla="*/ 44360 h 315228"/>
                <a:gd name="connsiteX4" fmla="*/ 226735 w 425619"/>
                <a:gd name="connsiteY4" fmla="*/ 1830 h 315228"/>
                <a:gd name="connsiteX0" fmla="*/ 3381 w 419816"/>
                <a:gd name="connsiteY0" fmla="*/ 103823 h 328880"/>
                <a:gd name="connsiteX1" fmla="*/ 98287 w 419816"/>
                <a:gd name="connsiteY1" fmla="*/ 301511 h 328880"/>
                <a:gd name="connsiteX2" fmla="*/ 349432 w 419816"/>
                <a:gd name="connsiteY2" fmla="*/ 299542 h 328880"/>
                <a:gd name="connsiteX3" fmla="*/ 413228 w 419816"/>
                <a:gd name="connsiteY3" fmla="*/ 44360 h 328880"/>
                <a:gd name="connsiteX4" fmla="*/ 221841 w 419816"/>
                <a:gd name="connsiteY4" fmla="*/ 1830 h 328880"/>
                <a:gd name="connsiteX0" fmla="*/ 3381 w 398069"/>
                <a:gd name="connsiteY0" fmla="*/ 102364 h 325789"/>
                <a:gd name="connsiteX1" fmla="*/ 98287 w 398069"/>
                <a:gd name="connsiteY1" fmla="*/ 300052 h 325789"/>
                <a:gd name="connsiteX2" fmla="*/ 349432 w 398069"/>
                <a:gd name="connsiteY2" fmla="*/ 298083 h 325789"/>
                <a:gd name="connsiteX3" fmla="*/ 387828 w 398069"/>
                <a:gd name="connsiteY3" fmla="*/ 68301 h 325789"/>
                <a:gd name="connsiteX4" fmla="*/ 221841 w 398069"/>
                <a:gd name="connsiteY4" fmla="*/ 371 h 325789"/>
                <a:gd name="connsiteX0" fmla="*/ 10279 w 341467"/>
                <a:gd name="connsiteY0" fmla="*/ 93897 h 326314"/>
                <a:gd name="connsiteX1" fmla="*/ 41685 w 341467"/>
                <a:gd name="connsiteY1" fmla="*/ 300052 h 326314"/>
                <a:gd name="connsiteX2" fmla="*/ 292830 w 341467"/>
                <a:gd name="connsiteY2" fmla="*/ 298083 h 326314"/>
                <a:gd name="connsiteX3" fmla="*/ 331226 w 341467"/>
                <a:gd name="connsiteY3" fmla="*/ 68301 h 326314"/>
                <a:gd name="connsiteX4" fmla="*/ 165239 w 341467"/>
                <a:gd name="connsiteY4" fmla="*/ 371 h 326314"/>
                <a:gd name="connsiteX0" fmla="*/ 4606 w 334698"/>
                <a:gd name="connsiteY0" fmla="*/ 93897 h 326314"/>
                <a:gd name="connsiteX1" fmla="*/ 69879 w 334698"/>
                <a:gd name="connsiteY1" fmla="*/ 300052 h 326314"/>
                <a:gd name="connsiteX2" fmla="*/ 287157 w 334698"/>
                <a:gd name="connsiteY2" fmla="*/ 298083 h 326314"/>
                <a:gd name="connsiteX3" fmla="*/ 325553 w 334698"/>
                <a:gd name="connsiteY3" fmla="*/ 68301 h 326314"/>
                <a:gd name="connsiteX4" fmla="*/ 159566 w 334698"/>
                <a:gd name="connsiteY4" fmla="*/ 371 h 326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4698" h="326314">
                  <a:moveTo>
                    <a:pt x="4606" y="93897"/>
                  </a:moveTo>
                  <a:cubicBezTo>
                    <a:pt x="-13115" y="238520"/>
                    <a:pt x="22787" y="266021"/>
                    <a:pt x="69879" y="300052"/>
                  </a:cubicBezTo>
                  <a:cubicBezTo>
                    <a:pt x="116971" y="334083"/>
                    <a:pt x="244545" y="336708"/>
                    <a:pt x="287157" y="298083"/>
                  </a:cubicBezTo>
                  <a:cubicBezTo>
                    <a:pt x="329769" y="259458"/>
                    <a:pt x="346818" y="117920"/>
                    <a:pt x="325553" y="68301"/>
                  </a:cubicBezTo>
                  <a:cubicBezTo>
                    <a:pt x="304288" y="18682"/>
                    <a:pt x="244627" y="-3174"/>
                    <a:pt x="159566" y="371"/>
                  </a:cubicBezTo>
                </a:path>
              </a:pathLst>
            </a:custGeom>
            <a:noFill/>
            <a:ln>
              <a:solidFill>
                <a:schemeClr val="accent2"/>
              </a:solidFill>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Shape 46">
              <a:extLst>
                <a:ext uri="{FF2B5EF4-FFF2-40B4-BE49-F238E27FC236}">
                  <a16:creationId xmlns:a16="http://schemas.microsoft.com/office/drawing/2014/main" id="{ABB47720-91A3-41A7-B925-118A39164336}"/>
                </a:ext>
              </a:extLst>
            </p:cNvPr>
            <p:cNvSpPr/>
            <p:nvPr/>
          </p:nvSpPr>
          <p:spPr>
            <a:xfrm>
              <a:off x="5838978" y="1389686"/>
              <a:ext cx="237640" cy="212843"/>
            </a:xfrm>
            <a:custGeom>
              <a:avLst/>
              <a:gdLst>
                <a:gd name="connsiteX0" fmla="*/ 86476 w 381053"/>
                <a:gd name="connsiteY0" fmla="*/ 86890 h 315774"/>
                <a:gd name="connsiteX1" fmla="*/ 12049 w 381053"/>
                <a:gd name="connsiteY1" fmla="*/ 267644 h 315774"/>
                <a:gd name="connsiteX2" fmla="*/ 309760 w 381053"/>
                <a:gd name="connsiteY2" fmla="*/ 299542 h 315774"/>
                <a:gd name="connsiteX3" fmla="*/ 373556 w 381053"/>
                <a:gd name="connsiteY3" fmla="*/ 44360 h 315774"/>
                <a:gd name="connsiteX4" fmla="*/ 182169 w 381053"/>
                <a:gd name="connsiteY4" fmla="*/ 1830 h 315774"/>
                <a:gd name="connsiteX0" fmla="*/ 25146 w 442490"/>
                <a:gd name="connsiteY0" fmla="*/ 103823 h 315228"/>
                <a:gd name="connsiteX1" fmla="*/ 73486 w 442490"/>
                <a:gd name="connsiteY1" fmla="*/ 267644 h 315228"/>
                <a:gd name="connsiteX2" fmla="*/ 371197 w 442490"/>
                <a:gd name="connsiteY2" fmla="*/ 299542 h 315228"/>
                <a:gd name="connsiteX3" fmla="*/ 434993 w 442490"/>
                <a:gd name="connsiteY3" fmla="*/ 44360 h 315228"/>
                <a:gd name="connsiteX4" fmla="*/ 243606 w 442490"/>
                <a:gd name="connsiteY4" fmla="*/ 1830 h 315228"/>
                <a:gd name="connsiteX0" fmla="*/ 8275 w 425619"/>
                <a:gd name="connsiteY0" fmla="*/ 103823 h 315228"/>
                <a:gd name="connsiteX1" fmla="*/ 56615 w 425619"/>
                <a:gd name="connsiteY1" fmla="*/ 267644 h 315228"/>
                <a:gd name="connsiteX2" fmla="*/ 354326 w 425619"/>
                <a:gd name="connsiteY2" fmla="*/ 299542 h 315228"/>
                <a:gd name="connsiteX3" fmla="*/ 418122 w 425619"/>
                <a:gd name="connsiteY3" fmla="*/ 44360 h 315228"/>
                <a:gd name="connsiteX4" fmla="*/ 226735 w 425619"/>
                <a:gd name="connsiteY4" fmla="*/ 1830 h 315228"/>
                <a:gd name="connsiteX0" fmla="*/ 3381 w 419816"/>
                <a:gd name="connsiteY0" fmla="*/ 103823 h 328880"/>
                <a:gd name="connsiteX1" fmla="*/ 98287 w 419816"/>
                <a:gd name="connsiteY1" fmla="*/ 301511 h 328880"/>
                <a:gd name="connsiteX2" fmla="*/ 349432 w 419816"/>
                <a:gd name="connsiteY2" fmla="*/ 299542 h 328880"/>
                <a:gd name="connsiteX3" fmla="*/ 413228 w 419816"/>
                <a:gd name="connsiteY3" fmla="*/ 44360 h 328880"/>
                <a:gd name="connsiteX4" fmla="*/ 221841 w 419816"/>
                <a:gd name="connsiteY4" fmla="*/ 1830 h 328880"/>
                <a:gd name="connsiteX0" fmla="*/ 3381 w 398069"/>
                <a:gd name="connsiteY0" fmla="*/ 102364 h 325789"/>
                <a:gd name="connsiteX1" fmla="*/ 98287 w 398069"/>
                <a:gd name="connsiteY1" fmla="*/ 300052 h 325789"/>
                <a:gd name="connsiteX2" fmla="*/ 349432 w 398069"/>
                <a:gd name="connsiteY2" fmla="*/ 298083 h 325789"/>
                <a:gd name="connsiteX3" fmla="*/ 387828 w 398069"/>
                <a:gd name="connsiteY3" fmla="*/ 68301 h 325789"/>
                <a:gd name="connsiteX4" fmla="*/ 221841 w 398069"/>
                <a:gd name="connsiteY4" fmla="*/ 371 h 325789"/>
                <a:gd name="connsiteX0" fmla="*/ 10279 w 341467"/>
                <a:gd name="connsiteY0" fmla="*/ 93897 h 326314"/>
                <a:gd name="connsiteX1" fmla="*/ 41685 w 341467"/>
                <a:gd name="connsiteY1" fmla="*/ 300052 h 326314"/>
                <a:gd name="connsiteX2" fmla="*/ 292830 w 341467"/>
                <a:gd name="connsiteY2" fmla="*/ 298083 h 326314"/>
                <a:gd name="connsiteX3" fmla="*/ 331226 w 341467"/>
                <a:gd name="connsiteY3" fmla="*/ 68301 h 326314"/>
                <a:gd name="connsiteX4" fmla="*/ 165239 w 341467"/>
                <a:gd name="connsiteY4" fmla="*/ 371 h 326314"/>
                <a:gd name="connsiteX0" fmla="*/ 4606 w 334698"/>
                <a:gd name="connsiteY0" fmla="*/ 93897 h 326314"/>
                <a:gd name="connsiteX1" fmla="*/ 69879 w 334698"/>
                <a:gd name="connsiteY1" fmla="*/ 300052 h 326314"/>
                <a:gd name="connsiteX2" fmla="*/ 287157 w 334698"/>
                <a:gd name="connsiteY2" fmla="*/ 298083 h 326314"/>
                <a:gd name="connsiteX3" fmla="*/ 325553 w 334698"/>
                <a:gd name="connsiteY3" fmla="*/ 68301 h 326314"/>
                <a:gd name="connsiteX4" fmla="*/ 159566 w 334698"/>
                <a:gd name="connsiteY4" fmla="*/ 371 h 326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4698" h="326314">
                  <a:moveTo>
                    <a:pt x="4606" y="93897"/>
                  </a:moveTo>
                  <a:cubicBezTo>
                    <a:pt x="-13115" y="238520"/>
                    <a:pt x="22787" y="266021"/>
                    <a:pt x="69879" y="300052"/>
                  </a:cubicBezTo>
                  <a:cubicBezTo>
                    <a:pt x="116971" y="334083"/>
                    <a:pt x="244545" y="336708"/>
                    <a:pt x="287157" y="298083"/>
                  </a:cubicBezTo>
                  <a:cubicBezTo>
                    <a:pt x="329769" y="259458"/>
                    <a:pt x="346818" y="117920"/>
                    <a:pt x="325553" y="68301"/>
                  </a:cubicBezTo>
                  <a:cubicBezTo>
                    <a:pt x="304288" y="18682"/>
                    <a:pt x="244627" y="-3174"/>
                    <a:pt x="159566" y="371"/>
                  </a:cubicBezTo>
                </a:path>
              </a:pathLst>
            </a:custGeom>
            <a:noFill/>
            <a:ln>
              <a:solidFill>
                <a:schemeClr val="accent2"/>
              </a:solidFill>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Freeform: Shape 47">
              <a:extLst>
                <a:ext uri="{FF2B5EF4-FFF2-40B4-BE49-F238E27FC236}">
                  <a16:creationId xmlns:a16="http://schemas.microsoft.com/office/drawing/2014/main" id="{FA838001-D3E7-421D-A40D-BBCF01D35778}"/>
                </a:ext>
              </a:extLst>
            </p:cNvPr>
            <p:cNvSpPr/>
            <p:nvPr/>
          </p:nvSpPr>
          <p:spPr>
            <a:xfrm>
              <a:off x="5444711" y="1916303"/>
              <a:ext cx="237640" cy="212843"/>
            </a:xfrm>
            <a:custGeom>
              <a:avLst/>
              <a:gdLst>
                <a:gd name="connsiteX0" fmla="*/ 86476 w 381053"/>
                <a:gd name="connsiteY0" fmla="*/ 86890 h 315774"/>
                <a:gd name="connsiteX1" fmla="*/ 12049 w 381053"/>
                <a:gd name="connsiteY1" fmla="*/ 267644 h 315774"/>
                <a:gd name="connsiteX2" fmla="*/ 309760 w 381053"/>
                <a:gd name="connsiteY2" fmla="*/ 299542 h 315774"/>
                <a:gd name="connsiteX3" fmla="*/ 373556 w 381053"/>
                <a:gd name="connsiteY3" fmla="*/ 44360 h 315774"/>
                <a:gd name="connsiteX4" fmla="*/ 182169 w 381053"/>
                <a:gd name="connsiteY4" fmla="*/ 1830 h 315774"/>
                <a:gd name="connsiteX0" fmla="*/ 25146 w 442490"/>
                <a:gd name="connsiteY0" fmla="*/ 103823 h 315228"/>
                <a:gd name="connsiteX1" fmla="*/ 73486 w 442490"/>
                <a:gd name="connsiteY1" fmla="*/ 267644 h 315228"/>
                <a:gd name="connsiteX2" fmla="*/ 371197 w 442490"/>
                <a:gd name="connsiteY2" fmla="*/ 299542 h 315228"/>
                <a:gd name="connsiteX3" fmla="*/ 434993 w 442490"/>
                <a:gd name="connsiteY3" fmla="*/ 44360 h 315228"/>
                <a:gd name="connsiteX4" fmla="*/ 243606 w 442490"/>
                <a:gd name="connsiteY4" fmla="*/ 1830 h 315228"/>
                <a:gd name="connsiteX0" fmla="*/ 8275 w 425619"/>
                <a:gd name="connsiteY0" fmla="*/ 103823 h 315228"/>
                <a:gd name="connsiteX1" fmla="*/ 56615 w 425619"/>
                <a:gd name="connsiteY1" fmla="*/ 267644 h 315228"/>
                <a:gd name="connsiteX2" fmla="*/ 354326 w 425619"/>
                <a:gd name="connsiteY2" fmla="*/ 299542 h 315228"/>
                <a:gd name="connsiteX3" fmla="*/ 418122 w 425619"/>
                <a:gd name="connsiteY3" fmla="*/ 44360 h 315228"/>
                <a:gd name="connsiteX4" fmla="*/ 226735 w 425619"/>
                <a:gd name="connsiteY4" fmla="*/ 1830 h 315228"/>
                <a:gd name="connsiteX0" fmla="*/ 3381 w 419816"/>
                <a:gd name="connsiteY0" fmla="*/ 103823 h 328880"/>
                <a:gd name="connsiteX1" fmla="*/ 98287 w 419816"/>
                <a:gd name="connsiteY1" fmla="*/ 301511 h 328880"/>
                <a:gd name="connsiteX2" fmla="*/ 349432 w 419816"/>
                <a:gd name="connsiteY2" fmla="*/ 299542 h 328880"/>
                <a:gd name="connsiteX3" fmla="*/ 413228 w 419816"/>
                <a:gd name="connsiteY3" fmla="*/ 44360 h 328880"/>
                <a:gd name="connsiteX4" fmla="*/ 221841 w 419816"/>
                <a:gd name="connsiteY4" fmla="*/ 1830 h 328880"/>
                <a:gd name="connsiteX0" fmla="*/ 3381 w 398069"/>
                <a:gd name="connsiteY0" fmla="*/ 102364 h 325789"/>
                <a:gd name="connsiteX1" fmla="*/ 98287 w 398069"/>
                <a:gd name="connsiteY1" fmla="*/ 300052 h 325789"/>
                <a:gd name="connsiteX2" fmla="*/ 349432 w 398069"/>
                <a:gd name="connsiteY2" fmla="*/ 298083 h 325789"/>
                <a:gd name="connsiteX3" fmla="*/ 387828 w 398069"/>
                <a:gd name="connsiteY3" fmla="*/ 68301 h 325789"/>
                <a:gd name="connsiteX4" fmla="*/ 221841 w 398069"/>
                <a:gd name="connsiteY4" fmla="*/ 371 h 325789"/>
                <a:gd name="connsiteX0" fmla="*/ 10279 w 341467"/>
                <a:gd name="connsiteY0" fmla="*/ 93897 h 326314"/>
                <a:gd name="connsiteX1" fmla="*/ 41685 w 341467"/>
                <a:gd name="connsiteY1" fmla="*/ 300052 h 326314"/>
                <a:gd name="connsiteX2" fmla="*/ 292830 w 341467"/>
                <a:gd name="connsiteY2" fmla="*/ 298083 h 326314"/>
                <a:gd name="connsiteX3" fmla="*/ 331226 w 341467"/>
                <a:gd name="connsiteY3" fmla="*/ 68301 h 326314"/>
                <a:gd name="connsiteX4" fmla="*/ 165239 w 341467"/>
                <a:gd name="connsiteY4" fmla="*/ 371 h 326314"/>
                <a:gd name="connsiteX0" fmla="*/ 4606 w 334698"/>
                <a:gd name="connsiteY0" fmla="*/ 93897 h 326314"/>
                <a:gd name="connsiteX1" fmla="*/ 69879 w 334698"/>
                <a:gd name="connsiteY1" fmla="*/ 300052 h 326314"/>
                <a:gd name="connsiteX2" fmla="*/ 287157 w 334698"/>
                <a:gd name="connsiteY2" fmla="*/ 298083 h 326314"/>
                <a:gd name="connsiteX3" fmla="*/ 325553 w 334698"/>
                <a:gd name="connsiteY3" fmla="*/ 68301 h 326314"/>
                <a:gd name="connsiteX4" fmla="*/ 159566 w 334698"/>
                <a:gd name="connsiteY4" fmla="*/ 371 h 326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4698" h="326314">
                  <a:moveTo>
                    <a:pt x="4606" y="93897"/>
                  </a:moveTo>
                  <a:cubicBezTo>
                    <a:pt x="-13115" y="238520"/>
                    <a:pt x="22787" y="266021"/>
                    <a:pt x="69879" y="300052"/>
                  </a:cubicBezTo>
                  <a:cubicBezTo>
                    <a:pt x="116971" y="334083"/>
                    <a:pt x="244545" y="336708"/>
                    <a:pt x="287157" y="298083"/>
                  </a:cubicBezTo>
                  <a:cubicBezTo>
                    <a:pt x="329769" y="259458"/>
                    <a:pt x="346818" y="117920"/>
                    <a:pt x="325553" y="68301"/>
                  </a:cubicBezTo>
                  <a:cubicBezTo>
                    <a:pt x="304288" y="18682"/>
                    <a:pt x="244627" y="-3174"/>
                    <a:pt x="159566" y="371"/>
                  </a:cubicBezTo>
                </a:path>
              </a:pathLst>
            </a:custGeom>
            <a:noFill/>
            <a:ln>
              <a:solidFill>
                <a:schemeClr val="accent2"/>
              </a:solidFill>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Freeform: Shape 48">
              <a:extLst>
                <a:ext uri="{FF2B5EF4-FFF2-40B4-BE49-F238E27FC236}">
                  <a16:creationId xmlns:a16="http://schemas.microsoft.com/office/drawing/2014/main" id="{BAB2A2A1-C39F-4AF7-9C12-6BD62737EC0D}"/>
                </a:ext>
              </a:extLst>
            </p:cNvPr>
            <p:cNvSpPr/>
            <p:nvPr/>
          </p:nvSpPr>
          <p:spPr>
            <a:xfrm>
              <a:off x="5973150" y="1732878"/>
              <a:ext cx="237640" cy="212843"/>
            </a:xfrm>
            <a:custGeom>
              <a:avLst/>
              <a:gdLst>
                <a:gd name="connsiteX0" fmla="*/ 86476 w 381053"/>
                <a:gd name="connsiteY0" fmla="*/ 86890 h 315774"/>
                <a:gd name="connsiteX1" fmla="*/ 12049 w 381053"/>
                <a:gd name="connsiteY1" fmla="*/ 267644 h 315774"/>
                <a:gd name="connsiteX2" fmla="*/ 309760 w 381053"/>
                <a:gd name="connsiteY2" fmla="*/ 299542 h 315774"/>
                <a:gd name="connsiteX3" fmla="*/ 373556 w 381053"/>
                <a:gd name="connsiteY3" fmla="*/ 44360 h 315774"/>
                <a:gd name="connsiteX4" fmla="*/ 182169 w 381053"/>
                <a:gd name="connsiteY4" fmla="*/ 1830 h 315774"/>
                <a:gd name="connsiteX0" fmla="*/ 25146 w 442490"/>
                <a:gd name="connsiteY0" fmla="*/ 103823 h 315228"/>
                <a:gd name="connsiteX1" fmla="*/ 73486 w 442490"/>
                <a:gd name="connsiteY1" fmla="*/ 267644 h 315228"/>
                <a:gd name="connsiteX2" fmla="*/ 371197 w 442490"/>
                <a:gd name="connsiteY2" fmla="*/ 299542 h 315228"/>
                <a:gd name="connsiteX3" fmla="*/ 434993 w 442490"/>
                <a:gd name="connsiteY3" fmla="*/ 44360 h 315228"/>
                <a:gd name="connsiteX4" fmla="*/ 243606 w 442490"/>
                <a:gd name="connsiteY4" fmla="*/ 1830 h 315228"/>
                <a:gd name="connsiteX0" fmla="*/ 8275 w 425619"/>
                <a:gd name="connsiteY0" fmla="*/ 103823 h 315228"/>
                <a:gd name="connsiteX1" fmla="*/ 56615 w 425619"/>
                <a:gd name="connsiteY1" fmla="*/ 267644 h 315228"/>
                <a:gd name="connsiteX2" fmla="*/ 354326 w 425619"/>
                <a:gd name="connsiteY2" fmla="*/ 299542 h 315228"/>
                <a:gd name="connsiteX3" fmla="*/ 418122 w 425619"/>
                <a:gd name="connsiteY3" fmla="*/ 44360 h 315228"/>
                <a:gd name="connsiteX4" fmla="*/ 226735 w 425619"/>
                <a:gd name="connsiteY4" fmla="*/ 1830 h 315228"/>
                <a:gd name="connsiteX0" fmla="*/ 3381 w 419816"/>
                <a:gd name="connsiteY0" fmla="*/ 103823 h 328880"/>
                <a:gd name="connsiteX1" fmla="*/ 98287 w 419816"/>
                <a:gd name="connsiteY1" fmla="*/ 301511 h 328880"/>
                <a:gd name="connsiteX2" fmla="*/ 349432 w 419816"/>
                <a:gd name="connsiteY2" fmla="*/ 299542 h 328880"/>
                <a:gd name="connsiteX3" fmla="*/ 413228 w 419816"/>
                <a:gd name="connsiteY3" fmla="*/ 44360 h 328880"/>
                <a:gd name="connsiteX4" fmla="*/ 221841 w 419816"/>
                <a:gd name="connsiteY4" fmla="*/ 1830 h 328880"/>
                <a:gd name="connsiteX0" fmla="*/ 3381 w 398069"/>
                <a:gd name="connsiteY0" fmla="*/ 102364 h 325789"/>
                <a:gd name="connsiteX1" fmla="*/ 98287 w 398069"/>
                <a:gd name="connsiteY1" fmla="*/ 300052 h 325789"/>
                <a:gd name="connsiteX2" fmla="*/ 349432 w 398069"/>
                <a:gd name="connsiteY2" fmla="*/ 298083 h 325789"/>
                <a:gd name="connsiteX3" fmla="*/ 387828 w 398069"/>
                <a:gd name="connsiteY3" fmla="*/ 68301 h 325789"/>
                <a:gd name="connsiteX4" fmla="*/ 221841 w 398069"/>
                <a:gd name="connsiteY4" fmla="*/ 371 h 325789"/>
                <a:gd name="connsiteX0" fmla="*/ 10279 w 341467"/>
                <a:gd name="connsiteY0" fmla="*/ 93897 h 326314"/>
                <a:gd name="connsiteX1" fmla="*/ 41685 w 341467"/>
                <a:gd name="connsiteY1" fmla="*/ 300052 h 326314"/>
                <a:gd name="connsiteX2" fmla="*/ 292830 w 341467"/>
                <a:gd name="connsiteY2" fmla="*/ 298083 h 326314"/>
                <a:gd name="connsiteX3" fmla="*/ 331226 w 341467"/>
                <a:gd name="connsiteY3" fmla="*/ 68301 h 326314"/>
                <a:gd name="connsiteX4" fmla="*/ 165239 w 341467"/>
                <a:gd name="connsiteY4" fmla="*/ 371 h 326314"/>
                <a:gd name="connsiteX0" fmla="*/ 4606 w 334698"/>
                <a:gd name="connsiteY0" fmla="*/ 93897 h 326314"/>
                <a:gd name="connsiteX1" fmla="*/ 69879 w 334698"/>
                <a:gd name="connsiteY1" fmla="*/ 300052 h 326314"/>
                <a:gd name="connsiteX2" fmla="*/ 287157 w 334698"/>
                <a:gd name="connsiteY2" fmla="*/ 298083 h 326314"/>
                <a:gd name="connsiteX3" fmla="*/ 325553 w 334698"/>
                <a:gd name="connsiteY3" fmla="*/ 68301 h 326314"/>
                <a:gd name="connsiteX4" fmla="*/ 159566 w 334698"/>
                <a:gd name="connsiteY4" fmla="*/ 371 h 326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4698" h="326314">
                  <a:moveTo>
                    <a:pt x="4606" y="93897"/>
                  </a:moveTo>
                  <a:cubicBezTo>
                    <a:pt x="-13115" y="238520"/>
                    <a:pt x="22787" y="266021"/>
                    <a:pt x="69879" y="300052"/>
                  </a:cubicBezTo>
                  <a:cubicBezTo>
                    <a:pt x="116971" y="334083"/>
                    <a:pt x="244545" y="336708"/>
                    <a:pt x="287157" y="298083"/>
                  </a:cubicBezTo>
                  <a:cubicBezTo>
                    <a:pt x="329769" y="259458"/>
                    <a:pt x="346818" y="117920"/>
                    <a:pt x="325553" y="68301"/>
                  </a:cubicBezTo>
                  <a:cubicBezTo>
                    <a:pt x="304288" y="18682"/>
                    <a:pt x="244627" y="-3174"/>
                    <a:pt x="159566" y="371"/>
                  </a:cubicBezTo>
                </a:path>
              </a:pathLst>
            </a:custGeom>
            <a:noFill/>
            <a:ln>
              <a:solidFill>
                <a:schemeClr val="accent2"/>
              </a:solidFill>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Freeform: Shape 49">
              <a:extLst>
                <a:ext uri="{FF2B5EF4-FFF2-40B4-BE49-F238E27FC236}">
                  <a16:creationId xmlns:a16="http://schemas.microsoft.com/office/drawing/2014/main" id="{65300C6A-4F3D-4B39-97D8-30EE6EE5DE98}"/>
                </a:ext>
              </a:extLst>
            </p:cNvPr>
            <p:cNvSpPr/>
            <p:nvPr/>
          </p:nvSpPr>
          <p:spPr>
            <a:xfrm>
              <a:off x="6325847" y="1909819"/>
              <a:ext cx="237640" cy="212843"/>
            </a:xfrm>
            <a:custGeom>
              <a:avLst/>
              <a:gdLst>
                <a:gd name="connsiteX0" fmla="*/ 86476 w 381053"/>
                <a:gd name="connsiteY0" fmla="*/ 86890 h 315774"/>
                <a:gd name="connsiteX1" fmla="*/ 12049 w 381053"/>
                <a:gd name="connsiteY1" fmla="*/ 267644 h 315774"/>
                <a:gd name="connsiteX2" fmla="*/ 309760 w 381053"/>
                <a:gd name="connsiteY2" fmla="*/ 299542 h 315774"/>
                <a:gd name="connsiteX3" fmla="*/ 373556 w 381053"/>
                <a:gd name="connsiteY3" fmla="*/ 44360 h 315774"/>
                <a:gd name="connsiteX4" fmla="*/ 182169 w 381053"/>
                <a:gd name="connsiteY4" fmla="*/ 1830 h 315774"/>
                <a:gd name="connsiteX0" fmla="*/ 25146 w 442490"/>
                <a:gd name="connsiteY0" fmla="*/ 103823 h 315228"/>
                <a:gd name="connsiteX1" fmla="*/ 73486 w 442490"/>
                <a:gd name="connsiteY1" fmla="*/ 267644 h 315228"/>
                <a:gd name="connsiteX2" fmla="*/ 371197 w 442490"/>
                <a:gd name="connsiteY2" fmla="*/ 299542 h 315228"/>
                <a:gd name="connsiteX3" fmla="*/ 434993 w 442490"/>
                <a:gd name="connsiteY3" fmla="*/ 44360 h 315228"/>
                <a:gd name="connsiteX4" fmla="*/ 243606 w 442490"/>
                <a:gd name="connsiteY4" fmla="*/ 1830 h 315228"/>
                <a:gd name="connsiteX0" fmla="*/ 8275 w 425619"/>
                <a:gd name="connsiteY0" fmla="*/ 103823 h 315228"/>
                <a:gd name="connsiteX1" fmla="*/ 56615 w 425619"/>
                <a:gd name="connsiteY1" fmla="*/ 267644 h 315228"/>
                <a:gd name="connsiteX2" fmla="*/ 354326 w 425619"/>
                <a:gd name="connsiteY2" fmla="*/ 299542 h 315228"/>
                <a:gd name="connsiteX3" fmla="*/ 418122 w 425619"/>
                <a:gd name="connsiteY3" fmla="*/ 44360 h 315228"/>
                <a:gd name="connsiteX4" fmla="*/ 226735 w 425619"/>
                <a:gd name="connsiteY4" fmla="*/ 1830 h 315228"/>
                <a:gd name="connsiteX0" fmla="*/ 3381 w 419816"/>
                <a:gd name="connsiteY0" fmla="*/ 103823 h 328880"/>
                <a:gd name="connsiteX1" fmla="*/ 98287 w 419816"/>
                <a:gd name="connsiteY1" fmla="*/ 301511 h 328880"/>
                <a:gd name="connsiteX2" fmla="*/ 349432 w 419816"/>
                <a:gd name="connsiteY2" fmla="*/ 299542 h 328880"/>
                <a:gd name="connsiteX3" fmla="*/ 413228 w 419816"/>
                <a:gd name="connsiteY3" fmla="*/ 44360 h 328880"/>
                <a:gd name="connsiteX4" fmla="*/ 221841 w 419816"/>
                <a:gd name="connsiteY4" fmla="*/ 1830 h 328880"/>
                <a:gd name="connsiteX0" fmla="*/ 3381 w 398069"/>
                <a:gd name="connsiteY0" fmla="*/ 102364 h 325789"/>
                <a:gd name="connsiteX1" fmla="*/ 98287 w 398069"/>
                <a:gd name="connsiteY1" fmla="*/ 300052 h 325789"/>
                <a:gd name="connsiteX2" fmla="*/ 349432 w 398069"/>
                <a:gd name="connsiteY2" fmla="*/ 298083 h 325789"/>
                <a:gd name="connsiteX3" fmla="*/ 387828 w 398069"/>
                <a:gd name="connsiteY3" fmla="*/ 68301 h 325789"/>
                <a:gd name="connsiteX4" fmla="*/ 221841 w 398069"/>
                <a:gd name="connsiteY4" fmla="*/ 371 h 325789"/>
                <a:gd name="connsiteX0" fmla="*/ 10279 w 341467"/>
                <a:gd name="connsiteY0" fmla="*/ 93897 h 326314"/>
                <a:gd name="connsiteX1" fmla="*/ 41685 w 341467"/>
                <a:gd name="connsiteY1" fmla="*/ 300052 h 326314"/>
                <a:gd name="connsiteX2" fmla="*/ 292830 w 341467"/>
                <a:gd name="connsiteY2" fmla="*/ 298083 h 326314"/>
                <a:gd name="connsiteX3" fmla="*/ 331226 w 341467"/>
                <a:gd name="connsiteY3" fmla="*/ 68301 h 326314"/>
                <a:gd name="connsiteX4" fmla="*/ 165239 w 341467"/>
                <a:gd name="connsiteY4" fmla="*/ 371 h 326314"/>
                <a:gd name="connsiteX0" fmla="*/ 4606 w 334698"/>
                <a:gd name="connsiteY0" fmla="*/ 93897 h 326314"/>
                <a:gd name="connsiteX1" fmla="*/ 69879 w 334698"/>
                <a:gd name="connsiteY1" fmla="*/ 300052 h 326314"/>
                <a:gd name="connsiteX2" fmla="*/ 287157 w 334698"/>
                <a:gd name="connsiteY2" fmla="*/ 298083 h 326314"/>
                <a:gd name="connsiteX3" fmla="*/ 325553 w 334698"/>
                <a:gd name="connsiteY3" fmla="*/ 68301 h 326314"/>
                <a:gd name="connsiteX4" fmla="*/ 159566 w 334698"/>
                <a:gd name="connsiteY4" fmla="*/ 371 h 326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4698" h="326314">
                  <a:moveTo>
                    <a:pt x="4606" y="93897"/>
                  </a:moveTo>
                  <a:cubicBezTo>
                    <a:pt x="-13115" y="238520"/>
                    <a:pt x="22787" y="266021"/>
                    <a:pt x="69879" y="300052"/>
                  </a:cubicBezTo>
                  <a:cubicBezTo>
                    <a:pt x="116971" y="334083"/>
                    <a:pt x="244545" y="336708"/>
                    <a:pt x="287157" y="298083"/>
                  </a:cubicBezTo>
                  <a:cubicBezTo>
                    <a:pt x="329769" y="259458"/>
                    <a:pt x="346818" y="117920"/>
                    <a:pt x="325553" y="68301"/>
                  </a:cubicBezTo>
                  <a:cubicBezTo>
                    <a:pt x="304288" y="18682"/>
                    <a:pt x="244627" y="-3174"/>
                    <a:pt x="159566" y="371"/>
                  </a:cubicBezTo>
                </a:path>
              </a:pathLst>
            </a:custGeom>
            <a:noFill/>
            <a:ln>
              <a:solidFill>
                <a:schemeClr val="accent2"/>
              </a:solidFill>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Freeform: Shape 50">
              <a:extLst>
                <a:ext uri="{FF2B5EF4-FFF2-40B4-BE49-F238E27FC236}">
                  <a16:creationId xmlns:a16="http://schemas.microsoft.com/office/drawing/2014/main" id="{49DF8B05-FB51-4B96-8557-26DB530FD986}"/>
                </a:ext>
              </a:extLst>
            </p:cNvPr>
            <p:cNvSpPr/>
            <p:nvPr/>
          </p:nvSpPr>
          <p:spPr>
            <a:xfrm>
              <a:off x="6198156" y="2241519"/>
              <a:ext cx="237640" cy="212843"/>
            </a:xfrm>
            <a:custGeom>
              <a:avLst/>
              <a:gdLst>
                <a:gd name="connsiteX0" fmla="*/ 86476 w 381053"/>
                <a:gd name="connsiteY0" fmla="*/ 86890 h 315774"/>
                <a:gd name="connsiteX1" fmla="*/ 12049 w 381053"/>
                <a:gd name="connsiteY1" fmla="*/ 267644 h 315774"/>
                <a:gd name="connsiteX2" fmla="*/ 309760 w 381053"/>
                <a:gd name="connsiteY2" fmla="*/ 299542 h 315774"/>
                <a:gd name="connsiteX3" fmla="*/ 373556 w 381053"/>
                <a:gd name="connsiteY3" fmla="*/ 44360 h 315774"/>
                <a:gd name="connsiteX4" fmla="*/ 182169 w 381053"/>
                <a:gd name="connsiteY4" fmla="*/ 1830 h 315774"/>
                <a:gd name="connsiteX0" fmla="*/ 25146 w 442490"/>
                <a:gd name="connsiteY0" fmla="*/ 103823 h 315228"/>
                <a:gd name="connsiteX1" fmla="*/ 73486 w 442490"/>
                <a:gd name="connsiteY1" fmla="*/ 267644 h 315228"/>
                <a:gd name="connsiteX2" fmla="*/ 371197 w 442490"/>
                <a:gd name="connsiteY2" fmla="*/ 299542 h 315228"/>
                <a:gd name="connsiteX3" fmla="*/ 434993 w 442490"/>
                <a:gd name="connsiteY3" fmla="*/ 44360 h 315228"/>
                <a:gd name="connsiteX4" fmla="*/ 243606 w 442490"/>
                <a:gd name="connsiteY4" fmla="*/ 1830 h 315228"/>
                <a:gd name="connsiteX0" fmla="*/ 8275 w 425619"/>
                <a:gd name="connsiteY0" fmla="*/ 103823 h 315228"/>
                <a:gd name="connsiteX1" fmla="*/ 56615 w 425619"/>
                <a:gd name="connsiteY1" fmla="*/ 267644 h 315228"/>
                <a:gd name="connsiteX2" fmla="*/ 354326 w 425619"/>
                <a:gd name="connsiteY2" fmla="*/ 299542 h 315228"/>
                <a:gd name="connsiteX3" fmla="*/ 418122 w 425619"/>
                <a:gd name="connsiteY3" fmla="*/ 44360 h 315228"/>
                <a:gd name="connsiteX4" fmla="*/ 226735 w 425619"/>
                <a:gd name="connsiteY4" fmla="*/ 1830 h 315228"/>
                <a:gd name="connsiteX0" fmla="*/ 3381 w 419816"/>
                <a:gd name="connsiteY0" fmla="*/ 103823 h 328880"/>
                <a:gd name="connsiteX1" fmla="*/ 98287 w 419816"/>
                <a:gd name="connsiteY1" fmla="*/ 301511 h 328880"/>
                <a:gd name="connsiteX2" fmla="*/ 349432 w 419816"/>
                <a:gd name="connsiteY2" fmla="*/ 299542 h 328880"/>
                <a:gd name="connsiteX3" fmla="*/ 413228 w 419816"/>
                <a:gd name="connsiteY3" fmla="*/ 44360 h 328880"/>
                <a:gd name="connsiteX4" fmla="*/ 221841 w 419816"/>
                <a:gd name="connsiteY4" fmla="*/ 1830 h 328880"/>
                <a:gd name="connsiteX0" fmla="*/ 3381 w 398069"/>
                <a:gd name="connsiteY0" fmla="*/ 102364 h 325789"/>
                <a:gd name="connsiteX1" fmla="*/ 98287 w 398069"/>
                <a:gd name="connsiteY1" fmla="*/ 300052 h 325789"/>
                <a:gd name="connsiteX2" fmla="*/ 349432 w 398069"/>
                <a:gd name="connsiteY2" fmla="*/ 298083 h 325789"/>
                <a:gd name="connsiteX3" fmla="*/ 387828 w 398069"/>
                <a:gd name="connsiteY3" fmla="*/ 68301 h 325789"/>
                <a:gd name="connsiteX4" fmla="*/ 221841 w 398069"/>
                <a:gd name="connsiteY4" fmla="*/ 371 h 325789"/>
                <a:gd name="connsiteX0" fmla="*/ 10279 w 341467"/>
                <a:gd name="connsiteY0" fmla="*/ 93897 h 326314"/>
                <a:gd name="connsiteX1" fmla="*/ 41685 w 341467"/>
                <a:gd name="connsiteY1" fmla="*/ 300052 h 326314"/>
                <a:gd name="connsiteX2" fmla="*/ 292830 w 341467"/>
                <a:gd name="connsiteY2" fmla="*/ 298083 h 326314"/>
                <a:gd name="connsiteX3" fmla="*/ 331226 w 341467"/>
                <a:gd name="connsiteY3" fmla="*/ 68301 h 326314"/>
                <a:gd name="connsiteX4" fmla="*/ 165239 w 341467"/>
                <a:gd name="connsiteY4" fmla="*/ 371 h 326314"/>
                <a:gd name="connsiteX0" fmla="*/ 4606 w 334698"/>
                <a:gd name="connsiteY0" fmla="*/ 93897 h 326314"/>
                <a:gd name="connsiteX1" fmla="*/ 69879 w 334698"/>
                <a:gd name="connsiteY1" fmla="*/ 300052 h 326314"/>
                <a:gd name="connsiteX2" fmla="*/ 287157 w 334698"/>
                <a:gd name="connsiteY2" fmla="*/ 298083 h 326314"/>
                <a:gd name="connsiteX3" fmla="*/ 325553 w 334698"/>
                <a:gd name="connsiteY3" fmla="*/ 68301 h 326314"/>
                <a:gd name="connsiteX4" fmla="*/ 159566 w 334698"/>
                <a:gd name="connsiteY4" fmla="*/ 371 h 326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4698" h="326314">
                  <a:moveTo>
                    <a:pt x="4606" y="93897"/>
                  </a:moveTo>
                  <a:cubicBezTo>
                    <a:pt x="-13115" y="238520"/>
                    <a:pt x="22787" y="266021"/>
                    <a:pt x="69879" y="300052"/>
                  </a:cubicBezTo>
                  <a:cubicBezTo>
                    <a:pt x="116971" y="334083"/>
                    <a:pt x="244545" y="336708"/>
                    <a:pt x="287157" y="298083"/>
                  </a:cubicBezTo>
                  <a:cubicBezTo>
                    <a:pt x="329769" y="259458"/>
                    <a:pt x="346818" y="117920"/>
                    <a:pt x="325553" y="68301"/>
                  </a:cubicBezTo>
                  <a:cubicBezTo>
                    <a:pt x="304288" y="18682"/>
                    <a:pt x="244627" y="-3174"/>
                    <a:pt x="159566" y="371"/>
                  </a:cubicBezTo>
                </a:path>
              </a:pathLst>
            </a:custGeom>
            <a:noFill/>
            <a:ln>
              <a:solidFill>
                <a:schemeClr val="accent2"/>
              </a:solidFill>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Freeform: Shape 51">
              <a:extLst>
                <a:ext uri="{FF2B5EF4-FFF2-40B4-BE49-F238E27FC236}">
                  <a16:creationId xmlns:a16="http://schemas.microsoft.com/office/drawing/2014/main" id="{B8EF7AAC-337E-43BC-BF4F-946810084B0E}"/>
                </a:ext>
              </a:extLst>
            </p:cNvPr>
            <p:cNvSpPr/>
            <p:nvPr/>
          </p:nvSpPr>
          <p:spPr>
            <a:xfrm>
              <a:off x="5806359" y="2138346"/>
              <a:ext cx="237640" cy="212843"/>
            </a:xfrm>
            <a:custGeom>
              <a:avLst/>
              <a:gdLst>
                <a:gd name="connsiteX0" fmla="*/ 86476 w 381053"/>
                <a:gd name="connsiteY0" fmla="*/ 86890 h 315774"/>
                <a:gd name="connsiteX1" fmla="*/ 12049 w 381053"/>
                <a:gd name="connsiteY1" fmla="*/ 267644 h 315774"/>
                <a:gd name="connsiteX2" fmla="*/ 309760 w 381053"/>
                <a:gd name="connsiteY2" fmla="*/ 299542 h 315774"/>
                <a:gd name="connsiteX3" fmla="*/ 373556 w 381053"/>
                <a:gd name="connsiteY3" fmla="*/ 44360 h 315774"/>
                <a:gd name="connsiteX4" fmla="*/ 182169 w 381053"/>
                <a:gd name="connsiteY4" fmla="*/ 1830 h 315774"/>
                <a:gd name="connsiteX0" fmla="*/ 25146 w 442490"/>
                <a:gd name="connsiteY0" fmla="*/ 103823 h 315228"/>
                <a:gd name="connsiteX1" fmla="*/ 73486 w 442490"/>
                <a:gd name="connsiteY1" fmla="*/ 267644 h 315228"/>
                <a:gd name="connsiteX2" fmla="*/ 371197 w 442490"/>
                <a:gd name="connsiteY2" fmla="*/ 299542 h 315228"/>
                <a:gd name="connsiteX3" fmla="*/ 434993 w 442490"/>
                <a:gd name="connsiteY3" fmla="*/ 44360 h 315228"/>
                <a:gd name="connsiteX4" fmla="*/ 243606 w 442490"/>
                <a:gd name="connsiteY4" fmla="*/ 1830 h 315228"/>
                <a:gd name="connsiteX0" fmla="*/ 8275 w 425619"/>
                <a:gd name="connsiteY0" fmla="*/ 103823 h 315228"/>
                <a:gd name="connsiteX1" fmla="*/ 56615 w 425619"/>
                <a:gd name="connsiteY1" fmla="*/ 267644 h 315228"/>
                <a:gd name="connsiteX2" fmla="*/ 354326 w 425619"/>
                <a:gd name="connsiteY2" fmla="*/ 299542 h 315228"/>
                <a:gd name="connsiteX3" fmla="*/ 418122 w 425619"/>
                <a:gd name="connsiteY3" fmla="*/ 44360 h 315228"/>
                <a:gd name="connsiteX4" fmla="*/ 226735 w 425619"/>
                <a:gd name="connsiteY4" fmla="*/ 1830 h 315228"/>
                <a:gd name="connsiteX0" fmla="*/ 3381 w 419816"/>
                <a:gd name="connsiteY0" fmla="*/ 103823 h 328880"/>
                <a:gd name="connsiteX1" fmla="*/ 98287 w 419816"/>
                <a:gd name="connsiteY1" fmla="*/ 301511 h 328880"/>
                <a:gd name="connsiteX2" fmla="*/ 349432 w 419816"/>
                <a:gd name="connsiteY2" fmla="*/ 299542 h 328880"/>
                <a:gd name="connsiteX3" fmla="*/ 413228 w 419816"/>
                <a:gd name="connsiteY3" fmla="*/ 44360 h 328880"/>
                <a:gd name="connsiteX4" fmla="*/ 221841 w 419816"/>
                <a:gd name="connsiteY4" fmla="*/ 1830 h 328880"/>
                <a:gd name="connsiteX0" fmla="*/ 3381 w 398069"/>
                <a:gd name="connsiteY0" fmla="*/ 102364 h 325789"/>
                <a:gd name="connsiteX1" fmla="*/ 98287 w 398069"/>
                <a:gd name="connsiteY1" fmla="*/ 300052 h 325789"/>
                <a:gd name="connsiteX2" fmla="*/ 349432 w 398069"/>
                <a:gd name="connsiteY2" fmla="*/ 298083 h 325789"/>
                <a:gd name="connsiteX3" fmla="*/ 387828 w 398069"/>
                <a:gd name="connsiteY3" fmla="*/ 68301 h 325789"/>
                <a:gd name="connsiteX4" fmla="*/ 221841 w 398069"/>
                <a:gd name="connsiteY4" fmla="*/ 371 h 325789"/>
                <a:gd name="connsiteX0" fmla="*/ 10279 w 341467"/>
                <a:gd name="connsiteY0" fmla="*/ 93897 h 326314"/>
                <a:gd name="connsiteX1" fmla="*/ 41685 w 341467"/>
                <a:gd name="connsiteY1" fmla="*/ 300052 h 326314"/>
                <a:gd name="connsiteX2" fmla="*/ 292830 w 341467"/>
                <a:gd name="connsiteY2" fmla="*/ 298083 h 326314"/>
                <a:gd name="connsiteX3" fmla="*/ 331226 w 341467"/>
                <a:gd name="connsiteY3" fmla="*/ 68301 h 326314"/>
                <a:gd name="connsiteX4" fmla="*/ 165239 w 341467"/>
                <a:gd name="connsiteY4" fmla="*/ 371 h 326314"/>
                <a:gd name="connsiteX0" fmla="*/ 4606 w 334698"/>
                <a:gd name="connsiteY0" fmla="*/ 93897 h 326314"/>
                <a:gd name="connsiteX1" fmla="*/ 69879 w 334698"/>
                <a:gd name="connsiteY1" fmla="*/ 300052 h 326314"/>
                <a:gd name="connsiteX2" fmla="*/ 287157 w 334698"/>
                <a:gd name="connsiteY2" fmla="*/ 298083 h 326314"/>
                <a:gd name="connsiteX3" fmla="*/ 325553 w 334698"/>
                <a:gd name="connsiteY3" fmla="*/ 68301 h 326314"/>
                <a:gd name="connsiteX4" fmla="*/ 159566 w 334698"/>
                <a:gd name="connsiteY4" fmla="*/ 371 h 326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4698" h="326314">
                  <a:moveTo>
                    <a:pt x="4606" y="93897"/>
                  </a:moveTo>
                  <a:cubicBezTo>
                    <a:pt x="-13115" y="238520"/>
                    <a:pt x="22787" y="266021"/>
                    <a:pt x="69879" y="300052"/>
                  </a:cubicBezTo>
                  <a:cubicBezTo>
                    <a:pt x="116971" y="334083"/>
                    <a:pt x="244545" y="336708"/>
                    <a:pt x="287157" y="298083"/>
                  </a:cubicBezTo>
                  <a:cubicBezTo>
                    <a:pt x="329769" y="259458"/>
                    <a:pt x="346818" y="117920"/>
                    <a:pt x="325553" y="68301"/>
                  </a:cubicBezTo>
                  <a:cubicBezTo>
                    <a:pt x="304288" y="18682"/>
                    <a:pt x="244627" y="-3174"/>
                    <a:pt x="159566" y="371"/>
                  </a:cubicBezTo>
                </a:path>
              </a:pathLst>
            </a:custGeom>
            <a:noFill/>
            <a:ln>
              <a:solidFill>
                <a:schemeClr val="accent2"/>
              </a:solidFill>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Freeform: Shape 52">
              <a:extLst>
                <a:ext uri="{FF2B5EF4-FFF2-40B4-BE49-F238E27FC236}">
                  <a16:creationId xmlns:a16="http://schemas.microsoft.com/office/drawing/2014/main" id="{22B7BA36-C208-4AD9-A6E6-A3D85DFECCB3}"/>
                </a:ext>
              </a:extLst>
            </p:cNvPr>
            <p:cNvSpPr/>
            <p:nvPr/>
          </p:nvSpPr>
          <p:spPr>
            <a:xfrm>
              <a:off x="5819460" y="2453067"/>
              <a:ext cx="255259" cy="238249"/>
            </a:xfrm>
            <a:custGeom>
              <a:avLst/>
              <a:gdLst>
                <a:gd name="connsiteX0" fmla="*/ 86476 w 381053"/>
                <a:gd name="connsiteY0" fmla="*/ 86890 h 315774"/>
                <a:gd name="connsiteX1" fmla="*/ 12049 w 381053"/>
                <a:gd name="connsiteY1" fmla="*/ 267644 h 315774"/>
                <a:gd name="connsiteX2" fmla="*/ 309760 w 381053"/>
                <a:gd name="connsiteY2" fmla="*/ 299542 h 315774"/>
                <a:gd name="connsiteX3" fmla="*/ 373556 w 381053"/>
                <a:gd name="connsiteY3" fmla="*/ 44360 h 315774"/>
                <a:gd name="connsiteX4" fmla="*/ 182169 w 381053"/>
                <a:gd name="connsiteY4" fmla="*/ 1830 h 315774"/>
                <a:gd name="connsiteX0" fmla="*/ 25146 w 442490"/>
                <a:gd name="connsiteY0" fmla="*/ 103823 h 315228"/>
                <a:gd name="connsiteX1" fmla="*/ 73486 w 442490"/>
                <a:gd name="connsiteY1" fmla="*/ 267644 h 315228"/>
                <a:gd name="connsiteX2" fmla="*/ 371197 w 442490"/>
                <a:gd name="connsiteY2" fmla="*/ 299542 h 315228"/>
                <a:gd name="connsiteX3" fmla="*/ 434993 w 442490"/>
                <a:gd name="connsiteY3" fmla="*/ 44360 h 315228"/>
                <a:gd name="connsiteX4" fmla="*/ 243606 w 442490"/>
                <a:gd name="connsiteY4" fmla="*/ 1830 h 315228"/>
                <a:gd name="connsiteX0" fmla="*/ 8275 w 425619"/>
                <a:gd name="connsiteY0" fmla="*/ 103823 h 315228"/>
                <a:gd name="connsiteX1" fmla="*/ 56615 w 425619"/>
                <a:gd name="connsiteY1" fmla="*/ 267644 h 315228"/>
                <a:gd name="connsiteX2" fmla="*/ 354326 w 425619"/>
                <a:gd name="connsiteY2" fmla="*/ 299542 h 315228"/>
                <a:gd name="connsiteX3" fmla="*/ 418122 w 425619"/>
                <a:gd name="connsiteY3" fmla="*/ 44360 h 315228"/>
                <a:gd name="connsiteX4" fmla="*/ 226735 w 425619"/>
                <a:gd name="connsiteY4" fmla="*/ 1830 h 315228"/>
                <a:gd name="connsiteX0" fmla="*/ 3381 w 419816"/>
                <a:gd name="connsiteY0" fmla="*/ 103823 h 328880"/>
                <a:gd name="connsiteX1" fmla="*/ 98287 w 419816"/>
                <a:gd name="connsiteY1" fmla="*/ 301511 h 328880"/>
                <a:gd name="connsiteX2" fmla="*/ 349432 w 419816"/>
                <a:gd name="connsiteY2" fmla="*/ 299542 h 328880"/>
                <a:gd name="connsiteX3" fmla="*/ 413228 w 419816"/>
                <a:gd name="connsiteY3" fmla="*/ 44360 h 328880"/>
                <a:gd name="connsiteX4" fmla="*/ 221841 w 419816"/>
                <a:gd name="connsiteY4" fmla="*/ 1830 h 328880"/>
                <a:gd name="connsiteX0" fmla="*/ 3381 w 398069"/>
                <a:gd name="connsiteY0" fmla="*/ 102364 h 325789"/>
                <a:gd name="connsiteX1" fmla="*/ 98287 w 398069"/>
                <a:gd name="connsiteY1" fmla="*/ 300052 h 325789"/>
                <a:gd name="connsiteX2" fmla="*/ 349432 w 398069"/>
                <a:gd name="connsiteY2" fmla="*/ 298083 h 325789"/>
                <a:gd name="connsiteX3" fmla="*/ 387828 w 398069"/>
                <a:gd name="connsiteY3" fmla="*/ 68301 h 325789"/>
                <a:gd name="connsiteX4" fmla="*/ 221841 w 398069"/>
                <a:gd name="connsiteY4" fmla="*/ 371 h 325789"/>
                <a:gd name="connsiteX0" fmla="*/ 10279 w 341467"/>
                <a:gd name="connsiteY0" fmla="*/ 93897 h 326314"/>
                <a:gd name="connsiteX1" fmla="*/ 41685 w 341467"/>
                <a:gd name="connsiteY1" fmla="*/ 300052 h 326314"/>
                <a:gd name="connsiteX2" fmla="*/ 292830 w 341467"/>
                <a:gd name="connsiteY2" fmla="*/ 298083 h 326314"/>
                <a:gd name="connsiteX3" fmla="*/ 331226 w 341467"/>
                <a:gd name="connsiteY3" fmla="*/ 68301 h 326314"/>
                <a:gd name="connsiteX4" fmla="*/ 165239 w 341467"/>
                <a:gd name="connsiteY4" fmla="*/ 371 h 326314"/>
                <a:gd name="connsiteX0" fmla="*/ 4606 w 334698"/>
                <a:gd name="connsiteY0" fmla="*/ 93897 h 326314"/>
                <a:gd name="connsiteX1" fmla="*/ 69879 w 334698"/>
                <a:gd name="connsiteY1" fmla="*/ 300052 h 326314"/>
                <a:gd name="connsiteX2" fmla="*/ 287157 w 334698"/>
                <a:gd name="connsiteY2" fmla="*/ 298083 h 326314"/>
                <a:gd name="connsiteX3" fmla="*/ 325553 w 334698"/>
                <a:gd name="connsiteY3" fmla="*/ 68301 h 326314"/>
                <a:gd name="connsiteX4" fmla="*/ 159566 w 334698"/>
                <a:gd name="connsiteY4" fmla="*/ 371 h 326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4698" h="326314">
                  <a:moveTo>
                    <a:pt x="4606" y="93897"/>
                  </a:moveTo>
                  <a:cubicBezTo>
                    <a:pt x="-13115" y="238520"/>
                    <a:pt x="22787" y="266021"/>
                    <a:pt x="69879" y="300052"/>
                  </a:cubicBezTo>
                  <a:cubicBezTo>
                    <a:pt x="116971" y="334083"/>
                    <a:pt x="244545" y="336708"/>
                    <a:pt x="287157" y="298083"/>
                  </a:cubicBezTo>
                  <a:cubicBezTo>
                    <a:pt x="329769" y="259458"/>
                    <a:pt x="346818" y="117920"/>
                    <a:pt x="325553" y="68301"/>
                  </a:cubicBezTo>
                  <a:cubicBezTo>
                    <a:pt x="304288" y="18682"/>
                    <a:pt x="244627" y="-3174"/>
                    <a:pt x="159566" y="371"/>
                  </a:cubicBezTo>
                </a:path>
              </a:pathLst>
            </a:custGeom>
            <a:noFill/>
            <a:ln>
              <a:solidFill>
                <a:schemeClr val="accent2"/>
              </a:solidFill>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5" name="TextBox 54">
            <a:extLst>
              <a:ext uri="{FF2B5EF4-FFF2-40B4-BE49-F238E27FC236}">
                <a16:creationId xmlns:a16="http://schemas.microsoft.com/office/drawing/2014/main" id="{12C5214E-E265-48AB-92E6-EE5167C4BE8C}"/>
              </a:ext>
            </a:extLst>
          </p:cNvPr>
          <p:cNvSpPr txBox="1"/>
          <p:nvPr/>
        </p:nvSpPr>
        <p:spPr>
          <a:xfrm>
            <a:off x="1962698" y="160329"/>
            <a:ext cx="7854215" cy="584775"/>
          </a:xfrm>
          <a:prstGeom prst="rect">
            <a:avLst/>
          </a:prstGeom>
          <a:noFill/>
        </p:spPr>
        <p:txBody>
          <a:bodyPr wrap="square" rtlCol="0">
            <a:spAutoFit/>
          </a:bodyPr>
          <a:lstStyle/>
          <a:p>
            <a:pPr algn="ctr"/>
            <a:r>
              <a:rPr lang="en-US" sz="3200" b="1" dirty="0"/>
              <a:t>WORK-UP</a:t>
            </a:r>
          </a:p>
        </p:txBody>
      </p:sp>
      <p:cxnSp>
        <p:nvCxnSpPr>
          <p:cNvPr id="30" name="Straight Arrow Connector 29">
            <a:extLst>
              <a:ext uri="{FF2B5EF4-FFF2-40B4-BE49-F238E27FC236}">
                <a16:creationId xmlns:a16="http://schemas.microsoft.com/office/drawing/2014/main" id="{8EA75DC6-3262-4F18-BE9F-B48527EBB9F7}"/>
              </a:ext>
            </a:extLst>
          </p:cNvPr>
          <p:cNvCxnSpPr/>
          <p:nvPr/>
        </p:nvCxnSpPr>
        <p:spPr>
          <a:xfrm>
            <a:off x="5599019" y="3302298"/>
            <a:ext cx="444980" cy="807988"/>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2" name="Cardiac button">
            <a:extLst>
              <a:ext uri="{FF2B5EF4-FFF2-40B4-BE49-F238E27FC236}">
                <a16:creationId xmlns:a16="http://schemas.microsoft.com/office/drawing/2014/main" id="{F9265AC9-DB97-4D8D-8FBA-AC67361910E5}"/>
              </a:ext>
            </a:extLst>
          </p:cNvPr>
          <p:cNvSpPr/>
          <p:nvPr/>
        </p:nvSpPr>
        <p:spPr>
          <a:xfrm>
            <a:off x="276980" y="1789572"/>
            <a:ext cx="1728422" cy="427112"/>
          </a:xfrm>
          <a:prstGeom prst="roundRect">
            <a:avLst/>
          </a:prstGeom>
          <a:solidFill>
            <a:srgbClr val="FF0000"/>
          </a:solidFill>
          <a:ln>
            <a:solidFill>
              <a:srgbClr val="C0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Cardiac</a:t>
            </a:r>
          </a:p>
        </p:txBody>
      </p:sp>
      <p:sp>
        <p:nvSpPr>
          <p:cNvPr id="35" name="Noncardiac button">
            <a:extLst>
              <a:ext uri="{FF2B5EF4-FFF2-40B4-BE49-F238E27FC236}">
                <a16:creationId xmlns:a16="http://schemas.microsoft.com/office/drawing/2014/main" id="{F4E69EC6-4598-48BA-9A2C-CDBACCF6582C}"/>
              </a:ext>
            </a:extLst>
          </p:cNvPr>
          <p:cNvSpPr/>
          <p:nvPr/>
        </p:nvSpPr>
        <p:spPr>
          <a:xfrm>
            <a:off x="236206" y="4240487"/>
            <a:ext cx="1728422" cy="427112"/>
          </a:xfrm>
          <a:prstGeom prst="roundRect">
            <a:avLst/>
          </a:prstGeom>
          <a:effectLst>
            <a:outerShdw blurRad="50800" dist="38100" dir="2700000" algn="tl" rotWithShape="0">
              <a:prstClr val="black">
                <a:alpha val="40000"/>
              </a:prstClr>
            </a:outerShdw>
          </a:effectLst>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t>Non-cardiac</a:t>
            </a:r>
          </a:p>
        </p:txBody>
      </p:sp>
      <p:pic>
        <p:nvPicPr>
          <p:cNvPr id="39" name="Graphic 38" descr="Cursor with solid fill">
            <a:extLst>
              <a:ext uri="{FF2B5EF4-FFF2-40B4-BE49-F238E27FC236}">
                <a16:creationId xmlns:a16="http://schemas.microsoft.com/office/drawing/2014/main" id="{C0F5D350-90C2-46B6-9E06-1C728E55393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34821" y="2067077"/>
            <a:ext cx="280861" cy="280861"/>
          </a:xfrm>
          <a:prstGeom prst="rect">
            <a:avLst/>
          </a:prstGeom>
        </p:spPr>
      </p:pic>
      <p:pic>
        <p:nvPicPr>
          <p:cNvPr id="40" name="Graphic 39" descr="Cursor with solid fill">
            <a:extLst>
              <a:ext uri="{FF2B5EF4-FFF2-40B4-BE49-F238E27FC236}">
                <a16:creationId xmlns:a16="http://schemas.microsoft.com/office/drawing/2014/main" id="{2AF71B19-7BEF-44ED-AD33-BBE9350D7EE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795671" y="4527168"/>
            <a:ext cx="280861" cy="280861"/>
          </a:xfrm>
          <a:prstGeom prst="rect">
            <a:avLst/>
          </a:prstGeom>
        </p:spPr>
      </p:pic>
      <p:grpSp>
        <p:nvGrpSpPr>
          <p:cNvPr id="17" name="Cardiac explanation">
            <a:extLst>
              <a:ext uri="{FF2B5EF4-FFF2-40B4-BE49-F238E27FC236}">
                <a16:creationId xmlns:a16="http://schemas.microsoft.com/office/drawing/2014/main" id="{2D175DB3-9BF4-4A61-8743-5A3F8BCC6F4E}"/>
              </a:ext>
            </a:extLst>
          </p:cNvPr>
          <p:cNvGrpSpPr/>
          <p:nvPr/>
        </p:nvGrpSpPr>
        <p:grpSpPr>
          <a:xfrm>
            <a:off x="154504" y="2347938"/>
            <a:ext cx="3675744" cy="1905373"/>
            <a:chOff x="154504" y="2347938"/>
            <a:chExt cx="3675744" cy="1905373"/>
          </a:xfrm>
        </p:grpSpPr>
        <p:sp>
          <p:nvSpPr>
            <p:cNvPr id="4" name="TextBox 3">
              <a:extLst>
                <a:ext uri="{FF2B5EF4-FFF2-40B4-BE49-F238E27FC236}">
                  <a16:creationId xmlns:a16="http://schemas.microsoft.com/office/drawing/2014/main" id="{C4CEF04F-5931-4C33-90CF-70422D63D0B6}"/>
                </a:ext>
              </a:extLst>
            </p:cNvPr>
            <p:cNvSpPr txBox="1"/>
            <p:nvPr/>
          </p:nvSpPr>
          <p:spPr>
            <a:xfrm>
              <a:off x="204873" y="2391473"/>
              <a:ext cx="2316754" cy="369332"/>
            </a:xfrm>
            <a:prstGeom prst="rect">
              <a:avLst/>
            </a:prstGeom>
            <a:noFill/>
          </p:spPr>
          <p:txBody>
            <a:bodyPr wrap="square" rtlCol="0">
              <a:spAutoFit/>
            </a:bodyPr>
            <a:lstStyle/>
            <a:p>
              <a:r>
                <a:rPr lang="en-US" dirty="0"/>
                <a:t>Valvular heart disease</a:t>
              </a:r>
            </a:p>
          </p:txBody>
        </p:sp>
        <p:sp>
          <p:nvSpPr>
            <p:cNvPr id="41" name="TextBox 40">
              <a:extLst>
                <a:ext uri="{FF2B5EF4-FFF2-40B4-BE49-F238E27FC236}">
                  <a16:creationId xmlns:a16="http://schemas.microsoft.com/office/drawing/2014/main" id="{AF20E47B-9A3A-4075-B91E-2BAE634BD770}"/>
                </a:ext>
              </a:extLst>
            </p:cNvPr>
            <p:cNvSpPr txBox="1"/>
            <p:nvPr/>
          </p:nvSpPr>
          <p:spPr>
            <a:xfrm>
              <a:off x="189223" y="2804067"/>
              <a:ext cx="2515861" cy="369332"/>
            </a:xfrm>
            <a:prstGeom prst="rect">
              <a:avLst/>
            </a:prstGeom>
            <a:noFill/>
          </p:spPr>
          <p:txBody>
            <a:bodyPr wrap="square" rtlCol="0">
              <a:spAutoFit/>
            </a:bodyPr>
            <a:lstStyle/>
            <a:p>
              <a:r>
                <a:rPr lang="en-US" dirty="0"/>
                <a:t>Structural heart disease</a:t>
              </a:r>
            </a:p>
          </p:txBody>
        </p:sp>
        <p:sp>
          <p:nvSpPr>
            <p:cNvPr id="42" name="TextBox 41">
              <a:extLst>
                <a:ext uri="{FF2B5EF4-FFF2-40B4-BE49-F238E27FC236}">
                  <a16:creationId xmlns:a16="http://schemas.microsoft.com/office/drawing/2014/main" id="{4042C862-2B09-4A4B-BEEB-4217D93E0527}"/>
                </a:ext>
              </a:extLst>
            </p:cNvPr>
            <p:cNvSpPr txBox="1"/>
            <p:nvPr/>
          </p:nvSpPr>
          <p:spPr>
            <a:xfrm>
              <a:off x="189223" y="3678590"/>
              <a:ext cx="1486620" cy="369332"/>
            </a:xfrm>
            <a:prstGeom prst="rect">
              <a:avLst/>
            </a:prstGeom>
            <a:noFill/>
          </p:spPr>
          <p:txBody>
            <a:bodyPr wrap="square" rtlCol="0">
              <a:spAutoFit/>
            </a:bodyPr>
            <a:lstStyle/>
            <a:p>
              <a:r>
                <a:rPr lang="en-US" dirty="0"/>
                <a:t>New ischemia</a:t>
              </a:r>
            </a:p>
          </p:txBody>
        </p:sp>
        <p:sp>
          <p:nvSpPr>
            <p:cNvPr id="5" name="Right Brace 4">
              <a:extLst>
                <a:ext uri="{FF2B5EF4-FFF2-40B4-BE49-F238E27FC236}">
                  <a16:creationId xmlns:a16="http://schemas.microsoft.com/office/drawing/2014/main" id="{F388EC10-3837-4225-B1E6-39F97F73D368}"/>
                </a:ext>
              </a:extLst>
            </p:cNvPr>
            <p:cNvSpPr/>
            <p:nvPr/>
          </p:nvSpPr>
          <p:spPr>
            <a:xfrm>
              <a:off x="2654005" y="2347938"/>
              <a:ext cx="51079" cy="891694"/>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4" name="TextBox 43">
              <a:extLst>
                <a:ext uri="{FF2B5EF4-FFF2-40B4-BE49-F238E27FC236}">
                  <a16:creationId xmlns:a16="http://schemas.microsoft.com/office/drawing/2014/main" id="{FB0767DC-E1D1-4BAC-841E-E0B3A81FBCAF}"/>
                </a:ext>
              </a:extLst>
            </p:cNvPr>
            <p:cNvSpPr txBox="1"/>
            <p:nvPr/>
          </p:nvSpPr>
          <p:spPr>
            <a:xfrm>
              <a:off x="2760472" y="2619401"/>
              <a:ext cx="675381" cy="369332"/>
            </a:xfrm>
            <a:prstGeom prst="rect">
              <a:avLst/>
            </a:prstGeom>
            <a:noFill/>
          </p:spPr>
          <p:txBody>
            <a:bodyPr wrap="square" rtlCol="0">
              <a:spAutoFit/>
            </a:bodyPr>
            <a:lstStyle/>
            <a:p>
              <a:pPr algn="ctr"/>
              <a:r>
                <a:rPr lang="en-US" dirty="0"/>
                <a:t>TTE</a:t>
              </a:r>
            </a:p>
          </p:txBody>
        </p:sp>
        <p:cxnSp>
          <p:nvCxnSpPr>
            <p:cNvPr id="7" name="Straight Arrow Connector 6">
              <a:extLst>
                <a:ext uri="{FF2B5EF4-FFF2-40B4-BE49-F238E27FC236}">
                  <a16:creationId xmlns:a16="http://schemas.microsoft.com/office/drawing/2014/main" id="{15C4F014-2166-440D-86B1-D69E9E34791B}"/>
                </a:ext>
              </a:extLst>
            </p:cNvPr>
            <p:cNvCxnSpPr>
              <a:cxnSpLocks/>
              <a:stCxn id="42" idx="3"/>
            </p:cNvCxnSpPr>
            <p:nvPr/>
          </p:nvCxnSpPr>
          <p:spPr>
            <a:xfrm>
              <a:off x="1675843" y="3863256"/>
              <a:ext cx="102924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C1F76129-63E0-4CB9-82E4-C3F691456BF5}"/>
                </a:ext>
              </a:extLst>
            </p:cNvPr>
            <p:cNvSpPr txBox="1"/>
            <p:nvPr/>
          </p:nvSpPr>
          <p:spPr>
            <a:xfrm>
              <a:off x="2711141" y="3606980"/>
              <a:ext cx="1109994" cy="646331"/>
            </a:xfrm>
            <a:prstGeom prst="rect">
              <a:avLst/>
            </a:prstGeom>
            <a:noFill/>
          </p:spPr>
          <p:txBody>
            <a:bodyPr wrap="square" rtlCol="0">
              <a:spAutoFit/>
            </a:bodyPr>
            <a:lstStyle/>
            <a:p>
              <a:pPr algn="ctr"/>
              <a:r>
                <a:rPr lang="en-US" dirty="0"/>
                <a:t>ECG ± troponin</a:t>
              </a:r>
            </a:p>
          </p:txBody>
        </p:sp>
        <p:sp>
          <p:nvSpPr>
            <p:cNvPr id="56" name="TextBox 55">
              <a:extLst>
                <a:ext uri="{FF2B5EF4-FFF2-40B4-BE49-F238E27FC236}">
                  <a16:creationId xmlns:a16="http://schemas.microsoft.com/office/drawing/2014/main" id="{10FAC4E2-94FF-466F-AF63-17F768508040}"/>
                </a:ext>
              </a:extLst>
            </p:cNvPr>
            <p:cNvSpPr txBox="1"/>
            <p:nvPr/>
          </p:nvSpPr>
          <p:spPr>
            <a:xfrm>
              <a:off x="154504" y="3230888"/>
              <a:ext cx="2096411" cy="369332"/>
            </a:xfrm>
            <a:prstGeom prst="rect">
              <a:avLst/>
            </a:prstGeom>
            <a:noFill/>
          </p:spPr>
          <p:txBody>
            <a:bodyPr wrap="square" rtlCol="0">
              <a:spAutoFit/>
            </a:bodyPr>
            <a:lstStyle/>
            <a:p>
              <a:r>
                <a:rPr lang="en-US" dirty="0"/>
                <a:t>Decompensated HF</a:t>
              </a:r>
            </a:p>
          </p:txBody>
        </p:sp>
        <p:cxnSp>
          <p:nvCxnSpPr>
            <p:cNvPr id="12" name="Straight Arrow Connector 11">
              <a:extLst>
                <a:ext uri="{FF2B5EF4-FFF2-40B4-BE49-F238E27FC236}">
                  <a16:creationId xmlns:a16="http://schemas.microsoft.com/office/drawing/2014/main" id="{223A1F8E-2477-4687-A206-2FD1A948930A}"/>
                </a:ext>
              </a:extLst>
            </p:cNvPr>
            <p:cNvCxnSpPr>
              <a:cxnSpLocks/>
              <a:stCxn id="56" idx="3"/>
              <a:endCxn id="57" idx="1"/>
            </p:cNvCxnSpPr>
            <p:nvPr/>
          </p:nvCxnSpPr>
          <p:spPr>
            <a:xfrm flipV="1">
              <a:off x="2250915" y="3415404"/>
              <a:ext cx="469339" cy="1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3D439643-4674-4EA3-9704-3642E0812579}"/>
                </a:ext>
              </a:extLst>
            </p:cNvPr>
            <p:cNvSpPr txBox="1"/>
            <p:nvPr/>
          </p:nvSpPr>
          <p:spPr>
            <a:xfrm>
              <a:off x="2720254" y="3230738"/>
              <a:ext cx="1109994" cy="369332"/>
            </a:xfrm>
            <a:prstGeom prst="rect">
              <a:avLst/>
            </a:prstGeom>
            <a:noFill/>
          </p:spPr>
          <p:txBody>
            <a:bodyPr wrap="square" rtlCol="0">
              <a:spAutoFit/>
            </a:bodyPr>
            <a:lstStyle/>
            <a:p>
              <a:pPr algn="ctr"/>
              <a:r>
                <a:rPr lang="en-US" dirty="0"/>
                <a:t>± BNP</a:t>
              </a:r>
            </a:p>
          </p:txBody>
        </p:sp>
      </p:grpSp>
      <p:sp>
        <p:nvSpPr>
          <p:cNvPr id="58" name="Rectangle 57">
            <a:extLst>
              <a:ext uri="{FF2B5EF4-FFF2-40B4-BE49-F238E27FC236}">
                <a16:creationId xmlns:a16="http://schemas.microsoft.com/office/drawing/2014/main" id="{3DD63477-C465-43C8-9C26-89732E8BA1F0}"/>
              </a:ext>
            </a:extLst>
          </p:cNvPr>
          <p:cNvSpPr/>
          <p:nvPr/>
        </p:nvSpPr>
        <p:spPr>
          <a:xfrm>
            <a:off x="8340593" y="1799141"/>
            <a:ext cx="3364335" cy="2032081"/>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lang="en-US" dirty="0"/>
              <a:t>The work-up for a patient with new onset AF with RVR should include evaluation for:</a:t>
            </a:r>
          </a:p>
          <a:p>
            <a:pPr marL="342900" indent="-342900">
              <a:buAutoNum type="arabicParenR"/>
            </a:pPr>
            <a:r>
              <a:rPr lang="en-US" dirty="0"/>
              <a:t>Underlying etiology of AF</a:t>
            </a:r>
          </a:p>
          <a:p>
            <a:pPr marL="342900" indent="-342900">
              <a:buAutoNum type="arabicParenR"/>
            </a:pPr>
            <a:r>
              <a:rPr lang="en-US" dirty="0"/>
              <a:t>Possible exacerbating factors driving RVR</a:t>
            </a:r>
          </a:p>
        </p:txBody>
      </p:sp>
      <p:sp>
        <p:nvSpPr>
          <p:cNvPr id="59" name="Cardiac explanation text">
            <a:extLst>
              <a:ext uri="{FF2B5EF4-FFF2-40B4-BE49-F238E27FC236}">
                <a16:creationId xmlns:a16="http://schemas.microsoft.com/office/drawing/2014/main" id="{07CE8CDA-3629-424C-AEFF-F5EF0E4128B8}"/>
              </a:ext>
            </a:extLst>
          </p:cNvPr>
          <p:cNvSpPr/>
          <p:nvPr/>
        </p:nvSpPr>
        <p:spPr>
          <a:xfrm>
            <a:off x="8338064" y="1789572"/>
            <a:ext cx="3364335" cy="2681618"/>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lang="en-US" dirty="0"/>
              <a:t>Cardiac causes of AF include valvular heart disease, structural heart disease such as decompensated heart failure, or new ischemia. Your evaluation should include a TTE and ECG. Troponin and BNP may be helpful based on the clinical presentation. </a:t>
            </a:r>
          </a:p>
        </p:txBody>
      </p:sp>
      <p:grpSp>
        <p:nvGrpSpPr>
          <p:cNvPr id="101" name="Noncardiac explanation">
            <a:extLst>
              <a:ext uri="{FF2B5EF4-FFF2-40B4-BE49-F238E27FC236}">
                <a16:creationId xmlns:a16="http://schemas.microsoft.com/office/drawing/2014/main" id="{790ECC6A-96CB-4933-9222-381AAFD2AC8C}"/>
              </a:ext>
            </a:extLst>
          </p:cNvPr>
          <p:cNvGrpSpPr/>
          <p:nvPr/>
        </p:nvGrpSpPr>
        <p:grpSpPr>
          <a:xfrm>
            <a:off x="150075" y="4735990"/>
            <a:ext cx="5122131" cy="1813449"/>
            <a:chOff x="189224" y="4826712"/>
            <a:chExt cx="5122131" cy="1813449"/>
          </a:xfrm>
        </p:grpSpPr>
        <p:sp>
          <p:nvSpPr>
            <p:cNvPr id="43" name="TextBox 42">
              <a:extLst>
                <a:ext uri="{FF2B5EF4-FFF2-40B4-BE49-F238E27FC236}">
                  <a16:creationId xmlns:a16="http://schemas.microsoft.com/office/drawing/2014/main" id="{9F135B4D-F1B3-492A-BCB3-1F49482795BF}"/>
                </a:ext>
              </a:extLst>
            </p:cNvPr>
            <p:cNvSpPr txBox="1"/>
            <p:nvPr/>
          </p:nvSpPr>
          <p:spPr>
            <a:xfrm>
              <a:off x="204874" y="4965591"/>
              <a:ext cx="2080760" cy="369332"/>
            </a:xfrm>
            <a:prstGeom prst="rect">
              <a:avLst/>
            </a:prstGeom>
            <a:noFill/>
          </p:spPr>
          <p:txBody>
            <a:bodyPr wrap="square" rtlCol="0">
              <a:spAutoFit/>
            </a:bodyPr>
            <a:lstStyle/>
            <a:p>
              <a:r>
                <a:rPr lang="en-US" dirty="0"/>
                <a:t>Pulmonary disease</a:t>
              </a:r>
            </a:p>
          </p:txBody>
        </p:sp>
        <p:sp>
          <p:nvSpPr>
            <p:cNvPr id="60" name="TextBox 59">
              <a:extLst>
                <a:ext uri="{FF2B5EF4-FFF2-40B4-BE49-F238E27FC236}">
                  <a16:creationId xmlns:a16="http://schemas.microsoft.com/office/drawing/2014/main" id="{3CDCA5A0-402B-4755-BB7B-B1F7195E6384}"/>
                </a:ext>
              </a:extLst>
            </p:cNvPr>
            <p:cNvSpPr txBox="1"/>
            <p:nvPr/>
          </p:nvSpPr>
          <p:spPr>
            <a:xfrm>
              <a:off x="204874" y="5399115"/>
              <a:ext cx="1470969" cy="369332"/>
            </a:xfrm>
            <a:prstGeom prst="rect">
              <a:avLst/>
            </a:prstGeom>
            <a:noFill/>
          </p:spPr>
          <p:txBody>
            <a:bodyPr wrap="square" rtlCol="0">
              <a:spAutoFit/>
            </a:bodyPr>
            <a:lstStyle/>
            <a:p>
              <a:r>
                <a:rPr lang="en-US" dirty="0"/>
                <a:t>Drugs/ toxins</a:t>
              </a:r>
            </a:p>
          </p:txBody>
        </p:sp>
        <p:sp>
          <p:nvSpPr>
            <p:cNvPr id="61" name="TextBox 60">
              <a:extLst>
                <a:ext uri="{FF2B5EF4-FFF2-40B4-BE49-F238E27FC236}">
                  <a16:creationId xmlns:a16="http://schemas.microsoft.com/office/drawing/2014/main" id="{B74FC5AD-5FAD-4D24-828E-6DE33C881741}"/>
                </a:ext>
              </a:extLst>
            </p:cNvPr>
            <p:cNvSpPr txBox="1"/>
            <p:nvPr/>
          </p:nvSpPr>
          <p:spPr>
            <a:xfrm>
              <a:off x="204873" y="5825936"/>
              <a:ext cx="1221620" cy="369332"/>
            </a:xfrm>
            <a:prstGeom prst="rect">
              <a:avLst/>
            </a:prstGeom>
            <a:noFill/>
          </p:spPr>
          <p:txBody>
            <a:bodyPr wrap="square" rtlCol="0">
              <a:spAutoFit/>
            </a:bodyPr>
            <a:lstStyle/>
            <a:p>
              <a:r>
                <a:rPr lang="en-US" dirty="0"/>
                <a:t>Metabolic</a:t>
              </a:r>
            </a:p>
          </p:txBody>
        </p:sp>
        <p:sp>
          <p:nvSpPr>
            <p:cNvPr id="62" name="TextBox 61">
              <a:extLst>
                <a:ext uri="{FF2B5EF4-FFF2-40B4-BE49-F238E27FC236}">
                  <a16:creationId xmlns:a16="http://schemas.microsoft.com/office/drawing/2014/main" id="{96E6F3EA-AD56-4899-ADCF-6F215C2E18AE}"/>
                </a:ext>
              </a:extLst>
            </p:cNvPr>
            <p:cNvSpPr txBox="1"/>
            <p:nvPr/>
          </p:nvSpPr>
          <p:spPr>
            <a:xfrm>
              <a:off x="189224" y="6270829"/>
              <a:ext cx="1845886" cy="369332"/>
            </a:xfrm>
            <a:prstGeom prst="rect">
              <a:avLst/>
            </a:prstGeom>
            <a:noFill/>
          </p:spPr>
          <p:txBody>
            <a:bodyPr wrap="square" rtlCol="0">
              <a:spAutoFit/>
            </a:bodyPr>
            <a:lstStyle/>
            <a:p>
              <a:r>
                <a:rPr lang="en-US" dirty="0"/>
                <a:t>Endocrinopathies</a:t>
              </a:r>
            </a:p>
          </p:txBody>
        </p:sp>
        <p:cxnSp>
          <p:nvCxnSpPr>
            <p:cNvPr id="21" name="Straight Arrow Connector 20">
              <a:extLst>
                <a:ext uri="{FF2B5EF4-FFF2-40B4-BE49-F238E27FC236}">
                  <a16:creationId xmlns:a16="http://schemas.microsoft.com/office/drawing/2014/main" id="{E153471B-F12C-47CA-A5F6-07BAFF22456B}"/>
                </a:ext>
              </a:extLst>
            </p:cNvPr>
            <p:cNvCxnSpPr>
              <a:cxnSpLocks/>
              <a:stCxn id="43" idx="3"/>
              <a:endCxn id="65" idx="1"/>
            </p:cNvCxnSpPr>
            <p:nvPr/>
          </p:nvCxnSpPr>
          <p:spPr>
            <a:xfrm flipV="1">
              <a:off x="2285634" y="5149878"/>
              <a:ext cx="393910" cy="3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CF0ACB87-9EF0-4043-ACBE-9FCA83643919}"/>
                </a:ext>
              </a:extLst>
            </p:cNvPr>
            <p:cNvSpPr txBox="1"/>
            <p:nvPr/>
          </p:nvSpPr>
          <p:spPr>
            <a:xfrm>
              <a:off x="2679544" y="4826712"/>
              <a:ext cx="1591870" cy="646331"/>
            </a:xfrm>
            <a:prstGeom prst="rect">
              <a:avLst/>
            </a:prstGeom>
            <a:noFill/>
          </p:spPr>
          <p:txBody>
            <a:bodyPr wrap="square" rtlCol="0">
              <a:spAutoFit/>
            </a:bodyPr>
            <a:lstStyle/>
            <a:p>
              <a:pPr algn="ctr"/>
              <a:r>
                <a:rPr lang="en-US" dirty="0"/>
                <a:t>TTE, ± CXR, </a:t>
              </a:r>
            </a:p>
            <a:p>
              <a:pPr algn="ctr"/>
              <a:r>
                <a:rPr lang="en-US" dirty="0"/>
                <a:t>± OSA screen </a:t>
              </a:r>
            </a:p>
          </p:txBody>
        </p:sp>
        <p:sp>
          <p:nvSpPr>
            <p:cNvPr id="70" name="TextBox 69">
              <a:extLst>
                <a:ext uri="{FF2B5EF4-FFF2-40B4-BE49-F238E27FC236}">
                  <a16:creationId xmlns:a16="http://schemas.microsoft.com/office/drawing/2014/main" id="{1E02E436-28BA-4AC7-A473-E29BB8F47249}"/>
                </a:ext>
              </a:extLst>
            </p:cNvPr>
            <p:cNvSpPr txBox="1"/>
            <p:nvPr/>
          </p:nvSpPr>
          <p:spPr>
            <a:xfrm>
              <a:off x="1949939" y="5397998"/>
              <a:ext cx="3361416" cy="369332"/>
            </a:xfrm>
            <a:prstGeom prst="rect">
              <a:avLst/>
            </a:prstGeom>
            <a:noFill/>
          </p:spPr>
          <p:txBody>
            <a:bodyPr wrap="square" rtlCol="0">
              <a:spAutoFit/>
            </a:bodyPr>
            <a:lstStyle/>
            <a:p>
              <a:pPr algn="ctr"/>
              <a:r>
                <a:rPr lang="en-US" dirty="0"/>
                <a:t>± urine tox screen, ETOH level</a:t>
              </a:r>
            </a:p>
          </p:txBody>
        </p:sp>
        <p:cxnSp>
          <p:nvCxnSpPr>
            <p:cNvPr id="64" name="Straight Arrow Connector 63">
              <a:extLst>
                <a:ext uri="{FF2B5EF4-FFF2-40B4-BE49-F238E27FC236}">
                  <a16:creationId xmlns:a16="http://schemas.microsoft.com/office/drawing/2014/main" id="{68975C8D-2D94-411F-B94A-06696DA6ECF0}"/>
                </a:ext>
              </a:extLst>
            </p:cNvPr>
            <p:cNvCxnSpPr>
              <a:cxnSpLocks/>
              <a:stCxn id="60" idx="3"/>
              <a:endCxn id="70" idx="1"/>
            </p:cNvCxnSpPr>
            <p:nvPr/>
          </p:nvCxnSpPr>
          <p:spPr>
            <a:xfrm flipV="1">
              <a:off x="1675843" y="5582664"/>
              <a:ext cx="274096" cy="11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0" name="TextBox 79">
              <a:extLst>
                <a:ext uri="{FF2B5EF4-FFF2-40B4-BE49-F238E27FC236}">
                  <a16:creationId xmlns:a16="http://schemas.microsoft.com/office/drawing/2014/main" id="{C1C3476D-B0ED-419B-BFA0-ADA9B041823A}"/>
                </a:ext>
              </a:extLst>
            </p:cNvPr>
            <p:cNvSpPr txBox="1"/>
            <p:nvPr/>
          </p:nvSpPr>
          <p:spPr>
            <a:xfrm>
              <a:off x="1975250" y="5825936"/>
              <a:ext cx="1845885" cy="369332"/>
            </a:xfrm>
            <a:prstGeom prst="rect">
              <a:avLst/>
            </a:prstGeom>
            <a:noFill/>
          </p:spPr>
          <p:txBody>
            <a:bodyPr wrap="square" rtlCol="0">
              <a:spAutoFit/>
            </a:bodyPr>
            <a:lstStyle/>
            <a:p>
              <a:pPr algn="ctr"/>
              <a:r>
                <a:rPr lang="en-US" dirty="0"/>
                <a:t>BMP + Mg, CBC</a:t>
              </a:r>
            </a:p>
          </p:txBody>
        </p:sp>
        <p:cxnSp>
          <p:nvCxnSpPr>
            <p:cNvPr id="81" name="Straight Arrow Connector 80">
              <a:extLst>
                <a:ext uri="{FF2B5EF4-FFF2-40B4-BE49-F238E27FC236}">
                  <a16:creationId xmlns:a16="http://schemas.microsoft.com/office/drawing/2014/main" id="{12FC566E-BFAB-47FD-835A-6389746A3307}"/>
                </a:ext>
              </a:extLst>
            </p:cNvPr>
            <p:cNvCxnSpPr>
              <a:cxnSpLocks/>
              <a:stCxn id="61" idx="3"/>
              <a:endCxn id="80" idx="1"/>
            </p:cNvCxnSpPr>
            <p:nvPr/>
          </p:nvCxnSpPr>
          <p:spPr>
            <a:xfrm>
              <a:off x="1426493" y="6010602"/>
              <a:ext cx="54875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7" name="TextBox 86">
              <a:extLst>
                <a:ext uri="{FF2B5EF4-FFF2-40B4-BE49-F238E27FC236}">
                  <a16:creationId xmlns:a16="http://schemas.microsoft.com/office/drawing/2014/main" id="{83544D85-6F41-43E3-B738-C90812085A43}"/>
                </a:ext>
              </a:extLst>
            </p:cNvPr>
            <p:cNvSpPr txBox="1"/>
            <p:nvPr/>
          </p:nvSpPr>
          <p:spPr>
            <a:xfrm>
              <a:off x="2285634" y="6267801"/>
              <a:ext cx="1643593" cy="369332"/>
            </a:xfrm>
            <a:prstGeom prst="rect">
              <a:avLst/>
            </a:prstGeom>
            <a:noFill/>
          </p:spPr>
          <p:txBody>
            <a:bodyPr wrap="square" rtlCol="0">
              <a:spAutoFit/>
            </a:bodyPr>
            <a:lstStyle/>
            <a:p>
              <a:pPr algn="ctr"/>
              <a:r>
                <a:rPr lang="en-US" dirty="0"/>
                <a:t>TSH + reflex T4</a:t>
              </a:r>
            </a:p>
          </p:txBody>
        </p:sp>
        <p:cxnSp>
          <p:nvCxnSpPr>
            <p:cNvPr id="90" name="Straight Arrow Connector 89">
              <a:extLst>
                <a:ext uri="{FF2B5EF4-FFF2-40B4-BE49-F238E27FC236}">
                  <a16:creationId xmlns:a16="http://schemas.microsoft.com/office/drawing/2014/main" id="{34C315ED-CB4D-4253-9665-3448F30D2084}"/>
                </a:ext>
              </a:extLst>
            </p:cNvPr>
            <p:cNvCxnSpPr>
              <a:cxnSpLocks/>
              <a:stCxn id="62" idx="3"/>
              <a:endCxn id="87" idx="1"/>
            </p:cNvCxnSpPr>
            <p:nvPr/>
          </p:nvCxnSpPr>
          <p:spPr>
            <a:xfrm flipV="1">
              <a:off x="2035110" y="6452467"/>
              <a:ext cx="250524" cy="30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102" name="Nonardiac explanation text">
            <a:extLst>
              <a:ext uri="{FF2B5EF4-FFF2-40B4-BE49-F238E27FC236}">
                <a16:creationId xmlns:a16="http://schemas.microsoft.com/office/drawing/2014/main" id="{4FAC9738-C243-44B5-9F34-999F52230600}"/>
              </a:ext>
            </a:extLst>
          </p:cNvPr>
          <p:cNvSpPr/>
          <p:nvPr/>
        </p:nvSpPr>
        <p:spPr>
          <a:xfrm>
            <a:off x="8340593" y="1779134"/>
            <a:ext cx="3364335" cy="269205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lang="en-US" dirty="0"/>
              <a:t>Non-cardiac causes of AF can include electrolyte imbalances, thyrotoxicosis, infection/sepsis, volume overload, OSA, COPD, and intoxication or withdrawal from drugs/toxins.</a:t>
            </a:r>
          </a:p>
        </p:txBody>
      </p:sp>
      <p:sp>
        <p:nvSpPr>
          <p:cNvPr id="78" name="Rectangle: Rounded Corners 77">
            <a:hlinkClick r:id="rId8" action="ppaction://hlinksldjump"/>
            <a:extLst>
              <a:ext uri="{FF2B5EF4-FFF2-40B4-BE49-F238E27FC236}">
                <a16:creationId xmlns:a16="http://schemas.microsoft.com/office/drawing/2014/main" id="{92863E4E-A73B-4DFB-9187-9308410364EB}"/>
              </a:ext>
            </a:extLst>
          </p:cNvPr>
          <p:cNvSpPr/>
          <p:nvPr/>
        </p:nvSpPr>
        <p:spPr>
          <a:xfrm>
            <a:off x="10431173" y="97577"/>
            <a:ext cx="1637176" cy="350310"/>
          </a:xfrm>
          <a:prstGeom prst="roundRect">
            <a:avLst/>
          </a:prstGeom>
          <a:solidFill>
            <a:schemeClr val="bg1"/>
          </a:solidFill>
          <a:ln w="28575"/>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accent1"/>
                </a:solidFill>
              </a:rPr>
              <a:t>Pathophysiology</a:t>
            </a:r>
          </a:p>
        </p:txBody>
      </p:sp>
      <p:pic>
        <p:nvPicPr>
          <p:cNvPr id="79" name="Graphic 78" descr="Cursor with solid fill">
            <a:extLst>
              <a:ext uri="{FF2B5EF4-FFF2-40B4-BE49-F238E27FC236}">
                <a16:creationId xmlns:a16="http://schemas.microsoft.com/office/drawing/2014/main" id="{915AFDA1-4193-42DC-8E8B-A3B2ACB2120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908338" y="272732"/>
            <a:ext cx="278936" cy="278936"/>
          </a:xfrm>
          <a:prstGeom prst="rect">
            <a:avLst/>
          </a:prstGeom>
        </p:spPr>
      </p:pic>
      <p:sp>
        <p:nvSpPr>
          <p:cNvPr id="82" name="Rectangle: Rounded Corners 81">
            <a:hlinkClick r:id="rId9" action="ppaction://hlinksldjump"/>
            <a:extLst>
              <a:ext uri="{FF2B5EF4-FFF2-40B4-BE49-F238E27FC236}">
                <a16:creationId xmlns:a16="http://schemas.microsoft.com/office/drawing/2014/main" id="{5FD95CA8-8109-47FF-93D6-76096C4F8150}"/>
              </a:ext>
            </a:extLst>
          </p:cNvPr>
          <p:cNvSpPr/>
          <p:nvPr/>
        </p:nvSpPr>
        <p:spPr>
          <a:xfrm>
            <a:off x="11080777" y="520765"/>
            <a:ext cx="993105" cy="330385"/>
          </a:xfrm>
          <a:prstGeom prst="roundRect">
            <a:avLst/>
          </a:prstGeom>
          <a:ln>
            <a:solidFill>
              <a:schemeClr val="accent5"/>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600" dirty="0">
                <a:solidFill>
                  <a:schemeClr val="bg1"/>
                </a:solidFill>
              </a:rPr>
              <a:t>Work-up</a:t>
            </a:r>
          </a:p>
        </p:txBody>
      </p:sp>
      <p:sp>
        <p:nvSpPr>
          <p:cNvPr id="84" name="Rectangle: Rounded Corners 83">
            <a:hlinkClick r:id="rId10" action="ppaction://hlinksldjump"/>
            <a:extLst>
              <a:ext uri="{FF2B5EF4-FFF2-40B4-BE49-F238E27FC236}">
                <a16:creationId xmlns:a16="http://schemas.microsoft.com/office/drawing/2014/main" id="{EBB915D0-E56F-47F3-84C0-6C9828F5865C}"/>
              </a:ext>
            </a:extLst>
          </p:cNvPr>
          <p:cNvSpPr/>
          <p:nvPr/>
        </p:nvSpPr>
        <p:spPr>
          <a:xfrm>
            <a:off x="10675924" y="930048"/>
            <a:ext cx="1392426" cy="350310"/>
          </a:xfrm>
          <a:prstGeom prst="roundRect">
            <a:avLst/>
          </a:prstGeom>
          <a:solidFill>
            <a:schemeClr val="bg1"/>
          </a:solidFill>
          <a:ln w="28575"/>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accent1"/>
                </a:solidFill>
              </a:rPr>
              <a:t>Management</a:t>
            </a:r>
          </a:p>
        </p:txBody>
      </p:sp>
      <p:pic>
        <p:nvPicPr>
          <p:cNvPr id="85" name="Graphic 84" descr="Cursor with solid fill">
            <a:extLst>
              <a:ext uri="{FF2B5EF4-FFF2-40B4-BE49-F238E27FC236}">
                <a16:creationId xmlns:a16="http://schemas.microsoft.com/office/drawing/2014/main" id="{FEA4864F-80EF-4094-96F2-6AEE8AE20A3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912507" y="1070433"/>
            <a:ext cx="280861" cy="280861"/>
          </a:xfrm>
          <a:prstGeom prst="rect">
            <a:avLst/>
          </a:prstGeom>
        </p:spPr>
      </p:pic>
      <p:sp>
        <p:nvSpPr>
          <p:cNvPr id="86" name="Rectangle: Rounded Corners 85">
            <a:hlinkClick r:id="rId11" action="ppaction://hlinksldjump"/>
            <a:extLst>
              <a:ext uri="{FF2B5EF4-FFF2-40B4-BE49-F238E27FC236}">
                <a16:creationId xmlns:a16="http://schemas.microsoft.com/office/drawing/2014/main" id="{EDF49A5E-EB2E-4DE1-9E7A-849C81FFC0D7}"/>
              </a:ext>
            </a:extLst>
          </p:cNvPr>
          <p:cNvSpPr/>
          <p:nvPr/>
        </p:nvSpPr>
        <p:spPr>
          <a:xfrm>
            <a:off x="11289210" y="1330295"/>
            <a:ext cx="779139" cy="350310"/>
          </a:xfrm>
          <a:prstGeom prst="roundRect">
            <a:avLst/>
          </a:prstGeom>
          <a:solidFill>
            <a:schemeClr val="bg1"/>
          </a:solidFill>
          <a:ln w="28575"/>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accent1"/>
                </a:solidFill>
              </a:rPr>
              <a:t>Cases</a:t>
            </a:r>
          </a:p>
        </p:txBody>
      </p:sp>
      <p:pic>
        <p:nvPicPr>
          <p:cNvPr id="88" name="Graphic 87" descr="Cursor with solid fill">
            <a:extLst>
              <a:ext uri="{FF2B5EF4-FFF2-40B4-BE49-F238E27FC236}">
                <a16:creationId xmlns:a16="http://schemas.microsoft.com/office/drawing/2014/main" id="{727EFFF9-569B-4B00-B48E-83CC178201E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912507" y="1480541"/>
            <a:ext cx="280861" cy="280861"/>
          </a:xfrm>
          <a:prstGeom prst="rect">
            <a:avLst/>
          </a:prstGeom>
        </p:spPr>
      </p:pic>
    </p:spTree>
    <p:extLst>
      <p:ext uri="{BB962C8B-B14F-4D97-AF65-F5344CB8AC3E}">
        <p14:creationId xmlns:p14="http://schemas.microsoft.com/office/powerpoint/2010/main" val="4289505753"/>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39"/>
                                        </p:tgtEl>
                                        <p:attrNameLst>
                                          <p:attrName>style.visibility</p:attrName>
                                        </p:attrNameLst>
                                      </p:cBhvr>
                                      <p:to>
                                        <p:strVal val="hidden"/>
                                      </p:to>
                                    </p:set>
                                  </p:childTnLst>
                                </p:cTn>
                              </p:par>
                              <p:par>
                                <p:cTn id="9" presetID="1" presetClass="entr" presetSubtype="0" fill="hold" grpId="0" nodeType="withEffect">
                                  <p:stCondLst>
                                    <p:cond delay="0"/>
                                  </p:stCondLst>
                                  <p:childTnLst>
                                    <p:set>
                                      <p:cBhvr>
                                        <p:cTn id="10" dur="1" fill="hold">
                                          <p:stCondLst>
                                            <p:cond delay="0"/>
                                          </p:stCondLst>
                                        </p:cTn>
                                        <p:tgtEl>
                                          <p:spTgt spid="59"/>
                                        </p:tgtEl>
                                        <p:attrNameLst>
                                          <p:attrName>style.visibility</p:attrName>
                                        </p:attrNameLst>
                                      </p:cBhvr>
                                      <p:to>
                                        <p:strVal val="visible"/>
                                      </p:to>
                                    </p:set>
                                  </p:childTnLst>
                                </p:cTn>
                              </p:par>
                            </p:childTnLst>
                          </p:cTn>
                        </p:par>
                      </p:childTnLst>
                    </p:cTn>
                  </p:par>
                </p:childTnLst>
              </p:cTn>
              <p:nextCondLst>
                <p:cond evt="onClick" delay="0">
                  <p:tgtEl>
                    <p:spTgt spid="2"/>
                  </p:tgtEl>
                </p:cond>
              </p:nextCondLst>
            </p:seq>
            <p:seq concurrent="1" nextAc="seek">
              <p:cTn id="11" restart="whenNotActive" fill="hold" evtFilter="cancelBubble" nodeType="interactiveSeq">
                <p:stCondLst>
                  <p:cond evt="onClick" delay="0">
                    <p:tgtEl>
                      <p:spTgt spid="35"/>
                    </p:tgtEl>
                  </p:cond>
                </p:stCondLst>
                <p:endSync evt="end" delay="0">
                  <p:rtn val="all"/>
                </p:endSync>
                <p:childTnLst>
                  <p:par>
                    <p:cTn id="12" fill="hold">
                      <p:stCondLst>
                        <p:cond delay="0"/>
                      </p:stCondLst>
                      <p:childTnLst>
                        <p:par>
                          <p:cTn id="13" fill="hold">
                            <p:stCondLst>
                              <p:cond delay="0"/>
                            </p:stCondLst>
                            <p:childTnLst>
                              <p:par>
                                <p:cTn id="14" presetID="1" presetClass="exit" presetSubtype="0" fill="hold" nodeType="clickEffect">
                                  <p:stCondLst>
                                    <p:cond delay="0"/>
                                  </p:stCondLst>
                                  <p:childTnLst>
                                    <p:set>
                                      <p:cBhvr>
                                        <p:cTn id="15" dur="1" fill="hold">
                                          <p:stCondLst>
                                            <p:cond delay="0"/>
                                          </p:stCondLst>
                                        </p:cTn>
                                        <p:tgtEl>
                                          <p:spTgt spid="40"/>
                                        </p:tgtEl>
                                        <p:attrNameLst>
                                          <p:attrName>style.visibility</p:attrName>
                                        </p:attrNameLst>
                                      </p:cBhvr>
                                      <p:to>
                                        <p:strVal val="hidden"/>
                                      </p:to>
                                    </p:set>
                                  </p:childTnLst>
                                </p:cTn>
                              </p:par>
                              <p:par>
                                <p:cTn id="16" presetID="1" presetClass="entr" presetSubtype="0" fill="hold" nodeType="withEffect">
                                  <p:stCondLst>
                                    <p:cond delay="0"/>
                                  </p:stCondLst>
                                  <p:childTnLst>
                                    <p:set>
                                      <p:cBhvr>
                                        <p:cTn id="17" dur="1" fill="hold">
                                          <p:stCondLst>
                                            <p:cond delay="0"/>
                                          </p:stCondLst>
                                        </p:cTn>
                                        <p:tgtEl>
                                          <p:spTgt spid="101"/>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102"/>
                                        </p:tgtEl>
                                        <p:attrNameLst>
                                          <p:attrName>style.visibility</p:attrName>
                                        </p:attrNameLst>
                                      </p:cBhvr>
                                      <p:to>
                                        <p:strVal val="visible"/>
                                      </p:to>
                                    </p:set>
                                  </p:childTnLst>
                                </p:cTn>
                              </p:par>
                            </p:childTnLst>
                          </p:cTn>
                        </p:par>
                      </p:childTnLst>
                    </p:cTn>
                  </p:par>
                </p:childTnLst>
              </p:cTn>
              <p:nextCondLst>
                <p:cond evt="onClick" delay="0">
                  <p:tgtEl>
                    <p:spTgt spid="35"/>
                  </p:tgtEl>
                </p:cond>
              </p:nextCondLst>
            </p:seq>
          </p:childTnLst>
        </p:cTn>
      </p:par>
    </p:tnLst>
    <p:bldLst>
      <p:bldP spid="59" grpId="0" animBg="1"/>
      <p:bldP spid="10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Freeform: Shape 17">
            <a:extLst>
              <a:ext uri="{FF2B5EF4-FFF2-40B4-BE49-F238E27FC236}">
                <a16:creationId xmlns:a16="http://schemas.microsoft.com/office/drawing/2014/main" id="{D13FC38C-52EC-4E3A-B581-F43980BFDA96}"/>
              </a:ext>
            </a:extLst>
          </p:cNvPr>
          <p:cNvSpPr/>
          <p:nvPr/>
        </p:nvSpPr>
        <p:spPr>
          <a:xfrm>
            <a:off x="5599019" y="3039135"/>
            <a:ext cx="2193293" cy="2591641"/>
          </a:xfrm>
          <a:custGeom>
            <a:avLst/>
            <a:gdLst>
              <a:gd name="connsiteX0" fmla="*/ 0 w 2454387"/>
              <a:gd name="connsiteY0" fmla="*/ 0 h 2704793"/>
              <a:gd name="connsiteX1" fmla="*/ 1297172 w 2454387"/>
              <a:gd name="connsiteY1" fmla="*/ 2530548 h 2704793"/>
              <a:gd name="connsiteX2" fmla="*/ 2339163 w 2454387"/>
              <a:gd name="connsiteY2" fmla="*/ 2360427 h 2704793"/>
              <a:gd name="connsiteX3" fmla="*/ 2381693 w 2454387"/>
              <a:gd name="connsiteY3" fmla="*/ 1360967 h 2704793"/>
              <a:gd name="connsiteX0" fmla="*/ 0 w 2408040"/>
              <a:gd name="connsiteY0" fmla="*/ 0 h 2671586"/>
              <a:gd name="connsiteX1" fmla="*/ 1297172 w 2408040"/>
              <a:gd name="connsiteY1" fmla="*/ 2530548 h 2671586"/>
              <a:gd name="connsiteX2" fmla="*/ 2200939 w 2408040"/>
              <a:gd name="connsiteY2" fmla="*/ 2243469 h 2671586"/>
              <a:gd name="connsiteX3" fmla="*/ 2381693 w 2408040"/>
              <a:gd name="connsiteY3" fmla="*/ 1360967 h 2671586"/>
              <a:gd name="connsiteX0" fmla="*/ 0 w 2408040"/>
              <a:gd name="connsiteY0" fmla="*/ 0 h 2997607"/>
              <a:gd name="connsiteX1" fmla="*/ 1765004 w 2408040"/>
              <a:gd name="connsiteY1" fmla="*/ 2902687 h 2997607"/>
              <a:gd name="connsiteX2" fmla="*/ 2200939 w 2408040"/>
              <a:gd name="connsiteY2" fmla="*/ 2243469 h 2997607"/>
              <a:gd name="connsiteX3" fmla="*/ 2381693 w 2408040"/>
              <a:gd name="connsiteY3" fmla="*/ 1360967 h 2997607"/>
              <a:gd name="connsiteX0" fmla="*/ 0 w 2408040"/>
              <a:gd name="connsiteY0" fmla="*/ 0 h 2997607"/>
              <a:gd name="connsiteX1" fmla="*/ 1765004 w 2408040"/>
              <a:gd name="connsiteY1" fmla="*/ 2902687 h 2997607"/>
              <a:gd name="connsiteX2" fmla="*/ 2200939 w 2408040"/>
              <a:gd name="connsiteY2" fmla="*/ 2243469 h 2997607"/>
              <a:gd name="connsiteX3" fmla="*/ 2381693 w 2408040"/>
              <a:gd name="connsiteY3" fmla="*/ 1360967 h 2997607"/>
              <a:gd name="connsiteX0" fmla="*/ 0 w 2381693"/>
              <a:gd name="connsiteY0" fmla="*/ 0 h 2926690"/>
              <a:gd name="connsiteX1" fmla="*/ 1765004 w 2381693"/>
              <a:gd name="connsiteY1" fmla="*/ 2902687 h 2926690"/>
              <a:gd name="connsiteX2" fmla="*/ 2381693 w 2381693"/>
              <a:gd name="connsiteY2" fmla="*/ 1360967 h 2926690"/>
              <a:gd name="connsiteX0" fmla="*/ 0 w 2381693"/>
              <a:gd name="connsiteY0" fmla="*/ 0 h 2822052"/>
              <a:gd name="connsiteX1" fmla="*/ 1860697 w 2381693"/>
              <a:gd name="connsiteY1" fmla="*/ 2796361 h 2822052"/>
              <a:gd name="connsiteX2" fmla="*/ 2381693 w 2381693"/>
              <a:gd name="connsiteY2" fmla="*/ 1360967 h 2822052"/>
              <a:gd name="connsiteX0" fmla="*/ 0 w 2349795"/>
              <a:gd name="connsiteY0" fmla="*/ 0 h 2898970"/>
              <a:gd name="connsiteX1" fmla="*/ 1828799 w 2349795"/>
              <a:gd name="connsiteY1" fmla="*/ 2870789 h 2898970"/>
              <a:gd name="connsiteX2" fmla="*/ 2349795 w 2349795"/>
              <a:gd name="connsiteY2" fmla="*/ 1435395 h 2898970"/>
              <a:gd name="connsiteX0" fmla="*/ 0 w 2355903"/>
              <a:gd name="connsiteY0" fmla="*/ 0 h 2900999"/>
              <a:gd name="connsiteX1" fmla="*/ 1828799 w 2355903"/>
              <a:gd name="connsiteY1" fmla="*/ 2870789 h 2900999"/>
              <a:gd name="connsiteX2" fmla="*/ 2349795 w 2355903"/>
              <a:gd name="connsiteY2" fmla="*/ 1435395 h 2900999"/>
            </a:gdLst>
            <a:ahLst/>
            <a:cxnLst>
              <a:cxn ang="0">
                <a:pos x="connsiteX0" y="connsiteY0"/>
              </a:cxn>
              <a:cxn ang="0">
                <a:pos x="connsiteX1" y="connsiteY1"/>
              </a:cxn>
              <a:cxn ang="0">
                <a:pos x="connsiteX2" y="connsiteY2"/>
              </a:cxn>
            </a:cxnLst>
            <a:rect l="l" t="t" r="r" b="b"/>
            <a:pathLst>
              <a:path w="2355903" h="2900999">
                <a:moveTo>
                  <a:pt x="0" y="0"/>
                </a:moveTo>
                <a:cubicBezTo>
                  <a:pt x="453656" y="1068572"/>
                  <a:pt x="1437167" y="2631557"/>
                  <a:pt x="1828799" y="2870789"/>
                </a:cubicBezTo>
                <a:cubicBezTo>
                  <a:pt x="2220432" y="3110022"/>
                  <a:pt x="2391439" y="1862913"/>
                  <a:pt x="2349795" y="1435395"/>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2131A475-74B5-4F88-A09B-E234BABEB8BE}"/>
              </a:ext>
            </a:extLst>
          </p:cNvPr>
          <p:cNvSpPr/>
          <p:nvPr/>
        </p:nvSpPr>
        <p:spPr>
          <a:xfrm>
            <a:off x="5420843" y="4169483"/>
            <a:ext cx="1202962" cy="1575079"/>
          </a:xfrm>
          <a:custGeom>
            <a:avLst/>
            <a:gdLst>
              <a:gd name="connsiteX0" fmla="*/ 925033 w 1658735"/>
              <a:gd name="connsiteY0" fmla="*/ 0 h 1552609"/>
              <a:gd name="connsiteX1" fmla="*/ 1658679 w 1658735"/>
              <a:gd name="connsiteY1" fmla="*/ 1360967 h 1552609"/>
              <a:gd name="connsiteX2" fmla="*/ 893135 w 1658735"/>
              <a:gd name="connsiteY2" fmla="*/ 1520456 h 1552609"/>
              <a:gd name="connsiteX3" fmla="*/ 0 w 1658735"/>
              <a:gd name="connsiteY3" fmla="*/ 1148316 h 1552609"/>
              <a:gd name="connsiteX0" fmla="*/ 925033 w 1414291"/>
              <a:gd name="connsiteY0" fmla="*/ 0 h 1612582"/>
              <a:gd name="connsiteX1" fmla="*/ 1414130 w 1414291"/>
              <a:gd name="connsiteY1" fmla="*/ 1477925 h 1612582"/>
              <a:gd name="connsiteX2" fmla="*/ 893135 w 1414291"/>
              <a:gd name="connsiteY2" fmla="*/ 1520456 h 1612582"/>
              <a:gd name="connsiteX3" fmla="*/ 0 w 1414291"/>
              <a:gd name="connsiteY3" fmla="*/ 1148316 h 1612582"/>
              <a:gd name="connsiteX0" fmla="*/ 861238 w 1414213"/>
              <a:gd name="connsiteY0" fmla="*/ 0 h 1794959"/>
              <a:gd name="connsiteX1" fmla="*/ 1414130 w 1414213"/>
              <a:gd name="connsiteY1" fmla="*/ 1648046 h 1794959"/>
              <a:gd name="connsiteX2" fmla="*/ 893135 w 1414213"/>
              <a:gd name="connsiteY2" fmla="*/ 1690577 h 1794959"/>
              <a:gd name="connsiteX3" fmla="*/ 0 w 1414213"/>
              <a:gd name="connsiteY3" fmla="*/ 1318437 h 1794959"/>
              <a:gd name="connsiteX0" fmla="*/ 861238 w 1448677"/>
              <a:gd name="connsiteY0" fmla="*/ 0 h 1705131"/>
              <a:gd name="connsiteX1" fmla="*/ 1414130 w 1448677"/>
              <a:gd name="connsiteY1" fmla="*/ 1648046 h 1705131"/>
              <a:gd name="connsiteX2" fmla="*/ 0 w 1448677"/>
              <a:gd name="connsiteY2" fmla="*/ 1318437 h 1705131"/>
              <a:gd name="connsiteX0" fmla="*/ 861238 w 1188978"/>
              <a:gd name="connsiteY0" fmla="*/ 0 h 1714835"/>
              <a:gd name="connsiteX1" fmla="*/ 1105786 w 1188978"/>
              <a:gd name="connsiteY1" fmla="*/ 1658679 h 1714835"/>
              <a:gd name="connsiteX2" fmla="*/ 0 w 1188978"/>
              <a:gd name="connsiteY2" fmla="*/ 1318437 h 1714835"/>
              <a:gd name="connsiteX0" fmla="*/ 839973 w 1166148"/>
              <a:gd name="connsiteY0" fmla="*/ 0 h 1711803"/>
              <a:gd name="connsiteX1" fmla="*/ 1084521 w 1166148"/>
              <a:gd name="connsiteY1" fmla="*/ 1658679 h 1711803"/>
              <a:gd name="connsiteX2" fmla="*/ 0 w 1166148"/>
              <a:gd name="connsiteY2" fmla="*/ 1297172 h 1711803"/>
              <a:gd name="connsiteX0" fmla="*/ 839973 w 1166148"/>
              <a:gd name="connsiteY0" fmla="*/ 0 h 1725346"/>
              <a:gd name="connsiteX1" fmla="*/ 1084521 w 1166148"/>
              <a:gd name="connsiteY1" fmla="*/ 1658679 h 1725346"/>
              <a:gd name="connsiteX2" fmla="*/ 0 w 1166148"/>
              <a:gd name="connsiteY2" fmla="*/ 1297172 h 1725346"/>
              <a:gd name="connsiteX0" fmla="*/ 839973 w 1292149"/>
              <a:gd name="connsiteY0" fmla="*/ 0 h 1763092"/>
              <a:gd name="connsiteX1" fmla="*/ 1244009 w 1292149"/>
              <a:gd name="connsiteY1" fmla="*/ 1701210 h 1763092"/>
              <a:gd name="connsiteX2" fmla="*/ 0 w 1292149"/>
              <a:gd name="connsiteY2" fmla="*/ 1297172 h 1763092"/>
            </a:gdLst>
            <a:ahLst/>
            <a:cxnLst>
              <a:cxn ang="0">
                <a:pos x="connsiteX0" y="connsiteY0"/>
              </a:cxn>
              <a:cxn ang="0">
                <a:pos x="connsiteX1" y="connsiteY1"/>
              </a:cxn>
              <a:cxn ang="0">
                <a:pos x="connsiteX2" y="connsiteY2"/>
              </a:cxn>
            </a:cxnLst>
            <a:rect l="l" t="t" r="r" b="b"/>
            <a:pathLst>
              <a:path w="1292149" h="1763092">
                <a:moveTo>
                  <a:pt x="839973" y="0"/>
                </a:moveTo>
                <a:cubicBezTo>
                  <a:pt x="1209454" y="553779"/>
                  <a:pt x="1384004" y="1485015"/>
                  <a:pt x="1244009" y="1701210"/>
                </a:cubicBezTo>
                <a:cubicBezTo>
                  <a:pt x="1104014" y="1917405"/>
                  <a:pt x="252080" y="1514697"/>
                  <a:pt x="0" y="1297172"/>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2">
            <p14:nvContentPartPr>
              <p14:cNvPr id="96" name="Ink 95">
                <a:extLst>
                  <a:ext uri="{FF2B5EF4-FFF2-40B4-BE49-F238E27FC236}">
                    <a16:creationId xmlns:a16="http://schemas.microsoft.com/office/drawing/2014/main" id="{2EB1830A-B6B2-974C-A6AB-025A278B2B27}"/>
                  </a:ext>
                </a:extLst>
              </p14:cNvPr>
              <p14:cNvContentPartPr/>
              <p14:nvPr/>
            </p14:nvContentPartPr>
            <p14:xfrm>
              <a:off x="3992223" y="2146690"/>
              <a:ext cx="335" cy="322"/>
            </p14:xfrm>
          </p:contentPart>
        </mc:Choice>
        <mc:Fallback xmlns="">
          <p:pic>
            <p:nvPicPr>
              <p:cNvPr id="96" name="Ink 95">
                <a:extLst>
                  <a:ext uri="{FF2B5EF4-FFF2-40B4-BE49-F238E27FC236}">
                    <a16:creationId xmlns:a16="http://schemas.microsoft.com/office/drawing/2014/main" id="{2EB1830A-B6B2-974C-A6AB-025A278B2B27}"/>
                  </a:ext>
                </a:extLst>
              </p:cNvPr>
              <p:cNvPicPr/>
              <p:nvPr/>
            </p:nvPicPr>
            <p:blipFill>
              <a:blip r:embed="rId3"/>
              <a:stretch>
                <a:fillRect/>
              </a:stretch>
            </p:blipFill>
            <p:spPr>
              <a:xfrm>
                <a:off x="3933598" y="2090340"/>
                <a:ext cx="117250" cy="112700"/>
              </a:xfrm>
              <a:prstGeom prst="rect">
                <a:avLst/>
              </a:prstGeom>
            </p:spPr>
          </p:pic>
        </mc:Fallback>
      </mc:AlternateContent>
      <p:grpSp>
        <p:nvGrpSpPr>
          <p:cNvPr id="24" name="Heart border">
            <a:extLst>
              <a:ext uri="{FF2B5EF4-FFF2-40B4-BE49-F238E27FC236}">
                <a16:creationId xmlns:a16="http://schemas.microsoft.com/office/drawing/2014/main" id="{615907A9-094E-4895-8030-AD649E6A89D2}"/>
              </a:ext>
            </a:extLst>
          </p:cNvPr>
          <p:cNvGrpSpPr/>
          <p:nvPr/>
        </p:nvGrpSpPr>
        <p:grpSpPr>
          <a:xfrm>
            <a:off x="3460694" y="1120393"/>
            <a:ext cx="4652763" cy="5107874"/>
            <a:chOff x="3465986" y="531628"/>
            <a:chExt cx="4997718" cy="5717587"/>
          </a:xfrm>
        </p:grpSpPr>
        <p:sp>
          <p:nvSpPr>
            <p:cNvPr id="3" name="Freeform: Shape 2">
              <a:extLst>
                <a:ext uri="{FF2B5EF4-FFF2-40B4-BE49-F238E27FC236}">
                  <a16:creationId xmlns:a16="http://schemas.microsoft.com/office/drawing/2014/main" id="{0FF375B0-F966-4A73-A871-8A662FB7E5C3}"/>
                </a:ext>
              </a:extLst>
            </p:cNvPr>
            <p:cNvSpPr/>
            <p:nvPr/>
          </p:nvSpPr>
          <p:spPr>
            <a:xfrm>
              <a:off x="3465986" y="880607"/>
              <a:ext cx="2275596" cy="2093373"/>
            </a:xfrm>
            <a:custGeom>
              <a:avLst/>
              <a:gdLst>
                <a:gd name="connsiteX0" fmla="*/ 1555951 w 1555951"/>
                <a:gd name="connsiteY0" fmla="*/ 191278 h 2048839"/>
                <a:gd name="connsiteX1" fmla="*/ 907365 w 1555951"/>
                <a:gd name="connsiteY1" fmla="*/ 10524 h 2048839"/>
                <a:gd name="connsiteX2" fmla="*/ 131189 w 1555951"/>
                <a:gd name="connsiteY2" fmla="*/ 467724 h 2048839"/>
                <a:gd name="connsiteX3" fmla="*/ 56761 w 1555951"/>
                <a:gd name="connsiteY3" fmla="*/ 1626673 h 2048839"/>
                <a:gd name="connsiteX4" fmla="*/ 715979 w 1555951"/>
                <a:gd name="connsiteY4" fmla="*/ 2020078 h 2048839"/>
                <a:gd name="connsiteX5" fmla="*/ 1077486 w 1555951"/>
                <a:gd name="connsiteY5" fmla="*/ 1988180 h 2048839"/>
                <a:gd name="connsiteX0" fmla="*/ 2406556 w 2406556"/>
                <a:gd name="connsiteY0" fmla="*/ 1804396 h 2098971"/>
                <a:gd name="connsiteX1" fmla="*/ 907365 w 2406556"/>
                <a:gd name="connsiteY1" fmla="*/ 60656 h 2098971"/>
                <a:gd name="connsiteX2" fmla="*/ 131189 w 2406556"/>
                <a:gd name="connsiteY2" fmla="*/ 517856 h 2098971"/>
                <a:gd name="connsiteX3" fmla="*/ 56761 w 2406556"/>
                <a:gd name="connsiteY3" fmla="*/ 1676805 h 2098971"/>
                <a:gd name="connsiteX4" fmla="*/ 715979 w 2406556"/>
                <a:gd name="connsiteY4" fmla="*/ 2070210 h 2098971"/>
                <a:gd name="connsiteX5" fmla="*/ 1077486 w 2406556"/>
                <a:gd name="connsiteY5" fmla="*/ 2038312 h 2098971"/>
                <a:gd name="connsiteX0" fmla="*/ 2406556 w 2406556"/>
                <a:gd name="connsiteY0" fmla="*/ 1775183 h 2069758"/>
                <a:gd name="connsiteX1" fmla="*/ 1619746 w 2406556"/>
                <a:gd name="connsiteY1" fmla="*/ 233462 h 2069758"/>
                <a:gd name="connsiteX2" fmla="*/ 907365 w 2406556"/>
                <a:gd name="connsiteY2" fmla="*/ 31443 h 2069758"/>
                <a:gd name="connsiteX3" fmla="*/ 131189 w 2406556"/>
                <a:gd name="connsiteY3" fmla="*/ 488643 h 2069758"/>
                <a:gd name="connsiteX4" fmla="*/ 56761 w 2406556"/>
                <a:gd name="connsiteY4" fmla="*/ 1647592 h 2069758"/>
                <a:gd name="connsiteX5" fmla="*/ 715979 w 2406556"/>
                <a:gd name="connsiteY5" fmla="*/ 2040997 h 2069758"/>
                <a:gd name="connsiteX6" fmla="*/ 1077486 w 2406556"/>
                <a:gd name="connsiteY6" fmla="*/ 2009099 h 2069758"/>
                <a:gd name="connsiteX0" fmla="*/ 2403187 w 2403187"/>
                <a:gd name="connsiteY0" fmla="*/ 1798798 h 2093373"/>
                <a:gd name="connsiteX1" fmla="*/ 1616377 w 2403187"/>
                <a:gd name="connsiteY1" fmla="*/ 257077 h 2093373"/>
                <a:gd name="connsiteX2" fmla="*/ 829569 w 2403187"/>
                <a:gd name="connsiteY2" fmla="*/ 23160 h 2093373"/>
                <a:gd name="connsiteX3" fmla="*/ 127820 w 2403187"/>
                <a:gd name="connsiteY3" fmla="*/ 512258 h 2093373"/>
                <a:gd name="connsiteX4" fmla="*/ 53392 w 2403187"/>
                <a:gd name="connsiteY4" fmla="*/ 1671207 h 2093373"/>
                <a:gd name="connsiteX5" fmla="*/ 712610 w 2403187"/>
                <a:gd name="connsiteY5" fmla="*/ 2064612 h 2093373"/>
                <a:gd name="connsiteX6" fmla="*/ 1074117 w 2403187"/>
                <a:gd name="connsiteY6" fmla="*/ 2032714 h 2093373"/>
                <a:gd name="connsiteX0" fmla="*/ 2318126 w 2318126"/>
                <a:gd name="connsiteY0" fmla="*/ 1809431 h 2093373"/>
                <a:gd name="connsiteX1" fmla="*/ 1616377 w 2318126"/>
                <a:gd name="connsiteY1" fmla="*/ 257077 h 2093373"/>
                <a:gd name="connsiteX2" fmla="*/ 829569 w 2318126"/>
                <a:gd name="connsiteY2" fmla="*/ 23160 h 2093373"/>
                <a:gd name="connsiteX3" fmla="*/ 127820 w 2318126"/>
                <a:gd name="connsiteY3" fmla="*/ 512258 h 2093373"/>
                <a:gd name="connsiteX4" fmla="*/ 53392 w 2318126"/>
                <a:gd name="connsiteY4" fmla="*/ 1671207 h 2093373"/>
                <a:gd name="connsiteX5" fmla="*/ 712610 w 2318126"/>
                <a:gd name="connsiteY5" fmla="*/ 2064612 h 2093373"/>
                <a:gd name="connsiteX6" fmla="*/ 1074117 w 2318126"/>
                <a:gd name="connsiteY6" fmla="*/ 2032714 h 2093373"/>
                <a:gd name="connsiteX0" fmla="*/ 2275596 w 2275596"/>
                <a:gd name="connsiteY0" fmla="*/ 1862594 h 2093373"/>
                <a:gd name="connsiteX1" fmla="*/ 1616377 w 2275596"/>
                <a:gd name="connsiteY1" fmla="*/ 257077 h 2093373"/>
                <a:gd name="connsiteX2" fmla="*/ 829569 w 2275596"/>
                <a:gd name="connsiteY2" fmla="*/ 23160 h 2093373"/>
                <a:gd name="connsiteX3" fmla="*/ 127820 w 2275596"/>
                <a:gd name="connsiteY3" fmla="*/ 512258 h 2093373"/>
                <a:gd name="connsiteX4" fmla="*/ 53392 w 2275596"/>
                <a:gd name="connsiteY4" fmla="*/ 1671207 h 2093373"/>
                <a:gd name="connsiteX5" fmla="*/ 712610 w 2275596"/>
                <a:gd name="connsiteY5" fmla="*/ 2064612 h 2093373"/>
                <a:gd name="connsiteX6" fmla="*/ 1074117 w 2275596"/>
                <a:gd name="connsiteY6" fmla="*/ 2032714 h 2093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75596" h="2093373">
                  <a:moveTo>
                    <a:pt x="2275596" y="1862594"/>
                  </a:moveTo>
                  <a:cubicBezTo>
                    <a:pt x="2089526" y="1637538"/>
                    <a:pt x="1866242" y="547700"/>
                    <a:pt x="1616377" y="257077"/>
                  </a:cubicBezTo>
                  <a:cubicBezTo>
                    <a:pt x="1366512" y="-33546"/>
                    <a:pt x="1077662" y="-19370"/>
                    <a:pt x="829569" y="23160"/>
                  </a:cubicBezTo>
                  <a:cubicBezTo>
                    <a:pt x="581476" y="65690"/>
                    <a:pt x="257183" y="237584"/>
                    <a:pt x="127820" y="512258"/>
                  </a:cubicBezTo>
                  <a:cubicBezTo>
                    <a:pt x="-1543" y="786932"/>
                    <a:pt x="-44073" y="1412481"/>
                    <a:pt x="53392" y="1671207"/>
                  </a:cubicBezTo>
                  <a:cubicBezTo>
                    <a:pt x="150857" y="1929933"/>
                    <a:pt x="542489" y="2004361"/>
                    <a:pt x="712610" y="2064612"/>
                  </a:cubicBezTo>
                  <a:cubicBezTo>
                    <a:pt x="882731" y="2124863"/>
                    <a:pt x="978424" y="2078788"/>
                    <a:pt x="1074117" y="2032714"/>
                  </a:cubicBezTo>
                </a:path>
              </a:pathLst>
            </a:cu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5" name="Freeform: Shape 14">
              <a:extLst>
                <a:ext uri="{FF2B5EF4-FFF2-40B4-BE49-F238E27FC236}">
                  <a16:creationId xmlns:a16="http://schemas.microsoft.com/office/drawing/2014/main" id="{73264A90-FA82-479E-ADC6-08D8D61D0C89}"/>
                </a:ext>
              </a:extLst>
            </p:cNvPr>
            <p:cNvSpPr/>
            <p:nvPr/>
          </p:nvSpPr>
          <p:spPr>
            <a:xfrm>
              <a:off x="5014773" y="531628"/>
              <a:ext cx="2195202" cy="2111245"/>
            </a:xfrm>
            <a:custGeom>
              <a:avLst/>
              <a:gdLst>
                <a:gd name="connsiteX0" fmla="*/ 3794 w 2195202"/>
                <a:gd name="connsiteY0" fmla="*/ 606056 h 2111245"/>
                <a:gd name="connsiteX1" fmla="*/ 120753 w 2195202"/>
                <a:gd name="connsiteY1" fmla="*/ 276446 h 2111245"/>
                <a:gd name="connsiteX2" fmla="*/ 801236 w 2195202"/>
                <a:gd name="connsiteY2" fmla="*/ 0 h 2111245"/>
                <a:gd name="connsiteX3" fmla="*/ 1683739 w 2195202"/>
                <a:gd name="connsiteY3" fmla="*/ 276446 h 2111245"/>
                <a:gd name="connsiteX4" fmla="*/ 2194101 w 2195202"/>
                <a:gd name="connsiteY4" fmla="*/ 1435395 h 2111245"/>
                <a:gd name="connsiteX5" fmla="*/ 1811329 w 2195202"/>
                <a:gd name="connsiteY5" fmla="*/ 2041451 h 2111245"/>
                <a:gd name="connsiteX6" fmla="*/ 1524250 w 2195202"/>
                <a:gd name="connsiteY6" fmla="*/ 2073349 h 2111245"/>
                <a:gd name="connsiteX0" fmla="*/ 3794 w 2195202"/>
                <a:gd name="connsiteY0" fmla="*/ 606056 h 2111245"/>
                <a:gd name="connsiteX1" fmla="*/ 120753 w 2195202"/>
                <a:gd name="connsiteY1" fmla="*/ 276446 h 2111245"/>
                <a:gd name="connsiteX2" fmla="*/ 801236 w 2195202"/>
                <a:gd name="connsiteY2" fmla="*/ 0 h 2111245"/>
                <a:gd name="connsiteX3" fmla="*/ 1683739 w 2195202"/>
                <a:gd name="connsiteY3" fmla="*/ 276446 h 2111245"/>
                <a:gd name="connsiteX4" fmla="*/ 2194101 w 2195202"/>
                <a:gd name="connsiteY4" fmla="*/ 1435395 h 2111245"/>
                <a:gd name="connsiteX5" fmla="*/ 1811329 w 2195202"/>
                <a:gd name="connsiteY5" fmla="*/ 2041451 h 2111245"/>
                <a:gd name="connsiteX6" fmla="*/ 1524250 w 2195202"/>
                <a:gd name="connsiteY6" fmla="*/ 2073349 h 2111245"/>
                <a:gd name="connsiteX0" fmla="*/ 3794 w 2195202"/>
                <a:gd name="connsiteY0" fmla="*/ 531628 h 2111245"/>
                <a:gd name="connsiteX1" fmla="*/ 120753 w 2195202"/>
                <a:gd name="connsiteY1" fmla="*/ 276446 h 2111245"/>
                <a:gd name="connsiteX2" fmla="*/ 801236 w 2195202"/>
                <a:gd name="connsiteY2" fmla="*/ 0 h 2111245"/>
                <a:gd name="connsiteX3" fmla="*/ 1683739 w 2195202"/>
                <a:gd name="connsiteY3" fmla="*/ 276446 h 2111245"/>
                <a:gd name="connsiteX4" fmla="*/ 2194101 w 2195202"/>
                <a:gd name="connsiteY4" fmla="*/ 1435395 h 2111245"/>
                <a:gd name="connsiteX5" fmla="*/ 1811329 w 2195202"/>
                <a:gd name="connsiteY5" fmla="*/ 2041451 h 2111245"/>
                <a:gd name="connsiteX6" fmla="*/ 1524250 w 2195202"/>
                <a:gd name="connsiteY6" fmla="*/ 2073349 h 2111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95202" h="2111245">
                  <a:moveTo>
                    <a:pt x="3794" y="531628"/>
                  </a:moveTo>
                  <a:cubicBezTo>
                    <a:pt x="-4180" y="417327"/>
                    <a:pt x="-12154" y="365051"/>
                    <a:pt x="120753" y="276446"/>
                  </a:cubicBezTo>
                  <a:cubicBezTo>
                    <a:pt x="253660" y="187841"/>
                    <a:pt x="540738" y="0"/>
                    <a:pt x="801236" y="0"/>
                  </a:cubicBezTo>
                  <a:cubicBezTo>
                    <a:pt x="1061734" y="0"/>
                    <a:pt x="1451595" y="37214"/>
                    <a:pt x="1683739" y="276446"/>
                  </a:cubicBezTo>
                  <a:cubicBezTo>
                    <a:pt x="1915883" y="515678"/>
                    <a:pt x="2172836" y="1141228"/>
                    <a:pt x="2194101" y="1435395"/>
                  </a:cubicBezTo>
                  <a:cubicBezTo>
                    <a:pt x="2215366" y="1729562"/>
                    <a:pt x="1922971" y="1935125"/>
                    <a:pt x="1811329" y="2041451"/>
                  </a:cubicBezTo>
                  <a:cubicBezTo>
                    <a:pt x="1699687" y="2147777"/>
                    <a:pt x="1611968" y="2110563"/>
                    <a:pt x="1524250" y="2073349"/>
                  </a:cubicBezTo>
                </a:path>
              </a:pathLst>
            </a:cu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6" name="Freeform: Shape 15">
              <a:extLst>
                <a:ext uri="{FF2B5EF4-FFF2-40B4-BE49-F238E27FC236}">
                  <a16:creationId xmlns:a16="http://schemas.microsoft.com/office/drawing/2014/main" id="{684A4ABE-BAE4-4927-9196-8301BCD5C301}"/>
                </a:ext>
              </a:extLst>
            </p:cNvPr>
            <p:cNvSpPr/>
            <p:nvPr/>
          </p:nvSpPr>
          <p:spPr>
            <a:xfrm>
              <a:off x="4120987" y="2275944"/>
              <a:ext cx="4342717" cy="3973271"/>
            </a:xfrm>
            <a:custGeom>
              <a:avLst/>
              <a:gdLst>
                <a:gd name="connsiteX0" fmla="*/ 120840 w 4780250"/>
                <a:gd name="connsiteY0" fmla="*/ 733661 h 4129960"/>
                <a:gd name="connsiteX1" fmla="*/ 195268 w 4780250"/>
                <a:gd name="connsiteY1" fmla="*/ 882517 h 4129960"/>
                <a:gd name="connsiteX2" fmla="*/ 88942 w 4780250"/>
                <a:gd name="connsiteY2" fmla="*/ 2222219 h 4129960"/>
                <a:gd name="connsiteX3" fmla="*/ 1683826 w 4780250"/>
                <a:gd name="connsiteY3" fmla="*/ 3891530 h 4129960"/>
                <a:gd name="connsiteX4" fmla="*/ 4118682 w 4780250"/>
                <a:gd name="connsiteY4" fmla="*/ 3923428 h 4129960"/>
                <a:gd name="connsiteX5" fmla="*/ 4777900 w 4780250"/>
                <a:gd name="connsiteY5" fmla="*/ 2052098 h 4129960"/>
                <a:gd name="connsiteX6" fmla="*/ 3969826 w 4780250"/>
                <a:gd name="connsiteY6" fmla="*/ 255196 h 4129960"/>
                <a:gd name="connsiteX7" fmla="*/ 3225547 w 4780250"/>
                <a:gd name="connsiteY7" fmla="*/ 53177 h 4129960"/>
                <a:gd name="connsiteX0" fmla="*/ 120840 w 4779195"/>
                <a:gd name="connsiteY0" fmla="*/ 690539 h 4086838"/>
                <a:gd name="connsiteX1" fmla="*/ 195268 w 4779195"/>
                <a:gd name="connsiteY1" fmla="*/ 839395 h 4086838"/>
                <a:gd name="connsiteX2" fmla="*/ 88942 w 4779195"/>
                <a:gd name="connsiteY2" fmla="*/ 2179097 h 4086838"/>
                <a:gd name="connsiteX3" fmla="*/ 1683826 w 4779195"/>
                <a:gd name="connsiteY3" fmla="*/ 3848408 h 4086838"/>
                <a:gd name="connsiteX4" fmla="*/ 4118682 w 4779195"/>
                <a:gd name="connsiteY4" fmla="*/ 3880306 h 4086838"/>
                <a:gd name="connsiteX5" fmla="*/ 4777900 w 4779195"/>
                <a:gd name="connsiteY5" fmla="*/ 2008976 h 4086838"/>
                <a:gd name="connsiteX6" fmla="*/ 4012356 w 4779195"/>
                <a:gd name="connsiteY6" fmla="*/ 541684 h 4086838"/>
                <a:gd name="connsiteX7" fmla="*/ 3225547 w 4779195"/>
                <a:gd name="connsiteY7" fmla="*/ 10055 h 4086838"/>
                <a:gd name="connsiteX0" fmla="*/ 195268 w 4779195"/>
                <a:gd name="connsiteY0" fmla="*/ 839395 h 4086838"/>
                <a:gd name="connsiteX1" fmla="*/ 88942 w 4779195"/>
                <a:gd name="connsiteY1" fmla="*/ 2179097 h 4086838"/>
                <a:gd name="connsiteX2" fmla="*/ 1683826 w 4779195"/>
                <a:gd name="connsiteY2" fmla="*/ 3848408 h 4086838"/>
                <a:gd name="connsiteX3" fmla="*/ 4118682 w 4779195"/>
                <a:gd name="connsiteY3" fmla="*/ 3880306 h 4086838"/>
                <a:gd name="connsiteX4" fmla="*/ 4777900 w 4779195"/>
                <a:gd name="connsiteY4" fmla="*/ 2008976 h 4086838"/>
                <a:gd name="connsiteX5" fmla="*/ 4012356 w 4779195"/>
                <a:gd name="connsiteY5" fmla="*/ 541684 h 4086838"/>
                <a:gd name="connsiteX6" fmla="*/ 3225547 w 4779195"/>
                <a:gd name="connsiteY6" fmla="*/ 10055 h 4086838"/>
                <a:gd name="connsiteX0" fmla="*/ 219840 w 4771869"/>
                <a:gd name="connsiteY0" fmla="*/ 658642 h 4086838"/>
                <a:gd name="connsiteX1" fmla="*/ 81616 w 4771869"/>
                <a:gd name="connsiteY1" fmla="*/ 2179097 h 4086838"/>
                <a:gd name="connsiteX2" fmla="*/ 1676500 w 4771869"/>
                <a:gd name="connsiteY2" fmla="*/ 3848408 h 4086838"/>
                <a:gd name="connsiteX3" fmla="*/ 4111356 w 4771869"/>
                <a:gd name="connsiteY3" fmla="*/ 3880306 h 4086838"/>
                <a:gd name="connsiteX4" fmla="*/ 4770574 w 4771869"/>
                <a:gd name="connsiteY4" fmla="*/ 2008976 h 4086838"/>
                <a:gd name="connsiteX5" fmla="*/ 4005030 w 4771869"/>
                <a:gd name="connsiteY5" fmla="*/ 541684 h 4086838"/>
                <a:gd name="connsiteX6" fmla="*/ 3218221 w 4771869"/>
                <a:gd name="connsiteY6" fmla="*/ 10055 h 4086838"/>
                <a:gd name="connsiteX0" fmla="*/ 449 w 4552478"/>
                <a:gd name="connsiteY0" fmla="*/ 658642 h 4077792"/>
                <a:gd name="connsiteX1" fmla="*/ 276894 w 4552478"/>
                <a:gd name="connsiteY1" fmla="*/ 2338585 h 4077792"/>
                <a:gd name="connsiteX2" fmla="*/ 1457109 w 4552478"/>
                <a:gd name="connsiteY2" fmla="*/ 3848408 h 4077792"/>
                <a:gd name="connsiteX3" fmla="*/ 3891965 w 4552478"/>
                <a:gd name="connsiteY3" fmla="*/ 3880306 h 4077792"/>
                <a:gd name="connsiteX4" fmla="*/ 4551183 w 4552478"/>
                <a:gd name="connsiteY4" fmla="*/ 2008976 h 4077792"/>
                <a:gd name="connsiteX5" fmla="*/ 3785639 w 4552478"/>
                <a:gd name="connsiteY5" fmla="*/ 541684 h 4077792"/>
                <a:gd name="connsiteX6" fmla="*/ 2998830 w 4552478"/>
                <a:gd name="connsiteY6" fmla="*/ 10055 h 4077792"/>
                <a:gd name="connsiteX0" fmla="*/ 4445 w 4556091"/>
                <a:gd name="connsiteY0" fmla="*/ 658642 h 4005308"/>
                <a:gd name="connsiteX1" fmla="*/ 280890 w 4556091"/>
                <a:gd name="connsiteY1" fmla="*/ 2338585 h 4005308"/>
                <a:gd name="connsiteX2" fmla="*/ 1939570 w 4556091"/>
                <a:gd name="connsiteY2" fmla="*/ 3667654 h 4005308"/>
                <a:gd name="connsiteX3" fmla="*/ 3895961 w 4556091"/>
                <a:gd name="connsiteY3" fmla="*/ 3880306 h 4005308"/>
                <a:gd name="connsiteX4" fmla="*/ 4555179 w 4556091"/>
                <a:gd name="connsiteY4" fmla="*/ 2008976 h 4005308"/>
                <a:gd name="connsiteX5" fmla="*/ 3789635 w 4556091"/>
                <a:gd name="connsiteY5" fmla="*/ 541684 h 4005308"/>
                <a:gd name="connsiteX6" fmla="*/ 3002826 w 4556091"/>
                <a:gd name="connsiteY6" fmla="*/ 10055 h 4005308"/>
                <a:gd name="connsiteX0" fmla="*/ 4445 w 4555291"/>
                <a:gd name="connsiteY0" fmla="*/ 658642 h 3980358"/>
                <a:gd name="connsiteX1" fmla="*/ 280890 w 4555291"/>
                <a:gd name="connsiteY1" fmla="*/ 2338585 h 3980358"/>
                <a:gd name="connsiteX2" fmla="*/ 1939570 w 4555291"/>
                <a:gd name="connsiteY2" fmla="*/ 3667654 h 3980358"/>
                <a:gd name="connsiteX3" fmla="*/ 3736472 w 4555291"/>
                <a:gd name="connsiteY3" fmla="*/ 3848408 h 3980358"/>
                <a:gd name="connsiteX4" fmla="*/ 4555179 w 4555291"/>
                <a:gd name="connsiteY4" fmla="*/ 2008976 h 3980358"/>
                <a:gd name="connsiteX5" fmla="*/ 3789635 w 4555291"/>
                <a:gd name="connsiteY5" fmla="*/ 541684 h 3980358"/>
                <a:gd name="connsiteX6" fmla="*/ 3002826 w 4555291"/>
                <a:gd name="connsiteY6" fmla="*/ 10055 h 3980358"/>
                <a:gd name="connsiteX0" fmla="*/ 4445 w 4342717"/>
                <a:gd name="connsiteY0" fmla="*/ 658642 h 3973271"/>
                <a:gd name="connsiteX1" fmla="*/ 280890 w 4342717"/>
                <a:gd name="connsiteY1" fmla="*/ 2338585 h 3973271"/>
                <a:gd name="connsiteX2" fmla="*/ 1939570 w 4342717"/>
                <a:gd name="connsiteY2" fmla="*/ 3667654 h 3973271"/>
                <a:gd name="connsiteX3" fmla="*/ 3736472 w 4342717"/>
                <a:gd name="connsiteY3" fmla="*/ 3848408 h 3973271"/>
                <a:gd name="connsiteX4" fmla="*/ 4342528 w 4342717"/>
                <a:gd name="connsiteY4" fmla="*/ 2104670 h 3973271"/>
                <a:gd name="connsiteX5" fmla="*/ 3789635 w 4342717"/>
                <a:gd name="connsiteY5" fmla="*/ 541684 h 3973271"/>
                <a:gd name="connsiteX6" fmla="*/ 3002826 w 4342717"/>
                <a:gd name="connsiteY6" fmla="*/ 10055 h 3973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42717" h="3973271">
                  <a:moveTo>
                    <a:pt x="4445" y="658642"/>
                  </a:moveTo>
                  <a:cubicBezTo>
                    <a:pt x="-871" y="906735"/>
                    <a:pt x="-41631" y="1837083"/>
                    <a:pt x="280890" y="2338585"/>
                  </a:cubicBezTo>
                  <a:cubicBezTo>
                    <a:pt x="603411" y="2840087"/>
                    <a:pt x="1363640" y="3416017"/>
                    <a:pt x="1939570" y="3667654"/>
                  </a:cubicBezTo>
                  <a:cubicBezTo>
                    <a:pt x="2515500" y="3919291"/>
                    <a:pt x="3335979" y="4108905"/>
                    <a:pt x="3736472" y="3848408"/>
                  </a:cubicBezTo>
                  <a:cubicBezTo>
                    <a:pt x="4136965" y="3587911"/>
                    <a:pt x="4333668" y="2655791"/>
                    <a:pt x="4342528" y="2104670"/>
                  </a:cubicBezTo>
                  <a:cubicBezTo>
                    <a:pt x="4351388" y="1553549"/>
                    <a:pt x="4048360" y="874837"/>
                    <a:pt x="3789635" y="541684"/>
                  </a:cubicBezTo>
                  <a:cubicBezTo>
                    <a:pt x="3530910" y="208531"/>
                    <a:pt x="3245603" y="-55512"/>
                    <a:pt x="3002826" y="10055"/>
                  </a:cubicBezTo>
                </a:path>
              </a:pathLst>
            </a:cu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grpSp>
      <mc:AlternateContent xmlns:mc="http://schemas.openxmlformats.org/markup-compatibility/2006" xmlns:p14="http://schemas.microsoft.com/office/powerpoint/2010/main">
        <mc:Choice Requires="p14">
          <p:contentPart p14:bwMode="auto" r:id="rId4">
            <p14:nvContentPartPr>
              <p14:cNvPr id="99" name="Ink 98">
                <a:extLst>
                  <a:ext uri="{FF2B5EF4-FFF2-40B4-BE49-F238E27FC236}">
                    <a16:creationId xmlns:a16="http://schemas.microsoft.com/office/drawing/2014/main" id="{DF3E3FB8-E611-A14B-8753-69880EDFF458}"/>
                  </a:ext>
                </a:extLst>
              </p14:cNvPr>
              <p14:cNvContentPartPr/>
              <p14:nvPr/>
            </p14:nvContentPartPr>
            <p14:xfrm>
              <a:off x="5509791" y="2989474"/>
              <a:ext cx="67030" cy="76222"/>
            </p14:xfrm>
          </p:contentPart>
        </mc:Choice>
        <mc:Fallback xmlns="">
          <p:pic>
            <p:nvPicPr>
              <p:cNvPr id="99" name="Ink 98">
                <a:extLst>
                  <a:ext uri="{FF2B5EF4-FFF2-40B4-BE49-F238E27FC236}">
                    <a16:creationId xmlns:a16="http://schemas.microsoft.com/office/drawing/2014/main" id="{DF3E3FB8-E611-A14B-8753-69880EDFF458}"/>
                  </a:ext>
                </a:extLst>
              </p:cNvPr>
              <p:cNvPicPr/>
              <p:nvPr/>
            </p:nvPicPr>
            <p:blipFill>
              <a:blip r:embed="rId5"/>
              <a:stretch>
                <a:fillRect/>
              </a:stretch>
            </p:blipFill>
            <p:spPr>
              <a:xfrm>
                <a:off x="5447062" y="2926555"/>
                <a:ext cx="192129" cy="201701"/>
              </a:xfrm>
              <a:prstGeom prst="rect">
                <a:avLst/>
              </a:prstGeom>
            </p:spPr>
          </p:pic>
        </mc:Fallback>
      </mc:AlternateContent>
      <p:sp>
        <p:nvSpPr>
          <p:cNvPr id="22" name="TextBox 21">
            <a:extLst>
              <a:ext uri="{FF2B5EF4-FFF2-40B4-BE49-F238E27FC236}">
                <a16:creationId xmlns:a16="http://schemas.microsoft.com/office/drawing/2014/main" id="{43F9A5F9-79FE-48E7-90D6-A3FEF209211C}"/>
              </a:ext>
            </a:extLst>
          </p:cNvPr>
          <p:cNvSpPr txBox="1"/>
          <p:nvPr/>
        </p:nvSpPr>
        <p:spPr>
          <a:xfrm>
            <a:off x="4081734" y="1777648"/>
            <a:ext cx="637388" cy="532252"/>
          </a:xfrm>
          <a:prstGeom prst="rect">
            <a:avLst/>
          </a:prstGeom>
          <a:noFill/>
        </p:spPr>
        <p:txBody>
          <a:bodyPr wrap="square" rtlCol="0">
            <a:spAutoFit/>
          </a:bodyPr>
          <a:lstStyle/>
          <a:p>
            <a:r>
              <a:rPr lang="en-US" sz="3200" dirty="0"/>
              <a:t>SA</a:t>
            </a:r>
          </a:p>
        </p:txBody>
      </p:sp>
      <p:sp>
        <p:nvSpPr>
          <p:cNvPr id="45" name="TextBox 44">
            <a:extLst>
              <a:ext uri="{FF2B5EF4-FFF2-40B4-BE49-F238E27FC236}">
                <a16:creationId xmlns:a16="http://schemas.microsoft.com/office/drawing/2014/main" id="{60F92D45-5A0C-4E62-85C5-369D06BAF6EE}"/>
              </a:ext>
            </a:extLst>
          </p:cNvPr>
          <p:cNvSpPr txBox="1"/>
          <p:nvPr/>
        </p:nvSpPr>
        <p:spPr>
          <a:xfrm>
            <a:off x="5462549" y="2277431"/>
            <a:ext cx="637388" cy="532252"/>
          </a:xfrm>
          <a:prstGeom prst="rect">
            <a:avLst/>
          </a:prstGeom>
          <a:noFill/>
        </p:spPr>
        <p:txBody>
          <a:bodyPr wrap="square" rtlCol="0">
            <a:spAutoFit/>
          </a:bodyPr>
          <a:lstStyle/>
          <a:p>
            <a:r>
              <a:rPr lang="en-US" sz="3200" dirty="0"/>
              <a:t>AV</a:t>
            </a:r>
          </a:p>
        </p:txBody>
      </p:sp>
      <p:sp>
        <p:nvSpPr>
          <p:cNvPr id="55" name="TextBox 54">
            <a:extLst>
              <a:ext uri="{FF2B5EF4-FFF2-40B4-BE49-F238E27FC236}">
                <a16:creationId xmlns:a16="http://schemas.microsoft.com/office/drawing/2014/main" id="{12C5214E-E265-48AB-92E6-EE5167C4BE8C}"/>
              </a:ext>
            </a:extLst>
          </p:cNvPr>
          <p:cNvSpPr txBox="1"/>
          <p:nvPr/>
        </p:nvSpPr>
        <p:spPr>
          <a:xfrm>
            <a:off x="1962698" y="160329"/>
            <a:ext cx="7854215" cy="584775"/>
          </a:xfrm>
          <a:prstGeom prst="rect">
            <a:avLst/>
          </a:prstGeom>
          <a:noFill/>
        </p:spPr>
        <p:txBody>
          <a:bodyPr wrap="square" rtlCol="0">
            <a:spAutoFit/>
          </a:bodyPr>
          <a:lstStyle/>
          <a:p>
            <a:pPr algn="ctr"/>
            <a:r>
              <a:rPr lang="en-US" sz="3200" b="1" dirty="0"/>
              <a:t>MANAGEMENT</a:t>
            </a:r>
          </a:p>
        </p:txBody>
      </p:sp>
      <p:sp>
        <p:nvSpPr>
          <p:cNvPr id="2" name="TextBox 1">
            <a:extLst>
              <a:ext uri="{FF2B5EF4-FFF2-40B4-BE49-F238E27FC236}">
                <a16:creationId xmlns:a16="http://schemas.microsoft.com/office/drawing/2014/main" id="{9435A93F-F223-49C5-9085-52E49A696CBC}"/>
              </a:ext>
            </a:extLst>
          </p:cNvPr>
          <p:cNvSpPr txBox="1"/>
          <p:nvPr/>
        </p:nvSpPr>
        <p:spPr>
          <a:xfrm>
            <a:off x="972824" y="467167"/>
            <a:ext cx="1535617" cy="400110"/>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lgn="ctr"/>
            <a:r>
              <a:rPr lang="en-US" sz="2000" dirty="0"/>
              <a:t>UNSTABLE?</a:t>
            </a:r>
          </a:p>
        </p:txBody>
      </p:sp>
      <p:sp>
        <p:nvSpPr>
          <p:cNvPr id="84" name="1 button">
            <a:extLst>
              <a:ext uri="{FF2B5EF4-FFF2-40B4-BE49-F238E27FC236}">
                <a16:creationId xmlns:a16="http://schemas.microsoft.com/office/drawing/2014/main" id="{5BB119FB-9E32-4195-8494-E2D4AB767FF6}"/>
              </a:ext>
            </a:extLst>
          </p:cNvPr>
          <p:cNvSpPr/>
          <p:nvPr/>
        </p:nvSpPr>
        <p:spPr>
          <a:xfrm>
            <a:off x="295047" y="422325"/>
            <a:ext cx="485150" cy="444952"/>
          </a:xfrm>
          <a:prstGeom prst="ellipse">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pic>
        <p:nvPicPr>
          <p:cNvPr id="87" name="Graphic 86" descr="Cursor with solid fill">
            <a:extLst>
              <a:ext uri="{FF2B5EF4-FFF2-40B4-BE49-F238E27FC236}">
                <a16:creationId xmlns:a16="http://schemas.microsoft.com/office/drawing/2014/main" id="{2E444826-D7B1-48B7-AE9E-59E12372026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88343" y="670044"/>
            <a:ext cx="280861" cy="280861"/>
          </a:xfrm>
          <a:prstGeom prst="rect">
            <a:avLst/>
          </a:prstGeom>
        </p:spPr>
      </p:pic>
      <p:sp>
        <p:nvSpPr>
          <p:cNvPr id="62" name="Unstable explanation text">
            <a:extLst>
              <a:ext uri="{FF2B5EF4-FFF2-40B4-BE49-F238E27FC236}">
                <a16:creationId xmlns:a16="http://schemas.microsoft.com/office/drawing/2014/main" id="{FC15F645-6547-447F-9B14-C91A53CEE6C0}"/>
              </a:ext>
            </a:extLst>
          </p:cNvPr>
          <p:cNvSpPr/>
          <p:nvPr/>
        </p:nvSpPr>
        <p:spPr>
          <a:xfrm>
            <a:off x="111045" y="5355661"/>
            <a:ext cx="5096726" cy="14533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lang="en-US" dirty="0"/>
              <a:t>The first step of evaluating a patient with AF with RVR is determining hemodynamic stability. Unstable patients should receive synchronized cardioversion (DCCV) with 120-200 J (biphasic) or 360 J (monophasic).</a:t>
            </a:r>
          </a:p>
        </p:txBody>
      </p:sp>
      <p:grpSp>
        <p:nvGrpSpPr>
          <p:cNvPr id="66" name="Button 1 explanation">
            <a:extLst>
              <a:ext uri="{FF2B5EF4-FFF2-40B4-BE49-F238E27FC236}">
                <a16:creationId xmlns:a16="http://schemas.microsoft.com/office/drawing/2014/main" id="{C900665A-64C9-4E18-B992-EDCD8D1A43DA}"/>
              </a:ext>
            </a:extLst>
          </p:cNvPr>
          <p:cNvGrpSpPr/>
          <p:nvPr/>
        </p:nvGrpSpPr>
        <p:grpSpPr>
          <a:xfrm>
            <a:off x="40363" y="867277"/>
            <a:ext cx="3259880" cy="3238962"/>
            <a:chOff x="40363" y="867277"/>
            <a:chExt cx="3259880" cy="3238962"/>
          </a:xfrm>
        </p:grpSpPr>
        <p:cxnSp>
          <p:nvCxnSpPr>
            <p:cNvPr id="5" name="Connector: Elbow 4">
              <a:extLst>
                <a:ext uri="{FF2B5EF4-FFF2-40B4-BE49-F238E27FC236}">
                  <a16:creationId xmlns:a16="http://schemas.microsoft.com/office/drawing/2014/main" id="{F80B05CD-232C-4DCA-BC7B-F7A6A14E31B7}"/>
                </a:ext>
              </a:extLst>
            </p:cNvPr>
            <p:cNvCxnSpPr>
              <a:cxnSpLocks/>
              <a:stCxn id="57" idx="2"/>
              <a:endCxn id="6" idx="0"/>
            </p:cNvCxnSpPr>
            <p:nvPr/>
          </p:nvCxnSpPr>
          <p:spPr>
            <a:xfrm rot="16200000" flipH="1">
              <a:off x="1935275" y="1605048"/>
              <a:ext cx="724237" cy="1113523"/>
            </a:xfrm>
            <a:prstGeom prst="bentConnector3">
              <a:avLst>
                <a:gd name="adj1" fmla="val 49344"/>
              </a:avLst>
            </a:prstGeom>
            <a:ln>
              <a:tailEnd type="triangle"/>
            </a:ln>
          </p:spPr>
          <p:style>
            <a:lnRef idx="1">
              <a:schemeClr val="dk1"/>
            </a:lnRef>
            <a:fillRef idx="0">
              <a:schemeClr val="dk1"/>
            </a:fillRef>
            <a:effectRef idx="0">
              <a:schemeClr val="dk1"/>
            </a:effectRef>
            <a:fontRef idx="minor">
              <a:schemeClr val="tx1"/>
            </a:fontRef>
          </p:style>
        </p:cxnSp>
        <p:sp>
          <p:nvSpPr>
            <p:cNvPr id="6" name="TextBox 5">
              <a:extLst>
                <a:ext uri="{FF2B5EF4-FFF2-40B4-BE49-F238E27FC236}">
                  <a16:creationId xmlns:a16="http://schemas.microsoft.com/office/drawing/2014/main" id="{00301794-FC58-4050-A4A0-B51B383D8163}"/>
                </a:ext>
              </a:extLst>
            </p:cNvPr>
            <p:cNvSpPr txBox="1"/>
            <p:nvPr/>
          </p:nvSpPr>
          <p:spPr>
            <a:xfrm>
              <a:off x="2408067" y="2523929"/>
              <a:ext cx="892176" cy="3693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pPr algn="ctr"/>
              <a:r>
                <a:rPr lang="en-US" dirty="0">
                  <a:solidFill>
                    <a:schemeClr val="bg1"/>
                  </a:solidFill>
                </a:rPr>
                <a:t>No</a:t>
              </a:r>
            </a:p>
          </p:txBody>
        </p:sp>
        <p:cxnSp>
          <p:nvCxnSpPr>
            <p:cNvPr id="9" name="Connector: Elbow 8">
              <a:extLst>
                <a:ext uri="{FF2B5EF4-FFF2-40B4-BE49-F238E27FC236}">
                  <a16:creationId xmlns:a16="http://schemas.microsoft.com/office/drawing/2014/main" id="{0513BA2D-CA58-4287-8E35-1E5EB54C45FA}"/>
                </a:ext>
              </a:extLst>
            </p:cNvPr>
            <p:cNvCxnSpPr>
              <a:cxnSpLocks/>
              <a:stCxn id="57" idx="2"/>
              <a:endCxn id="40" idx="0"/>
            </p:cNvCxnSpPr>
            <p:nvPr/>
          </p:nvCxnSpPr>
          <p:spPr>
            <a:xfrm rot="5400000">
              <a:off x="874829" y="1647329"/>
              <a:ext cx="713440" cy="1018166"/>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40" name="TextBox 39">
              <a:extLst>
                <a:ext uri="{FF2B5EF4-FFF2-40B4-BE49-F238E27FC236}">
                  <a16:creationId xmlns:a16="http://schemas.microsoft.com/office/drawing/2014/main" id="{C8C3AE0E-A406-4819-BCDA-090288A94679}"/>
                </a:ext>
              </a:extLst>
            </p:cNvPr>
            <p:cNvSpPr txBox="1"/>
            <p:nvPr/>
          </p:nvSpPr>
          <p:spPr>
            <a:xfrm>
              <a:off x="309547" y="2513132"/>
              <a:ext cx="825837" cy="369332"/>
            </a:xfrm>
            <a:prstGeom prst="rect">
              <a:avLst/>
            </a:prstGeom>
            <a:solidFill>
              <a:srgbClr val="FF0000"/>
            </a:solidFill>
            <a:ln>
              <a:solidFill>
                <a:srgbClr val="C00000"/>
              </a:solidFill>
            </a:ln>
          </p:spPr>
          <p:txBody>
            <a:bodyPr wrap="square" rtlCol="0">
              <a:spAutoFit/>
            </a:bodyPr>
            <a:lstStyle/>
            <a:p>
              <a:pPr algn="ctr"/>
              <a:r>
                <a:rPr lang="en-US" dirty="0">
                  <a:solidFill>
                    <a:schemeClr val="bg1"/>
                  </a:solidFill>
                </a:rPr>
                <a:t>Yes</a:t>
              </a:r>
            </a:p>
          </p:txBody>
        </p:sp>
        <p:sp>
          <p:nvSpPr>
            <p:cNvPr id="57" name="Rectangle 56">
              <a:extLst>
                <a:ext uri="{FF2B5EF4-FFF2-40B4-BE49-F238E27FC236}">
                  <a16:creationId xmlns:a16="http://schemas.microsoft.com/office/drawing/2014/main" id="{5F00DE1C-D645-46F5-B709-80437BF80BC7}"/>
                </a:ext>
              </a:extLst>
            </p:cNvPr>
            <p:cNvSpPr/>
            <p:nvPr/>
          </p:nvSpPr>
          <p:spPr>
            <a:xfrm>
              <a:off x="189149" y="1161725"/>
              <a:ext cx="3102966" cy="63796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115888" indent="-115888">
                <a:buFont typeface="Arial" panose="020B0604020202020204" pitchFamily="34" charset="0"/>
                <a:buChar char="•"/>
              </a:pPr>
              <a:r>
                <a:rPr lang="en-US" sz="1600" dirty="0"/>
                <a:t>Sustained hypotension (SBP &lt; 90)</a:t>
              </a:r>
            </a:p>
            <a:p>
              <a:pPr marL="115888" indent="-115888">
                <a:buFont typeface="Arial" panose="020B0604020202020204" pitchFamily="34" charset="0"/>
                <a:buChar char="•"/>
              </a:pPr>
              <a:r>
                <a:rPr lang="en-US" sz="1600" dirty="0"/>
                <a:t>SBP </a:t>
              </a:r>
              <a:r>
                <a:rPr lang="en-US" sz="1600" dirty="0">
                  <a:latin typeface="Calibri" panose="020F0502020204030204" pitchFamily="34" charset="0"/>
                  <a:cs typeface="Calibri" panose="020F0502020204030204" pitchFamily="34" charset="0"/>
                </a:rPr>
                <a:t>↓ &gt;30 mmHg + CP/AMS/SOB</a:t>
              </a:r>
              <a:endParaRPr lang="en-US" sz="1600" dirty="0"/>
            </a:p>
          </p:txBody>
        </p:sp>
        <p:cxnSp>
          <p:nvCxnSpPr>
            <p:cNvPr id="61" name="Straight Connector 60">
              <a:extLst>
                <a:ext uri="{FF2B5EF4-FFF2-40B4-BE49-F238E27FC236}">
                  <a16:creationId xmlns:a16="http://schemas.microsoft.com/office/drawing/2014/main" id="{9DB01360-5E1B-4061-AE03-1D8168E3B503}"/>
                </a:ext>
              </a:extLst>
            </p:cNvPr>
            <p:cNvCxnSpPr>
              <a:cxnSpLocks/>
              <a:stCxn id="2" idx="2"/>
              <a:endCxn id="57" idx="0"/>
            </p:cNvCxnSpPr>
            <p:nvPr/>
          </p:nvCxnSpPr>
          <p:spPr>
            <a:xfrm flipH="1">
              <a:off x="1740632" y="867277"/>
              <a:ext cx="1" cy="294448"/>
            </a:xfrm>
            <a:prstGeom prst="line">
              <a:avLst/>
            </a:prstGeom>
          </p:spPr>
          <p:style>
            <a:lnRef idx="2">
              <a:schemeClr val="dk1"/>
            </a:lnRef>
            <a:fillRef idx="1">
              <a:schemeClr val="lt1"/>
            </a:fillRef>
            <a:effectRef idx="0">
              <a:schemeClr val="dk1"/>
            </a:effectRef>
            <a:fontRef idx="minor">
              <a:schemeClr val="dk1"/>
            </a:fontRef>
          </p:style>
        </p:cxnSp>
        <p:grpSp>
          <p:nvGrpSpPr>
            <p:cNvPr id="65" name="Unstable explanation">
              <a:extLst>
                <a:ext uri="{FF2B5EF4-FFF2-40B4-BE49-F238E27FC236}">
                  <a16:creationId xmlns:a16="http://schemas.microsoft.com/office/drawing/2014/main" id="{527E6002-93AA-408E-823D-8A434D7F1F40}"/>
                </a:ext>
              </a:extLst>
            </p:cNvPr>
            <p:cNvGrpSpPr/>
            <p:nvPr/>
          </p:nvGrpSpPr>
          <p:grpSpPr>
            <a:xfrm>
              <a:off x="40363" y="2882464"/>
              <a:ext cx="2065190" cy="1223775"/>
              <a:chOff x="40363" y="2882464"/>
              <a:chExt cx="2065190" cy="1223775"/>
            </a:xfrm>
          </p:grpSpPr>
          <p:cxnSp>
            <p:nvCxnSpPr>
              <p:cNvPr id="42" name="Straight Arrow Connector 41">
                <a:extLst>
                  <a:ext uri="{FF2B5EF4-FFF2-40B4-BE49-F238E27FC236}">
                    <a16:creationId xmlns:a16="http://schemas.microsoft.com/office/drawing/2014/main" id="{1B8808EC-5ABE-4991-AB8A-44889B35EA29}"/>
                  </a:ext>
                </a:extLst>
              </p:cNvPr>
              <p:cNvCxnSpPr>
                <a:cxnSpLocks/>
                <a:stCxn id="40" idx="2"/>
              </p:cNvCxnSpPr>
              <p:nvPr/>
            </p:nvCxnSpPr>
            <p:spPr>
              <a:xfrm>
                <a:off x="722466" y="2882464"/>
                <a:ext cx="0" cy="2970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58" name="Group 57">
                <a:extLst>
                  <a:ext uri="{FF2B5EF4-FFF2-40B4-BE49-F238E27FC236}">
                    <a16:creationId xmlns:a16="http://schemas.microsoft.com/office/drawing/2014/main" id="{5FF3EFED-37A9-466A-B75D-A61B86D73BBA}"/>
                  </a:ext>
                </a:extLst>
              </p:cNvPr>
              <p:cNvGrpSpPr/>
              <p:nvPr/>
            </p:nvGrpSpPr>
            <p:grpSpPr>
              <a:xfrm>
                <a:off x="40363" y="3173114"/>
                <a:ext cx="2065190" cy="933125"/>
                <a:chOff x="125832" y="3231762"/>
                <a:chExt cx="2065190" cy="933125"/>
              </a:xfrm>
            </p:grpSpPr>
            <p:sp>
              <p:nvSpPr>
                <p:cNvPr id="43" name="Rectangle 42">
                  <a:extLst>
                    <a:ext uri="{FF2B5EF4-FFF2-40B4-BE49-F238E27FC236}">
                      <a16:creationId xmlns:a16="http://schemas.microsoft.com/office/drawing/2014/main" id="{D59FA95A-5C29-476F-855C-93F65BB141DF}"/>
                    </a:ext>
                  </a:extLst>
                </p:cNvPr>
                <p:cNvSpPr/>
                <p:nvPr/>
              </p:nvSpPr>
              <p:spPr>
                <a:xfrm>
                  <a:off x="203937" y="3231762"/>
                  <a:ext cx="1808908" cy="933125"/>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4" name="Graphic 53" descr="Lightning bolt">
                  <a:extLst>
                    <a:ext uri="{FF2B5EF4-FFF2-40B4-BE49-F238E27FC236}">
                      <a16:creationId xmlns:a16="http://schemas.microsoft.com/office/drawing/2014/main" id="{19DB0C09-CE46-4BE2-B878-9FA488A6D99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25832" y="3347371"/>
                  <a:ext cx="536655" cy="817516"/>
                </a:xfrm>
                <a:prstGeom prst="rect">
                  <a:avLst/>
                </a:prstGeom>
              </p:spPr>
            </p:pic>
            <p:sp>
              <p:nvSpPr>
                <p:cNvPr id="56" name="TextBox 55">
                  <a:extLst>
                    <a:ext uri="{FF2B5EF4-FFF2-40B4-BE49-F238E27FC236}">
                      <a16:creationId xmlns:a16="http://schemas.microsoft.com/office/drawing/2014/main" id="{CD5E0C2F-379C-45BA-9A25-D11C43BD0BE1}"/>
                    </a:ext>
                  </a:extLst>
                </p:cNvPr>
                <p:cNvSpPr txBox="1"/>
                <p:nvPr/>
              </p:nvSpPr>
              <p:spPr>
                <a:xfrm>
                  <a:off x="563838" y="3270626"/>
                  <a:ext cx="1627184" cy="861774"/>
                </a:xfrm>
                <a:prstGeom prst="rect">
                  <a:avLst/>
                </a:prstGeom>
                <a:noFill/>
              </p:spPr>
              <p:txBody>
                <a:bodyPr wrap="square" rtlCol="0">
                  <a:spAutoFit/>
                </a:bodyPr>
                <a:lstStyle/>
                <a:p>
                  <a:r>
                    <a:rPr lang="en-US" sz="1600" dirty="0"/>
                    <a:t>Sedation</a:t>
                  </a:r>
                </a:p>
                <a:p>
                  <a:r>
                    <a:rPr lang="en-US" sz="1600" dirty="0"/>
                    <a:t>DCCV 120-200J</a:t>
                  </a:r>
                </a:p>
                <a:p>
                  <a:r>
                    <a:rPr lang="en-US" sz="1600" dirty="0"/>
                    <a:t>Anticoagulation</a:t>
                  </a:r>
                </a:p>
              </p:txBody>
            </p:sp>
          </p:grpSp>
        </p:grpSp>
      </p:grpSp>
      <p:sp>
        <p:nvSpPr>
          <p:cNvPr id="76" name="2 button">
            <a:extLst>
              <a:ext uri="{FF2B5EF4-FFF2-40B4-BE49-F238E27FC236}">
                <a16:creationId xmlns:a16="http://schemas.microsoft.com/office/drawing/2014/main" id="{C0F1A19F-B551-459D-BD09-0BA4B9F457AD}"/>
              </a:ext>
            </a:extLst>
          </p:cNvPr>
          <p:cNvSpPr/>
          <p:nvPr/>
        </p:nvSpPr>
        <p:spPr>
          <a:xfrm>
            <a:off x="1622132" y="2448309"/>
            <a:ext cx="485150" cy="444952"/>
          </a:xfrm>
          <a:prstGeom prst="ellipse">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pic>
        <p:nvPicPr>
          <p:cNvPr id="77" name="Graphic 76" descr="Cursor with solid fill">
            <a:extLst>
              <a:ext uri="{FF2B5EF4-FFF2-40B4-BE49-F238E27FC236}">
                <a16:creationId xmlns:a16="http://schemas.microsoft.com/office/drawing/2014/main" id="{65018171-07DC-48A6-A3DE-8DB1338DA2F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927376" y="2705899"/>
            <a:ext cx="280861" cy="280861"/>
          </a:xfrm>
          <a:prstGeom prst="rect">
            <a:avLst/>
          </a:prstGeom>
        </p:spPr>
      </p:pic>
      <p:grpSp>
        <p:nvGrpSpPr>
          <p:cNvPr id="129" name="Button 2 explanation">
            <a:extLst>
              <a:ext uri="{FF2B5EF4-FFF2-40B4-BE49-F238E27FC236}">
                <a16:creationId xmlns:a16="http://schemas.microsoft.com/office/drawing/2014/main" id="{19A82F96-33FA-4FA7-BDD3-1B7158186633}"/>
              </a:ext>
            </a:extLst>
          </p:cNvPr>
          <p:cNvGrpSpPr/>
          <p:nvPr/>
        </p:nvGrpSpPr>
        <p:grpSpPr>
          <a:xfrm>
            <a:off x="1276841" y="2893261"/>
            <a:ext cx="2903022" cy="2418481"/>
            <a:chOff x="1276841" y="2893261"/>
            <a:chExt cx="2903022" cy="2418481"/>
          </a:xfrm>
        </p:grpSpPr>
        <p:grpSp>
          <p:nvGrpSpPr>
            <p:cNvPr id="120" name="Button 2 explanation">
              <a:extLst>
                <a:ext uri="{FF2B5EF4-FFF2-40B4-BE49-F238E27FC236}">
                  <a16:creationId xmlns:a16="http://schemas.microsoft.com/office/drawing/2014/main" id="{518FCC73-2C6F-49C2-8FE5-7ECE04CEE41C}"/>
                </a:ext>
              </a:extLst>
            </p:cNvPr>
            <p:cNvGrpSpPr/>
            <p:nvPr/>
          </p:nvGrpSpPr>
          <p:grpSpPr>
            <a:xfrm>
              <a:off x="1607985" y="2893261"/>
              <a:ext cx="2519222" cy="1820965"/>
              <a:chOff x="1607985" y="2893261"/>
              <a:chExt cx="2519222" cy="1820965"/>
            </a:xfrm>
          </p:grpSpPr>
          <p:cxnSp>
            <p:nvCxnSpPr>
              <p:cNvPr id="68" name="Straight Connector 67">
                <a:extLst>
                  <a:ext uri="{FF2B5EF4-FFF2-40B4-BE49-F238E27FC236}">
                    <a16:creationId xmlns:a16="http://schemas.microsoft.com/office/drawing/2014/main" id="{2E26B49B-7B03-46C7-A2D6-D6C17EC81CB1}"/>
                  </a:ext>
                </a:extLst>
              </p:cNvPr>
              <p:cNvCxnSpPr>
                <a:cxnSpLocks/>
                <a:stCxn id="6" idx="2"/>
                <a:endCxn id="69" idx="0"/>
              </p:cNvCxnSpPr>
              <p:nvPr/>
            </p:nvCxnSpPr>
            <p:spPr>
              <a:xfrm>
                <a:off x="2854155" y="2893261"/>
                <a:ext cx="0" cy="350345"/>
              </a:xfrm>
              <a:prstGeom prst="line">
                <a:avLst/>
              </a:prstGeom>
            </p:spPr>
            <p:style>
              <a:lnRef idx="2">
                <a:schemeClr val="dk1"/>
              </a:lnRef>
              <a:fillRef idx="1">
                <a:schemeClr val="lt1"/>
              </a:fillRef>
              <a:effectRef idx="0">
                <a:schemeClr val="dk1"/>
              </a:effectRef>
              <a:fontRef idx="minor">
                <a:schemeClr val="dk1"/>
              </a:fontRef>
            </p:style>
          </p:cxnSp>
          <p:grpSp>
            <p:nvGrpSpPr>
              <p:cNvPr id="119" name="Group 118">
                <a:extLst>
                  <a:ext uri="{FF2B5EF4-FFF2-40B4-BE49-F238E27FC236}">
                    <a16:creationId xmlns:a16="http://schemas.microsoft.com/office/drawing/2014/main" id="{D9BE4889-C7EA-4F63-A9FA-59C067F6DDE6}"/>
                  </a:ext>
                </a:extLst>
              </p:cNvPr>
              <p:cNvGrpSpPr/>
              <p:nvPr/>
            </p:nvGrpSpPr>
            <p:grpSpPr>
              <a:xfrm>
                <a:off x="1607985" y="3243606"/>
                <a:ext cx="2519222" cy="1470620"/>
                <a:chOff x="1607985" y="3243606"/>
                <a:chExt cx="2519222" cy="1470620"/>
              </a:xfrm>
            </p:grpSpPr>
            <p:sp>
              <p:nvSpPr>
                <p:cNvPr id="69" name="Rectangle 68">
                  <a:extLst>
                    <a:ext uri="{FF2B5EF4-FFF2-40B4-BE49-F238E27FC236}">
                      <a16:creationId xmlns:a16="http://schemas.microsoft.com/office/drawing/2014/main" id="{3BC164CF-4104-42C1-A276-4D819D02D44F}"/>
                    </a:ext>
                  </a:extLst>
                </p:cNvPr>
                <p:cNvSpPr/>
                <p:nvPr/>
              </p:nvSpPr>
              <p:spPr>
                <a:xfrm>
                  <a:off x="2144457" y="3243606"/>
                  <a:ext cx="1419395" cy="46580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Rate control</a:t>
                  </a:r>
                </a:p>
              </p:txBody>
            </p:sp>
            <p:cxnSp>
              <p:nvCxnSpPr>
                <p:cNvPr id="83" name="Connector: Elbow 82">
                  <a:extLst>
                    <a:ext uri="{FF2B5EF4-FFF2-40B4-BE49-F238E27FC236}">
                      <a16:creationId xmlns:a16="http://schemas.microsoft.com/office/drawing/2014/main" id="{9234F37D-B549-4462-9AA1-657641EE3F55}"/>
                    </a:ext>
                  </a:extLst>
                </p:cNvPr>
                <p:cNvCxnSpPr>
                  <a:cxnSpLocks/>
                  <a:stCxn id="69" idx="2"/>
                  <a:endCxn id="86" idx="0"/>
                </p:cNvCxnSpPr>
                <p:nvPr/>
              </p:nvCxnSpPr>
              <p:spPr>
                <a:xfrm rot="16200000" flipH="1">
                  <a:off x="2900807" y="3662754"/>
                  <a:ext cx="616393" cy="709697"/>
                </a:xfrm>
                <a:prstGeom prst="bentConnector3">
                  <a:avLst>
                    <a:gd name="adj1" fmla="val 50001"/>
                  </a:avLst>
                </a:prstGeom>
                <a:ln>
                  <a:tailEnd type="triangle"/>
                </a:ln>
              </p:spPr>
              <p:style>
                <a:lnRef idx="1">
                  <a:schemeClr val="dk1"/>
                </a:lnRef>
                <a:fillRef idx="0">
                  <a:schemeClr val="dk1"/>
                </a:fillRef>
                <a:effectRef idx="0">
                  <a:schemeClr val="dk1"/>
                </a:effectRef>
                <a:fontRef idx="minor">
                  <a:schemeClr val="tx1"/>
                </a:fontRef>
              </p:style>
            </p:cxnSp>
            <p:sp>
              <p:nvSpPr>
                <p:cNvPr id="86" name="Rectangle 85">
                  <a:extLst>
                    <a:ext uri="{FF2B5EF4-FFF2-40B4-BE49-F238E27FC236}">
                      <a16:creationId xmlns:a16="http://schemas.microsoft.com/office/drawing/2014/main" id="{2B447719-FAD1-4D8E-9F8F-B7600B1CDE19}"/>
                    </a:ext>
                  </a:extLst>
                </p:cNvPr>
                <p:cNvSpPr/>
                <p:nvPr/>
              </p:nvSpPr>
              <p:spPr>
                <a:xfrm>
                  <a:off x="3000497" y="4325800"/>
                  <a:ext cx="1126710" cy="37611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HR &gt; 130</a:t>
                  </a:r>
                </a:p>
              </p:txBody>
            </p:sp>
            <p:sp>
              <p:nvSpPr>
                <p:cNvPr id="93" name="Rectangle 92">
                  <a:extLst>
                    <a:ext uri="{FF2B5EF4-FFF2-40B4-BE49-F238E27FC236}">
                      <a16:creationId xmlns:a16="http://schemas.microsoft.com/office/drawing/2014/main" id="{4B621C33-FC5A-4177-99FE-046B4FFFDE6C}"/>
                    </a:ext>
                  </a:extLst>
                </p:cNvPr>
                <p:cNvSpPr/>
                <p:nvPr/>
              </p:nvSpPr>
              <p:spPr>
                <a:xfrm>
                  <a:off x="1607985" y="4338111"/>
                  <a:ext cx="1126710" cy="37611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HR &lt; 130</a:t>
                  </a:r>
                </a:p>
              </p:txBody>
            </p:sp>
            <p:cxnSp>
              <p:nvCxnSpPr>
                <p:cNvPr id="92" name="Connector: Elbow 91">
                  <a:extLst>
                    <a:ext uri="{FF2B5EF4-FFF2-40B4-BE49-F238E27FC236}">
                      <a16:creationId xmlns:a16="http://schemas.microsoft.com/office/drawing/2014/main" id="{812648F1-378D-4B2E-83E1-5C3E6E5FDF09}"/>
                    </a:ext>
                  </a:extLst>
                </p:cNvPr>
                <p:cNvCxnSpPr>
                  <a:stCxn id="69" idx="2"/>
                  <a:endCxn id="93" idx="0"/>
                </p:cNvCxnSpPr>
                <p:nvPr/>
              </p:nvCxnSpPr>
              <p:spPr>
                <a:xfrm rot="5400000">
                  <a:off x="2198396" y="3682352"/>
                  <a:ext cx="628704" cy="682815"/>
                </a:xfrm>
                <a:prstGeom prst="bentConnector3">
                  <a:avLst>
                    <a:gd name="adj1" fmla="val 48402"/>
                  </a:avLst>
                </a:prstGeom>
                <a:ln>
                  <a:tailEnd type="triangle"/>
                </a:ln>
              </p:spPr>
              <p:style>
                <a:lnRef idx="1">
                  <a:schemeClr val="dk1"/>
                </a:lnRef>
                <a:fillRef idx="0">
                  <a:schemeClr val="dk1"/>
                </a:fillRef>
                <a:effectRef idx="0">
                  <a:schemeClr val="dk1"/>
                </a:effectRef>
                <a:fontRef idx="minor">
                  <a:schemeClr val="tx1"/>
                </a:fontRef>
              </p:style>
            </p:cxnSp>
          </p:grpSp>
        </p:grpSp>
        <p:sp>
          <p:nvSpPr>
            <p:cNvPr id="127" name="TextBox 126">
              <a:extLst>
                <a:ext uri="{FF2B5EF4-FFF2-40B4-BE49-F238E27FC236}">
                  <a16:creationId xmlns:a16="http://schemas.microsoft.com/office/drawing/2014/main" id="{794C540B-A0B7-4764-AB76-284306AA675D}"/>
                </a:ext>
              </a:extLst>
            </p:cNvPr>
            <p:cNvSpPr txBox="1"/>
            <p:nvPr/>
          </p:nvSpPr>
          <p:spPr>
            <a:xfrm>
              <a:off x="1276841" y="4726967"/>
              <a:ext cx="1786074" cy="584775"/>
            </a:xfrm>
            <a:prstGeom prst="rect">
              <a:avLst/>
            </a:prstGeom>
            <a:noFill/>
          </p:spPr>
          <p:txBody>
            <a:bodyPr wrap="square" rtlCol="0">
              <a:spAutoFit/>
            </a:bodyPr>
            <a:lstStyle/>
            <a:p>
              <a:pPr algn="ctr"/>
              <a:r>
                <a:rPr lang="en-US" sz="1600" dirty="0"/>
                <a:t>Oral meds</a:t>
              </a:r>
            </a:p>
            <a:p>
              <a:pPr algn="ctr"/>
              <a:r>
                <a:rPr lang="en-US" sz="1600" dirty="0"/>
                <a:t>HR goal &lt; 110 </a:t>
              </a:r>
            </a:p>
          </p:txBody>
        </p:sp>
        <p:sp>
          <p:nvSpPr>
            <p:cNvPr id="128" name="TextBox 127">
              <a:extLst>
                <a:ext uri="{FF2B5EF4-FFF2-40B4-BE49-F238E27FC236}">
                  <a16:creationId xmlns:a16="http://schemas.microsoft.com/office/drawing/2014/main" id="{96684234-A91D-42F4-A921-BE2BF29F3D72}"/>
                </a:ext>
              </a:extLst>
            </p:cNvPr>
            <p:cNvSpPr txBox="1"/>
            <p:nvPr/>
          </p:nvSpPr>
          <p:spPr>
            <a:xfrm>
              <a:off x="2947840" y="4757720"/>
              <a:ext cx="1232023" cy="338554"/>
            </a:xfrm>
            <a:prstGeom prst="rect">
              <a:avLst/>
            </a:prstGeom>
            <a:noFill/>
          </p:spPr>
          <p:txBody>
            <a:bodyPr wrap="square" rtlCol="0">
              <a:spAutoFit/>
            </a:bodyPr>
            <a:lstStyle/>
            <a:p>
              <a:pPr algn="ctr"/>
              <a:r>
                <a:rPr lang="en-US" sz="1600" dirty="0"/>
                <a:t>IV meds</a:t>
              </a:r>
            </a:p>
          </p:txBody>
        </p:sp>
      </p:grpSp>
      <p:sp>
        <p:nvSpPr>
          <p:cNvPr id="130" name="Stable explanation text">
            <a:extLst>
              <a:ext uri="{FF2B5EF4-FFF2-40B4-BE49-F238E27FC236}">
                <a16:creationId xmlns:a16="http://schemas.microsoft.com/office/drawing/2014/main" id="{7CE81BB7-B2B4-4461-B7F6-1DBBAD5947B0}"/>
              </a:ext>
            </a:extLst>
          </p:cNvPr>
          <p:cNvSpPr/>
          <p:nvPr/>
        </p:nvSpPr>
        <p:spPr>
          <a:xfrm>
            <a:off x="111045" y="5365391"/>
            <a:ext cx="5096726" cy="143441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r>
              <a:rPr lang="en-US" dirty="0"/>
              <a:t>Stable AF with RVR is managed with rate control. </a:t>
            </a:r>
            <a:r>
              <a:rPr lang="en-US" b="1" dirty="0"/>
              <a:t>Acute</a:t>
            </a:r>
            <a:r>
              <a:rPr lang="en-US" dirty="0"/>
              <a:t> HR goal is &lt;130. IV medications should be used to achieve the acute HR goal. Transition to oral medications after HRs &lt; 110. </a:t>
            </a:r>
            <a:r>
              <a:rPr lang="en-US" b="1" dirty="0"/>
              <a:t>Chronic</a:t>
            </a:r>
            <a:r>
              <a:rPr lang="en-US" dirty="0"/>
              <a:t> HR goal is to bring HRs &lt; 110s. </a:t>
            </a:r>
          </a:p>
        </p:txBody>
      </p:sp>
      <p:sp>
        <p:nvSpPr>
          <p:cNvPr id="131" name="BB button">
            <a:extLst>
              <a:ext uri="{FF2B5EF4-FFF2-40B4-BE49-F238E27FC236}">
                <a16:creationId xmlns:a16="http://schemas.microsoft.com/office/drawing/2014/main" id="{01FC0B41-E388-4383-8F74-689D0A890499}"/>
              </a:ext>
            </a:extLst>
          </p:cNvPr>
          <p:cNvSpPr/>
          <p:nvPr/>
        </p:nvSpPr>
        <p:spPr>
          <a:xfrm>
            <a:off x="8113457" y="2448309"/>
            <a:ext cx="627713" cy="434155"/>
          </a:xfrm>
          <a:prstGeom prst="roundRect">
            <a:avLst/>
          </a:prstGeom>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BB</a:t>
            </a:r>
          </a:p>
        </p:txBody>
      </p:sp>
      <p:pic>
        <p:nvPicPr>
          <p:cNvPr id="132" name="Graphic 131" descr="Cursor with solid fill">
            <a:extLst>
              <a:ext uri="{FF2B5EF4-FFF2-40B4-BE49-F238E27FC236}">
                <a16:creationId xmlns:a16="http://schemas.microsoft.com/office/drawing/2014/main" id="{49E0AC9E-EDBA-4968-BED3-57A46B0DE74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581200" y="2760199"/>
            <a:ext cx="278936" cy="278936"/>
          </a:xfrm>
          <a:prstGeom prst="rect">
            <a:avLst/>
          </a:prstGeom>
        </p:spPr>
      </p:pic>
      <p:sp>
        <p:nvSpPr>
          <p:cNvPr id="133" name="CCB button">
            <a:extLst>
              <a:ext uri="{FF2B5EF4-FFF2-40B4-BE49-F238E27FC236}">
                <a16:creationId xmlns:a16="http://schemas.microsoft.com/office/drawing/2014/main" id="{E75246A0-55A6-4231-B2A8-59A6B2C933E3}"/>
              </a:ext>
            </a:extLst>
          </p:cNvPr>
          <p:cNvSpPr/>
          <p:nvPr/>
        </p:nvSpPr>
        <p:spPr>
          <a:xfrm>
            <a:off x="8099378" y="3396925"/>
            <a:ext cx="627713" cy="434155"/>
          </a:xfrm>
          <a:prstGeom prst="roundRect">
            <a:avLst/>
          </a:prstGeom>
          <a:ln/>
          <a:effectLst>
            <a:outerShdw blurRad="50800" dist="381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t>CCB</a:t>
            </a:r>
          </a:p>
        </p:txBody>
      </p:sp>
      <p:pic>
        <p:nvPicPr>
          <p:cNvPr id="134" name="Graphic 133" descr="Cursor with solid fill">
            <a:extLst>
              <a:ext uri="{FF2B5EF4-FFF2-40B4-BE49-F238E27FC236}">
                <a16:creationId xmlns:a16="http://schemas.microsoft.com/office/drawing/2014/main" id="{EC921CD4-BE05-4591-BEB2-F8381435E08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567121" y="3708815"/>
            <a:ext cx="278936" cy="278936"/>
          </a:xfrm>
          <a:prstGeom prst="rect">
            <a:avLst/>
          </a:prstGeom>
        </p:spPr>
      </p:pic>
      <p:sp>
        <p:nvSpPr>
          <p:cNvPr id="135" name="Digoxin button">
            <a:extLst>
              <a:ext uri="{FF2B5EF4-FFF2-40B4-BE49-F238E27FC236}">
                <a16:creationId xmlns:a16="http://schemas.microsoft.com/office/drawing/2014/main" id="{B9930CDE-4303-4978-87C9-2CBA82E8D1C9}"/>
              </a:ext>
            </a:extLst>
          </p:cNvPr>
          <p:cNvSpPr/>
          <p:nvPr/>
        </p:nvSpPr>
        <p:spPr>
          <a:xfrm>
            <a:off x="7818975" y="4368591"/>
            <a:ext cx="967043" cy="434155"/>
          </a:xfrm>
          <a:prstGeom prst="roundRect">
            <a:avLst/>
          </a:prstGeom>
          <a:solidFill>
            <a:srgbClr val="7030A0"/>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Digoxin</a:t>
            </a:r>
          </a:p>
        </p:txBody>
      </p:sp>
      <p:pic>
        <p:nvPicPr>
          <p:cNvPr id="136" name="Graphic 135" descr="Cursor with solid fill">
            <a:extLst>
              <a:ext uri="{FF2B5EF4-FFF2-40B4-BE49-F238E27FC236}">
                <a16:creationId xmlns:a16="http://schemas.microsoft.com/office/drawing/2014/main" id="{3A4D7CFF-7EF4-430D-AFF3-CFAC7E8C66E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632164" y="4669920"/>
            <a:ext cx="278936" cy="278936"/>
          </a:xfrm>
          <a:prstGeom prst="rect">
            <a:avLst/>
          </a:prstGeom>
        </p:spPr>
      </p:pic>
      <p:sp>
        <p:nvSpPr>
          <p:cNvPr id="137" name="Amiodarone button">
            <a:extLst>
              <a:ext uri="{FF2B5EF4-FFF2-40B4-BE49-F238E27FC236}">
                <a16:creationId xmlns:a16="http://schemas.microsoft.com/office/drawing/2014/main" id="{7E0CC515-8DE4-4C8E-85C6-4D0755D17608}"/>
              </a:ext>
            </a:extLst>
          </p:cNvPr>
          <p:cNvSpPr/>
          <p:nvPr/>
        </p:nvSpPr>
        <p:spPr>
          <a:xfrm>
            <a:off x="7437259" y="5274744"/>
            <a:ext cx="1391987" cy="434155"/>
          </a:xfrm>
          <a:prstGeom prst="round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Amiodarone</a:t>
            </a:r>
          </a:p>
        </p:txBody>
      </p:sp>
      <p:pic>
        <p:nvPicPr>
          <p:cNvPr id="138" name="Graphic 137" descr="Cursor with solid fill">
            <a:extLst>
              <a:ext uri="{FF2B5EF4-FFF2-40B4-BE49-F238E27FC236}">
                <a16:creationId xmlns:a16="http://schemas.microsoft.com/office/drawing/2014/main" id="{9F2F5719-2329-4811-B183-537E67BED28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702237" y="5569431"/>
            <a:ext cx="254018" cy="278936"/>
          </a:xfrm>
          <a:prstGeom prst="rect">
            <a:avLst/>
          </a:prstGeom>
        </p:spPr>
      </p:pic>
      <p:cxnSp>
        <p:nvCxnSpPr>
          <p:cNvPr id="175" name="Straight Connector 174">
            <a:extLst>
              <a:ext uri="{FF2B5EF4-FFF2-40B4-BE49-F238E27FC236}">
                <a16:creationId xmlns:a16="http://schemas.microsoft.com/office/drawing/2014/main" id="{48C5F00E-3C35-47BC-953F-5C7BF86ABDBE}"/>
              </a:ext>
            </a:extLst>
          </p:cNvPr>
          <p:cNvCxnSpPr/>
          <p:nvPr/>
        </p:nvCxnSpPr>
        <p:spPr>
          <a:xfrm>
            <a:off x="8099378" y="3173114"/>
            <a:ext cx="3869457" cy="0"/>
          </a:xfrm>
          <a:prstGeom prst="line">
            <a:avLst/>
          </a:prstGeom>
        </p:spPr>
        <p:style>
          <a:lnRef idx="1">
            <a:schemeClr val="dk1"/>
          </a:lnRef>
          <a:fillRef idx="0">
            <a:schemeClr val="dk1"/>
          </a:fillRef>
          <a:effectRef idx="0">
            <a:schemeClr val="dk1"/>
          </a:effectRef>
          <a:fontRef idx="minor">
            <a:schemeClr val="tx1"/>
          </a:fontRef>
        </p:style>
      </p:cxnSp>
      <p:cxnSp>
        <p:nvCxnSpPr>
          <p:cNvPr id="176" name="Straight Connector 175">
            <a:extLst>
              <a:ext uri="{FF2B5EF4-FFF2-40B4-BE49-F238E27FC236}">
                <a16:creationId xmlns:a16="http://schemas.microsoft.com/office/drawing/2014/main" id="{2193AC93-3312-4C35-A10F-CFA63E27F196}"/>
              </a:ext>
            </a:extLst>
          </p:cNvPr>
          <p:cNvCxnSpPr/>
          <p:nvPr/>
        </p:nvCxnSpPr>
        <p:spPr>
          <a:xfrm>
            <a:off x="8099378" y="4113029"/>
            <a:ext cx="3869457" cy="0"/>
          </a:xfrm>
          <a:prstGeom prst="line">
            <a:avLst/>
          </a:prstGeom>
        </p:spPr>
        <p:style>
          <a:lnRef idx="1">
            <a:schemeClr val="dk1"/>
          </a:lnRef>
          <a:fillRef idx="0">
            <a:schemeClr val="dk1"/>
          </a:fillRef>
          <a:effectRef idx="0">
            <a:schemeClr val="dk1"/>
          </a:effectRef>
          <a:fontRef idx="minor">
            <a:schemeClr val="tx1"/>
          </a:fontRef>
        </p:style>
      </p:cxnSp>
      <p:cxnSp>
        <p:nvCxnSpPr>
          <p:cNvPr id="177" name="Straight Connector 176">
            <a:extLst>
              <a:ext uri="{FF2B5EF4-FFF2-40B4-BE49-F238E27FC236}">
                <a16:creationId xmlns:a16="http://schemas.microsoft.com/office/drawing/2014/main" id="{C788C021-4656-43D8-AFBA-08944679BF56}"/>
              </a:ext>
            </a:extLst>
          </p:cNvPr>
          <p:cNvCxnSpPr/>
          <p:nvPr/>
        </p:nvCxnSpPr>
        <p:spPr>
          <a:xfrm>
            <a:off x="8062036" y="5066615"/>
            <a:ext cx="3869457" cy="0"/>
          </a:xfrm>
          <a:prstGeom prst="line">
            <a:avLst/>
          </a:prstGeom>
        </p:spPr>
        <p:style>
          <a:lnRef idx="1">
            <a:schemeClr val="dk1"/>
          </a:lnRef>
          <a:fillRef idx="0">
            <a:schemeClr val="dk1"/>
          </a:fillRef>
          <a:effectRef idx="0">
            <a:schemeClr val="dk1"/>
          </a:effectRef>
          <a:fontRef idx="minor">
            <a:schemeClr val="tx1"/>
          </a:fontRef>
        </p:style>
      </p:cxnSp>
      <p:grpSp>
        <p:nvGrpSpPr>
          <p:cNvPr id="173" name="BB pictorial">
            <a:extLst>
              <a:ext uri="{FF2B5EF4-FFF2-40B4-BE49-F238E27FC236}">
                <a16:creationId xmlns:a16="http://schemas.microsoft.com/office/drawing/2014/main" id="{F830301D-EBF8-49D7-8AF8-0E0F2CDD7767}"/>
              </a:ext>
            </a:extLst>
          </p:cNvPr>
          <p:cNvGrpSpPr/>
          <p:nvPr/>
        </p:nvGrpSpPr>
        <p:grpSpPr>
          <a:xfrm>
            <a:off x="4495113" y="3065696"/>
            <a:ext cx="841750" cy="1419887"/>
            <a:chOff x="4495113" y="3065696"/>
            <a:chExt cx="841750" cy="1419887"/>
          </a:xfrm>
        </p:grpSpPr>
        <p:grpSp>
          <p:nvGrpSpPr>
            <p:cNvPr id="148" name="Group 147">
              <a:extLst>
                <a:ext uri="{FF2B5EF4-FFF2-40B4-BE49-F238E27FC236}">
                  <a16:creationId xmlns:a16="http://schemas.microsoft.com/office/drawing/2014/main" id="{0FFC970F-CEE9-47DD-9BA2-4D92521E51E0}"/>
                </a:ext>
              </a:extLst>
            </p:cNvPr>
            <p:cNvGrpSpPr/>
            <p:nvPr/>
          </p:nvGrpSpPr>
          <p:grpSpPr>
            <a:xfrm>
              <a:off x="4495113" y="3065696"/>
              <a:ext cx="841750" cy="553488"/>
              <a:chOff x="4495113" y="3065696"/>
              <a:chExt cx="841750" cy="553488"/>
            </a:xfrm>
          </p:grpSpPr>
          <p:sp>
            <p:nvSpPr>
              <p:cNvPr id="139" name="TextBox 138">
                <a:extLst>
                  <a:ext uri="{FF2B5EF4-FFF2-40B4-BE49-F238E27FC236}">
                    <a16:creationId xmlns:a16="http://schemas.microsoft.com/office/drawing/2014/main" id="{531D7175-1D16-4221-8B52-112BF0A81816}"/>
                  </a:ext>
                </a:extLst>
              </p:cNvPr>
              <p:cNvSpPr txBox="1"/>
              <p:nvPr/>
            </p:nvSpPr>
            <p:spPr>
              <a:xfrm>
                <a:off x="4495113" y="3249852"/>
                <a:ext cx="468507" cy="369332"/>
              </a:xfrm>
              <a:prstGeom prst="rect">
                <a:avLst/>
              </a:prstGeom>
              <a:noFill/>
            </p:spPr>
            <p:txBody>
              <a:bodyPr wrap="square" rtlCol="0">
                <a:spAutoFit/>
              </a:bodyPr>
              <a:lstStyle/>
              <a:p>
                <a:r>
                  <a:rPr lang="en-US" dirty="0">
                    <a:solidFill>
                      <a:schemeClr val="accent2"/>
                    </a:solidFill>
                  </a:rPr>
                  <a:t>BB</a:t>
                </a:r>
              </a:p>
            </p:txBody>
          </p:sp>
          <p:cxnSp>
            <p:nvCxnSpPr>
              <p:cNvPr id="141" name="Straight Connector 140">
                <a:extLst>
                  <a:ext uri="{FF2B5EF4-FFF2-40B4-BE49-F238E27FC236}">
                    <a16:creationId xmlns:a16="http://schemas.microsoft.com/office/drawing/2014/main" id="{D240C52D-CDCA-4D24-8BCD-017BEC5C118C}"/>
                  </a:ext>
                </a:extLst>
              </p:cNvPr>
              <p:cNvCxnSpPr>
                <a:cxnSpLocks/>
              </p:cNvCxnSpPr>
              <p:nvPr/>
            </p:nvCxnSpPr>
            <p:spPr>
              <a:xfrm flipV="1">
                <a:off x="4936042" y="3173114"/>
                <a:ext cx="341832" cy="188381"/>
              </a:xfrm>
              <a:prstGeom prst="line">
                <a:avLst/>
              </a:prstGeom>
            </p:spPr>
            <p:style>
              <a:lnRef idx="3">
                <a:schemeClr val="accent2"/>
              </a:lnRef>
              <a:fillRef idx="0">
                <a:schemeClr val="accent2"/>
              </a:fillRef>
              <a:effectRef idx="2">
                <a:schemeClr val="accent2"/>
              </a:effectRef>
              <a:fontRef idx="minor">
                <a:schemeClr val="tx1"/>
              </a:fontRef>
            </p:style>
          </p:cxnSp>
          <p:cxnSp>
            <p:nvCxnSpPr>
              <p:cNvPr id="143" name="Straight Connector 142">
                <a:extLst>
                  <a:ext uri="{FF2B5EF4-FFF2-40B4-BE49-F238E27FC236}">
                    <a16:creationId xmlns:a16="http://schemas.microsoft.com/office/drawing/2014/main" id="{9568BDE7-BCA5-4614-8C4C-65561D05F434}"/>
                  </a:ext>
                </a:extLst>
              </p:cNvPr>
              <p:cNvCxnSpPr>
                <a:cxnSpLocks/>
              </p:cNvCxnSpPr>
              <p:nvPr/>
            </p:nvCxnSpPr>
            <p:spPr>
              <a:xfrm>
                <a:off x="5207771" y="3065696"/>
                <a:ext cx="129092" cy="236602"/>
              </a:xfrm>
              <a:prstGeom prst="line">
                <a:avLst/>
              </a:prstGeom>
            </p:spPr>
            <p:style>
              <a:lnRef idx="3">
                <a:schemeClr val="accent2"/>
              </a:lnRef>
              <a:fillRef idx="0">
                <a:schemeClr val="accent2"/>
              </a:fillRef>
              <a:effectRef idx="2">
                <a:schemeClr val="accent2"/>
              </a:effectRef>
              <a:fontRef idx="minor">
                <a:schemeClr val="tx1"/>
              </a:fontRef>
            </p:style>
          </p:cxnSp>
        </p:grpSp>
        <p:cxnSp>
          <p:nvCxnSpPr>
            <p:cNvPr id="149" name="Straight Connector 148">
              <a:extLst>
                <a:ext uri="{FF2B5EF4-FFF2-40B4-BE49-F238E27FC236}">
                  <a16:creationId xmlns:a16="http://schemas.microsoft.com/office/drawing/2014/main" id="{720F4FDB-77B3-470C-8814-9AF3E797DF59}"/>
                </a:ext>
              </a:extLst>
            </p:cNvPr>
            <p:cNvCxnSpPr>
              <a:cxnSpLocks/>
              <a:stCxn id="139" idx="2"/>
            </p:cNvCxnSpPr>
            <p:nvPr/>
          </p:nvCxnSpPr>
          <p:spPr>
            <a:xfrm>
              <a:off x="4729367" y="3619184"/>
              <a:ext cx="234253" cy="866399"/>
            </a:xfrm>
            <a:prstGeom prst="line">
              <a:avLst/>
            </a:prstGeom>
          </p:spPr>
          <p:style>
            <a:lnRef idx="3">
              <a:schemeClr val="accent2"/>
            </a:lnRef>
            <a:fillRef idx="0">
              <a:schemeClr val="accent2"/>
            </a:fillRef>
            <a:effectRef idx="2">
              <a:schemeClr val="accent2"/>
            </a:effectRef>
            <a:fontRef idx="minor">
              <a:schemeClr val="tx1"/>
            </a:fontRef>
          </p:style>
        </p:cxnSp>
        <p:cxnSp>
          <p:nvCxnSpPr>
            <p:cNvPr id="150" name="Straight Connector 149">
              <a:extLst>
                <a:ext uri="{FF2B5EF4-FFF2-40B4-BE49-F238E27FC236}">
                  <a16:creationId xmlns:a16="http://schemas.microsoft.com/office/drawing/2014/main" id="{0B3DA527-5EBC-4831-A9AF-FD7DC082D0CD}"/>
                </a:ext>
              </a:extLst>
            </p:cNvPr>
            <p:cNvCxnSpPr>
              <a:cxnSpLocks/>
            </p:cNvCxnSpPr>
            <p:nvPr/>
          </p:nvCxnSpPr>
          <p:spPr>
            <a:xfrm>
              <a:off x="4799909" y="4474979"/>
              <a:ext cx="280403" cy="0"/>
            </a:xfrm>
            <a:prstGeom prst="line">
              <a:avLst/>
            </a:prstGeom>
          </p:spPr>
          <p:style>
            <a:lnRef idx="3">
              <a:schemeClr val="accent2"/>
            </a:lnRef>
            <a:fillRef idx="0">
              <a:schemeClr val="accent2"/>
            </a:fillRef>
            <a:effectRef idx="2">
              <a:schemeClr val="accent2"/>
            </a:effectRef>
            <a:fontRef idx="minor">
              <a:schemeClr val="tx1"/>
            </a:fontRef>
          </p:style>
        </p:cxnSp>
      </p:grpSp>
      <p:sp>
        <p:nvSpPr>
          <p:cNvPr id="180" name="TextBox 179">
            <a:extLst>
              <a:ext uri="{FF2B5EF4-FFF2-40B4-BE49-F238E27FC236}">
                <a16:creationId xmlns:a16="http://schemas.microsoft.com/office/drawing/2014/main" id="{C951E72D-97C7-478A-8288-D7F8CE283C87}"/>
              </a:ext>
            </a:extLst>
          </p:cNvPr>
          <p:cNvSpPr txBox="1"/>
          <p:nvPr/>
        </p:nvSpPr>
        <p:spPr>
          <a:xfrm>
            <a:off x="4850098" y="4419591"/>
            <a:ext cx="1039707" cy="338554"/>
          </a:xfrm>
          <a:prstGeom prst="rect">
            <a:avLst/>
          </a:prstGeom>
          <a:noFill/>
        </p:spPr>
        <p:txBody>
          <a:bodyPr wrap="square" rtlCol="0">
            <a:spAutoFit/>
          </a:bodyPr>
          <a:lstStyle/>
          <a:p>
            <a:pPr algn="ctr"/>
            <a:r>
              <a:rPr lang="en-US" sz="1600" dirty="0"/>
              <a:t>Inotropy</a:t>
            </a:r>
          </a:p>
        </p:txBody>
      </p:sp>
      <p:sp>
        <p:nvSpPr>
          <p:cNvPr id="182" name="BB explanation">
            <a:extLst>
              <a:ext uri="{FF2B5EF4-FFF2-40B4-BE49-F238E27FC236}">
                <a16:creationId xmlns:a16="http://schemas.microsoft.com/office/drawing/2014/main" id="{2047F5E5-5A72-4377-A133-86A4BBF73162}"/>
              </a:ext>
            </a:extLst>
          </p:cNvPr>
          <p:cNvSpPr txBox="1"/>
          <p:nvPr/>
        </p:nvSpPr>
        <p:spPr>
          <a:xfrm>
            <a:off x="8836109" y="2333825"/>
            <a:ext cx="3234852" cy="738664"/>
          </a:xfrm>
          <a:prstGeom prst="rect">
            <a:avLst/>
          </a:prstGeom>
          <a:noFill/>
        </p:spPr>
        <p:txBody>
          <a:bodyPr wrap="square" rtlCol="0">
            <a:spAutoFit/>
          </a:bodyPr>
          <a:lstStyle/>
          <a:p>
            <a:r>
              <a:rPr lang="en-US" sz="1400" dirty="0"/>
              <a:t>Metoprolol and esmolol block the AV node but are also </a:t>
            </a:r>
            <a:r>
              <a:rPr lang="en-US" sz="1400" dirty="0">
                <a:solidFill>
                  <a:srgbClr val="FF0000"/>
                </a:solidFill>
              </a:rPr>
              <a:t>negative</a:t>
            </a:r>
            <a:r>
              <a:rPr lang="en-US" sz="1400" dirty="0"/>
              <a:t> inotropes (avoid in decompensated </a:t>
            </a:r>
            <a:r>
              <a:rPr lang="en-US" sz="1400" dirty="0" err="1"/>
              <a:t>HFrEF</a:t>
            </a:r>
            <a:r>
              <a:rPr lang="en-US" sz="1400" dirty="0"/>
              <a:t>).</a:t>
            </a:r>
          </a:p>
        </p:txBody>
      </p:sp>
      <p:sp>
        <p:nvSpPr>
          <p:cNvPr id="183" name="CCB explanation">
            <a:extLst>
              <a:ext uri="{FF2B5EF4-FFF2-40B4-BE49-F238E27FC236}">
                <a16:creationId xmlns:a16="http://schemas.microsoft.com/office/drawing/2014/main" id="{A7EB5259-B1A0-4267-AC8B-CD14FB9C3A77}"/>
              </a:ext>
            </a:extLst>
          </p:cNvPr>
          <p:cNvSpPr txBox="1"/>
          <p:nvPr/>
        </p:nvSpPr>
        <p:spPr>
          <a:xfrm>
            <a:off x="8829278" y="3260847"/>
            <a:ext cx="3132726" cy="738664"/>
          </a:xfrm>
          <a:prstGeom prst="rect">
            <a:avLst/>
          </a:prstGeom>
          <a:noFill/>
        </p:spPr>
        <p:txBody>
          <a:bodyPr wrap="square" rtlCol="0">
            <a:spAutoFit/>
          </a:bodyPr>
          <a:lstStyle/>
          <a:p>
            <a:r>
              <a:rPr lang="en-US" sz="1400" dirty="0"/>
              <a:t>Diltiazem blocks the AV node and is a </a:t>
            </a:r>
            <a:r>
              <a:rPr lang="en-US" sz="1400" dirty="0">
                <a:solidFill>
                  <a:srgbClr val="FF0000"/>
                </a:solidFill>
              </a:rPr>
              <a:t>negative</a:t>
            </a:r>
            <a:r>
              <a:rPr lang="en-US" sz="1400" dirty="0"/>
              <a:t> inotrope. It should be avoided in patients with any heart failure. </a:t>
            </a:r>
          </a:p>
        </p:txBody>
      </p:sp>
      <p:grpSp>
        <p:nvGrpSpPr>
          <p:cNvPr id="185" name="CCB pictorial">
            <a:extLst>
              <a:ext uri="{FF2B5EF4-FFF2-40B4-BE49-F238E27FC236}">
                <a16:creationId xmlns:a16="http://schemas.microsoft.com/office/drawing/2014/main" id="{B1C59814-74F3-4EC1-B9A9-EDEDCF10733D}"/>
              </a:ext>
            </a:extLst>
          </p:cNvPr>
          <p:cNvGrpSpPr/>
          <p:nvPr/>
        </p:nvGrpSpPr>
        <p:grpSpPr>
          <a:xfrm>
            <a:off x="4852446" y="3280778"/>
            <a:ext cx="719910" cy="1157205"/>
            <a:chOff x="4508868" y="3141032"/>
            <a:chExt cx="719910" cy="1157205"/>
          </a:xfrm>
        </p:grpSpPr>
        <p:grpSp>
          <p:nvGrpSpPr>
            <p:cNvPr id="187" name="Group 186">
              <a:extLst>
                <a:ext uri="{FF2B5EF4-FFF2-40B4-BE49-F238E27FC236}">
                  <a16:creationId xmlns:a16="http://schemas.microsoft.com/office/drawing/2014/main" id="{B73949F5-DA6C-4EA6-BFFB-8DA6F55F2403}"/>
                </a:ext>
              </a:extLst>
            </p:cNvPr>
            <p:cNvGrpSpPr/>
            <p:nvPr/>
          </p:nvGrpSpPr>
          <p:grpSpPr>
            <a:xfrm>
              <a:off x="4508868" y="3141032"/>
              <a:ext cx="719910" cy="567147"/>
              <a:chOff x="4508868" y="3141032"/>
              <a:chExt cx="719910" cy="567147"/>
            </a:xfrm>
          </p:grpSpPr>
          <p:sp>
            <p:nvSpPr>
              <p:cNvPr id="190" name="TextBox 189">
                <a:extLst>
                  <a:ext uri="{FF2B5EF4-FFF2-40B4-BE49-F238E27FC236}">
                    <a16:creationId xmlns:a16="http://schemas.microsoft.com/office/drawing/2014/main" id="{B08F0D44-77D1-4D80-93F9-EC9280A60BC5}"/>
                  </a:ext>
                </a:extLst>
              </p:cNvPr>
              <p:cNvSpPr txBox="1"/>
              <p:nvPr/>
            </p:nvSpPr>
            <p:spPr>
              <a:xfrm>
                <a:off x="4508868" y="3338847"/>
                <a:ext cx="566049" cy="369332"/>
              </a:xfrm>
              <a:prstGeom prst="rect">
                <a:avLst/>
              </a:prstGeom>
              <a:noFill/>
            </p:spPr>
            <p:txBody>
              <a:bodyPr wrap="square" rtlCol="0">
                <a:spAutoFit/>
              </a:bodyPr>
              <a:lstStyle/>
              <a:p>
                <a:r>
                  <a:rPr lang="en-US" dirty="0">
                    <a:solidFill>
                      <a:schemeClr val="accent4"/>
                    </a:solidFill>
                  </a:rPr>
                  <a:t>CCB</a:t>
                </a:r>
              </a:p>
            </p:txBody>
          </p:sp>
          <p:cxnSp>
            <p:nvCxnSpPr>
              <p:cNvPr id="191" name="Straight Connector 190">
                <a:extLst>
                  <a:ext uri="{FF2B5EF4-FFF2-40B4-BE49-F238E27FC236}">
                    <a16:creationId xmlns:a16="http://schemas.microsoft.com/office/drawing/2014/main" id="{622D0D4C-816A-4A6C-91AC-18BB6592EA1A}"/>
                  </a:ext>
                </a:extLst>
              </p:cNvPr>
              <p:cNvCxnSpPr>
                <a:cxnSpLocks/>
              </p:cNvCxnSpPr>
              <p:nvPr/>
            </p:nvCxnSpPr>
            <p:spPr>
              <a:xfrm flipV="1">
                <a:off x="4936042" y="3208942"/>
                <a:ext cx="182929" cy="152554"/>
              </a:xfrm>
              <a:prstGeom prst="line">
                <a:avLst/>
              </a:prstGeom>
            </p:spPr>
            <p:style>
              <a:lnRef idx="3">
                <a:schemeClr val="accent4"/>
              </a:lnRef>
              <a:fillRef idx="0">
                <a:schemeClr val="accent4"/>
              </a:fillRef>
              <a:effectRef idx="2">
                <a:schemeClr val="accent4"/>
              </a:effectRef>
              <a:fontRef idx="minor">
                <a:schemeClr val="tx1"/>
              </a:fontRef>
            </p:style>
          </p:cxnSp>
          <p:cxnSp>
            <p:nvCxnSpPr>
              <p:cNvPr id="192" name="Straight Connector 191">
                <a:extLst>
                  <a:ext uri="{FF2B5EF4-FFF2-40B4-BE49-F238E27FC236}">
                    <a16:creationId xmlns:a16="http://schemas.microsoft.com/office/drawing/2014/main" id="{A775A11D-774C-4007-A7F7-B3214472A02B}"/>
                  </a:ext>
                </a:extLst>
              </p:cNvPr>
              <p:cNvCxnSpPr>
                <a:cxnSpLocks/>
              </p:cNvCxnSpPr>
              <p:nvPr/>
            </p:nvCxnSpPr>
            <p:spPr>
              <a:xfrm>
                <a:off x="5070766" y="3141032"/>
                <a:ext cx="158012" cy="176528"/>
              </a:xfrm>
              <a:prstGeom prst="line">
                <a:avLst/>
              </a:prstGeom>
            </p:spPr>
            <p:style>
              <a:lnRef idx="3">
                <a:schemeClr val="accent4"/>
              </a:lnRef>
              <a:fillRef idx="0">
                <a:schemeClr val="accent4"/>
              </a:fillRef>
              <a:effectRef idx="2">
                <a:schemeClr val="accent4"/>
              </a:effectRef>
              <a:fontRef idx="minor">
                <a:schemeClr val="tx1"/>
              </a:fontRef>
            </p:style>
          </p:cxnSp>
        </p:grpSp>
        <p:cxnSp>
          <p:nvCxnSpPr>
            <p:cNvPr id="188" name="Straight Connector 187">
              <a:extLst>
                <a:ext uri="{FF2B5EF4-FFF2-40B4-BE49-F238E27FC236}">
                  <a16:creationId xmlns:a16="http://schemas.microsoft.com/office/drawing/2014/main" id="{FA0EDC80-A876-4121-98FD-71DEB61A9456}"/>
                </a:ext>
              </a:extLst>
            </p:cNvPr>
            <p:cNvCxnSpPr>
              <a:cxnSpLocks/>
              <a:stCxn id="190" idx="2"/>
              <a:endCxn id="180" idx="0"/>
            </p:cNvCxnSpPr>
            <p:nvPr/>
          </p:nvCxnSpPr>
          <p:spPr>
            <a:xfrm>
              <a:off x="4791893" y="3708179"/>
              <a:ext cx="234481" cy="571666"/>
            </a:xfrm>
            <a:prstGeom prst="line">
              <a:avLst/>
            </a:prstGeom>
          </p:spPr>
          <p:style>
            <a:lnRef idx="3">
              <a:schemeClr val="accent4"/>
            </a:lnRef>
            <a:fillRef idx="0">
              <a:schemeClr val="accent4"/>
            </a:fillRef>
            <a:effectRef idx="2">
              <a:schemeClr val="accent4"/>
            </a:effectRef>
            <a:fontRef idx="minor">
              <a:schemeClr val="tx1"/>
            </a:fontRef>
          </p:style>
        </p:cxnSp>
        <p:cxnSp>
          <p:nvCxnSpPr>
            <p:cNvPr id="189" name="Straight Connector 188">
              <a:extLst>
                <a:ext uri="{FF2B5EF4-FFF2-40B4-BE49-F238E27FC236}">
                  <a16:creationId xmlns:a16="http://schemas.microsoft.com/office/drawing/2014/main" id="{C8F21331-61D5-4EF8-8723-5E312CA31E96}"/>
                </a:ext>
              </a:extLst>
            </p:cNvPr>
            <p:cNvCxnSpPr>
              <a:cxnSpLocks/>
            </p:cNvCxnSpPr>
            <p:nvPr/>
          </p:nvCxnSpPr>
          <p:spPr>
            <a:xfrm flipV="1">
              <a:off x="4888519" y="4298236"/>
              <a:ext cx="272558" cy="1"/>
            </a:xfrm>
            <a:prstGeom prst="line">
              <a:avLst/>
            </a:prstGeom>
          </p:spPr>
          <p:style>
            <a:lnRef idx="3">
              <a:schemeClr val="accent4"/>
            </a:lnRef>
            <a:fillRef idx="0">
              <a:schemeClr val="accent4"/>
            </a:fillRef>
            <a:effectRef idx="2">
              <a:schemeClr val="accent4"/>
            </a:effectRef>
            <a:fontRef idx="minor">
              <a:schemeClr val="tx1"/>
            </a:fontRef>
          </p:style>
        </p:cxnSp>
      </p:grpSp>
      <p:grpSp>
        <p:nvGrpSpPr>
          <p:cNvPr id="218" name="Digoxin pictoria">
            <a:extLst>
              <a:ext uri="{FF2B5EF4-FFF2-40B4-BE49-F238E27FC236}">
                <a16:creationId xmlns:a16="http://schemas.microsoft.com/office/drawing/2014/main" id="{3E7D16E8-6536-4053-A34F-A00AEC2B9D00}"/>
              </a:ext>
            </a:extLst>
          </p:cNvPr>
          <p:cNvGrpSpPr/>
          <p:nvPr/>
        </p:nvGrpSpPr>
        <p:grpSpPr>
          <a:xfrm>
            <a:off x="5713947" y="3191307"/>
            <a:ext cx="1430318" cy="1433592"/>
            <a:chOff x="5713947" y="3191307"/>
            <a:chExt cx="1430318" cy="1433592"/>
          </a:xfrm>
        </p:grpSpPr>
        <p:sp>
          <p:nvSpPr>
            <p:cNvPr id="207" name="TextBox 206">
              <a:extLst>
                <a:ext uri="{FF2B5EF4-FFF2-40B4-BE49-F238E27FC236}">
                  <a16:creationId xmlns:a16="http://schemas.microsoft.com/office/drawing/2014/main" id="{0A06405C-A4DD-4ED8-82F7-15E8CFD4188F}"/>
                </a:ext>
              </a:extLst>
            </p:cNvPr>
            <p:cNvSpPr txBox="1"/>
            <p:nvPr/>
          </p:nvSpPr>
          <p:spPr>
            <a:xfrm>
              <a:off x="6222175" y="3226449"/>
              <a:ext cx="922090" cy="369332"/>
            </a:xfrm>
            <a:prstGeom prst="rect">
              <a:avLst/>
            </a:prstGeom>
            <a:noFill/>
          </p:spPr>
          <p:txBody>
            <a:bodyPr wrap="square" rtlCol="0">
              <a:spAutoFit/>
            </a:bodyPr>
            <a:lstStyle/>
            <a:p>
              <a:r>
                <a:rPr lang="en-US" dirty="0">
                  <a:solidFill>
                    <a:srgbClr val="7030A0"/>
                  </a:solidFill>
                </a:rPr>
                <a:t>Digoxin</a:t>
              </a:r>
            </a:p>
          </p:txBody>
        </p:sp>
        <p:cxnSp>
          <p:nvCxnSpPr>
            <p:cNvPr id="210" name="Straight Connector 209">
              <a:extLst>
                <a:ext uri="{FF2B5EF4-FFF2-40B4-BE49-F238E27FC236}">
                  <a16:creationId xmlns:a16="http://schemas.microsoft.com/office/drawing/2014/main" id="{26AF40A4-CA04-4D31-81E7-616AE8AD3833}"/>
                </a:ext>
              </a:extLst>
            </p:cNvPr>
            <p:cNvCxnSpPr>
              <a:cxnSpLocks/>
              <a:stCxn id="207" idx="1"/>
            </p:cNvCxnSpPr>
            <p:nvPr/>
          </p:nvCxnSpPr>
          <p:spPr>
            <a:xfrm flipH="1" flipV="1">
              <a:off x="5784507" y="3288723"/>
              <a:ext cx="437668" cy="122392"/>
            </a:xfrm>
            <a:prstGeom prst="line">
              <a:avLst/>
            </a:prstGeom>
            <a:ln>
              <a:solidFill>
                <a:srgbClr val="7030A0"/>
              </a:solidFill>
            </a:ln>
          </p:spPr>
          <p:style>
            <a:lnRef idx="3">
              <a:schemeClr val="accent1"/>
            </a:lnRef>
            <a:fillRef idx="0">
              <a:schemeClr val="accent1"/>
            </a:fillRef>
            <a:effectRef idx="2">
              <a:schemeClr val="accent1"/>
            </a:effectRef>
            <a:fontRef idx="minor">
              <a:schemeClr val="tx1"/>
            </a:fontRef>
          </p:style>
        </p:cxnSp>
        <p:cxnSp>
          <p:nvCxnSpPr>
            <p:cNvPr id="212" name="Straight Connector 211">
              <a:extLst>
                <a:ext uri="{FF2B5EF4-FFF2-40B4-BE49-F238E27FC236}">
                  <a16:creationId xmlns:a16="http://schemas.microsoft.com/office/drawing/2014/main" id="{BD8F24FC-017E-4D63-95DD-CC74AAD4EEB5}"/>
                </a:ext>
              </a:extLst>
            </p:cNvPr>
            <p:cNvCxnSpPr>
              <a:cxnSpLocks/>
            </p:cNvCxnSpPr>
            <p:nvPr/>
          </p:nvCxnSpPr>
          <p:spPr>
            <a:xfrm flipV="1">
              <a:off x="5713947" y="3191307"/>
              <a:ext cx="142901" cy="194831"/>
            </a:xfrm>
            <a:prstGeom prst="line">
              <a:avLst/>
            </a:prstGeom>
            <a:ln>
              <a:solidFill>
                <a:srgbClr val="7030A0"/>
              </a:solidFill>
            </a:ln>
          </p:spPr>
          <p:style>
            <a:lnRef idx="3">
              <a:schemeClr val="accent1"/>
            </a:lnRef>
            <a:fillRef idx="0">
              <a:schemeClr val="accent1"/>
            </a:fillRef>
            <a:effectRef idx="2">
              <a:schemeClr val="accent1"/>
            </a:effectRef>
            <a:fontRef idx="minor">
              <a:schemeClr val="tx1"/>
            </a:fontRef>
          </p:style>
        </p:cxnSp>
        <p:cxnSp>
          <p:nvCxnSpPr>
            <p:cNvPr id="213" name="Straight Connector 212">
              <a:extLst>
                <a:ext uri="{FF2B5EF4-FFF2-40B4-BE49-F238E27FC236}">
                  <a16:creationId xmlns:a16="http://schemas.microsoft.com/office/drawing/2014/main" id="{DC548BDC-A80C-4298-967D-A94C6977AFCA}"/>
                </a:ext>
              </a:extLst>
            </p:cNvPr>
            <p:cNvCxnSpPr>
              <a:cxnSpLocks/>
              <a:stCxn id="207" idx="2"/>
              <a:endCxn id="180" idx="3"/>
            </p:cNvCxnSpPr>
            <p:nvPr/>
          </p:nvCxnSpPr>
          <p:spPr>
            <a:xfrm flipH="1">
              <a:off x="5889805" y="3595781"/>
              <a:ext cx="793415" cy="993087"/>
            </a:xfrm>
            <a:prstGeom prst="line">
              <a:avLst/>
            </a:prstGeom>
            <a:ln>
              <a:solidFill>
                <a:srgbClr val="7030A0"/>
              </a:solidFill>
              <a:tailEnd type="triangle"/>
            </a:ln>
          </p:spPr>
          <p:style>
            <a:lnRef idx="3">
              <a:schemeClr val="accent1"/>
            </a:lnRef>
            <a:fillRef idx="0">
              <a:schemeClr val="accent1"/>
            </a:fillRef>
            <a:effectRef idx="2">
              <a:schemeClr val="accent1"/>
            </a:effectRef>
            <a:fontRef idx="minor">
              <a:schemeClr val="tx1"/>
            </a:fontRef>
          </p:style>
        </p:cxnSp>
        <p:sp>
          <p:nvSpPr>
            <p:cNvPr id="217" name="TextBox 216">
              <a:extLst>
                <a:ext uri="{FF2B5EF4-FFF2-40B4-BE49-F238E27FC236}">
                  <a16:creationId xmlns:a16="http://schemas.microsoft.com/office/drawing/2014/main" id="{B8890A64-C333-42A6-891B-559D6F74083F}"/>
                </a:ext>
              </a:extLst>
            </p:cNvPr>
            <p:cNvSpPr txBox="1"/>
            <p:nvPr/>
          </p:nvSpPr>
          <p:spPr>
            <a:xfrm>
              <a:off x="5992333" y="4255567"/>
              <a:ext cx="315933" cy="369332"/>
            </a:xfrm>
            <a:prstGeom prst="rect">
              <a:avLst/>
            </a:prstGeom>
            <a:noFill/>
          </p:spPr>
          <p:txBody>
            <a:bodyPr wrap="square" rtlCol="0">
              <a:spAutoFit/>
            </a:bodyPr>
            <a:lstStyle/>
            <a:p>
              <a:r>
                <a:rPr lang="en-US" dirty="0">
                  <a:solidFill>
                    <a:srgbClr val="7030A0"/>
                  </a:solidFill>
                </a:rPr>
                <a:t>+</a:t>
              </a:r>
            </a:p>
          </p:txBody>
        </p:sp>
      </p:grpSp>
      <p:sp>
        <p:nvSpPr>
          <p:cNvPr id="219" name="Digoxin explanation">
            <a:extLst>
              <a:ext uri="{FF2B5EF4-FFF2-40B4-BE49-F238E27FC236}">
                <a16:creationId xmlns:a16="http://schemas.microsoft.com/office/drawing/2014/main" id="{F47E4FF4-D17E-4A76-9D61-23A261C1B17B}"/>
              </a:ext>
            </a:extLst>
          </p:cNvPr>
          <p:cNvSpPr txBox="1"/>
          <p:nvPr/>
        </p:nvSpPr>
        <p:spPr>
          <a:xfrm>
            <a:off x="8856529" y="4230528"/>
            <a:ext cx="3132726" cy="738664"/>
          </a:xfrm>
          <a:prstGeom prst="rect">
            <a:avLst/>
          </a:prstGeom>
          <a:noFill/>
        </p:spPr>
        <p:txBody>
          <a:bodyPr wrap="square" rtlCol="0">
            <a:spAutoFit/>
          </a:bodyPr>
          <a:lstStyle/>
          <a:p>
            <a:r>
              <a:rPr lang="en-US" sz="1400" dirty="0"/>
              <a:t>Digoxin acts at the Na/K ATPase on cell surfaces. The net effect is that it blocks the AV node and is a </a:t>
            </a:r>
            <a:r>
              <a:rPr lang="en-US" sz="1400" dirty="0">
                <a:solidFill>
                  <a:srgbClr val="00B050"/>
                </a:solidFill>
              </a:rPr>
              <a:t>positive</a:t>
            </a:r>
            <a:r>
              <a:rPr lang="en-US" sz="1400" dirty="0"/>
              <a:t> inotrope.   </a:t>
            </a:r>
          </a:p>
        </p:txBody>
      </p:sp>
      <p:sp>
        <p:nvSpPr>
          <p:cNvPr id="220" name="Amio explanation">
            <a:extLst>
              <a:ext uri="{FF2B5EF4-FFF2-40B4-BE49-F238E27FC236}">
                <a16:creationId xmlns:a16="http://schemas.microsoft.com/office/drawing/2014/main" id="{9C601BCF-37AC-4A0A-BBBD-671A6B97E7D0}"/>
              </a:ext>
            </a:extLst>
          </p:cNvPr>
          <p:cNvSpPr txBox="1"/>
          <p:nvPr/>
        </p:nvSpPr>
        <p:spPr>
          <a:xfrm>
            <a:off x="8905726" y="5234766"/>
            <a:ext cx="3132726" cy="523220"/>
          </a:xfrm>
          <a:prstGeom prst="rect">
            <a:avLst/>
          </a:prstGeom>
          <a:noFill/>
        </p:spPr>
        <p:txBody>
          <a:bodyPr wrap="square" rtlCol="0">
            <a:spAutoFit/>
          </a:bodyPr>
          <a:lstStyle/>
          <a:p>
            <a:r>
              <a:rPr lang="en-US" sz="1400" dirty="0"/>
              <a:t>Amiodarone is a class III antiarrhythmic that acts to block the AV node. </a:t>
            </a:r>
          </a:p>
        </p:txBody>
      </p:sp>
      <p:grpSp>
        <p:nvGrpSpPr>
          <p:cNvPr id="231" name="Amio pictorial">
            <a:extLst>
              <a:ext uri="{FF2B5EF4-FFF2-40B4-BE49-F238E27FC236}">
                <a16:creationId xmlns:a16="http://schemas.microsoft.com/office/drawing/2014/main" id="{F5A0D8FD-DF8E-490C-9FB3-B40A5DE0315C}"/>
              </a:ext>
            </a:extLst>
          </p:cNvPr>
          <p:cNvGrpSpPr/>
          <p:nvPr/>
        </p:nvGrpSpPr>
        <p:grpSpPr>
          <a:xfrm>
            <a:off x="5866658" y="2892977"/>
            <a:ext cx="1584673" cy="388431"/>
            <a:chOff x="5866658" y="2892977"/>
            <a:chExt cx="1584673" cy="388431"/>
          </a:xfrm>
        </p:grpSpPr>
        <p:sp>
          <p:nvSpPr>
            <p:cNvPr id="221" name="TextBox 220">
              <a:extLst>
                <a:ext uri="{FF2B5EF4-FFF2-40B4-BE49-F238E27FC236}">
                  <a16:creationId xmlns:a16="http://schemas.microsoft.com/office/drawing/2014/main" id="{05892EE1-A7FB-4512-9C5D-55E788A6F994}"/>
                </a:ext>
              </a:extLst>
            </p:cNvPr>
            <p:cNvSpPr txBox="1"/>
            <p:nvPr/>
          </p:nvSpPr>
          <p:spPr>
            <a:xfrm>
              <a:off x="6692913" y="2912076"/>
              <a:ext cx="758418" cy="369332"/>
            </a:xfrm>
            <a:prstGeom prst="rect">
              <a:avLst/>
            </a:prstGeom>
            <a:noFill/>
          </p:spPr>
          <p:txBody>
            <a:bodyPr wrap="square" rtlCol="0">
              <a:spAutoFit/>
            </a:bodyPr>
            <a:lstStyle/>
            <a:p>
              <a:r>
                <a:rPr lang="en-US" dirty="0" err="1">
                  <a:solidFill>
                    <a:schemeClr val="accent1"/>
                  </a:solidFill>
                </a:rPr>
                <a:t>Amio</a:t>
              </a:r>
              <a:r>
                <a:rPr lang="en-US" dirty="0">
                  <a:solidFill>
                    <a:schemeClr val="accent1"/>
                  </a:solidFill>
                </a:rPr>
                <a:t> </a:t>
              </a:r>
            </a:p>
          </p:txBody>
        </p:sp>
        <p:cxnSp>
          <p:nvCxnSpPr>
            <p:cNvPr id="223" name="Straight Connector 222">
              <a:extLst>
                <a:ext uri="{FF2B5EF4-FFF2-40B4-BE49-F238E27FC236}">
                  <a16:creationId xmlns:a16="http://schemas.microsoft.com/office/drawing/2014/main" id="{5AA0095D-92B0-4C83-8E23-445063C83AFF}"/>
                </a:ext>
              </a:extLst>
            </p:cNvPr>
            <p:cNvCxnSpPr>
              <a:cxnSpLocks/>
              <a:stCxn id="221" idx="1"/>
            </p:cNvCxnSpPr>
            <p:nvPr/>
          </p:nvCxnSpPr>
          <p:spPr>
            <a:xfrm flipH="1" flipV="1">
              <a:off x="5878667" y="3009810"/>
              <a:ext cx="814246" cy="86932"/>
            </a:xfrm>
            <a:prstGeom prst="line">
              <a:avLst/>
            </a:prstGeom>
          </p:spPr>
          <p:style>
            <a:lnRef idx="3">
              <a:schemeClr val="accent1"/>
            </a:lnRef>
            <a:fillRef idx="0">
              <a:schemeClr val="accent1"/>
            </a:fillRef>
            <a:effectRef idx="2">
              <a:schemeClr val="accent1"/>
            </a:effectRef>
            <a:fontRef idx="minor">
              <a:schemeClr val="tx1"/>
            </a:fontRef>
          </p:style>
        </p:cxnSp>
        <p:cxnSp>
          <p:nvCxnSpPr>
            <p:cNvPr id="225" name="Straight Connector 224">
              <a:extLst>
                <a:ext uri="{FF2B5EF4-FFF2-40B4-BE49-F238E27FC236}">
                  <a16:creationId xmlns:a16="http://schemas.microsoft.com/office/drawing/2014/main" id="{1B3E6ED7-C8B0-4B9A-8360-F182EE9BC79D}"/>
                </a:ext>
              </a:extLst>
            </p:cNvPr>
            <p:cNvCxnSpPr>
              <a:cxnSpLocks/>
            </p:cNvCxnSpPr>
            <p:nvPr/>
          </p:nvCxnSpPr>
          <p:spPr>
            <a:xfrm>
              <a:off x="5866658" y="2892977"/>
              <a:ext cx="0" cy="233090"/>
            </a:xfrm>
            <a:prstGeom prst="line">
              <a:avLst/>
            </a:prstGeom>
          </p:spPr>
          <p:style>
            <a:lnRef idx="3">
              <a:schemeClr val="accent1"/>
            </a:lnRef>
            <a:fillRef idx="0">
              <a:schemeClr val="accent1"/>
            </a:fillRef>
            <a:effectRef idx="2">
              <a:schemeClr val="accent1"/>
            </a:effectRef>
            <a:fontRef idx="minor">
              <a:schemeClr val="tx1"/>
            </a:fontRef>
          </p:style>
        </p:cxnSp>
      </p:grpSp>
      <p:sp>
        <p:nvSpPr>
          <p:cNvPr id="236" name="Detailed Table button">
            <a:extLst>
              <a:ext uri="{FF2B5EF4-FFF2-40B4-BE49-F238E27FC236}">
                <a16:creationId xmlns:a16="http://schemas.microsoft.com/office/drawing/2014/main" id="{2FA99C39-87F0-4667-BBF9-52E981B5FE0E}"/>
              </a:ext>
            </a:extLst>
          </p:cNvPr>
          <p:cNvSpPr/>
          <p:nvPr/>
        </p:nvSpPr>
        <p:spPr>
          <a:xfrm>
            <a:off x="8250550" y="6033271"/>
            <a:ext cx="3132726" cy="430818"/>
          </a:xfrm>
          <a:prstGeom prst="roundRect">
            <a:avLst/>
          </a:prstGeom>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a:t>Click for detailed table</a:t>
            </a:r>
          </a:p>
        </p:txBody>
      </p:sp>
      <p:pic>
        <p:nvPicPr>
          <p:cNvPr id="237" name="Graphic 236" descr="Cursor with solid fill">
            <a:extLst>
              <a:ext uri="{FF2B5EF4-FFF2-40B4-BE49-F238E27FC236}">
                <a16:creationId xmlns:a16="http://schemas.microsoft.com/office/drawing/2014/main" id="{0261BF2B-1F3B-4F97-8FDF-5FC50E34D15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220612" y="6334887"/>
            <a:ext cx="254018" cy="278936"/>
          </a:xfrm>
          <a:prstGeom prst="rect">
            <a:avLst/>
          </a:prstGeom>
        </p:spPr>
      </p:pic>
      <p:sp>
        <p:nvSpPr>
          <p:cNvPr id="117" name="Rectangle: Rounded Corners 116">
            <a:hlinkClick r:id="rId10" action="ppaction://hlinksldjump"/>
            <a:extLst>
              <a:ext uri="{FF2B5EF4-FFF2-40B4-BE49-F238E27FC236}">
                <a16:creationId xmlns:a16="http://schemas.microsoft.com/office/drawing/2014/main" id="{5FCFC3CE-285C-4BDB-BB74-7E1ED46B600D}"/>
              </a:ext>
            </a:extLst>
          </p:cNvPr>
          <p:cNvSpPr/>
          <p:nvPr/>
        </p:nvSpPr>
        <p:spPr>
          <a:xfrm>
            <a:off x="10431173" y="97577"/>
            <a:ext cx="1637176" cy="350310"/>
          </a:xfrm>
          <a:prstGeom prst="roundRect">
            <a:avLst/>
          </a:prstGeom>
          <a:solidFill>
            <a:schemeClr val="bg1"/>
          </a:solidFill>
          <a:ln w="28575"/>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accent1"/>
                </a:solidFill>
              </a:rPr>
              <a:t>Pathophysiology</a:t>
            </a:r>
          </a:p>
        </p:txBody>
      </p:sp>
      <p:pic>
        <p:nvPicPr>
          <p:cNvPr id="118" name="Graphic 117" descr="Cursor with solid fill">
            <a:extLst>
              <a:ext uri="{FF2B5EF4-FFF2-40B4-BE49-F238E27FC236}">
                <a16:creationId xmlns:a16="http://schemas.microsoft.com/office/drawing/2014/main" id="{67BDC600-29D9-4896-974E-8FD0A8EB61B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908338" y="272732"/>
            <a:ext cx="278936" cy="278936"/>
          </a:xfrm>
          <a:prstGeom prst="rect">
            <a:avLst/>
          </a:prstGeom>
        </p:spPr>
      </p:pic>
      <p:sp>
        <p:nvSpPr>
          <p:cNvPr id="121" name="Rectangle: Rounded Corners 120">
            <a:hlinkClick r:id="rId11" action="ppaction://hlinksldjump"/>
            <a:extLst>
              <a:ext uri="{FF2B5EF4-FFF2-40B4-BE49-F238E27FC236}">
                <a16:creationId xmlns:a16="http://schemas.microsoft.com/office/drawing/2014/main" id="{2087A68D-90FC-45F9-AA9F-51A83D1C72F6}"/>
              </a:ext>
            </a:extLst>
          </p:cNvPr>
          <p:cNvSpPr/>
          <p:nvPr/>
        </p:nvSpPr>
        <p:spPr>
          <a:xfrm>
            <a:off x="11080777" y="520765"/>
            <a:ext cx="993105" cy="330385"/>
          </a:xfrm>
          <a:prstGeom prst="roundRect">
            <a:avLst/>
          </a:prstGeom>
          <a:solidFill>
            <a:schemeClr val="bg1"/>
          </a:solidFill>
          <a:ln w="28575"/>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accent1"/>
                </a:solidFill>
              </a:rPr>
              <a:t>Work-up</a:t>
            </a:r>
          </a:p>
        </p:txBody>
      </p:sp>
      <p:pic>
        <p:nvPicPr>
          <p:cNvPr id="122" name="Graphic 121" descr="Cursor with solid fill">
            <a:extLst>
              <a:ext uri="{FF2B5EF4-FFF2-40B4-BE49-F238E27FC236}">
                <a16:creationId xmlns:a16="http://schemas.microsoft.com/office/drawing/2014/main" id="{143CCA55-DC79-4553-B59C-856D5DDED36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894548" y="666455"/>
            <a:ext cx="278936" cy="278936"/>
          </a:xfrm>
          <a:prstGeom prst="rect">
            <a:avLst/>
          </a:prstGeom>
        </p:spPr>
      </p:pic>
      <p:sp>
        <p:nvSpPr>
          <p:cNvPr id="123" name="Rectangle: Rounded Corners 122">
            <a:hlinkClick r:id="rId12" action="ppaction://hlinksldjump"/>
            <a:extLst>
              <a:ext uri="{FF2B5EF4-FFF2-40B4-BE49-F238E27FC236}">
                <a16:creationId xmlns:a16="http://schemas.microsoft.com/office/drawing/2014/main" id="{D8BAF982-44C5-4D35-82BB-2A8C7AAD5C12}"/>
              </a:ext>
            </a:extLst>
          </p:cNvPr>
          <p:cNvSpPr/>
          <p:nvPr/>
        </p:nvSpPr>
        <p:spPr>
          <a:xfrm>
            <a:off x="10675924" y="930048"/>
            <a:ext cx="1392426" cy="350310"/>
          </a:xfrm>
          <a:prstGeom prst="roundRect">
            <a:avLst/>
          </a:prstGeom>
          <a:solidFill>
            <a:schemeClr val="accent5"/>
          </a:solidFill>
          <a:ln w="28575">
            <a:solidFill>
              <a:schemeClr val="accent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1"/>
                </a:solidFill>
              </a:rPr>
              <a:t>Management</a:t>
            </a:r>
          </a:p>
        </p:txBody>
      </p:sp>
      <p:sp>
        <p:nvSpPr>
          <p:cNvPr id="125" name="Rectangle: Rounded Corners 124">
            <a:hlinkClick r:id="rId13" action="ppaction://hlinksldjump"/>
            <a:extLst>
              <a:ext uri="{FF2B5EF4-FFF2-40B4-BE49-F238E27FC236}">
                <a16:creationId xmlns:a16="http://schemas.microsoft.com/office/drawing/2014/main" id="{0574E86D-27F8-4F17-BB05-66D335766D4A}"/>
              </a:ext>
            </a:extLst>
          </p:cNvPr>
          <p:cNvSpPr/>
          <p:nvPr/>
        </p:nvSpPr>
        <p:spPr>
          <a:xfrm>
            <a:off x="11294743" y="1746631"/>
            <a:ext cx="779139" cy="350310"/>
          </a:xfrm>
          <a:prstGeom prst="roundRect">
            <a:avLst/>
          </a:prstGeom>
          <a:solidFill>
            <a:schemeClr val="bg1"/>
          </a:solidFill>
          <a:ln w="28575"/>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accent1"/>
                </a:solidFill>
              </a:rPr>
              <a:t>Cases</a:t>
            </a:r>
          </a:p>
        </p:txBody>
      </p:sp>
      <p:pic>
        <p:nvPicPr>
          <p:cNvPr id="126" name="Graphic 125" descr="Cursor with solid fill">
            <a:extLst>
              <a:ext uri="{FF2B5EF4-FFF2-40B4-BE49-F238E27FC236}">
                <a16:creationId xmlns:a16="http://schemas.microsoft.com/office/drawing/2014/main" id="{393D7776-65CB-4DB9-8FD5-6ACEEDCC8F2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944437" y="1935396"/>
            <a:ext cx="280861" cy="280861"/>
          </a:xfrm>
          <a:prstGeom prst="rect">
            <a:avLst/>
          </a:prstGeom>
        </p:spPr>
      </p:pic>
      <p:sp>
        <p:nvSpPr>
          <p:cNvPr id="140" name="Rectangle 139">
            <a:hlinkClick r:id="rId14" action="ppaction://hlinksldjump"/>
            <a:extLst>
              <a:ext uri="{FF2B5EF4-FFF2-40B4-BE49-F238E27FC236}">
                <a16:creationId xmlns:a16="http://schemas.microsoft.com/office/drawing/2014/main" id="{9718DD61-E3BC-4246-825B-46F9D8355EEB}"/>
              </a:ext>
            </a:extLst>
          </p:cNvPr>
          <p:cNvSpPr/>
          <p:nvPr/>
        </p:nvSpPr>
        <p:spPr>
          <a:xfrm>
            <a:off x="10845800" y="1340582"/>
            <a:ext cx="1228082" cy="339281"/>
          </a:xfrm>
          <a:prstGeom prst="rect">
            <a:avLst/>
          </a:prstGeom>
          <a:solidFill>
            <a:schemeClr val="bg1"/>
          </a:solidFill>
          <a:ln w="28575"/>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accent1"/>
                </a:solidFill>
              </a:rPr>
              <a:t>Meds table</a:t>
            </a:r>
          </a:p>
        </p:txBody>
      </p:sp>
      <p:pic>
        <p:nvPicPr>
          <p:cNvPr id="142" name="Graphic 141" descr="Cursor with solid fill">
            <a:extLst>
              <a:ext uri="{FF2B5EF4-FFF2-40B4-BE49-F238E27FC236}">
                <a16:creationId xmlns:a16="http://schemas.microsoft.com/office/drawing/2014/main" id="{F7EEF8E7-263A-4A5C-ABF1-D395E001BE6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918040" y="1490828"/>
            <a:ext cx="280861" cy="280861"/>
          </a:xfrm>
          <a:prstGeom prst="rect">
            <a:avLst/>
          </a:prstGeom>
        </p:spPr>
      </p:pic>
      <p:sp>
        <p:nvSpPr>
          <p:cNvPr id="100" name="3 button">
            <a:extLst>
              <a:ext uri="{FF2B5EF4-FFF2-40B4-BE49-F238E27FC236}">
                <a16:creationId xmlns:a16="http://schemas.microsoft.com/office/drawing/2014/main" id="{B0CCC2D3-07AA-4A31-9D16-98D9055EC169}"/>
              </a:ext>
            </a:extLst>
          </p:cNvPr>
          <p:cNvSpPr/>
          <p:nvPr/>
        </p:nvSpPr>
        <p:spPr>
          <a:xfrm>
            <a:off x="8770478" y="1747049"/>
            <a:ext cx="485150" cy="444952"/>
          </a:xfrm>
          <a:prstGeom prst="ellipse">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pic>
        <p:nvPicPr>
          <p:cNvPr id="101" name="Graphic 100" descr="Cursor with solid fill">
            <a:extLst>
              <a:ext uri="{FF2B5EF4-FFF2-40B4-BE49-F238E27FC236}">
                <a16:creationId xmlns:a16="http://schemas.microsoft.com/office/drawing/2014/main" id="{0D95FC2A-BD23-466B-8BF5-7CFC23C1D41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075722" y="2004639"/>
            <a:ext cx="280861" cy="280861"/>
          </a:xfrm>
          <a:prstGeom prst="rect">
            <a:avLst/>
          </a:prstGeom>
        </p:spPr>
      </p:pic>
      <p:sp>
        <p:nvSpPr>
          <p:cNvPr id="11" name="MEDICATIONS">
            <a:extLst>
              <a:ext uri="{FF2B5EF4-FFF2-40B4-BE49-F238E27FC236}">
                <a16:creationId xmlns:a16="http://schemas.microsoft.com/office/drawing/2014/main" id="{04CEA1EC-B6D2-4E04-B3E3-9D7AF7E02E27}"/>
              </a:ext>
            </a:extLst>
          </p:cNvPr>
          <p:cNvSpPr txBox="1"/>
          <p:nvPr/>
        </p:nvSpPr>
        <p:spPr>
          <a:xfrm>
            <a:off x="9126040" y="1805141"/>
            <a:ext cx="2043684" cy="369332"/>
          </a:xfrm>
          <a:prstGeom prst="rect">
            <a:avLst/>
          </a:prstGeom>
          <a:noFill/>
        </p:spPr>
        <p:txBody>
          <a:bodyPr wrap="square" rtlCol="0">
            <a:spAutoFit/>
          </a:bodyPr>
          <a:lstStyle/>
          <a:p>
            <a:pPr algn="ctr"/>
            <a:r>
              <a:rPr lang="en-US" b="1" dirty="0"/>
              <a:t>MEDICATIONS</a:t>
            </a:r>
          </a:p>
        </p:txBody>
      </p:sp>
      <p:sp>
        <p:nvSpPr>
          <p:cNvPr id="12" name="Acute">
            <a:extLst>
              <a:ext uri="{FF2B5EF4-FFF2-40B4-BE49-F238E27FC236}">
                <a16:creationId xmlns:a16="http://schemas.microsoft.com/office/drawing/2014/main" id="{812D1F1B-E4CE-497C-91AF-24409EA8283D}"/>
              </a:ext>
            </a:extLst>
          </p:cNvPr>
          <p:cNvSpPr txBox="1"/>
          <p:nvPr/>
        </p:nvSpPr>
        <p:spPr>
          <a:xfrm>
            <a:off x="395565" y="4368591"/>
            <a:ext cx="1010948" cy="338554"/>
          </a:xfrm>
          <a:prstGeom prst="rect">
            <a:avLst/>
          </a:prstGeom>
          <a:noFill/>
        </p:spPr>
        <p:txBody>
          <a:bodyPr wrap="square" rtlCol="0">
            <a:spAutoFit/>
          </a:bodyPr>
          <a:lstStyle/>
          <a:p>
            <a:pPr algn="ctr"/>
            <a:r>
              <a:rPr lang="en-US" sz="1600" b="1" dirty="0"/>
              <a:t>ACUTE</a:t>
            </a:r>
          </a:p>
        </p:txBody>
      </p:sp>
      <p:sp>
        <p:nvSpPr>
          <p:cNvPr id="105" name="Chronic">
            <a:extLst>
              <a:ext uri="{FF2B5EF4-FFF2-40B4-BE49-F238E27FC236}">
                <a16:creationId xmlns:a16="http://schemas.microsoft.com/office/drawing/2014/main" id="{EF2499DC-1B39-4DE4-BB7E-FF6DB8A1664F}"/>
              </a:ext>
            </a:extLst>
          </p:cNvPr>
          <p:cNvSpPr txBox="1"/>
          <p:nvPr/>
        </p:nvSpPr>
        <p:spPr>
          <a:xfrm>
            <a:off x="343016" y="4957022"/>
            <a:ext cx="1124579" cy="338554"/>
          </a:xfrm>
          <a:prstGeom prst="rect">
            <a:avLst/>
          </a:prstGeom>
          <a:noFill/>
        </p:spPr>
        <p:txBody>
          <a:bodyPr wrap="square" rtlCol="0">
            <a:spAutoFit/>
          </a:bodyPr>
          <a:lstStyle/>
          <a:p>
            <a:pPr algn="ctr"/>
            <a:r>
              <a:rPr lang="en-US" sz="1600" b="1" dirty="0"/>
              <a:t>CHRONIC</a:t>
            </a:r>
          </a:p>
        </p:txBody>
      </p:sp>
    </p:spTree>
    <p:extLst>
      <p:ext uri="{BB962C8B-B14F-4D97-AF65-F5344CB8AC3E}">
        <p14:creationId xmlns:p14="http://schemas.microsoft.com/office/powerpoint/2010/main" val="2916858463"/>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84"/>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2"/>
                                        </p:tgtEl>
                                        <p:attrNameLst>
                                          <p:attrName>style.visibility</p:attrName>
                                        </p:attrNameLst>
                                      </p:cBhvr>
                                      <p:to>
                                        <p:strVal val="visible"/>
                                      </p:to>
                                    </p:set>
                                  </p:childTnLst>
                                </p:cTn>
                              </p:par>
                              <p:par>
                                <p:cTn id="9" presetID="1" presetClass="exit" presetSubtype="0" fill="hold" nodeType="withEffect">
                                  <p:stCondLst>
                                    <p:cond delay="0"/>
                                  </p:stCondLst>
                                  <p:childTnLst>
                                    <p:set>
                                      <p:cBhvr>
                                        <p:cTn id="10" dur="1" fill="hold">
                                          <p:stCondLst>
                                            <p:cond delay="0"/>
                                          </p:stCondLst>
                                        </p:cTn>
                                        <p:tgtEl>
                                          <p:spTgt spid="87"/>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7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6"/>
                                        </p:tgtEl>
                                        <p:attrNameLst>
                                          <p:attrName>style.visibility</p:attrName>
                                        </p:attrNameLst>
                                      </p:cBhvr>
                                      <p:to>
                                        <p:strVal val="visible"/>
                                      </p:to>
                                    </p:set>
                                  </p:childTnLst>
                                </p:cTn>
                              </p:par>
                            </p:childTnLst>
                          </p:cTn>
                        </p:par>
                      </p:childTnLst>
                    </p:cTn>
                  </p:par>
                </p:childTnLst>
              </p:cTn>
              <p:nextCondLst>
                <p:cond evt="onClick" delay="0">
                  <p:tgtEl>
                    <p:spTgt spid="84"/>
                  </p:tgtEl>
                </p:cond>
              </p:nextCondLst>
            </p:seq>
            <p:seq concurrent="1" nextAc="seek">
              <p:cTn id="15" restart="whenNotActive" fill="hold" evtFilter="cancelBubble" nodeType="interactiveSeq">
                <p:stCondLst>
                  <p:cond evt="onClick" delay="0">
                    <p:tgtEl>
                      <p:spTgt spid="76"/>
                    </p:tgtEl>
                  </p:cond>
                </p:stCondLst>
                <p:endSync evt="end" delay="0">
                  <p:rtn val="all"/>
                </p:endSync>
                <p:childTnLst>
                  <p:par>
                    <p:cTn id="16" fill="hold">
                      <p:stCondLst>
                        <p:cond delay="0"/>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105"/>
                                        </p:tgtEl>
                                        <p:attrNameLst>
                                          <p:attrName>style.visibility</p:attrName>
                                        </p:attrNameLst>
                                      </p:cBhvr>
                                      <p:to>
                                        <p:strVal val="visible"/>
                                      </p:to>
                                    </p:set>
                                  </p:childTnLst>
                                </p:cTn>
                              </p:par>
                              <p:par>
                                <p:cTn id="24" presetID="1" presetClass="exit" presetSubtype="0" fill="hold" nodeType="withEffect">
                                  <p:stCondLst>
                                    <p:cond delay="0"/>
                                  </p:stCondLst>
                                  <p:childTnLst>
                                    <p:set>
                                      <p:cBhvr>
                                        <p:cTn id="25" dur="1" fill="hold">
                                          <p:stCondLst>
                                            <p:cond delay="0"/>
                                          </p:stCondLst>
                                        </p:cTn>
                                        <p:tgtEl>
                                          <p:spTgt spid="77"/>
                                        </p:tgtEl>
                                        <p:attrNameLst>
                                          <p:attrName>style.visibility</p:attrName>
                                        </p:attrNameLst>
                                      </p:cBhvr>
                                      <p:to>
                                        <p:strVal val="hidden"/>
                                      </p:to>
                                    </p:set>
                                  </p:childTnLst>
                                </p:cTn>
                              </p:par>
                              <p:par>
                                <p:cTn id="26" presetID="1" presetClass="exit" presetSubtype="0" fill="hold" grpId="1" nodeType="withEffect">
                                  <p:stCondLst>
                                    <p:cond delay="0"/>
                                  </p:stCondLst>
                                  <p:childTnLst>
                                    <p:set>
                                      <p:cBhvr>
                                        <p:cTn id="27" dur="1" fill="hold">
                                          <p:stCondLst>
                                            <p:cond delay="0"/>
                                          </p:stCondLst>
                                        </p:cTn>
                                        <p:tgtEl>
                                          <p:spTgt spid="62"/>
                                        </p:tgtEl>
                                        <p:attrNameLst>
                                          <p:attrName>style.visibility</p:attrName>
                                        </p:attrNameLst>
                                      </p:cBhvr>
                                      <p:to>
                                        <p:strVal val="hidden"/>
                                      </p:to>
                                    </p:set>
                                  </p:childTnLst>
                                </p:cTn>
                              </p:par>
                              <p:par>
                                <p:cTn id="28" presetID="1" presetClass="entr" presetSubtype="0" fill="hold" nodeType="withEffect">
                                  <p:stCondLst>
                                    <p:cond delay="0"/>
                                  </p:stCondLst>
                                  <p:childTnLst>
                                    <p:set>
                                      <p:cBhvr>
                                        <p:cTn id="29" dur="1" fill="hold">
                                          <p:stCondLst>
                                            <p:cond delay="0"/>
                                          </p:stCondLst>
                                        </p:cTn>
                                        <p:tgtEl>
                                          <p:spTgt spid="101"/>
                                        </p:tgtEl>
                                        <p:attrNameLst>
                                          <p:attrName>style.visibility</p:attrName>
                                        </p:attrNameLst>
                                      </p:cBhvr>
                                      <p:to>
                                        <p:strVal val="visible"/>
                                      </p:to>
                                    </p:set>
                                  </p:childTnLst>
                                </p:cTn>
                              </p:par>
                              <p:par>
                                <p:cTn id="30" presetID="1" presetClass="entr" presetSubtype="0" fill="hold" grpId="1" nodeType="withEffect">
                                  <p:stCondLst>
                                    <p:cond delay="0"/>
                                  </p:stCondLst>
                                  <p:childTnLst>
                                    <p:set>
                                      <p:cBhvr>
                                        <p:cTn id="31" dur="1" fill="hold">
                                          <p:stCondLst>
                                            <p:cond delay="0"/>
                                          </p:stCondLst>
                                        </p:cTn>
                                        <p:tgtEl>
                                          <p:spTgt spid="100"/>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11"/>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130"/>
                                        </p:tgtEl>
                                        <p:attrNameLst>
                                          <p:attrName>style.visibility</p:attrName>
                                        </p:attrNameLst>
                                      </p:cBhvr>
                                      <p:to>
                                        <p:strVal val="visible"/>
                                      </p:to>
                                    </p:set>
                                  </p:childTnLst>
                                </p:cTn>
                              </p:par>
                            </p:childTnLst>
                          </p:cTn>
                        </p:par>
                      </p:childTnLst>
                    </p:cTn>
                  </p:par>
                </p:childTnLst>
              </p:cTn>
              <p:nextCondLst>
                <p:cond evt="onClick" delay="0">
                  <p:tgtEl>
                    <p:spTgt spid="76"/>
                  </p:tgtEl>
                </p:cond>
              </p:nextCondLst>
            </p:seq>
            <p:seq concurrent="1" nextAc="seek">
              <p:cTn id="36" restart="whenNotActive" fill="hold" evtFilter="cancelBubble" nodeType="interactiveSeq">
                <p:stCondLst>
                  <p:cond evt="onClick" delay="0">
                    <p:tgtEl>
                      <p:spTgt spid="100"/>
                    </p:tgtEl>
                  </p:cond>
                </p:stCondLst>
                <p:endSync evt="end" delay="0">
                  <p:rtn val="all"/>
                </p:endSync>
                <p:childTnLst>
                  <p:par>
                    <p:cTn id="37" fill="hold">
                      <p:stCondLst>
                        <p:cond delay="0"/>
                      </p:stCondLst>
                      <p:childTnLst>
                        <p:par>
                          <p:cTn id="38" fill="hold">
                            <p:stCondLst>
                              <p:cond delay="0"/>
                            </p:stCondLst>
                            <p:childTnLst>
                              <p:par>
                                <p:cTn id="39" presetID="1" presetClass="exit" presetSubtype="0" fill="hold" nodeType="withEffect">
                                  <p:stCondLst>
                                    <p:cond delay="0"/>
                                  </p:stCondLst>
                                  <p:childTnLst>
                                    <p:set>
                                      <p:cBhvr>
                                        <p:cTn id="40" dur="1" fill="hold">
                                          <p:stCondLst>
                                            <p:cond delay="0"/>
                                          </p:stCondLst>
                                        </p:cTn>
                                        <p:tgtEl>
                                          <p:spTgt spid="101"/>
                                        </p:tgtEl>
                                        <p:attrNameLst>
                                          <p:attrName>style.visibility</p:attrName>
                                        </p:attrNameLst>
                                      </p:cBhvr>
                                      <p:to>
                                        <p:strVal val="hidden"/>
                                      </p:to>
                                    </p:set>
                                  </p:childTnLst>
                                </p:cTn>
                              </p:par>
                              <p:par>
                                <p:cTn id="41" presetID="1" presetClass="entr" presetSubtype="0" fill="hold" nodeType="withEffect">
                                  <p:stCondLst>
                                    <p:cond delay="0"/>
                                  </p:stCondLst>
                                  <p:childTnLst>
                                    <p:set>
                                      <p:cBhvr>
                                        <p:cTn id="42" dur="1" fill="hold">
                                          <p:stCondLst>
                                            <p:cond delay="0"/>
                                          </p:stCondLst>
                                        </p:cTn>
                                        <p:tgtEl>
                                          <p:spTgt spid="132"/>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36"/>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3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3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33"/>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34"/>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3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37"/>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75"/>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76"/>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177"/>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80"/>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236"/>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237"/>
                                        </p:tgtEl>
                                        <p:attrNameLst>
                                          <p:attrName>style.visibility</p:attrName>
                                        </p:attrNameLst>
                                      </p:cBhvr>
                                      <p:to>
                                        <p:strVal val="visible"/>
                                      </p:to>
                                    </p:set>
                                  </p:childTnLst>
                                </p:cTn>
                              </p:par>
                            </p:childTnLst>
                          </p:cTn>
                        </p:par>
                      </p:childTnLst>
                    </p:cTn>
                  </p:par>
                </p:childTnLst>
              </p:cTn>
              <p:nextCondLst>
                <p:cond evt="onClick" delay="0">
                  <p:tgtEl>
                    <p:spTgt spid="100"/>
                  </p:tgtEl>
                </p:cond>
              </p:nextCondLst>
            </p:seq>
            <p:seq concurrent="1" nextAc="seek">
              <p:cTn id="69" restart="whenNotActive" fill="hold" evtFilter="cancelBubble" nodeType="interactiveSeq">
                <p:stCondLst>
                  <p:cond evt="onClick" delay="0">
                    <p:tgtEl>
                      <p:spTgt spid="131"/>
                    </p:tgtEl>
                  </p:cond>
                </p:stCondLst>
                <p:endSync evt="end" delay="0">
                  <p:rtn val="all"/>
                </p:endSync>
                <p:childTnLst>
                  <p:par>
                    <p:cTn id="70" fill="hold">
                      <p:stCondLst>
                        <p:cond delay="0"/>
                      </p:stCondLst>
                      <p:childTnLst>
                        <p:par>
                          <p:cTn id="71" fill="hold">
                            <p:stCondLst>
                              <p:cond delay="0"/>
                            </p:stCondLst>
                            <p:childTnLst>
                              <p:par>
                                <p:cTn id="72" presetID="1" presetClass="entr" presetSubtype="0" fill="hold" grpId="0" nodeType="clickEffect">
                                  <p:stCondLst>
                                    <p:cond delay="0"/>
                                  </p:stCondLst>
                                  <p:childTnLst>
                                    <p:set>
                                      <p:cBhvr>
                                        <p:cTn id="73" dur="1" fill="hold">
                                          <p:stCondLst>
                                            <p:cond delay="0"/>
                                          </p:stCondLst>
                                        </p:cTn>
                                        <p:tgtEl>
                                          <p:spTgt spid="182"/>
                                        </p:tgtEl>
                                        <p:attrNameLst>
                                          <p:attrName>style.visibility</p:attrName>
                                        </p:attrNameLst>
                                      </p:cBhvr>
                                      <p:to>
                                        <p:strVal val="visible"/>
                                      </p:to>
                                    </p:set>
                                  </p:childTnLst>
                                </p:cTn>
                              </p:par>
                              <p:par>
                                <p:cTn id="74" presetID="1" presetClass="entr" presetSubtype="0" fill="hold" nodeType="withEffect">
                                  <p:stCondLst>
                                    <p:cond delay="0"/>
                                  </p:stCondLst>
                                  <p:childTnLst>
                                    <p:set>
                                      <p:cBhvr>
                                        <p:cTn id="75" dur="1" fill="hold">
                                          <p:stCondLst>
                                            <p:cond delay="0"/>
                                          </p:stCondLst>
                                        </p:cTn>
                                        <p:tgtEl>
                                          <p:spTgt spid="173"/>
                                        </p:tgtEl>
                                        <p:attrNameLst>
                                          <p:attrName>style.visibility</p:attrName>
                                        </p:attrNameLst>
                                      </p:cBhvr>
                                      <p:to>
                                        <p:strVal val="visible"/>
                                      </p:to>
                                    </p:set>
                                  </p:childTnLst>
                                </p:cTn>
                              </p:par>
                              <p:par>
                                <p:cTn id="76" presetID="1" presetClass="exit" presetSubtype="0" fill="hold" nodeType="withEffect">
                                  <p:stCondLst>
                                    <p:cond delay="0"/>
                                  </p:stCondLst>
                                  <p:childTnLst>
                                    <p:set>
                                      <p:cBhvr>
                                        <p:cTn id="77" dur="1" fill="hold">
                                          <p:stCondLst>
                                            <p:cond delay="0"/>
                                          </p:stCondLst>
                                        </p:cTn>
                                        <p:tgtEl>
                                          <p:spTgt spid="132"/>
                                        </p:tgtEl>
                                        <p:attrNameLst>
                                          <p:attrName>style.visibility</p:attrName>
                                        </p:attrNameLst>
                                      </p:cBhvr>
                                      <p:to>
                                        <p:strVal val="hidden"/>
                                      </p:to>
                                    </p:set>
                                  </p:childTnLst>
                                </p:cTn>
                              </p:par>
                            </p:childTnLst>
                          </p:cTn>
                        </p:par>
                      </p:childTnLst>
                    </p:cTn>
                  </p:par>
                </p:childTnLst>
              </p:cTn>
              <p:nextCondLst>
                <p:cond evt="onClick" delay="0">
                  <p:tgtEl>
                    <p:spTgt spid="131"/>
                  </p:tgtEl>
                </p:cond>
              </p:nextCondLst>
            </p:seq>
            <p:seq concurrent="1" nextAc="seek">
              <p:cTn id="78" restart="whenNotActive" fill="hold" evtFilter="cancelBubble" nodeType="interactiveSeq">
                <p:stCondLst>
                  <p:cond evt="onClick" delay="0">
                    <p:tgtEl>
                      <p:spTgt spid="133"/>
                    </p:tgtEl>
                  </p:cond>
                </p:stCondLst>
                <p:endSync evt="end" delay="0">
                  <p:rtn val="all"/>
                </p:endSync>
                <p:childTnLst>
                  <p:par>
                    <p:cTn id="79" fill="hold">
                      <p:stCondLst>
                        <p:cond delay="0"/>
                      </p:stCondLst>
                      <p:childTnLst>
                        <p:par>
                          <p:cTn id="80" fill="hold">
                            <p:stCondLst>
                              <p:cond delay="0"/>
                            </p:stCondLst>
                            <p:childTnLst>
                              <p:par>
                                <p:cTn id="81" presetID="1" presetClass="entr" presetSubtype="0" fill="hold" nodeType="withEffect">
                                  <p:stCondLst>
                                    <p:cond delay="0"/>
                                  </p:stCondLst>
                                  <p:childTnLst>
                                    <p:set>
                                      <p:cBhvr>
                                        <p:cTn id="82" dur="1" fill="hold">
                                          <p:stCondLst>
                                            <p:cond delay="0"/>
                                          </p:stCondLst>
                                        </p:cTn>
                                        <p:tgtEl>
                                          <p:spTgt spid="185"/>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183"/>
                                        </p:tgtEl>
                                        <p:attrNameLst>
                                          <p:attrName>style.visibility</p:attrName>
                                        </p:attrNameLst>
                                      </p:cBhvr>
                                      <p:to>
                                        <p:strVal val="visible"/>
                                      </p:to>
                                    </p:set>
                                  </p:childTnLst>
                                </p:cTn>
                              </p:par>
                              <p:par>
                                <p:cTn id="85" presetID="1" presetClass="exit" presetSubtype="0" fill="hold" nodeType="withEffect">
                                  <p:stCondLst>
                                    <p:cond delay="0"/>
                                  </p:stCondLst>
                                  <p:childTnLst>
                                    <p:set>
                                      <p:cBhvr>
                                        <p:cTn id="86" dur="1" fill="hold">
                                          <p:stCondLst>
                                            <p:cond delay="0"/>
                                          </p:stCondLst>
                                        </p:cTn>
                                        <p:tgtEl>
                                          <p:spTgt spid="134"/>
                                        </p:tgtEl>
                                        <p:attrNameLst>
                                          <p:attrName>style.visibility</p:attrName>
                                        </p:attrNameLst>
                                      </p:cBhvr>
                                      <p:to>
                                        <p:strVal val="hidden"/>
                                      </p:to>
                                    </p:set>
                                  </p:childTnLst>
                                </p:cTn>
                              </p:par>
                            </p:childTnLst>
                          </p:cTn>
                        </p:par>
                      </p:childTnLst>
                    </p:cTn>
                  </p:par>
                </p:childTnLst>
              </p:cTn>
              <p:nextCondLst>
                <p:cond evt="onClick" delay="0">
                  <p:tgtEl>
                    <p:spTgt spid="133"/>
                  </p:tgtEl>
                </p:cond>
              </p:nextCondLst>
            </p:seq>
            <p:seq concurrent="1" nextAc="seek">
              <p:cTn id="87" restart="whenNotActive" fill="hold" evtFilter="cancelBubble" nodeType="interactiveSeq">
                <p:stCondLst>
                  <p:cond evt="onClick" delay="0">
                    <p:tgtEl>
                      <p:spTgt spid="135"/>
                    </p:tgtEl>
                  </p:cond>
                </p:stCondLst>
                <p:endSync evt="end" delay="0">
                  <p:rtn val="all"/>
                </p:endSync>
                <p:childTnLst>
                  <p:par>
                    <p:cTn id="88" fill="hold">
                      <p:stCondLst>
                        <p:cond delay="0"/>
                      </p:stCondLst>
                      <p:childTnLst>
                        <p:par>
                          <p:cTn id="89" fill="hold">
                            <p:stCondLst>
                              <p:cond delay="0"/>
                            </p:stCondLst>
                            <p:childTnLst>
                              <p:par>
                                <p:cTn id="90" presetID="1" presetClass="entr" presetSubtype="0" fill="hold" grpId="0" nodeType="clickEffect">
                                  <p:stCondLst>
                                    <p:cond delay="0"/>
                                  </p:stCondLst>
                                  <p:childTnLst>
                                    <p:set>
                                      <p:cBhvr>
                                        <p:cTn id="91" dur="1" fill="hold">
                                          <p:stCondLst>
                                            <p:cond delay="0"/>
                                          </p:stCondLst>
                                        </p:cTn>
                                        <p:tgtEl>
                                          <p:spTgt spid="219"/>
                                        </p:tgtEl>
                                        <p:attrNameLst>
                                          <p:attrName>style.visibility</p:attrName>
                                        </p:attrNameLst>
                                      </p:cBhvr>
                                      <p:to>
                                        <p:strVal val="visible"/>
                                      </p:to>
                                    </p:set>
                                  </p:childTnLst>
                                </p:cTn>
                              </p:par>
                              <p:par>
                                <p:cTn id="92" presetID="1" presetClass="entr" presetSubtype="0" fill="hold" nodeType="withEffect">
                                  <p:stCondLst>
                                    <p:cond delay="0"/>
                                  </p:stCondLst>
                                  <p:childTnLst>
                                    <p:set>
                                      <p:cBhvr>
                                        <p:cTn id="93" dur="1" fill="hold">
                                          <p:stCondLst>
                                            <p:cond delay="0"/>
                                          </p:stCondLst>
                                        </p:cTn>
                                        <p:tgtEl>
                                          <p:spTgt spid="218"/>
                                        </p:tgtEl>
                                        <p:attrNameLst>
                                          <p:attrName>style.visibility</p:attrName>
                                        </p:attrNameLst>
                                      </p:cBhvr>
                                      <p:to>
                                        <p:strVal val="visible"/>
                                      </p:to>
                                    </p:set>
                                  </p:childTnLst>
                                </p:cTn>
                              </p:par>
                              <p:par>
                                <p:cTn id="94" presetID="1" presetClass="exit" presetSubtype="0" fill="hold" nodeType="withEffect">
                                  <p:stCondLst>
                                    <p:cond delay="0"/>
                                  </p:stCondLst>
                                  <p:childTnLst>
                                    <p:set>
                                      <p:cBhvr>
                                        <p:cTn id="95" dur="1" fill="hold">
                                          <p:stCondLst>
                                            <p:cond delay="0"/>
                                          </p:stCondLst>
                                        </p:cTn>
                                        <p:tgtEl>
                                          <p:spTgt spid="136"/>
                                        </p:tgtEl>
                                        <p:attrNameLst>
                                          <p:attrName>style.visibility</p:attrName>
                                        </p:attrNameLst>
                                      </p:cBhvr>
                                      <p:to>
                                        <p:strVal val="hidden"/>
                                      </p:to>
                                    </p:set>
                                  </p:childTnLst>
                                </p:cTn>
                              </p:par>
                            </p:childTnLst>
                          </p:cTn>
                        </p:par>
                      </p:childTnLst>
                    </p:cTn>
                  </p:par>
                </p:childTnLst>
              </p:cTn>
              <p:nextCondLst>
                <p:cond evt="onClick" delay="0">
                  <p:tgtEl>
                    <p:spTgt spid="135"/>
                  </p:tgtEl>
                </p:cond>
              </p:nextCondLst>
            </p:seq>
            <p:seq concurrent="1" nextAc="seek">
              <p:cTn id="96" restart="whenNotActive" fill="hold" evtFilter="cancelBubble" nodeType="interactiveSeq">
                <p:stCondLst>
                  <p:cond evt="onClick" delay="0">
                    <p:tgtEl>
                      <p:spTgt spid="137"/>
                    </p:tgtEl>
                  </p:cond>
                </p:stCondLst>
                <p:endSync evt="end" delay="0">
                  <p:rtn val="all"/>
                </p:endSync>
                <p:childTnLst>
                  <p:par>
                    <p:cTn id="97" fill="hold">
                      <p:stCondLst>
                        <p:cond delay="0"/>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220"/>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231"/>
                                        </p:tgtEl>
                                        <p:attrNameLst>
                                          <p:attrName>style.visibility</p:attrName>
                                        </p:attrNameLst>
                                      </p:cBhvr>
                                      <p:to>
                                        <p:strVal val="visible"/>
                                      </p:to>
                                    </p:set>
                                  </p:childTnLst>
                                </p:cTn>
                              </p:par>
                              <p:par>
                                <p:cTn id="103" presetID="1" presetClass="exit" presetSubtype="0" fill="hold" nodeType="withEffect">
                                  <p:stCondLst>
                                    <p:cond delay="0"/>
                                  </p:stCondLst>
                                  <p:childTnLst>
                                    <p:set>
                                      <p:cBhvr>
                                        <p:cTn id="104" dur="1" fill="hold">
                                          <p:stCondLst>
                                            <p:cond delay="0"/>
                                          </p:stCondLst>
                                        </p:cTn>
                                        <p:tgtEl>
                                          <p:spTgt spid="138"/>
                                        </p:tgtEl>
                                        <p:attrNameLst>
                                          <p:attrName>style.visibility</p:attrName>
                                        </p:attrNameLst>
                                      </p:cBhvr>
                                      <p:to>
                                        <p:strVal val="hidden"/>
                                      </p:to>
                                    </p:set>
                                  </p:childTnLst>
                                </p:cTn>
                              </p:par>
                            </p:childTnLst>
                          </p:cTn>
                        </p:par>
                      </p:childTnLst>
                    </p:cTn>
                  </p:par>
                </p:childTnLst>
              </p:cTn>
              <p:nextCondLst>
                <p:cond evt="onClick" delay="0">
                  <p:tgtEl>
                    <p:spTgt spid="137"/>
                  </p:tgtEl>
                </p:cond>
              </p:nextCondLst>
            </p:seq>
          </p:childTnLst>
        </p:cTn>
      </p:par>
    </p:tnLst>
    <p:bldLst>
      <p:bldP spid="62" grpId="0" animBg="1"/>
      <p:bldP spid="62" grpId="1" animBg="1"/>
      <p:bldP spid="76" grpId="0" animBg="1"/>
      <p:bldP spid="130" grpId="0" animBg="1"/>
      <p:bldP spid="131" grpId="0" animBg="1"/>
      <p:bldP spid="133" grpId="0" animBg="1"/>
      <p:bldP spid="135" grpId="0" animBg="1"/>
      <p:bldP spid="137" grpId="0" animBg="1"/>
      <p:bldP spid="180" grpId="0"/>
      <p:bldP spid="182" grpId="0"/>
      <p:bldP spid="183" grpId="0"/>
      <p:bldP spid="219" grpId="0"/>
      <p:bldP spid="220" grpId="0"/>
      <p:bldP spid="236" grpId="0" animBg="1"/>
      <p:bldP spid="100" grpId="1" animBg="1"/>
      <p:bldP spid="11" grpId="0"/>
      <p:bldP spid="12" grpId="0"/>
      <p:bldP spid="10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etoprolol">
            <a:extLst>
              <a:ext uri="{FF2B5EF4-FFF2-40B4-BE49-F238E27FC236}">
                <a16:creationId xmlns:a16="http://schemas.microsoft.com/office/drawing/2014/main" id="{D5FF82F0-6F53-40A8-9398-B747CBB52EDC}"/>
              </a:ext>
            </a:extLst>
          </p:cNvPr>
          <p:cNvSpPr/>
          <p:nvPr/>
        </p:nvSpPr>
        <p:spPr>
          <a:xfrm>
            <a:off x="1111614" y="2653619"/>
            <a:ext cx="2394857" cy="457253"/>
          </a:xfrm>
          <a:prstGeom prst="roundRect">
            <a:avLst/>
          </a:prstGeom>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2800" dirty="0"/>
              <a:t>Metoprolol</a:t>
            </a:r>
          </a:p>
        </p:txBody>
      </p:sp>
      <p:sp>
        <p:nvSpPr>
          <p:cNvPr id="5" name="Diltiazem">
            <a:extLst>
              <a:ext uri="{FF2B5EF4-FFF2-40B4-BE49-F238E27FC236}">
                <a16:creationId xmlns:a16="http://schemas.microsoft.com/office/drawing/2014/main" id="{744B658E-275C-4E8E-A77F-7E2BA6D0A93E}"/>
              </a:ext>
            </a:extLst>
          </p:cNvPr>
          <p:cNvSpPr/>
          <p:nvPr/>
        </p:nvSpPr>
        <p:spPr>
          <a:xfrm>
            <a:off x="3926690" y="2653619"/>
            <a:ext cx="2632529" cy="457253"/>
          </a:xfrm>
          <a:prstGeom prst="roundRect">
            <a:avLst/>
          </a:prstGeom>
          <a:effectLst>
            <a:outerShdw blurRad="50800" dist="381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800" dirty="0"/>
              <a:t>Diltiazem</a:t>
            </a:r>
          </a:p>
        </p:txBody>
      </p:sp>
      <p:sp>
        <p:nvSpPr>
          <p:cNvPr id="6" name="Amiodarone">
            <a:extLst>
              <a:ext uri="{FF2B5EF4-FFF2-40B4-BE49-F238E27FC236}">
                <a16:creationId xmlns:a16="http://schemas.microsoft.com/office/drawing/2014/main" id="{7D213C8D-41A8-425E-8FE7-CD0F88778563}"/>
              </a:ext>
            </a:extLst>
          </p:cNvPr>
          <p:cNvSpPr/>
          <p:nvPr/>
        </p:nvSpPr>
        <p:spPr>
          <a:xfrm>
            <a:off x="9492079" y="2653619"/>
            <a:ext cx="2329543" cy="457253"/>
          </a:xfrm>
          <a:prstGeom prst="round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Amiodarone</a:t>
            </a:r>
          </a:p>
        </p:txBody>
      </p:sp>
      <p:sp>
        <p:nvSpPr>
          <p:cNvPr id="7" name="Digoxin">
            <a:extLst>
              <a:ext uri="{FF2B5EF4-FFF2-40B4-BE49-F238E27FC236}">
                <a16:creationId xmlns:a16="http://schemas.microsoft.com/office/drawing/2014/main" id="{1D39E5E1-3795-44BF-AB9A-0E7970C2EF86}"/>
              </a:ext>
            </a:extLst>
          </p:cNvPr>
          <p:cNvSpPr/>
          <p:nvPr/>
        </p:nvSpPr>
        <p:spPr>
          <a:xfrm>
            <a:off x="6892801" y="2653619"/>
            <a:ext cx="2329543" cy="457253"/>
          </a:xfrm>
          <a:prstGeom prst="roundRect">
            <a:avLst/>
          </a:prstGeom>
          <a:solidFill>
            <a:srgbClr val="7030A0"/>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Digoxin</a:t>
            </a:r>
          </a:p>
        </p:txBody>
      </p:sp>
      <p:pic>
        <p:nvPicPr>
          <p:cNvPr id="12" name="Graphic 11" descr="Warning">
            <a:extLst>
              <a:ext uri="{FF2B5EF4-FFF2-40B4-BE49-F238E27FC236}">
                <a16:creationId xmlns:a16="http://schemas.microsoft.com/office/drawing/2014/main" id="{323E1279-8A99-4B20-A8EC-BE9AB823DC5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54310" y="5701543"/>
            <a:ext cx="688062" cy="611933"/>
          </a:xfrm>
          <a:prstGeom prst="rect">
            <a:avLst/>
          </a:prstGeom>
        </p:spPr>
      </p:pic>
      <p:grpSp>
        <p:nvGrpSpPr>
          <p:cNvPr id="56" name="Group 55">
            <a:extLst>
              <a:ext uri="{FF2B5EF4-FFF2-40B4-BE49-F238E27FC236}">
                <a16:creationId xmlns:a16="http://schemas.microsoft.com/office/drawing/2014/main" id="{79D6D2EC-1EAE-4ACC-8699-1F1711E4DAE8}"/>
              </a:ext>
            </a:extLst>
          </p:cNvPr>
          <p:cNvGrpSpPr/>
          <p:nvPr/>
        </p:nvGrpSpPr>
        <p:grpSpPr>
          <a:xfrm>
            <a:off x="9451031" y="3219064"/>
            <a:ext cx="2647921" cy="2982167"/>
            <a:chOff x="9325436" y="2843463"/>
            <a:chExt cx="2647921" cy="3353170"/>
          </a:xfrm>
        </p:grpSpPr>
        <p:sp>
          <p:nvSpPr>
            <p:cNvPr id="26" name="TextBox 25">
              <a:extLst>
                <a:ext uri="{FF2B5EF4-FFF2-40B4-BE49-F238E27FC236}">
                  <a16:creationId xmlns:a16="http://schemas.microsoft.com/office/drawing/2014/main" id="{B393A164-EF40-4244-9318-9B2C8CC33586}"/>
                </a:ext>
              </a:extLst>
            </p:cNvPr>
            <p:cNvSpPr txBox="1"/>
            <p:nvPr/>
          </p:nvSpPr>
          <p:spPr>
            <a:xfrm>
              <a:off x="9325436" y="2843463"/>
              <a:ext cx="2647921" cy="707886"/>
            </a:xfrm>
            <a:prstGeom prst="rect">
              <a:avLst/>
            </a:prstGeom>
            <a:noFill/>
          </p:spPr>
          <p:txBody>
            <a:bodyPr wrap="square" rtlCol="0">
              <a:spAutoFit/>
            </a:bodyPr>
            <a:lstStyle/>
            <a:p>
              <a:pPr algn="ctr"/>
              <a:r>
                <a:rPr lang="en-US" sz="2000" i="1" dirty="0"/>
                <a:t>Load</a:t>
              </a:r>
              <a:r>
                <a:rPr lang="en-US" sz="2000" dirty="0"/>
                <a:t>: 150 mg IV push</a:t>
              </a:r>
            </a:p>
            <a:p>
              <a:pPr algn="ctr"/>
              <a:r>
                <a:rPr lang="en-US" sz="2000" i="1" dirty="0"/>
                <a:t>Drip rate: </a:t>
              </a:r>
              <a:r>
                <a:rPr lang="en-US" sz="2000" dirty="0"/>
                <a:t>per protocol</a:t>
              </a:r>
            </a:p>
          </p:txBody>
        </p:sp>
        <p:sp>
          <p:nvSpPr>
            <p:cNvPr id="28" name="TextBox 27">
              <a:extLst>
                <a:ext uri="{FF2B5EF4-FFF2-40B4-BE49-F238E27FC236}">
                  <a16:creationId xmlns:a16="http://schemas.microsoft.com/office/drawing/2014/main" id="{FEACA41D-7368-4DA9-B560-3C6CFF6D20D0}"/>
                </a:ext>
              </a:extLst>
            </p:cNvPr>
            <p:cNvSpPr txBox="1"/>
            <p:nvPr/>
          </p:nvSpPr>
          <p:spPr>
            <a:xfrm>
              <a:off x="10130605" y="4843251"/>
              <a:ext cx="1176447" cy="400110"/>
            </a:xfrm>
            <a:prstGeom prst="rect">
              <a:avLst/>
            </a:prstGeom>
            <a:noFill/>
          </p:spPr>
          <p:txBody>
            <a:bodyPr wrap="square" rtlCol="0">
              <a:spAutoFit/>
            </a:bodyPr>
            <a:lstStyle/>
            <a:p>
              <a:pPr algn="ctr"/>
              <a:r>
                <a:rPr lang="en-US" sz="2000" dirty="0"/>
                <a:t>↓</a:t>
              </a:r>
            </a:p>
          </p:txBody>
        </p:sp>
        <p:sp>
          <p:nvSpPr>
            <p:cNvPr id="34" name="TextBox 33">
              <a:extLst>
                <a:ext uri="{FF2B5EF4-FFF2-40B4-BE49-F238E27FC236}">
                  <a16:creationId xmlns:a16="http://schemas.microsoft.com/office/drawing/2014/main" id="{A3903925-1430-4AE0-88A7-1C2CC5C84467}"/>
                </a:ext>
              </a:extLst>
            </p:cNvPr>
            <p:cNvSpPr txBox="1"/>
            <p:nvPr/>
          </p:nvSpPr>
          <p:spPr>
            <a:xfrm>
              <a:off x="9509653" y="5746746"/>
              <a:ext cx="2282372" cy="449887"/>
            </a:xfrm>
            <a:prstGeom prst="rect">
              <a:avLst/>
            </a:prstGeom>
            <a:noFill/>
          </p:spPr>
          <p:txBody>
            <a:bodyPr wrap="square" rtlCol="0">
              <a:spAutoFit/>
            </a:bodyPr>
            <a:lstStyle/>
            <a:p>
              <a:pPr algn="ctr"/>
              <a:r>
                <a:rPr lang="en-US" sz="2000" dirty="0"/>
                <a:t>Chronic AF</a:t>
              </a:r>
            </a:p>
          </p:txBody>
        </p:sp>
      </p:grpSp>
      <p:grpSp>
        <p:nvGrpSpPr>
          <p:cNvPr id="57" name="Group 56">
            <a:extLst>
              <a:ext uri="{FF2B5EF4-FFF2-40B4-BE49-F238E27FC236}">
                <a16:creationId xmlns:a16="http://schemas.microsoft.com/office/drawing/2014/main" id="{146F3BDE-CE10-49F8-BCFF-2B92EF7354A9}"/>
              </a:ext>
            </a:extLst>
          </p:cNvPr>
          <p:cNvGrpSpPr/>
          <p:nvPr/>
        </p:nvGrpSpPr>
        <p:grpSpPr>
          <a:xfrm>
            <a:off x="968360" y="1696261"/>
            <a:ext cx="10939978" cy="866828"/>
            <a:chOff x="979544" y="989585"/>
            <a:chExt cx="10939978" cy="974668"/>
          </a:xfrm>
        </p:grpSpPr>
        <p:sp>
          <p:nvSpPr>
            <p:cNvPr id="11" name="Right Brace 10">
              <a:extLst>
                <a:ext uri="{FF2B5EF4-FFF2-40B4-BE49-F238E27FC236}">
                  <a16:creationId xmlns:a16="http://schemas.microsoft.com/office/drawing/2014/main" id="{1141F1ED-649A-4BD7-AB27-56F34DE44064}"/>
                </a:ext>
              </a:extLst>
            </p:cNvPr>
            <p:cNvSpPr/>
            <p:nvPr/>
          </p:nvSpPr>
          <p:spPr>
            <a:xfrm rot="16200000">
              <a:off x="3616742" y="-1187082"/>
              <a:ext cx="514137" cy="5788534"/>
            </a:xfrm>
            <a:prstGeom prst="rightBrace">
              <a:avLst>
                <a:gd name="adj1" fmla="val 0"/>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dirty="0"/>
            </a:p>
          </p:txBody>
        </p:sp>
        <p:sp>
          <p:nvSpPr>
            <p:cNvPr id="39" name="Right Brace 38">
              <a:extLst>
                <a:ext uri="{FF2B5EF4-FFF2-40B4-BE49-F238E27FC236}">
                  <a16:creationId xmlns:a16="http://schemas.microsoft.com/office/drawing/2014/main" id="{D84222F3-62D3-4E30-BB55-86D7700491F2}"/>
                </a:ext>
              </a:extLst>
            </p:cNvPr>
            <p:cNvSpPr/>
            <p:nvPr/>
          </p:nvSpPr>
          <p:spPr>
            <a:xfrm rot="16200000">
              <a:off x="9074192" y="-881077"/>
              <a:ext cx="525527" cy="5165133"/>
            </a:xfrm>
            <a:prstGeom prst="rightBrace">
              <a:avLst>
                <a:gd name="adj1" fmla="val 0"/>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3" name="TextBox 12">
              <a:extLst>
                <a:ext uri="{FF2B5EF4-FFF2-40B4-BE49-F238E27FC236}">
                  <a16:creationId xmlns:a16="http://schemas.microsoft.com/office/drawing/2014/main" id="{31250177-F083-474D-9F96-94AD85B16488}"/>
                </a:ext>
              </a:extLst>
            </p:cNvPr>
            <p:cNvSpPr txBox="1"/>
            <p:nvPr/>
          </p:nvSpPr>
          <p:spPr>
            <a:xfrm>
              <a:off x="2956720" y="989585"/>
              <a:ext cx="1751491" cy="400110"/>
            </a:xfrm>
            <a:prstGeom prst="rect">
              <a:avLst/>
            </a:prstGeom>
            <a:noFill/>
          </p:spPr>
          <p:txBody>
            <a:bodyPr wrap="square" rtlCol="0">
              <a:spAutoFit/>
            </a:bodyPr>
            <a:lstStyle/>
            <a:p>
              <a:pPr algn="ctr"/>
              <a:r>
                <a:rPr lang="en-US" sz="2000" dirty="0"/>
                <a:t>1</a:t>
              </a:r>
              <a:r>
                <a:rPr lang="en-US" sz="2000" baseline="30000" dirty="0"/>
                <a:t>st</a:t>
              </a:r>
              <a:r>
                <a:rPr lang="en-US" sz="2000" dirty="0"/>
                <a:t> line</a:t>
              </a:r>
            </a:p>
          </p:txBody>
        </p:sp>
        <p:sp>
          <p:nvSpPr>
            <p:cNvPr id="40" name="TextBox 39">
              <a:extLst>
                <a:ext uri="{FF2B5EF4-FFF2-40B4-BE49-F238E27FC236}">
                  <a16:creationId xmlns:a16="http://schemas.microsoft.com/office/drawing/2014/main" id="{037901BC-C8D1-483E-A210-0118CEA24E52}"/>
                </a:ext>
              </a:extLst>
            </p:cNvPr>
            <p:cNvSpPr txBox="1"/>
            <p:nvPr/>
          </p:nvSpPr>
          <p:spPr>
            <a:xfrm>
              <a:off x="8409028" y="989585"/>
              <a:ext cx="1751491" cy="400110"/>
            </a:xfrm>
            <a:prstGeom prst="rect">
              <a:avLst/>
            </a:prstGeom>
            <a:noFill/>
          </p:spPr>
          <p:txBody>
            <a:bodyPr wrap="square" rtlCol="0">
              <a:spAutoFit/>
            </a:bodyPr>
            <a:lstStyle/>
            <a:p>
              <a:pPr algn="ctr"/>
              <a:r>
                <a:rPr lang="en-US" sz="2000" dirty="0"/>
                <a:t>2</a:t>
              </a:r>
              <a:r>
                <a:rPr lang="en-US" sz="2000" baseline="30000" dirty="0"/>
                <a:t>nd </a:t>
              </a:r>
              <a:r>
                <a:rPr lang="en-US" sz="2000" dirty="0"/>
                <a:t>line</a:t>
              </a:r>
            </a:p>
          </p:txBody>
        </p:sp>
      </p:grpSp>
      <p:cxnSp>
        <p:nvCxnSpPr>
          <p:cNvPr id="41" name="Straight Connector 40">
            <a:extLst>
              <a:ext uri="{FF2B5EF4-FFF2-40B4-BE49-F238E27FC236}">
                <a16:creationId xmlns:a16="http://schemas.microsoft.com/office/drawing/2014/main" id="{C766EB12-3C57-4789-9670-B830F110FDD2}"/>
              </a:ext>
            </a:extLst>
          </p:cNvPr>
          <p:cNvCxnSpPr>
            <a:cxnSpLocks/>
          </p:cNvCxnSpPr>
          <p:nvPr/>
        </p:nvCxnSpPr>
        <p:spPr>
          <a:xfrm>
            <a:off x="3723054" y="2468389"/>
            <a:ext cx="0" cy="4251859"/>
          </a:xfrm>
          <a:prstGeom prst="line">
            <a:avLst/>
          </a:prstGeom>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D9AA91A7-B682-4701-B051-9770892867FA}"/>
              </a:ext>
            </a:extLst>
          </p:cNvPr>
          <p:cNvCxnSpPr>
            <a:cxnSpLocks/>
          </p:cNvCxnSpPr>
          <p:nvPr/>
        </p:nvCxnSpPr>
        <p:spPr>
          <a:xfrm>
            <a:off x="6743205" y="2468389"/>
            <a:ext cx="0" cy="4251859"/>
          </a:xfrm>
          <a:prstGeom prst="line">
            <a:avLst/>
          </a:prstGeom>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56A46394-704F-461A-A0D1-2783617CBEDA}"/>
              </a:ext>
            </a:extLst>
          </p:cNvPr>
          <p:cNvCxnSpPr>
            <a:cxnSpLocks/>
          </p:cNvCxnSpPr>
          <p:nvPr/>
        </p:nvCxnSpPr>
        <p:spPr>
          <a:xfrm>
            <a:off x="9370538" y="2468389"/>
            <a:ext cx="0" cy="4251859"/>
          </a:xfrm>
          <a:prstGeom prst="line">
            <a:avLst/>
          </a:prstGeom>
        </p:spPr>
        <p:style>
          <a:lnRef idx="1">
            <a:schemeClr val="dk1"/>
          </a:lnRef>
          <a:fillRef idx="0">
            <a:schemeClr val="dk1"/>
          </a:fillRef>
          <a:effectRef idx="0">
            <a:schemeClr val="dk1"/>
          </a:effectRef>
          <a:fontRef idx="minor">
            <a:schemeClr val="tx1"/>
          </a:fontRef>
        </p:style>
      </p:cxnSp>
      <p:grpSp>
        <p:nvGrpSpPr>
          <p:cNvPr id="49" name="Group 48">
            <a:extLst>
              <a:ext uri="{FF2B5EF4-FFF2-40B4-BE49-F238E27FC236}">
                <a16:creationId xmlns:a16="http://schemas.microsoft.com/office/drawing/2014/main" id="{1E5D0DB8-EEC1-45FC-BE64-47E414DE5C39}"/>
              </a:ext>
            </a:extLst>
          </p:cNvPr>
          <p:cNvGrpSpPr/>
          <p:nvPr/>
        </p:nvGrpSpPr>
        <p:grpSpPr>
          <a:xfrm>
            <a:off x="990132" y="3278757"/>
            <a:ext cx="2718645" cy="3176836"/>
            <a:chOff x="990132" y="2871885"/>
            <a:chExt cx="2718645" cy="3572057"/>
          </a:xfrm>
        </p:grpSpPr>
        <p:sp>
          <p:nvSpPr>
            <p:cNvPr id="9" name="TextBox 8">
              <a:extLst>
                <a:ext uri="{FF2B5EF4-FFF2-40B4-BE49-F238E27FC236}">
                  <a16:creationId xmlns:a16="http://schemas.microsoft.com/office/drawing/2014/main" id="{08CCE09A-EBE0-4160-B7E2-CBF8BBC76E60}"/>
                </a:ext>
              </a:extLst>
            </p:cNvPr>
            <p:cNvSpPr txBox="1"/>
            <p:nvPr/>
          </p:nvSpPr>
          <p:spPr>
            <a:xfrm>
              <a:off x="1203608" y="2871885"/>
              <a:ext cx="2347686" cy="707886"/>
            </a:xfrm>
            <a:prstGeom prst="rect">
              <a:avLst/>
            </a:prstGeom>
            <a:noFill/>
          </p:spPr>
          <p:txBody>
            <a:bodyPr wrap="square" rtlCol="0">
              <a:spAutoFit/>
            </a:bodyPr>
            <a:lstStyle/>
            <a:p>
              <a:pPr algn="ctr"/>
              <a:r>
                <a:rPr lang="en-US" sz="2000" dirty="0"/>
                <a:t>2.5 - 5 mg IV q5 min</a:t>
              </a:r>
            </a:p>
            <a:p>
              <a:pPr algn="ctr"/>
              <a:r>
                <a:rPr lang="en-US" sz="2000" dirty="0"/>
                <a:t>(max 15 mg)</a:t>
              </a:r>
            </a:p>
          </p:txBody>
        </p:sp>
        <p:sp>
          <p:nvSpPr>
            <p:cNvPr id="10" name="TextBox 9">
              <a:extLst>
                <a:ext uri="{FF2B5EF4-FFF2-40B4-BE49-F238E27FC236}">
                  <a16:creationId xmlns:a16="http://schemas.microsoft.com/office/drawing/2014/main" id="{182F147D-B051-47E0-AB37-13565E64E28F}"/>
                </a:ext>
              </a:extLst>
            </p:cNvPr>
            <p:cNvSpPr txBox="1"/>
            <p:nvPr/>
          </p:nvSpPr>
          <p:spPr>
            <a:xfrm>
              <a:off x="990132" y="5647990"/>
              <a:ext cx="2718645" cy="795952"/>
            </a:xfrm>
            <a:prstGeom prst="rect">
              <a:avLst/>
            </a:prstGeom>
            <a:noFill/>
          </p:spPr>
          <p:txBody>
            <a:bodyPr wrap="square" rtlCol="0">
              <a:spAutoFit/>
            </a:bodyPr>
            <a:lstStyle/>
            <a:p>
              <a:pPr algn="ctr"/>
              <a:r>
                <a:rPr lang="en-US" sz="2000" dirty="0"/>
                <a:t>Decompensated </a:t>
              </a:r>
              <a:r>
                <a:rPr lang="en-US" sz="2000" dirty="0" err="1"/>
                <a:t>HFrEF</a:t>
              </a:r>
              <a:endParaRPr lang="en-US" sz="2000" dirty="0"/>
            </a:p>
            <a:p>
              <a:pPr algn="ctr"/>
              <a:r>
                <a:rPr lang="en-US" sz="2000" dirty="0"/>
                <a:t>Sepsis</a:t>
              </a:r>
            </a:p>
          </p:txBody>
        </p:sp>
        <p:sp>
          <p:nvSpPr>
            <p:cNvPr id="20" name="TextBox 19">
              <a:extLst>
                <a:ext uri="{FF2B5EF4-FFF2-40B4-BE49-F238E27FC236}">
                  <a16:creationId xmlns:a16="http://schemas.microsoft.com/office/drawing/2014/main" id="{B7761580-82C0-4736-9BA9-5F2B29F367F6}"/>
                </a:ext>
              </a:extLst>
            </p:cNvPr>
            <p:cNvSpPr txBox="1"/>
            <p:nvPr/>
          </p:nvSpPr>
          <p:spPr>
            <a:xfrm>
              <a:off x="1877661" y="4844859"/>
              <a:ext cx="892885" cy="400110"/>
            </a:xfrm>
            <a:prstGeom prst="rect">
              <a:avLst/>
            </a:prstGeom>
            <a:noFill/>
          </p:spPr>
          <p:txBody>
            <a:bodyPr wrap="square" rtlCol="0">
              <a:spAutoFit/>
            </a:bodyPr>
            <a:lstStyle/>
            <a:p>
              <a:pPr algn="ctr"/>
              <a:r>
                <a:rPr lang="en-US" sz="2000" dirty="0"/>
                <a:t>↓↓</a:t>
              </a:r>
            </a:p>
          </p:txBody>
        </p:sp>
        <p:sp>
          <p:nvSpPr>
            <p:cNvPr id="45" name="TextBox 44">
              <a:extLst>
                <a:ext uri="{FF2B5EF4-FFF2-40B4-BE49-F238E27FC236}">
                  <a16:creationId xmlns:a16="http://schemas.microsoft.com/office/drawing/2014/main" id="{95A3F9E5-B622-42E9-A9FA-5CA7AA3C79F3}"/>
                </a:ext>
              </a:extLst>
            </p:cNvPr>
            <p:cNvSpPr txBox="1"/>
            <p:nvPr/>
          </p:nvSpPr>
          <p:spPr>
            <a:xfrm>
              <a:off x="1110107" y="4053829"/>
              <a:ext cx="2424618" cy="400110"/>
            </a:xfrm>
            <a:prstGeom prst="rect">
              <a:avLst/>
            </a:prstGeom>
            <a:noFill/>
          </p:spPr>
          <p:txBody>
            <a:bodyPr wrap="square" rtlCol="0">
              <a:spAutoFit/>
            </a:bodyPr>
            <a:lstStyle/>
            <a:p>
              <a:pPr algn="ctr"/>
              <a:r>
                <a:rPr lang="en-US" sz="2000" dirty="0"/>
                <a:t>12.5-37.5 mg PO q6h</a:t>
              </a:r>
            </a:p>
          </p:txBody>
        </p:sp>
      </p:grpSp>
      <p:grpSp>
        <p:nvGrpSpPr>
          <p:cNvPr id="54" name="Group 53">
            <a:extLst>
              <a:ext uri="{FF2B5EF4-FFF2-40B4-BE49-F238E27FC236}">
                <a16:creationId xmlns:a16="http://schemas.microsoft.com/office/drawing/2014/main" id="{C094A68C-D506-47AD-B339-344B68B0B564}"/>
              </a:ext>
            </a:extLst>
          </p:cNvPr>
          <p:cNvGrpSpPr/>
          <p:nvPr/>
        </p:nvGrpSpPr>
        <p:grpSpPr>
          <a:xfrm>
            <a:off x="3806427" y="3278759"/>
            <a:ext cx="2881662" cy="3130670"/>
            <a:chOff x="3806427" y="2868594"/>
            <a:chExt cx="2881662" cy="3520148"/>
          </a:xfrm>
        </p:grpSpPr>
        <p:sp>
          <p:nvSpPr>
            <p:cNvPr id="16" name="TextBox 15">
              <a:extLst>
                <a:ext uri="{FF2B5EF4-FFF2-40B4-BE49-F238E27FC236}">
                  <a16:creationId xmlns:a16="http://schemas.microsoft.com/office/drawing/2014/main" id="{DDE7298F-FAE3-4100-A370-9DDB886BCAC6}"/>
                </a:ext>
              </a:extLst>
            </p:cNvPr>
            <p:cNvSpPr txBox="1"/>
            <p:nvPr/>
          </p:nvSpPr>
          <p:spPr>
            <a:xfrm>
              <a:off x="3806427" y="2868594"/>
              <a:ext cx="2881662" cy="707887"/>
            </a:xfrm>
            <a:prstGeom prst="rect">
              <a:avLst/>
            </a:prstGeom>
            <a:noFill/>
          </p:spPr>
          <p:txBody>
            <a:bodyPr wrap="square" rtlCol="0">
              <a:spAutoFit/>
            </a:bodyPr>
            <a:lstStyle/>
            <a:p>
              <a:pPr algn="ctr"/>
              <a:r>
                <a:rPr lang="en-US" sz="2000" i="1" dirty="0"/>
                <a:t>Bolus</a:t>
              </a:r>
              <a:r>
                <a:rPr lang="en-US" sz="2000" dirty="0"/>
                <a:t>: 10 – 20 mg</a:t>
              </a:r>
            </a:p>
            <a:p>
              <a:pPr algn="ctr"/>
              <a:r>
                <a:rPr lang="en-US" sz="2000" i="1" dirty="0"/>
                <a:t>Drip rate</a:t>
              </a:r>
              <a:r>
                <a:rPr lang="en-US" sz="2000" dirty="0"/>
                <a:t>: 5-15 mg/h</a:t>
              </a:r>
            </a:p>
          </p:txBody>
        </p:sp>
        <p:sp>
          <p:nvSpPr>
            <p:cNvPr id="17" name="TextBox 16">
              <a:extLst>
                <a:ext uri="{FF2B5EF4-FFF2-40B4-BE49-F238E27FC236}">
                  <a16:creationId xmlns:a16="http://schemas.microsoft.com/office/drawing/2014/main" id="{213CFA2B-9F4A-44D6-97FF-DD605D2EBF1E}"/>
                </a:ext>
              </a:extLst>
            </p:cNvPr>
            <p:cNvSpPr txBox="1"/>
            <p:nvPr/>
          </p:nvSpPr>
          <p:spPr>
            <a:xfrm>
              <a:off x="3907532" y="5592790"/>
              <a:ext cx="2704933" cy="795952"/>
            </a:xfrm>
            <a:prstGeom prst="rect">
              <a:avLst/>
            </a:prstGeom>
            <a:noFill/>
          </p:spPr>
          <p:txBody>
            <a:bodyPr wrap="square" rtlCol="0">
              <a:spAutoFit/>
            </a:bodyPr>
            <a:lstStyle/>
            <a:p>
              <a:pPr algn="ctr"/>
              <a:r>
                <a:rPr lang="en-US" sz="2000" dirty="0" err="1"/>
                <a:t>HFrEF</a:t>
              </a:r>
              <a:r>
                <a:rPr lang="en-US" sz="2000" dirty="0"/>
                <a:t> (any history)</a:t>
              </a:r>
            </a:p>
            <a:p>
              <a:pPr algn="ctr"/>
              <a:r>
                <a:rPr lang="en-US" sz="2000" dirty="0"/>
                <a:t>Sepsis</a:t>
              </a:r>
            </a:p>
          </p:txBody>
        </p:sp>
        <p:sp>
          <p:nvSpPr>
            <p:cNvPr id="22" name="TextBox 21">
              <a:extLst>
                <a:ext uri="{FF2B5EF4-FFF2-40B4-BE49-F238E27FC236}">
                  <a16:creationId xmlns:a16="http://schemas.microsoft.com/office/drawing/2014/main" id="{7DC65377-A046-487B-A729-A77638BCC368}"/>
                </a:ext>
              </a:extLst>
            </p:cNvPr>
            <p:cNvSpPr txBox="1"/>
            <p:nvPr/>
          </p:nvSpPr>
          <p:spPr>
            <a:xfrm>
              <a:off x="4718940" y="4844859"/>
              <a:ext cx="1176447" cy="400110"/>
            </a:xfrm>
            <a:prstGeom prst="rect">
              <a:avLst/>
            </a:prstGeom>
            <a:noFill/>
          </p:spPr>
          <p:txBody>
            <a:bodyPr wrap="square" rtlCol="0">
              <a:spAutoFit/>
            </a:bodyPr>
            <a:lstStyle/>
            <a:p>
              <a:pPr algn="ctr"/>
              <a:r>
                <a:rPr lang="en-US" sz="2000" dirty="0"/>
                <a:t>↓↓</a:t>
              </a:r>
            </a:p>
          </p:txBody>
        </p:sp>
        <p:sp>
          <p:nvSpPr>
            <p:cNvPr id="46" name="TextBox 45">
              <a:extLst>
                <a:ext uri="{FF2B5EF4-FFF2-40B4-BE49-F238E27FC236}">
                  <a16:creationId xmlns:a16="http://schemas.microsoft.com/office/drawing/2014/main" id="{D9BD23BF-F6C7-45B0-AEEB-5611A8052887}"/>
                </a:ext>
              </a:extLst>
            </p:cNvPr>
            <p:cNvSpPr txBox="1"/>
            <p:nvPr/>
          </p:nvSpPr>
          <p:spPr>
            <a:xfrm>
              <a:off x="4065959" y="4033485"/>
              <a:ext cx="2424618" cy="400110"/>
            </a:xfrm>
            <a:prstGeom prst="rect">
              <a:avLst/>
            </a:prstGeom>
            <a:noFill/>
          </p:spPr>
          <p:txBody>
            <a:bodyPr wrap="square" rtlCol="0">
              <a:spAutoFit/>
            </a:bodyPr>
            <a:lstStyle/>
            <a:p>
              <a:pPr algn="ctr"/>
              <a:r>
                <a:rPr lang="en-US" sz="2000" dirty="0"/>
                <a:t>30-90 mg PO q6h</a:t>
              </a:r>
            </a:p>
          </p:txBody>
        </p:sp>
      </p:grpSp>
      <p:sp>
        <p:nvSpPr>
          <p:cNvPr id="42" name="TextBox 41">
            <a:extLst>
              <a:ext uri="{FF2B5EF4-FFF2-40B4-BE49-F238E27FC236}">
                <a16:creationId xmlns:a16="http://schemas.microsoft.com/office/drawing/2014/main" id="{77A484E0-CFD9-41DD-9433-11FCAE7AD22C}"/>
              </a:ext>
            </a:extLst>
          </p:cNvPr>
          <p:cNvSpPr txBox="1"/>
          <p:nvPr/>
        </p:nvSpPr>
        <p:spPr>
          <a:xfrm>
            <a:off x="202694" y="3303013"/>
            <a:ext cx="661002" cy="461665"/>
          </a:xfrm>
          <a:prstGeom prst="rect">
            <a:avLst/>
          </a:prstGeom>
          <a:noFill/>
        </p:spPr>
        <p:txBody>
          <a:bodyPr wrap="square" rtlCol="0">
            <a:spAutoFit/>
          </a:bodyPr>
          <a:lstStyle/>
          <a:p>
            <a:pPr algn="ctr"/>
            <a:r>
              <a:rPr lang="en-US" sz="2400" b="1" dirty="0"/>
              <a:t>IV</a:t>
            </a:r>
          </a:p>
        </p:txBody>
      </p:sp>
      <p:grpSp>
        <p:nvGrpSpPr>
          <p:cNvPr id="55" name="Group 54">
            <a:extLst>
              <a:ext uri="{FF2B5EF4-FFF2-40B4-BE49-F238E27FC236}">
                <a16:creationId xmlns:a16="http://schemas.microsoft.com/office/drawing/2014/main" id="{6246A18E-AD40-4018-9094-E9D256CF05C1}"/>
              </a:ext>
            </a:extLst>
          </p:cNvPr>
          <p:cNvGrpSpPr/>
          <p:nvPr/>
        </p:nvGrpSpPr>
        <p:grpSpPr>
          <a:xfrm>
            <a:off x="6756894" y="3211690"/>
            <a:ext cx="2613644" cy="3321397"/>
            <a:chOff x="6756894" y="2770225"/>
            <a:chExt cx="2613644" cy="3734604"/>
          </a:xfrm>
        </p:grpSpPr>
        <p:sp>
          <p:nvSpPr>
            <p:cNvPr id="25" name="TextBox 24">
              <a:extLst>
                <a:ext uri="{FF2B5EF4-FFF2-40B4-BE49-F238E27FC236}">
                  <a16:creationId xmlns:a16="http://schemas.microsoft.com/office/drawing/2014/main" id="{1A06FE49-D9E8-4EFD-8C7F-B24DBE23AE00}"/>
                </a:ext>
              </a:extLst>
            </p:cNvPr>
            <p:cNvSpPr txBox="1"/>
            <p:nvPr/>
          </p:nvSpPr>
          <p:spPr>
            <a:xfrm>
              <a:off x="6795845" y="2770225"/>
              <a:ext cx="2574693" cy="954107"/>
            </a:xfrm>
            <a:prstGeom prst="rect">
              <a:avLst/>
            </a:prstGeom>
            <a:noFill/>
          </p:spPr>
          <p:txBody>
            <a:bodyPr wrap="square" rtlCol="0">
              <a:spAutoFit/>
            </a:bodyPr>
            <a:lstStyle/>
            <a:p>
              <a:pPr algn="ctr"/>
              <a:r>
                <a:rPr lang="en-US" sz="2000" i="1" dirty="0"/>
                <a:t>Load</a:t>
              </a:r>
              <a:r>
                <a:rPr lang="en-US" sz="2000" dirty="0"/>
                <a:t>: 0.25 – 0.5 mg IV, 0.25 mg IV q6h x 2*</a:t>
              </a:r>
            </a:p>
            <a:p>
              <a:pPr algn="ctr"/>
              <a:r>
                <a:rPr lang="en-US" sz="1600" dirty="0"/>
                <a:t>*renally dosed</a:t>
              </a:r>
            </a:p>
          </p:txBody>
        </p:sp>
        <p:sp>
          <p:nvSpPr>
            <p:cNvPr id="33" name="TextBox 32">
              <a:extLst>
                <a:ext uri="{FF2B5EF4-FFF2-40B4-BE49-F238E27FC236}">
                  <a16:creationId xmlns:a16="http://schemas.microsoft.com/office/drawing/2014/main" id="{20844AF8-C14F-4617-A26B-BAFF727DE7E3}"/>
                </a:ext>
              </a:extLst>
            </p:cNvPr>
            <p:cNvSpPr txBox="1"/>
            <p:nvPr/>
          </p:nvSpPr>
          <p:spPr>
            <a:xfrm>
              <a:off x="7434025" y="4843251"/>
              <a:ext cx="1176447" cy="400110"/>
            </a:xfrm>
            <a:prstGeom prst="rect">
              <a:avLst/>
            </a:prstGeom>
            <a:noFill/>
          </p:spPr>
          <p:txBody>
            <a:bodyPr wrap="square" rtlCol="0">
              <a:spAutoFit/>
            </a:bodyPr>
            <a:lstStyle/>
            <a:p>
              <a:pPr algn="ctr"/>
              <a:r>
                <a:rPr lang="en-US" sz="2000" dirty="0"/>
                <a:t>↔</a:t>
              </a:r>
            </a:p>
          </p:txBody>
        </p:sp>
        <p:sp>
          <p:nvSpPr>
            <p:cNvPr id="35" name="TextBox 34">
              <a:extLst>
                <a:ext uri="{FF2B5EF4-FFF2-40B4-BE49-F238E27FC236}">
                  <a16:creationId xmlns:a16="http://schemas.microsoft.com/office/drawing/2014/main" id="{5595DBCB-20DD-41C6-93C5-25A02B2D2D32}"/>
                </a:ext>
              </a:extLst>
            </p:cNvPr>
            <p:cNvSpPr txBox="1"/>
            <p:nvPr/>
          </p:nvSpPr>
          <p:spPr>
            <a:xfrm>
              <a:off x="6756894" y="5362810"/>
              <a:ext cx="2576126" cy="1142019"/>
            </a:xfrm>
            <a:prstGeom prst="rect">
              <a:avLst/>
            </a:prstGeom>
            <a:noFill/>
          </p:spPr>
          <p:txBody>
            <a:bodyPr wrap="square" rtlCol="0">
              <a:spAutoFit/>
            </a:bodyPr>
            <a:lstStyle/>
            <a:p>
              <a:pPr algn="ctr"/>
              <a:r>
                <a:rPr lang="en-US" sz="2000" dirty="0"/>
                <a:t>Elderly</a:t>
              </a:r>
            </a:p>
            <a:p>
              <a:pPr algn="ctr"/>
              <a:r>
                <a:rPr lang="en-US" sz="2000" dirty="0"/>
                <a:t>Renal failure</a:t>
              </a:r>
            </a:p>
            <a:p>
              <a:pPr algn="ctr"/>
              <a:r>
                <a:rPr lang="en-US" sz="2000" dirty="0" err="1"/>
                <a:t>HypoK</a:t>
              </a:r>
              <a:r>
                <a:rPr lang="en-US" sz="2000" dirty="0"/>
                <a:t>/Mag</a:t>
              </a:r>
            </a:p>
          </p:txBody>
        </p:sp>
        <p:sp>
          <p:nvSpPr>
            <p:cNvPr id="50" name="TextBox 49">
              <a:extLst>
                <a:ext uri="{FF2B5EF4-FFF2-40B4-BE49-F238E27FC236}">
                  <a16:creationId xmlns:a16="http://schemas.microsoft.com/office/drawing/2014/main" id="{0E5F4C50-A4BB-465D-B839-92F7908D619D}"/>
                </a:ext>
              </a:extLst>
            </p:cNvPr>
            <p:cNvSpPr txBox="1"/>
            <p:nvPr/>
          </p:nvSpPr>
          <p:spPr>
            <a:xfrm>
              <a:off x="6870883" y="3909903"/>
              <a:ext cx="2424618" cy="707886"/>
            </a:xfrm>
            <a:prstGeom prst="rect">
              <a:avLst/>
            </a:prstGeom>
            <a:noFill/>
          </p:spPr>
          <p:txBody>
            <a:bodyPr wrap="square" rtlCol="0">
              <a:spAutoFit/>
            </a:bodyPr>
            <a:lstStyle/>
            <a:p>
              <a:pPr algn="ctr"/>
              <a:r>
                <a:rPr lang="en-US" sz="2000" dirty="0"/>
                <a:t>0.5 mg x 1, then 0.25 mg q6h x 1-3 doses </a:t>
              </a:r>
            </a:p>
          </p:txBody>
        </p:sp>
      </p:grpSp>
      <p:sp>
        <p:nvSpPr>
          <p:cNvPr id="52" name="TextBox 51">
            <a:extLst>
              <a:ext uri="{FF2B5EF4-FFF2-40B4-BE49-F238E27FC236}">
                <a16:creationId xmlns:a16="http://schemas.microsoft.com/office/drawing/2014/main" id="{6E6A5CC3-A993-4F4B-98AE-E82FAFB063FD}"/>
              </a:ext>
            </a:extLst>
          </p:cNvPr>
          <p:cNvSpPr txBox="1"/>
          <p:nvPr/>
        </p:nvSpPr>
        <p:spPr>
          <a:xfrm>
            <a:off x="209274" y="4308216"/>
            <a:ext cx="661002" cy="461665"/>
          </a:xfrm>
          <a:prstGeom prst="rect">
            <a:avLst/>
          </a:prstGeom>
          <a:noFill/>
        </p:spPr>
        <p:txBody>
          <a:bodyPr wrap="square" rtlCol="0">
            <a:spAutoFit/>
          </a:bodyPr>
          <a:lstStyle/>
          <a:p>
            <a:pPr algn="ctr"/>
            <a:r>
              <a:rPr lang="en-US" sz="2400" b="1" dirty="0"/>
              <a:t>PO</a:t>
            </a:r>
          </a:p>
        </p:txBody>
      </p:sp>
      <p:sp>
        <p:nvSpPr>
          <p:cNvPr id="53" name="TextBox 52">
            <a:extLst>
              <a:ext uri="{FF2B5EF4-FFF2-40B4-BE49-F238E27FC236}">
                <a16:creationId xmlns:a16="http://schemas.microsoft.com/office/drawing/2014/main" id="{7B8A9D0D-4AFA-4BCA-83B9-91962AA10A79}"/>
              </a:ext>
            </a:extLst>
          </p:cNvPr>
          <p:cNvSpPr txBox="1"/>
          <p:nvPr/>
        </p:nvSpPr>
        <p:spPr>
          <a:xfrm>
            <a:off x="22620" y="5047737"/>
            <a:ext cx="1374559" cy="461665"/>
          </a:xfrm>
          <a:prstGeom prst="rect">
            <a:avLst/>
          </a:prstGeom>
          <a:noFill/>
        </p:spPr>
        <p:txBody>
          <a:bodyPr wrap="square" rtlCol="0">
            <a:spAutoFit/>
          </a:bodyPr>
          <a:lstStyle/>
          <a:p>
            <a:pPr algn="ctr"/>
            <a:r>
              <a:rPr lang="en-US" sz="2400" b="1" dirty="0"/>
              <a:t>BP effect</a:t>
            </a:r>
          </a:p>
        </p:txBody>
      </p:sp>
      <p:pic>
        <p:nvPicPr>
          <p:cNvPr id="59" name="Graphic 58" descr="Cursor with solid fill">
            <a:extLst>
              <a:ext uri="{FF2B5EF4-FFF2-40B4-BE49-F238E27FC236}">
                <a16:creationId xmlns:a16="http://schemas.microsoft.com/office/drawing/2014/main" id="{495AFA64-9879-4C3F-865F-D85DBB34096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353214" y="2970990"/>
            <a:ext cx="274320" cy="267901"/>
          </a:xfrm>
          <a:prstGeom prst="rect">
            <a:avLst/>
          </a:prstGeom>
        </p:spPr>
      </p:pic>
      <p:pic>
        <p:nvPicPr>
          <p:cNvPr id="60" name="Graphic 59" descr="Cursor with solid fill">
            <a:extLst>
              <a:ext uri="{FF2B5EF4-FFF2-40B4-BE49-F238E27FC236}">
                <a16:creationId xmlns:a16="http://schemas.microsoft.com/office/drawing/2014/main" id="{230255D8-3902-421A-8B9D-956D55B90A0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419009" y="2984676"/>
            <a:ext cx="274320" cy="267901"/>
          </a:xfrm>
          <a:prstGeom prst="rect">
            <a:avLst/>
          </a:prstGeom>
        </p:spPr>
      </p:pic>
      <p:pic>
        <p:nvPicPr>
          <p:cNvPr id="61" name="Graphic 60" descr="Cursor with solid fill">
            <a:extLst>
              <a:ext uri="{FF2B5EF4-FFF2-40B4-BE49-F238E27FC236}">
                <a16:creationId xmlns:a16="http://schemas.microsoft.com/office/drawing/2014/main" id="{1E283486-3C17-48D5-9329-184C9ED2FC3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042751" y="2965536"/>
            <a:ext cx="274320" cy="267901"/>
          </a:xfrm>
          <a:prstGeom prst="rect">
            <a:avLst/>
          </a:prstGeom>
        </p:spPr>
      </p:pic>
      <p:pic>
        <p:nvPicPr>
          <p:cNvPr id="62" name="Graphic 61" descr="Cursor with solid fill">
            <a:extLst>
              <a:ext uri="{FF2B5EF4-FFF2-40B4-BE49-F238E27FC236}">
                <a16:creationId xmlns:a16="http://schemas.microsoft.com/office/drawing/2014/main" id="{4D01005D-0CF5-48D2-8ACD-43613703F43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681950" y="2955681"/>
            <a:ext cx="274320" cy="267901"/>
          </a:xfrm>
          <a:prstGeom prst="rect">
            <a:avLst/>
          </a:prstGeom>
        </p:spPr>
      </p:pic>
      <p:sp>
        <p:nvSpPr>
          <p:cNvPr id="47" name="Rectangle: Rounded Corners 46">
            <a:hlinkClick r:id="rId7" action="ppaction://hlinksldjump"/>
            <a:extLst>
              <a:ext uri="{FF2B5EF4-FFF2-40B4-BE49-F238E27FC236}">
                <a16:creationId xmlns:a16="http://schemas.microsoft.com/office/drawing/2014/main" id="{00827651-C8E0-4AAC-9BB2-7E2F9E8CDC33}"/>
              </a:ext>
            </a:extLst>
          </p:cNvPr>
          <p:cNvSpPr/>
          <p:nvPr/>
        </p:nvSpPr>
        <p:spPr>
          <a:xfrm>
            <a:off x="10431173" y="97577"/>
            <a:ext cx="1637176" cy="350310"/>
          </a:xfrm>
          <a:prstGeom prst="roundRect">
            <a:avLst/>
          </a:prstGeom>
          <a:solidFill>
            <a:schemeClr val="bg1"/>
          </a:solidFill>
          <a:ln w="28575"/>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accent1"/>
                </a:solidFill>
              </a:rPr>
              <a:t>Pathophysiology</a:t>
            </a:r>
          </a:p>
        </p:txBody>
      </p:sp>
      <p:pic>
        <p:nvPicPr>
          <p:cNvPr id="48" name="Graphic 47" descr="Cursor with solid fill">
            <a:extLst>
              <a:ext uri="{FF2B5EF4-FFF2-40B4-BE49-F238E27FC236}">
                <a16:creationId xmlns:a16="http://schemas.microsoft.com/office/drawing/2014/main" id="{80077759-CBC3-44E9-8BA5-C09962EBDDB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908338" y="272732"/>
            <a:ext cx="278936" cy="278936"/>
          </a:xfrm>
          <a:prstGeom prst="rect">
            <a:avLst/>
          </a:prstGeom>
        </p:spPr>
      </p:pic>
      <p:sp>
        <p:nvSpPr>
          <p:cNvPr id="51" name="Rectangle: Rounded Corners 50">
            <a:hlinkClick r:id="rId8" action="ppaction://hlinksldjump"/>
            <a:extLst>
              <a:ext uri="{FF2B5EF4-FFF2-40B4-BE49-F238E27FC236}">
                <a16:creationId xmlns:a16="http://schemas.microsoft.com/office/drawing/2014/main" id="{0526587E-9675-4671-98DD-CB5BFA8B4942}"/>
              </a:ext>
            </a:extLst>
          </p:cNvPr>
          <p:cNvSpPr/>
          <p:nvPr/>
        </p:nvSpPr>
        <p:spPr>
          <a:xfrm>
            <a:off x="11080777" y="520765"/>
            <a:ext cx="993105" cy="330385"/>
          </a:xfrm>
          <a:prstGeom prst="roundRect">
            <a:avLst/>
          </a:prstGeom>
          <a:solidFill>
            <a:schemeClr val="bg1"/>
          </a:solidFill>
          <a:ln w="28575"/>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accent1"/>
                </a:solidFill>
              </a:rPr>
              <a:t>Work-up</a:t>
            </a:r>
          </a:p>
        </p:txBody>
      </p:sp>
      <p:pic>
        <p:nvPicPr>
          <p:cNvPr id="58" name="Graphic 57" descr="Cursor with solid fill">
            <a:extLst>
              <a:ext uri="{FF2B5EF4-FFF2-40B4-BE49-F238E27FC236}">
                <a16:creationId xmlns:a16="http://schemas.microsoft.com/office/drawing/2014/main" id="{7FAF0D1D-A1F7-45E9-88A7-0A96ADE3D99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894548" y="666455"/>
            <a:ext cx="278936" cy="278936"/>
          </a:xfrm>
          <a:prstGeom prst="rect">
            <a:avLst/>
          </a:prstGeom>
        </p:spPr>
      </p:pic>
      <p:sp>
        <p:nvSpPr>
          <p:cNvPr id="66" name="Rectangle: Rounded Corners 65">
            <a:hlinkClick r:id="rId9" action="ppaction://hlinksldjump"/>
            <a:extLst>
              <a:ext uri="{FF2B5EF4-FFF2-40B4-BE49-F238E27FC236}">
                <a16:creationId xmlns:a16="http://schemas.microsoft.com/office/drawing/2014/main" id="{6D6F2B59-9AA6-47DA-AF8D-2DFFA981DDFD}"/>
              </a:ext>
            </a:extLst>
          </p:cNvPr>
          <p:cNvSpPr/>
          <p:nvPr/>
        </p:nvSpPr>
        <p:spPr>
          <a:xfrm>
            <a:off x="11294743" y="1746631"/>
            <a:ext cx="779139" cy="350310"/>
          </a:xfrm>
          <a:prstGeom prst="roundRect">
            <a:avLst/>
          </a:prstGeom>
          <a:solidFill>
            <a:schemeClr val="bg1"/>
          </a:solidFill>
          <a:ln w="28575"/>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accent1"/>
                </a:solidFill>
              </a:rPr>
              <a:t>Cases</a:t>
            </a:r>
          </a:p>
        </p:txBody>
      </p:sp>
      <p:pic>
        <p:nvPicPr>
          <p:cNvPr id="67" name="Graphic 66" descr="Cursor with solid fill">
            <a:extLst>
              <a:ext uri="{FF2B5EF4-FFF2-40B4-BE49-F238E27FC236}">
                <a16:creationId xmlns:a16="http://schemas.microsoft.com/office/drawing/2014/main" id="{D34D4728-4A58-4083-88B3-7E01E85BEA0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944437" y="1935396"/>
            <a:ext cx="280861" cy="280861"/>
          </a:xfrm>
          <a:prstGeom prst="rect">
            <a:avLst/>
          </a:prstGeom>
        </p:spPr>
      </p:pic>
      <p:sp>
        <p:nvSpPr>
          <p:cNvPr id="68" name="Rectangle 67">
            <a:hlinkClick r:id="rId10" action="ppaction://hlinksldjump"/>
            <a:extLst>
              <a:ext uri="{FF2B5EF4-FFF2-40B4-BE49-F238E27FC236}">
                <a16:creationId xmlns:a16="http://schemas.microsoft.com/office/drawing/2014/main" id="{DE570839-8C35-49A6-AEEA-86CFAEF437CE}"/>
              </a:ext>
            </a:extLst>
          </p:cNvPr>
          <p:cNvSpPr/>
          <p:nvPr/>
        </p:nvSpPr>
        <p:spPr>
          <a:xfrm>
            <a:off x="10845800" y="1340582"/>
            <a:ext cx="1228082" cy="339281"/>
          </a:xfrm>
          <a:prstGeom prst="rect">
            <a:avLst/>
          </a:prstGeom>
          <a:ln>
            <a:solidFill>
              <a:schemeClr val="accent5"/>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600" dirty="0">
                <a:solidFill>
                  <a:schemeClr val="bg1"/>
                </a:solidFill>
              </a:rPr>
              <a:t>Meds table</a:t>
            </a:r>
          </a:p>
        </p:txBody>
      </p:sp>
      <p:sp>
        <p:nvSpPr>
          <p:cNvPr id="70" name="Rectangle: Rounded Corners 69">
            <a:hlinkClick r:id="rId11" action="ppaction://hlinksldjump"/>
            <a:extLst>
              <a:ext uri="{FF2B5EF4-FFF2-40B4-BE49-F238E27FC236}">
                <a16:creationId xmlns:a16="http://schemas.microsoft.com/office/drawing/2014/main" id="{29C321E7-B175-4A6A-BC89-23EBD740F802}"/>
              </a:ext>
            </a:extLst>
          </p:cNvPr>
          <p:cNvSpPr/>
          <p:nvPr/>
        </p:nvSpPr>
        <p:spPr>
          <a:xfrm>
            <a:off x="10675924" y="930048"/>
            <a:ext cx="1392426" cy="350310"/>
          </a:xfrm>
          <a:prstGeom prst="roundRect">
            <a:avLst/>
          </a:prstGeom>
          <a:solidFill>
            <a:schemeClr val="bg1"/>
          </a:solidFill>
          <a:ln w="28575"/>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accent1"/>
                </a:solidFill>
              </a:rPr>
              <a:t>Management</a:t>
            </a:r>
          </a:p>
        </p:txBody>
      </p:sp>
      <p:pic>
        <p:nvPicPr>
          <p:cNvPr id="71" name="Graphic 70" descr="Cursor with solid fill">
            <a:extLst>
              <a:ext uri="{FF2B5EF4-FFF2-40B4-BE49-F238E27FC236}">
                <a16:creationId xmlns:a16="http://schemas.microsoft.com/office/drawing/2014/main" id="{D4EBBA26-1BA7-42A0-8656-7AB32524ED1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912507" y="1070433"/>
            <a:ext cx="280861" cy="280861"/>
          </a:xfrm>
          <a:prstGeom prst="rect">
            <a:avLst/>
          </a:prstGeom>
        </p:spPr>
      </p:pic>
      <p:sp>
        <p:nvSpPr>
          <p:cNvPr id="2" name="TextBox 1">
            <a:extLst>
              <a:ext uri="{FF2B5EF4-FFF2-40B4-BE49-F238E27FC236}">
                <a16:creationId xmlns:a16="http://schemas.microsoft.com/office/drawing/2014/main" id="{9E8681B4-251D-2047-BE84-BB383DDAC01E}"/>
              </a:ext>
            </a:extLst>
          </p:cNvPr>
          <p:cNvSpPr txBox="1"/>
          <p:nvPr/>
        </p:nvSpPr>
        <p:spPr>
          <a:xfrm>
            <a:off x="16637" y="6221774"/>
            <a:ext cx="1215209" cy="461665"/>
          </a:xfrm>
          <a:prstGeom prst="rect">
            <a:avLst/>
          </a:prstGeom>
          <a:noFill/>
        </p:spPr>
        <p:txBody>
          <a:bodyPr wrap="square" rtlCol="0">
            <a:spAutoFit/>
          </a:bodyPr>
          <a:lstStyle/>
          <a:p>
            <a:r>
              <a:rPr lang="en-US" sz="2400" b="1" dirty="0"/>
              <a:t>Caution</a:t>
            </a:r>
          </a:p>
        </p:txBody>
      </p:sp>
    </p:spTree>
    <p:extLst>
      <p:ext uri="{BB962C8B-B14F-4D97-AF65-F5344CB8AC3E}">
        <p14:creationId xmlns:p14="http://schemas.microsoft.com/office/powerpoint/2010/main" val="2516484892"/>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59"/>
                                        </p:tgtEl>
                                        <p:attrNameLst>
                                          <p:attrName>style.visibility</p:attrName>
                                        </p:attrNameLst>
                                      </p:cBhvr>
                                      <p:to>
                                        <p:strVal val="hidden"/>
                                      </p:to>
                                    </p:set>
                                  </p:childTnLst>
                                </p:cTn>
                              </p:par>
                            </p:childTnLst>
                          </p:cTn>
                        </p:par>
                      </p:childTnLst>
                    </p:cTn>
                  </p:par>
                </p:childTnLst>
              </p:cTn>
              <p:nextCondLst>
                <p:cond evt="onClick" delay="0">
                  <p:tgtEl>
                    <p:spTgt spid="4"/>
                  </p:tgtEl>
                </p:cond>
              </p:nextCondLst>
            </p:seq>
            <p:seq concurrent="1" nextAc="seek">
              <p:cTn id="9" restart="whenNotActive" fill="hold" evtFilter="cancelBubble" nodeType="interactiveSeq">
                <p:stCondLst>
                  <p:cond evt="onClick" delay="0">
                    <p:tgtEl>
                      <p:spTgt spid="5"/>
                    </p:tgtEl>
                  </p:cond>
                </p:stCondLst>
                <p:endSync evt="end" delay="0">
                  <p:rtn val="all"/>
                </p:endSync>
                <p:childTnLst>
                  <p:par>
                    <p:cTn id="10" fill="hold">
                      <p:stCondLst>
                        <p:cond delay="0"/>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54"/>
                                        </p:tgtEl>
                                        <p:attrNameLst>
                                          <p:attrName>style.visibility</p:attrName>
                                        </p:attrNameLst>
                                      </p:cBhvr>
                                      <p:to>
                                        <p:strVal val="visible"/>
                                      </p:to>
                                    </p:set>
                                  </p:childTnLst>
                                </p:cTn>
                              </p:par>
                              <p:par>
                                <p:cTn id="14" presetID="1" presetClass="exit" presetSubtype="0" fill="hold" nodeType="withEffect">
                                  <p:stCondLst>
                                    <p:cond delay="0"/>
                                  </p:stCondLst>
                                  <p:childTnLst>
                                    <p:set>
                                      <p:cBhvr>
                                        <p:cTn id="15" dur="1" fill="hold">
                                          <p:stCondLst>
                                            <p:cond delay="0"/>
                                          </p:stCondLst>
                                        </p:cTn>
                                        <p:tgtEl>
                                          <p:spTgt spid="60"/>
                                        </p:tgtEl>
                                        <p:attrNameLst>
                                          <p:attrName>style.visibility</p:attrName>
                                        </p:attrNameLst>
                                      </p:cBhvr>
                                      <p:to>
                                        <p:strVal val="hidden"/>
                                      </p:to>
                                    </p:set>
                                  </p:childTnLst>
                                </p:cTn>
                              </p:par>
                            </p:childTnLst>
                          </p:cTn>
                        </p:par>
                      </p:childTnLst>
                    </p:cTn>
                  </p:par>
                </p:childTnLst>
              </p:cTn>
              <p:nextCondLst>
                <p:cond evt="onClick" delay="0">
                  <p:tgtEl>
                    <p:spTgt spid="5"/>
                  </p:tgtEl>
                </p:cond>
              </p:nextCondLst>
            </p:seq>
            <p:seq concurrent="1" nextAc="seek">
              <p:cTn id="16" restart="whenNotActive" fill="hold" evtFilter="cancelBubble" nodeType="interactiveSeq">
                <p:stCondLst>
                  <p:cond evt="onClick" delay="0">
                    <p:tgtEl>
                      <p:spTgt spid="7"/>
                    </p:tgtEl>
                  </p:cond>
                </p:stCondLst>
                <p:endSync evt="end" delay="0">
                  <p:rtn val="all"/>
                </p:endSync>
                <p:childTnLst>
                  <p:par>
                    <p:cTn id="17" fill="hold">
                      <p:stCondLst>
                        <p:cond delay="0"/>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5"/>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61"/>
                                        </p:tgtEl>
                                        <p:attrNameLst>
                                          <p:attrName>style.visibility</p:attrName>
                                        </p:attrNameLst>
                                      </p:cBhvr>
                                      <p:to>
                                        <p:strVal val="hidden"/>
                                      </p:to>
                                    </p:set>
                                  </p:childTnLst>
                                </p:cTn>
                              </p:par>
                            </p:childTnLst>
                          </p:cTn>
                        </p:par>
                      </p:childTnLst>
                    </p:cTn>
                  </p:par>
                </p:childTnLst>
              </p:cTn>
              <p:nextCondLst>
                <p:cond evt="onClick" delay="0">
                  <p:tgtEl>
                    <p:spTgt spid="7"/>
                  </p:tgtEl>
                </p:cond>
              </p:nextCondLst>
            </p:seq>
            <p:seq concurrent="1" nextAc="seek">
              <p:cTn id="23" restart="whenNotActive" fill="hold" evtFilter="cancelBubble" nodeType="interactiveSeq">
                <p:stCondLst>
                  <p:cond evt="onClick" delay="0">
                    <p:tgtEl>
                      <p:spTgt spid="6"/>
                    </p:tgtEl>
                  </p:cond>
                </p:stCondLst>
                <p:endSync evt="end" delay="0">
                  <p:rtn val="all"/>
                </p:endSync>
                <p:childTnLst>
                  <p:par>
                    <p:cTn id="24" fill="hold">
                      <p:stCondLst>
                        <p:cond delay="0"/>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56"/>
                                        </p:tgtEl>
                                        <p:attrNameLst>
                                          <p:attrName>style.visibility</p:attrName>
                                        </p:attrNameLst>
                                      </p:cBhvr>
                                      <p:to>
                                        <p:strVal val="visible"/>
                                      </p:to>
                                    </p:set>
                                  </p:childTnLst>
                                </p:cTn>
                              </p:par>
                              <p:par>
                                <p:cTn id="28" presetID="1" presetClass="exit" presetSubtype="0" fill="hold" nodeType="withEffect">
                                  <p:stCondLst>
                                    <p:cond delay="0"/>
                                  </p:stCondLst>
                                  <p:childTnLst>
                                    <p:set>
                                      <p:cBhvr>
                                        <p:cTn id="29" dur="1" fill="hold">
                                          <p:stCondLst>
                                            <p:cond delay="0"/>
                                          </p:stCondLst>
                                        </p:cTn>
                                        <p:tgtEl>
                                          <p:spTgt spid="62"/>
                                        </p:tgtEl>
                                        <p:attrNameLst>
                                          <p:attrName>style.visibility</p:attrName>
                                        </p:attrNameLst>
                                      </p:cBhvr>
                                      <p:to>
                                        <p:strVal val="hidden"/>
                                      </p:to>
                                    </p:set>
                                  </p:childTnLst>
                                </p:cTn>
                              </p:par>
                            </p:childTnLst>
                          </p:cTn>
                        </p:par>
                      </p:childTnLst>
                    </p:cTn>
                  </p:par>
                </p:childTnLst>
              </p:cTn>
              <p:nextCondLst>
                <p:cond evt="onClick" delay="0">
                  <p:tgtEl>
                    <p:spTgt spid="6"/>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67B20797-FA42-4BBA-ABF2-5CF06A40D43C}"/>
              </a:ext>
            </a:extLst>
          </p:cNvPr>
          <p:cNvCxnSpPr>
            <a:cxnSpLocks/>
          </p:cNvCxnSpPr>
          <p:nvPr/>
        </p:nvCxnSpPr>
        <p:spPr>
          <a:xfrm>
            <a:off x="3913612" y="230337"/>
            <a:ext cx="0" cy="6460559"/>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366ED83D-4D37-4A82-8C3A-63919FF9C74A}"/>
              </a:ext>
            </a:extLst>
          </p:cNvPr>
          <p:cNvCxnSpPr>
            <a:cxnSpLocks/>
          </p:cNvCxnSpPr>
          <p:nvPr/>
        </p:nvCxnSpPr>
        <p:spPr>
          <a:xfrm>
            <a:off x="7911049" y="179082"/>
            <a:ext cx="0" cy="6433127"/>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sp>
        <p:nvSpPr>
          <p:cNvPr id="11" name="Case 1">
            <a:extLst>
              <a:ext uri="{FF2B5EF4-FFF2-40B4-BE49-F238E27FC236}">
                <a16:creationId xmlns:a16="http://schemas.microsoft.com/office/drawing/2014/main" id="{D2B7E91F-D4C0-4BE2-8AA9-79828559D719}"/>
              </a:ext>
            </a:extLst>
          </p:cNvPr>
          <p:cNvSpPr/>
          <p:nvPr/>
        </p:nvSpPr>
        <p:spPr>
          <a:xfrm>
            <a:off x="860048" y="164529"/>
            <a:ext cx="2194560" cy="412786"/>
          </a:xfrm>
          <a:prstGeom prst="roundRect">
            <a:avLst/>
          </a:prstGeom>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a:t>Case 1</a:t>
            </a:r>
          </a:p>
        </p:txBody>
      </p:sp>
      <p:sp>
        <p:nvSpPr>
          <p:cNvPr id="13" name="Case 1 text">
            <a:extLst>
              <a:ext uri="{FF2B5EF4-FFF2-40B4-BE49-F238E27FC236}">
                <a16:creationId xmlns:a16="http://schemas.microsoft.com/office/drawing/2014/main" id="{28FAF219-B0F0-4D6F-A011-8C6E213E6DC1}"/>
              </a:ext>
            </a:extLst>
          </p:cNvPr>
          <p:cNvSpPr txBox="1"/>
          <p:nvPr/>
        </p:nvSpPr>
        <p:spPr>
          <a:xfrm>
            <a:off x="250719" y="713425"/>
            <a:ext cx="3537686" cy="1077218"/>
          </a:xfrm>
          <a:prstGeom prst="rect">
            <a:avLst/>
          </a:prstGeom>
          <a:noFill/>
        </p:spPr>
        <p:txBody>
          <a:bodyPr wrap="square" lIns="91440" tIns="45720" rIns="91440" bIns="45720" rtlCol="0" anchor="t">
            <a:spAutoFit/>
          </a:bodyPr>
          <a:lstStyle/>
          <a:p>
            <a:r>
              <a:rPr lang="en-US" sz="1600" dirty="0">
                <a:ea typeface="+mn-lt"/>
                <a:cs typeface="+mn-lt"/>
              </a:rPr>
              <a:t>68 </a:t>
            </a:r>
            <a:r>
              <a:rPr lang="en-US" sz="1600" dirty="0" err="1">
                <a:ea typeface="+mn-lt"/>
                <a:cs typeface="+mn-lt"/>
              </a:rPr>
              <a:t>yo</a:t>
            </a:r>
            <a:r>
              <a:rPr lang="en-US" sz="1600" dirty="0">
                <a:ea typeface="+mn-lt"/>
                <a:cs typeface="+mn-lt"/>
              </a:rPr>
              <a:t> M with hx of HTN and DMII presents with new onset AF with RVR with HR of 160s. BPs are 120s/60s. He reports dyspnea and palpitations.</a:t>
            </a:r>
          </a:p>
        </p:txBody>
      </p:sp>
      <p:sp>
        <p:nvSpPr>
          <p:cNvPr id="28" name="Case 1 - question 1">
            <a:extLst>
              <a:ext uri="{FF2B5EF4-FFF2-40B4-BE49-F238E27FC236}">
                <a16:creationId xmlns:a16="http://schemas.microsoft.com/office/drawing/2014/main" id="{A720D17D-CBB7-401A-B329-CE14FDF24C03}"/>
              </a:ext>
            </a:extLst>
          </p:cNvPr>
          <p:cNvSpPr/>
          <p:nvPr/>
        </p:nvSpPr>
        <p:spPr>
          <a:xfrm>
            <a:off x="207650" y="1930503"/>
            <a:ext cx="3482485" cy="1320311"/>
          </a:xfrm>
          <a:prstGeom prst="roundRect">
            <a:avLst/>
          </a:prstGeom>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600" dirty="0"/>
              <a:t>How would you manage this patient?</a:t>
            </a:r>
          </a:p>
        </p:txBody>
      </p:sp>
      <p:sp>
        <p:nvSpPr>
          <p:cNvPr id="31" name="Case 1 - question 2">
            <a:extLst>
              <a:ext uri="{FF2B5EF4-FFF2-40B4-BE49-F238E27FC236}">
                <a16:creationId xmlns:a16="http://schemas.microsoft.com/office/drawing/2014/main" id="{FC95995F-E4E4-4637-AB4F-6B3EE9F47547}"/>
              </a:ext>
            </a:extLst>
          </p:cNvPr>
          <p:cNvSpPr/>
          <p:nvPr/>
        </p:nvSpPr>
        <p:spPr>
          <a:xfrm>
            <a:off x="205501" y="3979134"/>
            <a:ext cx="3479160" cy="650311"/>
          </a:xfrm>
          <a:prstGeom prst="roundRect">
            <a:avLst>
              <a:gd name="adj" fmla="val 10321"/>
            </a:avLst>
          </a:prstGeom>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600" dirty="0"/>
              <a:t>How would you manage this patient?</a:t>
            </a:r>
          </a:p>
        </p:txBody>
      </p:sp>
      <p:sp>
        <p:nvSpPr>
          <p:cNvPr id="30" name="Case 1 - question 3">
            <a:extLst>
              <a:ext uri="{FF2B5EF4-FFF2-40B4-BE49-F238E27FC236}">
                <a16:creationId xmlns:a16="http://schemas.microsoft.com/office/drawing/2014/main" id="{731DFEAB-EA12-4B9E-A4F6-084CAEC77E91}"/>
              </a:ext>
            </a:extLst>
          </p:cNvPr>
          <p:cNvSpPr/>
          <p:nvPr/>
        </p:nvSpPr>
        <p:spPr>
          <a:xfrm>
            <a:off x="183923" y="5451234"/>
            <a:ext cx="3479160" cy="1203536"/>
          </a:xfrm>
          <a:prstGeom prst="roundRect">
            <a:avLst/>
          </a:prstGeom>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600" dirty="0"/>
              <a:t>How would you manage this patient?</a:t>
            </a:r>
          </a:p>
        </p:txBody>
      </p:sp>
      <p:sp>
        <p:nvSpPr>
          <p:cNvPr id="33" name="Case 1 - answer 1">
            <a:extLst>
              <a:ext uri="{FF2B5EF4-FFF2-40B4-BE49-F238E27FC236}">
                <a16:creationId xmlns:a16="http://schemas.microsoft.com/office/drawing/2014/main" id="{8E93BC3D-9A48-4519-87F0-DC82D5777AEB}"/>
              </a:ext>
            </a:extLst>
          </p:cNvPr>
          <p:cNvSpPr/>
          <p:nvPr/>
        </p:nvSpPr>
        <p:spPr>
          <a:xfrm>
            <a:off x="195800" y="1935376"/>
            <a:ext cx="3498745" cy="1315438"/>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t>He has stable AF with RVR. HRs &gt; 130, give IV medications (e.g., metoprolol 5 mg or diltiazem 10 mg ) to bring down HR.  Work-up of RVR and new AF: CBC, BMP/Mg, TSH, ECG, Troponin, CXR</a:t>
            </a:r>
          </a:p>
        </p:txBody>
      </p:sp>
      <p:sp>
        <p:nvSpPr>
          <p:cNvPr id="34" name="Case 1 - answer 2">
            <a:extLst>
              <a:ext uri="{FF2B5EF4-FFF2-40B4-BE49-F238E27FC236}">
                <a16:creationId xmlns:a16="http://schemas.microsoft.com/office/drawing/2014/main" id="{78D59F4F-3EF0-4B50-B0DE-BD1DB0BEC628}"/>
              </a:ext>
            </a:extLst>
          </p:cNvPr>
          <p:cNvSpPr/>
          <p:nvPr/>
        </p:nvSpPr>
        <p:spPr>
          <a:xfrm>
            <a:off x="187420" y="3969175"/>
            <a:ext cx="3507125" cy="660270"/>
          </a:xfrm>
          <a:prstGeom prst="roundRect">
            <a:avLst>
              <a:gd name="adj" fmla="val 1150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600" dirty="0"/>
              <a:t>HRs remain &gt; 130s with stable BPs. Give another dose IV metoprolol 5 mg.</a:t>
            </a:r>
          </a:p>
        </p:txBody>
      </p:sp>
      <p:sp>
        <p:nvSpPr>
          <p:cNvPr id="36" name="Case 1 - answer 3">
            <a:extLst>
              <a:ext uri="{FF2B5EF4-FFF2-40B4-BE49-F238E27FC236}">
                <a16:creationId xmlns:a16="http://schemas.microsoft.com/office/drawing/2014/main" id="{F597A406-81A5-40AC-9888-C00B46C26B0C}"/>
              </a:ext>
            </a:extLst>
          </p:cNvPr>
          <p:cNvSpPr/>
          <p:nvPr/>
        </p:nvSpPr>
        <p:spPr>
          <a:xfrm>
            <a:off x="147850" y="5419110"/>
            <a:ext cx="3546696" cy="1238646"/>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600" dirty="0"/>
              <a:t>His HRs are now &lt; 130 so he can be started on oral medications - metoprolol 12.5 – 25 mg q6h. His CHADS-</a:t>
            </a:r>
            <a:r>
              <a:rPr lang="en-US" sz="1600" dirty="0" err="1"/>
              <a:t>VASc</a:t>
            </a:r>
            <a:r>
              <a:rPr lang="en-US" sz="1600" dirty="0"/>
              <a:t> is 3, consider anticoagulation.  </a:t>
            </a:r>
          </a:p>
        </p:txBody>
      </p:sp>
      <p:sp>
        <p:nvSpPr>
          <p:cNvPr id="129" name="Case 2">
            <a:extLst>
              <a:ext uri="{FF2B5EF4-FFF2-40B4-BE49-F238E27FC236}">
                <a16:creationId xmlns:a16="http://schemas.microsoft.com/office/drawing/2014/main" id="{41FEB336-49CA-4EC0-AC0A-587C0CD09C68}"/>
              </a:ext>
            </a:extLst>
          </p:cNvPr>
          <p:cNvSpPr/>
          <p:nvPr/>
        </p:nvSpPr>
        <p:spPr>
          <a:xfrm>
            <a:off x="4703097" y="149672"/>
            <a:ext cx="2194560" cy="412786"/>
          </a:xfrm>
          <a:prstGeom prst="roundRect">
            <a:avLst/>
          </a:prstGeom>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a:t>Case 2</a:t>
            </a:r>
          </a:p>
        </p:txBody>
      </p:sp>
      <p:sp>
        <p:nvSpPr>
          <p:cNvPr id="131" name="Case 1 text">
            <a:extLst>
              <a:ext uri="{FF2B5EF4-FFF2-40B4-BE49-F238E27FC236}">
                <a16:creationId xmlns:a16="http://schemas.microsoft.com/office/drawing/2014/main" id="{83105C6D-94DC-444D-A80F-80E89A1ED833}"/>
              </a:ext>
            </a:extLst>
          </p:cNvPr>
          <p:cNvSpPr txBox="1"/>
          <p:nvPr/>
        </p:nvSpPr>
        <p:spPr>
          <a:xfrm>
            <a:off x="4085887" y="682875"/>
            <a:ext cx="3651845" cy="1323439"/>
          </a:xfrm>
          <a:prstGeom prst="rect">
            <a:avLst/>
          </a:prstGeom>
          <a:noFill/>
        </p:spPr>
        <p:txBody>
          <a:bodyPr wrap="square" lIns="91440" tIns="45720" rIns="91440" bIns="45720" rtlCol="0" anchor="t">
            <a:spAutoFit/>
          </a:bodyPr>
          <a:lstStyle/>
          <a:p>
            <a:pPr marL="0" indent="0">
              <a:spcBef>
                <a:spcPts val="0"/>
              </a:spcBef>
              <a:buNone/>
            </a:pPr>
            <a:r>
              <a:rPr lang="en-US" sz="1600" dirty="0"/>
              <a:t>54 </a:t>
            </a:r>
            <a:r>
              <a:rPr lang="en-US" sz="1600" dirty="0" err="1"/>
              <a:t>yo</a:t>
            </a:r>
            <a:r>
              <a:rPr lang="en-US" sz="1600" dirty="0"/>
              <a:t> F with HTN and ETOH use disorder is admitted for septic shock on vasopressors. You are called for new onset AF with HRs in the 150s. MAPs are 70s on 0.1 of norepinephrine.</a:t>
            </a:r>
          </a:p>
        </p:txBody>
      </p:sp>
      <p:sp>
        <p:nvSpPr>
          <p:cNvPr id="146" name="Case 4 button">
            <a:extLst>
              <a:ext uri="{FF2B5EF4-FFF2-40B4-BE49-F238E27FC236}">
                <a16:creationId xmlns:a16="http://schemas.microsoft.com/office/drawing/2014/main" id="{BCA0C0CD-F8E1-4146-83B0-B64E06FE4D1F}"/>
              </a:ext>
            </a:extLst>
          </p:cNvPr>
          <p:cNvSpPr/>
          <p:nvPr/>
        </p:nvSpPr>
        <p:spPr>
          <a:xfrm>
            <a:off x="8448312" y="149386"/>
            <a:ext cx="1637175" cy="412786"/>
          </a:xfrm>
          <a:prstGeom prst="roundRect">
            <a:avLst/>
          </a:prstGeom>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a:t>Case 4</a:t>
            </a:r>
          </a:p>
        </p:txBody>
      </p:sp>
      <p:sp>
        <p:nvSpPr>
          <p:cNvPr id="148" name="Case 4 text">
            <a:extLst>
              <a:ext uri="{FF2B5EF4-FFF2-40B4-BE49-F238E27FC236}">
                <a16:creationId xmlns:a16="http://schemas.microsoft.com/office/drawing/2014/main" id="{E6A604B5-B4FA-4AC4-9DD7-10C3ABA8A1DE}"/>
              </a:ext>
            </a:extLst>
          </p:cNvPr>
          <p:cNvSpPr txBox="1"/>
          <p:nvPr/>
        </p:nvSpPr>
        <p:spPr>
          <a:xfrm>
            <a:off x="8208187" y="722582"/>
            <a:ext cx="2454541" cy="1323439"/>
          </a:xfrm>
          <a:prstGeom prst="rect">
            <a:avLst/>
          </a:prstGeom>
          <a:noFill/>
        </p:spPr>
        <p:txBody>
          <a:bodyPr wrap="square" lIns="91440" tIns="45720" rIns="91440" bIns="45720" rtlCol="0" anchor="t">
            <a:spAutoFit/>
          </a:bodyPr>
          <a:lstStyle/>
          <a:p>
            <a:r>
              <a:rPr lang="en-US" sz="1600" dirty="0">
                <a:ea typeface="+mn-lt"/>
                <a:cs typeface="+mn-lt"/>
              </a:rPr>
              <a:t>72 </a:t>
            </a:r>
            <a:r>
              <a:rPr lang="en-US" sz="1600" dirty="0" err="1">
                <a:ea typeface="+mn-lt"/>
                <a:cs typeface="+mn-lt"/>
              </a:rPr>
              <a:t>yo</a:t>
            </a:r>
            <a:r>
              <a:rPr lang="en-US" sz="1600" dirty="0">
                <a:ea typeface="+mn-lt"/>
                <a:cs typeface="+mn-lt"/>
              </a:rPr>
              <a:t> M with DMII, HTN, </a:t>
            </a:r>
            <a:r>
              <a:rPr lang="en-US" sz="1600" dirty="0" err="1">
                <a:ea typeface="+mn-lt"/>
                <a:cs typeface="+mn-lt"/>
              </a:rPr>
              <a:t>HFrEF</a:t>
            </a:r>
            <a:r>
              <a:rPr lang="en-US" sz="1600" dirty="0">
                <a:ea typeface="+mn-lt"/>
                <a:cs typeface="+mn-lt"/>
              </a:rPr>
              <a:t> (25%) presents with AF with RVR with HRs of 160s. BPs 110s/60s. He denies orthopnea and PND.</a:t>
            </a:r>
          </a:p>
        </p:txBody>
      </p:sp>
      <p:pic>
        <p:nvPicPr>
          <p:cNvPr id="56" name="Graphic 55" descr="Cursor with solid fill">
            <a:extLst>
              <a:ext uri="{FF2B5EF4-FFF2-40B4-BE49-F238E27FC236}">
                <a16:creationId xmlns:a16="http://schemas.microsoft.com/office/drawing/2014/main" id="{7F468C7A-552C-4BB3-995C-8675315955E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926494" y="426062"/>
            <a:ext cx="302506" cy="302506"/>
          </a:xfrm>
          <a:prstGeom prst="rect">
            <a:avLst/>
          </a:prstGeom>
        </p:spPr>
      </p:pic>
      <p:sp>
        <p:nvSpPr>
          <p:cNvPr id="57" name="Case 2 - question1">
            <a:extLst>
              <a:ext uri="{FF2B5EF4-FFF2-40B4-BE49-F238E27FC236}">
                <a16:creationId xmlns:a16="http://schemas.microsoft.com/office/drawing/2014/main" id="{FC7CA112-FAF7-4731-AC02-423927DB914D}"/>
              </a:ext>
            </a:extLst>
          </p:cNvPr>
          <p:cNvSpPr/>
          <p:nvPr/>
        </p:nvSpPr>
        <p:spPr>
          <a:xfrm>
            <a:off x="4083705" y="2087317"/>
            <a:ext cx="3625092" cy="1056107"/>
          </a:xfrm>
          <a:prstGeom prst="roundRect">
            <a:avLst/>
          </a:prstGeom>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600" dirty="0"/>
              <a:t>How would you manage this patient?</a:t>
            </a:r>
          </a:p>
        </p:txBody>
      </p:sp>
      <p:sp>
        <p:nvSpPr>
          <p:cNvPr id="58" name="Case 3 - question 1">
            <a:extLst>
              <a:ext uri="{FF2B5EF4-FFF2-40B4-BE49-F238E27FC236}">
                <a16:creationId xmlns:a16="http://schemas.microsoft.com/office/drawing/2014/main" id="{BD5CFEB8-C474-46CA-BDD5-725CAFB73BAA}"/>
              </a:ext>
            </a:extLst>
          </p:cNvPr>
          <p:cNvSpPr/>
          <p:nvPr/>
        </p:nvSpPr>
        <p:spPr>
          <a:xfrm>
            <a:off x="4083704" y="5232470"/>
            <a:ext cx="3663269" cy="1424016"/>
          </a:xfrm>
          <a:prstGeom prst="roundRect">
            <a:avLst>
              <a:gd name="adj" fmla="val 10321"/>
            </a:avLst>
          </a:prstGeom>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600" dirty="0"/>
              <a:t>How would you manage this patient?</a:t>
            </a:r>
          </a:p>
        </p:txBody>
      </p:sp>
      <p:sp>
        <p:nvSpPr>
          <p:cNvPr id="61" name="Case 2 - answer1">
            <a:extLst>
              <a:ext uri="{FF2B5EF4-FFF2-40B4-BE49-F238E27FC236}">
                <a16:creationId xmlns:a16="http://schemas.microsoft.com/office/drawing/2014/main" id="{E9E14381-F561-4E85-8173-20AB47B470CD}"/>
              </a:ext>
            </a:extLst>
          </p:cNvPr>
          <p:cNvSpPr/>
          <p:nvPr/>
        </p:nvSpPr>
        <p:spPr>
          <a:xfrm>
            <a:off x="4083706" y="2087317"/>
            <a:ext cx="3644272" cy="1056106"/>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600" dirty="0"/>
              <a:t>Despite being on vasopressors, this patient is in stable AF with RVR. Given septic shock, amiodarone is favored over metoprolol or diltiazem. </a:t>
            </a:r>
          </a:p>
        </p:txBody>
      </p:sp>
      <p:sp>
        <p:nvSpPr>
          <p:cNvPr id="62" name="Case 3 - answer 1">
            <a:extLst>
              <a:ext uri="{FF2B5EF4-FFF2-40B4-BE49-F238E27FC236}">
                <a16:creationId xmlns:a16="http://schemas.microsoft.com/office/drawing/2014/main" id="{0BCE2D94-A3FD-4365-B4EA-AC7ABC7E185D}"/>
              </a:ext>
            </a:extLst>
          </p:cNvPr>
          <p:cNvSpPr/>
          <p:nvPr/>
        </p:nvSpPr>
        <p:spPr>
          <a:xfrm>
            <a:off x="4083705" y="5237951"/>
            <a:ext cx="3663268" cy="1418008"/>
          </a:xfrm>
          <a:prstGeom prst="roundRect">
            <a:avLst>
              <a:gd name="adj" fmla="val 1150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600" dirty="0"/>
              <a:t>This patient is unstable! Place pads and prepare for DCCV with 200 J. Sedation/analgesia should be handy but should not delay care.  All cardioverted patients should receive anticoagulation. </a:t>
            </a:r>
          </a:p>
        </p:txBody>
      </p:sp>
      <p:pic>
        <p:nvPicPr>
          <p:cNvPr id="81" name="Graphic 80" descr="Cursor with solid fill">
            <a:extLst>
              <a:ext uri="{FF2B5EF4-FFF2-40B4-BE49-F238E27FC236}">
                <a16:creationId xmlns:a16="http://schemas.microsoft.com/office/drawing/2014/main" id="{956F63E8-63DB-4A08-A83A-19CFAA44097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69364" y="421378"/>
            <a:ext cx="302506" cy="302506"/>
          </a:xfrm>
          <a:prstGeom prst="rect">
            <a:avLst/>
          </a:prstGeom>
        </p:spPr>
      </p:pic>
      <p:pic>
        <p:nvPicPr>
          <p:cNvPr id="82" name="Graphic 81" descr="Cursor with solid fill">
            <a:extLst>
              <a:ext uri="{FF2B5EF4-FFF2-40B4-BE49-F238E27FC236}">
                <a16:creationId xmlns:a16="http://schemas.microsoft.com/office/drawing/2014/main" id="{123343F4-467E-498D-8C79-43974CE6E89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955278" y="410919"/>
            <a:ext cx="302506" cy="302506"/>
          </a:xfrm>
          <a:prstGeom prst="rect">
            <a:avLst/>
          </a:prstGeom>
        </p:spPr>
      </p:pic>
      <p:sp>
        <p:nvSpPr>
          <p:cNvPr id="39" name="Case 4- question1">
            <a:extLst>
              <a:ext uri="{FF2B5EF4-FFF2-40B4-BE49-F238E27FC236}">
                <a16:creationId xmlns:a16="http://schemas.microsoft.com/office/drawing/2014/main" id="{E9D3EEFD-602E-4B0B-9C9A-A0F3A5A386E4}"/>
              </a:ext>
            </a:extLst>
          </p:cNvPr>
          <p:cNvSpPr/>
          <p:nvPr/>
        </p:nvSpPr>
        <p:spPr>
          <a:xfrm>
            <a:off x="8113302" y="2206432"/>
            <a:ext cx="3751010" cy="1093695"/>
          </a:xfrm>
          <a:prstGeom prst="roundRect">
            <a:avLst/>
          </a:prstGeom>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600" dirty="0"/>
              <a:t>How would you manage this patient?</a:t>
            </a:r>
          </a:p>
        </p:txBody>
      </p:sp>
      <p:sp>
        <p:nvSpPr>
          <p:cNvPr id="40" name="Case 4 - question 2">
            <a:extLst>
              <a:ext uri="{FF2B5EF4-FFF2-40B4-BE49-F238E27FC236}">
                <a16:creationId xmlns:a16="http://schemas.microsoft.com/office/drawing/2014/main" id="{00315A18-00C4-42C5-9C89-5019D2E0B091}"/>
              </a:ext>
            </a:extLst>
          </p:cNvPr>
          <p:cNvSpPr/>
          <p:nvPr/>
        </p:nvSpPr>
        <p:spPr>
          <a:xfrm>
            <a:off x="8128121" y="4907960"/>
            <a:ext cx="3818006" cy="1423701"/>
          </a:xfrm>
          <a:prstGeom prst="roundRect">
            <a:avLst>
              <a:gd name="adj" fmla="val 10321"/>
            </a:avLst>
          </a:prstGeom>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600" dirty="0"/>
              <a:t>How would you manage this patient?</a:t>
            </a:r>
          </a:p>
        </p:txBody>
      </p:sp>
      <p:sp>
        <p:nvSpPr>
          <p:cNvPr id="43" name="Case 4 - answer 1">
            <a:extLst>
              <a:ext uri="{FF2B5EF4-FFF2-40B4-BE49-F238E27FC236}">
                <a16:creationId xmlns:a16="http://schemas.microsoft.com/office/drawing/2014/main" id="{0EBEB181-81BD-4935-BF8E-E90FD179405E}"/>
              </a:ext>
            </a:extLst>
          </p:cNvPr>
          <p:cNvSpPr/>
          <p:nvPr/>
        </p:nvSpPr>
        <p:spPr>
          <a:xfrm>
            <a:off x="8113302" y="2206433"/>
            <a:ext cx="3751010" cy="109369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600" dirty="0"/>
              <a:t>He has stable AF with RVR. Given </a:t>
            </a:r>
            <a:r>
              <a:rPr lang="en-US" sz="1600" dirty="0" err="1"/>
              <a:t>HFrEF</a:t>
            </a:r>
            <a:r>
              <a:rPr lang="en-US" sz="1600" dirty="0"/>
              <a:t>, he should not receive CCBs. </a:t>
            </a:r>
            <a:r>
              <a:rPr lang="el-GR" sz="1600" dirty="0"/>
              <a:t>Β</a:t>
            </a:r>
            <a:r>
              <a:rPr lang="en-US" sz="1600" dirty="0"/>
              <a:t>-blockers can be used in compensated </a:t>
            </a:r>
            <a:r>
              <a:rPr lang="en-US" sz="1600" dirty="0" err="1"/>
              <a:t>HFrEF</a:t>
            </a:r>
            <a:r>
              <a:rPr lang="en-US" sz="1600" dirty="0"/>
              <a:t>. Give IV metoprolol 5 mg. </a:t>
            </a:r>
          </a:p>
        </p:txBody>
      </p:sp>
      <p:sp>
        <p:nvSpPr>
          <p:cNvPr id="44" name="Case 3 - answer2">
            <a:extLst>
              <a:ext uri="{FF2B5EF4-FFF2-40B4-BE49-F238E27FC236}">
                <a16:creationId xmlns:a16="http://schemas.microsoft.com/office/drawing/2014/main" id="{E832D7C1-2453-49C1-845B-A4238F5A4D0C}"/>
              </a:ext>
            </a:extLst>
          </p:cNvPr>
          <p:cNvSpPr/>
          <p:nvPr/>
        </p:nvSpPr>
        <p:spPr>
          <a:xfrm>
            <a:off x="8103487" y="4911449"/>
            <a:ext cx="3843726" cy="1420212"/>
          </a:xfrm>
          <a:prstGeom prst="roundRect">
            <a:avLst>
              <a:gd name="adj" fmla="val 1150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600" dirty="0"/>
              <a:t>He remains stable but has low BPs from IV metoprolol. Digoxin is the only BP neutral medication and has positive inotropy and should be used as your next agent. </a:t>
            </a:r>
          </a:p>
          <a:p>
            <a:pPr algn="ctr"/>
            <a:r>
              <a:rPr lang="en-US" sz="1600" dirty="0"/>
              <a:t>Give an IV load of 0.25 – 0.5 mg digoxin. </a:t>
            </a:r>
          </a:p>
        </p:txBody>
      </p:sp>
      <p:sp>
        <p:nvSpPr>
          <p:cNvPr id="59" name="Case 1 text">
            <a:extLst>
              <a:ext uri="{FF2B5EF4-FFF2-40B4-BE49-F238E27FC236}">
                <a16:creationId xmlns:a16="http://schemas.microsoft.com/office/drawing/2014/main" id="{AE6C0832-3F0D-4A68-BB1D-0FD94F16134A}"/>
              </a:ext>
            </a:extLst>
          </p:cNvPr>
          <p:cNvSpPr txBox="1"/>
          <p:nvPr/>
        </p:nvSpPr>
        <p:spPr>
          <a:xfrm>
            <a:off x="178817" y="3307277"/>
            <a:ext cx="3493774" cy="584775"/>
          </a:xfrm>
          <a:prstGeom prst="rect">
            <a:avLst/>
          </a:prstGeom>
          <a:noFill/>
        </p:spPr>
        <p:txBody>
          <a:bodyPr wrap="square" lIns="91440" tIns="45720" rIns="91440" bIns="45720" rtlCol="0" anchor="t">
            <a:spAutoFit/>
          </a:bodyPr>
          <a:lstStyle/>
          <a:p>
            <a:r>
              <a:rPr lang="en-US" sz="1600" dirty="0">
                <a:ea typeface="+mn-lt"/>
                <a:cs typeface="+mn-lt"/>
              </a:rPr>
              <a:t>He receives IV metoprolol 5 mg and his HRs improve to 140s. BPs are 110/70s. </a:t>
            </a:r>
          </a:p>
        </p:txBody>
      </p:sp>
      <p:sp>
        <p:nvSpPr>
          <p:cNvPr id="45" name="Case 1 text">
            <a:extLst>
              <a:ext uri="{FF2B5EF4-FFF2-40B4-BE49-F238E27FC236}">
                <a16:creationId xmlns:a16="http://schemas.microsoft.com/office/drawing/2014/main" id="{C420C5FA-582E-4B92-8150-30E2066E598D}"/>
              </a:ext>
            </a:extLst>
          </p:cNvPr>
          <p:cNvSpPr txBox="1"/>
          <p:nvPr/>
        </p:nvSpPr>
        <p:spPr>
          <a:xfrm>
            <a:off x="144854" y="4757212"/>
            <a:ext cx="3609253" cy="584775"/>
          </a:xfrm>
          <a:prstGeom prst="rect">
            <a:avLst/>
          </a:prstGeom>
          <a:noFill/>
        </p:spPr>
        <p:txBody>
          <a:bodyPr wrap="square" lIns="91440" tIns="45720" rIns="91440" bIns="45720" rtlCol="0" anchor="t">
            <a:spAutoFit/>
          </a:bodyPr>
          <a:lstStyle/>
          <a:p>
            <a:r>
              <a:rPr lang="en-US" sz="1600" dirty="0">
                <a:ea typeface="+mn-lt"/>
                <a:cs typeface="+mn-lt"/>
              </a:rPr>
              <a:t>He receives IV metoprolol 5 mg and his HRs improve to 120s. BPs are 100/70s. </a:t>
            </a:r>
          </a:p>
        </p:txBody>
      </p:sp>
      <p:sp>
        <p:nvSpPr>
          <p:cNvPr id="55" name="Case 3 button">
            <a:extLst>
              <a:ext uri="{FF2B5EF4-FFF2-40B4-BE49-F238E27FC236}">
                <a16:creationId xmlns:a16="http://schemas.microsoft.com/office/drawing/2014/main" id="{64C2F726-5122-445D-91FF-3C9DF1D09BF5}"/>
              </a:ext>
            </a:extLst>
          </p:cNvPr>
          <p:cNvSpPr/>
          <p:nvPr/>
        </p:nvSpPr>
        <p:spPr>
          <a:xfrm>
            <a:off x="4700150" y="3556389"/>
            <a:ext cx="2194560" cy="412786"/>
          </a:xfrm>
          <a:prstGeom prst="roundRect">
            <a:avLst/>
          </a:prstGeom>
          <a:ln/>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a:t>Case 3</a:t>
            </a:r>
          </a:p>
        </p:txBody>
      </p:sp>
      <p:pic>
        <p:nvPicPr>
          <p:cNvPr id="63" name="Graphic 62" descr="Cursor with solid fill">
            <a:extLst>
              <a:ext uri="{FF2B5EF4-FFF2-40B4-BE49-F238E27FC236}">
                <a16:creationId xmlns:a16="http://schemas.microsoft.com/office/drawing/2014/main" id="{87092A6B-46D4-47C1-A01D-D19A3407898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75756" y="3834493"/>
            <a:ext cx="302506" cy="302506"/>
          </a:xfrm>
          <a:prstGeom prst="rect">
            <a:avLst/>
          </a:prstGeom>
        </p:spPr>
      </p:pic>
      <p:sp>
        <p:nvSpPr>
          <p:cNvPr id="69" name="Case 3 text">
            <a:extLst>
              <a:ext uri="{FF2B5EF4-FFF2-40B4-BE49-F238E27FC236}">
                <a16:creationId xmlns:a16="http://schemas.microsoft.com/office/drawing/2014/main" id="{CA1C3D40-D898-4561-8FD8-777418E30E3F}"/>
              </a:ext>
            </a:extLst>
          </p:cNvPr>
          <p:cNvSpPr txBox="1"/>
          <p:nvPr/>
        </p:nvSpPr>
        <p:spPr>
          <a:xfrm>
            <a:off x="4047405" y="4054045"/>
            <a:ext cx="3751011" cy="1077218"/>
          </a:xfrm>
          <a:prstGeom prst="rect">
            <a:avLst/>
          </a:prstGeom>
          <a:noFill/>
        </p:spPr>
        <p:txBody>
          <a:bodyPr wrap="square" lIns="91440" tIns="45720" rIns="91440" bIns="45720" rtlCol="0" anchor="t">
            <a:spAutoFit/>
          </a:bodyPr>
          <a:lstStyle/>
          <a:p>
            <a:r>
              <a:rPr lang="en-US" sz="1600" dirty="0">
                <a:ea typeface="+mn-lt"/>
                <a:cs typeface="+mn-lt"/>
              </a:rPr>
              <a:t>68 </a:t>
            </a:r>
            <a:r>
              <a:rPr lang="en-US" sz="1600" dirty="0" err="1">
                <a:ea typeface="+mn-lt"/>
                <a:cs typeface="+mn-lt"/>
              </a:rPr>
              <a:t>yo</a:t>
            </a:r>
            <a:r>
              <a:rPr lang="en-US" sz="1600" dirty="0">
                <a:ea typeface="+mn-lt"/>
                <a:cs typeface="+mn-lt"/>
              </a:rPr>
              <a:t> M with AF with RVR currently on an esmolol drip in the ICU. You are called for HRs in the 160s, BPs that dropped to 85</a:t>
            </a:r>
            <a:r>
              <a:rPr lang="en-US" sz="1600">
                <a:ea typeface="+mn-lt"/>
                <a:cs typeface="+mn-lt"/>
              </a:rPr>
              <a:t>/palp, </a:t>
            </a:r>
            <a:r>
              <a:rPr lang="en-US" sz="1600" dirty="0">
                <a:ea typeface="+mn-lt"/>
                <a:cs typeface="+mn-lt"/>
              </a:rPr>
              <a:t>and the patient is unresponsive. </a:t>
            </a:r>
          </a:p>
        </p:txBody>
      </p:sp>
      <p:sp>
        <p:nvSpPr>
          <p:cNvPr id="71" name="Case 4 text 2">
            <a:extLst>
              <a:ext uri="{FF2B5EF4-FFF2-40B4-BE49-F238E27FC236}">
                <a16:creationId xmlns:a16="http://schemas.microsoft.com/office/drawing/2014/main" id="{9C80FD32-0CE9-474B-9D09-BC9DF51E5991}"/>
              </a:ext>
            </a:extLst>
          </p:cNvPr>
          <p:cNvSpPr txBox="1"/>
          <p:nvPr/>
        </p:nvSpPr>
        <p:spPr>
          <a:xfrm>
            <a:off x="8153956" y="3519776"/>
            <a:ext cx="3829339" cy="1323439"/>
          </a:xfrm>
          <a:prstGeom prst="rect">
            <a:avLst/>
          </a:prstGeom>
          <a:noFill/>
        </p:spPr>
        <p:txBody>
          <a:bodyPr wrap="square" lIns="91440" tIns="45720" rIns="91440" bIns="45720" rtlCol="0" anchor="t">
            <a:spAutoFit/>
          </a:bodyPr>
          <a:lstStyle/>
          <a:p>
            <a:r>
              <a:rPr lang="en-US" sz="1600" dirty="0">
                <a:ea typeface="+mn-lt"/>
                <a:cs typeface="+mn-lt"/>
              </a:rPr>
              <a:t>He receives IV metoprolol 5 mg x 3 and his HRs improve to 140s. BPs are 90/60s. He reports palpitations, but no chest pain, dyspnea, or altered mentation. BMP is normal. Urine output is adequate. </a:t>
            </a:r>
          </a:p>
        </p:txBody>
      </p:sp>
      <p:sp>
        <p:nvSpPr>
          <p:cNvPr id="73" name="Rectangle: Rounded Corners 72">
            <a:hlinkClick r:id="rId5" action="ppaction://hlinksldjump"/>
            <a:extLst>
              <a:ext uri="{FF2B5EF4-FFF2-40B4-BE49-F238E27FC236}">
                <a16:creationId xmlns:a16="http://schemas.microsoft.com/office/drawing/2014/main" id="{FEB025B9-BC6D-42C8-81F3-78A681DE9F40}"/>
              </a:ext>
            </a:extLst>
          </p:cNvPr>
          <p:cNvSpPr/>
          <p:nvPr/>
        </p:nvSpPr>
        <p:spPr>
          <a:xfrm>
            <a:off x="10431173" y="97577"/>
            <a:ext cx="1637176" cy="350310"/>
          </a:xfrm>
          <a:prstGeom prst="roundRect">
            <a:avLst/>
          </a:prstGeom>
          <a:solidFill>
            <a:schemeClr val="bg1"/>
          </a:solidFill>
          <a:ln w="28575"/>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accent1"/>
                </a:solidFill>
              </a:rPr>
              <a:t>Pathophysiology</a:t>
            </a:r>
          </a:p>
        </p:txBody>
      </p:sp>
      <p:pic>
        <p:nvPicPr>
          <p:cNvPr id="74" name="Graphic 73" descr="Cursor with solid fill">
            <a:extLst>
              <a:ext uri="{FF2B5EF4-FFF2-40B4-BE49-F238E27FC236}">
                <a16:creationId xmlns:a16="http://schemas.microsoft.com/office/drawing/2014/main" id="{4F2CF34C-DFED-4B44-A1F7-9A5B7FC2B72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908338" y="272732"/>
            <a:ext cx="278936" cy="278936"/>
          </a:xfrm>
          <a:prstGeom prst="rect">
            <a:avLst/>
          </a:prstGeom>
        </p:spPr>
      </p:pic>
      <p:sp>
        <p:nvSpPr>
          <p:cNvPr id="75" name="Rectangle: Rounded Corners 74">
            <a:hlinkClick r:id="rId6" action="ppaction://hlinksldjump"/>
            <a:extLst>
              <a:ext uri="{FF2B5EF4-FFF2-40B4-BE49-F238E27FC236}">
                <a16:creationId xmlns:a16="http://schemas.microsoft.com/office/drawing/2014/main" id="{93F2C015-4F2A-4466-BAA8-DD3D66EE018B}"/>
              </a:ext>
            </a:extLst>
          </p:cNvPr>
          <p:cNvSpPr/>
          <p:nvPr/>
        </p:nvSpPr>
        <p:spPr>
          <a:xfrm>
            <a:off x="11080777" y="520765"/>
            <a:ext cx="993105" cy="330385"/>
          </a:xfrm>
          <a:prstGeom prst="roundRect">
            <a:avLst/>
          </a:prstGeom>
          <a:solidFill>
            <a:schemeClr val="bg1"/>
          </a:solidFill>
          <a:ln w="28575"/>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accent1"/>
                </a:solidFill>
              </a:rPr>
              <a:t>Work-up</a:t>
            </a:r>
          </a:p>
        </p:txBody>
      </p:sp>
      <p:pic>
        <p:nvPicPr>
          <p:cNvPr id="76" name="Graphic 75" descr="Cursor with solid fill">
            <a:extLst>
              <a:ext uri="{FF2B5EF4-FFF2-40B4-BE49-F238E27FC236}">
                <a16:creationId xmlns:a16="http://schemas.microsoft.com/office/drawing/2014/main" id="{508F1461-7348-4D39-AEDF-44C4F131703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894548" y="666455"/>
            <a:ext cx="278936" cy="278936"/>
          </a:xfrm>
          <a:prstGeom prst="rect">
            <a:avLst/>
          </a:prstGeom>
        </p:spPr>
      </p:pic>
      <p:sp>
        <p:nvSpPr>
          <p:cNvPr id="80" name="Rectangle: Rounded Corners 79">
            <a:hlinkClick r:id="rId7" action="ppaction://hlinksldjump"/>
            <a:extLst>
              <a:ext uri="{FF2B5EF4-FFF2-40B4-BE49-F238E27FC236}">
                <a16:creationId xmlns:a16="http://schemas.microsoft.com/office/drawing/2014/main" id="{469AB1CA-CBE0-4B06-B8B2-870BC8663B73}"/>
              </a:ext>
            </a:extLst>
          </p:cNvPr>
          <p:cNvSpPr/>
          <p:nvPr/>
        </p:nvSpPr>
        <p:spPr>
          <a:xfrm>
            <a:off x="10675924" y="930048"/>
            <a:ext cx="1392426" cy="350310"/>
          </a:xfrm>
          <a:prstGeom prst="roundRect">
            <a:avLst/>
          </a:prstGeom>
          <a:solidFill>
            <a:schemeClr val="bg1"/>
          </a:solidFill>
          <a:ln w="28575"/>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accent1"/>
                </a:solidFill>
              </a:rPr>
              <a:t>Management</a:t>
            </a:r>
          </a:p>
        </p:txBody>
      </p:sp>
      <p:pic>
        <p:nvPicPr>
          <p:cNvPr id="83" name="Graphic 82" descr="Cursor with solid fill">
            <a:extLst>
              <a:ext uri="{FF2B5EF4-FFF2-40B4-BE49-F238E27FC236}">
                <a16:creationId xmlns:a16="http://schemas.microsoft.com/office/drawing/2014/main" id="{B47B2543-0556-451D-86C9-99A0C2DEA90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912507" y="1070433"/>
            <a:ext cx="280861" cy="280861"/>
          </a:xfrm>
          <a:prstGeom prst="rect">
            <a:avLst/>
          </a:prstGeom>
        </p:spPr>
      </p:pic>
      <p:sp>
        <p:nvSpPr>
          <p:cNvPr id="84" name="Rectangle: Rounded Corners 83">
            <a:hlinkClick r:id="rId8" action="ppaction://hlinksldjump"/>
            <a:extLst>
              <a:ext uri="{FF2B5EF4-FFF2-40B4-BE49-F238E27FC236}">
                <a16:creationId xmlns:a16="http://schemas.microsoft.com/office/drawing/2014/main" id="{E1985927-4CEE-4ECD-88DC-C07CC72F0812}"/>
              </a:ext>
            </a:extLst>
          </p:cNvPr>
          <p:cNvSpPr/>
          <p:nvPr/>
        </p:nvSpPr>
        <p:spPr>
          <a:xfrm>
            <a:off x="11294743" y="1746631"/>
            <a:ext cx="779139" cy="350310"/>
          </a:xfrm>
          <a:prstGeom prst="roundRect">
            <a:avLst/>
          </a:prstGeom>
          <a:ln>
            <a:solidFill>
              <a:schemeClr val="accent5"/>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600" dirty="0">
                <a:solidFill>
                  <a:schemeClr val="bg1"/>
                </a:solidFill>
              </a:rPr>
              <a:t>Cases</a:t>
            </a:r>
          </a:p>
        </p:txBody>
      </p:sp>
      <p:sp>
        <p:nvSpPr>
          <p:cNvPr id="85" name="Rectangle 84">
            <a:hlinkClick r:id="rId9" action="ppaction://hlinksldjump"/>
            <a:extLst>
              <a:ext uri="{FF2B5EF4-FFF2-40B4-BE49-F238E27FC236}">
                <a16:creationId xmlns:a16="http://schemas.microsoft.com/office/drawing/2014/main" id="{9573507A-EE1B-4639-8D45-0C02323B6FEB}"/>
              </a:ext>
            </a:extLst>
          </p:cNvPr>
          <p:cNvSpPr/>
          <p:nvPr/>
        </p:nvSpPr>
        <p:spPr>
          <a:xfrm>
            <a:off x="10845800" y="1340582"/>
            <a:ext cx="1228082" cy="339281"/>
          </a:xfrm>
          <a:prstGeom prst="rect">
            <a:avLst/>
          </a:prstGeom>
          <a:solidFill>
            <a:schemeClr val="bg1"/>
          </a:solidFill>
          <a:ln w="28575"/>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accent1"/>
                </a:solidFill>
              </a:rPr>
              <a:t>Meds table</a:t>
            </a:r>
          </a:p>
        </p:txBody>
      </p:sp>
      <p:pic>
        <p:nvPicPr>
          <p:cNvPr id="86" name="Graphic 85" descr="Cursor with solid fill">
            <a:extLst>
              <a:ext uri="{FF2B5EF4-FFF2-40B4-BE49-F238E27FC236}">
                <a16:creationId xmlns:a16="http://schemas.microsoft.com/office/drawing/2014/main" id="{D0D62CEA-76B1-42DE-A514-A1540EDE67B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918040" y="1490828"/>
            <a:ext cx="280861" cy="280861"/>
          </a:xfrm>
          <a:prstGeom prst="rect">
            <a:avLst/>
          </a:prstGeom>
        </p:spPr>
      </p:pic>
      <p:pic>
        <p:nvPicPr>
          <p:cNvPr id="42" name="Graphic 41" descr="Cursor with solid fill">
            <a:extLst>
              <a:ext uri="{FF2B5EF4-FFF2-40B4-BE49-F238E27FC236}">
                <a16:creationId xmlns:a16="http://schemas.microsoft.com/office/drawing/2014/main" id="{7C40CB32-FBC4-E045-B68B-308BC7EDD47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471211" y="3068942"/>
            <a:ext cx="302506" cy="302506"/>
          </a:xfrm>
          <a:prstGeom prst="rect">
            <a:avLst/>
          </a:prstGeom>
        </p:spPr>
      </p:pic>
      <p:pic>
        <p:nvPicPr>
          <p:cNvPr id="46" name="Graphic 45" descr="Cursor with solid fill">
            <a:extLst>
              <a:ext uri="{FF2B5EF4-FFF2-40B4-BE49-F238E27FC236}">
                <a16:creationId xmlns:a16="http://schemas.microsoft.com/office/drawing/2014/main" id="{4E2B5EF1-C2ED-514D-ADAE-77CDE8C9BD9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524011" y="4478192"/>
            <a:ext cx="302506" cy="302506"/>
          </a:xfrm>
          <a:prstGeom prst="rect">
            <a:avLst/>
          </a:prstGeom>
        </p:spPr>
      </p:pic>
      <p:pic>
        <p:nvPicPr>
          <p:cNvPr id="47" name="Graphic 46" descr="Cursor with solid fill">
            <a:extLst>
              <a:ext uri="{FF2B5EF4-FFF2-40B4-BE49-F238E27FC236}">
                <a16:creationId xmlns:a16="http://schemas.microsoft.com/office/drawing/2014/main" id="{2662C486-5F9A-9141-8348-A153F576A75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470979" y="6473278"/>
            <a:ext cx="302506" cy="302506"/>
          </a:xfrm>
          <a:prstGeom prst="rect">
            <a:avLst/>
          </a:prstGeom>
        </p:spPr>
      </p:pic>
      <p:pic>
        <p:nvPicPr>
          <p:cNvPr id="48" name="Graphic 47" descr="Cursor with solid fill">
            <a:extLst>
              <a:ext uri="{FF2B5EF4-FFF2-40B4-BE49-F238E27FC236}">
                <a16:creationId xmlns:a16="http://schemas.microsoft.com/office/drawing/2014/main" id="{9C2C1492-4AFE-0A4D-81EE-911BBC78B91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534008" y="2967157"/>
            <a:ext cx="302506" cy="302506"/>
          </a:xfrm>
          <a:prstGeom prst="rect">
            <a:avLst/>
          </a:prstGeom>
        </p:spPr>
      </p:pic>
      <p:pic>
        <p:nvPicPr>
          <p:cNvPr id="49" name="Graphic 48" descr="Cursor with solid fill">
            <a:extLst>
              <a:ext uri="{FF2B5EF4-FFF2-40B4-BE49-F238E27FC236}">
                <a16:creationId xmlns:a16="http://schemas.microsoft.com/office/drawing/2014/main" id="{C425D12F-089A-A348-B687-D3EFB7CA263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05860" y="6492384"/>
            <a:ext cx="302506" cy="302506"/>
          </a:xfrm>
          <a:prstGeom prst="rect">
            <a:avLst/>
          </a:prstGeom>
        </p:spPr>
      </p:pic>
      <p:pic>
        <p:nvPicPr>
          <p:cNvPr id="50" name="Graphic 49" descr="Cursor with solid fill">
            <a:extLst>
              <a:ext uri="{FF2B5EF4-FFF2-40B4-BE49-F238E27FC236}">
                <a16:creationId xmlns:a16="http://schemas.microsoft.com/office/drawing/2014/main" id="{B7033B54-ADD7-FA49-BA72-35323CAEE47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693693" y="3136443"/>
            <a:ext cx="302506" cy="302506"/>
          </a:xfrm>
          <a:prstGeom prst="rect">
            <a:avLst/>
          </a:prstGeom>
        </p:spPr>
      </p:pic>
      <p:pic>
        <p:nvPicPr>
          <p:cNvPr id="51" name="Graphic 50" descr="Cursor with solid fill">
            <a:extLst>
              <a:ext uri="{FF2B5EF4-FFF2-40B4-BE49-F238E27FC236}">
                <a16:creationId xmlns:a16="http://schemas.microsoft.com/office/drawing/2014/main" id="{42BD0CCB-F2F1-F34C-BB8F-27B9721E36E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766981" y="6191545"/>
            <a:ext cx="302506" cy="302506"/>
          </a:xfrm>
          <a:prstGeom prst="rect">
            <a:avLst/>
          </a:prstGeom>
        </p:spPr>
      </p:pic>
      <p:cxnSp>
        <p:nvCxnSpPr>
          <p:cNvPr id="52" name="Straight Connector 51">
            <a:extLst>
              <a:ext uri="{FF2B5EF4-FFF2-40B4-BE49-F238E27FC236}">
                <a16:creationId xmlns:a16="http://schemas.microsoft.com/office/drawing/2014/main" id="{64583832-8261-4CFD-9F6F-931AE581065C}"/>
              </a:ext>
            </a:extLst>
          </p:cNvPr>
          <p:cNvCxnSpPr>
            <a:cxnSpLocks/>
          </p:cNvCxnSpPr>
          <p:nvPr/>
        </p:nvCxnSpPr>
        <p:spPr>
          <a:xfrm>
            <a:off x="3913612" y="3382850"/>
            <a:ext cx="3994754" cy="12795"/>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300573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6"/>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46"/>
                                        </p:tgtEl>
                                        <p:attrNameLst>
                                          <p:attrName>style.visibility</p:attrName>
                                        </p:attrNameLst>
                                      </p:cBhvr>
                                      <p:to>
                                        <p:strVal val="hidden"/>
                                      </p:to>
                                    </p:set>
                                  </p:childTnLst>
                                </p:cTn>
                              </p:par>
                              <p:par>
                                <p:cTn id="9" presetID="1" presetClass="entr" presetSubtype="0" fill="hold" nodeType="withEffect">
                                  <p:stCondLst>
                                    <p:cond delay="0"/>
                                  </p:stCondLst>
                                  <p:childTnLst>
                                    <p:set>
                                      <p:cBhvr>
                                        <p:cTn id="10" dur="1" fill="hold">
                                          <p:stCondLst>
                                            <p:cond delay="0"/>
                                          </p:stCondLst>
                                        </p:cTn>
                                        <p:tgtEl>
                                          <p:spTgt spid="47"/>
                                        </p:tgtEl>
                                        <p:attrNameLst>
                                          <p:attrName>style.visibility</p:attrName>
                                        </p:attrNameLst>
                                      </p:cBhvr>
                                      <p:to>
                                        <p:strVal val="visible"/>
                                      </p:to>
                                    </p:set>
                                  </p:childTnLst>
                                </p:cTn>
                              </p:par>
                              <p:par>
                                <p:cTn id="11" presetID="1" presetClass="exit" presetSubtype="0" fill="hold" nodeType="withEffect">
                                  <p:stCondLst>
                                    <p:cond delay="0"/>
                                  </p:stCondLst>
                                  <p:childTnLst>
                                    <p:set>
                                      <p:cBhvr>
                                        <p:cTn id="12" dur="1" fill="hold">
                                          <p:stCondLst>
                                            <p:cond delay="0"/>
                                          </p:stCondLst>
                                        </p:cTn>
                                        <p:tgtEl>
                                          <p:spTgt spid="47"/>
                                        </p:tgtEl>
                                        <p:attrNameLst>
                                          <p:attrName>style.visibility</p:attrName>
                                        </p:attrNameLst>
                                      </p:cBhvr>
                                      <p:to>
                                        <p:strVal val="hidden"/>
                                      </p:to>
                                    </p:set>
                                  </p:childTnLst>
                                </p:cTn>
                              </p:par>
                              <p:par>
                                <p:cTn id="13" presetID="1" presetClass="entr" presetSubtype="0" fill="hold" nodeType="withEffect">
                                  <p:stCondLst>
                                    <p:cond delay="0"/>
                                  </p:stCondLst>
                                  <p:childTnLst>
                                    <p:set>
                                      <p:cBhvr>
                                        <p:cTn id="14" dur="1" fill="hold">
                                          <p:stCondLst>
                                            <p:cond delay="0"/>
                                          </p:stCondLst>
                                        </p:cTn>
                                        <p:tgtEl>
                                          <p:spTgt spid="48"/>
                                        </p:tgtEl>
                                        <p:attrNameLst>
                                          <p:attrName>style.visibility</p:attrName>
                                        </p:attrNameLst>
                                      </p:cBhvr>
                                      <p:to>
                                        <p:strVal val="visible"/>
                                      </p:to>
                                    </p:set>
                                  </p:childTnLst>
                                </p:cTn>
                              </p:par>
                              <p:par>
                                <p:cTn id="15" presetID="1" presetClass="exit" presetSubtype="0" fill="hold" nodeType="withEffect">
                                  <p:stCondLst>
                                    <p:cond delay="0"/>
                                  </p:stCondLst>
                                  <p:childTnLst>
                                    <p:set>
                                      <p:cBhvr>
                                        <p:cTn id="16" dur="1" fill="hold">
                                          <p:stCondLst>
                                            <p:cond delay="0"/>
                                          </p:stCondLst>
                                        </p:cTn>
                                        <p:tgtEl>
                                          <p:spTgt spid="48"/>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49"/>
                                        </p:tgtEl>
                                        <p:attrNameLst>
                                          <p:attrName>style.visibility</p:attrName>
                                        </p:attrNameLst>
                                      </p:cBhvr>
                                      <p:to>
                                        <p:strVal val="visible"/>
                                      </p:to>
                                    </p:set>
                                  </p:childTnLst>
                                </p:cTn>
                              </p:par>
                              <p:par>
                                <p:cTn id="19" presetID="1" presetClass="exit" presetSubtype="0" fill="hold" nodeType="withEffect">
                                  <p:stCondLst>
                                    <p:cond delay="0"/>
                                  </p:stCondLst>
                                  <p:childTnLst>
                                    <p:set>
                                      <p:cBhvr>
                                        <p:cTn id="20" dur="1" fill="hold">
                                          <p:stCondLst>
                                            <p:cond delay="0"/>
                                          </p:stCondLst>
                                        </p:cTn>
                                        <p:tgtEl>
                                          <p:spTgt spid="49"/>
                                        </p:tgtEl>
                                        <p:attrNameLst>
                                          <p:attrName>style.visibility</p:attrName>
                                        </p:attrNameLst>
                                      </p:cBhvr>
                                      <p:to>
                                        <p:strVal val="hidden"/>
                                      </p:to>
                                    </p:set>
                                  </p:childTnLst>
                                </p:cTn>
                              </p:par>
                              <p:par>
                                <p:cTn id="21" presetID="1" presetClass="entr" presetSubtype="0" fill="hold" nodeType="withEffect">
                                  <p:stCondLst>
                                    <p:cond delay="0"/>
                                  </p:stCondLst>
                                  <p:childTnLst>
                                    <p:set>
                                      <p:cBhvr>
                                        <p:cTn id="22" dur="1" fill="hold">
                                          <p:stCondLst>
                                            <p:cond delay="0"/>
                                          </p:stCondLst>
                                        </p:cTn>
                                        <p:tgtEl>
                                          <p:spTgt spid="50"/>
                                        </p:tgtEl>
                                        <p:attrNameLst>
                                          <p:attrName>style.visibility</p:attrName>
                                        </p:attrNameLst>
                                      </p:cBhvr>
                                      <p:to>
                                        <p:strVal val="visible"/>
                                      </p:to>
                                    </p:set>
                                  </p:childTnLst>
                                </p:cTn>
                              </p:par>
                              <p:par>
                                <p:cTn id="23" presetID="1" presetClass="exit" presetSubtype="0" fill="hold" nodeType="withEffect">
                                  <p:stCondLst>
                                    <p:cond delay="0"/>
                                  </p:stCondLst>
                                  <p:childTnLst>
                                    <p:set>
                                      <p:cBhvr>
                                        <p:cTn id="24" dur="1" fill="hold">
                                          <p:stCondLst>
                                            <p:cond delay="0"/>
                                          </p:stCondLst>
                                        </p:cTn>
                                        <p:tgtEl>
                                          <p:spTgt spid="50"/>
                                        </p:tgtEl>
                                        <p:attrNameLst>
                                          <p:attrName>style.visibility</p:attrName>
                                        </p:attrNameLst>
                                      </p:cBhvr>
                                      <p:to>
                                        <p:strVal val="hidden"/>
                                      </p:to>
                                    </p:set>
                                  </p:childTnLst>
                                </p:cTn>
                              </p:par>
                              <p:par>
                                <p:cTn id="25" presetID="1" presetClass="entr" presetSubtype="0" fill="hold" nodeType="withEffect">
                                  <p:stCondLst>
                                    <p:cond delay="0"/>
                                  </p:stCondLst>
                                  <p:childTnLst>
                                    <p:set>
                                      <p:cBhvr>
                                        <p:cTn id="26" dur="1" fill="hold">
                                          <p:stCondLst>
                                            <p:cond delay="0"/>
                                          </p:stCondLst>
                                        </p:cTn>
                                        <p:tgtEl>
                                          <p:spTgt spid="51"/>
                                        </p:tgtEl>
                                        <p:attrNameLst>
                                          <p:attrName>style.visibility</p:attrName>
                                        </p:attrNameLst>
                                      </p:cBhvr>
                                      <p:to>
                                        <p:strVal val="visible"/>
                                      </p:to>
                                    </p:set>
                                  </p:childTnLst>
                                </p:cTn>
                              </p:par>
                              <p:par>
                                <p:cTn id="27" presetID="1" presetClass="exit" presetSubtype="0" fill="hold" nodeType="withEffect">
                                  <p:stCondLst>
                                    <p:cond delay="0"/>
                                  </p:stCondLst>
                                  <p:childTnLst>
                                    <p:set>
                                      <p:cBhvr>
                                        <p:cTn id="28" dur="1" fill="hold">
                                          <p:stCondLst>
                                            <p:cond delay="0"/>
                                          </p:stCondLst>
                                        </p:cTn>
                                        <p:tgtEl>
                                          <p:spTgt spid="5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9" restart="whenNotActive" fill="hold" evtFilter="cancelBubble" nodeType="interactiveSeq">
                <p:stCondLst>
                  <p:cond evt="onClick" delay="0">
                    <p:tgtEl>
                      <p:spTgt spid="11"/>
                    </p:tgtEl>
                  </p:cond>
                </p:stCondLst>
                <p:endSync evt="end" delay="0">
                  <p:rtn val="all"/>
                </p:endSync>
                <p:childTnLst>
                  <p:par>
                    <p:cTn id="30" fill="hold">
                      <p:stCondLst>
                        <p:cond delay="0"/>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28"/>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42"/>
                                        </p:tgtEl>
                                        <p:attrNameLst>
                                          <p:attrName>style.visibility</p:attrName>
                                        </p:attrNameLst>
                                      </p:cBhvr>
                                      <p:to>
                                        <p:strVal val="visible"/>
                                      </p:to>
                                    </p:set>
                                  </p:childTnLst>
                                </p:cTn>
                              </p:par>
                              <p:par>
                                <p:cTn id="38" presetID="1" presetClass="exit" presetSubtype="0" fill="hold" nodeType="withEffect">
                                  <p:stCondLst>
                                    <p:cond delay="0"/>
                                  </p:stCondLst>
                                  <p:childTnLst>
                                    <p:set>
                                      <p:cBhvr>
                                        <p:cTn id="39" dur="1" fill="hold">
                                          <p:stCondLst>
                                            <p:cond delay="0"/>
                                          </p:stCondLst>
                                        </p:cTn>
                                        <p:tgtEl>
                                          <p:spTgt spid="56"/>
                                        </p:tgtEl>
                                        <p:attrNameLst>
                                          <p:attrName>style.visibility</p:attrName>
                                        </p:attrNameLst>
                                      </p:cBhvr>
                                      <p:to>
                                        <p:strVal val="hidden"/>
                                      </p:to>
                                    </p:set>
                                  </p:childTnLst>
                                </p:cTn>
                              </p:par>
                            </p:childTnLst>
                          </p:cTn>
                        </p:par>
                      </p:childTnLst>
                    </p:cTn>
                  </p:par>
                </p:childTnLst>
              </p:cTn>
              <p:nextCondLst>
                <p:cond evt="onClick" delay="0">
                  <p:tgtEl>
                    <p:spTgt spid="11"/>
                  </p:tgtEl>
                </p:cond>
              </p:nextCondLst>
            </p:seq>
            <p:seq concurrent="1" nextAc="seek">
              <p:cTn id="40" restart="whenNotActive" fill="hold" evtFilter="cancelBubble" nodeType="interactiveSeq">
                <p:stCondLst>
                  <p:cond evt="onClick" delay="0">
                    <p:tgtEl>
                      <p:spTgt spid="28"/>
                    </p:tgtEl>
                  </p:cond>
                </p:stCondLst>
                <p:endSync evt="end" delay="0">
                  <p:rtn val="all"/>
                </p:endSync>
                <p:childTnLst>
                  <p:par>
                    <p:cTn id="41" fill="hold">
                      <p:stCondLst>
                        <p:cond delay="0"/>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childTnLst>
                                </p:cTn>
                              </p:par>
                              <p:par>
                                <p:cTn id="49" presetID="1" presetClass="exit" presetSubtype="0" fill="hold" nodeType="withEffect">
                                  <p:stCondLst>
                                    <p:cond delay="0"/>
                                  </p:stCondLst>
                                  <p:childTnLst>
                                    <p:set>
                                      <p:cBhvr>
                                        <p:cTn id="50" dur="1" fill="hold">
                                          <p:stCondLst>
                                            <p:cond delay="0"/>
                                          </p:stCondLst>
                                        </p:cTn>
                                        <p:tgtEl>
                                          <p:spTgt spid="42"/>
                                        </p:tgtEl>
                                        <p:attrNameLst>
                                          <p:attrName>style.visibility</p:attrName>
                                        </p:attrNameLst>
                                      </p:cBhvr>
                                      <p:to>
                                        <p:strVal val="hidden"/>
                                      </p:to>
                                    </p:set>
                                  </p:childTnLst>
                                </p:cTn>
                              </p:par>
                              <p:par>
                                <p:cTn id="51" presetID="1" presetClass="entr" presetSubtype="0" fill="hold" nodeType="withEffect">
                                  <p:stCondLst>
                                    <p:cond delay="0"/>
                                  </p:stCondLst>
                                  <p:childTnLst>
                                    <p:set>
                                      <p:cBhvr>
                                        <p:cTn id="52" dur="1" fill="hold">
                                          <p:stCondLst>
                                            <p:cond delay="0"/>
                                          </p:stCondLst>
                                        </p:cTn>
                                        <p:tgtEl>
                                          <p:spTgt spid="46"/>
                                        </p:tgtEl>
                                        <p:attrNameLst>
                                          <p:attrName>style.visibility</p:attrName>
                                        </p:attrNameLst>
                                      </p:cBhvr>
                                      <p:to>
                                        <p:strVal val="visible"/>
                                      </p:to>
                                    </p:set>
                                  </p:childTnLst>
                                </p:cTn>
                              </p:par>
                            </p:childTnLst>
                          </p:cTn>
                        </p:par>
                      </p:childTnLst>
                    </p:cTn>
                  </p:par>
                </p:childTnLst>
              </p:cTn>
              <p:nextCondLst>
                <p:cond evt="onClick" delay="0">
                  <p:tgtEl>
                    <p:spTgt spid="28"/>
                  </p:tgtEl>
                </p:cond>
              </p:nextCondLst>
            </p:seq>
            <p:seq concurrent="1" nextAc="seek">
              <p:cTn id="53" restart="whenNotActive" fill="hold" evtFilter="cancelBubble" nodeType="interactiveSeq">
                <p:stCondLst>
                  <p:cond evt="onClick" delay="0">
                    <p:tgtEl>
                      <p:spTgt spid="31"/>
                    </p:tgtEl>
                  </p:cond>
                </p:stCondLst>
                <p:endSync evt="end" delay="0">
                  <p:rtn val="all"/>
                </p:endSync>
                <p:childTnLst>
                  <p:par>
                    <p:cTn id="54" fill="hold">
                      <p:stCondLst>
                        <p:cond delay="0"/>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34"/>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45"/>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30"/>
                                        </p:tgtEl>
                                        <p:attrNameLst>
                                          <p:attrName>style.visibility</p:attrName>
                                        </p:attrNameLst>
                                      </p:cBhvr>
                                      <p:to>
                                        <p:strVal val="visible"/>
                                      </p:to>
                                    </p:set>
                                  </p:childTnLst>
                                </p:cTn>
                              </p:par>
                              <p:par>
                                <p:cTn id="62" presetID="1" presetClass="exit" presetSubtype="0" fill="hold" nodeType="withEffect">
                                  <p:stCondLst>
                                    <p:cond delay="0"/>
                                  </p:stCondLst>
                                  <p:childTnLst>
                                    <p:set>
                                      <p:cBhvr>
                                        <p:cTn id="63" dur="1" fill="hold">
                                          <p:stCondLst>
                                            <p:cond delay="0"/>
                                          </p:stCondLst>
                                        </p:cTn>
                                        <p:tgtEl>
                                          <p:spTgt spid="46"/>
                                        </p:tgtEl>
                                        <p:attrNameLst>
                                          <p:attrName>style.visibility</p:attrName>
                                        </p:attrNameLst>
                                      </p:cBhvr>
                                      <p:to>
                                        <p:strVal val="hidden"/>
                                      </p:to>
                                    </p:set>
                                  </p:childTnLst>
                                </p:cTn>
                              </p:par>
                              <p:par>
                                <p:cTn id="64" presetID="1" presetClass="entr" presetSubtype="0" fill="hold" nodeType="withEffect">
                                  <p:stCondLst>
                                    <p:cond delay="0"/>
                                  </p:stCondLst>
                                  <p:childTnLst>
                                    <p:set>
                                      <p:cBhvr>
                                        <p:cTn id="65" dur="1" fill="hold">
                                          <p:stCondLst>
                                            <p:cond delay="0"/>
                                          </p:stCondLst>
                                        </p:cTn>
                                        <p:tgtEl>
                                          <p:spTgt spid="47"/>
                                        </p:tgtEl>
                                        <p:attrNameLst>
                                          <p:attrName>style.visibility</p:attrName>
                                        </p:attrNameLst>
                                      </p:cBhvr>
                                      <p:to>
                                        <p:strVal val="visible"/>
                                      </p:to>
                                    </p:set>
                                  </p:childTnLst>
                                </p:cTn>
                              </p:par>
                            </p:childTnLst>
                          </p:cTn>
                        </p:par>
                      </p:childTnLst>
                    </p:cTn>
                  </p:par>
                </p:childTnLst>
              </p:cTn>
              <p:nextCondLst>
                <p:cond evt="onClick" delay="0">
                  <p:tgtEl>
                    <p:spTgt spid="31"/>
                  </p:tgtEl>
                </p:cond>
              </p:nextCondLst>
            </p:seq>
            <p:seq concurrent="1" nextAc="seek">
              <p:cTn id="66" restart="whenNotActive" fill="hold" evtFilter="cancelBubble" nodeType="interactiveSeq">
                <p:stCondLst>
                  <p:cond evt="onClick" delay="0">
                    <p:tgtEl>
                      <p:spTgt spid="30"/>
                    </p:tgtEl>
                  </p:cond>
                </p:stCondLst>
                <p:endSync evt="end" delay="0">
                  <p:rtn val="all"/>
                </p:endSync>
                <p:childTnLst>
                  <p:par>
                    <p:cTn id="67" fill="hold">
                      <p:stCondLst>
                        <p:cond delay="0"/>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6"/>
                                        </p:tgtEl>
                                        <p:attrNameLst>
                                          <p:attrName>style.visibility</p:attrName>
                                        </p:attrNameLst>
                                      </p:cBhvr>
                                      <p:to>
                                        <p:strVal val="visible"/>
                                      </p:to>
                                    </p:set>
                                  </p:childTnLst>
                                </p:cTn>
                              </p:par>
                              <p:par>
                                <p:cTn id="71" presetID="1" presetClass="exit" presetSubtype="0" fill="hold" nodeType="withEffect">
                                  <p:stCondLst>
                                    <p:cond delay="0"/>
                                  </p:stCondLst>
                                  <p:childTnLst>
                                    <p:set>
                                      <p:cBhvr>
                                        <p:cTn id="72" dur="1" fill="hold">
                                          <p:stCondLst>
                                            <p:cond delay="0"/>
                                          </p:stCondLst>
                                        </p:cTn>
                                        <p:tgtEl>
                                          <p:spTgt spid="47"/>
                                        </p:tgtEl>
                                        <p:attrNameLst>
                                          <p:attrName>style.visibility</p:attrName>
                                        </p:attrNameLst>
                                      </p:cBhvr>
                                      <p:to>
                                        <p:strVal val="hidden"/>
                                      </p:to>
                                    </p:set>
                                  </p:childTnLst>
                                </p:cTn>
                              </p:par>
                            </p:childTnLst>
                          </p:cTn>
                        </p:par>
                      </p:childTnLst>
                    </p:cTn>
                  </p:par>
                </p:childTnLst>
              </p:cTn>
              <p:nextCondLst>
                <p:cond evt="onClick" delay="0">
                  <p:tgtEl>
                    <p:spTgt spid="30"/>
                  </p:tgtEl>
                </p:cond>
              </p:nextCondLst>
            </p:seq>
            <p:seq concurrent="1" nextAc="seek">
              <p:cTn id="73" restart="whenNotActive" fill="hold" evtFilter="cancelBubble" nodeType="interactiveSeq">
                <p:stCondLst>
                  <p:cond evt="onClick" delay="0">
                    <p:tgtEl>
                      <p:spTgt spid="129"/>
                    </p:tgtEl>
                  </p:cond>
                </p:stCondLst>
                <p:endSync evt="end" delay="0">
                  <p:rtn val="all"/>
                </p:endSync>
                <p:childTnLst>
                  <p:par>
                    <p:cTn id="74" fill="hold">
                      <p:stCondLst>
                        <p:cond delay="0"/>
                      </p:stCondLst>
                      <p:childTnLst>
                        <p:par>
                          <p:cTn id="75" fill="hold">
                            <p:stCondLst>
                              <p:cond delay="0"/>
                            </p:stCondLst>
                            <p:childTnLst>
                              <p:par>
                                <p:cTn id="76" presetID="1" presetClass="entr" presetSubtype="0" fill="hold" nodeType="clickEffect">
                                  <p:stCondLst>
                                    <p:cond delay="0"/>
                                  </p:stCondLst>
                                  <p:childTnLst>
                                    <p:set>
                                      <p:cBhvr>
                                        <p:cTn id="77" dur="1" fill="hold">
                                          <p:stCondLst>
                                            <p:cond delay="0"/>
                                          </p:stCondLst>
                                        </p:cTn>
                                        <p:tgtEl>
                                          <p:spTgt spid="57"/>
                                        </p:tgtEl>
                                        <p:attrNameLst>
                                          <p:attrName>style.visibility</p:attrName>
                                        </p:attrNameLst>
                                      </p:cBhvr>
                                      <p:to>
                                        <p:strVal val="visible"/>
                                      </p:to>
                                    </p:set>
                                  </p:childTnLst>
                                </p:cTn>
                              </p:par>
                              <p:par>
                                <p:cTn id="78" presetID="1" presetClass="entr" presetSubtype="0" fill="hold" grpId="0" nodeType="withEffect">
                                  <p:stCondLst>
                                    <p:cond delay="0"/>
                                  </p:stCondLst>
                                  <p:childTnLst>
                                    <p:set>
                                      <p:cBhvr>
                                        <p:cTn id="79" dur="1" fill="hold">
                                          <p:stCondLst>
                                            <p:cond delay="0"/>
                                          </p:stCondLst>
                                        </p:cTn>
                                        <p:tgtEl>
                                          <p:spTgt spid="131"/>
                                        </p:tgtEl>
                                        <p:attrNameLst>
                                          <p:attrName>style.visibility</p:attrName>
                                        </p:attrNameLst>
                                      </p:cBhvr>
                                      <p:to>
                                        <p:strVal val="visible"/>
                                      </p:to>
                                    </p:set>
                                  </p:childTnLst>
                                </p:cTn>
                              </p:par>
                              <p:par>
                                <p:cTn id="80" presetID="1" presetClass="exit" presetSubtype="0" fill="hold" nodeType="withEffect">
                                  <p:stCondLst>
                                    <p:cond delay="0"/>
                                  </p:stCondLst>
                                  <p:childTnLst>
                                    <p:set>
                                      <p:cBhvr>
                                        <p:cTn id="81" dur="1" fill="hold">
                                          <p:stCondLst>
                                            <p:cond delay="0"/>
                                          </p:stCondLst>
                                        </p:cTn>
                                        <p:tgtEl>
                                          <p:spTgt spid="81"/>
                                        </p:tgtEl>
                                        <p:attrNameLst>
                                          <p:attrName>style.visibility</p:attrName>
                                        </p:attrNameLst>
                                      </p:cBhvr>
                                      <p:to>
                                        <p:strVal val="hidden"/>
                                      </p:to>
                                    </p:set>
                                  </p:childTnLst>
                                </p:cTn>
                              </p:par>
                              <p:par>
                                <p:cTn id="82" presetID="1" presetClass="entr" presetSubtype="0" fill="hold" nodeType="withEffect">
                                  <p:stCondLst>
                                    <p:cond delay="0"/>
                                  </p:stCondLst>
                                  <p:childTnLst>
                                    <p:set>
                                      <p:cBhvr>
                                        <p:cTn id="83" dur="1" fill="hold">
                                          <p:stCondLst>
                                            <p:cond delay="0"/>
                                          </p:stCondLst>
                                        </p:cTn>
                                        <p:tgtEl>
                                          <p:spTgt spid="48"/>
                                        </p:tgtEl>
                                        <p:attrNameLst>
                                          <p:attrName>style.visibility</p:attrName>
                                        </p:attrNameLst>
                                      </p:cBhvr>
                                      <p:to>
                                        <p:strVal val="visible"/>
                                      </p:to>
                                    </p:set>
                                  </p:childTnLst>
                                </p:cTn>
                              </p:par>
                            </p:childTnLst>
                          </p:cTn>
                        </p:par>
                      </p:childTnLst>
                    </p:cTn>
                  </p:par>
                </p:childTnLst>
              </p:cTn>
              <p:nextCondLst>
                <p:cond evt="onClick" delay="0">
                  <p:tgtEl>
                    <p:spTgt spid="129"/>
                  </p:tgtEl>
                </p:cond>
              </p:nextCondLst>
            </p:seq>
            <p:seq concurrent="1" nextAc="seek">
              <p:cTn id="84" restart="whenNotActive" fill="hold" evtFilter="cancelBubble" nodeType="interactiveSeq">
                <p:stCondLst>
                  <p:cond evt="onClick" delay="0">
                    <p:tgtEl>
                      <p:spTgt spid="57"/>
                    </p:tgtEl>
                  </p:cond>
                </p:stCondLst>
                <p:endSync evt="end" delay="0">
                  <p:rtn val="all"/>
                </p:endSync>
                <p:childTnLst>
                  <p:par>
                    <p:cTn id="85" fill="hold">
                      <p:stCondLst>
                        <p:cond delay="0"/>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61"/>
                                        </p:tgtEl>
                                        <p:attrNameLst>
                                          <p:attrName>style.visibility</p:attrName>
                                        </p:attrNameLst>
                                      </p:cBhvr>
                                      <p:to>
                                        <p:strVal val="visible"/>
                                      </p:to>
                                    </p:set>
                                  </p:childTnLst>
                                </p:cTn>
                              </p:par>
                              <p:par>
                                <p:cTn id="89" presetID="1" presetClass="exit" presetSubtype="0" fill="hold" nodeType="withEffect">
                                  <p:stCondLst>
                                    <p:cond delay="0"/>
                                  </p:stCondLst>
                                  <p:childTnLst>
                                    <p:set>
                                      <p:cBhvr>
                                        <p:cTn id="90" dur="1" fill="hold">
                                          <p:stCondLst>
                                            <p:cond delay="0"/>
                                          </p:stCondLst>
                                        </p:cTn>
                                        <p:tgtEl>
                                          <p:spTgt spid="48"/>
                                        </p:tgtEl>
                                        <p:attrNameLst>
                                          <p:attrName>style.visibility</p:attrName>
                                        </p:attrNameLst>
                                      </p:cBhvr>
                                      <p:to>
                                        <p:strVal val="hidden"/>
                                      </p:to>
                                    </p:set>
                                  </p:childTnLst>
                                </p:cTn>
                              </p:par>
                            </p:childTnLst>
                          </p:cTn>
                        </p:par>
                      </p:childTnLst>
                    </p:cTn>
                  </p:par>
                </p:childTnLst>
              </p:cTn>
              <p:nextCondLst>
                <p:cond evt="onClick" delay="0">
                  <p:tgtEl>
                    <p:spTgt spid="57"/>
                  </p:tgtEl>
                </p:cond>
              </p:nextCondLst>
            </p:seq>
            <p:seq concurrent="1" nextAc="seek">
              <p:cTn id="91" restart="whenNotActive" fill="hold" evtFilter="cancelBubble" nodeType="interactiveSeq">
                <p:stCondLst>
                  <p:cond evt="onClick" delay="0">
                    <p:tgtEl>
                      <p:spTgt spid="58"/>
                    </p:tgtEl>
                  </p:cond>
                </p:stCondLst>
                <p:endSync evt="end" delay="0">
                  <p:rtn val="all"/>
                </p:endSync>
                <p:childTnLst>
                  <p:par>
                    <p:cTn id="92" fill="hold">
                      <p:stCondLst>
                        <p:cond delay="0"/>
                      </p:stCondLst>
                      <p:childTnLst>
                        <p:par>
                          <p:cTn id="93" fill="hold">
                            <p:stCondLst>
                              <p:cond delay="0"/>
                            </p:stCondLst>
                            <p:childTnLst>
                              <p:par>
                                <p:cTn id="94" presetID="1" presetClass="entr" presetSubtype="0" fill="hold" grpId="0" nodeType="clickEffect">
                                  <p:stCondLst>
                                    <p:cond delay="0"/>
                                  </p:stCondLst>
                                  <p:childTnLst>
                                    <p:set>
                                      <p:cBhvr>
                                        <p:cTn id="95" dur="1" fill="hold">
                                          <p:stCondLst>
                                            <p:cond delay="0"/>
                                          </p:stCondLst>
                                        </p:cTn>
                                        <p:tgtEl>
                                          <p:spTgt spid="62"/>
                                        </p:tgtEl>
                                        <p:attrNameLst>
                                          <p:attrName>style.visibility</p:attrName>
                                        </p:attrNameLst>
                                      </p:cBhvr>
                                      <p:to>
                                        <p:strVal val="visible"/>
                                      </p:to>
                                    </p:set>
                                  </p:childTnLst>
                                </p:cTn>
                              </p:par>
                              <p:par>
                                <p:cTn id="96" presetID="1" presetClass="exit" presetSubtype="0" fill="hold" nodeType="withEffect">
                                  <p:stCondLst>
                                    <p:cond delay="0"/>
                                  </p:stCondLst>
                                  <p:childTnLst>
                                    <p:set>
                                      <p:cBhvr>
                                        <p:cTn id="97" dur="1" fill="hold">
                                          <p:stCondLst>
                                            <p:cond delay="0"/>
                                          </p:stCondLst>
                                        </p:cTn>
                                        <p:tgtEl>
                                          <p:spTgt spid="49"/>
                                        </p:tgtEl>
                                        <p:attrNameLst>
                                          <p:attrName>style.visibility</p:attrName>
                                        </p:attrNameLst>
                                      </p:cBhvr>
                                      <p:to>
                                        <p:strVal val="hidden"/>
                                      </p:to>
                                    </p:set>
                                  </p:childTnLst>
                                </p:cTn>
                              </p:par>
                            </p:childTnLst>
                          </p:cTn>
                        </p:par>
                      </p:childTnLst>
                    </p:cTn>
                  </p:par>
                </p:childTnLst>
              </p:cTn>
              <p:nextCondLst>
                <p:cond evt="onClick" delay="0">
                  <p:tgtEl>
                    <p:spTgt spid="58"/>
                  </p:tgtEl>
                </p:cond>
              </p:nextCondLst>
            </p:seq>
            <p:seq concurrent="1" nextAc="seek">
              <p:cTn id="98" restart="whenNotActive" fill="hold" evtFilter="cancelBubble" nodeType="interactiveSeq">
                <p:stCondLst>
                  <p:cond evt="onClick" delay="0">
                    <p:tgtEl>
                      <p:spTgt spid="39"/>
                    </p:tgtEl>
                  </p:cond>
                </p:stCondLst>
                <p:endSync evt="end" delay="0">
                  <p:rtn val="all"/>
                </p:endSync>
                <p:childTnLst>
                  <p:par>
                    <p:cTn id="99" fill="hold">
                      <p:stCondLst>
                        <p:cond delay="0"/>
                      </p:stCondLst>
                      <p:childTnLst>
                        <p:par>
                          <p:cTn id="100" fill="hold">
                            <p:stCondLst>
                              <p:cond delay="0"/>
                            </p:stCondLst>
                            <p:childTnLst>
                              <p:par>
                                <p:cTn id="101" presetID="1" presetClass="entr" presetSubtype="0" fill="hold" grpId="0" nodeType="withEffect">
                                  <p:stCondLst>
                                    <p:cond delay="0"/>
                                  </p:stCondLst>
                                  <p:childTnLst>
                                    <p:set>
                                      <p:cBhvr>
                                        <p:cTn id="102" dur="1" fill="hold">
                                          <p:stCondLst>
                                            <p:cond delay="0"/>
                                          </p:stCondLst>
                                        </p:cTn>
                                        <p:tgtEl>
                                          <p:spTgt spid="43"/>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71"/>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40"/>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40"/>
                                        </p:tgtEl>
                                        <p:attrNameLst>
                                          <p:attrName>style.visibility</p:attrName>
                                        </p:attrNameLst>
                                      </p:cBhvr>
                                      <p:to>
                                        <p:strVal val="visible"/>
                                      </p:to>
                                    </p:set>
                                  </p:childTnLst>
                                </p:cTn>
                              </p:par>
                              <p:par>
                                <p:cTn id="109" presetID="1" presetClass="exit" presetSubtype="0" fill="hold" nodeType="withEffect">
                                  <p:stCondLst>
                                    <p:cond delay="0"/>
                                  </p:stCondLst>
                                  <p:childTnLst>
                                    <p:set>
                                      <p:cBhvr>
                                        <p:cTn id="110" dur="1" fill="hold">
                                          <p:stCondLst>
                                            <p:cond delay="0"/>
                                          </p:stCondLst>
                                        </p:cTn>
                                        <p:tgtEl>
                                          <p:spTgt spid="50"/>
                                        </p:tgtEl>
                                        <p:attrNameLst>
                                          <p:attrName>style.visibility</p:attrName>
                                        </p:attrNameLst>
                                      </p:cBhvr>
                                      <p:to>
                                        <p:strVal val="hidden"/>
                                      </p:to>
                                    </p:set>
                                  </p:childTnLst>
                                </p:cTn>
                              </p:par>
                              <p:par>
                                <p:cTn id="111" presetID="1" presetClass="entr" presetSubtype="0" fill="hold" nodeType="withEffect">
                                  <p:stCondLst>
                                    <p:cond delay="0"/>
                                  </p:stCondLst>
                                  <p:childTnLst>
                                    <p:set>
                                      <p:cBhvr>
                                        <p:cTn id="112" dur="1" fill="hold">
                                          <p:stCondLst>
                                            <p:cond delay="0"/>
                                          </p:stCondLst>
                                        </p:cTn>
                                        <p:tgtEl>
                                          <p:spTgt spid="51"/>
                                        </p:tgtEl>
                                        <p:attrNameLst>
                                          <p:attrName>style.visibility</p:attrName>
                                        </p:attrNameLst>
                                      </p:cBhvr>
                                      <p:to>
                                        <p:strVal val="visible"/>
                                      </p:to>
                                    </p:set>
                                  </p:childTnLst>
                                </p:cTn>
                              </p:par>
                            </p:childTnLst>
                          </p:cTn>
                        </p:par>
                      </p:childTnLst>
                    </p:cTn>
                  </p:par>
                </p:childTnLst>
              </p:cTn>
              <p:nextCondLst>
                <p:cond evt="onClick" delay="0">
                  <p:tgtEl>
                    <p:spTgt spid="39"/>
                  </p:tgtEl>
                </p:cond>
              </p:nextCondLst>
            </p:seq>
            <p:seq concurrent="1" nextAc="seek">
              <p:cTn id="113" restart="whenNotActive" fill="hold" evtFilter="cancelBubble" nodeType="interactiveSeq">
                <p:stCondLst>
                  <p:cond evt="onClick" delay="0">
                    <p:tgtEl>
                      <p:spTgt spid="40"/>
                    </p:tgtEl>
                  </p:cond>
                </p:stCondLst>
                <p:endSync evt="end" delay="0">
                  <p:rtn val="all"/>
                </p:endSync>
                <p:childTnLst>
                  <p:par>
                    <p:cTn id="114" fill="hold">
                      <p:stCondLst>
                        <p:cond delay="0"/>
                      </p:stCondLst>
                      <p:childTnLst>
                        <p:par>
                          <p:cTn id="115" fill="hold">
                            <p:stCondLst>
                              <p:cond delay="0"/>
                            </p:stCondLst>
                            <p:childTnLst>
                              <p:par>
                                <p:cTn id="116" presetID="1" presetClass="entr" presetSubtype="0" fill="hold" grpId="0" nodeType="clickEffect">
                                  <p:stCondLst>
                                    <p:cond delay="0"/>
                                  </p:stCondLst>
                                  <p:childTnLst>
                                    <p:set>
                                      <p:cBhvr>
                                        <p:cTn id="117" dur="1" fill="hold">
                                          <p:stCondLst>
                                            <p:cond delay="0"/>
                                          </p:stCondLst>
                                        </p:cTn>
                                        <p:tgtEl>
                                          <p:spTgt spid="44"/>
                                        </p:tgtEl>
                                        <p:attrNameLst>
                                          <p:attrName>style.visibility</p:attrName>
                                        </p:attrNameLst>
                                      </p:cBhvr>
                                      <p:to>
                                        <p:strVal val="visible"/>
                                      </p:to>
                                    </p:set>
                                  </p:childTnLst>
                                </p:cTn>
                              </p:par>
                              <p:par>
                                <p:cTn id="118" presetID="1" presetClass="exit" presetSubtype="0" fill="hold" nodeType="withEffect">
                                  <p:stCondLst>
                                    <p:cond delay="0"/>
                                  </p:stCondLst>
                                  <p:childTnLst>
                                    <p:set>
                                      <p:cBhvr>
                                        <p:cTn id="119" dur="1" fill="hold">
                                          <p:stCondLst>
                                            <p:cond delay="0"/>
                                          </p:stCondLst>
                                        </p:cTn>
                                        <p:tgtEl>
                                          <p:spTgt spid="51"/>
                                        </p:tgtEl>
                                        <p:attrNameLst>
                                          <p:attrName>style.visibility</p:attrName>
                                        </p:attrNameLst>
                                      </p:cBhvr>
                                      <p:to>
                                        <p:strVal val="hidden"/>
                                      </p:to>
                                    </p:set>
                                  </p:childTnLst>
                                </p:cTn>
                              </p:par>
                            </p:childTnLst>
                          </p:cTn>
                        </p:par>
                      </p:childTnLst>
                    </p:cTn>
                  </p:par>
                </p:childTnLst>
              </p:cTn>
              <p:nextCondLst>
                <p:cond evt="onClick" delay="0">
                  <p:tgtEl>
                    <p:spTgt spid="40"/>
                  </p:tgtEl>
                </p:cond>
              </p:nextCondLst>
            </p:seq>
            <p:seq concurrent="1" nextAc="seek">
              <p:cTn id="120" restart="whenNotActive" fill="hold" evtFilter="cancelBubble" nodeType="interactiveSeq">
                <p:stCondLst>
                  <p:cond evt="onClick" delay="0">
                    <p:tgtEl>
                      <p:spTgt spid="146"/>
                    </p:tgtEl>
                  </p:cond>
                </p:stCondLst>
                <p:endSync evt="end" delay="0">
                  <p:rtn val="all"/>
                </p:endSync>
                <p:childTnLst>
                  <p:par>
                    <p:cTn id="121" fill="hold">
                      <p:stCondLst>
                        <p:cond delay="0"/>
                      </p:stCondLst>
                      <p:childTnLst>
                        <p:par>
                          <p:cTn id="122" fill="hold">
                            <p:stCondLst>
                              <p:cond delay="0"/>
                            </p:stCondLst>
                            <p:childTnLst>
                              <p:par>
                                <p:cTn id="123" presetID="1" presetClass="entr" presetSubtype="0" fill="hold" grpId="0" nodeType="clickEffect">
                                  <p:stCondLst>
                                    <p:cond delay="0"/>
                                  </p:stCondLst>
                                  <p:childTnLst>
                                    <p:set>
                                      <p:cBhvr>
                                        <p:cTn id="124" dur="1" fill="hold">
                                          <p:stCondLst>
                                            <p:cond delay="0"/>
                                          </p:stCondLst>
                                        </p:cTn>
                                        <p:tgtEl>
                                          <p:spTgt spid="148"/>
                                        </p:tgtEl>
                                        <p:attrNameLst>
                                          <p:attrName>style.visibility</p:attrName>
                                        </p:attrNameLst>
                                      </p:cBhvr>
                                      <p:to>
                                        <p:strVal val="visible"/>
                                      </p:to>
                                    </p:set>
                                  </p:childTnLst>
                                </p:cTn>
                              </p:par>
                              <p:par>
                                <p:cTn id="125" presetID="1" presetClass="entr" presetSubtype="0" fill="hold" nodeType="withEffect">
                                  <p:stCondLst>
                                    <p:cond delay="0"/>
                                  </p:stCondLst>
                                  <p:childTnLst>
                                    <p:set>
                                      <p:cBhvr>
                                        <p:cTn id="126" dur="1" fill="hold">
                                          <p:stCondLst>
                                            <p:cond delay="0"/>
                                          </p:stCondLst>
                                        </p:cTn>
                                        <p:tgtEl>
                                          <p:spTgt spid="39"/>
                                        </p:tgtEl>
                                        <p:attrNameLst>
                                          <p:attrName>style.visibility</p:attrName>
                                        </p:attrNameLst>
                                      </p:cBhvr>
                                      <p:to>
                                        <p:strVal val="visible"/>
                                      </p:to>
                                    </p:set>
                                  </p:childTnLst>
                                </p:cTn>
                              </p:par>
                              <p:par>
                                <p:cTn id="127" presetID="1" presetClass="exit" presetSubtype="0" fill="hold" nodeType="withEffect">
                                  <p:stCondLst>
                                    <p:cond delay="0"/>
                                  </p:stCondLst>
                                  <p:childTnLst>
                                    <p:set>
                                      <p:cBhvr>
                                        <p:cTn id="128" dur="1" fill="hold">
                                          <p:stCondLst>
                                            <p:cond delay="0"/>
                                          </p:stCondLst>
                                        </p:cTn>
                                        <p:tgtEl>
                                          <p:spTgt spid="82"/>
                                        </p:tgtEl>
                                        <p:attrNameLst>
                                          <p:attrName>style.visibility</p:attrName>
                                        </p:attrNameLst>
                                      </p:cBhvr>
                                      <p:to>
                                        <p:strVal val="hidden"/>
                                      </p:to>
                                    </p:set>
                                  </p:childTnLst>
                                </p:cTn>
                              </p:par>
                              <p:par>
                                <p:cTn id="129" presetID="1" presetClass="entr" presetSubtype="0" fill="hold" nodeType="withEffect">
                                  <p:stCondLst>
                                    <p:cond delay="0"/>
                                  </p:stCondLst>
                                  <p:childTnLst>
                                    <p:set>
                                      <p:cBhvr>
                                        <p:cTn id="130" dur="1" fill="hold">
                                          <p:stCondLst>
                                            <p:cond delay="0"/>
                                          </p:stCondLst>
                                        </p:cTn>
                                        <p:tgtEl>
                                          <p:spTgt spid="50"/>
                                        </p:tgtEl>
                                        <p:attrNameLst>
                                          <p:attrName>style.visibility</p:attrName>
                                        </p:attrNameLst>
                                      </p:cBhvr>
                                      <p:to>
                                        <p:strVal val="visible"/>
                                      </p:to>
                                    </p:set>
                                  </p:childTnLst>
                                </p:cTn>
                              </p:par>
                            </p:childTnLst>
                          </p:cTn>
                        </p:par>
                      </p:childTnLst>
                    </p:cTn>
                  </p:par>
                </p:childTnLst>
              </p:cTn>
              <p:nextCondLst>
                <p:cond evt="onClick" delay="0">
                  <p:tgtEl>
                    <p:spTgt spid="146"/>
                  </p:tgtEl>
                </p:cond>
              </p:nextCondLst>
            </p:seq>
            <p:seq concurrent="1" nextAc="seek">
              <p:cTn id="131" restart="whenNotActive" fill="hold" evtFilter="cancelBubble" nodeType="interactiveSeq">
                <p:stCondLst>
                  <p:cond evt="onClick" delay="0">
                    <p:tgtEl>
                      <p:spTgt spid="55"/>
                    </p:tgtEl>
                  </p:cond>
                </p:stCondLst>
                <p:endSync evt="end" delay="0">
                  <p:rtn val="all"/>
                </p:endSync>
                <p:childTnLst>
                  <p:par>
                    <p:cTn id="132" fill="hold">
                      <p:stCondLst>
                        <p:cond delay="0"/>
                      </p:stCondLst>
                      <p:childTnLst>
                        <p:par>
                          <p:cTn id="133" fill="hold">
                            <p:stCondLst>
                              <p:cond delay="0"/>
                            </p:stCondLst>
                            <p:childTnLst>
                              <p:par>
                                <p:cTn id="134" presetID="1" presetClass="entr" presetSubtype="0" fill="hold" grpId="0" nodeType="clickEffect">
                                  <p:stCondLst>
                                    <p:cond delay="0"/>
                                  </p:stCondLst>
                                  <p:childTnLst>
                                    <p:set>
                                      <p:cBhvr>
                                        <p:cTn id="135" dur="1" fill="hold">
                                          <p:stCondLst>
                                            <p:cond delay="0"/>
                                          </p:stCondLst>
                                        </p:cTn>
                                        <p:tgtEl>
                                          <p:spTgt spid="69"/>
                                        </p:tgtEl>
                                        <p:attrNameLst>
                                          <p:attrName>style.visibility</p:attrName>
                                        </p:attrNameLst>
                                      </p:cBhvr>
                                      <p:to>
                                        <p:strVal val="visible"/>
                                      </p:to>
                                    </p:set>
                                  </p:childTnLst>
                                </p:cTn>
                              </p:par>
                              <p:par>
                                <p:cTn id="136" presetID="1" presetClass="entr" presetSubtype="0" fill="hold" nodeType="withEffect">
                                  <p:stCondLst>
                                    <p:cond delay="0"/>
                                  </p:stCondLst>
                                  <p:childTnLst>
                                    <p:set>
                                      <p:cBhvr>
                                        <p:cTn id="137" dur="1" fill="hold">
                                          <p:stCondLst>
                                            <p:cond delay="0"/>
                                          </p:stCondLst>
                                        </p:cTn>
                                        <p:tgtEl>
                                          <p:spTgt spid="58"/>
                                        </p:tgtEl>
                                        <p:attrNameLst>
                                          <p:attrName>style.visibility</p:attrName>
                                        </p:attrNameLst>
                                      </p:cBhvr>
                                      <p:to>
                                        <p:strVal val="visible"/>
                                      </p:to>
                                    </p:set>
                                  </p:childTnLst>
                                </p:cTn>
                              </p:par>
                              <p:par>
                                <p:cTn id="138" presetID="1" presetClass="exit" presetSubtype="0" fill="hold" nodeType="withEffect">
                                  <p:stCondLst>
                                    <p:cond delay="0"/>
                                  </p:stCondLst>
                                  <p:childTnLst>
                                    <p:set>
                                      <p:cBhvr>
                                        <p:cTn id="139" dur="1" fill="hold">
                                          <p:stCondLst>
                                            <p:cond delay="0"/>
                                          </p:stCondLst>
                                        </p:cTn>
                                        <p:tgtEl>
                                          <p:spTgt spid="63"/>
                                        </p:tgtEl>
                                        <p:attrNameLst>
                                          <p:attrName>style.visibility</p:attrName>
                                        </p:attrNameLst>
                                      </p:cBhvr>
                                      <p:to>
                                        <p:strVal val="hidden"/>
                                      </p:to>
                                    </p:set>
                                  </p:childTnLst>
                                </p:cTn>
                              </p:par>
                              <p:par>
                                <p:cTn id="140" presetID="1" presetClass="entr" presetSubtype="0" fill="hold" nodeType="withEffect">
                                  <p:stCondLst>
                                    <p:cond delay="0"/>
                                  </p:stCondLst>
                                  <p:childTnLst>
                                    <p:set>
                                      <p:cBhvr>
                                        <p:cTn id="141" dur="1" fill="hold">
                                          <p:stCondLst>
                                            <p:cond delay="0"/>
                                          </p:stCondLst>
                                        </p:cTn>
                                        <p:tgtEl>
                                          <p:spTgt spid="49"/>
                                        </p:tgtEl>
                                        <p:attrNameLst>
                                          <p:attrName>style.visibility</p:attrName>
                                        </p:attrNameLst>
                                      </p:cBhvr>
                                      <p:to>
                                        <p:strVal val="visible"/>
                                      </p:to>
                                    </p:set>
                                  </p:childTnLst>
                                </p:cTn>
                              </p:par>
                            </p:childTnLst>
                          </p:cTn>
                        </p:par>
                      </p:childTnLst>
                    </p:cTn>
                  </p:par>
                </p:childTnLst>
              </p:cTn>
              <p:nextCondLst>
                <p:cond evt="onClick" delay="0">
                  <p:tgtEl>
                    <p:spTgt spid="55"/>
                  </p:tgtEl>
                </p:cond>
              </p:nextCondLst>
            </p:seq>
          </p:childTnLst>
        </p:cTn>
      </p:par>
    </p:tnLst>
    <p:bldLst>
      <p:bldP spid="13" grpId="0"/>
      <p:bldP spid="28" grpId="0" animBg="1"/>
      <p:bldP spid="31" grpId="0" animBg="1"/>
      <p:bldP spid="30" grpId="0" animBg="1"/>
      <p:bldP spid="33" grpId="0" animBg="1"/>
      <p:bldP spid="34" grpId="0" animBg="1"/>
      <p:bldP spid="36" grpId="0" animBg="1"/>
      <p:bldP spid="131" grpId="0"/>
      <p:bldP spid="148" grpId="0"/>
      <p:bldP spid="61" grpId="0" animBg="1"/>
      <p:bldP spid="62" grpId="0" animBg="1"/>
      <p:bldP spid="43" grpId="0" animBg="1"/>
      <p:bldP spid="44" grpId="0" animBg="1"/>
      <p:bldP spid="59" grpId="0"/>
      <p:bldP spid="45" grpId="0"/>
      <p:bldP spid="69" grpId="0"/>
      <p:bldP spid="71"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20822</TotalTime>
  <Words>1187</Words>
  <Application>Microsoft Office PowerPoint</Application>
  <PresentationFormat>Widescreen</PresentationFormat>
  <Paragraphs>170</Paragraphs>
  <Slides>6</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Buchanan, Cullen</dc:creator>
  <cp:lastModifiedBy>Yilin Zhang</cp:lastModifiedBy>
  <cp:revision>88</cp:revision>
  <dcterms:created xsi:type="dcterms:W3CDTF">2021-01-02T22:00:36Z</dcterms:created>
  <dcterms:modified xsi:type="dcterms:W3CDTF">2021-04-07T17:53:23Z</dcterms:modified>
</cp:coreProperties>
</file>