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55_842AECD7.xml" ContentType="application/vnd.ms-powerpoint.comments+xml"/>
  <Override PartName="/ppt/comments/modernComment_15A_F840380E.xml" ContentType="application/vnd.ms-powerpoint.comments+xml"/>
  <Override PartName="/ppt/comments/modernComment_15C_61CEC642.xml" ContentType="application/vnd.ms-powerpoint.comments+xml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7.svg" ContentType="image/svg+xml"/>
  <Override PartName="/ppt/media/image3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346" r:id="rId6"/>
    <p:sldId id="343" r:id="rId7"/>
    <p:sldId id="348" r:id="rId8"/>
    <p:sldId id="350" r:id="rId9"/>
    <p:sldId id="351" r:id="rId10"/>
    <p:sldId id="269" r:id="rId11"/>
    <p:sldId id="341" r:id="rId12"/>
    <p:sldId id="352" r:id="rId19"/>
    <p:sldId id="353" r:id="rId20"/>
    <p:sldId id="35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701A47-5F80-F9D4-C11E-26893DC9BD88}" name="Nikki N Zarling" initials="NNZ" userId="S::niewold@uw.edu::849af211-3b52-4c97-91e5-d701fbe61ade" providerId="AD"/>
  <p188:author id="{AB810968-D91D-C19B-3655-B4D2DE7FDBEE}" name="Yilin Zhang" initials="YZ" userId="S::Yilin_Zhang@valleymed.org::40a11026-a9ab-441d-8256-d37e38926e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C7E7"/>
    <a:srgbClr val="F9E3BC"/>
    <a:srgbClr val="F0D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31" autoAdjust="0"/>
    <p:restoredTop sz="76739" autoAdjust="0"/>
  </p:normalViewPr>
  <p:slideViewPr>
    <p:cSldViewPr snapToGrid="0" snapToObjects="1">
      <p:cViewPr varScale="1">
        <p:scale>
          <a:sx n="82" d="100"/>
          <a:sy n="82" d="100"/>
        </p:scale>
        <p:origin x="13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omments/modernComment_15A_F84038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2CD2E1-D81A-40F4-8A28-32933DDCB4AB}" authorId="{AB810968-D91D-C19B-3655-B4D2DE7FDBEE}" created="2022-04-11T18:24:39.17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64958222" sldId="346"/>
      <ac:spMk id="65" creationId="{BFCFF6D5-8B64-4996-920F-000BAD551572}"/>
    </ac:deMkLst>
    <p188:txBody>
      <a:bodyPr/>
      <a:lstStyle/>
      <a:p>
        <a:r>
          <a:rPr lang="en-US"/>
          <a:t>Functional vs. nonstructural?</a:t>
        </a:r>
      </a:p>
    </p188:txBody>
  </p188:cm>
</p188:cmLst>
</file>

<file path=ppt/comments/modernComment_15C_61CEC6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0DD4C50-A500-4CF3-BDC2-70D59BBB1CC3}" authorId="{AB810968-D91D-C19B-3655-B4D2DE7FDBEE}" created="2022-04-06T20:45:41.2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40941122" sldId="348"/>
      <ac:spMk id="9" creationId="{5E6C9678-68C2-C347-A7E9-174DC2556EE6}"/>
    </ac:deMkLst>
    <p188:txBody>
      <a:bodyPr/>
      <a:lstStyle/>
      <a:p>
        <a:r>
          <a:rPr lang="en-US"/>
          <a:t>I edited this to be a simple question to cut down on text. We could build this out to be a true "case" if desired</a:t>
        </a:r>
      </a:p>
    </p188:txBody>
  </p188:cm>
</p188:cmLst>
</file>

<file path=ppt/comments/modernComment_155_842AEC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00184E-1F36-E945-A29E-6EDD4D9BAD4A}" authorId="{6C701A47-5F80-F9D4-C11E-26893DC9BD88}" created="2021-11-25T15:01:04.188">
    <pc:sldMkLst xmlns:pc="http://schemas.microsoft.com/office/powerpoint/2013/main/command">
      <pc:docMk/>
      <pc:sldMk cId="2217405655" sldId="341"/>
    </pc:sldMkLst>
    <p188:txBody>
      <a:bodyPr/>
      <a:lstStyle/>
      <a:p>
        <a:r>
          <a:rPr lang="en-US"/>
          <a:t>Learner Guide and initial board (if giving on whiteboard) 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BA11A-ABC6-4A45-AA73-83F561BA7519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356AC-8E2C-A44F-9AAE-34BCD51A2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84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356AC-8E2C-A44F-9AAE-34BCD51A2B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62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356AC-8E2C-A44F-9AAE-34BCD51A2BE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06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Vignette as top row? -&gt; rapid fire vignettes to help with quick recognition/illness scripts </a:t>
            </a:r>
          </a:p>
          <a:p>
            <a:r>
              <a:rPr lang="en-US" dirty="0"/>
              <a:t>If patient presents with these clinical features, what are you worried about?</a:t>
            </a:r>
          </a:p>
          <a:p>
            <a:r>
              <a:rPr lang="en-US" dirty="0"/>
              <a:t>What are your next steps in evaluation and management?</a:t>
            </a:r>
          </a:p>
          <a:p>
            <a:endParaRPr lang="en-US" dirty="0"/>
          </a:p>
          <a:p>
            <a:r>
              <a:rPr lang="en-US" dirty="0"/>
              <a:t>Replace vignette with “C: Coagulopathy” once you click the button, then workup, then management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Yilin.zhang37@gmail.com 904-891-8838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356AC-8E2C-A44F-9AAE-34BCD51A2BE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65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case 1 perimenopausal – talk about endometrial biopsy as next step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356AC-8E2C-A44F-9AAE-34BCD51A2BE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22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356AC-8E2C-A44F-9AAE-34BCD51A2B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056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692D-01DC-024C-953D-59855C563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837D36-E461-ED4C-87BB-9C03E43CA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2F86C-D744-D44C-9FD7-1C89AE82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76ECD-C19A-944E-A0E4-CA6B5F16E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FD3A6-0D01-BB4A-8D93-7CB13031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5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F841-C672-F644-8D7B-6D57DD51B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6320F-C79E-4445-B4C8-8EE075D3C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8662C-B6B4-2549-BF87-972FDD510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3DAE7-AD73-3A44-BBC4-C7C93AB4C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05543-B3C1-C743-87F7-41107287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5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816B-E6EC-674D-BAC1-14D70FBE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90730-59E0-5248-896C-7281EB94E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53759-F8B1-3443-BBD2-1BEB2AFFF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3FF2D-BC9C-854E-AB46-EC4CFC62A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EA555-3F6B-B247-AAE0-67D08D2D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4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1831-0DA2-7640-983F-5B9041142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40569-2661-C04E-9F5A-61526440B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04835-BE21-7C44-A66B-6BB7C359D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577D0-E880-4844-9A14-CED5AAC14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4F8C-1E85-F04C-87AD-07DC08586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3F7A6-99C2-7E4A-A435-55F143A5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21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CD33-4721-BD47-9D48-724A5BCDB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7B86A-A0E3-9D46-8B75-4A55FAA9D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28319-BD15-BF4A-A072-EA39498FB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D9E40-50E6-2144-B8A2-842308AAA5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47162-CB09-EF4B-AA5E-9DF80224E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13C9D-981B-7E4E-B32E-70656B85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E5A54-952B-DF4D-9BFD-6C44DA8F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9FA040-F2D8-0D48-8889-D2F16662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5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6841C-0452-1C44-977E-77B9BA0B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AA7FC0-0A24-FC49-AB76-F72A6F7D5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51B1E-7A4D-5741-90A2-523F9A6F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DE823-659D-634F-AD91-2051E5173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95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A7BFAB-3D1D-1043-9491-4859A3CA6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0050B-A398-7D42-8066-B50D8B20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ED6D7-41B1-EF47-84E1-D621845D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1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A1BBF-8D1B-1845-B4A4-65E176FF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01CCC-E5F9-1142-AE63-6CD979855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E02D7-4339-3843-A5EF-98E417D95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40F40-4C60-3140-BB71-6A0358AE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92867-27C0-3A43-83E9-5AAA5A0EE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94BC0-791F-374B-A076-49C8AC5C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91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9F58-60E1-0845-8624-7188538B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D9E44-DBF8-8F4F-8AEA-B15124837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97B06-3258-1146-80D5-3522BF94A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BEF79-2FA9-064B-B391-E5D81A64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98E28-DA29-C148-96AC-B2E7752D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4166A-5852-D946-B4EF-5C45823A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09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43B7-9CB7-D142-99F9-65DB0620C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EBB77-2375-FB47-BB32-50E789590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078CB-1B1F-334E-8456-FAC20A2F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F0BB8-507F-1245-85B7-5BB01BE8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BC34C-657D-254F-9DD4-3C053B5D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55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1F4E1A-FF8B-B14E-92B1-54483D6A0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20F60-9A57-FF4A-A5CD-2BBBB99C1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F0679-1CB9-B040-BAED-DD16B00D4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AE7A8-0E21-6840-9D98-537110B4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42A09-3AF6-A84F-A3C1-7CACC313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914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0CC37-6464-8F41-AD90-9030661B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72852-3F0A-BE48-8EC0-4C1E8187A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89472-798E-E346-AC3E-42B98B274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901EB-ED3F-1C42-BE00-5E803E1E7BAF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0ED42-28CF-9F46-9365-15598F42B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5BA99-6FB1-C244-8A23-949A8F6E0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7EE54-A5FB-F144-B77A-951191A3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32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10.xml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4.png"/><Relationship Id="rId10" Type="http://schemas.openxmlformats.org/officeDocument/2006/relationships/slide" Target="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slide" Target="slide2.xml"/><Relationship Id="rId12" Type="http://schemas.openxmlformats.org/officeDocument/2006/relationships/slide" Target="slide3.xml"/><Relationship Id="rId13" Type="http://schemas.openxmlformats.org/officeDocument/2006/relationships/slide" Target="slide4.xml"/><Relationship Id="rId14" Type="http://schemas.openxmlformats.org/officeDocument/2006/relationships/slide" Target="slide10.xml"/><Relationship Id="rId1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10.xml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slide" Target="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image" Target="../media/image14.png"/><Relationship Id="rId6" Type="http://schemas.openxmlformats.org/officeDocument/2006/relationships/image" Target="../media/image15.svg"/><Relationship Id="rId7" Type="http://schemas.openxmlformats.org/officeDocument/2006/relationships/slide" Target="slide6.xml"/><Relationship Id="rId8" Type="http://schemas.openxmlformats.org/officeDocument/2006/relationships/slide" Target="slide4.xml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slide" Target="slide2.xml"/><Relationship Id="rId12" Type="http://schemas.openxmlformats.org/officeDocument/2006/relationships/slide" Target="slide3.xml"/><Relationship Id="rId13" Type="http://schemas.openxmlformats.org/officeDocument/2006/relationships/slide" Target="slide10.xml"/><Relationship Id="rId14" Type="http://schemas.openxmlformats.org/officeDocument/2006/relationships/slide" Target="slide5.xml"/><Relationship Id="rId15" Type="http://schemas.openxmlformats.org/officeDocument/2006/relationships/slide" Target="slide7.xml"/><Relationship Id="rId1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microsoft.com/office/2018/10/relationships/comments" Target="../comments/modernComment_15A_F840380E.xml"/><Relationship Id="rId4" Type="http://schemas.openxmlformats.org/officeDocument/2006/relationships/slide" Target="slide6.xml"/><Relationship Id="rId5" Type="http://schemas.openxmlformats.org/officeDocument/2006/relationships/slide" Target="slide4.xml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10.xml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slide" Target="slide5.xml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svg"/><Relationship Id="rId15" Type="http://schemas.openxmlformats.org/officeDocument/2006/relationships/image" Target="../media/image19.png"/><Relationship Id="rId16" Type="http://schemas.openxmlformats.org/officeDocument/2006/relationships/image" Target="../media/image20.svg"/><Relationship Id="rId17" Type="http://schemas.openxmlformats.org/officeDocument/2006/relationships/image" Target="../media/image12.png"/><Relationship Id="rId18" Type="http://schemas.openxmlformats.org/officeDocument/2006/relationships/image" Target="../media/image13.svg"/><Relationship Id="rId19" Type="http://schemas.openxmlformats.org/officeDocument/2006/relationships/image" Target="../media/image14.png"/><Relationship Id="rId20" Type="http://schemas.openxmlformats.org/officeDocument/2006/relationships/image" Target="../media/image15.svg"/><Relationship Id="rId21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4.xml"/><Relationship Id="rId4" Type="http://schemas.openxmlformats.org/officeDocument/2006/relationships/slide" Target="slide10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slide" Target="slide5.xml"/><Relationship Id="rId8" Type="http://schemas.openxmlformats.org/officeDocument/2006/relationships/slide" Target="slide2.xml"/><Relationship Id="rId9" Type="http://schemas.openxmlformats.org/officeDocument/2006/relationships/slide" Target="slide3.xml"/><Relationship Id="rId10" Type="http://schemas.openxmlformats.org/officeDocument/2006/relationships/image" Target="../media/image21.png"/><Relationship Id="rId11" Type="http://schemas.openxmlformats.org/officeDocument/2006/relationships/image" Target="../media/image22.svg"/><Relationship Id="rId12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15C_61CEC642.xml"/><Relationship Id="rId3" Type="http://schemas.openxmlformats.org/officeDocument/2006/relationships/image" Target="../media/image23.png"/><Relationship Id="rId4" Type="http://schemas.openxmlformats.org/officeDocument/2006/relationships/slide" Target="slide8.xml"/><Relationship Id="rId5" Type="http://schemas.openxmlformats.org/officeDocument/2006/relationships/image" Target="../media/image24.png"/><Relationship Id="rId6" Type="http://schemas.openxmlformats.org/officeDocument/2006/relationships/image" Target="../media/image3.svg"/><Relationship Id="rId7" Type="http://schemas.openxmlformats.org/officeDocument/2006/relationships/slide" Target="slide9.xml"/><Relationship Id="rId8" Type="http://schemas.openxmlformats.org/officeDocument/2006/relationships/slide" Target="slide2.xml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image" Target="../media/image2.png"/><Relationship Id="rId12" Type="http://schemas.openxmlformats.org/officeDocument/2006/relationships/slide" Target="slide6.xml"/><Relationship Id="rId13" Type="http://schemas.openxmlformats.org/officeDocument/2006/relationships/slide" Target="slide10.xml"/><Relationship Id="rId14" Type="http://schemas.openxmlformats.org/officeDocument/2006/relationships/slide" Target="slide5.xml"/><Relationship Id="rId15" Type="http://schemas.openxmlformats.org/officeDocument/2006/relationships/slide" Target="slide7.xml"/><Relationship Id="rId16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microsoft.com/office/2007/relationships/hdphoto" Target="../media/hdphoto1.wdp"/><Relationship Id="rId4" Type="http://schemas.openxmlformats.org/officeDocument/2006/relationships/image" Target="../media/image24.png"/><Relationship Id="rId5" Type="http://schemas.openxmlformats.org/officeDocument/2006/relationships/image" Target="../media/image3.sv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4.xml"/><Relationship Id="rId9" Type="http://schemas.openxmlformats.org/officeDocument/2006/relationships/image" Target="../media/image2.png"/><Relationship Id="rId10" Type="http://schemas.openxmlformats.org/officeDocument/2006/relationships/slide" Target="slide6.xml"/><Relationship Id="rId11" Type="http://schemas.openxmlformats.org/officeDocument/2006/relationships/slide" Target="slide10.xml"/><Relationship Id="rId12" Type="http://schemas.openxmlformats.org/officeDocument/2006/relationships/slide" Target="slide5.xml"/><Relationship Id="rId13" Type="http://schemas.openxmlformats.org/officeDocument/2006/relationships/slide" Target="slide7.xml"/><Relationship Id="rId14" Type="http://schemas.openxmlformats.org/officeDocument/2006/relationships/slide" Target="slide9.xml"/><Relationship Id="rId1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microsoft.com/office/2007/relationships/hdphoto" Target="../media/hdphoto1.wdp"/><Relationship Id="rId4" Type="http://schemas.openxmlformats.org/officeDocument/2006/relationships/slide" Target="slide8.xml"/><Relationship Id="rId5" Type="http://schemas.openxmlformats.org/officeDocument/2006/relationships/image" Target="../media/image24.png"/><Relationship Id="rId6" Type="http://schemas.openxmlformats.org/officeDocument/2006/relationships/image" Target="../media/image3.svg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image" Target="../media/image2.png"/><Relationship Id="rId11" Type="http://schemas.openxmlformats.org/officeDocument/2006/relationships/slide" Target="slide6.xml"/><Relationship Id="rId12" Type="http://schemas.openxmlformats.org/officeDocument/2006/relationships/slide" Target="slide10.xml"/><Relationship Id="rId13" Type="http://schemas.openxmlformats.org/officeDocument/2006/relationships/slide" Target="slide5.xml"/><Relationship Id="rId14" Type="http://schemas.openxmlformats.org/officeDocument/2006/relationships/slide" Target="slide7.xml"/><Relationship Id="rId1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10.xml"/><Relationship Id="rId9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microsoft.com/office/2018/10/relationships/comments" Target="../comments/modernComment_155_842AECD7.xml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14.png"/><Relationship Id="rId7" Type="http://schemas.openxmlformats.org/officeDocument/2006/relationships/image" Target="../media/image1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2D86CBF-8656-FD4D-859B-2B3C014512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79" b="17850"/>
          <a:stretch/>
        </p:blipFill>
        <p:spPr>
          <a:xfrm>
            <a:off x="2571652" y="964828"/>
            <a:ext cx="8094348" cy="5258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2692CF-9BA8-4F4A-8D63-9AFF2045C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0318" y="506296"/>
            <a:ext cx="8674745" cy="1765095"/>
          </a:xfrm>
        </p:spPr>
        <p:txBody>
          <a:bodyPr/>
          <a:lstStyle/>
          <a:p>
            <a:r>
              <a:rPr lang="en-US" dirty="0"/>
              <a:t>Abnormal Uterine Bleeding</a:t>
            </a:r>
          </a:p>
        </p:txBody>
      </p:sp>
      <p:sp>
        <p:nvSpPr>
          <p:cNvPr id="4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C6B26575-CADD-934B-86A9-E80D06ABEFAF}"/>
              </a:ext>
            </a:extLst>
          </p:cNvPr>
          <p:cNvSpPr txBox="1"/>
          <p:nvPr/>
        </p:nvSpPr>
        <p:spPr>
          <a:xfrm>
            <a:off x="217113" y="18922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is AUB?</a:t>
            </a:r>
          </a:p>
        </p:txBody>
      </p:sp>
      <p:sp>
        <p:nvSpPr>
          <p:cNvPr id="5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FB5BC6E3-F571-F741-AF51-C2B3F61063D7}"/>
              </a:ext>
            </a:extLst>
          </p:cNvPr>
          <p:cNvSpPr txBox="1"/>
          <p:nvPr/>
        </p:nvSpPr>
        <p:spPr>
          <a:xfrm>
            <a:off x="217113" y="760517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Causes</a:t>
            </a:r>
          </a:p>
        </p:txBody>
      </p:sp>
      <p:sp>
        <p:nvSpPr>
          <p:cNvPr id="6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1A5243D5-F10C-6F4E-9AD0-D2F27216EB11}"/>
              </a:ext>
            </a:extLst>
          </p:cNvPr>
          <p:cNvSpPr txBox="1"/>
          <p:nvPr/>
        </p:nvSpPr>
        <p:spPr>
          <a:xfrm>
            <a:off x="217113" y="133181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Work-up</a:t>
            </a:r>
          </a:p>
        </p:txBody>
      </p:sp>
      <p:sp>
        <p:nvSpPr>
          <p:cNvPr id="8" name="Cases">
            <a:hlinkClick r:id="rId6" action="ppaction://hlinksldjump"/>
            <a:extLst>
              <a:ext uri="{FF2B5EF4-FFF2-40B4-BE49-F238E27FC236}">
                <a16:creationId xmlns:a16="http://schemas.microsoft.com/office/drawing/2014/main" id="{AD2899FA-7F6B-9642-9BC7-C7F97EE0DBB1}"/>
              </a:ext>
            </a:extLst>
          </p:cNvPr>
          <p:cNvSpPr txBox="1"/>
          <p:nvPr/>
        </p:nvSpPr>
        <p:spPr>
          <a:xfrm>
            <a:off x="217113" y="1946646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5AF74230-3F7D-7745-87E7-628C357DDB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9897" y="448553"/>
            <a:ext cx="301752" cy="301752"/>
          </a:xfrm>
          <a:prstGeom prst="rect">
            <a:avLst/>
          </a:prstGeom>
        </p:spPr>
      </p:pic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A2B850A1-3372-184D-907A-53C39709E3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9897" y="1019531"/>
            <a:ext cx="301752" cy="301752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2126C635-539D-F945-A354-1DC8BC3A2C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9897" y="1590509"/>
            <a:ext cx="301752" cy="301752"/>
          </a:xfrm>
          <a:prstGeom prst="rect">
            <a:avLst/>
          </a:prstGeom>
        </p:spPr>
      </p:pic>
      <p:pic>
        <p:nvPicPr>
          <p:cNvPr id="16" name="Graphic 15" descr="Cursor with solid fill">
            <a:extLst>
              <a:ext uri="{FF2B5EF4-FFF2-40B4-BE49-F238E27FC236}">
                <a16:creationId xmlns:a16="http://schemas.microsoft.com/office/drawing/2014/main" id="{4A34F672-DC13-3D4E-8596-B61D4BDEA0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9897" y="2204393"/>
            <a:ext cx="301752" cy="301752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5D3F9E7F-6722-7547-B4A7-D7D69B618A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127" y="6345344"/>
            <a:ext cx="1393873" cy="530352"/>
          </a:xfrm>
          <a:prstGeom prst="rect">
            <a:avLst/>
          </a:prstGeom>
        </p:spPr>
      </p:pic>
      <p:sp>
        <p:nvSpPr>
          <p:cNvPr id="23" name="Cases">
            <a:hlinkClick r:id="rId10" action="ppaction://hlinksldjump"/>
            <a:extLst>
              <a:ext uri="{FF2B5EF4-FFF2-40B4-BE49-F238E27FC236}">
                <a16:creationId xmlns:a16="http://schemas.microsoft.com/office/drawing/2014/main" id="{31679EE0-2568-43EC-A122-F1C16D54EF1F}"/>
              </a:ext>
            </a:extLst>
          </p:cNvPr>
          <p:cNvSpPr txBox="1"/>
          <p:nvPr/>
        </p:nvSpPr>
        <p:spPr>
          <a:xfrm>
            <a:off x="217113" y="6260155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BONUS: HPO axis</a:t>
            </a:r>
          </a:p>
        </p:txBody>
      </p:sp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C4D89308-C895-4EE2-B6E0-77F6D93EAF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5037" y="653186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09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8DAC57F-2DC3-5741-B3DC-C86CAAE8B983}"/>
              </a:ext>
            </a:extLst>
          </p:cNvPr>
          <p:cNvSpPr/>
          <p:nvPr/>
        </p:nvSpPr>
        <p:spPr>
          <a:xfrm>
            <a:off x="3336817" y="1041590"/>
            <a:ext cx="1729495" cy="42725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Duration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301935-D861-AF48-8097-3F515B5C70AF}"/>
              </a:ext>
            </a:extLst>
          </p:cNvPr>
          <p:cNvSpPr txBox="1"/>
          <p:nvPr/>
        </p:nvSpPr>
        <p:spPr>
          <a:xfrm>
            <a:off x="3871702" y="170509"/>
            <a:ext cx="65732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What is abnormal uterine bleeding (AUB)? 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833052A-BD0A-CA4A-8E0B-95E60C1E4B6B}"/>
              </a:ext>
            </a:extLst>
          </p:cNvPr>
          <p:cNvSpPr/>
          <p:nvPr/>
        </p:nvSpPr>
        <p:spPr>
          <a:xfrm>
            <a:off x="3331309" y="3621684"/>
            <a:ext cx="1729495" cy="42725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Frequency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D314A09-C004-6D4E-A329-D65F2E32CA5C}"/>
              </a:ext>
            </a:extLst>
          </p:cNvPr>
          <p:cNvSpPr/>
          <p:nvPr/>
        </p:nvSpPr>
        <p:spPr>
          <a:xfrm>
            <a:off x="8351313" y="1030624"/>
            <a:ext cx="1729495" cy="42725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Regularity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C1F517A-ACE8-2D4A-BACB-D1810BE5614D}"/>
              </a:ext>
            </a:extLst>
          </p:cNvPr>
          <p:cNvSpPr/>
          <p:nvPr/>
        </p:nvSpPr>
        <p:spPr>
          <a:xfrm>
            <a:off x="8351313" y="3627951"/>
            <a:ext cx="1729495" cy="42725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Volume</a:t>
            </a:r>
          </a:p>
        </p:txBody>
      </p:sp>
      <p:pic>
        <p:nvPicPr>
          <p:cNvPr id="26" name="Graphic 25" descr="Water with solid fill">
            <a:extLst>
              <a:ext uri="{FF2B5EF4-FFF2-40B4-BE49-F238E27FC236}">
                <a16:creationId xmlns:a16="http://schemas.microsoft.com/office/drawing/2014/main" id="{79C780A8-5081-8041-81BD-C7997B172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4568" y="4511604"/>
            <a:ext cx="1400155" cy="1400155"/>
          </a:xfrm>
          <a:prstGeom prst="rect">
            <a:avLst/>
          </a:prstGeom>
        </p:spPr>
      </p:pic>
      <p:pic>
        <p:nvPicPr>
          <p:cNvPr id="1026" name="Picture 2" descr="Cycle Icon #412715 - Free Icons Library">
            <a:extLst>
              <a:ext uri="{FF2B5EF4-FFF2-40B4-BE49-F238E27FC236}">
                <a16:creationId xmlns:a16="http://schemas.microsoft.com/office/drawing/2014/main" id="{E0CC4C8A-B13A-744F-9364-F2CDC1FF2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765" y="4180103"/>
            <a:ext cx="1200582" cy="1200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Graphic 31" descr="Stopwatch with solid fill">
            <a:extLst>
              <a:ext uri="{FF2B5EF4-FFF2-40B4-BE49-F238E27FC236}">
                <a16:creationId xmlns:a16="http://schemas.microsoft.com/office/drawing/2014/main" id="{B742EC89-3A54-F540-BBEE-3718CA0FE9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433901" y="1500469"/>
            <a:ext cx="1535325" cy="153532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9A6957A-B298-D843-9CEC-0617DCAEFE1D}"/>
              </a:ext>
            </a:extLst>
          </p:cNvPr>
          <p:cNvSpPr txBox="1"/>
          <p:nvPr/>
        </p:nvSpPr>
        <p:spPr>
          <a:xfrm>
            <a:off x="3081435" y="2916930"/>
            <a:ext cx="2336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Menses lasting &gt;8 days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D065FB-4E61-1046-BD00-643911DCCB36}"/>
              </a:ext>
            </a:extLst>
          </p:cNvPr>
          <p:cNvSpPr txBox="1"/>
          <p:nvPr/>
        </p:nvSpPr>
        <p:spPr>
          <a:xfrm>
            <a:off x="5200235" y="5402719"/>
            <a:ext cx="1755015" cy="923330"/>
          </a:xfrm>
          <a:prstGeom prst="rect">
            <a:avLst/>
          </a:prstGeom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u="sng" dirty="0"/>
              <a:t>Frequent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(</a:t>
            </a:r>
            <a:r>
              <a:rPr lang="en-US" b="1" dirty="0"/>
              <a:t>poly-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Cycle &lt;q 21 days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FAE6F1-3FDC-9240-AE6C-2BC2EB199D27}"/>
              </a:ext>
            </a:extLst>
          </p:cNvPr>
          <p:cNvSpPr txBox="1"/>
          <p:nvPr/>
        </p:nvSpPr>
        <p:spPr>
          <a:xfrm>
            <a:off x="8285929" y="4257401"/>
            <a:ext cx="357090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Subjective</a:t>
            </a:r>
            <a:r>
              <a:rPr lang="en-US" sz="1600" dirty="0"/>
              <a:t>: </a:t>
            </a:r>
            <a:r>
              <a:rPr lang="en-US" dirty="0"/>
              <a:t>Interferes with patient’s life, job, well-being, etc. </a:t>
            </a:r>
          </a:p>
          <a:p>
            <a:endParaRPr lang="en-US" sz="1600" dirty="0"/>
          </a:p>
          <a:p>
            <a:pPr algn="just"/>
            <a:r>
              <a:rPr lang="en-US" u="sng" dirty="0"/>
              <a:t>Objective</a:t>
            </a:r>
            <a:r>
              <a:rPr lang="en-US" dirty="0"/>
              <a:t>: </a:t>
            </a:r>
          </a:p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dirty="0"/>
              <a:t>Changing pad/tampon q2h</a:t>
            </a:r>
          </a:p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dirty="0"/>
              <a:t>Changing pad/tampon overnight</a:t>
            </a:r>
          </a:p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dirty="0"/>
              <a:t>Symptomatic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90AA90-A2E3-4E49-8985-6AFF2DD1C55B}"/>
              </a:ext>
            </a:extLst>
          </p:cNvPr>
          <p:cNvSpPr txBox="1"/>
          <p:nvPr/>
        </p:nvSpPr>
        <p:spPr>
          <a:xfrm>
            <a:off x="7892529" y="1640628"/>
            <a:ext cx="3767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variation in cycle length.</a:t>
            </a:r>
          </a:p>
          <a:p>
            <a:r>
              <a:rPr lang="en-US" dirty="0"/>
              <a:t>Generally, cycle length should vary by: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dirty="0"/>
              <a:t>≤9 d if age &lt;25 or &gt; 45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dirty="0"/>
              <a:t>≤7 d if age 26 - 41 </a:t>
            </a:r>
          </a:p>
        </p:txBody>
      </p:sp>
      <p:sp>
        <p:nvSpPr>
          <p:cNvPr id="84" name="Duration">
            <a:extLst>
              <a:ext uri="{FF2B5EF4-FFF2-40B4-BE49-F238E27FC236}">
                <a16:creationId xmlns:a16="http://schemas.microsoft.com/office/drawing/2014/main" id="{6068FE8A-3E76-4F97-BC1B-9D30196A25FB}"/>
              </a:ext>
            </a:extLst>
          </p:cNvPr>
          <p:cNvSpPr/>
          <p:nvPr/>
        </p:nvSpPr>
        <p:spPr>
          <a:xfrm>
            <a:off x="3343908" y="1029857"/>
            <a:ext cx="1729495" cy="42725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Duration</a:t>
            </a:r>
          </a:p>
        </p:txBody>
      </p:sp>
      <p:sp>
        <p:nvSpPr>
          <p:cNvPr id="85" name="Frequency">
            <a:extLst>
              <a:ext uri="{FF2B5EF4-FFF2-40B4-BE49-F238E27FC236}">
                <a16:creationId xmlns:a16="http://schemas.microsoft.com/office/drawing/2014/main" id="{2AD0A2FC-631C-4146-9466-AF3E84622805}"/>
              </a:ext>
            </a:extLst>
          </p:cNvPr>
          <p:cNvSpPr/>
          <p:nvPr/>
        </p:nvSpPr>
        <p:spPr>
          <a:xfrm>
            <a:off x="3343908" y="3618514"/>
            <a:ext cx="1729495" cy="42725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Frequency</a:t>
            </a:r>
          </a:p>
        </p:txBody>
      </p:sp>
      <p:sp>
        <p:nvSpPr>
          <p:cNvPr id="86" name="Regularity">
            <a:extLst>
              <a:ext uri="{FF2B5EF4-FFF2-40B4-BE49-F238E27FC236}">
                <a16:creationId xmlns:a16="http://schemas.microsoft.com/office/drawing/2014/main" id="{C188889D-767C-4F9A-A36B-DE06E4618690}"/>
              </a:ext>
            </a:extLst>
          </p:cNvPr>
          <p:cNvSpPr/>
          <p:nvPr/>
        </p:nvSpPr>
        <p:spPr>
          <a:xfrm>
            <a:off x="8351313" y="1030624"/>
            <a:ext cx="1729495" cy="42725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Regularity</a:t>
            </a:r>
          </a:p>
        </p:txBody>
      </p:sp>
      <p:sp>
        <p:nvSpPr>
          <p:cNvPr id="87" name="Volume">
            <a:extLst>
              <a:ext uri="{FF2B5EF4-FFF2-40B4-BE49-F238E27FC236}">
                <a16:creationId xmlns:a16="http://schemas.microsoft.com/office/drawing/2014/main" id="{BF602295-C2C2-486F-AEE9-0519231657DF}"/>
              </a:ext>
            </a:extLst>
          </p:cNvPr>
          <p:cNvSpPr/>
          <p:nvPr/>
        </p:nvSpPr>
        <p:spPr>
          <a:xfrm>
            <a:off x="8351313" y="3627951"/>
            <a:ext cx="1729495" cy="42725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Volume</a:t>
            </a:r>
          </a:p>
        </p:txBody>
      </p:sp>
      <p:pic>
        <p:nvPicPr>
          <p:cNvPr id="36" name="Graphic 35" descr="Cursor with solid fill">
            <a:extLst>
              <a:ext uri="{FF2B5EF4-FFF2-40B4-BE49-F238E27FC236}">
                <a16:creationId xmlns:a16="http://schemas.microsoft.com/office/drawing/2014/main" id="{2343A0BF-E821-D544-98CF-79FD065112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4845" y="1315911"/>
            <a:ext cx="301752" cy="301752"/>
          </a:xfrm>
          <a:prstGeom prst="rect">
            <a:avLst/>
          </a:prstGeom>
        </p:spPr>
      </p:pic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0022A129-717D-0443-8A6E-87870DC24D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26405" y="1297644"/>
            <a:ext cx="301752" cy="301752"/>
          </a:xfrm>
          <a:prstGeom prst="rect">
            <a:avLst/>
          </a:prstGeom>
        </p:spPr>
      </p:pic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1D641042-C0B8-994B-B75E-9C5FA89BED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47953" y="3900190"/>
            <a:ext cx="301752" cy="301752"/>
          </a:xfrm>
          <a:prstGeom prst="rect">
            <a:avLst/>
          </a:prstGeom>
        </p:spPr>
      </p:pic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933D1A80-E0A2-1640-ADF6-9AA248D893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4035" y="3910634"/>
            <a:ext cx="301752" cy="301752"/>
          </a:xfrm>
          <a:prstGeom prst="rect">
            <a:avLst/>
          </a:prstGeom>
        </p:spPr>
      </p:pic>
      <p:pic>
        <p:nvPicPr>
          <p:cNvPr id="30" name="Graphic 29" descr="Daily calendar with solid fill">
            <a:extLst>
              <a:ext uri="{FF2B5EF4-FFF2-40B4-BE49-F238E27FC236}">
                <a16:creationId xmlns:a16="http://schemas.microsoft.com/office/drawing/2014/main" id="{00C3154C-1242-CC49-A8C2-242D69C4ED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98811" y="1464813"/>
            <a:ext cx="1535315" cy="1535315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62C5C4BD-DD2F-4070-A6C4-6C3856EC2841}"/>
              </a:ext>
            </a:extLst>
          </p:cNvPr>
          <p:cNvSpPr txBox="1"/>
          <p:nvPr/>
        </p:nvSpPr>
        <p:spPr>
          <a:xfrm>
            <a:off x="3334761" y="5402719"/>
            <a:ext cx="1731491" cy="923330"/>
          </a:xfrm>
          <a:prstGeom prst="rect">
            <a:avLst/>
          </a:prstGeom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u="sng" dirty="0"/>
              <a:t>Infrequent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(</a:t>
            </a:r>
            <a:r>
              <a:rPr lang="en-US" b="1" dirty="0"/>
              <a:t>oligo-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Cycle &gt;q 35 days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DBD7CA0-0FDF-4DB1-A471-77C06FA3ABE8}"/>
              </a:ext>
            </a:extLst>
          </p:cNvPr>
          <p:cNvSpPr txBox="1"/>
          <p:nvPr/>
        </p:nvSpPr>
        <p:spPr>
          <a:xfrm>
            <a:off x="1192800" y="5402719"/>
            <a:ext cx="2007978" cy="923330"/>
          </a:xfrm>
          <a:prstGeom prst="rect">
            <a:avLst/>
          </a:prstGeom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u="sng" dirty="0"/>
              <a:t>Absent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b="1" dirty="0"/>
              <a:t>amenorrhea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No menses x 3 </a:t>
            </a:r>
            <a:r>
              <a:rPr lang="en-US" dirty="0" err="1"/>
              <a:t>mos</a:t>
            </a:r>
            <a:endParaRPr lang="en-US" dirty="0"/>
          </a:p>
        </p:txBody>
      </p:sp>
      <p:sp>
        <p:nvSpPr>
          <p:cNvPr id="96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5939D7AE-18CA-4061-8FD3-B6172694FA43}"/>
              </a:ext>
            </a:extLst>
          </p:cNvPr>
          <p:cNvSpPr txBox="1"/>
          <p:nvPr/>
        </p:nvSpPr>
        <p:spPr>
          <a:xfrm>
            <a:off x="217113" y="189222"/>
            <a:ext cx="18288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AUB?</a:t>
            </a:r>
          </a:p>
        </p:txBody>
      </p:sp>
      <p:sp>
        <p:nvSpPr>
          <p:cNvPr id="97" name="Question 2">
            <a:hlinkClick r:id="rId12" action="ppaction://hlinksldjump"/>
            <a:extLst>
              <a:ext uri="{FF2B5EF4-FFF2-40B4-BE49-F238E27FC236}">
                <a16:creationId xmlns:a16="http://schemas.microsoft.com/office/drawing/2014/main" id="{C622051B-86C4-4B89-B307-74DF0CFC67BC}"/>
              </a:ext>
            </a:extLst>
          </p:cNvPr>
          <p:cNvSpPr txBox="1"/>
          <p:nvPr/>
        </p:nvSpPr>
        <p:spPr>
          <a:xfrm>
            <a:off x="217113" y="760517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Causes</a:t>
            </a:r>
          </a:p>
        </p:txBody>
      </p:sp>
      <p:sp>
        <p:nvSpPr>
          <p:cNvPr id="98" name="question 4">
            <a:hlinkClick r:id="rId13" action="ppaction://hlinksldjump"/>
            <a:extLst>
              <a:ext uri="{FF2B5EF4-FFF2-40B4-BE49-F238E27FC236}">
                <a16:creationId xmlns:a16="http://schemas.microsoft.com/office/drawing/2014/main" id="{D9C8C06D-C26F-412A-B881-3D1B35190C35}"/>
              </a:ext>
            </a:extLst>
          </p:cNvPr>
          <p:cNvSpPr txBox="1"/>
          <p:nvPr/>
        </p:nvSpPr>
        <p:spPr>
          <a:xfrm>
            <a:off x="217113" y="133181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Work-up</a:t>
            </a:r>
          </a:p>
        </p:txBody>
      </p:sp>
      <p:sp>
        <p:nvSpPr>
          <p:cNvPr id="99" name="Cases">
            <a:hlinkClick r:id="rId14" action="ppaction://hlinksldjump"/>
            <a:extLst>
              <a:ext uri="{FF2B5EF4-FFF2-40B4-BE49-F238E27FC236}">
                <a16:creationId xmlns:a16="http://schemas.microsoft.com/office/drawing/2014/main" id="{3B21584C-ADE4-462C-B63E-1878089A3EB3}"/>
              </a:ext>
            </a:extLst>
          </p:cNvPr>
          <p:cNvSpPr txBox="1"/>
          <p:nvPr/>
        </p:nvSpPr>
        <p:spPr>
          <a:xfrm>
            <a:off x="217113" y="1946646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01" name="Graphic 100" descr="Cursor with solid fill">
            <a:extLst>
              <a:ext uri="{FF2B5EF4-FFF2-40B4-BE49-F238E27FC236}">
                <a16:creationId xmlns:a16="http://schemas.microsoft.com/office/drawing/2014/main" id="{6E36C82A-EE5C-4CAF-B247-A11F482B86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9897" y="1019531"/>
            <a:ext cx="301752" cy="301752"/>
          </a:xfrm>
          <a:prstGeom prst="rect">
            <a:avLst/>
          </a:prstGeom>
        </p:spPr>
      </p:pic>
      <p:pic>
        <p:nvPicPr>
          <p:cNvPr id="102" name="Graphic 101" descr="Cursor with solid fill">
            <a:extLst>
              <a:ext uri="{FF2B5EF4-FFF2-40B4-BE49-F238E27FC236}">
                <a16:creationId xmlns:a16="http://schemas.microsoft.com/office/drawing/2014/main" id="{B24FE125-2288-40D8-B847-0BF0451137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9897" y="1590509"/>
            <a:ext cx="301752" cy="301752"/>
          </a:xfrm>
          <a:prstGeom prst="rect">
            <a:avLst/>
          </a:prstGeom>
        </p:spPr>
      </p:pic>
      <p:pic>
        <p:nvPicPr>
          <p:cNvPr id="103" name="Graphic 102" descr="Cursor with solid fill">
            <a:extLst>
              <a:ext uri="{FF2B5EF4-FFF2-40B4-BE49-F238E27FC236}">
                <a16:creationId xmlns:a16="http://schemas.microsoft.com/office/drawing/2014/main" id="{1B69F6E3-413C-4CE0-BD2A-98B45F33FD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9897" y="2204393"/>
            <a:ext cx="301752" cy="301752"/>
          </a:xfrm>
          <a:prstGeom prst="rect">
            <a:avLst/>
          </a:prstGeom>
        </p:spPr>
      </p:pic>
      <p:pic>
        <p:nvPicPr>
          <p:cNvPr id="104" name="Picture 103" descr="Icon&#10;&#10;Description automatically generated">
            <a:extLst>
              <a:ext uri="{FF2B5EF4-FFF2-40B4-BE49-F238E27FC236}">
                <a16:creationId xmlns:a16="http://schemas.microsoft.com/office/drawing/2014/main" id="{EE4C54EB-5575-4024-AAC2-3BA097C71A8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127" y="6345344"/>
            <a:ext cx="1393873" cy="53035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EAB8A0-7B86-4037-98DB-B1CBD27AC981}"/>
              </a:ext>
            </a:extLst>
          </p:cNvPr>
          <p:cNvCxnSpPr>
            <a:cxnSpLocks/>
          </p:cNvCxnSpPr>
          <p:nvPr/>
        </p:nvCxnSpPr>
        <p:spPr>
          <a:xfrm>
            <a:off x="3284655" y="5472101"/>
            <a:ext cx="0" cy="78456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7CC3B93-D26B-4FD2-A027-8AF90F15B9CF}"/>
              </a:ext>
            </a:extLst>
          </p:cNvPr>
          <p:cNvCxnSpPr>
            <a:cxnSpLocks/>
          </p:cNvCxnSpPr>
          <p:nvPr/>
        </p:nvCxnSpPr>
        <p:spPr>
          <a:xfrm>
            <a:off x="5128979" y="5472101"/>
            <a:ext cx="0" cy="78456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21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</p:childTnLst>
        </p:cTn>
      </p:par>
    </p:tnLst>
    <p:bldLst>
      <p:bldP spid="45" grpId="0"/>
      <p:bldP spid="46" grpId="0" animBg="1"/>
      <p:bldP spid="48" grpId="0"/>
      <p:bldP spid="50" grpId="0"/>
      <p:bldP spid="84" grpId="0" animBg="1"/>
      <p:bldP spid="85" grpId="0" animBg="1"/>
      <p:bldP spid="86" grpId="0" animBg="1"/>
      <p:bldP spid="87" grpId="0" animBg="1"/>
      <p:bldP spid="90" grpId="0" animBg="1"/>
      <p:bldP spid="9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ALM">
            <a:extLst>
              <a:ext uri="{FF2B5EF4-FFF2-40B4-BE49-F238E27FC236}">
                <a16:creationId xmlns:a16="http://schemas.microsoft.com/office/drawing/2014/main" id="{D4D0EB5E-2B26-4AAE-8E6F-7AE35F88CE45}"/>
              </a:ext>
            </a:extLst>
          </p:cNvPr>
          <p:cNvSpPr/>
          <p:nvPr/>
        </p:nvSpPr>
        <p:spPr>
          <a:xfrm>
            <a:off x="3844188" y="3421721"/>
            <a:ext cx="2377440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PALM (structural) </a:t>
            </a:r>
          </a:p>
        </p:txBody>
      </p:sp>
      <p:sp>
        <p:nvSpPr>
          <p:cNvPr id="76" name="COEIN">
            <a:extLst>
              <a:ext uri="{FF2B5EF4-FFF2-40B4-BE49-F238E27FC236}">
                <a16:creationId xmlns:a16="http://schemas.microsoft.com/office/drawing/2014/main" id="{84335477-06A6-463C-9F59-96646927A524}"/>
              </a:ext>
            </a:extLst>
          </p:cNvPr>
          <p:cNvSpPr/>
          <p:nvPr/>
        </p:nvSpPr>
        <p:spPr>
          <a:xfrm>
            <a:off x="7850304" y="3421721"/>
            <a:ext cx="2552195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COEIN (nonstructural)</a:t>
            </a:r>
          </a:p>
        </p:txBody>
      </p:sp>
      <p:sp>
        <p:nvSpPr>
          <p:cNvPr id="64" name="Pregnant">
            <a:extLst>
              <a:ext uri="{FF2B5EF4-FFF2-40B4-BE49-F238E27FC236}">
                <a16:creationId xmlns:a16="http://schemas.microsoft.com/office/drawing/2014/main" id="{456301F7-CE16-42DF-8CCE-16407573F739}"/>
              </a:ext>
            </a:extLst>
          </p:cNvPr>
          <p:cNvSpPr/>
          <p:nvPr/>
        </p:nvSpPr>
        <p:spPr>
          <a:xfrm>
            <a:off x="6211309" y="2105071"/>
            <a:ext cx="1777850" cy="45720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Not pregnant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301935-D861-AF48-8097-3F515B5C70AF}"/>
              </a:ext>
            </a:extLst>
          </p:cNvPr>
          <p:cNvSpPr txBox="1"/>
          <p:nvPr/>
        </p:nvSpPr>
        <p:spPr>
          <a:xfrm>
            <a:off x="3463765" y="809807"/>
            <a:ext cx="7814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first step is to rule out pregnancy.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5DF713-122E-E741-BB6B-9CA44E3C359D}"/>
              </a:ext>
            </a:extLst>
          </p:cNvPr>
          <p:cNvSpPr txBox="1"/>
          <p:nvPr/>
        </p:nvSpPr>
        <p:spPr>
          <a:xfrm>
            <a:off x="6102117" y="1271287"/>
            <a:ext cx="1996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AUB</a:t>
            </a: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FD68051A-736F-F14F-9663-8A2AEADE52B2}"/>
              </a:ext>
            </a:extLst>
          </p:cNvPr>
          <p:cNvCxnSpPr>
            <a:cxnSpLocks/>
            <a:stCxn id="55" idx="2"/>
            <a:endCxn id="2" idx="0"/>
          </p:cNvCxnSpPr>
          <p:nvPr/>
        </p:nvCxnSpPr>
        <p:spPr>
          <a:xfrm rot="5400000">
            <a:off x="5630567" y="1957048"/>
            <a:ext cx="861689" cy="20776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09998A9C-A1A8-F34F-B9B8-8A44C7A11C5C}"/>
              </a:ext>
            </a:extLst>
          </p:cNvPr>
          <p:cNvCxnSpPr>
            <a:cxnSpLocks/>
            <a:stCxn id="55" idx="2"/>
            <a:endCxn id="60" idx="0"/>
          </p:cNvCxnSpPr>
          <p:nvPr/>
        </p:nvCxnSpPr>
        <p:spPr>
          <a:xfrm rot="16200000" flipH="1">
            <a:off x="7685310" y="1979948"/>
            <a:ext cx="861689" cy="20318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908C450-C0FB-684E-AC4A-DEE89DC6D416}"/>
              </a:ext>
            </a:extLst>
          </p:cNvPr>
          <p:cNvSpPr txBox="1"/>
          <p:nvPr/>
        </p:nvSpPr>
        <p:spPr>
          <a:xfrm>
            <a:off x="3598065" y="4019074"/>
            <a:ext cx="1188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b="1" dirty="0"/>
              <a:t>P: </a:t>
            </a:r>
            <a:r>
              <a:rPr lang="en-US" sz="2400" dirty="0"/>
              <a:t>Polyp</a:t>
            </a:r>
            <a:endParaRPr lang="en-US" sz="24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E96AD1-0CC1-7248-9F88-A17422537E3A}"/>
              </a:ext>
            </a:extLst>
          </p:cNvPr>
          <p:cNvSpPr txBox="1"/>
          <p:nvPr/>
        </p:nvSpPr>
        <p:spPr>
          <a:xfrm>
            <a:off x="7519563" y="4019074"/>
            <a:ext cx="2287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b="1" dirty="0"/>
              <a:t>C: </a:t>
            </a:r>
            <a:r>
              <a:rPr lang="en-US" sz="2400" dirty="0"/>
              <a:t>Coagulopathy</a:t>
            </a:r>
            <a:r>
              <a:rPr lang="en-US" sz="2400" b="1" dirty="0"/>
              <a:t> </a:t>
            </a:r>
          </a:p>
        </p:txBody>
      </p:sp>
      <p:sp>
        <p:nvSpPr>
          <p:cNvPr id="2" name="PALM">
            <a:extLst>
              <a:ext uri="{FF2B5EF4-FFF2-40B4-BE49-F238E27FC236}">
                <a16:creationId xmlns:a16="http://schemas.microsoft.com/office/drawing/2014/main" id="{DB3BB035-DEF4-E747-A017-9CCC804D4132}"/>
              </a:ext>
            </a:extLst>
          </p:cNvPr>
          <p:cNvSpPr/>
          <p:nvPr/>
        </p:nvSpPr>
        <p:spPr>
          <a:xfrm>
            <a:off x="3833869" y="3426715"/>
            <a:ext cx="2377440" cy="457200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PALM (structural) </a:t>
            </a:r>
          </a:p>
        </p:txBody>
      </p:sp>
      <p:sp>
        <p:nvSpPr>
          <p:cNvPr id="60" name="COEIN">
            <a:extLst>
              <a:ext uri="{FF2B5EF4-FFF2-40B4-BE49-F238E27FC236}">
                <a16:creationId xmlns:a16="http://schemas.microsoft.com/office/drawing/2014/main" id="{503D439F-62B1-7541-AD83-246E69AE8212}"/>
              </a:ext>
            </a:extLst>
          </p:cNvPr>
          <p:cNvSpPr/>
          <p:nvPr/>
        </p:nvSpPr>
        <p:spPr>
          <a:xfrm>
            <a:off x="7850304" y="3426715"/>
            <a:ext cx="2563543" cy="457200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COEIN (nonstructural)</a:t>
            </a:r>
          </a:p>
        </p:txBody>
      </p:sp>
      <p:pic>
        <p:nvPicPr>
          <p:cNvPr id="27" name="Picture 26" descr="Icon&#10;&#10;Description automatically generated">
            <a:extLst>
              <a:ext uri="{FF2B5EF4-FFF2-40B4-BE49-F238E27FC236}">
                <a16:creationId xmlns:a16="http://schemas.microsoft.com/office/drawing/2014/main" id="{ACD0C5A2-8719-BE46-8121-1E3FD0EE3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127" y="6345344"/>
            <a:ext cx="1393873" cy="530352"/>
          </a:xfrm>
          <a:prstGeom prst="rect">
            <a:avLst/>
          </a:prstGeom>
        </p:spPr>
      </p:pic>
      <p:sp>
        <p:nvSpPr>
          <p:cNvPr id="28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C5ED9C60-0205-4950-A154-98F168A2C150}"/>
              </a:ext>
            </a:extLst>
          </p:cNvPr>
          <p:cNvSpPr txBox="1"/>
          <p:nvPr/>
        </p:nvSpPr>
        <p:spPr>
          <a:xfrm>
            <a:off x="217113" y="18922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is AUB?</a:t>
            </a:r>
          </a:p>
        </p:txBody>
      </p:sp>
      <p:sp>
        <p:nvSpPr>
          <p:cNvPr id="29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25EAEB18-2AA6-49F1-B00E-C36DAE6074CD}"/>
              </a:ext>
            </a:extLst>
          </p:cNvPr>
          <p:cNvSpPr txBox="1"/>
          <p:nvPr/>
        </p:nvSpPr>
        <p:spPr>
          <a:xfrm>
            <a:off x="217113" y="760517"/>
            <a:ext cx="18288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Causes</a:t>
            </a:r>
          </a:p>
        </p:txBody>
      </p:sp>
      <p:sp>
        <p:nvSpPr>
          <p:cNvPr id="30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AF9250AD-5A5A-47F6-9F53-B6C1F7A3524B}"/>
              </a:ext>
            </a:extLst>
          </p:cNvPr>
          <p:cNvSpPr txBox="1"/>
          <p:nvPr/>
        </p:nvSpPr>
        <p:spPr>
          <a:xfrm>
            <a:off x="217113" y="133181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Work-up</a:t>
            </a:r>
          </a:p>
        </p:txBody>
      </p:sp>
      <p:sp>
        <p:nvSpPr>
          <p:cNvPr id="31" name="Cases">
            <a:hlinkClick r:id="rId6" action="ppaction://hlinksldjump"/>
            <a:extLst>
              <a:ext uri="{FF2B5EF4-FFF2-40B4-BE49-F238E27FC236}">
                <a16:creationId xmlns:a16="http://schemas.microsoft.com/office/drawing/2014/main" id="{B200F05D-4E5C-489E-A09A-37979EBCDC98}"/>
              </a:ext>
            </a:extLst>
          </p:cNvPr>
          <p:cNvSpPr txBox="1"/>
          <p:nvPr/>
        </p:nvSpPr>
        <p:spPr>
          <a:xfrm>
            <a:off x="217113" y="1946646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9BAEC0CD-22B7-4E23-8921-E62364B5C7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9897" y="448553"/>
            <a:ext cx="301752" cy="301752"/>
          </a:xfrm>
          <a:prstGeom prst="rect">
            <a:avLst/>
          </a:prstGeom>
        </p:spPr>
      </p:pic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914D03E2-93FA-4593-BAC2-3A63D82A76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9897" y="1590509"/>
            <a:ext cx="301752" cy="301752"/>
          </a:xfrm>
          <a:prstGeom prst="rect">
            <a:avLst/>
          </a:prstGeom>
        </p:spPr>
      </p:pic>
      <p:pic>
        <p:nvPicPr>
          <p:cNvPr id="36" name="Graphic 35" descr="Cursor with solid fill">
            <a:extLst>
              <a:ext uri="{FF2B5EF4-FFF2-40B4-BE49-F238E27FC236}">
                <a16:creationId xmlns:a16="http://schemas.microsoft.com/office/drawing/2014/main" id="{8AB33FCB-C56E-49FB-9F38-BDF53EF244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9897" y="2204393"/>
            <a:ext cx="301752" cy="30175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A7BF942-3E71-41CD-AF58-99AF628D31D3}"/>
              </a:ext>
            </a:extLst>
          </p:cNvPr>
          <p:cNvSpPr txBox="1"/>
          <p:nvPr/>
        </p:nvSpPr>
        <p:spPr>
          <a:xfrm>
            <a:off x="5634687" y="170509"/>
            <a:ext cx="30472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What causes AUB? </a:t>
            </a:r>
          </a:p>
        </p:txBody>
      </p:sp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74CAEEFE-E39A-4A3C-8842-F23671C9AB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3358" y="3727680"/>
            <a:ext cx="301752" cy="301752"/>
          </a:xfrm>
          <a:prstGeom prst="rect">
            <a:avLst/>
          </a:prstGeom>
        </p:spPr>
      </p:pic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C3958576-F11A-4628-B0F3-943BFF2AB5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69682" y="3727680"/>
            <a:ext cx="301752" cy="301752"/>
          </a:xfrm>
          <a:prstGeom prst="rect">
            <a:avLst/>
          </a:prstGeom>
        </p:spPr>
      </p:pic>
      <p:sp>
        <p:nvSpPr>
          <p:cNvPr id="55" name="Pregnant">
            <a:extLst>
              <a:ext uri="{FF2B5EF4-FFF2-40B4-BE49-F238E27FC236}">
                <a16:creationId xmlns:a16="http://schemas.microsoft.com/office/drawing/2014/main" id="{9B83F6D7-6C65-4B88-BB36-ECE4BEB39F45}"/>
              </a:ext>
            </a:extLst>
          </p:cNvPr>
          <p:cNvSpPr/>
          <p:nvPr/>
        </p:nvSpPr>
        <p:spPr>
          <a:xfrm>
            <a:off x="6211308" y="2107826"/>
            <a:ext cx="1777849" cy="457200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Pregnant?</a:t>
            </a:r>
          </a:p>
        </p:txBody>
      </p: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125DE13B-A63E-4085-96B8-B024D3D695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304" y="2426538"/>
            <a:ext cx="301752" cy="301752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88FE5F8-3FB9-497A-AC81-739190E4A660}"/>
              </a:ext>
            </a:extLst>
          </p:cNvPr>
          <p:cNvCxnSpPr>
            <a:cxnSpLocks/>
            <a:stCxn id="35" idx="2"/>
            <a:endCxn id="55" idx="0"/>
          </p:cNvCxnSpPr>
          <p:nvPr/>
        </p:nvCxnSpPr>
        <p:spPr>
          <a:xfrm flipH="1">
            <a:off x="7100233" y="1856062"/>
            <a:ext cx="1" cy="2517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E033E09-09FA-4E10-BD20-14B291EAF29C}"/>
              </a:ext>
            </a:extLst>
          </p:cNvPr>
          <p:cNvSpPr txBox="1"/>
          <p:nvPr/>
        </p:nvSpPr>
        <p:spPr>
          <a:xfrm>
            <a:off x="3331727" y="842760"/>
            <a:ext cx="78142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 the PALM-COEIN mnemonic to develop a differential</a:t>
            </a:r>
          </a:p>
        </p:txBody>
      </p:sp>
      <p:sp>
        <p:nvSpPr>
          <p:cNvPr id="77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8EC5BE8E-D36F-4000-884F-1197F8F2F306}"/>
              </a:ext>
            </a:extLst>
          </p:cNvPr>
          <p:cNvSpPr txBox="1"/>
          <p:nvPr/>
        </p:nvSpPr>
        <p:spPr>
          <a:xfrm>
            <a:off x="217113" y="6260155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BONUS: HPO axis</a:t>
            </a:r>
          </a:p>
        </p:txBody>
      </p:sp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576366E1-11B7-40F6-9EEE-49F67FAEEE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5037" y="6531864"/>
            <a:ext cx="301752" cy="30175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3D56648-BAF6-437B-8E12-81B0514770CD}"/>
              </a:ext>
            </a:extLst>
          </p:cNvPr>
          <p:cNvGrpSpPr/>
          <p:nvPr/>
        </p:nvGrpSpPr>
        <p:grpSpPr>
          <a:xfrm>
            <a:off x="2341778" y="2776323"/>
            <a:ext cx="1866473" cy="867660"/>
            <a:chOff x="2348213" y="2850178"/>
            <a:chExt cx="1866473" cy="86766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CC5D561-9601-44F8-8CFB-9907A73C9E1D}"/>
                </a:ext>
              </a:extLst>
            </p:cNvPr>
            <p:cNvSpPr/>
            <p:nvPr/>
          </p:nvSpPr>
          <p:spPr>
            <a:xfrm>
              <a:off x="3331727" y="3373056"/>
              <a:ext cx="409956" cy="344782"/>
            </a:xfrm>
            <a:custGeom>
              <a:avLst/>
              <a:gdLst>
                <a:gd name="connsiteX0" fmla="*/ 0 w 420414"/>
                <a:gd name="connsiteY0" fmla="*/ 0 h 303244"/>
                <a:gd name="connsiteX1" fmla="*/ 210207 w 420414"/>
                <a:gd name="connsiteY1" fmla="*/ 273269 h 303244"/>
                <a:gd name="connsiteX2" fmla="*/ 420414 w 420414"/>
                <a:gd name="connsiteY2" fmla="*/ 283779 h 303244"/>
                <a:gd name="connsiteX0" fmla="*/ 0 w 420414"/>
                <a:gd name="connsiteY0" fmla="*/ 0 h 288603"/>
                <a:gd name="connsiteX1" fmla="*/ 113200 w 420414"/>
                <a:gd name="connsiteY1" fmla="*/ 218039 h 288603"/>
                <a:gd name="connsiteX2" fmla="*/ 420414 w 420414"/>
                <a:gd name="connsiteY2" fmla="*/ 283779 h 288603"/>
                <a:gd name="connsiteX0" fmla="*/ 0 w 420414"/>
                <a:gd name="connsiteY0" fmla="*/ 0 h 226470"/>
                <a:gd name="connsiteX1" fmla="*/ 113200 w 420414"/>
                <a:gd name="connsiteY1" fmla="*/ 155906 h 226470"/>
                <a:gd name="connsiteX2" fmla="*/ 420414 w 420414"/>
                <a:gd name="connsiteY2" fmla="*/ 221646 h 22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4" h="226470">
                  <a:moveTo>
                    <a:pt x="0" y="0"/>
                  </a:moveTo>
                  <a:cubicBezTo>
                    <a:pt x="70069" y="112986"/>
                    <a:pt x="43131" y="108610"/>
                    <a:pt x="113200" y="155906"/>
                  </a:cubicBezTo>
                  <a:cubicBezTo>
                    <a:pt x="183269" y="203202"/>
                    <a:pt x="350345" y="240039"/>
                    <a:pt x="420414" y="221646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411B12-4726-4E3E-B538-42A1FE53865F}"/>
                </a:ext>
              </a:extLst>
            </p:cNvPr>
            <p:cNvGrpSpPr/>
            <p:nvPr/>
          </p:nvGrpSpPr>
          <p:grpSpPr>
            <a:xfrm>
              <a:off x="2348213" y="2850178"/>
              <a:ext cx="1866473" cy="523220"/>
              <a:chOff x="2589913" y="2455004"/>
              <a:chExt cx="1866473" cy="52322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C18F2C-283F-49A2-BAA4-F65216BCE07A}"/>
                  </a:ext>
                </a:extLst>
              </p:cNvPr>
              <p:cNvSpPr txBox="1"/>
              <p:nvPr/>
            </p:nvSpPr>
            <p:spPr>
              <a:xfrm>
                <a:off x="2589913" y="2455004"/>
                <a:ext cx="18664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Click until mouse cursor      disappears</a:t>
                </a:r>
              </a:p>
            </p:txBody>
          </p:sp>
          <p:pic>
            <p:nvPicPr>
              <p:cNvPr id="33" name="Graphic 32" descr="Cursor with solid fill">
                <a:extLst>
                  <a:ext uri="{FF2B5EF4-FFF2-40B4-BE49-F238E27FC236}">
                    <a16:creationId xmlns:a16="http://schemas.microsoft.com/office/drawing/2014/main" id="{44054AFD-7601-477B-84C1-6F330A175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253626" y="2728290"/>
                <a:ext cx="248450" cy="248450"/>
              </a:xfrm>
              <a:prstGeom prst="rect">
                <a:avLst/>
              </a:prstGeom>
            </p:spPr>
          </p:pic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C0318653-D629-4739-892B-6489411F7EA4}"/>
              </a:ext>
            </a:extLst>
          </p:cNvPr>
          <p:cNvSpPr txBox="1"/>
          <p:nvPr/>
        </p:nvSpPr>
        <p:spPr>
          <a:xfrm>
            <a:off x="3598065" y="4449711"/>
            <a:ext cx="3636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A: </a:t>
            </a:r>
            <a:r>
              <a:rPr lang="en-US" sz="2400" dirty="0"/>
              <a:t>Adenomyosis</a:t>
            </a:r>
            <a:endParaRPr lang="en-US" sz="24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C1987E-CF18-4A7F-A581-0022EDE86446}"/>
              </a:ext>
            </a:extLst>
          </p:cNvPr>
          <p:cNvSpPr txBox="1"/>
          <p:nvPr/>
        </p:nvSpPr>
        <p:spPr>
          <a:xfrm>
            <a:off x="3598065" y="4880348"/>
            <a:ext cx="37418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L: </a:t>
            </a:r>
            <a:r>
              <a:rPr lang="en-US" sz="2400" dirty="0"/>
              <a:t>Leiomyoma (Fibroid)</a:t>
            </a:r>
            <a:endParaRPr lang="en-US" sz="24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57CA12-130F-4563-BEC7-8C5941D9D9DA}"/>
              </a:ext>
            </a:extLst>
          </p:cNvPr>
          <p:cNvSpPr txBox="1"/>
          <p:nvPr/>
        </p:nvSpPr>
        <p:spPr>
          <a:xfrm>
            <a:off x="3598065" y="5310986"/>
            <a:ext cx="3614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M: </a:t>
            </a:r>
            <a:r>
              <a:rPr lang="en-US" sz="2400" dirty="0"/>
              <a:t>Malignancy/Hyperplasia</a:t>
            </a:r>
            <a:endParaRPr lang="en-US" sz="24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43B27A-6A39-4A28-938B-9DD9C1140BDD}"/>
              </a:ext>
            </a:extLst>
          </p:cNvPr>
          <p:cNvSpPr txBox="1"/>
          <p:nvPr/>
        </p:nvSpPr>
        <p:spPr>
          <a:xfrm>
            <a:off x="7519563" y="4449711"/>
            <a:ext cx="3879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19063" algn="l"/>
              </a:tabLst>
            </a:pPr>
            <a:r>
              <a:rPr lang="en-US" sz="2400" b="1" dirty="0"/>
              <a:t>O: </a:t>
            </a:r>
            <a:r>
              <a:rPr lang="en-US" sz="2400" dirty="0"/>
              <a:t>Ovulatory Dysfunction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0A8E8E-EB17-4893-909A-A220F1CC20EB}"/>
              </a:ext>
            </a:extLst>
          </p:cNvPr>
          <p:cNvSpPr txBox="1"/>
          <p:nvPr/>
        </p:nvSpPr>
        <p:spPr>
          <a:xfrm>
            <a:off x="7519563" y="4880348"/>
            <a:ext cx="3622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E:</a:t>
            </a:r>
            <a:r>
              <a:rPr lang="en-US" sz="2400" dirty="0"/>
              <a:t> Endometrial 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B1F26D-1D2D-46B5-8D84-B1D2BAF74A1C}"/>
              </a:ext>
            </a:extLst>
          </p:cNvPr>
          <p:cNvSpPr txBox="1"/>
          <p:nvPr/>
        </p:nvSpPr>
        <p:spPr>
          <a:xfrm>
            <a:off x="7519563" y="5310986"/>
            <a:ext cx="33997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I:</a:t>
            </a:r>
            <a:r>
              <a:rPr lang="en-US" sz="2400" dirty="0"/>
              <a:t> Iatrogenic </a:t>
            </a:r>
            <a:endParaRPr lang="en-US" sz="2400" b="1" dirty="0"/>
          </a:p>
          <a:p>
            <a:pPr algn="just"/>
            <a:r>
              <a:rPr lang="en-US" sz="2400" b="1" dirty="0"/>
              <a:t>N: </a:t>
            </a:r>
            <a:r>
              <a:rPr lang="en-US" sz="2400" dirty="0"/>
              <a:t>Not yet classified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9108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47" grpId="0"/>
      <p:bldP spid="48" grpId="0"/>
      <p:bldP spid="2" grpId="0" animBg="1"/>
      <p:bldP spid="2" grpId="1" animBg="1"/>
      <p:bldP spid="60" grpId="0" animBg="1"/>
      <p:bldP spid="60" grpId="2" animBg="1"/>
      <p:bldP spid="55" grpId="0" animBg="1"/>
      <p:bldP spid="67" grpId="0" animBg="1"/>
      <p:bldP spid="38" grpId="0"/>
      <p:bldP spid="39" grpId="0"/>
      <p:bldP spid="41" grpId="0"/>
      <p:bldP spid="43" grpId="0"/>
      <p:bldP spid="51" grpId="0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Exam">
            <a:extLst>
              <a:ext uri="{FF2B5EF4-FFF2-40B4-BE49-F238E27FC236}">
                <a16:creationId xmlns:a16="http://schemas.microsoft.com/office/drawing/2014/main" id="{3E6DED68-A98D-4224-AE46-4E442645928B}"/>
              </a:ext>
            </a:extLst>
          </p:cNvPr>
          <p:cNvGrpSpPr/>
          <p:nvPr/>
        </p:nvGrpSpPr>
        <p:grpSpPr>
          <a:xfrm>
            <a:off x="5370429" y="930563"/>
            <a:ext cx="1280160" cy="1463040"/>
            <a:chOff x="3856892" y="1169140"/>
            <a:chExt cx="1280160" cy="1463040"/>
          </a:xfrm>
          <a:effectLst/>
        </p:grpSpPr>
        <p:sp>
          <p:nvSpPr>
            <p:cNvPr id="70" name="Rounded Rectangle 30">
              <a:extLst>
                <a:ext uri="{FF2B5EF4-FFF2-40B4-BE49-F238E27FC236}">
                  <a16:creationId xmlns:a16="http://schemas.microsoft.com/office/drawing/2014/main" id="{4665F3C0-12D6-4161-813B-8FD954D4CA81}"/>
                </a:ext>
              </a:extLst>
            </p:cNvPr>
            <p:cNvSpPr/>
            <p:nvPr/>
          </p:nvSpPr>
          <p:spPr>
            <a:xfrm>
              <a:off x="3856892" y="1169140"/>
              <a:ext cx="1280160" cy="146304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Stethoscope with solid fill">
              <a:extLst>
                <a:ext uri="{FF2B5EF4-FFF2-40B4-BE49-F238E27FC236}">
                  <a16:creationId xmlns:a16="http://schemas.microsoft.com/office/drawing/2014/main" id="{E9B80AF9-AE87-4B0E-8028-FF72F445E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29135" y="1614698"/>
              <a:ext cx="914400" cy="914400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BF23BBA-30CC-4C79-8DAC-FB1F11D8D45F}"/>
                </a:ext>
              </a:extLst>
            </p:cNvPr>
            <p:cNvSpPr txBox="1"/>
            <p:nvPr/>
          </p:nvSpPr>
          <p:spPr>
            <a:xfrm>
              <a:off x="4095617" y="1248521"/>
              <a:ext cx="7443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Exam</a:t>
              </a:r>
            </a:p>
          </p:txBody>
        </p:sp>
      </p:grpSp>
      <p:grpSp>
        <p:nvGrpSpPr>
          <p:cNvPr id="73" name="Labs">
            <a:extLst>
              <a:ext uri="{FF2B5EF4-FFF2-40B4-BE49-F238E27FC236}">
                <a16:creationId xmlns:a16="http://schemas.microsoft.com/office/drawing/2014/main" id="{0CAAEE50-D9A6-4D04-AE6D-4FC11BEE3E48}"/>
              </a:ext>
            </a:extLst>
          </p:cNvPr>
          <p:cNvGrpSpPr/>
          <p:nvPr/>
        </p:nvGrpSpPr>
        <p:grpSpPr>
          <a:xfrm>
            <a:off x="8393837" y="931835"/>
            <a:ext cx="1280160" cy="1463040"/>
            <a:chOff x="8062807" y="1169140"/>
            <a:chExt cx="1280160" cy="1463040"/>
          </a:xfrm>
          <a:effectLst/>
        </p:grpSpPr>
        <p:sp>
          <p:nvSpPr>
            <p:cNvPr id="74" name="Rounded Rectangle 33">
              <a:extLst>
                <a:ext uri="{FF2B5EF4-FFF2-40B4-BE49-F238E27FC236}">
                  <a16:creationId xmlns:a16="http://schemas.microsoft.com/office/drawing/2014/main" id="{0C527B86-F3E4-4AD6-8AAF-E56D9E3EAAED}"/>
                </a:ext>
              </a:extLst>
            </p:cNvPr>
            <p:cNvSpPr/>
            <p:nvPr/>
          </p:nvSpPr>
          <p:spPr>
            <a:xfrm>
              <a:off x="8062807" y="1169140"/>
              <a:ext cx="1280160" cy="146304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Graphic 74" descr="Test tubes with solid fill">
              <a:extLst>
                <a:ext uri="{FF2B5EF4-FFF2-40B4-BE49-F238E27FC236}">
                  <a16:creationId xmlns:a16="http://schemas.microsoft.com/office/drawing/2014/main" id="{BE6E2A6B-E2BD-449C-BD97-0C61205C8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49769" y="1614698"/>
              <a:ext cx="914400" cy="914400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F557F57-74FB-437D-A2F8-CBC0DC7F9738}"/>
                </a:ext>
              </a:extLst>
            </p:cNvPr>
            <p:cNvSpPr txBox="1"/>
            <p:nvPr/>
          </p:nvSpPr>
          <p:spPr>
            <a:xfrm>
              <a:off x="8356644" y="1249847"/>
              <a:ext cx="7075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Labs </a:t>
              </a:r>
            </a:p>
          </p:txBody>
        </p:sp>
      </p:grpSp>
      <p:sp>
        <p:nvSpPr>
          <p:cNvPr id="9" name="sub-q 1 button">
            <a:hlinkClick r:id="rId7" action="ppaction://hlinksldjump"/>
            <a:extLst>
              <a:ext uri="{FF2B5EF4-FFF2-40B4-BE49-F238E27FC236}">
                <a16:creationId xmlns:a16="http://schemas.microsoft.com/office/drawing/2014/main" id="{7F5E198F-4FC9-CE43-961B-F4DB998402A9}"/>
              </a:ext>
            </a:extLst>
          </p:cNvPr>
          <p:cNvSpPr txBox="1"/>
          <p:nvPr/>
        </p:nvSpPr>
        <p:spPr>
          <a:xfrm>
            <a:off x="491433" y="305570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Functional</a:t>
            </a:r>
          </a:p>
        </p:txBody>
      </p:sp>
      <p:sp>
        <p:nvSpPr>
          <p:cNvPr id="63" name="sub-q 1 button">
            <a:hlinkClick r:id="rId8" action="ppaction://hlinksldjump"/>
            <a:extLst>
              <a:ext uri="{FF2B5EF4-FFF2-40B4-BE49-F238E27FC236}">
                <a16:creationId xmlns:a16="http://schemas.microsoft.com/office/drawing/2014/main" id="{00B4A8D9-ECF4-FB45-8568-FF71E2330F12}"/>
              </a:ext>
            </a:extLst>
          </p:cNvPr>
          <p:cNvSpPr txBox="1"/>
          <p:nvPr/>
        </p:nvSpPr>
        <p:spPr>
          <a:xfrm>
            <a:off x="491433" y="1924641"/>
            <a:ext cx="155448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Basic Workup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0F954B-D4A7-7A4E-A7EA-A6461E57C921}"/>
              </a:ext>
            </a:extLst>
          </p:cNvPr>
          <p:cNvSpPr txBox="1"/>
          <p:nvPr/>
        </p:nvSpPr>
        <p:spPr>
          <a:xfrm>
            <a:off x="6750707" y="1509735"/>
            <a:ext cx="15188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Pelvic Exam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B2DE70-4397-E24B-8F05-6EEA86B704A4}"/>
              </a:ext>
            </a:extLst>
          </p:cNvPr>
          <p:cNvSpPr txBox="1"/>
          <p:nvPr/>
        </p:nvSpPr>
        <p:spPr>
          <a:xfrm>
            <a:off x="9795984" y="1167824"/>
            <a:ext cx="189519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Pregnancy Test</a:t>
            </a:r>
          </a:p>
          <a:p>
            <a:r>
              <a:rPr lang="en-US" sz="2200" dirty="0"/>
              <a:t>CBC</a:t>
            </a:r>
          </a:p>
          <a:p>
            <a:r>
              <a:rPr lang="en-US" sz="2200" dirty="0"/>
              <a:t>Iron studies </a:t>
            </a:r>
          </a:p>
        </p:txBody>
      </p:sp>
      <p:grpSp>
        <p:nvGrpSpPr>
          <p:cNvPr id="67" name="Exam">
            <a:extLst>
              <a:ext uri="{FF2B5EF4-FFF2-40B4-BE49-F238E27FC236}">
                <a16:creationId xmlns:a16="http://schemas.microsoft.com/office/drawing/2014/main" id="{BD150DAA-4DBF-4D36-B1F4-DB457B5022C2}"/>
              </a:ext>
            </a:extLst>
          </p:cNvPr>
          <p:cNvGrpSpPr/>
          <p:nvPr/>
        </p:nvGrpSpPr>
        <p:grpSpPr>
          <a:xfrm>
            <a:off x="5369296" y="929291"/>
            <a:ext cx="1280160" cy="1463040"/>
            <a:chOff x="3856892" y="1169140"/>
            <a:chExt cx="1280160" cy="1463040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0D5F3DC3-9DE9-474B-BEE1-6C9D9EC40932}"/>
                </a:ext>
              </a:extLst>
            </p:cNvPr>
            <p:cNvSpPr/>
            <p:nvPr/>
          </p:nvSpPr>
          <p:spPr>
            <a:xfrm>
              <a:off x="3856892" y="1169140"/>
              <a:ext cx="1280160" cy="146304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raphic 20" descr="Stethoscope with solid fill">
              <a:extLst>
                <a:ext uri="{FF2B5EF4-FFF2-40B4-BE49-F238E27FC236}">
                  <a16:creationId xmlns:a16="http://schemas.microsoft.com/office/drawing/2014/main" id="{0CB695C3-A329-B34E-BDDF-222CA3031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29135" y="1614698"/>
              <a:ext cx="914400" cy="9144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BE04BB5-405D-F640-A50F-99BE4FA6DBFC}"/>
                </a:ext>
              </a:extLst>
            </p:cNvPr>
            <p:cNvSpPr txBox="1"/>
            <p:nvPr/>
          </p:nvSpPr>
          <p:spPr>
            <a:xfrm>
              <a:off x="4095617" y="1248521"/>
              <a:ext cx="7443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Exam</a:t>
              </a:r>
            </a:p>
          </p:txBody>
        </p:sp>
      </p:grpSp>
      <p:grpSp>
        <p:nvGrpSpPr>
          <p:cNvPr id="65" name="Labs">
            <a:extLst>
              <a:ext uri="{FF2B5EF4-FFF2-40B4-BE49-F238E27FC236}">
                <a16:creationId xmlns:a16="http://schemas.microsoft.com/office/drawing/2014/main" id="{C4137F3A-1C87-415B-9EAB-4FABE3FAF429}"/>
              </a:ext>
            </a:extLst>
          </p:cNvPr>
          <p:cNvGrpSpPr/>
          <p:nvPr/>
        </p:nvGrpSpPr>
        <p:grpSpPr>
          <a:xfrm>
            <a:off x="8392704" y="930563"/>
            <a:ext cx="1280160" cy="1463040"/>
            <a:chOff x="8062807" y="1169140"/>
            <a:chExt cx="1280160" cy="1463040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38131F02-71B3-6C4D-B9E8-C211C75AA240}"/>
                </a:ext>
              </a:extLst>
            </p:cNvPr>
            <p:cNvSpPr/>
            <p:nvPr/>
          </p:nvSpPr>
          <p:spPr>
            <a:xfrm>
              <a:off x="8062807" y="1169140"/>
              <a:ext cx="1280160" cy="146304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 descr="Test tubes with solid fill">
              <a:extLst>
                <a:ext uri="{FF2B5EF4-FFF2-40B4-BE49-F238E27FC236}">
                  <a16:creationId xmlns:a16="http://schemas.microsoft.com/office/drawing/2014/main" id="{8374DC90-0C4E-F64F-9876-E9D88BE3F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49769" y="1614698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E135E5-0C0E-0149-8488-4C085357BF1E}"/>
                </a:ext>
              </a:extLst>
            </p:cNvPr>
            <p:cNvSpPr txBox="1"/>
            <p:nvPr/>
          </p:nvSpPr>
          <p:spPr>
            <a:xfrm>
              <a:off x="8356644" y="1249847"/>
              <a:ext cx="7075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Labs </a:t>
              </a:r>
            </a:p>
          </p:txBody>
        </p:sp>
      </p:grp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22360EC4-B6E5-3442-8E0F-8C3AEB9925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5939" y="2223432"/>
            <a:ext cx="301752" cy="301752"/>
          </a:xfrm>
          <a:prstGeom prst="rect">
            <a:avLst/>
          </a:prstGeom>
        </p:spPr>
      </p:pic>
      <p:pic>
        <p:nvPicPr>
          <p:cNvPr id="36" name="Graphic 35" descr="Cursor with solid fill">
            <a:extLst>
              <a:ext uri="{FF2B5EF4-FFF2-40B4-BE49-F238E27FC236}">
                <a16:creationId xmlns:a16="http://schemas.microsoft.com/office/drawing/2014/main" id="{5AFB0216-3BF8-C742-973D-588D3C1D0D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63424" y="2234090"/>
            <a:ext cx="301752" cy="301752"/>
          </a:xfrm>
          <a:prstGeom prst="rect">
            <a:avLst/>
          </a:prstGeom>
        </p:spPr>
      </p:pic>
      <p:sp>
        <p:nvSpPr>
          <p:cNvPr id="45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CD422924-CC55-4799-96EF-80846B4B13EE}"/>
              </a:ext>
            </a:extLst>
          </p:cNvPr>
          <p:cNvSpPr txBox="1"/>
          <p:nvPr/>
        </p:nvSpPr>
        <p:spPr>
          <a:xfrm>
            <a:off x="217113" y="18922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is AUB?</a:t>
            </a:r>
          </a:p>
        </p:txBody>
      </p:sp>
      <p:sp>
        <p:nvSpPr>
          <p:cNvPr id="46" name="Question 2">
            <a:hlinkClick r:id="rId12" action="ppaction://hlinksldjump"/>
            <a:extLst>
              <a:ext uri="{FF2B5EF4-FFF2-40B4-BE49-F238E27FC236}">
                <a16:creationId xmlns:a16="http://schemas.microsoft.com/office/drawing/2014/main" id="{7624CD5E-C833-45B7-8839-268DCD3897BB}"/>
              </a:ext>
            </a:extLst>
          </p:cNvPr>
          <p:cNvSpPr txBox="1"/>
          <p:nvPr/>
        </p:nvSpPr>
        <p:spPr>
          <a:xfrm>
            <a:off x="217113" y="760517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Causes</a:t>
            </a:r>
          </a:p>
        </p:txBody>
      </p:sp>
      <p:sp>
        <p:nvSpPr>
          <p:cNvPr id="47" name="question 4">
            <a:hlinkClick r:id="rId8" action="ppaction://hlinksldjump"/>
            <a:extLst>
              <a:ext uri="{FF2B5EF4-FFF2-40B4-BE49-F238E27FC236}">
                <a16:creationId xmlns:a16="http://schemas.microsoft.com/office/drawing/2014/main" id="{A6417A5F-97C7-4BF0-A4A1-5017FD7BE87B}"/>
              </a:ext>
            </a:extLst>
          </p:cNvPr>
          <p:cNvSpPr txBox="1"/>
          <p:nvPr/>
        </p:nvSpPr>
        <p:spPr>
          <a:xfrm>
            <a:off x="217113" y="1331812"/>
            <a:ext cx="18288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Work-up</a:t>
            </a:r>
          </a:p>
        </p:txBody>
      </p:sp>
      <p:sp>
        <p:nvSpPr>
          <p:cNvPr id="48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C9C74F74-BA7B-4F65-9AE4-CE8A9E02AACD}"/>
              </a:ext>
            </a:extLst>
          </p:cNvPr>
          <p:cNvSpPr txBox="1"/>
          <p:nvPr/>
        </p:nvSpPr>
        <p:spPr>
          <a:xfrm>
            <a:off x="205792" y="3647465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4DE3009E-E93A-49D2-9FB7-67AD5F80DD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9897" y="448553"/>
            <a:ext cx="301752" cy="301752"/>
          </a:xfrm>
          <a:prstGeom prst="rect">
            <a:avLst/>
          </a:prstGeom>
        </p:spPr>
      </p:pic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827F27B6-E8E8-4816-8CDF-12A4EE0065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9897" y="1024663"/>
            <a:ext cx="301752" cy="301752"/>
          </a:xfrm>
          <a:prstGeom prst="rect">
            <a:avLst/>
          </a:prstGeom>
        </p:spPr>
      </p:pic>
      <p:pic>
        <p:nvPicPr>
          <p:cNvPr id="52" name="Graphic 51" descr="Cursor with solid fill">
            <a:extLst>
              <a:ext uri="{FF2B5EF4-FFF2-40B4-BE49-F238E27FC236}">
                <a16:creationId xmlns:a16="http://schemas.microsoft.com/office/drawing/2014/main" id="{B55B1A04-0A67-42E1-B0BA-3C053EB0BF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9897" y="3905212"/>
            <a:ext cx="301752" cy="301752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7AF3609-C75B-4682-BF6A-8485A056870B}"/>
              </a:ext>
            </a:extLst>
          </p:cNvPr>
          <p:cNvCxnSpPr>
            <a:cxnSpLocks/>
            <a:endCxn id="63" idx="1"/>
          </p:cNvCxnSpPr>
          <p:nvPr/>
        </p:nvCxnSpPr>
        <p:spPr>
          <a:xfrm rot="16200000" flipH="1">
            <a:off x="213769" y="1851289"/>
            <a:ext cx="377990" cy="17733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CC38E2E-0B93-4D5E-B17E-4FFAFAD91AE5}"/>
              </a:ext>
            </a:extLst>
          </p:cNvPr>
          <p:cNvCxnSpPr>
            <a:cxnSpLocks/>
            <a:endCxn id="56" idx="1"/>
          </p:cNvCxnSpPr>
          <p:nvPr/>
        </p:nvCxnSpPr>
        <p:spPr>
          <a:xfrm rot="16200000" flipH="1">
            <a:off x="113623" y="2316673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49D77DC-7B78-4546-9E57-764BB6A995E6}"/>
              </a:ext>
            </a:extLst>
          </p:cNvPr>
          <p:cNvSpPr txBox="1"/>
          <p:nvPr/>
        </p:nvSpPr>
        <p:spPr>
          <a:xfrm>
            <a:off x="2864381" y="170509"/>
            <a:ext cx="8411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do you work-up AUB?</a:t>
            </a:r>
          </a:p>
        </p:txBody>
      </p:sp>
      <p:sp>
        <p:nvSpPr>
          <p:cNvPr id="56" name="sub-q 1 button">
            <a:hlinkClick r:id="rId14" action="ppaction://hlinksldjump"/>
            <a:extLst>
              <a:ext uri="{FF2B5EF4-FFF2-40B4-BE49-F238E27FC236}">
                <a16:creationId xmlns:a16="http://schemas.microsoft.com/office/drawing/2014/main" id="{3AB1871A-3BCB-4524-B9D2-79EB202C2491}"/>
              </a:ext>
            </a:extLst>
          </p:cNvPr>
          <p:cNvSpPr txBox="1"/>
          <p:nvPr/>
        </p:nvSpPr>
        <p:spPr>
          <a:xfrm>
            <a:off x="491433" y="249017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Structural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1D0A31B-9045-404C-95C1-546E177301D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3623" y="2901506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78B0152F-13D5-412D-BCBC-970B76852D03}"/>
              </a:ext>
            </a:extLst>
          </p:cNvPr>
          <p:cNvSpPr txBox="1"/>
          <p:nvPr/>
        </p:nvSpPr>
        <p:spPr>
          <a:xfrm>
            <a:off x="2321927" y="1011270"/>
            <a:ext cx="2805484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All patients with AUB require the following basic tests:</a:t>
            </a:r>
          </a:p>
        </p:txBody>
      </p:sp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466785A7-06DF-476D-B6F9-A2E097C658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9897" y="2752993"/>
            <a:ext cx="301752" cy="301752"/>
          </a:xfrm>
          <a:prstGeom prst="rect">
            <a:avLst/>
          </a:prstGeom>
        </p:spPr>
      </p:pic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84E4440A-12A3-4F1D-8CBC-FA2748D3C1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9897" y="3329103"/>
            <a:ext cx="301752" cy="301752"/>
          </a:xfrm>
          <a:prstGeom prst="rect">
            <a:avLst/>
          </a:prstGeom>
        </p:spPr>
      </p:pic>
      <p:sp>
        <p:nvSpPr>
          <p:cNvPr id="80" name="Cases">
            <a:hlinkClick r:id="rId15" action="ppaction://hlinksldjump"/>
            <a:extLst>
              <a:ext uri="{FF2B5EF4-FFF2-40B4-BE49-F238E27FC236}">
                <a16:creationId xmlns:a16="http://schemas.microsoft.com/office/drawing/2014/main" id="{E5C8EB81-1338-46E8-8610-E65A1109205B}"/>
              </a:ext>
            </a:extLst>
          </p:cNvPr>
          <p:cNvSpPr txBox="1"/>
          <p:nvPr/>
        </p:nvSpPr>
        <p:spPr>
          <a:xfrm>
            <a:off x="217113" y="6260155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BONUS: HPO axis</a:t>
            </a:r>
          </a:p>
        </p:txBody>
      </p:sp>
      <p:pic>
        <p:nvPicPr>
          <p:cNvPr id="81" name="Graphic 80" descr="Cursor with solid fill">
            <a:extLst>
              <a:ext uri="{FF2B5EF4-FFF2-40B4-BE49-F238E27FC236}">
                <a16:creationId xmlns:a16="http://schemas.microsoft.com/office/drawing/2014/main" id="{E4C040EE-6713-440D-94B6-9F258C96A8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95037" y="6531864"/>
            <a:ext cx="301752" cy="301752"/>
          </a:xfrm>
          <a:prstGeom prst="rect">
            <a:avLst/>
          </a:prstGeom>
        </p:spPr>
      </p:pic>
      <p:pic>
        <p:nvPicPr>
          <p:cNvPr id="41" name="Picture 40" descr="Icon&#10;&#10;Description automatically generated">
            <a:extLst>
              <a:ext uri="{FF2B5EF4-FFF2-40B4-BE49-F238E27FC236}">
                <a16:creationId xmlns:a16="http://schemas.microsoft.com/office/drawing/2014/main" id="{D5F1242B-7748-4982-91B9-43D2CBAA437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127" y="6345344"/>
            <a:ext cx="1393873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6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isk factors for hyperplasia">
            <a:extLst>
              <a:ext uri="{FF2B5EF4-FFF2-40B4-BE49-F238E27FC236}">
                <a16:creationId xmlns:a16="http://schemas.microsoft.com/office/drawing/2014/main" id="{C15DD9DB-5162-4B46-9F0D-05BAEB0A8C40}"/>
              </a:ext>
            </a:extLst>
          </p:cNvPr>
          <p:cNvSpPr/>
          <p:nvPr/>
        </p:nvSpPr>
        <p:spPr>
          <a:xfrm>
            <a:off x="594533" y="5524946"/>
            <a:ext cx="2780843" cy="712111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Who should receive an endometrial biopsy?</a:t>
            </a:r>
          </a:p>
        </p:txBody>
      </p:sp>
      <p:sp>
        <p:nvSpPr>
          <p:cNvPr id="84" name="Structural cause">
            <a:extLst>
              <a:ext uri="{FF2B5EF4-FFF2-40B4-BE49-F238E27FC236}">
                <a16:creationId xmlns:a16="http://schemas.microsoft.com/office/drawing/2014/main" id="{A9EC174D-F246-41BF-A4C1-62A4893C95BB}"/>
              </a:ext>
            </a:extLst>
          </p:cNvPr>
          <p:cNvSpPr/>
          <p:nvPr/>
        </p:nvSpPr>
        <p:spPr>
          <a:xfrm>
            <a:off x="2560822" y="2560528"/>
            <a:ext cx="4336953" cy="45720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Further work-up of </a:t>
            </a:r>
            <a:r>
              <a:rPr lang="en-US" sz="2000" b="1" dirty="0">
                <a:solidFill>
                  <a:schemeClr val="bg1"/>
                </a:solidFill>
              </a:rPr>
              <a:t>structural</a:t>
            </a:r>
            <a:r>
              <a:rPr lang="en-US" sz="2000" dirty="0">
                <a:solidFill>
                  <a:schemeClr val="bg1"/>
                </a:solidFill>
              </a:rPr>
              <a:t> causes?</a:t>
            </a:r>
          </a:p>
        </p:txBody>
      </p:sp>
      <p:sp>
        <p:nvSpPr>
          <p:cNvPr id="85" name="Functional cause">
            <a:extLst>
              <a:ext uri="{FF2B5EF4-FFF2-40B4-BE49-F238E27FC236}">
                <a16:creationId xmlns:a16="http://schemas.microsoft.com/office/drawing/2014/main" id="{46B0499F-3987-4B39-A604-E0DC54FA184C}"/>
              </a:ext>
            </a:extLst>
          </p:cNvPr>
          <p:cNvSpPr/>
          <p:nvPr/>
        </p:nvSpPr>
        <p:spPr>
          <a:xfrm>
            <a:off x="7435056" y="2560528"/>
            <a:ext cx="4336953" cy="655806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Further work-up of </a:t>
            </a:r>
            <a:r>
              <a:rPr lang="en-US" sz="2000" b="1" dirty="0">
                <a:solidFill>
                  <a:schemeClr val="bg1"/>
                </a:solidFill>
              </a:rPr>
              <a:t>nonstructural</a:t>
            </a:r>
            <a:r>
              <a:rPr lang="en-US" sz="2000" dirty="0">
                <a:solidFill>
                  <a:schemeClr val="bg1"/>
                </a:solidFill>
              </a:rPr>
              <a:t> causes?</a:t>
            </a:r>
          </a:p>
        </p:txBody>
      </p:sp>
      <p:sp>
        <p:nvSpPr>
          <p:cNvPr id="9" name="sub-q 1 button">
            <a:hlinkClick r:id="rId4" action="ppaction://hlinksldjump"/>
            <a:extLst>
              <a:ext uri="{FF2B5EF4-FFF2-40B4-BE49-F238E27FC236}">
                <a16:creationId xmlns:a16="http://schemas.microsoft.com/office/drawing/2014/main" id="{7F5E198F-4FC9-CE43-961B-F4DB998402A9}"/>
              </a:ext>
            </a:extLst>
          </p:cNvPr>
          <p:cNvSpPr txBox="1"/>
          <p:nvPr/>
        </p:nvSpPr>
        <p:spPr>
          <a:xfrm>
            <a:off x="491433" y="305570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Nonstructural</a:t>
            </a:r>
          </a:p>
        </p:txBody>
      </p:sp>
      <p:sp>
        <p:nvSpPr>
          <p:cNvPr id="63" name="sub-q 1 button">
            <a:hlinkClick r:id="rId5" action="ppaction://hlinksldjump"/>
            <a:extLst>
              <a:ext uri="{FF2B5EF4-FFF2-40B4-BE49-F238E27FC236}">
                <a16:creationId xmlns:a16="http://schemas.microsoft.com/office/drawing/2014/main" id="{00B4A8D9-ECF4-FB45-8568-FF71E2330F12}"/>
              </a:ext>
            </a:extLst>
          </p:cNvPr>
          <p:cNvSpPr txBox="1"/>
          <p:nvPr/>
        </p:nvSpPr>
        <p:spPr>
          <a:xfrm>
            <a:off x="491433" y="192464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Basic Workup</a:t>
            </a:r>
          </a:p>
        </p:txBody>
      </p:sp>
      <p:sp>
        <p:nvSpPr>
          <p:cNvPr id="45" name="question 1">
            <a:hlinkClick r:id="rId6" action="ppaction://hlinksldjump"/>
            <a:extLst>
              <a:ext uri="{FF2B5EF4-FFF2-40B4-BE49-F238E27FC236}">
                <a16:creationId xmlns:a16="http://schemas.microsoft.com/office/drawing/2014/main" id="{CD422924-CC55-4799-96EF-80846B4B13EE}"/>
              </a:ext>
            </a:extLst>
          </p:cNvPr>
          <p:cNvSpPr txBox="1"/>
          <p:nvPr/>
        </p:nvSpPr>
        <p:spPr>
          <a:xfrm>
            <a:off x="217113" y="18922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is AUB?</a:t>
            </a:r>
          </a:p>
        </p:txBody>
      </p:sp>
      <p:sp>
        <p:nvSpPr>
          <p:cNvPr id="46" name="Question 2">
            <a:hlinkClick r:id="rId7" action="ppaction://hlinksldjump"/>
            <a:extLst>
              <a:ext uri="{FF2B5EF4-FFF2-40B4-BE49-F238E27FC236}">
                <a16:creationId xmlns:a16="http://schemas.microsoft.com/office/drawing/2014/main" id="{7624CD5E-C833-45B7-8839-268DCD3897BB}"/>
              </a:ext>
            </a:extLst>
          </p:cNvPr>
          <p:cNvSpPr txBox="1"/>
          <p:nvPr/>
        </p:nvSpPr>
        <p:spPr>
          <a:xfrm>
            <a:off x="217113" y="760517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Causes</a:t>
            </a:r>
          </a:p>
        </p:txBody>
      </p:sp>
      <p:sp>
        <p:nvSpPr>
          <p:cNvPr id="47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A6417A5F-97C7-4BF0-A4A1-5017FD7BE87B}"/>
              </a:ext>
            </a:extLst>
          </p:cNvPr>
          <p:cNvSpPr txBox="1"/>
          <p:nvPr/>
        </p:nvSpPr>
        <p:spPr>
          <a:xfrm>
            <a:off x="217113" y="1331812"/>
            <a:ext cx="18288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Work-up</a:t>
            </a:r>
          </a:p>
        </p:txBody>
      </p:sp>
      <p:sp>
        <p:nvSpPr>
          <p:cNvPr id="48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C9C74F74-BA7B-4F65-9AE4-CE8A9E02AACD}"/>
              </a:ext>
            </a:extLst>
          </p:cNvPr>
          <p:cNvSpPr txBox="1"/>
          <p:nvPr/>
        </p:nvSpPr>
        <p:spPr>
          <a:xfrm>
            <a:off x="205792" y="3647465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4DE3009E-E93A-49D2-9FB7-67AD5F80DD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9897" y="448553"/>
            <a:ext cx="301752" cy="301752"/>
          </a:xfrm>
          <a:prstGeom prst="rect">
            <a:avLst/>
          </a:prstGeom>
        </p:spPr>
      </p:pic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827F27B6-E8E8-4816-8CDF-12A4EE0065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9897" y="1019531"/>
            <a:ext cx="301752" cy="301752"/>
          </a:xfrm>
          <a:prstGeom prst="rect">
            <a:avLst/>
          </a:prstGeom>
        </p:spPr>
      </p:pic>
      <p:pic>
        <p:nvPicPr>
          <p:cNvPr id="52" name="Graphic 51" descr="Cursor with solid fill">
            <a:extLst>
              <a:ext uri="{FF2B5EF4-FFF2-40B4-BE49-F238E27FC236}">
                <a16:creationId xmlns:a16="http://schemas.microsoft.com/office/drawing/2014/main" id="{B55B1A04-0A67-42E1-B0BA-3C053EB0BF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9897" y="3905212"/>
            <a:ext cx="301752" cy="301752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7AF3609-C75B-4682-BF6A-8485A056870B}"/>
              </a:ext>
            </a:extLst>
          </p:cNvPr>
          <p:cNvCxnSpPr>
            <a:cxnSpLocks/>
            <a:endCxn id="63" idx="1"/>
          </p:cNvCxnSpPr>
          <p:nvPr/>
        </p:nvCxnSpPr>
        <p:spPr>
          <a:xfrm rot="16200000" flipH="1">
            <a:off x="213769" y="1851289"/>
            <a:ext cx="377990" cy="17733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CC38E2E-0B93-4D5E-B17E-4FFAFAD91AE5}"/>
              </a:ext>
            </a:extLst>
          </p:cNvPr>
          <p:cNvCxnSpPr>
            <a:cxnSpLocks/>
            <a:endCxn id="56" idx="1"/>
          </p:cNvCxnSpPr>
          <p:nvPr/>
        </p:nvCxnSpPr>
        <p:spPr>
          <a:xfrm rot="16200000" flipH="1">
            <a:off x="113623" y="2316673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49D77DC-7B78-4546-9E57-764BB6A995E6}"/>
              </a:ext>
            </a:extLst>
          </p:cNvPr>
          <p:cNvSpPr txBox="1"/>
          <p:nvPr/>
        </p:nvSpPr>
        <p:spPr>
          <a:xfrm>
            <a:off x="2864381" y="170509"/>
            <a:ext cx="8411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do you work-up AUB?</a:t>
            </a:r>
          </a:p>
        </p:txBody>
      </p:sp>
      <p:sp>
        <p:nvSpPr>
          <p:cNvPr id="56" name="sub-q 1 button">
            <a:hlinkClick r:id="rId11" action="ppaction://hlinksldjump"/>
            <a:extLst>
              <a:ext uri="{FF2B5EF4-FFF2-40B4-BE49-F238E27FC236}">
                <a16:creationId xmlns:a16="http://schemas.microsoft.com/office/drawing/2014/main" id="{3AB1871A-3BCB-4524-B9D2-79EB202C2491}"/>
              </a:ext>
            </a:extLst>
          </p:cNvPr>
          <p:cNvSpPr txBox="1"/>
          <p:nvPr/>
        </p:nvSpPr>
        <p:spPr>
          <a:xfrm>
            <a:off x="491433" y="2490171"/>
            <a:ext cx="155448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Structural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1D0A31B-9045-404C-95C1-546E177301D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3623" y="2901506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Structural cause">
            <a:extLst>
              <a:ext uri="{FF2B5EF4-FFF2-40B4-BE49-F238E27FC236}">
                <a16:creationId xmlns:a16="http://schemas.microsoft.com/office/drawing/2014/main" id="{345233A6-CC49-4C72-8D0E-DFE4D355057A}"/>
              </a:ext>
            </a:extLst>
          </p:cNvPr>
          <p:cNvSpPr/>
          <p:nvPr/>
        </p:nvSpPr>
        <p:spPr>
          <a:xfrm>
            <a:off x="2560822" y="2560750"/>
            <a:ext cx="4336953" cy="457200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Further work-up of </a:t>
            </a:r>
            <a:r>
              <a:rPr lang="en-US" sz="2000" b="1" dirty="0"/>
              <a:t>structural</a:t>
            </a:r>
            <a:r>
              <a:rPr lang="en-US" sz="2000" dirty="0"/>
              <a:t> causes?</a:t>
            </a:r>
          </a:p>
        </p:txBody>
      </p:sp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985FBABC-48D6-4E55-8BED-D761E693DD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46899" y="2886619"/>
            <a:ext cx="301752" cy="301752"/>
          </a:xfrm>
          <a:prstGeom prst="rect">
            <a:avLst/>
          </a:prstGeom>
        </p:spPr>
      </p:pic>
      <p:sp>
        <p:nvSpPr>
          <p:cNvPr id="65" name="Functional cause">
            <a:extLst>
              <a:ext uri="{FF2B5EF4-FFF2-40B4-BE49-F238E27FC236}">
                <a16:creationId xmlns:a16="http://schemas.microsoft.com/office/drawing/2014/main" id="{BFCFF6D5-8B64-4996-920F-000BAD551572}"/>
              </a:ext>
            </a:extLst>
          </p:cNvPr>
          <p:cNvSpPr/>
          <p:nvPr/>
        </p:nvSpPr>
        <p:spPr>
          <a:xfrm>
            <a:off x="7435056" y="2560749"/>
            <a:ext cx="4336953" cy="655585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Further work-up of </a:t>
            </a:r>
            <a:r>
              <a:rPr lang="en-US" sz="2000" b="1" dirty="0"/>
              <a:t>nonstructural</a:t>
            </a:r>
            <a:r>
              <a:rPr lang="en-US" sz="2000" dirty="0"/>
              <a:t> causes?</a:t>
            </a:r>
          </a:p>
        </p:txBody>
      </p:sp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EC273E6A-C511-44CE-AAC0-05FCC6AA03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21133" y="3055701"/>
            <a:ext cx="301752" cy="30175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610FF14-46EE-455A-9E9E-00D92909BA4B}"/>
              </a:ext>
            </a:extLst>
          </p:cNvPr>
          <p:cNvGrpSpPr/>
          <p:nvPr/>
        </p:nvGrpSpPr>
        <p:grpSpPr>
          <a:xfrm>
            <a:off x="2906590" y="3216335"/>
            <a:ext cx="4007098" cy="894181"/>
            <a:chOff x="3354969" y="3183284"/>
            <a:chExt cx="4007098" cy="894181"/>
          </a:xfrm>
        </p:grpSpPr>
        <p:pic>
          <p:nvPicPr>
            <p:cNvPr id="73" name="Picture 4" descr="Ultrasound icon simple black style Royalty Free Vector Image">
              <a:extLst>
                <a:ext uri="{FF2B5EF4-FFF2-40B4-BE49-F238E27FC236}">
                  <a16:creationId xmlns:a16="http://schemas.microsoft.com/office/drawing/2014/main" id="{10C1C6B2-4C53-449A-A625-E6BC9DFF72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4969" y="3183284"/>
              <a:ext cx="803631" cy="894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02BEE36-D558-4EDF-9D55-588719529751}"/>
                </a:ext>
              </a:extLst>
            </p:cNvPr>
            <p:cNvSpPr txBox="1"/>
            <p:nvPr/>
          </p:nvSpPr>
          <p:spPr>
            <a:xfrm>
              <a:off x="4158600" y="3436442"/>
              <a:ext cx="320346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Transvaginal ultrasound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6DC2F31-0998-4594-B9F8-6D8BC321849E}"/>
              </a:ext>
            </a:extLst>
          </p:cNvPr>
          <p:cNvGrpSpPr/>
          <p:nvPr/>
        </p:nvGrpSpPr>
        <p:grpSpPr>
          <a:xfrm>
            <a:off x="3035740" y="4339495"/>
            <a:ext cx="3482092" cy="679273"/>
            <a:chOff x="3186616" y="4497267"/>
            <a:chExt cx="3482092" cy="679273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072B112-0E6C-48F8-8A5C-2F78827BB846}"/>
                </a:ext>
              </a:extLst>
            </p:cNvPr>
            <p:cNvSpPr txBox="1"/>
            <p:nvPr/>
          </p:nvSpPr>
          <p:spPr>
            <a:xfrm>
              <a:off x="3887865" y="4652237"/>
              <a:ext cx="2780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 ±  Endometrial biopsy</a:t>
              </a:r>
            </a:p>
          </p:txBody>
        </p:sp>
        <p:pic>
          <p:nvPicPr>
            <p:cNvPr id="76" name="Graphic 75" descr="Needle with solid fill">
              <a:extLst>
                <a:ext uri="{FF2B5EF4-FFF2-40B4-BE49-F238E27FC236}">
                  <a16:creationId xmlns:a16="http://schemas.microsoft.com/office/drawing/2014/main" id="{A6B6928C-0584-4870-BBDE-B9EB2E077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186616" y="4497267"/>
              <a:ext cx="679273" cy="679273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B7D68974-AC97-42D7-B85E-6FAAB79F750F}"/>
              </a:ext>
            </a:extLst>
          </p:cNvPr>
          <p:cNvSpPr txBox="1"/>
          <p:nvPr/>
        </p:nvSpPr>
        <p:spPr>
          <a:xfrm>
            <a:off x="3724669" y="5143580"/>
            <a:ext cx="327803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u="sng" dirty="0"/>
              <a:t>Risk factors for hyperplasia</a:t>
            </a:r>
          </a:p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dirty="0"/>
              <a:t>peri- or post-menopause</a:t>
            </a:r>
          </a:p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dirty="0"/>
              <a:t>chronic anovulation</a:t>
            </a:r>
          </a:p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dirty="0"/>
              <a:t>unopposed estrogen exposure</a:t>
            </a:r>
          </a:p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dirty="0"/>
              <a:t>tobacco use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4F797F-F6DB-4BD1-8F6E-3A96D2D53E14}"/>
              </a:ext>
            </a:extLst>
          </p:cNvPr>
          <p:cNvSpPr txBox="1"/>
          <p:nvPr/>
        </p:nvSpPr>
        <p:spPr>
          <a:xfrm>
            <a:off x="9136615" y="4044392"/>
            <a:ext cx="22415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Additional History</a:t>
            </a:r>
          </a:p>
        </p:txBody>
      </p:sp>
      <p:pic>
        <p:nvPicPr>
          <p:cNvPr id="81" name="Graphic 80" descr="Questions with solid fill">
            <a:extLst>
              <a:ext uri="{FF2B5EF4-FFF2-40B4-BE49-F238E27FC236}">
                <a16:creationId xmlns:a16="http://schemas.microsoft.com/office/drawing/2014/main" id="{F74AB545-BA05-4DEE-B15D-2CF5039747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85686" y="3684153"/>
            <a:ext cx="1312932" cy="1312932"/>
          </a:xfrm>
          <a:prstGeom prst="rect">
            <a:avLst/>
          </a:prstGeom>
        </p:spPr>
      </p:pic>
      <p:grpSp>
        <p:nvGrpSpPr>
          <p:cNvPr id="86" name="Exam">
            <a:extLst>
              <a:ext uri="{FF2B5EF4-FFF2-40B4-BE49-F238E27FC236}">
                <a16:creationId xmlns:a16="http://schemas.microsoft.com/office/drawing/2014/main" id="{9C658896-30D3-42DE-A1B7-4FB14A31F9BD}"/>
              </a:ext>
            </a:extLst>
          </p:cNvPr>
          <p:cNvGrpSpPr/>
          <p:nvPr/>
        </p:nvGrpSpPr>
        <p:grpSpPr>
          <a:xfrm>
            <a:off x="5370429" y="930563"/>
            <a:ext cx="1280160" cy="1463040"/>
            <a:chOff x="3856892" y="1169140"/>
            <a:chExt cx="1280160" cy="1463040"/>
          </a:xfrm>
          <a:effectLst/>
        </p:grpSpPr>
        <p:sp>
          <p:nvSpPr>
            <p:cNvPr id="87" name="Rounded Rectangle 30">
              <a:extLst>
                <a:ext uri="{FF2B5EF4-FFF2-40B4-BE49-F238E27FC236}">
                  <a16:creationId xmlns:a16="http://schemas.microsoft.com/office/drawing/2014/main" id="{4A1E0F7E-AEF6-4ED8-8D60-D391101E8FE8}"/>
                </a:ext>
              </a:extLst>
            </p:cNvPr>
            <p:cNvSpPr/>
            <p:nvPr/>
          </p:nvSpPr>
          <p:spPr>
            <a:xfrm>
              <a:off x="3856892" y="1169140"/>
              <a:ext cx="1280160" cy="146304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8" name="Graphic 87" descr="Stethoscope with solid fill">
              <a:extLst>
                <a:ext uri="{FF2B5EF4-FFF2-40B4-BE49-F238E27FC236}">
                  <a16:creationId xmlns:a16="http://schemas.microsoft.com/office/drawing/2014/main" id="{BFE6D86A-27AA-43D4-89F1-F4B4F8030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029135" y="1614698"/>
              <a:ext cx="914400" cy="914400"/>
            </a:xfrm>
            <a:prstGeom prst="rect">
              <a:avLst/>
            </a:prstGeom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1A778CB-C5F5-46A9-A36C-37BBDA5B7D34}"/>
                </a:ext>
              </a:extLst>
            </p:cNvPr>
            <p:cNvSpPr txBox="1"/>
            <p:nvPr/>
          </p:nvSpPr>
          <p:spPr>
            <a:xfrm>
              <a:off x="4095617" y="1248521"/>
              <a:ext cx="7443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Exam</a:t>
              </a:r>
            </a:p>
          </p:txBody>
        </p:sp>
      </p:grpSp>
      <p:grpSp>
        <p:nvGrpSpPr>
          <p:cNvPr id="90" name="Labs">
            <a:extLst>
              <a:ext uri="{FF2B5EF4-FFF2-40B4-BE49-F238E27FC236}">
                <a16:creationId xmlns:a16="http://schemas.microsoft.com/office/drawing/2014/main" id="{F22C0E4C-2DC7-4504-A0A6-7232D5061518}"/>
              </a:ext>
            </a:extLst>
          </p:cNvPr>
          <p:cNvGrpSpPr/>
          <p:nvPr/>
        </p:nvGrpSpPr>
        <p:grpSpPr>
          <a:xfrm>
            <a:off x="8393837" y="931835"/>
            <a:ext cx="1280160" cy="1463040"/>
            <a:chOff x="8062807" y="1169140"/>
            <a:chExt cx="1280160" cy="1463040"/>
          </a:xfrm>
          <a:effectLst/>
        </p:grpSpPr>
        <p:sp>
          <p:nvSpPr>
            <p:cNvPr id="91" name="Rounded Rectangle 33">
              <a:extLst>
                <a:ext uri="{FF2B5EF4-FFF2-40B4-BE49-F238E27FC236}">
                  <a16:creationId xmlns:a16="http://schemas.microsoft.com/office/drawing/2014/main" id="{98373C61-1EF9-46CF-A000-5AC4A7EC1B6D}"/>
                </a:ext>
              </a:extLst>
            </p:cNvPr>
            <p:cNvSpPr/>
            <p:nvPr/>
          </p:nvSpPr>
          <p:spPr>
            <a:xfrm>
              <a:off x="8062807" y="1169140"/>
              <a:ext cx="1280160" cy="146304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2" name="Graphic 91" descr="Test tubes with solid fill">
              <a:extLst>
                <a:ext uri="{FF2B5EF4-FFF2-40B4-BE49-F238E27FC236}">
                  <a16:creationId xmlns:a16="http://schemas.microsoft.com/office/drawing/2014/main" id="{1BA9E06B-7767-408A-B89E-C92B6AB83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249769" y="1614698"/>
              <a:ext cx="914400" cy="914400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C80E2B7-A13D-4B20-B988-A8B8D5930A65}"/>
                </a:ext>
              </a:extLst>
            </p:cNvPr>
            <p:cNvSpPr txBox="1"/>
            <p:nvPr/>
          </p:nvSpPr>
          <p:spPr>
            <a:xfrm>
              <a:off x="8356644" y="1249847"/>
              <a:ext cx="7075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Labs 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A676F4D9-373F-4029-BA28-1B15D1C34640}"/>
              </a:ext>
            </a:extLst>
          </p:cNvPr>
          <p:cNvSpPr txBox="1"/>
          <p:nvPr/>
        </p:nvSpPr>
        <p:spPr>
          <a:xfrm>
            <a:off x="6750707" y="1509735"/>
            <a:ext cx="15188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Pelvic Exam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59CF170-7880-4C1E-9518-10412F48347E}"/>
              </a:ext>
            </a:extLst>
          </p:cNvPr>
          <p:cNvSpPr txBox="1"/>
          <p:nvPr/>
        </p:nvSpPr>
        <p:spPr>
          <a:xfrm>
            <a:off x="9795984" y="1167824"/>
            <a:ext cx="189519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Pregnancy Test</a:t>
            </a:r>
          </a:p>
          <a:p>
            <a:r>
              <a:rPr lang="en-US" sz="2200" dirty="0"/>
              <a:t>CBC</a:t>
            </a:r>
          </a:p>
          <a:p>
            <a:r>
              <a:rPr lang="en-US" sz="2200" dirty="0"/>
              <a:t>Iron studies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01631F3-E699-4FA4-9B0C-031BCBF852EF}"/>
              </a:ext>
            </a:extLst>
          </p:cNvPr>
          <p:cNvSpPr txBox="1"/>
          <p:nvPr/>
        </p:nvSpPr>
        <p:spPr>
          <a:xfrm>
            <a:off x="2321927" y="1011270"/>
            <a:ext cx="2805484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All patients with AUB require the following basic tests: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8965BD-3CC4-4B38-8814-3712BD83A0DB}"/>
              </a:ext>
            </a:extLst>
          </p:cNvPr>
          <p:cNvCxnSpPr>
            <a:cxnSpLocks/>
            <a:stCxn id="78" idx="3"/>
            <a:endCxn id="77" idx="1"/>
          </p:cNvCxnSpPr>
          <p:nvPr/>
        </p:nvCxnSpPr>
        <p:spPr>
          <a:xfrm>
            <a:off x="3375376" y="5882244"/>
            <a:ext cx="349293" cy="0"/>
          </a:xfrm>
          <a:prstGeom prst="line">
            <a:avLst/>
          </a:prstGeom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isk factors for hyperplasia">
            <a:extLst>
              <a:ext uri="{FF2B5EF4-FFF2-40B4-BE49-F238E27FC236}">
                <a16:creationId xmlns:a16="http://schemas.microsoft.com/office/drawing/2014/main" id="{C2FA63B1-4063-4041-9523-C8A4D49A15EB}"/>
              </a:ext>
            </a:extLst>
          </p:cNvPr>
          <p:cNvSpPr/>
          <p:nvPr/>
        </p:nvSpPr>
        <p:spPr>
          <a:xfrm>
            <a:off x="594533" y="5526188"/>
            <a:ext cx="2780843" cy="71211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Who should receive an endometrial biopsy?</a:t>
            </a:r>
          </a:p>
        </p:txBody>
      </p:sp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730FB84A-383D-4277-B6D0-5554F43830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24500" y="6085106"/>
            <a:ext cx="301752" cy="301752"/>
          </a:xfrm>
          <a:prstGeom prst="rect">
            <a:avLst/>
          </a:prstGeom>
        </p:spPr>
      </p:pic>
      <p:sp>
        <p:nvSpPr>
          <p:cNvPr id="60" name="Risk factors for hyperplasia">
            <a:extLst>
              <a:ext uri="{FF2B5EF4-FFF2-40B4-BE49-F238E27FC236}">
                <a16:creationId xmlns:a16="http://schemas.microsoft.com/office/drawing/2014/main" id="{739BBDF5-C776-4C63-B121-0D9326DB3A43}"/>
              </a:ext>
            </a:extLst>
          </p:cNvPr>
          <p:cNvSpPr/>
          <p:nvPr/>
        </p:nvSpPr>
        <p:spPr>
          <a:xfrm>
            <a:off x="8325936" y="5372995"/>
            <a:ext cx="2780843" cy="71211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do we initiate cause-specific workups?</a:t>
            </a:r>
          </a:p>
        </p:txBody>
      </p: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DD5AF57F-7212-4AAC-9458-CCED4F2E26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74418" y="5918438"/>
            <a:ext cx="301752" cy="301752"/>
          </a:xfrm>
          <a:prstGeom prst="rect">
            <a:avLst/>
          </a:prstGeom>
        </p:spPr>
      </p:pic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C9D42BDA-EA25-4185-BD01-0F4E6F2D95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9897" y="2176883"/>
            <a:ext cx="301752" cy="301752"/>
          </a:xfrm>
          <a:prstGeom prst="rect">
            <a:avLst/>
          </a:prstGeom>
        </p:spPr>
      </p:pic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AB0EDF94-B23B-4F17-935E-37D519787B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9897" y="3329103"/>
            <a:ext cx="301752" cy="301752"/>
          </a:xfrm>
          <a:prstGeom prst="rect">
            <a:avLst/>
          </a:prstGeom>
        </p:spPr>
      </p:pic>
      <p:pic>
        <p:nvPicPr>
          <p:cNvPr id="51" name="Picture 50" descr="Icon&#10;&#10;Description automatically generated">
            <a:extLst>
              <a:ext uri="{FF2B5EF4-FFF2-40B4-BE49-F238E27FC236}">
                <a16:creationId xmlns:a16="http://schemas.microsoft.com/office/drawing/2014/main" id="{7F4F6724-2A91-48CA-BA18-C668879ECB6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127" y="6345344"/>
            <a:ext cx="1393873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95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</p:childTnLst>
        </p:cTn>
      </p:par>
    </p:tnLst>
    <p:bldLst>
      <p:bldP spid="57" grpId="0" animBg="1"/>
      <p:bldP spid="61" grpId="0" animBg="1"/>
      <p:bldP spid="65" grpId="0" animBg="1"/>
      <p:bldP spid="77" grpId="0" animBg="1"/>
      <p:bldP spid="80" grpId="0"/>
      <p:bldP spid="78" grpId="0" animBg="1"/>
      <p:bldP spid="78" grpId="1" animBg="1"/>
      <p:bldP spid="60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24">
            <a:extLst>
              <a:ext uri="{FF2B5EF4-FFF2-40B4-BE49-F238E27FC236}">
                <a16:creationId xmlns:a16="http://schemas.microsoft.com/office/drawing/2014/main" id="{79BEC07A-9A33-4196-B0E0-F11EF9184BD2}"/>
              </a:ext>
            </a:extLst>
          </p:cNvPr>
          <p:cNvSpPr txBox="1"/>
          <p:nvPr/>
        </p:nvSpPr>
        <p:spPr>
          <a:xfrm>
            <a:off x="2362756" y="5967651"/>
            <a:ext cx="3379771" cy="71508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I</a:t>
            </a:r>
            <a:r>
              <a:rPr lang="en-US" sz="2400" dirty="0">
                <a:solidFill>
                  <a:schemeClr val="bg1"/>
                </a:solidFill>
              </a:rPr>
              <a:t>atrogenic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BAD0E66-3324-4E89-9C04-2F86E6076D42}"/>
              </a:ext>
            </a:extLst>
          </p:cNvPr>
          <p:cNvSpPr txBox="1"/>
          <p:nvPr/>
        </p:nvSpPr>
        <p:spPr>
          <a:xfrm>
            <a:off x="2359248" y="4728471"/>
            <a:ext cx="3383280" cy="1005840"/>
          </a:xfrm>
          <a:prstGeom prst="roundRect">
            <a:avLst>
              <a:gd name="adj" fmla="val 17827"/>
            </a:avLst>
          </a:prstGeom>
          <a:solidFill>
            <a:schemeClr val="accent2"/>
          </a:solidFill>
          <a:ln w="38100">
            <a:solidFill>
              <a:schemeClr val="accent2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E</a:t>
            </a:r>
            <a:r>
              <a:rPr lang="en-US" sz="2400" dirty="0">
                <a:solidFill>
                  <a:schemeClr val="bg1"/>
                </a:solidFill>
              </a:rPr>
              <a:t>ndometrial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E74CD0D-EF3C-4EC9-8731-7BE0766AF075}"/>
              </a:ext>
            </a:extLst>
          </p:cNvPr>
          <p:cNvSpPr txBox="1"/>
          <p:nvPr/>
        </p:nvSpPr>
        <p:spPr>
          <a:xfrm>
            <a:off x="2359248" y="2517045"/>
            <a:ext cx="3383280" cy="2011680"/>
          </a:xfrm>
          <a:prstGeom prst="roundRect">
            <a:avLst>
              <a:gd name="adj" fmla="val 11150"/>
            </a:avLst>
          </a:prstGeom>
          <a:solidFill>
            <a:srgbClr val="7030A0"/>
          </a:solidFill>
          <a:ln w="38100">
            <a:solidFill>
              <a:srgbClr val="7030A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O</a:t>
            </a:r>
            <a:r>
              <a:rPr lang="en-US" sz="2400" dirty="0">
                <a:solidFill>
                  <a:schemeClr val="bg1"/>
                </a:solidFill>
              </a:rPr>
              <a:t>vulatory dysfunction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2855CF-E8F3-4BB4-8178-0E73F230DD43}"/>
              </a:ext>
            </a:extLst>
          </p:cNvPr>
          <p:cNvSpPr txBox="1"/>
          <p:nvPr/>
        </p:nvSpPr>
        <p:spPr>
          <a:xfrm>
            <a:off x="2359248" y="1259275"/>
            <a:ext cx="3383280" cy="1097280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</a:t>
            </a:r>
            <a:r>
              <a:rPr lang="en-US" sz="2400" dirty="0">
                <a:solidFill>
                  <a:schemeClr val="bg1"/>
                </a:solidFill>
              </a:rPr>
              <a:t>oagulopathy</a:t>
            </a:r>
          </a:p>
        </p:txBody>
      </p:sp>
      <p:sp>
        <p:nvSpPr>
          <p:cNvPr id="63" name="Coagulopathy case">
            <a:extLst>
              <a:ext uri="{FF2B5EF4-FFF2-40B4-BE49-F238E27FC236}">
                <a16:creationId xmlns:a16="http://schemas.microsoft.com/office/drawing/2014/main" id="{9B1B10F1-949A-47D5-A012-173F69222576}"/>
              </a:ext>
            </a:extLst>
          </p:cNvPr>
          <p:cNvSpPr txBox="1"/>
          <p:nvPr/>
        </p:nvSpPr>
        <p:spPr>
          <a:xfrm>
            <a:off x="2362757" y="1261795"/>
            <a:ext cx="3383280" cy="1097280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Very heavy periods since menarche, soaking through pads. Mom has recurrent nosebleeds.  </a:t>
            </a:r>
          </a:p>
        </p:txBody>
      </p:sp>
      <p:sp>
        <p:nvSpPr>
          <p:cNvPr id="30" name="Idiopathic case">
            <a:extLst>
              <a:ext uri="{FF2B5EF4-FFF2-40B4-BE49-F238E27FC236}">
                <a16:creationId xmlns:a16="http://schemas.microsoft.com/office/drawing/2014/main" id="{7CEEAD55-A4F6-474E-8AE6-D78468CB9ECF}"/>
              </a:ext>
            </a:extLst>
          </p:cNvPr>
          <p:cNvSpPr txBox="1"/>
          <p:nvPr/>
        </p:nvSpPr>
        <p:spPr>
          <a:xfrm>
            <a:off x="2359247" y="5951824"/>
            <a:ext cx="3383280" cy="731520"/>
          </a:xfrm>
          <a:prstGeom prst="roundRect">
            <a:avLst/>
          </a:prstGeom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Recently placed Nexplanon with irregular spotting. 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30F58972-29F5-0947-B01B-CC85B419180B}"/>
              </a:ext>
            </a:extLst>
          </p:cNvPr>
          <p:cNvSpPr/>
          <p:nvPr/>
        </p:nvSpPr>
        <p:spPr>
          <a:xfrm>
            <a:off x="2644289" y="705836"/>
            <a:ext cx="2844040" cy="590937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Patient Presentation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B7B5D21-9B90-104F-B729-7151F1328BF6}"/>
              </a:ext>
            </a:extLst>
          </p:cNvPr>
          <p:cNvSpPr/>
          <p:nvPr/>
        </p:nvSpPr>
        <p:spPr>
          <a:xfrm>
            <a:off x="8904562" y="715764"/>
            <a:ext cx="3045823" cy="58101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Evaluation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832AF49-16E6-6A4F-8103-A71E69AC93FB}"/>
              </a:ext>
            </a:extLst>
          </p:cNvPr>
          <p:cNvSpPr txBox="1"/>
          <p:nvPr/>
        </p:nvSpPr>
        <p:spPr>
          <a:xfrm>
            <a:off x="9325844" y="6036409"/>
            <a:ext cx="2396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Address underlying cause</a:t>
            </a:r>
            <a:endParaRPr lang="en-US" u="sng" dirty="0"/>
          </a:p>
        </p:txBody>
      </p:sp>
      <p:sp>
        <p:nvSpPr>
          <p:cNvPr id="46" name="PCOS case">
            <a:extLst>
              <a:ext uri="{FF2B5EF4-FFF2-40B4-BE49-F238E27FC236}">
                <a16:creationId xmlns:a16="http://schemas.microsoft.com/office/drawing/2014/main" id="{7A1D217B-822C-634E-82E6-530D0027E182}"/>
              </a:ext>
            </a:extLst>
          </p:cNvPr>
          <p:cNvSpPr txBox="1"/>
          <p:nvPr/>
        </p:nvSpPr>
        <p:spPr>
          <a:xfrm>
            <a:off x="2362757" y="2517045"/>
            <a:ext cx="3383279" cy="2011680"/>
          </a:xfrm>
          <a:prstGeom prst="roundRect">
            <a:avLst>
              <a:gd name="adj" fmla="val 10353"/>
            </a:avLst>
          </a:prstGeom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Irregular menses since menarche with insulin resistance and facial hair.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3290413-4732-5448-AD93-6A9B536409E1}"/>
              </a:ext>
            </a:extLst>
          </p:cNvPr>
          <p:cNvSpPr txBox="1"/>
          <p:nvPr/>
        </p:nvSpPr>
        <p:spPr>
          <a:xfrm>
            <a:off x="9185802" y="1297695"/>
            <a:ext cx="2676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Von Willebrand panel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PT/INR, PTT,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Factor activity </a:t>
            </a:r>
          </a:p>
        </p:txBody>
      </p:sp>
      <p:sp>
        <p:nvSpPr>
          <p:cNvPr id="49" name="Endometrial case">
            <a:extLst>
              <a:ext uri="{FF2B5EF4-FFF2-40B4-BE49-F238E27FC236}">
                <a16:creationId xmlns:a16="http://schemas.microsoft.com/office/drawing/2014/main" id="{F4DE175F-2DF8-8E4E-B812-0B69F0D1D389}"/>
              </a:ext>
            </a:extLst>
          </p:cNvPr>
          <p:cNvSpPr txBox="1"/>
          <p:nvPr/>
        </p:nvSpPr>
        <p:spPr>
          <a:xfrm>
            <a:off x="2362757" y="4721256"/>
            <a:ext cx="3383279" cy="1005840"/>
          </a:xfrm>
          <a:prstGeom prst="roundRect">
            <a:avLst/>
          </a:prstGeom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Pain with intercourse + irregular, light bleeding and vaginal discharge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E7DB618-3C62-A74A-812A-416ED9FC1718}"/>
              </a:ext>
            </a:extLst>
          </p:cNvPr>
          <p:cNvSpPr txBox="1"/>
          <p:nvPr/>
        </p:nvSpPr>
        <p:spPr>
          <a:xfrm>
            <a:off x="9563099" y="5080765"/>
            <a:ext cx="201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STI testing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5D65DE1B-DCB2-0741-A931-53E8F8098827}"/>
              </a:ext>
            </a:extLst>
          </p:cNvPr>
          <p:cNvSpPr/>
          <p:nvPr/>
        </p:nvSpPr>
        <p:spPr>
          <a:xfrm>
            <a:off x="6040746" y="715764"/>
            <a:ext cx="2703573" cy="581009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Clues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78FABB9-CA1B-9C41-B3DF-387B5B077144}"/>
              </a:ext>
            </a:extLst>
          </p:cNvPr>
          <p:cNvSpPr/>
          <p:nvPr/>
        </p:nvSpPr>
        <p:spPr>
          <a:xfrm>
            <a:off x="6120047" y="1234629"/>
            <a:ext cx="27273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Strong personal or family bleeding history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Heavy menses since menarche</a:t>
            </a:r>
            <a:endParaRPr lang="en-US" b="1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1169A63-E703-6744-90BA-8CB4E0001140}"/>
              </a:ext>
            </a:extLst>
          </p:cNvPr>
          <p:cNvSpPr/>
          <p:nvPr/>
        </p:nvSpPr>
        <p:spPr>
          <a:xfrm>
            <a:off x="6113229" y="4897788"/>
            <a:ext cx="26721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Sexual history, inflammatory conditions</a:t>
            </a:r>
          </a:p>
        </p:txBody>
      </p:sp>
      <p:sp>
        <p:nvSpPr>
          <p:cNvPr id="59" name="Idiopathic clues">
            <a:extLst>
              <a:ext uri="{FF2B5EF4-FFF2-40B4-BE49-F238E27FC236}">
                <a16:creationId xmlns:a16="http://schemas.microsoft.com/office/drawing/2014/main" id="{103892D2-19CB-ED49-83B7-5B7C39D5A47F}"/>
              </a:ext>
            </a:extLst>
          </p:cNvPr>
          <p:cNvSpPr txBox="1"/>
          <p:nvPr/>
        </p:nvSpPr>
        <p:spPr>
          <a:xfrm>
            <a:off x="6019139" y="5853719"/>
            <a:ext cx="298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Medical history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Medication</a:t>
            </a:r>
          </a:p>
          <a:p>
            <a:pPr marL="114300" indent="-114300" algn="ctr">
              <a:buFont typeface="Arial" panose="020B0604020202020204" pitchFamily="34" charset="0"/>
              <a:buChar char="•"/>
            </a:pPr>
            <a:r>
              <a:rPr lang="en-US" dirty="0"/>
              <a:t>Recent surgeries/procedures</a:t>
            </a:r>
          </a:p>
        </p:txBody>
      </p:sp>
      <p:sp>
        <p:nvSpPr>
          <p:cNvPr id="39" name="sub-q 1 button">
            <a:extLst>
              <a:ext uri="{FF2B5EF4-FFF2-40B4-BE49-F238E27FC236}">
                <a16:creationId xmlns:a16="http://schemas.microsoft.com/office/drawing/2014/main" id="{08E17744-C190-447F-8440-A0B2ADAB68BF}"/>
              </a:ext>
            </a:extLst>
          </p:cNvPr>
          <p:cNvSpPr txBox="1"/>
          <p:nvPr/>
        </p:nvSpPr>
        <p:spPr>
          <a:xfrm>
            <a:off x="491433" y="3055701"/>
            <a:ext cx="155448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Nonstructural</a:t>
            </a:r>
          </a:p>
        </p:txBody>
      </p:sp>
      <p:sp>
        <p:nvSpPr>
          <p:cNvPr id="40" name="sub-q 1 button">
            <a:hlinkClick r:id="rId3" action="ppaction://hlinksldjump"/>
            <a:extLst>
              <a:ext uri="{FF2B5EF4-FFF2-40B4-BE49-F238E27FC236}">
                <a16:creationId xmlns:a16="http://schemas.microsoft.com/office/drawing/2014/main" id="{F340F4A0-8497-47BB-A653-324B8F26978F}"/>
              </a:ext>
            </a:extLst>
          </p:cNvPr>
          <p:cNvSpPr txBox="1"/>
          <p:nvPr/>
        </p:nvSpPr>
        <p:spPr>
          <a:xfrm>
            <a:off x="491433" y="192464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Basic Workup</a:t>
            </a:r>
          </a:p>
        </p:txBody>
      </p:sp>
      <p:sp>
        <p:nvSpPr>
          <p:cNvPr id="41" name="Cases">
            <a:hlinkClick r:id="rId4" action="ppaction://hlinksldjump"/>
            <a:extLst>
              <a:ext uri="{FF2B5EF4-FFF2-40B4-BE49-F238E27FC236}">
                <a16:creationId xmlns:a16="http://schemas.microsoft.com/office/drawing/2014/main" id="{A70E1F22-5B00-4A94-BBC9-4A581CAC1C4F}"/>
              </a:ext>
            </a:extLst>
          </p:cNvPr>
          <p:cNvSpPr txBox="1"/>
          <p:nvPr/>
        </p:nvSpPr>
        <p:spPr>
          <a:xfrm>
            <a:off x="205792" y="3647465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97DA7AA1-1452-4F13-924B-691069BA73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3905212"/>
            <a:ext cx="301752" cy="301752"/>
          </a:xfrm>
          <a:prstGeom prst="rect">
            <a:avLst/>
          </a:prstGeom>
        </p:spPr>
      </p:pic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9FF4A32-E109-484B-8C7B-23593D95EDC9}"/>
              </a:ext>
            </a:extLst>
          </p:cNvPr>
          <p:cNvCxnSpPr>
            <a:cxnSpLocks/>
            <a:endCxn id="40" idx="1"/>
          </p:cNvCxnSpPr>
          <p:nvPr/>
        </p:nvCxnSpPr>
        <p:spPr>
          <a:xfrm rot="16200000" flipH="1">
            <a:off x="213769" y="1851289"/>
            <a:ext cx="377990" cy="17733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39678190-3F3A-4D6C-BF28-8533CF23A624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113623" y="2316673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sub-q 1 button">
            <a:hlinkClick r:id="rId7" action="ppaction://hlinksldjump"/>
            <a:extLst>
              <a:ext uri="{FF2B5EF4-FFF2-40B4-BE49-F238E27FC236}">
                <a16:creationId xmlns:a16="http://schemas.microsoft.com/office/drawing/2014/main" id="{2A8BFEC0-2A8C-452C-A3A9-8E2362421699}"/>
              </a:ext>
            </a:extLst>
          </p:cNvPr>
          <p:cNvSpPr txBox="1"/>
          <p:nvPr/>
        </p:nvSpPr>
        <p:spPr>
          <a:xfrm>
            <a:off x="491433" y="249017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Structural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F93CC9C-E6E9-4307-AF49-C1F48DB7B17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3623" y="2901506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AD81D615-C30F-4BB3-8A81-8A6A33CD3D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2176883"/>
            <a:ext cx="301752" cy="301752"/>
          </a:xfrm>
          <a:prstGeom prst="rect">
            <a:avLst/>
          </a:prstGeom>
        </p:spPr>
      </p:pic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1BBA6009-5B2B-411A-816B-6E3DAAB482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2752993"/>
            <a:ext cx="301752" cy="301752"/>
          </a:xfrm>
          <a:prstGeom prst="rect">
            <a:avLst/>
          </a:prstGeom>
        </p:spPr>
      </p:pic>
      <p:sp>
        <p:nvSpPr>
          <p:cNvPr id="53" name="question 1">
            <a:hlinkClick r:id="rId8" action="ppaction://hlinksldjump"/>
            <a:extLst>
              <a:ext uri="{FF2B5EF4-FFF2-40B4-BE49-F238E27FC236}">
                <a16:creationId xmlns:a16="http://schemas.microsoft.com/office/drawing/2014/main" id="{F1CFEB19-BC7A-4865-B0E5-C56E3D7725AD}"/>
              </a:ext>
            </a:extLst>
          </p:cNvPr>
          <p:cNvSpPr txBox="1"/>
          <p:nvPr/>
        </p:nvSpPr>
        <p:spPr>
          <a:xfrm>
            <a:off x="217113" y="18922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is AUB?</a:t>
            </a:r>
          </a:p>
        </p:txBody>
      </p:sp>
      <p:sp>
        <p:nvSpPr>
          <p:cNvPr id="54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0C644D76-9BBE-4BDE-9513-749F3974518D}"/>
              </a:ext>
            </a:extLst>
          </p:cNvPr>
          <p:cNvSpPr txBox="1"/>
          <p:nvPr/>
        </p:nvSpPr>
        <p:spPr>
          <a:xfrm>
            <a:off x="217113" y="760517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Causes</a:t>
            </a:r>
          </a:p>
        </p:txBody>
      </p:sp>
      <p:sp>
        <p:nvSpPr>
          <p:cNvPr id="55" name="question 4">
            <a:hlinkClick r:id="rId3" action="ppaction://hlinksldjump"/>
            <a:extLst>
              <a:ext uri="{FF2B5EF4-FFF2-40B4-BE49-F238E27FC236}">
                <a16:creationId xmlns:a16="http://schemas.microsoft.com/office/drawing/2014/main" id="{3B8C4447-4DBA-4359-B7D8-0F1BB7E0CD09}"/>
              </a:ext>
            </a:extLst>
          </p:cNvPr>
          <p:cNvSpPr txBox="1"/>
          <p:nvPr/>
        </p:nvSpPr>
        <p:spPr>
          <a:xfrm>
            <a:off x="217113" y="1331812"/>
            <a:ext cx="18288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Work-up</a:t>
            </a:r>
          </a:p>
        </p:txBody>
      </p: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669C0AE8-AED2-4A2D-9B5D-050EA01016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448553"/>
            <a:ext cx="301752" cy="301752"/>
          </a:xfrm>
          <a:prstGeom prst="rect">
            <a:avLst/>
          </a:prstGeom>
        </p:spPr>
      </p:pic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7F1FA6C0-34A8-4B11-A3AC-788DAA0C7C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1019531"/>
            <a:ext cx="301752" cy="30175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B565419-0764-436E-994D-09AEFA9BBF80}"/>
              </a:ext>
            </a:extLst>
          </p:cNvPr>
          <p:cNvSpPr txBox="1"/>
          <p:nvPr/>
        </p:nvSpPr>
        <p:spPr>
          <a:xfrm>
            <a:off x="2864381" y="170509"/>
            <a:ext cx="8411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do you work-up functional causes of AUB?</a:t>
            </a: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1D771126-D603-4153-AB24-0E11A72A99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4353" y="2203283"/>
            <a:ext cx="301752" cy="301752"/>
          </a:xfrm>
          <a:prstGeom prst="rect">
            <a:avLst/>
          </a:prstGeom>
        </p:spPr>
      </p:pic>
      <p:sp>
        <p:nvSpPr>
          <p:cNvPr id="66" name="Coagulopathy Clue">
            <a:extLst>
              <a:ext uri="{FF2B5EF4-FFF2-40B4-BE49-F238E27FC236}">
                <a16:creationId xmlns:a16="http://schemas.microsoft.com/office/drawing/2014/main" id="{86817267-F602-485F-9E12-06F88D6D63D2}"/>
              </a:ext>
            </a:extLst>
          </p:cNvPr>
          <p:cNvSpPr txBox="1"/>
          <p:nvPr/>
        </p:nvSpPr>
        <p:spPr>
          <a:xfrm>
            <a:off x="6009031" y="1259275"/>
            <a:ext cx="2834640" cy="1097280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Clues to diagnosis?</a:t>
            </a:r>
          </a:p>
        </p:txBody>
      </p:sp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103DCABC-5777-4542-9EA5-45A8FABBBF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5936" y="2203283"/>
            <a:ext cx="301752" cy="301752"/>
          </a:xfrm>
          <a:prstGeom prst="rect">
            <a:avLst/>
          </a:prstGeom>
        </p:spPr>
      </p:pic>
      <p:sp>
        <p:nvSpPr>
          <p:cNvPr id="68" name="Coagulopathy Next step">
            <a:extLst>
              <a:ext uri="{FF2B5EF4-FFF2-40B4-BE49-F238E27FC236}">
                <a16:creationId xmlns:a16="http://schemas.microsoft.com/office/drawing/2014/main" id="{6E92F450-56FA-40E8-B864-ECC7D9ECF2A4}"/>
              </a:ext>
            </a:extLst>
          </p:cNvPr>
          <p:cNvSpPr txBox="1"/>
          <p:nvPr/>
        </p:nvSpPr>
        <p:spPr>
          <a:xfrm>
            <a:off x="9238753" y="1259275"/>
            <a:ext cx="2377440" cy="1097280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Next steps in evaluation?</a:t>
            </a:r>
          </a:p>
        </p:txBody>
      </p:sp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585B74A7-967C-45D9-B704-60C66D4753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8421" y="2221025"/>
            <a:ext cx="301752" cy="301752"/>
          </a:xfrm>
          <a:prstGeom prst="rect">
            <a:avLst/>
          </a:prstGeom>
        </p:spPr>
      </p:pic>
      <p:pic>
        <p:nvPicPr>
          <p:cNvPr id="70" name="Graphic 69" descr="Cursor with solid fill">
            <a:extLst>
              <a:ext uri="{FF2B5EF4-FFF2-40B4-BE49-F238E27FC236}">
                <a16:creationId xmlns:a16="http://schemas.microsoft.com/office/drawing/2014/main" id="{E26B2B12-B91F-48FE-86A2-4FAED4FD1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4353" y="4368453"/>
            <a:ext cx="301752" cy="30175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E0FCB70-1295-4945-A2EA-5823E5CB91DA}"/>
              </a:ext>
            </a:extLst>
          </p:cNvPr>
          <p:cNvGrpSpPr/>
          <p:nvPr/>
        </p:nvGrpSpPr>
        <p:grpSpPr>
          <a:xfrm>
            <a:off x="5725156" y="2538363"/>
            <a:ext cx="3685168" cy="2315521"/>
            <a:chOff x="5805499" y="2555771"/>
            <a:chExt cx="3696778" cy="23155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F07497-4407-416E-886E-8234189994E3}"/>
                </a:ext>
              </a:extLst>
            </p:cNvPr>
            <p:cNvSpPr txBox="1"/>
            <p:nvPr/>
          </p:nvSpPr>
          <p:spPr>
            <a:xfrm>
              <a:off x="6114838" y="2555771"/>
              <a:ext cx="1148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 dirty="0"/>
                <a:t>Exam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E6A937A-FDD8-4851-81C0-F8BC96DCF3DB}"/>
                </a:ext>
              </a:extLst>
            </p:cNvPr>
            <p:cNvSpPr txBox="1"/>
            <p:nvPr/>
          </p:nvSpPr>
          <p:spPr>
            <a:xfrm>
              <a:off x="7726899" y="2555771"/>
              <a:ext cx="1148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 dirty="0"/>
                <a:t>Diagnosis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F7F7C7F-2DCC-44C0-82D9-6C269178A20D}"/>
                </a:ext>
              </a:extLst>
            </p:cNvPr>
            <p:cNvSpPr txBox="1"/>
            <p:nvPr/>
          </p:nvSpPr>
          <p:spPr>
            <a:xfrm>
              <a:off x="6114838" y="2889679"/>
              <a:ext cx="11484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</a:rPr>
                <a:t>Hirsutism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DDE1637-A67C-4EE1-95E5-457A3506889C}"/>
                </a:ext>
              </a:extLst>
            </p:cNvPr>
            <p:cNvSpPr txBox="1"/>
            <p:nvPr/>
          </p:nvSpPr>
          <p:spPr>
            <a:xfrm>
              <a:off x="5805499" y="3284709"/>
              <a:ext cx="17671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Breast discharge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F0BDB9B-2348-4F2E-B934-4942561F0DF8}"/>
                </a:ext>
              </a:extLst>
            </p:cNvPr>
            <p:cNvSpPr txBox="1"/>
            <p:nvPr/>
          </p:nvSpPr>
          <p:spPr>
            <a:xfrm>
              <a:off x="7726899" y="2889679"/>
              <a:ext cx="11484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7030A0"/>
                  </a:solidFill>
                </a:rPr>
                <a:t>PCOS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F59A6ED-AAF8-4E44-9C25-1375ED3740A8}"/>
                </a:ext>
              </a:extLst>
            </p:cNvPr>
            <p:cNvSpPr txBox="1"/>
            <p:nvPr/>
          </p:nvSpPr>
          <p:spPr>
            <a:xfrm>
              <a:off x="7550679" y="3284709"/>
              <a:ext cx="15008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Prolactinoma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E6B8B64-F9EE-40D5-8349-07918AB19478}"/>
                </a:ext>
              </a:extLst>
            </p:cNvPr>
            <p:cNvSpPr txBox="1"/>
            <p:nvPr/>
          </p:nvSpPr>
          <p:spPr>
            <a:xfrm>
              <a:off x="5805499" y="3618645"/>
              <a:ext cx="17671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Hot flashes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0719750-BEEC-4347-A7D1-D5FBF68381CC}"/>
                </a:ext>
              </a:extLst>
            </p:cNvPr>
            <p:cNvSpPr txBox="1"/>
            <p:nvPr/>
          </p:nvSpPr>
          <p:spPr>
            <a:xfrm>
              <a:off x="7408261" y="3618645"/>
              <a:ext cx="17671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Perimenopause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D7A137E-06ED-4861-BF44-75DA0DEF1B7A}"/>
                </a:ext>
              </a:extLst>
            </p:cNvPr>
            <p:cNvSpPr txBox="1"/>
            <p:nvPr/>
          </p:nvSpPr>
          <p:spPr>
            <a:xfrm>
              <a:off x="5805499" y="3952581"/>
              <a:ext cx="17671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Weight ↑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5CDCC43-78AE-41D8-9271-E1D12C84FA06}"/>
                </a:ext>
              </a:extLst>
            </p:cNvPr>
            <p:cNvSpPr txBox="1"/>
            <p:nvPr/>
          </p:nvSpPr>
          <p:spPr>
            <a:xfrm>
              <a:off x="7270873" y="3952581"/>
              <a:ext cx="20824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Cushing’s, ↓thyroid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3401D3A-1121-48CB-BF29-C940E4AA8BAC}"/>
                </a:ext>
              </a:extLst>
            </p:cNvPr>
            <p:cNvSpPr txBox="1"/>
            <p:nvPr/>
          </p:nvSpPr>
          <p:spPr>
            <a:xfrm>
              <a:off x="5805499" y="4286517"/>
              <a:ext cx="17671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Weight ↓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851FF8B-D61B-48DA-8256-8B16AB018CB7}"/>
                </a:ext>
              </a:extLst>
            </p:cNvPr>
            <p:cNvSpPr txBox="1"/>
            <p:nvPr/>
          </p:nvSpPr>
          <p:spPr>
            <a:xfrm>
              <a:off x="7130917" y="4286517"/>
              <a:ext cx="237136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/>
                <a:t>Stress, anorexia, ↑thyroid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B87764-8F18-4949-8CF7-DDBAEBA343AC}"/>
              </a:ext>
            </a:extLst>
          </p:cNvPr>
          <p:cNvGrpSpPr/>
          <p:nvPr/>
        </p:nvGrpSpPr>
        <p:grpSpPr>
          <a:xfrm>
            <a:off x="9120772" y="2538363"/>
            <a:ext cx="2877274" cy="2122534"/>
            <a:chOff x="9105548" y="2502537"/>
            <a:chExt cx="2877274" cy="2122534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6B38725-016D-4BE6-97DA-670A0EA420CA}"/>
                </a:ext>
              </a:extLst>
            </p:cNvPr>
            <p:cNvSpPr txBox="1"/>
            <p:nvPr/>
          </p:nvSpPr>
          <p:spPr>
            <a:xfrm>
              <a:off x="9766945" y="2502537"/>
              <a:ext cx="155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 dirty="0"/>
                <a:t>Evaluation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7B92C6E-3596-433E-AC23-991D3162D932}"/>
                </a:ext>
              </a:extLst>
            </p:cNvPr>
            <p:cNvSpPr txBox="1"/>
            <p:nvPr/>
          </p:nvSpPr>
          <p:spPr>
            <a:xfrm>
              <a:off x="9105548" y="2766569"/>
              <a:ext cx="287727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</a:rPr>
                <a:t>Total testosterone, 17-OH progesterone, ± DHEAS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4C523AB-792B-48D4-836E-68AA93220114}"/>
                </a:ext>
              </a:extLst>
            </p:cNvPr>
            <p:cNvSpPr txBox="1"/>
            <p:nvPr/>
          </p:nvSpPr>
          <p:spPr>
            <a:xfrm>
              <a:off x="9273400" y="3284709"/>
              <a:ext cx="25415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Prolactin, TSH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826A78-0E9C-47E3-AF32-23E9DA541EAB}"/>
                </a:ext>
              </a:extLst>
            </p:cNvPr>
            <p:cNvSpPr txBox="1"/>
            <p:nvPr/>
          </p:nvSpPr>
          <p:spPr>
            <a:xfrm>
              <a:off x="9273400" y="3618645"/>
              <a:ext cx="25415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FSH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28EDBDC-1FC5-4612-8466-291DA8EAA9C8}"/>
                </a:ext>
              </a:extLst>
            </p:cNvPr>
            <p:cNvSpPr txBox="1"/>
            <p:nvPr/>
          </p:nvSpPr>
          <p:spPr>
            <a:xfrm>
              <a:off x="9273400" y="3952581"/>
              <a:ext cx="25415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TSH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54A4953-F349-4203-8DBB-F1EDA316EFCB}"/>
                </a:ext>
              </a:extLst>
            </p:cNvPr>
            <p:cNvSpPr txBox="1"/>
            <p:nvPr/>
          </p:nvSpPr>
          <p:spPr>
            <a:xfrm>
              <a:off x="9273400" y="4286517"/>
              <a:ext cx="25415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TSH</a:t>
              </a:r>
            </a:p>
          </p:txBody>
        </p:sp>
      </p:grpSp>
      <p:sp>
        <p:nvSpPr>
          <p:cNvPr id="72" name="PCOS clues">
            <a:extLst>
              <a:ext uri="{FF2B5EF4-FFF2-40B4-BE49-F238E27FC236}">
                <a16:creationId xmlns:a16="http://schemas.microsoft.com/office/drawing/2014/main" id="{4BC74C1E-B239-4576-AFA3-2B69C5763DC6}"/>
              </a:ext>
            </a:extLst>
          </p:cNvPr>
          <p:cNvSpPr txBox="1"/>
          <p:nvPr/>
        </p:nvSpPr>
        <p:spPr>
          <a:xfrm>
            <a:off x="6009031" y="2517045"/>
            <a:ext cx="2834640" cy="2011680"/>
          </a:xfrm>
          <a:prstGeom prst="roundRect">
            <a:avLst>
              <a:gd name="adj" fmla="val 10353"/>
            </a:avLst>
          </a:prstGeom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Clues to diagnosis?</a:t>
            </a:r>
          </a:p>
        </p:txBody>
      </p:sp>
      <p:pic>
        <p:nvPicPr>
          <p:cNvPr id="100" name="Graphic 99" descr="Cursor with solid fill">
            <a:extLst>
              <a:ext uri="{FF2B5EF4-FFF2-40B4-BE49-F238E27FC236}">
                <a16:creationId xmlns:a16="http://schemas.microsoft.com/office/drawing/2014/main" id="{F491EAF7-1DB9-42C4-88B1-6DDA373A75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5936" y="4368453"/>
            <a:ext cx="301752" cy="301752"/>
          </a:xfrm>
          <a:prstGeom prst="rect">
            <a:avLst/>
          </a:prstGeom>
        </p:spPr>
      </p:pic>
      <p:sp>
        <p:nvSpPr>
          <p:cNvPr id="101" name="PCOS next steps">
            <a:extLst>
              <a:ext uri="{FF2B5EF4-FFF2-40B4-BE49-F238E27FC236}">
                <a16:creationId xmlns:a16="http://schemas.microsoft.com/office/drawing/2014/main" id="{78CE3B83-A79C-4614-B3DB-39B12E046A28}"/>
              </a:ext>
            </a:extLst>
          </p:cNvPr>
          <p:cNvSpPr txBox="1"/>
          <p:nvPr/>
        </p:nvSpPr>
        <p:spPr>
          <a:xfrm>
            <a:off x="9238753" y="2517045"/>
            <a:ext cx="2377440" cy="2011680"/>
          </a:xfrm>
          <a:prstGeom prst="roundRect">
            <a:avLst>
              <a:gd name="adj" fmla="val 10353"/>
            </a:avLst>
          </a:prstGeom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Next steps in evaluation?</a:t>
            </a:r>
          </a:p>
        </p:txBody>
      </p:sp>
      <p:pic>
        <p:nvPicPr>
          <p:cNvPr id="109" name="Graphic 108" descr="Cursor with solid fill">
            <a:extLst>
              <a:ext uri="{FF2B5EF4-FFF2-40B4-BE49-F238E27FC236}">
                <a16:creationId xmlns:a16="http://schemas.microsoft.com/office/drawing/2014/main" id="{2110D6A0-DDE8-4431-8FAD-2B62B5A76E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8421" y="4386195"/>
            <a:ext cx="301752" cy="301752"/>
          </a:xfrm>
          <a:prstGeom prst="rect">
            <a:avLst/>
          </a:prstGeom>
        </p:spPr>
      </p:pic>
      <p:pic>
        <p:nvPicPr>
          <p:cNvPr id="112" name="Graphic 111" descr="Cursor with solid fill">
            <a:extLst>
              <a:ext uri="{FF2B5EF4-FFF2-40B4-BE49-F238E27FC236}">
                <a16:creationId xmlns:a16="http://schemas.microsoft.com/office/drawing/2014/main" id="{21A90555-E3F5-4ACD-B52F-55A15B3230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4353" y="5572769"/>
            <a:ext cx="301752" cy="301752"/>
          </a:xfrm>
          <a:prstGeom prst="rect">
            <a:avLst/>
          </a:prstGeom>
        </p:spPr>
      </p:pic>
      <p:sp>
        <p:nvSpPr>
          <p:cNvPr id="121" name="Endometrial clues">
            <a:extLst>
              <a:ext uri="{FF2B5EF4-FFF2-40B4-BE49-F238E27FC236}">
                <a16:creationId xmlns:a16="http://schemas.microsoft.com/office/drawing/2014/main" id="{A970F89C-4965-4FB3-AA75-ADDFEB4F99FF}"/>
              </a:ext>
            </a:extLst>
          </p:cNvPr>
          <p:cNvSpPr txBox="1"/>
          <p:nvPr/>
        </p:nvSpPr>
        <p:spPr>
          <a:xfrm>
            <a:off x="5993593" y="4862267"/>
            <a:ext cx="2834640" cy="731520"/>
          </a:xfrm>
          <a:prstGeom prst="roundRect">
            <a:avLst>
              <a:gd name="adj" fmla="val 16666"/>
            </a:avLst>
          </a:prstGeom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Clues to diagnosis?</a:t>
            </a:r>
          </a:p>
        </p:txBody>
      </p:sp>
      <p:pic>
        <p:nvPicPr>
          <p:cNvPr id="122" name="Graphic 121" descr="Cursor with solid fill">
            <a:extLst>
              <a:ext uri="{FF2B5EF4-FFF2-40B4-BE49-F238E27FC236}">
                <a16:creationId xmlns:a16="http://schemas.microsoft.com/office/drawing/2014/main" id="{DB62E8A3-84C2-44D6-BA7E-5390BD05F3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77357" y="5433525"/>
            <a:ext cx="301752" cy="301752"/>
          </a:xfrm>
          <a:prstGeom prst="rect">
            <a:avLst/>
          </a:prstGeom>
        </p:spPr>
      </p:pic>
      <p:sp>
        <p:nvSpPr>
          <p:cNvPr id="123" name="Endometrial next steps">
            <a:extLst>
              <a:ext uri="{FF2B5EF4-FFF2-40B4-BE49-F238E27FC236}">
                <a16:creationId xmlns:a16="http://schemas.microsoft.com/office/drawing/2014/main" id="{8D7B9A65-595E-4415-A4BF-64FABC30D923}"/>
              </a:ext>
            </a:extLst>
          </p:cNvPr>
          <p:cNvSpPr txBox="1"/>
          <p:nvPr/>
        </p:nvSpPr>
        <p:spPr>
          <a:xfrm>
            <a:off x="9238753" y="4721256"/>
            <a:ext cx="2377440" cy="1005840"/>
          </a:xfrm>
          <a:prstGeom prst="roundRect">
            <a:avLst>
              <a:gd name="adj" fmla="val 19191"/>
            </a:avLst>
          </a:prstGeom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Next steps in evaluation?</a:t>
            </a:r>
          </a:p>
        </p:txBody>
      </p:sp>
      <p:pic>
        <p:nvPicPr>
          <p:cNvPr id="124" name="Graphic 123" descr="Cursor with solid fill">
            <a:extLst>
              <a:ext uri="{FF2B5EF4-FFF2-40B4-BE49-F238E27FC236}">
                <a16:creationId xmlns:a16="http://schemas.microsoft.com/office/drawing/2014/main" id="{85DDD82D-956D-4856-AD65-9934E5D282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8421" y="5590511"/>
            <a:ext cx="301752" cy="301752"/>
          </a:xfrm>
          <a:prstGeom prst="rect">
            <a:avLst/>
          </a:prstGeom>
        </p:spPr>
      </p:pic>
      <p:sp>
        <p:nvSpPr>
          <p:cNvPr id="132" name="Idiopathic clues">
            <a:extLst>
              <a:ext uri="{FF2B5EF4-FFF2-40B4-BE49-F238E27FC236}">
                <a16:creationId xmlns:a16="http://schemas.microsoft.com/office/drawing/2014/main" id="{BEDB3B20-894D-49AF-9DA0-51F8164F86E5}"/>
              </a:ext>
            </a:extLst>
          </p:cNvPr>
          <p:cNvSpPr txBox="1"/>
          <p:nvPr/>
        </p:nvSpPr>
        <p:spPr>
          <a:xfrm>
            <a:off x="6009031" y="5951824"/>
            <a:ext cx="2834640" cy="731520"/>
          </a:xfrm>
          <a:prstGeom prst="roundRect">
            <a:avLst>
              <a:gd name="adj" fmla="val 16666"/>
            </a:avLst>
          </a:prstGeom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Clues to diagnosis?</a:t>
            </a:r>
          </a:p>
        </p:txBody>
      </p:sp>
      <p:pic>
        <p:nvPicPr>
          <p:cNvPr id="133" name="Graphic 132" descr="Cursor with solid fill">
            <a:extLst>
              <a:ext uri="{FF2B5EF4-FFF2-40B4-BE49-F238E27FC236}">
                <a16:creationId xmlns:a16="http://schemas.microsoft.com/office/drawing/2014/main" id="{E23678F0-D6CF-47BE-9493-67CC5BE35C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85936" y="6475297"/>
            <a:ext cx="301752" cy="301752"/>
          </a:xfrm>
          <a:prstGeom prst="rect">
            <a:avLst/>
          </a:prstGeom>
        </p:spPr>
      </p:pic>
      <p:sp>
        <p:nvSpPr>
          <p:cNvPr id="134" name="Idiopathic next steps">
            <a:extLst>
              <a:ext uri="{FF2B5EF4-FFF2-40B4-BE49-F238E27FC236}">
                <a16:creationId xmlns:a16="http://schemas.microsoft.com/office/drawing/2014/main" id="{2108A2FE-B3C6-4473-80FD-21B438347BE2}"/>
              </a:ext>
            </a:extLst>
          </p:cNvPr>
          <p:cNvSpPr txBox="1"/>
          <p:nvPr/>
        </p:nvSpPr>
        <p:spPr>
          <a:xfrm>
            <a:off x="9238753" y="5951824"/>
            <a:ext cx="2377440" cy="731520"/>
          </a:xfrm>
          <a:prstGeom prst="roundRect">
            <a:avLst>
              <a:gd name="adj" fmla="val 19191"/>
            </a:avLst>
          </a:prstGeom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Next steps in evaluation?</a:t>
            </a:r>
          </a:p>
        </p:txBody>
      </p:sp>
      <p:pic>
        <p:nvPicPr>
          <p:cNvPr id="135" name="Graphic 134" descr="Cursor with solid fill">
            <a:extLst>
              <a:ext uri="{FF2B5EF4-FFF2-40B4-BE49-F238E27FC236}">
                <a16:creationId xmlns:a16="http://schemas.microsoft.com/office/drawing/2014/main" id="{9BB1F652-293C-4B1E-B5E6-54CD58A527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48421" y="6531864"/>
            <a:ext cx="301752" cy="301752"/>
          </a:xfrm>
          <a:prstGeom prst="rect">
            <a:avLst/>
          </a:prstGeom>
        </p:spPr>
      </p:pic>
      <p:pic>
        <p:nvPicPr>
          <p:cNvPr id="136" name="Graphic 135" descr="Cursor with solid fill">
            <a:extLst>
              <a:ext uri="{FF2B5EF4-FFF2-40B4-BE49-F238E27FC236}">
                <a16:creationId xmlns:a16="http://schemas.microsoft.com/office/drawing/2014/main" id="{A522DA64-61D1-4594-8241-5EC5FFE4C0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4353" y="6550058"/>
            <a:ext cx="301752" cy="301752"/>
          </a:xfrm>
          <a:prstGeom prst="rect">
            <a:avLst/>
          </a:prstGeom>
        </p:spPr>
      </p:pic>
      <p:sp>
        <p:nvSpPr>
          <p:cNvPr id="137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B79DF9CD-8C4C-4E1A-83C7-DCCD2491D65E}"/>
              </a:ext>
            </a:extLst>
          </p:cNvPr>
          <p:cNvSpPr txBox="1"/>
          <p:nvPr/>
        </p:nvSpPr>
        <p:spPr>
          <a:xfrm>
            <a:off x="217113" y="6260155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BONUS: HPO axis</a:t>
            </a:r>
          </a:p>
        </p:txBody>
      </p:sp>
      <p:pic>
        <p:nvPicPr>
          <p:cNvPr id="138" name="Graphic 137" descr="Cursor with solid fill">
            <a:extLst>
              <a:ext uri="{FF2B5EF4-FFF2-40B4-BE49-F238E27FC236}">
                <a16:creationId xmlns:a16="http://schemas.microsoft.com/office/drawing/2014/main" id="{3124210E-E805-4804-8FB5-9D8CE9832B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5037" y="653186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2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</p:childTnLst>
        </p:cTn>
      </p:par>
    </p:tnLst>
    <p:bldLst>
      <p:bldP spid="63" grpId="0" animBg="1"/>
      <p:bldP spid="30" grpId="0" animBg="1"/>
      <p:bldP spid="97" grpId="0"/>
      <p:bldP spid="46" grpId="0" animBg="1"/>
      <p:bldP spid="99" grpId="0"/>
      <p:bldP spid="49" grpId="0" animBg="1"/>
      <p:bldP spid="103" grpId="0"/>
      <p:bldP spid="57" grpId="0"/>
      <p:bldP spid="58" grpId="0"/>
      <p:bldP spid="59" grpId="0"/>
      <p:bldP spid="66" grpId="0" animBg="1"/>
      <p:bldP spid="66" grpId="1" animBg="1"/>
      <p:bldP spid="68" grpId="0" animBg="1"/>
      <p:bldP spid="68" grpId="1" animBg="1"/>
      <p:bldP spid="72" grpId="0" animBg="1"/>
      <p:bldP spid="72" grpId="1" animBg="1"/>
      <p:bldP spid="101" grpId="0" animBg="1"/>
      <p:bldP spid="101" grpId="1" animBg="1"/>
      <p:bldP spid="121" grpId="2" animBg="1"/>
      <p:bldP spid="121" grpId="3" animBg="1"/>
      <p:bldP spid="123" grpId="2" animBg="1"/>
      <p:bldP spid="123" grpId="3" animBg="1"/>
      <p:bldP spid="132" grpId="0" animBg="1"/>
      <p:bldP spid="132" grpId="1" animBg="1"/>
      <p:bldP spid="134" grpId="0" animBg="1"/>
      <p:bldP spid="13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Anatomical structures">
            <a:extLst>
              <a:ext uri="{FF2B5EF4-FFF2-40B4-BE49-F238E27FC236}">
                <a16:creationId xmlns:a16="http://schemas.microsoft.com/office/drawing/2014/main" id="{88E4211B-9CA3-9842-9F8E-6D4F32EB67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932" y="750305"/>
            <a:ext cx="4543053" cy="5723441"/>
          </a:xfrm>
          <a:prstGeom prst="rect">
            <a:avLst/>
          </a:prstGeom>
        </p:spPr>
      </p:pic>
      <p:sp>
        <p:nvSpPr>
          <p:cNvPr id="11" name="Uterus">
            <a:extLst>
              <a:ext uri="{FF2B5EF4-FFF2-40B4-BE49-F238E27FC236}">
                <a16:creationId xmlns:a16="http://schemas.microsoft.com/office/drawing/2014/main" id="{659DB868-A0FC-5C47-88C5-473883EF3E55}"/>
              </a:ext>
            </a:extLst>
          </p:cNvPr>
          <p:cNvSpPr txBox="1"/>
          <p:nvPr/>
        </p:nvSpPr>
        <p:spPr>
          <a:xfrm>
            <a:off x="4858118" y="4728792"/>
            <a:ext cx="1932809" cy="369332"/>
          </a:xfrm>
          <a:prstGeom prst="rect">
            <a:avLst/>
          </a:prstGeom>
          <a:solidFill>
            <a:schemeClr val="bg1"/>
          </a:solidFill>
          <a:ln w="28575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ysClr val="windowText" lastClr="000000"/>
                </a:solidFill>
              </a:rPr>
              <a:t>Uterus</a:t>
            </a:r>
          </a:p>
        </p:txBody>
      </p:sp>
      <p:sp>
        <p:nvSpPr>
          <p:cNvPr id="12" name="Vagina">
            <a:extLst>
              <a:ext uri="{FF2B5EF4-FFF2-40B4-BE49-F238E27FC236}">
                <a16:creationId xmlns:a16="http://schemas.microsoft.com/office/drawing/2014/main" id="{7E59101C-802B-C248-9B1F-2143DEA44A43}"/>
              </a:ext>
            </a:extLst>
          </p:cNvPr>
          <p:cNvSpPr txBox="1"/>
          <p:nvPr/>
        </p:nvSpPr>
        <p:spPr>
          <a:xfrm>
            <a:off x="4858118" y="5976437"/>
            <a:ext cx="1941571" cy="369332"/>
          </a:xfrm>
          <a:prstGeom prst="rect">
            <a:avLst/>
          </a:prstGeom>
          <a:solidFill>
            <a:schemeClr val="bg1"/>
          </a:solidFill>
          <a:ln w="28575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ysClr val="windowText" lastClr="000000"/>
                </a:solidFill>
              </a:rPr>
              <a:t>Vagina</a:t>
            </a:r>
          </a:p>
        </p:txBody>
      </p:sp>
      <p:sp>
        <p:nvSpPr>
          <p:cNvPr id="13" name="TSH">
            <a:extLst>
              <a:ext uri="{FF2B5EF4-FFF2-40B4-BE49-F238E27FC236}">
                <a16:creationId xmlns:a16="http://schemas.microsoft.com/office/drawing/2014/main" id="{F4DE179D-D8B8-0C42-8928-00264601AAD7}"/>
              </a:ext>
            </a:extLst>
          </p:cNvPr>
          <p:cNvSpPr txBox="1"/>
          <p:nvPr/>
        </p:nvSpPr>
        <p:spPr>
          <a:xfrm>
            <a:off x="4287596" y="2923406"/>
            <a:ext cx="642400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TSH</a:t>
            </a:r>
          </a:p>
        </p:txBody>
      </p:sp>
      <p:sp>
        <p:nvSpPr>
          <p:cNvPr id="14" name="Estradiol">
            <a:extLst>
              <a:ext uri="{FF2B5EF4-FFF2-40B4-BE49-F238E27FC236}">
                <a16:creationId xmlns:a16="http://schemas.microsoft.com/office/drawing/2014/main" id="{E54C01A4-6FD5-6949-8803-77BD40A1D224}"/>
              </a:ext>
            </a:extLst>
          </p:cNvPr>
          <p:cNvSpPr txBox="1"/>
          <p:nvPr/>
        </p:nvSpPr>
        <p:spPr>
          <a:xfrm>
            <a:off x="5385978" y="4033260"/>
            <a:ext cx="892583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Estradiol</a:t>
            </a:r>
          </a:p>
        </p:txBody>
      </p:sp>
      <p:sp>
        <p:nvSpPr>
          <p:cNvPr id="15" name="Progesterone">
            <a:extLst>
              <a:ext uri="{FF2B5EF4-FFF2-40B4-BE49-F238E27FC236}">
                <a16:creationId xmlns:a16="http://schemas.microsoft.com/office/drawing/2014/main" id="{894C653C-4BE3-7D4F-806A-B9DFBF6AEDF7}"/>
              </a:ext>
            </a:extLst>
          </p:cNvPr>
          <p:cNvSpPr txBox="1"/>
          <p:nvPr/>
        </p:nvSpPr>
        <p:spPr>
          <a:xfrm>
            <a:off x="5163107" y="4321129"/>
            <a:ext cx="1289690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Progesterone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543A62-B94C-C043-9D66-E21DF25705B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5832269" y="1232057"/>
            <a:ext cx="1" cy="85052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nRH">
            <a:extLst>
              <a:ext uri="{FF2B5EF4-FFF2-40B4-BE49-F238E27FC236}">
                <a16:creationId xmlns:a16="http://schemas.microsoft.com/office/drawing/2014/main" id="{1B15243F-3A36-E241-95E8-DDA5F7BDF1D5}"/>
              </a:ext>
            </a:extLst>
          </p:cNvPr>
          <p:cNvSpPr txBox="1"/>
          <p:nvPr/>
        </p:nvSpPr>
        <p:spPr>
          <a:xfrm>
            <a:off x="5516230" y="1440750"/>
            <a:ext cx="623226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GnRH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E030F6-CCDC-714A-82E5-C04B117D4F8B}"/>
              </a:ext>
            </a:extLst>
          </p:cNvPr>
          <p:cNvCxnSpPr>
            <a:cxnSpLocks/>
          </p:cNvCxnSpPr>
          <p:nvPr/>
        </p:nvCxnSpPr>
        <p:spPr>
          <a:xfrm flipH="1">
            <a:off x="4608796" y="2489742"/>
            <a:ext cx="406570" cy="43366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271D32-7947-A74B-803E-C443F85B793A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832269" y="3830392"/>
            <a:ext cx="1" cy="202868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917501-04C7-DD40-950D-16A57625F262}"/>
              </a:ext>
            </a:extLst>
          </p:cNvPr>
          <p:cNvGrpSpPr/>
          <p:nvPr/>
        </p:nvGrpSpPr>
        <p:grpSpPr>
          <a:xfrm>
            <a:off x="4245340" y="929922"/>
            <a:ext cx="53339" cy="2137234"/>
            <a:chOff x="6350816" y="988746"/>
            <a:chExt cx="64032" cy="219230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4355BB-5D6D-4540-B7BC-C99CDDEA5966}"/>
                </a:ext>
              </a:extLst>
            </p:cNvPr>
            <p:cNvCxnSpPr>
              <a:cxnSpLocks/>
            </p:cNvCxnSpPr>
            <p:nvPr/>
          </p:nvCxnSpPr>
          <p:spPr>
            <a:xfrm>
              <a:off x="6414848" y="988746"/>
              <a:ext cx="0" cy="17826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Elbow 504">
              <a:extLst>
                <a:ext uri="{FF2B5EF4-FFF2-40B4-BE49-F238E27FC236}">
                  <a16:creationId xmlns:a16="http://schemas.microsoft.com/office/drawing/2014/main" id="{731F524F-4F39-F34B-973E-1CC847B1528B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350816" y="1071266"/>
              <a:ext cx="39397" cy="2109782"/>
            </a:xfrm>
            <a:prstGeom prst="bentConnector3">
              <a:avLst>
                <a:gd name="adj1" fmla="val -580247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8DF8AA-054A-944A-B6BC-63962A5FE005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832269" y="2491201"/>
            <a:ext cx="0" cy="93056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SH/LH">
            <a:extLst>
              <a:ext uri="{FF2B5EF4-FFF2-40B4-BE49-F238E27FC236}">
                <a16:creationId xmlns:a16="http://schemas.microsoft.com/office/drawing/2014/main" id="{118650BA-CFE4-434C-B220-DFD73C5ADF73}"/>
              </a:ext>
            </a:extLst>
          </p:cNvPr>
          <p:cNvSpPr txBox="1"/>
          <p:nvPr/>
        </p:nvSpPr>
        <p:spPr>
          <a:xfrm>
            <a:off x="5464010" y="2612066"/>
            <a:ext cx="739398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FSH/LH</a:t>
            </a:r>
          </a:p>
        </p:txBody>
      </p:sp>
      <p:sp>
        <p:nvSpPr>
          <p:cNvPr id="25" name="Prolactin">
            <a:extLst>
              <a:ext uri="{FF2B5EF4-FFF2-40B4-BE49-F238E27FC236}">
                <a16:creationId xmlns:a16="http://schemas.microsoft.com/office/drawing/2014/main" id="{99665818-6391-224E-82FB-3D2864080302}"/>
              </a:ext>
            </a:extLst>
          </p:cNvPr>
          <p:cNvSpPr txBox="1"/>
          <p:nvPr/>
        </p:nvSpPr>
        <p:spPr>
          <a:xfrm>
            <a:off x="6293931" y="2960612"/>
            <a:ext cx="914400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Prolactin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C28F98-C0AD-3A4A-8B05-3141650C11E3}"/>
              </a:ext>
            </a:extLst>
          </p:cNvPr>
          <p:cNvCxnSpPr>
            <a:cxnSpLocks/>
          </p:cNvCxnSpPr>
          <p:nvPr/>
        </p:nvCxnSpPr>
        <p:spPr>
          <a:xfrm>
            <a:off x="6434004" y="2489742"/>
            <a:ext cx="352121" cy="45988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C7B1C8-AB2F-3D46-9D4B-FB05EDC5E9FE}"/>
              </a:ext>
            </a:extLst>
          </p:cNvPr>
          <p:cNvGrpSpPr/>
          <p:nvPr/>
        </p:nvGrpSpPr>
        <p:grpSpPr>
          <a:xfrm>
            <a:off x="6311906" y="900747"/>
            <a:ext cx="1586809" cy="3542029"/>
            <a:chOff x="8498785" y="952083"/>
            <a:chExt cx="1481719" cy="3542029"/>
          </a:xfrm>
        </p:grpSpPr>
        <p:cxnSp>
          <p:nvCxnSpPr>
            <p:cNvPr id="28" name="Connector: Elbow 536">
              <a:extLst>
                <a:ext uri="{FF2B5EF4-FFF2-40B4-BE49-F238E27FC236}">
                  <a16:creationId xmlns:a16="http://schemas.microsoft.com/office/drawing/2014/main" id="{EC25FB86-9F1E-0446-8A56-1FAB60B2788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626144" y="1874484"/>
              <a:ext cx="3227001" cy="1481719"/>
            </a:xfrm>
            <a:prstGeom prst="bentConnector3">
              <a:avLst>
                <a:gd name="adj1" fmla="val 412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5E05AC3-E673-824C-BC2C-4F44AAA888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8628" y="952083"/>
              <a:ext cx="1" cy="160163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D3E57F0-AAC7-6748-BECB-AC13220A1753}"/>
                </a:ext>
              </a:extLst>
            </p:cNvPr>
            <p:cNvCxnSpPr>
              <a:cxnSpLocks/>
            </p:cNvCxnSpPr>
            <p:nvPr/>
          </p:nvCxnSpPr>
          <p:spPr>
            <a:xfrm>
              <a:off x="9756545" y="1014466"/>
              <a:ext cx="223959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: Elbow 176">
              <a:extLst>
                <a:ext uri="{FF2B5EF4-FFF2-40B4-BE49-F238E27FC236}">
                  <a16:creationId xmlns:a16="http://schemas.microsoft.com/office/drawing/2014/main" id="{EEA6EE4E-BAA9-554D-822B-AE566CCEAE1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600376" y="2113985"/>
              <a:ext cx="3477461" cy="1282793"/>
            </a:xfrm>
            <a:prstGeom prst="bentConnector3">
              <a:avLst>
                <a:gd name="adj1" fmla="val -399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C53E577-4ACD-194B-9DAE-53BADECC3760}"/>
              </a:ext>
            </a:extLst>
          </p:cNvPr>
          <p:cNvGrpSpPr/>
          <p:nvPr/>
        </p:nvGrpSpPr>
        <p:grpSpPr>
          <a:xfrm>
            <a:off x="7212078" y="900747"/>
            <a:ext cx="56625" cy="2174029"/>
            <a:chOff x="9413845" y="947646"/>
            <a:chExt cx="23127" cy="2283932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F86EC75-C3F2-9F42-858A-701CDF7F11F3}"/>
                </a:ext>
              </a:extLst>
            </p:cNvPr>
            <p:cNvCxnSpPr>
              <a:cxnSpLocks/>
            </p:cNvCxnSpPr>
            <p:nvPr/>
          </p:nvCxnSpPr>
          <p:spPr>
            <a:xfrm>
              <a:off x="9413845" y="947646"/>
              <a:ext cx="0" cy="17826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543">
              <a:extLst>
                <a:ext uri="{FF2B5EF4-FFF2-40B4-BE49-F238E27FC236}">
                  <a16:creationId xmlns:a16="http://schemas.microsoft.com/office/drawing/2014/main" id="{F0D43348-1E6E-E641-8F6A-B4D6D9490D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116" y="999922"/>
              <a:ext cx="14904" cy="2231654"/>
            </a:xfrm>
            <a:prstGeom prst="bentConnector4">
              <a:avLst>
                <a:gd name="adj1" fmla="val -480804"/>
                <a:gd name="adj2" fmla="val 98486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ounded Rectangle 49">
            <a:hlinkClick r:id="rId4" action="ppaction://hlinksldjump"/>
            <a:extLst>
              <a:ext uri="{FF2B5EF4-FFF2-40B4-BE49-F238E27FC236}">
                <a16:creationId xmlns:a16="http://schemas.microsoft.com/office/drawing/2014/main" id="{8AD7B317-61E5-D048-950F-57050970F333}"/>
              </a:ext>
            </a:extLst>
          </p:cNvPr>
          <p:cNvSpPr/>
          <p:nvPr/>
        </p:nvSpPr>
        <p:spPr>
          <a:xfrm>
            <a:off x="8198101" y="778828"/>
            <a:ext cx="3771665" cy="76348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does hypothyroidism cause menstrual irregularities?</a:t>
            </a:r>
          </a:p>
        </p:txBody>
      </p:sp>
      <p:pic>
        <p:nvPicPr>
          <p:cNvPr id="48" name="Graphic 26" descr="Cursor with solid fill">
            <a:extLst>
              <a:ext uri="{FF2B5EF4-FFF2-40B4-BE49-F238E27FC236}">
                <a16:creationId xmlns:a16="http://schemas.microsoft.com/office/drawing/2014/main" id="{602719FA-1896-D241-9E39-51D068D0B37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69465" y="1388665"/>
            <a:ext cx="301752" cy="301752"/>
          </a:xfrm>
          <a:prstGeom prst="rect">
            <a:avLst/>
          </a:prstGeom>
        </p:spPr>
      </p:pic>
      <p:sp>
        <p:nvSpPr>
          <p:cNvPr id="51" name="Rounded Rectangle 50">
            <a:hlinkClick r:id="rId7" action="ppaction://hlinksldjump"/>
            <a:extLst>
              <a:ext uri="{FF2B5EF4-FFF2-40B4-BE49-F238E27FC236}">
                <a16:creationId xmlns:a16="http://schemas.microsoft.com/office/drawing/2014/main" id="{D0C22E8B-B504-CC43-82F7-DCA2642170BD}"/>
              </a:ext>
            </a:extLst>
          </p:cNvPr>
          <p:cNvSpPr/>
          <p:nvPr/>
        </p:nvSpPr>
        <p:spPr>
          <a:xfrm>
            <a:off x="8193038" y="3223768"/>
            <a:ext cx="3776728" cy="114569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does the physiology of menopause explain the elevated FSH we see in perimenopausal patients? </a:t>
            </a:r>
          </a:p>
        </p:txBody>
      </p:sp>
      <p:pic>
        <p:nvPicPr>
          <p:cNvPr id="49" name="Graphic 26" descr="Cursor with solid fill">
            <a:extLst>
              <a:ext uri="{FF2B5EF4-FFF2-40B4-BE49-F238E27FC236}">
                <a16:creationId xmlns:a16="http://schemas.microsoft.com/office/drawing/2014/main" id="{8B94620D-708E-0547-BED8-E30CBEF0127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69464" y="4175988"/>
            <a:ext cx="301752" cy="301752"/>
          </a:xfrm>
          <a:prstGeom prst="rect">
            <a:avLst/>
          </a:prstGeom>
        </p:spPr>
      </p:pic>
      <p:sp>
        <p:nvSpPr>
          <p:cNvPr id="69" name="question 1">
            <a:hlinkClick r:id="rId8" action="ppaction://hlinksldjump"/>
            <a:extLst>
              <a:ext uri="{FF2B5EF4-FFF2-40B4-BE49-F238E27FC236}">
                <a16:creationId xmlns:a16="http://schemas.microsoft.com/office/drawing/2014/main" id="{47C0884A-EC8E-478B-9D82-5D81E940BEC5}"/>
              </a:ext>
            </a:extLst>
          </p:cNvPr>
          <p:cNvSpPr txBox="1"/>
          <p:nvPr/>
        </p:nvSpPr>
        <p:spPr>
          <a:xfrm>
            <a:off x="217113" y="18922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is AUB?</a:t>
            </a:r>
          </a:p>
        </p:txBody>
      </p:sp>
      <p:sp>
        <p:nvSpPr>
          <p:cNvPr id="70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35E5E0CE-8A7B-46F3-B1AE-0830D52E530E}"/>
              </a:ext>
            </a:extLst>
          </p:cNvPr>
          <p:cNvSpPr txBox="1"/>
          <p:nvPr/>
        </p:nvSpPr>
        <p:spPr>
          <a:xfrm>
            <a:off x="217113" y="760517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Causes</a:t>
            </a:r>
          </a:p>
        </p:txBody>
      </p:sp>
      <p:sp>
        <p:nvSpPr>
          <p:cNvPr id="71" name="question 4">
            <a:hlinkClick r:id="rId10" action="ppaction://hlinksldjump"/>
            <a:extLst>
              <a:ext uri="{FF2B5EF4-FFF2-40B4-BE49-F238E27FC236}">
                <a16:creationId xmlns:a16="http://schemas.microsoft.com/office/drawing/2014/main" id="{1661B6F8-1C7A-4E46-8BA3-97C9E10E9221}"/>
              </a:ext>
            </a:extLst>
          </p:cNvPr>
          <p:cNvSpPr txBox="1"/>
          <p:nvPr/>
        </p:nvSpPr>
        <p:spPr>
          <a:xfrm>
            <a:off x="217113" y="133181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Work-up</a:t>
            </a:r>
          </a:p>
        </p:txBody>
      </p:sp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F2CB5323-511E-4C5E-A294-772B2EB267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448553"/>
            <a:ext cx="301752" cy="301752"/>
          </a:xfrm>
          <a:prstGeom prst="rect">
            <a:avLst/>
          </a:prstGeom>
        </p:spPr>
      </p:pic>
      <p:pic>
        <p:nvPicPr>
          <p:cNvPr id="73" name="Graphic 72" descr="Cursor with solid fill">
            <a:extLst>
              <a:ext uri="{FF2B5EF4-FFF2-40B4-BE49-F238E27FC236}">
                <a16:creationId xmlns:a16="http://schemas.microsoft.com/office/drawing/2014/main" id="{C32597AF-BA91-4E3E-A3B9-8A22B7746B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1019531"/>
            <a:ext cx="301752" cy="301752"/>
          </a:xfrm>
          <a:prstGeom prst="rect">
            <a:avLst/>
          </a:prstGeom>
        </p:spPr>
      </p:pic>
      <p:sp>
        <p:nvSpPr>
          <p:cNvPr id="74" name="sub-q 1 button">
            <a:hlinkClick r:id="rId12" action="ppaction://hlinksldjump"/>
            <a:extLst>
              <a:ext uri="{FF2B5EF4-FFF2-40B4-BE49-F238E27FC236}">
                <a16:creationId xmlns:a16="http://schemas.microsoft.com/office/drawing/2014/main" id="{EF461A2D-ED30-45F9-8D79-11EF450CE30C}"/>
              </a:ext>
            </a:extLst>
          </p:cNvPr>
          <p:cNvSpPr txBox="1"/>
          <p:nvPr/>
        </p:nvSpPr>
        <p:spPr>
          <a:xfrm>
            <a:off x="491433" y="305570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Nonstructural</a:t>
            </a:r>
          </a:p>
        </p:txBody>
      </p:sp>
      <p:sp>
        <p:nvSpPr>
          <p:cNvPr id="75" name="sub-q 1 button">
            <a:hlinkClick r:id="rId10" action="ppaction://hlinksldjump"/>
            <a:extLst>
              <a:ext uri="{FF2B5EF4-FFF2-40B4-BE49-F238E27FC236}">
                <a16:creationId xmlns:a16="http://schemas.microsoft.com/office/drawing/2014/main" id="{9E021619-E80B-4C81-AAF1-DE2181D9BAD9}"/>
              </a:ext>
            </a:extLst>
          </p:cNvPr>
          <p:cNvSpPr txBox="1"/>
          <p:nvPr/>
        </p:nvSpPr>
        <p:spPr>
          <a:xfrm>
            <a:off x="491433" y="192464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Basic Workup</a:t>
            </a:r>
          </a:p>
        </p:txBody>
      </p:sp>
      <p:sp>
        <p:nvSpPr>
          <p:cNvPr id="76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AF45B29B-50B1-40E0-B3E1-1D90522A785F}"/>
              </a:ext>
            </a:extLst>
          </p:cNvPr>
          <p:cNvSpPr txBox="1"/>
          <p:nvPr/>
        </p:nvSpPr>
        <p:spPr>
          <a:xfrm>
            <a:off x="205792" y="3647465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EBC24618-1870-4172-9A8D-6379382102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3905212"/>
            <a:ext cx="301752" cy="301752"/>
          </a:xfrm>
          <a:prstGeom prst="rect">
            <a:avLst/>
          </a:prstGeom>
        </p:spPr>
      </p:pic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13C6FC4F-3D44-43B7-B461-15BDFCFD06F6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213769" y="1851289"/>
            <a:ext cx="377990" cy="17733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D99868CD-1CC0-4484-91CA-C4C19C4F31EF}"/>
              </a:ext>
            </a:extLst>
          </p:cNvPr>
          <p:cNvCxnSpPr>
            <a:cxnSpLocks/>
            <a:endCxn id="80" idx="1"/>
          </p:cNvCxnSpPr>
          <p:nvPr/>
        </p:nvCxnSpPr>
        <p:spPr>
          <a:xfrm rot="16200000" flipH="1">
            <a:off x="113623" y="2316673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sub-q 1 button">
            <a:hlinkClick r:id="rId14" action="ppaction://hlinksldjump"/>
            <a:extLst>
              <a:ext uri="{FF2B5EF4-FFF2-40B4-BE49-F238E27FC236}">
                <a16:creationId xmlns:a16="http://schemas.microsoft.com/office/drawing/2014/main" id="{C805B728-8980-4173-B2C2-BAF6D8AC8182}"/>
              </a:ext>
            </a:extLst>
          </p:cNvPr>
          <p:cNvSpPr txBox="1"/>
          <p:nvPr/>
        </p:nvSpPr>
        <p:spPr>
          <a:xfrm>
            <a:off x="491433" y="249017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Structural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9F57681C-F058-45B2-A031-3DDF219933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3623" y="2901506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Graphic 81" descr="Cursor with solid fill">
            <a:extLst>
              <a:ext uri="{FF2B5EF4-FFF2-40B4-BE49-F238E27FC236}">
                <a16:creationId xmlns:a16="http://schemas.microsoft.com/office/drawing/2014/main" id="{87F5DAFE-AA71-47D7-8CB9-FEC40BBDED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2176883"/>
            <a:ext cx="301752" cy="301752"/>
          </a:xfrm>
          <a:prstGeom prst="rect">
            <a:avLst/>
          </a:prstGeom>
        </p:spPr>
      </p:pic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3F2CFB54-03EE-4A36-85E9-1130A9C7223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2752993"/>
            <a:ext cx="301752" cy="301752"/>
          </a:xfrm>
          <a:prstGeom prst="rect">
            <a:avLst/>
          </a:prstGeom>
        </p:spPr>
      </p:pic>
      <p:pic>
        <p:nvPicPr>
          <p:cNvPr id="84" name="Graphic 83" descr="Cursor with solid fill">
            <a:extLst>
              <a:ext uri="{FF2B5EF4-FFF2-40B4-BE49-F238E27FC236}">
                <a16:creationId xmlns:a16="http://schemas.microsoft.com/office/drawing/2014/main" id="{252C7B0E-71A1-4CAF-B29B-F5A1D3420C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3329103"/>
            <a:ext cx="301752" cy="301752"/>
          </a:xfrm>
          <a:prstGeom prst="rect">
            <a:avLst/>
          </a:prstGeom>
        </p:spPr>
      </p:pic>
      <p:sp>
        <p:nvSpPr>
          <p:cNvPr id="85" name="Cases">
            <a:hlinkClick r:id="rId15" action="ppaction://hlinksldjump"/>
            <a:extLst>
              <a:ext uri="{FF2B5EF4-FFF2-40B4-BE49-F238E27FC236}">
                <a16:creationId xmlns:a16="http://schemas.microsoft.com/office/drawing/2014/main" id="{6FE92C25-BABF-42F2-9B90-8EFF8019941F}"/>
              </a:ext>
            </a:extLst>
          </p:cNvPr>
          <p:cNvSpPr txBox="1"/>
          <p:nvPr/>
        </p:nvSpPr>
        <p:spPr>
          <a:xfrm>
            <a:off x="217113" y="6260155"/>
            <a:ext cx="18288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BONUS: HPO axis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B605426-33E7-44FC-8191-27DD6F2F97DE}"/>
              </a:ext>
            </a:extLst>
          </p:cNvPr>
          <p:cNvSpPr txBox="1"/>
          <p:nvPr/>
        </p:nvSpPr>
        <p:spPr>
          <a:xfrm>
            <a:off x="2864381" y="170509"/>
            <a:ext cx="8411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Hypothalamic-Pituitary-Ovarian Axis</a:t>
            </a:r>
          </a:p>
        </p:txBody>
      </p:sp>
      <p:sp>
        <p:nvSpPr>
          <p:cNvPr id="88" name="Hypothalamus">
            <a:extLst>
              <a:ext uri="{FF2B5EF4-FFF2-40B4-BE49-F238E27FC236}">
                <a16:creationId xmlns:a16="http://schemas.microsoft.com/office/drawing/2014/main" id="{45343B19-4E31-4379-95D3-632DB87B6C1B}"/>
              </a:ext>
            </a:extLst>
          </p:cNvPr>
          <p:cNvSpPr txBox="1"/>
          <p:nvPr/>
        </p:nvSpPr>
        <p:spPr>
          <a:xfrm>
            <a:off x="4875845" y="826900"/>
            <a:ext cx="1932809" cy="408623"/>
          </a:xfrm>
          <a:prstGeom prst="roundRect">
            <a:avLst/>
          </a:prstGeom>
          <a:solidFill>
            <a:srgbClr val="F9E3BC"/>
          </a:solidFill>
          <a:ln w="38100">
            <a:solidFill>
              <a:srgbClr val="F9E3BC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Hypothalamus</a:t>
            </a:r>
          </a:p>
        </p:txBody>
      </p:sp>
      <p:sp>
        <p:nvSpPr>
          <p:cNvPr id="5" name="Hypothalamus">
            <a:extLst>
              <a:ext uri="{FF2B5EF4-FFF2-40B4-BE49-F238E27FC236}">
                <a16:creationId xmlns:a16="http://schemas.microsoft.com/office/drawing/2014/main" id="{C0474D42-9DF4-AE46-A280-F1AE42478D27}"/>
              </a:ext>
            </a:extLst>
          </p:cNvPr>
          <p:cNvSpPr txBox="1"/>
          <p:nvPr/>
        </p:nvSpPr>
        <p:spPr>
          <a:xfrm>
            <a:off x="4865865" y="823434"/>
            <a:ext cx="1932809" cy="408623"/>
          </a:xfrm>
          <a:prstGeom prst="roundRect">
            <a:avLst/>
          </a:prstGeom>
          <a:solidFill>
            <a:srgbClr val="F9E3BC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Hypothalamus?</a:t>
            </a:r>
          </a:p>
        </p:txBody>
      </p:sp>
      <p:pic>
        <p:nvPicPr>
          <p:cNvPr id="6" name="Graphic 26" descr="Cursor with solid fill">
            <a:extLst>
              <a:ext uri="{FF2B5EF4-FFF2-40B4-BE49-F238E27FC236}">
                <a16:creationId xmlns:a16="http://schemas.microsoft.com/office/drawing/2014/main" id="{21EDE3AE-EF66-3543-B8C9-D42859115D4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9237" y="1083952"/>
            <a:ext cx="301752" cy="301752"/>
          </a:xfrm>
          <a:prstGeom prst="rect">
            <a:avLst/>
          </a:prstGeom>
        </p:spPr>
      </p:pic>
      <p:sp>
        <p:nvSpPr>
          <p:cNvPr id="89" name="Ant Pit">
            <a:extLst>
              <a:ext uri="{FF2B5EF4-FFF2-40B4-BE49-F238E27FC236}">
                <a16:creationId xmlns:a16="http://schemas.microsoft.com/office/drawing/2014/main" id="{AD1CF636-67F4-456F-8174-5CC5F73004BA}"/>
              </a:ext>
            </a:extLst>
          </p:cNvPr>
          <p:cNvSpPr txBox="1"/>
          <p:nvPr/>
        </p:nvSpPr>
        <p:spPr>
          <a:xfrm>
            <a:off x="4874897" y="2082681"/>
            <a:ext cx="1942336" cy="408623"/>
          </a:xfrm>
          <a:prstGeom prst="roundRect">
            <a:avLst/>
          </a:prstGeom>
          <a:solidFill>
            <a:srgbClr val="91C7E7"/>
          </a:solidFill>
          <a:ln w="38100">
            <a:solidFill>
              <a:srgbClr val="91C7E7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Anterior Pituitary</a:t>
            </a:r>
          </a:p>
        </p:txBody>
      </p:sp>
      <p:sp>
        <p:nvSpPr>
          <p:cNvPr id="90" name="Ovaries">
            <a:extLst>
              <a:ext uri="{FF2B5EF4-FFF2-40B4-BE49-F238E27FC236}">
                <a16:creationId xmlns:a16="http://schemas.microsoft.com/office/drawing/2014/main" id="{ED7CB748-F083-4842-8086-DC03F7399514}"/>
              </a:ext>
            </a:extLst>
          </p:cNvPr>
          <p:cNvSpPr txBox="1"/>
          <p:nvPr/>
        </p:nvSpPr>
        <p:spPr>
          <a:xfrm>
            <a:off x="4845308" y="3414851"/>
            <a:ext cx="1948302" cy="408623"/>
          </a:xfrm>
          <a:prstGeom prst="roundRect">
            <a:avLst/>
          </a:prstGeom>
          <a:solidFill>
            <a:srgbClr val="F0D2CF"/>
          </a:solidFill>
          <a:ln w="38100">
            <a:solidFill>
              <a:srgbClr val="F0D2CF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Ovaries</a:t>
            </a:r>
          </a:p>
        </p:txBody>
      </p:sp>
      <p:sp>
        <p:nvSpPr>
          <p:cNvPr id="7" name="Ant Pit">
            <a:extLst>
              <a:ext uri="{FF2B5EF4-FFF2-40B4-BE49-F238E27FC236}">
                <a16:creationId xmlns:a16="http://schemas.microsoft.com/office/drawing/2014/main" id="{C251225A-4953-A943-B388-DF4E399A84D6}"/>
              </a:ext>
            </a:extLst>
          </p:cNvPr>
          <p:cNvSpPr txBox="1"/>
          <p:nvPr/>
        </p:nvSpPr>
        <p:spPr>
          <a:xfrm>
            <a:off x="4861101" y="2082578"/>
            <a:ext cx="1942336" cy="408623"/>
          </a:xfrm>
          <a:prstGeom prst="roundRect">
            <a:avLst/>
          </a:prstGeom>
          <a:solidFill>
            <a:srgbClr val="91C7E7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Anterior Pituitary?</a:t>
            </a:r>
          </a:p>
        </p:txBody>
      </p:sp>
      <p:pic>
        <p:nvPicPr>
          <p:cNvPr id="8" name="Graphic 26" descr="Cursor with solid fill">
            <a:extLst>
              <a:ext uri="{FF2B5EF4-FFF2-40B4-BE49-F238E27FC236}">
                <a16:creationId xmlns:a16="http://schemas.microsoft.com/office/drawing/2014/main" id="{82C9AE92-28A5-D34C-AC2A-4200726E261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3183" y="2340869"/>
            <a:ext cx="301752" cy="301752"/>
          </a:xfrm>
          <a:prstGeom prst="rect">
            <a:avLst/>
          </a:prstGeom>
        </p:spPr>
      </p:pic>
      <p:sp>
        <p:nvSpPr>
          <p:cNvPr id="9" name="Ovaries">
            <a:extLst>
              <a:ext uri="{FF2B5EF4-FFF2-40B4-BE49-F238E27FC236}">
                <a16:creationId xmlns:a16="http://schemas.microsoft.com/office/drawing/2014/main" id="{5E6C9678-68C2-C347-A7E9-174DC2556EE6}"/>
              </a:ext>
            </a:extLst>
          </p:cNvPr>
          <p:cNvSpPr txBox="1"/>
          <p:nvPr/>
        </p:nvSpPr>
        <p:spPr>
          <a:xfrm>
            <a:off x="4858118" y="3421769"/>
            <a:ext cx="1948302" cy="408623"/>
          </a:xfrm>
          <a:prstGeom prst="roundRect">
            <a:avLst/>
          </a:prstGeom>
          <a:solidFill>
            <a:srgbClr val="F0D2CF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Ovaries?</a:t>
            </a:r>
          </a:p>
        </p:txBody>
      </p:sp>
      <p:pic>
        <p:nvPicPr>
          <p:cNvPr id="10" name="Graphic 26" descr="Cursor with solid fill">
            <a:extLst>
              <a:ext uri="{FF2B5EF4-FFF2-40B4-BE49-F238E27FC236}">
                <a16:creationId xmlns:a16="http://schemas.microsoft.com/office/drawing/2014/main" id="{14A3205C-51E1-1743-A726-F52D3EAA339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0415" y="3677067"/>
            <a:ext cx="301752" cy="301752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D1DD88F8-2730-4CC6-B056-25BD8DE426C0}"/>
              </a:ext>
            </a:extLst>
          </p:cNvPr>
          <p:cNvSpPr/>
          <p:nvPr/>
        </p:nvSpPr>
        <p:spPr>
          <a:xfrm>
            <a:off x="2349186" y="638384"/>
            <a:ext cx="1565724" cy="16485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Hypothalamus secretes GnRH which acts on the anterior pituitary (AP)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77C535E-2169-444F-98DF-29503F50A598}"/>
              </a:ext>
            </a:extLst>
          </p:cNvPr>
          <p:cNvSpPr/>
          <p:nvPr/>
        </p:nvSpPr>
        <p:spPr>
          <a:xfrm>
            <a:off x="2349186" y="2627145"/>
            <a:ext cx="1565724" cy="105364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(AP) secretes TSH, FSH/LH, and prolactin. 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3C62427-9655-4B9C-A7AF-D03782994666}"/>
              </a:ext>
            </a:extLst>
          </p:cNvPr>
          <p:cNvSpPr/>
          <p:nvPr/>
        </p:nvSpPr>
        <p:spPr>
          <a:xfrm>
            <a:off x="2349186" y="4611650"/>
            <a:ext cx="1565724" cy="16485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FSH/LH acts on the ovaries to secrete estradiol/ progesterone.</a:t>
            </a:r>
          </a:p>
        </p:txBody>
      </p:sp>
      <p:pic>
        <p:nvPicPr>
          <p:cNvPr id="61" name="Picture 60" descr="Icon&#10;&#10;Description automatically generated">
            <a:extLst>
              <a:ext uri="{FF2B5EF4-FFF2-40B4-BE49-F238E27FC236}">
                <a16:creationId xmlns:a16="http://schemas.microsoft.com/office/drawing/2014/main" id="{8951C493-334D-444F-853B-01D30F7E82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127" y="6345344"/>
            <a:ext cx="1393873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4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24" grpId="0" animBg="1"/>
      <p:bldP spid="25" grpId="0" animBg="1"/>
      <p:bldP spid="50" grpId="0" animBg="1"/>
      <p:bldP spid="51" grpId="0" animBg="1"/>
      <p:bldP spid="5" grpId="0" animBg="1"/>
      <p:bldP spid="7" grpId="0" animBg="1"/>
      <p:bldP spid="9" grpId="0" animBg="1"/>
      <p:bldP spid="96" grpId="0" animBg="1"/>
      <p:bldP spid="96" grpId="1" animBg="1"/>
      <p:bldP spid="97" grpId="0" animBg="1"/>
      <p:bldP spid="97" grpId="1" animBg="1"/>
      <p:bldP spid="100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val 94">
            <a:extLst>
              <a:ext uri="{FF2B5EF4-FFF2-40B4-BE49-F238E27FC236}">
                <a16:creationId xmlns:a16="http://schemas.microsoft.com/office/drawing/2014/main" id="{8613759C-E2C9-4E3A-A5E6-8FBDC2612DB1}"/>
              </a:ext>
            </a:extLst>
          </p:cNvPr>
          <p:cNvSpPr/>
          <p:nvPr/>
        </p:nvSpPr>
        <p:spPr>
          <a:xfrm>
            <a:off x="3140946" y="2795700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35" name="Anatomical structures">
            <a:extLst>
              <a:ext uri="{FF2B5EF4-FFF2-40B4-BE49-F238E27FC236}">
                <a16:creationId xmlns:a16="http://schemas.microsoft.com/office/drawing/2014/main" id="{88E4211B-9CA3-9842-9F8E-6D4F32EB67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821" y="767216"/>
            <a:ext cx="4543053" cy="5723441"/>
          </a:xfrm>
          <a:prstGeom prst="rect">
            <a:avLst/>
          </a:prstGeom>
        </p:spPr>
      </p:pic>
      <p:sp>
        <p:nvSpPr>
          <p:cNvPr id="11" name="Uterus">
            <a:extLst>
              <a:ext uri="{FF2B5EF4-FFF2-40B4-BE49-F238E27FC236}">
                <a16:creationId xmlns:a16="http://schemas.microsoft.com/office/drawing/2014/main" id="{659DB868-A0FC-5C47-88C5-473883EF3E55}"/>
              </a:ext>
            </a:extLst>
          </p:cNvPr>
          <p:cNvSpPr txBox="1"/>
          <p:nvPr/>
        </p:nvSpPr>
        <p:spPr>
          <a:xfrm>
            <a:off x="4872007" y="4745703"/>
            <a:ext cx="1932809" cy="369332"/>
          </a:xfrm>
          <a:prstGeom prst="rect">
            <a:avLst/>
          </a:prstGeom>
          <a:solidFill>
            <a:schemeClr val="bg1"/>
          </a:solidFill>
          <a:ln w="28575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ysClr val="windowText" lastClr="000000"/>
                </a:solidFill>
              </a:rPr>
              <a:t>Uterus</a:t>
            </a:r>
          </a:p>
        </p:txBody>
      </p:sp>
      <p:sp>
        <p:nvSpPr>
          <p:cNvPr id="12" name="Vagina">
            <a:extLst>
              <a:ext uri="{FF2B5EF4-FFF2-40B4-BE49-F238E27FC236}">
                <a16:creationId xmlns:a16="http://schemas.microsoft.com/office/drawing/2014/main" id="{7E59101C-802B-C248-9B1F-2143DEA44A43}"/>
              </a:ext>
            </a:extLst>
          </p:cNvPr>
          <p:cNvSpPr txBox="1"/>
          <p:nvPr/>
        </p:nvSpPr>
        <p:spPr>
          <a:xfrm>
            <a:off x="4872007" y="5993348"/>
            <a:ext cx="1941571" cy="369332"/>
          </a:xfrm>
          <a:prstGeom prst="rect">
            <a:avLst/>
          </a:prstGeom>
          <a:solidFill>
            <a:schemeClr val="bg1"/>
          </a:solidFill>
          <a:ln w="28575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ysClr val="windowText" lastClr="000000"/>
                </a:solidFill>
              </a:rPr>
              <a:t>Vagina</a:t>
            </a:r>
          </a:p>
        </p:txBody>
      </p:sp>
      <p:sp>
        <p:nvSpPr>
          <p:cNvPr id="13" name="TSH">
            <a:extLst>
              <a:ext uri="{FF2B5EF4-FFF2-40B4-BE49-F238E27FC236}">
                <a16:creationId xmlns:a16="http://schemas.microsoft.com/office/drawing/2014/main" id="{F4DE179D-D8B8-0C42-8928-00264601AAD7}"/>
              </a:ext>
            </a:extLst>
          </p:cNvPr>
          <p:cNvSpPr txBox="1"/>
          <p:nvPr/>
        </p:nvSpPr>
        <p:spPr>
          <a:xfrm>
            <a:off x="4301485" y="2940317"/>
            <a:ext cx="642400" cy="27432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TSH</a:t>
            </a:r>
          </a:p>
        </p:txBody>
      </p:sp>
      <p:sp>
        <p:nvSpPr>
          <p:cNvPr id="14" name="Estradiol">
            <a:extLst>
              <a:ext uri="{FF2B5EF4-FFF2-40B4-BE49-F238E27FC236}">
                <a16:creationId xmlns:a16="http://schemas.microsoft.com/office/drawing/2014/main" id="{E54C01A4-6FD5-6949-8803-77BD40A1D224}"/>
              </a:ext>
            </a:extLst>
          </p:cNvPr>
          <p:cNvSpPr txBox="1"/>
          <p:nvPr/>
        </p:nvSpPr>
        <p:spPr>
          <a:xfrm>
            <a:off x="5399867" y="4050171"/>
            <a:ext cx="892583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Estradiol</a:t>
            </a:r>
          </a:p>
        </p:txBody>
      </p:sp>
      <p:sp>
        <p:nvSpPr>
          <p:cNvPr id="15" name="Progesterone">
            <a:extLst>
              <a:ext uri="{FF2B5EF4-FFF2-40B4-BE49-F238E27FC236}">
                <a16:creationId xmlns:a16="http://schemas.microsoft.com/office/drawing/2014/main" id="{894C653C-4BE3-7D4F-806A-B9DFBF6AEDF7}"/>
              </a:ext>
            </a:extLst>
          </p:cNvPr>
          <p:cNvSpPr txBox="1"/>
          <p:nvPr/>
        </p:nvSpPr>
        <p:spPr>
          <a:xfrm>
            <a:off x="5176996" y="4338040"/>
            <a:ext cx="1289690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Progesterone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543A62-B94C-C043-9D66-E21DF25705BF}"/>
              </a:ext>
            </a:extLst>
          </p:cNvPr>
          <p:cNvCxnSpPr>
            <a:cxnSpLocks/>
          </p:cNvCxnSpPr>
          <p:nvPr/>
        </p:nvCxnSpPr>
        <p:spPr>
          <a:xfrm flipH="1">
            <a:off x="5846158" y="1248968"/>
            <a:ext cx="1" cy="85052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nRH">
            <a:extLst>
              <a:ext uri="{FF2B5EF4-FFF2-40B4-BE49-F238E27FC236}">
                <a16:creationId xmlns:a16="http://schemas.microsoft.com/office/drawing/2014/main" id="{1B15243F-3A36-E241-95E8-DDA5F7BDF1D5}"/>
              </a:ext>
            </a:extLst>
          </p:cNvPr>
          <p:cNvSpPr txBox="1"/>
          <p:nvPr/>
        </p:nvSpPr>
        <p:spPr>
          <a:xfrm>
            <a:off x="5530119" y="1457661"/>
            <a:ext cx="623226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GnRH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E030F6-CCDC-714A-82E5-C04B117D4F8B}"/>
              </a:ext>
            </a:extLst>
          </p:cNvPr>
          <p:cNvCxnSpPr>
            <a:cxnSpLocks/>
          </p:cNvCxnSpPr>
          <p:nvPr/>
        </p:nvCxnSpPr>
        <p:spPr>
          <a:xfrm flipH="1">
            <a:off x="4622685" y="2506653"/>
            <a:ext cx="406570" cy="43366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271D32-7947-A74B-803E-C443F85B793A}"/>
              </a:ext>
            </a:extLst>
          </p:cNvPr>
          <p:cNvCxnSpPr>
            <a:cxnSpLocks/>
          </p:cNvCxnSpPr>
          <p:nvPr/>
        </p:nvCxnSpPr>
        <p:spPr>
          <a:xfrm flipH="1" flipV="1">
            <a:off x="5846158" y="3847303"/>
            <a:ext cx="1" cy="202868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917501-04C7-DD40-950D-16A57625F262}"/>
              </a:ext>
            </a:extLst>
          </p:cNvPr>
          <p:cNvGrpSpPr/>
          <p:nvPr/>
        </p:nvGrpSpPr>
        <p:grpSpPr>
          <a:xfrm>
            <a:off x="4259229" y="946833"/>
            <a:ext cx="53339" cy="2137234"/>
            <a:chOff x="6350816" y="988746"/>
            <a:chExt cx="64032" cy="219230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4355BB-5D6D-4540-B7BC-C99CDDEA5966}"/>
                </a:ext>
              </a:extLst>
            </p:cNvPr>
            <p:cNvCxnSpPr>
              <a:cxnSpLocks/>
            </p:cNvCxnSpPr>
            <p:nvPr/>
          </p:nvCxnSpPr>
          <p:spPr>
            <a:xfrm>
              <a:off x="6414848" y="988746"/>
              <a:ext cx="0" cy="17826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Elbow 504">
              <a:extLst>
                <a:ext uri="{FF2B5EF4-FFF2-40B4-BE49-F238E27FC236}">
                  <a16:creationId xmlns:a16="http://schemas.microsoft.com/office/drawing/2014/main" id="{731F524F-4F39-F34B-973E-1CC847B1528B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350816" y="1071266"/>
              <a:ext cx="39397" cy="2109782"/>
            </a:xfrm>
            <a:prstGeom prst="bentConnector3">
              <a:avLst>
                <a:gd name="adj1" fmla="val -580247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8DF8AA-054A-944A-B6BC-63962A5FE005}"/>
              </a:ext>
            </a:extLst>
          </p:cNvPr>
          <p:cNvCxnSpPr>
            <a:cxnSpLocks/>
          </p:cNvCxnSpPr>
          <p:nvPr/>
        </p:nvCxnSpPr>
        <p:spPr>
          <a:xfrm>
            <a:off x="5846158" y="2508112"/>
            <a:ext cx="0" cy="93056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SH/LH">
            <a:extLst>
              <a:ext uri="{FF2B5EF4-FFF2-40B4-BE49-F238E27FC236}">
                <a16:creationId xmlns:a16="http://schemas.microsoft.com/office/drawing/2014/main" id="{118650BA-CFE4-434C-B220-DFD73C5ADF73}"/>
              </a:ext>
            </a:extLst>
          </p:cNvPr>
          <p:cNvSpPr txBox="1"/>
          <p:nvPr/>
        </p:nvSpPr>
        <p:spPr>
          <a:xfrm>
            <a:off x="5477899" y="2628977"/>
            <a:ext cx="739398" cy="274320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FSH/LH</a:t>
            </a:r>
          </a:p>
        </p:txBody>
      </p:sp>
      <p:pic>
        <p:nvPicPr>
          <p:cNvPr id="49" name="Graphic 26" descr="Cursor with solid fill">
            <a:extLst>
              <a:ext uri="{FF2B5EF4-FFF2-40B4-BE49-F238E27FC236}">
                <a16:creationId xmlns:a16="http://schemas.microsoft.com/office/drawing/2014/main" id="{8B94620D-708E-0547-BED8-E30CBEF0127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16473" y="4218588"/>
            <a:ext cx="301752" cy="30175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6AA48808-0213-1C45-A264-FACA79EB5143}"/>
              </a:ext>
            </a:extLst>
          </p:cNvPr>
          <p:cNvSpPr txBox="1"/>
          <p:nvPr/>
        </p:nvSpPr>
        <p:spPr>
          <a:xfrm>
            <a:off x="8215956" y="1586729"/>
            <a:ext cx="3927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Hypothyroidism → ↑ TSH levels</a:t>
            </a:r>
          </a:p>
        </p:txBody>
      </p:sp>
      <p:sp>
        <p:nvSpPr>
          <p:cNvPr id="69" name="question 1">
            <a:hlinkClick r:id="rId6" action="ppaction://hlinksldjump"/>
            <a:extLst>
              <a:ext uri="{FF2B5EF4-FFF2-40B4-BE49-F238E27FC236}">
                <a16:creationId xmlns:a16="http://schemas.microsoft.com/office/drawing/2014/main" id="{47C0884A-EC8E-478B-9D82-5D81E940BEC5}"/>
              </a:ext>
            </a:extLst>
          </p:cNvPr>
          <p:cNvSpPr txBox="1"/>
          <p:nvPr/>
        </p:nvSpPr>
        <p:spPr>
          <a:xfrm>
            <a:off x="217113" y="18922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is AUB?</a:t>
            </a:r>
          </a:p>
        </p:txBody>
      </p:sp>
      <p:sp>
        <p:nvSpPr>
          <p:cNvPr id="70" name="Question 2">
            <a:hlinkClick r:id="rId7" action="ppaction://hlinksldjump"/>
            <a:extLst>
              <a:ext uri="{FF2B5EF4-FFF2-40B4-BE49-F238E27FC236}">
                <a16:creationId xmlns:a16="http://schemas.microsoft.com/office/drawing/2014/main" id="{35E5E0CE-8A7B-46F3-B1AE-0830D52E530E}"/>
              </a:ext>
            </a:extLst>
          </p:cNvPr>
          <p:cNvSpPr txBox="1"/>
          <p:nvPr/>
        </p:nvSpPr>
        <p:spPr>
          <a:xfrm>
            <a:off x="217113" y="760517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Causes</a:t>
            </a:r>
          </a:p>
        </p:txBody>
      </p:sp>
      <p:sp>
        <p:nvSpPr>
          <p:cNvPr id="71" name="question 4">
            <a:hlinkClick r:id="rId8" action="ppaction://hlinksldjump"/>
            <a:extLst>
              <a:ext uri="{FF2B5EF4-FFF2-40B4-BE49-F238E27FC236}">
                <a16:creationId xmlns:a16="http://schemas.microsoft.com/office/drawing/2014/main" id="{1661B6F8-1C7A-4E46-8BA3-97C9E10E9221}"/>
              </a:ext>
            </a:extLst>
          </p:cNvPr>
          <p:cNvSpPr txBox="1"/>
          <p:nvPr/>
        </p:nvSpPr>
        <p:spPr>
          <a:xfrm>
            <a:off x="217113" y="133181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Work-up</a:t>
            </a:r>
          </a:p>
        </p:txBody>
      </p:sp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F2CB5323-511E-4C5E-A294-772B2EB26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9897" y="448553"/>
            <a:ext cx="301752" cy="301752"/>
          </a:xfrm>
          <a:prstGeom prst="rect">
            <a:avLst/>
          </a:prstGeom>
        </p:spPr>
      </p:pic>
      <p:pic>
        <p:nvPicPr>
          <p:cNvPr id="73" name="Graphic 72" descr="Cursor with solid fill">
            <a:extLst>
              <a:ext uri="{FF2B5EF4-FFF2-40B4-BE49-F238E27FC236}">
                <a16:creationId xmlns:a16="http://schemas.microsoft.com/office/drawing/2014/main" id="{C32597AF-BA91-4E3E-A3B9-8A22B7746B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9897" y="1019531"/>
            <a:ext cx="301752" cy="301752"/>
          </a:xfrm>
          <a:prstGeom prst="rect">
            <a:avLst/>
          </a:prstGeom>
        </p:spPr>
      </p:pic>
      <p:sp>
        <p:nvSpPr>
          <p:cNvPr id="74" name="sub-q 1 button">
            <a:hlinkClick r:id="rId10" action="ppaction://hlinksldjump"/>
            <a:extLst>
              <a:ext uri="{FF2B5EF4-FFF2-40B4-BE49-F238E27FC236}">
                <a16:creationId xmlns:a16="http://schemas.microsoft.com/office/drawing/2014/main" id="{EF461A2D-ED30-45F9-8D79-11EF450CE30C}"/>
              </a:ext>
            </a:extLst>
          </p:cNvPr>
          <p:cNvSpPr txBox="1"/>
          <p:nvPr/>
        </p:nvSpPr>
        <p:spPr>
          <a:xfrm>
            <a:off x="491433" y="305570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Functional</a:t>
            </a:r>
          </a:p>
        </p:txBody>
      </p:sp>
      <p:sp>
        <p:nvSpPr>
          <p:cNvPr id="75" name="sub-q 1 button">
            <a:hlinkClick r:id="rId8" action="ppaction://hlinksldjump"/>
            <a:extLst>
              <a:ext uri="{FF2B5EF4-FFF2-40B4-BE49-F238E27FC236}">
                <a16:creationId xmlns:a16="http://schemas.microsoft.com/office/drawing/2014/main" id="{9E021619-E80B-4C81-AAF1-DE2181D9BAD9}"/>
              </a:ext>
            </a:extLst>
          </p:cNvPr>
          <p:cNvSpPr txBox="1"/>
          <p:nvPr/>
        </p:nvSpPr>
        <p:spPr>
          <a:xfrm>
            <a:off x="491433" y="192464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Basic Workup</a:t>
            </a:r>
          </a:p>
        </p:txBody>
      </p:sp>
      <p:sp>
        <p:nvSpPr>
          <p:cNvPr id="76" name="Cases">
            <a:hlinkClick r:id="rId11" action="ppaction://hlinksldjump"/>
            <a:extLst>
              <a:ext uri="{FF2B5EF4-FFF2-40B4-BE49-F238E27FC236}">
                <a16:creationId xmlns:a16="http://schemas.microsoft.com/office/drawing/2014/main" id="{AF45B29B-50B1-40E0-B3E1-1D90522A785F}"/>
              </a:ext>
            </a:extLst>
          </p:cNvPr>
          <p:cNvSpPr txBox="1"/>
          <p:nvPr/>
        </p:nvSpPr>
        <p:spPr>
          <a:xfrm>
            <a:off x="205792" y="3647465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EBC24618-1870-4172-9A8D-6379382102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9897" y="3905212"/>
            <a:ext cx="301752" cy="301752"/>
          </a:xfrm>
          <a:prstGeom prst="rect">
            <a:avLst/>
          </a:prstGeom>
        </p:spPr>
      </p:pic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13C6FC4F-3D44-43B7-B461-15BDFCFD06F6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213769" y="1851289"/>
            <a:ext cx="377990" cy="17733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D99868CD-1CC0-4484-91CA-C4C19C4F31EF}"/>
              </a:ext>
            </a:extLst>
          </p:cNvPr>
          <p:cNvCxnSpPr>
            <a:cxnSpLocks/>
            <a:endCxn id="80" idx="1"/>
          </p:cNvCxnSpPr>
          <p:nvPr/>
        </p:nvCxnSpPr>
        <p:spPr>
          <a:xfrm rot="16200000" flipH="1">
            <a:off x="113623" y="2316673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sub-q 1 button">
            <a:hlinkClick r:id="rId12" action="ppaction://hlinksldjump"/>
            <a:extLst>
              <a:ext uri="{FF2B5EF4-FFF2-40B4-BE49-F238E27FC236}">
                <a16:creationId xmlns:a16="http://schemas.microsoft.com/office/drawing/2014/main" id="{C805B728-8980-4173-B2C2-BAF6D8AC8182}"/>
              </a:ext>
            </a:extLst>
          </p:cNvPr>
          <p:cNvSpPr txBox="1"/>
          <p:nvPr/>
        </p:nvSpPr>
        <p:spPr>
          <a:xfrm>
            <a:off x="491433" y="249017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Structural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9F57681C-F058-45B2-A031-3DDF219933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3623" y="2901506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Graphic 81" descr="Cursor with solid fill">
            <a:extLst>
              <a:ext uri="{FF2B5EF4-FFF2-40B4-BE49-F238E27FC236}">
                <a16:creationId xmlns:a16="http://schemas.microsoft.com/office/drawing/2014/main" id="{87F5DAFE-AA71-47D7-8CB9-FEC40BBDED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9897" y="2176883"/>
            <a:ext cx="301752" cy="301752"/>
          </a:xfrm>
          <a:prstGeom prst="rect">
            <a:avLst/>
          </a:prstGeom>
        </p:spPr>
      </p:pic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3F2CFB54-03EE-4A36-85E9-1130A9C722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9897" y="2752993"/>
            <a:ext cx="301752" cy="301752"/>
          </a:xfrm>
          <a:prstGeom prst="rect">
            <a:avLst/>
          </a:prstGeom>
        </p:spPr>
      </p:pic>
      <p:pic>
        <p:nvPicPr>
          <p:cNvPr id="84" name="Graphic 83" descr="Cursor with solid fill">
            <a:extLst>
              <a:ext uri="{FF2B5EF4-FFF2-40B4-BE49-F238E27FC236}">
                <a16:creationId xmlns:a16="http://schemas.microsoft.com/office/drawing/2014/main" id="{252C7B0E-71A1-4CAF-B29B-F5A1D3420C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9897" y="3329103"/>
            <a:ext cx="301752" cy="301752"/>
          </a:xfrm>
          <a:prstGeom prst="rect">
            <a:avLst/>
          </a:prstGeom>
        </p:spPr>
      </p:pic>
      <p:sp>
        <p:nvSpPr>
          <p:cNvPr id="85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6FE92C25-BABF-42F2-9B90-8EFF8019941F}"/>
              </a:ext>
            </a:extLst>
          </p:cNvPr>
          <p:cNvSpPr txBox="1"/>
          <p:nvPr/>
        </p:nvSpPr>
        <p:spPr>
          <a:xfrm>
            <a:off x="217113" y="6260155"/>
            <a:ext cx="18288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BONUS: HPO axis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B605426-33E7-44FC-8191-27DD6F2F97DE}"/>
              </a:ext>
            </a:extLst>
          </p:cNvPr>
          <p:cNvSpPr txBox="1"/>
          <p:nvPr/>
        </p:nvSpPr>
        <p:spPr>
          <a:xfrm>
            <a:off x="2864381" y="170509"/>
            <a:ext cx="8411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Hypothalamic-Pituitary-Ovarian Axis</a:t>
            </a:r>
          </a:p>
        </p:txBody>
      </p:sp>
      <p:sp>
        <p:nvSpPr>
          <p:cNvPr id="88" name="Hypothalamus">
            <a:extLst>
              <a:ext uri="{FF2B5EF4-FFF2-40B4-BE49-F238E27FC236}">
                <a16:creationId xmlns:a16="http://schemas.microsoft.com/office/drawing/2014/main" id="{45343B19-4E31-4379-95D3-632DB87B6C1B}"/>
              </a:ext>
            </a:extLst>
          </p:cNvPr>
          <p:cNvSpPr txBox="1"/>
          <p:nvPr/>
        </p:nvSpPr>
        <p:spPr>
          <a:xfrm>
            <a:off x="4889734" y="843811"/>
            <a:ext cx="1932809" cy="408623"/>
          </a:xfrm>
          <a:prstGeom prst="roundRect">
            <a:avLst/>
          </a:prstGeom>
          <a:solidFill>
            <a:srgbClr val="F9E3BC"/>
          </a:solidFill>
          <a:ln w="38100">
            <a:solidFill>
              <a:srgbClr val="F9E3BC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Hypothalamus</a:t>
            </a:r>
          </a:p>
        </p:txBody>
      </p:sp>
      <p:sp>
        <p:nvSpPr>
          <p:cNvPr id="89" name="Ant Pit">
            <a:extLst>
              <a:ext uri="{FF2B5EF4-FFF2-40B4-BE49-F238E27FC236}">
                <a16:creationId xmlns:a16="http://schemas.microsoft.com/office/drawing/2014/main" id="{AD1CF636-67F4-456F-8174-5CC5F73004BA}"/>
              </a:ext>
            </a:extLst>
          </p:cNvPr>
          <p:cNvSpPr txBox="1"/>
          <p:nvPr/>
        </p:nvSpPr>
        <p:spPr>
          <a:xfrm>
            <a:off x="4888786" y="2099592"/>
            <a:ext cx="1942336" cy="408623"/>
          </a:xfrm>
          <a:prstGeom prst="roundRect">
            <a:avLst/>
          </a:prstGeom>
          <a:solidFill>
            <a:srgbClr val="91C7E7"/>
          </a:solidFill>
          <a:ln w="38100">
            <a:solidFill>
              <a:srgbClr val="91C7E7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Anterior Pituitary</a:t>
            </a:r>
          </a:p>
        </p:txBody>
      </p:sp>
      <p:sp>
        <p:nvSpPr>
          <p:cNvPr id="90" name="Ovaries">
            <a:extLst>
              <a:ext uri="{FF2B5EF4-FFF2-40B4-BE49-F238E27FC236}">
                <a16:creationId xmlns:a16="http://schemas.microsoft.com/office/drawing/2014/main" id="{ED7CB748-F083-4842-8086-DC03F7399514}"/>
              </a:ext>
            </a:extLst>
          </p:cNvPr>
          <p:cNvSpPr txBox="1"/>
          <p:nvPr/>
        </p:nvSpPr>
        <p:spPr>
          <a:xfrm>
            <a:off x="4859197" y="3431762"/>
            <a:ext cx="1948302" cy="408623"/>
          </a:xfrm>
          <a:prstGeom prst="roundRect">
            <a:avLst/>
          </a:prstGeom>
          <a:solidFill>
            <a:srgbClr val="F0D2CF"/>
          </a:solidFill>
          <a:ln w="38100">
            <a:solidFill>
              <a:srgbClr val="F0D2CF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Ovaries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46E49F68-84F8-4409-BA3C-095C4B196AB0}"/>
              </a:ext>
            </a:extLst>
          </p:cNvPr>
          <p:cNvSpPr/>
          <p:nvPr/>
        </p:nvSpPr>
        <p:spPr>
          <a:xfrm rot="10800000">
            <a:off x="4148049" y="2896637"/>
            <a:ext cx="128197" cy="32857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F3E3DFBC-F51A-4CC8-8E31-7FFF9AF29B70}"/>
              </a:ext>
            </a:extLst>
          </p:cNvPr>
          <p:cNvSpPr/>
          <p:nvPr/>
        </p:nvSpPr>
        <p:spPr>
          <a:xfrm>
            <a:off x="5376683" y="1457661"/>
            <a:ext cx="128197" cy="32857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AB75A22A-DCD0-451F-AA91-C123AFA519C2}"/>
              </a:ext>
            </a:extLst>
          </p:cNvPr>
          <p:cNvSpPr/>
          <p:nvPr/>
        </p:nvSpPr>
        <p:spPr>
          <a:xfrm>
            <a:off x="5319019" y="2584810"/>
            <a:ext cx="128197" cy="32857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71B4EC-DD0F-4DD9-B8F6-8DFF0D614385}"/>
              </a:ext>
            </a:extLst>
          </p:cNvPr>
          <p:cNvSpPr txBox="1"/>
          <p:nvPr/>
        </p:nvSpPr>
        <p:spPr>
          <a:xfrm>
            <a:off x="8215956" y="1921498"/>
            <a:ext cx="3851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TSH provides negative feedback to hypothalamus → ↓ GnRH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D4C125-7607-492F-BA39-CFC04858C525}"/>
              </a:ext>
            </a:extLst>
          </p:cNvPr>
          <p:cNvSpPr txBox="1"/>
          <p:nvPr/>
        </p:nvSpPr>
        <p:spPr>
          <a:xfrm>
            <a:off x="8186112" y="2521890"/>
            <a:ext cx="38810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↓ GnRH → ↓ FSH/LH ovarian → ↓ stimulation to ovulate</a:t>
            </a:r>
          </a:p>
        </p:txBody>
      </p:sp>
      <p:sp>
        <p:nvSpPr>
          <p:cNvPr id="68" name="Rounded Rectangle 49">
            <a:extLst>
              <a:ext uri="{FF2B5EF4-FFF2-40B4-BE49-F238E27FC236}">
                <a16:creationId xmlns:a16="http://schemas.microsoft.com/office/drawing/2014/main" id="{F28E697C-CB1E-46F7-A781-DB206CDFB163}"/>
              </a:ext>
            </a:extLst>
          </p:cNvPr>
          <p:cNvSpPr/>
          <p:nvPr/>
        </p:nvSpPr>
        <p:spPr>
          <a:xfrm>
            <a:off x="8198101" y="778828"/>
            <a:ext cx="3771665" cy="763487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How does hypothyroidism cause menstrual irregularities?</a:t>
            </a:r>
          </a:p>
        </p:txBody>
      </p:sp>
      <p:sp>
        <p:nvSpPr>
          <p:cNvPr id="91" name="Rounded Rectangle 50">
            <a:hlinkClick r:id="rId14" action="ppaction://hlinksldjump"/>
            <a:extLst>
              <a:ext uri="{FF2B5EF4-FFF2-40B4-BE49-F238E27FC236}">
                <a16:creationId xmlns:a16="http://schemas.microsoft.com/office/drawing/2014/main" id="{F66C7A3B-BC07-4986-B19C-39D68CA6BAF2}"/>
              </a:ext>
            </a:extLst>
          </p:cNvPr>
          <p:cNvSpPr/>
          <p:nvPr/>
        </p:nvSpPr>
        <p:spPr>
          <a:xfrm>
            <a:off x="8193038" y="3223768"/>
            <a:ext cx="3776728" cy="114569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does the physiology of menopause explain the elevated FSH we see in perimenopausal patients? </a:t>
            </a:r>
          </a:p>
        </p:txBody>
      </p:sp>
      <p:pic>
        <p:nvPicPr>
          <p:cNvPr id="92" name="Graphic 26" descr="Cursor with solid fill">
            <a:extLst>
              <a:ext uri="{FF2B5EF4-FFF2-40B4-BE49-F238E27FC236}">
                <a16:creationId xmlns:a16="http://schemas.microsoft.com/office/drawing/2014/main" id="{54A42D42-50FC-48EB-9F7D-BC491901554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69464" y="4175988"/>
            <a:ext cx="301752" cy="301752"/>
          </a:xfrm>
          <a:prstGeom prst="rect">
            <a:avLst/>
          </a:prstGeom>
        </p:spPr>
      </p:pic>
      <p:sp>
        <p:nvSpPr>
          <p:cNvPr id="36" name="1">
            <a:extLst>
              <a:ext uri="{FF2B5EF4-FFF2-40B4-BE49-F238E27FC236}">
                <a16:creationId xmlns:a16="http://schemas.microsoft.com/office/drawing/2014/main" id="{771AC9EC-7374-454F-9E9E-5034849374CF}"/>
              </a:ext>
            </a:extLst>
          </p:cNvPr>
          <p:cNvSpPr/>
          <p:nvPr/>
        </p:nvSpPr>
        <p:spPr>
          <a:xfrm>
            <a:off x="3140946" y="2795700"/>
            <a:ext cx="578257" cy="52000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94" name="graphic" descr="Cursor with solid fill">
            <a:extLst>
              <a:ext uri="{FF2B5EF4-FFF2-40B4-BE49-F238E27FC236}">
                <a16:creationId xmlns:a16="http://schemas.microsoft.com/office/drawing/2014/main" id="{45A18B61-3EFF-4CBE-B1CA-8232C06E66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1292" y="3152473"/>
            <a:ext cx="301752" cy="301752"/>
          </a:xfrm>
          <a:prstGeom prst="rect">
            <a:avLst/>
          </a:prstGeom>
        </p:spPr>
      </p:pic>
      <p:sp>
        <p:nvSpPr>
          <p:cNvPr id="96" name="Oval 95">
            <a:extLst>
              <a:ext uri="{FF2B5EF4-FFF2-40B4-BE49-F238E27FC236}">
                <a16:creationId xmlns:a16="http://schemas.microsoft.com/office/drawing/2014/main" id="{FDDE4E44-30A3-44AB-B268-49ED622CD169}"/>
              </a:ext>
            </a:extLst>
          </p:cNvPr>
          <p:cNvSpPr/>
          <p:nvPr/>
        </p:nvSpPr>
        <p:spPr>
          <a:xfrm>
            <a:off x="4332801" y="1372805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7" name="2">
            <a:extLst>
              <a:ext uri="{FF2B5EF4-FFF2-40B4-BE49-F238E27FC236}">
                <a16:creationId xmlns:a16="http://schemas.microsoft.com/office/drawing/2014/main" id="{EA6F19EB-824C-4691-B0A4-A830D9B2952E}"/>
              </a:ext>
            </a:extLst>
          </p:cNvPr>
          <p:cNvSpPr/>
          <p:nvPr/>
        </p:nvSpPr>
        <p:spPr>
          <a:xfrm>
            <a:off x="4332801" y="1372805"/>
            <a:ext cx="578257" cy="52000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98" name="Graphic" descr="Cursor with solid fill">
            <a:extLst>
              <a:ext uri="{FF2B5EF4-FFF2-40B4-BE49-F238E27FC236}">
                <a16:creationId xmlns:a16="http://schemas.microsoft.com/office/drawing/2014/main" id="{1DD081BD-66CF-48C4-8395-84F74D3B52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3147" y="1729578"/>
            <a:ext cx="301752" cy="301752"/>
          </a:xfrm>
          <a:prstGeom prst="rect">
            <a:avLst/>
          </a:prstGeom>
        </p:spPr>
      </p:pic>
      <p:sp>
        <p:nvSpPr>
          <p:cNvPr id="101" name="Oval 100">
            <a:extLst>
              <a:ext uri="{FF2B5EF4-FFF2-40B4-BE49-F238E27FC236}">
                <a16:creationId xmlns:a16="http://schemas.microsoft.com/office/drawing/2014/main" id="{D4AC632F-B846-486D-B521-2558302B4421}"/>
              </a:ext>
            </a:extLst>
          </p:cNvPr>
          <p:cNvSpPr/>
          <p:nvPr/>
        </p:nvSpPr>
        <p:spPr>
          <a:xfrm>
            <a:off x="6452197" y="2666969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2" name="3">
            <a:extLst>
              <a:ext uri="{FF2B5EF4-FFF2-40B4-BE49-F238E27FC236}">
                <a16:creationId xmlns:a16="http://schemas.microsoft.com/office/drawing/2014/main" id="{5FDD5C73-BA90-450F-AD6C-E41B8E0BC2DD}"/>
              </a:ext>
            </a:extLst>
          </p:cNvPr>
          <p:cNvSpPr/>
          <p:nvPr/>
        </p:nvSpPr>
        <p:spPr>
          <a:xfrm>
            <a:off x="6452197" y="2666969"/>
            <a:ext cx="578257" cy="52000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103" name="Graphic" descr="Cursor with solid fill">
            <a:extLst>
              <a:ext uri="{FF2B5EF4-FFF2-40B4-BE49-F238E27FC236}">
                <a16:creationId xmlns:a16="http://schemas.microsoft.com/office/drawing/2014/main" id="{DA3F05D1-645B-4244-8BE7-B73993F9B6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2543" y="3023742"/>
            <a:ext cx="301752" cy="301752"/>
          </a:xfrm>
          <a:prstGeom prst="rect">
            <a:avLst/>
          </a:prstGeom>
        </p:spPr>
      </p:pic>
      <p:pic>
        <p:nvPicPr>
          <p:cNvPr id="57" name="Picture 56" descr="Icon&#10;&#10;Description automatically generated">
            <a:extLst>
              <a:ext uri="{FF2B5EF4-FFF2-40B4-BE49-F238E27FC236}">
                <a16:creationId xmlns:a16="http://schemas.microsoft.com/office/drawing/2014/main" id="{529FEF16-4565-4D22-B806-4B8593493EE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127" y="6345344"/>
            <a:ext cx="1393873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1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</p:childTnLst>
        </p:cTn>
      </p:par>
    </p:tnLst>
    <p:bldLst>
      <p:bldP spid="52" grpId="0"/>
      <p:bldP spid="2" grpId="0" animBg="1"/>
      <p:bldP spid="61" grpId="0" animBg="1"/>
      <p:bldP spid="62" grpId="0" animBg="1"/>
      <p:bldP spid="65" grpId="0"/>
      <p:bldP spid="67" grpId="0"/>
      <p:bldP spid="36" grpId="0" animBg="1"/>
      <p:bldP spid="97" grpId="0" animBg="1"/>
      <p:bldP spid="10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Anatomical structures">
            <a:extLst>
              <a:ext uri="{FF2B5EF4-FFF2-40B4-BE49-F238E27FC236}">
                <a16:creationId xmlns:a16="http://schemas.microsoft.com/office/drawing/2014/main" id="{3E7006F5-1D00-4AF3-B29E-22EF496153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821" y="767216"/>
            <a:ext cx="4543053" cy="5723441"/>
          </a:xfrm>
          <a:prstGeom prst="rect">
            <a:avLst/>
          </a:prstGeom>
        </p:spPr>
      </p:pic>
      <p:sp>
        <p:nvSpPr>
          <p:cNvPr id="11" name="Uterus">
            <a:extLst>
              <a:ext uri="{FF2B5EF4-FFF2-40B4-BE49-F238E27FC236}">
                <a16:creationId xmlns:a16="http://schemas.microsoft.com/office/drawing/2014/main" id="{659DB868-A0FC-5C47-88C5-473883EF3E55}"/>
              </a:ext>
            </a:extLst>
          </p:cNvPr>
          <p:cNvSpPr txBox="1"/>
          <p:nvPr/>
        </p:nvSpPr>
        <p:spPr>
          <a:xfrm>
            <a:off x="4858118" y="4728792"/>
            <a:ext cx="1932809" cy="369332"/>
          </a:xfrm>
          <a:prstGeom prst="rect">
            <a:avLst/>
          </a:prstGeom>
          <a:solidFill>
            <a:schemeClr val="bg1"/>
          </a:solidFill>
          <a:ln w="28575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ysClr val="windowText" lastClr="000000"/>
                </a:solidFill>
              </a:rPr>
              <a:t>Uterus</a:t>
            </a:r>
          </a:p>
        </p:txBody>
      </p:sp>
      <p:sp>
        <p:nvSpPr>
          <p:cNvPr id="12" name="Vagina">
            <a:extLst>
              <a:ext uri="{FF2B5EF4-FFF2-40B4-BE49-F238E27FC236}">
                <a16:creationId xmlns:a16="http://schemas.microsoft.com/office/drawing/2014/main" id="{7E59101C-802B-C248-9B1F-2143DEA44A43}"/>
              </a:ext>
            </a:extLst>
          </p:cNvPr>
          <p:cNvSpPr txBox="1"/>
          <p:nvPr/>
        </p:nvSpPr>
        <p:spPr>
          <a:xfrm>
            <a:off x="4858118" y="5976437"/>
            <a:ext cx="1941571" cy="369332"/>
          </a:xfrm>
          <a:prstGeom prst="rect">
            <a:avLst/>
          </a:prstGeom>
          <a:solidFill>
            <a:schemeClr val="bg1"/>
          </a:solidFill>
          <a:ln w="28575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ysClr val="windowText" lastClr="000000"/>
                </a:solidFill>
              </a:rPr>
              <a:t>Vagina</a:t>
            </a:r>
          </a:p>
        </p:txBody>
      </p:sp>
      <p:sp>
        <p:nvSpPr>
          <p:cNvPr id="14" name="Estradiol">
            <a:extLst>
              <a:ext uri="{FF2B5EF4-FFF2-40B4-BE49-F238E27FC236}">
                <a16:creationId xmlns:a16="http://schemas.microsoft.com/office/drawing/2014/main" id="{E54C01A4-6FD5-6949-8803-77BD40A1D224}"/>
              </a:ext>
            </a:extLst>
          </p:cNvPr>
          <p:cNvSpPr txBox="1"/>
          <p:nvPr/>
        </p:nvSpPr>
        <p:spPr>
          <a:xfrm>
            <a:off x="5385978" y="4033260"/>
            <a:ext cx="892583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Estradiol</a:t>
            </a:r>
          </a:p>
        </p:txBody>
      </p:sp>
      <p:sp>
        <p:nvSpPr>
          <p:cNvPr id="15" name="Progesterone">
            <a:extLst>
              <a:ext uri="{FF2B5EF4-FFF2-40B4-BE49-F238E27FC236}">
                <a16:creationId xmlns:a16="http://schemas.microsoft.com/office/drawing/2014/main" id="{894C653C-4BE3-7D4F-806A-B9DFBF6AEDF7}"/>
              </a:ext>
            </a:extLst>
          </p:cNvPr>
          <p:cNvSpPr txBox="1"/>
          <p:nvPr/>
        </p:nvSpPr>
        <p:spPr>
          <a:xfrm>
            <a:off x="5163107" y="4321129"/>
            <a:ext cx="1289690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Progesterone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543A62-B94C-C043-9D66-E21DF25705BF}"/>
              </a:ext>
            </a:extLst>
          </p:cNvPr>
          <p:cNvCxnSpPr>
            <a:cxnSpLocks/>
          </p:cNvCxnSpPr>
          <p:nvPr/>
        </p:nvCxnSpPr>
        <p:spPr>
          <a:xfrm flipH="1">
            <a:off x="5832269" y="1232057"/>
            <a:ext cx="1" cy="85052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nRH">
            <a:extLst>
              <a:ext uri="{FF2B5EF4-FFF2-40B4-BE49-F238E27FC236}">
                <a16:creationId xmlns:a16="http://schemas.microsoft.com/office/drawing/2014/main" id="{1B15243F-3A36-E241-95E8-DDA5F7BDF1D5}"/>
              </a:ext>
            </a:extLst>
          </p:cNvPr>
          <p:cNvSpPr txBox="1"/>
          <p:nvPr/>
        </p:nvSpPr>
        <p:spPr>
          <a:xfrm>
            <a:off x="5516230" y="1440750"/>
            <a:ext cx="623226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GnRH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271D32-7947-A74B-803E-C443F85B793A}"/>
              </a:ext>
            </a:extLst>
          </p:cNvPr>
          <p:cNvCxnSpPr>
            <a:cxnSpLocks/>
          </p:cNvCxnSpPr>
          <p:nvPr/>
        </p:nvCxnSpPr>
        <p:spPr>
          <a:xfrm flipH="1" flipV="1">
            <a:off x="5832269" y="3830392"/>
            <a:ext cx="1" cy="202868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8DF8AA-054A-944A-B6BC-63962A5FE005}"/>
              </a:ext>
            </a:extLst>
          </p:cNvPr>
          <p:cNvCxnSpPr>
            <a:cxnSpLocks/>
          </p:cNvCxnSpPr>
          <p:nvPr/>
        </p:nvCxnSpPr>
        <p:spPr>
          <a:xfrm>
            <a:off x="5832269" y="2491201"/>
            <a:ext cx="0" cy="93056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SH/LH">
            <a:extLst>
              <a:ext uri="{FF2B5EF4-FFF2-40B4-BE49-F238E27FC236}">
                <a16:creationId xmlns:a16="http://schemas.microsoft.com/office/drawing/2014/main" id="{118650BA-CFE4-434C-B220-DFD73C5ADF73}"/>
              </a:ext>
            </a:extLst>
          </p:cNvPr>
          <p:cNvSpPr txBox="1"/>
          <p:nvPr/>
        </p:nvSpPr>
        <p:spPr>
          <a:xfrm>
            <a:off x="5464010" y="2612066"/>
            <a:ext cx="739398" cy="2743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FSH/LH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C7B1C8-AB2F-3D46-9D4B-FB05EDC5E9FE}"/>
              </a:ext>
            </a:extLst>
          </p:cNvPr>
          <p:cNvGrpSpPr/>
          <p:nvPr/>
        </p:nvGrpSpPr>
        <p:grpSpPr>
          <a:xfrm>
            <a:off x="6311906" y="900747"/>
            <a:ext cx="1586809" cy="3542029"/>
            <a:chOff x="8498785" y="952083"/>
            <a:chExt cx="1481719" cy="3542029"/>
          </a:xfrm>
        </p:grpSpPr>
        <p:cxnSp>
          <p:nvCxnSpPr>
            <p:cNvPr id="28" name="Connector: Elbow 536">
              <a:extLst>
                <a:ext uri="{FF2B5EF4-FFF2-40B4-BE49-F238E27FC236}">
                  <a16:creationId xmlns:a16="http://schemas.microsoft.com/office/drawing/2014/main" id="{EC25FB86-9F1E-0446-8A56-1FAB60B2788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626144" y="1874484"/>
              <a:ext cx="3227001" cy="1481719"/>
            </a:xfrm>
            <a:prstGeom prst="bentConnector3">
              <a:avLst>
                <a:gd name="adj1" fmla="val 412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5E05AC3-E673-824C-BC2C-4F44AAA888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8628" y="952083"/>
              <a:ext cx="1" cy="160163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D3E57F0-AAC7-6748-BECB-AC13220A1753}"/>
                </a:ext>
              </a:extLst>
            </p:cNvPr>
            <p:cNvCxnSpPr>
              <a:cxnSpLocks/>
            </p:cNvCxnSpPr>
            <p:nvPr/>
          </p:nvCxnSpPr>
          <p:spPr>
            <a:xfrm>
              <a:off x="9756545" y="1014466"/>
              <a:ext cx="223959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: Elbow 176">
              <a:extLst>
                <a:ext uri="{FF2B5EF4-FFF2-40B4-BE49-F238E27FC236}">
                  <a16:creationId xmlns:a16="http://schemas.microsoft.com/office/drawing/2014/main" id="{EEA6EE4E-BAA9-554D-822B-AE566CCEAE1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600376" y="2113985"/>
              <a:ext cx="3477461" cy="1282793"/>
            </a:xfrm>
            <a:prstGeom prst="bentConnector3">
              <a:avLst>
                <a:gd name="adj1" fmla="val -399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ounded Rectangle 49">
            <a:hlinkClick r:id="rId4" action="ppaction://hlinksldjump"/>
            <a:extLst>
              <a:ext uri="{FF2B5EF4-FFF2-40B4-BE49-F238E27FC236}">
                <a16:creationId xmlns:a16="http://schemas.microsoft.com/office/drawing/2014/main" id="{8AD7B317-61E5-D048-950F-57050970F333}"/>
              </a:ext>
            </a:extLst>
          </p:cNvPr>
          <p:cNvSpPr/>
          <p:nvPr/>
        </p:nvSpPr>
        <p:spPr>
          <a:xfrm>
            <a:off x="8198101" y="778828"/>
            <a:ext cx="3771665" cy="76348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does hypothyroidism cause menstrual irregularities?</a:t>
            </a:r>
          </a:p>
        </p:txBody>
      </p:sp>
      <p:pic>
        <p:nvPicPr>
          <p:cNvPr id="48" name="Graphic 26" descr="Cursor with solid fill">
            <a:extLst>
              <a:ext uri="{FF2B5EF4-FFF2-40B4-BE49-F238E27FC236}">
                <a16:creationId xmlns:a16="http://schemas.microsoft.com/office/drawing/2014/main" id="{602719FA-1896-D241-9E39-51D068D0B37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69465" y="1388665"/>
            <a:ext cx="301752" cy="301752"/>
          </a:xfrm>
          <a:prstGeom prst="rect">
            <a:avLst/>
          </a:prstGeom>
        </p:spPr>
      </p:pic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0C22E8B-B504-CC43-82F7-DCA2642170BD}"/>
              </a:ext>
            </a:extLst>
          </p:cNvPr>
          <p:cNvSpPr/>
          <p:nvPr/>
        </p:nvSpPr>
        <p:spPr>
          <a:xfrm>
            <a:off x="8193038" y="3223768"/>
            <a:ext cx="3776728" cy="1145696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How does the physiology of menopause explain the elevated FSH we see in perimenopausal patients? </a:t>
            </a:r>
          </a:p>
        </p:txBody>
      </p:sp>
      <p:sp>
        <p:nvSpPr>
          <p:cNvPr id="69" name="question 1">
            <a:hlinkClick r:id="rId7" action="ppaction://hlinksldjump"/>
            <a:extLst>
              <a:ext uri="{FF2B5EF4-FFF2-40B4-BE49-F238E27FC236}">
                <a16:creationId xmlns:a16="http://schemas.microsoft.com/office/drawing/2014/main" id="{47C0884A-EC8E-478B-9D82-5D81E940BEC5}"/>
              </a:ext>
            </a:extLst>
          </p:cNvPr>
          <p:cNvSpPr txBox="1"/>
          <p:nvPr/>
        </p:nvSpPr>
        <p:spPr>
          <a:xfrm>
            <a:off x="217113" y="18922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is AUB?</a:t>
            </a:r>
          </a:p>
        </p:txBody>
      </p:sp>
      <p:sp>
        <p:nvSpPr>
          <p:cNvPr id="70" name="Question 2">
            <a:hlinkClick r:id="rId8" action="ppaction://hlinksldjump"/>
            <a:extLst>
              <a:ext uri="{FF2B5EF4-FFF2-40B4-BE49-F238E27FC236}">
                <a16:creationId xmlns:a16="http://schemas.microsoft.com/office/drawing/2014/main" id="{35E5E0CE-8A7B-46F3-B1AE-0830D52E530E}"/>
              </a:ext>
            </a:extLst>
          </p:cNvPr>
          <p:cNvSpPr txBox="1"/>
          <p:nvPr/>
        </p:nvSpPr>
        <p:spPr>
          <a:xfrm>
            <a:off x="217113" y="760517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Causes</a:t>
            </a:r>
          </a:p>
        </p:txBody>
      </p:sp>
      <p:sp>
        <p:nvSpPr>
          <p:cNvPr id="71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1661B6F8-1C7A-4E46-8BA3-97C9E10E9221}"/>
              </a:ext>
            </a:extLst>
          </p:cNvPr>
          <p:cNvSpPr txBox="1"/>
          <p:nvPr/>
        </p:nvSpPr>
        <p:spPr>
          <a:xfrm>
            <a:off x="217113" y="133181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Work-up</a:t>
            </a:r>
          </a:p>
        </p:txBody>
      </p:sp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F2CB5323-511E-4C5E-A294-772B2EB267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448553"/>
            <a:ext cx="301752" cy="301752"/>
          </a:xfrm>
          <a:prstGeom prst="rect">
            <a:avLst/>
          </a:prstGeom>
        </p:spPr>
      </p:pic>
      <p:pic>
        <p:nvPicPr>
          <p:cNvPr id="73" name="Graphic 72" descr="Cursor with solid fill">
            <a:extLst>
              <a:ext uri="{FF2B5EF4-FFF2-40B4-BE49-F238E27FC236}">
                <a16:creationId xmlns:a16="http://schemas.microsoft.com/office/drawing/2014/main" id="{C32597AF-BA91-4E3E-A3B9-8A22B7746B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1019531"/>
            <a:ext cx="301752" cy="301752"/>
          </a:xfrm>
          <a:prstGeom prst="rect">
            <a:avLst/>
          </a:prstGeom>
        </p:spPr>
      </p:pic>
      <p:sp>
        <p:nvSpPr>
          <p:cNvPr id="74" name="sub-q 1 button">
            <a:hlinkClick r:id="rId11" action="ppaction://hlinksldjump"/>
            <a:extLst>
              <a:ext uri="{FF2B5EF4-FFF2-40B4-BE49-F238E27FC236}">
                <a16:creationId xmlns:a16="http://schemas.microsoft.com/office/drawing/2014/main" id="{EF461A2D-ED30-45F9-8D79-11EF450CE30C}"/>
              </a:ext>
            </a:extLst>
          </p:cNvPr>
          <p:cNvSpPr txBox="1"/>
          <p:nvPr/>
        </p:nvSpPr>
        <p:spPr>
          <a:xfrm>
            <a:off x="491433" y="305570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Functional</a:t>
            </a:r>
          </a:p>
        </p:txBody>
      </p:sp>
      <p:sp>
        <p:nvSpPr>
          <p:cNvPr id="75" name="sub-q 1 button">
            <a:hlinkClick r:id="rId9" action="ppaction://hlinksldjump"/>
            <a:extLst>
              <a:ext uri="{FF2B5EF4-FFF2-40B4-BE49-F238E27FC236}">
                <a16:creationId xmlns:a16="http://schemas.microsoft.com/office/drawing/2014/main" id="{9E021619-E80B-4C81-AAF1-DE2181D9BAD9}"/>
              </a:ext>
            </a:extLst>
          </p:cNvPr>
          <p:cNvSpPr txBox="1"/>
          <p:nvPr/>
        </p:nvSpPr>
        <p:spPr>
          <a:xfrm>
            <a:off x="491433" y="192464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Basic Workup</a:t>
            </a:r>
          </a:p>
        </p:txBody>
      </p:sp>
      <p:sp>
        <p:nvSpPr>
          <p:cNvPr id="76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AF45B29B-50B1-40E0-B3E1-1D90522A785F}"/>
              </a:ext>
            </a:extLst>
          </p:cNvPr>
          <p:cNvSpPr txBox="1"/>
          <p:nvPr/>
        </p:nvSpPr>
        <p:spPr>
          <a:xfrm>
            <a:off x="205792" y="3647465"/>
            <a:ext cx="182880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EBC24618-1870-4172-9A8D-6379382102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3905212"/>
            <a:ext cx="301752" cy="301752"/>
          </a:xfrm>
          <a:prstGeom prst="rect">
            <a:avLst/>
          </a:prstGeom>
        </p:spPr>
      </p:pic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13C6FC4F-3D44-43B7-B461-15BDFCFD06F6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213769" y="1851289"/>
            <a:ext cx="377990" cy="17733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D99868CD-1CC0-4484-91CA-C4C19C4F31EF}"/>
              </a:ext>
            </a:extLst>
          </p:cNvPr>
          <p:cNvCxnSpPr>
            <a:cxnSpLocks/>
            <a:endCxn id="80" idx="1"/>
          </p:cNvCxnSpPr>
          <p:nvPr/>
        </p:nvCxnSpPr>
        <p:spPr>
          <a:xfrm rot="16200000" flipH="1">
            <a:off x="113623" y="2316673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sub-q 1 button">
            <a:hlinkClick r:id="rId13" action="ppaction://hlinksldjump"/>
            <a:extLst>
              <a:ext uri="{FF2B5EF4-FFF2-40B4-BE49-F238E27FC236}">
                <a16:creationId xmlns:a16="http://schemas.microsoft.com/office/drawing/2014/main" id="{C805B728-8980-4173-B2C2-BAF6D8AC8182}"/>
              </a:ext>
            </a:extLst>
          </p:cNvPr>
          <p:cNvSpPr txBox="1"/>
          <p:nvPr/>
        </p:nvSpPr>
        <p:spPr>
          <a:xfrm>
            <a:off x="491433" y="2490171"/>
            <a:ext cx="155448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Structural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9F57681C-F058-45B2-A031-3DDF219933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3623" y="2901506"/>
            <a:ext cx="578282" cy="1773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Graphic 81" descr="Cursor with solid fill">
            <a:extLst>
              <a:ext uri="{FF2B5EF4-FFF2-40B4-BE49-F238E27FC236}">
                <a16:creationId xmlns:a16="http://schemas.microsoft.com/office/drawing/2014/main" id="{87F5DAFE-AA71-47D7-8CB9-FEC40BBDED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2176883"/>
            <a:ext cx="301752" cy="301752"/>
          </a:xfrm>
          <a:prstGeom prst="rect">
            <a:avLst/>
          </a:prstGeom>
        </p:spPr>
      </p:pic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3F2CFB54-03EE-4A36-85E9-1130A9C722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2752993"/>
            <a:ext cx="301752" cy="301752"/>
          </a:xfrm>
          <a:prstGeom prst="rect">
            <a:avLst/>
          </a:prstGeom>
        </p:spPr>
      </p:pic>
      <p:pic>
        <p:nvPicPr>
          <p:cNvPr id="84" name="Graphic 83" descr="Cursor with solid fill">
            <a:extLst>
              <a:ext uri="{FF2B5EF4-FFF2-40B4-BE49-F238E27FC236}">
                <a16:creationId xmlns:a16="http://schemas.microsoft.com/office/drawing/2014/main" id="{252C7B0E-71A1-4CAF-B29B-F5A1D3420C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9897" y="3329103"/>
            <a:ext cx="301752" cy="301752"/>
          </a:xfrm>
          <a:prstGeom prst="rect">
            <a:avLst/>
          </a:prstGeom>
        </p:spPr>
      </p:pic>
      <p:sp>
        <p:nvSpPr>
          <p:cNvPr id="85" name="Cases">
            <a:hlinkClick r:id="rId14" action="ppaction://hlinksldjump"/>
            <a:extLst>
              <a:ext uri="{FF2B5EF4-FFF2-40B4-BE49-F238E27FC236}">
                <a16:creationId xmlns:a16="http://schemas.microsoft.com/office/drawing/2014/main" id="{6FE92C25-BABF-42F2-9B90-8EFF8019941F}"/>
              </a:ext>
            </a:extLst>
          </p:cNvPr>
          <p:cNvSpPr txBox="1"/>
          <p:nvPr/>
        </p:nvSpPr>
        <p:spPr>
          <a:xfrm>
            <a:off x="217113" y="6260155"/>
            <a:ext cx="18288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BONUS: HPO axis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B605426-33E7-44FC-8191-27DD6F2F97DE}"/>
              </a:ext>
            </a:extLst>
          </p:cNvPr>
          <p:cNvSpPr txBox="1"/>
          <p:nvPr/>
        </p:nvSpPr>
        <p:spPr>
          <a:xfrm>
            <a:off x="2864381" y="170509"/>
            <a:ext cx="8411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Hypothalamic-Pituitary-Ovarian Axis</a:t>
            </a:r>
          </a:p>
        </p:txBody>
      </p:sp>
      <p:sp>
        <p:nvSpPr>
          <p:cNvPr id="88" name="Hypothalamus">
            <a:extLst>
              <a:ext uri="{FF2B5EF4-FFF2-40B4-BE49-F238E27FC236}">
                <a16:creationId xmlns:a16="http://schemas.microsoft.com/office/drawing/2014/main" id="{45343B19-4E31-4379-95D3-632DB87B6C1B}"/>
              </a:ext>
            </a:extLst>
          </p:cNvPr>
          <p:cNvSpPr txBox="1"/>
          <p:nvPr/>
        </p:nvSpPr>
        <p:spPr>
          <a:xfrm>
            <a:off x="4875845" y="826900"/>
            <a:ext cx="1932809" cy="408623"/>
          </a:xfrm>
          <a:prstGeom prst="roundRect">
            <a:avLst/>
          </a:prstGeom>
          <a:solidFill>
            <a:srgbClr val="F9E3BC"/>
          </a:solidFill>
          <a:ln w="38100">
            <a:solidFill>
              <a:srgbClr val="F9E3BC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Hypothalamus</a:t>
            </a:r>
          </a:p>
        </p:txBody>
      </p:sp>
      <p:sp>
        <p:nvSpPr>
          <p:cNvPr id="89" name="Ant Pit">
            <a:extLst>
              <a:ext uri="{FF2B5EF4-FFF2-40B4-BE49-F238E27FC236}">
                <a16:creationId xmlns:a16="http://schemas.microsoft.com/office/drawing/2014/main" id="{AD1CF636-67F4-456F-8174-5CC5F73004BA}"/>
              </a:ext>
            </a:extLst>
          </p:cNvPr>
          <p:cNvSpPr txBox="1"/>
          <p:nvPr/>
        </p:nvSpPr>
        <p:spPr>
          <a:xfrm>
            <a:off x="4874897" y="2082681"/>
            <a:ext cx="1942336" cy="408623"/>
          </a:xfrm>
          <a:prstGeom prst="roundRect">
            <a:avLst/>
          </a:prstGeom>
          <a:solidFill>
            <a:srgbClr val="91C7E7"/>
          </a:solidFill>
          <a:ln w="38100">
            <a:solidFill>
              <a:srgbClr val="91C7E7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Anterior Pituitary</a:t>
            </a:r>
          </a:p>
        </p:txBody>
      </p:sp>
      <p:sp>
        <p:nvSpPr>
          <p:cNvPr id="90" name="Ovaries">
            <a:extLst>
              <a:ext uri="{FF2B5EF4-FFF2-40B4-BE49-F238E27FC236}">
                <a16:creationId xmlns:a16="http://schemas.microsoft.com/office/drawing/2014/main" id="{ED7CB748-F083-4842-8086-DC03F7399514}"/>
              </a:ext>
            </a:extLst>
          </p:cNvPr>
          <p:cNvSpPr txBox="1"/>
          <p:nvPr/>
        </p:nvSpPr>
        <p:spPr>
          <a:xfrm>
            <a:off x="4845308" y="3414851"/>
            <a:ext cx="1948302" cy="408623"/>
          </a:xfrm>
          <a:prstGeom prst="roundRect">
            <a:avLst/>
          </a:prstGeom>
          <a:solidFill>
            <a:srgbClr val="F0D2CF"/>
          </a:solidFill>
          <a:ln w="38100">
            <a:solidFill>
              <a:srgbClr val="F0D2CF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Ovaries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34318B-A1E3-43C2-8809-8A627D4FAA87}"/>
              </a:ext>
            </a:extLst>
          </p:cNvPr>
          <p:cNvSpPr txBox="1"/>
          <p:nvPr/>
        </p:nvSpPr>
        <p:spPr>
          <a:xfrm>
            <a:off x="8109390" y="4458365"/>
            <a:ext cx="3771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Peri-menopause is due to ↓ estrogen production at the ovary</a:t>
            </a:r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8F5353D9-0D31-4A11-8D15-B51EB9731FD2}"/>
              </a:ext>
            </a:extLst>
          </p:cNvPr>
          <p:cNvSpPr/>
          <p:nvPr/>
        </p:nvSpPr>
        <p:spPr>
          <a:xfrm>
            <a:off x="5169770" y="3968068"/>
            <a:ext cx="128197" cy="32857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D7FD8BB-CE94-4420-B5F6-91D6C4C2A4DB}"/>
              </a:ext>
            </a:extLst>
          </p:cNvPr>
          <p:cNvSpPr/>
          <p:nvPr/>
        </p:nvSpPr>
        <p:spPr>
          <a:xfrm>
            <a:off x="4182537" y="3899749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6" name="1">
            <a:extLst>
              <a:ext uri="{FF2B5EF4-FFF2-40B4-BE49-F238E27FC236}">
                <a16:creationId xmlns:a16="http://schemas.microsoft.com/office/drawing/2014/main" id="{BE056F45-31E9-42A2-8275-13B03E62E3F1}"/>
              </a:ext>
            </a:extLst>
          </p:cNvPr>
          <p:cNvSpPr/>
          <p:nvPr/>
        </p:nvSpPr>
        <p:spPr>
          <a:xfrm>
            <a:off x="4182537" y="3899749"/>
            <a:ext cx="578257" cy="52000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67" name="graphic" descr="Cursor with solid fill">
            <a:extLst>
              <a:ext uri="{FF2B5EF4-FFF2-40B4-BE49-F238E27FC236}">
                <a16:creationId xmlns:a16="http://schemas.microsoft.com/office/drawing/2014/main" id="{E507BE17-5306-4868-9293-834FC7DBF3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52883" y="4256522"/>
            <a:ext cx="301752" cy="301752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E7825D50-BB6E-4926-98A3-D73BBBC769C9}"/>
              </a:ext>
            </a:extLst>
          </p:cNvPr>
          <p:cNvGrpSpPr/>
          <p:nvPr/>
        </p:nvGrpSpPr>
        <p:grpSpPr>
          <a:xfrm>
            <a:off x="6311905" y="889589"/>
            <a:ext cx="1586809" cy="3276761"/>
            <a:chOff x="8498785" y="952083"/>
            <a:chExt cx="1481719" cy="3276761"/>
          </a:xfrm>
        </p:grpSpPr>
        <p:cxnSp>
          <p:nvCxnSpPr>
            <p:cNvPr id="91" name="Connector: Elbow 536">
              <a:extLst>
                <a:ext uri="{FF2B5EF4-FFF2-40B4-BE49-F238E27FC236}">
                  <a16:creationId xmlns:a16="http://schemas.microsoft.com/office/drawing/2014/main" id="{F9401578-09A5-4081-8422-F77865D65F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626144" y="1874484"/>
              <a:ext cx="3227001" cy="1481719"/>
            </a:xfrm>
            <a:prstGeom prst="bentConnector3">
              <a:avLst>
                <a:gd name="adj1" fmla="val 412"/>
              </a:avLst>
            </a:prstGeom>
            <a:ln w="381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0FBA515-DD26-4B1D-9B94-F4D6415D00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8628" y="952083"/>
              <a:ext cx="1" cy="160163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2189653-19C4-4ADC-82D9-E2DF2CE6D1EC}"/>
                </a:ext>
              </a:extLst>
            </p:cNvPr>
            <p:cNvCxnSpPr>
              <a:cxnSpLocks/>
            </p:cNvCxnSpPr>
            <p:nvPr/>
          </p:nvCxnSpPr>
          <p:spPr>
            <a:xfrm>
              <a:off x="9756545" y="1014466"/>
              <a:ext cx="223959" cy="0"/>
            </a:xfrm>
            <a:prstGeom prst="line">
              <a:avLst/>
            </a:prstGeom>
            <a:ln w="381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A351A24C-2FCF-4F52-A1B7-EE3D3C854B94}"/>
              </a:ext>
            </a:extLst>
          </p:cNvPr>
          <p:cNvSpPr txBox="1"/>
          <p:nvPr/>
        </p:nvSpPr>
        <p:spPr>
          <a:xfrm>
            <a:off x="8109390" y="5104696"/>
            <a:ext cx="39185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↓ estrogen → ↑ GnRH production at the hypothalamus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4AD7AA6-E1D7-4E75-AEED-0E4DF78935D7}"/>
              </a:ext>
            </a:extLst>
          </p:cNvPr>
          <p:cNvSpPr txBox="1"/>
          <p:nvPr/>
        </p:nvSpPr>
        <p:spPr>
          <a:xfrm>
            <a:off x="8109389" y="5791771"/>
            <a:ext cx="3918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↑ GnRH → ↑ FSH/LH </a:t>
            </a:r>
            <a:endParaRPr lang="en-US" sz="16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C15FFBC-70BE-4316-8748-52201FAA9A97}"/>
              </a:ext>
            </a:extLst>
          </p:cNvPr>
          <p:cNvSpPr/>
          <p:nvPr/>
        </p:nvSpPr>
        <p:spPr>
          <a:xfrm>
            <a:off x="7192320" y="2337710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1" name="2">
            <a:extLst>
              <a:ext uri="{FF2B5EF4-FFF2-40B4-BE49-F238E27FC236}">
                <a16:creationId xmlns:a16="http://schemas.microsoft.com/office/drawing/2014/main" id="{85DD8D02-114C-4FA2-8DCD-9B5CC9B63A73}"/>
              </a:ext>
            </a:extLst>
          </p:cNvPr>
          <p:cNvSpPr/>
          <p:nvPr/>
        </p:nvSpPr>
        <p:spPr>
          <a:xfrm>
            <a:off x="7192320" y="2337710"/>
            <a:ext cx="578257" cy="52000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102" name="Graphic" descr="Cursor with solid fill">
            <a:extLst>
              <a:ext uri="{FF2B5EF4-FFF2-40B4-BE49-F238E27FC236}">
                <a16:creationId xmlns:a16="http://schemas.microsoft.com/office/drawing/2014/main" id="{0110DE49-1F9D-4976-A10E-8EA32FE9BE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2666" y="2694483"/>
            <a:ext cx="301752" cy="301752"/>
          </a:xfrm>
          <a:prstGeom prst="rect">
            <a:avLst/>
          </a:prstGeom>
        </p:spPr>
      </p:pic>
      <p:sp>
        <p:nvSpPr>
          <p:cNvPr id="103" name="Arrow: Down 102">
            <a:extLst>
              <a:ext uri="{FF2B5EF4-FFF2-40B4-BE49-F238E27FC236}">
                <a16:creationId xmlns:a16="http://schemas.microsoft.com/office/drawing/2014/main" id="{27CD748C-A73E-43CD-8FEC-0478CEACA7C1}"/>
              </a:ext>
            </a:extLst>
          </p:cNvPr>
          <p:cNvSpPr/>
          <p:nvPr/>
        </p:nvSpPr>
        <p:spPr>
          <a:xfrm rot="10800000">
            <a:off x="5328943" y="1410926"/>
            <a:ext cx="128197" cy="32857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4CBEDAC-A049-407A-9339-FB75EE4F15CF}"/>
              </a:ext>
            </a:extLst>
          </p:cNvPr>
          <p:cNvSpPr/>
          <p:nvPr/>
        </p:nvSpPr>
        <p:spPr>
          <a:xfrm>
            <a:off x="4167864" y="2488586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5" name="3">
            <a:extLst>
              <a:ext uri="{FF2B5EF4-FFF2-40B4-BE49-F238E27FC236}">
                <a16:creationId xmlns:a16="http://schemas.microsoft.com/office/drawing/2014/main" id="{EBF07CA0-B6BC-4319-977D-260001AB059E}"/>
              </a:ext>
            </a:extLst>
          </p:cNvPr>
          <p:cNvSpPr/>
          <p:nvPr/>
        </p:nvSpPr>
        <p:spPr>
          <a:xfrm>
            <a:off x="4167864" y="2488586"/>
            <a:ext cx="578257" cy="52000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106" name="Graphic" descr="Cursor with solid fill">
            <a:extLst>
              <a:ext uri="{FF2B5EF4-FFF2-40B4-BE49-F238E27FC236}">
                <a16:creationId xmlns:a16="http://schemas.microsoft.com/office/drawing/2014/main" id="{835099A0-7779-4586-BA59-2BBBBC51DF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38210" y="2845359"/>
            <a:ext cx="301752" cy="301752"/>
          </a:xfrm>
          <a:prstGeom prst="rect">
            <a:avLst/>
          </a:prstGeom>
        </p:spPr>
      </p:pic>
      <p:sp>
        <p:nvSpPr>
          <p:cNvPr id="107" name="Arrow: Down 106">
            <a:extLst>
              <a:ext uri="{FF2B5EF4-FFF2-40B4-BE49-F238E27FC236}">
                <a16:creationId xmlns:a16="http://schemas.microsoft.com/office/drawing/2014/main" id="{7102A94A-4089-4CE9-AD51-BAB6159380B4}"/>
              </a:ext>
            </a:extLst>
          </p:cNvPr>
          <p:cNvSpPr/>
          <p:nvPr/>
        </p:nvSpPr>
        <p:spPr>
          <a:xfrm rot="10800000">
            <a:off x="5276446" y="2580231"/>
            <a:ext cx="128197" cy="32857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 descr="Icon&#10;&#10;Description automatically generated">
            <a:extLst>
              <a:ext uri="{FF2B5EF4-FFF2-40B4-BE49-F238E27FC236}">
                <a16:creationId xmlns:a16="http://schemas.microsoft.com/office/drawing/2014/main" id="{A921FC4D-4B6D-4B5E-9CAB-863986408D4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127" y="6345344"/>
            <a:ext cx="1393873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9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</p:childTnLst>
        </p:cTn>
      </p:par>
    </p:tnLst>
    <p:bldLst>
      <p:bldP spid="63" grpId="0"/>
      <p:bldP spid="64" grpId="0" animBg="1"/>
      <p:bldP spid="66" grpId="0" animBg="1"/>
      <p:bldP spid="95" grpId="0"/>
      <p:bldP spid="98" grpId="0"/>
      <p:bldP spid="101" grpId="0" animBg="1"/>
      <p:bldP spid="103" grpId="0" animBg="1"/>
      <p:bldP spid="105" grpId="0" animBg="1"/>
      <p:bldP spid="10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B20797-FA42-4BBA-ABF2-5CF06A40D43C}"/>
              </a:ext>
            </a:extLst>
          </p:cNvPr>
          <p:cNvCxnSpPr>
            <a:cxnSpLocks/>
          </p:cNvCxnSpPr>
          <p:nvPr/>
        </p:nvCxnSpPr>
        <p:spPr>
          <a:xfrm>
            <a:off x="7193456" y="190364"/>
            <a:ext cx="0" cy="646055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 1">
            <a:extLst>
              <a:ext uri="{FF2B5EF4-FFF2-40B4-BE49-F238E27FC236}">
                <a16:creationId xmlns:a16="http://schemas.microsoft.com/office/drawing/2014/main" id="{D2B7E91F-D4C0-4BE2-8AA9-79828559D719}"/>
              </a:ext>
            </a:extLst>
          </p:cNvPr>
          <p:cNvSpPr/>
          <p:nvPr/>
        </p:nvSpPr>
        <p:spPr>
          <a:xfrm>
            <a:off x="3646962" y="154937"/>
            <a:ext cx="1828800" cy="41278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sp>
        <p:nvSpPr>
          <p:cNvPr id="13" name="Case 1 text">
            <a:extLst>
              <a:ext uri="{FF2B5EF4-FFF2-40B4-BE49-F238E27FC236}">
                <a16:creationId xmlns:a16="http://schemas.microsoft.com/office/drawing/2014/main" id="{28FAF219-B0F0-4D6F-A011-8C6E213E6DC1}"/>
              </a:ext>
            </a:extLst>
          </p:cNvPr>
          <p:cNvSpPr txBox="1"/>
          <p:nvPr/>
        </p:nvSpPr>
        <p:spPr>
          <a:xfrm>
            <a:off x="2220839" y="674194"/>
            <a:ext cx="4839310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32 </a:t>
            </a:r>
            <a:r>
              <a:rPr lang="en-US" sz="1500" dirty="0" err="1">
                <a:ea typeface="+mn-lt"/>
                <a:cs typeface="+mn-lt"/>
              </a:rPr>
              <a:t>yo</a:t>
            </a:r>
            <a:r>
              <a:rPr lang="en-US" sz="1500" dirty="0">
                <a:ea typeface="+mn-lt"/>
                <a:cs typeface="+mn-lt"/>
              </a:rPr>
              <a:t> F presenting with self-reported “heavy periods” for the past 12 mos</a:t>
            </a:r>
            <a:r>
              <a:rPr lang="en-US" sz="1500" dirty="0"/>
              <a:t>. She has a period every 26-28 days that lasts 8 -9 days. She soaks through a pad every 2 hours on heavy days and has had blood soak through her pants. Her periods previously lasted 4-5 days and were not as heavy. No other major changes in the last year. </a:t>
            </a:r>
          </a:p>
          <a:p>
            <a:endParaRPr lang="en-US" sz="600" dirty="0"/>
          </a:p>
          <a:p>
            <a:r>
              <a:rPr lang="en-US" sz="1500" u="sng" dirty="0"/>
              <a:t>Pelvic exam</a:t>
            </a:r>
            <a:r>
              <a:rPr lang="en-US" sz="1500" dirty="0"/>
              <a:t>: mildly enlarged uterus and no other major abnormalities. </a:t>
            </a:r>
          </a:p>
          <a:p>
            <a:endParaRPr lang="en-US" sz="600" dirty="0"/>
          </a:p>
          <a:p>
            <a:r>
              <a:rPr lang="en-US" sz="1500" u="sng" dirty="0"/>
              <a:t>Labs</a:t>
            </a:r>
            <a:r>
              <a:rPr lang="en-US" sz="1500" dirty="0"/>
              <a:t>: iron deficiency without anemia, negative pregnancy test. </a:t>
            </a:r>
            <a:endParaRPr lang="en-US" sz="1500" dirty="0">
              <a:ea typeface="+mn-lt"/>
              <a:cs typeface="+mn-lt"/>
            </a:endParaRPr>
          </a:p>
        </p:txBody>
      </p:sp>
      <p:sp>
        <p:nvSpPr>
          <p:cNvPr id="28" name="Case 1 - Pre-test button">
            <a:extLst>
              <a:ext uri="{FF2B5EF4-FFF2-40B4-BE49-F238E27FC236}">
                <a16:creationId xmlns:a16="http://schemas.microsoft.com/office/drawing/2014/main" id="{A720D17D-CBB7-401A-B329-CE14FDF24C03}"/>
              </a:ext>
            </a:extLst>
          </p:cNvPr>
          <p:cNvSpPr/>
          <p:nvPr/>
        </p:nvSpPr>
        <p:spPr>
          <a:xfrm>
            <a:off x="2220839" y="3298394"/>
            <a:ext cx="475488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Is this abnormal uterine bleeding (AUB)?</a:t>
            </a:r>
          </a:p>
        </p:txBody>
      </p:sp>
      <p:sp>
        <p:nvSpPr>
          <p:cNvPr id="31" name="Case 1 - ECG button">
            <a:extLst>
              <a:ext uri="{FF2B5EF4-FFF2-40B4-BE49-F238E27FC236}">
                <a16:creationId xmlns:a16="http://schemas.microsoft.com/office/drawing/2014/main" id="{FC95995F-E4E4-4637-AB4F-6B3EE9F47547}"/>
              </a:ext>
            </a:extLst>
          </p:cNvPr>
          <p:cNvSpPr/>
          <p:nvPr/>
        </p:nvSpPr>
        <p:spPr>
          <a:xfrm>
            <a:off x="2233123" y="4359882"/>
            <a:ext cx="4754880" cy="365760"/>
          </a:xfrm>
          <a:prstGeom prst="roundRect">
            <a:avLst>
              <a:gd name="adj" fmla="val 1032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is the most likely cause of AUB?</a:t>
            </a:r>
          </a:p>
        </p:txBody>
      </p:sp>
      <p:sp>
        <p:nvSpPr>
          <p:cNvPr id="29" name="Case 1 - which stress test button">
            <a:extLst>
              <a:ext uri="{FF2B5EF4-FFF2-40B4-BE49-F238E27FC236}">
                <a16:creationId xmlns:a16="http://schemas.microsoft.com/office/drawing/2014/main" id="{A878A616-CFBF-4671-8D20-04B6C3DBC423}"/>
              </a:ext>
            </a:extLst>
          </p:cNvPr>
          <p:cNvSpPr/>
          <p:nvPr/>
        </p:nvSpPr>
        <p:spPr>
          <a:xfrm>
            <a:off x="2233124" y="5539544"/>
            <a:ext cx="4754880" cy="365760"/>
          </a:xfrm>
          <a:prstGeom prst="roundRect">
            <a:avLst>
              <a:gd name="adj" fmla="val 1382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additional evaluation should be considered?</a:t>
            </a:r>
          </a:p>
        </p:txBody>
      </p:sp>
      <p:sp>
        <p:nvSpPr>
          <p:cNvPr id="33" name="Case 1 - Pre-test answer">
            <a:extLst>
              <a:ext uri="{FF2B5EF4-FFF2-40B4-BE49-F238E27FC236}">
                <a16:creationId xmlns:a16="http://schemas.microsoft.com/office/drawing/2014/main" id="{8E93BC3D-9A48-4519-87F0-DC82D5777AEB}"/>
              </a:ext>
            </a:extLst>
          </p:cNvPr>
          <p:cNvSpPr/>
          <p:nvPr/>
        </p:nvSpPr>
        <p:spPr>
          <a:xfrm>
            <a:off x="2234501" y="3712004"/>
            <a:ext cx="4754880" cy="571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Yes</a:t>
            </a:r>
            <a:r>
              <a:rPr lang="en-US" sz="1600" dirty="0"/>
              <a:t>. It is heavy (high </a:t>
            </a:r>
            <a:r>
              <a:rPr lang="en-US" sz="1600" u="sng" dirty="0"/>
              <a:t>volume</a:t>
            </a:r>
            <a:r>
              <a:rPr lang="en-US" sz="1600" dirty="0"/>
              <a:t>) and prolonged (long </a:t>
            </a:r>
            <a:r>
              <a:rPr lang="en-US" sz="1600" u="sng" dirty="0"/>
              <a:t>duration</a:t>
            </a:r>
            <a:r>
              <a:rPr lang="en-US" sz="1600" dirty="0"/>
              <a:t>). </a:t>
            </a:r>
          </a:p>
        </p:txBody>
      </p:sp>
      <p:sp>
        <p:nvSpPr>
          <p:cNvPr id="34" name="Case 1 - answer two">
            <a:extLst>
              <a:ext uri="{FF2B5EF4-FFF2-40B4-BE49-F238E27FC236}">
                <a16:creationId xmlns:a16="http://schemas.microsoft.com/office/drawing/2014/main" id="{78D59F4F-3EF0-4B50-B0DE-BD1DB0BEC628}"/>
              </a:ext>
            </a:extLst>
          </p:cNvPr>
          <p:cNvSpPr/>
          <p:nvPr/>
        </p:nvSpPr>
        <p:spPr>
          <a:xfrm>
            <a:off x="2233123" y="4804449"/>
            <a:ext cx="4754880" cy="534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Structural</a:t>
            </a:r>
            <a:r>
              <a:rPr lang="en-US" sz="1600" dirty="0"/>
              <a:t> cause, most likely fibroids or adenomyosis considering physical exam findings. </a:t>
            </a:r>
          </a:p>
        </p:txBody>
      </p:sp>
      <p:sp>
        <p:nvSpPr>
          <p:cNvPr id="35" name="Case 1 - answer 3">
            <a:extLst>
              <a:ext uri="{FF2B5EF4-FFF2-40B4-BE49-F238E27FC236}">
                <a16:creationId xmlns:a16="http://schemas.microsoft.com/office/drawing/2014/main" id="{DB2F2D18-103A-4622-B071-CE4836C07EAE}"/>
              </a:ext>
            </a:extLst>
          </p:cNvPr>
          <p:cNvSpPr/>
          <p:nvPr/>
        </p:nvSpPr>
        <p:spPr>
          <a:xfrm>
            <a:off x="2233123" y="5946080"/>
            <a:ext cx="4754880" cy="346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Transvaginal ultrasound </a:t>
            </a:r>
          </a:p>
        </p:txBody>
      </p:sp>
      <p:sp>
        <p:nvSpPr>
          <p:cNvPr id="129" name="Case 2">
            <a:extLst>
              <a:ext uri="{FF2B5EF4-FFF2-40B4-BE49-F238E27FC236}">
                <a16:creationId xmlns:a16="http://schemas.microsoft.com/office/drawing/2014/main" id="{41FEB336-49CA-4EC0-AC0A-587C0CD09C68}"/>
              </a:ext>
            </a:extLst>
          </p:cNvPr>
          <p:cNvSpPr/>
          <p:nvPr/>
        </p:nvSpPr>
        <p:spPr>
          <a:xfrm>
            <a:off x="8861448" y="161284"/>
            <a:ext cx="1828800" cy="41278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sp>
        <p:nvSpPr>
          <p:cNvPr id="131" name="Case 1 text">
            <a:extLst>
              <a:ext uri="{FF2B5EF4-FFF2-40B4-BE49-F238E27FC236}">
                <a16:creationId xmlns:a16="http://schemas.microsoft.com/office/drawing/2014/main" id="{83105C6D-94DC-444D-A80F-80E89A1ED833}"/>
              </a:ext>
            </a:extLst>
          </p:cNvPr>
          <p:cNvSpPr txBox="1"/>
          <p:nvPr/>
        </p:nvSpPr>
        <p:spPr>
          <a:xfrm>
            <a:off x="7344709" y="674194"/>
            <a:ext cx="4648386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/>
              <a:t>39 </a:t>
            </a:r>
            <a:r>
              <a:rPr lang="en-US" sz="1500" dirty="0" err="1"/>
              <a:t>yo</a:t>
            </a:r>
            <a:r>
              <a:rPr lang="en-US" sz="1500" dirty="0"/>
              <a:t> F presents for ”irregular periods”. She reports that for the last 2 years, she has been having increasingly infrequent periods occurring every 40-60 days.  Her menstrual bleeding is variable in volume. She has a family history of celiac disease and lupus. </a:t>
            </a:r>
          </a:p>
          <a:p>
            <a:pPr marL="0" indent="0">
              <a:spcBef>
                <a:spcPts val="0"/>
              </a:spcBef>
              <a:buNone/>
            </a:pPr>
            <a:endParaRPr lang="en-US" sz="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500" u="sng" dirty="0"/>
              <a:t>ROS</a:t>
            </a:r>
            <a:r>
              <a:rPr lang="en-US" sz="1500" dirty="0"/>
              <a:t>: fatigue, hair loss, and an unintentional 15-pound weight gain over the last 2 years. </a:t>
            </a:r>
          </a:p>
          <a:p>
            <a:pPr marL="0" indent="0">
              <a:spcBef>
                <a:spcPts val="0"/>
              </a:spcBef>
              <a:buNone/>
            </a:pPr>
            <a:endParaRPr lang="en-US" sz="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500" u="sng" dirty="0"/>
              <a:t>Pelvic exam</a:t>
            </a:r>
            <a:r>
              <a:rPr lang="en-US" sz="1500" dirty="0"/>
              <a:t> is unremarkable. </a:t>
            </a:r>
          </a:p>
          <a:p>
            <a:pPr marL="0" indent="0">
              <a:spcBef>
                <a:spcPts val="0"/>
              </a:spcBef>
              <a:buNone/>
            </a:pPr>
            <a:endParaRPr lang="en-US" sz="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500" u="sng" dirty="0"/>
              <a:t>Labs</a:t>
            </a:r>
            <a:r>
              <a:rPr lang="en-US" sz="1500" dirty="0"/>
              <a:t>: negative pregnancy test, normal blood counts, coagulation markers, no iron deficiency. 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118C5D7E-E126-4BC6-B677-A96FE8D54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9282" y="3544246"/>
            <a:ext cx="302506" cy="302506"/>
          </a:xfrm>
          <a:prstGeom prst="rect">
            <a:avLst/>
          </a:prstGeom>
        </p:spPr>
      </p:pic>
      <p:pic>
        <p:nvPicPr>
          <p:cNvPr id="52" name="Graphic 51" descr="Cursor with solid fill">
            <a:extLst>
              <a:ext uri="{FF2B5EF4-FFF2-40B4-BE49-F238E27FC236}">
                <a16:creationId xmlns:a16="http://schemas.microsoft.com/office/drawing/2014/main" id="{9DBF686D-ADBD-45BD-B2A8-ED386C519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9282" y="4590235"/>
            <a:ext cx="302506" cy="302506"/>
          </a:xfrm>
          <a:prstGeom prst="rect">
            <a:avLst/>
          </a:prstGeom>
        </p:spPr>
      </p:pic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2503C391-FDE7-4D4F-8F01-244EB5BC7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9282" y="5775574"/>
            <a:ext cx="302506" cy="302506"/>
          </a:xfrm>
          <a:prstGeom prst="rect">
            <a:avLst/>
          </a:prstGeom>
        </p:spPr>
      </p:pic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7F468C7A-552C-4BB3-995C-867531595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4509" y="439704"/>
            <a:ext cx="302506" cy="302506"/>
          </a:xfrm>
          <a:prstGeom prst="rect">
            <a:avLst/>
          </a:prstGeom>
        </p:spPr>
      </p:pic>
      <p:sp>
        <p:nvSpPr>
          <p:cNvPr id="57" name="Case 2 - question1">
            <a:extLst>
              <a:ext uri="{FF2B5EF4-FFF2-40B4-BE49-F238E27FC236}">
                <a16:creationId xmlns:a16="http://schemas.microsoft.com/office/drawing/2014/main" id="{FC7CA112-FAF7-4731-AC02-423927DB914D}"/>
              </a:ext>
            </a:extLst>
          </p:cNvPr>
          <p:cNvSpPr/>
          <p:nvPr/>
        </p:nvSpPr>
        <p:spPr>
          <a:xfrm>
            <a:off x="7421524" y="3391724"/>
            <a:ext cx="4457444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is her bleeding pattern? </a:t>
            </a:r>
          </a:p>
        </p:txBody>
      </p:sp>
      <p:sp>
        <p:nvSpPr>
          <p:cNvPr id="58" name="Case 2 - question2">
            <a:extLst>
              <a:ext uri="{FF2B5EF4-FFF2-40B4-BE49-F238E27FC236}">
                <a16:creationId xmlns:a16="http://schemas.microsoft.com/office/drawing/2014/main" id="{BD5CFEB8-C474-46CA-BDD5-725CAFB73BAA}"/>
              </a:ext>
            </a:extLst>
          </p:cNvPr>
          <p:cNvSpPr/>
          <p:nvPr/>
        </p:nvSpPr>
        <p:spPr>
          <a:xfrm>
            <a:off x="7421524" y="4507152"/>
            <a:ext cx="4457444" cy="365760"/>
          </a:xfrm>
          <a:prstGeom prst="roundRect">
            <a:avLst>
              <a:gd name="adj" fmla="val 1032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is the most likely cause of AUB?</a:t>
            </a:r>
          </a:p>
        </p:txBody>
      </p:sp>
      <p:sp>
        <p:nvSpPr>
          <p:cNvPr id="59" name="Case 2 - question3">
            <a:extLst>
              <a:ext uri="{FF2B5EF4-FFF2-40B4-BE49-F238E27FC236}">
                <a16:creationId xmlns:a16="http://schemas.microsoft.com/office/drawing/2014/main" id="{102D4C4C-A02D-4E4C-ADFC-63F9708B9654}"/>
              </a:ext>
            </a:extLst>
          </p:cNvPr>
          <p:cNvSpPr/>
          <p:nvPr/>
        </p:nvSpPr>
        <p:spPr>
          <a:xfrm>
            <a:off x="7421524" y="5734156"/>
            <a:ext cx="4457444" cy="365760"/>
          </a:xfrm>
          <a:prstGeom prst="roundRect">
            <a:avLst>
              <a:gd name="adj" fmla="val 1382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is your next step in evaluation?</a:t>
            </a:r>
          </a:p>
        </p:txBody>
      </p:sp>
      <p:sp>
        <p:nvSpPr>
          <p:cNvPr id="61" name="Case 2 - answer1">
            <a:extLst>
              <a:ext uri="{FF2B5EF4-FFF2-40B4-BE49-F238E27FC236}">
                <a16:creationId xmlns:a16="http://schemas.microsoft.com/office/drawing/2014/main" id="{E9E14381-F561-4E85-8173-20AB47B470CD}"/>
              </a:ext>
            </a:extLst>
          </p:cNvPr>
          <p:cNvSpPr/>
          <p:nvPr/>
        </p:nvSpPr>
        <p:spPr>
          <a:xfrm>
            <a:off x="7381488" y="3793416"/>
            <a:ext cx="4509839" cy="5981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In</a:t>
            </a:r>
            <a:r>
              <a:rPr lang="en-US" sz="1500" u="sng" dirty="0"/>
              <a:t>frequent</a:t>
            </a:r>
            <a:r>
              <a:rPr lang="en-US" sz="1500" dirty="0"/>
              <a:t> (oligomenorrhea, cycles &gt; 35d) and irregular (variable </a:t>
            </a:r>
            <a:r>
              <a:rPr lang="en-US" sz="1500" u="sng" dirty="0"/>
              <a:t>cycle length</a:t>
            </a:r>
            <a:r>
              <a:rPr lang="en-US" sz="1500" dirty="0"/>
              <a:t>)</a:t>
            </a:r>
          </a:p>
        </p:txBody>
      </p:sp>
      <p:sp>
        <p:nvSpPr>
          <p:cNvPr id="62" name="Case 2 - answer2">
            <a:extLst>
              <a:ext uri="{FF2B5EF4-FFF2-40B4-BE49-F238E27FC236}">
                <a16:creationId xmlns:a16="http://schemas.microsoft.com/office/drawing/2014/main" id="{0BCE2D94-A3FD-4365-B4EA-AC7ABC7E185D}"/>
              </a:ext>
            </a:extLst>
          </p:cNvPr>
          <p:cNvSpPr/>
          <p:nvPr/>
        </p:nvSpPr>
        <p:spPr>
          <a:xfrm>
            <a:off x="7315575" y="4929981"/>
            <a:ext cx="4700619" cy="756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</a:rPr>
              <a:t>Ovulatory dysfunction</a:t>
            </a:r>
            <a:r>
              <a:rPr lang="en-US" sz="1500" dirty="0">
                <a:solidFill>
                  <a:schemeClr val="tx1"/>
                </a:solidFill>
              </a:rPr>
              <a:t>, most likely from endocrine causes (e.g., hypothyroidism - fatigue, hair loss, weight gain). Given age, premature ovarian failure can be considered.</a:t>
            </a:r>
          </a:p>
        </p:txBody>
      </p:sp>
      <p:sp>
        <p:nvSpPr>
          <p:cNvPr id="63" name="Case 2 - answer 3">
            <a:extLst>
              <a:ext uri="{FF2B5EF4-FFF2-40B4-BE49-F238E27FC236}">
                <a16:creationId xmlns:a16="http://schemas.microsoft.com/office/drawing/2014/main" id="{4ACA8447-EDC8-465C-B71B-62F13CBE21A9}"/>
              </a:ext>
            </a:extLst>
          </p:cNvPr>
          <p:cNvSpPr/>
          <p:nvPr/>
        </p:nvSpPr>
        <p:spPr>
          <a:xfrm>
            <a:off x="7327901" y="6147838"/>
            <a:ext cx="4622192" cy="528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Pregnancy test, TSH, prolactin, ± FSH. Consider total testosterone if risk factors for PCOS.</a:t>
            </a: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4DAAE46E-C1C8-4BAD-8D6E-8E91E2E51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54672" y="3627479"/>
            <a:ext cx="302506" cy="302506"/>
          </a:xfrm>
          <a:prstGeom prst="rect">
            <a:avLst/>
          </a:prstGeom>
        </p:spPr>
      </p:pic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EA124C93-962C-44F2-B742-A9112F515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54672" y="4721733"/>
            <a:ext cx="302506" cy="302506"/>
          </a:xfrm>
          <a:prstGeom prst="rect">
            <a:avLst/>
          </a:prstGeom>
        </p:spPr>
      </p:pic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80F59731-A935-4D08-B316-C5017E06F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54672" y="5947598"/>
            <a:ext cx="302506" cy="302506"/>
          </a:xfrm>
          <a:prstGeom prst="rect">
            <a:avLst/>
          </a:prstGeom>
        </p:spPr>
      </p:pic>
      <p:pic>
        <p:nvPicPr>
          <p:cNvPr id="81" name="Graphic 80" descr="Cursor with solid fill">
            <a:extLst>
              <a:ext uri="{FF2B5EF4-FFF2-40B4-BE49-F238E27FC236}">
                <a16:creationId xmlns:a16="http://schemas.microsoft.com/office/drawing/2014/main" id="{956F63E8-63DB-4A08-A83A-19CFAA44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0319" y="446051"/>
            <a:ext cx="302506" cy="302506"/>
          </a:xfrm>
          <a:prstGeom prst="rect">
            <a:avLst/>
          </a:prstGeom>
        </p:spPr>
      </p:pic>
      <p:sp>
        <p:nvSpPr>
          <p:cNvPr id="30" name="question 1">
            <a:hlinkClick r:id="rId5" action="ppaction://hlinksldjump"/>
            <a:extLst>
              <a:ext uri="{FF2B5EF4-FFF2-40B4-BE49-F238E27FC236}">
                <a16:creationId xmlns:a16="http://schemas.microsoft.com/office/drawing/2014/main" id="{0F837A10-B0F9-4AB8-A7AF-26033AF29D65}"/>
              </a:ext>
            </a:extLst>
          </p:cNvPr>
          <p:cNvSpPr txBox="1"/>
          <p:nvPr/>
        </p:nvSpPr>
        <p:spPr>
          <a:xfrm>
            <a:off x="217113" y="18922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is AUB?</a:t>
            </a:r>
          </a:p>
        </p:txBody>
      </p:sp>
      <p:sp>
        <p:nvSpPr>
          <p:cNvPr id="32" name="Question 2">
            <a:hlinkClick r:id="rId6" action="ppaction://hlinksldjump"/>
            <a:extLst>
              <a:ext uri="{FF2B5EF4-FFF2-40B4-BE49-F238E27FC236}">
                <a16:creationId xmlns:a16="http://schemas.microsoft.com/office/drawing/2014/main" id="{B121C474-1468-4A6A-8884-3DC7DE60FB4A}"/>
              </a:ext>
            </a:extLst>
          </p:cNvPr>
          <p:cNvSpPr txBox="1"/>
          <p:nvPr/>
        </p:nvSpPr>
        <p:spPr>
          <a:xfrm>
            <a:off x="217113" y="760517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Causes</a:t>
            </a:r>
          </a:p>
        </p:txBody>
      </p:sp>
      <p:sp>
        <p:nvSpPr>
          <p:cNvPr id="36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A088AD29-EE59-4F2F-BB6C-D074ED0CBCA5}"/>
              </a:ext>
            </a:extLst>
          </p:cNvPr>
          <p:cNvSpPr txBox="1"/>
          <p:nvPr/>
        </p:nvSpPr>
        <p:spPr>
          <a:xfrm>
            <a:off x="217113" y="1331812"/>
            <a:ext cx="182880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Work-up</a:t>
            </a:r>
          </a:p>
        </p:txBody>
      </p:sp>
      <p:sp>
        <p:nvSpPr>
          <p:cNvPr id="37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34DB120C-3E47-4AEB-AF51-7324EBB440BA}"/>
              </a:ext>
            </a:extLst>
          </p:cNvPr>
          <p:cNvSpPr txBox="1"/>
          <p:nvPr/>
        </p:nvSpPr>
        <p:spPr>
          <a:xfrm>
            <a:off x="217113" y="1946646"/>
            <a:ext cx="1828800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56A395BF-5686-4539-A148-BAFB4A09A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9897" y="448553"/>
            <a:ext cx="301752" cy="301752"/>
          </a:xfrm>
          <a:prstGeom prst="rect">
            <a:avLst/>
          </a:prstGeom>
        </p:spPr>
      </p:pic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DBA2D3BF-95DC-4F74-9EFC-FAB91A9AC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9897" y="1019531"/>
            <a:ext cx="301752" cy="301752"/>
          </a:xfrm>
          <a:prstGeom prst="rect">
            <a:avLst/>
          </a:prstGeom>
        </p:spPr>
      </p:pic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309428D1-DDCC-48AB-A033-E4928A07F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9897" y="1590509"/>
            <a:ext cx="301752" cy="301752"/>
          </a:xfrm>
          <a:prstGeom prst="rect">
            <a:avLst/>
          </a:prstGeom>
        </p:spPr>
      </p:pic>
      <p:pic>
        <p:nvPicPr>
          <p:cNvPr id="41" name="Picture 40" descr="Icon&#10;&#10;Description automatically generated">
            <a:extLst>
              <a:ext uri="{FF2B5EF4-FFF2-40B4-BE49-F238E27FC236}">
                <a16:creationId xmlns:a16="http://schemas.microsoft.com/office/drawing/2014/main" id="{7DD94CB1-70D5-4131-9BD9-FC8856C1CA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5344"/>
            <a:ext cx="1393873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57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  <p:bldLst>
      <p:bldP spid="13" grpId="0"/>
      <p:bldP spid="28" grpId="0" animBg="1"/>
      <p:bldP spid="31" grpId="0" animBg="1"/>
      <p:bldP spid="29" grpId="0" animBg="1"/>
      <p:bldP spid="33" grpId="0" animBg="1"/>
      <p:bldP spid="34" grpId="0" animBg="1"/>
      <p:bldP spid="35" grpId="0" animBg="1"/>
      <p:bldP spid="131" grpId="0"/>
      <p:bldP spid="58" grpId="0" animBg="1"/>
      <p:bldP spid="59" grpId="0" animBg="1"/>
      <p:bldP spid="61" grpId="0" animBg="1"/>
      <p:bldP spid="62" grpId="0"/>
      <p:bldP spid="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B3432D-66F7-E948-B729-3D96B21BDA1D}"/>
              </a:ext>
            </a:extLst>
          </p:cNvPr>
          <p:cNvSpPr txBox="1"/>
          <p:nvPr/>
        </p:nvSpPr>
        <p:spPr>
          <a:xfrm>
            <a:off x="4488052" y="153004"/>
            <a:ext cx="4799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Abnormal Uterine Bleeding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4973A-D1CE-3941-883C-A35CDF567C4F}"/>
              </a:ext>
            </a:extLst>
          </p:cNvPr>
          <p:cNvSpPr txBox="1"/>
          <p:nvPr/>
        </p:nvSpPr>
        <p:spPr>
          <a:xfrm>
            <a:off x="82061" y="83161"/>
            <a:ext cx="3248097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u="sng" dirty="0"/>
              <a:t>Defining AUB: </a:t>
            </a:r>
          </a:p>
          <a:p>
            <a:r>
              <a:rPr lang="en-US" sz="1600" dirty="0"/>
              <a:t>1. </a:t>
            </a:r>
          </a:p>
          <a:p>
            <a:endParaRPr lang="en-US" sz="1600" dirty="0"/>
          </a:p>
          <a:p>
            <a:r>
              <a:rPr lang="en-US" sz="1600" dirty="0"/>
              <a:t>2. </a:t>
            </a:r>
          </a:p>
          <a:p>
            <a:endParaRPr lang="en-US" sz="1600" dirty="0"/>
          </a:p>
          <a:p>
            <a:r>
              <a:rPr lang="en-US" sz="1600" dirty="0"/>
              <a:t>3. </a:t>
            </a:r>
          </a:p>
          <a:p>
            <a:endParaRPr lang="en-US" sz="1600" dirty="0"/>
          </a:p>
          <a:p>
            <a:r>
              <a:rPr lang="en-US" sz="1600" dirty="0"/>
              <a:t>4. </a:t>
            </a:r>
          </a:p>
          <a:p>
            <a:endParaRPr 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53548-8E99-3243-ADE3-88CF6A45EB01}"/>
              </a:ext>
            </a:extLst>
          </p:cNvPr>
          <p:cNvSpPr txBox="1"/>
          <p:nvPr/>
        </p:nvSpPr>
        <p:spPr>
          <a:xfrm>
            <a:off x="82061" y="2485108"/>
            <a:ext cx="3248097" cy="19697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u="sng" dirty="0"/>
              <a:t>Workup for all-comers: </a:t>
            </a:r>
          </a:p>
          <a:p>
            <a:r>
              <a:rPr lang="en-US" sz="1600" dirty="0"/>
              <a:t>Physical exam (1): 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Labs (3): </a:t>
            </a:r>
          </a:p>
          <a:p>
            <a:r>
              <a:rPr lang="en-US" sz="1400" dirty="0"/>
              <a:t>	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F5EA2E-C12D-9849-9DB9-E87E5BAFD467}"/>
              </a:ext>
            </a:extLst>
          </p:cNvPr>
          <p:cNvSpPr txBox="1"/>
          <p:nvPr/>
        </p:nvSpPr>
        <p:spPr>
          <a:xfrm>
            <a:off x="3594554" y="2335274"/>
            <a:ext cx="567784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P: </a:t>
            </a:r>
          </a:p>
          <a:p>
            <a:endParaRPr lang="en-US" sz="2600" b="1" dirty="0"/>
          </a:p>
          <a:p>
            <a:r>
              <a:rPr lang="en-US" sz="2600" b="1" dirty="0"/>
              <a:t>A:</a:t>
            </a:r>
          </a:p>
          <a:p>
            <a:endParaRPr lang="en-US" sz="2600" b="1" dirty="0"/>
          </a:p>
          <a:p>
            <a:r>
              <a:rPr lang="en-US" sz="2600" b="1" dirty="0"/>
              <a:t>L:</a:t>
            </a:r>
          </a:p>
          <a:p>
            <a:endParaRPr lang="en-US" sz="2600" b="1" dirty="0"/>
          </a:p>
          <a:p>
            <a:r>
              <a:rPr lang="en-US" sz="2600" b="1" dirty="0"/>
              <a:t>M:</a:t>
            </a:r>
          </a:p>
          <a:p>
            <a:r>
              <a:rPr lang="en-US" sz="2600" b="1" dirty="0"/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C630BE-F218-9040-8C8A-A6936655ED23}"/>
              </a:ext>
            </a:extLst>
          </p:cNvPr>
          <p:cNvSpPr txBox="1"/>
          <p:nvPr/>
        </p:nvSpPr>
        <p:spPr>
          <a:xfrm>
            <a:off x="6550856" y="2366088"/>
            <a:ext cx="527709" cy="4493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C: </a:t>
            </a:r>
          </a:p>
          <a:p>
            <a:endParaRPr lang="en-US" sz="2600" b="1" dirty="0"/>
          </a:p>
          <a:p>
            <a:endParaRPr lang="en-US" sz="2600" b="1" dirty="0"/>
          </a:p>
          <a:p>
            <a:endParaRPr lang="en-US" sz="2600" b="1" dirty="0"/>
          </a:p>
          <a:p>
            <a:r>
              <a:rPr lang="en-US" sz="2600" b="1" dirty="0"/>
              <a:t>O:</a:t>
            </a:r>
          </a:p>
          <a:p>
            <a:endParaRPr lang="en-US" sz="2600" b="1" dirty="0"/>
          </a:p>
          <a:p>
            <a:endParaRPr lang="en-US" sz="2600" b="1" dirty="0"/>
          </a:p>
          <a:p>
            <a:endParaRPr lang="en-US" sz="2600" b="1" dirty="0"/>
          </a:p>
          <a:p>
            <a:endParaRPr lang="en-US" sz="2600" b="1" dirty="0"/>
          </a:p>
          <a:p>
            <a:endParaRPr lang="en-US" sz="2600" b="1" dirty="0"/>
          </a:p>
          <a:p>
            <a:endParaRPr lang="en-US" sz="26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F5CC7F-EAEE-4A4C-BB3B-BB9521EC060E}"/>
              </a:ext>
            </a:extLst>
          </p:cNvPr>
          <p:cNvSpPr txBox="1"/>
          <p:nvPr/>
        </p:nvSpPr>
        <p:spPr>
          <a:xfrm>
            <a:off x="82061" y="4548501"/>
            <a:ext cx="3228505" cy="221599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u="sng" dirty="0"/>
              <a:t>Additional starting workup: </a:t>
            </a:r>
          </a:p>
          <a:p>
            <a:r>
              <a:rPr lang="en-US" sz="1600" i="1" dirty="0"/>
              <a:t>Structural cause?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i="1" dirty="0"/>
              <a:t>Non-structural cause? </a:t>
            </a:r>
          </a:p>
          <a:p>
            <a:r>
              <a:rPr lang="en-US" sz="1400" dirty="0"/>
              <a:t>	</a:t>
            </a:r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E766D0-D0C8-9E4E-B63E-4E561A38670C}"/>
              </a:ext>
            </a:extLst>
          </p:cNvPr>
          <p:cNvCxnSpPr>
            <a:cxnSpLocks/>
          </p:cNvCxnSpPr>
          <p:nvPr/>
        </p:nvCxnSpPr>
        <p:spPr>
          <a:xfrm>
            <a:off x="6873109" y="922444"/>
            <a:ext cx="38579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882862-2F63-FD4A-B097-1EA8F2557A72}"/>
              </a:ext>
            </a:extLst>
          </p:cNvPr>
          <p:cNvSpPr txBox="1"/>
          <p:nvPr/>
        </p:nvSpPr>
        <p:spPr>
          <a:xfrm>
            <a:off x="7245063" y="763064"/>
            <a:ext cx="1203138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26" name="Graphic 25" descr="Magnifying glass with solid fill">
            <a:extLst>
              <a:ext uri="{FF2B5EF4-FFF2-40B4-BE49-F238E27FC236}">
                <a16:creationId xmlns:a16="http://schemas.microsoft.com/office/drawing/2014/main" id="{AA14EC24-07A2-CB4B-9274-BE14D883E7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2130" y="2857282"/>
            <a:ext cx="312543" cy="312543"/>
          </a:xfrm>
          <a:prstGeom prst="rect">
            <a:avLst/>
          </a:prstGeom>
        </p:spPr>
      </p:pic>
      <p:pic>
        <p:nvPicPr>
          <p:cNvPr id="27" name="Graphic 26" descr="Test tubes with solid fill">
            <a:extLst>
              <a:ext uri="{FF2B5EF4-FFF2-40B4-BE49-F238E27FC236}">
                <a16:creationId xmlns:a16="http://schemas.microsoft.com/office/drawing/2014/main" id="{366DD1C8-2DAE-DD42-9A93-C2D0F4FF10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2130" y="3465815"/>
            <a:ext cx="397738" cy="397738"/>
          </a:xfrm>
          <a:prstGeom prst="rect">
            <a:avLst/>
          </a:prstGeom>
        </p:spPr>
      </p:pic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19F243B-FE0A-A342-B721-6F7E2DF18F9E}"/>
              </a:ext>
            </a:extLst>
          </p:cNvPr>
          <p:cNvSpPr/>
          <p:nvPr/>
        </p:nvSpPr>
        <p:spPr>
          <a:xfrm>
            <a:off x="3558149" y="1756202"/>
            <a:ext cx="2574591" cy="473338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PALM (structural) </a:t>
            </a:r>
          </a:p>
        </p:txBody>
      </p:sp>
      <p:pic>
        <p:nvPicPr>
          <p:cNvPr id="35" name="Graphic 34" descr="Magnifying glass with solid fill">
            <a:extLst>
              <a:ext uri="{FF2B5EF4-FFF2-40B4-BE49-F238E27FC236}">
                <a16:creationId xmlns:a16="http://schemas.microsoft.com/office/drawing/2014/main" id="{57C007DA-2CDA-1D45-82F4-4147D0521D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9881" y="80580"/>
            <a:ext cx="228600" cy="228600"/>
          </a:xfrm>
          <a:prstGeom prst="rect">
            <a:avLst/>
          </a:prstGeom>
        </p:spPr>
      </p:pic>
      <p:pic>
        <p:nvPicPr>
          <p:cNvPr id="36" name="Graphic 35" descr="Test tubes with solid fill">
            <a:extLst>
              <a:ext uri="{FF2B5EF4-FFF2-40B4-BE49-F238E27FC236}">
                <a16:creationId xmlns:a16="http://schemas.microsoft.com/office/drawing/2014/main" id="{93B1C6B8-0817-894F-988A-1FB0F3788E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29881" y="395080"/>
            <a:ext cx="228600" cy="2286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3AF1535-3353-364B-9640-195EA8D158C3}"/>
              </a:ext>
            </a:extLst>
          </p:cNvPr>
          <p:cNvSpPr txBox="1"/>
          <p:nvPr/>
        </p:nvSpPr>
        <p:spPr>
          <a:xfrm>
            <a:off x="10527976" y="56552"/>
            <a:ext cx="1630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Clues on history/ exam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F252CD-F598-9B49-8868-E6B096C646D0}"/>
              </a:ext>
            </a:extLst>
          </p:cNvPr>
          <p:cNvSpPr txBox="1"/>
          <p:nvPr/>
        </p:nvSpPr>
        <p:spPr>
          <a:xfrm>
            <a:off x="10550515" y="370709"/>
            <a:ext cx="1352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Initial Workup</a:t>
            </a:r>
          </a:p>
        </p:txBody>
      </p:sp>
      <p:pic>
        <p:nvPicPr>
          <p:cNvPr id="42" name="Graphic 41" descr="Magnifying glass with solid fill">
            <a:extLst>
              <a:ext uri="{FF2B5EF4-FFF2-40B4-BE49-F238E27FC236}">
                <a16:creationId xmlns:a16="http://schemas.microsoft.com/office/drawing/2014/main" id="{28F84E1A-06FE-C34D-A16D-EE6753C63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3461" y="4435511"/>
            <a:ext cx="312543" cy="312543"/>
          </a:xfrm>
          <a:prstGeom prst="rect">
            <a:avLst/>
          </a:prstGeom>
        </p:spPr>
      </p:pic>
      <p:pic>
        <p:nvPicPr>
          <p:cNvPr id="43" name="Graphic 42" descr="Test tubes with solid fill">
            <a:extLst>
              <a:ext uri="{FF2B5EF4-FFF2-40B4-BE49-F238E27FC236}">
                <a16:creationId xmlns:a16="http://schemas.microsoft.com/office/drawing/2014/main" id="{8FEC4C95-C413-9D42-9905-149CF49FFA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1588" y="4417805"/>
            <a:ext cx="397738" cy="397738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7A5771A6-19FC-E449-9FC1-5DE79314A6E3}"/>
              </a:ext>
            </a:extLst>
          </p:cNvPr>
          <p:cNvSpPr/>
          <p:nvPr/>
        </p:nvSpPr>
        <p:spPr>
          <a:xfrm>
            <a:off x="9852406" y="2366088"/>
            <a:ext cx="1087107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/>
              <a:t>E:</a:t>
            </a:r>
          </a:p>
          <a:p>
            <a:endParaRPr lang="en-US" sz="2600" b="1" dirty="0"/>
          </a:p>
          <a:p>
            <a:endParaRPr lang="en-US" sz="2600" b="1" dirty="0"/>
          </a:p>
          <a:p>
            <a:endParaRPr lang="en-US" sz="2600" b="1" dirty="0"/>
          </a:p>
          <a:p>
            <a:r>
              <a:rPr lang="en-US" sz="2600" b="1" dirty="0"/>
              <a:t>I:</a:t>
            </a:r>
          </a:p>
          <a:p>
            <a:endParaRPr lang="en-US" sz="2600" b="1" dirty="0"/>
          </a:p>
          <a:p>
            <a:endParaRPr lang="en-US" sz="2600" b="1" dirty="0"/>
          </a:p>
          <a:p>
            <a:endParaRPr lang="en-US" sz="2600" b="1" dirty="0"/>
          </a:p>
          <a:p>
            <a:endParaRPr lang="en-US" sz="500" b="1" dirty="0"/>
          </a:p>
          <a:p>
            <a:r>
              <a:rPr lang="en-US" sz="2600" b="1" dirty="0"/>
              <a:t>N:</a:t>
            </a:r>
          </a:p>
          <a:p>
            <a:r>
              <a:rPr lang="en-US" sz="2600" b="1" dirty="0"/>
              <a:t> </a:t>
            </a:r>
            <a:endParaRPr lang="en-US" sz="2600" dirty="0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ADF8320-90E6-8948-97D5-4CB9A4A38B24}"/>
              </a:ext>
            </a:extLst>
          </p:cNvPr>
          <p:cNvSpPr/>
          <p:nvPr/>
        </p:nvSpPr>
        <p:spPr>
          <a:xfrm>
            <a:off x="6568225" y="1763468"/>
            <a:ext cx="5317294" cy="466072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COEIN (non-structural)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CD9C7206-E1B8-5447-96A4-C0470F0635E3}"/>
              </a:ext>
            </a:extLst>
          </p:cNvPr>
          <p:cNvCxnSpPr>
            <a:cxnSpLocks/>
            <a:stCxn id="2" idx="2"/>
            <a:endCxn id="33" idx="0"/>
          </p:cNvCxnSpPr>
          <p:nvPr/>
        </p:nvCxnSpPr>
        <p:spPr>
          <a:xfrm rot="5400000">
            <a:off x="5357346" y="225878"/>
            <a:ext cx="1018423" cy="204222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88CB044-8F5C-6443-9850-9169CF5A225E}"/>
              </a:ext>
            </a:extLst>
          </p:cNvPr>
          <p:cNvCxnSpPr>
            <a:cxnSpLocks/>
            <a:stCxn id="2" idx="2"/>
            <a:endCxn id="45" idx="0"/>
          </p:cNvCxnSpPr>
          <p:nvPr/>
        </p:nvCxnSpPr>
        <p:spPr>
          <a:xfrm rot="16200000" flipH="1">
            <a:off x="7544426" y="81021"/>
            <a:ext cx="1025689" cy="233920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 descr="Magnifying glass with solid fill">
            <a:extLst>
              <a:ext uri="{FF2B5EF4-FFF2-40B4-BE49-F238E27FC236}">
                <a16:creationId xmlns:a16="http://schemas.microsoft.com/office/drawing/2014/main" id="{EAE769D2-A0F9-314C-BA29-8CAF0ACED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0818" y="2857282"/>
            <a:ext cx="312543" cy="312543"/>
          </a:xfrm>
          <a:prstGeom prst="rect">
            <a:avLst/>
          </a:prstGeom>
        </p:spPr>
      </p:pic>
      <p:pic>
        <p:nvPicPr>
          <p:cNvPr id="59" name="Graphic 58" descr="Test tubes with solid fill">
            <a:extLst>
              <a:ext uri="{FF2B5EF4-FFF2-40B4-BE49-F238E27FC236}">
                <a16:creationId xmlns:a16="http://schemas.microsoft.com/office/drawing/2014/main" id="{F1ABA9F4-8090-7F4D-A4E1-20B250E530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0818" y="3465815"/>
            <a:ext cx="397738" cy="397738"/>
          </a:xfrm>
          <a:prstGeom prst="rect">
            <a:avLst/>
          </a:prstGeom>
        </p:spPr>
      </p:pic>
      <p:pic>
        <p:nvPicPr>
          <p:cNvPr id="60" name="Graphic 59" descr="Magnifying glass with solid fill">
            <a:extLst>
              <a:ext uri="{FF2B5EF4-FFF2-40B4-BE49-F238E27FC236}">
                <a16:creationId xmlns:a16="http://schemas.microsoft.com/office/drawing/2014/main" id="{BEEC387D-8F35-E343-965D-8B16DBBA4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0818" y="4409518"/>
            <a:ext cx="312543" cy="312543"/>
          </a:xfrm>
          <a:prstGeom prst="rect">
            <a:avLst/>
          </a:prstGeom>
        </p:spPr>
      </p:pic>
      <p:pic>
        <p:nvPicPr>
          <p:cNvPr id="61" name="Graphic 60" descr="Test tubes with solid fill">
            <a:extLst>
              <a:ext uri="{FF2B5EF4-FFF2-40B4-BE49-F238E27FC236}">
                <a16:creationId xmlns:a16="http://schemas.microsoft.com/office/drawing/2014/main" id="{120E4CFF-995E-5843-A9B8-E6CFC21903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0818" y="5073732"/>
            <a:ext cx="397738" cy="39773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FDD0EE-7457-4ECF-8EB4-0252E3B11A24}"/>
              </a:ext>
            </a:extLst>
          </p:cNvPr>
          <p:cNvCxnSpPr>
            <a:cxnSpLocks/>
          </p:cNvCxnSpPr>
          <p:nvPr/>
        </p:nvCxnSpPr>
        <p:spPr>
          <a:xfrm>
            <a:off x="6610714" y="3966584"/>
            <a:ext cx="55473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939020-6F7A-4EBF-BE4B-4FFB2DCB92F0}"/>
              </a:ext>
            </a:extLst>
          </p:cNvPr>
          <p:cNvCxnSpPr>
            <a:cxnSpLocks/>
          </p:cNvCxnSpPr>
          <p:nvPr/>
        </p:nvCxnSpPr>
        <p:spPr>
          <a:xfrm>
            <a:off x="10040818" y="5602725"/>
            <a:ext cx="21172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62CD323-D59C-4AC6-BD7F-B534E8C33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044772"/>
              </p:ext>
            </p:extLst>
          </p:nvPr>
        </p:nvGraphicFramePr>
        <p:xfrm>
          <a:off x="6550855" y="4356971"/>
          <a:ext cx="3260247" cy="2421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8745">
                  <a:extLst>
                    <a:ext uri="{9D8B030D-6E8A-4147-A177-3AD203B41FA5}">
                      <a16:colId xmlns:a16="http://schemas.microsoft.com/office/drawing/2014/main" val="4196672875"/>
                    </a:ext>
                  </a:extLst>
                </a:gridCol>
                <a:gridCol w="1581502">
                  <a:extLst>
                    <a:ext uri="{9D8B030D-6E8A-4147-A177-3AD203B41FA5}">
                      <a16:colId xmlns:a16="http://schemas.microsoft.com/office/drawing/2014/main" val="503202210"/>
                    </a:ext>
                  </a:extLst>
                </a:gridCol>
              </a:tblGrid>
              <a:tr h="4854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097765"/>
                  </a:ext>
                </a:extLst>
              </a:tr>
              <a:tr h="3871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76235"/>
                  </a:ext>
                </a:extLst>
              </a:tr>
              <a:tr h="3871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7324"/>
                  </a:ext>
                </a:extLst>
              </a:tr>
              <a:tr h="3871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339104"/>
                  </a:ext>
                </a:extLst>
              </a:tr>
              <a:tr h="3871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42743"/>
                  </a:ext>
                </a:extLst>
              </a:tr>
              <a:tr h="3871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524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4056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tIns="1200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2018 FIGO Update &amp; Currency Note (verified June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150000"/>
            <a:ext cx="11192000" cy="53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Standing framework is current: the FIGO PALM-COEIN system (Munro, Int J Gynecol Obstet 2018 revision) and the AUB definitions taught here remain the accepted standard. No change to the teaching.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22B33"/>
                </a:solidFill>
                <a:latin typeface="Calibri"/>
              </a:rPr>
              <a:t>Correction made to this deck: the "I" in PALM-COEIN is IATROGENIC, not "Idiopathic" — i.e., hormonal contraception (IUDs, implants such as Nexplanon), anticoagulants, SERMs (tamoxifen/raloxifene), and dopamine antagonists. ("Idiopathic" was a transcription slip; FIGO and the lesson script both say Iatrogenic.)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22B33"/>
                </a:solidFill>
                <a:latin typeface="Calibri"/>
              </a:rPr>
              <a:t>Framing reminders worth adding at the board: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FIGO normal-cycle limits: frequency 24–38 d, duration ≤8 d, cycle-to-cycle variation ≤7–9 d (age-dependent).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Any post-menopausal bleeding is abnormal until proven otherwise → transvaginal US ± endometrial biopsy to exclude endometrial cancer.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Levonorgestrel IUD and tranexamic acid are first-line medical options for heavy menstrual bleeding from non-structural / fibroid causes (ACOG).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tIns="1200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150000"/>
            <a:ext cx="11192000" cy="53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1. AUB is defined by abnormality in any of four parameters: duration (&gt;8 d), frequency (&lt;24 or &gt;38 d), regularity (variation &gt;7–9 d by age), or volume (interferes with life / objective soaking).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2. After ruling out pregnancy, use PALM-COEIN — PALM = structural (Polyp, Adenomyosis, Leiomyoma, Malignancy/hyperplasia), COEIN = non-structural (Coagulopathy, Ovulatory dysfunction, Endometrial, Iatrogenic, Not yet classified).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3. Every patient with AUB gets a pelvic exam plus three labs: pregnancy test, CBC, and iron studies (ferritin &lt;50 ng/mL is low in pre-menopausal patients).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4. Add transvaginal ultrasound for structural work-up; endometrial biopsy for hyperplasia/cancer risk (age &gt;45, post-menopausal bleeding, chronic anovulation/obesity, unopposed estrogen, tamoxifen).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5. ~20% of heavy menstrual bleeding (higher in adolescents) reflects a bleeding disorder — screen with vWF panel/PT/PTT when bleeding dates to menarche or there is a personal/family bleeding history.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tIns="1200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Attribution, License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150000"/>
            <a:ext cx="11192000" cy="53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Original: "Abnormal Uterine Bleeding," TeachIM.org. Authors: Nikki Zarling MD, Natalie deQuillfeldt MD, Brandon Fainstad, Molly Brett MD; sec. ed. Adelaide McClintock MD; exec. ed. Yilin Zhang MD. Published April 2022.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teachim.org/teaching_material/abnormal-uterine-bleeding/ — CC BY-NC 4.0 (attribution, non-commercial). Educational use only; clinician-reviewed before teaching.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22B33"/>
                </a:solidFill>
                <a:latin typeface="Calibri"/>
              </a:rPr>
              <a:t>Optimization (June 2026):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Correction (surgical, all click-to-reveal animations &amp; graphics preserved): PALM-COEIN "I: Idiopathic" → "I: Iatrogenic" on slide 3 (mnemonic legend) and slide 6 (the Nexplanon vignette reveal label). Matches FIGO 2018 and the lesson's own teaching script.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Added: this 2018-FIGO currency slide, take-home slide; HTML package (pre-work, ASK points, click-to-reveal cases), 5 MCQs, 17 Anki cards, EMR dotphrase, one-pager PDF.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Companions copied &amp; linked (reviewed, unchanged): Teaching Guide (AUB-Teach-IM-Guide-final.docx) + Learner Worksheet (Learner-Worksheet-1.pdf).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All 11 original slides (1 hidden worksheet) preserved → 14 total.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1322</Words>
  <Application>Microsoft Office PowerPoint</Application>
  <PresentationFormat>Widescreen</PresentationFormat>
  <Paragraphs>353</Paragraphs>
  <Slides>11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Abnormal Uterine Bleeding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Abnormal Uterine Bleeding</dc:title>
  <dc:creator>Nikki N Zarling</dc:creator>
  <cp:lastModifiedBy>Yilin Zhang</cp:lastModifiedBy>
  <cp:revision>40</cp:revision>
  <dcterms:created xsi:type="dcterms:W3CDTF">2021-12-13T20:07:24Z</dcterms:created>
  <dcterms:modified xsi:type="dcterms:W3CDTF">2022-04-22T01:43:20Z</dcterms:modified>
</cp:coreProperties>
</file>