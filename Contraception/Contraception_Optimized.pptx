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ngesInfos/changesInfo1.xml" ContentType="application/vnd.ms-powerpoint.changesinfo+xml"/>
  <Override PartName="/ppt/commentAuthors.xml" ContentType="application/vnd.openxmlformats-officedocument.presentationml.commentAuthors+xml"/>
  <Override PartName="/ppt/media/image12.svg" ContentType="image/svg+xml"/>
  <Override PartName="/ppt/media/image18.svg" ContentType="image/svg+xml"/>
  <Override PartName="/ppt/media/image20.svg" ContentType="image/svg+xml"/>
  <Override PartName="/ppt/media/image22.svg" ContentType="image/svg+xml"/>
  <Override PartName="/ppt/media/image2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349" r:id="rId2"/>
    <p:sldId id="340" r:id="rId3"/>
    <p:sldId id="375" r:id="rId4"/>
    <p:sldId id="376" r:id="rId5"/>
    <p:sldId id="357" r:id="rId6"/>
    <p:sldId id="343" r:id="rId7"/>
    <p:sldId id="355" r:id="rId8"/>
    <p:sldId id="356" r:id="rId9"/>
    <p:sldId id="377" r:id="rId10"/>
    <p:sldId id="378" r:id="rId20"/>
    <p:sldId id="379" r:id="rId21"/>
    <p:sldId id="38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B810968-D91D-C19B-3655-B4D2DE7FDBEE}" name="Yilin Zhang" initials="YZ" userId="S::Yilin_Zhang@valleymed.org::40a11026-a9ab-441d-8256-d37e38926e9e" providerId="AD"/>
  <p188:author id="{0F32C275-B4C9-2A30-3D9B-1AE333B634C7}" name="Yilin Zhang" initials="YZ" userId="Yilin Zhang"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equillfeldt, Natalie" initials="DN" lastIdx="3" clrIdx="0">
    <p:extLst>
      <p:ext uri="{19B8F6BF-5375-455C-9EA6-DF929625EA0E}">
        <p15:presenceInfo xmlns:p15="http://schemas.microsoft.com/office/powerpoint/2012/main" userId="S::natalie.dequillfeldt@cuanschutz.edu::7d189ae9-aace-46db-8f99-e0f907428ccb" providerId="AD"/>
      </p:ext>
    </p:extLst>
  </p:cmAuthor>
  <p:cmAuthor id="2" name="Fainstad, Brandon" initials="FB" lastIdx="1" clrIdx="1">
    <p:extLst>
      <p:ext uri="{19B8F6BF-5375-455C-9EA6-DF929625EA0E}">
        <p15:presenceInfo xmlns:p15="http://schemas.microsoft.com/office/powerpoint/2012/main" userId="Fainstad, Brandon" providerId="None"/>
      </p:ext>
    </p:extLst>
  </p:cmAuthor>
  <p:cmAuthor id="3" name="Teach IM" initials="TI" lastIdx="2" clrIdx="2">
    <p:extLst>
      <p:ext uri="{19B8F6BF-5375-455C-9EA6-DF929625EA0E}">
        <p15:presenceInfo xmlns:p15="http://schemas.microsoft.com/office/powerpoint/2012/main" userId="8ae8df808a00c05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ECC82"/>
    <a:srgbClr val="8DC26C"/>
    <a:srgbClr val="C5E0B4"/>
    <a:srgbClr val="233616"/>
    <a:srgbClr val="38572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0D8216-C527-47DD-B768-F2737F2C84E6}" v="10" dt="2022-10-06T16:17:04.7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98" autoAdjust="0"/>
    <p:restoredTop sz="88828" autoAdjust="0"/>
  </p:normalViewPr>
  <p:slideViewPr>
    <p:cSldViewPr snapToGrid="0">
      <p:cViewPr varScale="1">
        <p:scale>
          <a:sx n="101" d="100"/>
          <a:sy n="101" d="100"/>
        </p:scale>
        <p:origin x="1056" y="108"/>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commentAuthors" Target="commentAuthors.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6/11/relationships/changesInfo" Target="changesInfos/changesInfo1.xml"/><Relationship Id="rId18" Type="http://schemas.microsoft.com/office/2015/10/relationships/revisionInfo" Target="revisionInfo.xml"/><Relationship Id="rId19" Type="http://schemas.microsoft.com/office/2018/10/relationships/authors" Target="authors.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instad, Brandon" userId="aac92477-536e-4d21-9f70-fa5cd941f380" providerId="ADAL" clId="{580D8216-C527-47DD-B768-F2737F2C84E6}"/>
    <pc:docChg chg="custSel delSld modSld">
      <pc:chgData name="Fainstad, Brandon" userId="aac92477-536e-4d21-9f70-fa5cd941f380" providerId="ADAL" clId="{580D8216-C527-47DD-B768-F2737F2C84E6}" dt="2022-10-06T16:17:04.766" v="19"/>
      <pc:docMkLst>
        <pc:docMk/>
      </pc:docMkLst>
      <pc:sldChg chg="addSp delSp modSp mod">
        <pc:chgData name="Fainstad, Brandon" userId="aac92477-536e-4d21-9f70-fa5cd941f380" providerId="ADAL" clId="{580D8216-C527-47DD-B768-F2737F2C84E6}" dt="2022-10-06T16:16:41.970" v="7"/>
        <pc:sldMkLst>
          <pc:docMk/>
          <pc:sldMk cId="1207003609" sldId="340"/>
        </pc:sldMkLst>
        <pc:spChg chg="del">
          <ac:chgData name="Fainstad, Brandon" userId="aac92477-536e-4d21-9f70-fa5cd941f380" providerId="ADAL" clId="{580D8216-C527-47DD-B768-F2737F2C84E6}" dt="2022-10-06T16:16:41.613" v="6" actId="478"/>
          <ac:spMkLst>
            <pc:docMk/>
            <pc:sldMk cId="1207003609" sldId="340"/>
            <ac:spMk id="40" creationId="{D7239399-D613-4EC7-AAAA-F8DE36D081FE}"/>
          </ac:spMkLst>
        </pc:spChg>
        <pc:spChg chg="add mod">
          <ac:chgData name="Fainstad, Brandon" userId="aac92477-536e-4d21-9f70-fa5cd941f380" providerId="ADAL" clId="{580D8216-C527-47DD-B768-F2737F2C84E6}" dt="2022-10-06T16:16:41.970" v="7"/>
          <ac:spMkLst>
            <pc:docMk/>
            <pc:sldMk cId="1207003609" sldId="340"/>
            <ac:spMk id="47" creationId="{F2B9EB39-BBEF-4AC3-80E9-BCDC11231EB0}"/>
          </ac:spMkLst>
        </pc:spChg>
      </pc:sldChg>
      <pc:sldChg chg="addSp delSp modSp mod">
        <pc:chgData name="Fainstad, Brandon" userId="aac92477-536e-4d21-9f70-fa5cd941f380" providerId="ADAL" clId="{580D8216-C527-47DD-B768-F2737F2C84E6}" dt="2022-10-06T16:16:55.846" v="15"/>
        <pc:sldMkLst>
          <pc:docMk/>
          <pc:sldMk cId="3260246388" sldId="343"/>
        </pc:sldMkLst>
        <pc:spChg chg="add mod">
          <ac:chgData name="Fainstad, Brandon" userId="aac92477-536e-4d21-9f70-fa5cd941f380" providerId="ADAL" clId="{580D8216-C527-47DD-B768-F2737F2C84E6}" dt="2022-10-06T16:16:55.846" v="15"/>
          <ac:spMkLst>
            <pc:docMk/>
            <pc:sldMk cId="3260246388" sldId="343"/>
            <ac:spMk id="52" creationId="{F90F776D-1965-4F66-AD6F-BBB4CABAE424}"/>
          </ac:spMkLst>
        </pc:spChg>
        <pc:spChg chg="del">
          <ac:chgData name="Fainstad, Brandon" userId="aac92477-536e-4d21-9f70-fa5cd941f380" providerId="ADAL" clId="{580D8216-C527-47DD-B768-F2737F2C84E6}" dt="2022-10-06T16:16:55.109" v="14" actId="478"/>
          <ac:spMkLst>
            <pc:docMk/>
            <pc:sldMk cId="3260246388" sldId="343"/>
            <ac:spMk id="65" creationId="{B250896B-E0A1-40EA-9DC3-E02876D317B5}"/>
          </ac:spMkLst>
        </pc:spChg>
      </pc:sldChg>
      <pc:sldChg chg="modSp">
        <pc:chgData name="Fainstad, Brandon" userId="aac92477-536e-4d21-9f70-fa5cd941f380" providerId="ADAL" clId="{580D8216-C527-47DD-B768-F2737F2C84E6}" dt="2022-10-06T16:16:36.419" v="5"/>
        <pc:sldMkLst>
          <pc:docMk/>
          <pc:sldMk cId="1282188176" sldId="349"/>
        </pc:sldMkLst>
        <pc:spChg chg="mod">
          <ac:chgData name="Fainstad, Brandon" userId="aac92477-536e-4d21-9f70-fa5cd941f380" providerId="ADAL" clId="{580D8216-C527-47DD-B768-F2737F2C84E6}" dt="2022-10-06T16:16:36.419" v="5"/>
          <ac:spMkLst>
            <pc:docMk/>
            <pc:sldMk cId="1282188176" sldId="349"/>
            <ac:spMk id="43" creationId="{2AB9565D-3B39-4A36-B90E-D32CF885CAE0}"/>
          </ac:spMkLst>
        </pc:spChg>
      </pc:sldChg>
      <pc:sldChg chg="addSp delSp modSp mod">
        <pc:chgData name="Fainstad, Brandon" userId="aac92477-536e-4d21-9f70-fa5cd941f380" providerId="ADAL" clId="{580D8216-C527-47DD-B768-F2737F2C84E6}" dt="2022-10-06T16:16:59.430" v="17"/>
        <pc:sldMkLst>
          <pc:docMk/>
          <pc:sldMk cId="4233753466" sldId="355"/>
        </pc:sldMkLst>
        <pc:spChg chg="add mod">
          <ac:chgData name="Fainstad, Brandon" userId="aac92477-536e-4d21-9f70-fa5cd941f380" providerId="ADAL" clId="{580D8216-C527-47DD-B768-F2737F2C84E6}" dt="2022-10-06T16:16:59.430" v="17"/>
          <ac:spMkLst>
            <pc:docMk/>
            <pc:sldMk cId="4233753466" sldId="355"/>
            <ac:spMk id="71" creationId="{0E3FC437-D774-4C41-A8AE-033ACB44449F}"/>
          </ac:spMkLst>
        </pc:spChg>
        <pc:spChg chg="del">
          <ac:chgData name="Fainstad, Brandon" userId="aac92477-536e-4d21-9f70-fa5cd941f380" providerId="ADAL" clId="{580D8216-C527-47DD-B768-F2737F2C84E6}" dt="2022-10-06T16:16:59.085" v="16" actId="478"/>
          <ac:spMkLst>
            <pc:docMk/>
            <pc:sldMk cId="4233753466" sldId="355"/>
            <ac:spMk id="93" creationId="{8A75C7B4-B3F7-47DE-A555-2D7CCB22CC46}"/>
          </ac:spMkLst>
        </pc:spChg>
      </pc:sldChg>
      <pc:sldChg chg="addSp delSp modSp mod">
        <pc:chgData name="Fainstad, Brandon" userId="aac92477-536e-4d21-9f70-fa5cd941f380" providerId="ADAL" clId="{580D8216-C527-47DD-B768-F2737F2C84E6}" dt="2022-10-06T16:17:04.766" v="19"/>
        <pc:sldMkLst>
          <pc:docMk/>
          <pc:sldMk cId="2999203582" sldId="356"/>
        </pc:sldMkLst>
        <pc:spChg chg="add mod">
          <ac:chgData name="Fainstad, Brandon" userId="aac92477-536e-4d21-9f70-fa5cd941f380" providerId="ADAL" clId="{580D8216-C527-47DD-B768-F2737F2C84E6}" dt="2022-10-06T16:17:04.766" v="19"/>
          <ac:spMkLst>
            <pc:docMk/>
            <pc:sldMk cId="2999203582" sldId="356"/>
            <ac:spMk id="52" creationId="{6F841DDA-0BBD-4C38-8144-51B38485FA3F}"/>
          </ac:spMkLst>
        </pc:spChg>
        <pc:spChg chg="del">
          <ac:chgData name="Fainstad, Brandon" userId="aac92477-536e-4d21-9f70-fa5cd941f380" providerId="ADAL" clId="{580D8216-C527-47DD-B768-F2737F2C84E6}" dt="2022-10-06T16:17:04.389" v="18" actId="478"/>
          <ac:spMkLst>
            <pc:docMk/>
            <pc:sldMk cId="2999203582" sldId="356"/>
            <ac:spMk id="56" creationId="{1964C140-4B40-4E5D-8F1A-E144F07406C1}"/>
          </ac:spMkLst>
        </pc:spChg>
      </pc:sldChg>
      <pc:sldChg chg="addSp delSp modSp mod">
        <pc:chgData name="Fainstad, Brandon" userId="aac92477-536e-4d21-9f70-fa5cd941f380" providerId="ADAL" clId="{580D8216-C527-47DD-B768-F2737F2C84E6}" dt="2022-10-06T16:16:52.064" v="13"/>
        <pc:sldMkLst>
          <pc:docMk/>
          <pc:sldMk cId="3238127994" sldId="357"/>
        </pc:sldMkLst>
        <pc:spChg chg="add mod">
          <ac:chgData name="Fainstad, Brandon" userId="aac92477-536e-4d21-9f70-fa5cd941f380" providerId="ADAL" clId="{580D8216-C527-47DD-B768-F2737F2C84E6}" dt="2022-10-06T16:16:52.064" v="13"/>
          <ac:spMkLst>
            <pc:docMk/>
            <pc:sldMk cId="3238127994" sldId="357"/>
            <ac:spMk id="57" creationId="{C8516750-4ECD-4A7C-BA0A-82D87DA0F32F}"/>
          </ac:spMkLst>
        </pc:spChg>
        <pc:spChg chg="del">
          <ac:chgData name="Fainstad, Brandon" userId="aac92477-536e-4d21-9f70-fa5cd941f380" providerId="ADAL" clId="{580D8216-C527-47DD-B768-F2737F2C84E6}" dt="2022-10-06T16:16:51.741" v="12" actId="478"/>
          <ac:spMkLst>
            <pc:docMk/>
            <pc:sldMk cId="3238127994" sldId="357"/>
            <ac:spMk id="77" creationId="{31C777F7-5861-434F-90A3-6036019F14AD}"/>
          </ac:spMkLst>
        </pc:spChg>
      </pc:sldChg>
      <pc:sldChg chg="addSp delSp modSp mod">
        <pc:chgData name="Fainstad, Brandon" userId="aac92477-536e-4d21-9f70-fa5cd941f380" providerId="ADAL" clId="{580D8216-C527-47DD-B768-F2737F2C84E6}" dt="2022-10-06T16:16:45.449" v="9"/>
        <pc:sldMkLst>
          <pc:docMk/>
          <pc:sldMk cId="447873728" sldId="375"/>
        </pc:sldMkLst>
        <pc:spChg chg="add mod">
          <ac:chgData name="Fainstad, Brandon" userId="aac92477-536e-4d21-9f70-fa5cd941f380" providerId="ADAL" clId="{580D8216-C527-47DD-B768-F2737F2C84E6}" dt="2022-10-06T16:16:45.449" v="9"/>
          <ac:spMkLst>
            <pc:docMk/>
            <pc:sldMk cId="447873728" sldId="375"/>
            <ac:spMk id="119" creationId="{94C7829E-0BA2-4A70-8DCB-2324CBDE2357}"/>
          </ac:spMkLst>
        </pc:spChg>
        <pc:spChg chg="del">
          <ac:chgData name="Fainstad, Brandon" userId="aac92477-536e-4d21-9f70-fa5cd941f380" providerId="ADAL" clId="{580D8216-C527-47DD-B768-F2737F2C84E6}" dt="2022-10-06T16:16:45.061" v="8" actId="478"/>
          <ac:spMkLst>
            <pc:docMk/>
            <pc:sldMk cId="447873728" sldId="375"/>
            <ac:spMk id="130" creationId="{FDAE80B8-A420-44A0-AE7B-25ED04882D78}"/>
          </ac:spMkLst>
        </pc:spChg>
      </pc:sldChg>
      <pc:sldChg chg="addSp delSp modSp mod modTransition">
        <pc:chgData name="Fainstad, Brandon" userId="aac92477-536e-4d21-9f70-fa5cd941f380" providerId="ADAL" clId="{580D8216-C527-47DD-B768-F2737F2C84E6}" dt="2022-10-06T16:16:48.871" v="11"/>
        <pc:sldMkLst>
          <pc:docMk/>
          <pc:sldMk cId="870464979" sldId="376"/>
        </pc:sldMkLst>
        <pc:spChg chg="mod">
          <ac:chgData name="Fainstad, Brandon" userId="aac92477-536e-4d21-9f70-fa5cd941f380" providerId="ADAL" clId="{580D8216-C527-47DD-B768-F2737F2C84E6}" dt="2022-10-06T16:15:56.644" v="1" actId="197"/>
          <ac:spMkLst>
            <pc:docMk/>
            <pc:sldMk cId="870464979" sldId="376"/>
            <ac:spMk id="12" creationId="{78C1FBD7-500F-7A4D-9FB7-7AD5524DA7DC}"/>
          </ac:spMkLst>
        </pc:spChg>
        <pc:spChg chg="del">
          <ac:chgData name="Fainstad, Brandon" userId="aac92477-536e-4d21-9f70-fa5cd941f380" providerId="ADAL" clId="{580D8216-C527-47DD-B768-F2737F2C84E6}" dt="2022-10-06T16:16:48.522" v="10" actId="478"/>
          <ac:spMkLst>
            <pc:docMk/>
            <pc:sldMk cId="870464979" sldId="376"/>
            <ac:spMk id="43" creationId="{2CC469C5-0B74-4D29-B8C3-49C2C956940F}"/>
          </ac:spMkLst>
        </pc:spChg>
        <pc:spChg chg="add mod">
          <ac:chgData name="Fainstad, Brandon" userId="aac92477-536e-4d21-9f70-fa5cd941f380" providerId="ADAL" clId="{580D8216-C527-47DD-B768-F2737F2C84E6}" dt="2022-10-06T16:16:48.871" v="11"/>
          <ac:spMkLst>
            <pc:docMk/>
            <pc:sldMk cId="870464979" sldId="376"/>
            <ac:spMk id="95" creationId="{897EF0BF-547D-4B55-B439-2BA09BCF5113}"/>
          </ac:spMkLst>
        </pc:spChg>
      </pc:sldChg>
      <pc:sldChg chg="modTransition">
        <pc:chgData name="Fainstad, Brandon" userId="aac92477-536e-4d21-9f70-fa5cd941f380" providerId="ADAL" clId="{580D8216-C527-47DD-B768-F2737F2C84E6}" dt="2022-10-06T16:16:12.847" v="2"/>
        <pc:sldMkLst>
          <pc:docMk/>
          <pc:sldMk cId="1301579111" sldId="377"/>
        </pc:sldMkLst>
      </pc:sldChg>
      <pc:sldChg chg="del">
        <pc:chgData name="Fainstad, Brandon" userId="aac92477-536e-4d21-9f70-fa5cd941f380" providerId="ADAL" clId="{580D8216-C527-47DD-B768-F2737F2C84E6}" dt="2022-10-06T16:16:20.002" v="3" actId="47"/>
        <pc:sldMkLst>
          <pc:docMk/>
          <pc:sldMk cId="1980121192" sldId="379"/>
        </pc:sldMkLst>
      </pc:sldChg>
      <pc:sldChg chg="del">
        <pc:chgData name="Fainstad, Brandon" userId="aac92477-536e-4d21-9f70-fa5cd941f380" providerId="ADAL" clId="{580D8216-C527-47DD-B768-F2737F2C84E6}" dt="2022-10-06T16:16:21.206" v="4" actId="47"/>
        <pc:sldMkLst>
          <pc:docMk/>
          <pc:sldMk cId="3434895732" sldId="38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EB68C8-D431-394B-9ABF-35D4156172FA}" type="datetimeFigureOut">
              <a:rPr lang="en-US" smtClean="0"/>
              <a:t>10/6/2022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9C5118-9DC0-BF44-83A5-A0B212376A6E}" type="slidenum">
              <a:rPr lang="en-US" smtClean="0"/>
              <a:t>‹#›</a:t>
            </a:fld>
            <a:endParaRPr lang="en-US"/>
          </a:p>
        </p:txBody>
      </p:sp>
    </p:spTree>
    <p:extLst>
      <p:ext uri="{BB962C8B-B14F-4D97-AF65-F5344CB8AC3E}">
        <p14:creationId xmlns:p14="http://schemas.microsoft.com/office/powerpoint/2010/main" val="1003752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 Id="rId3" Type="http://schemas.openxmlformats.org/officeDocument/2006/relationships/hyperlink" Target="https://www-uptodate-com.proxy.hsl.ucdenver.edu/contents/contraception-counseling-and-selection/abstract/22" TargetMode="External"/><Relationship Id="rId4" Type="http://schemas.openxmlformats.org/officeDocument/2006/relationships/hyperlink" Target="https://rhntc.org/resources/client-centered-reproductive-goals-counseling-flow-chart"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 Id="rId3" Type="http://schemas.openxmlformats.org/officeDocument/2006/relationships/hyperlink" Target="https://www.bedsider.org/methods" TargetMode="External"/><Relationship Id="rId4" Type="http://schemas.openxmlformats.org/officeDocument/2006/relationships/hyperlink" Target="https://iwhc.org/2020/12/addressing-the-legacy-of-us-sponsored-reproductive-coercion/"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 Id="rId3" Type="http://schemas.openxmlformats.org/officeDocument/2006/relationships/hyperlink" Target="https://www.cdc.gov/reproductivehealth/contraception/mmwr/mec/appendixd.html" TargetMode="External"/><Relationship Id="rId4" Type="http://schemas.openxmlformats.org/officeDocument/2006/relationships/hyperlink" Target="http://www.uptodate.com/" TargetMode="External"/><Relationship Id="rId5" Type="http://schemas.openxmlformats.org/officeDocument/2006/relationships/hyperlink" Target="https://thecurbsiders.com/podcast/280"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 Id="rId3" Type="http://schemas.openxmlformats.org/officeDocument/2006/relationships/hyperlink" Target="https://pubmed.ncbi.nlm.nih.gov/27349294/" TargetMode="External"/><Relationship Id="rId4" Type="http://schemas.openxmlformats.org/officeDocument/2006/relationships/hyperlink" Target="https://providers.bedsider.org/articles/clinical-minute-placing-an-iud-after-unprotected-sex"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9C5118-9DC0-BF44-83A5-A0B212376A6E}" type="slidenum">
              <a:rPr lang="en-US" smtClean="0"/>
              <a:t>1</a:t>
            </a:fld>
            <a:endParaRPr lang="en-US"/>
          </a:p>
        </p:txBody>
      </p:sp>
    </p:spTree>
    <p:extLst>
      <p:ext uri="{BB962C8B-B14F-4D97-AF65-F5344CB8AC3E}">
        <p14:creationId xmlns:p14="http://schemas.microsoft.com/office/powerpoint/2010/main" val="4258500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Possible script: “There are many ways to introduce the topic of contraception in an office visit. </a:t>
            </a:r>
            <a:r>
              <a:rPr lang="en-US" sz="1200" kern="1200" dirty="0">
                <a:solidFill>
                  <a:schemeClr val="tx1"/>
                </a:solidFill>
                <a:effectLst/>
                <a:latin typeface="+mn-lt"/>
                <a:ea typeface="+mn-ea"/>
                <a:cs typeface="+mn-cs"/>
              </a:rPr>
              <a:t>One approach that has been suggested is using the "PATH" questions, which address pregnancy attitudes and timing in a patient-centered way that acknowledges that many women will not have a well-defined plan. How might we assess the patient’s attitude towards…pregnancy attitudes? Timing of pregnancy? Lastly we can gauge their interest in contraception by asking how important it is to prevent pregnancy until then.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These questions are more inclusive in addressing family planning beyond cis couples. Consider that the perspective of pregnancy as a “planned” behavior may be inappropriate and/or triggering as some people are not able to achieve the self-determination and other conditions that dominant society considers prerequisites to starting a family due to existing racism and other forms of oppression. If the patient initiates the conversation about birth control, you may want to start by asking if they have reasons beyond pregnancy prevention. In general, ask open-ended questions about the patient’s reproductive goals and avoid assumptions about their beliefs or attitudes towards pregnancy.”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Source: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u="sng" kern="1200" dirty="0" err="1">
                <a:solidFill>
                  <a:schemeClr val="tx1"/>
                </a:solidFill>
                <a:effectLst/>
                <a:latin typeface="+mn-lt"/>
                <a:ea typeface="+mn-ea"/>
                <a:cs typeface="+mn-cs"/>
                <a:hlinkClick r:id="rId3"/>
              </a:rPr>
              <a:t>Callegari</a:t>
            </a:r>
            <a:r>
              <a:rPr lang="en-US" sz="1200" u="sng" kern="1200" dirty="0">
                <a:solidFill>
                  <a:schemeClr val="tx1"/>
                </a:solidFill>
                <a:effectLst/>
                <a:latin typeface="+mn-lt"/>
                <a:ea typeface="+mn-ea"/>
                <a:cs typeface="+mn-cs"/>
                <a:hlinkClick r:id="rId3"/>
              </a:rPr>
              <a:t> LS, Aiken AR, </a:t>
            </a:r>
            <a:r>
              <a:rPr lang="en-US" sz="1200" u="sng" kern="1200" dirty="0" err="1">
                <a:solidFill>
                  <a:schemeClr val="tx1"/>
                </a:solidFill>
                <a:effectLst/>
                <a:latin typeface="+mn-lt"/>
                <a:ea typeface="+mn-ea"/>
                <a:cs typeface="+mn-cs"/>
                <a:hlinkClick r:id="rId3"/>
              </a:rPr>
              <a:t>Dehlendorf</a:t>
            </a:r>
            <a:r>
              <a:rPr lang="en-US" sz="1200" u="sng" kern="1200" dirty="0">
                <a:solidFill>
                  <a:schemeClr val="tx1"/>
                </a:solidFill>
                <a:effectLst/>
                <a:latin typeface="+mn-lt"/>
                <a:ea typeface="+mn-ea"/>
                <a:cs typeface="+mn-cs"/>
                <a:hlinkClick r:id="rId3"/>
              </a:rPr>
              <a:t> C, et al. Addressing potential pitfalls of reproductive life planning with patient-centered counseling. Am J </a:t>
            </a:r>
            <a:r>
              <a:rPr lang="en-US" sz="1200" u="sng" kern="1200" dirty="0" err="1">
                <a:solidFill>
                  <a:schemeClr val="tx1"/>
                </a:solidFill>
                <a:effectLst/>
                <a:latin typeface="+mn-lt"/>
                <a:ea typeface="+mn-ea"/>
                <a:cs typeface="+mn-cs"/>
                <a:hlinkClick r:id="rId3"/>
              </a:rPr>
              <a:t>Obstet</a:t>
            </a:r>
            <a:r>
              <a:rPr lang="en-US" sz="1200" u="sng" kern="1200" dirty="0">
                <a:solidFill>
                  <a:schemeClr val="tx1"/>
                </a:solidFill>
                <a:effectLst/>
                <a:latin typeface="+mn-lt"/>
                <a:ea typeface="+mn-ea"/>
                <a:cs typeface="+mn-cs"/>
                <a:hlinkClick r:id="rId3"/>
              </a:rPr>
              <a:t> </a:t>
            </a:r>
            <a:r>
              <a:rPr lang="en-US" sz="1200" u="sng" kern="1200" dirty="0" err="1">
                <a:solidFill>
                  <a:schemeClr val="tx1"/>
                </a:solidFill>
                <a:effectLst/>
                <a:latin typeface="+mn-lt"/>
                <a:ea typeface="+mn-ea"/>
                <a:cs typeface="+mn-cs"/>
                <a:hlinkClick r:id="rId3"/>
              </a:rPr>
              <a:t>Gynecol</a:t>
            </a:r>
            <a:r>
              <a:rPr lang="en-US" sz="1200" u="sng" kern="1200" dirty="0">
                <a:solidFill>
                  <a:schemeClr val="tx1"/>
                </a:solidFill>
                <a:effectLst/>
                <a:latin typeface="+mn-lt"/>
                <a:ea typeface="+mn-ea"/>
                <a:cs typeface="+mn-cs"/>
                <a:hlinkClick r:id="rId3"/>
              </a:rPr>
              <a:t> 2017; 216:129.</a:t>
            </a:r>
            <a:r>
              <a:rPr lang="en-US" sz="1200" kern="1200" dirty="0">
                <a:solidFill>
                  <a:schemeClr val="tx1"/>
                </a:solidFill>
                <a:effectLst/>
                <a:latin typeface="+mn-lt"/>
                <a:ea typeface="+mn-ea"/>
                <a:cs typeface="+mn-cs"/>
              </a:rPr>
              <a:t> Tool available from the Reproductive Health National Training Center at </a:t>
            </a:r>
            <a:r>
              <a:rPr lang="en-US" sz="1200" u="sng" kern="1200" dirty="0">
                <a:solidFill>
                  <a:schemeClr val="tx1"/>
                </a:solidFill>
                <a:effectLst/>
                <a:latin typeface="+mn-lt"/>
                <a:ea typeface="+mn-ea"/>
                <a:cs typeface="+mn-cs"/>
                <a:hlinkClick r:id="rId4"/>
              </a:rPr>
              <a:t>https://rhntc.org/resources/client-centered-reproductive-goals-counseling-flow-chart</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B9C5118-9DC0-BF44-83A5-A0B212376A6E}" type="slidenum">
              <a:rPr lang="en-US" smtClean="0"/>
              <a:t>2</a:t>
            </a:fld>
            <a:endParaRPr lang="en-US"/>
          </a:p>
        </p:txBody>
      </p:sp>
    </p:spTree>
    <p:extLst>
      <p:ext uri="{BB962C8B-B14F-4D97-AF65-F5344CB8AC3E}">
        <p14:creationId xmlns:p14="http://schemas.microsoft.com/office/powerpoint/2010/main" val="10391703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Calibri" panose="020F0502020204030204" pitchFamily="34" charset="0"/>
              </a:rPr>
              <a:t>The best method of birth control is the one that matches patient needs. Our job as the provider is to help patients choose the method that best accomplishes their goals and minimizes risks of adverse effects</a:t>
            </a:r>
            <a:r>
              <a:rPr lang="en-US" sz="1200" kern="1200" dirty="0">
                <a:solidFill>
                  <a:schemeClr val="tx1"/>
                </a:solidFill>
                <a:effectLst/>
                <a:latin typeface="+mn-lt"/>
                <a:ea typeface="+mn-ea"/>
                <a:cs typeface="+mn-cs"/>
              </a:rPr>
              <a:t>. Also be aware that there is a history of reproductive coercion in this country. Therefore, it is important to avoid presenting efficacy-first schematics and engage your patient in shared decision-making according to what’s important to them. Let’s start off by matching the benefits listed on the left side to the appropriate method.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Specific efficacy per UpToDate: 99.98+% with LNG IUD, 99.92+% with copper IUD (women under 25 experience slightly higher failure rate due to increased fertility but comparable to surgical sterilization). With perfect use, efficacy of </a:t>
            </a:r>
            <a:r>
              <a:rPr lang="en-US" sz="1200" kern="1200" dirty="0" err="1">
                <a:solidFill>
                  <a:schemeClr val="tx1"/>
                </a:solidFill>
                <a:effectLst/>
                <a:latin typeface="+mn-lt"/>
                <a:ea typeface="+mn-ea"/>
                <a:cs typeface="+mn-cs"/>
              </a:rPr>
              <a:t>depo-provera</a:t>
            </a:r>
            <a:r>
              <a:rPr lang="en-US" sz="1200" kern="1200" dirty="0">
                <a:solidFill>
                  <a:schemeClr val="tx1"/>
                </a:solidFill>
                <a:effectLst/>
                <a:latin typeface="+mn-lt"/>
                <a:ea typeface="+mn-ea"/>
                <a:cs typeface="+mn-cs"/>
              </a:rPr>
              <a:t> is 99.3% but typical use has an unintended pregnancy rate of 6%. Pregnancy rates for the patch are 1.07-8.6%.  Typical use failure rate for OCP is approx. 7% (with perfect use 0.3%), 5% for POP (unclear data on perfect use failure rate). </a:t>
            </a:r>
          </a:p>
          <a:p>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Here is a tool to start with: </a:t>
            </a:r>
            <a:r>
              <a:rPr lang="en-US" sz="1200" u="sng" kern="1200" dirty="0">
                <a:solidFill>
                  <a:schemeClr val="tx1"/>
                </a:solidFill>
                <a:effectLst/>
                <a:latin typeface="+mn-lt"/>
                <a:ea typeface="+mn-ea"/>
                <a:cs typeface="+mn-cs"/>
                <a:hlinkClick r:id="rId3"/>
              </a:rPr>
              <a:t>https://www.bedsider.org/methods</a:t>
            </a:r>
            <a:endParaRPr lang="en-US" sz="1200" kern="1200" dirty="0">
              <a:solidFill>
                <a:schemeClr val="tx1"/>
              </a:solidFill>
              <a:effectLst/>
              <a:latin typeface="+mn-lt"/>
              <a:ea typeface="+mn-ea"/>
              <a:cs typeface="+mn-cs"/>
            </a:endParaRPr>
          </a:p>
          <a:p>
            <a:pPr lvl="0"/>
            <a:r>
              <a:rPr lang="en-US" sz="1200" u="sng" kern="1200" dirty="0">
                <a:solidFill>
                  <a:schemeClr val="tx1"/>
                </a:solidFill>
                <a:effectLst/>
                <a:latin typeface="+mn-lt"/>
                <a:ea typeface="+mn-ea"/>
                <a:cs typeface="+mn-cs"/>
              </a:rPr>
              <a:t>The following app developed by Dr. Joshua Steinberg contains all the information you’ll need on prescribing contraception including effectiveness, medical eligibility criteria, prerequisites to starting, quick start algorithms, OCP formulations and help selecting one, etc.</a:t>
            </a:r>
          </a:p>
          <a:p>
            <a:pPr lvl="0"/>
            <a:endParaRPr lang="en-US" sz="1200" u="sng" kern="1200" dirty="0">
              <a:solidFill>
                <a:schemeClr val="tx1"/>
              </a:solidFill>
              <a:effectLst/>
              <a:latin typeface="+mn-lt"/>
              <a:ea typeface="+mn-ea"/>
              <a:cs typeface="+mn-cs"/>
            </a:endParaRPr>
          </a:p>
          <a:p>
            <a:pPr lvl="0"/>
            <a:r>
              <a:rPr lang="en-US" sz="1200" u="none" kern="1200" dirty="0">
                <a:solidFill>
                  <a:schemeClr val="tx1"/>
                </a:solidFill>
                <a:effectLst/>
                <a:latin typeface="+mn-lt"/>
                <a:ea typeface="+mn-ea"/>
                <a:cs typeface="+mn-cs"/>
              </a:rPr>
              <a:t>Source:</a:t>
            </a:r>
          </a:p>
          <a:p>
            <a:r>
              <a:rPr lang="en-US" sz="1200" u="none" kern="1200" dirty="0">
                <a:solidFill>
                  <a:schemeClr val="tx1"/>
                </a:solidFill>
                <a:effectLst/>
                <a:latin typeface="+mn-lt"/>
                <a:ea typeface="+mn-ea"/>
                <a:cs typeface="+mn-cs"/>
                <a:hlinkClick r:id="rId4"/>
              </a:rPr>
              <a:t>https://iwhc.org/2020/12/addressing-the-legacy-of-us-sponsored-reproductive-coercion/</a:t>
            </a:r>
            <a:endParaRPr lang="en-US" sz="1200" u="none"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B9C5118-9DC0-BF44-83A5-A0B212376A6E}" type="slidenum">
              <a:rPr lang="en-US" smtClean="0"/>
              <a:t>3</a:t>
            </a:fld>
            <a:endParaRPr lang="en-US"/>
          </a:p>
        </p:txBody>
      </p:sp>
    </p:spTree>
    <p:extLst>
      <p:ext uri="{BB962C8B-B14F-4D97-AF65-F5344CB8AC3E}">
        <p14:creationId xmlns:p14="http://schemas.microsoft.com/office/powerpoint/2010/main" val="40976940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Two expert reviewers suggested offering a 3</a:t>
            </a:r>
            <a:r>
              <a:rPr lang="en-US" sz="1200" b="0" i="0" u="none" strike="noStrike" kern="1200" baseline="30000" dirty="0">
                <a:solidFill>
                  <a:schemeClr val="tx1"/>
                </a:solidFill>
                <a:effectLst/>
                <a:latin typeface="+mn-lt"/>
                <a:ea typeface="+mn-ea"/>
                <a:cs typeface="+mn-cs"/>
              </a:rPr>
              <a:t>rd</a:t>
            </a:r>
            <a:r>
              <a:rPr lang="en-US" sz="1200" b="0" i="0" u="none" strike="noStrike" kern="1200" dirty="0">
                <a:solidFill>
                  <a:schemeClr val="tx1"/>
                </a:solidFill>
                <a:effectLst/>
                <a:latin typeface="+mn-lt"/>
                <a:ea typeface="+mn-ea"/>
                <a:cs typeface="+mn-cs"/>
              </a:rPr>
              <a:t> or 4</a:t>
            </a:r>
            <a:r>
              <a:rPr lang="en-US" sz="1200" b="0" i="0" u="none" strike="noStrike" kern="1200" baseline="30000" dirty="0">
                <a:solidFill>
                  <a:schemeClr val="tx1"/>
                </a:solidFill>
                <a:effectLst/>
                <a:latin typeface="+mn-lt"/>
                <a:ea typeface="+mn-ea"/>
                <a:cs typeface="+mn-cs"/>
              </a:rPr>
              <a:t>th</a:t>
            </a:r>
            <a:r>
              <a:rPr lang="en-US" sz="1200" b="0" i="0" u="none" strike="noStrike" kern="1200" dirty="0">
                <a:solidFill>
                  <a:schemeClr val="tx1"/>
                </a:solidFill>
                <a:effectLst/>
                <a:latin typeface="+mn-lt"/>
                <a:ea typeface="+mn-ea"/>
                <a:cs typeface="+mn-cs"/>
              </a:rPr>
              <a:t>generation progestin formulation because of the potential for minimizing androgenic side effects, and to consider switching to a 3</a:t>
            </a:r>
            <a:r>
              <a:rPr lang="en-US" sz="1200" b="0" i="0" u="none" strike="noStrike" kern="1200" baseline="30000" dirty="0">
                <a:solidFill>
                  <a:schemeClr val="tx1"/>
                </a:solidFill>
                <a:effectLst/>
                <a:latin typeface="+mn-lt"/>
                <a:ea typeface="+mn-ea"/>
                <a:cs typeface="+mn-cs"/>
              </a:rPr>
              <a:t>rd</a:t>
            </a:r>
            <a:r>
              <a:rPr lang="en-US" sz="1200" b="0" i="0" u="none" strike="noStrike" kern="1200" dirty="0">
                <a:solidFill>
                  <a:schemeClr val="tx1"/>
                </a:solidFill>
                <a:effectLst/>
                <a:latin typeface="+mn-lt"/>
                <a:ea typeface="+mn-ea"/>
                <a:cs typeface="+mn-cs"/>
              </a:rPr>
              <a:t> or 4</a:t>
            </a:r>
            <a:r>
              <a:rPr lang="en-US" sz="1200" b="0" i="0" u="none" strike="noStrike" kern="1200" baseline="30000" dirty="0">
                <a:solidFill>
                  <a:schemeClr val="tx1"/>
                </a:solidFill>
                <a:effectLst/>
                <a:latin typeface="+mn-lt"/>
                <a:ea typeface="+mn-ea"/>
                <a:cs typeface="+mn-cs"/>
              </a:rPr>
              <a:t>th</a:t>
            </a:r>
            <a:r>
              <a:rPr lang="en-US" sz="1200" b="0" i="0" u="none" strike="noStrike" kern="1200" dirty="0">
                <a:solidFill>
                  <a:schemeClr val="tx1"/>
                </a:solidFill>
                <a:effectLst/>
                <a:latin typeface="+mn-lt"/>
                <a:ea typeface="+mn-ea"/>
                <a:cs typeface="+mn-cs"/>
              </a:rPr>
              <a:t> generation formulation if my patient is concerned/complaining of androgenic side effects to their current COC. If, however, the patient is happy with their method and it happens to be a 1</a:t>
            </a:r>
            <a:r>
              <a:rPr lang="en-US" sz="1200" b="0" i="0" u="none" strike="noStrike" kern="1200" baseline="30000" dirty="0">
                <a:solidFill>
                  <a:schemeClr val="tx1"/>
                </a:solidFill>
                <a:effectLst/>
                <a:latin typeface="+mn-lt"/>
                <a:ea typeface="+mn-ea"/>
                <a:cs typeface="+mn-cs"/>
              </a:rPr>
              <a:t>st</a:t>
            </a:r>
            <a:r>
              <a:rPr lang="en-US" sz="1200" b="0" i="0" u="none" strike="noStrike" kern="1200" dirty="0">
                <a:solidFill>
                  <a:schemeClr val="tx1"/>
                </a:solidFill>
                <a:effectLst/>
                <a:latin typeface="+mn-lt"/>
                <a:ea typeface="+mn-ea"/>
                <a:cs typeface="+mn-cs"/>
              </a:rPr>
              <a:t> or 2</a:t>
            </a:r>
            <a:r>
              <a:rPr lang="en-US" sz="1200" b="0" i="0" u="none" strike="noStrike" kern="1200" baseline="30000" dirty="0">
                <a:solidFill>
                  <a:schemeClr val="tx1"/>
                </a:solidFill>
                <a:effectLst/>
                <a:latin typeface="+mn-lt"/>
                <a:ea typeface="+mn-ea"/>
                <a:cs typeface="+mn-cs"/>
              </a:rPr>
              <a:t>nd</a:t>
            </a:r>
            <a:r>
              <a:rPr lang="en-US" sz="1200" b="0" i="0" u="none" strike="noStrike" kern="1200" dirty="0">
                <a:solidFill>
                  <a:schemeClr val="tx1"/>
                </a:solidFill>
                <a:effectLst/>
                <a:latin typeface="+mn-lt"/>
                <a:ea typeface="+mn-ea"/>
                <a:cs typeface="+mn-cs"/>
              </a:rPr>
              <a:t> generation formulation, you may want to just continue the current method. </a:t>
            </a:r>
            <a:endParaRPr lang="en-US" dirty="0"/>
          </a:p>
        </p:txBody>
      </p:sp>
      <p:sp>
        <p:nvSpPr>
          <p:cNvPr id="4" name="Slide Number Placeholder 3"/>
          <p:cNvSpPr>
            <a:spLocks noGrp="1"/>
          </p:cNvSpPr>
          <p:nvPr>
            <p:ph type="sldNum" sz="quarter" idx="5"/>
          </p:nvPr>
        </p:nvSpPr>
        <p:spPr/>
        <p:txBody>
          <a:bodyPr/>
          <a:lstStyle/>
          <a:p>
            <a:fld id="{1B9C5118-9DC0-BF44-83A5-A0B212376A6E}" type="slidenum">
              <a:rPr lang="en-US" smtClean="0"/>
              <a:t>4</a:t>
            </a:fld>
            <a:endParaRPr lang="en-US"/>
          </a:p>
        </p:txBody>
      </p:sp>
    </p:spTree>
    <p:extLst>
      <p:ext uri="{BB962C8B-B14F-4D97-AF65-F5344CB8AC3E}">
        <p14:creationId xmlns:p14="http://schemas.microsoft.com/office/powerpoint/2010/main" val="5949500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First ask the audience what might be some contraindications to estrogen use?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addition to documenting medical problems, all medications/vitamins/supplements/herbals, and reviewing allergies, be sure to ask about the following to assess the safety of estrogen-containing methods. You want to narrow down possible options by excluding what the patient cannot have. </a:t>
            </a:r>
          </a:p>
          <a:p>
            <a:pPr lvl="0"/>
            <a:r>
              <a:rPr lang="en-US" sz="1200" kern="1200" dirty="0">
                <a:solidFill>
                  <a:schemeClr val="tx1"/>
                </a:solidFill>
                <a:effectLst/>
                <a:latin typeface="+mn-lt"/>
                <a:ea typeface="+mn-ea"/>
                <a:cs typeface="+mn-cs"/>
              </a:rPr>
              <a:t>Smoking status</a:t>
            </a:r>
          </a:p>
          <a:p>
            <a:pPr lvl="0"/>
            <a:r>
              <a:rPr lang="en-US" sz="1200" kern="1200" dirty="0">
                <a:solidFill>
                  <a:schemeClr val="tx1"/>
                </a:solidFill>
                <a:effectLst/>
                <a:latin typeface="+mn-lt"/>
                <a:ea typeface="+mn-ea"/>
                <a:cs typeface="+mn-cs"/>
              </a:rPr>
              <a:t>History of cardiovascular conditions (hypertension, CAD, CVA) </a:t>
            </a:r>
          </a:p>
          <a:p>
            <a:pPr lvl="0"/>
            <a:r>
              <a:rPr lang="en-US" sz="1200" kern="1200" dirty="0">
                <a:solidFill>
                  <a:schemeClr val="tx1"/>
                </a:solidFill>
                <a:effectLst/>
                <a:latin typeface="+mn-lt"/>
                <a:ea typeface="+mn-ea"/>
                <a:cs typeface="+mn-cs"/>
              </a:rPr>
              <a:t>Migraine with aura (ask what the aura is)</a:t>
            </a:r>
          </a:p>
          <a:p>
            <a:pPr lvl="0"/>
            <a:r>
              <a:rPr lang="en-US" sz="1200" kern="1200" dirty="0">
                <a:solidFill>
                  <a:schemeClr val="tx1"/>
                </a:solidFill>
                <a:effectLst/>
                <a:latin typeface="+mn-lt"/>
                <a:ea typeface="+mn-ea"/>
                <a:cs typeface="+mn-cs"/>
              </a:rPr>
              <a:t>Personal/family history of clotting disorders/VTE</a:t>
            </a:r>
          </a:p>
          <a:p>
            <a:pPr lvl="0"/>
            <a:r>
              <a:rPr lang="en-US" sz="1200" kern="1200" dirty="0">
                <a:solidFill>
                  <a:schemeClr val="tx1"/>
                </a:solidFill>
                <a:effectLst/>
                <a:latin typeface="+mn-lt"/>
                <a:ea typeface="+mn-ea"/>
                <a:cs typeface="+mn-cs"/>
              </a:rPr>
              <a:t>Personal or family history of breast cancer and other hormone-responsive cancers (endometrial)</a:t>
            </a:r>
          </a:p>
          <a:p>
            <a:pPr lvl="0"/>
            <a:r>
              <a:rPr lang="en-US" sz="1200" kern="1200" dirty="0">
                <a:solidFill>
                  <a:schemeClr val="tx1"/>
                </a:solidFill>
                <a:effectLst/>
                <a:latin typeface="+mn-lt"/>
                <a:ea typeface="+mn-ea"/>
                <a:cs typeface="+mn-cs"/>
              </a:rPr>
              <a:t>Patient’s BMI as BMI &gt;30 is a relative contraindication for the hormonal patch as well as plan B due to decreased efficacy</a:t>
            </a:r>
          </a:p>
          <a:p>
            <a:pPr lvl="0"/>
            <a:r>
              <a:rPr lang="en-US" sz="1200" kern="1200" dirty="0">
                <a:solidFill>
                  <a:schemeClr val="tx1"/>
                </a:solidFill>
                <a:effectLst/>
                <a:latin typeface="+mn-lt"/>
                <a:ea typeface="+mn-ea"/>
                <a:cs typeface="+mn-cs"/>
              </a:rPr>
              <a:t>Side note: Cervical cancer and known uterine anatomic abnormalities (</a:t>
            </a:r>
            <a:r>
              <a:rPr lang="en-US" sz="1200" kern="1200" dirty="0" err="1">
                <a:solidFill>
                  <a:schemeClr val="tx1"/>
                </a:solidFill>
                <a:effectLst/>
                <a:latin typeface="+mn-lt"/>
                <a:ea typeface="+mn-ea"/>
                <a:cs typeface="+mn-cs"/>
              </a:rPr>
              <a:t>ie</a:t>
            </a:r>
            <a:r>
              <a:rPr lang="en-US" sz="1200" kern="1200" dirty="0">
                <a:solidFill>
                  <a:schemeClr val="tx1"/>
                </a:solidFill>
                <a:effectLst/>
                <a:latin typeface="+mn-lt"/>
                <a:ea typeface="+mn-ea"/>
                <a:cs typeface="+mn-cs"/>
              </a:rPr>
              <a:t>. Known bicornate uterus) is a contraindication for IUD placement.</a:t>
            </a:r>
          </a:p>
          <a:p>
            <a:pPr lvl="0"/>
            <a:r>
              <a:rPr lang="en-US" sz="1200" kern="1200" dirty="0">
                <a:solidFill>
                  <a:schemeClr val="tx1"/>
                </a:solidFill>
                <a:effectLst/>
                <a:latin typeface="+mn-lt"/>
                <a:ea typeface="+mn-ea"/>
                <a:cs typeface="+mn-cs"/>
              </a:rPr>
              <a:t>This history taking section is a great opportunity to offer STI screening and counseling!</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For more information on contraindications for specific conditions, see the CDC’s Classifications for Combined Hormonal Contraceptives: </a:t>
            </a:r>
            <a:r>
              <a:rPr lang="en-US" sz="1200" u="sng" kern="1200" dirty="0">
                <a:solidFill>
                  <a:schemeClr val="tx1"/>
                </a:solidFill>
                <a:effectLst/>
                <a:latin typeface="+mn-lt"/>
                <a:ea typeface="+mn-ea"/>
                <a:cs typeface="+mn-cs"/>
                <a:hlinkClick r:id="rId3"/>
              </a:rPr>
              <a:t>https://www.cdc.gov/reproductivehealth/contraception/mmwr/mec/appendixd.html</a:t>
            </a:r>
            <a:endParaRPr lang="en-US" sz="1200" u="sng" kern="1200" dirty="0">
              <a:solidFill>
                <a:schemeClr val="tx1"/>
              </a:solidFill>
              <a:effectLst/>
              <a:latin typeface="+mn-lt"/>
              <a:ea typeface="+mn-ea"/>
              <a:cs typeface="+mn-cs"/>
            </a:endParaRPr>
          </a:p>
          <a:p>
            <a:endParaRPr lang="en-US" sz="1200" u="sng" kern="1200" dirty="0">
              <a:solidFill>
                <a:schemeClr val="tx1"/>
              </a:solidFill>
              <a:effectLst/>
              <a:latin typeface="+mn-lt"/>
              <a:ea typeface="+mn-ea"/>
              <a:cs typeface="+mn-cs"/>
            </a:endParaRPr>
          </a:p>
          <a:p>
            <a:r>
              <a:rPr lang="en-US" b="0" i="0" dirty="0">
                <a:solidFill>
                  <a:srgbClr val="222222"/>
                </a:solidFill>
                <a:effectLst/>
                <a:latin typeface="Arial" panose="020B0604020202020204" pitchFamily="34" charset="0"/>
              </a:rPr>
              <a:t>Centers for Disease Control and Prevention (CDC. (2011). Update to CDC's US Medical Eligibility Criteria for Contraceptive Use, 2010: revised recommendations for the use of contraceptive methods during the postpartum period. </a:t>
            </a:r>
            <a:r>
              <a:rPr lang="en-US" b="0" i="1" dirty="0">
                <a:solidFill>
                  <a:srgbClr val="222222"/>
                </a:solidFill>
                <a:effectLst/>
                <a:latin typeface="Arial" panose="020B0604020202020204" pitchFamily="34" charset="0"/>
              </a:rPr>
              <a:t>MMWR. Morbidity and mortality weekly report</a:t>
            </a:r>
            <a:r>
              <a:rPr lang="en-US" b="0" i="0" dirty="0">
                <a:solidFill>
                  <a:srgbClr val="222222"/>
                </a:solidFill>
                <a:effectLst/>
                <a:latin typeface="Arial" panose="020B0604020202020204" pitchFamily="34" charset="0"/>
              </a:rPr>
              <a:t>, </a:t>
            </a:r>
            <a:r>
              <a:rPr lang="en-US" b="0" i="1" dirty="0">
                <a:solidFill>
                  <a:srgbClr val="222222"/>
                </a:solidFill>
                <a:effectLst/>
                <a:latin typeface="Arial" panose="020B0604020202020204" pitchFamily="34" charset="0"/>
              </a:rPr>
              <a:t>60</a:t>
            </a:r>
            <a:r>
              <a:rPr lang="en-US" b="0" i="0" dirty="0">
                <a:solidFill>
                  <a:srgbClr val="222222"/>
                </a:solidFill>
                <a:effectLst/>
                <a:latin typeface="Arial" panose="020B0604020202020204" pitchFamily="34" charset="0"/>
              </a:rPr>
              <a:t>(26), 878-883.</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pPr lvl="0"/>
            <a:r>
              <a:rPr lang="en-US" sz="1200" kern="1200" dirty="0" err="1">
                <a:solidFill>
                  <a:schemeClr val="tx1"/>
                </a:solidFill>
                <a:effectLst/>
                <a:latin typeface="+mn-lt"/>
                <a:ea typeface="+mn-ea"/>
                <a:cs typeface="+mn-cs"/>
              </a:rPr>
              <a:t>Dehlendorf</a:t>
            </a:r>
            <a:r>
              <a:rPr lang="en-US" sz="1200" kern="1200" dirty="0">
                <a:solidFill>
                  <a:schemeClr val="tx1"/>
                </a:solidFill>
                <a:effectLst/>
                <a:latin typeface="+mn-lt"/>
                <a:ea typeface="+mn-ea"/>
                <a:cs typeface="+mn-cs"/>
              </a:rPr>
              <a:t>, C. Contraception: Counseling and Selection. In: </a:t>
            </a:r>
            <a:r>
              <a:rPr lang="en-US" sz="1200" kern="1200" dirty="0" err="1">
                <a:solidFill>
                  <a:schemeClr val="tx1"/>
                </a:solidFill>
                <a:effectLst/>
                <a:latin typeface="+mn-lt"/>
                <a:ea typeface="+mn-ea"/>
                <a:cs typeface="+mn-cs"/>
              </a:rPr>
              <a:t>Shreiber</a:t>
            </a:r>
            <a:r>
              <a:rPr lang="en-US" sz="1200" kern="1200" dirty="0">
                <a:solidFill>
                  <a:schemeClr val="tx1"/>
                </a:solidFill>
                <a:effectLst/>
                <a:latin typeface="+mn-lt"/>
                <a:ea typeface="+mn-ea"/>
                <a:cs typeface="+mn-cs"/>
              </a:rPr>
              <a:t>, C., Eckler, K, ed. </a:t>
            </a:r>
            <a:r>
              <a:rPr lang="en-US" sz="1200" i="1" kern="1200" dirty="0">
                <a:solidFill>
                  <a:schemeClr val="tx1"/>
                </a:solidFill>
                <a:effectLst/>
                <a:latin typeface="+mn-lt"/>
                <a:ea typeface="+mn-ea"/>
                <a:cs typeface="+mn-cs"/>
              </a:rPr>
              <a:t>UpToDate</a:t>
            </a:r>
            <a:r>
              <a:rPr lang="en-US" sz="1200" kern="1200" dirty="0">
                <a:solidFill>
                  <a:schemeClr val="tx1"/>
                </a:solidFill>
                <a:effectLst/>
                <a:latin typeface="+mn-lt"/>
                <a:ea typeface="+mn-ea"/>
                <a:cs typeface="+mn-cs"/>
              </a:rPr>
              <a:t>. UpToDate, 2020. Accessed July 31, 2021. </a:t>
            </a:r>
            <a:r>
              <a:rPr lang="en-US" sz="1200" u="sng" kern="1200" dirty="0">
                <a:solidFill>
                  <a:schemeClr val="tx1"/>
                </a:solidFill>
                <a:effectLst/>
                <a:latin typeface="+mn-lt"/>
                <a:ea typeface="+mn-ea"/>
                <a:cs typeface="+mn-cs"/>
                <a:hlinkClick r:id="rId4"/>
              </a:rPr>
              <a:t>www.uptodate.com</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Samuelson </a:t>
            </a:r>
            <a:r>
              <a:rPr lang="en-US" sz="1200" kern="1200" dirty="0" err="1">
                <a:solidFill>
                  <a:schemeClr val="tx1"/>
                </a:solidFill>
                <a:effectLst/>
                <a:latin typeface="+mn-lt"/>
                <a:ea typeface="+mn-ea"/>
                <a:cs typeface="+mn-cs"/>
              </a:rPr>
              <a:t>Bannow</a:t>
            </a:r>
            <a:r>
              <a:rPr lang="en-US" sz="1200" kern="1200" dirty="0">
                <a:solidFill>
                  <a:schemeClr val="tx1"/>
                </a:solidFill>
                <a:effectLst/>
                <a:latin typeface="+mn-lt"/>
                <a:ea typeface="+mn-ea"/>
                <a:cs typeface="+mn-cs"/>
              </a:rPr>
              <a:t>, B., Grant, K., </a:t>
            </a:r>
            <a:r>
              <a:rPr lang="en-US" sz="1200" kern="1200" dirty="0" err="1">
                <a:solidFill>
                  <a:schemeClr val="tx1"/>
                </a:solidFill>
                <a:effectLst/>
                <a:latin typeface="+mn-lt"/>
                <a:ea typeface="+mn-ea"/>
                <a:cs typeface="+mn-cs"/>
              </a:rPr>
              <a:t>Watto</a:t>
            </a:r>
            <a:r>
              <a:rPr lang="en-US" sz="1200" kern="1200" dirty="0">
                <a:solidFill>
                  <a:schemeClr val="tx1"/>
                </a:solidFill>
                <a:effectLst/>
                <a:latin typeface="+mn-lt"/>
                <a:ea typeface="+mn-ea"/>
                <a:cs typeface="+mn-cs"/>
              </a:rPr>
              <a:t>, M, Williams, P., </a:t>
            </a:r>
            <a:r>
              <a:rPr lang="en-US" sz="1200" kern="1200" dirty="0" err="1">
                <a:solidFill>
                  <a:schemeClr val="tx1"/>
                </a:solidFill>
                <a:effectLst/>
                <a:latin typeface="+mn-lt"/>
                <a:ea typeface="+mn-ea"/>
                <a:cs typeface="+mn-cs"/>
              </a:rPr>
              <a:t>O’Glasser</a:t>
            </a:r>
            <a:r>
              <a:rPr lang="en-US" sz="1200" kern="1200" dirty="0">
                <a:solidFill>
                  <a:schemeClr val="tx1"/>
                </a:solidFill>
                <a:effectLst/>
                <a:latin typeface="+mn-lt"/>
                <a:ea typeface="+mn-ea"/>
                <a:cs typeface="+mn-cs"/>
              </a:rPr>
              <a:t>, A. Heavy Menstrual Bleeding, Anticoagulation &amp; Coagulopathy in Menstruating Patients. </a:t>
            </a:r>
            <a:r>
              <a:rPr lang="en-US" sz="1200" i="1" kern="1200" dirty="0">
                <a:solidFill>
                  <a:schemeClr val="tx1"/>
                </a:solidFill>
                <a:effectLst/>
                <a:latin typeface="+mn-lt"/>
                <a:ea typeface="+mn-ea"/>
                <a:cs typeface="+mn-cs"/>
              </a:rPr>
              <a:t>The </a:t>
            </a:r>
            <a:r>
              <a:rPr lang="en-US" sz="1200" i="1" kern="1200" dirty="0" err="1">
                <a:solidFill>
                  <a:schemeClr val="tx1"/>
                </a:solidFill>
                <a:effectLst/>
                <a:latin typeface="+mn-lt"/>
                <a:ea typeface="+mn-ea"/>
                <a:cs typeface="+mn-cs"/>
              </a:rPr>
              <a:t>Curbsiders</a:t>
            </a:r>
            <a:r>
              <a:rPr lang="en-US" sz="1200" kern="1200" dirty="0">
                <a:solidFill>
                  <a:schemeClr val="tx1"/>
                </a:solidFill>
                <a:effectLst/>
                <a:latin typeface="+mn-lt"/>
                <a:ea typeface="+mn-ea"/>
                <a:cs typeface="+mn-cs"/>
              </a:rPr>
              <a:t>. 2021. Available at: </a:t>
            </a:r>
            <a:r>
              <a:rPr lang="en-US" sz="1200" u="sng" kern="1200" dirty="0">
                <a:solidFill>
                  <a:schemeClr val="tx1"/>
                </a:solidFill>
                <a:effectLst/>
                <a:latin typeface="+mn-lt"/>
                <a:ea typeface="+mn-ea"/>
                <a:cs typeface="+mn-cs"/>
                <a:hlinkClick r:id="rId5"/>
              </a:rPr>
              <a:t>https://thecurbsiders.com/podcast/280</a:t>
            </a:r>
            <a:r>
              <a:rPr lang="en-US" sz="1200" kern="1200" dirty="0">
                <a:solidFill>
                  <a:schemeClr val="tx1"/>
                </a:solidFill>
                <a:effectLst/>
                <a:latin typeface="+mn-lt"/>
                <a:ea typeface="+mn-ea"/>
                <a:cs typeface="+mn-cs"/>
              </a:rPr>
              <a:t>. Accessed June 21, 2021. </a:t>
            </a:r>
          </a:p>
          <a:p>
            <a:endParaRPr lang="en-US" dirty="0"/>
          </a:p>
        </p:txBody>
      </p:sp>
      <p:sp>
        <p:nvSpPr>
          <p:cNvPr id="4" name="Slide Number Placeholder 3"/>
          <p:cNvSpPr>
            <a:spLocks noGrp="1"/>
          </p:cNvSpPr>
          <p:nvPr>
            <p:ph type="sldNum" sz="quarter" idx="5"/>
          </p:nvPr>
        </p:nvSpPr>
        <p:spPr/>
        <p:txBody>
          <a:bodyPr/>
          <a:lstStyle/>
          <a:p>
            <a:fld id="{1B9C5118-9DC0-BF44-83A5-A0B212376A6E}" type="slidenum">
              <a:rPr lang="en-US" smtClean="0"/>
              <a:t>5</a:t>
            </a:fld>
            <a:endParaRPr lang="en-US"/>
          </a:p>
        </p:txBody>
      </p:sp>
    </p:spTree>
    <p:extLst>
      <p:ext uri="{BB962C8B-B14F-4D97-AF65-F5344CB8AC3E}">
        <p14:creationId xmlns:p14="http://schemas.microsoft.com/office/powerpoint/2010/main" val="8786821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Since a urine pregnancy test can take up to 14 days after fertilization occurs to become positive (it can take up to 10 days for a serum </a:t>
            </a:r>
            <a:r>
              <a:rPr lang="en-US" sz="1200" kern="1200" err="1">
                <a:solidFill>
                  <a:schemeClr val="tx1"/>
                </a:solidFill>
                <a:effectLst/>
                <a:latin typeface="+mn-lt"/>
                <a:ea typeface="+mn-ea"/>
                <a:cs typeface="+mn-cs"/>
              </a:rPr>
              <a:t>hCG</a:t>
            </a:r>
            <a:r>
              <a:rPr lang="en-US" sz="1200" kern="1200">
                <a:solidFill>
                  <a:schemeClr val="tx1"/>
                </a:solidFill>
                <a:effectLst/>
                <a:latin typeface="+mn-lt"/>
                <a:ea typeface="+mn-ea"/>
                <a:cs typeface="+mn-cs"/>
              </a:rPr>
              <a:t> test as well), if someone has had unprotected sex after their LMP and is outside of the 5-day window for emergency contraception, may wish to practice caution despite a negative UPT and consider an alternative form of contraception for 2 weeks to confirm negative pregnancy prior to placing an IUD. </a:t>
            </a:r>
          </a:p>
          <a:p>
            <a:r>
              <a:rPr lang="en-US" sz="1200" kern="1200">
                <a:solidFill>
                  <a:schemeClr val="tx1"/>
                </a:solidFill>
                <a:effectLst/>
                <a:latin typeface="+mn-lt"/>
                <a:ea typeface="+mn-ea"/>
                <a:cs typeface="+mn-cs"/>
              </a:rPr>
              <a:t> </a:t>
            </a:r>
          </a:p>
          <a:p>
            <a:r>
              <a:rPr lang="en-US" sz="1200" kern="1200">
                <a:solidFill>
                  <a:schemeClr val="tx1"/>
                </a:solidFill>
                <a:effectLst/>
                <a:latin typeface="+mn-lt"/>
                <a:ea typeface="+mn-ea"/>
                <a:cs typeface="+mn-cs"/>
              </a:rPr>
              <a:t>Sources:</a:t>
            </a:r>
          </a:p>
          <a:p>
            <a:r>
              <a:rPr lang="en-US" sz="1200" kern="1200">
                <a:solidFill>
                  <a:schemeClr val="tx1"/>
                </a:solidFill>
                <a:effectLst/>
                <a:latin typeface="+mn-lt"/>
                <a:ea typeface="+mn-ea"/>
                <a:cs typeface="+mn-cs"/>
              </a:rPr>
              <a:t>Sanders JN, Howell L, Saltzman HM, Schwarz EB, Thompson IS, </a:t>
            </a:r>
            <a:r>
              <a:rPr lang="en-US" sz="1200" kern="1200" err="1">
                <a:solidFill>
                  <a:schemeClr val="tx1"/>
                </a:solidFill>
                <a:effectLst/>
                <a:latin typeface="+mn-lt"/>
                <a:ea typeface="+mn-ea"/>
                <a:cs typeface="+mn-cs"/>
              </a:rPr>
              <a:t>Turok</a:t>
            </a:r>
            <a:r>
              <a:rPr lang="en-US" sz="1200" kern="1200">
                <a:solidFill>
                  <a:schemeClr val="tx1"/>
                </a:solidFill>
                <a:effectLst/>
                <a:latin typeface="+mn-lt"/>
                <a:ea typeface="+mn-ea"/>
                <a:cs typeface="+mn-cs"/>
              </a:rPr>
              <a:t> DK. Unprotected intercourse in the 2 weeks prior to requesting emergency intrauterine contraception. Am J </a:t>
            </a:r>
            <a:r>
              <a:rPr lang="en-US" sz="1200" kern="1200" err="1">
                <a:solidFill>
                  <a:schemeClr val="tx1"/>
                </a:solidFill>
                <a:effectLst/>
                <a:latin typeface="+mn-lt"/>
                <a:ea typeface="+mn-ea"/>
                <a:cs typeface="+mn-cs"/>
              </a:rPr>
              <a:t>Obstet</a:t>
            </a:r>
            <a:r>
              <a:rPr lang="en-US" sz="1200" kern="1200">
                <a:solidFill>
                  <a:schemeClr val="tx1"/>
                </a:solidFill>
                <a:effectLst/>
                <a:latin typeface="+mn-lt"/>
                <a:ea typeface="+mn-ea"/>
                <a:cs typeface="+mn-cs"/>
              </a:rPr>
              <a:t> Gynecol. 2016 Nov;215(5):592.e1-592.e5. </a:t>
            </a:r>
            <a:r>
              <a:rPr lang="en-US" sz="1200" kern="1200" err="1">
                <a:solidFill>
                  <a:schemeClr val="tx1"/>
                </a:solidFill>
                <a:effectLst/>
                <a:latin typeface="+mn-lt"/>
                <a:ea typeface="+mn-ea"/>
                <a:cs typeface="+mn-cs"/>
              </a:rPr>
              <a:t>doi</a:t>
            </a:r>
            <a:r>
              <a:rPr lang="en-US" sz="1200" kern="1200">
                <a:solidFill>
                  <a:schemeClr val="tx1"/>
                </a:solidFill>
                <a:effectLst/>
                <a:latin typeface="+mn-lt"/>
                <a:ea typeface="+mn-ea"/>
                <a:cs typeface="+mn-cs"/>
              </a:rPr>
              <a:t>: 10.1016/j.ajog.2016.06.028. </a:t>
            </a:r>
            <a:r>
              <a:rPr lang="en-US" sz="1200" kern="1200" err="1">
                <a:solidFill>
                  <a:schemeClr val="tx1"/>
                </a:solidFill>
                <a:effectLst/>
                <a:latin typeface="+mn-lt"/>
                <a:ea typeface="+mn-ea"/>
                <a:cs typeface="+mn-cs"/>
              </a:rPr>
              <a:t>Epub</a:t>
            </a:r>
            <a:r>
              <a:rPr lang="en-US" sz="1200" kern="1200">
                <a:solidFill>
                  <a:schemeClr val="tx1"/>
                </a:solidFill>
                <a:effectLst/>
                <a:latin typeface="+mn-lt"/>
                <a:ea typeface="+mn-ea"/>
                <a:cs typeface="+mn-cs"/>
              </a:rPr>
              <a:t> 2016 Jun 24. PMID: 27349294. Available at </a:t>
            </a:r>
            <a:r>
              <a:rPr lang="en-US" sz="1200" u="sng" kern="1200">
                <a:solidFill>
                  <a:schemeClr val="tx1"/>
                </a:solidFill>
                <a:effectLst/>
                <a:latin typeface="+mn-lt"/>
                <a:ea typeface="+mn-ea"/>
                <a:cs typeface="+mn-cs"/>
                <a:hlinkClick r:id="rId3"/>
              </a:rPr>
              <a:t>https://pubmed.ncbi.nlm.nih.gov/27349294/</a:t>
            </a:r>
            <a:endParaRPr lang="en-US" sz="1200" u="sng" kern="1200">
              <a:solidFill>
                <a:schemeClr val="tx1"/>
              </a:solidFill>
              <a:effectLst/>
              <a:latin typeface="+mn-lt"/>
              <a:ea typeface="+mn-ea"/>
              <a:cs typeface="+mn-cs"/>
            </a:endParaRPr>
          </a:p>
          <a:p>
            <a:r>
              <a:rPr lang="en-US" sz="1200" kern="1200">
                <a:solidFill>
                  <a:schemeClr val="tx1"/>
                </a:solidFill>
                <a:effectLst/>
                <a:latin typeface="+mn-lt"/>
                <a:ea typeface="+mn-ea"/>
                <a:cs typeface="+mn-cs"/>
              </a:rPr>
              <a:t>Also discussed here:</a:t>
            </a:r>
          </a:p>
          <a:p>
            <a:r>
              <a:rPr lang="en-US" sz="1200" u="sng" kern="1200">
                <a:solidFill>
                  <a:schemeClr val="tx1"/>
                </a:solidFill>
                <a:effectLst/>
                <a:latin typeface="+mn-lt"/>
                <a:ea typeface="+mn-ea"/>
                <a:cs typeface="+mn-cs"/>
                <a:hlinkClick r:id="rId4"/>
              </a:rPr>
              <a:t>https://providers.bedsider.org/articles/clinical-minute-placing-an-iud-after-unprotected-sex</a:t>
            </a:r>
            <a:endParaRPr lang="en-US" sz="1200" kern="1200">
              <a:solidFill>
                <a:schemeClr val="tx1"/>
              </a:solidFill>
              <a:effectLst/>
              <a:latin typeface="+mn-lt"/>
              <a:ea typeface="+mn-ea"/>
              <a:cs typeface="+mn-cs"/>
            </a:endParaRPr>
          </a:p>
          <a:p>
            <a:endParaRPr lang="en-US" sz="1200" kern="1200">
              <a:solidFill>
                <a:schemeClr val="tx1"/>
              </a:solidFill>
              <a:effectLst/>
              <a:latin typeface="+mn-lt"/>
              <a:ea typeface="+mn-ea"/>
              <a:cs typeface="+mn-cs"/>
            </a:endParaRPr>
          </a:p>
          <a:p>
            <a:endParaRPr lang="en-US"/>
          </a:p>
        </p:txBody>
      </p:sp>
      <p:sp>
        <p:nvSpPr>
          <p:cNvPr id="4" name="Slide Number Placeholder 3"/>
          <p:cNvSpPr>
            <a:spLocks noGrp="1"/>
          </p:cNvSpPr>
          <p:nvPr>
            <p:ph type="sldNum" sz="quarter" idx="5"/>
          </p:nvPr>
        </p:nvSpPr>
        <p:spPr/>
        <p:txBody>
          <a:bodyPr/>
          <a:lstStyle/>
          <a:p>
            <a:fld id="{1B9C5118-9DC0-BF44-83A5-A0B212376A6E}" type="slidenum">
              <a:rPr lang="en-US" smtClean="0"/>
              <a:t>6</a:t>
            </a:fld>
            <a:endParaRPr lang="en-US"/>
          </a:p>
        </p:txBody>
      </p:sp>
    </p:spTree>
    <p:extLst>
      <p:ext uri="{BB962C8B-B14F-4D97-AF65-F5344CB8AC3E}">
        <p14:creationId xmlns:p14="http://schemas.microsoft.com/office/powerpoint/2010/main" val="40810635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B9C5118-9DC0-BF44-83A5-A0B212376A6E}" type="slidenum">
              <a:rPr lang="en-US" smtClean="0"/>
              <a:t>7</a:t>
            </a:fld>
            <a:endParaRPr lang="en-US"/>
          </a:p>
        </p:txBody>
      </p:sp>
    </p:spTree>
    <p:extLst>
      <p:ext uri="{BB962C8B-B14F-4D97-AF65-F5344CB8AC3E}">
        <p14:creationId xmlns:p14="http://schemas.microsoft.com/office/powerpoint/2010/main" val="26287422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B9C5118-9DC0-BF44-83A5-A0B212376A6E}" type="slidenum">
              <a:rPr lang="en-US" smtClean="0"/>
              <a:t>8</a:t>
            </a:fld>
            <a:endParaRPr lang="en-US"/>
          </a:p>
        </p:txBody>
      </p:sp>
    </p:spTree>
    <p:extLst>
      <p:ext uri="{BB962C8B-B14F-4D97-AF65-F5344CB8AC3E}">
        <p14:creationId xmlns:p14="http://schemas.microsoft.com/office/powerpoint/2010/main" val="5415606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A47A9-D53B-43D9-8708-4A4F9CD95E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B6AC791-CF7B-4E5A-829B-C1FEA7278E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E8A3820-9C64-4254-B706-D7655C8874F1}"/>
              </a:ext>
            </a:extLst>
          </p:cNvPr>
          <p:cNvSpPr>
            <a:spLocks noGrp="1"/>
          </p:cNvSpPr>
          <p:nvPr>
            <p:ph type="dt" sz="half" idx="10"/>
          </p:nvPr>
        </p:nvSpPr>
        <p:spPr/>
        <p:txBody>
          <a:bodyPr/>
          <a:lstStyle/>
          <a:p>
            <a:fld id="{0F84F14A-D76B-40B9-B3E4-3854EC9865A5}" type="datetimeFigureOut">
              <a:rPr lang="en-US" smtClean="0"/>
              <a:t>10/6/2022</a:t>
            </a:fld>
            <a:endParaRPr lang="en-US"/>
          </a:p>
        </p:txBody>
      </p:sp>
      <p:sp>
        <p:nvSpPr>
          <p:cNvPr id="5" name="Footer Placeholder 4">
            <a:extLst>
              <a:ext uri="{FF2B5EF4-FFF2-40B4-BE49-F238E27FC236}">
                <a16:creationId xmlns:a16="http://schemas.microsoft.com/office/drawing/2014/main" id="{DF6A3BB0-232D-4C30-81EA-22F1684365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054119-109B-45F1-AE71-24E5326EF81B}"/>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1252081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4F50C-21F5-4629-9EC6-785D86A735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58CE0E-9445-461F-9ECE-DDFCB30DE2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5AAB52-45BA-4DA5-8D42-A08F5258C10D}"/>
              </a:ext>
            </a:extLst>
          </p:cNvPr>
          <p:cNvSpPr>
            <a:spLocks noGrp="1"/>
          </p:cNvSpPr>
          <p:nvPr>
            <p:ph type="dt" sz="half" idx="10"/>
          </p:nvPr>
        </p:nvSpPr>
        <p:spPr/>
        <p:txBody>
          <a:bodyPr/>
          <a:lstStyle/>
          <a:p>
            <a:fld id="{0F84F14A-D76B-40B9-B3E4-3854EC9865A5}" type="datetimeFigureOut">
              <a:rPr lang="en-US" smtClean="0"/>
              <a:t>10/6/2022</a:t>
            </a:fld>
            <a:endParaRPr lang="en-US"/>
          </a:p>
        </p:txBody>
      </p:sp>
      <p:sp>
        <p:nvSpPr>
          <p:cNvPr id="5" name="Footer Placeholder 4">
            <a:extLst>
              <a:ext uri="{FF2B5EF4-FFF2-40B4-BE49-F238E27FC236}">
                <a16:creationId xmlns:a16="http://schemas.microsoft.com/office/drawing/2014/main" id="{1282237F-3FF5-4808-8FD5-00EF68EB1D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7A63D9-4B9C-4C5F-9F78-072EDC354ED5}"/>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34813013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EFD5A-4224-4D3C-B1F1-B90A847A5C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7EB6431-F589-4041-83A9-477647B3D2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06F8E7-1AA6-4BD7-A388-9A352EFFA539}"/>
              </a:ext>
            </a:extLst>
          </p:cNvPr>
          <p:cNvSpPr>
            <a:spLocks noGrp="1"/>
          </p:cNvSpPr>
          <p:nvPr>
            <p:ph type="dt" sz="half" idx="10"/>
          </p:nvPr>
        </p:nvSpPr>
        <p:spPr/>
        <p:txBody>
          <a:bodyPr/>
          <a:lstStyle/>
          <a:p>
            <a:fld id="{0F84F14A-D76B-40B9-B3E4-3854EC9865A5}" type="datetimeFigureOut">
              <a:rPr lang="en-US" smtClean="0"/>
              <a:t>10/6/2022</a:t>
            </a:fld>
            <a:endParaRPr lang="en-US"/>
          </a:p>
        </p:txBody>
      </p:sp>
      <p:sp>
        <p:nvSpPr>
          <p:cNvPr id="5" name="Footer Placeholder 4">
            <a:extLst>
              <a:ext uri="{FF2B5EF4-FFF2-40B4-BE49-F238E27FC236}">
                <a16:creationId xmlns:a16="http://schemas.microsoft.com/office/drawing/2014/main" id="{47D54B6F-EDE8-4FBE-9CCD-D1DA25653B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4CB8CD-7770-4694-A186-17FB1A0452A4}"/>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1460745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1048C-8CE6-4F5C-9D54-EEF648B5D0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51A9E7-68D0-4CAE-8EED-7E16296A61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93C60E-E3A3-43C5-9B70-2947682C4F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661302-CA24-440A-B4FF-2A215B8036C7}"/>
              </a:ext>
            </a:extLst>
          </p:cNvPr>
          <p:cNvSpPr>
            <a:spLocks noGrp="1"/>
          </p:cNvSpPr>
          <p:nvPr>
            <p:ph type="dt" sz="half" idx="10"/>
          </p:nvPr>
        </p:nvSpPr>
        <p:spPr/>
        <p:txBody>
          <a:bodyPr/>
          <a:lstStyle/>
          <a:p>
            <a:fld id="{0F84F14A-D76B-40B9-B3E4-3854EC9865A5}" type="datetimeFigureOut">
              <a:rPr lang="en-US" smtClean="0"/>
              <a:t>10/6/2022</a:t>
            </a:fld>
            <a:endParaRPr lang="en-US"/>
          </a:p>
        </p:txBody>
      </p:sp>
      <p:sp>
        <p:nvSpPr>
          <p:cNvPr id="6" name="Footer Placeholder 5">
            <a:extLst>
              <a:ext uri="{FF2B5EF4-FFF2-40B4-BE49-F238E27FC236}">
                <a16:creationId xmlns:a16="http://schemas.microsoft.com/office/drawing/2014/main" id="{4C7EEBFF-4BF8-4D9A-877C-4E5B15B3B2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B3C224-531D-4D5F-B138-C8C2DF558B55}"/>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3977382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275BB-BA8C-4CC9-93B3-4A118DAD385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4A6F770-99FF-4877-A6E4-801BCDCA79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173736-8DED-4689-9646-4FBAC9D97A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948A43-C6BB-4B91-88F4-AA4F08A7F1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F14354-CC40-406E-99F5-5BC15D383A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E7D4896-9FCB-4EF0-BFDF-E1D1B2FC7BF2}"/>
              </a:ext>
            </a:extLst>
          </p:cNvPr>
          <p:cNvSpPr>
            <a:spLocks noGrp="1"/>
          </p:cNvSpPr>
          <p:nvPr>
            <p:ph type="dt" sz="half" idx="10"/>
          </p:nvPr>
        </p:nvSpPr>
        <p:spPr/>
        <p:txBody>
          <a:bodyPr/>
          <a:lstStyle/>
          <a:p>
            <a:fld id="{0F84F14A-D76B-40B9-B3E4-3854EC9865A5}" type="datetimeFigureOut">
              <a:rPr lang="en-US" smtClean="0"/>
              <a:t>10/6/2022</a:t>
            </a:fld>
            <a:endParaRPr lang="en-US"/>
          </a:p>
        </p:txBody>
      </p:sp>
      <p:sp>
        <p:nvSpPr>
          <p:cNvPr id="8" name="Footer Placeholder 7">
            <a:extLst>
              <a:ext uri="{FF2B5EF4-FFF2-40B4-BE49-F238E27FC236}">
                <a16:creationId xmlns:a16="http://schemas.microsoft.com/office/drawing/2014/main" id="{7B12BA49-F00F-4AFE-AB38-3A00DBD1247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0F7A29B-38B0-4F09-BE1C-9FA194FABC25}"/>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12120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EDF8A-24FB-44E0-9F17-99FE29456C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4F6B9C-BC36-4C97-A0C2-298B31B7F242}"/>
              </a:ext>
            </a:extLst>
          </p:cNvPr>
          <p:cNvSpPr>
            <a:spLocks noGrp="1"/>
          </p:cNvSpPr>
          <p:nvPr>
            <p:ph type="dt" sz="half" idx="10"/>
          </p:nvPr>
        </p:nvSpPr>
        <p:spPr/>
        <p:txBody>
          <a:bodyPr/>
          <a:lstStyle/>
          <a:p>
            <a:fld id="{0F84F14A-D76B-40B9-B3E4-3854EC9865A5}" type="datetimeFigureOut">
              <a:rPr lang="en-US" smtClean="0"/>
              <a:t>10/6/2022</a:t>
            </a:fld>
            <a:endParaRPr lang="en-US"/>
          </a:p>
        </p:txBody>
      </p:sp>
      <p:sp>
        <p:nvSpPr>
          <p:cNvPr id="4" name="Footer Placeholder 3">
            <a:extLst>
              <a:ext uri="{FF2B5EF4-FFF2-40B4-BE49-F238E27FC236}">
                <a16:creationId xmlns:a16="http://schemas.microsoft.com/office/drawing/2014/main" id="{D275006E-543E-470E-A609-8F2C7C4FA14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E5B6329-5671-4FC1-9965-4613377B21FF}"/>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2657071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27B9BC-B772-43F8-B4FC-CF88D87B4201}"/>
              </a:ext>
            </a:extLst>
          </p:cNvPr>
          <p:cNvSpPr>
            <a:spLocks noGrp="1"/>
          </p:cNvSpPr>
          <p:nvPr>
            <p:ph type="dt" sz="half" idx="10"/>
          </p:nvPr>
        </p:nvSpPr>
        <p:spPr/>
        <p:txBody>
          <a:bodyPr/>
          <a:lstStyle/>
          <a:p>
            <a:fld id="{0F84F14A-D76B-40B9-B3E4-3854EC9865A5}" type="datetimeFigureOut">
              <a:rPr lang="en-US" smtClean="0"/>
              <a:t>10/6/2022</a:t>
            </a:fld>
            <a:endParaRPr lang="en-US"/>
          </a:p>
        </p:txBody>
      </p:sp>
      <p:sp>
        <p:nvSpPr>
          <p:cNvPr id="3" name="Footer Placeholder 2">
            <a:extLst>
              <a:ext uri="{FF2B5EF4-FFF2-40B4-BE49-F238E27FC236}">
                <a16:creationId xmlns:a16="http://schemas.microsoft.com/office/drawing/2014/main" id="{6148AABF-8B66-415F-B026-058588D738E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9B94FAD-0F36-4D49-8D81-BC7EBBED37D3}"/>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3788563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4225D-6212-45BF-9127-F3496C1950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C776053-9083-4DB1-AC75-EEAFE66D1A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DFCAA03-47AC-448C-BD62-44DFDB1CAF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7466D0-E4EF-4DF9-8096-64AA0A64889E}"/>
              </a:ext>
            </a:extLst>
          </p:cNvPr>
          <p:cNvSpPr>
            <a:spLocks noGrp="1"/>
          </p:cNvSpPr>
          <p:nvPr>
            <p:ph type="dt" sz="half" idx="10"/>
          </p:nvPr>
        </p:nvSpPr>
        <p:spPr/>
        <p:txBody>
          <a:bodyPr/>
          <a:lstStyle/>
          <a:p>
            <a:fld id="{0F84F14A-D76B-40B9-B3E4-3854EC9865A5}" type="datetimeFigureOut">
              <a:rPr lang="en-US" smtClean="0"/>
              <a:t>10/6/2022</a:t>
            </a:fld>
            <a:endParaRPr lang="en-US"/>
          </a:p>
        </p:txBody>
      </p:sp>
      <p:sp>
        <p:nvSpPr>
          <p:cNvPr id="6" name="Footer Placeholder 5">
            <a:extLst>
              <a:ext uri="{FF2B5EF4-FFF2-40B4-BE49-F238E27FC236}">
                <a16:creationId xmlns:a16="http://schemas.microsoft.com/office/drawing/2014/main" id="{9BD45805-0774-4915-B57B-553C8A9B7F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04D829-266E-48F1-BED7-DD6BB3E4B33F}"/>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3542342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66985-27E5-4F8C-BF91-22DEDCF51D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E4F96F4-60CE-40AC-AE3F-7773EA4447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8A837F7-B670-4DDC-AFE1-EBA1784FB4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C39E62-6360-48A5-B5FE-258587AB417D}"/>
              </a:ext>
            </a:extLst>
          </p:cNvPr>
          <p:cNvSpPr>
            <a:spLocks noGrp="1"/>
          </p:cNvSpPr>
          <p:nvPr>
            <p:ph type="dt" sz="half" idx="10"/>
          </p:nvPr>
        </p:nvSpPr>
        <p:spPr/>
        <p:txBody>
          <a:bodyPr/>
          <a:lstStyle/>
          <a:p>
            <a:fld id="{0F84F14A-D76B-40B9-B3E4-3854EC9865A5}" type="datetimeFigureOut">
              <a:rPr lang="en-US" smtClean="0"/>
              <a:t>10/6/2022</a:t>
            </a:fld>
            <a:endParaRPr lang="en-US"/>
          </a:p>
        </p:txBody>
      </p:sp>
      <p:sp>
        <p:nvSpPr>
          <p:cNvPr id="6" name="Footer Placeholder 5">
            <a:extLst>
              <a:ext uri="{FF2B5EF4-FFF2-40B4-BE49-F238E27FC236}">
                <a16:creationId xmlns:a16="http://schemas.microsoft.com/office/drawing/2014/main" id="{E5728423-8843-4CD6-A271-610D923268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BC43CA-DAE0-4E68-99E5-FF49B44A1558}"/>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4181710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8CC0A-32B2-4D6B-A976-152A5A6BB2D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3C7FAE1-E8C3-4A04-99E1-FC26CF51F3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0D4EBF-9BC0-48F9-BBA1-256AA7B449F0}"/>
              </a:ext>
            </a:extLst>
          </p:cNvPr>
          <p:cNvSpPr>
            <a:spLocks noGrp="1"/>
          </p:cNvSpPr>
          <p:nvPr>
            <p:ph type="dt" sz="half" idx="10"/>
          </p:nvPr>
        </p:nvSpPr>
        <p:spPr/>
        <p:txBody>
          <a:bodyPr/>
          <a:lstStyle/>
          <a:p>
            <a:fld id="{0F84F14A-D76B-40B9-B3E4-3854EC9865A5}" type="datetimeFigureOut">
              <a:rPr lang="en-US" smtClean="0"/>
              <a:t>10/6/2022</a:t>
            </a:fld>
            <a:endParaRPr lang="en-US"/>
          </a:p>
        </p:txBody>
      </p:sp>
      <p:sp>
        <p:nvSpPr>
          <p:cNvPr id="5" name="Footer Placeholder 4">
            <a:extLst>
              <a:ext uri="{FF2B5EF4-FFF2-40B4-BE49-F238E27FC236}">
                <a16:creationId xmlns:a16="http://schemas.microsoft.com/office/drawing/2014/main" id="{409FBAC2-A8AA-4365-8035-E8139DCAB9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A6C765-A941-41A8-ACE1-FC7EEB923CF8}"/>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1759857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BA6490-5CB4-4007-BF9C-C0B9BBFD82C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AEA637B-55D1-4FD6-8826-8107FE6954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F3F6E6-4340-45E1-8E17-57FEF9878CE3}"/>
              </a:ext>
            </a:extLst>
          </p:cNvPr>
          <p:cNvSpPr>
            <a:spLocks noGrp="1"/>
          </p:cNvSpPr>
          <p:nvPr>
            <p:ph type="dt" sz="half" idx="10"/>
          </p:nvPr>
        </p:nvSpPr>
        <p:spPr/>
        <p:txBody>
          <a:bodyPr/>
          <a:lstStyle/>
          <a:p>
            <a:fld id="{0F84F14A-D76B-40B9-B3E4-3854EC9865A5}" type="datetimeFigureOut">
              <a:rPr lang="en-US" smtClean="0"/>
              <a:t>10/6/2022</a:t>
            </a:fld>
            <a:endParaRPr lang="en-US"/>
          </a:p>
        </p:txBody>
      </p:sp>
      <p:sp>
        <p:nvSpPr>
          <p:cNvPr id="5" name="Footer Placeholder 4">
            <a:extLst>
              <a:ext uri="{FF2B5EF4-FFF2-40B4-BE49-F238E27FC236}">
                <a16:creationId xmlns:a16="http://schemas.microsoft.com/office/drawing/2014/main" id="{ECF51AFE-9DEF-42C3-B256-8BF6A263A4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E1D9F0-0590-4283-85CE-FDF9A9299B6D}"/>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250808542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8B2958-4B36-4099-B770-95CB160AB6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1895D57-598D-40AC-A83B-119200F92E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0F33C1-0465-4F25-B77C-BB92D54D44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84F14A-D76B-40B9-B3E4-3854EC9865A5}" type="datetimeFigureOut">
              <a:rPr lang="en-US" smtClean="0"/>
              <a:t>10/6/2022</a:t>
            </a:fld>
            <a:endParaRPr lang="en-US"/>
          </a:p>
        </p:txBody>
      </p:sp>
      <p:sp>
        <p:nvSpPr>
          <p:cNvPr id="5" name="Footer Placeholder 4">
            <a:extLst>
              <a:ext uri="{FF2B5EF4-FFF2-40B4-BE49-F238E27FC236}">
                <a16:creationId xmlns:a16="http://schemas.microsoft.com/office/drawing/2014/main" id="{BB0183EC-0D02-4E7B-AF4B-BCEBEC8047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385E90E-61B1-441D-88BB-8B212DF7DC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AEE272-2248-4504-8802-E524313AA46D}" type="slidenum">
              <a:rPr lang="en-US" smtClean="0"/>
              <a:t>‹#›</a:t>
            </a:fld>
            <a:endParaRPr lang="en-US"/>
          </a:p>
        </p:txBody>
      </p:sp>
    </p:spTree>
    <p:extLst>
      <p:ext uri="{BB962C8B-B14F-4D97-AF65-F5344CB8AC3E}">
        <p14:creationId xmlns:p14="http://schemas.microsoft.com/office/powerpoint/2010/main" val="11613623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slide" Target="slide2.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image" Target="../media/image1.png"/><Relationship Id="rId7" Type="http://schemas.openxmlformats.org/officeDocument/2006/relationships/hyperlink" Target="http://pngimg.com/download/16493" TargetMode="External"/><Relationship Id="rId8" Type="http://schemas.openxmlformats.org/officeDocument/2006/relationships/image" Target="../media/image2.png"/><Relationship Id="rId9" Type="http://schemas.openxmlformats.org/officeDocument/2006/relationships/image" Target="../media/image3.png"/><Relationship Id="rId10" Type="http://schemas.openxmlformats.org/officeDocument/2006/relationships/image" Target="../media/image4.png"/><Relationship Id="rId11" Type="http://schemas.openxmlformats.org/officeDocument/2006/relationships/image" Target="../media/image5.png"/><Relationship Id="rId12" Type="http://schemas.openxmlformats.org/officeDocument/2006/relationships/image" Target="../media/image6.png"/><Relationship Id="rId13" Type="http://schemas.openxmlformats.org/officeDocument/2006/relationships/image" Target="../media/image7.png"/><Relationship Id="rId14" Type="http://schemas.openxmlformats.org/officeDocument/2006/relationships/hyperlink" Target="https://teachim.org/" TargetMode="External"/><Relationship Id="rId15" Type="http://schemas.openxmlformats.org/officeDocument/2006/relationships/image" Target="../media/image8.png"/><Relationship Id="rId16" Type="http://schemas.openxmlformats.org/officeDocument/2006/relationships/slide" Target="slide3.xml"/><Relationship Id="rId17" Type="http://schemas.openxmlformats.org/officeDocument/2006/relationships/slide" Target="slide5.xml"/><Relationship Id="rId18" Type="http://schemas.openxmlformats.org/officeDocument/2006/relationships/image" Target="../media/image9.png"/><Relationship Id="rId19" Type="http://schemas.openxmlformats.org/officeDocument/2006/relationships/image" Target="../media/image10.png"/><Relationship Id="rId20" Type="http://schemas.openxmlformats.org/officeDocument/2006/relationships/image" Target="../media/image11.png"/><Relationship Id="rId21" Type="http://schemas.openxmlformats.org/officeDocument/2006/relationships/image" Target="../media/image12.svg"/><Relationship Id="rId22" Type="http://schemas.openxmlformats.org/officeDocument/2006/relationships/slide" Target="slide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12.svg"/><Relationship Id="rId5" Type="http://schemas.openxmlformats.org/officeDocument/2006/relationships/hyperlink" Target="https://teachim.org/" TargetMode="External"/><Relationship Id="rId6" Type="http://schemas.openxmlformats.org/officeDocument/2006/relationships/image" Target="../media/image8.png"/><Relationship Id="rId7" Type="http://schemas.openxmlformats.org/officeDocument/2006/relationships/slide" Target="slide2.xml"/><Relationship Id="rId8" Type="http://schemas.openxmlformats.org/officeDocument/2006/relationships/slide" Target="slide6.xml"/><Relationship Id="rId9" Type="http://schemas.openxmlformats.org/officeDocument/2006/relationships/slide" Target="slide7.xml"/><Relationship Id="rId10" Type="http://schemas.openxmlformats.org/officeDocument/2006/relationships/slide" Target="slide3.xml"/><Relationship Id="rId11" Type="http://schemas.openxmlformats.org/officeDocument/2006/relationships/slide" Target="slide5.xml"/><Relationship Id="rId12" Type="http://schemas.openxmlformats.org/officeDocument/2006/relationships/slide" Target="slide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hyperlink" Target="http://pngimg.com/download/16493" TargetMode="External"/><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5.png"/><Relationship Id="rId8" Type="http://schemas.openxmlformats.org/officeDocument/2006/relationships/image" Target="../media/image11.png"/><Relationship Id="rId9" Type="http://schemas.openxmlformats.org/officeDocument/2006/relationships/image" Target="../media/image12.svg"/><Relationship Id="rId10" Type="http://schemas.openxmlformats.org/officeDocument/2006/relationships/image" Target="../media/image16.png"/><Relationship Id="rId11" Type="http://schemas.openxmlformats.org/officeDocument/2006/relationships/slide" Target="slide4.xml"/><Relationship Id="rId12" Type="http://schemas.openxmlformats.org/officeDocument/2006/relationships/slide" Target="slide2.xml"/><Relationship Id="rId13" Type="http://schemas.openxmlformats.org/officeDocument/2006/relationships/slide" Target="slide6.xml"/><Relationship Id="rId14" Type="http://schemas.openxmlformats.org/officeDocument/2006/relationships/slide" Target="slide7.xml"/><Relationship Id="rId15" Type="http://schemas.openxmlformats.org/officeDocument/2006/relationships/slide" Target="slide3.xml"/><Relationship Id="rId16" Type="http://schemas.openxmlformats.org/officeDocument/2006/relationships/slide" Target="slide5.xml"/><Relationship Id="rId17" Type="http://schemas.openxmlformats.org/officeDocument/2006/relationships/image" Target="../media/image17.png"/><Relationship Id="rId18" Type="http://schemas.openxmlformats.org/officeDocument/2006/relationships/image" Target="../media/image18.svg"/><Relationship Id="rId19" Type="http://schemas.openxmlformats.org/officeDocument/2006/relationships/image" Target="../media/image19.png"/><Relationship Id="rId20" Type="http://schemas.openxmlformats.org/officeDocument/2006/relationships/image" Target="../media/image20.svg"/><Relationship Id="rId21" Type="http://schemas.openxmlformats.org/officeDocument/2006/relationships/image" Target="../media/image21.png"/><Relationship Id="rId22" Type="http://schemas.openxmlformats.org/officeDocument/2006/relationships/image" Target="../media/image22.svg"/><Relationship Id="rId23" Type="http://schemas.openxmlformats.org/officeDocument/2006/relationships/slide" Target="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hyperlink" Target="http://pngimg.com/download/16493" TargetMode="External"/><Relationship Id="rId5" Type="http://schemas.openxmlformats.org/officeDocument/2006/relationships/slide" Target="slide4.xml"/><Relationship Id="rId6" Type="http://schemas.openxmlformats.org/officeDocument/2006/relationships/slide" Target="slide2.xml"/><Relationship Id="rId7" Type="http://schemas.openxmlformats.org/officeDocument/2006/relationships/slide" Target="slide6.xml"/><Relationship Id="rId8" Type="http://schemas.openxmlformats.org/officeDocument/2006/relationships/slide" Target="slide7.xml"/><Relationship Id="rId9" Type="http://schemas.openxmlformats.org/officeDocument/2006/relationships/slide" Target="slide3.xml"/><Relationship Id="rId10" Type="http://schemas.openxmlformats.org/officeDocument/2006/relationships/slide" Target="slide5.xml"/><Relationship Id="rId11" Type="http://schemas.openxmlformats.org/officeDocument/2006/relationships/image" Target="../media/image11.png"/><Relationship Id="rId12" Type="http://schemas.openxmlformats.org/officeDocument/2006/relationships/image" Target="../media/image12.svg"/><Relationship Id="rId13" Type="http://schemas.openxmlformats.org/officeDocument/2006/relationships/slide" Target="slide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3.tiff"/><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hyperlink" Target="http://www.solvibrations.org/treat-headache-naturally/" TargetMode="External"/><Relationship Id="rId8" Type="http://schemas.openxmlformats.org/officeDocument/2006/relationships/image" Target="../media/image27.tiff"/><Relationship Id="rId9" Type="http://schemas.openxmlformats.org/officeDocument/2006/relationships/image" Target="../media/image11.png"/><Relationship Id="rId10" Type="http://schemas.openxmlformats.org/officeDocument/2006/relationships/image" Target="../media/image12.svg"/><Relationship Id="rId11" Type="http://schemas.openxmlformats.org/officeDocument/2006/relationships/slide" Target="slide2.xml"/><Relationship Id="rId12" Type="http://schemas.openxmlformats.org/officeDocument/2006/relationships/slide" Target="slide6.xml"/><Relationship Id="rId13" Type="http://schemas.openxmlformats.org/officeDocument/2006/relationships/slide" Target="slide7.xml"/><Relationship Id="rId14" Type="http://schemas.openxmlformats.org/officeDocument/2006/relationships/slide" Target="slide3.xml"/><Relationship Id="rId15" Type="http://schemas.openxmlformats.org/officeDocument/2006/relationships/slide" Target="slide5.xml"/><Relationship Id="rId16" Type="http://schemas.openxmlformats.org/officeDocument/2006/relationships/slide" Target="slide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2.svg"/><Relationship Id="rId5" Type="http://schemas.openxmlformats.org/officeDocument/2006/relationships/image" Target="../media/image28.png"/><Relationship Id="rId6" Type="http://schemas.openxmlformats.org/officeDocument/2006/relationships/image" Target="../media/image29.svg"/><Relationship Id="rId7" Type="http://schemas.openxmlformats.org/officeDocument/2006/relationships/slide" Target="slide2.xml"/><Relationship Id="rId8" Type="http://schemas.openxmlformats.org/officeDocument/2006/relationships/slide" Target="slide6.xml"/><Relationship Id="rId9" Type="http://schemas.openxmlformats.org/officeDocument/2006/relationships/slide" Target="slide7.xml"/><Relationship Id="rId10" Type="http://schemas.openxmlformats.org/officeDocument/2006/relationships/slide" Target="slide3.xml"/><Relationship Id="rId11" Type="http://schemas.openxmlformats.org/officeDocument/2006/relationships/slide" Target="slide5.xml"/><Relationship Id="rId12" Type="http://schemas.openxmlformats.org/officeDocument/2006/relationships/image" Target="../media/image9.png"/><Relationship Id="rId13" Type="http://schemas.openxmlformats.org/officeDocument/2006/relationships/image" Target="../media/image10.png"/><Relationship Id="rId14" Type="http://schemas.openxmlformats.org/officeDocument/2006/relationships/slide" Target="slide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2.svg"/><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2.xml"/><Relationship Id="rId8" Type="http://schemas.openxmlformats.org/officeDocument/2006/relationships/slide" Target="slide6.xml"/><Relationship Id="rId9" Type="http://schemas.openxmlformats.org/officeDocument/2006/relationships/slide" Target="slide3.xml"/><Relationship Id="rId10" Type="http://schemas.openxmlformats.org/officeDocument/2006/relationships/slide" Target="slide5.xml"/><Relationship Id="rId11" Type="http://schemas.openxmlformats.org/officeDocument/2006/relationships/slide" Target="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slide" Target="slide7.xml"/><Relationship Id="rId4" Type="http://schemas.openxmlformats.org/officeDocument/2006/relationships/slide" Target="slide8.xml"/><Relationship Id="rId5" Type="http://schemas.openxmlformats.org/officeDocument/2006/relationships/image" Target="../media/image11.png"/><Relationship Id="rId6" Type="http://schemas.openxmlformats.org/officeDocument/2006/relationships/image" Target="../media/image12.svg"/><Relationship Id="rId7" Type="http://schemas.openxmlformats.org/officeDocument/2006/relationships/slide" Target="slide2.xml"/><Relationship Id="rId8" Type="http://schemas.openxmlformats.org/officeDocument/2006/relationships/slide" Target="slide6.xml"/><Relationship Id="rId9" Type="http://schemas.openxmlformats.org/officeDocument/2006/relationships/slide" Target="slide3.xml"/><Relationship Id="rId10" Type="http://schemas.openxmlformats.org/officeDocument/2006/relationships/slide" Target="slide5.xml"/><Relationship Id="rId11" Type="http://schemas.openxmlformats.org/officeDocument/2006/relationships/slide" Target="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bedsider.org/" TargetMode="External"/><Relationship Id="rId3" Type="http://schemas.openxmlformats.org/officeDocument/2006/relationships/hyperlink" Target="https://www-uptodate-com.proxy.hsl.ucdenver.edu/external-redirect.do?target_url=https%3A%2F%2Fwww.fpntc.org%2F&amp;token=DzPMsBhauzgvZzN%2FvOiltZCqh5RqKoajt3a2gn%2F02gU%3D&amp;TOPIC_ID=5459" TargetMode="External"/><Relationship Id="rId4" Type="http://schemas.openxmlformats.org/officeDocument/2006/relationships/hyperlink" Target="https://www-uptodate-com.proxy.hsl.ucdenver.edu/external-redirect.do?target_url=http%3A%2F%2Fyoungwomenshealth.org%2F&amp;token=4ZVQuaw7JPQhsSQn2msmz4V2t0hJWr2nmfMP%2FLbrjZq3BOM8pXRApS0zZOoQmNVZ&amp;TOPIC_ID=5459" TargetMode="External"/><Relationship Id="rId5" Type="http://schemas.openxmlformats.org/officeDocument/2006/relationships/hyperlink" Target="https://www-uptodate-com.proxy.hsl.ucdenver.edu/external-redirect.do?target_url=http%3A%2F%2Fbeyondthepill.ucsf.edu%2F&amp;token=E0Md379RCit4rTlR7PWLpRnWL3ZQCq5b3lbJ0%2FB1dPyBLwfyex9AzfdZhbKHBc6o&amp;TOPIC_ID=5459" TargetMode="External"/><Relationship Id="rId6" Type="http://schemas.openxmlformats.org/officeDocument/2006/relationships/hyperlink" Target="https://reproductiveaccess.org/" TargetMode="External"/><Relationship Id="rId7" Type="http://schemas.openxmlformats.org/officeDocument/2006/relationships/hyperlink" Target="https://www-uptodate-com.proxy.hsl.ucdenver.edu/external-redirect.do?target_url=http%3A%2F%2Fsexualityandu.ca&amp;token=9CRu%2BBxSrbdcCK6lyA9Lfg37XWUC9JsIHF84E5bQPXw%3D&amp;TOPIC_ID=5459" TargetMode="External"/><Relationship Id="rId8" Type="http://schemas.openxmlformats.org/officeDocument/2006/relationships/hyperlink" Target="https://www-uptodate-com.proxy.hsl.ucdenver.edu/external-redirect.do?target_url=https%3A%2F%2Fwww.plannedparenthood.org%2F&amp;token=xXI%2By9QNEPjV52%2B%2BDeHAeZ9SXc2ukqt22nAmmnoIhbmjKCcbIKeiWKTXDj94bQ%2F4&amp;TOPIC_ID=5459" TargetMode="External"/><Relationship Id="rId9" Type="http://schemas.openxmlformats.org/officeDocument/2006/relationships/hyperlink" Target="https://www-uptodate-com.proxy.hsl.ucdenver.edu/external-redirect.do?target_url=https%3A%2F%2Fwww.acog.org%2FPatients&amp;token=IQxLzDq4doJGUgaZgeIY0609e6kP88t%2BkfEnsFxRTPcTSb1%2BMcd%2F6nq0xBC60AQD&amp;TOPIC_ID=5459" TargetMode="External"/><Relationship Id="rId10" Type="http://schemas.openxmlformats.org/officeDocument/2006/relationships/hyperlink" Target="https://www-uptodate-com.proxy.hsl.ucdenver.edu/external-redirect.do?target_url=http%3A%2F%2Fwww.acog.org%2FAbout_ACOG%2FACOG_Departments%2FLong_Acting_Reversible_Contraception&amp;token=VHmFZAs3uJ7EV27MKI9TccYxl0T48M96yoDLtK11xPm1jzbmWwp3CDmeKDQGa5Jbxq3VS1hyfIEwVq2M4NRNNB%2FL6tvSzIHZJeB3Etx5QoP3XvDgL%2BsJzwCHPUoj%2FqHd&amp;TOPIC_ID=5459" TargetMode="External"/><Relationship Id="rId11" Type="http://schemas.openxmlformats.org/officeDocument/2006/relationships/hyperlink" Target="https://www-uptodate-com.proxy.hsl.ucdenver.edu/external-redirect.do?target_url=http%3A%2F%2Fwww.cdc.gov%2Freproductivehealth%2Funintendedpregnancy%2Fusmec.htm&amp;token=T5g4y62itfslP6jSfE1PA54cREtgsup7MDzOY1Tfpy794Uux3dd1VqKz681U8X9XPdtuKJv6hRgQpxpZ2gL6rd0mM4l206ALaokkajSc%2Bis%3D&amp;TOPIC_ID=5459" TargetMode="External"/><Relationship Id="rId12" Type="http://schemas.openxmlformats.org/officeDocument/2006/relationships/hyperlink" Target="https://www-uptodate-com.proxy.hsl.ucdenver.edu/external-redirect.do?target_url=http%3A%2F%2Fwww.cdc.gov%2Freproductivehealth%2Funintendedpregnancy%2Fusspr.htm&amp;token=t7NCXpgOToFkdCMjAwY9qzY6GJA2VDdyFX2VGnvSuctA4QFGxLLRo5Ymrsg0XhTTFI7ftx21D2vCobOd2n7%2FhCeJbVcO1BpnrBDra80p06Q%3D&amp;TOPIC_ID=5459" TargetMode="External"/><Relationship Id="rId13" Type="http://schemas.openxmlformats.org/officeDocument/2006/relationships/hyperlink" Target="https://www-uptodate-com.proxy.hsl.ucdenver.edu/external-redirect.do?target_url=http%3A%2F%2Fwww.who.int%2Freproductivehealth%2Fpublications%2Ffamily_planning%2FMEC-5%2Fen%2F&amp;token=am3d6Dtogt5e88ewNpT1YCltU%2FEFMr%2BhAi4SPVAemsTKqzf2ZgfGe43nM5ICIgmhJ4qumfr5y6dKOrL%2BzojbSN1MkmGldk6kwM6nQNxB6GA%3D&amp;TOPIC_ID=5459" TargetMode="External"/><Relationship Id="rId14" Type="http://schemas.openxmlformats.org/officeDocument/2006/relationships/slide" Target="slide2.xml"/><Relationship Id="rId15" Type="http://schemas.openxmlformats.org/officeDocument/2006/relationships/slide" Target="slide6.xml"/><Relationship Id="rId16" Type="http://schemas.openxmlformats.org/officeDocument/2006/relationships/slide" Target="slide7.xml"/><Relationship Id="rId17" Type="http://schemas.openxmlformats.org/officeDocument/2006/relationships/slide" Target="slide3.xml"/><Relationship Id="rId18" Type="http://schemas.openxmlformats.org/officeDocument/2006/relationships/slide" Target="slide5.xml"/><Relationship Id="rId19" Type="http://schemas.openxmlformats.org/officeDocument/2006/relationships/image" Target="../media/image11.png"/><Relationship Id="rId20" Type="http://schemas.openxmlformats.org/officeDocument/2006/relationships/image" Target="../media/image12.svg"/><Relationship Id="rId21" Type="http://schemas.openxmlformats.org/officeDocument/2006/relationships/slide" Target="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question 1">
            <a:hlinkClick r:id="rId3" action="ppaction://hlinksldjump"/>
            <a:extLst>
              <a:ext uri="{FF2B5EF4-FFF2-40B4-BE49-F238E27FC236}">
                <a16:creationId xmlns:a16="http://schemas.microsoft.com/office/drawing/2014/main" id="{9B816753-F023-4D31-9D82-47CAC9BBD9A0}"/>
              </a:ext>
            </a:extLst>
          </p:cNvPr>
          <p:cNvSpPr txBox="1"/>
          <p:nvPr/>
        </p:nvSpPr>
        <p:spPr>
          <a:xfrm>
            <a:off x="188535" y="192736"/>
            <a:ext cx="1905394"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PATH Questions</a:t>
            </a:r>
          </a:p>
        </p:txBody>
      </p:sp>
      <p:sp>
        <p:nvSpPr>
          <p:cNvPr id="174" name="question 4">
            <a:hlinkClick r:id="rId4" action="ppaction://hlinksldjump"/>
            <a:extLst>
              <a:ext uri="{FF2B5EF4-FFF2-40B4-BE49-F238E27FC236}">
                <a16:creationId xmlns:a16="http://schemas.microsoft.com/office/drawing/2014/main" id="{71D8241D-CA6F-4A6E-AAFA-E11B57775A6D}"/>
              </a:ext>
            </a:extLst>
          </p:cNvPr>
          <p:cNvSpPr txBox="1"/>
          <p:nvPr/>
        </p:nvSpPr>
        <p:spPr>
          <a:xfrm>
            <a:off x="188535" y="1937569"/>
            <a:ext cx="190539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Emergency Use</a:t>
            </a:r>
          </a:p>
        </p:txBody>
      </p:sp>
      <p:sp>
        <p:nvSpPr>
          <p:cNvPr id="359" name="Cases">
            <a:hlinkClick r:id="rId5" action="ppaction://hlinksldjump"/>
            <a:extLst>
              <a:ext uri="{FF2B5EF4-FFF2-40B4-BE49-F238E27FC236}">
                <a16:creationId xmlns:a16="http://schemas.microsoft.com/office/drawing/2014/main" id="{EB525BD1-6253-423A-9A3E-87D517474861}"/>
              </a:ext>
            </a:extLst>
          </p:cNvPr>
          <p:cNvSpPr txBox="1"/>
          <p:nvPr/>
        </p:nvSpPr>
        <p:spPr>
          <a:xfrm>
            <a:off x="188535" y="2519180"/>
            <a:ext cx="1905392"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sp>
        <p:nvSpPr>
          <p:cNvPr id="45" name="Rectangle 44">
            <a:extLst>
              <a:ext uri="{FF2B5EF4-FFF2-40B4-BE49-F238E27FC236}">
                <a16:creationId xmlns:a16="http://schemas.microsoft.com/office/drawing/2014/main" id="{3DDCFF73-BD2E-EC46-B9D3-AF68D9EFDE32}"/>
              </a:ext>
            </a:extLst>
          </p:cNvPr>
          <p:cNvSpPr/>
          <p:nvPr/>
        </p:nvSpPr>
        <p:spPr>
          <a:xfrm>
            <a:off x="3355748" y="192736"/>
            <a:ext cx="7325441" cy="830997"/>
          </a:xfrm>
          <a:prstGeom prst="rect">
            <a:avLst/>
          </a:prstGeom>
          <a:noFill/>
        </p:spPr>
        <p:txBody>
          <a:bodyPr wrap="square" lIns="91440" tIns="45720" rIns="91440" bIns="45720">
            <a:spAutoFit/>
          </a:bodyPr>
          <a:lstStyle/>
          <a:p>
            <a:pPr algn="ctr"/>
            <a:r>
              <a:rPr lang="en-US" sz="4800" b="1" cap="none" spc="0" dirty="0">
                <a:ln w="0"/>
              </a:rPr>
              <a:t>Contraception Counseling</a:t>
            </a:r>
          </a:p>
        </p:txBody>
      </p:sp>
      <p:pic>
        <p:nvPicPr>
          <p:cNvPr id="3" name="Picture 2" descr="A picture containing black&#10;&#10;Description automatically generated">
            <a:extLst>
              <a:ext uri="{FF2B5EF4-FFF2-40B4-BE49-F238E27FC236}">
                <a16:creationId xmlns:a16="http://schemas.microsoft.com/office/drawing/2014/main" id="{8C53FB61-3AFB-4DE4-9B30-A164A4020208}"/>
              </a:ext>
            </a:extLst>
          </p:cNvPr>
          <p:cNvPicPr>
            <a:picLocks noChangeAspect="1"/>
          </p:cNvPicPr>
          <p:nvPr/>
        </p:nvPicPr>
        <p:blipFill rotWithShape="1">
          <a:blip r:embed="rId6" cstate="print">
            <a:extLst>
              <a:ext uri="{28A0092B-C50C-407E-A947-70E740481C1C}">
                <a14:useLocalDpi xmlns:a14="http://schemas.microsoft.com/office/drawing/2010/main"/>
              </a:ext>
              <a:ext uri="{837473B0-CC2E-450A-ABE3-18F120FF3D39}">
                <a1611:picAttrSrcUrl xmlns:a1611="http://schemas.microsoft.com/office/drawing/2016/11/main" r:id="rId7"/>
              </a:ext>
            </a:extLst>
          </a:blip>
          <a:srcRect/>
          <a:stretch/>
        </p:blipFill>
        <p:spPr>
          <a:xfrm>
            <a:off x="4458684" y="4501447"/>
            <a:ext cx="1148188" cy="1461594"/>
          </a:xfrm>
          <a:prstGeom prst="rect">
            <a:avLst/>
          </a:prstGeom>
        </p:spPr>
      </p:pic>
      <p:sp>
        <p:nvSpPr>
          <p:cNvPr id="28" name="TextBox 27">
            <a:extLst>
              <a:ext uri="{FF2B5EF4-FFF2-40B4-BE49-F238E27FC236}">
                <a16:creationId xmlns:a16="http://schemas.microsoft.com/office/drawing/2014/main" id="{1481A7E9-D2F2-4224-8B40-5AC06449BDDE}"/>
              </a:ext>
            </a:extLst>
          </p:cNvPr>
          <p:cNvSpPr txBox="1"/>
          <p:nvPr/>
        </p:nvSpPr>
        <p:spPr>
          <a:xfrm>
            <a:off x="3222998" y="1242481"/>
            <a:ext cx="1159429" cy="369332"/>
          </a:xfrm>
          <a:prstGeom prst="rect">
            <a:avLst/>
          </a:prstGeom>
          <a:noFill/>
        </p:spPr>
        <p:txBody>
          <a:bodyPr wrap="square" rtlCol="0">
            <a:spAutoFit/>
          </a:bodyPr>
          <a:lstStyle/>
          <a:p>
            <a:pPr algn="ctr"/>
            <a:r>
              <a:rPr lang="en-US"/>
              <a:t>IUD</a:t>
            </a:r>
          </a:p>
        </p:txBody>
      </p:sp>
      <p:sp>
        <p:nvSpPr>
          <p:cNvPr id="29" name="TextBox 28">
            <a:extLst>
              <a:ext uri="{FF2B5EF4-FFF2-40B4-BE49-F238E27FC236}">
                <a16:creationId xmlns:a16="http://schemas.microsoft.com/office/drawing/2014/main" id="{35495416-DC33-4191-B1D5-6778806FF1AB}"/>
              </a:ext>
            </a:extLst>
          </p:cNvPr>
          <p:cNvSpPr txBox="1"/>
          <p:nvPr/>
        </p:nvSpPr>
        <p:spPr>
          <a:xfrm>
            <a:off x="5541255" y="1237777"/>
            <a:ext cx="956845" cy="369332"/>
          </a:xfrm>
          <a:prstGeom prst="rect">
            <a:avLst/>
          </a:prstGeom>
          <a:noFill/>
        </p:spPr>
        <p:txBody>
          <a:bodyPr wrap="square" rtlCol="0">
            <a:spAutoFit/>
          </a:bodyPr>
          <a:lstStyle/>
          <a:p>
            <a:pPr algn="ctr"/>
            <a:r>
              <a:rPr lang="en-US"/>
              <a:t>Implant</a:t>
            </a:r>
          </a:p>
        </p:txBody>
      </p:sp>
      <p:sp>
        <p:nvSpPr>
          <p:cNvPr id="30" name="TextBox 29">
            <a:extLst>
              <a:ext uri="{FF2B5EF4-FFF2-40B4-BE49-F238E27FC236}">
                <a16:creationId xmlns:a16="http://schemas.microsoft.com/office/drawing/2014/main" id="{07EB0371-E7CF-495F-B175-EE9FA5012AD3}"/>
              </a:ext>
            </a:extLst>
          </p:cNvPr>
          <p:cNvSpPr txBox="1"/>
          <p:nvPr/>
        </p:nvSpPr>
        <p:spPr>
          <a:xfrm>
            <a:off x="7618657" y="1245495"/>
            <a:ext cx="1519576" cy="369332"/>
          </a:xfrm>
          <a:prstGeom prst="rect">
            <a:avLst/>
          </a:prstGeom>
          <a:noFill/>
        </p:spPr>
        <p:txBody>
          <a:bodyPr wrap="square" rtlCol="0">
            <a:spAutoFit/>
          </a:bodyPr>
          <a:lstStyle/>
          <a:p>
            <a:pPr algn="ctr"/>
            <a:r>
              <a:rPr lang="en-US"/>
              <a:t>Depo-Provera</a:t>
            </a:r>
          </a:p>
        </p:txBody>
      </p:sp>
      <p:sp>
        <p:nvSpPr>
          <p:cNvPr id="31" name="TextBox 30">
            <a:extLst>
              <a:ext uri="{FF2B5EF4-FFF2-40B4-BE49-F238E27FC236}">
                <a16:creationId xmlns:a16="http://schemas.microsoft.com/office/drawing/2014/main" id="{590EF94A-1890-4FEE-9CF7-FCE806C3964B}"/>
              </a:ext>
            </a:extLst>
          </p:cNvPr>
          <p:cNvSpPr txBox="1"/>
          <p:nvPr/>
        </p:nvSpPr>
        <p:spPr>
          <a:xfrm>
            <a:off x="4447443" y="4029687"/>
            <a:ext cx="1159429" cy="369332"/>
          </a:xfrm>
          <a:prstGeom prst="rect">
            <a:avLst/>
          </a:prstGeom>
          <a:noFill/>
        </p:spPr>
        <p:txBody>
          <a:bodyPr wrap="square" rtlCol="0">
            <a:spAutoFit/>
          </a:bodyPr>
          <a:lstStyle/>
          <a:p>
            <a:pPr algn="ctr"/>
            <a:r>
              <a:rPr lang="en-US"/>
              <a:t>Pill</a:t>
            </a:r>
          </a:p>
        </p:txBody>
      </p:sp>
      <p:sp>
        <p:nvSpPr>
          <p:cNvPr id="32" name="TextBox 31">
            <a:extLst>
              <a:ext uri="{FF2B5EF4-FFF2-40B4-BE49-F238E27FC236}">
                <a16:creationId xmlns:a16="http://schemas.microsoft.com/office/drawing/2014/main" id="{8323C31E-54CE-4714-B98B-B38DD4B9B942}"/>
              </a:ext>
            </a:extLst>
          </p:cNvPr>
          <p:cNvSpPr txBox="1"/>
          <p:nvPr/>
        </p:nvSpPr>
        <p:spPr>
          <a:xfrm>
            <a:off x="10015388" y="1242481"/>
            <a:ext cx="1159429" cy="369332"/>
          </a:xfrm>
          <a:prstGeom prst="rect">
            <a:avLst/>
          </a:prstGeom>
          <a:noFill/>
        </p:spPr>
        <p:txBody>
          <a:bodyPr wrap="square" rtlCol="0">
            <a:spAutoFit/>
          </a:bodyPr>
          <a:lstStyle/>
          <a:p>
            <a:pPr algn="ctr"/>
            <a:r>
              <a:rPr lang="en-US"/>
              <a:t>Patch</a:t>
            </a:r>
          </a:p>
        </p:txBody>
      </p:sp>
      <p:pic>
        <p:nvPicPr>
          <p:cNvPr id="10" name="Picture 9">
            <a:extLst>
              <a:ext uri="{FF2B5EF4-FFF2-40B4-BE49-F238E27FC236}">
                <a16:creationId xmlns:a16="http://schemas.microsoft.com/office/drawing/2014/main" id="{8F41C4D9-D26D-40D0-8D8A-00858982C3CF}"/>
              </a:ext>
            </a:extLst>
          </p:cNvPr>
          <p:cNvPicPr>
            <a:picLocks noChangeAspect="1"/>
          </p:cNvPicPr>
          <p:nvPr/>
        </p:nvPicPr>
        <p:blipFill rotWithShape="1">
          <a:blip r:embed="rId8" cstate="print">
            <a:extLst>
              <a:ext uri="{28A0092B-C50C-407E-A947-70E740481C1C}">
                <a14:useLocalDpi xmlns:a14="http://schemas.microsoft.com/office/drawing/2010/main"/>
              </a:ext>
            </a:extLst>
          </a:blip>
          <a:srcRect/>
          <a:stretch/>
        </p:blipFill>
        <p:spPr>
          <a:xfrm>
            <a:off x="2858913" y="1696631"/>
            <a:ext cx="1879596" cy="2145118"/>
          </a:xfrm>
          <a:prstGeom prst="roundRect">
            <a:avLst/>
          </a:prstGeom>
          <a:noFill/>
          <a:ln w="38100">
            <a:noFill/>
          </a:ln>
          <a:effectLst/>
        </p:spPr>
      </p:pic>
      <p:pic>
        <p:nvPicPr>
          <p:cNvPr id="18" name="Picture 17" descr="A picture containing box and whisker chart&#10;&#10;Description automatically generated">
            <a:extLst>
              <a:ext uri="{FF2B5EF4-FFF2-40B4-BE49-F238E27FC236}">
                <a16:creationId xmlns:a16="http://schemas.microsoft.com/office/drawing/2014/main" id="{18BF8A58-D75D-40AC-B927-3A505EAA941C}"/>
              </a:ext>
            </a:extLst>
          </p:cNvPr>
          <p:cNvPicPr>
            <a:picLocks noChangeAspect="1"/>
          </p:cNvPicPr>
          <p:nvPr/>
        </p:nvPicPr>
        <p:blipFill rotWithShape="1">
          <a:blip r:embed="rId9" cstate="print">
            <a:extLst>
              <a:ext uri="{28A0092B-C50C-407E-A947-70E740481C1C}">
                <a14:useLocalDpi xmlns:a14="http://schemas.microsoft.com/office/drawing/2010/main"/>
              </a:ext>
            </a:extLst>
          </a:blip>
          <a:srcRect/>
          <a:stretch/>
        </p:blipFill>
        <p:spPr>
          <a:xfrm>
            <a:off x="7949581" y="1696631"/>
            <a:ext cx="722807" cy="2431551"/>
          </a:xfrm>
          <a:prstGeom prst="roundRect">
            <a:avLst/>
          </a:prstGeom>
          <a:noFill/>
          <a:ln w="38100">
            <a:noFill/>
          </a:ln>
          <a:effectLst>
            <a:outerShdw blurRad="50800" dist="38100" dir="2700000" algn="tl" rotWithShape="0">
              <a:prstClr val="black">
                <a:alpha val="40000"/>
              </a:prstClr>
            </a:outerShdw>
          </a:effectLst>
        </p:spPr>
      </p:pic>
      <p:pic>
        <p:nvPicPr>
          <p:cNvPr id="19" name="Picture 18">
            <a:extLst>
              <a:ext uri="{FF2B5EF4-FFF2-40B4-BE49-F238E27FC236}">
                <a16:creationId xmlns:a16="http://schemas.microsoft.com/office/drawing/2014/main" id="{E9A0C646-2BD3-47DA-BFD9-25AEB5D135D6}"/>
              </a:ext>
            </a:extLst>
          </p:cNvPr>
          <p:cNvPicPr>
            <a:picLocks noChangeAspect="1"/>
          </p:cNvPicPr>
          <p:nvPr/>
        </p:nvPicPr>
        <p:blipFill rotWithShape="1">
          <a:blip r:embed="rId10" cstate="print">
            <a:extLst>
              <a:ext uri="{28A0092B-C50C-407E-A947-70E740481C1C}">
                <a14:useLocalDpi xmlns:a14="http://schemas.microsoft.com/office/drawing/2010/main"/>
              </a:ext>
            </a:extLst>
          </a:blip>
          <a:srcRect l="15242" t="20986" r="14108" b="18718"/>
          <a:stretch/>
        </p:blipFill>
        <p:spPr>
          <a:xfrm>
            <a:off x="9603277" y="1840722"/>
            <a:ext cx="1988511" cy="1441967"/>
          </a:xfrm>
          <a:prstGeom prst="rect">
            <a:avLst/>
          </a:prstGeom>
        </p:spPr>
      </p:pic>
      <p:pic>
        <p:nvPicPr>
          <p:cNvPr id="1026" name="Picture 2" descr="Contraceptive Implant - Hormonal Method #2910842 - PNG Images - PNGio">
            <a:extLst>
              <a:ext uri="{FF2B5EF4-FFF2-40B4-BE49-F238E27FC236}">
                <a16:creationId xmlns:a16="http://schemas.microsoft.com/office/drawing/2014/main" id="{A0308CF1-FC1F-4E2D-A1EA-8A1AAD86701A}"/>
              </a:ext>
            </a:extLst>
          </p:cNvPr>
          <p:cNvPicPr>
            <a:picLocks noChangeAspect="1" noChangeArrowheads="1"/>
          </p:cNvPicPr>
          <p:nvPr/>
        </p:nvPicPr>
        <p:blipFill rotWithShape="1">
          <a:blip r:embed="rId11" cstate="print">
            <a:extLst>
              <a:ext uri="{28A0092B-C50C-407E-A947-70E740481C1C}">
                <a14:useLocalDpi xmlns:a14="http://schemas.microsoft.com/office/drawing/2010/main"/>
              </a:ext>
            </a:extLst>
          </a:blip>
          <a:srcRect l="34390" t="5335" r="32501" b="7534"/>
          <a:stretch/>
        </p:blipFill>
        <p:spPr bwMode="auto">
          <a:xfrm>
            <a:off x="5379588" y="1636224"/>
            <a:ext cx="1519576" cy="203583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NuvaRing Side Effects | Blood Clots, Weight Gain &amp;amp; Nausea">
            <a:extLst>
              <a:ext uri="{FF2B5EF4-FFF2-40B4-BE49-F238E27FC236}">
                <a16:creationId xmlns:a16="http://schemas.microsoft.com/office/drawing/2014/main" id="{E1E55180-A2CB-420F-9F93-ED67107E9904}"/>
              </a:ext>
            </a:extLst>
          </p:cNvPr>
          <p:cNvPicPr>
            <a:picLocks noChangeAspect="1" noChangeArrowheads="1"/>
          </p:cNvPicPr>
          <p:nvPr/>
        </p:nvPicPr>
        <p:blipFill>
          <a:blip r:embed="rId12" cstate="print">
            <a:extLst>
              <a:ext uri="{28A0092B-C50C-407E-A947-70E740481C1C}">
                <a14:useLocalDpi xmlns:a14="http://schemas.microsoft.com/office/drawing/2010/main"/>
              </a:ext>
            </a:extLst>
          </a:blip>
          <a:srcRect/>
          <a:stretch>
            <a:fillRect/>
          </a:stretch>
        </p:blipFill>
        <p:spPr bwMode="auto">
          <a:xfrm>
            <a:off x="6139376" y="4273529"/>
            <a:ext cx="1939426" cy="2101043"/>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10" descr="Condom PNG">
            <a:extLst>
              <a:ext uri="{FF2B5EF4-FFF2-40B4-BE49-F238E27FC236}">
                <a16:creationId xmlns:a16="http://schemas.microsoft.com/office/drawing/2014/main" id="{6183C1FF-BD30-4F6B-B97E-39BAF90862FE}"/>
              </a:ext>
            </a:extLst>
          </p:cNvPr>
          <p:cNvPicPr>
            <a:picLocks noChangeAspect="1" noChangeArrowheads="1"/>
          </p:cNvPicPr>
          <p:nvPr/>
        </p:nvPicPr>
        <p:blipFill rotWithShape="1">
          <a:blip r:embed="rId13" cstate="print">
            <a:extLst>
              <a:ext uri="{28A0092B-C50C-407E-A947-70E740481C1C}">
                <a14:useLocalDpi xmlns:a14="http://schemas.microsoft.com/office/drawing/2010/main"/>
              </a:ext>
            </a:extLst>
          </a:blip>
          <a:srcRect l="25188" t="16522" r="25723" b="17795"/>
          <a:stretch/>
        </p:blipFill>
        <p:spPr bwMode="auto">
          <a:xfrm>
            <a:off x="8430067" y="4357967"/>
            <a:ext cx="1897294" cy="1883658"/>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E30C959C-45AB-4244-95F0-D08D24765B5A}"/>
              </a:ext>
            </a:extLst>
          </p:cNvPr>
          <p:cNvSpPr txBox="1"/>
          <p:nvPr/>
        </p:nvSpPr>
        <p:spPr>
          <a:xfrm>
            <a:off x="6523900" y="4026092"/>
            <a:ext cx="1159429" cy="369332"/>
          </a:xfrm>
          <a:prstGeom prst="rect">
            <a:avLst/>
          </a:prstGeom>
          <a:noFill/>
        </p:spPr>
        <p:txBody>
          <a:bodyPr wrap="square" rtlCol="0">
            <a:spAutoFit/>
          </a:bodyPr>
          <a:lstStyle/>
          <a:p>
            <a:pPr algn="ctr"/>
            <a:r>
              <a:rPr lang="en-US"/>
              <a:t>Ring</a:t>
            </a:r>
          </a:p>
        </p:txBody>
      </p:sp>
      <p:sp>
        <p:nvSpPr>
          <p:cNvPr id="51" name="TextBox 50">
            <a:extLst>
              <a:ext uri="{FF2B5EF4-FFF2-40B4-BE49-F238E27FC236}">
                <a16:creationId xmlns:a16="http://schemas.microsoft.com/office/drawing/2014/main" id="{E8A260D0-5EC4-45FF-A0A9-F49055110D13}"/>
              </a:ext>
            </a:extLst>
          </p:cNvPr>
          <p:cNvSpPr txBox="1"/>
          <p:nvPr/>
        </p:nvSpPr>
        <p:spPr>
          <a:xfrm>
            <a:off x="8820066" y="4029687"/>
            <a:ext cx="1159429" cy="369332"/>
          </a:xfrm>
          <a:prstGeom prst="rect">
            <a:avLst/>
          </a:prstGeom>
          <a:noFill/>
        </p:spPr>
        <p:txBody>
          <a:bodyPr wrap="square" rtlCol="0">
            <a:spAutoFit/>
          </a:bodyPr>
          <a:lstStyle/>
          <a:p>
            <a:pPr algn="ctr"/>
            <a:r>
              <a:rPr lang="en-US"/>
              <a:t>Condom</a:t>
            </a:r>
          </a:p>
        </p:txBody>
      </p:sp>
      <p:pic>
        <p:nvPicPr>
          <p:cNvPr id="35" name="teachIM logo" descr="Icon&#10;&#10;Description automatically generated">
            <a:hlinkClick r:id="rId14"/>
            <a:extLst>
              <a:ext uri="{FF2B5EF4-FFF2-40B4-BE49-F238E27FC236}">
                <a16:creationId xmlns:a16="http://schemas.microsoft.com/office/drawing/2014/main" id="{47E571B1-B649-4B1F-A633-D19005DA9AF0}"/>
              </a:ext>
            </a:extLst>
          </p:cNvPr>
          <p:cNvPicPr>
            <a:picLocks noChangeAspect="1"/>
          </p:cNvPicPr>
          <p:nvPr/>
        </p:nvPicPr>
        <p:blipFill>
          <a:blip r:embed="rId15" cstate="print">
            <a:extLst>
              <a:ext uri="{28A0092B-C50C-407E-A947-70E740481C1C}">
                <a14:useLocalDpi xmlns:a14="http://schemas.microsoft.com/office/drawing/2010/main"/>
              </a:ext>
            </a:extLst>
          </a:blip>
          <a:stretch>
            <a:fillRect/>
          </a:stretch>
        </p:blipFill>
        <p:spPr>
          <a:xfrm>
            <a:off x="10804030" y="6374572"/>
            <a:ext cx="1387970" cy="528106"/>
          </a:xfrm>
          <a:prstGeom prst="rect">
            <a:avLst/>
          </a:prstGeom>
        </p:spPr>
      </p:pic>
      <p:sp>
        <p:nvSpPr>
          <p:cNvPr id="36" name="question 3">
            <a:hlinkClick r:id="rId16" action="ppaction://hlinksldjump"/>
            <a:extLst>
              <a:ext uri="{FF2B5EF4-FFF2-40B4-BE49-F238E27FC236}">
                <a16:creationId xmlns:a16="http://schemas.microsoft.com/office/drawing/2014/main" id="{63802747-E703-4B82-9ABD-FB4D4F85D23D}"/>
              </a:ext>
            </a:extLst>
          </p:cNvPr>
          <p:cNvSpPr txBox="1"/>
          <p:nvPr/>
        </p:nvSpPr>
        <p:spPr>
          <a:xfrm>
            <a:off x="188535" y="774347"/>
            <a:ext cx="190539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Methods</a:t>
            </a:r>
          </a:p>
        </p:txBody>
      </p:sp>
      <p:sp>
        <p:nvSpPr>
          <p:cNvPr id="38" name="Question 2">
            <a:hlinkClick r:id="rId17" action="ppaction://hlinksldjump"/>
            <a:extLst>
              <a:ext uri="{FF2B5EF4-FFF2-40B4-BE49-F238E27FC236}">
                <a16:creationId xmlns:a16="http://schemas.microsoft.com/office/drawing/2014/main" id="{A34B6877-E773-4144-8487-9A1409C1B86E}"/>
              </a:ext>
            </a:extLst>
          </p:cNvPr>
          <p:cNvSpPr txBox="1"/>
          <p:nvPr/>
        </p:nvSpPr>
        <p:spPr>
          <a:xfrm>
            <a:off x="188535" y="1355958"/>
            <a:ext cx="190539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Contraindications</a:t>
            </a:r>
          </a:p>
        </p:txBody>
      </p:sp>
      <p:grpSp>
        <p:nvGrpSpPr>
          <p:cNvPr id="39" name="Group 38">
            <a:extLst>
              <a:ext uri="{FF2B5EF4-FFF2-40B4-BE49-F238E27FC236}">
                <a16:creationId xmlns:a16="http://schemas.microsoft.com/office/drawing/2014/main" id="{133EFF43-C1A7-6643-B7D5-39211F5EC92E}"/>
              </a:ext>
            </a:extLst>
          </p:cNvPr>
          <p:cNvGrpSpPr/>
          <p:nvPr/>
        </p:nvGrpSpPr>
        <p:grpSpPr>
          <a:xfrm>
            <a:off x="206226" y="4026092"/>
            <a:ext cx="3031977" cy="1952806"/>
            <a:chOff x="2508321" y="126116"/>
            <a:chExt cx="3031977" cy="1952806"/>
          </a:xfrm>
        </p:grpSpPr>
        <p:pic>
          <p:nvPicPr>
            <p:cNvPr id="40" name="Picture 39" descr="Qr code&#10;&#10;Description automatically generated">
              <a:extLst>
                <a:ext uri="{FF2B5EF4-FFF2-40B4-BE49-F238E27FC236}">
                  <a16:creationId xmlns:a16="http://schemas.microsoft.com/office/drawing/2014/main" id="{7B583703-5080-9F4F-946F-B85EBA33AC4F}"/>
                </a:ext>
              </a:extLst>
            </p:cNvPr>
            <p:cNvPicPr>
              <a:picLocks noChangeAspect="1"/>
            </p:cNvPicPr>
            <p:nvPr/>
          </p:nvPicPr>
          <p:blipFill>
            <a:blip r:embed="rId18" cstate="print">
              <a:extLst>
                <a:ext uri="{28A0092B-C50C-407E-A947-70E740481C1C}">
                  <a14:useLocalDpi xmlns:a14="http://schemas.microsoft.com/office/drawing/2010/main"/>
                </a:ext>
              </a:extLst>
            </a:blip>
            <a:stretch>
              <a:fillRect/>
            </a:stretch>
          </p:blipFill>
          <p:spPr>
            <a:xfrm>
              <a:off x="3957013" y="511285"/>
              <a:ext cx="1549400" cy="1549400"/>
            </a:xfrm>
            <a:prstGeom prst="rect">
              <a:avLst/>
            </a:prstGeom>
          </p:spPr>
        </p:pic>
        <p:pic>
          <p:nvPicPr>
            <p:cNvPr id="41" name="Picture 2" descr="Contraception Point-of-Care on the App Store">
              <a:extLst>
                <a:ext uri="{FF2B5EF4-FFF2-40B4-BE49-F238E27FC236}">
                  <a16:creationId xmlns:a16="http://schemas.microsoft.com/office/drawing/2014/main" id="{EA024174-A2B9-5849-AAED-E2D3C1EEAB2C}"/>
                </a:ext>
              </a:extLst>
            </p:cNvPr>
            <p:cNvPicPr>
              <a:picLocks noChangeAspect="1" noChangeArrowheads="1"/>
            </p:cNvPicPr>
            <p:nvPr/>
          </p:nvPicPr>
          <p:blipFill rotWithShape="1">
            <a:blip r:embed="rId19" cstate="print">
              <a:extLst>
                <a:ext uri="{28A0092B-C50C-407E-A947-70E740481C1C}">
                  <a14:useLocalDpi xmlns:a14="http://schemas.microsoft.com/office/drawing/2010/main"/>
                </a:ext>
              </a:extLst>
            </a:blip>
            <a:srcRect/>
            <a:stretch/>
          </p:blipFill>
          <p:spPr bwMode="auto">
            <a:xfrm>
              <a:off x="2589725" y="635044"/>
              <a:ext cx="1285993" cy="1278225"/>
            </a:xfrm>
            <a:prstGeom prst="roundRect">
              <a:avLst>
                <a:gd name="adj" fmla="val 24459"/>
              </a:avLst>
            </a:prstGeom>
            <a:noFill/>
            <a:extLst>
              <a:ext uri="{909E8E84-426E-40DD-AFC4-6F175D3DCCD1}">
                <a14:hiddenFill xmlns:a14="http://schemas.microsoft.com/office/drawing/2010/main">
                  <a:solidFill>
                    <a:srgbClr val="FFFFFF"/>
                  </a:solidFill>
                </a14:hiddenFill>
              </a:ext>
            </a:extLst>
          </p:spPr>
        </p:pic>
        <p:sp>
          <p:nvSpPr>
            <p:cNvPr id="42" name="TextBox 41">
              <a:extLst>
                <a:ext uri="{FF2B5EF4-FFF2-40B4-BE49-F238E27FC236}">
                  <a16:creationId xmlns:a16="http://schemas.microsoft.com/office/drawing/2014/main" id="{11CDE8EF-0422-904E-95EE-64B736E4DB3B}"/>
                </a:ext>
              </a:extLst>
            </p:cNvPr>
            <p:cNvSpPr txBox="1"/>
            <p:nvPr/>
          </p:nvSpPr>
          <p:spPr>
            <a:xfrm>
              <a:off x="2508321" y="126116"/>
              <a:ext cx="3031977" cy="1952806"/>
            </a:xfrm>
            <a:prstGeom prst="rect">
              <a:avLst/>
            </a:prstGeom>
            <a:noFill/>
            <a:ln>
              <a:solidFill>
                <a:schemeClr val="tx1"/>
              </a:solidFill>
            </a:ln>
          </p:spPr>
          <p:txBody>
            <a:bodyPr wrap="square" rtlCol="0">
              <a:noAutofit/>
            </a:bodyPr>
            <a:lstStyle/>
            <a:p>
              <a:pPr algn="ctr"/>
              <a:r>
                <a:rPr lang="en-US" b="1"/>
                <a:t>Contraception App</a:t>
              </a:r>
            </a:p>
          </p:txBody>
        </p:sp>
      </p:grpSp>
      <p:pic>
        <p:nvPicPr>
          <p:cNvPr id="145" name="Graphic 144" descr="Cursor with solid fill">
            <a:extLst>
              <a:ext uri="{FF2B5EF4-FFF2-40B4-BE49-F238E27FC236}">
                <a16:creationId xmlns:a16="http://schemas.microsoft.com/office/drawing/2014/main" id="{889EBA47-30E6-4343-82EE-1202DA9A2183}"/>
              </a:ext>
            </a:extLst>
          </p:cNvPr>
          <p:cNvPicPr>
            <a:picLocks noChangeAspect="1"/>
          </p:cNvPicPr>
          <p:nvPr/>
        </p:nvPicPr>
        <p:blipFill>
          <a:blip r:embed="rId20">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1968119" y="1625692"/>
            <a:ext cx="296010" cy="301752"/>
          </a:xfrm>
          <a:prstGeom prst="rect">
            <a:avLst/>
          </a:prstGeom>
        </p:spPr>
      </p:pic>
      <p:pic>
        <p:nvPicPr>
          <p:cNvPr id="149" name="Graphic 148" descr="Cursor with solid fill">
            <a:extLst>
              <a:ext uri="{FF2B5EF4-FFF2-40B4-BE49-F238E27FC236}">
                <a16:creationId xmlns:a16="http://schemas.microsoft.com/office/drawing/2014/main" id="{777A0882-6A90-439B-AAE2-BE784D9265B3}"/>
              </a:ext>
            </a:extLst>
          </p:cNvPr>
          <p:cNvPicPr>
            <a:picLocks noChangeAspect="1"/>
          </p:cNvPicPr>
          <p:nvPr/>
        </p:nvPicPr>
        <p:blipFill>
          <a:blip r:embed="rId20">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1968119" y="2189058"/>
            <a:ext cx="296010" cy="301752"/>
          </a:xfrm>
          <a:prstGeom prst="rect">
            <a:avLst/>
          </a:prstGeom>
        </p:spPr>
      </p:pic>
      <p:pic>
        <p:nvPicPr>
          <p:cNvPr id="156" name="Graphic 155" descr="Cursor with solid fill">
            <a:extLst>
              <a:ext uri="{FF2B5EF4-FFF2-40B4-BE49-F238E27FC236}">
                <a16:creationId xmlns:a16="http://schemas.microsoft.com/office/drawing/2014/main" id="{7F6D6544-D22D-4FCA-8CBC-88D6439E9A17}"/>
              </a:ext>
            </a:extLst>
          </p:cNvPr>
          <p:cNvPicPr>
            <a:picLocks noChangeAspect="1"/>
          </p:cNvPicPr>
          <p:nvPr/>
        </p:nvPicPr>
        <p:blipFill>
          <a:blip r:embed="rId20">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1968119" y="2781085"/>
            <a:ext cx="296010" cy="301752"/>
          </a:xfrm>
          <a:prstGeom prst="rect">
            <a:avLst/>
          </a:prstGeom>
        </p:spPr>
      </p:pic>
      <p:sp>
        <p:nvSpPr>
          <p:cNvPr id="43" name="sub-q 1 button">
            <a:hlinkClick r:id="rId22" action="ppaction://hlinksldjump"/>
            <a:extLst>
              <a:ext uri="{FF2B5EF4-FFF2-40B4-BE49-F238E27FC236}">
                <a16:creationId xmlns:a16="http://schemas.microsoft.com/office/drawing/2014/main" id="{2AB9565D-3B39-4A36-B90E-D32CF885CAE0}"/>
              </a:ext>
            </a:extLst>
          </p:cNvPr>
          <p:cNvSpPr txBox="1"/>
          <p:nvPr/>
        </p:nvSpPr>
        <p:spPr>
          <a:xfrm>
            <a:off x="188535" y="6289886"/>
            <a:ext cx="1905392"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Bonus Resources</a:t>
            </a:r>
          </a:p>
        </p:txBody>
      </p:sp>
      <p:pic>
        <p:nvPicPr>
          <p:cNvPr id="44" name="Graphic 43" descr="Cursor with solid fill">
            <a:extLst>
              <a:ext uri="{FF2B5EF4-FFF2-40B4-BE49-F238E27FC236}">
                <a16:creationId xmlns:a16="http://schemas.microsoft.com/office/drawing/2014/main" id="{F09C5F7C-E267-4A17-9958-96C2628ECED3}"/>
              </a:ext>
            </a:extLst>
          </p:cNvPr>
          <p:cNvPicPr>
            <a:picLocks noChangeAspect="1"/>
          </p:cNvPicPr>
          <p:nvPr/>
        </p:nvPicPr>
        <p:blipFill>
          <a:blip r:embed="rId20">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1968119" y="6556248"/>
            <a:ext cx="296010" cy="301752"/>
          </a:xfrm>
          <a:prstGeom prst="rect">
            <a:avLst/>
          </a:prstGeom>
        </p:spPr>
      </p:pic>
      <p:pic>
        <p:nvPicPr>
          <p:cNvPr id="34" name="Graphic 33" descr="Cursor with solid fill">
            <a:extLst>
              <a:ext uri="{FF2B5EF4-FFF2-40B4-BE49-F238E27FC236}">
                <a16:creationId xmlns:a16="http://schemas.microsoft.com/office/drawing/2014/main" id="{8D20DD10-0DCC-4D14-A4BA-0BE34A7D85A8}"/>
              </a:ext>
            </a:extLst>
          </p:cNvPr>
          <p:cNvPicPr>
            <a:picLocks noChangeAspect="1"/>
          </p:cNvPicPr>
          <p:nvPr/>
        </p:nvPicPr>
        <p:blipFill>
          <a:blip r:embed="rId20">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1968119" y="458872"/>
            <a:ext cx="296010" cy="301752"/>
          </a:xfrm>
          <a:prstGeom prst="rect">
            <a:avLst/>
          </a:prstGeom>
        </p:spPr>
      </p:pic>
      <p:pic>
        <p:nvPicPr>
          <p:cNvPr id="46" name="Graphic 45" descr="Cursor with solid fill">
            <a:extLst>
              <a:ext uri="{FF2B5EF4-FFF2-40B4-BE49-F238E27FC236}">
                <a16:creationId xmlns:a16="http://schemas.microsoft.com/office/drawing/2014/main" id="{2D1F2610-88C6-4FF0-990A-82839B57702D}"/>
              </a:ext>
            </a:extLst>
          </p:cNvPr>
          <p:cNvPicPr>
            <a:picLocks noChangeAspect="1"/>
          </p:cNvPicPr>
          <p:nvPr/>
        </p:nvPicPr>
        <p:blipFill>
          <a:blip r:embed="rId20">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1968119" y="1039533"/>
            <a:ext cx="296010" cy="301752"/>
          </a:xfrm>
          <a:prstGeom prst="rect">
            <a:avLst/>
          </a:prstGeom>
        </p:spPr>
      </p:pic>
    </p:spTree>
    <p:extLst>
      <p:ext uri="{BB962C8B-B14F-4D97-AF65-F5344CB8AC3E}">
        <p14:creationId xmlns:p14="http://schemas.microsoft.com/office/powerpoint/2010/main" val="128218817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2B139012-1889-764D-BA22-4D4B49C7D0B3}"/>
              </a:ext>
            </a:extLst>
          </p:cNvPr>
          <p:cNvSpPr txBox="1"/>
          <p:nvPr/>
        </p:nvSpPr>
        <p:spPr>
          <a:xfrm>
            <a:off x="3905275" y="124305"/>
            <a:ext cx="6659070" cy="954107"/>
          </a:xfrm>
          <a:prstGeom prst="rect">
            <a:avLst/>
          </a:prstGeom>
          <a:noFill/>
        </p:spPr>
        <p:txBody>
          <a:bodyPr wrap="square" rtlCol="0">
            <a:spAutoFit/>
          </a:bodyPr>
          <a:lstStyle/>
          <a:p>
            <a:pPr algn="ctr"/>
            <a:r>
              <a:rPr lang="en-US" sz="2800" b="1" dirty="0"/>
              <a:t>What phrasing do you use to discuss contraception options with your patients? </a:t>
            </a:r>
          </a:p>
        </p:txBody>
      </p:sp>
      <p:sp>
        <p:nvSpPr>
          <p:cNvPr id="3" name="PA button">
            <a:extLst>
              <a:ext uri="{FF2B5EF4-FFF2-40B4-BE49-F238E27FC236}">
                <a16:creationId xmlns:a16="http://schemas.microsoft.com/office/drawing/2014/main" id="{D5E876E6-500F-4C46-8494-ED93B863A6A9}"/>
              </a:ext>
            </a:extLst>
          </p:cNvPr>
          <p:cNvSpPr/>
          <p:nvPr/>
        </p:nvSpPr>
        <p:spPr>
          <a:xfrm>
            <a:off x="2965018" y="2158283"/>
            <a:ext cx="1626772" cy="1055608"/>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txBody>
          <a:bodyPr wrap="square">
            <a:spAutoFit/>
          </a:bodyPr>
          <a:lstStyle/>
          <a:p>
            <a:r>
              <a:rPr lang="en-US" sz="2800" b="1" dirty="0">
                <a:ea typeface="Times New Roman" panose="02020603050405020304" pitchFamily="18" charset="0"/>
              </a:rPr>
              <a:t>P</a:t>
            </a:r>
            <a:r>
              <a:rPr lang="en-US" sz="1600" dirty="0">
                <a:ea typeface="Times New Roman" panose="02020603050405020304" pitchFamily="18" charset="0"/>
              </a:rPr>
              <a:t>regnancy </a:t>
            </a:r>
          </a:p>
          <a:p>
            <a:r>
              <a:rPr lang="en-US" sz="2800" b="1" dirty="0">
                <a:ea typeface="Times New Roman" panose="02020603050405020304" pitchFamily="18" charset="0"/>
              </a:rPr>
              <a:t>A</a:t>
            </a:r>
            <a:r>
              <a:rPr lang="en-US" sz="1600" dirty="0">
                <a:ea typeface="Times New Roman" panose="02020603050405020304" pitchFamily="18" charset="0"/>
              </a:rPr>
              <a:t>ttitudes?</a:t>
            </a:r>
            <a:endParaRPr lang="en-US" sz="1600" dirty="0"/>
          </a:p>
        </p:txBody>
      </p:sp>
      <p:sp>
        <p:nvSpPr>
          <p:cNvPr id="4" name="Timing button">
            <a:extLst>
              <a:ext uri="{FF2B5EF4-FFF2-40B4-BE49-F238E27FC236}">
                <a16:creationId xmlns:a16="http://schemas.microsoft.com/office/drawing/2014/main" id="{757882C1-6EA9-F34A-B686-22B4AAC50437}"/>
              </a:ext>
            </a:extLst>
          </p:cNvPr>
          <p:cNvSpPr/>
          <p:nvPr/>
        </p:nvSpPr>
        <p:spPr>
          <a:xfrm>
            <a:off x="2965019" y="3785276"/>
            <a:ext cx="1626772" cy="578882"/>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txBody>
          <a:bodyPr wrap="square">
            <a:spAutoFit/>
          </a:bodyPr>
          <a:lstStyle/>
          <a:p>
            <a:r>
              <a:rPr lang="en-US" sz="2800" b="1" dirty="0">
                <a:ea typeface="Times New Roman" panose="02020603050405020304" pitchFamily="18" charset="0"/>
              </a:rPr>
              <a:t>T</a:t>
            </a:r>
            <a:r>
              <a:rPr lang="en-US" sz="1600" dirty="0">
                <a:ea typeface="Times New Roman" panose="02020603050405020304" pitchFamily="18" charset="0"/>
              </a:rPr>
              <a:t>iming</a:t>
            </a:r>
            <a:r>
              <a:rPr lang="en-US" sz="1600" dirty="0">
                <a:solidFill>
                  <a:srgbClr val="002060"/>
                </a:solidFill>
                <a:ea typeface="Times New Roman" panose="02020603050405020304" pitchFamily="18" charset="0"/>
              </a:rPr>
              <a:t>? </a:t>
            </a:r>
          </a:p>
        </p:txBody>
      </p:sp>
      <p:sp>
        <p:nvSpPr>
          <p:cNvPr id="5" name="How button">
            <a:extLst>
              <a:ext uri="{FF2B5EF4-FFF2-40B4-BE49-F238E27FC236}">
                <a16:creationId xmlns:a16="http://schemas.microsoft.com/office/drawing/2014/main" id="{4B1C89A8-00F7-574D-AAC7-CD8AAA2CBBB7}"/>
              </a:ext>
            </a:extLst>
          </p:cNvPr>
          <p:cNvSpPr/>
          <p:nvPr/>
        </p:nvSpPr>
        <p:spPr>
          <a:xfrm>
            <a:off x="2965020" y="4948034"/>
            <a:ext cx="1626772" cy="851297"/>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txBody>
          <a:bodyPr wrap="square">
            <a:spAutoFit/>
          </a:bodyPr>
          <a:lstStyle/>
          <a:p>
            <a:pPr>
              <a:tabLst>
                <a:tab pos="182880" algn="l"/>
                <a:tab pos="457200" algn="l"/>
              </a:tabLst>
            </a:pPr>
            <a:r>
              <a:rPr lang="en-US" sz="2800" b="1" dirty="0">
                <a:ea typeface="Times New Roman" panose="02020603050405020304" pitchFamily="18" charset="0"/>
              </a:rPr>
              <a:t>H</a:t>
            </a:r>
            <a:r>
              <a:rPr lang="en-US" sz="1600" dirty="0">
                <a:ea typeface="Times New Roman" panose="02020603050405020304" pitchFamily="18" charset="0"/>
              </a:rPr>
              <a:t>ow important       is prevention?</a:t>
            </a:r>
            <a:endParaRPr lang="en-US" sz="1600" dirty="0"/>
          </a:p>
        </p:txBody>
      </p:sp>
      <p:sp>
        <p:nvSpPr>
          <p:cNvPr id="37" name="TextBox 36">
            <a:extLst>
              <a:ext uri="{FF2B5EF4-FFF2-40B4-BE49-F238E27FC236}">
                <a16:creationId xmlns:a16="http://schemas.microsoft.com/office/drawing/2014/main" id="{718F357D-C2F1-4742-9BB9-4CD207D421E3}"/>
              </a:ext>
            </a:extLst>
          </p:cNvPr>
          <p:cNvSpPr txBox="1"/>
          <p:nvPr/>
        </p:nvSpPr>
        <p:spPr>
          <a:xfrm>
            <a:off x="4805547" y="2270589"/>
            <a:ext cx="2645178" cy="830997"/>
          </a:xfrm>
          <a:prstGeom prst="rect">
            <a:avLst/>
          </a:prstGeom>
          <a:noFill/>
        </p:spPr>
        <p:txBody>
          <a:bodyPr wrap="square" rtlCol="0">
            <a:spAutoFit/>
          </a:bodyPr>
          <a:lstStyle/>
          <a:p>
            <a:pPr algn="ctr"/>
            <a:r>
              <a:rPr lang="en-US" sz="1600" dirty="0">
                <a:ea typeface="Times New Roman" panose="02020603050405020304" pitchFamily="18" charset="0"/>
              </a:rPr>
              <a:t>“Do you think you might like to have (more) children at some point?”</a:t>
            </a:r>
            <a:endParaRPr lang="en-US" sz="1600" dirty="0"/>
          </a:p>
        </p:txBody>
      </p:sp>
      <p:sp>
        <p:nvSpPr>
          <p:cNvPr id="25" name="TextBox 24">
            <a:extLst>
              <a:ext uri="{FF2B5EF4-FFF2-40B4-BE49-F238E27FC236}">
                <a16:creationId xmlns:a16="http://schemas.microsoft.com/office/drawing/2014/main" id="{0E428FB3-57B1-2543-96C3-3C7319D757EC}"/>
              </a:ext>
            </a:extLst>
          </p:cNvPr>
          <p:cNvSpPr txBox="1"/>
          <p:nvPr/>
        </p:nvSpPr>
        <p:spPr>
          <a:xfrm>
            <a:off x="5021462" y="3782330"/>
            <a:ext cx="2213348" cy="584775"/>
          </a:xfrm>
          <a:prstGeom prst="rect">
            <a:avLst/>
          </a:prstGeom>
          <a:noFill/>
        </p:spPr>
        <p:txBody>
          <a:bodyPr wrap="square" rtlCol="0">
            <a:spAutoFit/>
          </a:bodyPr>
          <a:lstStyle/>
          <a:p>
            <a:pPr algn="ctr"/>
            <a:r>
              <a:rPr lang="en-US" sz="1600" dirty="0">
                <a:ea typeface="Times New Roman" panose="02020603050405020304" pitchFamily="18" charset="0"/>
              </a:rPr>
              <a:t>“When do you think that might be?”</a:t>
            </a:r>
            <a:endParaRPr lang="en-US" sz="1600" dirty="0"/>
          </a:p>
        </p:txBody>
      </p:sp>
      <p:sp>
        <p:nvSpPr>
          <p:cNvPr id="26" name="TextBox 25">
            <a:extLst>
              <a:ext uri="{FF2B5EF4-FFF2-40B4-BE49-F238E27FC236}">
                <a16:creationId xmlns:a16="http://schemas.microsoft.com/office/drawing/2014/main" id="{A467B02A-D1A9-154D-AAE4-E817F8CE47C1}"/>
              </a:ext>
            </a:extLst>
          </p:cNvPr>
          <p:cNvSpPr txBox="1"/>
          <p:nvPr/>
        </p:nvSpPr>
        <p:spPr>
          <a:xfrm>
            <a:off x="4805547" y="4958184"/>
            <a:ext cx="2645179" cy="830997"/>
          </a:xfrm>
          <a:prstGeom prst="rect">
            <a:avLst/>
          </a:prstGeom>
          <a:noFill/>
        </p:spPr>
        <p:txBody>
          <a:bodyPr wrap="square" rtlCol="0">
            <a:spAutoFit/>
          </a:bodyPr>
          <a:lstStyle/>
          <a:p>
            <a:pPr algn="ctr"/>
            <a:r>
              <a:rPr lang="en-US" sz="1600" dirty="0">
                <a:ea typeface="Times New Roman" panose="02020603050405020304" pitchFamily="18" charset="0"/>
              </a:rPr>
              <a:t>“How important is it to you to prevent pregnancy (until then)?”</a:t>
            </a:r>
            <a:endParaRPr lang="en-US" sz="2400" dirty="0">
              <a:ea typeface="Times New Roman" panose="02020603050405020304" pitchFamily="18" charset="0"/>
            </a:endParaRPr>
          </a:p>
        </p:txBody>
      </p:sp>
      <p:pic>
        <p:nvPicPr>
          <p:cNvPr id="58" name="Graphic 57" descr="Cursor with solid fill">
            <a:extLst>
              <a:ext uri="{FF2B5EF4-FFF2-40B4-BE49-F238E27FC236}">
                <a16:creationId xmlns:a16="http://schemas.microsoft.com/office/drawing/2014/main" id="{483EC596-B378-4613-86FD-CF8F27BCA3F6}"/>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431911" y="3039112"/>
            <a:ext cx="296010" cy="301752"/>
          </a:xfrm>
          <a:prstGeom prst="rect">
            <a:avLst/>
          </a:prstGeom>
        </p:spPr>
      </p:pic>
      <p:pic>
        <p:nvPicPr>
          <p:cNvPr id="59" name="Graphic 58" descr="Cursor with solid fill">
            <a:extLst>
              <a:ext uri="{FF2B5EF4-FFF2-40B4-BE49-F238E27FC236}">
                <a16:creationId xmlns:a16="http://schemas.microsoft.com/office/drawing/2014/main" id="{16448F21-2C84-4BBE-A07C-7912F0B82766}"/>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443785" y="4221348"/>
            <a:ext cx="296010" cy="301752"/>
          </a:xfrm>
          <a:prstGeom prst="rect">
            <a:avLst/>
          </a:prstGeom>
        </p:spPr>
      </p:pic>
      <p:pic>
        <p:nvPicPr>
          <p:cNvPr id="60" name="Graphic 59" descr="Cursor with solid fill">
            <a:extLst>
              <a:ext uri="{FF2B5EF4-FFF2-40B4-BE49-F238E27FC236}">
                <a16:creationId xmlns:a16="http://schemas.microsoft.com/office/drawing/2014/main" id="{EA974CBE-8D00-4BA1-A48E-C322D49F32A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412794" y="5660861"/>
            <a:ext cx="296010" cy="301752"/>
          </a:xfrm>
          <a:prstGeom prst="rect">
            <a:avLst/>
          </a:prstGeom>
        </p:spPr>
      </p:pic>
      <p:pic>
        <p:nvPicPr>
          <p:cNvPr id="72" name="teachIM logo" descr="Icon&#10;&#10;Description automatically generated">
            <a:hlinkClick r:id="rId5"/>
            <a:extLst>
              <a:ext uri="{FF2B5EF4-FFF2-40B4-BE49-F238E27FC236}">
                <a16:creationId xmlns:a16="http://schemas.microsoft.com/office/drawing/2014/main" id="{73FC4551-709B-4F6F-B139-3E5125D501BD}"/>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0804030" y="6374572"/>
            <a:ext cx="1387970" cy="528106"/>
          </a:xfrm>
          <a:prstGeom prst="rect">
            <a:avLst/>
          </a:prstGeom>
        </p:spPr>
      </p:pic>
      <p:sp>
        <p:nvSpPr>
          <p:cNvPr id="34" name="Conversation button">
            <a:extLst>
              <a:ext uri="{FF2B5EF4-FFF2-40B4-BE49-F238E27FC236}">
                <a16:creationId xmlns:a16="http://schemas.microsoft.com/office/drawing/2014/main" id="{585EBC11-0377-4373-A9B3-465FAD5F7F8E}"/>
              </a:ext>
            </a:extLst>
          </p:cNvPr>
          <p:cNvSpPr/>
          <p:nvPr/>
        </p:nvSpPr>
        <p:spPr>
          <a:xfrm>
            <a:off x="4065689" y="1267428"/>
            <a:ext cx="2194306" cy="408623"/>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txBody>
          <a:bodyPr wrap="none">
            <a:spAutoFit/>
          </a:bodyPr>
          <a:lstStyle/>
          <a:p>
            <a:r>
              <a:rPr lang="en-US" b="1" dirty="0">
                <a:ea typeface="Times New Roman" panose="02020603050405020304" pitchFamily="18" charset="0"/>
              </a:rPr>
              <a:t>Conversation opener</a:t>
            </a:r>
            <a:endParaRPr lang="en-US" sz="1100" dirty="0"/>
          </a:p>
        </p:txBody>
      </p:sp>
      <p:sp>
        <p:nvSpPr>
          <p:cNvPr id="41" name="mehtod button">
            <a:extLst>
              <a:ext uri="{FF2B5EF4-FFF2-40B4-BE49-F238E27FC236}">
                <a16:creationId xmlns:a16="http://schemas.microsoft.com/office/drawing/2014/main" id="{70F8486C-A444-4B8F-A9DB-942622D67246}"/>
              </a:ext>
            </a:extLst>
          </p:cNvPr>
          <p:cNvSpPr/>
          <p:nvPr/>
        </p:nvSpPr>
        <p:spPr>
          <a:xfrm>
            <a:off x="8916698" y="1271384"/>
            <a:ext cx="1915386" cy="408623"/>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txBody>
          <a:bodyPr wrap="none">
            <a:spAutoFit/>
          </a:bodyPr>
          <a:lstStyle/>
          <a:p>
            <a:r>
              <a:rPr lang="en-US" b="1" dirty="0">
                <a:ea typeface="Times New Roman" panose="02020603050405020304" pitchFamily="18" charset="0"/>
              </a:rPr>
              <a:t>Method Selection</a:t>
            </a:r>
            <a:endParaRPr lang="en-US" sz="1100" dirty="0"/>
          </a:p>
        </p:txBody>
      </p:sp>
      <p:pic>
        <p:nvPicPr>
          <p:cNvPr id="44" name="Graphic 43" descr="Cursor with solid fill">
            <a:extLst>
              <a:ext uri="{FF2B5EF4-FFF2-40B4-BE49-F238E27FC236}">
                <a16:creationId xmlns:a16="http://schemas.microsoft.com/office/drawing/2014/main" id="{2847D24D-86C4-4830-9E23-16F2BEE4883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684079" y="1561947"/>
            <a:ext cx="296010" cy="301752"/>
          </a:xfrm>
          <a:prstGeom prst="rect">
            <a:avLst/>
          </a:prstGeom>
        </p:spPr>
      </p:pic>
      <p:pic>
        <p:nvPicPr>
          <p:cNvPr id="45" name="Graphic 44" descr="Cursor with solid fill">
            <a:extLst>
              <a:ext uri="{FF2B5EF4-FFF2-40B4-BE49-F238E27FC236}">
                <a16:creationId xmlns:a16="http://schemas.microsoft.com/office/drawing/2014/main" id="{1C08DE17-E350-42DC-BCE3-6A4375C7A57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110714" y="1554188"/>
            <a:ext cx="296010" cy="301752"/>
          </a:xfrm>
          <a:prstGeom prst="rect">
            <a:avLst/>
          </a:prstGeom>
        </p:spPr>
      </p:pic>
      <p:sp>
        <p:nvSpPr>
          <p:cNvPr id="46" name="TextBox 45">
            <a:extLst>
              <a:ext uri="{FF2B5EF4-FFF2-40B4-BE49-F238E27FC236}">
                <a16:creationId xmlns:a16="http://schemas.microsoft.com/office/drawing/2014/main" id="{F4796074-71FF-4487-89A5-745B5D744636}"/>
              </a:ext>
            </a:extLst>
          </p:cNvPr>
          <p:cNvSpPr txBox="1"/>
          <p:nvPr/>
        </p:nvSpPr>
        <p:spPr>
          <a:xfrm>
            <a:off x="8722304" y="2345614"/>
            <a:ext cx="2549399" cy="830997"/>
          </a:xfrm>
          <a:prstGeom prst="rect">
            <a:avLst/>
          </a:prstGeom>
          <a:noFill/>
        </p:spPr>
        <p:txBody>
          <a:bodyPr wrap="square" rtlCol="0">
            <a:spAutoFit/>
          </a:bodyPr>
          <a:lstStyle/>
          <a:p>
            <a:pPr algn="ctr"/>
            <a:r>
              <a:rPr lang="en-US" sz="1600" dirty="0"/>
              <a:t>“What’s the most important thing you’d like your birth control to do for you?”</a:t>
            </a:r>
          </a:p>
        </p:txBody>
      </p:sp>
      <p:sp>
        <p:nvSpPr>
          <p:cNvPr id="50" name="TextBox 49">
            <a:extLst>
              <a:ext uri="{FF2B5EF4-FFF2-40B4-BE49-F238E27FC236}">
                <a16:creationId xmlns:a16="http://schemas.microsoft.com/office/drawing/2014/main" id="{ED30CAE7-36A1-45FB-BA4A-21A0BB19E570}"/>
              </a:ext>
            </a:extLst>
          </p:cNvPr>
          <p:cNvSpPr txBox="1"/>
          <p:nvPr/>
        </p:nvSpPr>
        <p:spPr>
          <a:xfrm>
            <a:off x="8973281" y="3782330"/>
            <a:ext cx="2047444" cy="584775"/>
          </a:xfrm>
          <a:prstGeom prst="rect">
            <a:avLst/>
          </a:prstGeom>
          <a:noFill/>
        </p:spPr>
        <p:txBody>
          <a:bodyPr wrap="square" rtlCol="0">
            <a:spAutoFit/>
          </a:bodyPr>
          <a:lstStyle/>
          <a:p>
            <a:pPr algn="ctr"/>
            <a:r>
              <a:rPr lang="en-US" sz="1600" dirty="0"/>
              <a:t>“What have you tried in the past?”</a:t>
            </a:r>
          </a:p>
        </p:txBody>
      </p:sp>
      <p:sp>
        <p:nvSpPr>
          <p:cNvPr id="54" name="TextBox 53">
            <a:extLst>
              <a:ext uri="{FF2B5EF4-FFF2-40B4-BE49-F238E27FC236}">
                <a16:creationId xmlns:a16="http://schemas.microsoft.com/office/drawing/2014/main" id="{77ADED97-6E37-4D28-98C2-3E3CFAFF9BD3}"/>
              </a:ext>
            </a:extLst>
          </p:cNvPr>
          <p:cNvSpPr txBox="1"/>
          <p:nvPr/>
        </p:nvSpPr>
        <p:spPr>
          <a:xfrm>
            <a:off x="8881494" y="5081294"/>
            <a:ext cx="2231019" cy="584775"/>
          </a:xfrm>
          <a:prstGeom prst="rect">
            <a:avLst/>
          </a:prstGeom>
          <a:noFill/>
        </p:spPr>
        <p:txBody>
          <a:bodyPr wrap="square" rtlCol="0">
            <a:spAutoFit/>
          </a:bodyPr>
          <a:lstStyle/>
          <a:p>
            <a:pPr algn="ctr"/>
            <a:r>
              <a:rPr lang="en-US" sz="1600" dirty="0"/>
              <a:t>“What worked well and what did not?”</a:t>
            </a:r>
          </a:p>
        </p:txBody>
      </p:sp>
      <p:cxnSp>
        <p:nvCxnSpPr>
          <p:cNvPr id="10" name="Straight Connector 9">
            <a:extLst>
              <a:ext uri="{FF2B5EF4-FFF2-40B4-BE49-F238E27FC236}">
                <a16:creationId xmlns:a16="http://schemas.microsoft.com/office/drawing/2014/main" id="{0234C7F5-589B-4F0E-A4D9-4C261EF248C8}"/>
              </a:ext>
            </a:extLst>
          </p:cNvPr>
          <p:cNvCxnSpPr>
            <a:cxnSpLocks/>
          </p:cNvCxnSpPr>
          <p:nvPr/>
        </p:nvCxnSpPr>
        <p:spPr>
          <a:xfrm>
            <a:off x="8004517" y="1878637"/>
            <a:ext cx="0" cy="4329836"/>
          </a:xfrm>
          <a:prstGeom prst="line">
            <a:avLst/>
          </a:prstGeom>
          <a:ln w="28575"/>
        </p:spPr>
        <p:style>
          <a:lnRef idx="1">
            <a:schemeClr val="dk1"/>
          </a:lnRef>
          <a:fillRef idx="0">
            <a:schemeClr val="dk1"/>
          </a:fillRef>
          <a:effectRef idx="0">
            <a:schemeClr val="dk1"/>
          </a:effectRef>
          <a:fontRef idx="minor">
            <a:schemeClr val="tx1"/>
          </a:fontRef>
        </p:style>
      </p:cxnSp>
      <p:sp>
        <p:nvSpPr>
          <p:cNvPr id="32" name="question 1">
            <a:hlinkClick r:id="rId7" action="ppaction://hlinksldjump"/>
            <a:extLst>
              <a:ext uri="{FF2B5EF4-FFF2-40B4-BE49-F238E27FC236}">
                <a16:creationId xmlns:a16="http://schemas.microsoft.com/office/drawing/2014/main" id="{C36051C2-6D51-4971-A812-B948B5156051}"/>
              </a:ext>
            </a:extLst>
          </p:cNvPr>
          <p:cNvSpPr txBox="1"/>
          <p:nvPr/>
        </p:nvSpPr>
        <p:spPr>
          <a:xfrm>
            <a:off x="188535" y="192736"/>
            <a:ext cx="1905394"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chemeClr val="bg1"/>
                </a:solidFill>
              </a:rPr>
              <a:t>PATH Questions</a:t>
            </a:r>
          </a:p>
        </p:txBody>
      </p:sp>
      <p:sp>
        <p:nvSpPr>
          <p:cNvPr id="38" name="question 4">
            <a:hlinkClick r:id="rId8" action="ppaction://hlinksldjump"/>
            <a:extLst>
              <a:ext uri="{FF2B5EF4-FFF2-40B4-BE49-F238E27FC236}">
                <a16:creationId xmlns:a16="http://schemas.microsoft.com/office/drawing/2014/main" id="{290FAD6F-C948-4EA5-AE21-B045FE21BC16}"/>
              </a:ext>
            </a:extLst>
          </p:cNvPr>
          <p:cNvSpPr txBox="1"/>
          <p:nvPr/>
        </p:nvSpPr>
        <p:spPr>
          <a:xfrm>
            <a:off x="188535" y="1937569"/>
            <a:ext cx="190539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Emergency Use</a:t>
            </a:r>
          </a:p>
        </p:txBody>
      </p:sp>
      <p:sp>
        <p:nvSpPr>
          <p:cNvPr id="39" name="Cases">
            <a:hlinkClick r:id="rId9" action="ppaction://hlinksldjump"/>
            <a:extLst>
              <a:ext uri="{FF2B5EF4-FFF2-40B4-BE49-F238E27FC236}">
                <a16:creationId xmlns:a16="http://schemas.microsoft.com/office/drawing/2014/main" id="{A8AAC1A5-382E-4634-9FF8-6F920A5CC55B}"/>
              </a:ext>
            </a:extLst>
          </p:cNvPr>
          <p:cNvSpPr txBox="1"/>
          <p:nvPr/>
        </p:nvSpPr>
        <p:spPr>
          <a:xfrm>
            <a:off x="188535" y="2519180"/>
            <a:ext cx="1905392"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pic>
        <p:nvPicPr>
          <p:cNvPr id="42" name="Graphic 41" descr="Cursor with solid fill">
            <a:extLst>
              <a:ext uri="{FF2B5EF4-FFF2-40B4-BE49-F238E27FC236}">
                <a16:creationId xmlns:a16="http://schemas.microsoft.com/office/drawing/2014/main" id="{5CE34721-BEA1-4FC5-AD8C-C83EAE038944}"/>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68119" y="6556248"/>
            <a:ext cx="296010" cy="301752"/>
          </a:xfrm>
          <a:prstGeom prst="rect">
            <a:avLst/>
          </a:prstGeom>
        </p:spPr>
      </p:pic>
      <p:sp>
        <p:nvSpPr>
          <p:cNvPr id="43" name="question 3">
            <a:hlinkClick r:id="rId10" action="ppaction://hlinksldjump"/>
            <a:extLst>
              <a:ext uri="{FF2B5EF4-FFF2-40B4-BE49-F238E27FC236}">
                <a16:creationId xmlns:a16="http://schemas.microsoft.com/office/drawing/2014/main" id="{79656C6B-94A3-4252-BBD4-C57C7827BB40}"/>
              </a:ext>
            </a:extLst>
          </p:cNvPr>
          <p:cNvSpPr txBox="1"/>
          <p:nvPr/>
        </p:nvSpPr>
        <p:spPr>
          <a:xfrm>
            <a:off x="188535" y="774347"/>
            <a:ext cx="190539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Methods</a:t>
            </a:r>
          </a:p>
        </p:txBody>
      </p:sp>
      <p:sp>
        <p:nvSpPr>
          <p:cNvPr id="55" name="Question 2">
            <a:hlinkClick r:id="rId11" action="ppaction://hlinksldjump"/>
            <a:extLst>
              <a:ext uri="{FF2B5EF4-FFF2-40B4-BE49-F238E27FC236}">
                <a16:creationId xmlns:a16="http://schemas.microsoft.com/office/drawing/2014/main" id="{A19BDA69-AD5B-47EA-A39F-8EBE08C63309}"/>
              </a:ext>
            </a:extLst>
          </p:cNvPr>
          <p:cNvSpPr txBox="1"/>
          <p:nvPr/>
        </p:nvSpPr>
        <p:spPr>
          <a:xfrm>
            <a:off x="188535" y="1355958"/>
            <a:ext cx="190539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Contraindications</a:t>
            </a:r>
          </a:p>
        </p:txBody>
      </p:sp>
      <p:pic>
        <p:nvPicPr>
          <p:cNvPr id="57" name="Graphic 56" descr="Cursor with solid fill">
            <a:extLst>
              <a:ext uri="{FF2B5EF4-FFF2-40B4-BE49-F238E27FC236}">
                <a16:creationId xmlns:a16="http://schemas.microsoft.com/office/drawing/2014/main" id="{73F013A3-6582-4DE3-8009-718BF08AA60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68119" y="1625692"/>
            <a:ext cx="296010" cy="301752"/>
          </a:xfrm>
          <a:prstGeom prst="rect">
            <a:avLst/>
          </a:prstGeom>
        </p:spPr>
      </p:pic>
      <p:pic>
        <p:nvPicPr>
          <p:cNvPr id="61" name="Graphic 60" descr="Cursor with solid fill">
            <a:extLst>
              <a:ext uri="{FF2B5EF4-FFF2-40B4-BE49-F238E27FC236}">
                <a16:creationId xmlns:a16="http://schemas.microsoft.com/office/drawing/2014/main" id="{110A0361-7340-4921-9D6D-3B47E05C7EB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68119" y="2189058"/>
            <a:ext cx="296010" cy="301752"/>
          </a:xfrm>
          <a:prstGeom prst="rect">
            <a:avLst/>
          </a:prstGeom>
        </p:spPr>
      </p:pic>
      <p:pic>
        <p:nvPicPr>
          <p:cNvPr id="62" name="Graphic 61" descr="Cursor with solid fill">
            <a:extLst>
              <a:ext uri="{FF2B5EF4-FFF2-40B4-BE49-F238E27FC236}">
                <a16:creationId xmlns:a16="http://schemas.microsoft.com/office/drawing/2014/main" id="{D2E4F7B2-A400-48CD-B26A-F0B609BFB9E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68119" y="2781085"/>
            <a:ext cx="296010" cy="301752"/>
          </a:xfrm>
          <a:prstGeom prst="rect">
            <a:avLst/>
          </a:prstGeom>
        </p:spPr>
      </p:pic>
      <p:sp>
        <p:nvSpPr>
          <p:cNvPr id="64" name="Conversation button">
            <a:extLst>
              <a:ext uri="{FF2B5EF4-FFF2-40B4-BE49-F238E27FC236}">
                <a16:creationId xmlns:a16="http://schemas.microsoft.com/office/drawing/2014/main" id="{4DE8ABEE-5578-4A52-8110-106CF777B356}"/>
              </a:ext>
            </a:extLst>
          </p:cNvPr>
          <p:cNvSpPr/>
          <p:nvPr/>
        </p:nvSpPr>
        <p:spPr>
          <a:xfrm>
            <a:off x="4065689" y="1259656"/>
            <a:ext cx="2194306" cy="408623"/>
          </a:xfrm>
          <a:prstGeom prst="roundRect">
            <a:avLst/>
          </a:prstGeom>
          <a:solidFill>
            <a:schemeClr val="tx1"/>
          </a:solidFill>
          <a:ln w="38100">
            <a:solidFill>
              <a:schemeClr val="tx1"/>
            </a:solidFill>
          </a:ln>
          <a:effectLst/>
        </p:spPr>
        <p:txBody>
          <a:bodyPr wrap="none">
            <a:spAutoFit/>
          </a:bodyPr>
          <a:lstStyle/>
          <a:p>
            <a:r>
              <a:rPr lang="en-US" b="1" dirty="0">
                <a:solidFill>
                  <a:schemeClr val="bg1"/>
                </a:solidFill>
                <a:ea typeface="Times New Roman" panose="02020603050405020304" pitchFamily="18" charset="0"/>
              </a:rPr>
              <a:t>Conversation opener</a:t>
            </a:r>
            <a:endParaRPr lang="en-US" sz="1100" dirty="0">
              <a:solidFill>
                <a:schemeClr val="bg1"/>
              </a:solidFill>
            </a:endParaRPr>
          </a:p>
        </p:txBody>
      </p:sp>
      <p:sp>
        <p:nvSpPr>
          <p:cNvPr id="65" name="PA button">
            <a:extLst>
              <a:ext uri="{FF2B5EF4-FFF2-40B4-BE49-F238E27FC236}">
                <a16:creationId xmlns:a16="http://schemas.microsoft.com/office/drawing/2014/main" id="{B1AC2B06-1E3A-4395-BB86-5D7154C3B225}"/>
              </a:ext>
            </a:extLst>
          </p:cNvPr>
          <p:cNvSpPr/>
          <p:nvPr/>
        </p:nvSpPr>
        <p:spPr>
          <a:xfrm>
            <a:off x="2962296" y="2158283"/>
            <a:ext cx="1626772" cy="1055608"/>
          </a:xfrm>
          <a:prstGeom prst="roundRect">
            <a:avLst/>
          </a:prstGeom>
          <a:solidFill>
            <a:schemeClr val="bg1"/>
          </a:solidFill>
          <a:ln w="38100">
            <a:solidFill>
              <a:schemeClr val="tx1"/>
            </a:solidFill>
          </a:ln>
          <a:effectLst/>
        </p:spPr>
        <p:txBody>
          <a:bodyPr wrap="square">
            <a:spAutoFit/>
          </a:bodyPr>
          <a:lstStyle/>
          <a:p>
            <a:r>
              <a:rPr lang="en-US" sz="2800" b="1" dirty="0">
                <a:ea typeface="Times New Roman" panose="02020603050405020304" pitchFamily="18" charset="0"/>
              </a:rPr>
              <a:t>P</a:t>
            </a:r>
            <a:r>
              <a:rPr lang="en-US" sz="1600" dirty="0">
                <a:ea typeface="Times New Roman" panose="02020603050405020304" pitchFamily="18" charset="0"/>
              </a:rPr>
              <a:t>regnancy </a:t>
            </a:r>
          </a:p>
          <a:p>
            <a:r>
              <a:rPr lang="en-US" sz="2800" b="1" dirty="0">
                <a:ea typeface="Times New Roman" panose="02020603050405020304" pitchFamily="18" charset="0"/>
              </a:rPr>
              <a:t>A</a:t>
            </a:r>
            <a:r>
              <a:rPr lang="en-US" sz="1600" dirty="0">
                <a:ea typeface="Times New Roman" panose="02020603050405020304" pitchFamily="18" charset="0"/>
              </a:rPr>
              <a:t>ttitudes?</a:t>
            </a:r>
            <a:endParaRPr lang="en-US" sz="1600" dirty="0"/>
          </a:p>
        </p:txBody>
      </p:sp>
      <p:sp>
        <p:nvSpPr>
          <p:cNvPr id="66" name="Timing button">
            <a:extLst>
              <a:ext uri="{FF2B5EF4-FFF2-40B4-BE49-F238E27FC236}">
                <a16:creationId xmlns:a16="http://schemas.microsoft.com/office/drawing/2014/main" id="{5BFF3039-7FA6-4B42-B67F-BCE077D7B270}"/>
              </a:ext>
            </a:extLst>
          </p:cNvPr>
          <p:cNvSpPr/>
          <p:nvPr/>
        </p:nvSpPr>
        <p:spPr>
          <a:xfrm>
            <a:off x="2962297" y="3785276"/>
            <a:ext cx="1626772" cy="578882"/>
          </a:xfrm>
          <a:prstGeom prst="roundRect">
            <a:avLst/>
          </a:prstGeom>
          <a:solidFill>
            <a:schemeClr val="bg1"/>
          </a:solidFill>
          <a:ln w="38100">
            <a:solidFill>
              <a:schemeClr val="tx1"/>
            </a:solidFill>
          </a:ln>
          <a:effectLst/>
        </p:spPr>
        <p:txBody>
          <a:bodyPr wrap="square">
            <a:spAutoFit/>
          </a:bodyPr>
          <a:lstStyle/>
          <a:p>
            <a:r>
              <a:rPr lang="en-US" sz="2800" b="1" dirty="0">
                <a:ea typeface="Times New Roman" panose="02020603050405020304" pitchFamily="18" charset="0"/>
              </a:rPr>
              <a:t>T</a:t>
            </a:r>
            <a:r>
              <a:rPr lang="en-US" sz="1600" dirty="0">
                <a:ea typeface="Times New Roman" panose="02020603050405020304" pitchFamily="18" charset="0"/>
              </a:rPr>
              <a:t>iming</a:t>
            </a:r>
            <a:r>
              <a:rPr lang="en-US" sz="1600" dirty="0">
                <a:solidFill>
                  <a:srgbClr val="002060"/>
                </a:solidFill>
                <a:ea typeface="Times New Roman" panose="02020603050405020304" pitchFamily="18" charset="0"/>
              </a:rPr>
              <a:t>? </a:t>
            </a:r>
          </a:p>
        </p:txBody>
      </p:sp>
      <p:sp>
        <p:nvSpPr>
          <p:cNvPr id="67" name="How button">
            <a:extLst>
              <a:ext uri="{FF2B5EF4-FFF2-40B4-BE49-F238E27FC236}">
                <a16:creationId xmlns:a16="http://schemas.microsoft.com/office/drawing/2014/main" id="{7EFE1D66-17E0-406E-A981-D304FF9EE596}"/>
              </a:ext>
            </a:extLst>
          </p:cNvPr>
          <p:cNvSpPr/>
          <p:nvPr/>
        </p:nvSpPr>
        <p:spPr>
          <a:xfrm>
            <a:off x="2962298" y="4948034"/>
            <a:ext cx="1626772" cy="851297"/>
          </a:xfrm>
          <a:prstGeom prst="roundRect">
            <a:avLst/>
          </a:prstGeom>
          <a:solidFill>
            <a:schemeClr val="bg1"/>
          </a:solidFill>
          <a:ln w="38100">
            <a:solidFill>
              <a:schemeClr val="tx1"/>
            </a:solidFill>
          </a:ln>
          <a:effectLst/>
        </p:spPr>
        <p:txBody>
          <a:bodyPr wrap="square">
            <a:spAutoFit/>
          </a:bodyPr>
          <a:lstStyle/>
          <a:p>
            <a:pPr>
              <a:tabLst>
                <a:tab pos="182880" algn="l"/>
                <a:tab pos="457200" algn="l"/>
              </a:tabLst>
            </a:pPr>
            <a:r>
              <a:rPr lang="en-US" sz="2800" b="1" dirty="0">
                <a:ea typeface="Times New Roman" panose="02020603050405020304" pitchFamily="18" charset="0"/>
              </a:rPr>
              <a:t>H</a:t>
            </a:r>
            <a:r>
              <a:rPr lang="en-US" sz="1600" dirty="0">
                <a:ea typeface="Times New Roman" panose="02020603050405020304" pitchFamily="18" charset="0"/>
              </a:rPr>
              <a:t>ow important       is prevention?</a:t>
            </a:r>
            <a:endParaRPr lang="en-US" sz="1600" dirty="0"/>
          </a:p>
        </p:txBody>
      </p:sp>
      <p:sp>
        <p:nvSpPr>
          <p:cNvPr id="68" name="mehtod button">
            <a:extLst>
              <a:ext uri="{FF2B5EF4-FFF2-40B4-BE49-F238E27FC236}">
                <a16:creationId xmlns:a16="http://schemas.microsoft.com/office/drawing/2014/main" id="{E5C3B0F2-605A-4D6A-ABFB-6573DEAEF42B}"/>
              </a:ext>
            </a:extLst>
          </p:cNvPr>
          <p:cNvSpPr/>
          <p:nvPr/>
        </p:nvSpPr>
        <p:spPr>
          <a:xfrm>
            <a:off x="8913976" y="1271384"/>
            <a:ext cx="1915386" cy="408623"/>
          </a:xfrm>
          <a:prstGeom prst="roundRect">
            <a:avLst/>
          </a:prstGeom>
          <a:solidFill>
            <a:schemeClr val="tx1"/>
          </a:solidFill>
          <a:ln w="38100">
            <a:solidFill>
              <a:schemeClr val="tx1"/>
            </a:solidFill>
          </a:ln>
          <a:effectLst/>
        </p:spPr>
        <p:txBody>
          <a:bodyPr wrap="none">
            <a:spAutoFit/>
          </a:bodyPr>
          <a:lstStyle/>
          <a:p>
            <a:r>
              <a:rPr lang="en-US" b="1" dirty="0">
                <a:solidFill>
                  <a:schemeClr val="bg1"/>
                </a:solidFill>
                <a:ea typeface="Times New Roman" panose="02020603050405020304" pitchFamily="18" charset="0"/>
              </a:rPr>
              <a:t>Method Selection</a:t>
            </a:r>
            <a:endParaRPr lang="en-US" sz="1100" dirty="0">
              <a:solidFill>
                <a:schemeClr val="bg1"/>
              </a:solidFill>
            </a:endParaRPr>
          </a:p>
        </p:txBody>
      </p:sp>
      <p:pic>
        <p:nvPicPr>
          <p:cNvPr id="48" name="Graphic 47" descr="Cursor with solid fill">
            <a:extLst>
              <a:ext uri="{FF2B5EF4-FFF2-40B4-BE49-F238E27FC236}">
                <a16:creationId xmlns:a16="http://schemas.microsoft.com/office/drawing/2014/main" id="{81A0DCBE-BC8A-43D9-9C18-DD7A87CF24F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68119" y="1039533"/>
            <a:ext cx="296010" cy="301752"/>
          </a:xfrm>
          <a:prstGeom prst="rect">
            <a:avLst/>
          </a:prstGeom>
        </p:spPr>
      </p:pic>
      <p:sp>
        <p:nvSpPr>
          <p:cNvPr id="47" name="sub-q 1 button">
            <a:hlinkClick r:id="rId12" action="ppaction://hlinksldjump"/>
            <a:extLst>
              <a:ext uri="{FF2B5EF4-FFF2-40B4-BE49-F238E27FC236}">
                <a16:creationId xmlns:a16="http://schemas.microsoft.com/office/drawing/2014/main" id="{F2B9EB39-BBEF-4AC3-80E9-BCDC11231EB0}"/>
              </a:ext>
            </a:extLst>
          </p:cNvPr>
          <p:cNvSpPr txBox="1"/>
          <p:nvPr/>
        </p:nvSpPr>
        <p:spPr>
          <a:xfrm>
            <a:off x="188535" y="6289886"/>
            <a:ext cx="1905392"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Bonus Resources</a:t>
            </a:r>
          </a:p>
        </p:txBody>
      </p:sp>
    </p:spTree>
    <p:extLst>
      <p:ext uri="{BB962C8B-B14F-4D97-AF65-F5344CB8AC3E}">
        <p14:creationId xmlns:p14="http://schemas.microsoft.com/office/powerpoint/2010/main" val="120700360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1"/>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par>
                                <p:cTn id="11" presetID="1" presetClass="exit"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hidden"/>
                                      </p:to>
                                    </p:set>
                                  </p:childTnLst>
                                </p:cTn>
                              </p:par>
                              <p:par>
                                <p:cTn id="13" presetID="1" presetClass="entr" presetSubtype="0" fill="hold" grpId="0" nodeType="with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44"/>
                                        </p:tgtEl>
                                        <p:attrNameLst>
                                          <p:attrName>style.visibility</p:attrName>
                                        </p:attrNameLst>
                                      </p:cBhvr>
                                      <p:to>
                                        <p:strVal val="hidden"/>
                                      </p:to>
                                    </p:set>
                                  </p:childTnLst>
                                </p:cTn>
                              </p:par>
                            </p:childTnLst>
                          </p:cTn>
                        </p:par>
                      </p:childTnLst>
                    </p:cTn>
                  </p:par>
                </p:childTnLst>
              </p:cTn>
              <p:nextCondLst>
                <p:cond evt="onClick" delay="0">
                  <p:tgtEl>
                    <p:spTgt spid="41"/>
                  </p:tgtEl>
                </p:cond>
              </p:nextCondLst>
            </p:seq>
            <p:seq concurrent="1" nextAc="seek">
              <p:cTn id="17" restart="whenNotActive" fill="hold" evtFilter="cancelBubble" nodeType="interactiveSeq">
                <p:stCondLst>
                  <p:cond evt="onClick" delay="0">
                    <p:tgtEl>
                      <p:spTgt spid="34"/>
                    </p:tgtEl>
                  </p:cond>
                </p:stCondLst>
                <p:endSync evt="end" delay="0">
                  <p:rtn val="all"/>
                </p:endSync>
                <p:childTnLst>
                  <p:par>
                    <p:cTn id="18" fill="hold">
                      <p:stCondLst>
                        <p:cond delay="0"/>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childTnLst>
                                </p:cTn>
                              </p:par>
                              <p:par>
                                <p:cTn id="22" presetID="1" presetClass="exit" presetSubtype="0" fill="hold" grpId="0" nodeType="withEffect">
                                  <p:stCondLst>
                                    <p:cond delay="0"/>
                                  </p:stCondLst>
                                  <p:childTnLst>
                                    <p:set>
                                      <p:cBhvr>
                                        <p:cTn id="23" dur="1" fill="hold">
                                          <p:stCondLst>
                                            <p:cond delay="0"/>
                                          </p:stCondLst>
                                        </p:cTn>
                                        <p:tgtEl>
                                          <p:spTgt spid="34"/>
                                        </p:tgtEl>
                                        <p:attrNameLst>
                                          <p:attrName>style.visibility</p:attrName>
                                        </p:attrNameLst>
                                      </p:cBhvr>
                                      <p:to>
                                        <p:strVal val="hidden"/>
                                      </p:to>
                                    </p:set>
                                  </p:childTnLst>
                                </p:cTn>
                              </p:par>
                              <p:par>
                                <p:cTn id="24" presetID="1" presetClass="entr" presetSubtype="0" fill="hold" grpId="0" nodeType="withEffect">
                                  <p:stCondLst>
                                    <p:cond delay="0"/>
                                  </p:stCondLst>
                                  <p:childTnLst>
                                    <p:set>
                                      <p:cBhvr>
                                        <p:cTn id="25" dur="1" fill="hold">
                                          <p:stCondLst>
                                            <p:cond delay="0"/>
                                          </p:stCondLst>
                                        </p:cTn>
                                        <p:tgtEl>
                                          <p:spTgt spid="6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4"/>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5"/>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58"/>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59"/>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60"/>
                                        </p:tgtEl>
                                        <p:attrNameLst>
                                          <p:attrName>style.visibility</p:attrName>
                                        </p:attrNameLst>
                                      </p:cBhvr>
                                      <p:to>
                                        <p:strVal val="visible"/>
                                      </p:to>
                                    </p:set>
                                  </p:childTnLst>
                                </p:cTn>
                              </p:par>
                              <p:par>
                                <p:cTn id="36" presetID="1" presetClass="exit" presetSubtype="0" fill="hold" nodeType="withEffect">
                                  <p:stCondLst>
                                    <p:cond delay="0"/>
                                  </p:stCondLst>
                                  <p:childTnLst>
                                    <p:set>
                                      <p:cBhvr>
                                        <p:cTn id="37" dur="1" fill="hold">
                                          <p:stCondLst>
                                            <p:cond delay="0"/>
                                          </p:stCondLst>
                                        </p:cTn>
                                        <p:tgtEl>
                                          <p:spTgt spid="45"/>
                                        </p:tgtEl>
                                        <p:attrNameLst>
                                          <p:attrName>style.visibility</p:attrName>
                                        </p:attrNameLst>
                                      </p:cBhvr>
                                      <p:to>
                                        <p:strVal val="hidden"/>
                                      </p:to>
                                    </p:set>
                                  </p:childTnLst>
                                </p:cTn>
                              </p:par>
                            </p:childTnLst>
                          </p:cTn>
                        </p:par>
                      </p:childTnLst>
                    </p:cTn>
                  </p:par>
                </p:childTnLst>
              </p:cTn>
              <p:nextCondLst>
                <p:cond evt="onClick" delay="0">
                  <p:tgtEl>
                    <p:spTgt spid="34"/>
                  </p:tgtEl>
                </p:cond>
              </p:nextCondLst>
            </p:seq>
            <p:seq concurrent="1" nextAc="seek">
              <p:cTn id="38" restart="whenNotActive" fill="hold" evtFilter="cancelBubble" nodeType="interactiveSeq">
                <p:stCondLst>
                  <p:cond evt="onClick" delay="0">
                    <p:tgtEl>
                      <p:spTgt spid="3"/>
                    </p:tgtEl>
                  </p:cond>
                </p:stCondLst>
                <p:endSync evt="end" delay="0">
                  <p:rtn val="all"/>
                </p:endSync>
                <p:childTnLst>
                  <p:par>
                    <p:cTn id="39" fill="hold">
                      <p:stCondLst>
                        <p:cond delay="0"/>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par>
                                <p:cTn id="43" presetID="1" presetClass="exit" presetSubtype="0" fill="hold" grpId="1" nodeType="withEffect">
                                  <p:stCondLst>
                                    <p:cond delay="0"/>
                                  </p:stCondLst>
                                  <p:childTnLst>
                                    <p:set>
                                      <p:cBhvr>
                                        <p:cTn id="44" dur="1" fill="hold">
                                          <p:stCondLst>
                                            <p:cond delay="0"/>
                                          </p:stCondLst>
                                        </p:cTn>
                                        <p:tgtEl>
                                          <p:spTgt spid="3"/>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65"/>
                                        </p:tgtEl>
                                        <p:attrNameLst>
                                          <p:attrName>style.visibility</p:attrName>
                                        </p:attrNameLst>
                                      </p:cBhvr>
                                      <p:to>
                                        <p:strVal val="visible"/>
                                      </p:to>
                                    </p:set>
                                  </p:childTnLst>
                                </p:cTn>
                              </p:par>
                              <p:par>
                                <p:cTn id="47" presetID="1" presetClass="exit" presetSubtype="0" fill="hold" nodeType="withEffect">
                                  <p:stCondLst>
                                    <p:cond delay="0"/>
                                  </p:stCondLst>
                                  <p:childTnLst>
                                    <p:set>
                                      <p:cBhvr>
                                        <p:cTn id="48" dur="1" fill="hold">
                                          <p:stCondLst>
                                            <p:cond delay="0"/>
                                          </p:stCondLst>
                                        </p:cTn>
                                        <p:tgtEl>
                                          <p:spTgt spid="58"/>
                                        </p:tgtEl>
                                        <p:attrNameLst>
                                          <p:attrName>style.visibility</p:attrName>
                                        </p:attrNameLst>
                                      </p:cBhvr>
                                      <p:to>
                                        <p:strVal val="hidden"/>
                                      </p:to>
                                    </p:set>
                                  </p:childTnLst>
                                </p:cTn>
                              </p:par>
                            </p:childTnLst>
                          </p:cTn>
                        </p:par>
                      </p:childTnLst>
                    </p:cTn>
                  </p:par>
                </p:childTnLst>
              </p:cTn>
              <p:nextCondLst>
                <p:cond evt="onClick" delay="0">
                  <p:tgtEl>
                    <p:spTgt spid="3"/>
                  </p:tgtEl>
                </p:cond>
              </p:nextCondLst>
            </p:seq>
            <p:seq concurrent="1" nextAc="seek">
              <p:cTn id="49" restart="whenNotActive" fill="hold" evtFilter="cancelBubble" nodeType="interactiveSeq">
                <p:stCondLst>
                  <p:cond evt="onClick" delay="0">
                    <p:tgtEl>
                      <p:spTgt spid="4"/>
                    </p:tgtEl>
                  </p:cond>
                </p:stCondLst>
                <p:endSync evt="end" delay="0">
                  <p:rtn val="all"/>
                </p:endSync>
                <p:childTnLst>
                  <p:par>
                    <p:cTn id="50" fill="hold">
                      <p:stCondLst>
                        <p:cond delay="0"/>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25"/>
                                        </p:tgtEl>
                                        <p:attrNameLst>
                                          <p:attrName>style.visibility</p:attrName>
                                        </p:attrNameLst>
                                      </p:cBhvr>
                                      <p:to>
                                        <p:strVal val="visible"/>
                                      </p:to>
                                    </p:set>
                                  </p:childTnLst>
                                </p:cTn>
                              </p:par>
                              <p:par>
                                <p:cTn id="54" presetID="1" presetClass="exit" presetSubtype="0" fill="hold" grpId="1" nodeType="withEffect">
                                  <p:stCondLst>
                                    <p:cond delay="0"/>
                                  </p:stCondLst>
                                  <p:childTnLst>
                                    <p:set>
                                      <p:cBhvr>
                                        <p:cTn id="55" dur="1" fill="hold">
                                          <p:stCondLst>
                                            <p:cond delay="0"/>
                                          </p:stCondLst>
                                        </p:cTn>
                                        <p:tgtEl>
                                          <p:spTgt spid="4"/>
                                        </p:tgtEl>
                                        <p:attrNameLst>
                                          <p:attrName>style.visibility</p:attrName>
                                        </p:attrNameLst>
                                      </p:cBhvr>
                                      <p:to>
                                        <p:strVal val="hidden"/>
                                      </p:to>
                                    </p:set>
                                  </p:childTnLst>
                                </p:cTn>
                              </p:par>
                              <p:par>
                                <p:cTn id="56" presetID="1" presetClass="entr" presetSubtype="0" fill="hold" grpId="0" nodeType="withEffect">
                                  <p:stCondLst>
                                    <p:cond delay="0"/>
                                  </p:stCondLst>
                                  <p:childTnLst>
                                    <p:set>
                                      <p:cBhvr>
                                        <p:cTn id="57" dur="1" fill="hold">
                                          <p:stCondLst>
                                            <p:cond delay="0"/>
                                          </p:stCondLst>
                                        </p:cTn>
                                        <p:tgtEl>
                                          <p:spTgt spid="66"/>
                                        </p:tgtEl>
                                        <p:attrNameLst>
                                          <p:attrName>style.visibility</p:attrName>
                                        </p:attrNameLst>
                                      </p:cBhvr>
                                      <p:to>
                                        <p:strVal val="visible"/>
                                      </p:to>
                                    </p:set>
                                  </p:childTnLst>
                                </p:cTn>
                              </p:par>
                              <p:par>
                                <p:cTn id="58" presetID="1" presetClass="exit" presetSubtype="0" fill="hold" nodeType="withEffect">
                                  <p:stCondLst>
                                    <p:cond delay="0"/>
                                  </p:stCondLst>
                                  <p:childTnLst>
                                    <p:set>
                                      <p:cBhvr>
                                        <p:cTn id="59" dur="1" fill="hold">
                                          <p:stCondLst>
                                            <p:cond delay="0"/>
                                          </p:stCondLst>
                                        </p:cTn>
                                        <p:tgtEl>
                                          <p:spTgt spid="59"/>
                                        </p:tgtEl>
                                        <p:attrNameLst>
                                          <p:attrName>style.visibility</p:attrName>
                                        </p:attrNameLst>
                                      </p:cBhvr>
                                      <p:to>
                                        <p:strVal val="hidden"/>
                                      </p:to>
                                    </p:set>
                                  </p:childTnLst>
                                </p:cTn>
                              </p:par>
                            </p:childTnLst>
                          </p:cTn>
                        </p:par>
                      </p:childTnLst>
                    </p:cTn>
                  </p:par>
                </p:childTnLst>
              </p:cTn>
              <p:nextCondLst>
                <p:cond evt="onClick" delay="0">
                  <p:tgtEl>
                    <p:spTgt spid="4"/>
                  </p:tgtEl>
                </p:cond>
              </p:nextCondLst>
            </p:seq>
            <p:seq concurrent="1" nextAc="seek">
              <p:cTn id="60" restart="whenNotActive" fill="hold" evtFilter="cancelBubble" nodeType="interactiveSeq">
                <p:stCondLst>
                  <p:cond evt="onClick" delay="0">
                    <p:tgtEl>
                      <p:spTgt spid="5"/>
                    </p:tgtEl>
                  </p:cond>
                </p:stCondLst>
                <p:endSync evt="end" delay="0">
                  <p:rtn val="all"/>
                </p:endSync>
                <p:childTnLst>
                  <p:par>
                    <p:cTn id="61" fill="hold">
                      <p:stCondLst>
                        <p:cond delay="0"/>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6"/>
                                        </p:tgtEl>
                                        <p:attrNameLst>
                                          <p:attrName>style.visibility</p:attrName>
                                        </p:attrNameLst>
                                      </p:cBhvr>
                                      <p:to>
                                        <p:strVal val="visible"/>
                                      </p:to>
                                    </p:set>
                                  </p:childTnLst>
                                </p:cTn>
                              </p:par>
                              <p:par>
                                <p:cTn id="65" presetID="1" presetClass="exit" presetSubtype="0" fill="hold" grpId="1" nodeType="withEffect">
                                  <p:stCondLst>
                                    <p:cond delay="0"/>
                                  </p:stCondLst>
                                  <p:childTnLst>
                                    <p:set>
                                      <p:cBhvr>
                                        <p:cTn id="66" dur="1" fill="hold">
                                          <p:stCondLst>
                                            <p:cond delay="0"/>
                                          </p:stCondLst>
                                        </p:cTn>
                                        <p:tgtEl>
                                          <p:spTgt spid="5"/>
                                        </p:tgtEl>
                                        <p:attrNameLst>
                                          <p:attrName>style.visibility</p:attrName>
                                        </p:attrNameLst>
                                      </p:cBhvr>
                                      <p:to>
                                        <p:strVal val="hidden"/>
                                      </p:to>
                                    </p:set>
                                  </p:childTnLst>
                                </p:cTn>
                              </p:par>
                              <p:par>
                                <p:cTn id="67" presetID="1" presetClass="exit" presetSubtype="0" fill="hold" nodeType="withEffect">
                                  <p:stCondLst>
                                    <p:cond delay="0"/>
                                  </p:stCondLst>
                                  <p:childTnLst>
                                    <p:set>
                                      <p:cBhvr>
                                        <p:cTn id="68" dur="1" fill="hold">
                                          <p:stCondLst>
                                            <p:cond delay="0"/>
                                          </p:stCondLst>
                                        </p:cTn>
                                        <p:tgtEl>
                                          <p:spTgt spid="60"/>
                                        </p:tgtEl>
                                        <p:attrNameLst>
                                          <p:attrName>style.visibility</p:attrName>
                                        </p:attrNameLst>
                                      </p:cBhvr>
                                      <p:to>
                                        <p:strVal val="hidden"/>
                                      </p:to>
                                    </p:set>
                                  </p:childTnLst>
                                </p:cTn>
                              </p:par>
                              <p:par>
                                <p:cTn id="69" presetID="1" presetClass="entr" presetSubtype="0" fill="hold" grpId="0" nodeType="withEffect">
                                  <p:stCondLst>
                                    <p:cond delay="0"/>
                                  </p:stCondLst>
                                  <p:childTnLst>
                                    <p:set>
                                      <p:cBhvr>
                                        <p:cTn id="70" dur="1" fill="hold">
                                          <p:stCondLst>
                                            <p:cond delay="0"/>
                                          </p:stCondLst>
                                        </p:cTn>
                                        <p:tgtEl>
                                          <p:spTgt spid="67"/>
                                        </p:tgtEl>
                                        <p:attrNameLst>
                                          <p:attrName>style.visibility</p:attrName>
                                        </p:attrNameLst>
                                      </p:cBhvr>
                                      <p:to>
                                        <p:strVal val="visible"/>
                                      </p:to>
                                    </p:set>
                                  </p:childTnLst>
                                </p:cTn>
                              </p:par>
                            </p:childTnLst>
                          </p:cTn>
                        </p:par>
                      </p:childTnLst>
                    </p:cTn>
                  </p:par>
                </p:childTnLst>
              </p:cTn>
              <p:nextCondLst>
                <p:cond evt="onClick" delay="0">
                  <p:tgtEl>
                    <p:spTgt spid="5"/>
                  </p:tgtEl>
                </p:cond>
              </p:nextCondLst>
            </p:seq>
          </p:childTnLst>
        </p:cTn>
      </p:par>
    </p:tnLst>
    <p:bldLst>
      <p:bldP spid="3" grpId="0" animBg="1"/>
      <p:bldP spid="3" grpId="1" animBg="1"/>
      <p:bldP spid="4" grpId="0" animBg="1"/>
      <p:bldP spid="4" grpId="1" animBg="1"/>
      <p:bldP spid="5" grpId="0" animBg="1"/>
      <p:bldP spid="5" grpId="1" animBg="1"/>
      <p:bldP spid="37" grpId="0"/>
      <p:bldP spid="25" grpId="0"/>
      <p:bldP spid="26" grpId="0"/>
      <p:bldP spid="34" grpId="0" animBg="1"/>
      <p:bldP spid="41" grpId="0" animBg="1"/>
      <p:bldP spid="46" grpId="0"/>
      <p:bldP spid="50" grpId="0"/>
      <p:bldP spid="54" grpId="0"/>
      <p:bldP spid="64" grpId="0" animBg="1"/>
      <p:bldP spid="65" grpId="0" animBg="1"/>
      <p:bldP spid="66" grpId="0" animBg="1"/>
      <p:bldP spid="67" grpId="0" animBg="1"/>
      <p:bldP spid="6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FFE175BD-3AE2-544B-9662-F86E0E61F6F7}"/>
              </a:ext>
            </a:extLst>
          </p:cNvPr>
          <p:cNvCxnSpPr>
            <a:cxnSpLocks/>
          </p:cNvCxnSpPr>
          <p:nvPr/>
        </p:nvCxnSpPr>
        <p:spPr>
          <a:xfrm>
            <a:off x="6165102" y="2145200"/>
            <a:ext cx="0" cy="43832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FA17A23-616E-4C42-82CF-051D3A3FC7C9}"/>
              </a:ext>
            </a:extLst>
          </p:cNvPr>
          <p:cNvCxnSpPr>
            <a:cxnSpLocks/>
          </p:cNvCxnSpPr>
          <p:nvPr/>
        </p:nvCxnSpPr>
        <p:spPr>
          <a:xfrm>
            <a:off x="7395344" y="2125547"/>
            <a:ext cx="0" cy="4402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9221278-A0FF-1448-92A2-E3747585CA34}"/>
              </a:ext>
            </a:extLst>
          </p:cNvPr>
          <p:cNvCxnSpPr>
            <a:cxnSpLocks/>
          </p:cNvCxnSpPr>
          <p:nvPr/>
        </p:nvCxnSpPr>
        <p:spPr>
          <a:xfrm>
            <a:off x="8702244" y="2177148"/>
            <a:ext cx="0" cy="43513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A2F4C21-8957-F84E-97A2-B8FF058788D9}"/>
              </a:ext>
            </a:extLst>
          </p:cNvPr>
          <p:cNvCxnSpPr>
            <a:cxnSpLocks/>
          </p:cNvCxnSpPr>
          <p:nvPr/>
        </p:nvCxnSpPr>
        <p:spPr>
          <a:xfrm>
            <a:off x="10048777" y="2177148"/>
            <a:ext cx="0" cy="43513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9E603334-F55E-2640-A28E-BBD1DBCDBD8A}"/>
              </a:ext>
            </a:extLst>
          </p:cNvPr>
          <p:cNvCxnSpPr>
            <a:cxnSpLocks/>
          </p:cNvCxnSpPr>
          <p:nvPr/>
        </p:nvCxnSpPr>
        <p:spPr>
          <a:xfrm>
            <a:off x="4376118" y="2773860"/>
            <a:ext cx="6937888" cy="24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36FF9C63-9206-6841-940C-71891071CDE0}"/>
              </a:ext>
            </a:extLst>
          </p:cNvPr>
          <p:cNvSpPr txBox="1"/>
          <p:nvPr/>
        </p:nvSpPr>
        <p:spPr>
          <a:xfrm>
            <a:off x="2477208" y="3687923"/>
            <a:ext cx="1776077" cy="707886"/>
          </a:xfrm>
          <a:prstGeom prst="rect">
            <a:avLst/>
          </a:prstGeom>
          <a:noFill/>
        </p:spPr>
        <p:txBody>
          <a:bodyPr wrap="square" rtlCol="0">
            <a:spAutoFit/>
          </a:bodyPr>
          <a:lstStyle/>
          <a:p>
            <a:pPr algn="r"/>
            <a:r>
              <a:rPr lang="en-US" dirty="0"/>
              <a:t>Efficacy</a:t>
            </a:r>
          </a:p>
          <a:p>
            <a:pPr algn="r"/>
            <a:r>
              <a:rPr lang="en-US" sz="1100" dirty="0"/>
              <a:t>How many people will get pregnant? (per 100 users/y)</a:t>
            </a:r>
          </a:p>
        </p:txBody>
      </p:sp>
      <p:sp>
        <p:nvSpPr>
          <p:cNvPr id="32" name="TextBox 31">
            <a:extLst>
              <a:ext uri="{FF2B5EF4-FFF2-40B4-BE49-F238E27FC236}">
                <a16:creationId xmlns:a16="http://schemas.microsoft.com/office/drawing/2014/main" id="{D6D0CAEC-81C4-7F44-BABD-B8DC96921846}"/>
              </a:ext>
            </a:extLst>
          </p:cNvPr>
          <p:cNvSpPr txBox="1"/>
          <p:nvPr/>
        </p:nvSpPr>
        <p:spPr>
          <a:xfrm>
            <a:off x="2230569" y="4758894"/>
            <a:ext cx="1947366" cy="369332"/>
          </a:xfrm>
          <a:prstGeom prst="rect">
            <a:avLst/>
          </a:prstGeom>
          <a:noFill/>
        </p:spPr>
        <p:txBody>
          <a:bodyPr wrap="square" rtlCol="0">
            <a:spAutoFit/>
          </a:bodyPr>
          <a:lstStyle/>
          <a:p>
            <a:pPr algn="r"/>
            <a:r>
              <a:rPr lang="en-US" dirty="0"/>
              <a:t>Low Maintenance</a:t>
            </a:r>
          </a:p>
        </p:txBody>
      </p:sp>
      <p:sp>
        <p:nvSpPr>
          <p:cNvPr id="9" name="TextBox 8">
            <a:extLst>
              <a:ext uri="{FF2B5EF4-FFF2-40B4-BE49-F238E27FC236}">
                <a16:creationId xmlns:a16="http://schemas.microsoft.com/office/drawing/2014/main" id="{0C716224-49A5-EC48-B25F-CB06E0CE9A59}"/>
              </a:ext>
            </a:extLst>
          </p:cNvPr>
          <p:cNvSpPr txBox="1"/>
          <p:nvPr/>
        </p:nvSpPr>
        <p:spPr>
          <a:xfrm>
            <a:off x="2635277" y="3001935"/>
            <a:ext cx="1618551" cy="369332"/>
          </a:xfrm>
          <a:prstGeom prst="rect">
            <a:avLst/>
          </a:prstGeom>
          <a:noFill/>
        </p:spPr>
        <p:txBody>
          <a:bodyPr wrap="square" rtlCol="0">
            <a:spAutoFit/>
          </a:bodyPr>
          <a:lstStyle/>
          <a:p>
            <a:pPr algn="r"/>
            <a:r>
              <a:rPr lang="en-US" dirty="0"/>
              <a:t>Hormone-Free</a:t>
            </a:r>
          </a:p>
        </p:txBody>
      </p:sp>
      <p:sp>
        <p:nvSpPr>
          <p:cNvPr id="10" name="TextBox 9">
            <a:extLst>
              <a:ext uri="{FF2B5EF4-FFF2-40B4-BE49-F238E27FC236}">
                <a16:creationId xmlns:a16="http://schemas.microsoft.com/office/drawing/2014/main" id="{F6BAD19D-4C9F-C945-BC61-6811C9DDEACC}"/>
              </a:ext>
            </a:extLst>
          </p:cNvPr>
          <p:cNvSpPr txBox="1"/>
          <p:nvPr/>
        </p:nvSpPr>
        <p:spPr>
          <a:xfrm>
            <a:off x="4771344" y="2226240"/>
            <a:ext cx="1159429" cy="369332"/>
          </a:xfrm>
          <a:prstGeom prst="rect">
            <a:avLst/>
          </a:prstGeom>
          <a:noFill/>
        </p:spPr>
        <p:txBody>
          <a:bodyPr wrap="square" rtlCol="0">
            <a:spAutoFit/>
          </a:bodyPr>
          <a:lstStyle/>
          <a:p>
            <a:pPr algn="ctr"/>
            <a:r>
              <a:rPr lang="en-US" b="1" dirty="0"/>
              <a:t>IUD</a:t>
            </a:r>
          </a:p>
        </p:txBody>
      </p:sp>
      <p:sp>
        <p:nvSpPr>
          <p:cNvPr id="53" name="TextBox 52">
            <a:extLst>
              <a:ext uri="{FF2B5EF4-FFF2-40B4-BE49-F238E27FC236}">
                <a16:creationId xmlns:a16="http://schemas.microsoft.com/office/drawing/2014/main" id="{031D933F-16FA-F64C-972E-8F3400BBBBBA}"/>
              </a:ext>
            </a:extLst>
          </p:cNvPr>
          <p:cNvSpPr txBox="1"/>
          <p:nvPr/>
        </p:nvSpPr>
        <p:spPr>
          <a:xfrm>
            <a:off x="6309154" y="2292021"/>
            <a:ext cx="956845" cy="369332"/>
          </a:xfrm>
          <a:prstGeom prst="rect">
            <a:avLst/>
          </a:prstGeom>
          <a:noFill/>
        </p:spPr>
        <p:txBody>
          <a:bodyPr wrap="square" rtlCol="0">
            <a:spAutoFit/>
          </a:bodyPr>
          <a:lstStyle/>
          <a:p>
            <a:pPr algn="ctr"/>
            <a:r>
              <a:rPr lang="en-US" b="1" dirty="0"/>
              <a:t>Implant</a:t>
            </a:r>
          </a:p>
        </p:txBody>
      </p:sp>
      <p:sp>
        <p:nvSpPr>
          <p:cNvPr id="54" name="TextBox 53">
            <a:extLst>
              <a:ext uri="{FF2B5EF4-FFF2-40B4-BE49-F238E27FC236}">
                <a16:creationId xmlns:a16="http://schemas.microsoft.com/office/drawing/2014/main" id="{5252F48B-1615-E244-AC41-9B8529F454DD}"/>
              </a:ext>
            </a:extLst>
          </p:cNvPr>
          <p:cNvSpPr txBox="1"/>
          <p:nvPr/>
        </p:nvSpPr>
        <p:spPr>
          <a:xfrm>
            <a:off x="7531053" y="2214555"/>
            <a:ext cx="1048522" cy="579646"/>
          </a:xfrm>
          <a:prstGeom prst="rect">
            <a:avLst/>
          </a:prstGeom>
          <a:noFill/>
        </p:spPr>
        <p:txBody>
          <a:bodyPr wrap="square" rtlCol="0">
            <a:spAutoFit/>
          </a:bodyPr>
          <a:lstStyle/>
          <a:p>
            <a:pPr algn="ctr">
              <a:lnSpc>
                <a:spcPts val="1900"/>
              </a:lnSpc>
            </a:pPr>
            <a:r>
              <a:rPr lang="en-US" b="1" dirty="0"/>
              <a:t>Depo-</a:t>
            </a:r>
          </a:p>
          <a:p>
            <a:pPr algn="ctr">
              <a:lnSpc>
                <a:spcPts val="1900"/>
              </a:lnSpc>
            </a:pPr>
            <a:r>
              <a:rPr lang="en-US" b="1" dirty="0"/>
              <a:t>Provera</a:t>
            </a:r>
          </a:p>
        </p:txBody>
      </p:sp>
      <p:sp>
        <p:nvSpPr>
          <p:cNvPr id="55" name="TextBox 54">
            <a:extLst>
              <a:ext uri="{FF2B5EF4-FFF2-40B4-BE49-F238E27FC236}">
                <a16:creationId xmlns:a16="http://schemas.microsoft.com/office/drawing/2014/main" id="{AA8BDA7F-9B97-0540-BD28-03FEE4C1CB2E}"/>
              </a:ext>
            </a:extLst>
          </p:cNvPr>
          <p:cNvSpPr txBox="1"/>
          <p:nvPr/>
        </p:nvSpPr>
        <p:spPr>
          <a:xfrm>
            <a:off x="10177948" y="2303182"/>
            <a:ext cx="1022892" cy="369332"/>
          </a:xfrm>
          <a:prstGeom prst="rect">
            <a:avLst/>
          </a:prstGeom>
          <a:noFill/>
        </p:spPr>
        <p:txBody>
          <a:bodyPr wrap="square" rtlCol="0">
            <a:spAutoFit/>
          </a:bodyPr>
          <a:lstStyle/>
          <a:p>
            <a:pPr algn="ctr"/>
            <a:r>
              <a:rPr lang="en-US" b="1"/>
              <a:t>Pill</a:t>
            </a:r>
          </a:p>
        </p:txBody>
      </p:sp>
      <p:pic>
        <p:nvPicPr>
          <p:cNvPr id="58" name="Pill button" descr="A picture containing black&#10;&#10;Description automatically generated">
            <a:extLst>
              <a:ext uri="{FF2B5EF4-FFF2-40B4-BE49-F238E27FC236}">
                <a16:creationId xmlns:a16="http://schemas.microsoft.com/office/drawing/2014/main" id="{D6BB284A-46D5-4CD2-945E-5E93CAF5C5C5}"/>
              </a:ext>
            </a:extLst>
          </p:cNvPr>
          <p:cNvPicPr>
            <a:picLocks noChangeAspect="1"/>
          </p:cNvPicPr>
          <p:nvPr/>
        </p:nvPicPr>
        <p:blipFill rotWithShape="1">
          <a:blip r:embed="rId3" cstate="print">
            <a:extLst>
              <a:ext uri="{28A0092B-C50C-407E-A947-70E740481C1C}">
                <a14:useLocalDpi xmlns:a14="http://schemas.microsoft.com/office/drawing/2010/main"/>
              </a:ext>
              <a:ext uri="{837473B0-CC2E-450A-ABE3-18F120FF3D39}">
                <a1611:picAttrSrcUrl xmlns:a1611="http://schemas.microsoft.com/office/drawing/2016/11/main" r:id="rId4"/>
              </a:ext>
            </a:extLst>
          </a:blip>
          <a:srcRect l="-3858"/>
          <a:stretch/>
        </p:blipFill>
        <p:spPr>
          <a:xfrm>
            <a:off x="10365089" y="1242341"/>
            <a:ext cx="628796" cy="657226"/>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pic>
      <p:pic>
        <p:nvPicPr>
          <p:cNvPr id="61" name="IUD button">
            <a:extLst>
              <a:ext uri="{FF2B5EF4-FFF2-40B4-BE49-F238E27FC236}">
                <a16:creationId xmlns:a16="http://schemas.microsoft.com/office/drawing/2014/main" id="{283FCC3D-171B-4446-B8E2-06DEFD658A55}"/>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a:xfrm>
            <a:off x="4818526" y="1033834"/>
            <a:ext cx="991092" cy="1131099"/>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pic>
      <p:pic>
        <p:nvPicPr>
          <p:cNvPr id="62" name="Depo button" descr="A picture containing box and whisker chart&#10;&#10;Description automatically generated">
            <a:extLst>
              <a:ext uri="{FF2B5EF4-FFF2-40B4-BE49-F238E27FC236}">
                <a16:creationId xmlns:a16="http://schemas.microsoft.com/office/drawing/2014/main" id="{99F9074A-D07D-4EAF-A096-FD3868E713F0}"/>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7870124" y="848090"/>
            <a:ext cx="381129" cy="1282133"/>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pic>
      <p:pic>
        <p:nvPicPr>
          <p:cNvPr id="64" name="Implant button" descr="Contraceptive Implant - Hormonal Method #2910842 - PNG Images - PNGio">
            <a:extLst>
              <a:ext uri="{FF2B5EF4-FFF2-40B4-BE49-F238E27FC236}">
                <a16:creationId xmlns:a16="http://schemas.microsoft.com/office/drawing/2014/main" id="{DA35E6AC-DD79-429D-A5BD-A7F3D73F86FF}"/>
              </a:ext>
            </a:extLst>
          </p:cNvPr>
          <p:cNvPicPr>
            <a:picLocks noChangeAspect="1" noChangeArrowheads="1"/>
          </p:cNvPicPr>
          <p:nvPr/>
        </p:nvPicPr>
        <p:blipFill rotWithShape="1">
          <a:blip r:embed="rId7" cstate="print">
            <a:extLst>
              <a:ext uri="{28A0092B-C50C-407E-A947-70E740481C1C}">
                <a14:useLocalDpi xmlns:a14="http://schemas.microsoft.com/office/drawing/2010/main"/>
              </a:ext>
            </a:extLst>
          </a:blip>
          <a:srcRect l="34390" t="5335" r="32501" b="7534"/>
          <a:stretch/>
        </p:blipFill>
        <p:spPr bwMode="auto">
          <a:xfrm>
            <a:off x="6324465" y="1056192"/>
            <a:ext cx="927665" cy="1073476"/>
          </a:xfrm>
          <a:prstGeom prst="roundRect">
            <a:avLst>
              <a:gd name="adj" fmla="val 12070"/>
            </a:avLst>
          </a:prstGeom>
          <a:solidFill>
            <a:schemeClr val="bg1"/>
          </a:solidFill>
          <a:ln w="38100">
            <a:solidFill>
              <a:schemeClr val="tx1"/>
            </a:solidFill>
          </a:ln>
          <a:effectLst>
            <a:outerShdw blurRad="50800" dist="38100" dir="2700000" algn="tl" rotWithShape="0">
              <a:prstClr val="black">
                <a:alpha val="40000"/>
              </a:prstClr>
            </a:outerShdw>
          </a:effectLst>
        </p:spPr>
      </p:pic>
      <p:cxnSp>
        <p:nvCxnSpPr>
          <p:cNvPr id="72" name="Straight Connector 71">
            <a:extLst>
              <a:ext uri="{FF2B5EF4-FFF2-40B4-BE49-F238E27FC236}">
                <a16:creationId xmlns:a16="http://schemas.microsoft.com/office/drawing/2014/main" id="{33FCF635-4CBA-4B6B-8D8A-A3A43C60DC77}"/>
              </a:ext>
            </a:extLst>
          </p:cNvPr>
          <p:cNvCxnSpPr>
            <a:cxnSpLocks/>
          </p:cNvCxnSpPr>
          <p:nvPr/>
        </p:nvCxnSpPr>
        <p:spPr>
          <a:xfrm>
            <a:off x="4376118" y="3572156"/>
            <a:ext cx="6937888" cy="538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59B9AF30-9FBE-4D44-A5C2-7370B845D3B1}"/>
              </a:ext>
            </a:extLst>
          </p:cNvPr>
          <p:cNvCxnSpPr>
            <a:cxnSpLocks/>
          </p:cNvCxnSpPr>
          <p:nvPr/>
        </p:nvCxnSpPr>
        <p:spPr>
          <a:xfrm>
            <a:off x="4376118" y="4434376"/>
            <a:ext cx="6937888" cy="166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0" name="Graphic 99" descr="Cursor with solid fill">
            <a:extLst>
              <a:ext uri="{FF2B5EF4-FFF2-40B4-BE49-F238E27FC236}">
                <a16:creationId xmlns:a16="http://schemas.microsoft.com/office/drawing/2014/main" id="{68BE430E-8CD1-4256-9C6B-FE78AC614A3D}"/>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5655958" y="2026463"/>
            <a:ext cx="296010" cy="301752"/>
          </a:xfrm>
          <a:prstGeom prst="rect">
            <a:avLst/>
          </a:prstGeom>
        </p:spPr>
      </p:pic>
      <p:pic>
        <p:nvPicPr>
          <p:cNvPr id="101" name="Graphic 100" descr="Cursor with solid fill">
            <a:extLst>
              <a:ext uri="{FF2B5EF4-FFF2-40B4-BE49-F238E27FC236}">
                <a16:creationId xmlns:a16="http://schemas.microsoft.com/office/drawing/2014/main" id="{BF0F8D2B-8B67-4482-A302-B430045EE4B7}"/>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109680" y="1978675"/>
            <a:ext cx="296010" cy="301752"/>
          </a:xfrm>
          <a:prstGeom prst="rect">
            <a:avLst/>
          </a:prstGeom>
        </p:spPr>
      </p:pic>
      <p:pic>
        <p:nvPicPr>
          <p:cNvPr id="102" name="Graphic 101" descr="Cursor with solid fill">
            <a:extLst>
              <a:ext uri="{FF2B5EF4-FFF2-40B4-BE49-F238E27FC236}">
                <a16:creationId xmlns:a16="http://schemas.microsoft.com/office/drawing/2014/main" id="{DA354740-105F-4B59-8DD9-7B8734AD279E}"/>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8119873" y="1994324"/>
            <a:ext cx="296010" cy="301752"/>
          </a:xfrm>
          <a:prstGeom prst="rect">
            <a:avLst/>
          </a:prstGeom>
        </p:spPr>
      </p:pic>
      <p:pic>
        <p:nvPicPr>
          <p:cNvPr id="104" name="Graphic 103" descr="Cursor with solid fill">
            <a:extLst>
              <a:ext uri="{FF2B5EF4-FFF2-40B4-BE49-F238E27FC236}">
                <a16:creationId xmlns:a16="http://schemas.microsoft.com/office/drawing/2014/main" id="{7C90AD53-85D2-4F0C-9162-75380FF0393C}"/>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0866858" y="1775236"/>
            <a:ext cx="296010" cy="301752"/>
          </a:xfrm>
          <a:prstGeom prst="rect">
            <a:avLst/>
          </a:prstGeom>
        </p:spPr>
      </p:pic>
      <p:sp>
        <p:nvSpPr>
          <p:cNvPr id="59" name="TextBox 58">
            <a:extLst>
              <a:ext uri="{FF2B5EF4-FFF2-40B4-BE49-F238E27FC236}">
                <a16:creationId xmlns:a16="http://schemas.microsoft.com/office/drawing/2014/main" id="{0524D3C6-F401-480A-A6E6-A126E6DA3BCD}"/>
              </a:ext>
            </a:extLst>
          </p:cNvPr>
          <p:cNvSpPr txBox="1"/>
          <p:nvPr/>
        </p:nvSpPr>
        <p:spPr>
          <a:xfrm>
            <a:off x="8973504" y="2303182"/>
            <a:ext cx="791501" cy="369332"/>
          </a:xfrm>
          <a:prstGeom prst="rect">
            <a:avLst/>
          </a:prstGeom>
          <a:noFill/>
        </p:spPr>
        <p:txBody>
          <a:bodyPr wrap="square" rtlCol="0">
            <a:spAutoFit/>
          </a:bodyPr>
          <a:lstStyle/>
          <a:p>
            <a:pPr algn="ctr"/>
            <a:r>
              <a:rPr lang="en-US" b="1"/>
              <a:t>Patch</a:t>
            </a:r>
          </a:p>
        </p:txBody>
      </p:sp>
      <p:pic>
        <p:nvPicPr>
          <p:cNvPr id="60" name="Patch button">
            <a:extLst>
              <a:ext uri="{FF2B5EF4-FFF2-40B4-BE49-F238E27FC236}">
                <a16:creationId xmlns:a16="http://schemas.microsoft.com/office/drawing/2014/main" id="{88F105C3-F237-4DE0-BC27-FF31A349CFC4}"/>
              </a:ext>
            </a:extLst>
          </p:cNvPr>
          <p:cNvPicPr>
            <a:picLocks noChangeAspect="1"/>
          </p:cNvPicPr>
          <p:nvPr/>
        </p:nvPicPr>
        <p:blipFill rotWithShape="1">
          <a:blip r:embed="rId10" cstate="print">
            <a:extLst>
              <a:ext uri="{28A0092B-C50C-407E-A947-70E740481C1C}">
                <a14:useLocalDpi xmlns:a14="http://schemas.microsoft.com/office/drawing/2010/main"/>
              </a:ext>
            </a:extLst>
          </a:blip>
          <a:srcRect/>
          <a:stretch/>
        </p:blipFill>
        <p:spPr>
          <a:xfrm>
            <a:off x="8818318" y="1182215"/>
            <a:ext cx="1048522" cy="760335"/>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pic>
      <p:pic>
        <p:nvPicPr>
          <p:cNvPr id="103" name="Graphic 102" descr="Cursor with solid fill">
            <a:extLst>
              <a:ext uri="{FF2B5EF4-FFF2-40B4-BE49-F238E27FC236}">
                <a16:creationId xmlns:a16="http://schemas.microsoft.com/office/drawing/2014/main" id="{D859635D-2CF4-4699-AA22-96A4EFEF4875}"/>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9703780" y="1827849"/>
            <a:ext cx="296010" cy="301752"/>
          </a:xfrm>
          <a:prstGeom prst="rect">
            <a:avLst/>
          </a:prstGeom>
        </p:spPr>
      </p:pic>
      <p:sp>
        <p:nvSpPr>
          <p:cNvPr id="67" name="TextBox 66">
            <a:extLst>
              <a:ext uri="{FF2B5EF4-FFF2-40B4-BE49-F238E27FC236}">
                <a16:creationId xmlns:a16="http://schemas.microsoft.com/office/drawing/2014/main" id="{538DFC22-A617-4DB1-A87F-958F384BF845}"/>
              </a:ext>
            </a:extLst>
          </p:cNvPr>
          <p:cNvSpPr txBox="1"/>
          <p:nvPr/>
        </p:nvSpPr>
        <p:spPr>
          <a:xfrm>
            <a:off x="4406835" y="2476484"/>
            <a:ext cx="936758" cy="338554"/>
          </a:xfrm>
          <a:prstGeom prst="rect">
            <a:avLst/>
          </a:prstGeom>
          <a:noFill/>
        </p:spPr>
        <p:txBody>
          <a:bodyPr wrap="square" rtlCol="0">
            <a:spAutoFit/>
          </a:bodyPr>
          <a:lstStyle/>
          <a:p>
            <a:pPr algn="ctr"/>
            <a:r>
              <a:rPr lang="en-US" sz="1600" dirty="0"/>
              <a:t>Copper</a:t>
            </a:r>
          </a:p>
        </p:txBody>
      </p:sp>
      <p:sp>
        <p:nvSpPr>
          <p:cNvPr id="68" name="Question 2">
            <a:hlinkClick r:id="rId11" action="ppaction://hlinksldjump"/>
            <a:extLst>
              <a:ext uri="{FF2B5EF4-FFF2-40B4-BE49-F238E27FC236}">
                <a16:creationId xmlns:a16="http://schemas.microsoft.com/office/drawing/2014/main" id="{0F5299EB-01B7-491C-9780-03DAE1D01745}"/>
              </a:ext>
            </a:extLst>
          </p:cNvPr>
          <p:cNvSpPr txBox="1"/>
          <p:nvPr/>
        </p:nvSpPr>
        <p:spPr>
          <a:xfrm>
            <a:off x="463138" y="1343042"/>
            <a:ext cx="1630791"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OCP selection</a:t>
            </a:r>
          </a:p>
        </p:txBody>
      </p:sp>
      <p:cxnSp>
        <p:nvCxnSpPr>
          <p:cNvPr id="3" name="Connector: Elbow 2">
            <a:extLst>
              <a:ext uri="{FF2B5EF4-FFF2-40B4-BE49-F238E27FC236}">
                <a16:creationId xmlns:a16="http://schemas.microsoft.com/office/drawing/2014/main" id="{CECC1BD4-98A9-40E0-88F5-FC2E99B9B327}"/>
              </a:ext>
            </a:extLst>
          </p:cNvPr>
          <p:cNvCxnSpPr>
            <a:cxnSpLocks/>
            <a:endCxn id="68" idx="1"/>
          </p:cNvCxnSpPr>
          <p:nvPr/>
        </p:nvCxnSpPr>
        <p:spPr>
          <a:xfrm rot="16200000" flipH="1">
            <a:off x="181985" y="1266201"/>
            <a:ext cx="364384" cy="197922"/>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71" name="Straight Connector 70">
            <a:extLst>
              <a:ext uri="{FF2B5EF4-FFF2-40B4-BE49-F238E27FC236}">
                <a16:creationId xmlns:a16="http://schemas.microsoft.com/office/drawing/2014/main" id="{957E0D48-40ED-8344-BD0B-924640B4138D}"/>
              </a:ext>
            </a:extLst>
          </p:cNvPr>
          <p:cNvCxnSpPr>
            <a:cxnSpLocks/>
          </p:cNvCxnSpPr>
          <p:nvPr/>
        </p:nvCxnSpPr>
        <p:spPr>
          <a:xfrm>
            <a:off x="4376118" y="5452388"/>
            <a:ext cx="693788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C0DB9143-D3A2-2E46-9A21-576E34435F80}"/>
              </a:ext>
            </a:extLst>
          </p:cNvPr>
          <p:cNvSpPr txBox="1"/>
          <p:nvPr/>
        </p:nvSpPr>
        <p:spPr>
          <a:xfrm>
            <a:off x="2230569" y="5617309"/>
            <a:ext cx="1947366" cy="646331"/>
          </a:xfrm>
          <a:prstGeom prst="rect">
            <a:avLst/>
          </a:prstGeom>
          <a:noFill/>
        </p:spPr>
        <p:txBody>
          <a:bodyPr wrap="square" rtlCol="0">
            <a:spAutoFit/>
          </a:bodyPr>
          <a:lstStyle/>
          <a:p>
            <a:pPr algn="r"/>
            <a:r>
              <a:rPr lang="en-US" dirty="0"/>
              <a:t>Impact on Bleeding</a:t>
            </a:r>
          </a:p>
        </p:txBody>
      </p:sp>
      <p:sp>
        <p:nvSpPr>
          <p:cNvPr id="105" name="question 1">
            <a:hlinkClick r:id="rId12" action="ppaction://hlinksldjump"/>
            <a:extLst>
              <a:ext uri="{FF2B5EF4-FFF2-40B4-BE49-F238E27FC236}">
                <a16:creationId xmlns:a16="http://schemas.microsoft.com/office/drawing/2014/main" id="{7166A4E4-3AE1-41E5-BC62-2348A15670F6}"/>
              </a:ext>
            </a:extLst>
          </p:cNvPr>
          <p:cNvSpPr txBox="1"/>
          <p:nvPr/>
        </p:nvSpPr>
        <p:spPr>
          <a:xfrm>
            <a:off x="188535" y="192736"/>
            <a:ext cx="1905394"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PATH Questions</a:t>
            </a:r>
          </a:p>
        </p:txBody>
      </p:sp>
      <p:sp>
        <p:nvSpPr>
          <p:cNvPr id="107" name="question 4">
            <a:hlinkClick r:id="rId13" action="ppaction://hlinksldjump"/>
            <a:extLst>
              <a:ext uri="{FF2B5EF4-FFF2-40B4-BE49-F238E27FC236}">
                <a16:creationId xmlns:a16="http://schemas.microsoft.com/office/drawing/2014/main" id="{F72F6A3B-048E-4AD3-B39F-84100B733FEF}"/>
              </a:ext>
            </a:extLst>
          </p:cNvPr>
          <p:cNvSpPr txBox="1"/>
          <p:nvPr/>
        </p:nvSpPr>
        <p:spPr>
          <a:xfrm>
            <a:off x="192232" y="2505641"/>
            <a:ext cx="190539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Emergency Use</a:t>
            </a:r>
          </a:p>
        </p:txBody>
      </p:sp>
      <p:sp>
        <p:nvSpPr>
          <p:cNvPr id="108" name="Cases">
            <a:hlinkClick r:id="rId14" action="ppaction://hlinksldjump"/>
            <a:extLst>
              <a:ext uri="{FF2B5EF4-FFF2-40B4-BE49-F238E27FC236}">
                <a16:creationId xmlns:a16="http://schemas.microsoft.com/office/drawing/2014/main" id="{D071D237-2946-4963-A665-1E5D567E7326}"/>
              </a:ext>
            </a:extLst>
          </p:cNvPr>
          <p:cNvSpPr txBox="1"/>
          <p:nvPr/>
        </p:nvSpPr>
        <p:spPr>
          <a:xfrm>
            <a:off x="192232" y="3087252"/>
            <a:ext cx="1905392"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sp>
        <p:nvSpPr>
          <p:cNvPr id="109" name="question 3">
            <a:hlinkClick r:id="rId15" action="ppaction://hlinksldjump"/>
            <a:extLst>
              <a:ext uri="{FF2B5EF4-FFF2-40B4-BE49-F238E27FC236}">
                <a16:creationId xmlns:a16="http://schemas.microsoft.com/office/drawing/2014/main" id="{CDA26DFF-5FEA-41F9-BB42-15925FBFE267}"/>
              </a:ext>
            </a:extLst>
          </p:cNvPr>
          <p:cNvSpPr txBox="1"/>
          <p:nvPr/>
        </p:nvSpPr>
        <p:spPr>
          <a:xfrm>
            <a:off x="188535" y="774347"/>
            <a:ext cx="1905394"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chemeClr val="bg1"/>
                </a:solidFill>
              </a:rPr>
              <a:t>Methods</a:t>
            </a:r>
          </a:p>
        </p:txBody>
      </p:sp>
      <p:sp>
        <p:nvSpPr>
          <p:cNvPr id="110" name="Question 2">
            <a:hlinkClick r:id="rId16" action="ppaction://hlinksldjump"/>
            <a:extLst>
              <a:ext uri="{FF2B5EF4-FFF2-40B4-BE49-F238E27FC236}">
                <a16:creationId xmlns:a16="http://schemas.microsoft.com/office/drawing/2014/main" id="{1FF15571-2B89-4CC6-8699-16AB41AF1D19}"/>
              </a:ext>
            </a:extLst>
          </p:cNvPr>
          <p:cNvSpPr txBox="1"/>
          <p:nvPr/>
        </p:nvSpPr>
        <p:spPr>
          <a:xfrm>
            <a:off x="192232" y="1924030"/>
            <a:ext cx="190539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Contraindications</a:t>
            </a:r>
          </a:p>
        </p:txBody>
      </p:sp>
      <p:pic>
        <p:nvPicPr>
          <p:cNvPr id="126" name="Graphic 125" descr="Cursor with solid fill">
            <a:extLst>
              <a:ext uri="{FF2B5EF4-FFF2-40B4-BE49-F238E27FC236}">
                <a16:creationId xmlns:a16="http://schemas.microsoft.com/office/drawing/2014/main" id="{F0623BBD-125B-46C5-AE32-C387670FC1CC}"/>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971816" y="2193764"/>
            <a:ext cx="296010" cy="301752"/>
          </a:xfrm>
          <a:prstGeom prst="rect">
            <a:avLst/>
          </a:prstGeom>
        </p:spPr>
      </p:pic>
      <p:pic>
        <p:nvPicPr>
          <p:cNvPr id="127" name="Graphic 126" descr="Cursor with solid fill">
            <a:extLst>
              <a:ext uri="{FF2B5EF4-FFF2-40B4-BE49-F238E27FC236}">
                <a16:creationId xmlns:a16="http://schemas.microsoft.com/office/drawing/2014/main" id="{39090F1D-FDBB-43D9-8093-55D7ABB53726}"/>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971816" y="2757130"/>
            <a:ext cx="296010" cy="301752"/>
          </a:xfrm>
          <a:prstGeom prst="rect">
            <a:avLst/>
          </a:prstGeom>
        </p:spPr>
      </p:pic>
      <p:pic>
        <p:nvPicPr>
          <p:cNvPr id="128" name="Graphic 127" descr="Cursor with solid fill">
            <a:extLst>
              <a:ext uri="{FF2B5EF4-FFF2-40B4-BE49-F238E27FC236}">
                <a16:creationId xmlns:a16="http://schemas.microsoft.com/office/drawing/2014/main" id="{5D17B118-19ED-4D68-BF89-CDB6946BD697}"/>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971816" y="3349157"/>
            <a:ext cx="296010" cy="301752"/>
          </a:xfrm>
          <a:prstGeom prst="rect">
            <a:avLst/>
          </a:prstGeom>
        </p:spPr>
      </p:pic>
      <p:pic>
        <p:nvPicPr>
          <p:cNvPr id="129" name="Graphic 128" descr="Cursor with solid fill">
            <a:extLst>
              <a:ext uri="{FF2B5EF4-FFF2-40B4-BE49-F238E27FC236}">
                <a16:creationId xmlns:a16="http://schemas.microsoft.com/office/drawing/2014/main" id="{613B65E6-4203-4790-A3BE-130DBFAC06AA}"/>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959663" y="1625957"/>
            <a:ext cx="296010" cy="301752"/>
          </a:xfrm>
          <a:prstGeom prst="rect">
            <a:avLst/>
          </a:prstGeom>
        </p:spPr>
      </p:pic>
      <p:pic>
        <p:nvPicPr>
          <p:cNvPr id="131" name="Graphic 130" descr="Cursor with solid fill">
            <a:extLst>
              <a:ext uri="{FF2B5EF4-FFF2-40B4-BE49-F238E27FC236}">
                <a16:creationId xmlns:a16="http://schemas.microsoft.com/office/drawing/2014/main" id="{20D92C14-9C21-42C3-8FFE-7A4EB091C094}"/>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968119" y="6556248"/>
            <a:ext cx="296010" cy="301752"/>
          </a:xfrm>
          <a:prstGeom prst="rect">
            <a:avLst/>
          </a:prstGeom>
        </p:spPr>
      </p:pic>
      <p:pic>
        <p:nvPicPr>
          <p:cNvPr id="132" name="Pill button" descr="A picture containing black&#10;&#10;Description automatically generated">
            <a:extLst>
              <a:ext uri="{FF2B5EF4-FFF2-40B4-BE49-F238E27FC236}">
                <a16:creationId xmlns:a16="http://schemas.microsoft.com/office/drawing/2014/main" id="{A17E054B-96C2-421F-B842-CB750207422F}"/>
              </a:ext>
            </a:extLst>
          </p:cNvPr>
          <p:cNvPicPr>
            <a:picLocks noChangeAspect="1"/>
          </p:cNvPicPr>
          <p:nvPr/>
        </p:nvPicPr>
        <p:blipFill rotWithShape="1">
          <a:blip r:embed="rId3" cstate="print">
            <a:extLst>
              <a:ext uri="{28A0092B-C50C-407E-A947-70E740481C1C}">
                <a14:useLocalDpi xmlns:a14="http://schemas.microsoft.com/office/drawing/2010/main"/>
              </a:ext>
              <a:ext uri="{837473B0-CC2E-450A-ABE3-18F120FF3D39}">
                <a1611:picAttrSrcUrl xmlns:a1611="http://schemas.microsoft.com/office/drawing/2016/11/main" r:id="rId4"/>
              </a:ext>
            </a:extLst>
          </a:blip>
          <a:srcRect l="-3858"/>
          <a:stretch/>
        </p:blipFill>
        <p:spPr>
          <a:xfrm>
            <a:off x="10365089" y="1243716"/>
            <a:ext cx="628796" cy="657226"/>
          </a:xfrm>
          <a:prstGeom prst="roundRect">
            <a:avLst/>
          </a:prstGeom>
          <a:solidFill>
            <a:schemeClr val="bg1"/>
          </a:solidFill>
          <a:ln w="38100">
            <a:solidFill>
              <a:schemeClr val="tx1"/>
            </a:solidFill>
          </a:ln>
          <a:effectLst/>
        </p:spPr>
      </p:pic>
      <p:pic>
        <p:nvPicPr>
          <p:cNvPr id="133" name="IUD button" hidden="1">
            <a:extLst>
              <a:ext uri="{FF2B5EF4-FFF2-40B4-BE49-F238E27FC236}">
                <a16:creationId xmlns:a16="http://schemas.microsoft.com/office/drawing/2014/main" id="{F41E95E7-F769-4E21-893D-6B2DB82E9961}"/>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a:xfrm>
            <a:off x="4986604" y="258883"/>
            <a:ext cx="991092" cy="1131099"/>
          </a:xfrm>
          <a:prstGeom prst="roundRect">
            <a:avLst/>
          </a:prstGeom>
          <a:solidFill>
            <a:schemeClr val="bg1"/>
          </a:solidFill>
          <a:ln w="38100">
            <a:solidFill>
              <a:schemeClr val="tx1"/>
            </a:solidFill>
          </a:ln>
          <a:effectLst/>
        </p:spPr>
      </p:pic>
      <p:pic>
        <p:nvPicPr>
          <p:cNvPr id="134" name="Depo button" descr="A picture containing box and whisker chart&#10;&#10;Description automatically generated">
            <a:extLst>
              <a:ext uri="{FF2B5EF4-FFF2-40B4-BE49-F238E27FC236}">
                <a16:creationId xmlns:a16="http://schemas.microsoft.com/office/drawing/2014/main" id="{3897719A-E456-42EB-9C50-CC0E667BDAA7}"/>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7870124" y="849465"/>
            <a:ext cx="381129" cy="1282133"/>
          </a:xfrm>
          <a:prstGeom prst="roundRect">
            <a:avLst/>
          </a:prstGeom>
          <a:solidFill>
            <a:schemeClr val="bg1"/>
          </a:solidFill>
          <a:ln w="38100">
            <a:solidFill>
              <a:schemeClr val="tx1"/>
            </a:solidFill>
          </a:ln>
          <a:effectLst/>
        </p:spPr>
      </p:pic>
      <p:pic>
        <p:nvPicPr>
          <p:cNvPr id="135" name="Implant button" descr="Contraceptive Implant - Hormonal Method #2910842 - PNG Images - PNGio">
            <a:extLst>
              <a:ext uri="{FF2B5EF4-FFF2-40B4-BE49-F238E27FC236}">
                <a16:creationId xmlns:a16="http://schemas.microsoft.com/office/drawing/2014/main" id="{1E4F39AC-2475-49C5-8396-15238AC80911}"/>
              </a:ext>
            </a:extLst>
          </p:cNvPr>
          <p:cNvPicPr>
            <a:picLocks noChangeAspect="1" noChangeArrowheads="1"/>
          </p:cNvPicPr>
          <p:nvPr/>
        </p:nvPicPr>
        <p:blipFill rotWithShape="1">
          <a:blip r:embed="rId7" cstate="print">
            <a:extLst>
              <a:ext uri="{28A0092B-C50C-407E-A947-70E740481C1C}">
                <a14:useLocalDpi xmlns:a14="http://schemas.microsoft.com/office/drawing/2010/main"/>
              </a:ext>
            </a:extLst>
          </a:blip>
          <a:srcRect l="34390" t="5335" r="32501" b="7534"/>
          <a:stretch/>
        </p:blipFill>
        <p:spPr bwMode="auto">
          <a:xfrm>
            <a:off x="6324465" y="1057567"/>
            <a:ext cx="927665" cy="1073476"/>
          </a:xfrm>
          <a:prstGeom prst="roundRect">
            <a:avLst>
              <a:gd name="adj" fmla="val 12070"/>
            </a:avLst>
          </a:prstGeom>
          <a:solidFill>
            <a:schemeClr val="bg1"/>
          </a:solidFill>
          <a:ln w="38100">
            <a:solidFill>
              <a:schemeClr val="tx1"/>
            </a:solidFill>
          </a:ln>
          <a:effectLst/>
        </p:spPr>
      </p:pic>
      <p:pic>
        <p:nvPicPr>
          <p:cNvPr id="136" name="Patch button">
            <a:extLst>
              <a:ext uri="{FF2B5EF4-FFF2-40B4-BE49-F238E27FC236}">
                <a16:creationId xmlns:a16="http://schemas.microsoft.com/office/drawing/2014/main" id="{DDC2F48D-1937-49FB-9756-EE268BFA1B59}"/>
              </a:ext>
            </a:extLst>
          </p:cNvPr>
          <p:cNvPicPr>
            <a:picLocks noChangeAspect="1"/>
          </p:cNvPicPr>
          <p:nvPr/>
        </p:nvPicPr>
        <p:blipFill rotWithShape="1">
          <a:blip r:embed="rId10" cstate="print">
            <a:extLst>
              <a:ext uri="{28A0092B-C50C-407E-A947-70E740481C1C}">
                <a14:useLocalDpi xmlns:a14="http://schemas.microsoft.com/office/drawing/2010/main"/>
              </a:ext>
            </a:extLst>
          </a:blip>
          <a:srcRect/>
          <a:stretch/>
        </p:blipFill>
        <p:spPr>
          <a:xfrm>
            <a:off x="8818318" y="1183590"/>
            <a:ext cx="1048522" cy="760335"/>
          </a:xfrm>
          <a:prstGeom prst="roundRect">
            <a:avLst/>
          </a:prstGeom>
          <a:solidFill>
            <a:schemeClr val="bg1"/>
          </a:solidFill>
          <a:ln w="38100">
            <a:solidFill>
              <a:schemeClr val="tx1"/>
            </a:solidFill>
          </a:ln>
          <a:effectLst/>
        </p:spPr>
      </p:pic>
      <p:pic>
        <p:nvPicPr>
          <p:cNvPr id="137" name="IUD button">
            <a:extLst>
              <a:ext uri="{FF2B5EF4-FFF2-40B4-BE49-F238E27FC236}">
                <a16:creationId xmlns:a16="http://schemas.microsoft.com/office/drawing/2014/main" id="{4A1DE517-1A62-4C65-8390-390780C25EF2}"/>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a:xfrm>
            <a:off x="4826014" y="1033584"/>
            <a:ext cx="991092" cy="1131099"/>
          </a:xfrm>
          <a:prstGeom prst="roundRect">
            <a:avLst/>
          </a:prstGeom>
          <a:solidFill>
            <a:schemeClr val="bg1"/>
          </a:solidFill>
          <a:ln w="38100">
            <a:solidFill>
              <a:schemeClr val="tx1"/>
            </a:solidFill>
          </a:ln>
          <a:effectLst/>
        </p:spPr>
      </p:pic>
      <p:pic>
        <p:nvPicPr>
          <p:cNvPr id="78" name="Graphic 77" descr="Cursor with solid fill">
            <a:extLst>
              <a:ext uri="{FF2B5EF4-FFF2-40B4-BE49-F238E27FC236}">
                <a16:creationId xmlns:a16="http://schemas.microsoft.com/office/drawing/2014/main" id="{539ACF95-2BFF-4F65-91ED-0BB088687221}"/>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968119" y="458872"/>
            <a:ext cx="296010" cy="301752"/>
          </a:xfrm>
          <a:prstGeom prst="rect">
            <a:avLst/>
          </a:prstGeom>
        </p:spPr>
      </p:pic>
      <p:cxnSp>
        <p:nvCxnSpPr>
          <p:cNvPr id="114" name="Straight Connector 113">
            <a:extLst>
              <a:ext uri="{FF2B5EF4-FFF2-40B4-BE49-F238E27FC236}">
                <a16:creationId xmlns:a16="http://schemas.microsoft.com/office/drawing/2014/main" id="{47947BF0-A600-4FA1-9DBD-3750FBBA6F65}"/>
              </a:ext>
            </a:extLst>
          </p:cNvPr>
          <p:cNvCxnSpPr>
            <a:cxnSpLocks/>
          </p:cNvCxnSpPr>
          <p:nvPr/>
        </p:nvCxnSpPr>
        <p:spPr>
          <a:xfrm flipH="1">
            <a:off x="5267838" y="2604130"/>
            <a:ext cx="27699" cy="392432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68" name="TextBox 167">
            <a:extLst>
              <a:ext uri="{FF2B5EF4-FFF2-40B4-BE49-F238E27FC236}">
                <a16:creationId xmlns:a16="http://schemas.microsoft.com/office/drawing/2014/main" id="{B570CE51-56A9-4DEF-BC99-C85C5DA3E3BC}"/>
              </a:ext>
            </a:extLst>
          </p:cNvPr>
          <p:cNvSpPr txBox="1"/>
          <p:nvPr/>
        </p:nvSpPr>
        <p:spPr>
          <a:xfrm>
            <a:off x="5168465" y="2491502"/>
            <a:ext cx="995325" cy="338554"/>
          </a:xfrm>
          <a:prstGeom prst="rect">
            <a:avLst/>
          </a:prstGeom>
          <a:noFill/>
        </p:spPr>
        <p:txBody>
          <a:bodyPr wrap="square" rtlCol="0">
            <a:spAutoFit/>
          </a:bodyPr>
          <a:lstStyle/>
          <a:p>
            <a:pPr algn="ctr"/>
            <a:r>
              <a:rPr lang="en-US" sz="1600" dirty="0"/>
              <a:t>LNG</a:t>
            </a:r>
          </a:p>
        </p:txBody>
      </p:sp>
      <p:grpSp>
        <p:nvGrpSpPr>
          <p:cNvPr id="66" name="Group 65">
            <a:extLst>
              <a:ext uri="{FF2B5EF4-FFF2-40B4-BE49-F238E27FC236}">
                <a16:creationId xmlns:a16="http://schemas.microsoft.com/office/drawing/2014/main" id="{D79688DE-5708-49E0-A0BA-512C66E0883E}"/>
              </a:ext>
            </a:extLst>
          </p:cNvPr>
          <p:cNvGrpSpPr/>
          <p:nvPr/>
        </p:nvGrpSpPr>
        <p:grpSpPr>
          <a:xfrm>
            <a:off x="6348329" y="2874821"/>
            <a:ext cx="857357" cy="3155980"/>
            <a:chOff x="6348329" y="3053491"/>
            <a:chExt cx="857357" cy="3155980"/>
          </a:xfrm>
        </p:grpSpPr>
        <p:grpSp>
          <p:nvGrpSpPr>
            <p:cNvPr id="13" name="Group 12">
              <a:extLst>
                <a:ext uri="{FF2B5EF4-FFF2-40B4-BE49-F238E27FC236}">
                  <a16:creationId xmlns:a16="http://schemas.microsoft.com/office/drawing/2014/main" id="{05C4EABD-F6C4-46E2-A4BF-A03472F66C54}"/>
                </a:ext>
              </a:extLst>
            </p:cNvPr>
            <p:cNvGrpSpPr/>
            <p:nvPr/>
          </p:nvGrpSpPr>
          <p:grpSpPr>
            <a:xfrm>
              <a:off x="6348329" y="3923734"/>
              <a:ext cx="857357" cy="2285737"/>
              <a:chOff x="6334213" y="3017332"/>
              <a:chExt cx="857357" cy="2285737"/>
            </a:xfrm>
          </p:grpSpPr>
          <p:grpSp>
            <p:nvGrpSpPr>
              <p:cNvPr id="48" name="Group 47">
                <a:extLst>
                  <a:ext uri="{FF2B5EF4-FFF2-40B4-BE49-F238E27FC236}">
                    <a16:creationId xmlns:a16="http://schemas.microsoft.com/office/drawing/2014/main" id="{3A71419F-E418-4A6E-9910-81BD10871A53}"/>
                  </a:ext>
                </a:extLst>
              </p:cNvPr>
              <p:cNvGrpSpPr/>
              <p:nvPr/>
            </p:nvGrpSpPr>
            <p:grpSpPr>
              <a:xfrm>
                <a:off x="6334213" y="3017332"/>
                <a:ext cx="857357" cy="609581"/>
                <a:chOff x="6184214" y="3009166"/>
                <a:chExt cx="857357" cy="609581"/>
              </a:xfrm>
            </p:grpSpPr>
            <p:sp>
              <p:nvSpPr>
                <p:cNvPr id="83" name="TextBox 82">
                  <a:extLst>
                    <a:ext uri="{FF2B5EF4-FFF2-40B4-BE49-F238E27FC236}">
                      <a16:creationId xmlns:a16="http://schemas.microsoft.com/office/drawing/2014/main" id="{4AFE9319-A876-4F92-9C43-851324FFB553}"/>
                    </a:ext>
                  </a:extLst>
                </p:cNvPr>
                <p:cNvSpPr txBox="1"/>
                <p:nvPr/>
              </p:nvSpPr>
              <p:spPr>
                <a:xfrm>
                  <a:off x="6598821" y="3105660"/>
                  <a:ext cx="442750" cy="400110"/>
                </a:xfrm>
                <a:prstGeom prst="rect">
                  <a:avLst/>
                </a:prstGeom>
                <a:noFill/>
              </p:spPr>
              <p:txBody>
                <a:bodyPr wrap="none" rtlCol="0">
                  <a:spAutoFit/>
                </a:bodyPr>
                <a:lstStyle/>
                <a:p>
                  <a:pPr algn="ctr"/>
                  <a:r>
                    <a:rPr lang="en-US" sz="2000" dirty="0"/>
                    <a:t>&lt;1</a:t>
                  </a:r>
                </a:p>
              </p:txBody>
            </p:sp>
            <p:pic>
              <p:nvPicPr>
                <p:cNvPr id="140" name="Graphic 139" descr="Pregnant lady with solid fill">
                  <a:extLst>
                    <a:ext uri="{FF2B5EF4-FFF2-40B4-BE49-F238E27FC236}">
                      <a16:creationId xmlns:a16="http://schemas.microsoft.com/office/drawing/2014/main" id="{B6BE25DE-F854-4CFD-90DE-5B8B249C218D}"/>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184214" y="3009166"/>
                  <a:ext cx="609581" cy="609581"/>
                </a:xfrm>
                <a:prstGeom prst="rect">
                  <a:avLst/>
                </a:prstGeom>
              </p:spPr>
            </p:pic>
          </p:grpSp>
          <p:sp>
            <p:nvSpPr>
              <p:cNvPr id="180" name="TextBox 179">
                <a:extLst>
                  <a:ext uri="{FF2B5EF4-FFF2-40B4-BE49-F238E27FC236}">
                    <a16:creationId xmlns:a16="http://schemas.microsoft.com/office/drawing/2014/main" id="{A0BEA09D-16E8-48AA-95A4-A859293DA1F7}"/>
                  </a:ext>
                </a:extLst>
              </p:cNvPr>
              <p:cNvSpPr txBox="1"/>
              <p:nvPr/>
            </p:nvSpPr>
            <p:spPr>
              <a:xfrm>
                <a:off x="6589921" y="4779849"/>
                <a:ext cx="505267" cy="523220"/>
              </a:xfrm>
              <a:prstGeom prst="rect">
                <a:avLst/>
              </a:prstGeom>
              <a:noFill/>
            </p:spPr>
            <p:txBody>
              <a:bodyPr wrap="none" rtlCol="0">
                <a:spAutoFit/>
              </a:bodyPr>
              <a:lstStyle/>
              <a:p>
                <a:r>
                  <a:rPr lang="en-US" sz="2800" b="1" dirty="0">
                    <a:latin typeface="Calibri" panose="020F0502020204030204" pitchFamily="34" charset="0"/>
                    <a:cs typeface="Calibri" panose="020F0502020204030204" pitchFamily="34" charset="0"/>
                    <a:sym typeface="Wingdings" panose="05000000000000000000" pitchFamily="2" charset="2"/>
                  </a:rPr>
                  <a:t></a:t>
                </a:r>
                <a:endParaRPr lang="en-US" sz="2800" dirty="0"/>
              </a:p>
            </p:txBody>
          </p:sp>
        </p:grpSp>
        <p:sp>
          <p:nvSpPr>
            <p:cNvPr id="174" name="TextBox 173">
              <a:extLst>
                <a:ext uri="{FF2B5EF4-FFF2-40B4-BE49-F238E27FC236}">
                  <a16:creationId xmlns:a16="http://schemas.microsoft.com/office/drawing/2014/main" id="{BA431E68-7438-438E-B23F-D97285D5479A}"/>
                </a:ext>
              </a:extLst>
            </p:cNvPr>
            <p:cNvSpPr txBox="1"/>
            <p:nvPr/>
          </p:nvSpPr>
          <p:spPr>
            <a:xfrm>
              <a:off x="6380951" y="5251323"/>
              <a:ext cx="822213" cy="307777"/>
            </a:xfrm>
            <a:prstGeom prst="rect">
              <a:avLst/>
            </a:prstGeom>
            <a:noFill/>
          </p:spPr>
          <p:txBody>
            <a:bodyPr wrap="none" rtlCol="0">
              <a:spAutoFit/>
            </a:bodyPr>
            <a:lstStyle/>
            <a:p>
              <a:r>
                <a:rPr lang="en-US" sz="1400" dirty="0"/>
                <a:t>Q3 years</a:t>
              </a:r>
            </a:p>
          </p:txBody>
        </p:sp>
        <p:pic>
          <p:nvPicPr>
            <p:cNvPr id="189" name="Graphic 188" descr="Checkmark with solid fill">
              <a:extLst>
                <a:ext uri="{FF2B5EF4-FFF2-40B4-BE49-F238E27FC236}">
                  <a16:creationId xmlns:a16="http://schemas.microsoft.com/office/drawing/2014/main" id="{088230AC-05E5-4638-A934-3E49B3FC546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478838" y="4678879"/>
              <a:ext cx="626439" cy="626439"/>
            </a:xfrm>
            <a:prstGeom prst="rect">
              <a:avLst/>
            </a:prstGeom>
          </p:spPr>
        </p:pic>
        <p:pic>
          <p:nvPicPr>
            <p:cNvPr id="195" name="Graphic 194" descr="Close with solid fill">
              <a:extLst>
                <a:ext uri="{FF2B5EF4-FFF2-40B4-BE49-F238E27FC236}">
                  <a16:creationId xmlns:a16="http://schemas.microsoft.com/office/drawing/2014/main" id="{5E974624-DFAE-45B4-B71F-DEAC0173B7FD}"/>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6483553" y="3053491"/>
              <a:ext cx="617009" cy="617009"/>
            </a:xfrm>
            <a:prstGeom prst="rect">
              <a:avLst/>
            </a:prstGeom>
          </p:spPr>
        </p:pic>
      </p:grpSp>
      <p:grpSp>
        <p:nvGrpSpPr>
          <p:cNvPr id="69" name="Group 68">
            <a:extLst>
              <a:ext uri="{FF2B5EF4-FFF2-40B4-BE49-F238E27FC236}">
                <a16:creationId xmlns:a16="http://schemas.microsoft.com/office/drawing/2014/main" id="{07617EC7-83DC-45DF-AE74-C4CC7F28ADE7}"/>
              </a:ext>
            </a:extLst>
          </p:cNvPr>
          <p:cNvGrpSpPr/>
          <p:nvPr/>
        </p:nvGrpSpPr>
        <p:grpSpPr>
          <a:xfrm>
            <a:off x="7380980" y="2862695"/>
            <a:ext cx="1400717" cy="3162673"/>
            <a:chOff x="7380980" y="3041365"/>
            <a:chExt cx="1400717" cy="3162673"/>
          </a:xfrm>
        </p:grpSpPr>
        <p:sp>
          <p:nvSpPr>
            <p:cNvPr id="87" name="TextBox 86">
              <a:extLst>
                <a:ext uri="{FF2B5EF4-FFF2-40B4-BE49-F238E27FC236}">
                  <a16:creationId xmlns:a16="http://schemas.microsoft.com/office/drawing/2014/main" id="{25FF76BD-B447-4326-91F5-61C72AC33FCE}"/>
                </a:ext>
              </a:extLst>
            </p:cNvPr>
            <p:cNvSpPr txBox="1"/>
            <p:nvPr/>
          </p:nvSpPr>
          <p:spPr>
            <a:xfrm>
              <a:off x="7620346" y="5251323"/>
              <a:ext cx="921984" cy="307777"/>
            </a:xfrm>
            <a:prstGeom prst="rect">
              <a:avLst/>
            </a:prstGeom>
            <a:noFill/>
          </p:spPr>
          <p:txBody>
            <a:bodyPr wrap="none" rtlCol="0">
              <a:spAutoFit/>
            </a:bodyPr>
            <a:lstStyle/>
            <a:p>
              <a:r>
                <a:rPr lang="en-US" sz="1400" dirty="0"/>
                <a:t>Q3 month</a:t>
              </a:r>
            </a:p>
          </p:txBody>
        </p:sp>
        <p:grpSp>
          <p:nvGrpSpPr>
            <p:cNvPr id="47" name="Group 46">
              <a:extLst>
                <a:ext uri="{FF2B5EF4-FFF2-40B4-BE49-F238E27FC236}">
                  <a16:creationId xmlns:a16="http://schemas.microsoft.com/office/drawing/2014/main" id="{8E81FAA8-B8A5-4144-844E-260C14B1666B}"/>
                </a:ext>
              </a:extLst>
            </p:cNvPr>
            <p:cNvGrpSpPr/>
            <p:nvPr/>
          </p:nvGrpSpPr>
          <p:grpSpPr>
            <a:xfrm>
              <a:off x="7380980" y="3915493"/>
              <a:ext cx="1400717" cy="617836"/>
              <a:chOff x="7280104" y="3017469"/>
              <a:chExt cx="1400717" cy="617836"/>
            </a:xfrm>
          </p:grpSpPr>
          <p:pic>
            <p:nvPicPr>
              <p:cNvPr id="141" name="Graphic 140" descr="Pregnant lady with solid fill">
                <a:extLst>
                  <a:ext uri="{FF2B5EF4-FFF2-40B4-BE49-F238E27FC236}">
                    <a16:creationId xmlns:a16="http://schemas.microsoft.com/office/drawing/2014/main" id="{D4BA23A5-0C57-4DF4-BAC7-886CC0B81879}"/>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7280104" y="3025027"/>
                <a:ext cx="609581" cy="609581"/>
              </a:xfrm>
              <a:prstGeom prst="rect">
                <a:avLst/>
              </a:prstGeom>
            </p:spPr>
          </p:pic>
          <p:pic>
            <p:nvPicPr>
              <p:cNvPr id="142" name="Graphic 141" descr="Pregnant lady with solid fill">
                <a:extLst>
                  <a:ext uri="{FF2B5EF4-FFF2-40B4-BE49-F238E27FC236}">
                    <a16:creationId xmlns:a16="http://schemas.microsoft.com/office/drawing/2014/main" id="{D905930C-759A-4818-8E25-AE1B214579DA}"/>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7539849" y="3025724"/>
                <a:ext cx="609581" cy="609581"/>
              </a:xfrm>
              <a:prstGeom prst="rect">
                <a:avLst/>
              </a:prstGeom>
            </p:spPr>
          </p:pic>
          <p:pic>
            <p:nvPicPr>
              <p:cNvPr id="143" name="Graphic 142" descr="Pregnant lady with solid fill">
                <a:extLst>
                  <a:ext uri="{FF2B5EF4-FFF2-40B4-BE49-F238E27FC236}">
                    <a16:creationId xmlns:a16="http://schemas.microsoft.com/office/drawing/2014/main" id="{39EF79CA-B77A-467A-B968-773F3614A1E8}"/>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7808774" y="3017469"/>
                <a:ext cx="609581" cy="609581"/>
              </a:xfrm>
              <a:prstGeom prst="rect">
                <a:avLst/>
              </a:prstGeom>
            </p:spPr>
          </p:pic>
          <p:pic>
            <p:nvPicPr>
              <p:cNvPr id="144" name="Graphic 143" descr="Pregnant lady with solid fill">
                <a:extLst>
                  <a:ext uri="{FF2B5EF4-FFF2-40B4-BE49-F238E27FC236}">
                    <a16:creationId xmlns:a16="http://schemas.microsoft.com/office/drawing/2014/main" id="{B8EE8C17-C8E4-4DA8-B303-71FB75B1E25D}"/>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071240" y="3017469"/>
                <a:ext cx="609581" cy="609581"/>
              </a:xfrm>
              <a:prstGeom prst="rect">
                <a:avLst/>
              </a:prstGeom>
            </p:spPr>
          </p:pic>
        </p:grpSp>
        <p:sp>
          <p:nvSpPr>
            <p:cNvPr id="181" name="TextBox 180">
              <a:extLst>
                <a:ext uri="{FF2B5EF4-FFF2-40B4-BE49-F238E27FC236}">
                  <a16:creationId xmlns:a16="http://schemas.microsoft.com/office/drawing/2014/main" id="{045BF1C1-386E-44EA-B934-5E5EB005082D}"/>
                </a:ext>
              </a:extLst>
            </p:cNvPr>
            <p:cNvSpPr txBox="1"/>
            <p:nvPr/>
          </p:nvSpPr>
          <p:spPr>
            <a:xfrm>
              <a:off x="7828705" y="5680818"/>
              <a:ext cx="505267" cy="523220"/>
            </a:xfrm>
            <a:prstGeom prst="rect">
              <a:avLst/>
            </a:prstGeom>
            <a:noFill/>
          </p:spPr>
          <p:txBody>
            <a:bodyPr wrap="none" rtlCol="0">
              <a:spAutoFit/>
            </a:bodyPr>
            <a:lstStyle/>
            <a:p>
              <a:r>
                <a:rPr lang="en-US" sz="2800" b="1" dirty="0">
                  <a:latin typeface="Calibri" panose="020F0502020204030204" pitchFamily="34" charset="0"/>
                  <a:cs typeface="Calibri" panose="020F0502020204030204" pitchFamily="34" charset="0"/>
                  <a:sym typeface="Wingdings" panose="05000000000000000000" pitchFamily="2" charset="2"/>
                </a:rPr>
                <a:t></a:t>
              </a:r>
              <a:endParaRPr lang="en-US" sz="2800" dirty="0"/>
            </a:p>
          </p:txBody>
        </p:sp>
        <p:pic>
          <p:nvPicPr>
            <p:cNvPr id="192" name="Graphic 191" descr="Checkmark with solid fill">
              <a:extLst>
                <a:ext uri="{FF2B5EF4-FFF2-40B4-BE49-F238E27FC236}">
                  <a16:creationId xmlns:a16="http://schemas.microsoft.com/office/drawing/2014/main" id="{76BF1E56-65F9-4A4F-9939-985179E27F5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7768119" y="4694184"/>
              <a:ext cx="626439" cy="626439"/>
            </a:xfrm>
            <a:prstGeom prst="rect">
              <a:avLst/>
            </a:prstGeom>
          </p:spPr>
        </p:pic>
        <p:pic>
          <p:nvPicPr>
            <p:cNvPr id="196" name="Graphic 195" descr="Close with solid fill">
              <a:extLst>
                <a:ext uri="{FF2B5EF4-FFF2-40B4-BE49-F238E27FC236}">
                  <a16:creationId xmlns:a16="http://schemas.microsoft.com/office/drawing/2014/main" id="{FD9232BA-419F-42C0-AD8E-9BB9064EC9D0}"/>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7772834" y="3041365"/>
              <a:ext cx="617009" cy="617009"/>
            </a:xfrm>
            <a:prstGeom prst="rect">
              <a:avLst/>
            </a:prstGeom>
          </p:spPr>
        </p:pic>
      </p:grpSp>
      <p:grpSp>
        <p:nvGrpSpPr>
          <p:cNvPr id="70" name="Group 69">
            <a:extLst>
              <a:ext uri="{FF2B5EF4-FFF2-40B4-BE49-F238E27FC236}">
                <a16:creationId xmlns:a16="http://schemas.microsoft.com/office/drawing/2014/main" id="{013712FC-EC38-49AE-B6B1-74D264C3AB27}"/>
              </a:ext>
            </a:extLst>
          </p:cNvPr>
          <p:cNvGrpSpPr/>
          <p:nvPr/>
        </p:nvGrpSpPr>
        <p:grpSpPr>
          <a:xfrm>
            <a:off x="8733775" y="2863385"/>
            <a:ext cx="1306899" cy="3495929"/>
            <a:chOff x="8733775" y="3042055"/>
            <a:chExt cx="1306899" cy="3495929"/>
          </a:xfrm>
        </p:grpSpPr>
        <p:sp>
          <p:nvSpPr>
            <p:cNvPr id="65" name="TextBox 64">
              <a:extLst>
                <a:ext uri="{FF2B5EF4-FFF2-40B4-BE49-F238E27FC236}">
                  <a16:creationId xmlns:a16="http://schemas.microsoft.com/office/drawing/2014/main" id="{148D0082-68FE-4A30-8D91-92A9657E2326}"/>
                </a:ext>
              </a:extLst>
            </p:cNvPr>
            <p:cNvSpPr txBox="1"/>
            <p:nvPr/>
          </p:nvSpPr>
          <p:spPr>
            <a:xfrm>
              <a:off x="9020778" y="5251323"/>
              <a:ext cx="732893" cy="307777"/>
            </a:xfrm>
            <a:prstGeom prst="rect">
              <a:avLst/>
            </a:prstGeom>
            <a:noFill/>
          </p:spPr>
          <p:txBody>
            <a:bodyPr wrap="none" rtlCol="0">
              <a:spAutoFit/>
            </a:bodyPr>
            <a:lstStyle/>
            <a:p>
              <a:r>
                <a:rPr lang="en-US" sz="1400" dirty="0"/>
                <a:t>Q week</a:t>
              </a:r>
            </a:p>
          </p:txBody>
        </p:sp>
        <p:grpSp>
          <p:nvGrpSpPr>
            <p:cNvPr id="49" name="Group 48">
              <a:extLst>
                <a:ext uri="{FF2B5EF4-FFF2-40B4-BE49-F238E27FC236}">
                  <a16:creationId xmlns:a16="http://schemas.microsoft.com/office/drawing/2014/main" id="{BB97728F-D013-4B4C-93CE-A699E0F0456F}"/>
                </a:ext>
              </a:extLst>
            </p:cNvPr>
            <p:cNvGrpSpPr/>
            <p:nvPr/>
          </p:nvGrpSpPr>
          <p:grpSpPr>
            <a:xfrm>
              <a:off x="8881089" y="3874515"/>
              <a:ext cx="1012270" cy="717717"/>
              <a:chOff x="8745061" y="2960014"/>
              <a:chExt cx="1012270" cy="717717"/>
            </a:xfrm>
          </p:grpSpPr>
          <p:grpSp>
            <p:nvGrpSpPr>
              <p:cNvPr id="145" name="Group 144">
                <a:extLst>
                  <a:ext uri="{FF2B5EF4-FFF2-40B4-BE49-F238E27FC236}">
                    <a16:creationId xmlns:a16="http://schemas.microsoft.com/office/drawing/2014/main" id="{36F1E75E-7D3E-4D24-87C7-7C1CF2EB4B49}"/>
                  </a:ext>
                </a:extLst>
              </p:cNvPr>
              <p:cNvGrpSpPr/>
              <p:nvPr/>
            </p:nvGrpSpPr>
            <p:grpSpPr>
              <a:xfrm>
                <a:off x="8745061" y="2960014"/>
                <a:ext cx="1012270" cy="387450"/>
                <a:chOff x="7280104" y="3017469"/>
                <a:chExt cx="1400717" cy="617836"/>
              </a:xfrm>
            </p:grpSpPr>
            <p:pic>
              <p:nvPicPr>
                <p:cNvPr id="146" name="Graphic 145" descr="Pregnant lady with solid fill">
                  <a:extLst>
                    <a:ext uri="{FF2B5EF4-FFF2-40B4-BE49-F238E27FC236}">
                      <a16:creationId xmlns:a16="http://schemas.microsoft.com/office/drawing/2014/main" id="{01E3BDEF-40EB-4135-B79B-28915A982F85}"/>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7280104" y="3025027"/>
                  <a:ext cx="609581" cy="609581"/>
                </a:xfrm>
                <a:prstGeom prst="rect">
                  <a:avLst/>
                </a:prstGeom>
              </p:spPr>
            </p:pic>
            <p:pic>
              <p:nvPicPr>
                <p:cNvPr id="147" name="Graphic 146" descr="Pregnant lady with solid fill">
                  <a:extLst>
                    <a:ext uri="{FF2B5EF4-FFF2-40B4-BE49-F238E27FC236}">
                      <a16:creationId xmlns:a16="http://schemas.microsoft.com/office/drawing/2014/main" id="{39A3A624-CE8A-48F4-90EC-1BA69088CFEE}"/>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7539849" y="3025724"/>
                  <a:ext cx="609581" cy="609581"/>
                </a:xfrm>
                <a:prstGeom prst="rect">
                  <a:avLst/>
                </a:prstGeom>
              </p:spPr>
            </p:pic>
            <p:pic>
              <p:nvPicPr>
                <p:cNvPr id="148" name="Graphic 147" descr="Pregnant lady with solid fill">
                  <a:extLst>
                    <a:ext uri="{FF2B5EF4-FFF2-40B4-BE49-F238E27FC236}">
                      <a16:creationId xmlns:a16="http://schemas.microsoft.com/office/drawing/2014/main" id="{413D6688-8208-48B2-86DC-3B0506BF8E73}"/>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7808774" y="3017469"/>
                  <a:ext cx="609581" cy="609581"/>
                </a:xfrm>
                <a:prstGeom prst="rect">
                  <a:avLst/>
                </a:prstGeom>
              </p:spPr>
            </p:pic>
            <p:pic>
              <p:nvPicPr>
                <p:cNvPr id="149" name="Graphic 148" descr="Pregnant lady with solid fill">
                  <a:extLst>
                    <a:ext uri="{FF2B5EF4-FFF2-40B4-BE49-F238E27FC236}">
                      <a16:creationId xmlns:a16="http://schemas.microsoft.com/office/drawing/2014/main" id="{2AB84FE4-D528-4508-8B81-6017E0C821B8}"/>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071240" y="3017469"/>
                  <a:ext cx="609581" cy="609581"/>
                </a:xfrm>
                <a:prstGeom prst="rect">
                  <a:avLst/>
                </a:prstGeom>
              </p:spPr>
            </p:pic>
          </p:grpSp>
          <p:grpSp>
            <p:nvGrpSpPr>
              <p:cNvPr id="150" name="Group 149">
                <a:extLst>
                  <a:ext uri="{FF2B5EF4-FFF2-40B4-BE49-F238E27FC236}">
                    <a16:creationId xmlns:a16="http://schemas.microsoft.com/office/drawing/2014/main" id="{E6617284-548F-47AC-8B6F-963433F944EF}"/>
                  </a:ext>
                </a:extLst>
              </p:cNvPr>
              <p:cNvGrpSpPr/>
              <p:nvPr/>
            </p:nvGrpSpPr>
            <p:grpSpPr>
              <a:xfrm>
                <a:off x="8856336" y="3290281"/>
                <a:ext cx="822591" cy="387450"/>
                <a:chOff x="7280104" y="3017469"/>
                <a:chExt cx="1138251" cy="617836"/>
              </a:xfrm>
            </p:grpSpPr>
            <p:pic>
              <p:nvPicPr>
                <p:cNvPr id="151" name="Graphic 150" descr="Pregnant lady with solid fill">
                  <a:extLst>
                    <a:ext uri="{FF2B5EF4-FFF2-40B4-BE49-F238E27FC236}">
                      <a16:creationId xmlns:a16="http://schemas.microsoft.com/office/drawing/2014/main" id="{C5763CD8-6D37-4068-A9B7-F4CD78BBE52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7280104" y="3025027"/>
                  <a:ext cx="609581" cy="609581"/>
                </a:xfrm>
                <a:prstGeom prst="rect">
                  <a:avLst/>
                </a:prstGeom>
              </p:spPr>
            </p:pic>
            <p:pic>
              <p:nvPicPr>
                <p:cNvPr id="152" name="Graphic 151" descr="Pregnant lady with solid fill">
                  <a:extLst>
                    <a:ext uri="{FF2B5EF4-FFF2-40B4-BE49-F238E27FC236}">
                      <a16:creationId xmlns:a16="http://schemas.microsoft.com/office/drawing/2014/main" id="{BC09C1F1-FFF9-4CAD-877D-66ABFE071346}"/>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7539849" y="3025724"/>
                  <a:ext cx="609581" cy="609581"/>
                </a:xfrm>
                <a:prstGeom prst="rect">
                  <a:avLst/>
                </a:prstGeom>
              </p:spPr>
            </p:pic>
            <p:pic>
              <p:nvPicPr>
                <p:cNvPr id="153" name="Graphic 152" descr="Pregnant lady with solid fill">
                  <a:extLst>
                    <a:ext uri="{FF2B5EF4-FFF2-40B4-BE49-F238E27FC236}">
                      <a16:creationId xmlns:a16="http://schemas.microsoft.com/office/drawing/2014/main" id="{0626656B-CCCE-4785-B0A9-C0B96AB22279}"/>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7808774" y="3017469"/>
                  <a:ext cx="609581" cy="609581"/>
                </a:xfrm>
                <a:prstGeom prst="rect">
                  <a:avLst/>
                </a:prstGeom>
              </p:spPr>
            </p:pic>
          </p:grpSp>
        </p:grpSp>
        <p:sp>
          <p:nvSpPr>
            <p:cNvPr id="177" name="TextBox 176">
              <a:extLst>
                <a:ext uri="{FF2B5EF4-FFF2-40B4-BE49-F238E27FC236}">
                  <a16:creationId xmlns:a16="http://schemas.microsoft.com/office/drawing/2014/main" id="{74EAF656-198E-469C-AD63-6EB35A80B471}"/>
                </a:ext>
              </a:extLst>
            </p:cNvPr>
            <p:cNvSpPr txBox="1"/>
            <p:nvPr/>
          </p:nvSpPr>
          <p:spPr>
            <a:xfrm>
              <a:off x="9180276" y="5718701"/>
              <a:ext cx="413896" cy="400110"/>
            </a:xfrm>
            <a:prstGeom prst="rect">
              <a:avLst/>
            </a:prstGeom>
            <a:noFill/>
          </p:spPr>
          <p:txBody>
            <a:bodyPr wrap="none" rtlCol="0">
              <a:spAutoFit/>
            </a:bodyPr>
            <a:lstStyle/>
            <a:p>
              <a:r>
                <a:rPr lang="en-US" sz="2000" dirty="0">
                  <a:latin typeface="Calibri" panose="020F0502020204030204" pitchFamily="34" charset="0"/>
                  <a:cs typeface="Calibri" panose="020F0502020204030204" pitchFamily="34" charset="0"/>
                  <a:sym typeface="Wingdings" panose="05000000000000000000" pitchFamily="2" charset="2"/>
                </a:rPr>
                <a:t></a:t>
              </a:r>
              <a:endParaRPr lang="en-US" sz="2800" b="1" dirty="0"/>
            </a:p>
          </p:txBody>
        </p:sp>
        <p:pic>
          <p:nvPicPr>
            <p:cNvPr id="193" name="Graphic 192" descr="Checkmark with solid fill">
              <a:extLst>
                <a:ext uri="{FF2B5EF4-FFF2-40B4-BE49-F238E27FC236}">
                  <a16:creationId xmlns:a16="http://schemas.microsoft.com/office/drawing/2014/main" id="{6A34789E-66AB-4434-822D-54DB167C9B9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9074005" y="4694184"/>
              <a:ext cx="626439" cy="626439"/>
            </a:xfrm>
            <a:prstGeom prst="rect">
              <a:avLst/>
            </a:prstGeom>
          </p:spPr>
        </p:pic>
        <p:pic>
          <p:nvPicPr>
            <p:cNvPr id="197" name="Graphic 196" descr="Close with solid fill">
              <a:extLst>
                <a:ext uri="{FF2B5EF4-FFF2-40B4-BE49-F238E27FC236}">
                  <a16:creationId xmlns:a16="http://schemas.microsoft.com/office/drawing/2014/main" id="{E30F7428-8676-4D12-873A-F93439B0B315}"/>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078720" y="3042055"/>
              <a:ext cx="617009" cy="617009"/>
            </a:xfrm>
            <a:prstGeom prst="rect">
              <a:avLst/>
            </a:prstGeom>
          </p:spPr>
        </p:pic>
        <p:sp>
          <p:nvSpPr>
            <p:cNvPr id="200" name="TextBox 199">
              <a:extLst>
                <a:ext uri="{FF2B5EF4-FFF2-40B4-BE49-F238E27FC236}">
                  <a16:creationId xmlns:a16="http://schemas.microsoft.com/office/drawing/2014/main" id="{931899DD-DA34-4E83-99FE-018F0D4A4074}"/>
                </a:ext>
              </a:extLst>
            </p:cNvPr>
            <p:cNvSpPr txBox="1"/>
            <p:nvPr/>
          </p:nvSpPr>
          <p:spPr>
            <a:xfrm>
              <a:off x="8733775" y="6084077"/>
              <a:ext cx="1306899" cy="453907"/>
            </a:xfrm>
            <a:prstGeom prst="rect">
              <a:avLst/>
            </a:prstGeom>
            <a:noFill/>
          </p:spPr>
          <p:txBody>
            <a:bodyPr wrap="square" rtlCol="0">
              <a:spAutoFit/>
            </a:bodyPr>
            <a:lstStyle/>
            <a:p>
              <a:pPr algn="ctr">
                <a:lnSpc>
                  <a:spcPts val="1400"/>
                </a:lnSpc>
              </a:pPr>
              <a:r>
                <a:rPr lang="en-US" sz="1400" dirty="0"/>
                <a:t>Can have regular menses</a:t>
              </a:r>
            </a:p>
          </p:txBody>
        </p:sp>
      </p:grpSp>
      <p:grpSp>
        <p:nvGrpSpPr>
          <p:cNvPr id="74" name="Group 73">
            <a:extLst>
              <a:ext uri="{FF2B5EF4-FFF2-40B4-BE49-F238E27FC236}">
                <a16:creationId xmlns:a16="http://schemas.microsoft.com/office/drawing/2014/main" id="{4714DDFA-D685-4853-B699-832517479570}"/>
              </a:ext>
            </a:extLst>
          </p:cNvPr>
          <p:cNvGrpSpPr/>
          <p:nvPr/>
        </p:nvGrpSpPr>
        <p:grpSpPr>
          <a:xfrm>
            <a:off x="10023113" y="2874791"/>
            <a:ext cx="1332563" cy="3484523"/>
            <a:chOff x="10023113" y="3053461"/>
            <a:chExt cx="1332563" cy="3484523"/>
          </a:xfrm>
        </p:grpSpPr>
        <p:grpSp>
          <p:nvGrpSpPr>
            <p:cNvPr id="155" name="Group 154">
              <a:extLst>
                <a:ext uri="{FF2B5EF4-FFF2-40B4-BE49-F238E27FC236}">
                  <a16:creationId xmlns:a16="http://schemas.microsoft.com/office/drawing/2014/main" id="{51BE1D6E-3A79-4058-837F-C88BDA696668}"/>
                </a:ext>
              </a:extLst>
            </p:cNvPr>
            <p:cNvGrpSpPr/>
            <p:nvPr/>
          </p:nvGrpSpPr>
          <p:grpSpPr>
            <a:xfrm>
              <a:off x="10183259" y="3866416"/>
              <a:ext cx="1012270" cy="717717"/>
              <a:chOff x="8745061" y="2960014"/>
              <a:chExt cx="1012270" cy="717717"/>
            </a:xfrm>
          </p:grpSpPr>
          <p:grpSp>
            <p:nvGrpSpPr>
              <p:cNvPr id="156" name="Group 155">
                <a:extLst>
                  <a:ext uri="{FF2B5EF4-FFF2-40B4-BE49-F238E27FC236}">
                    <a16:creationId xmlns:a16="http://schemas.microsoft.com/office/drawing/2014/main" id="{21F9E5D0-E939-4D27-9F33-C601D819F550}"/>
                  </a:ext>
                </a:extLst>
              </p:cNvPr>
              <p:cNvGrpSpPr/>
              <p:nvPr/>
            </p:nvGrpSpPr>
            <p:grpSpPr>
              <a:xfrm>
                <a:off x="8745061" y="2960014"/>
                <a:ext cx="1012270" cy="387450"/>
                <a:chOff x="7280104" y="3017469"/>
                <a:chExt cx="1400717" cy="617836"/>
              </a:xfrm>
            </p:grpSpPr>
            <p:pic>
              <p:nvPicPr>
                <p:cNvPr id="161" name="Graphic 160" descr="Pregnant lady with solid fill">
                  <a:extLst>
                    <a:ext uri="{FF2B5EF4-FFF2-40B4-BE49-F238E27FC236}">
                      <a16:creationId xmlns:a16="http://schemas.microsoft.com/office/drawing/2014/main" id="{BA9D2FD3-7188-4272-B209-030378DBE64A}"/>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7280104" y="3025027"/>
                  <a:ext cx="609581" cy="609581"/>
                </a:xfrm>
                <a:prstGeom prst="rect">
                  <a:avLst/>
                </a:prstGeom>
              </p:spPr>
            </p:pic>
            <p:pic>
              <p:nvPicPr>
                <p:cNvPr id="162" name="Graphic 161" descr="Pregnant lady with solid fill">
                  <a:extLst>
                    <a:ext uri="{FF2B5EF4-FFF2-40B4-BE49-F238E27FC236}">
                      <a16:creationId xmlns:a16="http://schemas.microsoft.com/office/drawing/2014/main" id="{9BD8B88A-E6BF-45BE-AE69-4B39F6C6A0FA}"/>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7539849" y="3025724"/>
                  <a:ext cx="609581" cy="609581"/>
                </a:xfrm>
                <a:prstGeom prst="rect">
                  <a:avLst/>
                </a:prstGeom>
              </p:spPr>
            </p:pic>
            <p:pic>
              <p:nvPicPr>
                <p:cNvPr id="163" name="Graphic 162" descr="Pregnant lady with solid fill">
                  <a:extLst>
                    <a:ext uri="{FF2B5EF4-FFF2-40B4-BE49-F238E27FC236}">
                      <a16:creationId xmlns:a16="http://schemas.microsoft.com/office/drawing/2014/main" id="{CCE14CCD-C711-4CEB-B488-2A367F0A6233}"/>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7808774" y="3017469"/>
                  <a:ext cx="609581" cy="609581"/>
                </a:xfrm>
                <a:prstGeom prst="rect">
                  <a:avLst/>
                </a:prstGeom>
              </p:spPr>
            </p:pic>
            <p:pic>
              <p:nvPicPr>
                <p:cNvPr id="164" name="Graphic 163" descr="Pregnant lady with solid fill">
                  <a:extLst>
                    <a:ext uri="{FF2B5EF4-FFF2-40B4-BE49-F238E27FC236}">
                      <a16:creationId xmlns:a16="http://schemas.microsoft.com/office/drawing/2014/main" id="{52421FC8-5C5D-405F-BAF8-3F4996B41385}"/>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071240" y="3017469"/>
                  <a:ext cx="609581" cy="609581"/>
                </a:xfrm>
                <a:prstGeom prst="rect">
                  <a:avLst/>
                </a:prstGeom>
              </p:spPr>
            </p:pic>
          </p:grpSp>
          <p:grpSp>
            <p:nvGrpSpPr>
              <p:cNvPr id="157" name="Group 156">
                <a:extLst>
                  <a:ext uri="{FF2B5EF4-FFF2-40B4-BE49-F238E27FC236}">
                    <a16:creationId xmlns:a16="http://schemas.microsoft.com/office/drawing/2014/main" id="{DFC70AB6-87E6-406D-BF33-F02F088FACCD}"/>
                  </a:ext>
                </a:extLst>
              </p:cNvPr>
              <p:cNvGrpSpPr/>
              <p:nvPr/>
            </p:nvGrpSpPr>
            <p:grpSpPr>
              <a:xfrm>
                <a:off x="8856336" y="3290281"/>
                <a:ext cx="822591" cy="387450"/>
                <a:chOff x="7280104" y="3017469"/>
                <a:chExt cx="1138251" cy="617836"/>
              </a:xfrm>
            </p:grpSpPr>
            <p:pic>
              <p:nvPicPr>
                <p:cNvPr id="158" name="Graphic 157" descr="Pregnant lady with solid fill">
                  <a:extLst>
                    <a:ext uri="{FF2B5EF4-FFF2-40B4-BE49-F238E27FC236}">
                      <a16:creationId xmlns:a16="http://schemas.microsoft.com/office/drawing/2014/main" id="{53549828-CC42-411F-A968-DB1AA0CE1BF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7280104" y="3025027"/>
                  <a:ext cx="609581" cy="609581"/>
                </a:xfrm>
                <a:prstGeom prst="rect">
                  <a:avLst/>
                </a:prstGeom>
              </p:spPr>
            </p:pic>
            <p:pic>
              <p:nvPicPr>
                <p:cNvPr id="159" name="Graphic 158" descr="Pregnant lady with solid fill">
                  <a:extLst>
                    <a:ext uri="{FF2B5EF4-FFF2-40B4-BE49-F238E27FC236}">
                      <a16:creationId xmlns:a16="http://schemas.microsoft.com/office/drawing/2014/main" id="{8F0BDD9A-4DDC-49D7-BE2D-E29E607EDB03}"/>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7539849" y="3025724"/>
                  <a:ext cx="609581" cy="609581"/>
                </a:xfrm>
                <a:prstGeom prst="rect">
                  <a:avLst/>
                </a:prstGeom>
              </p:spPr>
            </p:pic>
            <p:pic>
              <p:nvPicPr>
                <p:cNvPr id="160" name="Graphic 159" descr="Pregnant lady with solid fill">
                  <a:extLst>
                    <a:ext uri="{FF2B5EF4-FFF2-40B4-BE49-F238E27FC236}">
                      <a16:creationId xmlns:a16="http://schemas.microsoft.com/office/drawing/2014/main" id="{A85CB605-E555-4EA8-A3A5-8E3F7DF640C4}"/>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7808774" y="3017469"/>
                  <a:ext cx="609581" cy="609581"/>
                </a:xfrm>
                <a:prstGeom prst="rect">
                  <a:avLst/>
                </a:prstGeom>
              </p:spPr>
            </p:pic>
          </p:grpSp>
        </p:grpSp>
        <p:grpSp>
          <p:nvGrpSpPr>
            <p:cNvPr id="18" name="Group 17">
              <a:extLst>
                <a:ext uri="{FF2B5EF4-FFF2-40B4-BE49-F238E27FC236}">
                  <a16:creationId xmlns:a16="http://schemas.microsoft.com/office/drawing/2014/main" id="{96BD090A-BB80-4635-8D9C-32CA91D4FE9A}"/>
                </a:ext>
              </a:extLst>
            </p:cNvPr>
            <p:cNvGrpSpPr/>
            <p:nvPr/>
          </p:nvGrpSpPr>
          <p:grpSpPr>
            <a:xfrm>
              <a:off x="10387132" y="5257808"/>
              <a:ext cx="604524" cy="861003"/>
              <a:chOff x="10317422" y="5159463"/>
              <a:chExt cx="604524" cy="861003"/>
            </a:xfrm>
          </p:grpSpPr>
          <p:sp>
            <p:nvSpPr>
              <p:cNvPr id="63" name="TextBox 62">
                <a:extLst>
                  <a:ext uri="{FF2B5EF4-FFF2-40B4-BE49-F238E27FC236}">
                    <a16:creationId xmlns:a16="http://schemas.microsoft.com/office/drawing/2014/main" id="{1A3ECF3A-D82E-4E4F-BFA2-683C0A3B0258}"/>
                  </a:ext>
                </a:extLst>
              </p:cNvPr>
              <p:cNvSpPr txBox="1"/>
              <p:nvPr/>
            </p:nvSpPr>
            <p:spPr>
              <a:xfrm>
                <a:off x="10317422" y="5159463"/>
                <a:ext cx="604524" cy="307777"/>
              </a:xfrm>
              <a:prstGeom prst="rect">
                <a:avLst/>
              </a:prstGeom>
              <a:noFill/>
            </p:spPr>
            <p:txBody>
              <a:bodyPr wrap="none" rtlCol="0">
                <a:spAutoFit/>
              </a:bodyPr>
              <a:lstStyle/>
              <a:p>
                <a:r>
                  <a:rPr lang="en-US" sz="1400" dirty="0"/>
                  <a:t>Q day</a:t>
                </a:r>
              </a:p>
            </p:txBody>
          </p:sp>
          <p:sp>
            <p:nvSpPr>
              <p:cNvPr id="178" name="TextBox 177">
                <a:extLst>
                  <a:ext uri="{FF2B5EF4-FFF2-40B4-BE49-F238E27FC236}">
                    <a16:creationId xmlns:a16="http://schemas.microsoft.com/office/drawing/2014/main" id="{0D047D0A-BE98-46EE-8109-D6545A6AF9BB}"/>
                  </a:ext>
                </a:extLst>
              </p:cNvPr>
              <p:cNvSpPr txBox="1"/>
              <p:nvPr/>
            </p:nvSpPr>
            <p:spPr>
              <a:xfrm>
                <a:off x="10448565" y="5620356"/>
                <a:ext cx="413896" cy="400110"/>
              </a:xfrm>
              <a:prstGeom prst="rect">
                <a:avLst/>
              </a:prstGeom>
              <a:noFill/>
            </p:spPr>
            <p:txBody>
              <a:bodyPr wrap="none" rtlCol="0">
                <a:spAutoFit/>
              </a:bodyPr>
              <a:lstStyle/>
              <a:p>
                <a:r>
                  <a:rPr lang="en-US" sz="2000" dirty="0">
                    <a:latin typeface="Calibri" panose="020F0502020204030204" pitchFamily="34" charset="0"/>
                    <a:cs typeface="Calibri" panose="020F0502020204030204" pitchFamily="34" charset="0"/>
                    <a:sym typeface="Wingdings" panose="05000000000000000000" pitchFamily="2" charset="2"/>
                  </a:rPr>
                  <a:t></a:t>
                </a:r>
                <a:endParaRPr lang="en-US" sz="2800" b="1" dirty="0"/>
              </a:p>
            </p:txBody>
          </p:sp>
        </p:grpSp>
        <p:pic>
          <p:nvPicPr>
            <p:cNvPr id="198" name="Graphic 197" descr="Close with solid fill">
              <a:extLst>
                <a:ext uri="{FF2B5EF4-FFF2-40B4-BE49-F238E27FC236}">
                  <a16:creationId xmlns:a16="http://schemas.microsoft.com/office/drawing/2014/main" id="{E5386C1E-ABEE-4106-AD5C-36BE5841CEEA}"/>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380890" y="3053461"/>
              <a:ext cx="617009" cy="617009"/>
            </a:xfrm>
            <a:prstGeom prst="rect">
              <a:avLst/>
            </a:prstGeom>
          </p:spPr>
        </p:pic>
        <p:pic>
          <p:nvPicPr>
            <p:cNvPr id="199" name="Graphic 198" descr="Close with solid fill">
              <a:extLst>
                <a:ext uri="{FF2B5EF4-FFF2-40B4-BE49-F238E27FC236}">
                  <a16:creationId xmlns:a16="http://schemas.microsoft.com/office/drawing/2014/main" id="{DD4B0A3B-D8AE-4116-8501-E5A702975837}"/>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380890" y="4726352"/>
              <a:ext cx="617009" cy="617009"/>
            </a:xfrm>
            <a:prstGeom prst="rect">
              <a:avLst/>
            </a:prstGeom>
          </p:spPr>
        </p:pic>
        <p:sp>
          <p:nvSpPr>
            <p:cNvPr id="201" name="TextBox 200">
              <a:extLst>
                <a:ext uri="{FF2B5EF4-FFF2-40B4-BE49-F238E27FC236}">
                  <a16:creationId xmlns:a16="http://schemas.microsoft.com/office/drawing/2014/main" id="{32E837D0-8EE6-4C81-AC97-67EA2ABA545C}"/>
                </a:ext>
              </a:extLst>
            </p:cNvPr>
            <p:cNvSpPr txBox="1"/>
            <p:nvPr/>
          </p:nvSpPr>
          <p:spPr>
            <a:xfrm>
              <a:off x="10023113" y="6084077"/>
              <a:ext cx="1332563" cy="453907"/>
            </a:xfrm>
            <a:prstGeom prst="rect">
              <a:avLst/>
            </a:prstGeom>
            <a:noFill/>
          </p:spPr>
          <p:txBody>
            <a:bodyPr wrap="square" rtlCol="0">
              <a:spAutoFit/>
            </a:bodyPr>
            <a:lstStyle/>
            <a:p>
              <a:pPr algn="ctr">
                <a:lnSpc>
                  <a:spcPts val="1400"/>
                </a:lnSpc>
              </a:pPr>
              <a:r>
                <a:rPr lang="en-US" sz="1400" dirty="0"/>
                <a:t>Can have regular menses</a:t>
              </a:r>
            </a:p>
          </p:txBody>
        </p:sp>
      </p:grpSp>
      <p:grpSp>
        <p:nvGrpSpPr>
          <p:cNvPr id="52" name="Group 51">
            <a:extLst>
              <a:ext uri="{FF2B5EF4-FFF2-40B4-BE49-F238E27FC236}">
                <a16:creationId xmlns:a16="http://schemas.microsoft.com/office/drawing/2014/main" id="{C4FE9A1D-B683-4C3D-B52F-445885C84A42}"/>
              </a:ext>
            </a:extLst>
          </p:cNvPr>
          <p:cNvGrpSpPr/>
          <p:nvPr/>
        </p:nvGrpSpPr>
        <p:grpSpPr>
          <a:xfrm>
            <a:off x="4298746" y="2868664"/>
            <a:ext cx="1752862" cy="3490650"/>
            <a:chOff x="4298746" y="3047334"/>
            <a:chExt cx="1752862" cy="3490650"/>
          </a:xfrm>
        </p:grpSpPr>
        <p:grpSp>
          <p:nvGrpSpPr>
            <p:cNvPr id="7" name="Group 6">
              <a:extLst>
                <a:ext uri="{FF2B5EF4-FFF2-40B4-BE49-F238E27FC236}">
                  <a16:creationId xmlns:a16="http://schemas.microsoft.com/office/drawing/2014/main" id="{A49A513A-55F8-4E39-BF3C-8D1D894E5481}"/>
                </a:ext>
              </a:extLst>
            </p:cNvPr>
            <p:cNvGrpSpPr/>
            <p:nvPr/>
          </p:nvGrpSpPr>
          <p:grpSpPr>
            <a:xfrm>
              <a:off x="4546886" y="3918823"/>
              <a:ext cx="1504722" cy="2289292"/>
              <a:chOff x="4595830" y="3012421"/>
              <a:chExt cx="1504722" cy="2289292"/>
            </a:xfrm>
          </p:grpSpPr>
          <p:grpSp>
            <p:nvGrpSpPr>
              <p:cNvPr id="2" name="Group 1">
                <a:extLst>
                  <a:ext uri="{FF2B5EF4-FFF2-40B4-BE49-F238E27FC236}">
                    <a16:creationId xmlns:a16="http://schemas.microsoft.com/office/drawing/2014/main" id="{ADDCA72D-ACF7-4CCD-B9BA-A51357BA29FE}"/>
                  </a:ext>
                </a:extLst>
              </p:cNvPr>
              <p:cNvGrpSpPr/>
              <p:nvPr/>
            </p:nvGrpSpPr>
            <p:grpSpPr>
              <a:xfrm>
                <a:off x="4595830" y="3012421"/>
                <a:ext cx="1504722" cy="2171260"/>
                <a:chOff x="4595830" y="3012421"/>
                <a:chExt cx="1504722" cy="2171260"/>
              </a:xfrm>
            </p:grpSpPr>
            <p:grpSp>
              <p:nvGrpSpPr>
                <p:cNvPr id="46" name="Group 45">
                  <a:extLst>
                    <a:ext uri="{FF2B5EF4-FFF2-40B4-BE49-F238E27FC236}">
                      <a16:creationId xmlns:a16="http://schemas.microsoft.com/office/drawing/2014/main" id="{049AD75A-2457-44E1-920E-3E4C75C72D51}"/>
                    </a:ext>
                  </a:extLst>
                </p:cNvPr>
                <p:cNvGrpSpPr/>
                <p:nvPr/>
              </p:nvGrpSpPr>
              <p:grpSpPr>
                <a:xfrm>
                  <a:off x="4934027" y="3012421"/>
                  <a:ext cx="838317" cy="612648"/>
                  <a:chOff x="4860041" y="3020817"/>
                  <a:chExt cx="838317" cy="612648"/>
                </a:xfrm>
              </p:grpSpPr>
              <p:sp>
                <p:nvSpPr>
                  <p:cNvPr id="80" name="TextBox 79">
                    <a:extLst>
                      <a:ext uri="{FF2B5EF4-FFF2-40B4-BE49-F238E27FC236}">
                        <a16:creationId xmlns:a16="http://schemas.microsoft.com/office/drawing/2014/main" id="{A50D85C3-EC76-4BBF-AF9C-E7AFDD24DD97}"/>
                      </a:ext>
                    </a:extLst>
                  </p:cNvPr>
                  <p:cNvSpPr txBox="1"/>
                  <p:nvPr/>
                </p:nvSpPr>
                <p:spPr>
                  <a:xfrm>
                    <a:off x="5255609" y="3098622"/>
                    <a:ext cx="442749" cy="400110"/>
                  </a:xfrm>
                  <a:prstGeom prst="rect">
                    <a:avLst/>
                  </a:prstGeom>
                  <a:solidFill>
                    <a:schemeClr val="bg1"/>
                  </a:solidFill>
                </p:spPr>
                <p:txBody>
                  <a:bodyPr wrap="none" rtlCol="0">
                    <a:spAutoFit/>
                  </a:bodyPr>
                  <a:lstStyle/>
                  <a:p>
                    <a:pPr algn="ctr"/>
                    <a:r>
                      <a:rPr lang="en-US" sz="2000" dirty="0"/>
                      <a:t>&lt;1</a:t>
                    </a:r>
                  </a:p>
                </p:txBody>
              </p:sp>
              <p:pic>
                <p:nvPicPr>
                  <p:cNvPr id="5" name="Graphic 4" descr="Pregnant lady with solid fill">
                    <a:extLst>
                      <a:ext uri="{FF2B5EF4-FFF2-40B4-BE49-F238E27FC236}">
                        <a16:creationId xmlns:a16="http://schemas.microsoft.com/office/drawing/2014/main" id="{09349736-35E8-4528-997C-1F05CA89A51C}"/>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4860041" y="3020817"/>
                    <a:ext cx="612648" cy="612648"/>
                  </a:xfrm>
                  <a:prstGeom prst="rect">
                    <a:avLst/>
                  </a:prstGeom>
                </p:spPr>
              </p:pic>
            </p:grpSp>
            <p:sp>
              <p:nvSpPr>
                <p:cNvPr id="56" name="Rectangle 55">
                  <a:extLst>
                    <a:ext uri="{FF2B5EF4-FFF2-40B4-BE49-F238E27FC236}">
                      <a16:creationId xmlns:a16="http://schemas.microsoft.com/office/drawing/2014/main" id="{0207CFBC-2375-4DED-A0D3-F230D1EF9F11}"/>
                    </a:ext>
                  </a:extLst>
                </p:cNvPr>
                <p:cNvSpPr/>
                <p:nvPr/>
              </p:nvSpPr>
              <p:spPr>
                <a:xfrm>
                  <a:off x="4595830" y="3785679"/>
                  <a:ext cx="1504722" cy="8670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TextBox 178">
                  <a:extLst>
                    <a:ext uri="{FF2B5EF4-FFF2-40B4-BE49-F238E27FC236}">
                      <a16:creationId xmlns:a16="http://schemas.microsoft.com/office/drawing/2014/main" id="{C89AE2E4-F1CB-40FF-BCB3-0B63B68B92D2}"/>
                    </a:ext>
                  </a:extLst>
                </p:cNvPr>
                <p:cNvSpPr txBox="1"/>
                <p:nvPr/>
              </p:nvSpPr>
              <p:spPr>
                <a:xfrm>
                  <a:off x="4663056" y="4783571"/>
                  <a:ext cx="413896" cy="400110"/>
                </a:xfrm>
                <a:prstGeom prst="rect">
                  <a:avLst/>
                </a:prstGeom>
                <a:noFill/>
              </p:spPr>
              <p:txBody>
                <a:bodyPr wrap="square" rtlCol="0">
                  <a:spAutoFit/>
                </a:bodyPr>
                <a:lstStyle/>
                <a:p>
                  <a:r>
                    <a:rPr lang="en-US" sz="2000" dirty="0">
                      <a:latin typeface="Calibri" panose="020F0502020204030204" pitchFamily="34" charset="0"/>
                      <a:cs typeface="Calibri" panose="020F0502020204030204" pitchFamily="34" charset="0"/>
                      <a:sym typeface="Wingdings" panose="05000000000000000000" pitchFamily="2" charset="2"/>
                    </a:rPr>
                    <a:t></a:t>
                  </a:r>
                  <a:endParaRPr lang="en-US" sz="2800" b="1" dirty="0"/>
                </a:p>
              </p:txBody>
            </p:sp>
          </p:grpSp>
          <p:sp>
            <p:nvSpPr>
              <p:cNvPr id="182" name="TextBox 181">
                <a:extLst>
                  <a:ext uri="{FF2B5EF4-FFF2-40B4-BE49-F238E27FC236}">
                    <a16:creationId xmlns:a16="http://schemas.microsoft.com/office/drawing/2014/main" id="{877E767E-34BB-4D25-A510-8ED563FADC0A}"/>
                  </a:ext>
                </a:extLst>
              </p:cNvPr>
              <p:cNvSpPr txBox="1"/>
              <p:nvPr/>
            </p:nvSpPr>
            <p:spPr>
              <a:xfrm>
                <a:off x="5564136" y="4778493"/>
                <a:ext cx="505267" cy="523220"/>
              </a:xfrm>
              <a:prstGeom prst="rect">
                <a:avLst/>
              </a:prstGeom>
              <a:noFill/>
            </p:spPr>
            <p:txBody>
              <a:bodyPr wrap="none" rtlCol="0">
                <a:spAutoFit/>
              </a:bodyPr>
              <a:lstStyle/>
              <a:p>
                <a:r>
                  <a:rPr lang="en-US" sz="2800" b="1" dirty="0">
                    <a:latin typeface="Calibri" panose="020F0502020204030204" pitchFamily="34" charset="0"/>
                    <a:cs typeface="Calibri" panose="020F0502020204030204" pitchFamily="34" charset="0"/>
                    <a:sym typeface="Wingdings" panose="05000000000000000000" pitchFamily="2" charset="2"/>
                  </a:rPr>
                  <a:t></a:t>
                </a:r>
                <a:endParaRPr lang="en-US" sz="2800" dirty="0"/>
              </a:p>
            </p:txBody>
          </p:sp>
        </p:grpSp>
        <p:sp>
          <p:nvSpPr>
            <p:cNvPr id="175" name="TextBox 174">
              <a:extLst>
                <a:ext uri="{FF2B5EF4-FFF2-40B4-BE49-F238E27FC236}">
                  <a16:creationId xmlns:a16="http://schemas.microsoft.com/office/drawing/2014/main" id="{FD3004E9-D197-4738-AC82-E86B954EB0C7}"/>
                </a:ext>
              </a:extLst>
            </p:cNvPr>
            <p:cNvSpPr txBox="1"/>
            <p:nvPr/>
          </p:nvSpPr>
          <p:spPr>
            <a:xfrm>
              <a:off x="4813864" y="5251323"/>
              <a:ext cx="1059457" cy="307777"/>
            </a:xfrm>
            <a:prstGeom prst="rect">
              <a:avLst/>
            </a:prstGeom>
            <a:noFill/>
          </p:spPr>
          <p:txBody>
            <a:bodyPr wrap="none" rtlCol="0">
              <a:spAutoFit/>
            </a:bodyPr>
            <a:lstStyle/>
            <a:p>
              <a:r>
                <a:rPr lang="en-US" sz="1400" dirty="0"/>
                <a:t>Q3-10 years</a:t>
              </a:r>
            </a:p>
          </p:txBody>
        </p:sp>
        <p:pic>
          <p:nvPicPr>
            <p:cNvPr id="176" name="Graphic 175" descr="Checkmark with solid fill">
              <a:extLst>
                <a:ext uri="{FF2B5EF4-FFF2-40B4-BE49-F238E27FC236}">
                  <a16:creationId xmlns:a16="http://schemas.microsoft.com/office/drawing/2014/main" id="{9A50B89F-3034-448A-BE83-74C3E9824BB4}"/>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4957485" y="4667327"/>
              <a:ext cx="626439" cy="626439"/>
            </a:xfrm>
            <a:prstGeom prst="rect">
              <a:avLst/>
            </a:prstGeom>
          </p:spPr>
        </p:pic>
        <p:pic>
          <p:nvPicPr>
            <p:cNvPr id="24" name="Graphic 23" descr="Close with solid fill">
              <a:extLst>
                <a:ext uri="{FF2B5EF4-FFF2-40B4-BE49-F238E27FC236}">
                  <a16:creationId xmlns:a16="http://schemas.microsoft.com/office/drawing/2014/main" id="{E35A1691-8A0B-4DEC-A60A-8E8C2703FDE8}"/>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432409" y="3047334"/>
              <a:ext cx="617009" cy="617009"/>
            </a:xfrm>
            <a:prstGeom prst="rect">
              <a:avLst/>
            </a:prstGeom>
          </p:spPr>
        </p:pic>
        <p:sp>
          <p:nvSpPr>
            <p:cNvPr id="202" name="TextBox 201">
              <a:extLst>
                <a:ext uri="{FF2B5EF4-FFF2-40B4-BE49-F238E27FC236}">
                  <a16:creationId xmlns:a16="http://schemas.microsoft.com/office/drawing/2014/main" id="{9BD0964C-5822-481C-91E9-8A772FA3BE4E}"/>
                </a:ext>
              </a:extLst>
            </p:cNvPr>
            <p:cNvSpPr txBox="1"/>
            <p:nvPr/>
          </p:nvSpPr>
          <p:spPr>
            <a:xfrm>
              <a:off x="4298746" y="6084077"/>
              <a:ext cx="1124838" cy="453907"/>
            </a:xfrm>
            <a:prstGeom prst="rect">
              <a:avLst/>
            </a:prstGeom>
            <a:noFill/>
          </p:spPr>
          <p:txBody>
            <a:bodyPr wrap="square" rtlCol="0">
              <a:spAutoFit/>
            </a:bodyPr>
            <a:lstStyle/>
            <a:p>
              <a:pPr algn="ctr">
                <a:lnSpc>
                  <a:spcPts val="1400"/>
                </a:lnSpc>
              </a:pPr>
              <a:r>
                <a:rPr lang="en-US" sz="1400" dirty="0"/>
                <a:t>Regular menses</a:t>
              </a:r>
            </a:p>
          </p:txBody>
        </p:sp>
      </p:grpSp>
      <p:sp>
        <p:nvSpPr>
          <p:cNvPr id="203" name="TextBox 202">
            <a:extLst>
              <a:ext uri="{FF2B5EF4-FFF2-40B4-BE49-F238E27FC236}">
                <a16:creationId xmlns:a16="http://schemas.microsoft.com/office/drawing/2014/main" id="{E3EC4A6D-31A9-4351-BD3B-4826151B3A6D}"/>
              </a:ext>
            </a:extLst>
          </p:cNvPr>
          <p:cNvSpPr txBox="1"/>
          <p:nvPr/>
        </p:nvSpPr>
        <p:spPr>
          <a:xfrm>
            <a:off x="4884782" y="192291"/>
            <a:ext cx="4180182" cy="523220"/>
          </a:xfrm>
          <a:prstGeom prst="rect">
            <a:avLst/>
          </a:prstGeom>
          <a:noFill/>
        </p:spPr>
        <p:txBody>
          <a:bodyPr wrap="square" rtlCol="0">
            <a:spAutoFit/>
          </a:bodyPr>
          <a:lstStyle/>
          <a:p>
            <a:pPr algn="ctr"/>
            <a:r>
              <a:rPr lang="en-US" sz="2800" b="1" dirty="0"/>
              <a:t>Methods of Contraception</a:t>
            </a:r>
          </a:p>
        </p:txBody>
      </p:sp>
      <p:pic>
        <p:nvPicPr>
          <p:cNvPr id="118" name="Graphic 117" descr="Checkmark with solid fill">
            <a:extLst>
              <a:ext uri="{FF2B5EF4-FFF2-40B4-BE49-F238E27FC236}">
                <a16:creationId xmlns:a16="http://schemas.microsoft.com/office/drawing/2014/main" id="{C3AD7534-18D0-4648-8292-2231B0E78CF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4542210" y="2853265"/>
            <a:ext cx="626439" cy="626439"/>
          </a:xfrm>
          <a:prstGeom prst="rect">
            <a:avLst/>
          </a:prstGeom>
        </p:spPr>
      </p:pic>
      <p:sp>
        <p:nvSpPr>
          <p:cNvPr id="119" name="sub-q 1 button">
            <a:hlinkClick r:id="rId23" action="ppaction://hlinksldjump"/>
            <a:extLst>
              <a:ext uri="{FF2B5EF4-FFF2-40B4-BE49-F238E27FC236}">
                <a16:creationId xmlns:a16="http://schemas.microsoft.com/office/drawing/2014/main" id="{94C7829E-0BA2-4A70-8DCB-2324CBDE2357}"/>
              </a:ext>
            </a:extLst>
          </p:cNvPr>
          <p:cNvSpPr txBox="1"/>
          <p:nvPr/>
        </p:nvSpPr>
        <p:spPr>
          <a:xfrm>
            <a:off x="188535" y="6289886"/>
            <a:ext cx="1905392"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Bonus Resources</a:t>
            </a:r>
          </a:p>
        </p:txBody>
      </p:sp>
    </p:spTree>
    <p:extLst>
      <p:ext uri="{BB962C8B-B14F-4D97-AF65-F5344CB8AC3E}">
        <p14:creationId xmlns:p14="http://schemas.microsoft.com/office/powerpoint/2010/main" val="44787372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61"/>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7"/>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61"/>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100"/>
                                        </p:tgtEl>
                                        <p:attrNameLst>
                                          <p:attrName>style.visibility</p:attrName>
                                        </p:attrNameLst>
                                      </p:cBhvr>
                                      <p:to>
                                        <p:strVal val="hidden"/>
                                      </p:to>
                                    </p:set>
                                  </p:childTnLst>
                                </p:cTn>
                              </p:par>
                            </p:childTnLst>
                          </p:cTn>
                        </p:par>
                      </p:childTnLst>
                    </p:cTn>
                  </p:par>
                </p:childTnLst>
              </p:cTn>
              <p:nextCondLst>
                <p:cond evt="onClick" delay="0">
                  <p:tgtEl>
                    <p:spTgt spid="61"/>
                  </p:tgtEl>
                </p:cond>
              </p:nextCondLst>
            </p:seq>
            <p:seq concurrent="1" nextAc="seek">
              <p:cTn id="21" restart="whenNotActive" fill="hold" evtFilter="cancelBubble" nodeType="interactiveSeq">
                <p:stCondLst>
                  <p:cond evt="onClick" delay="0">
                    <p:tgtEl>
                      <p:spTgt spid="64"/>
                    </p:tgtEl>
                  </p:cond>
                </p:stCondLst>
                <p:endSync evt="end" delay="0">
                  <p:rtn val="all"/>
                </p:endSync>
                <p:childTnLst>
                  <p:par>
                    <p:cTn id="22" fill="hold">
                      <p:stCondLst>
                        <p:cond delay="0"/>
                      </p:stCondLst>
                      <p:childTnLst>
                        <p:par>
                          <p:cTn id="23" fill="hold">
                            <p:stCondLst>
                              <p:cond delay="0"/>
                            </p:stCondLst>
                            <p:childTnLst>
                              <p:par>
                                <p:cTn id="24" presetID="1" presetClass="exit" presetSubtype="0" fill="hold" nodeType="clickEffect">
                                  <p:stCondLst>
                                    <p:cond delay="0"/>
                                  </p:stCondLst>
                                  <p:childTnLst>
                                    <p:set>
                                      <p:cBhvr>
                                        <p:cTn id="25" dur="1" fill="hold">
                                          <p:stCondLst>
                                            <p:cond delay="0"/>
                                          </p:stCondLst>
                                        </p:cTn>
                                        <p:tgtEl>
                                          <p:spTgt spid="64"/>
                                        </p:tgtEl>
                                        <p:attrNameLst>
                                          <p:attrName>style.visibility</p:attrName>
                                        </p:attrNameLst>
                                      </p:cBhvr>
                                      <p:to>
                                        <p:strVal val="hidden"/>
                                      </p:to>
                                    </p:set>
                                  </p:childTnLst>
                                </p:cTn>
                              </p:par>
                              <p:par>
                                <p:cTn id="26" presetID="1" presetClass="entr" presetSubtype="0" fill="hold" nodeType="withEffect">
                                  <p:stCondLst>
                                    <p:cond delay="0"/>
                                  </p:stCondLst>
                                  <p:childTnLst>
                                    <p:set>
                                      <p:cBhvr>
                                        <p:cTn id="27" dur="1" fill="hold">
                                          <p:stCondLst>
                                            <p:cond delay="0"/>
                                          </p:stCondLst>
                                        </p:cTn>
                                        <p:tgtEl>
                                          <p:spTgt spid="66"/>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135"/>
                                        </p:tgtEl>
                                        <p:attrNameLst>
                                          <p:attrName>style.visibility</p:attrName>
                                        </p:attrNameLst>
                                      </p:cBhvr>
                                      <p:to>
                                        <p:strVal val="visible"/>
                                      </p:to>
                                    </p:set>
                                  </p:childTnLst>
                                </p:cTn>
                              </p:par>
                              <p:par>
                                <p:cTn id="30" presetID="1" presetClass="exit" presetSubtype="0" fill="hold" nodeType="withEffect">
                                  <p:stCondLst>
                                    <p:cond delay="0"/>
                                  </p:stCondLst>
                                  <p:childTnLst>
                                    <p:set>
                                      <p:cBhvr>
                                        <p:cTn id="31" dur="1" fill="hold">
                                          <p:stCondLst>
                                            <p:cond delay="0"/>
                                          </p:stCondLst>
                                        </p:cTn>
                                        <p:tgtEl>
                                          <p:spTgt spid="101"/>
                                        </p:tgtEl>
                                        <p:attrNameLst>
                                          <p:attrName>style.visibility</p:attrName>
                                        </p:attrNameLst>
                                      </p:cBhvr>
                                      <p:to>
                                        <p:strVal val="hidden"/>
                                      </p:to>
                                    </p:set>
                                  </p:childTnLst>
                                </p:cTn>
                              </p:par>
                            </p:childTnLst>
                          </p:cTn>
                        </p:par>
                      </p:childTnLst>
                    </p:cTn>
                  </p:par>
                </p:childTnLst>
              </p:cTn>
              <p:nextCondLst>
                <p:cond evt="onClick" delay="0">
                  <p:tgtEl>
                    <p:spTgt spid="64"/>
                  </p:tgtEl>
                </p:cond>
              </p:nextCondLst>
            </p:seq>
            <p:seq concurrent="1" nextAc="seek">
              <p:cTn id="32" restart="whenNotActive" fill="hold" evtFilter="cancelBubble" nodeType="interactiveSeq">
                <p:stCondLst>
                  <p:cond evt="onClick" delay="0">
                    <p:tgtEl>
                      <p:spTgt spid="62"/>
                    </p:tgtEl>
                  </p:cond>
                </p:stCondLst>
                <p:endSync evt="end" delay="0">
                  <p:rtn val="all"/>
                </p:endSync>
                <p:childTnLst>
                  <p:par>
                    <p:cTn id="33" fill="hold">
                      <p:stCondLst>
                        <p:cond delay="0"/>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102"/>
                                        </p:tgtEl>
                                        <p:attrNameLst>
                                          <p:attrName>style.visibility</p:attrName>
                                        </p:attrNameLst>
                                      </p:cBhvr>
                                      <p:to>
                                        <p:strVal val="hidden"/>
                                      </p:to>
                                    </p:set>
                                  </p:childTnLst>
                                </p:cTn>
                              </p:par>
                              <p:par>
                                <p:cTn id="37" presetID="1" presetClass="entr" presetSubtype="0" fill="hold" nodeType="withEffect">
                                  <p:stCondLst>
                                    <p:cond delay="0"/>
                                  </p:stCondLst>
                                  <p:childTnLst>
                                    <p:set>
                                      <p:cBhvr>
                                        <p:cTn id="38" dur="1" fill="hold">
                                          <p:stCondLst>
                                            <p:cond delay="0"/>
                                          </p:stCondLst>
                                        </p:cTn>
                                        <p:tgtEl>
                                          <p:spTgt spid="6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34"/>
                                        </p:tgtEl>
                                        <p:attrNameLst>
                                          <p:attrName>style.visibility</p:attrName>
                                        </p:attrNameLst>
                                      </p:cBhvr>
                                      <p:to>
                                        <p:strVal val="visible"/>
                                      </p:to>
                                    </p:set>
                                  </p:childTnLst>
                                </p:cTn>
                              </p:par>
                              <p:par>
                                <p:cTn id="41" presetID="1" presetClass="exit" presetSubtype="0" fill="hold" nodeType="withEffect">
                                  <p:stCondLst>
                                    <p:cond delay="0"/>
                                  </p:stCondLst>
                                  <p:childTnLst>
                                    <p:set>
                                      <p:cBhvr>
                                        <p:cTn id="42" dur="1" fill="hold">
                                          <p:stCondLst>
                                            <p:cond delay="0"/>
                                          </p:stCondLst>
                                        </p:cTn>
                                        <p:tgtEl>
                                          <p:spTgt spid="62"/>
                                        </p:tgtEl>
                                        <p:attrNameLst>
                                          <p:attrName>style.visibility</p:attrName>
                                        </p:attrNameLst>
                                      </p:cBhvr>
                                      <p:to>
                                        <p:strVal val="hidden"/>
                                      </p:to>
                                    </p:set>
                                  </p:childTnLst>
                                </p:cTn>
                              </p:par>
                            </p:childTnLst>
                          </p:cTn>
                        </p:par>
                      </p:childTnLst>
                    </p:cTn>
                  </p:par>
                </p:childTnLst>
              </p:cTn>
              <p:nextCondLst>
                <p:cond evt="onClick" delay="0">
                  <p:tgtEl>
                    <p:spTgt spid="62"/>
                  </p:tgtEl>
                </p:cond>
              </p:nextCondLst>
            </p:seq>
            <p:seq concurrent="1" nextAc="seek">
              <p:cTn id="43" restart="whenNotActive" fill="hold" evtFilter="cancelBubble" nodeType="interactiveSeq">
                <p:stCondLst>
                  <p:cond evt="onClick" delay="0">
                    <p:tgtEl>
                      <p:spTgt spid="60"/>
                    </p:tgtEl>
                  </p:cond>
                </p:stCondLst>
                <p:endSync evt="end" delay="0">
                  <p:rtn val="all"/>
                </p:endSync>
                <p:childTnLst>
                  <p:par>
                    <p:cTn id="44" fill="hold">
                      <p:stCondLst>
                        <p:cond delay="0"/>
                      </p:stCondLst>
                      <p:childTnLst>
                        <p:par>
                          <p:cTn id="45" fill="hold">
                            <p:stCondLst>
                              <p:cond delay="0"/>
                            </p:stCondLst>
                            <p:childTnLst>
                              <p:par>
                                <p:cTn id="46" presetID="1" presetClass="exit" presetSubtype="0" fill="hold" nodeType="clickEffect">
                                  <p:stCondLst>
                                    <p:cond delay="0"/>
                                  </p:stCondLst>
                                  <p:childTnLst>
                                    <p:set>
                                      <p:cBhvr>
                                        <p:cTn id="47" dur="1" fill="hold">
                                          <p:stCondLst>
                                            <p:cond delay="0"/>
                                          </p:stCondLst>
                                        </p:cTn>
                                        <p:tgtEl>
                                          <p:spTgt spid="60"/>
                                        </p:tgtEl>
                                        <p:attrNameLst>
                                          <p:attrName>style.visibility</p:attrName>
                                        </p:attrNameLst>
                                      </p:cBhvr>
                                      <p:to>
                                        <p:strVal val="hidden"/>
                                      </p:to>
                                    </p:set>
                                  </p:childTnLst>
                                </p:cTn>
                              </p:par>
                              <p:par>
                                <p:cTn id="48" presetID="1" presetClass="entr" presetSubtype="0" fill="hold" nodeType="withEffect">
                                  <p:stCondLst>
                                    <p:cond delay="0"/>
                                  </p:stCondLst>
                                  <p:childTnLst>
                                    <p:set>
                                      <p:cBhvr>
                                        <p:cTn id="49" dur="1" fill="hold">
                                          <p:stCondLst>
                                            <p:cond delay="0"/>
                                          </p:stCondLst>
                                        </p:cTn>
                                        <p:tgtEl>
                                          <p:spTgt spid="70"/>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136"/>
                                        </p:tgtEl>
                                        <p:attrNameLst>
                                          <p:attrName>style.visibility</p:attrName>
                                        </p:attrNameLst>
                                      </p:cBhvr>
                                      <p:to>
                                        <p:strVal val="visible"/>
                                      </p:to>
                                    </p:set>
                                  </p:childTnLst>
                                </p:cTn>
                              </p:par>
                              <p:par>
                                <p:cTn id="52" presetID="1" presetClass="exit" presetSubtype="0" fill="hold" nodeType="withEffect">
                                  <p:stCondLst>
                                    <p:cond delay="0"/>
                                  </p:stCondLst>
                                  <p:childTnLst>
                                    <p:set>
                                      <p:cBhvr>
                                        <p:cTn id="53" dur="1" fill="hold">
                                          <p:stCondLst>
                                            <p:cond delay="0"/>
                                          </p:stCondLst>
                                        </p:cTn>
                                        <p:tgtEl>
                                          <p:spTgt spid="103"/>
                                        </p:tgtEl>
                                        <p:attrNameLst>
                                          <p:attrName>style.visibility</p:attrName>
                                        </p:attrNameLst>
                                      </p:cBhvr>
                                      <p:to>
                                        <p:strVal val="hidden"/>
                                      </p:to>
                                    </p:set>
                                  </p:childTnLst>
                                </p:cTn>
                              </p:par>
                            </p:childTnLst>
                          </p:cTn>
                        </p:par>
                      </p:childTnLst>
                    </p:cTn>
                  </p:par>
                </p:childTnLst>
              </p:cTn>
              <p:nextCondLst>
                <p:cond evt="onClick" delay="0">
                  <p:tgtEl>
                    <p:spTgt spid="60"/>
                  </p:tgtEl>
                </p:cond>
              </p:nextCondLst>
            </p:seq>
            <p:seq concurrent="1" nextAc="seek">
              <p:cTn id="54" restart="whenNotActive" fill="hold" evtFilter="cancelBubble" nodeType="interactiveSeq">
                <p:stCondLst>
                  <p:cond evt="onClick" delay="0">
                    <p:tgtEl>
                      <p:spTgt spid="58"/>
                    </p:tgtEl>
                  </p:cond>
                </p:stCondLst>
                <p:endSync evt="end" delay="0">
                  <p:rtn val="all"/>
                </p:endSync>
                <p:childTnLst>
                  <p:par>
                    <p:cTn id="55" fill="hold">
                      <p:stCondLst>
                        <p:cond delay="0"/>
                      </p:stCondLst>
                      <p:childTnLst>
                        <p:par>
                          <p:cTn id="56" fill="hold">
                            <p:stCondLst>
                              <p:cond delay="0"/>
                            </p:stCondLst>
                            <p:childTnLst>
                              <p:par>
                                <p:cTn id="57" presetID="1" presetClass="exit" presetSubtype="0" fill="hold" nodeType="clickEffect">
                                  <p:stCondLst>
                                    <p:cond delay="0"/>
                                  </p:stCondLst>
                                  <p:childTnLst>
                                    <p:set>
                                      <p:cBhvr>
                                        <p:cTn id="58" dur="1" fill="hold">
                                          <p:stCondLst>
                                            <p:cond delay="0"/>
                                          </p:stCondLst>
                                        </p:cTn>
                                        <p:tgtEl>
                                          <p:spTgt spid="58"/>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104"/>
                                        </p:tgtEl>
                                        <p:attrNameLst>
                                          <p:attrName>style.visibility</p:attrName>
                                        </p:attrNameLst>
                                      </p:cBhvr>
                                      <p:to>
                                        <p:strVal val="hidden"/>
                                      </p:to>
                                    </p:set>
                                  </p:childTnLst>
                                </p:cTn>
                              </p:par>
                              <p:par>
                                <p:cTn id="61" presetID="1" presetClass="entr" presetSubtype="0" fill="hold" nodeType="withEffect">
                                  <p:stCondLst>
                                    <p:cond delay="0"/>
                                  </p:stCondLst>
                                  <p:childTnLst>
                                    <p:set>
                                      <p:cBhvr>
                                        <p:cTn id="62" dur="1" fill="hold">
                                          <p:stCondLst>
                                            <p:cond delay="0"/>
                                          </p:stCondLst>
                                        </p:cTn>
                                        <p:tgtEl>
                                          <p:spTgt spid="7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32"/>
                                        </p:tgtEl>
                                        <p:attrNameLst>
                                          <p:attrName>style.visibility</p:attrName>
                                        </p:attrNameLst>
                                      </p:cBhvr>
                                      <p:to>
                                        <p:strVal val="visible"/>
                                      </p:to>
                                    </p:set>
                                  </p:childTnLst>
                                </p:cTn>
                              </p:par>
                            </p:childTnLst>
                          </p:cTn>
                        </p:par>
                      </p:childTnLst>
                    </p:cTn>
                  </p:par>
                </p:childTnLst>
              </p:cTn>
              <p:nextCondLst>
                <p:cond evt="onClick" delay="0">
                  <p:tgtEl>
                    <p:spTgt spid="58"/>
                  </p:tgtEl>
                </p:cond>
              </p:nextCondLst>
            </p:seq>
          </p:childTnLst>
        </p:cTn>
      </p:par>
    </p:tnLst>
    <p:bldLst>
      <p:bldP spid="67" grpId="0"/>
      <p:bldP spid="16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trogen">
            <a:extLst>
              <a:ext uri="{FF2B5EF4-FFF2-40B4-BE49-F238E27FC236}">
                <a16:creationId xmlns:a16="http://schemas.microsoft.com/office/drawing/2014/main" id="{342EB06A-1058-4F4D-9B61-36AC9E70C675}"/>
              </a:ext>
            </a:extLst>
          </p:cNvPr>
          <p:cNvSpPr>
            <a:spLocks noGrp="1"/>
          </p:cNvSpPr>
          <p:nvPr>
            <p:ph type="body" idx="1"/>
          </p:nvPr>
        </p:nvSpPr>
        <p:spPr>
          <a:xfrm>
            <a:off x="3554239" y="931835"/>
            <a:ext cx="1852625" cy="408623"/>
          </a:xfrm>
          <a:prstGeom prst="roundRect">
            <a:avLst/>
          </a:prstGeom>
          <a:solidFill>
            <a:schemeClr val="bg1"/>
          </a:solidFill>
          <a:ln w="38100">
            <a:solidFill>
              <a:schemeClr val="accent6"/>
            </a:solidFill>
          </a:ln>
          <a:effectLst>
            <a:outerShdw blurRad="50800" dist="38100" dir="2700000" algn="tl" rotWithShape="0">
              <a:prstClr val="black">
                <a:alpha val="40000"/>
              </a:prstClr>
            </a:outerShdw>
          </a:effectLst>
        </p:spPr>
        <p:txBody>
          <a:bodyPr wrap="square">
            <a:spAutoFit/>
          </a:bodyPr>
          <a:lstStyle/>
          <a:p>
            <a:pPr algn="ctr"/>
            <a:r>
              <a:rPr lang="en-US" sz="2000" dirty="0"/>
              <a:t>Estrogen</a:t>
            </a:r>
          </a:p>
        </p:txBody>
      </p:sp>
      <p:sp>
        <p:nvSpPr>
          <p:cNvPr id="4" name="Content Placeholder 3">
            <a:extLst>
              <a:ext uri="{FF2B5EF4-FFF2-40B4-BE49-F238E27FC236}">
                <a16:creationId xmlns:a16="http://schemas.microsoft.com/office/drawing/2014/main" id="{167C6921-DC6C-6941-AADF-1DB964CE4605}"/>
              </a:ext>
            </a:extLst>
          </p:cNvPr>
          <p:cNvSpPr>
            <a:spLocks noGrp="1"/>
          </p:cNvSpPr>
          <p:nvPr>
            <p:ph sz="half" idx="2"/>
          </p:nvPr>
        </p:nvSpPr>
        <p:spPr>
          <a:xfrm>
            <a:off x="2695665" y="2493775"/>
            <a:ext cx="3686351" cy="674138"/>
          </a:xfrm>
        </p:spPr>
        <p:txBody>
          <a:bodyPr>
            <a:normAutofit fontScale="92500" lnSpcReduction="10000"/>
          </a:bodyPr>
          <a:lstStyle/>
          <a:p>
            <a:pPr marL="0" indent="0" algn="ctr">
              <a:lnSpc>
                <a:spcPct val="120000"/>
              </a:lnSpc>
              <a:spcBef>
                <a:spcPts val="0"/>
              </a:spcBef>
              <a:buNone/>
            </a:pPr>
            <a:r>
              <a:rPr lang="en-US" sz="2200" dirty="0">
                <a:solidFill>
                  <a:schemeClr val="accent6">
                    <a:lumMod val="75000"/>
                  </a:schemeClr>
                </a:solidFill>
              </a:rPr>
              <a:t>Ethinyl estradiol </a:t>
            </a:r>
          </a:p>
          <a:p>
            <a:pPr marL="0" indent="0" algn="ctr">
              <a:lnSpc>
                <a:spcPct val="120000"/>
              </a:lnSpc>
              <a:spcBef>
                <a:spcPts val="0"/>
              </a:spcBef>
              <a:buNone/>
            </a:pPr>
            <a:r>
              <a:rPr lang="en-US" sz="1500" dirty="0"/>
              <a:t>(usually)</a:t>
            </a:r>
          </a:p>
        </p:txBody>
      </p:sp>
      <p:sp>
        <p:nvSpPr>
          <p:cNvPr id="5" name="Progesterone">
            <a:extLst>
              <a:ext uri="{FF2B5EF4-FFF2-40B4-BE49-F238E27FC236}">
                <a16:creationId xmlns:a16="http://schemas.microsoft.com/office/drawing/2014/main" id="{2DDD74B8-0B88-CD4B-BBF3-F3675163A827}"/>
              </a:ext>
            </a:extLst>
          </p:cNvPr>
          <p:cNvSpPr>
            <a:spLocks noGrp="1"/>
          </p:cNvSpPr>
          <p:nvPr>
            <p:ph type="body" sz="quarter" idx="3"/>
          </p:nvPr>
        </p:nvSpPr>
        <p:spPr>
          <a:xfrm>
            <a:off x="8712069" y="966764"/>
            <a:ext cx="2021071" cy="408623"/>
          </a:xfrm>
          <a:prstGeom prst="roundRect">
            <a:avLst/>
          </a:prstGeom>
          <a:solidFill>
            <a:schemeClr val="bg1"/>
          </a:solidFill>
          <a:ln w="38100">
            <a:solidFill>
              <a:schemeClr val="accent4"/>
            </a:solidFill>
          </a:ln>
          <a:effectLst>
            <a:outerShdw blurRad="50800" dist="38100" dir="2700000" algn="tl" rotWithShape="0">
              <a:prstClr val="black">
                <a:alpha val="40000"/>
              </a:prstClr>
            </a:outerShdw>
          </a:effectLst>
        </p:spPr>
        <p:txBody>
          <a:bodyPr wrap="square">
            <a:spAutoFit/>
          </a:bodyPr>
          <a:lstStyle/>
          <a:p>
            <a:pPr algn="ctr"/>
            <a:r>
              <a:rPr lang="en-US" sz="2000" dirty="0"/>
              <a:t>Progestin</a:t>
            </a:r>
          </a:p>
        </p:txBody>
      </p:sp>
      <p:sp>
        <p:nvSpPr>
          <p:cNvPr id="12" name="Down Arrow 11">
            <a:extLst>
              <a:ext uri="{FF2B5EF4-FFF2-40B4-BE49-F238E27FC236}">
                <a16:creationId xmlns:a16="http://schemas.microsoft.com/office/drawing/2014/main" id="{78C1FBD7-500F-7A4D-9FB7-7AD5524DA7DC}"/>
              </a:ext>
            </a:extLst>
          </p:cNvPr>
          <p:cNvSpPr/>
          <p:nvPr/>
        </p:nvSpPr>
        <p:spPr>
          <a:xfrm rot="10800000" flipH="1">
            <a:off x="7844778" y="3087687"/>
            <a:ext cx="206376" cy="2652548"/>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A9B5F9E3-1201-F84F-89FD-B7DD80DE53EF}"/>
              </a:ext>
            </a:extLst>
          </p:cNvPr>
          <p:cNvSpPr txBox="1"/>
          <p:nvPr/>
        </p:nvSpPr>
        <p:spPr>
          <a:xfrm rot="16200000">
            <a:off x="6658547" y="4047277"/>
            <a:ext cx="2005420" cy="400110"/>
          </a:xfrm>
          <a:prstGeom prst="rect">
            <a:avLst/>
          </a:prstGeom>
          <a:noFill/>
        </p:spPr>
        <p:txBody>
          <a:bodyPr wrap="square" rtlCol="0">
            <a:spAutoFit/>
          </a:bodyPr>
          <a:lstStyle/>
          <a:p>
            <a:r>
              <a:rPr lang="en-US" sz="2000" b="1" dirty="0"/>
              <a:t>Anti-androgenic</a:t>
            </a:r>
          </a:p>
        </p:txBody>
      </p:sp>
      <p:sp>
        <p:nvSpPr>
          <p:cNvPr id="16" name="TextBox 15">
            <a:extLst>
              <a:ext uri="{FF2B5EF4-FFF2-40B4-BE49-F238E27FC236}">
                <a16:creationId xmlns:a16="http://schemas.microsoft.com/office/drawing/2014/main" id="{250C1426-5690-4F9A-ABE1-BCFFF2E5C13D}"/>
              </a:ext>
            </a:extLst>
          </p:cNvPr>
          <p:cNvSpPr txBox="1"/>
          <p:nvPr/>
        </p:nvSpPr>
        <p:spPr>
          <a:xfrm>
            <a:off x="3640578" y="6157894"/>
            <a:ext cx="6931598" cy="461665"/>
          </a:xfrm>
          <a:prstGeom prst="rect">
            <a:avLst/>
          </a:prstGeom>
          <a:ln>
            <a:no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400" dirty="0">
                <a:solidFill>
                  <a:srgbClr val="FF0000"/>
                </a:solidFill>
              </a:rPr>
              <a:t>Ethinyl estradiol (20 mcg) + progestin</a:t>
            </a:r>
          </a:p>
        </p:txBody>
      </p:sp>
      <p:pic>
        <p:nvPicPr>
          <p:cNvPr id="17" name="Picture 16" descr="A picture containing black&#10;&#10;Description automatically generated">
            <a:extLst>
              <a:ext uri="{FF2B5EF4-FFF2-40B4-BE49-F238E27FC236}">
                <a16:creationId xmlns:a16="http://schemas.microsoft.com/office/drawing/2014/main" id="{BA07A58B-9DAE-4924-B93B-253D5413FB8C}"/>
              </a:ext>
            </a:extLst>
          </p:cNvPr>
          <p:cNvPicPr>
            <a:picLocks noChangeAspect="1"/>
          </p:cNvPicPr>
          <p:nvPr/>
        </p:nvPicPr>
        <p:blipFill rotWithShape="1">
          <a:blip r:embed="rId3" cstate="print">
            <a:extLst>
              <a:ext uri="{28A0092B-C50C-407E-A947-70E740481C1C}">
                <a14:useLocalDpi xmlns:a14="http://schemas.microsoft.com/office/drawing/2010/main"/>
              </a:ext>
              <a:ext uri="{837473B0-CC2E-450A-ABE3-18F120FF3D39}">
                <a1611:picAttrSrcUrl xmlns:a1611="http://schemas.microsoft.com/office/drawing/2016/11/main" r:id="rId4"/>
              </a:ext>
            </a:extLst>
          </a:blip>
          <a:srcRect/>
          <a:stretch/>
        </p:blipFill>
        <p:spPr>
          <a:xfrm>
            <a:off x="8463450" y="67452"/>
            <a:ext cx="582341" cy="741295"/>
          </a:xfrm>
          <a:prstGeom prst="rect">
            <a:avLst/>
          </a:prstGeom>
        </p:spPr>
      </p:pic>
      <p:sp>
        <p:nvSpPr>
          <p:cNvPr id="31" name="Question 2">
            <a:hlinkClick r:id="rId5" action="ppaction://hlinksldjump"/>
            <a:extLst>
              <a:ext uri="{FF2B5EF4-FFF2-40B4-BE49-F238E27FC236}">
                <a16:creationId xmlns:a16="http://schemas.microsoft.com/office/drawing/2014/main" id="{C09CFA0A-609C-43C1-A732-9E79F9E79577}"/>
              </a:ext>
            </a:extLst>
          </p:cNvPr>
          <p:cNvSpPr txBox="1"/>
          <p:nvPr/>
        </p:nvSpPr>
        <p:spPr>
          <a:xfrm>
            <a:off x="463138" y="1343042"/>
            <a:ext cx="1630791"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OCP selection</a:t>
            </a:r>
          </a:p>
        </p:txBody>
      </p:sp>
      <p:cxnSp>
        <p:nvCxnSpPr>
          <p:cNvPr id="32" name="Connector: Elbow 31">
            <a:extLst>
              <a:ext uri="{FF2B5EF4-FFF2-40B4-BE49-F238E27FC236}">
                <a16:creationId xmlns:a16="http://schemas.microsoft.com/office/drawing/2014/main" id="{6E180EB2-BCBB-47D1-9531-3F5FF95BA261}"/>
              </a:ext>
            </a:extLst>
          </p:cNvPr>
          <p:cNvCxnSpPr>
            <a:cxnSpLocks/>
            <a:endCxn id="31" idx="1"/>
          </p:cNvCxnSpPr>
          <p:nvPr/>
        </p:nvCxnSpPr>
        <p:spPr>
          <a:xfrm rot="16200000" flipH="1">
            <a:off x="181985" y="1266201"/>
            <a:ext cx="364384" cy="197922"/>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33" name="question 1">
            <a:hlinkClick r:id="rId6" action="ppaction://hlinksldjump"/>
            <a:extLst>
              <a:ext uri="{FF2B5EF4-FFF2-40B4-BE49-F238E27FC236}">
                <a16:creationId xmlns:a16="http://schemas.microsoft.com/office/drawing/2014/main" id="{8C80784D-0E33-4A02-A2BA-A562FAF9951E}"/>
              </a:ext>
            </a:extLst>
          </p:cNvPr>
          <p:cNvSpPr txBox="1"/>
          <p:nvPr/>
        </p:nvSpPr>
        <p:spPr>
          <a:xfrm>
            <a:off x="188535" y="192736"/>
            <a:ext cx="1905394"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PATH Questions</a:t>
            </a:r>
          </a:p>
        </p:txBody>
      </p:sp>
      <p:sp>
        <p:nvSpPr>
          <p:cNvPr id="34" name="question 4">
            <a:hlinkClick r:id="rId7" action="ppaction://hlinksldjump"/>
            <a:extLst>
              <a:ext uri="{FF2B5EF4-FFF2-40B4-BE49-F238E27FC236}">
                <a16:creationId xmlns:a16="http://schemas.microsoft.com/office/drawing/2014/main" id="{9F206519-8B3A-406A-A870-507FB19BAB18}"/>
              </a:ext>
            </a:extLst>
          </p:cNvPr>
          <p:cNvSpPr txBox="1"/>
          <p:nvPr/>
        </p:nvSpPr>
        <p:spPr>
          <a:xfrm>
            <a:off x="192232" y="2505641"/>
            <a:ext cx="190539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Emergency Use</a:t>
            </a:r>
          </a:p>
        </p:txBody>
      </p:sp>
      <p:sp>
        <p:nvSpPr>
          <p:cNvPr id="35" name="Cases">
            <a:hlinkClick r:id="rId8" action="ppaction://hlinksldjump"/>
            <a:extLst>
              <a:ext uri="{FF2B5EF4-FFF2-40B4-BE49-F238E27FC236}">
                <a16:creationId xmlns:a16="http://schemas.microsoft.com/office/drawing/2014/main" id="{CC5A861A-22F6-4B18-9EE0-11C07BAEF147}"/>
              </a:ext>
            </a:extLst>
          </p:cNvPr>
          <p:cNvSpPr txBox="1"/>
          <p:nvPr/>
        </p:nvSpPr>
        <p:spPr>
          <a:xfrm>
            <a:off x="192232" y="3087252"/>
            <a:ext cx="1905392"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sp>
        <p:nvSpPr>
          <p:cNvPr id="36" name="question 3">
            <a:hlinkClick r:id="rId9" action="ppaction://hlinksldjump"/>
            <a:extLst>
              <a:ext uri="{FF2B5EF4-FFF2-40B4-BE49-F238E27FC236}">
                <a16:creationId xmlns:a16="http://schemas.microsoft.com/office/drawing/2014/main" id="{0085C29F-A529-4579-9C9E-2D6360F45D85}"/>
              </a:ext>
            </a:extLst>
          </p:cNvPr>
          <p:cNvSpPr txBox="1"/>
          <p:nvPr/>
        </p:nvSpPr>
        <p:spPr>
          <a:xfrm>
            <a:off x="188535" y="774347"/>
            <a:ext cx="1905394"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chemeClr val="tx1"/>
                </a:solidFill>
              </a:rPr>
              <a:t>Methods</a:t>
            </a:r>
          </a:p>
        </p:txBody>
      </p:sp>
      <p:sp>
        <p:nvSpPr>
          <p:cNvPr id="37" name="Question 2">
            <a:hlinkClick r:id="rId10" action="ppaction://hlinksldjump"/>
            <a:extLst>
              <a:ext uri="{FF2B5EF4-FFF2-40B4-BE49-F238E27FC236}">
                <a16:creationId xmlns:a16="http://schemas.microsoft.com/office/drawing/2014/main" id="{45121B92-7BF3-4B13-8D05-DCA95EAE9ADF}"/>
              </a:ext>
            </a:extLst>
          </p:cNvPr>
          <p:cNvSpPr txBox="1"/>
          <p:nvPr/>
        </p:nvSpPr>
        <p:spPr>
          <a:xfrm>
            <a:off x="192232" y="1924030"/>
            <a:ext cx="190539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Contraindications</a:t>
            </a:r>
          </a:p>
        </p:txBody>
      </p:sp>
      <p:pic>
        <p:nvPicPr>
          <p:cNvPr id="38" name="Graphic 37" descr="Cursor with solid fill">
            <a:extLst>
              <a:ext uri="{FF2B5EF4-FFF2-40B4-BE49-F238E27FC236}">
                <a16:creationId xmlns:a16="http://schemas.microsoft.com/office/drawing/2014/main" id="{BAF44A26-A614-45D5-A537-98E97D95FC3B}"/>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968119" y="486704"/>
            <a:ext cx="296010" cy="301752"/>
          </a:xfrm>
          <a:prstGeom prst="rect">
            <a:avLst/>
          </a:prstGeom>
        </p:spPr>
      </p:pic>
      <p:pic>
        <p:nvPicPr>
          <p:cNvPr id="39" name="Graphic 38" descr="Cursor with solid fill">
            <a:extLst>
              <a:ext uri="{FF2B5EF4-FFF2-40B4-BE49-F238E27FC236}">
                <a16:creationId xmlns:a16="http://schemas.microsoft.com/office/drawing/2014/main" id="{D3D61157-652F-404E-8A71-3BCE8308D03E}"/>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971816" y="2193764"/>
            <a:ext cx="296010" cy="301752"/>
          </a:xfrm>
          <a:prstGeom prst="rect">
            <a:avLst/>
          </a:prstGeom>
        </p:spPr>
      </p:pic>
      <p:pic>
        <p:nvPicPr>
          <p:cNvPr id="40" name="Graphic 39" descr="Cursor with solid fill">
            <a:extLst>
              <a:ext uri="{FF2B5EF4-FFF2-40B4-BE49-F238E27FC236}">
                <a16:creationId xmlns:a16="http://schemas.microsoft.com/office/drawing/2014/main" id="{89510738-BFC8-4580-9625-22E4177D336C}"/>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971816" y="2757130"/>
            <a:ext cx="296010" cy="301752"/>
          </a:xfrm>
          <a:prstGeom prst="rect">
            <a:avLst/>
          </a:prstGeom>
        </p:spPr>
      </p:pic>
      <p:pic>
        <p:nvPicPr>
          <p:cNvPr id="42" name="Graphic 41" descr="Cursor with solid fill">
            <a:extLst>
              <a:ext uri="{FF2B5EF4-FFF2-40B4-BE49-F238E27FC236}">
                <a16:creationId xmlns:a16="http://schemas.microsoft.com/office/drawing/2014/main" id="{4A791FEC-2CD1-4193-97CB-023DB3149BFF}"/>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968119" y="1052104"/>
            <a:ext cx="296010" cy="301752"/>
          </a:xfrm>
          <a:prstGeom prst="rect">
            <a:avLst/>
          </a:prstGeom>
        </p:spPr>
      </p:pic>
      <p:pic>
        <p:nvPicPr>
          <p:cNvPr id="44" name="Graphic 43" descr="Cursor with solid fill">
            <a:extLst>
              <a:ext uri="{FF2B5EF4-FFF2-40B4-BE49-F238E27FC236}">
                <a16:creationId xmlns:a16="http://schemas.microsoft.com/office/drawing/2014/main" id="{E55CC5AF-9A42-406B-A82E-CC2C49FB3FD1}"/>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968119" y="6556248"/>
            <a:ext cx="296010" cy="301752"/>
          </a:xfrm>
          <a:prstGeom prst="rect">
            <a:avLst/>
          </a:prstGeom>
        </p:spPr>
      </p:pic>
      <p:sp>
        <p:nvSpPr>
          <p:cNvPr id="45" name="TextBox 44">
            <a:extLst>
              <a:ext uri="{FF2B5EF4-FFF2-40B4-BE49-F238E27FC236}">
                <a16:creationId xmlns:a16="http://schemas.microsoft.com/office/drawing/2014/main" id="{9972FA0B-5EB5-4E91-9A1C-330FBF511686}"/>
              </a:ext>
            </a:extLst>
          </p:cNvPr>
          <p:cNvSpPr txBox="1"/>
          <p:nvPr/>
        </p:nvSpPr>
        <p:spPr>
          <a:xfrm>
            <a:off x="5272645" y="201094"/>
            <a:ext cx="3461619" cy="523220"/>
          </a:xfrm>
          <a:prstGeom prst="rect">
            <a:avLst/>
          </a:prstGeom>
          <a:noFill/>
        </p:spPr>
        <p:txBody>
          <a:bodyPr wrap="square" rtlCol="0">
            <a:spAutoFit/>
          </a:bodyPr>
          <a:lstStyle/>
          <a:p>
            <a:pPr algn="ctr"/>
            <a:r>
              <a:rPr lang="en-US" sz="2800" b="1" dirty="0"/>
              <a:t>Choosing an OCP</a:t>
            </a:r>
          </a:p>
        </p:txBody>
      </p:sp>
      <p:pic>
        <p:nvPicPr>
          <p:cNvPr id="49" name="Graphic 48" descr="Cursor with solid fill">
            <a:extLst>
              <a:ext uri="{FF2B5EF4-FFF2-40B4-BE49-F238E27FC236}">
                <a16:creationId xmlns:a16="http://schemas.microsoft.com/office/drawing/2014/main" id="{F3263B12-B004-488D-AA20-E6D62DDF4C7D}"/>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5258859" y="1197814"/>
            <a:ext cx="296010" cy="301752"/>
          </a:xfrm>
          <a:prstGeom prst="rect">
            <a:avLst/>
          </a:prstGeom>
        </p:spPr>
      </p:pic>
      <p:pic>
        <p:nvPicPr>
          <p:cNvPr id="50" name="Graphic 49" descr="Cursor with solid fill">
            <a:extLst>
              <a:ext uri="{FF2B5EF4-FFF2-40B4-BE49-F238E27FC236}">
                <a16:creationId xmlns:a16="http://schemas.microsoft.com/office/drawing/2014/main" id="{4928187A-0ED3-4754-884D-55E1644532BE}"/>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0585135" y="1232743"/>
            <a:ext cx="296010" cy="301752"/>
          </a:xfrm>
          <a:prstGeom prst="rect">
            <a:avLst/>
          </a:prstGeom>
        </p:spPr>
      </p:pic>
      <p:sp>
        <p:nvSpPr>
          <p:cNvPr id="72" name="Estrogen">
            <a:extLst>
              <a:ext uri="{FF2B5EF4-FFF2-40B4-BE49-F238E27FC236}">
                <a16:creationId xmlns:a16="http://schemas.microsoft.com/office/drawing/2014/main" id="{8D7FB583-B845-41C8-AAD0-925338C7D31E}"/>
              </a:ext>
            </a:extLst>
          </p:cNvPr>
          <p:cNvSpPr txBox="1">
            <a:spLocks/>
          </p:cNvSpPr>
          <p:nvPr/>
        </p:nvSpPr>
        <p:spPr>
          <a:xfrm>
            <a:off x="3554238" y="931835"/>
            <a:ext cx="1852625" cy="408623"/>
          </a:xfrm>
          <a:prstGeom prst="roundRect">
            <a:avLst/>
          </a:prstGeom>
          <a:solidFill>
            <a:schemeClr val="accent6"/>
          </a:solidFill>
          <a:ln w="38100">
            <a:solidFill>
              <a:schemeClr val="accent6"/>
            </a:solidFill>
          </a:ln>
          <a:effectLst/>
        </p:spPr>
        <p:txBody>
          <a:bodyPr vert="horz" wrap="square" lIns="91440" tIns="45720" rIns="91440" bIns="45720" rtlCol="0" anchor="b">
            <a:sp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US" sz="2000">
                <a:solidFill>
                  <a:schemeClr val="bg1"/>
                </a:solidFill>
              </a:rPr>
              <a:t>Estrogen</a:t>
            </a:r>
            <a:endParaRPr lang="en-US" sz="2000" dirty="0">
              <a:solidFill>
                <a:schemeClr val="bg1"/>
              </a:solidFill>
            </a:endParaRPr>
          </a:p>
        </p:txBody>
      </p:sp>
      <p:grpSp>
        <p:nvGrpSpPr>
          <p:cNvPr id="92" name="Group 91">
            <a:extLst>
              <a:ext uri="{FF2B5EF4-FFF2-40B4-BE49-F238E27FC236}">
                <a16:creationId xmlns:a16="http://schemas.microsoft.com/office/drawing/2014/main" id="{CC17DE40-741C-42B9-8A9B-B7F61719043C}"/>
              </a:ext>
            </a:extLst>
          </p:cNvPr>
          <p:cNvGrpSpPr/>
          <p:nvPr/>
        </p:nvGrpSpPr>
        <p:grpSpPr>
          <a:xfrm>
            <a:off x="7981501" y="2668448"/>
            <a:ext cx="3216185" cy="3025566"/>
            <a:chOff x="8005570" y="2001890"/>
            <a:chExt cx="3216185" cy="3025566"/>
          </a:xfrm>
        </p:grpSpPr>
        <p:sp>
          <p:nvSpPr>
            <p:cNvPr id="91" name="Rectangle 90">
              <a:extLst>
                <a:ext uri="{FF2B5EF4-FFF2-40B4-BE49-F238E27FC236}">
                  <a16:creationId xmlns:a16="http://schemas.microsoft.com/office/drawing/2014/main" id="{54365EB9-61EE-4DF2-9BA9-A1ECC29B949D}"/>
                </a:ext>
              </a:extLst>
            </p:cNvPr>
            <p:cNvSpPr/>
            <p:nvPr/>
          </p:nvSpPr>
          <p:spPr>
            <a:xfrm>
              <a:off x="8228789" y="4482555"/>
              <a:ext cx="2992966" cy="544901"/>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8B18DD2E-6E90-484E-93C2-49698A9F4497}"/>
                </a:ext>
              </a:extLst>
            </p:cNvPr>
            <p:cNvSpPr/>
            <p:nvPr/>
          </p:nvSpPr>
          <p:spPr>
            <a:xfrm>
              <a:off x="8228789" y="3799482"/>
              <a:ext cx="2992966" cy="677684"/>
            </a:xfrm>
            <a:prstGeom prst="rect">
              <a:avLst/>
            </a:prstGeom>
            <a:solidFill>
              <a:schemeClr val="accent4">
                <a:lumMod val="60000"/>
                <a:lumOff val="4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AC1AC5C4-B4C2-4989-A611-E925AF587464}"/>
                </a:ext>
              </a:extLst>
            </p:cNvPr>
            <p:cNvSpPr/>
            <p:nvPr/>
          </p:nvSpPr>
          <p:spPr>
            <a:xfrm>
              <a:off x="8228789" y="3137331"/>
              <a:ext cx="2992966" cy="654995"/>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E4523A10-C69C-4B55-A876-EF8E799D3F3F}"/>
                </a:ext>
              </a:extLst>
            </p:cNvPr>
            <p:cNvSpPr/>
            <p:nvPr/>
          </p:nvSpPr>
          <p:spPr>
            <a:xfrm>
              <a:off x="8228789" y="2392171"/>
              <a:ext cx="2992966" cy="732303"/>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5E25C1B7-7FA9-4AFB-9A25-857419F2981D}"/>
                </a:ext>
              </a:extLst>
            </p:cNvPr>
            <p:cNvGrpSpPr/>
            <p:nvPr/>
          </p:nvGrpSpPr>
          <p:grpSpPr>
            <a:xfrm>
              <a:off x="8005570" y="2001890"/>
              <a:ext cx="1269360" cy="2983885"/>
              <a:chOff x="7535075" y="1847673"/>
              <a:chExt cx="1269360" cy="2983885"/>
            </a:xfrm>
          </p:grpSpPr>
          <p:sp>
            <p:nvSpPr>
              <p:cNvPr id="76" name="TextBox 75">
                <a:extLst>
                  <a:ext uri="{FF2B5EF4-FFF2-40B4-BE49-F238E27FC236}">
                    <a16:creationId xmlns:a16="http://schemas.microsoft.com/office/drawing/2014/main" id="{318AEA9C-E71B-40C5-A41B-2478B2ECF1CD}"/>
                  </a:ext>
                </a:extLst>
              </p:cNvPr>
              <p:cNvSpPr txBox="1"/>
              <p:nvPr/>
            </p:nvSpPr>
            <p:spPr>
              <a:xfrm>
                <a:off x="7535075" y="1847673"/>
                <a:ext cx="1269360" cy="369332"/>
              </a:xfrm>
              <a:prstGeom prst="rect">
                <a:avLst/>
              </a:prstGeom>
              <a:noFill/>
            </p:spPr>
            <p:txBody>
              <a:bodyPr wrap="square" rtlCol="0">
                <a:spAutoFit/>
              </a:bodyPr>
              <a:lstStyle/>
              <a:p>
                <a:r>
                  <a:rPr lang="en-US" dirty="0"/>
                  <a:t>Generation</a:t>
                </a:r>
              </a:p>
            </p:txBody>
          </p:sp>
          <p:sp>
            <p:nvSpPr>
              <p:cNvPr id="77" name="TextBox 76">
                <a:extLst>
                  <a:ext uri="{FF2B5EF4-FFF2-40B4-BE49-F238E27FC236}">
                    <a16:creationId xmlns:a16="http://schemas.microsoft.com/office/drawing/2014/main" id="{B161D4BA-F326-4B77-B9B4-30AD23374A39}"/>
                  </a:ext>
                </a:extLst>
              </p:cNvPr>
              <p:cNvSpPr txBox="1"/>
              <p:nvPr/>
            </p:nvSpPr>
            <p:spPr>
              <a:xfrm>
                <a:off x="7896891" y="2394889"/>
                <a:ext cx="545728" cy="461665"/>
              </a:xfrm>
              <a:prstGeom prst="rect">
                <a:avLst/>
              </a:prstGeom>
              <a:noFill/>
            </p:spPr>
            <p:txBody>
              <a:bodyPr wrap="square" rtlCol="0">
                <a:spAutoFit/>
              </a:bodyPr>
              <a:lstStyle/>
              <a:p>
                <a:pPr algn="ctr"/>
                <a:r>
                  <a:rPr lang="en-US" sz="2400" dirty="0"/>
                  <a:t>1</a:t>
                </a:r>
              </a:p>
            </p:txBody>
          </p:sp>
          <p:sp>
            <p:nvSpPr>
              <p:cNvPr id="78" name="TextBox 77">
                <a:extLst>
                  <a:ext uri="{FF2B5EF4-FFF2-40B4-BE49-F238E27FC236}">
                    <a16:creationId xmlns:a16="http://schemas.microsoft.com/office/drawing/2014/main" id="{AE78C731-AA5F-485A-80CC-2D3B2228ECB8}"/>
                  </a:ext>
                </a:extLst>
              </p:cNvPr>
              <p:cNvSpPr txBox="1"/>
              <p:nvPr/>
            </p:nvSpPr>
            <p:spPr>
              <a:xfrm>
                <a:off x="7896891" y="3037134"/>
                <a:ext cx="545728" cy="461665"/>
              </a:xfrm>
              <a:prstGeom prst="rect">
                <a:avLst/>
              </a:prstGeom>
              <a:noFill/>
            </p:spPr>
            <p:txBody>
              <a:bodyPr wrap="square" rtlCol="0">
                <a:spAutoFit/>
              </a:bodyPr>
              <a:lstStyle/>
              <a:p>
                <a:pPr algn="ctr"/>
                <a:r>
                  <a:rPr lang="en-US" sz="2400" dirty="0"/>
                  <a:t>2</a:t>
                </a:r>
              </a:p>
            </p:txBody>
          </p:sp>
          <p:sp>
            <p:nvSpPr>
              <p:cNvPr id="79" name="TextBox 78">
                <a:extLst>
                  <a:ext uri="{FF2B5EF4-FFF2-40B4-BE49-F238E27FC236}">
                    <a16:creationId xmlns:a16="http://schemas.microsoft.com/office/drawing/2014/main" id="{52861599-FB87-4792-AD5C-821E60D21F8A}"/>
                  </a:ext>
                </a:extLst>
              </p:cNvPr>
              <p:cNvSpPr txBox="1"/>
              <p:nvPr/>
            </p:nvSpPr>
            <p:spPr>
              <a:xfrm>
                <a:off x="7896891" y="3726762"/>
                <a:ext cx="545728" cy="461665"/>
              </a:xfrm>
              <a:prstGeom prst="rect">
                <a:avLst/>
              </a:prstGeom>
              <a:noFill/>
            </p:spPr>
            <p:txBody>
              <a:bodyPr wrap="square" rtlCol="0">
                <a:spAutoFit/>
              </a:bodyPr>
              <a:lstStyle/>
              <a:p>
                <a:pPr algn="ctr"/>
                <a:r>
                  <a:rPr lang="en-US" sz="2400" dirty="0"/>
                  <a:t>3</a:t>
                </a:r>
              </a:p>
            </p:txBody>
          </p:sp>
          <p:sp>
            <p:nvSpPr>
              <p:cNvPr id="80" name="TextBox 79">
                <a:extLst>
                  <a:ext uri="{FF2B5EF4-FFF2-40B4-BE49-F238E27FC236}">
                    <a16:creationId xmlns:a16="http://schemas.microsoft.com/office/drawing/2014/main" id="{999C0649-6D47-4352-AFEC-DB7C33EC47A0}"/>
                  </a:ext>
                </a:extLst>
              </p:cNvPr>
              <p:cNvSpPr txBox="1"/>
              <p:nvPr/>
            </p:nvSpPr>
            <p:spPr>
              <a:xfrm>
                <a:off x="7896891" y="4369893"/>
                <a:ext cx="545728" cy="461665"/>
              </a:xfrm>
              <a:prstGeom prst="rect">
                <a:avLst/>
              </a:prstGeom>
              <a:noFill/>
            </p:spPr>
            <p:txBody>
              <a:bodyPr wrap="square" rtlCol="0">
                <a:spAutoFit/>
              </a:bodyPr>
              <a:lstStyle/>
              <a:p>
                <a:pPr algn="ctr"/>
                <a:r>
                  <a:rPr lang="en-US" sz="2400" dirty="0"/>
                  <a:t>4</a:t>
                </a:r>
              </a:p>
            </p:txBody>
          </p:sp>
        </p:grpSp>
        <p:sp>
          <p:nvSpPr>
            <p:cNvPr id="84" name="TextBox 83">
              <a:extLst>
                <a:ext uri="{FF2B5EF4-FFF2-40B4-BE49-F238E27FC236}">
                  <a16:creationId xmlns:a16="http://schemas.microsoft.com/office/drawing/2014/main" id="{FA0233C8-0B2A-4E6E-AE42-1E24A42EDCE0}"/>
                </a:ext>
              </a:extLst>
            </p:cNvPr>
            <p:cNvSpPr txBox="1"/>
            <p:nvPr/>
          </p:nvSpPr>
          <p:spPr>
            <a:xfrm>
              <a:off x="9130696" y="2423860"/>
              <a:ext cx="1729630" cy="707886"/>
            </a:xfrm>
            <a:prstGeom prst="rect">
              <a:avLst/>
            </a:prstGeom>
            <a:noFill/>
          </p:spPr>
          <p:txBody>
            <a:bodyPr wrap="square" rtlCol="0">
              <a:spAutoFit/>
            </a:bodyPr>
            <a:lstStyle/>
            <a:p>
              <a:pPr algn="ctr"/>
              <a:r>
                <a:rPr lang="en-US" sz="2000" dirty="0"/>
                <a:t>Norethindrone</a:t>
              </a:r>
            </a:p>
            <a:p>
              <a:pPr algn="ctr"/>
              <a:r>
                <a:rPr lang="en-US" sz="2000" dirty="0" err="1"/>
                <a:t>Ethynodiol</a:t>
              </a:r>
              <a:endParaRPr lang="en-US" sz="2000" dirty="0"/>
            </a:p>
          </p:txBody>
        </p:sp>
        <p:sp>
          <p:nvSpPr>
            <p:cNvPr id="85" name="TextBox 84">
              <a:extLst>
                <a:ext uri="{FF2B5EF4-FFF2-40B4-BE49-F238E27FC236}">
                  <a16:creationId xmlns:a16="http://schemas.microsoft.com/office/drawing/2014/main" id="{22B46497-DE1F-4AC3-9065-2C0D4543F730}"/>
                </a:ext>
              </a:extLst>
            </p:cNvPr>
            <p:cNvSpPr txBox="1"/>
            <p:nvPr/>
          </p:nvSpPr>
          <p:spPr>
            <a:xfrm>
              <a:off x="9141417" y="3119991"/>
              <a:ext cx="1729630" cy="707886"/>
            </a:xfrm>
            <a:prstGeom prst="rect">
              <a:avLst/>
            </a:prstGeom>
            <a:noFill/>
          </p:spPr>
          <p:txBody>
            <a:bodyPr wrap="square" rtlCol="0">
              <a:spAutoFit/>
            </a:bodyPr>
            <a:lstStyle/>
            <a:p>
              <a:pPr algn="ctr"/>
              <a:r>
                <a:rPr lang="en-US" sz="2000" dirty="0"/>
                <a:t>Levonorgestrel</a:t>
              </a:r>
            </a:p>
            <a:p>
              <a:pPr algn="ctr"/>
              <a:r>
                <a:rPr lang="en-US" sz="2000" dirty="0" err="1"/>
                <a:t>Norgestrel</a:t>
              </a:r>
              <a:endParaRPr lang="en-US" sz="2000" dirty="0"/>
            </a:p>
          </p:txBody>
        </p:sp>
        <p:sp>
          <p:nvSpPr>
            <p:cNvPr id="86" name="TextBox 85">
              <a:extLst>
                <a:ext uri="{FF2B5EF4-FFF2-40B4-BE49-F238E27FC236}">
                  <a16:creationId xmlns:a16="http://schemas.microsoft.com/office/drawing/2014/main" id="{FF969AD4-0908-47B3-984A-7E305DCA1925}"/>
                </a:ext>
              </a:extLst>
            </p:cNvPr>
            <p:cNvSpPr txBox="1"/>
            <p:nvPr/>
          </p:nvSpPr>
          <p:spPr>
            <a:xfrm>
              <a:off x="9137788" y="3798272"/>
              <a:ext cx="1729630" cy="707886"/>
            </a:xfrm>
            <a:prstGeom prst="rect">
              <a:avLst/>
            </a:prstGeom>
            <a:noFill/>
          </p:spPr>
          <p:txBody>
            <a:bodyPr wrap="square" rtlCol="0">
              <a:spAutoFit/>
            </a:bodyPr>
            <a:lstStyle/>
            <a:p>
              <a:pPr algn="ctr"/>
              <a:r>
                <a:rPr lang="en-US" sz="2000" dirty="0" err="1"/>
                <a:t>Desogestrel</a:t>
              </a:r>
              <a:endParaRPr lang="en-US" sz="2000" dirty="0"/>
            </a:p>
            <a:p>
              <a:pPr algn="ctr"/>
              <a:r>
                <a:rPr lang="en-US" sz="2000" dirty="0" err="1"/>
                <a:t>Norgestimate</a:t>
              </a:r>
              <a:endParaRPr lang="en-US" sz="2000" dirty="0"/>
            </a:p>
          </p:txBody>
        </p:sp>
        <p:sp>
          <p:nvSpPr>
            <p:cNvPr id="87" name="TextBox 86">
              <a:extLst>
                <a:ext uri="{FF2B5EF4-FFF2-40B4-BE49-F238E27FC236}">
                  <a16:creationId xmlns:a16="http://schemas.microsoft.com/office/drawing/2014/main" id="{6692236F-FE20-4D7E-B78D-44E8B13FA49F}"/>
                </a:ext>
              </a:extLst>
            </p:cNvPr>
            <p:cNvSpPr txBox="1"/>
            <p:nvPr/>
          </p:nvSpPr>
          <p:spPr>
            <a:xfrm>
              <a:off x="9130696" y="4570276"/>
              <a:ext cx="1729630" cy="400110"/>
            </a:xfrm>
            <a:prstGeom prst="rect">
              <a:avLst/>
            </a:prstGeom>
            <a:noFill/>
          </p:spPr>
          <p:txBody>
            <a:bodyPr wrap="square" rtlCol="0">
              <a:spAutoFit/>
            </a:bodyPr>
            <a:lstStyle/>
            <a:p>
              <a:pPr algn="ctr"/>
              <a:r>
                <a:rPr lang="en-US" sz="2000" dirty="0" err="1"/>
                <a:t>Drospirenone</a:t>
              </a:r>
              <a:endParaRPr lang="en-US" sz="2000" dirty="0"/>
            </a:p>
          </p:txBody>
        </p:sp>
      </p:grpSp>
      <p:sp>
        <p:nvSpPr>
          <p:cNvPr id="93" name="Progesterone">
            <a:extLst>
              <a:ext uri="{FF2B5EF4-FFF2-40B4-BE49-F238E27FC236}">
                <a16:creationId xmlns:a16="http://schemas.microsoft.com/office/drawing/2014/main" id="{178D4846-8061-4888-AC93-3ACDD77C132F}"/>
              </a:ext>
            </a:extLst>
          </p:cNvPr>
          <p:cNvSpPr txBox="1">
            <a:spLocks/>
          </p:cNvSpPr>
          <p:nvPr/>
        </p:nvSpPr>
        <p:spPr>
          <a:xfrm>
            <a:off x="8734264" y="972349"/>
            <a:ext cx="2021071" cy="408623"/>
          </a:xfrm>
          <a:prstGeom prst="roundRect">
            <a:avLst/>
          </a:prstGeom>
          <a:solidFill>
            <a:schemeClr val="accent4"/>
          </a:solidFill>
          <a:ln w="38100">
            <a:solidFill>
              <a:schemeClr val="accent4"/>
            </a:solidFill>
          </a:ln>
          <a:effectLst/>
        </p:spPr>
        <p:txBody>
          <a:bodyPr vert="horz" wrap="square" lIns="91440" tIns="45720" rIns="91440" bIns="45720" rtlCol="0" anchor="b">
            <a:sp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US" sz="2000">
                <a:solidFill>
                  <a:schemeClr val="bg1"/>
                </a:solidFill>
              </a:rPr>
              <a:t>Progestin</a:t>
            </a:r>
            <a:endParaRPr lang="en-US" sz="2000" dirty="0">
              <a:solidFill>
                <a:schemeClr val="bg1"/>
              </a:solidFill>
            </a:endParaRPr>
          </a:p>
        </p:txBody>
      </p:sp>
      <p:sp>
        <p:nvSpPr>
          <p:cNvPr id="96" name="Combination OCP">
            <a:extLst>
              <a:ext uri="{FF2B5EF4-FFF2-40B4-BE49-F238E27FC236}">
                <a16:creationId xmlns:a16="http://schemas.microsoft.com/office/drawing/2014/main" id="{28AA2AD5-1C3D-4644-9D3A-8A21D813CDE9}"/>
              </a:ext>
            </a:extLst>
          </p:cNvPr>
          <p:cNvSpPr txBox="1">
            <a:spLocks/>
          </p:cNvSpPr>
          <p:nvPr/>
        </p:nvSpPr>
        <p:spPr>
          <a:xfrm>
            <a:off x="5634404" y="6178070"/>
            <a:ext cx="2570316" cy="377976"/>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txBody>
          <a:bodyPr vert="horz" wrap="square" lIns="91440" tIns="45720" rIns="91440" bIns="45720" rtlCol="0" anchor="b">
            <a:sp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US" sz="1800" b="0" dirty="0"/>
              <a:t>Combination OCP dosing</a:t>
            </a:r>
          </a:p>
        </p:txBody>
      </p:sp>
      <p:pic>
        <p:nvPicPr>
          <p:cNvPr id="97" name="Graphic 96" descr="Cursor with solid fill">
            <a:extLst>
              <a:ext uri="{FF2B5EF4-FFF2-40B4-BE49-F238E27FC236}">
                <a16:creationId xmlns:a16="http://schemas.microsoft.com/office/drawing/2014/main" id="{25DD97BD-60C9-4B1F-8F29-C64CD2D5DA2D}"/>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8056715" y="6444471"/>
            <a:ext cx="296010" cy="301752"/>
          </a:xfrm>
          <a:prstGeom prst="rect">
            <a:avLst/>
          </a:prstGeom>
        </p:spPr>
      </p:pic>
      <p:grpSp>
        <p:nvGrpSpPr>
          <p:cNvPr id="6" name="Group 5">
            <a:extLst>
              <a:ext uri="{FF2B5EF4-FFF2-40B4-BE49-F238E27FC236}">
                <a16:creationId xmlns:a16="http://schemas.microsoft.com/office/drawing/2014/main" id="{F72E5E08-7E5D-4FC1-BC46-0037F73007A1}"/>
              </a:ext>
            </a:extLst>
          </p:cNvPr>
          <p:cNvGrpSpPr/>
          <p:nvPr/>
        </p:nvGrpSpPr>
        <p:grpSpPr>
          <a:xfrm>
            <a:off x="11360528" y="3028303"/>
            <a:ext cx="722282" cy="2682973"/>
            <a:chOff x="11351018" y="2561300"/>
            <a:chExt cx="722282" cy="2682973"/>
          </a:xfrm>
        </p:grpSpPr>
        <p:sp>
          <p:nvSpPr>
            <p:cNvPr id="11" name="Down Arrow 10">
              <a:extLst>
                <a:ext uri="{FF2B5EF4-FFF2-40B4-BE49-F238E27FC236}">
                  <a16:creationId xmlns:a16="http://schemas.microsoft.com/office/drawing/2014/main" id="{1D14A714-7998-6941-AEC7-2DC1C3B5353B}"/>
                </a:ext>
              </a:extLst>
            </p:cNvPr>
            <p:cNvSpPr/>
            <p:nvPr/>
          </p:nvSpPr>
          <p:spPr>
            <a:xfrm rot="10800000" flipV="1">
              <a:off x="11351018" y="2561300"/>
              <a:ext cx="222706" cy="2682973"/>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7BAB38D-BE0B-0246-91D6-1CE5873293C9}"/>
                </a:ext>
              </a:extLst>
            </p:cNvPr>
            <p:cNvSpPr txBox="1"/>
            <p:nvPr/>
          </p:nvSpPr>
          <p:spPr>
            <a:xfrm rot="16200000">
              <a:off x="10440499" y="3671817"/>
              <a:ext cx="2596137" cy="400110"/>
            </a:xfrm>
            <a:prstGeom prst="rect">
              <a:avLst/>
            </a:prstGeom>
            <a:noFill/>
          </p:spPr>
          <p:txBody>
            <a:bodyPr wrap="square" rtlCol="0">
              <a:spAutoFit/>
            </a:bodyPr>
            <a:lstStyle/>
            <a:p>
              <a:pPr algn="ctr"/>
              <a:r>
                <a:rPr lang="en-US" sz="2000" b="1" dirty="0"/>
                <a:t>Risk of thrombosis</a:t>
              </a:r>
            </a:p>
          </p:txBody>
        </p:sp>
        <p:sp>
          <p:nvSpPr>
            <p:cNvPr id="2" name="TextBox 1">
              <a:extLst>
                <a:ext uri="{FF2B5EF4-FFF2-40B4-BE49-F238E27FC236}">
                  <a16:creationId xmlns:a16="http://schemas.microsoft.com/office/drawing/2014/main" id="{0B3D1665-CB61-4362-8BDE-F22ABB08A92B}"/>
                </a:ext>
              </a:extLst>
            </p:cNvPr>
            <p:cNvSpPr txBox="1"/>
            <p:nvPr/>
          </p:nvSpPr>
          <p:spPr>
            <a:xfrm rot="16200000">
              <a:off x="10608724" y="3758354"/>
              <a:ext cx="2652153" cy="276999"/>
            </a:xfrm>
            <a:prstGeom prst="rect">
              <a:avLst/>
            </a:prstGeom>
            <a:noFill/>
          </p:spPr>
          <p:txBody>
            <a:bodyPr wrap="square" rtlCol="0">
              <a:spAutoFit/>
            </a:bodyPr>
            <a:lstStyle/>
            <a:p>
              <a:pPr algn="ctr"/>
              <a:r>
                <a:rPr lang="en-US" sz="1200" dirty="0"/>
                <a:t>when used with estrogens</a:t>
              </a:r>
            </a:p>
          </p:txBody>
        </p:sp>
      </p:grpSp>
      <p:sp>
        <p:nvSpPr>
          <p:cNvPr id="7" name="TextBox 6">
            <a:extLst>
              <a:ext uri="{FF2B5EF4-FFF2-40B4-BE49-F238E27FC236}">
                <a16:creationId xmlns:a16="http://schemas.microsoft.com/office/drawing/2014/main" id="{81D06EE3-0CCC-4C52-A01C-4C749686E948}"/>
              </a:ext>
            </a:extLst>
          </p:cNvPr>
          <p:cNvSpPr txBox="1"/>
          <p:nvPr/>
        </p:nvSpPr>
        <p:spPr>
          <a:xfrm>
            <a:off x="3081808" y="1625600"/>
            <a:ext cx="2780516" cy="646331"/>
          </a:xfrm>
          <a:prstGeom prst="rect">
            <a:avLst/>
          </a:prstGeom>
          <a:noFill/>
        </p:spPr>
        <p:txBody>
          <a:bodyPr wrap="square" rtlCol="0">
            <a:spAutoFit/>
          </a:bodyPr>
          <a:lstStyle/>
          <a:p>
            <a:pPr algn="ctr"/>
            <a:r>
              <a:rPr lang="en-US" dirty="0"/>
              <a:t>Suppresses ovulation</a:t>
            </a:r>
          </a:p>
          <a:p>
            <a:pPr algn="ctr"/>
            <a:r>
              <a:rPr lang="en-US" dirty="0"/>
              <a:t>Stabilizes the endometrium</a:t>
            </a:r>
          </a:p>
        </p:txBody>
      </p:sp>
      <p:sp>
        <p:nvSpPr>
          <p:cNvPr id="75" name="TextBox 74">
            <a:extLst>
              <a:ext uri="{FF2B5EF4-FFF2-40B4-BE49-F238E27FC236}">
                <a16:creationId xmlns:a16="http://schemas.microsoft.com/office/drawing/2014/main" id="{0E4B54A8-EDA8-44E6-8827-863008439E83}"/>
              </a:ext>
            </a:extLst>
          </p:cNvPr>
          <p:cNvSpPr txBox="1"/>
          <p:nvPr/>
        </p:nvSpPr>
        <p:spPr>
          <a:xfrm>
            <a:off x="7565063" y="1549668"/>
            <a:ext cx="4240748" cy="923330"/>
          </a:xfrm>
          <a:prstGeom prst="rect">
            <a:avLst/>
          </a:prstGeom>
          <a:noFill/>
        </p:spPr>
        <p:txBody>
          <a:bodyPr wrap="square" rtlCol="0">
            <a:spAutoFit/>
          </a:bodyPr>
          <a:lstStyle/>
          <a:p>
            <a:pPr algn="ctr"/>
            <a:r>
              <a:rPr lang="en-US" dirty="0"/>
              <a:t>Thickens cervical mucus to inhibit sperm migration</a:t>
            </a:r>
          </a:p>
          <a:p>
            <a:pPr algn="ctr"/>
            <a:r>
              <a:rPr lang="en-US" dirty="0"/>
              <a:t>Endometrium less suitable for implantation</a:t>
            </a:r>
          </a:p>
        </p:txBody>
      </p:sp>
      <p:sp>
        <p:nvSpPr>
          <p:cNvPr id="8" name="TextBox 7">
            <a:extLst>
              <a:ext uri="{FF2B5EF4-FFF2-40B4-BE49-F238E27FC236}">
                <a16:creationId xmlns:a16="http://schemas.microsoft.com/office/drawing/2014/main" id="{AA9A3893-A978-4755-A29C-F1B1DA0F1B16}"/>
              </a:ext>
            </a:extLst>
          </p:cNvPr>
          <p:cNvSpPr txBox="1"/>
          <p:nvPr/>
        </p:nvSpPr>
        <p:spPr>
          <a:xfrm rot="10800000">
            <a:off x="2314004" y="1059474"/>
            <a:ext cx="461665" cy="1854790"/>
          </a:xfrm>
          <a:prstGeom prst="rect">
            <a:avLst/>
          </a:prstGeom>
          <a:noFill/>
        </p:spPr>
        <p:txBody>
          <a:bodyPr vert="eaVert" wrap="square" rtlCol="0">
            <a:spAutoFit/>
          </a:bodyPr>
          <a:lstStyle/>
          <a:p>
            <a:pPr algn="ctr"/>
            <a:r>
              <a:rPr lang="en-US" b="1" dirty="0"/>
              <a:t>Mechanism </a:t>
            </a:r>
          </a:p>
        </p:txBody>
      </p:sp>
      <p:sp>
        <p:nvSpPr>
          <p:cNvPr id="82" name="TextBox 81">
            <a:extLst>
              <a:ext uri="{FF2B5EF4-FFF2-40B4-BE49-F238E27FC236}">
                <a16:creationId xmlns:a16="http://schemas.microsoft.com/office/drawing/2014/main" id="{0282024D-DE5F-493B-8358-53A3A8213DA4}"/>
              </a:ext>
            </a:extLst>
          </p:cNvPr>
          <p:cNvSpPr txBox="1"/>
          <p:nvPr/>
        </p:nvSpPr>
        <p:spPr>
          <a:xfrm rot="10800000">
            <a:off x="1764762" y="3598252"/>
            <a:ext cx="461665" cy="1854790"/>
          </a:xfrm>
          <a:prstGeom prst="rect">
            <a:avLst/>
          </a:prstGeom>
          <a:noFill/>
        </p:spPr>
        <p:txBody>
          <a:bodyPr vert="eaVert" wrap="square" rtlCol="0">
            <a:spAutoFit/>
          </a:bodyPr>
          <a:lstStyle/>
          <a:p>
            <a:pPr algn="ctr"/>
            <a:r>
              <a:rPr lang="en-US" b="1" dirty="0"/>
              <a:t>Medications </a:t>
            </a:r>
          </a:p>
        </p:txBody>
      </p:sp>
      <p:grpSp>
        <p:nvGrpSpPr>
          <p:cNvPr id="19" name="Group 18">
            <a:extLst>
              <a:ext uri="{FF2B5EF4-FFF2-40B4-BE49-F238E27FC236}">
                <a16:creationId xmlns:a16="http://schemas.microsoft.com/office/drawing/2014/main" id="{B38C48BD-821D-4E2E-9761-697B6AD7806C}"/>
              </a:ext>
            </a:extLst>
          </p:cNvPr>
          <p:cNvGrpSpPr/>
          <p:nvPr/>
        </p:nvGrpSpPr>
        <p:grpSpPr>
          <a:xfrm>
            <a:off x="3555409" y="2974008"/>
            <a:ext cx="612227" cy="2779696"/>
            <a:chOff x="3565100" y="3003880"/>
            <a:chExt cx="612227" cy="2779696"/>
          </a:xfrm>
        </p:grpSpPr>
        <p:sp>
          <p:nvSpPr>
            <p:cNvPr id="83" name="Down Arrow 11">
              <a:extLst>
                <a:ext uri="{FF2B5EF4-FFF2-40B4-BE49-F238E27FC236}">
                  <a16:creationId xmlns:a16="http://schemas.microsoft.com/office/drawing/2014/main" id="{218E3AB9-BC62-427B-BF7B-5EBB1FE4B846}"/>
                </a:ext>
              </a:extLst>
            </p:cNvPr>
            <p:cNvSpPr/>
            <p:nvPr/>
          </p:nvSpPr>
          <p:spPr>
            <a:xfrm rot="10800000" flipH="1">
              <a:off x="3949170" y="3271925"/>
              <a:ext cx="228157" cy="2445553"/>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TextBox 93">
              <a:extLst>
                <a:ext uri="{FF2B5EF4-FFF2-40B4-BE49-F238E27FC236}">
                  <a16:creationId xmlns:a16="http://schemas.microsoft.com/office/drawing/2014/main" id="{3086FE92-7249-4EDE-BD48-8BE76987E0FA}"/>
                </a:ext>
              </a:extLst>
            </p:cNvPr>
            <p:cNvSpPr txBox="1"/>
            <p:nvPr/>
          </p:nvSpPr>
          <p:spPr>
            <a:xfrm rot="16200000">
              <a:off x="2375307" y="4193673"/>
              <a:ext cx="2779696" cy="400110"/>
            </a:xfrm>
            <a:prstGeom prst="rect">
              <a:avLst/>
            </a:prstGeom>
            <a:noFill/>
          </p:spPr>
          <p:txBody>
            <a:bodyPr wrap="square" rtlCol="0">
              <a:spAutoFit/>
            </a:bodyPr>
            <a:lstStyle/>
            <a:p>
              <a:r>
                <a:rPr lang="en-US" sz="2000" b="1" dirty="0"/>
                <a:t>Breakthrough bleeding</a:t>
              </a:r>
            </a:p>
          </p:txBody>
        </p:sp>
      </p:grpSp>
      <p:grpSp>
        <p:nvGrpSpPr>
          <p:cNvPr id="20" name="Group 19">
            <a:extLst>
              <a:ext uri="{FF2B5EF4-FFF2-40B4-BE49-F238E27FC236}">
                <a16:creationId xmlns:a16="http://schemas.microsoft.com/office/drawing/2014/main" id="{F428A87E-0FB1-4704-9876-F5B25846F9EC}"/>
              </a:ext>
            </a:extLst>
          </p:cNvPr>
          <p:cNvGrpSpPr/>
          <p:nvPr/>
        </p:nvGrpSpPr>
        <p:grpSpPr>
          <a:xfrm>
            <a:off x="1971816" y="3069450"/>
            <a:ext cx="3677036" cy="2854982"/>
            <a:chOff x="1971816" y="3069450"/>
            <a:chExt cx="3677036" cy="2854982"/>
          </a:xfrm>
        </p:grpSpPr>
        <p:pic>
          <p:nvPicPr>
            <p:cNvPr id="41" name="Graphic 40" descr="Cursor with solid fill">
              <a:extLst>
                <a:ext uri="{FF2B5EF4-FFF2-40B4-BE49-F238E27FC236}">
                  <a16:creationId xmlns:a16="http://schemas.microsoft.com/office/drawing/2014/main" id="{E00AB3F2-EB0A-435D-BFA6-DE1CDB53078B}"/>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971816" y="3349157"/>
              <a:ext cx="296010" cy="301752"/>
            </a:xfrm>
            <a:prstGeom prst="rect">
              <a:avLst/>
            </a:prstGeom>
          </p:spPr>
        </p:pic>
        <p:grpSp>
          <p:nvGrpSpPr>
            <p:cNvPr id="15" name="Group 14">
              <a:extLst>
                <a:ext uri="{FF2B5EF4-FFF2-40B4-BE49-F238E27FC236}">
                  <a16:creationId xmlns:a16="http://schemas.microsoft.com/office/drawing/2014/main" id="{EFFCB890-6C39-4BA8-BC3A-4EE47683AEED}"/>
                </a:ext>
              </a:extLst>
            </p:cNvPr>
            <p:cNvGrpSpPr/>
            <p:nvPr/>
          </p:nvGrpSpPr>
          <p:grpSpPr>
            <a:xfrm>
              <a:off x="4305903" y="3268513"/>
              <a:ext cx="640183" cy="2655919"/>
              <a:chOff x="4139034" y="3255449"/>
              <a:chExt cx="640183" cy="2655919"/>
            </a:xfrm>
          </p:grpSpPr>
          <p:sp>
            <p:nvSpPr>
              <p:cNvPr id="64" name="TextBox 63">
                <a:extLst>
                  <a:ext uri="{FF2B5EF4-FFF2-40B4-BE49-F238E27FC236}">
                    <a16:creationId xmlns:a16="http://schemas.microsoft.com/office/drawing/2014/main" id="{FC56C420-E960-48B3-B843-DCAFD7CCE38D}"/>
                  </a:ext>
                </a:extLst>
              </p:cNvPr>
              <p:cNvSpPr txBox="1"/>
              <p:nvPr/>
            </p:nvSpPr>
            <p:spPr>
              <a:xfrm>
                <a:off x="4139034" y="5542036"/>
                <a:ext cx="640183" cy="369332"/>
              </a:xfrm>
              <a:prstGeom prst="rect">
                <a:avLst/>
              </a:prstGeom>
              <a:noFill/>
            </p:spPr>
            <p:txBody>
              <a:bodyPr wrap="square" rtlCol="0">
                <a:spAutoFit/>
              </a:bodyPr>
              <a:lstStyle/>
              <a:p>
                <a:pPr algn="ctr"/>
                <a:r>
                  <a:rPr lang="en-US" dirty="0"/>
                  <a:t>mcg</a:t>
                </a:r>
              </a:p>
            </p:txBody>
          </p:sp>
          <p:grpSp>
            <p:nvGrpSpPr>
              <p:cNvPr id="10" name="Group 9">
                <a:extLst>
                  <a:ext uri="{FF2B5EF4-FFF2-40B4-BE49-F238E27FC236}">
                    <a16:creationId xmlns:a16="http://schemas.microsoft.com/office/drawing/2014/main" id="{986862B8-B4B2-4F2E-8CE5-B02FDB5CBA36}"/>
                  </a:ext>
                </a:extLst>
              </p:cNvPr>
              <p:cNvGrpSpPr/>
              <p:nvPr/>
            </p:nvGrpSpPr>
            <p:grpSpPr>
              <a:xfrm>
                <a:off x="4157763" y="3255449"/>
                <a:ext cx="588503" cy="2335624"/>
                <a:chOff x="4157763" y="3255449"/>
                <a:chExt cx="588503" cy="2335624"/>
              </a:xfrm>
            </p:grpSpPr>
            <p:sp>
              <p:nvSpPr>
                <p:cNvPr id="9" name="Rectangle 8">
                  <a:extLst>
                    <a:ext uri="{FF2B5EF4-FFF2-40B4-BE49-F238E27FC236}">
                      <a16:creationId xmlns:a16="http://schemas.microsoft.com/office/drawing/2014/main" id="{C104FB08-E7F6-4319-8144-6079D3A8B18B}"/>
                    </a:ext>
                  </a:extLst>
                </p:cNvPr>
                <p:cNvSpPr/>
                <p:nvPr/>
              </p:nvSpPr>
              <p:spPr>
                <a:xfrm>
                  <a:off x="4157763" y="3727465"/>
                  <a:ext cx="588503" cy="447562"/>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20</a:t>
                  </a:r>
                </a:p>
              </p:txBody>
            </p:sp>
            <p:sp>
              <p:nvSpPr>
                <p:cNvPr id="53" name="Rectangle 52">
                  <a:extLst>
                    <a:ext uri="{FF2B5EF4-FFF2-40B4-BE49-F238E27FC236}">
                      <a16:creationId xmlns:a16="http://schemas.microsoft.com/office/drawing/2014/main" id="{4FEDFB8F-37DC-4F74-9FDE-55EFDAFBA184}"/>
                    </a:ext>
                  </a:extLst>
                </p:cNvPr>
                <p:cNvSpPr/>
                <p:nvPr/>
              </p:nvSpPr>
              <p:spPr>
                <a:xfrm>
                  <a:off x="4157763" y="4199481"/>
                  <a:ext cx="588503" cy="447562"/>
                </a:xfrm>
                <a:prstGeom prst="rect">
                  <a:avLst/>
                </a:prstGeom>
                <a:solidFill>
                  <a:srgbClr val="9EC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25</a:t>
                  </a:r>
                </a:p>
              </p:txBody>
            </p:sp>
            <p:sp>
              <p:nvSpPr>
                <p:cNvPr id="54" name="Rectangle 53">
                  <a:extLst>
                    <a:ext uri="{FF2B5EF4-FFF2-40B4-BE49-F238E27FC236}">
                      <a16:creationId xmlns:a16="http://schemas.microsoft.com/office/drawing/2014/main" id="{51F779D7-BCBA-44E0-B454-0B804F7D90F1}"/>
                    </a:ext>
                  </a:extLst>
                </p:cNvPr>
                <p:cNvSpPr/>
                <p:nvPr/>
              </p:nvSpPr>
              <p:spPr>
                <a:xfrm>
                  <a:off x="4157763" y="4671497"/>
                  <a:ext cx="588503" cy="44756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30</a:t>
                  </a:r>
                </a:p>
              </p:txBody>
            </p:sp>
            <p:sp>
              <p:nvSpPr>
                <p:cNvPr id="55" name="Rectangle 54">
                  <a:extLst>
                    <a:ext uri="{FF2B5EF4-FFF2-40B4-BE49-F238E27FC236}">
                      <a16:creationId xmlns:a16="http://schemas.microsoft.com/office/drawing/2014/main" id="{F766B3B9-17EA-4644-B72A-CD512F116F7A}"/>
                    </a:ext>
                  </a:extLst>
                </p:cNvPr>
                <p:cNvSpPr/>
                <p:nvPr/>
              </p:nvSpPr>
              <p:spPr>
                <a:xfrm>
                  <a:off x="4157763" y="5143511"/>
                  <a:ext cx="588503" cy="447562"/>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35</a:t>
                  </a:r>
                </a:p>
              </p:txBody>
            </p:sp>
            <p:sp>
              <p:nvSpPr>
                <p:cNvPr id="73" name="Rectangle 72">
                  <a:extLst>
                    <a:ext uri="{FF2B5EF4-FFF2-40B4-BE49-F238E27FC236}">
                      <a16:creationId xmlns:a16="http://schemas.microsoft.com/office/drawing/2014/main" id="{709B2887-5299-47B8-9DEC-F5B6F99F481C}"/>
                    </a:ext>
                  </a:extLst>
                </p:cNvPr>
                <p:cNvSpPr/>
                <p:nvPr/>
              </p:nvSpPr>
              <p:spPr>
                <a:xfrm>
                  <a:off x="4157763" y="3255449"/>
                  <a:ext cx="588503" cy="447562"/>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10</a:t>
                  </a:r>
                </a:p>
              </p:txBody>
            </p:sp>
          </p:grpSp>
        </p:grpSp>
        <p:grpSp>
          <p:nvGrpSpPr>
            <p:cNvPr id="18" name="Group 17">
              <a:extLst>
                <a:ext uri="{FF2B5EF4-FFF2-40B4-BE49-F238E27FC236}">
                  <a16:creationId xmlns:a16="http://schemas.microsoft.com/office/drawing/2014/main" id="{71CC0364-35AF-4D82-A962-124A4CFF0F7A}"/>
                </a:ext>
              </a:extLst>
            </p:cNvPr>
            <p:cNvGrpSpPr/>
            <p:nvPr/>
          </p:nvGrpSpPr>
          <p:grpSpPr>
            <a:xfrm>
              <a:off x="2306561" y="3234985"/>
              <a:ext cx="1199805" cy="2357951"/>
              <a:chOff x="3001049" y="3268513"/>
              <a:chExt cx="1199805" cy="2357951"/>
            </a:xfrm>
          </p:grpSpPr>
          <p:sp>
            <p:nvSpPr>
              <p:cNvPr id="59" name="Left Brace 58">
                <a:extLst>
                  <a:ext uri="{FF2B5EF4-FFF2-40B4-BE49-F238E27FC236}">
                    <a16:creationId xmlns:a16="http://schemas.microsoft.com/office/drawing/2014/main" id="{FEF43112-6815-43AC-A2CE-503C0153C614}"/>
                  </a:ext>
                </a:extLst>
              </p:cNvPr>
              <p:cNvSpPr/>
              <p:nvPr/>
            </p:nvSpPr>
            <p:spPr>
              <a:xfrm>
                <a:off x="3983578" y="3268513"/>
                <a:ext cx="206377" cy="1383344"/>
              </a:xfrm>
              <a:prstGeom prst="leftBrace">
                <a:avLst>
                  <a:gd name="adj1" fmla="val 0"/>
                  <a:gd name="adj2" fmla="val 50000"/>
                </a:avLst>
              </a:pr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61" name="TextBox 60">
                <a:extLst>
                  <a:ext uri="{FF2B5EF4-FFF2-40B4-BE49-F238E27FC236}">
                    <a16:creationId xmlns:a16="http://schemas.microsoft.com/office/drawing/2014/main" id="{6E97BA16-8172-46E9-BB80-D7115314465B}"/>
                  </a:ext>
                </a:extLst>
              </p:cNvPr>
              <p:cNvSpPr txBox="1"/>
              <p:nvPr/>
            </p:nvSpPr>
            <p:spPr>
              <a:xfrm>
                <a:off x="3359143" y="3766726"/>
                <a:ext cx="742912" cy="369332"/>
              </a:xfrm>
              <a:prstGeom prst="rect">
                <a:avLst/>
              </a:prstGeom>
              <a:noFill/>
            </p:spPr>
            <p:txBody>
              <a:bodyPr wrap="square" rtlCol="0">
                <a:spAutoFit/>
              </a:bodyPr>
              <a:lstStyle/>
              <a:p>
                <a:pPr algn="ctr"/>
                <a:r>
                  <a:rPr lang="en-US" dirty="0">
                    <a:solidFill>
                      <a:schemeClr val="accent6">
                        <a:lumMod val="40000"/>
                        <a:lumOff val="60000"/>
                      </a:schemeClr>
                    </a:solidFill>
                  </a:rPr>
                  <a:t>low</a:t>
                </a:r>
              </a:p>
            </p:txBody>
          </p:sp>
          <p:sp>
            <p:nvSpPr>
              <p:cNvPr id="62" name="TextBox 61">
                <a:extLst>
                  <a:ext uri="{FF2B5EF4-FFF2-40B4-BE49-F238E27FC236}">
                    <a16:creationId xmlns:a16="http://schemas.microsoft.com/office/drawing/2014/main" id="{A8F77007-4489-4E75-9FAF-5A4873F9FA09}"/>
                  </a:ext>
                </a:extLst>
              </p:cNvPr>
              <p:cNvSpPr txBox="1"/>
              <p:nvPr/>
            </p:nvSpPr>
            <p:spPr>
              <a:xfrm>
                <a:off x="3001049" y="4947457"/>
                <a:ext cx="1023906" cy="369332"/>
              </a:xfrm>
              <a:prstGeom prst="rect">
                <a:avLst/>
              </a:prstGeom>
              <a:noFill/>
            </p:spPr>
            <p:txBody>
              <a:bodyPr wrap="square" rtlCol="0">
                <a:spAutoFit/>
              </a:bodyPr>
              <a:lstStyle/>
              <a:p>
                <a:pPr algn="ctr"/>
                <a:r>
                  <a:rPr lang="en-US" dirty="0">
                    <a:solidFill>
                      <a:schemeClr val="accent6"/>
                    </a:solidFill>
                  </a:rPr>
                  <a:t>medium</a:t>
                </a:r>
              </a:p>
            </p:txBody>
          </p:sp>
          <p:sp>
            <p:nvSpPr>
              <p:cNvPr id="74" name="Left Brace 73">
                <a:extLst>
                  <a:ext uri="{FF2B5EF4-FFF2-40B4-BE49-F238E27FC236}">
                    <a16:creationId xmlns:a16="http://schemas.microsoft.com/office/drawing/2014/main" id="{AC5525B2-8EC1-4398-B2BF-D03E0A508A6C}"/>
                  </a:ext>
                </a:extLst>
              </p:cNvPr>
              <p:cNvSpPr/>
              <p:nvPr/>
            </p:nvSpPr>
            <p:spPr>
              <a:xfrm>
                <a:off x="3970295" y="4665014"/>
                <a:ext cx="230559" cy="961450"/>
              </a:xfrm>
              <a:prstGeom prst="leftBrace">
                <a:avLst>
                  <a:gd name="adj1" fmla="val 0"/>
                  <a:gd name="adj2" fmla="val 50000"/>
                </a:avLst>
              </a:pr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grpSp>
        <p:grpSp>
          <p:nvGrpSpPr>
            <p:cNvPr id="100" name="Group 99">
              <a:extLst>
                <a:ext uri="{FF2B5EF4-FFF2-40B4-BE49-F238E27FC236}">
                  <a16:creationId xmlns:a16="http://schemas.microsoft.com/office/drawing/2014/main" id="{821D29F0-69FC-4EA1-A8E3-ED0778C7B9A2}"/>
                </a:ext>
              </a:extLst>
            </p:cNvPr>
            <p:cNvGrpSpPr/>
            <p:nvPr/>
          </p:nvGrpSpPr>
          <p:grpSpPr>
            <a:xfrm>
              <a:off x="5070132" y="3069450"/>
              <a:ext cx="578720" cy="2596137"/>
              <a:chOff x="11351018" y="2680788"/>
              <a:chExt cx="578720" cy="2596137"/>
            </a:xfrm>
          </p:grpSpPr>
          <p:sp>
            <p:nvSpPr>
              <p:cNvPr id="101" name="Down Arrow 10">
                <a:extLst>
                  <a:ext uri="{FF2B5EF4-FFF2-40B4-BE49-F238E27FC236}">
                    <a16:creationId xmlns:a16="http://schemas.microsoft.com/office/drawing/2014/main" id="{96B22628-C8E4-40B0-B84E-B9095DE4DA03}"/>
                  </a:ext>
                </a:extLst>
              </p:cNvPr>
              <p:cNvSpPr/>
              <p:nvPr/>
            </p:nvSpPr>
            <p:spPr>
              <a:xfrm rot="10800000" flipV="1">
                <a:off x="11351018" y="2827002"/>
                <a:ext cx="255442" cy="2417271"/>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TextBox 101">
                <a:extLst>
                  <a:ext uri="{FF2B5EF4-FFF2-40B4-BE49-F238E27FC236}">
                    <a16:creationId xmlns:a16="http://schemas.microsoft.com/office/drawing/2014/main" id="{82A3DB95-BE06-4EDD-9040-465FE5E12100}"/>
                  </a:ext>
                </a:extLst>
              </p:cNvPr>
              <p:cNvSpPr txBox="1"/>
              <p:nvPr/>
            </p:nvSpPr>
            <p:spPr>
              <a:xfrm rot="16200000">
                <a:off x="10431614" y="3778802"/>
                <a:ext cx="2596137" cy="400110"/>
              </a:xfrm>
              <a:prstGeom prst="rect">
                <a:avLst/>
              </a:prstGeom>
              <a:noFill/>
            </p:spPr>
            <p:txBody>
              <a:bodyPr wrap="square" rtlCol="0">
                <a:spAutoFit/>
              </a:bodyPr>
              <a:lstStyle/>
              <a:p>
                <a:pPr algn="ctr"/>
                <a:r>
                  <a:rPr lang="en-US" sz="2000" b="1" dirty="0"/>
                  <a:t>Risk of thrombosis</a:t>
                </a:r>
              </a:p>
            </p:txBody>
          </p:sp>
        </p:grpSp>
      </p:grpSp>
      <p:cxnSp>
        <p:nvCxnSpPr>
          <p:cNvPr id="22" name="Straight Connector 21">
            <a:extLst>
              <a:ext uri="{FF2B5EF4-FFF2-40B4-BE49-F238E27FC236}">
                <a16:creationId xmlns:a16="http://schemas.microsoft.com/office/drawing/2014/main" id="{3E4AE8D1-41DF-4CAD-BBA3-5B712527FA6A}"/>
              </a:ext>
            </a:extLst>
          </p:cNvPr>
          <p:cNvCxnSpPr>
            <a:cxnSpLocks/>
          </p:cNvCxnSpPr>
          <p:nvPr/>
        </p:nvCxnSpPr>
        <p:spPr>
          <a:xfrm>
            <a:off x="3343608" y="2505641"/>
            <a:ext cx="2439887"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04" name="Straight Connector 103">
            <a:extLst>
              <a:ext uri="{FF2B5EF4-FFF2-40B4-BE49-F238E27FC236}">
                <a16:creationId xmlns:a16="http://schemas.microsoft.com/office/drawing/2014/main" id="{CC910CC2-8C64-460F-85FF-1FE9E6C4E9D2}"/>
              </a:ext>
            </a:extLst>
          </p:cNvPr>
          <p:cNvCxnSpPr>
            <a:cxnSpLocks/>
          </p:cNvCxnSpPr>
          <p:nvPr/>
        </p:nvCxnSpPr>
        <p:spPr>
          <a:xfrm>
            <a:off x="8524855" y="2591756"/>
            <a:ext cx="2439887" cy="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105" name="Rectangle 104">
            <a:extLst>
              <a:ext uri="{FF2B5EF4-FFF2-40B4-BE49-F238E27FC236}">
                <a16:creationId xmlns:a16="http://schemas.microsoft.com/office/drawing/2014/main" id="{C99CBC72-49F7-4639-8D44-A9B8637113F0}"/>
              </a:ext>
            </a:extLst>
          </p:cNvPr>
          <p:cNvSpPr/>
          <p:nvPr/>
        </p:nvSpPr>
        <p:spPr>
          <a:xfrm>
            <a:off x="4285313" y="3733198"/>
            <a:ext cx="649930" cy="47934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5" name="sub-q 1 button">
            <a:hlinkClick r:id="rId13" action="ppaction://hlinksldjump"/>
            <a:extLst>
              <a:ext uri="{FF2B5EF4-FFF2-40B4-BE49-F238E27FC236}">
                <a16:creationId xmlns:a16="http://schemas.microsoft.com/office/drawing/2014/main" id="{897EF0BF-547D-4B55-B439-2BA09BCF5113}"/>
              </a:ext>
            </a:extLst>
          </p:cNvPr>
          <p:cNvSpPr txBox="1"/>
          <p:nvPr/>
        </p:nvSpPr>
        <p:spPr>
          <a:xfrm>
            <a:off x="188535" y="6289886"/>
            <a:ext cx="1905392"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Bonus Resources</a:t>
            </a:r>
          </a:p>
        </p:txBody>
      </p:sp>
    </p:spTree>
    <p:extLst>
      <p:ext uri="{BB962C8B-B14F-4D97-AF65-F5344CB8AC3E}">
        <p14:creationId xmlns:p14="http://schemas.microsoft.com/office/powerpoint/2010/main" val="870464979"/>
      </p:ext>
    </p:extLst>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2"/>
                                        </p:tgtEl>
                                        <p:attrNameLst>
                                          <p:attrName>style.visibility</p:attrName>
                                        </p:attrNameLst>
                                      </p:cBhvr>
                                      <p:to>
                                        <p:strVal val="visible"/>
                                      </p:to>
                                    </p:set>
                                  </p:childTnLst>
                                </p:cTn>
                              </p:par>
                              <p:par>
                                <p:cTn id="21" presetID="1" presetClass="exit" presetSubtype="0" fill="hold" grpId="0" nodeType="withEffect">
                                  <p:stCondLst>
                                    <p:cond delay="0"/>
                                  </p:stCondLst>
                                  <p:childTnLst>
                                    <p:set>
                                      <p:cBhvr>
                                        <p:cTn id="22" dur="1" fill="hold">
                                          <p:stCondLst>
                                            <p:cond delay="0"/>
                                          </p:stCondLst>
                                        </p:cTn>
                                        <p:tgtEl>
                                          <p:spTgt spid="3">
                                            <p:txEl>
                                              <p:pRg st="0" end="0"/>
                                            </p:txEl>
                                          </p:spTgt>
                                        </p:tgtEl>
                                        <p:attrNameLst>
                                          <p:attrName>style.visibility</p:attrName>
                                        </p:attrNameLst>
                                      </p:cBhvr>
                                      <p:to>
                                        <p:strVal val="hidden"/>
                                      </p:to>
                                    </p:set>
                                  </p:childTnLst>
                                </p:cTn>
                              </p:par>
                              <p:par>
                                <p:cTn id="23" presetID="1" presetClass="exit" presetSubtype="0" fill="hold" grpId="0" nodeType="withEffect">
                                  <p:stCondLst>
                                    <p:cond delay="0"/>
                                  </p:stCondLst>
                                  <p:childTnLst>
                                    <p:set>
                                      <p:cBhvr>
                                        <p:cTn id="24" dur="1" fill="hold">
                                          <p:stCondLst>
                                            <p:cond delay="0"/>
                                          </p:stCondLst>
                                        </p:cTn>
                                        <p:tgtEl>
                                          <p:spTgt spid="3">
                                            <p:bg/>
                                          </p:spTgt>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49"/>
                                        </p:tgtEl>
                                        <p:attrNameLst>
                                          <p:attrName>style.visibility</p:attrName>
                                        </p:attrNameLst>
                                      </p:cBhvr>
                                      <p:to>
                                        <p:strVal val="hidden"/>
                                      </p:to>
                                    </p:set>
                                  </p:childTnLst>
                                </p:cTn>
                              </p:par>
                            </p:childTnLst>
                          </p:cTn>
                        </p:par>
                      </p:childTnLst>
                    </p:cTn>
                  </p:par>
                </p:childTnLst>
              </p:cTn>
              <p:nextCondLst>
                <p:cond evt="onClick" delay="0">
                  <p:tgtEl>
                    <p:spTgt spid="3"/>
                  </p:tgtEl>
                </p:cond>
              </p:nextCondLst>
            </p:seq>
            <p:seq concurrent="1" nextAc="seek">
              <p:cTn id="27" restart="whenNotActive" fill="hold" evtFilter="cancelBubble" nodeType="interactiveSeq">
                <p:stCondLst>
                  <p:cond evt="onClick" delay="0">
                    <p:tgtEl>
                      <p:spTgt spid="5"/>
                    </p:tgtEl>
                  </p:cond>
                </p:stCondLst>
                <p:endSync evt="end" delay="0">
                  <p:rtn val="all"/>
                </p:endSync>
                <p:childTnLst>
                  <p:par>
                    <p:cTn id="28" fill="hold">
                      <p:stCondLst>
                        <p:cond delay="0"/>
                      </p:stCondLst>
                      <p:childTnLst>
                        <p:par>
                          <p:cTn id="29" fill="hold">
                            <p:stCondLst>
                              <p:cond delay="0"/>
                            </p:stCondLst>
                            <p:childTnLst>
                              <p:par>
                                <p:cTn id="30" presetID="1" presetClass="entr" presetSubtype="0" fill="hold" grpId="0" nodeType="withEffect">
                                  <p:stCondLst>
                                    <p:cond delay="0"/>
                                  </p:stCondLst>
                                  <p:childTnLst>
                                    <p:set>
                                      <p:cBhvr>
                                        <p:cTn id="31" dur="1" fill="hold">
                                          <p:stCondLst>
                                            <p:cond delay="0"/>
                                          </p:stCondLst>
                                        </p:cTn>
                                        <p:tgtEl>
                                          <p:spTgt spid="93"/>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6"/>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75"/>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childTnLst>
                                </p:cTn>
                              </p:par>
                              <p:par>
                                <p:cTn id="38" presetID="1" presetClass="exit" presetSubtype="0" fill="hold" grpId="0" nodeType="withEffect">
                                  <p:stCondLst>
                                    <p:cond delay="0"/>
                                  </p:stCondLst>
                                  <p:childTnLst>
                                    <p:set>
                                      <p:cBhvr>
                                        <p:cTn id="39" dur="1" fill="hold">
                                          <p:stCondLst>
                                            <p:cond delay="0"/>
                                          </p:stCondLst>
                                        </p:cTn>
                                        <p:tgtEl>
                                          <p:spTgt spid="5">
                                            <p:txEl>
                                              <p:pRg st="0" end="0"/>
                                            </p:txEl>
                                          </p:spTgt>
                                        </p:tgtEl>
                                        <p:attrNameLst>
                                          <p:attrName>style.visibility</p:attrName>
                                        </p:attrNameLst>
                                      </p:cBhvr>
                                      <p:to>
                                        <p:strVal val="hidden"/>
                                      </p:to>
                                    </p:set>
                                  </p:childTnLst>
                                </p:cTn>
                              </p:par>
                              <p:par>
                                <p:cTn id="40" presetID="1" presetClass="exit" presetSubtype="0" fill="hold" grpId="0" nodeType="withEffect">
                                  <p:stCondLst>
                                    <p:cond delay="0"/>
                                  </p:stCondLst>
                                  <p:childTnLst>
                                    <p:set>
                                      <p:cBhvr>
                                        <p:cTn id="41" dur="1" fill="hold">
                                          <p:stCondLst>
                                            <p:cond delay="0"/>
                                          </p:stCondLst>
                                        </p:cTn>
                                        <p:tgtEl>
                                          <p:spTgt spid="5">
                                            <p:bg/>
                                          </p:spTgt>
                                        </p:tgtEl>
                                        <p:attrNameLst>
                                          <p:attrName>style.visibility</p:attrName>
                                        </p:attrNameLst>
                                      </p:cBhvr>
                                      <p:to>
                                        <p:strVal val="hidden"/>
                                      </p:to>
                                    </p:set>
                                  </p:childTnLst>
                                </p:cTn>
                              </p:par>
                              <p:par>
                                <p:cTn id="42" presetID="1" presetClass="exit" presetSubtype="0" fill="hold" nodeType="withEffect">
                                  <p:stCondLst>
                                    <p:cond delay="0"/>
                                  </p:stCondLst>
                                  <p:childTnLst>
                                    <p:set>
                                      <p:cBhvr>
                                        <p:cTn id="43" dur="1" fill="hold">
                                          <p:stCondLst>
                                            <p:cond delay="0"/>
                                          </p:stCondLst>
                                        </p:cTn>
                                        <p:tgtEl>
                                          <p:spTgt spid="50"/>
                                        </p:tgtEl>
                                        <p:attrNameLst>
                                          <p:attrName>style.visibility</p:attrName>
                                        </p:attrNameLst>
                                      </p:cBhvr>
                                      <p:to>
                                        <p:strVal val="hidden"/>
                                      </p:to>
                                    </p:set>
                                  </p:childTnLst>
                                </p:cTn>
                              </p:par>
                              <p:par>
                                <p:cTn id="44" presetID="1" presetClass="entr" presetSubtype="0" fill="hold" grpId="0" nodeType="withEffect">
                                  <p:stCondLst>
                                    <p:cond delay="0"/>
                                  </p:stCondLst>
                                  <p:childTnLst>
                                    <p:set>
                                      <p:cBhvr>
                                        <p:cTn id="45" dur="1" fill="hold">
                                          <p:stCondLst>
                                            <p:cond delay="0"/>
                                          </p:stCondLst>
                                        </p:cTn>
                                        <p:tgtEl>
                                          <p:spTgt spid="13"/>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92"/>
                                        </p:tgtEl>
                                        <p:attrNameLst>
                                          <p:attrName>style.visibility</p:attrName>
                                        </p:attrNameLst>
                                      </p:cBhvr>
                                      <p:to>
                                        <p:strVal val="visible"/>
                                      </p:to>
                                    </p:set>
                                  </p:childTnLst>
                                </p:cTn>
                              </p:par>
                            </p:childTnLst>
                          </p:cTn>
                        </p:par>
                      </p:childTnLst>
                    </p:cTn>
                  </p:par>
                </p:childTnLst>
              </p:cTn>
              <p:nextCondLst>
                <p:cond evt="onClick" delay="0">
                  <p:tgtEl>
                    <p:spTgt spid="5"/>
                  </p:tgtEl>
                </p:cond>
              </p:nextCondLst>
            </p:seq>
            <p:seq concurrent="1" nextAc="seek">
              <p:cTn id="48" restart="whenNotActive" fill="hold" evtFilter="cancelBubble" nodeType="interactiveSeq">
                <p:stCondLst>
                  <p:cond evt="onClick" delay="0">
                    <p:tgtEl>
                      <p:spTgt spid="96"/>
                    </p:tgtEl>
                  </p:cond>
                </p:stCondLst>
                <p:endSync evt="end" delay="0">
                  <p:rtn val="all"/>
                </p:endSync>
                <p:childTnLst>
                  <p:par>
                    <p:cTn id="49" fill="hold">
                      <p:stCondLst>
                        <p:cond delay="0"/>
                      </p:stCondLst>
                      <p:childTnLst>
                        <p:par>
                          <p:cTn id="50" fill="hold">
                            <p:stCondLst>
                              <p:cond delay="0"/>
                            </p:stCondLst>
                            <p:childTnLst>
                              <p:par>
                                <p:cTn id="51" presetID="1" presetClass="exit" presetSubtype="0" fill="hold" grpId="0" nodeType="withEffect">
                                  <p:stCondLst>
                                    <p:cond delay="0"/>
                                  </p:stCondLst>
                                  <p:childTnLst>
                                    <p:set>
                                      <p:cBhvr>
                                        <p:cTn id="52" dur="1" fill="hold">
                                          <p:stCondLst>
                                            <p:cond delay="0"/>
                                          </p:stCondLst>
                                        </p:cTn>
                                        <p:tgtEl>
                                          <p:spTgt spid="96"/>
                                        </p:tgtEl>
                                        <p:attrNameLst>
                                          <p:attrName>style.visibility</p:attrName>
                                        </p:attrNameLst>
                                      </p:cBhvr>
                                      <p:to>
                                        <p:strVal val="hidden"/>
                                      </p:to>
                                    </p:set>
                                  </p:childTnLst>
                                </p:cTn>
                              </p:par>
                              <p:par>
                                <p:cTn id="53" presetID="1" presetClass="entr" presetSubtype="0" fill="hold" grpId="0" nodeType="withEffect">
                                  <p:stCondLst>
                                    <p:cond delay="0"/>
                                  </p:stCondLst>
                                  <p:childTnLst>
                                    <p:set>
                                      <p:cBhvr>
                                        <p:cTn id="54" dur="1" fill="hold">
                                          <p:stCondLst>
                                            <p:cond delay="0"/>
                                          </p:stCondLst>
                                        </p:cTn>
                                        <p:tgtEl>
                                          <p:spTgt spid="105"/>
                                        </p:tgtEl>
                                        <p:attrNameLst>
                                          <p:attrName>style.visibility</p:attrName>
                                        </p:attrNameLst>
                                      </p:cBhvr>
                                      <p:to>
                                        <p:strVal val="visible"/>
                                      </p:to>
                                    </p:set>
                                  </p:childTnLst>
                                </p:cTn>
                              </p:par>
                              <p:par>
                                <p:cTn id="55" presetID="1" presetClass="exit" presetSubtype="0" fill="hold" nodeType="withEffect">
                                  <p:stCondLst>
                                    <p:cond delay="0"/>
                                  </p:stCondLst>
                                  <p:childTnLst>
                                    <p:set>
                                      <p:cBhvr>
                                        <p:cTn id="56" dur="1" fill="hold">
                                          <p:stCondLst>
                                            <p:cond delay="0"/>
                                          </p:stCondLst>
                                        </p:cTn>
                                        <p:tgtEl>
                                          <p:spTgt spid="97"/>
                                        </p:tgtEl>
                                        <p:attrNameLst>
                                          <p:attrName>style.visibility</p:attrName>
                                        </p:attrNameLst>
                                      </p:cBhvr>
                                      <p:to>
                                        <p:strVal val="hidden"/>
                                      </p:to>
                                    </p:set>
                                  </p:childTnLst>
                                </p:cTn>
                              </p:par>
                              <p:par>
                                <p:cTn id="57" presetID="1" presetClass="entr" presetSubtype="0"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childTnLst>
                                </p:cTn>
                              </p:par>
                            </p:childTnLst>
                          </p:cTn>
                        </p:par>
                      </p:childTnLst>
                    </p:cTn>
                  </p:par>
                </p:childTnLst>
              </p:cTn>
              <p:nextCondLst>
                <p:cond evt="onClick" delay="0">
                  <p:tgtEl>
                    <p:spTgt spid="96"/>
                  </p:tgtEl>
                </p:cond>
              </p:nextCondLst>
            </p:seq>
          </p:childTnLst>
        </p:cTn>
      </p:par>
    </p:tnLst>
    <p:bldLst>
      <p:bldP spid="3" grpId="0" uiExpand="1" build="p" animBg="1"/>
      <p:bldP spid="4" grpId="0" build="p"/>
      <p:bldP spid="5" grpId="0" build="p" animBg="1"/>
      <p:bldP spid="12" grpId="0" animBg="1"/>
      <p:bldP spid="13" grpId="0"/>
      <p:bldP spid="16" grpId="0" animBg="1"/>
      <p:bldP spid="72" grpId="0" animBg="1"/>
      <p:bldP spid="93" grpId="0" animBg="1"/>
      <p:bldP spid="96" grpId="0" animBg="1"/>
      <p:bldP spid="7" grpId="0"/>
      <p:bldP spid="75" grpId="0"/>
      <p:bldP spid="8" grpId="0"/>
      <p:bldP spid="82" grpId="0"/>
      <p:bldP spid="10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4" descr="30,942 Human Heart Illustrations &amp;amp; Clip Art - iStock">
            <a:extLst>
              <a:ext uri="{FF2B5EF4-FFF2-40B4-BE49-F238E27FC236}">
                <a16:creationId xmlns:a16="http://schemas.microsoft.com/office/drawing/2014/main" id="{48D33BEB-DAC5-6A49-BD32-DD79BEFB8F02}"/>
              </a:ext>
            </a:extLst>
          </p:cNvPr>
          <p:cNvSpPr>
            <a:spLocks noChangeAspect="1" noChangeArrowheads="1"/>
          </p:cNvSpPr>
          <p:nvPr/>
        </p:nvSpPr>
        <p:spPr bwMode="auto">
          <a:xfrm>
            <a:off x="10414670" y="2944276"/>
            <a:ext cx="238487" cy="23848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5" name="breast cancer">
            <a:extLst>
              <a:ext uri="{FF2B5EF4-FFF2-40B4-BE49-F238E27FC236}">
                <a16:creationId xmlns:a16="http://schemas.microsoft.com/office/drawing/2014/main" id="{708A6338-2A48-7642-AD8D-AF6D96521C2A}"/>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rot="10800000" flipV="1">
            <a:off x="4907601" y="4759019"/>
            <a:ext cx="897843" cy="1379314"/>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pic>
      <p:pic>
        <p:nvPicPr>
          <p:cNvPr id="8" name="smoking" descr="Graphical user interface, application&#10;&#10;Description automatically generated">
            <a:extLst>
              <a:ext uri="{FF2B5EF4-FFF2-40B4-BE49-F238E27FC236}">
                <a16:creationId xmlns:a16="http://schemas.microsoft.com/office/drawing/2014/main" id="{694E002B-BFE7-4198-BC51-F448617FB37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232650" y="1967766"/>
            <a:ext cx="1570080" cy="1244347"/>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pic>
      <p:pic>
        <p:nvPicPr>
          <p:cNvPr id="26" name="vte" descr="A picture containing text, vector graphics&#10;&#10;Description automatically generated">
            <a:extLst>
              <a:ext uri="{FF2B5EF4-FFF2-40B4-BE49-F238E27FC236}">
                <a16:creationId xmlns:a16="http://schemas.microsoft.com/office/drawing/2014/main" id="{984E80FD-808B-4999-A6E7-B54245CA44BD}"/>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9440012" y="2012765"/>
            <a:ext cx="1713354" cy="1199348"/>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pic>
      <p:pic>
        <p:nvPicPr>
          <p:cNvPr id="49" name="migraine" descr="A picture containing text, sign, outdoor, vector graphics&#10;&#10;Description automatically generated">
            <a:extLst>
              <a:ext uri="{FF2B5EF4-FFF2-40B4-BE49-F238E27FC236}">
                <a16:creationId xmlns:a16="http://schemas.microsoft.com/office/drawing/2014/main" id="{DB4160AC-B8E3-40A6-9746-E83318E4AAFF}"/>
              </a:ext>
            </a:extLst>
          </p:cNvPr>
          <p:cNvPicPr>
            <a:picLocks noChangeAspect="1"/>
          </p:cNvPicPr>
          <p:nvPr/>
        </p:nvPicPr>
        <p:blipFill>
          <a:blip r:embed="rId6" cstate="print">
            <a:extLst>
              <a:ext uri="{28A0092B-C50C-407E-A947-70E740481C1C}">
                <a14:useLocalDpi xmlns:a14="http://schemas.microsoft.com/office/drawing/2010/main"/>
              </a:ext>
              <a:ext uri="{837473B0-CC2E-450A-ABE3-18F120FF3D39}">
                <a1611:picAttrSrcUrl xmlns:a1611="http://schemas.microsoft.com/office/drawing/2016/11/main" r:id="rId7"/>
              </a:ext>
            </a:extLst>
          </a:blip>
          <a:stretch>
            <a:fillRect/>
          </a:stretch>
        </p:blipFill>
        <p:spPr>
          <a:xfrm>
            <a:off x="6497038" y="1793240"/>
            <a:ext cx="1421094" cy="1418873"/>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pic>
      <p:sp>
        <p:nvSpPr>
          <p:cNvPr id="3" name="TextBox 2">
            <a:extLst>
              <a:ext uri="{FF2B5EF4-FFF2-40B4-BE49-F238E27FC236}">
                <a16:creationId xmlns:a16="http://schemas.microsoft.com/office/drawing/2014/main" id="{63D123FE-D342-44F9-B949-807C07537C5F}"/>
              </a:ext>
            </a:extLst>
          </p:cNvPr>
          <p:cNvSpPr txBox="1"/>
          <p:nvPr/>
        </p:nvSpPr>
        <p:spPr>
          <a:xfrm>
            <a:off x="3141134" y="1321435"/>
            <a:ext cx="1811996" cy="646331"/>
          </a:xfrm>
          <a:prstGeom prst="rect">
            <a:avLst/>
          </a:prstGeom>
          <a:noFill/>
        </p:spPr>
        <p:txBody>
          <a:bodyPr wrap="square" rtlCol="0">
            <a:spAutoFit/>
          </a:bodyPr>
          <a:lstStyle/>
          <a:p>
            <a:pPr algn="ctr"/>
            <a:r>
              <a:rPr lang="en-US" b="1" dirty="0"/>
              <a:t>Smoking</a:t>
            </a:r>
          </a:p>
          <a:p>
            <a:pPr algn="ctr"/>
            <a:r>
              <a:rPr lang="en-US" b="1" dirty="0"/>
              <a:t>Age &gt;35</a:t>
            </a:r>
          </a:p>
        </p:txBody>
      </p:sp>
      <p:sp>
        <p:nvSpPr>
          <p:cNvPr id="4" name="TextBox 3">
            <a:extLst>
              <a:ext uri="{FF2B5EF4-FFF2-40B4-BE49-F238E27FC236}">
                <a16:creationId xmlns:a16="http://schemas.microsoft.com/office/drawing/2014/main" id="{55887FAC-E9A3-4155-9EB3-DC5147A08444}"/>
              </a:ext>
            </a:extLst>
          </p:cNvPr>
          <p:cNvSpPr txBox="1"/>
          <p:nvPr/>
        </p:nvSpPr>
        <p:spPr>
          <a:xfrm>
            <a:off x="6161632" y="1321435"/>
            <a:ext cx="2118978" cy="369332"/>
          </a:xfrm>
          <a:prstGeom prst="rect">
            <a:avLst/>
          </a:prstGeom>
          <a:noFill/>
        </p:spPr>
        <p:txBody>
          <a:bodyPr wrap="none" rtlCol="0">
            <a:spAutoFit/>
          </a:bodyPr>
          <a:lstStyle/>
          <a:p>
            <a:r>
              <a:rPr lang="en-US" b="1" dirty="0"/>
              <a:t>Migraines with Aura</a:t>
            </a:r>
          </a:p>
        </p:txBody>
      </p:sp>
      <p:sp>
        <p:nvSpPr>
          <p:cNvPr id="28" name="TextBox 27">
            <a:extLst>
              <a:ext uri="{FF2B5EF4-FFF2-40B4-BE49-F238E27FC236}">
                <a16:creationId xmlns:a16="http://schemas.microsoft.com/office/drawing/2014/main" id="{CC2ADB22-3595-4A06-BA91-82B68FB9D26F}"/>
              </a:ext>
            </a:extLst>
          </p:cNvPr>
          <p:cNvSpPr txBox="1"/>
          <p:nvPr/>
        </p:nvSpPr>
        <p:spPr>
          <a:xfrm>
            <a:off x="9303731" y="1321435"/>
            <a:ext cx="1935115" cy="646331"/>
          </a:xfrm>
          <a:prstGeom prst="rect">
            <a:avLst/>
          </a:prstGeom>
          <a:noFill/>
        </p:spPr>
        <p:txBody>
          <a:bodyPr wrap="square" rtlCol="0">
            <a:spAutoFit/>
          </a:bodyPr>
          <a:lstStyle/>
          <a:p>
            <a:pPr algn="ctr"/>
            <a:r>
              <a:rPr lang="en-US" b="1" dirty="0"/>
              <a:t>Personal history of VTE/ CVD/ CVA</a:t>
            </a:r>
          </a:p>
        </p:txBody>
      </p:sp>
      <p:sp>
        <p:nvSpPr>
          <p:cNvPr id="29" name="TextBox 28">
            <a:extLst>
              <a:ext uri="{FF2B5EF4-FFF2-40B4-BE49-F238E27FC236}">
                <a16:creationId xmlns:a16="http://schemas.microsoft.com/office/drawing/2014/main" id="{B9DFB3BB-83E7-4704-BB64-38FDB602FF02}"/>
              </a:ext>
            </a:extLst>
          </p:cNvPr>
          <p:cNvSpPr txBox="1"/>
          <p:nvPr/>
        </p:nvSpPr>
        <p:spPr>
          <a:xfrm>
            <a:off x="4075289" y="4363382"/>
            <a:ext cx="2484078" cy="369332"/>
          </a:xfrm>
          <a:prstGeom prst="rect">
            <a:avLst/>
          </a:prstGeom>
          <a:noFill/>
        </p:spPr>
        <p:txBody>
          <a:bodyPr wrap="none" rtlCol="0">
            <a:spAutoFit/>
          </a:bodyPr>
          <a:lstStyle/>
          <a:p>
            <a:pPr algn="ctr"/>
            <a:r>
              <a:rPr lang="en-US" b="1" dirty="0"/>
              <a:t>History of Breast Cancer</a:t>
            </a:r>
          </a:p>
        </p:txBody>
      </p:sp>
      <p:sp>
        <p:nvSpPr>
          <p:cNvPr id="32" name="TextBox 31">
            <a:extLst>
              <a:ext uri="{FF2B5EF4-FFF2-40B4-BE49-F238E27FC236}">
                <a16:creationId xmlns:a16="http://schemas.microsoft.com/office/drawing/2014/main" id="{D157E32B-7992-41AE-9A0B-3A3D591F935B}"/>
              </a:ext>
            </a:extLst>
          </p:cNvPr>
          <p:cNvSpPr txBox="1"/>
          <p:nvPr/>
        </p:nvSpPr>
        <p:spPr>
          <a:xfrm>
            <a:off x="3684636" y="85347"/>
            <a:ext cx="7131434" cy="954107"/>
          </a:xfrm>
          <a:prstGeom prst="rect">
            <a:avLst/>
          </a:prstGeom>
          <a:noFill/>
        </p:spPr>
        <p:txBody>
          <a:bodyPr wrap="square" rtlCol="0">
            <a:spAutoFit/>
          </a:bodyPr>
          <a:lstStyle/>
          <a:p>
            <a:pPr algn="ctr"/>
            <a:r>
              <a:rPr lang="en-US" sz="2800" b="1" dirty="0"/>
              <a:t>Which methods are contraindicated with the following conditions?</a:t>
            </a:r>
          </a:p>
        </p:txBody>
      </p:sp>
      <p:pic>
        <p:nvPicPr>
          <p:cNvPr id="36" name="cervical and uterine">
            <a:extLst>
              <a:ext uri="{FF2B5EF4-FFF2-40B4-BE49-F238E27FC236}">
                <a16:creationId xmlns:a16="http://schemas.microsoft.com/office/drawing/2014/main" id="{27CC9AB5-7123-4D1B-A87B-F9D175D9FE64}"/>
              </a:ext>
            </a:extLst>
          </p:cNvPr>
          <p:cNvPicPr>
            <a:picLocks noChangeAspect="1"/>
          </p:cNvPicPr>
          <p:nvPr/>
        </p:nvPicPr>
        <p:blipFill rotWithShape="1">
          <a:blip r:embed="rId8" cstate="print">
            <a:extLst>
              <a:ext uri="{28A0092B-C50C-407E-A947-70E740481C1C}">
                <a14:useLocalDpi xmlns:a14="http://schemas.microsoft.com/office/drawing/2010/main"/>
              </a:ext>
            </a:extLst>
          </a:blip>
          <a:srcRect/>
          <a:stretch/>
        </p:blipFill>
        <p:spPr>
          <a:xfrm>
            <a:off x="8280610" y="5018392"/>
            <a:ext cx="1539016" cy="1199348"/>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pic>
      <p:sp>
        <p:nvSpPr>
          <p:cNvPr id="37" name="TextBox 36">
            <a:extLst>
              <a:ext uri="{FF2B5EF4-FFF2-40B4-BE49-F238E27FC236}">
                <a16:creationId xmlns:a16="http://schemas.microsoft.com/office/drawing/2014/main" id="{3A3A7458-2B23-4210-BAEF-95FBC29E4768}"/>
              </a:ext>
            </a:extLst>
          </p:cNvPr>
          <p:cNvSpPr txBox="1"/>
          <p:nvPr/>
        </p:nvSpPr>
        <p:spPr>
          <a:xfrm>
            <a:off x="7123573" y="4313010"/>
            <a:ext cx="3840892" cy="646331"/>
          </a:xfrm>
          <a:prstGeom prst="rect">
            <a:avLst/>
          </a:prstGeom>
          <a:noFill/>
        </p:spPr>
        <p:txBody>
          <a:bodyPr wrap="square" rtlCol="0">
            <a:spAutoFit/>
          </a:bodyPr>
          <a:lstStyle/>
          <a:p>
            <a:pPr algn="ctr"/>
            <a:r>
              <a:rPr lang="en-US" b="1" dirty="0"/>
              <a:t>Cervical or uterine cancer or </a:t>
            </a:r>
          </a:p>
          <a:p>
            <a:pPr algn="ctr"/>
            <a:r>
              <a:rPr lang="en-US" b="1" dirty="0"/>
              <a:t>anatomic abnormalities or active PID</a:t>
            </a:r>
          </a:p>
        </p:txBody>
      </p:sp>
      <p:sp>
        <p:nvSpPr>
          <p:cNvPr id="5" name="TextBox 4">
            <a:extLst>
              <a:ext uri="{FF2B5EF4-FFF2-40B4-BE49-F238E27FC236}">
                <a16:creationId xmlns:a16="http://schemas.microsoft.com/office/drawing/2014/main" id="{88F60919-5648-4000-9515-5D1DBE35E725}"/>
              </a:ext>
            </a:extLst>
          </p:cNvPr>
          <p:cNvSpPr txBox="1"/>
          <p:nvPr/>
        </p:nvSpPr>
        <p:spPr>
          <a:xfrm>
            <a:off x="3378455" y="6257224"/>
            <a:ext cx="4004609" cy="369332"/>
          </a:xfrm>
          <a:prstGeom prst="rect">
            <a:avLst/>
          </a:prstGeom>
          <a:noFill/>
        </p:spPr>
        <p:txBody>
          <a:bodyPr wrap="square" rtlCol="0">
            <a:spAutoFit/>
          </a:bodyPr>
          <a:lstStyle/>
          <a:p>
            <a:pPr algn="ctr"/>
            <a:r>
              <a:rPr lang="en-US" dirty="0"/>
              <a:t>Avoid ANY hormone-based therapies</a:t>
            </a:r>
          </a:p>
        </p:txBody>
      </p:sp>
      <p:sp>
        <p:nvSpPr>
          <p:cNvPr id="38" name="TextBox 37">
            <a:extLst>
              <a:ext uri="{FF2B5EF4-FFF2-40B4-BE49-F238E27FC236}">
                <a16:creationId xmlns:a16="http://schemas.microsoft.com/office/drawing/2014/main" id="{854E6DE6-8CC6-4F1B-A43E-C3FF05B1C20D}"/>
              </a:ext>
            </a:extLst>
          </p:cNvPr>
          <p:cNvSpPr txBox="1"/>
          <p:nvPr/>
        </p:nvSpPr>
        <p:spPr>
          <a:xfrm>
            <a:off x="8039848" y="6303571"/>
            <a:ext cx="2080737" cy="369332"/>
          </a:xfrm>
          <a:prstGeom prst="rect">
            <a:avLst/>
          </a:prstGeom>
          <a:noFill/>
        </p:spPr>
        <p:txBody>
          <a:bodyPr wrap="square" rtlCol="0">
            <a:spAutoFit/>
          </a:bodyPr>
          <a:lstStyle/>
          <a:p>
            <a:pPr algn="ctr"/>
            <a:r>
              <a:rPr lang="en-US" dirty="0"/>
              <a:t>Avoid IUDs</a:t>
            </a:r>
          </a:p>
        </p:txBody>
      </p:sp>
      <p:sp>
        <p:nvSpPr>
          <p:cNvPr id="41" name="TextBox 40">
            <a:extLst>
              <a:ext uri="{FF2B5EF4-FFF2-40B4-BE49-F238E27FC236}">
                <a16:creationId xmlns:a16="http://schemas.microsoft.com/office/drawing/2014/main" id="{F4BA23C1-85DD-40FA-81FB-C670CC6F070C}"/>
              </a:ext>
            </a:extLst>
          </p:cNvPr>
          <p:cNvSpPr txBox="1"/>
          <p:nvPr/>
        </p:nvSpPr>
        <p:spPr>
          <a:xfrm>
            <a:off x="6004481" y="3306923"/>
            <a:ext cx="2484078" cy="923330"/>
          </a:xfrm>
          <a:prstGeom prst="rect">
            <a:avLst/>
          </a:prstGeom>
          <a:noFill/>
        </p:spPr>
        <p:txBody>
          <a:bodyPr wrap="square" rtlCol="0">
            <a:spAutoFit/>
          </a:bodyPr>
          <a:lstStyle/>
          <a:p>
            <a:pPr algn="ctr"/>
            <a:r>
              <a:rPr lang="en-US" dirty="0"/>
              <a:t>Avoid Combined Hormone Contraception</a:t>
            </a:r>
            <a:br>
              <a:rPr lang="en-US" dirty="0"/>
            </a:br>
            <a:r>
              <a:rPr lang="en-US" dirty="0"/>
              <a:t>(Pill, patch or ring)</a:t>
            </a:r>
          </a:p>
        </p:txBody>
      </p:sp>
      <p:sp>
        <p:nvSpPr>
          <p:cNvPr id="42" name="TextBox 41">
            <a:extLst>
              <a:ext uri="{FF2B5EF4-FFF2-40B4-BE49-F238E27FC236}">
                <a16:creationId xmlns:a16="http://schemas.microsoft.com/office/drawing/2014/main" id="{D313ECDC-753A-45C6-97A3-3E274EBD1860}"/>
              </a:ext>
            </a:extLst>
          </p:cNvPr>
          <p:cNvSpPr txBox="1"/>
          <p:nvPr/>
        </p:nvSpPr>
        <p:spPr>
          <a:xfrm>
            <a:off x="9080216" y="3306923"/>
            <a:ext cx="2552363" cy="923330"/>
          </a:xfrm>
          <a:prstGeom prst="rect">
            <a:avLst/>
          </a:prstGeom>
          <a:noFill/>
        </p:spPr>
        <p:txBody>
          <a:bodyPr wrap="square" rtlCol="0">
            <a:spAutoFit/>
          </a:bodyPr>
          <a:lstStyle/>
          <a:p>
            <a:pPr algn="ctr"/>
            <a:r>
              <a:rPr lang="en-US" dirty="0"/>
              <a:t>Avoid Combined Hormone Contraception</a:t>
            </a:r>
            <a:br>
              <a:rPr lang="en-US" dirty="0"/>
            </a:br>
            <a:r>
              <a:rPr lang="en-US" dirty="0"/>
              <a:t>(Pill, patch or ring)</a:t>
            </a:r>
          </a:p>
        </p:txBody>
      </p:sp>
      <p:sp>
        <p:nvSpPr>
          <p:cNvPr id="43" name="TextBox 42">
            <a:extLst>
              <a:ext uri="{FF2B5EF4-FFF2-40B4-BE49-F238E27FC236}">
                <a16:creationId xmlns:a16="http://schemas.microsoft.com/office/drawing/2014/main" id="{0191ADA2-E66D-41F6-87E8-7894084C0204}"/>
              </a:ext>
            </a:extLst>
          </p:cNvPr>
          <p:cNvSpPr txBox="1"/>
          <p:nvPr/>
        </p:nvSpPr>
        <p:spPr>
          <a:xfrm>
            <a:off x="2813154" y="3308804"/>
            <a:ext cx="2484078" cy="923330"/>
          </a:xfrm>
          <a:prstGeom prst="rect">
            <a:avLst/>
          </a:prstGeom>
          <a:noFill/>
        </p:spPr>
        <p:txBody>
          <a:bodyPr wrap="square" rtlCol="0">
            <a:spAutoFit/>
          </a:bodyPr>
          <a:lstStyle/>
          <a:p>
            <a:pPr algn="ctr"/>
            <a:r>
              <a:rPr lang="en-US" dirty="0"/>
              <a:t>Avoid Combined Hormone Contraception</a:t>
            </a:r>
            <a:br>
              <a:rPr lang="en-US" dirty="0"/>
            </a:br>
            <a:r>
              <a:rPr lang="en-US" dirty="0"/>
              <a:t>(Pill, patch or ring)</a:t>
            </a:r>
          </a:p>
        </p:txBody>
      </p:sp>
      <p:pic>
        <p:nvPicPr>
          <p:cNvPr id="48" name="Graphic 47" descr="Cursor with solid fill">
            <a:extLst>
              <a:ext uri="{FF2B5EF4-FFF2-40B4-BE49-F238E27FC236}">
                <a16:creationId xmlns:a16="http://schemas.microsoft.com/office/drawing/2014/main" id="{2DFFB4A1-C788-4E62-84A1-91BE47AC8E26}"/>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4616119" y="3037416"/>
            <a:ext cx="296010" cy="301752"/>
          </a:xfrm>
          <a:prstGeom prst="rect">
            <a:avLst/>
          </a:prstGeom>
        </p:spPr>
      </p:pic>
      <p:pic>
        <p:nvPicPr>
          <p:cNvPr id="51" name="Graphic 50" descr="Cursor with solid fill">
            <a:extLst>
              <a:ext uri="{FF2B5EF4-FFF2-40B4-BE49-F238E27FC236}">
                <a16:creationId xmlns:a16="http://schemas.microsoft.com/office/drawing/2014/main" id="{B3D6A732-70DD-42E9-A552-5D51D4851906}"/>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7724293" y="3044425"/>
            <a:ext cx="296010" cy="301752"/>
          </a:xfrm>
          <a:prstGeom prst="rect">
            <a:avLst/>
          </a:prstGeom>
        </p:spPr>
      </p:pic>
      <p:pic>
        <p:nvPicPr>
          <p:cNvPr id="52" name="Graphic 51" descr="Cursor with solid fill">
            <a:extLst>
              <a:ext uri="{FF2B5EF4-FFF2-40B4-BE49-F238E27FC236}">
                <a16:creationId xmlns:a16="http://schemas.microsoft.com/office/drawing/2014/main" id="{CB064E7A-5D4D-4A82-B2F5-C7224085F817}"/>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1002285" y="3040879"/>
            <a:ext cx="296010" cy="301752"/>
          </a:xfrm>
          <a:prstGeom prst="rect">
            <a:avLst/>
          </a:prstGeom>
        </p:spPr>
      </p:pic>
      <p:pic>
        <p:nvPicPr>
          <p:cNvPr id="53" name="Graphic 52" descr="Cursor with solid fill">
            <a:extLst>
              <a:ext uri="{FF2B5EF4-FFF2-40B4-BE49-F238E27FC236}">
                <a16:creationId xmlns:a16="http://schemas.microsoft.com/office/drawing/2014/main" id="{33BA6A6C-D1C7-4E73-897D-E2184F79EF68}"/>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642604" y="5993847"/>
            <a:ext cx="296010" cy="301752"/>
          </a:xfrm>
          <a:prstGeom prst="rect">
            <a:avLst/>
          </a:prstGeom>
        </p:spPr>
      </p:pic>
      <p:pic>
        <p:nvPicPr>
          <p:cNvPr id="54" name="Graphic 53" descr="Cursor with solid fill">
            <a:extLst>
              <a:ext uri="{FF2B5EF4-FFF2-40B4-BE49-F238E27FC236}">
                <a16:creationId xmlns:a16="http://schemas.microsoft.com/office/drawing/2014/main" id="{935FF7BC-BC7D-47AB-95EC-EA40762034EC}"/>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9647213" y="6031740"/>
            <a:ext cx="296010" cy="301752"/>
          </a:xfrm>
          <a:prstGeom prst="rect">
            <a:avLst/>
          </a:prstGeom>
        </p:spPr>
      </p:pic>
      <p:sp>
        <p:nvSpPr>
          <p:cNvPr id="39" name="TextBox 38">
            <a:extLst>
              <a:ext uri="{FF2B5EF4-FFF2-40B4-BE49-F238E27FC236}">
                <a16:creationId xmlns:a16="http://schemas.microsoft.com/office/drawing/2014/main" id="{5EC46F85-4965-4BB9-8F43-88BC5449F659}"/>
              </a:ext>
            </a:extLst>
          </p:cNvPr>
          <p:cNvSpPr txBox="1"/>
          <p:nvPr/>
        </p:nvSpPr>
        <p:spPr>
          <a:xfrm>
            <a:off x="3619759" y="936970"/>
            <a:ext cx="7018614" cy="307777"/>
          </a:xfrm>
          <a:prstGeom prst="rect">
            <a:avLst/>
          </a:prstGeom>
          <a:noFill/>
        </p:spPr>
        <p:txBody>
          <a:bodyPr wrap="square" rtlCol="0">
            <a:spAutoFit/>
          </a:bodyPr>
          <a:lstStyle/>
          <a:p>
            <a:pPr algn="ctr"/>
            <a:r>
              <a:rPr lang="en-US" sz="1400" dirty="0"/>
              <a:t>Use the Contraception App: Medical Eligibility tab</a:t>
            </a:r>
          </a:p>
        </p:txBody>
      </p:sp>
      <p:sp>
        <p:nvSpPr>
          <p:cNvPr id="44" name="question 1">
            <a:hlinkClick r:id="rId11" action="ppaction://hlinksldjump"/>
            <a:extLst>
              <a:ext uri="{FF2B5EF4-FFF2-40B4-BE49-F238E27FC236}">
                <a16:creationId xmlns:a16="http://schemas.microsoft.com/office/drawing/2014/main" id="{33712268-B030-41B5-AF04-D8CF452BB67F}"/>
              </a:ext>
            </a:extLst>
          </p:cNvPr>
          <p:cNvSpPr txBox="1"/>
          <p:nvPr/>
        </p:nvSpPr>
        <p:spPr>
          <a:xfrm>
            <a:off x="188535" y="192736"/>
            <a:ext cx="1905394"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PATH Questions</a:t>
            </a:r>
          </a:p>
        </p:txBody>
      </p:sp>
      <p:sp>
        <p:nvSpPr>
          <p:cNvPr id="45" name="question 4">
            <a:hlinkClick r:id="rId12" action="ppaction://hlinksldjump"/>
            <a:extLst>
              <a:ext uri="{FF2B5EF4-FFF2-40B4-BE49-F238E27FC236}">
                <a16:creationId xmlns:a16="http://schemas.microsoft.com/office/drawing/2014/main" id="{4B32BDBD-BF7A-4B56-B365-649D96B9FB0D}"/>
              </a:ext>
            </a:extLst>
          </p:cNvPr>
          <p:cNvSpPr txBox="1"/>
          <p:nvPr/>
        </p:nvSpPr>
        <p:spPr>
          <a:xfrm>
            <a:off x="188535" y="1937569"/>
            <a:ext cx="190539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Emergency Use</a:t>
            </a:r>
          </a:p>
        </p:txBody>
      </p:sp>
      <p:sp>
        <p:nvSpPr>
          <p:cNvPr id="46" name="Cases">
            <a:hlinkClick r:id="rId13" action="ppaction://hlinksldjump"/>
            <a:extLst>
              <a:ext uri="{FF2B5EF4-FFF2-40B4-BE49-F238E27FC236}">
                <a16:creationId xmlns:a16="http://schemas.microsoft.com/office/drawing/2014/main" id="{45A1C4C1-B47C-4603-9557-8BF6EABC76C2}"/>
              </a:ext>
            </a:extLst>
          </p:cNvPr>
          <p:cNvSpPr txBox="1"/>
          <p:nvPr/>
        </p:nvSpPr>
        <p:spPr>
          <a:xfrm>
            <a:off x="188535" y="2519180"/>
            <a:ext cx="1905392"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sp>
        <p:nvSpPr>
          <p:cNvPr id="47" name="question 3">
            <a:hlinkClick r:id="rId14" action="ppaction://hlinksldjump"/>
            <a:extLst>
              <a:ext uri="{FF2B5EF4-FFF2-40B4-BE49-F238E27FC236}">
                <a16:creationId xmlns:a16="http://schemas.microsoft.com/office/drawing/2014/main" id="{16A7FBE3-2DA3-4B5E-9BA4-A55C8B016045}"/>
              </a:ext>
            </a:extLst>
          </p:cNvPr>
          <p:cNvSpPr txBox="1"/>
          <p:nvPr/>
        </p:nvSpPr>
        <p:spPr>
          <a:xfrm>
            <a:off x="188535" y="774347"/>
            <a:ext cx="190539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Methods</a:t>
            </a:r>
          </a:p>
        </p:txBody>
      </p:sp>
      <p:sp>
        <p:nvSpPr>
          <p:cNvPr id="50" name="Question 2">
            <a:hlinkClick r:id="rId15" action="ppaction://hlinksldjump"/>
            <a:extLst>
              <a:ext uri="{FF2B5EF4-FFF2-40B4-BE49-F238E27FC236}">
                <a16:creationId xmlns:a16="http://schemas.microsoft.com/office/drawing/2014/main" id="{8AECEFD2-C56C-4FC3-A8F6-300FBA18890E}"/>
              </a:ext>
            </a:extLst>
          </p:cNvPr>
          <p:cNvSpPr txBox="1"/>
          <p:nvPr/>
        </p:nvSpPr>
        <p:spPr>
          <a:xfrm>
            <a:off x="188535" y="1355958"/>
            <a:ext cx="1905394"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chemeClr val="bg1"/>
                </a:solidFill>
              </a:rPr>
              <a:t>Contraindications</a:t>
            </a:r>
          </a:p>
        </p:txBody>
      </p:sp>
      <p:pic>
        <p:nvPicPr>
          <p:cNvPr id="66" name="Graphic 65" descr="Cursor with solid fill">
            <a:extLst>
              <a:ext uri="{FF2B5EF4-FFF2-40B4-BE49-F238E27FC236}">
                <a16:creationId xmlns:a16="http://schemas.microsoft.com/office/drawing/2014/main" id="{DB620DD7-C06B-45DE-9B49-44790F8E5CB0}"/>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968119" y="2189058"/>
            <a:ext cx="296010" cy="301752"/>
          </a:xfrm>
          <a:prstGeom prst="rect">
            <a:avLst/>
          </a:prstGeom>
        </p:spPr>
      </p:pic>
      <p:pic>
        <p:nvPicPr>
          <p:cNvPr id="67" name="Graphic 66" descr="Cursor with solid fill">
            <a:extLst>
              <a:ext uri="{FF2B5EF4-FFF2-40B4-BE49-F238E27FC236}">
                <a16:creationId xmlns:a16="http://schemas.microsoft.com/office/drawing/2014/main" id="{9757BEAD-5DCF-4D13-BA01-1A7D42A81B51}"/>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968119" y="2781085"/>
            <a:ext cx="296010" cy="301752"/>
          </a:xfrm>
          <a:prstGeom prst="rect">
            <a:avLst/>
          </a:prstGeom>
        </p:spPr>
      </p:pic>
      <p:pic>
        <p:nvPicPr>
          <p:cNvPr id="72" name="breast cancer">
            <a:extLst>
              <a:ext uri="{FF2B5EF4-FFF2-40B4-BE49-F238E27FC236}">
                <a16:creationId xmlns:a16="http://schemas.microsoft.com/office/drawing/2014/main" id="{911A9C23-8791-4091-B3A9-5094E647FC43}"/>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rot="10800000" flipV="1">
            <a:off x="4907601" y="4758084"/>
            <a:ext cx="897843" cy="1379314"/>
          </a:xfrm>
          <a:prstGeom prst="roundRect">
            <a:avLst/>
          </a:prstGeom>
          <a:solidFill>
            <a:schemeClr val="bg1"/>
          </a:solidFill>
          <a:ln w="38100">
            <a:solidFill>
              <a:schemeClr val="bg1"/>
            </a:solidFill>
          </a:ln>
          <a:effectLst/>
        </p:spPr>
      </p:pic>
      <p:pic>
        <p:nvPicPr>
          <p:cNvPr id="73" name="smoking" descr="Graphical user interface, application&#10;&#10;Description automatically generated">
            <a:extLst>
              <a:ext uri="{FF2B5EF4-FFF2-40B4-BE49-F238E27FC236}">
                <a16:creationId xmlns:a16="http://schemas.microsoft.com/office/drawing/2014/main" id="{ECA5C5C2-9598-4E3B-82FA-F1CE0FEADB2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232650" y="1966831"/>
            <a:ext cx="1570080" cy="1244347"/>
          </a:xfrm>
          <a:prstGeom prst="roundRect">
            <a:avLst/>
          </a:prstGeom>
          <a:solidFill>
            <a:schemeClr val="bg1"/>
          </a:solidFill>
          <a:ln w="38100">
            <a:solidFill>
              <a:schemeClr val="bg1"/>
            </a:solidFill>
          </a:ln>
          <a:effectLst/>
        </p:spPr>
      </p:pic>
      <p:pic>
        <p:nvPicPr>
          <p:cNvPr id="74" name="vte" descr="A picture containing text, vector graphics&#10;&#10;Description automatically generated">
            <a:extLst>
              <a:ext uri="{FF2B5EF4-FFF2-40B4-BE49-F238E27FC236}">
                <a16:creationId xmlns:a16="http://schemas.microsoft.com/office/drawing/2014/main" id="{90352097-8CE4-4FF5-BEF1-2432290EDC37}"/>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9440012" y="2011830"/>
            <a:ext cx="1713354" cy="1199348"/>
          </a:xfrm>
          <a:prstGeom prst="roundRect">
            <a:avLst/>
          </a:prstGeom>
          <a:solidFill>
            <a:schemeClr val="bg1"/>
          </a:solidFill>
          <a:ln w="38100">
            <a:solidFill>
              <a:schemeClr val="bg1"/>
            </a:solidFill>
          </a:ln>
          <a:effectLst/>
        </p:spPr>
      </p:pic>
      <p:pic>
        <p:nvPicPr>
          <p:cNvPr id="75" name="migraine" descr="A picture containing text, sign, outdoor, vector graphics&#10;&#10;Description automatically generated">
            <a:extLst>
              <a:ext uri="{FF2B5EF4-FFF2-40B4-BE49-F238E27FC236}">
                <a16:creationId xmlns:a16="http://schemas.microsoft.com/office/drawing/2014/main" id="{13B369E2-A929-4879-B96F-E47C7AAAFD2C}"/>
              </a:ext>
            </a:extLst>
          </p:cNvPr>
          <p:cNvPicPr>
            <a:picLocks noChangeAspect="1"/>
          </p:cNvPicPr>
          <p:nvPr/>
        </p:nvPicPr>
        <p:blipFill>
          <a:blip r:embed="rId6" cstate="print">
            <a:extLst>
              <a:ext uri="{28A0092B-C50C-407E-A947-70E740481C1C}">
                <a14:useLocalDpi xmlns:a14="http://schemas.microsoft.com/office/drawing/2010/main"/>
              </a:ext>
              <a:ext uri="{837473B0-CC2E-450A-ABE3-18F120FF3D39}">
                <a1611:picAttrSrcUrl xmlns:a1611="http://schemas.microsoft.com/office/drawing/2016/11/main" r:id="rId7"/>
              </a:ext>
            </a:extLst>
          </a:blip>
          <a:stretch>
            <a:fillRect/>
          </a:stretch>
        </p:blipFill>
        <p:spPr>
          <a:xfrm>
            <a:off x="6497038" y="1792305"/>
            <a:ext cx="1421094" cy="1418873"/>
          </a:xfrm>
          <a:prstGeom prst="roundRect">
            <a:avLst/>
          </a:prstGeom>
          <a:solidFill>
            <a:schemeClr val="bg1"/>
          </a:solidFill>
          <a:ln w="38100">
            <a:solidFill>
              <a:schemeClr val="bg1"/>
            </a:solidFill>
          </a:ln>
          <a:effectLst/>
        </p:spPr>
      </p:pic>
      <p:pic>
        <p:nvPicPr>
          <p:cNvPr id="76" name="cervical and uterine">
            <a:extLst>
              <a:ext uri="{FF2B5EF4-FFF2-40B4-BE49-F238E27FC236}">
                <a16:creationId xmlns:a16="http://schemas.microsoft.com/office/drawing/2014/main" id="{BF830E56-9F3A-4286-9358-2E4C63F71DFA}"/>
              </a:ext>
            </a:extLst>
          </p:cNvPr>
          <p:cNvPicPr>
            <a:picLocks noChangeAspect="1"/>
          </p:cNvPicPr>
          <p:nvPr/>
        </p:nvPicPr>
        <p:blipFill rotWithShape="1">
          <a:blip r:embed="rId8" cstate="print">
            <a:extLst>
              <a:ext uri="{28A0092B-C50C-407E-A947-70E740481C1C}">
                <a14:useLocalDpi xmlns:a14="http://schemas.microsoft.com/office/drawing/2010/main"/>
              </a:ext>
            </a:extLst>
          </a:blip>
          <a:srcRect/>
          <a:stretch/>
        </p:blipFill>
        <p:spPr>
          <a:xfrm>
            <a:off x="8280610" y="5017457"/>
            <a:ext cx="1539016" cy="1199348"/>
          </a:xfrm>
          <a:prstGeom prst="roundRect">
            <a:avLst/>
          </a:prstGeom>
          <a:solidFill>
            <a:schemeClr val="bg1"/>
          </a:solidFill>
          <a:ln w="38100">
            <a:solidFill>
              <a:schemeClr val="bg1"/>
            </a:solidFill>
          </a:ln>
          <a:effectLst/>
        </p:spPr>
      </p:pic>
      <p:pic>
        <p:nvPicPr>
          <p:cNvPr id="78" name="Graphic 77" descr="Cursor with solid fill">
            <a:extLst>
              <a:ext uri="{FF2B5EF4-FFF2-40B4-BE49-F238E27FC236}">
                <a16:creationId xmlns:a16="http://schemas.microsoft.com/office/drawing/2014/main" id="{16A9C2A0-73B5-4EBE-9610-83D23437CDEE}"/>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968119" y="6556248"/>
            <a:ext cx="296010" cy="301752"/>
          </a:xfrm>
          <a:prstGeom prst="rect">
            <a:avLst/>
          </a:prstGeom>
        </p:spPr>
      </p:pic>
      <p:pic>
        <p:nvPicPr>
          <p:cNvPr id="55" name="Graphic 54" descr="Cursor with solid fill">
            <a:extLst>
              <a:ext uri="{FF2B5EF4-FFF2-40B4-BE49-F238E27FC236}">
                <a16:creationId xmlns:a16="http://schemas.microsoft.com/office/drawing/2014/main" id="{538CD7E5-3E58-451C-B827-C8D46C0F1AB7}"/>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968119" y="458872"/>
            <a:ext cx="296010" cy="301752"/>
          </a:xfrm>
          <a:prstGeom prst="rect">
            <a:avLst/>
          </a:prstGeom>
        </p:spPr>
      </p:pic>
      <p:pic>
        <p:nvPicPr>
          <p:cNvPr id="56" name="Graphic 55" descr="Cursor with solid fill">
            <a:extLst>
              <a:ext uri="{FF2B5EF4-FFF2-40B4-BE49-F238E27FC236}">
                <a16:creationId xmlns:a16="http://schemas.microsoft.com/office/drawing/2014/main" id="{8435B51C-D55C-41F7-9AFD-EB26DF819279}"/>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968119" y="1039533"/>
            <a:ext cx="296010" cy="301752"/>
          </a:xfrm>
          <a:prstGeom prst="rect">
            <a:avLst/>
          </a:prstGeom>
        </p:spPr>
      </p:pic>
      <p:sp>
        <p:nvSpPr>
          <p:cNvPr id="57" name="sub-q 1 button">
            <a:hlinkClick r:id="rId16" action="ppaction://hlinksldjump"/>
            <a:extLst>
              <a:ext uri="{FF2B5EF4-FFF2-40B4-BE49-F238E27FC236}">
                <a16:creationId xmlns:a16="http://schemas.microsoft.com/office/drawing/2014/main" id="{C8516750-4ECD-4A7C-BA0A-82D87DA0F32F}"/>
              </a:ext>
            </a:extLst>
          </p:cNvPr>
          <p:cNvSpPr txBox="1"/>
          <p:nvPr/>
        </p:nvSpPr>
        <p:spPr>
          <a:xfrm>
            <a:off x="188535" y="6289886"/>
            <a:ext cx="1905392"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Bonus Resources</a:t>
            </a:r>
          </a:p>
        </p:txBody>
      </p:sp>
    </p:spTree>
    <p:extLst>
      <p:ext uri="{BB962C8B-B14F-4D97-AF65-F5344CB8AC3E}">
        <p14:creationId xmlns:p14="http://schemas.microsoft.com/office/powerpoint/2010/main" val="323812799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3"/>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8"/>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48"/>
                                        </p:tgtEl>
                                        <p:attrNameLst>
                                          <p:attrName>style.visibility</p:attrName>
                                        </p:attrNameLst>
                                      </p:cBhvr>
                                      <p:to>
                                        <p:strVal val="hidden"/>
                                      </p:to>
                                    </p:set>
                                  </p:childTnLst>
                                </p:cTn>
                              </p:par>
                            </p:childTnLst>
                          </p:cTn>
                        </p:par>
                      </p:childTnLst>
                    </p:cTn>
                  </p:par>
                </p:childTnLst>
              </p:cTn>
              <p:nextCondLst>
                <p:cond evt="onClick" delay="0">
                  <p:tgtEl>
                    <p:spTgt spid="8"/>
                  </p:tgtEl>
                </p:cond>
              </p:nextCondLst>
            </p:seq>
            <p:seq concurrent="1" nextAc="seek">
              <p:cTn id="13" restart="whenNotActive" fill="hold" evtFilter="cancelBubble" nodeType="interactiveSeq">
                <p:stCondLst>
                  <p:cond evt="onClick" delay="0">
                    <p:tgtEl>
                      <p:spTgt spid="49"/>
                    </p:tgtEl>
                  </p:cond>
                </p:stCondLst>
                <p:endSync evt="end" delay="0">
                  <p:rtn val="all"/>
                </p:endSync>
                <p:childTnLst>
                  <p:par>
                    <p:cTn id="14" fill="hold">
                      <p:stCondLst>
                        <p:cond delay="0"/>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1"/>
                                        </p:tgtEl>
                                        <p:attrNameLst>
                                          <p:attrName>style.visibility</p:attrName>
                                        </p:attrNameLst>
                                      </p:cBhvr>
                                      <p:to>
                                        <p:strVal val="visible"/>
                                      </p:to>
                                    </p:set>
                                  </p:childTnLst>
                                </p:cTn>
                              </p:par>
                              <p:par>
                                <p:cTn id="18" presetID="1" presetClass="exit" presetSubtype="0" fill="hold" nodeType="withEffect">
                                  <p:stCondLst>
                                    <p:cond delay="0"/>
                                  </p:stCondLst>
                                  <p:childTnLst>
                                    <p:set>
                                      <p:cBhvr>
                                        <p:cTn id="19" dur="1" fill="hold">
                                          <p:stCondLst>
                                            <p:cond delay="0"/>
                                          </p:stCondLst>
                                        </p:cTn>
                                        <p:tgtEl>
                                          <p:spTgt spid="49"/>
                                        </p:tgtEl>
                                        <p:attrNameLst>
                                          <p:attrName>style.visibility</p:attrName>
                                        </p:attrNameLst>
                                      </p:cBhvr>
                                      <p:to>
                                        <p:strVal val="hidden"/>
                                      </p:to>
                                    </p:set>
                                  </p:childTnLst>
                                </p:cTn>
                              </p:par>
                              <p:par>
                                <p:cTn id="20" presetID="1" presetClass="entr" presetSubtype="0" fill="hold" nodeType="withEffect">
                                  <p:stCondLst>
                                    <p:cond delay="0"/>
                                  </p:stCondLst>
                                  <p:childTnLst>
                                    <p:set>
                                      <p:cBhvr>
                                        <p:cTn id="21" dur="1" fill="hold">
                                          <p:stCondLst>
                                            <p:cond delay="0"/>
                                          </p:stCondLst>
                                        </p:cTn>
                                        <p:tgtEl>
                                          <p:spTgt spid="75"/>
                                        </p:tgtEl>
                                        <p:attrNameLst>
                                          <p:attrName>style.visibility</p:attrName>
                                        </p:attrNameLst>
                                      </p:cBhvr>
                                      <p:to>
                                        <p:strVal val="visible"/>
                                      </p:to>
                                    </p:set>
                                  </p:childTnLst>
                                </p:cTn>
                              </p:par>
                              <p:par>
                                <p:cTn id="22" presetID="1" presetClass="exit" presetSubtype="0" fill="hold" nodeType="withEffect">
                                  <p:stCondLst>
                                    <p:cond delay="0"/>
                                  </p:stCondLst>
                                  <p:childTnLst>
                                    <p:set>
                                      <p:cBhvr>
                                        <p:cTn id="23" dur="1" fill="hold">
                                          <p:stCondLst>
                                            <p:cond delay="0"/>
                                          </p:stCondLst>
                                        </p:cTn>
                                        <p:tgtEl>
                                          <p:spTgt spid="51"/>
                                        </p:tgtEl>
                                        <p:attrNameLst>
                                          <p:attrName>style.visibility</p:attrName>
                                        </p:attrNameLst>
                                      </p:cBhvr>
                                      <p:to>
                                        <p:strVal val="hidden"/>
                                      </p:to>
                                    </p:set>
                                  </p:childTnLst>
                                </p:cTn>
                              </p:par>
                            </p:childTnLst>
                          </p:cTn>
                        </p:par>
                      </p:childTnLst>
                    </p:cTn>
                  </p:par>
                </p:childTnLst>
              </p:cTn>
              <p:nextCondLst>
                <p:cond evt="onClick" delay="0">
                  <p:tgtEl>
                    <p:spTgt spid="49"/>
                  </p:tgtEl>
                </p:cond>
              </p:nextCondLst>
            </p:seq>
            <p:seq concurrent="1" nextAc="seek">
              <p:cTn id="24" restart="whenNotActive" fill="hold" evtFilter="cancelBubble" nodeType="interactiveSeq">
                <p:stCondLst>
                  <p:cond evt="onClick" delay="0">
                    <p:tgtEl>
                      <p:spTgt spid="26"/>
                    </p:tgtEl>
                  </p:cond>
                </p:stCondLst>
                <p:endSync evt="end" delay="0">
                  <p:rtn val="all"/>
                </p:endSync>
                <p:childTnLst>
                  <p:par>
                    <p:cTn id="25" fill="hold">
                      <p:stCondLst>
                        <p:cond delay="0"/>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0"/>
                                          </p:stCondLst>
                                        </p:cTn>
                                        <p:tgtEl>
                                          <p:spTgt spid="26"/>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74"/>
                                        </p:tgtEl>
                                        <p:attrNameLst>
                                          <p:attrName>style.visibility</p:attrName>
                                        </p:attrNameLst>
                                      </p:cBhvr>
                                      <p:to>
                                        <p:strVal val="visible"/>
                                      </p:to>
                                    </p:set>
                                  </p:childTnLst>
                                </p:cTn>
                              </p:par>
                              <p:par>
                                <p:cTn id="33" presetID="1" presetClass="exit" presetSubtype="0" fill="hold" nodeType="withEffect">
                                  <p:stCondLst>
                                    <p:cond delay="0"/>
                                  </p:stCondLst>
                                  <p:childTnLst>
                                    <p:set>
                                      <p:cBhvr>
                                        <p:cTn id="34" dur="1" fill="hold">
                                          <p:stCondLst>
                                            <p:cond delay="0"/>
                                          </p:stCondLst>
                                        </p:cTn>
                                        <p:tgtEl>
                                          <p:spTgt spid="52"/>
                                        </p:tgtEl>
                                        <p:attrNameLst>
                                          <p:attrName>style.visibility</p:attrName>
                                        </p:attrNameLst>
                                      </p:cBhvr>
                                      <p:to>
                                        <p:strVal val="hidden"/>
                                      </p:to>
                                    </p:set>
                                  </p:childTnLst>
                                </p:cTn>
                              </p:par>
                            </p:childTnLst>
                          </p:cTn>
                        </p:par>
                      </p:childTnLst>
                    </p:cTn>
                  </p:par>
                </p:childTnLst>
              </p:cTn>
              <p:nextCondLst>
                <p:cond evt="onClick" delay="0">
                  <p:tgtEl>
                    <p:spTgt spid="26"/>
                  </p:tgtEl>
                </p:cond>
              </p:nextCondLst>
            </p:seq>
            <p:seq concurrent="1" nextAc="seek">
              <p:cTn id="35" restart="whenNotActive" fill="hold" evtFilter="cancelBubble" nodeType="interactiveSeq">
                <p:stCondLst>
                  <p:cond evt="onClick" delay="0">
                    <p:tgtEl>
                      <p:spTgt spid="15"/>
                    </p:tgtEl>
                  </p:cond>
                </p:stCondLst>
                <p:endSync evt="end" delay="0">
                  <p:rtn val="all"/>
                </p:endSync>
                <p:childTnLst>
                  <p:par>
                    <p:cTn id="36" fill="hold">
                      <p:stCondLst>
                        <p:cond delay="0"/>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5"/>
                                        </p:tgtEl>
                                        <p:attrNameLst>
                                          <p:attrName>style.visibility</p:attrName>
                                        </p:attrNameLst>
                                      </p:cBhvr>
                                      <p:to>
                                        <p:strVal val="visible"/>
                                      </p:to>
                                    </p:set>
                                  </p:childTnLst>
                                </p:cTn>
                              </p:par>
                              <p:par>
                                <p:cTn id="40" presetID="1" presetClass="exit" presetSubtype="0" fill="hold" nodeType="withEffect">
                                  <p:stCondLst>
                                    <p:cond delay="0"/>
                                  </p:stCondLst>
                                  <p:childTnLst>
                                    <p:set>
                                      <p:cBhvr>
                                        <p:cTn id="41" dur="1" fill="hold">
                                          <p:stCondLst>
                                            <p:cond delay="0"/>
                                          </p:stCondLst>
                                        </p:cTn>
                                        <p:tgtEl>
                                          <p:spTgt spid="15"/>
                                        </p:tgtEl>
                                        <p:attrNameLst>
                                          <p:attrName>style.visibility</p:attrName>
                                        </p:attrNameLst>
                                      </p:cBhvr>
                                      <p:to>
                                        <p:strVal val="hidden"/>
                                      </p:to>
                                    </p:set>
                                  </p:childTnLst>
                                </p:cTn>
                              </p:par>
                              <p:par>
                                <p:cTn id="42" presetID="1" presetClass="entr" presetSubtype="0" fill="hold" nodeType="withEffect">
                                  <p:stCondLst>
                                    <p:cond delay="0"/>
                                  </p:stCondLst>
                                  <p:childTnLst>
                                    <p:set>
                                      <p:cBhvr>
                                        <p:cTn id="43" dur="1" fill="hold">
                                          <p:stCondLst>
                                            <p:cond delay="0"/>
                                          </p:stCondLst>
                                        </p:cTn>
                                        <p:tgtEl>
                                          <p:spTgt spid="72"/>
                                        </p:tgtEl>
                                        <p:attrNameLst>
                                          <p:attrName>style.visibility</p:attrName>
                                        </p:attrNameLst>
                                      </p:cBhvr>
                                      <p:to>
                                        <p:strVal val="visible"/>
                                      </p:to>
                                    </p:set>
                                  </p:childTnLst>
                                </p:cTn>
                              </p:par>
                              <p:par>
                                <p:cTn id="44" presetID="1" presetClass="exit" presetSubtype="0" fill="hold" nodeType="withEffect">
                                  <p:stCondLst>
                                    <p:cond delay="0"/>
                                  </p:stCondLst>
                                  <p:childTnLst>
                                    <p:set>
                                      <p:cBhvr>
                                        <p:cTn id="45" dur="1" fill="hold">
                                          <p:stCondLst>
                                            <p:cond delay="0"/>
                                          </p:stCondLst>
                                        </p:cTn>
                                        <p:tgtEl>
                                          <p:spTgt spid="53"/>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46" restart="whenNotActive" fill="hold" evtFilter="cancelBubble" nodeType="interactiveSeq">
                <p:stCondLst>
                  <p:cond evt="onClick" delay="0">
                    <p:tgtEl>
                      <p:spTgt spid="36"/>
                    </p:tgtEl>
                  </p:cond>
                </p:stCondLst>
                <p:endSync evt="end" delay="0">
                  <p:rtn val="all"/>
                </p:endSync>
                <p:childTnLst>
                  <p:par>
                    <p:cTn id="47" fill="hold">
                      <p:stCondLst>
                        <p:cond delay="0"/>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8"/>
                                        </p:tgtEl>
                                        <p:attrNameLst>
                                          <p:attrName>style.visibility</p:attrName>
                                        </p:attrNameLst>
                                      </p:cBhvr>
                                      <p:to>
                                        <p:strVal val="visible"/>
                                      </p:to>
                                    </p:set>
                                  </p:childTnLst>
                                </p:cTn>
                              </p:par>
                              <p:par>
                                <p:cTn id="51" presetID="1" presetClass="exit" presetSubtype="0" fill="hold" nodeType="withEffect">
                                  <p:stCondLst>
                                    <p:cond delay="0"/>
                                  </p:stCondLst>
                                  <p:childTnLst>
                                    <p:set>
                                      <p:cBhvr>
                                        <p:cTn id="52" dur="1" fill="hold">
                                          <p:stCondLst>
                                            <p:cond delay="0"/>
                                          </p:stCondLst>
                                        </p:cTn>
                                        <p:tgtEl>
                                          <p:spTgt spid="36"/>
                                        </p:tgtEl>
                                        <p:attrNameLst>
                                          <p:attrName>style.visibility</p:attrName>
                                        </p:attrNameLst>
                                      </p:cBhvr>
                                      <p:to>
                                        <p:strVal val="hidden"/>
                                      </p:to>
                                    </p:set>
                                  </p:childTnLst>
                                </p:cTn>
                              </p:par>
                              <p:par>
                                <p:cTn id="53" presetID="1" presetClass="entr" presetSubtype="0" fill="hold" nodeType="withEffect">
                                  <p:stCondLst>
                                    <p:cond delay="0"/>
                                  </p:stCondLst>
                                  <p:childTnLst>
                                    <p:set>
                                      <p:cBhvr>
                                        <p:cTn id="54" dur="1" fill="hold">
                                          <p:stCondLst>
                                            <p:cond delay="0"/>
                                          </p:stCondLst>
                                        </p:cTn>
                                        <p:tgtEl>
                                          <p:spTgt spid="76"/>
                                        </p:tgtEl>
                                        <p:attrNameLst>
                                          <p:attrName>style.visibility</p:attrName>
                                        </p:attrNameLst>
                                      </p:cBhvr>
                                      <p:to>
                                        <p:strVal val="visible"/>
                                      </p:to>
                                    </p:set>
                                  </p:childTnLst>
                                </p:cTn>
                              </p:par>
                              <p:par>
                                <p:cTn id="55" presetID="1" presetClass="exit" presetSubtype="0" fill="hold" nodeType="withEffect">
                                  <p:stCondLst>
                                    <p:cond delay="0"/>
                                  </p:stCondLst>
                                  <p:childTnLst>
                                    <p:set>
                                      <p:cBhvr>
                                        <p:cTn id="56" dur="1" fill="hold">
                                          <p:stCondLst>
                                            <p:cond delay="0"/>
                                          </p:stCondLst>
                                        </p:cTn>
                                        <p:tgtEl>
                                          <p:spTgt spid="54"/>
                                        </p:tgtEl>
                                        <p:attrNameLst>
                                          <p:attrName>style.visibility</p:attrName>
                                        </p:attrNameLst>
                                      </p:cBhvr>
                                      <p:to>
                                        <p:strVal val="hidden"/>
                                      </p:to>
                                    </p:set>
                                  </p:childTnLst>
                                </p:cTn>
                              </p:par>
                            </p:childTnLst>
                          </p:cTn>
                        </p:par>
                      </p:childTnLst>
                    </p:cTn>
                  </p:par>
                </p:childTnLst>
              </p:cTn>
              <p:nextCondLst>
                <p:cond evt="onClick" delay="0">
                  <p:tgtEl>
                    <p:spTgt spid="36"/>
                  </p:tgtEl>
                </p:cond>
              </p:nextCondLst>
            </p:seq>
          </p:childTnLst>
        </p:cTn>
      </p:par>
    </p:tnLst>
    <p:bldLst>
      <p:bldP spid="5" grpId="0"/>
      <p:bldP spid="38" grpId="0"/>
      <p:bldP spid="41" grpId="0"/>
      <p:bldP spid="42" grpId="0"/>
      <p:bldP spid="4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E43DCDA4-D235-034D-87CD-17F335BFBC7B}"/>
              </a:ext>
            </a:extLst>
          </p:cNvPr>
          <p:cNvSpPr txBox="1"/>
          <p:nvPr/>
        </p:nvSpPr>
        <p:spPr>
          <a:xfrm>
            <a:off x="156632" y="5241578"/>
            <a:ext cx="2642832" cy="461665"/>
          </a:xfrm>
          <a:prstGeom prst="rect">
            <a:avLst/>
          </a:prstGeom>
          <a:noFill/>
        </p:spPr>
        <p:txBody>
          <a:bodyPr wrap="square" rtlCol="0">
            <a:spAutoFit/>
          </a:bodyPr>
          <a:lstStyle/>
          <a:p>
            <a:pPr algn="ctr"/>
            <a:r>
              <a:rPr lang="en-US" sz="1200" dirty="0"/>
              <a:t>Adapted from Contraception app developed by Dr. Joshua Steinberg</a:t>
            </a:r>
          </a:p>
        </p:txBody>
      </p:sp>
      <p:graphicFrame>
        <p:nvGraphicFramePr>
          <p:cNvPr id="3" name="Table 3">
            <a:extLst>
              <a:ext uri="{FF2B5EF4-FFF2-40B4-BE49-F238E27FC236}">
                <a16:creationId xmlns:a16="http://schemas.microsoft.com/office/drawing/2014/main" id="{98995890-D950-47D1-AF52-FA271228EEC8}"/>
              </a:ext>
            </a:extLst>
          </p:cNvPr>
          <p:cNvGraphicFramePr>
            <a:graphicFrameLocks noGrp="1"/>
          </p:cNvGraphicFramePr>
          <p:nvPr>
            <p:extLst>
              <p:ext uri="{D42A27DB-BD31-4B8C-83A1-F6EECF244321}">
                <p14:modId xmlns:p14="http://schemas.microsoft.com/office/powerpoint/2010/main" val="649816620"/>
              </p:ext>
            </p:extLst>
          </p:nvPr>
        </p:nvGraphicFramePr>
        <p:xfrm>
          <a:off x="3069772" y="1794083"/>
          <a:ext cx="8711910" cy="4768617"/>
        </p:xfrm>
        <a:graphic>
          <a:graphicData uri="http://schemas.openxmlformats.org/drawingml/2006/table">
            <a:tbl>
              <a:tblPr bandCol="1">
                <a:tableStyleId>{16D9F66E-5EB9-4882-86FB-DCBF35E3C3E4}</a:tableStyleId>
              </a:tblPr>
              <a:tblGrid>
                <a:gridCol w="1396710">
                  <a:extLst>
                    <a:ext uri="{9D8B030D-6E8A-4147-A177-3AD203B41FA5}">
                      <a16:colId xmlns:a16="http://schemas.microsoft.com/office/drawing/2014/main" val="3970735890"/>
                    </a:ext>
                  </a:extLst>
                </a:gridCol>
                <a:gridCol w="1828800">
                  <a:extLst>
                    <a:ext uri="{9D8B030D-6E8A-4147-A177-3AD203B41FA5}">
                      <a16:colId xmlns:a16="http://schemas.microsoft.com/office/drawing/2014/main" val="3898248603"/>
                    </a:ext>
                  </a:extLst>
                </a:gridCol>
                <a:gridCol w="1828800">
                  <a:extLst>
                    <a:ext uri="{9D8B030D-6E8A-4147-A177-3AD203B41FA5}">
                      <a16:colId xmlns:a16="http://schemas.microsoft.com/office/drawing/2014/main" val="3198550193"/>
                    </a:ext>
                  </a:extLst>
                </a:gridCol>
                <a:gridCol w="1828800">
                  <a:extLst>
                    <a:ext uri="{9D8B030D-6E8A-4147-A177-3AD203B41FA5}">
                      <a16:colId xmlns:a16="http://schemas.microsoft.com/office/drawing/2014/main" val="3212899430"/>
                    </a:ext>
                  </a:extLst>
                </a:gridCol>
                <a:gridCol w="1828800">
                  <a:extLst>
                    <a:ext uri="{9D8B030D-6E8A-4147-A177-3AD203B41FA5}">
                      <a16:colId xmlns:a16="http://schemas.microsoft.com/office/drawing/2014/main" val="694611155"/>
                    </a:ext>
                  </a:extLst>
                </a:gridCol>
              </a:tblGrid>
              <a:tr h="1166372">
                <a:tc>
                  <a:txBody>
                    <a:bodyPr/>
                    <a:lstStyle/>
                    <a:p>
                      <a:pPr algn="l"/>
                      <a:r>
                        <a:rPr lang="en-US" sz="3200" b="1" dirty="0"/>
                        <a:t>S</a:t>
                      </a:r>
                      <a:r>
                        <a:rPr lang="en-US" sz="1800" b="0" dirty="0"/>
                        <a:t>afety</a:t>
                      </a:r>
                      <a:endParaRPr lang="en-US" sz="1100"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solidFill>
                          <a:srgbClr val="00206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200" dirty="0">
                        <a:solidFill>
                          <a:srgbClr val="00206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200" dirty="0">
                        <a:solidFill>
                          <a:srgbClr val="00206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200">
                        <a:solidFill>
                          <a:srgbClr val="00206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92361035"/>
                  </a:ext>
                </a:extLst>
              </a:tr>
              <a:tr h="1073197">
                <a:tc>
                  <a:txBody>
                    <a:bodyPr/>
                    <a:lstStyle/>
                    <a:p>
                      <a:pPr algn="l"/>
                      <a:r>
                        <a:rPr lang="en-US" sz="3200" b="1"/>
                        <a:t>T</a:t>
                      </a:r>
                      <a:r>
                        <a:rPr lang="en-US"/>
                        <a:t>olerability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dirty="0">
                        <a:solidFill>
                          <a:srgbClr val="00206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200" dirty="0">
                        <a:solidFill>
                          <a:srgbClr val="00206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200" dirty="0">
                        <a:solidFill>
                          <a:srgbClr val="00206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200">
                        <a:solidFill>
                          <a:srgbClr val="00206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27718264"/>
                  </a:ext>
                </a:extLst>
              </a:tr>
              <a:tr h="822960">
                <a:tc>
                  <a:txBody>
                    <a:bodyPr/>
                    <a:lstStyle/>
                    <a:p>
                      <a:pPr algn="l"/>
                      <a:r>
                        <a:rPr lang="en-US" sz="3200" b="1"/>
                        <a:t>E</a:t>
                      </a:r>
                      <a:r>
                        <a:rPr lang="en-US"/>
                        <a:t>fficacy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a:solidFill>
                          <a:srgbClr val="00206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200">
                        <a:solidFill>
                          <a:srgbClr val="00206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200" dirty="0">
                        <a:solidFill>
                          <a:srgbClr val="00206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200">
                        <a:solidFill>
                          <a:srgbClr val="00206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02631750"/>
                  </a:ext>
                </a:extLst>
              </a:tr>
              <a:tr h="883128">
                <a:tc>
                  <a:txBody>
                    <a:bodyPr/>
                    <a:lstStyle/>
                    <a:p>
                      <a:pPr algn="l"/>
                      <a:r>
                        <a:rPr lang="en-US" sz="3200" b="1"/>
                        <a:t>P</a:t>
                      </a:r>
                      <a:r>
                        <a:rPr lang="en-US"/>
                        <a:t>rice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a:solidFill>
                          <a:srgbClr val="00206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200">
                        <a:solidFill>
                          <a:srgbClr val="00206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200">
                        <a:solidFill>
                          <a:srgbClr val="00206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200" dirty="0">
                        <a:solidFill>
                          <a:srgbClr val="00206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08945131"/>
                  </a:ext>
                </a:extLst>
              </a:tr>
              <a:tr h="822960">
                <a:tc>
                  <a:txBody>
                    <a:bodyPr/>
                    <a:lstStyle/>
                    <a:p>
                      <a:pPr algn="l"/>
                      <a:r>
                        <a:rPr lang="en-US" sz="3200" b="1" dirty="0"/>
                        <a:t>S</a:t>
                      </a:r>
                      <a:r>
                        <a:rPr lang="en-US" dirty="0"/>
                        <a:t>implicity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1200">
                        <a:solidFill>
                          <a:srgbClr val="00206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200">
                        <a:solidFill>
                          <a:srgbClr val="00206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200" dirty="0">
                        <a:solidFill>
                          <a:srgbClr val="00206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200" dirty="0">
                        <a:solidFill>
                          <a:srgbClr val="00206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1851013"/>
                  </a:ext>
                </a:extLst>
              </a:tr>
            </a:tbl>
          </a:graphicData>
        </a:graphic>
      </p:graphicFrame>
      <p:sp>
        <p:nvSpPr>
          <p:cNvPr id="7" name="plan b button">
            <a:extLst>
              <a:ext uri="{FF2B5EF4-FFF2-40B4-BE49-F238E27FC236}">
                <a16:creationId xmlns:a16="http://schemas.microsoft.com/office/drawing/2014/main" id="{DE2F890C-923B-4CB4-AE24-D02D0B9A30F1}"/>
              </a:ext>
            </a:extLst>
          </p:cNvPr>
          <p:cNvSpPr txBox="1">
            <a:spLocks noChangeAspect="1"/>
          </p:cNvSpPr>
          <p:nvPr/>
        </p:nvSpPr>
        <p:spPr>
          <a:xfrm>
            <a:off x="4495614" y="883658"/>
            <a:ext cx="1693520" cy="730563"/>
          </a:xfrm>
          <a:prstGeom prst="roundRect">
            <a:avLst/>
          </a:prstGeom>
          <a:solidFill>
            <a:schemeClr val="bg1"/>
          </a:solidFill>
          <a:ln w="38100">
            <a:solidFill>
              <a:schemeClr val="accent4"/>
            </a:solidFill>
          </a:ln>
          <a:effectLst>
            <a:outerShdw blurRad="50800" dist="38100" dir="2700000" algn="tl" rotWithShape="0">
              <a:prstClr val="black">
                <a:alpha val="40000"/>
              </a:prstClr>
            </a:outerShdw>
          </a:effectLst>
        </p:spPr>
        <p:txBody>
          <a:bodyPr wrap="none" rtlCol="0">
            <a:noAutofit/>
          </a:bodyPr>
          <a:lstStyle/>
          <a:p>
            <a:pPr algn="ctr"/>
            <a:r>
              <a:rPr lang="en-US" dirty="0"/>
              <a:t>Levonorgestrel</a:t>
            </a:r>
          </a:p>
          <a:p>
            <a:pPr algn="ctr"/>
            <a:r>
              <a:rPr lang="en-US" dirty="0"/>
              <a:t>(Plan B)</a:t>
            </a:r>
          </a:p>
        </p:txBody>
      </p:sp>
      <p:sp>
        <p:nvSpPr>
          <p:cNvPr id="38" name="Ella button">
            <a:extLst>
              <a:ext uri="{FF2B5EF4-FFF2-40B4-BE49-F238E27FC236}">
                <a16:creationId xmlns:a16="http://schemas.microsoft.com/office/drawing/2014/main" id="{81F6909F-ECF8-408F-B1AA-D4D9F97FCF93}"/>
              </a:ext>
            </a:extLst>
          </p:cNvPr>
          <p:cNvSpPr txBox="1">
            <a:spLocks noChangeAspect="1"/>
          </p:cNvSpPr>
          <p:nvPr/>
        </p:nvSpPr>
        <p:spPr>
          <a:xfrm>
            <a:off x="6330710" y="883658"/>
            <a:ext cx="1693520" cy="730563"/>
          </a:xfrm>
          <a:prstGeom prst="roundRect">
            <a:avLst/>
          </a:prstGeom>
          <a:solidFill>
            <a:schemeClr val="bg1"/>
          </a:solidFill>
          <a:ln w="38100">
            <a:solidFill>
              <a:schemeClr val="accent6"/>
            </a:solidFill>
          </a:ln>
          <a:effectLst>
            <a:outerShdw blurRad="50800" dist="38100" dir="2700000" algn="tl" rotWithShape="0">
              <a:prstClr val="black">
                <a:alpha val="40000"/>
              </a:prstClr>
            </a:outerShdw>
          </a:effectLst>
        </p:spPr>
        <p:txBody>
          <a:bodyPr wrap="none" rtlCol="0">
            <a:noAutofit/>
          </a:bodyPr>
          <a:lstStyle/>
          <a:p>
            <a:pPr algn="ctr"/>
            <a:r>
              <a:rPr lang="en-US" dirty="0"/>
              <a:t>Ulipristal</a:t>
            </a:r>
          </a:p>
          <a:p>
            <a:pPr algn="ctr"/>
            <a:r>
              <a:rPr lang="en-US" dirty="0"/>
              <a:t>(Ella)</a:t>
            </a:r>
          </a:p>
        </p:txBody>
      </p:sp>
      <p:sp>
        <p:nvSpPr>
          <p:cNvPr id="39" name="IUD button">
            <a:extLst>
              <a:ext uri="{FF2B5EF4-FFF2-40B4-BE49-F238E27FC236}">
                <a16:creationId xmlns:a16="http://schemas.microsoft.com/office/drawing/2014/main" id="{CC1AECE2-6040-4E0C-9D92-1AED728E5F1E}"/>
              </a:ext>
            </a:extLst>
          </p:cNvPr>
          <p:cNvSpPr txBox="1">
            <a:spLocks noChangeAspect="1"/>
          </p:cNvSpPr>
          <p:nvPr/>
        </p:nvSpPr>
        <p:spPr>
          <a:xfrm>
            <a:off x="8165806" y="883658"/>
            <a:ext cx="1693520" cy="730563"/>
          </a:xfrm>
          <a:prstGeom prst="roundRect">
            <a:avLst/>
          </a:prstGeom>
          <a:solidFill>
            <a:schemeClr val="bg1"/>
          </a:solidFill>
          <a:ln w="38100">
            <a:solidFill>
              <a:schemeClr val="accent2"/>
            </a:solidFill>
          </a:ln>
          <a:effectLst>
            <a:outerShdw blurRad="50800" dist="38100" dir="2700000" algn="tl" rotWithShape="0">
              <a:prstClr val="black">
                <a:alpha val="40000"/>
              </a:prstClr>
            </a:outerShdw>
          </a:effectLst>
        </p:spPr>
        <p:txBody>
          <a:bodyPr wrap="none"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Copper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t>IUD</a:t>
            </a:r>
          </a:p>
        </p:txBody>
      </p:sp>
      <p:sp>
        <p:nvSpPr>
          <p:cNvPr id="40" name="combo button">
            <a:extLst>
              <a:ext uri="{FF2B5EF4-FFF2-40B4-BE49-F238E27FC236}">
                <a16:creationId xmlns:a16="http://schemas.microsoft.com/office/drawing/2014/main" id="{3C8D8DC3-C312-4421-9FAE-EB958CF4FF06}"/>
              </a:ext>
            </a:extLst>
          </p:cNvPr>
          <p:cNvSpPr txBox="1">
            <a:spLocks noChangeAspect="1"/>
          </p:cNvSpPr>
          <p:nvPr/>
        </p:nvSpPr>
        <p:spPr>
          <a:xfrm>
            <a:off x="10000902" y="883658"/>
            <a:ext cx="1693520" cy="730563"/>
          </a:xfrm>
          <a:prstGeom prst="roundRect">
            <a:avLst/>
          </a:prstGeom>
          <a:solidFill>
            <a:schemeClr val="bg1"/>
          </a:solidFill>
          <a:ln w="38100">
            <a:solidFill>
              <a:schemeClr val="accent1"/>
            </a:solidFill>
          </a:ln>
          <a:effectLst>
            <a:outerShdw blurRad="50800" dist="38100" dir="2700000" algn="tl" rotWithShape="0">
              <a:prstClr val="black">
                <a:alpha val="40000"/>
              </a:prstClr>
            </a:outerShdw>
          </a:effectLst>
        </p:spPr>
        <p:txBody>
          <a:bodyPr wrap="none"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Combo</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t>OCPs</a:t>
            </a:r>
          </a:p>
        </p:txBody>
      </p:sp>
      <p:graphicFrame>
        <p:nvGraphicFramePr>
          <p:cNvPr id="10" name="Plan B answers">
            <a:extLst>
              <a:ext uri="{FF2B5EF4-FFF2-40B4-BE49-F238E27FC236}">
                <a16:creationId xmlns:a16="http://schemas.microsoft.com/office/drawing/2014/main" id="{DA50C673-7429-4B57-BF19-3D37A66CAA6C}"/>
              </a:ext>
            </a:extLst>
          </p:cNvPr>
          <p:cNvGraphicFramePr>
            <a:graphicFrameLocks noGrp="1"/>
          </p:cNvGraphicFramePr>
          <p:nvPr>
            <p:extLst>
              <p:ext uri="{D42A27DB-BD31-4B8C-83A1-F6EECF244321}">
                <p14:modId xmlns:p14="http://schemas.microsoft.com/office/powerpoint/2010/main" val="3673646543"/>
              </p:ext>
            </p:extLst>
          </p:nvPr>
        </p:nvGraphicFramePr>
        <p:xfrm>
          <a:off x="4463144" y="1794083"/>
          <a:ext cx="1828800" cy="4765467"/>
        </p:xfrm>
        <a:graphic>
          <a:graphicData uri="http://schemas.openxmlformats.org/drawingml/2006/table">
            <a:tbl>
              <a:tblPr>
                <a:tableStyleId>{16D9F66E-5EB9-4882-86FB-DCBF35E3C3E4}</a:tableStyleId>
              </a:tblPr>
              <a:tblGrid>
                <a:gridCol w="1828800">
                  <a:extLst>
                    <a:ext uri="{9D8B030D-6E8A-4147-A177-3AD203B41FA5}">
                      <a16:colId xmlns:a16="http://schemas.microsoft.com/office/drawing/2014/main" val="4145565244"/>
                    </a:ext>
                  </a:extLst>
                </a:gridCol>
              </a:tblGrid>
              <a:tr h="1166372">
                <a:tc>
                  <a:txBody>
                    <a:bodyPr/>
                    <a:lstStyle/>
                    <a:p>
                      <a:pPr algn="ctr"/>
                      <a:endParaRPr lang="en-US" sz="1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727313171"/>
                  </a:ext>
                </a:extLst>
              </a:tr>
              <a:tr h="1075267">
                <a:tc>
                  <a:txBody>
                    <a:bodyPr/>
                    <a:lstStyle/>
                    <a:p>
                      <a:pPr algn="ctr"/>
                      <a:r>
                        <a:rPr lang="en-US" sz="1600" dirty="0">
                          <a:solidFill>
                            <a:schemeClr val="tx1"/>
                          </a:solidFill>
                        </a:rPr>
                        <a:t>Headache, nausea, next menses irregular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629954637"/>
                  </a:ext>
                </a:extLst>
              </a:tr>
              <a:tr h="822960">
                <a:tc>
                  <a:txBody>
                    <a:bodyPr/>
                    <a:lstStyle/>
                    <a:p>
                      <a:pPr algn="ctr"/>
                      <a:r>
                        <a:rPr lang="en-US" sz="1600" dirty="0">
                          <a:solidFill>
                            <a:schemeClr val="tx1"/>
                          </a:solidFill>
                        </a:rPr>
                        <a:t>52-100% if  </a:t>
                      </a:r>
                      <a:r>
                        <a:rPr lang="en-US" sz="1800" b="1" dirty="0">
                          <a:solidFill>
                            <a:schemeClr val="tx1"/>
                          </a:solidFill>
                        </a:rPr>
                        <a:t>&lt;72h. </a:t>
                      </a:r>
                      <a:endParaRPr lang="en-US" sz="1400" b="1" dirty="0">
                        <a:solidFill>
                          <a:schemeClr val="tx1"/>
                        </a:solidFill>
                      </a:endParaRPr>
                    </a:p>
                    <a:p>
                      <a:pPr algn="ctr"/>
                      <a:r>
                        <a:rPr lang="en-US" sz="1400" dirty="0">
                          <a:solidFill>
                            <a:schemeClr val="tx1"/>
                          </a:solidFill>
                        </a:rPr>
                        <a:t>Less effective if 72-120h or BMI &gt;25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376574919"/>
                  </a:ext>
                </a:extLst>
              </a:tr>
              <a:tr h="885017">
                <a:tc>
                  <a:txBody>
                    <a:bodyPr/>
                    <a:lstStyle/>
                    <a:p>
                      <a:pPr algn="ctr"/>
                      <a:r>
                        <a:rPr lang="en-US" sz="2400" dirty="0">
                          <a:solidFill>
                            <a:schemeClr val="tx1"/>
                          </a:solidFill>
                        </a:rPr>
                        <a:t>$$</a:t>
                      </a:r>
                    </a:p>
                    <a:p>
                      <a:pPr algn="ctr"/>
                      <a:r>
                        <a:rPr lang="en-US" sz="1400" dirty="0">
                          <a:solidFill>
                            <a:schemeClr val="tx1"/>
                          </a:solidFill>
                        </a:rPr>
                        <a:t>$35-50 each use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428430713"/>
                  </a:ext>
                </a:extLst>
              </a:tr>
              <a:tr h="815851">
                <a:tc>
                  <a:txBody>
                    <a:bodyPr/>
                    <a:lstStyle/>
                    <a:p>
                      <a:pPr algn="ctr"/>
                      <a:r>
                        <a:rPr lang="en-US" sz="1600" dirty="0">
                          <a:solidFill>
                            <a:schemeClr val="tx1"/>
                          </a:solidFill>
                        </a:rPr>
                        <a:t>PO within 120h of intercourse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603018717"/>
                  </a:ext>
                </a:extLst>
              </a:tr>
            </a:tbl>
          </a:graphicData>
        </a:graphic>
      </p:graphicFrame>
      <p:graphicFrame>
        <p:nvGraphicFramePr>
          <p:cNvPr id="41" name="IUD answers">
            <a:extLst>
              <a:ext uri="{FF2B5EF4-FFF2-40B4-BE49-F238E27FC236}">
                <a16:creationId xmlns:a16="http://schemas.microsoft.com/office/drawing/2014/main" id="{BC937D8E-4834-4512-8537-AB33894F961A}"/>
              </a:ext>
            </a:extLst>
          </p:cNvPr>
          <p:cNvGraphicFramePr>
            <a:graphicFrameLocks noGrp="1"/>
          </p:cNvGraphicFramePr>
          <p:nvPr>
            <p:extLst>
              <p:ext uri="{D42A27DB-BD31-4B8C-83A1-F6EECF244321}">
                <p14:modId xmlns:p14="http://schemas.microsoft.com/office/powerpoint/2010/main" val="3075142033"/>
              </p:ext>
            </p:extLst>
          </p:nvPr>
        </p:nvGraphicFramePr>
        <p:xfrm>
          <a:off x="8132286" y="1794083"/>
          <a:ext cx="1828800" cy="4765467"/>
        </p:xfrm>
        <a:graphic>
          <a:graphicData uri="http://schemas.openxmlformats.org/drawingml/2006/table">
            <a:tbl>
              <a:tblPr>
                <a:tableStyleId>{16D9F66E-5EB9-4882-86FB-DCBF35E3C3E4}</a:tableStyleId>
              </a:tblPr>
              <a:tblGrid>
                <a:gridCol w="1828800">
                  <a:extLst>
                    <a:ext uri="{9D8B030D-6E8A-4147-A177-3AD203B41FA5}">
                      <a16:colId xmlns:a16="http://schemas.microsoft.com/office/drawing/2014/main" val="4145565244"/>
                    </a:ext>
                  </a:extLst>
                </a:gridCol>
              </a:tblGrid>
              <a:tr h="822960">
                <a:tc>
                  <a:txBody>
                    <a:bodyPr/>
                    <a:lstStyle/>
                    <a:p>
                      <a:pPr algn="ctr"/>
                      <a:r>
                        <a:rPr lang="en-US" sz="1600" dirty="0">
                          <a:solidFill>
                            <a:schemeClr val="tx1"/>
                          </a:solidFill>
                        </a:rPr>
                        <a:t>Risk of </a:t>
                      </a:r>
                      <a:r>
                        <a:rPr lang="en-US" sz="1800" b="1" dirty="0">
                          <a:solidFill>
                            <a:schemeClr val="tx1"/>
                          </a:solidFill>
                        </a:rPr>
                        <a:t>perforation</a:t>
                      </a:r>
                      <a:r>
                        <a:rPr lang="en-US" sz="1400" dirty="0">
                          <a:solidFill>
                            <a:schemeClr val="tx1"/>
                          </a:solidFill>
                        </a:rPr>
                        <a:t>, </a:t>
                      </a:r>
                      <a:r>
                        <a:rPr lang="en-US" sz="1800" b="1" dirty="0">
                          <a:solidFill>
                            <a:schemeClr val="tx1"/>
                          </a:solidFill>
                        </a:rPr>
                        <a:t>infection</a:t>
                      </a:r>
                      <a:r>
                        <a:rPr lang="en-US" sz="1600" dirty="0">
                          <a:solidFill>
                            <a:schemeClr val="tx1"/>
                          </a:solidFill>
                        </a:rPr>
                        <a:t>, and </a:t>
                      </a:r>
                      <a:r>
                        <a:rPr lang="en-US" sz="1800" b="1" dirty="0">
                          <a:solidFill>
                            <a:schemeClr val="tx1"/>
                          </a:solidFill>
                        </a:rPr>
                        <a:t>ectopic</a:t>
                      </a:r>
                      <a:endParaRPr lang="en-US" sz="1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727313171"/>
                  </a:ext>
                </a:extLst>
              </a:tr>
              <a:tr h="1074932">
                <a:tc>
                  <a:txBody>
                    <a:bodyPr/>
                    <a:lstStyle/>
                    <a:p>
                      <a:pPr algn="ctr"/>
                      <a:r>
                        <a:rPr lang="en-US" sz="1600" dirty="0">
                          <a:solidFill>
                            <a:schemeClr val="tx1"/>
                          </a:solidFill>
                        </a:rPr>
                        <a:t>Initial spotting, then heavier menses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629954637"/>
                  </a:ext>
                </a:extLst>
              </a:tr>
              <a:tr h="822960">
                <a:tc>
                  <a:txBody>
                    <a:bodyPr/>
                    <a:lstStyle/>
                    <a:p>
                      <a:pPr algn="ctr"/>
                      <a:r>
                        <a:rPr lang="en-US" sz="1600" b="1" dirty="0">
                          <a:solidFill>
                            <a:schemeClr val="tx1"/>
                          </a:solidFill>
                        </a:rPr>
                        <a:t>99.9% effective </a:t>
                      </a:r>
                    </a:p>
                    <a:p>
                      <a:pPr algn="ctr"/>
                      <a:r>
                        <a:rPr lang="en-US" sz="1400" dirty="0">
                          <a:solidFill>
                            <a:schemeClr val="tx1"/>
                          </a:solidFill>
                        </a:rPr>
                        <a:t>if &lt;5 days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376574919"/>
                  </a:ext>
                </a:extLst>
              </a:tr>
              <a:tr h="89230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a:t>
                      </a:r>
                      <a:endParaRPr lang="en-US" sz="2000" dirty="0">
                        <a:solidFill>
                          <a:schemeClr val="tx1"/>
                        </a:solidFill>
                      </a:endParaRPr>
                    </a:p>
                    <a:p>
                      <a:pPr algn="ctr"/>
                      <a:r>
                        <a:rPr lang="en-US" sz="1400" dirty="0">
                          <a:solidFill>
                            <a:schemeClr val="tx1"/>
                          </a:solidFill>
                        </a:rPr>
                        <a:t>$500-1,000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428430713"/>
                  </a:ext>
                </a:extLst>
              </a:tr>
              <a:tr h="817033">
                <a:tc>
                  <a:txBody>
                    <a:bodyPr/>
                    <a:lstStyle/>
                    <a:p>
                      <a:pPr algn="ctr"/>
                      <a:r>
                        <a:rPr lang="en-US" sz="1400" dirty="0">
                          <a:solidFill>
                            <a:schemeClr val="tx1"/>
                          </a:solidFill>
                        </a:rPr>
                        <a:t>Intrauterine insertion q10 years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603018717"/>
                  </a:ext>
                </a:extLst>
              </a:tr>
            </a:tbl>
          </a:graphicData>
        </a:graphic>
      </p:graphicFrame>
      <p:graphicFrame>
        <p:nvGraphicFramePr>
          <p:cNvPr id="42" name="Ella answers">
            <a:extLst>
              <a:ext uri="{FF2B5EF4-FFF2-40B4-BE49-F238E27FC236}">
                <a16:creationId xmlns:a16="http://schemas.microsoft.com/office/drawing/2014/main" id="{E9CB02D9-00D8-4027-80F2-26F42F509E34}"/>
              </a:ext>
            </a:extLst>
          </p:cNvPr>
          <p:cNvGraphicFramePr>
            <a:graphicFrameLocks noGrp="1"/>
          </p:cNvGraphicFramePr>
          <p:nvPr>
            <p:extLst>
              <p:ext uri="{D42A27DB-BD31-4B8C-83A1-F6EECF244321}">
                <p14:modId xmlns:p14="http://schemas.microsoft.com/office/powerpoint/2010/main" val="3245237491"/>
              </p:ext>
            </p:extLst>
          </p:nvPr>
        </p:nvGraphicFramePr>
        <p:xfrm>
          <a:off x="6297173" y="1794083"/>
          <a:ext cx="1828800" cy="4768617"/>
        </p:xfrm>
        <a:graphic>
          <a:graphicData uri="http://schemas.openxmlformats.org/drawingml/2006/table">
            <a:tbl>
              <a:tblPr>
                <a:tableStyleId>{16D9F66E-5EB9-4882-86FB-DCBF35E3C3E4}</a:tableStyleId>
              </a:tblPr>
              <a:tblGrid>
                <a:gridCol w="1828800">
                  <a:extLst>
                    <a:ext uri="{9D8B030D-6E8A-4147-A177-3AD203B41FA5}">
                      <a16:colId xmlns:a16="http://schemas.microsoft.com/office/drawing/2014/main" val="4145565244"/>
                    </a:ext>
                  </a:extLst>
                </a:gridCol>
              </a:tblGrid>
              <a:tr h="1162139">
                <a:tc>
                  <a:txBody>
                    <a:bodyPr/>
                    <a:lstStyle/>
                    <a:p>
                      <a:pPr algn="ctr"/>
                      <a:r>
                        <a:rPr lang="en-US" sz="1600" dirty="0">
                          <a:solidFill>
                            <a:schemeClr val="tx1"/>
                          </a:solidFill>
                        </a:rPr>
                        <a:t>Pump and discard if breastfeeding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727313171"/>
                  </a:ext>
                </a:extLst>
              </a:tr>
              <a:tr h="1075266">
                <a:tc>
                  <a:txBody>
                    <a:bodyPr/>
                    <a:lstStyle/>
                    <a:p>
                      <a:pPr algn="ctr"/>
                      <a:r>
                        <a:rPr lang="en-US" sz="1600" dirty="0">
                          <a:solidFill>
                            <a:schemeClr val="tx1"/>
                          </a:solidFill>
                        </a:rPr>
                        <a:t>Headache, nausea, next menses irregular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629954637"/>
                  </a:ext>
                </a:extLst>
              </a:tr>
              <a:tr h="822960">
                <a:tc>
                  <a:txBody>
                    <a:bodyPr/>
                    <a:lstStyle/>
                    <a:p>
                      <a:pPr algn="ctr"/>
                      <a:r>
                        <a:rPr lang="en-US" sz="1600" dirty="0">
                          <a:solidFill>
                            <a:schemeClr val="tx1"/>
                          </a:solidFill>
                        </a:rPr>
                        <a:t>62-85% if </a:t>
                      </a:r>
                      <a:r>
                        <a:rPr lang="en-US" sz="1800" b="1" dirty="0">
                          <a:solidFill>
                            <a:schemeClr val="tx1"/>
                          </a:solidFill>
                        </a:rPr>
                        <a:t>&lt;120h.</a:t>
                      </a:r>
                    </a:p>
                    <a:p>
                      <a:pPr algn="ctr"/>
                      <a:r>
                        <a:rPr lang="en-US" sz="1400" dirty="0">
                          <a:solidFill>
                            <a:schemeClr val="tx1"/>
                          </a:solidFill>
                        </a:rPr>
                        <a:t>Less effective when on progestin methods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376574919"/>
                  </a:ext>
                </a:extLst>
              </a:tr>
              <a:tr h="885292">
                <a:tc>
                  <a:txBody>
                    <a:bodyPr/>
                    <a:lstStyle/>
                    <a:p>
                      <a:pPr algn="ctr"/>
                      <a:r>
                        <a:rPr lang="en-US" sz="2400" dirty="0">
                          <a:solidFill>
                            <a:schemeClr val="tx1"/>
                          </a:solidFill>
                        </a:rPr>
                        <a:t>$$</a:t>
                      </a:r>
                    </a:p>
                    <a:p>
                      <a:pPr algn="ctr"/>
                      <a:r>
                        <a:rPr lang="en-US" sz="1400" dirty="0">
                          <a:solidFill>
                            <a:schemeClr val="tx1"/>
                          </a:solidFill>
                        </a:rPr>
                        <a:t>$50-60 each use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428430713"/>
                  </a:ext>
                </a:extLst>
              </a:tr>
              <a:tr h="822960">
                <a:tc>
                  <a:txBody>
                    <a:bodyPr/>
                    <a:lstStyle/>
                    <a:p>
                      <a:pPr algn="ctr"/>
                      <a:r>
                        <a:rPr lang="en-US" sz="1600" dirty="0">
                          <a:solidFill>
                            <a:schemeClr val="tx1"/>
                          </a:solidFill>
                        </a:rPr>
                        <a:t>PO within 120h of intercourse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603018717"/>
                  </a:ext>
                </a:extLst>
              </a:tr>
            </a:tbl>
          </a:graphicData>
        </a:graphic>
      </p:graphicFrame>
      <p:graphicFrame>
        <p:nvGraphicFramePr>
          <p:cNvPr id="43" name="OCP answers">
            <a:extLst>
              <a:ext uri="{FF2B5EF4-FFF2-40B4-BE49-F238E27FC236}">
                <a16:creationId xmlns:a16="http://schemas.microsoft.com/office/drawing/2014/main" id="{9E2EEFD2-FE88-4CD4-BBC0-212F8B53B78D}"/>
              </a:ext>
            </a:extLst>
          </p:cNvPr>
          <p:cNvGraphicFramePr>
            <a:graphicFrameLocks noGrp="1"/>
          </p:cNvGraphicFramePr>
          <p:nvPr>
            <p:extLst>
              <p:ext uri="{D42A27DB-BD31-4B8C-83A1-F6EECF244321}">
                <p14:modId xmlns:p14="http://schemas.microsoft.com/office/powerpoint/2010/main" val="900996881"/>
              </p:ext>
            </p:extLst>
          </p:nvPr>
        </p:nvGraphicFramePr>
        <p:xfrm>
          <a:off x="9967399" y="1793608"/>
          <a:ext cx="1828800" cy="4764672"/>
        </p:xfrm>
        <a:graphic>
          <a:graphicData uri="http://schemas.openxmlformats.org/drawingml/2006/table">
            <a:tbl>
              <a:tblPr>
                <a:tableStyleId>{16D9F66E-5EB9-4882-86FB-DCBF35E3C3E4}</a:tableStyleId>
              </a:tblPr>
              <a:tblGrid>
                <a:gridCol w="1828800">
                  <a:extLst>
                    <a:ext uri="{9D8B030D-6E8A-4147-A177-3AD203B41FA5}">
                      <a16:colId xmlns:a16="http://schemas.microsoft.com/office/drawing/2014/main" val="4145565244"/>
                    </a:ext>
                  </a:extLst>
                </a:gridCol>
              </a:tblGrid>
              <a:tr h="1154423">
                <a:tc>
                  <a:txBody>
                    <a:bodyPr/>
                    <a:lstStyle/>
                    <a:p>
                      <a:pPr algn="ct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727313171"/>
                  </a:ext>
                </a:extLst>
              </a:tr>
              <a:tr h="1073746">
                <a:tc>
                  <a:txBody>
                    <a:bodyPr/>
                    <a:lstStyle/>
                    <a:p>
                      <a:pPr algn="ctr"/>
                      <a:r>
                        <a:rPr lang="en-US" sz="1600" dirty="0">
                          <a:solidFill>
                            <a:schemeClr val="tx1"/>
                          </a:solidFill>
                          <a:sym typeface="Wingdings" panose="05000000000000000000" pitchFamily="2" charset="2"/>
                        </a:rPr>
                        <a:t> n</a:t>
                      </a:r>
                      <a:r>
                        <a:rPr lang="en-US" sz="1600" dirty="0">
                          <a:solidFill>
                            <a:schemeClr val="tx1"/>
                          </a:solidFill>
                        </a:rPr>
                        <a:t>ausea/ vomiting, headache, next menses irregular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629954637"/>
                  </a:ext>
                </a:extLst>
              </a:tr>
              <a:tr h="829623">
                <a:tc>
                  <a:txBody>
                    <a:bodyPr/>
                    <a:lstStyle/>
                    <a:p>
                      <a:pPr algn="ctr"/>
                      <a:r>
                        <a:rPr lang="en-US" sz="1800" b="1" dirty="0">
                          <a:solidFill>
                            <a:schemeClr val="tx1"/>
                          </a:solidFill>
                        </a:rPr>
                        <a:t>50% </a:t>
                      </a:r>
                      <a:r>
                        <a:rPr lang="en-US" sz="1600" dirty="0">
                          <a:solidFill>
                            <a:schemeClr val="tx1"/>
                          </a:solidFill>
                        </a:rPr>
                        <a:t>if &lt;120h</a:t>
                      </a: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376574919"/>
                  </a:ext>
                </a:extLst>
              </a:tr>
              <a:tr h="843653">
                <a:tc>
                  <a:txBody>
                    <a:bodyPr/>
                    <a:lstStyle/>
                    <a:p>
                      <a:pPr algn="ctr"/>
                      <a:r>
                        <a:rPr lang="en-US" sz="2400" dirty="0">
                          <a:solidFill>
                            <a:schemeClr val="tx1"/>
                          </a:solidFill>
                        </a:rPr>
                        <a:t>$</a:t>
                      </a:r>
                    </a:p>
                    <a:p>
                      <a:pPr algn="ctr"/>
                      <a:r>
                        <a:rPr lang="en-US" sz="1400" dirty="0">
                          <a:solidFill>
                            <a:schemeClr val="tx1"/>
                          </a:solidFill>
                        </a:rPr>
                        <a:t>4-5 pills of generic OCP pack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28430713"/>
                  </a:ext>
                </a:extLst>
              </a:tr>
              <a:tr h="791962">
                <a:tc>
                  <a:txBody>
                    <a:bodyPr/>
                    <a:lstStyle/>
                    <a:p>
                      <a:pPr algn="ctr"/>
                      <a:r>
                        <a:rPr lang="en-US" sz="1600" dirty="0">
                          <a:solidFill>
                            <a:schemeClr val="tx1"/>
                          </a:solidFill>
                        </a:rPr>
                        <a:t>PO q12h x2 doses </a:t>
                      </a:r>
                    </a:p>
                    <a:p>
                      <a:pPr algn="ctr"/>
                      <a:r>
                        <a:rPr lang="en-US" sz="1600" dirty="0">
                          <a:solidFill>
                            <a:schemeClr val="tx1"/>
                          </a:solidFill>
                        </a:rPr>
                        <a:t>&lt;120h of intercourse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603018717"/>
                  </a:ext>
                </a:extLst>
              </a:tr>
            </a:tbl>
          </a:graphicData>
        </a:graphic>
      </p:graphicFrame>
      <p:pic>
        <p:nvPicPr>
          <p:cNvPr id="44" name="Graphic 43" descr="Cursor with solid fill">
            <a:extLst>
              <a:ext uri="{FF2B5EF4-FFF2-40B4-BE49-F238E27FC236}">
                <a16:creationId xmlns:a16="http://schemas.microsoft.com/office/drawing/2014/main" id="{CF91F0C0-130E-4CCA-92F0-9C53AE13940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034700" y="1463345"/>
            <a:ext cx="296010" cy="301752"/>
          </a:xfrm>
          <a:prstGeom prst="rect">
            <a:avLst/>
          </a:prstGeom>
        </p:spPr>
      </p:pic>
      <p:pic>
        <p:nvPicPr>
          <p:cNvPr id="45" name="Graphic 44" descr="Cursor with solid fill">
            <a:extLst>
              <a:ext uri="{FF2B5EF4-FFF2-40B4-BE49-F238E27FC236}">
                <a16:creationId xmlns:a16="http://schemas.microsoft.com/office/drawing/2014/main" id="{B269725E-C94F-443F-B25C-74902C6802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867745" y="1463345"/>
            <a:ext cx="296010" cy="301752"/>
          </a:xfrm>
          <a:prstGeom prst="rect">
            <a:avLst/>
          </a:prstGeom>
        </p:spPr>
      </p:pic>
      <p:pic>
        <p:nvPicPr>
          <p:cNvPr id="46" name="Graphic 45" descr="Cursor with solid fill">
            <a:extLst>
              <a:ext uri="{FF2B5EF4-FFF2-40B4-BE49-F238E27FC236}">
                <a16:creationId xmlns:a16="http://schemas.microsoft.com/office/drawing/2014/main" id="{9926F5E7-1E82-4079-8720-E9996A9894E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700790" y="1459862"/>
            <a:ext cx="296010" cy="301752"/>
          </a:xfrm>
          <a:prstGeom prst="rect">
            <a:avLst/>
          </a:prstGeom>
        </p:spPr>
      </p:pic>
      <p:pic>
        <p:nvPicPr>
          <p:cNvPr id="47" name="Graphic 46" descr="Cursor with solid fill">
            <a:extLst>
              <a:ext uri="{FF2B5EF4-FFF2-40B4-BE49-F238E27FC236}">
                <a16:creationId xmlns:a16="http://schemas.microsoft.com/office/drawing/2014/main" id="{F38DC850-A32A-479A-863C-BFF615A9FB3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3836" y="1442309"/>
            <a:ext cx="296010" cy="301752"/>
          </a:xfrm>
          <a:prstGeom prst="rect">
            <a:avLst/>
          </a:prstGeom>
        </p:spPr>
      </p:pic>
      <p:pic>
        <p:nvPicPr>
          <p:cNvPr id="12" name="Graphic 11" descr="Checkmark outline">
            <a:extLst>
              <a:ext uri="{FF2B5EF4-FFF2-40B4-BE49-F238E27FC236}">
                <a16:creationId xmlns:a16="http://schemas.microsoft.com/office/drawing/2014/main" id="{143138D8-7315-4A25-9591-CDA10E3CE276}"/>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009987" y="1958540"/>
            <a:ext cx="772487" cy="772487"/>
          </a:xfrm>
          <a:prstGeom prst="rect">
            <a:avLst/>
          </a:prstGeom>
        </p:spPr>
      </p:pic>
      <p:pic>
        <p:nvPicPr>
          <p:cNvPr id="48" name="Graphic 47" descr="Checkmark outline">
            <a:extLst>
              <a:ext uri="{FF2B5EF4-FFF2-40B4-BE49-F238E27FC236}">
                <a16:creationId xmlns:a16="http://schemas.microsoft.com/office/drawing/2014/main" id="{DAA38823-FF70-49F9-88FB-AEA6A827FF88}"/>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476870" y="1943456"/>
            <a:ext cx="772487" cy="772487"/>
          </a:xfrm>
          <a:prstGeom prst="rect">
            <a:avLst/>
          </a:prstGeom>
        </p:spPr>
      </p:pic>
      <p:sp>
        <p:nvSpPr>
          <p:cNvPr id="35" name="question 1">
            <a:hlinkClick r:id="rId7" action="ppaction://hlinksldjump"/>
            <a:extLst>
              <a:ext uri="{FF2B5EF4-FFF2-40B4-BE49-F238E27FC236}">
                <a16:creationId xmlns:a16="http://schemas.microsoft.com/office/drawing/2014/main" id="{0EC29D92-DEA3-4626-8B2C-7D375A881567}"/>
              </a:ext>
            </a:extLst>
          </p:cNvPr>
          <p:cNvSpPr txBox="1"/>
          <p:nvPr/>
        </p:nvSpPr>
        <p:spPr>
          <a:xfrm>
            <a:off x="188535" y="192736"/>
            <a:ext cx="1905394"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PATH Questions</a:t>
            </a:r>
          </a:p>
        </p:txBody>
      </p:sp>
      <p:sp>
        <p:nvSpPr>
          <p:cNvPr id="49" name="question 4">
            <a:hlinkClick r:id="rId8" action="ppaction://hlinksldjump"/>
            <a:extLst>
              <a:ext uri="{FF2B5EF4-FFF2-40B4-BE49-F238E27FC236}">
                <a16:creationId xmlns:a16="http://schemas.microsoft.com/office/drawing/2014/main" id="{8371F381-DB21-4BBB-B512-8384BD21815B}"/>
              </a:ext>
            </a:extLst>
          </p:cNvPr>
          <p:cNvSpPr txBox="1"/>
          <p:nvPr/>
        </p:nvSpPr>
        <p:spPr>
          <a:xfrm>
            <a:off x="188535" y="1937569"/>
            <a:ext cx="1905393"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chemeClr val="bg1"/>
                </a:solidFill>
              </a:rPr>
              <a:t>Emergency Use</a:t>
            </a:r>
          </a:p>
        </p:txBody>
      </p:sp>
      <p:sp>
        <p:nvSpPr>
          <p:cNvPr id="54" name="Cases">
            <a:hlinkClick r:id="rId9" action="ppaction://hlinksldjump"/>
            <a:extLst>
              <a:ext uri="{FF2B5EF4-FFF2-40B4-BE49-F238E27FC236}">
                <a16:creationId xmlns:a16="http://schemas.microsoft.com/office/drawing/2014/main" id="{517E1A9E-AF2D-40D8-A4B4-CD6E3563183D}"/>
              </a:ext>
            </a:extLst>
          </p:cNvPr>
          <p:cNvSpPr txBox="1"/>
          <p:nvPr/>
        </p:nvSpPr>
        <p:spPr>
          <a:xfrm>
            <a:off x="188535" y="2519180"/>
            <a:ext cx="1905392"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Cases</a:t>
            </a:r>
          </a:p>
        </p:txBody>
      </p:sp>
      <p:sp>
        <p:nvSpPr>
          <p:cNvPr id="55" name="question 3">
            <a:hlinkClick r:id="rId10" action="ppaction://hlinksldjump"/>
            <a:extLst>
              <a:ext uri="{FF2B5EF4-FFF2-40B4-BE49-F238E27FC236}">
                <a16:creationId xmlns:a16="http://schemas.microsoft.com/office/drawing/2014/main" id="{850F8BC0-EF55-4A58-9287-6BCC517415C2}"/>
              </a:ext>
            </a:extLst>
          </p:cNvPr>
          <p:cNvSpPr txBox="1"/>
          <p:nvPr/>
        </p:nvSpPr>
        <p:spPr>
          <a:xfrm>
            <a:off x="188535" y="774347"/>
            <a:ext cx="190539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Methods</a:t>
            </a:r>
          </a:p>
        </p:txBody>
      </p:sp>
      <p:sp>
        <p:nvSpPr>
          <p:cNvPr id="57" name="Question 2">
            <a:hlinkClick r:id="rId11" action="ppaction://hlinksldjump"/>
            <a:extLst>
              <a:ext uri="{FF2B5EF4-FFF2-40B4-BE49-F238E27FC236}">
                <a16:creationId xmlns:a16="http://schemas.microsoft.com/office/drawing/2014/main" id="{122AA719-7572-4E9D-80F2-42BD477E597D}"/>
              </a:ext>
            </a:extLst>
          </p:cNvPr>
          <p:cNvSpPr txBox="1"/>
          <p:nvPr/>
        </p:nvSpPr>
        <p:spPr>
          <a:xfrm>
            <a:off x="188535" y="1355958"/>
            <a:ext cx="190539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Contraindications</a:t>
            </a:r>
          </a:p>
        </p:txBody>
      </p:sp>
      <p:pic>
        <p:nvPicPr>
          <p:cNvPr id="61" name="Graphic 60" descr="Cursor with solid fill">
            <a:extLst>
              <a:ext uri="{FF2B5EF4-FFF2-40B4-BE49-F238E27FC236}">
                <a16:creationId xmlns:a16="http://schemas.microsoft.com/office/drawing/2014/main" id="{A216ABED-7823-43D8-8A6F-EE9B03321A5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68119" y="1625692"/>
            <a:ext cx="296010" cy="301752"/>
          </a:xfrm>
          <a:prstGeom prst="rect">
            <a:avLst/>
          </a:prstGeom>
        </p:spPr>
      </p:pic>
      <p:pic>
        <p:nvPicPr>
          <p:cNvPr id="63" name="Graphic 62" descr="Cursor with solid fill">
            <a:extLst>
              <a:ext uri="{FF2B5EF4-FFF2-40B4-BE49-F238E27FC236}">
                <a16:creationId xmlns:a16="http://schemas.microsoft.com/office/drawing/2014/main" id="{438C51F4-7576-4825-A9E6-5396DC1C5CC6}"/>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68119" y="2781085"/>
            <a:ext cx="296010" cy="301752"/>
          </a:xfrm>
          <a:prstGeom prst="rect">
            <a:avLst/>
          </a:prstGeom>
        </p:spPr>
      </p:pic>
      <p:pic>
        <p:nvPicPr>
          <p:cNvPr id="66" name="Graphic 65" descr="Cursor with solid fill">
            <a:extLst>
              <a:ext uri="{FF2B5EF4-FFF2-40B4-BE49-F238E27FC236}">
                <a16:creationId xmlns:a16="http://schemas.microsoft.com/office/drawing/2014/main" id="{5874308C-D714-4DEC-B502-D209DE027534}"/>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68119" y="6556248"/>
            <a:ext cx="296010" cy="301752"/>
          </a:xfrm>
          <a:prstGeom prst="rect">
            <a:avLst/>
          </a:prstGeom>
        </p:spPr>
      </p:pic>
      <p:grpSp>
        <p:nvGrpSpPr>
          <p:cNvPr id="67" name="Group 66">
            <a:extLst>
              <a:ext uri="{FF2B5EF4-FFF2-40B4-BE49-F238E27FC236}">
                <a16:creationId xmlns:a16="http://schemas.microsoft.com/office/drawing/2014/main" id="{D847E786-8163-4DF6-B310-CD794DD64E03}"/>
              </a:ext>
            </a:extLst>
          </p:cNvPr>
          <p:cNvGrpSpPr/>
          <p:nvPr/>
        </p:nvGrpSpPr>
        <p:grpSpPr>
          <a:xfrm>
            <a:off x="201969" y="3517730"/>
            <a:ext cx="2642832" cy="1714578"/>
            <a:chOff x="2508321" y="126116"/>
            <a:chExt cx="3031977" cy="1952806"/>
          </a:xfrm>
        </p:grpSpPr>
        <p:pic>
          <p:nvPicPr>
            <p:cNvPr id="68" name="Picture 67" descr="Qr code&#10;&#10;Description automatically generated">
              <a:extLst>
                <a:ext uri="{FF2B5EF4-FFF2-40B4-BE49-F238E27FC236}">
                  <a16:creationId xmlns:a16="http://schemas.microsoft.com/office/drawing/2014/main" id="{6D4A2839-18DD-4C52-A1E6-AE811483EE9D}"/>
                </a:ext>
              </a:extLst>
            </p:cNvPr>
            <p:cNvPicPr>
              <a:picLocks noChangeAspect="1"/>
            </p:cNvPicPr>
            <p:nvPr/>
          </p:nvPicPr>
          <p:blipFill>
            <a:blip r:embed="rId12" cstate="print">
              <a:extLst>
                <a:ext uri="{28A0092B-C50C-407E-A947-70E740481C1C}">
                  <a14:useLocalDpi xmlns:a14="http://schemas.microsoft.com/office/drawing/2010/main"/>
                </a:ext>
              </a:extLst>
            </a:blip>
            <a:stretch>
              <a:fillRect/>
            </a:stretch>
          </p:blipFill>
          <p:spPr>
            <a:xfrm>
              <a:off x="3957013" y="511285"/>
              <a:ext cx="1549400" cy="1549400"/>
            </a:xfrm>
            <a:prstGeom prst="rect">
              <a:avLst/>
            </a:prstGeom>
          </p:spPr>
        </p:pic>
        <p:pic>
          <p:nvPicPr>
            <p:cNvPr id="69" name="Picture 2" descr="Contraception Point-of-Care on the App Store">
              <a:extLst>
                <a:ext uri="{FF2B5EF4-FFF2-40B4-BE49-F238E27FC236}">
                  <a16:creationId xmlns:a16="http://schemas.microsoft.com/office/drawing/2014/main" id="{A4332F08-E9C4-49A1-98A3-2ADECD04E7D3}"/>
                </a:ext>
              </a:extLst>
            </p:cNvPr>
            <p:cNvPicPr>
              <a:picLocks noChangeAspect="1" noChangeArrowheads="1"/>
            </p:cNvPicPr>
            <p:nvPr/>
          </p:nvPicPr>
          <p:blipFill rotWithShape="1">
            <a:blip r:embed="rId13" cstate="print">
              <a:extLst>
                <a:ext uri="{28A0092B-C50C-407E-A947-70E740481C1C}">
                  <a14:useLocalDpi xmlns:a14="http://schemas.microsoft.com/office/drawing/2010/main"/>
                </a:ext>
              </a:extLst>
            </a:blip>
            <a:srcRect/>
            <a:stretch/>
          </p:blipFill>
          <p:spPr bwMode="auto">
            <a:xfrm>
              <a:off x="2589725" y="635044"/>
              <a:ext cx="1285993" cy="1278225"/>
            </a:xfrm>
            <a:prstGeom prst="roundRect">
              <a:avLst>
                <a:gd name="adj" fmla="val 24459"/>
              </a:avLst>
            </a:prstGeom>
            <a:noFill/>
            <a:extLst>
              <a:ext uri="{909E8E84-426E-40DD-AFC4-6F175D3DCCD1}">
                <a14:hiddenFill xmlns:a14="http://schemas.microsoft.com/office/drawing/2010/main">
                  <a:solidFill>
                    <a:srgbClr val="FFFFFF"/>
                  </a:solidFill>
                </a14:hiddenFill>
              </a:ext>
            </a:extLst>
          </p:spPr>
        </p:pic>
        <p:sp>
          <p:nvSpPr>
            <p:cNvPr id="70" name="TextBox 69">
              <a:extLst>
                <a:ext uri="{FF2B5EF4-FFF2-40B4-BE49-F238E27FC236}">
                  <a16:creationId xmlns:a16="http://schemas.microsoft.com/office/drawing/2014/main" id="{DF3F1A92-AF20-4A1D-82FF-12850A000175}"/>
                </a:ext>
              </a:extLst>
            </p:cNvPr>
            <p:cNvSpPr txBox="1"/>
            <p:nvPr/>
          </p:nvSpPr>
          <p:spPr>
            <a:xfrm>
              <a:off x="2508321" y="126116"/>
              <a:ext cx="3031977" cy="1952806"/>
            </a:xfrm>
            <a:prstGeom prst="rect">
              <a:avLst/>
            </a:prstGeom>
            <a:noFill/>
            <a:ln>
              <a:solidFill>
                <a:schemeClr val="tx1"/>
              </a:solidFill>
            </a:ln>
          </p:spPr>
          <p:txBody>
            <a:bodyPr wrap="square" rtlCol="0">
              <a:noAutofit/>
            </a:bodyPr>
            <a:lstStyle/>
            <a:p>
              <a:pPr algn="ctr"/>
              <a:r>
                <a:rPr lang="en-US" b="1"/>
                <a:t>Contraception App</a:t>
              </a:r>
            </a:p>
          </p:txBody>
        </p:sp>
      </p:grpSp>
      <p:sp>
        <p:nvSpPr>
          <p:cNvPr id="71" name="TextBox 70">
            <a:extLst>
              <a:ext uri="{FF2B5EF4-FFF2-40B4-BE49-F238E27FC236}">
                <a16:creationId xmlns:a16="http://schemas.microsoft.com/office/drawing/2014/main" id="{3D107CBD-B9D9-4CE6-BD8E-7ECDDF13BC91}"/>
              </a:ext>
            </a:extLst>
          </p:cNvPr>
          <p:cNvSpPr txBox="1"/>
          <p:nvPr/>
        </p:nvSpPr>
        <p:spPr>
          <a:xfrm>
            <a:off x="3873513" y="135437"/>
            <a:ext cx="7131434" cy="523220"/>
          </a:xfrm>
          <a:prstGeom prst="rect">
            <a:avLst/>
          </a:prstGeom>
          <a:noFill/>
        </p:spPr>
        <p:txBody>
          <a:bodyPr wrap="square" rtlCol="0">
            <a:spAutoFit/>
          </a:bodyPr>
          <a:lstStyle/>
          <a:p>
            <a:pPr algn="ctr"/>
            <a:r>
              <a:rPr lang="en-US" sz="2800" b="1" dirty="0"/>
              <a:t>Emergency Use Contraceptives</a:t>
            </a:r>
          </a:p>
        </p:txBody>
      </p:sp>
      <p:sp>
        <p:nvSpPr>
          <p:cNvPr id="75" name="plan b button">
            <a:extLst>
              <a:ext uri="{FF2B5EF4-FFF2-40B4-BE49-F238E27FC236}">
                <a16:creationId xmlns:a16="http://schemas.microsoft.com/office/drawing/2014/main" id="{DD76C88B-286F-4EB0-A211-876D47F5929F}"/>
              </a:ext>
            </a:extLst>
          </p:cNvPr>
          <p:cNvSpPr txBox="1">
            <a:spLocks noChangeAspect="1"/>
          </p:cNvSpPr>
          <p:nvPr/>
        </p:nvSpPr>
        <p:spPr>
          <a:xfrm>
            <a:off x="4491381" y="891367"/>
            <a:ext cx="1693520" cy="730563"/>
          </a:xfrm>
          <a:prstGeom prst="roundRect">
            <a:avLst/>
          </a:prstGeom>
          <a:solidFill>
            <a:schemeClr val="accent4"/>
          </a:solidFill>
          <a:ln w="38100">
            <a:solidFill>
              <a:schemeClr val="accent4"/>
            </a:solidFill>
          </a:ln>
          <a:effectLst/>
        </p:spPr>
        <p:txBody>
          <a:bodyPr wrap="none" rtlCol="0">
            <a:noAutofit/>
          </a:bodyPr>
          <a:lstStyle/>
          <a:p>
            <a:pPr algn="ctr"/>
            <a:r>
              <a:rPr lang="en-US" dirty="0">
                <a:solidFill>
                  <a:schemeClr val="bg1"/>
                </a:solidFill>
              </a:rPr>
              <a:t>Levonorgestrel</a:t>
            </a:r>
          </a:p>
          <a:p>
            <a:pPr algn="ctr"/>
            <a:r>
              <a:rPr lang="en-US" dirty="0">
                <a:solidFill>
                  <a:schemeClr val="bg1"/>
                </a:solidFill>
              </a:rPr>
              <a:t>(Plan B)</a:t>
            </a:r>
          </a:p>
        </p:txBody>
      </p:sp>
      <p:sp>
        <p:nvSpPr>
          <p:cNvPr id="76" name="Ella button">
            <a:extLst>
              <a:ext uri="{FF2B5EF4-FFF2-40B4-BE49-F238E27FC236}">
                <a16:creationId xmlns:a16="http://schemas.microsoft.com/office/drawing/2014/main" id="{94CC3963-7D21-4E42-9838-F0A888C006FB}"/>
              </a:ext>
            </a:extLst>
          </p:cNvPr>
          <p:cNvSpPr txBox="1">
            <a:spLocks noChangeAspect="1"/>
          </p:cNvSpPr>
          <p:nvPr/>
        </p:nvSpPr>
        <p:spPr>
          <a:xfrm>
            <a:off x="6326477" y="891367"/>
            <a:ext cx="1693520" cy="730563"/>
          </a:xfrm>
          <a:prstGeom prst="roundRect">
            <a:avLst/>
          </a:prstGeom>
          <a:solidFill>
            <a:schemeClr val="accent6"/>
          </a:solidFill>
          <a:ln w="38100">
            <a:solidFill>
              <a:schemeClr val="accent6"/>
            </a:solidFill>
          </a:ln>
          <a:effectLst/>
        </p:spPr>
        <p:txBody>
          <a:bodyPr wrap="none" rtlCol="0">
            <a:noAutofit/>
          </a:bodyPr>
          <a:lstStyle/>
          <a:p>
            <a:pPr algn="ctr"/>
            <a:r>
              <a:rPr lang="en-US" dirty="0">
                <a:solidFill>
                  <a:schemeClr val="bg1"/>
                </a:solidFill>
              </a:rPr>
              <a:t>Ulipristal</a:t>
            </a:r>
          </a:p>
          <a:p>
            <a:pPr algn="ctr"/>
            <a:r>
              <a:rPr lang="en-US" dirty="0">
                <a:solidFill>
                  <a:schemeClr val="bg1"/>
                </a:solidFill>
              </a:rPr>
              <a:t>(Ella)</a:t>
            </a:r>
          </a:p>
        </p:txBody>
      </p:sp>
      <p:sp>
        <p:nvSpPr>
          <p:cNvPr id="77" name="IUD button">
            <a:extLst>
              <a:ext uri="{FF2B5EF4-FFF2-40B4-BE49-F238E27FC236}">
                <a16:creationId xmlns:a16="http://schemas.microsoft.com/office/drawing/2014/main" id="{187DA794-9621-4444-BC6F-DE057B02F998}"/>
              </a:ext>
            </a:extLst>
          </p:cNvPr>
          <p:cNvSpPr txBox="1">
            <a:spLocks noChangeAspect="1"/>
          </p:cNvSpPr>
          <p:nvPr/>
        </p:nvSpPr>
        <p:spPr>
          <a:xfrm>
            <a:off x="8161573" y="891367"/>
            <a:ext cx="1693520" cy="730563"/>
          </a:xfrm>
          <a:prstGeom prst="roundRect">
            <a:avLst/>
          </a:prstGeom>
          <a:solidFill>
            <a:schemeClr val="accent2"/>
          </a:solidFill>
          <a:ln w="38100">
            <a:solidFill>
              <a:schemeClr val="accent2"/>
            </a:solidFill>
          </a:ln>
          <a:effectLst/>
        </p:spPr>
        <p:txBody>
          <a:bodyPr wrap="none"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olidFill>
                  <a:schemeClr val="bg1"/>
                </a:solidFill>
              </a:rPr>
              <a:t>Copper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solidFill>
                  <a:schemeClr val="bg1"/>
                </a:solidFill>
              </a:rPr>
              <a:t>IUD</a:t>
            </a:r>
          </a:p>
        </p:txBody>
      </p:sp>
      <p:sp>
        <p:nvSpPr>
          <p:cNvPr id="78" name="combo button">
            <a:extLst>
              <a:ext uri="{FF2B5EF4-FFF2-40B4-BE49-F238E27FC236}">
                <a16:creationId xmlns:a16="http://schemas.microsoft.com/office/drawing/2014/main" id="{9B31F98E-B7AB-4F86-BF87-D405C8C6BF59}"/>
              </a:ext>
            </a:extLst>
          </p:cNvPr>
          <p:cNvSpPr txBox="1">
            <a:spLocks noChangeAspect="1"/>
          </p:cNvSpPr>
          <p:nvPr/>
        </p:nvSpPr>
        <p:spPr>
          <a:xfrm>
            <a:off x="10004435" y="899943"/>
            <a:ext cx="1693520" cy="730563"/>
          </a:xfrm>
          <a:prstGeom prst="roundRect">
            <a:avLst/>
          </a:prstGeom>
          <a:solidFill>
            <a:schemeClr val="accent1"/>
          </a:solidFill>
          <a:ln w="38100">
            <a:solidFill>
              <a:schemeClr val="accent1"/>
            </a:solidFill>
          </a:ln>
          <a:effectLst/>
        </p:spPr>
        <p:txBody>
          <a:bodyPr wrap="none"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Combo</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OCPs</a:t>
            </a:r>
          </a:p>
        </p:txBody>
      </p:sp>
      <p:pic>
        <p:nvPicPr>
          <p:cNvPr id="50" name="Graphic 49" descr="Cursor with solid fill">
            <a:extLst>
              <a:ext uri="{FF2B5EF4-FFF2-40B4-BE49-F238E27FC236}">
                <a16:creationId xmlns:a16="http://schemas.microsoft.com/office/drawing/2014/main" id="{7AE5DD20-1C34-4616-BF64-69DC016D287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68119" y="458872"/>
            <a:ext cx="296010" cy="301752"/>
          </a:xfrm>
          <a:prstGeom prst="rect">
            <a:avLst/>
          </a:prstGeom>
        </p:spPr>
      </p:pic>
      <p:pic>
        <p:nvPicPr>
          <p:cNvPr id="51" name="Graphic 50" descr="Cursor with solid fill">
            <a:extLst>
              <a:ext uri="{FF2B5EF4-FFF2-40B4-BE49-F238E27FC236}">
                <a16:creationId xmlns:a16="http://schemas.microsoft.com/office/drawing/2014/main" id="{7299575C-2478-4753-B2F7-5F048E997CF0}"/>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68119" y="1039533"/>
            <a:ext cx="296010" cy="301752"/>
          </a:xfrm>
          <a:prstGeom prst="rect">
            <a:avLst/>
          </a:prstGeom>
        </p:spPr>
      </p:pic>
      <p:sp>
        <p:nvSpPr>
          <p:cNvPr id="52" name="sub-q 1 button">
            <a:hlinkClick r:id="rId14" action="ppaction://hlinksldjump"/>
            <a:extLst>
              <a:ext uri="{FF2B5EF4-FFF2-40B4-BE49-F238E27FC236}">
                <a16:creationId xmlns:a16="http://schemas.microsoft.com/office/drawing/2014/main" id="{F90F776D-1965-4F66-AD6F-BBB4CABAE424}"/>
              </a:ext>
            </a:extLst>
          </p:cNvPr>
          <p:cNvSpPr txBox="1"/>
          <p:nvPr/>
        </p:nvSpPr>
        <p:spPr>
          <a:xfrm>
            <a:off x="188535" y="6289886"/>
            <a:ext cx="1905392"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Bonus Resources</a:t>
            </a:r>
          </a:p>
        </p:txBody>
      </p:sp>
    </p:spTree>
    <p:extLst>
      <p:ext uri="{BB962C8B-B14F-4D97-AF65-F5344CB8AC3E}">
        <p14:creationId xmlns:p14="http://schemas.microsoft.com/office/powerpoint/2010/main" val="326024638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ntr" presetSubtype="0" fill="hold" grpId="0" nodeType="with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44"/>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nextCondLst>
                <p:cond evt="onClick" delay="0">
                  <p:tgtEl>
                    <p:spTgt spid="7"/>
                  </p:tgtEl>
                </p:cond>
              </p:nextCondLst>
            </p:seq>
            <p:seq concurrent="1" nextAc="seek">
              <p:cTn id="15" restart="whenNotActive" fill="hold" evtFilter="cancelBubble" nodeType="interactiveSeq">
                <p:stCondLst>
                  <p:cond evt="onClick" delay="0">
                    <p:tgtEl>
                      <p:spTgt spid="38"/>
                    </p:tgtEl>
                  </p:cond>
                </p:stCondLst>
                <p:endSync evt="end" delay="0">
                  <p:rtn val="all"/>
                </p:endSync>
                <p:childTnLst>
                  <p:par>
                    <p:cTn id="16" fill="hold">
                      <p:stCondLst>
                        <p:cond delay="0"/>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2"/>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76"/>
                                        </p:tgtEl>
                                        <p:attrNameLst>
                                          <p:attrName>style.visibility</p:attrName>
                                        </p:attrNameLst>
                                      </p:cBhvr>
                                      <p:to>
                                        <p:strVal val="visible"/>
                                      </p:to>
                                    </p:set>
                                  </p:childTnLst>
                                </p:cTn>
                              </p:par>
                              <p:par>
                                <p:cTn id="22" presetID="1" presetClass="exit" presetSubtype="0" fill="hold" grpId="0" nodeType="withEffect">
                                  <p:stCondLst>
                                    <p:cond delay="0"/>
                                  </p:stCondLst>
                                  <p:childTnLst>
                                    <p:set>
                                      <p:cBhvr>
                                        <p:cTn id="23" dur="1" fill="hold">
                                          <p:stCondLst>
                                            <p:cond delay="0"/>
                                          </p:stCondLst>
                                        </p:cTn>
                                        <p:tgtEl>
                                          <p:spTgt spid="38"/>
                                        </p:tgtEl>
                                        <p:attrNameLst>
                                          <p:attrName>style.visibility</p:attrName>
                                        </p:attrNameLst>
                                      </p:cBhvr>
                                      <p:to>
                                        <p:strVal val="hidden"/>
                                      </p:to>
                                    </p:set>
                                  </p:childTnLst>
                                </p:cTn>
                              </p:par>
                              <p:par>
                                <p:cTn id="24" presetID="1" presetClass="exit" presetSubtype="0" fill="hold" nodeType="withEffect">
                                  <p:stCondLst>
                                    <p:cond delay="0"/>
                                  </p:stCondLst>
                                  <p:childTnLst>
                                    <p:set>
                                      <p:cBhvr>
                                        <p:cTn id="25" dur="1" fill="hold">
                                          <p:stCondLst>
                                            <p:cond delay="0"/>
                                          </p:stCondLst>
                                        </p:cTn>
                                        <p:tgtEl>
                                          <p:spTgt spid="45"/>
                                        </p:tgtEl>
                                        <p:attrNameLst>
                                          <p:attrName>style.visibility</p:attrName>
                                        </p:attrNameLst>
                                      </p:cBhvr>
                                      <p:to>
                                        <p:strVal val="hidden"/>
                                      </p:to>
                                    </p:set>
                                  </p:childTnLst>
                                </p:cTn>
                              </p:par>
                            </p:childTnLst>
                          </p:cTn>
                        </p:par>
                      </p:childTnLst>
                    </p:cTn>
                  </p:par>
                </p:childTnLst>
              </p:cTn>
              <p:nextCondLst>
                <p:cond evt="onClick" delay="0">
                  <p:tgtEl>
                    <p:spTgt spid="38"/>
                  </p:tgtEl>
                </p:cond>
              </p:nextCondLst>
            </p:seq>
            <p:seq concurrent="1" nextAc="seek">
              <p:cTn id="26" restart="whenNotActive" fill="hold" evtFilter="cancelBubble" nodeType="interactiveSeq">
                <p:stCondLst>
                  <p:cond evt="onClick" delay="0">
                    <p:tgtEl>
                      <p:spTgt spid="39"/>
                    </p:tgtEl>
                  </p:cond>
                </p:stCondLst>
                <p:endSync evt="end" delay="0">
                  <p:rtn val="all"/>
                </p:endSync>
                <p:childTnLst>
                  <p:par>
                    <p:cTn id="27" fill="hold">
                      <p:stCondLst>
                        <p:cond delay="0"/>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7"/>
                                        </p:tgtEl>
                                        <p:attrNameLst>
                                          <p:attrName>style.visibility</p:attrName>
                                        </p:attrNameLst>
                                      </p:cBhvr>
                                      <p:to>
                                        <p:strVal val="visible"/>
                                      </p:to>
                                    </p:set>
                                  </p:childTnLst>
                                </p:cTn>
                              </p:par>
                              <p:par>
                                <p:cTn id="33" presetID="1" presetClass="exit" presetSubtype="0" fill="hold" grpId="0" nodeType="withEffect">
                                  <p:stCondLst>
                                    <p:cond delay="0"/>
                                  </p:stCondLst>
                                  <p:childTnLst>
                                    <p:set>
                                      <p:cBhvr>
                                        <p:cTn id="34" dur="1" fill="hold">
                                          <p:stCondLst>
                                            <p:cond delay="0"/>
                                          </p:stCondLst>
                                        </p:cTn>
                                        <p:tgtEl>
                                          <p:spTgt spid="39"/>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46"/>
                                        </p:tgtEl>
                                        <p:attrNameLst>
                                          <p:attrName>style.visibility</p:attrName>
                                        </p:attrNameLst>
                                      </p:cBhvr>
                                      <p:to>
                                        <p:strVal val="hidden"/>
                                      </p:to>
                                    </p:set>
                                  </p:childTnLst>
                                </p:cTn>
                              </p:par>
                            </p:childTnLst>
                          </p:cTn>
                        </p:par>
                      </p:childTnLst>
                    </p:cTn>
                  </p:par>
                </p:childTnLst>
              </p:cTn>
              <p:nextCondLst>
                <p:cond evt="onClick" delay="0">
                  <p:tgtEl>
                    <p:spTgt spid="39"/>
                  </p:tgtEl>
                </p:cond>
              </p:nextCondLst>
            </p:seq>
            <p:seq concurrent="1" nextAc="seek">
              <p:cTn id="37" restart="whenNotActive" fill="hold" evtFilter="cancelBubble" nodeType="interactiveSeq">
                <p:stCondLst>
                  <p:cond evt="onClick" delay="0">
                    <p:tgtEl>
                      <p:spTgt spid="40"/>
                    </p:tgtEl>
                  </p:cond>
                </p:stCondLst>
                <p:endSync evt="end" delay="0">
                  <p:rtn val="all"/>
                </p:endSync>
                <p:childTnLst>
                  <p:par>
                    <p:cTn id="38" fill="hold">
                      <p:stCondLst>
                        <p:cond delay="0"/>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43"/>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48"/>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78"/>
                                        </p:tgtEl>
                                        <p:attrNameLst>
                                          <p:attrName>style.visibility</p:attrName>
                                        </p:attrNameLst>
                                      </p:cBhvr>
                                      <p:to>
                                        <p:strVal val="visible"/>
                                      </p:to>
                                    </p:set>
                                  </p:childTnLst>
                                </p:cTn>
                              </p:par>
                              <p:par>
                                <p:cTn id="46" presetID="1" presetClass="exit" presetSubtype="0" fill="hold" grpId="0" nodeType="withEffect">
                                  <p:stCondLst>
                                    <p:cond delay="0"/>
                                  </p:stCondLst>
                                  <p:childTnLst>
                                    <p:set>
                                      <p:cBhvr>
                                        <p:cTn id="47" dur="1" fill="hold">
                                          <p:stCondLst>
                                            <p:cond delay="0"/>
                                          </p:stCondLst>
                                        </p:cTn>
                                        <p:tgtEl>
                                          <p:spTgt spid="40"/>
                                        </p:tgtEl>
                                        <p:attrNameLst>
                                          <p:attrName>style.visibility</p:attrName>
                                        </p:attrNameLst>
                                      </p:cBhvr>
                                      <p:to>
                                        <p:strVal val="hidden"/>
                                      </p:to>
                                    </p:set>
                                  </p:childTnLst>
                                </p:cTn>
                              </p:par>
                              <p:par>
                                <p:cTn id="48" presetID="1" presetClass="exit" presetSubtype="0" fill="hold" nodeType="withEffect">
                                  <p:stCondLst>
                                    <p:cond delay="0"/>
                                  </p:stCondLst>
                                  <p:childTnLst>
                                    <p:set>
                                      <p:cBhvr>
                                        <p:cTn id="49" dur="1" fill="hold">
                                          <p:stCondLst>
                                            <p:cond delay="0"/>
                                          </p:stCondLst>
                                        </p:cTn>
                                        <p:tgtEl>
                                          <p:spTgt spid="47"/>
                                        </p:tgtEl>
                                        <p:attrNameLst>
                                          <p:attrName>style.visibility</p:attrName>
                                        </p:attrNameLst>
                                      </p:cBhvr>
                                      <p:to>
                                        <p:strVal val="hidden"/>
                                      </p:to>
                                    </p:set>
                                  </p:childTnLst>
                                </p:cTn>
                              </p:par>
                            </p:childTnLst>
                          </p:cTn>
                        </p:par>
                      </p:childTnLst>
                    </p:cTn>
                  </p:par>
                </p:childTnLst>
              </p:cTn>
              <p:nextCondLst>
                <p:cond evt="onClick" delay="0">
                  <p:tgtEl>
                    <p:spTgt spid="40"/>
                  </p:tgtEl>
                </p:cond>
              </p:nextCondLst>
            </p:seq>
          </p:childTnLst>
        </p:cTn>
      </p:par>
    </p:tnLst>
    <p:bldLst>
      <p:bldP spid="7" grpId="0" animBg="1"/>
      <p:bldP spid="38" grpId="0" animBg="1"/>
      <p:bldP spid="39" grpId="0" animBg="1"/>
      <p:bldP spid="40" grpId="0" animBg="1"/>
      <p:bldP spid="75" grpId="0" animBg="1"/>
      <p:bldP spid="76" grpId="0" animBg="1"/>
      <p:bldP spid="77" grpId="0" animBg="1"/>
      <p:bldP spid="7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7B20797-FA42-4BBA-ABF2-5CF06A40D43C}"/>
              </a:ext>
            </a:extLst>
          </p:cNvPr>
          <p:cNvCxnSpPr>
            <a:cxnSpLocks/>
          </p:cNvCxnSpPr>
          <p:nvPr/>
        </p:nvCxnSpPr>
        <p:spPr>
          <a:xfrm>
            <a:off x="7259137" y="265569"/>
            <a:ext cx="0" cy="6460559"/>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1" name="Case 1">
            <a:extLst>
              <a:ext uri="{FF2B5EF4-FFF2-40B4-BE49-F238E27FC236}">
                <a16:creationId xmlns:a16="http://schemas.microsoft.com/office/drawing/2014/main" id="{D2B7E91F-D4C0-4BE2-8AA9-79828559D719}"/>
              </a:ext>
            </a:extLst>
          </p:cNvPr>
          <p:cNvSpPr/>
          <p:nvPr/>
        </p:nvSpPr>
        <p:spPr>
          <a:xfrm>
            <a:off x="3774698" y="221679"/>
            <a:ext cx="219456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Case 1</a:t>
            </a:r>
          </a:p>
        </p:txBody>
      </p:sp>
      <p:sp>
        <p:nvSpPr>
          <p:cNvPr id="13" name="Case 1 text">
            <a:extLst>
              <a:ext uri="{FF2B5EF4-FFF2-40B4-BE49-F238E27FC236}">
                <a16:creationId xmlns:a16="http://schemas.microsoft.com/office/drawing/2014/main" id="{28FAF219-B0F0-4D6F-A011-8C6E213E6DC1}"/>
              </a:ext>
            </a:extLst>
          </p:cNvPr>
          <p:cNvSpPr txBox="1"/>
          <p:nvPr/>
        </p:nvSpPr>
        <p:spPr>
          <a:xfrm>
            <a:off x="2347726" y="733431"/>
            <a:ext cx="4768713" cy="1046440"/>
          </a:xfrm>
          <a:prstGeom prst="rect">
            <a:avLst/>
          </a:prstGeom>
          <a:noFill/>
        </p:spPr>
        <p:txBody>
          <a:bodyPr wrap="square" lIns="91440" tIns="45720" rIns="91440" bIns="45720" rtlCol="0" anchor="t">
            <a:spAutoFit/>
          </a:bodyPr>
          <a:lstStyle/>
          <a:p>
            <a:pPr lvl="0"/>
            <a:r>
              <a:rPr lang="en-US" sz="1400" dirty="0"/>
              <a:t>Ella is a 23 year-old F with history of acne who comes to clinic to establish care. She is interested in starting a combined oral contraceptive pill (COCP) to prevent pregnancy. </a:t>
            </a:r>
          </a:p>
          <a:p>
            <a:pPr lvl="0"/>
            <a:endParaRPr lang="en-US" sz="600" dirty="0"/>
          </a:p>
          <a:p>
            <a:pPr lvl="0"/>
            <a:r>
              <a:rPr lang="en-US" sz="1400" dirty="0"/>
              <a:t>Vitals and physical exam are normal. BMI is 35. </a:t>
            </a:r>
          </a:p>
        </p:txBody>
      </p:sp>
      <p:sp>
        <p:nvSpPr>
          <p:cNvPr id="28" name="Case 1 - Pre-test button">
            <a:extLst>
              <a:ext uri="{FF2B5EF4-FFF2-40B4-BE49-F238E27FC236}">
                <a16:creationId xmlns:a16="http://schemas.microsoft.com/office/drawing/2014/main" id="{A720D17D-CBB7-401A-B329-CE14FDF24C03}"/>
              </a:ext>
            </a:extLst>
          </p:cNvPr>
          <p:cNvSpPr/>
          <p:nvPr/>
        </p:nvSpPr>
        <p:spPr>
          <a:xfrm>
            <a:off x="2416871" y="1805053"/>
            <a:ext cx="4572000" cy="371292"/>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What category risk are COCPs for this patient?</a:t>
            </a:r>
          </a:p>
        </p:txBody>
      </p:sp>
      <p:sp>
        <p:nvSpPr>
          <p:cNvPr id="31" name="Case 1 - ECG button">
            <a:extLst>
              <a:ext uri="{FF2B5EF4-FFF2-40B4-BE49-F238E27FC236}">
                <a16:creationId xmlns:a16="http://schemas.microsoft.com/office/drawing/2014/main" id="{FC95995F-E4E4-4637-AB4F-6B3EE9F47547}"/>
              </a:ext>
            </a:extLst>
          </p:cNvPr>
          <p:cNvSpPr/>
          <p:nvPr/>
        </p:nvSpPr>
        <p:spPr>
          <a:xfrm>
            <a:off x="2416871" y="3344258"/>
            <a:ext cx="4572000" cy="326985"/>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How will you counsel her on benefits/risks? </a:t>
            </a:r>
          </a:p>
        </p:txBody>
      </p:sp>
      <p:sp>
        <p:nvSpPr>
          <p:cNvPr id="29" name="Case 1 - which stress test button">
            <a:extLst>
              <a:ext uri="{FF2B5EF4-FFF2-40B4-BE49-F238E27FC236}">
                <a16:creationId xmlns:a16="http://schemas.microsoft.com/office/drawing/2014/main" id="{A878A616-CFBF-4671-8D20-04B6C3DBC423}"/>
              </a:ext>
            </a:extLst>
          </p:cNvPr>
          <p:cNvSpPr/>
          <p:nvPr/>
        </p:nvSpPr>
        <p:spPr>
          <a:xfrm>
            <a:off x="2416871" y="4522857"/>
            <a:ext cx="4572000" cy="557506"/>
          </a:xfrm>
          <a:prstGeom prst="roundRect">
            <a:avLst>
              <a:gd name="adj" fmla="val 13824"/>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What dose of estrogen /generation(s) of progestin would be most suitable? </a:t>
            </a:r>
          </a:p>
        </p:txBody>
      </p:sp>
      <p:sp>
        <p:nvSpPr>
          <p:cNvPr id="30" name="Case 1 - Compensation">
            <a:extLst>
              <a:ext uri="{FF2B5EF4-FFF2-40B4-BE49-F238E27FC236}">
                <a16:creationId xmlns:a16="http://schemas.microsoft.com/office/drawing/2014/main" id="{731DFEAB-EA12-4B9E-A4F6-084CAEC77E91}"/>
              </a:ext>
            </a:extLst>
          </p:cNvPr>
          <p:cNvSpPr/>
          <p:nvPr/>
        </p:nvSpPr>
        <p:spPr>
          <a:xfrm>
            <a:off x="2416871" y="5714806"/>
            <a:ext cx="4572000" cy="409763"/>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How can she skip her period if she plans to travel?</a:t>
            </a:r>
          </a:p>
        </p:txBody>
      </p:sp>
      <p:sp>
        <p:nvSpPr>
          <p:cNvPr id="33" name="Case 1 - Pre-test answer">
            <a:extLst>
              <a:ext uri="{FF2B5EF4-FFF2-40B4-BE49-F238E27FC236}">
                <a16:creationId xmlns:a16="http://schemas.microsoft.com/office/drawing/2014/main" id="{8E93BC3D-9A48-4519-87F0-DC82D5777AEB}"/>
              </a:ext>
            </a:extLst>
          </p:cNvPr>
          <p:cNvSpPr/>
          <p:nvPr/>
        </p:nvSpPr>
        <p:spPr>
          <a:xfrm>
            <a:off x="2410793" y="2298215"/>
            <a:ext cx="2069361" cy="840976"/>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b="1" dirty="0"/>
              <a:t>Category 2 </a:t>
            </a:r>
            <a:r>
              <a:rPr lang="en-US" sz="1400" dirty="0"/>
              <a:t>due to BMI &gt; 30 (advantages generally outweigh theoretical or proven risks)</a:t>
            </a:r>
          </a:p>
        </p:txBody>
      </p:sp>
      <p:sp>
        <p:nvSpPr>
          <p:cNvPr id="34" name="Case 1 - answer two">
            <a:extLst>
              <a:ext uri="{FF2B5EF4-FFF2-40B4-BE49-F238E27FC236}">
                <a16:creationId xmlns:a16="http://schemas.microsoft.com/office/drawing/2014/main" id="{78D59F4F-3EF0-4B50-B0DE-BD1DB0BEC628}"/>
              </a:ext>
            </a:extLst>
          </p:cNvPr>
          <p:cNvSpPr/>
          <p:nvPr/>
        </p:nvSpPr>
        <p:spPr>
          <a:xfrm>
            <a:off x="2435219" y="3713163"/>
            <a:ext cx="4572000" cy="72452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b="1" dirty="0"/>
              <a:t>Assess contraindications to estrogen </a:t>
            </a:r>
            <a:r>
              <a:rPr lang="en-US" sz="1400" dirty="0"/>
              <a:t>(tobacco use, migraine with aura, history of VTE). Counsel on possible </a:t>
            </a:r>
            <a:r>
              <a:rPr lang="en-US" sz="1400" b="1" dirty="0"/>
              <a:t>reduced efficacy due to BMI </a:t>
            </a:r>
            <a:r>
              <a:rPr lang="en-US" sz="1400" dirty="0"/>
              <a:t>and don’t protect against STIs.</a:t>
            </a:r>
          </a:p>
        </p:txBody>
      </p:sp>
      <p:sp>
        <p:nvSpPr>
          <p:cNvPr id="35" name="Case 1 - answer 3">
            <a:extLst>
              <a:ext uri="{FF2B5EF4-FFF2-40B4-BE49-F238E27FC236}">
                <a16:creationId xmlns:a16="http://schemas.microsoft.com/office/drawing/2014/main" id="{DB2F2D18-103A-4622-B071-CE4836C07EAE}"/>
              </a:ext>
            </a:extLst>
          </p:cNvPr>
          <p:cNvSpPr/>
          <p:nvPr/>
        </p:nvSpPr>
        <p:spPr>
          <a:xfrm>
            <a:off x="2447687" y="5141630"/>
            <a:ext cx="4572000" cy="511909"/>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b="1" dirty="0"/>
              <a:t>Low to medium dose estrogen</a:t>
            </a:r>
            <a:r>
              <a:rPr lang="en-US" sz="1400" dirty="0"/>
              <a:t>. For her acne, it may be beneficial to use 3</a:t>
            </a:r>
            <a:r>
              <a:rPr lang="en-US" sz="1400" baseline="30000" dirty="0"/>
              <a:t>rd</a:t>
            </a:r>
            <a:r>
              <a:rPr lang="en-US" sz="1400" dirty="0"/>
              <a:t> or 4th G progestins.</a:t>
            </a:r>
          </a:p>
        </p:txBody>
      </p:sp>
      <p:sp>
        <p:nvSpPr>
          <p:cNvPr id="36" name="Case 1 - Management answer">
            <a:extLst>
              <a:ext uri="{FF2B5EF4-FFF2-40B4-BE49-F238E27FC236}">
                <a16:creationId xmlns:a16="http://schemas.microsoft.com/office/drawing/2014/main" id="{F597A406-81A5-40AC-9888-C00B46C26B0C}"/>
              </a:ext>
            </a:extLst>
          </p:cNvPr>
          <p:cNvSpPr/>
          <p:nvPr/>
        </p:nvSpPr>
        <p:spPr>
          <a:xfrm>
            <a:off x="2440689" y="6158994"/>
            <a:ext cx="4572000" cy="335203"/>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b="1" dirty="0"/>
              <a:t>Skip placebo pills </a:t>
            </a:r>
            <a:r>
              <a:rPr lang="en-US" sz="1400" dirty="0"/>
              <a:t>and continue the next pack. </a:t>
            </a:r>
          </a:p>
        </p:txBody>
      </p:sp>
      <p:sp>
        <p:nvSpPr>
          <p:cNvPr id="129" name="Case 2">
            <a:extLst>
              <a:ext uri="{FF2B5EF4-FFF2-40B4-BE49-F238E27FC236}">
                <a16:creationId xmlns:a16="http://schemas.microsoft.com/office/drawing/2014/main" id="{41FEB336-49CA-4EC0-AC0A-587C0CD09C68}"/>
              </a:ext>
            </a:extLst>
          </p:cNvPr>
          <p:cNvSpPr/>
          <p:nvPr/>
        </p:nvSpPr>
        <p:spPr>
          <a:xfrm>
            <a:off x="8582655" y="221679"/>
            <a:ext cx="219456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Case 2</a:t>
            </a:r>
          </a:p>
        </p:txBody>
      </p:sp>
      <p:sp>
        <p:nvSpPr>
          <p:cNvPr id="131" name="Case 1 text">
            <a:extLst>
              <a:ext uri="{FF2B5EF4-FFF2-40B4-BE49-F238E27FC236}">
                <a16:creationId xmlns:a16="http://schemas.microsoft.com/office/drawing/2014/main" id="{83105C6D-94DC-444D-A80F-80E89A1ED833}"/>
              </a:ext>
            </a:extLst>
          </p:cNvPr>
          <p:cNvSpPr txBox="1"/>
          <p:nvPr/>
        </p:nvSpPr>
        <p:spPr>
          <a:xfrm>
            <a:off x="7422967" y="714579"/>
            <a:ext cx="4607072" cy="954107"/>
          </a:xfrm>
          <a:prstGeom prst="rect">
            <a:avLst/>
          </a:prstGeom>
          <a:noFill/>
        </p:spPr>
        <p:txBody>
          <a:bodyPr wrap="square" lIns="91440" tIns="45720" rIns="91440" bIns="45720" rtlCol="0" anchor="t">
            <a:spAutoFit/>
          </a:bodyPr>
          <a:lstStyle/>
          <a:p>
            <a:pPr lvl="0"/>
            <a:r>
              <a:rPr lang="en-US" sz="1400" dirty="0"/>
              <a:t>Miranda is a 35 year-old F with well-controlled hypertension, bipolar depression on lamotrigine, and menorrhagia who is interested in switching her COCP to another contraception method for pregnancy prevention. </a:t>
            </a:r>
          </a:p>
        </p:txBody>
      </p:sp>
      <p:pic>
        <p:nvPicPr>
          <p:cNvPr id="3" name="Graphic 2" descr="Cursor with solid fill">
            <a:extLst>
              <a:ext uri="{FF2B5EF4-FFF2-40B4-BE49-F238E27FC236}">
                <a16:creationId xmlns:a16="http://schemas.microsoft.com/office/drawing/2014/main" id="{118C5D7E-E126-4BC6-B677-A96FE8D544BD}"/>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867371" y="2028763"/>
            <a:ext cx="302506" cy="302506"/>
          </a:xfrm>
          <a:prstGeom prst="rect">
            <a:avLst/>
          </a:prstGeom>
        </p:spPr>
      </p:pic>
      <p:pic>
        <p:nvPicPr>
          <p:cNvPr id="52" name="Graphic 51" descr="Cursor with solid fill">
            <a:extLst>
              <a:ext uri="{FF2B5EF4-FFF2-40B4-BE49-F238E27FC236}">
                <a16:creationId xmlns:a16="http://schemas.microsoft.com/office/drawing/2014/main" id="{9DBF686D-ADBD-45BD-B2A8-ED386C519D79}"/>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867371" y="3556552"/>
            <a:ext cx="302506" cy="302506"/>
          </a:xfrm>
          <a:prstGeom prst="rect">
            <a:avLst/>
          </a:prstGeom>
        </p:spPr>
      </p:pic>
      <p:pic>
        <p:nvPicPr>
          <p:cNvPr id="54" name="Graphic 53" descr="Cursor with solid fill">
            <a:extLst>
              <a:ext uri="{FF2B5EF4-FFF2-40B4-BE49-F238E27FC236}">
                <a16:creationId xmlns:a16="http://schemas.microsoft.com/office/drawing/2014/main" id="{2503C391-FDE7-4D4F-8F01-244EB5BC7B1E}"/>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867371" y="4936945"/>
            <a:ext cx="302506" cy="302506"/>
          </a:xfrm>
          <a:prstGeom prst="rect">
            <a:avLst/>
          </a:prstGeom>
        </p:spPr>
      </p:pic>
      <p:pic>
        <p:nvPicPr>
          <p:cNvPr id="55" name="Graphic 54" descr="Cursor with solid fill">
            <a:extLst>
              <a:ext uri="{FF2B5EF4-FFF2-40B4-BE49-F238E27FC236}">
                <a16:creationId xmlns:a16="http://schemas.microsoft.com/office/drawing/2014/main" id="{B62A262D-0A68-4133-95CA-0F3A957DD4AD}"/>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867371" y="5979248"/>
            <a:ext cx="302506" cy="302506"/>
          </a:xfrm>
          <a:prstGeom prst="rect">
            <a:avLst/>
          </a:prstGeom>
        </p:spPr>
      </p:pic>
      <p:pic>
        <p:nvPicPr>
          <p:cNvPr id="56" name="Graphic 55" descr="Cursor with solid fill">
            <a:extLst>
              <a:ext uri="{FF2B5EF4-FFF2-40B4-BE49-F238E27FC236}">
                <a16:creationId xmlns:a16="http://schemas.microsoft.com/office/drawing/2014/main" id="{7F468C7A-552C-4BB3-995C-8675315955E6}"/>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841144" y="483212"/>
            <a:ext cx="302506" cy="302506"/>
          </a:xfrm>
          <a:prstGeom prst="rect">
            <a:avLst/>
          </a:prstGeom>
        </p:spPr>
      </p:pic>
      <p:sp>
        <p:nvSpPr>
          <p:cNvPr id="57" name="Case 2 - question1">
            <a:extLst>
              <a:ext uri="{FF2B5EF4-FFF2-40B4-BE49-F238E27FC236}">
                <a16:creationId xmlns:a16="http://schemas.microsoft.com/office/drawing/2014/main" id="{FC7CA112-FAF7-4731-AC02-423927DB914D}"/>
              </a:ext>
            </a:extLst>
          </p:cNvPr>
          <p:cNvSpPr/>
          <p:nvPr/>
        </p:nvSpPr>
        <p:spPr>
          <a:xfrm>
            <a:off x="7409327" y="1705902"/>
            <a:ext cx="4572000" cy="545120"/>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What category risk is associated with lamotrigine and combined hormonal methods? </a:t>
            </a:r>
          </a:p>
        </p:txBody>
      </p:sp>
      <p:sp>
        <p:nvSpPr>
          <p:cNvPr id="58" name="Case 2 - question2">
            <a:extLst>
              <a:ext uri="{FF2B5EF4-FFF2-40B4-BE49-F238E27FC236}">
                <a16:creationId xmlns:a16="http://schemas.microsoft.com/office/drawing/2014/main" id="{BD5CFEB8-C474-46CA-BDD5-725CAFB73BAA}"/>
              </a:ext>
            </a:extLst>
          </p:cNvPr>
          <p:cNvSpPr/>
          <p:nvPr/>
        </p:nvSpPr>
        <p:spPr>
          <a:xfrm>
            <a:off x="7418669" y="3381180"/>
            <a:ext cx="4572000" cy="359232"/>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What options would be discreet?</a:t>
            </a:r>
          </a:p>
        </p:txBody>
      </p:sp>
      <p:sp>
        <p:nvSpPr>
          <p:cNvPr id="59" name="Case 2 - question3">
            <a:extLst>
              <a:ext uri="{FF2B5EF4-FFF2-40B4-BE49-F238E27FC236}">
                <a16:creationId xmlns:a16="http://schemas.microsoft.com/office/drawing/2014/main" id="{102D4C4C-A02D-4E4C-ADFC-63F9708B9654}"/>
              </a:ext>
            </a:extLst>
          </p:cNvPr>
          <p:cNvSpPr/>
          <p:nvPr/>
        </p:nvSpPr>
        <p:spPr>
          <a:xfrm>
            <a:off x="7401836" y="4237642"/>
            <a:ext cx="4572000" cy="535532"/>
          </a:xfrm>
          <a:prstGeom prst="roundRect">
            <a:avLst>
              <a:gd name="adj" fmla="val 13824"/>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How can you counsel her on choosing between levonorgestrel IUDs? </a:t>
            </a:r>
          </a:p>
        </p:txBody>
      </p:sp>
      <p:sp>
        <p:nvSpPr>
          <p:cNvPr id="60" name="Case 2 - question4">
            <a:extLst>
              <a:ext uri="{FF2B5EF4-FFF2-40B4-BE49-F238E27FC236}">
                <a16:creationId xmlns:a16="http://schemas.microsoft.com/office/drawing/2014/main" id="{DBF342EB-17AA-4DC3-9E41-148100FBAA71}"/>
              </a:ext>
            </a:extLst>
          </p:cNvPr>
          <p:cNvSpPr/>
          <p:nvPr/>
        </p:nvSpPr>
        <p:spPr>
          <a:xfrm>
            <a:off x="7429695" y="5415122"/>
            <a:ext cx="4600344" cy="559112"/>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How can you counsel her on benefits, risks, and side effects?</a:t>
            </a:r>
          </a:p>
        </p:txBody>
      </p:sp>
      <p:sp>
        <p:nvSpPr>
          <p:cNvPr id="61" name="Case 2 - answer1">
            <a:extLst>
              <a:ext uri="{FF2B5EF4-FFF2-40B4-BE49-F238E27FC236}">
                <a16:creationId xmlns:a16="http://schemas.microsoft.com/office/drawing/2014/main" id="{E9E14381-F561-4E85-8173-20AB47B470CD}"/>
              </a:ext>
            </a:extLst>
          </p:cNvPr>
          <p:cNvSpPr/>
          <p:nvPr/>
        </p:nvSpPr>
        <p:spPr>
          <a:xfrm>
            <a:off x="7383132" y="2369366"/>
            <a:ext cx="2272251" cy="83211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b="1" dirty="0"/>
              <a:t>Category 3 </a:t>
            </a:r>
            <a:r>
              <a:rPr lang="en-US" sz="1400" dirty="0"/>
              <a:t>– not recommended unless no other options. Estrogen </a:t>
            </a:r>
            <a:r>
              <a:rPr lang="en-US" sz="1400" dirty="0">
                <a:sym typeface="Wingdings" panose="05000000000000000000" pitchFamily="2" charset="2"/>
              </a:rPr>
              <a:t> lamotrigine clearance. </a:t>
            </a:r>
            <a:endParaRPr lang="en-US" sz="1400" dirty="0"/>
          </a:p>
        </p:txBody>
      </p:sp>
      <p:sp>
        <p:nvSpPr>
          <p:cNvPr id="62" name="Case 2 - answer2">
            <a:extLst>
              <a:ext uri="{FF2B5EF4-FFF2-40B4-BE49-F238E27FC236}">
                <a16:creationId xmlns:a16="http://schemas.microsoft.com/office/drawing/2014/main" id="{0BCE2D94-A3FD-4365-B4EA-AC7ABC7E185D}"/>
              </a:ext>
            </a:extLst>
          </p:cNvPr>
          <p:cNvSpPr/>
          <p:nvPr/>
        </p:nvSpPr>
        <p:spPr>
          <a:xfrm>
            <a:off x="7430227" y="3786393"/>
            <a:ext cx="4572000" cy="33163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b="1" dirty="0"/>
              <a:t>IUD</a:t>
            </a:r>
            <a:r>
              <a:rPr lang="en-US" sz="1400" dirty="0"/>
              <a:t>, </a:t>
            </a:r>
            <a:r>
              <a:rPr lang="en-US" sz="1400" b="1" dirty="0"/>
              <a:t>Depo-Provera</a:t>
            </a:r>
            <a:r>
              <a:rPr lang="en-US" sz="1400" dirty="0"/>
              <a:t>, or </a:t>
            </a:r>
            <a:r>
              <a:rPr lang="en-US" sz="1400" b="1" dirty="0"/>
              <a:t>Nexplanon </a:t>
            </a:r>
            <a:r>
              <a:rPr lang="en-US" sz="1400" dirty="0"/>
              <a:t>(implant)</a:t>
            </a:r>
            <a:endParaRPr lang="en-US" sz="1400" b="1" dirty="0"/>
          </a:p>
        </p:txBody>
      </p:sp>
      <p:sp>
        <p:nvSpPr>
          <p:cNvPr id="63" name="Case 2 - answer 3">
            <a:extLst>
              <a:ext uri="{FF2B5EF4-FFF2-40B4-BE49-F238E27FC236}">
                <a16:creationId xmlns:a16="http://schemas.microsoft.com/office/drawing/2014/main" id="{4ACA8447-EDC8-465C-B71B-62F13CBE21A9}"/>
              </a:ext>
            </a:extLst>
          </p:cNvPr>
          <p:cNvSpPr/>
          <p:nvPr/>
        </p:nvSpPr>
        <p:spPr>
          <a:xfrm>
            <a:off x="7418669" y="4822552"/>
            <a:ext cx="4572000" cy="51562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b="1" dirty="0"/>
              <a:t>Duration</a:t>
            </a:r>
            <a:r>
              <a:rPr lang="en-US" sz="1400" dirty="0"/>
              <a:t> (3, 5, 6, or 7 years) and </a:t>
            </a:r>
            <a:r>
              <a:rPr lang="en-US" sz="1400" b="1" dirty="0"/>
              <a:t>period</a:t>
            </a:r>
            <a:r>
              <a:rPr lang="en-US" sz="1400" dirty="0"/>
              <a:t> preferences (interest in having lighter vs no period)</a:t>
            </a:r>
          </a:p>
        </p:txBody>
      </p:sp>
      <p:sp>
        <p:nvSpPr>
          <p:cNvPr id="64" name="Case 2 - answer4">
            <a:extLst>
              <a:ext uri="{FF2B5EF4-FFF2-40B4-BE49-F238E27FC236}">
                <a16:creationId xmlns:a16="http://schemas.microsoft.com/office/drawing/2014/main" id="{F6305EA6-27FC-4779-9450-DE85A5345922}"/>
              </a:ext>
            </a:extLst>
          </p:cNvPr>
          <p:cNvSpPr/>
          <p:nvPr/>
        </p:nvSpPr>
        <p:spPr>
          <a:xfrm>
            <a:off x="7459223" y="6063584"/>
            <a:ext cx="4534560" cy="66254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b="1" dirty="0"/>
              <a:t>Benefits</a:t>
            </a:r>
            <a:r>
              <a:rPr lang="en-US" sz="1400" dirty="0"/>
              <a:t>: efficacy, lighter/no period</a:t>
            </a:r>
          </a:p>
          <a:p>
            <a:pPr algn="ctr"/>
            <a:r>
              <a:rPr lang="en-US" sz="1400" b="1" dirty="0"/>
              <a:t>Risks</a:t>
            </a:r>
            <a:r>
              <a:rPr lang="en-US" sz="1400" dirty="0"/>
              <a:t>: procedural complications, STIs</a:t>
            </a:r>
          </a:p>
          <a:p>
            <a:pPr algn="ctr"/>
            <a:r>
              <a:rPr lang="en-US" sz="1400" b="1" dirty="0"/>
              <a:t>Side effects</a:t>
            </a:r>
            <a:r>
              <a:rPr lang="en-US" sz="1400" dirty="0"/>
              <a:t>: irregular bleeding 3-6 </a:t>
            </a:r>
            <a:r>
              <a:rPr lang="en-US" sz="1400" dirty="0" err="1"/>
              <a:t>mos</a:t>
            </a:r>
            <a:endParaRPr lang="en-US" sz="1400" dirty="0"/>
          </a:p>
        </p:txBody>
      </p:sp>
      <p:pic>
        <p:nvPicPr>
          <p:cNvPr id="65" name="Graphic 64" descr="Cursor with solid fill">
            <a:extLst>
              <a:ext uri="{FF2B5EF4-FFF2-40B4-BE49-F238E27FC236}">
                <a16:creationId xmlns:a16="http://schemas.microsoft.com/office/drawing/2014/main" id="{4DAAE46E-C1C8-4BAD-8D6E-8E91E2E5171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836870" y="2127216"/>
            <a:ext cx="302506" cy="302506"/>
          </a:xfrm>
          <a:prstGeom prst="rect">
            <a:avLst/>
          </a:prstGeom>
        </p:spPr>
      </p:pic>
      <p:pic>
        <p:nvPicPr>
          <p:cNvPr id="66" name="Graphic 65" descr="Cursor with solid fill">
            <a:extLst>
              <a:ext uri="{FF2B5EF4-FFF2-40B4-BE49-F238E27FC236}">
                <a16:creationId xmlns:a16="http://schemas.microsoft.com/office/drawing/2014/main" id="{EA124C93-962C-44F2-B742-A9112F5156A3}"/>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850974" y="3610972"/>
            <a:ext cx="302506" cy="302506"/>
          </a:xfrm>
          <a:prstGeom prst="rect">
            <a:avLst/>
          </a:prstGeom>
        </p:spPr>
      </p:pic>
      <p:pic>
        <p:nvPicPr>
          <p:cNvPr id="67" name="Graphic 66" descr="Cursor with solid fill">
            <a:extLst>
              <a:ext uri="{FF2B5EF4-FFF2-40B4-BE49-F238E27FC236}">
                <a16:creationId xmlns:a16="http://schemas.microsoft.com/office/drawing/2014/main" id="{80F59731-A935-4D08-B316-C5017E06F66C}"/>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836870" y="4609307"/>
            <a:ext cx="302506" cy="302506"/>
          </a:xfrm>
          <a:prstGeom prst="rect">
            <a:avLst/>
          </a:prstGeom>
        </p:spPr>
      </p:pic>
      <p:pic>
        <p:nvPicPr>
          <p:cNvPr id="68" name="Graphic 67" descr="Cursor with solid fill">
            <a:extLst>
              <a:ext uri="{FF2B5EF4-FFF2-40B4-BE49-F238E27FC236}">
                <a16:creationId xmlns:a16="http://schemas.microsoft.com/office/drawing/2014/main" id="{33937060-7EBF-4F44-B452-D8B2727C1F1B}"/>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885979" y="5848059"/>
            <a:ext cx="302506" cy="302506"/>
          </a:xfrm>
          <a:prstGeom prst="rect">
            <a:avLst/>
          </a:prstGeom>
        </p:spPr>
      </p:pic>
      <p:pic>
        <p:nvPicPr>
          <p:cNvPr id="81" name="Graphic 80" descr="Cursor with solid fill">
            <a:extLst>
              <a:ext uri="{FF2B5EF4-FFF2-40B4-BE49-F238E27FC236}">
                <a16:creationId xmlns:a16="http://schemas.microsoft.com/office/drawing/2014/main" id="{956F63E8-63DB-4A08-A83A-19CFAA44097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661760" y="483212"/>
            <a:ext cx="302506" cy="302506"/>
          </a:xfrm>
          <a:prstGeom prst="rect">
            <a:avLst/>
          </a:prstGeom>
        </p:spPr>
      </p:pic>
      <p:sp>
        <p:nvSpPr>
          <p:cNvPr id="48" name="Question 2">
            <a:hlinkClick r:id="rId5" action="ppaction://hlinksldjump"/>
            <a:extLst>
              <a:ext uri="{FF2B5EF4-FFF2-40B4-BE49-F238E27FC236}">
                <a16:creationId xmlns:a16="http://schemas.microsoft.com/office/drawing/2014/main" id="{5D7FE496-308C-4D42-9D37-C6ABBB85702B}"/>
              </a:ext>
            </a:extLst>
          </p:cNvPr>
          <p:cNvSpPr txBox="1"/>
          <p:nvPr/>
        </p:nvSpPr>
        <p:spPr>
          <a:xfrm>
            <a:off x="515530" y="3100791"/>
            <a:ext cx="1594319"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1-2</a:t>
            </a:r>
          </a:p>
        </p:txBody>
      </p:sp>
      <p:sp>
        <p:nvSpPr>
          <p:cNvPr id="51" name="Question 2">
            <a:hlinkClick r:id="rId6" action="ppaction://hlinksldjump"/>
            <a:extLst>
              <a:ext uri="{FF2B5EF4-FFF2-40B4-BE49-F238E27FC236}">
                <a16:creationId xmlns:a16="http://schemas.microsoft.com/office/drawing/2014/main" id="{436D8626-4B8C-4E42-BA94-A83E4036A6E9}"/>
              </a:ext>
            </a:extLst>
          </p:cNvPr>
          <p:cNvSpPr txBox="1"/>
          <p:nvPr/>
        </p:nvSpPr>
        <p:spPr>
          <a:xfrm>
            <a:off x="515531" y="3664448"/>
            <a:ext cx="1594318"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3-4</a:t>
            </a:r>
          </a:p>
        </p:txBody>
      </p:sp>
      <p:sp>
        <p:nvSpPr>
          <p:cNvPr id="53" name="question 1">
            <a:hlinkClick r:id="rId7" action="ppaction://hlinksldjump"/>
            <a:extLst>
              <a:ext uri="{FF2B5EF4-FFF2-40B4-BE49-F238E27FC236}">
                <a16:creationId xmlns:a16="http://schemas.microsoft.com/office/drawing/2014/main" id="{510EED0D-7753-4A77-AEED-478BE1E1E1DE}"/>
              </a:ext>
            </a:extLst>
          </p:cNvPr>
          <p:cNvSpPr txBox="1"/>
          <p:nvPr/>
        </p:nvSpPr>
        <p:spPr>
          <a:xfrm>
            <a:off x="188535" y="192736"/>
            <a:ext cx="1905394"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PATH Questions</a:t>
            </a:r>
          </a:p>
        </p:txBody>
      </p:sp>
      <p:sp>
        <p:nvSpPr>
          <p:cNvPr id="69" name="question 4">
            <a:hlinkClick r:id="rId8" action="ppaction://hlinksldjump"/>
            <a:extLst>
              <a:ext uri="{FF2B5EF4-FFF2-40B4-BE49-F238E27FC236}">
                <a16:creationId xmlns:a16="http://schemas.microsoft.com/office/drawing/2014/main" id="{292AF876-0050-4246-99BC-011EC69B575A}"/>
              </a:ext>
            </a:extLst>
          </p:cNvPr>
          <p:cNvSpPr txBox="1"/>
          <p:nvPr/>
        </p:nvSpPr>
        <p:spPr>
          <a:xfrm>
            <a:off x="188535" y="1937569"/>
            <a:ext cx="190539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Emergency Use</a:t>
            </a:r>
          </a:p>
        </p:txBody>
      </p:sp>
      <p:sp>
        <p:nvSpPr>
          <p:cNvPr id="70" name="Cases">
            <a:hlinkClick r:id="rId5" action="ppaction://hlinksldjump"/>
            <a:extLst>
              <a:ext uri="{FF2B5EF4-FFF2-40B4-BE49-F238E27FC236}">
                <a16:creationId xmlns:a16="http://schemas.microsoft.com/office/drawing/2014/main" id="{4330130D-B812-4172-9E05-BE35FC63EEBA}"/>
              </a:ext>
            </a:extLst>
          </p:cNvPr>
          <p:cNvSpPr txBox="1"/>
          <p:nvPr/>
        </p:nvSpPr>
        <p:spPr>
          <a:xfrm>
            <a:off x="188535" y="2519180"/>
            <a:ext cx="1905392"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Cases</a:t>
            </a:r>
          </a:p>
        </p:txBody>
      </p:sp>
      <p:sp>
        <p:nvSpPr>
          <p:cNvPr id="73" name="question 3">
            <a:hlinkClick r:id="rId9" action="ppaction://hlinksldjump"/>
            <a:extLst>
              <a:ext uri="{FF2B5EF4-FFF2-40B4-BE49-F238E27FC236}">
                <a16:creationId xmlns:a16="http://schemas.microsoft.com/office/drawing/2014/main" id="{979555D6-F239-4F85-96EC-78D3D4876EB0}"/>
              </a:ext>
            </a:extLst>
          </p:cNvPr>
          <p:cNvSpPr txBox="1"/>
          <p:nvPr/>
        </p:nvSpPr>
        <p:spPr>
          <a:xfrm>
            <a:off x="188535" y="774347"/>
            <a:ext cx="190539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Methods</a:t>
            </a:r>
          </a:p>
        </p:txBody>
      </p:sp>
      <p:sp>
        <p:nvSpPr>
          <p:cNvPr id="74" name="Question 2">
            <a:hlinkClick r:id="rId10" action="ppaction://hlinksldjump"/>
            <a:extLst>
              <a:ext uri="{FF2B5EF4-FFF2-40B4-BE49-F238E27FC236}">
                <a16:creationId xmlns:a16="http://schemas.microsoft.com/office/drawing/2014/main" id="{2687201A-4D2D-4878-94A1-17ECAF830A64}"/>
              </a:ext>
            </a:extLst>
          </p:cNvPr>
          <p:cNvSpPr txBox="1"/>
          <p:nvPr/>
        </p:nvSpPr>
        <p:spPr>
          <a:xfrm>
            <a:off x="188535" y="1355958"/>
            <a:ext cx="190539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Contraindications</a:t>
            </a:r>
          </a:p>
        </p:txBody>
      </p:sp>
      <p:pic>
        <p:nvPicPr>
          <p:cNvPr id="77" name="Graphic 76" descr="Cursor with solid fill">
            <a:extLst>
              <a:ext uri="{FF2B5EF4-FFF2-40B4-BE49-F238E27FC236}">
                <a16:creationId xmlns:a16="http://schemas.microsoft.com/office/drawing/2014/main" id="{B9C99EBA-4612-4461-8E41-B1E6BE4DB0F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68119" y="1625692"/>
            <a:ext cx="296010" cy="301752"/>
          </a:xfrm>
          <a:prstGeom prst="rect">
            <a:avLst/>
          </a:prstGeom>
        </p:spPr>
      </p:pic>
      <p:pic>
        <p:nvPicPr>
          <p:cNvPr id="78" name="Graphic 77" descr="Cursor with solid fill">
            <a:extLst>
              <a:ext uri="{FF2B5EF4-FFF2-40B4-BE49-F238E27FC236}">
                <a16:creationId xmlns:a16="http://schemas.microsoft.com/office/drawing/2014/main" id="{4DE5D84A-4809-45F6-9191-FF3D10FA8A0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68119" y="2189058"/>
            <a:ext cx="296010" cy="301752"/>
          </a:xfrm>
          <a:prstGeom prst="rect">
            <a:avLst/>
          </a:prstGeom>
        </p:spPr>
      </p:pic>
      <p:cxnSp>
        <p:nvCxnSpPr>
          <p:cNvPr id="84" name="Connector: Elbow 83">
            <a:extLst>
              <a:ext uri="{FF2B5EF4-FFF2-40B4-BE49-F238E27FC236}">
                <a16:creationId xmlns:a16="http://schemas.microsoft.com/office/drawing/2014/main" id="{857C3AB8-8212-4F7C-B0E3-669E3B36D8AA}"/>
              </a:ext>
            </a:extLst>
          </p:cNvPr>
          <p:cNvCxnSpPr>
            <a:cxnSpLocks/>
          </p:cNvCxnSpPr>
          <p:nvPr/>
        </p:nvCxnSpPr>
        <p:spPr>
          <a:xfrm rot="16200000" flipH="1">
            <a:off x="234378" y="3001830"/>
            <a:ext cx="364384" cy="197922"/>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85" name="Connector: Elbow 84">
            <a:extLst>
              <a:ext uri="{FF2B5EF4-FFF2-40B4-BE49-F238E27FC236}">
                <a16:creationId xmlns:a16="http://schemas.microsoft.com/office/drawing/2014/main" id="{75A96421-5EE0-4019-8508-3DF2ECE0F6BC}"/>
              </a:ext>
            </a:extLst>
          </p:cNvPr>
          <p:cNvCxnSpPr>
            <a:cxnSpLocks/>
            <a:endCxn id="51" idx="1"/>
          </p:cNvCxnSpPr>
          <p:nvPr/>
        </p:nvCxnSpPr>
        <p:spPr>
          <a:xfrm rot="16200000" flipH="1">
            <a:off x="113105" y="3466334"/>
            <a:ext cx="606928" cy="197924"/>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pic>
        <p:nvPicPr>
          <p:cNvPr id="92" name="Graphic 91" descr="Cursor with solid fill">
            <a:extLst>
              <a:ext uri="{FF2B5EF4-FFF2-40B4-BE49-F238E27FC236}">
                <a16:creationId xmlns:a16="http://schemas.microsoft.com/office/drawing/2014/main" id="{D1B5F156-D85E-4D38-8A9C-1286B7ADCC3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68119" y="3913478"/>
            <a:ext cx="296010" cy="301752"/>
          </a:xfrm>
          <a:prstGeom prst="rect">
            <a:avLst/>
          </a:prstGeom>
        </p:spPr>
      </p:pic>
      <p:pic>
        <p:nvPicPr>
          <p:cNvPr id="94" name="Graphic 93" descr="Cursor with solid fill">
            <a:extLst>
              <a:ext uri="{FF2B5EF4-FFF2-40B4-BE49-F238E27FC236}">
                <a16:creationId xmlns:a16="http://schemas.microsoft.com/office/drawing/2014/main" id="{EDCF1D92-3593-4DC0-827D-E942E778B236}"/>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68119" y="6556248"/>
            <a:ext cx="296010" cy="301752"/>
          </a:xfrm>
          <a:prstGeom prst="rect">
            <a:avLst/>
          </a:prstGeom>
        </p:spPr>
      </p:pic>
      <p:pic>
        <p:nvPicPr>
          <p:cNvPr id="97" name="Graphic 96" descr="Cursor with solid fill">
            <a:extLst>
              <a:ext uri="{FF2B5EF4-FFF2-40B4-BE49-F238E27FC236}">
                <a16:creationId xmlns:a16="http://schemas.microsoft.com/office/drawing/2014/main" id="{FBB68DBB-01B6-4EF8-92F0-D578D99FA104}"/>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68119" y="458872"/>
            <a:ext cx="296010" cy="301752"/>
          </a:xfrm>
          <a:prstGeom prst="rect">
            <a:avLst/>
          </a:prstGeom>
        </p:spPr>
      </p:pic>
      <p:pic>
        <p:nvPicPr>
          <p:cNvPr id="98" name="Graphic 97" descr="Cursor with solid fill">
            <a:extLst>
              <a:ext uri="{FF2B5EF4-FFF2-40B4-BE49-F238E27FC236}">
                <a16:creationId xmlns:a16="http://schemas.microsoft.com/office/drawing/2014/main" id="{DEF723A7-9F09-4AEF-A658-2FA3001BA5F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68119" y="1039533"/>
            <a:ext cx="296010" cy="301752"/>
          </a:xfrm>
          <a:prstGeom prst="rect">
            <a:avLst/>
          </a:prstGeom>
        </p:spPr>
      </p:pic>
      <p:graphicFrame>
        <p:nvGraphicFramePr>
          <p:cNvPr id="2" name="Table 4">
            <a:extLst>
              <a:ext uri="{FF2B5EF4-FFF2-40B4-BE49-F238E27FC236}">
                <a16:creationId xmlns:a16="http://schemas.microsoft.com/office/drawing/2014/main" id="{8272660A-704A-440A-8B91-D57C1B185457}"/>
              </a:ext>
            </a:extLst>
          </p:cNvPr>
          <p:cNvGraphicFramePr>
            <a:graphicFrameLocks noGrp="1"/>
          </p:cNvGraphicFramePr>
          <p:nvPr>
            <p:extLst>
              <p:ext uri="{D42A27DB-BD31-4B8C-83A1-F6EECF244321}">
                <p14:modId xmlns:p14="http://schemas.microsoft.com/office/powerpoint/2010/main" val="2253811695"/>
              </p:ext>
            </p:extLst>
          </p:nvPr>
        </p:nvGraphicFramePr>
        <p:xfrm>
          <a:off x="4559745" y="2314273"/>
          <a:ext cx="2083436" cy="877824"/>
        </p:xfrm>
        <a:graphic>
          <a:graphicData uri="http://schemas.openxmlformats.org/drawingml/2006/table">
            <a:tbl>
              <a:tblPr firstRow="1" bandRow="1">
                <a:tableStyleId>{BC89EF96-8CEA-46FF-86C4-4CE0E7609802}</a:tableStyleId>
              </a:tblPr>
              <a:tblGrid>
                <a:gridCol w="424099">
                  <a:extLst>
                    <a:ext uri="{9D8B030D-6E8A-4147-A177-3AD203B41FA5}">
                      <a16:colId xmlns:a16="http://schemas.microsoft.com/office/drawing/2014/main" val="3181850601"/>
                    </a:ext>
                  </a:extLst>
                </a:gridCol>
                <a:gridCol w="1659337">
                  <a:extLst>
                    <a:ext uri="{9D8B030D-6E8A-4147-A177-3AD203B41FA5}">
                      <a16:colId xmlns:a16="http://schemas.microsoft.com/office/drawing/2014/main" val="2857484149"/>
                    </a:ext>
                  </a:extLst>
                </a:gridCol>
              </a:tblGrid>
              <a:tr h="159705">
                <a:tc>
                  <a:txBody>
                    <a:bodyPr/>
                    <a:lstStyle/>
                    <a:p>
                      <a:pPr algn="ctr"/>
                      <a:r>
                        <a:rPr lang="en-US" sz="1200" b="1" dirty="0"/>
                        <a:t>1</a:t>
                      </a:r>
                    </a:p>
                  </a:txBody>
                  <a:tcPr marL="45720" marR="4572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sz="1200" b="0" dirty="0"/>
                        <a:t>Use without restriction</a:t>
                      </a:r>
                    </a:p>
                  </a:txBody>
                  <a:tcPr marL="45720" marR="4572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extLst>
                  <a:ext uri="{0D108BD9-81ED-4DB2-BD59-A6C34878D82A}">
                    <a16:rowId xmlns:a16="http://schemas.microsoft.com/office/drawing/2014/main" val="1895217335"/>
                  </a:ext>
                </a:extLst>
              </a:tr>
              <a:tr h="159705">
                <a:tc>
                  <a:txBody>
                    <a:bodyPr/>
                    <a:lstStyle/>
                    <a:p>
                      <a:pPr algn="ctr"/>
                      <a:r>
                        <a:rPr lang="en-US" sz="1200" b="1" dirty="0"/>
                        <a:t>2</a:t>
                      </a:r>
                    </a:p>
                  </a:txBody>
                  <a:tcPr marL="45720" marR="4572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en-US" sz="1200" dirty="0"/>
                        <a:t>Advantages &gt; Risks</a:t>
                      </a:r>
                    </a:p>
                  </a:txBody>
                  <a:tcPr marL="45720" marR="4572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234962287"/>
                  </a:ext>
                </a:extLst>
              </a:tr>
              <a:tr h="159705">
                <a:tc>
                  <a:txBody>
                    <a:bodyPr/>
                    <a:lstStyle/>
                    <a:p>
                      <a:pPr algn="ctr"/>
                      <a:r>
                        <a:rPr lang="en-US" sz="1200" b="1" dirty="0"/>
                        <a:t>3</a:t>
                      </a:r>
                    </a:p>
                  </a:txBody>
                  <a:tcPr marL="45720" marR="4572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en-US" sz="1200" dirty="0"/>
                        <a:t>Usually not recommended</a:t>
                      </a:r>
                    </a:p>
                  </a:txBody>
                  <a:tcPr marL="45720" marR="4572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extLst>
                  <a:ext uri="{0D108BD9-81ED-4DB2-BD59-A6C34878D82A}">
                    <a16:rowId xmlns:a16="http://schemas.microsoft.com/office/drawing/2014/main" val="2540678003"/>
                  </a:ext>
                </a:extLst>
              </a:tr>
              <a:tr h="152537">
                <a:tc>
                  <a:txBody>
                    <a:bodyPr/>
                    <a:lstStyle/>
                    <a:p>
                      <a:pPr algn="ctr"/>
                      <a:r>
                        <a:rPr lang="en-US" sz="1200" b="1" dirty="0"/>
                        <a:t>4</a:t>
                      </a:r>
                    </a:p>
                  </a:txBody>
                  <a:tcPr marL="45720" marR="4572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lang="en-US" sz="1200" dirty="0"/>
                        <a:t>DO NOT USE</a:t>
                      </a:r>
                    </a:p>
                  </a:txBody>
                  <a:tcPr marL="45720" marR="4572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2677329954"/>
                  </a:ext>
                </a:extLst>
              </a:tr>
            </a:tbl>
          </a:graphicData>
        </a:graphic>
      </p:graphicFrame>
      <p:graphicFrame>
        <p:nvGraphicFramePr>
          <p:cNvPr id="99" name="Table 4">
            <a:extLst>
              <a:ext uri="{FF2B5EF4-FFF2-40B4-BE49-F238E27FC236}">
                <a16:creationId xmlns:a16="http://schemas.microsoft.com/office/drawing/2014/main" id="{4AD49AF8-66B1-4786-8467-FA3A13807C2C}"/>
              </a:ext>
            </a:extLst>
          </p:cNvPr>
          <p:cNvGraphicFramePr>
            <a:graphicFrameLocks noGrp="1"/>
          </p:cNvGraphicFramePr>
          <p:nvPr>
            <p:extLst>
              <p:ext uri="{D42A27DB-BD31-4B8C-83A1-F6EECF244321}">
                <p14:modId xmlns:p14="http://schemas.microsoft.com/office/powerpoint/2010/main" val="176382940"/>
              </p:ext>
            </p:extLst>
          </p:nvPr>
        </p:nvGraphicFramePr>
        <p:xfrm>
          <a:off x="9717489" y="2363931"/>
          <a:ext cx="2083436" cy="877824"/>
        </p:xfrm>
        <a:graphic>
          <a:graphicData uri="http://schemas.openxmlformats.org/drawingml/2006/table">
            <a:tbl>
              <a:tblPr firstRow="1" bandRow="1">
                <a:tableStyleId>{BC89EF96-8CEA-46FF-86C4-4CE0E7609802}</a:tableStyleId>
              </a:tblPr>
              <a:tblGrid>
                <a:gridCol w="424099">
                  <a:extLst>
                    <a:ext uri="{9D8B030D-6E8A-4147-A177-3AD203B41FA5}">
                      <a16:colId xmlns:a16="http://schemas.microsoft.com/office/drawing/2014/main" val="3181850601"/>
                    </a:ext>
                  </a:extLst>
                </a:gridCol>
                <a:gridCol w="1659337">
                  <a:extLst>
                    <a:ext uri="{9D8B030D-6E8A-4147-A177-3AD203B41FA5}">
                      <a16:colId xmlns:a16="http://schemas.microsoft.com/office/drawing/2014/main" val="2857484149"/>
                    </a:ext>
                  </a:extLst>
                </a:gridCol>
              </a:tblGrid>
              <a:tr h="159705">
                <a:tc>
                  <a:txBody>
                    <a:bodyPr/>
                    <a:lstStyle/>
                    <a:p>
                      <a:pPr algn="ctr"/>
                      <a:r>
                        <a:rPr lang="en-US" sz="1200" b="1" dirty="0"/>
                        <a:t>1</a:t>
                      </a:r>
                    </a:p>
                  </a:txBody>
                  <a:tcPr marL="45720" marR="4572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sz="1200" b="0" dirty="0"/>
                        <a:t>Use without restriction</a:t>
                      </a:r>
                    </a:p>
                  </a:txBody>
                  <a:tcPr marL="45720" marR="4572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extLst>
                  <a:ext uri="{0D108BD9-81ED-4DB2-BD59-A6C34878D82A}">
                    <a16:rowId xmlns:a16="http://schemas.microsoft.com/office/drawing/2014/main" val="1895217335"/>
                  </a:ext>
                </a:extLst>
              </a:tr>
              <a:tr h="159705">
                <a:tc>
                  <a:txBody>
                    <a:bodyPr/>
                    <a:lstStyle/>
                    <a:p>
                      <a:pPr algn="ctr"/>
                      <a:r>
                        <a:rPr lang="en-US" sz="1200" b="1" dirty="0"/>
                        <a:t>2</a:t>
                      </a:r>
                    </a:p>
                  </a:txBody>
                  <a:tcPr marL="45720" marR="4572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en-US" sz="1200" dirty="0"/>
                        <a:t>Advantages &gt; Risks</a:t>
                      </a:r>
                    </a:p>
                  </a:txBody>
                  <a:tcPr marL="45720" marR="4572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234962287"/>
                  </a:ext>
                </a:extLst>
              </a:tr>
              <a:tr h="159705">
                <a:tc>
                  <a:txBody>
                    <a:bodyPr/>
                    <a:lstStyle/>
                    <a:p>
                      <a:pPr algn="ctr"/>
                      <a:r>
                        <a:rPr lang="en-US" sz="1200" b="1" dirty="0"/>
                        <a:t>3</a:t>
                      </a:r>
                    </a:p>
                  </a:txBody>
                  <a:tcPr marL="45720" marR="4572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en-US" sz="1200" dirty="0"/>
                        <a:t>Usually not recommended</a:t>
                      </a:r>
                    </a:p>
                  </a:txBody>
                  <a:tcPr marL="45720" marR="4572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extLst>
                  <a:ext uri="{0D108BD9-81ED-4DB2-BD59-A6C34878D82A}">
                    <a16:rowId xmlns:a16="http://schemas.microsoft.com/office/drawing/2014/main" val="2540678003"/>
                  </a:ext>
                </a:extLst>
              </a:tr>
              <a:tr h="152537">
                <a:tc>
                  <a:txBody>
                    <a:bodyPr/>
                    <a:lstStyle/>
                    <a:p>
                      <a:pPr algn="ctr"/>
                      <a:r>
                        <a:rPr lang="en-US" sz="1200" b="1" dirty="0"/>
                        <a:t>4</a:t>
                      </a:r>
                    </a:p>
                  </a:txBody>
                  <a:tcPr marL="45720" marR="4572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lang="en-US" sz="1200" dirty="0"/>
                        <a:t>DO NOT USE</a:t>
                      </a:r>
                    </a:p>
                  </a:txBody>
                  <a:tcPr marL="45720" marR="45720" marT="18288" marB="1828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2677329954"/>
                  </a:ext>
                </a:extLst>
              </a:tr>
            </a:tbl>
          </a:graphicData>
        </a:graphic>
      </p:graphicFrame>
      <p:sp>
        <p:nvSpPr>
          <p:cNvPr id="71" name="sub-q 1 button">
            <a:hlinkClick r:id="rId11" action="ppaction://hlinksldjump"/>
            <a:extLst>
              <a:ext uri="{FF2B5EF4-FFF2-40B4-BE49-F238E27FC236}">
                <a16:creationId xmlns:a16="http://schemas.microsoft.com/office/drawing/2014/main" id="{0E3FC437-D774-4C41-A8AE-033ACB44449F}"/>
              </a:ext>
            </a:extLst>
          </p:cNvPr>
          <p:cNvSpPr txBox="1"/>
          <p:nvPr/>
        </p:nvSpPr>
        <p:spPr>
          <a:xfrm>
            <a:off x="188535" y="6289886"/>
            <a:ext cx="1905392"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Bonus Resources</a:t>
            </a:r>
          </a:p>
        </p:txBody>
      </p:sp>
    </p:spTree>
    <p:extLst>
      <p:ext uri="{BB962C8B-B14F-4D97-AF65-F5344CB8AC3E}">
        <p14:creationId xmlns:p14="http://schemas.microsoft.com/office/powerpoint/2010/main" val="423375346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5"/>
                                        </p:tgtEl>
                                        <p:attrNameLst>
                                          <p:attrName>style.visibility</p:attrName>
                                        </p:attrNameLst>
                                      </p:cBhvr>
                                      <p:to>
                                        <p:strVal val="visible"/>
                                      </p:to>
                                    </p:set>
                                  </p:childTnLst>
                                </p:cTn>
                              </p:par>
                              <p:par>
                                <p:cTn id="23" presetID="1" presetClass="exit" presetSubtype="0" fill="hold" nodeType="withEffect">
                                  <p:stCondLst>
                                    <p:cond delay="0"/>
                                  </p:stCondLst>
                                  <p:childTnLst>
                                    <p:set>
                                      <p:cBhvr>
                                        <p:cTn id="24" dur="1" fill="hold">
                                          <p:stCondLst>
                                            <p:cond delay="0"/>
                                          </p:stCondLst>
                                        </p:cTn>
                                        <p:tgtEl>
                                          <p:spTgt spid="56"/>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25" restart="whenNotActive" fill="hold" evtFilter="cancelBubble" nodeType="interactiveSeq">
                <p:stCondLst>
                  <p:cond evt="onClick" delay="0">
                    <p:tgtEl>
                      <p:spTgt spid="28"/>
                    </p:tgtEl>
                  </p:cond>
                </p:stCondLst>
                <p:endSync evt="end" delay="0">
                  <p:rtn val="all"/>
                </p:endSync>
                <p:childTnLst>
                  <p:par>
                    <p:cTn id="26" fill="hold">
                      <p:stCondLst>
                        <p:cond delay="0"/>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33"/>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2"/>
                                        </p:tgtEl>
                                        <p:attrNameLst>
                                          <p:attrName>style.visibility</p:attrName>
                                        </p:attrNameLst>
                                      </p:cBhvr>
                                      <p:to>
                                        <p:strVal val="visible"/>
                                      </p:to>
                                    </p:set>
                                  </p:childTnLst>
                                </p:cTn>
                              </p:par>
                              <p:par>
                                <p:cTn id="32" presetID="1" presetClass="exit" presetSubtype="0" fill="hold" nodeType="withEffect">
                                  <p:stCondLst>
                                    <p:cond delay="0"/>
                                  </p:stCondLst>
                                  <p:childTnLst>
                                    <p:set>
                                      <p:cBhvr>
                                        <p:cTn id="33" dur="1" fill="hold">
                                          <p:stCondLst>
                                            <p:cond delay="0"/>
                                          </p:stCondLst>
                                        </p:cTn>
                                        <p:tgtEl>
                                          <p:spTgt spid="3"/>
                                        </p:tgtEl>
                                        <p:attrNameLst>
                                          <p:attrName>style.visibility</p:attrName>
                                        </p:attrNameLst>
                                      </p:cBhvr>
                                      <p:to>
                                        <p:strVal val="hidden"/>
                                      </p:to>
                                    </p:set>
                                  </p:childTnLst>
                                </p:cTn>
                              </p:par>
                            </p:childTnLst>
                          </p:cTn>
                        </p:par>
                      </p:childTnLst>
                    </p:cTn>
                  </p:par>
                </p:childTnLst>
              </p:cTn>
              <p:nextCondLst>
                <p:cond evt="onClick" delay="0">
                  <p:tgtEl>
                    <p:spTgt spid="28"/>
                  </p:tgtEl>
                </p:cond>
              </p:nextCondLst>
            </p:seq>
            <p:seq concurrent="1" nextAc="seek">
              <p:cTn id="34" restart="whenNotActive" fill="hold" evtFilter="cancelBubble" nodeType="interactiveSeq">
                <p:stCondLst>
                  <p:cond evt="onClick" delay="0">
                    <p:tgtEl>
                      <p:spTgt spid="31"/>
                    </p:tgtEl>
                  </p:cond>
                </p:stCondLst>
                <p:endSync evt="end" delay="0">
                  <p:rtn val="all"/>
                </p:endSync>
                <p:childTnLst>
                  <p:par>
                    <p:cTn id="35" fill="hold">
                      <p:stCondLst>
                        <p:cond delay="0"/>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par>
                                <p:cTn id="39" presetID="1" presetClass="exit" presetSubtype="0" fill="hold" nodeType="withEffect">
                                  <p:stCondLst>
                                    <p:cond delay="0"/>
                                  </p:stCondLst>
                                  <p:childTnLst>
                                    <p:set>
                                      <p:cBhvr>
                                        <p:cTn id="40" dur="1" fill="hold">
                                          <p:stCondLst>
                                            <p:cond delay="0"/>
                                          </p:stCondLst>
                                        </p:cTn>
                                        <p:tgtEl>
                                          <p:spTgt spid="52"/>
                                        </p:tgtEl>
                                        <p:attrNameLst>
                                          <p:attrName>style.visibility</p:attrName>
                                        </p:attrNameLst>
                                      </p:cBhvr>
                                      <p:to>
                                        <p:strVal val="hidden"/>
                                      </p:to>
                                    </p:set>
                                  </p:childTnLst>
                                </p:cTn>
                              </p:par>
                            </p:childTnLst>
                          </p:cTn>
                        </p:par>
                      </p:childTnLst>
                    </p:cTn>
                  </p:par>
                </p:childTnLst>
              </p:cTn>
              <p:nextCondLst>
                <p:cond evt="onClick" delay="0">
                  <p:tgtEl>
                    <p:spTgt spid="31"/>
                  </p:tgtEl>
                </p:cond>
              </p:nextCondLst>
            </p:seq>
            <p:seq concurrent="1" nextAc="seek">
              <p:cTn id="41" restart="whenNotActive" fill="hold" evtFilter="cancelBubble" nodeType="interactiveSeq">
                <p:stCondLst>
                  <p:cond evt="onClick" delay="0">
                    <p:tgtEl>
                      <p:spTgt spid="29"/>
                    </p:tgtEl>
                  </p:cond>
                </p:stCondLst>
                <p:endSync evt="end" delay="0">
                  <p:rtn val="all"/>
                </p:endSync>
                <p:childTnLst>
                  <p:par>
                    <p:cTn id="42" fill="hold">
                      <p:stCondLst>
                        <p:cond delay="0"/>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5"/>
                                        </p:tgtEl>
                                        <p:attrNameLst>
                                          <p:attrName>style.visibility</p:attrName>
                                        </p:attrNameLst>
                                      </p:cBhvr>
                                      <p:to>
                                        <p:strVal val="visible"/>
                                      </p:to>
                                    </p:set>
                                  </p:childTnLst>
                                </p:cTn>
                              </p:par>
                              <p:par>
                                <p:cTn id="46" presetID="1" presetClass="exit" presetSubtype="0" fill="hold" nodeType="withEffect">
                                  <p:stCondLst>
                                    <p:cond delay="0"/>
                                  </p:stCondLst>
                                  <p:childTnLst>
                                    <p:set>
                                      <p:cBhvr>
                                        <p:cTn id="47" dur="1" fill="hold">
                                          <p:stCondLst>
                                            <p:cond delay="0"/>
                                          </p:stCondLst>
                                        </p:cTn>
                                        <p:tgtEl>
                                          <p:spTgt spid="54"/>
                                        </p:tgtEl>
                                        <p:attrNameLst>
                                          <p:attrName>style.visibility</p:attrName>
                                        </p:attrNameLst>
                                      </p:cBhvr>
                                      <p:to>
                                        <p:strVal val="hidden"/>
                                      </p:to>
                                    </p:set>
                                  </p:childTnLst>
                                </p:cTn>
                              </p:par>
                            </p:childTnLst>
                          </p:cTn>
                        </p:par>
                      </p:childTnLst>
                    </p:cTn>
                  </p:par>
                </p:childTnLst>
              </p:cTn>
              <p:nextCondLst>
                <p:cond evt="onClick" delay="0">
                  <p:tgtEl>
                    <p:spTgt spid="29"/>
                  </p:tgtEl>
                </p:cond>
              </p:nextCondLst>
            </p:seq>
            <p:seq concurrent="1" nextAc="seek">
              <p:cTn id="48" restart="whenNotActive" fill="hold" evtFilter="cancelBubble" nodeType="interactiveSeq">
                <p:stCondLst>
                  <p:cond evt="onClick" delay="0">
                    <p:tgtEl>
                      <p:spTgt spid="30"/>
                    </p:tgtEl>
                  </p:cond>
                </p:stCondLst>
                <p:endSync evt="end" delay="0">
                  <p:rtn val="all"/>
                </p:endSync>
                <p:childTnLst>
                  <p:par>
                    <p:cTn id="49" fill="hold">
                      <p:stCondLst>
                        <p:cond delay="0"/>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6"/>
                                        </p:tgtEl>
                                        <p:attrNameLst>
                                          <p:attrName>style.visibility</p:attrName>
                                        </p:attrNameLst>
                                      </p:cBhvr>
                                      <p:to>
                                        <p:strVal val="visible"/>
                                      </p:to>
                                    </p:set>
                                  </p:childTnLst>
                                </p:cTn>
                              </p:par>
                              <p:par>
                                <p:cTn id="53" presetID="1" presetClass="exit" presetSubtype="0" fill="hold" nodeType="withEffect">
                                  <p:stCondLst>
                                    <p:cond delay="0"/>
                                  </p:stCondLst>
                                  <p:childTnLst>
                                    <p:set>
                                      <p:cBhvr>
                                        <p:cTn id="54" dur="1" fill="hold">
                                          <p:stCondLst>
                                            <p:cond delay="0"/>
                                          </p:stCondLst>
                                        </p:cTn>
                                        <p:tgtEl>
                                          <p:spTgt spid="55"/>
                                        </p:tgtEl>
                                        <p:attrNameLst>
                                          <p:attrName>style.visibility</p:attrName>
                                        </p:attrNameLst>
                                      </p:cBhvr>
                                      <p:to>
                                        <p:strVal val="hidden"/>
                                      </p:to>
                                    </p:set>
                                  </p:childTnLst>
                                </p:cTn>
                              </p:par>
                            </p:childTnLst>
                          </p:cTn>
                        </p:par>
                      </p:childTnLst>
                    </p:cTn>
                  </p:par>
                </p:childTnLst>
              </p:cTn>
              <p:nextCondLst>
                <p:cond evt="onClick" delay="0">
                  <p:tgtEl>
                    <p:spTgt spid="30"/>
                  </p:tgtEl>
                </p:cond>
              </p:nextCondLst>
            </p:seq>
            <p:seq concurrent="1" nextAc="seek">
              <p:cTn id="55" restart="whenNotActive" fill="hold" evtFilter="cancelBubble" nodeType="interactiveSeq">
                <p:stCondLst>
                  <p:cond evt="onClick" delay="0">
                    <p:tgtEl>
                      <p:spTgt spid="129"/>
                    </p:tgtEl>
                  </p:cond>
                </p:stCondLst>
                <p:endSync evt="end" delay="0">
                  <p:rtn val="all"/>
                </p:endSync>
                <p:childTnLst>
                  <p:par>
                    <p:cTn id="56" fill="hold">
                      <p:stCondLst>
                        <p:cond delay="0"/>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57"/>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58"/>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65"/>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66"/>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131"/>
                                        </p:tgtEl>
                                        <p:attrNameLst>
                                          <p:attrName>style.visibility</p:attrName>
                                        </p:attrNameLst>
                                      </p:cBhvr>
                                      <p:to>
                                        <p:strVal val="visible"/>
                                      </p:to>
                                    </p:set>
                                  </p:childTnLst>
                                </p:cTn>
                              </p:par>
                              <p:par>
                                <p:cTn id="68" presetID="1" presetClass="exit" presetSubtype="0" fill="hold" nodeType="withEffect">
                                  <p:stCondLst>
                                    <p:cond delay="0"/>
                                  </p:stCondLst>
                                  <p:childTnLst>
                                    <p:set>
                                      <p:cBhvr>
                                        <p:cTn id="69" dur="1" fill="hold">
                                          <p:stCondLst>
                                            <p:cond delay="0"/>
                                          </p:stCondLst>
                                        </p:cTn>
                                        <p:tgtEl>
                                          <p:spTgt spid="81"/>
                                        </p:tgtEl>
                                        <p:attrNameLst>
                                          <p:attrName>style.visibility</p:attrName>
                                        </p:attrNameLst>
                                      </p:cBhvr>
                                      <p:to>
                                        <p:strVal val="hidden"/>
                                      </p:to>
                                    </p:set>
                                  </p:childTnLst>
                                </p:cTn>
                              </p:par>
                            </p:childTnLst>
                          </p:cTn>
                        </p:par>
                      </p:childTnLst>
                    </p:cTn>
                  </p:par>
                </p:childTnLst>
              </p:cTn>
              <p:nextCondLst>
                <p:cond evt="onClick" delay="0">
                  <p:tgtEl>
                    <p:spTgt spid="129"/>
                  </p:tgtEl>
                </p:cond>
              </p:nextCondLst>
            </p:seq>
            <p:seq concurrent="1" nextAc="seek">
              <p:cTn id="70" restart="whenNotActive" fill="hold" evtFilter="cancelBubble" nodeType="interactiveSeq">
                <p:stCondLst>
                  <p:cond evt="onClick" delay="0">
                    <p:tgtEl>
                      <p:spTgt spid="57"/>
                    </p:tgtEl>
                  </p:cond>
                </p:stCondLst>
                <p:endSync evt="end" delay="0">
                  <p:rtn val="all"/>
                </p:endSync>
                <p:childTnLst>
                  <p:par>
                    <p:cTn id="71" fill="hold">
                      <p:stCondLst>
                        <p:cond delay="0"/>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61"/>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99"/>
                                        </p:tgtEl>
                                        <p:attrNameLst>
                                          <p:attrName>style.visibility</p:attrName>
                                        </p:attrNameLst>
                                      </p:cBhvr>
                                      <p:to>
                                        <p:strVal val="visible"/>
                                      </p:to>
                                    </p:set>
                                  </p:childTnLst>
                                </p:cTn>
                              </p:par>
                              <p:par>
                                <p:cTn id="77" presetID="1" presetClass="exit" presetSubtype="0" fill="hold" nodeType="withEffect">
                                  <p:stCondLst>
                                    <p:cond delay="0"/>
                                  </p:stCondLst>
                                  <p:childTnLst>
                                    <p:set>
                                      <p:cBhvr>
                                        <p:cTn id="78" dur="1" fill="hold">
                                          <p:stCondLst>
                                            <p:cond delay="0"/>
                                          </p:stCondLst>
                                        </p:cTn>
                                        <p:tgtEl>
                                          <p:spTgt spid="65"/>
                                        </p:tgtEl>
                                        <p:attrNameLst>
                                          <p:attrName>style.visibility</p:attrName>
                                        </p:attrNameLst>
                                      </p:cBhvr>
                                      <p:to>
                                        <p:strVal val="hidden"/>
                                      </p:to>
                                    </p:set>
                                  </p:childTnLst>
                                </p:cTn>
                              </p:par>
                            </p:childTnLst>
                          </p:cTn>
                        </p:par>
                      </p:childTnLst>
                    </p:cTn>
                  </p:par>
                </p:childTnLst>
              </p:cTn>
              <p:nextCondLst>
                <p:cond evt="onClick" delay="0">
                  <p:tgtEl>
                    <p:spTgt spid="57"/>
                  </p:tgtEl>
                </p:cond>
              </p:nextCondLst>
            </p:seq>
            <p:seq concurrent="1" nextAc="seek">
              <p:cTn id="79" restart="whenNotActive" fill="hold" evtFilter="cancelBubble" nodeType="interactiveSeq">
                <p:stCondLst>
                  <p:cond evt="onClick" delay="0">
                    <p:tgtEl>
                      <p:spTgt spid="58"/>
                    </p:tgtEl>
                  </p:cond>
                </p:stCondLst>
                <p:endSync evt="end" delay="0">
                  <p:rtn val="all"/>
                </p:endSync>
                <p:childTnLst>
                  <p:par>
                    <p:cTn id="80" fill="hold">
                      <p:stCondLst>
                        <p:cond delay="0"/>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62"/>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59"/>
                                        </p:tgtEl>
                                        <p:attrNameLst>
                                          <p:attrName>style.visibility</p:attrName>
                                        </p:attrNameLst>
                                      </p:cBhvr>
                                      <p:to>
                                        <p:strVal val="visible"/>
                                      </p:to>
                                    </p:set>
                                  </p:childTnLst>
                                </p:cTn>
                              </p:par>
                              <p:par>
                                <p:cTn id="86" presetID="1" presetClass="entr" presetSubtype="0" fill="hold" nodeType="withEffect">
                                  <p:stCondLst>
                                    <p:cond delay="0"/>
                                  </p:stCondLst>
                                  <p:childTnLst>
                                    <p:set>
                                      <p:cBhvr>
                                        <p:cTn id="87" dur="1" fill="hold">
                                          <p:stCondLst>
                                            <p:cond delay="0"/>
                                          </p:stCondLst>
                                        </p:cTn>
                                        <p:tgtEl>
                                          <p:spTgt spid="67"/>
                                        </p:tgtEl>
                                        <p:attrNameLst>
                                          <p:attrName>style.visibility</p:attrName>
                                        </p:attrNameLst>
                                      </p:cBhvr>
                                      <p:to>
                                        <p:strVal val="visible"/>
                                      </p:to>
                                    </p:set>
                                  </p:childTnLst>
                                </p:cTn>
                              </p:par>
                              <p:par>
                                <p:cTn id="88" presetID="1" presetClass="entr" presetSubtype="0" fill="hold" nodeType="withEffect">
                                  <p:stCondLst>
                                    <p:cond delay="0"/>
                                  </p:stCondLst>
                                  <p:childTnLst>
                                    <p:set>
                                      <p:cBhvr>
                                        <p:cTn id="89" dur="1" fill="hold">
                                          <p:stCondLst>
                                            <p:cond delay="0"/>
                                          </p:stCondLst>
                                        </p:cTn>
                                        <p:tgtEl>
                                          <p:spTgt spid="60"/>
                                        </p:tgtEl>
                                        <p:attrNameLst>
                                          <p:attrName>style.visibility</p:attrName>
                                        </p:attrNameLst>
                                      </p:cBhvr>
                                      <p:to>
                                        <p:strVal val="visible"/>
                                      </p:to>
                                    </p:set>
                                  </p:childTnLst>
                                </p:cTn>
                              </p:par>
                              <p:par>
                                <p:cTn id="90" presetID="1" presetClass="exit" presetSubtype="0" fill="hold" nodeType="withEffect">
                                  <p:stCondLst>
                                    <p:cond delay="0"/>
                                  </p:stCondLst>
                                  <p:childTnLst>
                                    <p:set>
                                      <p:cBhvr>
                                        <p:cTn id="91" dur="1" fill="hold">
                                          <p:stCondLst>
                                            <p:cond delay="0"/>
                                          </p:stCondLst>
                                        </p:cTn>
                                        <p:tgtEl>
                                          <p:spTgt spid="66"/>
                                        </p:tgtEl>
                                        <p:attrNameLst>
                                          <p:attrName>style.visibility</p:attrName>
                                        </p:attrNameLst>
                                      </p:cBhvr>
                                      <p:to>
                                        <p:strVal val="hidden"/>
                                      </p:to>
                                    </p:set>
                                  </p:childTnLst>
                                </p:cTn>
                              </p:par>
                              <p:par>
                                <p:cTn id="92" presetID="1" presetClass="entr" presetSubtype="0" fill="hold" nodeType="withEffect">
                                  <p:stCondLst>
                                    <p:cond delay="0"/>
                                  </p:stCondLst>
                                  <p:childTnLst>
                                    <p:set>
                                      <p:cBhvr>
                                        <p:cTn id="93" dur="1" fill="hold">
                                          <p:stCondLst>
                                            <p:cond delay="0"/>
                                          </p:stCondLst>
                                        </p:cTn>
                                        <p:tgtEl>
                                          <p:spTgt spid="68"/>
                                        </p:tgtEl>
                                        <p:attrNameLst>
                                          <p:attrName>style.visibility</p:attrName>
                                        </p:attrNameLst>
                                      </p:cBhvr>
                                      <p:to>
                                        <p:strVal val="visible"/>
                                      </p:to>
                                    </p:set>
                                  </p:childTnLst>
                                </p:cTn>
                              </p:par>
                            </p:childTnLst>
                          </p:cTn>
                        </p:par>
                      </p:childTnLst>
                    </p:cTn>
                  </p:par>
                </p:childTnLst>
              </p:cTn>
              <p:nextCondLst>
                <p:cond evt="onClick" delay="0">
                  <p:tgtEl>
                    <p:spTgt spid="58"/>
                  </p:tgtEl>
                </p:cond>
              </p:nextCondLst>
            </p:seq>
            <p:seq concurrent="1" nextAc="seek">
              <p:cTn id="94" restart="whenNotActive" fill="hold" evtFilter="cancelBubble" nodeType="interactiveSeq">
                <p:stCondLst>
                  <p:cond evt="onClick" delay="0">
                    <p:tgtEl>
                      <p:spTgt spid="59"/>
                    </p:tgtEl>
                  </p:cond>
                </p:stCondLst>
                <p:endSync evt="end" delay="0">
                  <p:rtn val="all"/>
                </p:endSync>
                <p:childTnLst>
                  <p:par>
                    <p:cTn id="95" fill="hold">
                      <p:stCondLst>
                        <p:cond delay="0"/>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63"/>
                                        </p:tgtEl>
                                        <p:attrNameLst>
                                          <p:attrName>style.visibility</p:attrName>
                                        </p:attrNameLst>
                                      </p:cBhvr>
                                      <p:to>
                                        <p:strVal val="visible"/>
                                      </p:to>
                                    </p:set>
                                  </p:childTnLst>
                                </p:cTn>
                              </p:par>
                              <p:par>
                                <p:cTn id="99" presetID="1" presetClass="exit" presetSubtype="0" fill="hold" nodeType="withEffect">
                                  <p:stCondLst>
                                    <p:cond delay="0"/>
                                  </p:stCondLst>
                                  <p:childTnLst>
                                    <p:set>
                                      <p:cBhvr>
                                        <p:cTn id="100" dur="1" fill="hold">
                                          <p:stCondLst>
                                            <p:cond delay="0"/>
                                          </p:stCondLst>
                                        </p:cTn>
                                        <p:tgtEl>
                                          <p:spTgt spid="67"/>
                                        </p:tgtEl>
                                        <p:attrNameLst>
                                          <p:attrName>style.visibility</p:attrName>
                                        </p:attrNameLst>
                                      </p:cBhvr>
                                      <p:to>
                                        <p:strVal val="hidden"/>
                                      </p:to>
                                    </p:set>
                                  </p:childTnLst>
                                </p:cTn>
                              </p:par>
                            </p:childTnLst>
                          </p:cTn>
                        </p:par>
                      </p:childTnLst>
                    </p:cTn>
                  </p:par>
                </p:childTnLst>
              </p:cTn>
              <p:nextCondLst>
                <p:cond evt="onClick" delay="0">
                  <p:tgtEl>
                    <p:spTgt spid="59"/>
                  </p:tgtEl>
                </p:cond>
              </p:nextCondLst>
            </p:seq>
            <p:seq concurrent="1" nextAc="seek">
              <p:cTn id="101" restart="whenNotActive" fill="hold" evtFilter="cancelBubble" nodeType="interactiveSeq">
                <p:stCondLst>
                  <p:cond evt="onClick" delay="0">
                    <p:tgtEl>
                      <p:spTgt spid="60"/>
                    </p:tgtEl>
                  </p:cond>
                </p:stCondLst>
                <p:endSync evt="end" delay="0">
                  <p:rtn val="all"/>
                </p:endSync>
                <p:childTnLst>
                  <p:par>
                    <p:cTn id="102" fill="hold">
                      <p:stCondLst>
                        <p:cond delay="0"/>
                      </p:stCondLst>
                      <p:childTnLst>
                        <p:par>
                          <p:cTn id="103" fill="hold">
                            <p:stCondLst>
                              <p:cond delay="0"/>
                            </p:stCondLst>
                            <p:childTnLst>
                              <p:par>
                                <p:cTn id="104" presetID="1" presetClass="entr" presetSubtype="0" fill="hold" grpId="1" nodeType="clickEffect">
                                  <p:stCondLst>
                                    <p:cond delay="0"/>
                                  </p:stCondLst>
                                  <p:childTnLst>
                                    <p:set>
                                      <p:cBhvr>
                                        <p:cTn id="105" dur="1" fill="hold">
                                          <p:stCondLst>
                                            <p:cond delay="0"/>
                                          </p:stCondLst>
                                        </p:cTn>
                                        <p:tgtEl>
                                          <p:spTgt spid="64"/>
                                        </p:tgtEl>
                                        <p:attrNameLst>
                                          <p:attrName>style.visibility</p:attrName>
                                        </p:attrNameLst>
                                      </p:cBhvr>
                                      <p:to>
                                        <p:strVal val="visible"/>
                                      </p:to>
                                    </p:set>
                                  </p:childTnLst>
                                </p:cTn>
                              </p:par>
                              <p:par>
                                <p:cTn id="106" presetID="1" presetClass="exit" presetSubtype="0" fill="hold" nodeType="withEffect">
                                  <p:stCondLst>
                                    <p:cond delay="0"/>
                                  </p:stCondLst>
                                  <p:childTnLst>
                                    <p:set>
                                      <p:cBhvr>
                                        <p:cTn id="107" dur="1" fill="hold">
                                          <p:stCondLst>
                                            <p:cond delay="0"/>
                                          </p:stCondLst>
                                        </p:cTn>
                                        <p:tgtEl>
                                          <p:spTgt spid="68"/>
                                        </p:tgtEl>
                                        <p:attrNameLst>
                                          <p:attrName>style.visibility</p:attrName>
                                        </p:attrNameLst>
                                      </p:cBhvr>
                                      <p:to>
                                        <p:strVal val="hidden"/>
                                      </p:to>
                                    </p:set>
                                  </p:childTnLst>
                                </p:cTn>
                              </p:par>
                            </p:childTnLst>
                          </p:cTn>
                        </p:par>
                      </p:childTnLst>
                    </p:cTn>
                  </p:par>
                </p:childTnLst>
              </p:cTn>
              <p:nextCondLst>
                <p:cond evt="onClick" delay="0">
                  <p:tgtEl>
                    <p:spTgt spid="60"/>
                  </p:tgtEl>
                </p:cond>
              </p:nextCondLst>
            </p:seq>
          </p:childTnLst>
        </p:cTn>
      </p:par>
    </p:tnLst>
    <p:bldLst>
      <p:bldP spid="13" grpId="0"/>
      <p:bldP spid="28" grpId="0" animBg="1"/>
      <p:bldP spid="31" grpId="0" animBg="1"/>
      <p:bldP spid="29" grpId="0" animBg="1"/>
      <p:bldP spid="30" grpId="0" animBg="1"/>
      <p:bldP spid="33" grpId="0" animBg="1"/>
      <p:bldP spid="34" grpId="0" animBg="1"/>
      <p:bldP spid="35" grpId="0" animBg="1"/>
      <p:bldP spid="36" grpId="0" animBg="1"/>
      <p:bldP spid="131" grpId="0"/>
      <p:bldP spid="59" grpId="0" animBg="1"/>
      <p:bldP spid="61" grpId="0" animBg="1"/>
      <p:bldP spid="62" grpId="0" animBg="1"/>
      <p:bldP spid="63" grpId="0" animBg="1"/>
      <p:bldP spid="64" grpId="0" animBg="1"/>
      <p:bldP spid="64"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Question 2">
            <a:hlinkClick r:id="rId3" action="ppaction://hlinksldjump"/>
            <a:extLst>
              <a:ext uri="{FF2B5EF4-FFF2-40B4-BE49-F238E27FC236}">
                <a16:creationId xmlns:a16="http://schemas.microsoft.com/office/drawing/2014/main" id="{D3FB78EE-DCAC-43C5-A56E-87F849BF2ACE}"/>
              </a:ext>
            </a:extLst>
          </p:cNvPr>
          <p:cNvSpPr txBox="1"/>
          <p:nvPr/>
        </p:nvSpPr>
        <p:spPr>
          <a:xfrm>
            <a:off x="515530" y="3100791"/>
            <a:ext cx="1594319"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ysClr val="windowText" lastClr="000000"/>
                </a:solidFill>
              </a:rPr>
              <a:t>1-2</a:t>
            </a:r>
          </a:p>
        </p:txBody>
      </p:sp>
      <p:sp>
        <p:nvSpPr>
          <p:cNvPr id="47" name="Question 2">
            <a:hlinkClick r:id="rId4" action="ppaction://hlinksldjump"/>
            <a:extLst>
              <a:ext uri="{FF2B5EF4-FFF2-40B4-BE49-F238E27FC236}">
                <a16:creationId xmlns:a16="http://schemas.microsoft.com/office/drawing/2014/main" id="{70CD4176-4AED-469A-95D7-A09660BD1994}"/>
              </a:ext>
            </a:extLst>
          </p:cNvPr>
          <p:cNvSpPr txBox="1"/>
          <p:nvPr/>
        </p:nvSpPr>
        <p:spPr>
          <a:xfrm>
            <a:off x="519489" y="3664448"/>
            <a:ext cx="1594318"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3-4</a:t>
            </a:r>
          </a:p>
        </p:txBody>
      </p:sp>
      <p:sp>
        <p:nvSpPr>
          <p:cNvPr id="49" name="Case 3 button">
            <a:extLst>
              <a:ext uri="{FF2B5EF4-FFF2-40B4-BE49-F238E27FC236}">
                <a16:creationId xmlns:a16="http://schemas.microsoft.com/office/drawing/2014/main" id="{2B8689D8-C03D-4923-B006-F036F0304F29}"/>
              </a:ext>
            </a:extLst>
          </p:cNvPr>
          <p:cNvSpPr/>
          <p:nvPr/>
        </p:nvSpPr>
        <p:spPr>
          <a:xfrm>
            <a:off x="3484418" y="221679"/>
            <a:ext cx="219456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Case 3</a:t>
            </a:r>
          </a:p>
        </p:txBody>
      </p:sp>
      <p:sp>
        <p:nvSpPr>
          <p:cNvPr id="50" name="Case 1 text">
            <a:extLst>
              <a:ext uri="{FF2B5EF4-FFF2-40B4-BE49-F238E27FC236}">
                <a16:creationId xmlns:a16="http://schemas.microsoft.com/office/drawing/2014/main" id="{3F295DC7-70FB-47AE-A980-15A397BD9634}"/>
              </a:ext>
            </a:extLst>
          </p:cNvPr>
          <p:cNvSpPr txBox="1"/>
          <p:nvPr/>
        </p:nvSpPr>
        <p:spPr>
          <a:xfrm>
            <a:off x="2404562" y="788454"/>
            <a:ext cx="4572000" cy="1277273"/>
          </a:xfrm>
          <a:prstGeom prst="rect">
            <a:avLst/>
          </a:prstGeom>
          <a:noFill/>
        </p:spPr>
        <p:txBody>
          <a:bodyPr wrap="square" lIns="91440" tIns="45720" rIns="91440" bIns="45720" rtlCol="0" anchor="t">
            <a:spAutoFit/>
          </a:bodyPr>
          <a:lstStyle/>
          <a:p>
            <a:pPr lvl="0"/>
            <a:r>
              <a:rPr lang="en-US" sz="1400" dirty="0"/>
              <a:t>David is a 21 year-old transgender man with obesity and type I diabetes who presents for “the shot”. He is sexually active with one male partner.</a:t>
            </a:r>
          </a:p>
          <a:p>
            <a:pPr lvl="0"/>
            <a:endParaRPr lang="en-US" sz="600" dirty="0"/>
          </a:p>
          <a:p>
            <a:pPr lvl="0"/>
            <a:r>
              <a:rPr lang="en-US" sz="1400" dirty="0"/>
              <a:t>His last HbA1C was 9% and he was found to have microalbuminuria and mild retinopathy during a prior visit.</a:t>
            </a:r>
          </a:p>
        </p:txBody>
      </p:sp>
      <p:pic>
        <p:nvPicPr>
          <p:cNvPr id="51" name="Graphic 50" descr="Cursor with solid fill">
            <a:extLst>
              <a:ext uri="{FF2B5EF4-FFF2-40B4-BE49-F238E27FC236}">
                <a16:creationId xmlns:a16="http://schemas.microsoft.com/office/drawing/2014/main" id="{3AA51CB8-13B0-447F-AEE6-A963D4A6E43A}"/>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560024" y="502233"/>
            <a:ext cx="301752" cy="301752"/>
          </a:xfrm>
          <a:prstGeom prst="rect">
            <a:avLst/>
          </a:prstGeom>
        </p:spPr>
      </p:pic>
      <p:sp>
        <p:nvSpPr>
          <p:cNvPr id="72" name="Case 3 - question2">
            <a:extLst>
              <a:ext uri="{FF2B5EF4-FFF2-40B4-BE49-F238E27FC236}">
                <a16:creationId xmlns:a16="http://schemas.microsoft.com/office/drawing/2014/main" id="{64BB0FD3-ADD9-447B-83C3-92D6BBE7D1E3}"/>
              </a:ext>
            </a:extLst>
          </p:cNvPr>
          <p:cNvSpPr/>
          <p:nvPr/>
        </p:nvSpPr>
        <p:spPr>
          <a:xfrm>
            <a:off x="2438430" y="3316028"/>
            <a:ext cx="4572000" cy="614570"/>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What methods of contraception may worsen gender dysphoria in a female-to-male transgender patient?</a:t>
            </a:r>
          </a:p>
        </p:txBody>
      </p:sp>
      <p:sp>
        <p:nvSpPr>
          <p:cNvPr id="75" name="Case 3 - question3">
            <a:extLst>
              <a:ext uri="{FF2B5EF4-FFF2-40B4-BE49-F238E27FC236}">
                <a16:creationId xmlns:a16="http://schemas.microsoft.com/office/drawing/2014/main" id="{BCF131BC-2A15-4620-964D-9A4DB0E275E5}"/>
              </a:ext>
            </a:extLst>
          </p:cNvPr>
          <p:cNvSpPr/>
          <p:nvPr/>
        </p:nvSpPr>
        <p:spPr>
          <a:xfrm>
            <a:off x="2438430" y="4740683"/>
            <a:ext cx="4572000" cy="624860"/>
          </a:xfrm>
          <a:prstGeom prst="roundRect">
            <a:avLst>
              <a:gd name="adj" fmla="val 12855"/>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In addition to helping him select an alternative method, what additional counseling will you provide? </a:t>
            </a:r>
          </a:p>
        </p:txBody>
      </p:sp>
      <p:sp>
        <p:nvSpPr>
          <p:cNvPr id="76" name="Case 3 - answer1">
            <a:extLst>
              <a:ext uri="{FF2B5EF4-FFF2-40B4-BE49-F238E27FC236}">
                <a16:creationId xmlns:a16="http://schemas.microsoft.com/office/drawing/2014/main" id="{3C3246AA-6320-4F5C-9FB0-15ED2F088C51}"/>
              </a:ext>
            </a:extLst>
          </p:cNvPr>
          <p:cNvSpPr/>
          <p:nvPr/>
        </p:nvSpPr>
        <p:spPr>
          <a:xfrm>
            <a:off x="2449792" y="3972478"/>
            <a:ext cx="4572000" cy="72632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Avoid methods that would worsen menstrual bleeding (e.g., copper IUD). Consider methods that eradicate or lighten menstrual bleeding  (e.g. LNG IUD).</a:t>
            </a:r>
          </a:p>
        </p:txBody>
      </p:sp>
      <p:sp>
        <p:nvSpPr>
          <p:cNvPr id="79" name="Case 3 - answer2">
            <a:extLst>
              <a:ext uri="{FF2B5EF4-FFF2-40B4-BE49-F238E27FC236}">
                <a16:creationId xmlns:a16="http://schemas.microsoft.com/office/drawing/2014/main" id="{9DA9B6EE-18B2-4039-9594-33F10797B12D}"/>
              </a:ext>
            </a:extLst>
          </p:cNvPr>
          <p:cNvSpPr/>
          <p:nvPr/>
        </p:nvSpPr>
        <p:spPr>
          <a:xfrm>
            <a:off x="2484692" y="5389436"/>
            <a:ext cx="4572000" cy="51215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Counsel on condom use for STI prevention.</a:t>
            </a:r>
          </a:p>
          <a:p>
            <a:pPr algn="ctr"/>
            <a:r>
              <a:rPr lang="en-US" sz="1400" dirty="0"/>
              <a:t>Use the PATH questions to assess future pregnancy goals.</a:t>
            </a:r>
          </a:p>
        </p:txBody>
      </p:sp>
      <p:pic>
        <p:nvPicPr>
          <p:cNvPr id="82" name="Graphic 81" descr="Cursor with solid fill">
            <a:extLst>
              <a:ext uri="{FF2B5EF4-FFF2-40B4-BE49-F238E27FC236}">
                <a16:creationId xmlns:a16="http://schemas.microsoft.com/office/drawing/2014/main" id="{F683E455-77A6-467A-9FFA-2331A7C47CA7}"/>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870916" y="3806684"/>
            <a:ext cx="301752" cy="301752"/>
          </a:xfrm>
          <a:prstGeom prst="rect">
            <a:avLst/>
          </a:prstGeom>
        </p:spPr>
      </p:pic>
      <p:pic>
        <p:nvPicPr>
          <p:cNvPr id="86" name="Graphic 85" descr="Cursor with solid fill">
            <a:extLst>
              <a:ext uri="{FF2B5EF4-FFF2-40B4-BE49-F238E27FC236}">
                <a16:creationId xmlns:a16="http://schemas.microsoft.com/office/drawing/2014/main" id="{B7B6A391-4B1A-43DE-AD3E-477CE11FDEF4}"/>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855015" y="5234848"/>
            <a:ext cx="301752" cy="301752"/>
          </a:xfrm>
          <a:prstGeom prst="rect">
            <a:avLst/>
          </a:prstGeom>
        </p:spPr>
      </p:pic>
      <p:sp>
        <p:nvSpPr>
          <p:cNvPr id="87" name="Case 3 - question1">
            <a:extLst>
              <a:ext uri="{FF2B5EF4-FFF2-40B4-BE49-F238E27FC236}">
                <a16:creationId xmlns:a16="http://schemas.microsoft.com/office/drawing/2014/main" id="{E8487AE5-7674-4A44-8A10-7B5B158F5CCD}"/>
              </a:ext>
            </a:extLst>
          </p:cNvPr>
          <p:cNvSpPr/>
          <p:nvPr/>
        </p:nvSpPr>
        <p:spPr>
          <a:xfrm>
            <a:off x="2442002" y="2155302"/>
            <a:ext cx="4572000" cy="333815"/>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What categories of risk are associated with his condition?</a:t>
            </a:r>
          </a:p>
        </p:txBody>
      </p:sp>
      <p:pic>
        <p:nvPicPr>
          <p:cNvPr id="88" name="Graphic 87" descr="Cursor with solid fill">
            <a:extLst>
              <a:ext uri="{FF2B5EF4-FFF2-40B4-BE49-F238E27FC236}">
                <a16:creationId xmlns:a16="http://schemas.microsoft.com/office/drawing/2014/main" id="{C58013BA-F722-4CFE-B84B-99D8F6E74DAA}"/>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876433" y="2349305"/>
            <a:ext cx="301752" cy="301752"/>
          </a:xfrm>
          <a:prstGeom prst="rect">
            <a:avLst/>
          </a:prstGeom>
        </p:spPr>
      </p:pic>
      <p:sp>
        <p:nvSpPr>
          <p:cNvPr id="89" name="Case 3 - answer1">
            <a:extLst>
              <a:ext uri="{FF2B5EF4-FFF2-40B4-BE49-F238E27FC236}">
                <a16:creationId xmlns:a16="http://schemas.microsoft.com/office/drawing/2014/main" id="{C753D46E-4212-4146-9081-7DAF34276F81}"/>
              </a:ext>
            </a:extLst>
          </p:cNvPr>
          <p:cNvSpPr/>
          <p:nvPr/>
        </p:nvSpPr>
        <p:spPr>
          <a:xfrm>
            <a:off x="2442002" y="2516151"/>
            <a:ext cx="4572000" cy="74568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He has DM with complications. Combined hormonal methods and Depo-Provera are category 3. All others (except for copper IUD) are category 2. </a:t>
            </a:r>
          </a:p>
        </p:txBody>
      </p:sp>
      <p:sp>
        <p:nvSpPr>
          <p:cNvPr id="28" name="question 1">
            <a:hlinkClick r:id="rId7" action="ppaction://hlinksldjump"/>
            <a:extLst>
              <a:ext uri="{FF2B5EF4-FFF2-40B4-BE49-F238E27FC236}">
                <a16:creationId xmlns:a16="http://schemas.microsoft.com/office/drawing/2014/main" id="{3A16F1F3-F8C8-4E02-BE2B-81332AED5679}"/>
              </a:ext>
            </a:extLst>
          </p:cNvPr>
          <p:cNvSpPr txBox="1"/>
          <p:nvPr/>
        </p:nvSpPr>
        <p:spPr>
          <a:xfrm>
            <a:off x="188535" y="192736"/>
            <a:ext cx="1905394"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PATH Questions</a:t>
            </a:r>
          </a:p>
        </p:txBody>
      </p:sp>
      <p:sp>
        <p:nvSpPr>
          <p:cNvPr id="31" name="question 4">
            <a:hlinkClick r:id="rId8" action="ppaction://hlinksldjump"/>
            <a:extLst>
              <a:ext uri="{FF2B5EF4-FFF2-40B4-BE49-F238E27FC236}">
                <a16:creationId xmlns:a16="http://schemas.microsoft.com/office/drawing/2014/main" id="{596BCC0C-5A5C-4685-BA23-BCEF4FB29F5D}"/>
              </a:ext>
            </a:extLst>
          </p:cNvPr>
          <p:cNvSpPr txBox="1"/>
          <p:nvPr/>
        </p:nvSpPr>
        <p:spPr>
          <a:xfrm>
            <a:off x="188535" y="1937569"/>
            <a:ext cx="190539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Emergency Use</a:t>
            </a:r>
          </a:p>
        </p:txBody>
      </p:sp>
      <p:sp>
        <p:nvSpPr>
          <p:cNvPr id="32" name="Cases">
            <a:hlinkClick r:id="rId3" action="ppaction://hlinksldjump"/>
            <a:extLst>
              <a:ext uri="{FF2B5EF4-FFF2-40B4-BE49-F238E27FC236}">
                <a16:creationId xmlns:a16="http://schemas.microsoft.com/office/drawing/2014/main" id="{1016F900-4589-42F1-B0E3-87BA58B71A46}"/>
              </a:ext>
            </a:extLst>
          </p:cNvPr>
          <p:cNvSpPr txBox="1"/>
          <p:nvPr/>
        </p:nvSpPr>
        <p:spPr>
          <a:xfrm>
            <a:off x="188535" y="2519180"/>
            <a:ext cx="1905392"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solidFill>
                  <a:schemeClr val="bg1"/>
                </a:solidFill>
              </a:rPr>
              <a:t>Cases</a:t>
            </a:r>
          </a:p>
        </p:txBody>
      </p:sp>
      <p:sp>
        <p:nvSpPr>
          <p:cNvPr id="42" name="question 3">
            <a:hlinkClick r:id="rId9" action="ppaction://hlinksldjump"/>
            <a:extLst>
              <a:ext uri="{FF2B5EF4-FFF2-40B4-BE49-F238E27FC236}">
                <a16:creationId xmlns:a16="http://schemas.microsoft.com/office/drawing/2014/main" id="{8843445C-0D2E-4290-A199-462A6D3058E6}"/>
              </a:ext>
            </a:extLst>
          </p:cNvPr>
          <p:cNvSpPr txBox="1"/>
          <p:nvPr/>
        </p:nvSpPr>
        <p:spPr>
          <a:xfrm>
            <a:off x="188535" y="774347"/>
            <a:ext cx="190539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Methods</a:t>
            </a:r>
          </a:p>
        </p:txBody>
      </p:sp>
      <p:sp>
        <p:nvSpPr>
          <p:cNvPr id="43" name="Question 2">
            <a:hlinkClick r:id="rId10" action="ppaction://hlinksldjump"/>
            <a:extLst>
              <a:ext uri="{FF2B5EF4-FFF2-40B4-BE49-F238E27FC236}">
                <a16:creationId xmlns:a16="http://schemas.microsoft.com/office/drawing/2014/main" id="{FCD75310-199E-43C2-BCA1-A92B74FC1DDB}"/>
              </a:ext>
            </a:extLst>
          </p:cNvPr>
          <p:cNvSpPr txBox="1"/>
          <p:nvPr/>
        </p:nvSpPr>
        <p:spPr>
          <a:xfrm>
            <a:off x="188535" y="1355958"/>
            <a:ext cx="190539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Contraindications</a:t>
            </a:r>
          </a:p>
        </p:txBody>
      </p:sp>
      <p:pic>
        <p:nvPicPr>
          <p:cNvPr id="44" name="Graphic 43" descr="Cursor with solid fill">
            <a:extLst>
              <a:ext uri="{FF2B5EF4-FFF2-40B4-BE49-F238E27FC236}">
                <a16:creationId xmlns:a16="http://schemas.microsoft.com/office/drawing/2014/main" id="{77C90ED7-A3E9-4D57-A480-7BD4B6CC9D74}"/>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968119" y="462956"/>
            <a:ext cx="296010" cy="301752"/>
          </a:xfrm>
          <a:prstGeom prst="rect">
            <a:avLst/>
          </a:prstGeom>
        </p:spPr>
      </p:pic>
      <p:pic>
        <p:nvPicPr>
          <p:cNvPr id="45" name="Graphic 44" descr="Cursor with solid fill">
            <a:extLst>
              <a:ext uri="{FF2B5EF4-FFF2-40B4-BE49-F238E27FC236}">
                <a16:creationId xmlns:a16="http://schemas.microsoft.com/office/drawing/2014/main" id="{98CEC112-B787-4C8C-B521-DAACFC505FD6}"/>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968119" y="1625692"/>
            <a:ext cx="296010" cy="301752"/>
          </a:xfrm>
          <a:prstGeom prst="rect">
            <a:avLst/>
          </a:prstGeom>
        </p:spPr>
      </p:pic>
      <p:pic>
        <p:nvPicPr>
          <p:cNvPr id="48" name="Graphic 47" descr="Cursor with solid fill">
            <a:extLst>
              <a:ext uri="{FF2B5EF4-FFF2-40B4-BE49-F238E27FC236}">
                <a16:creationId xmlns:a16="http://schemas.microsoft.com/office/drawing/2014/main" id="{6F38E8B5-1389-402D-AF4B-4B24A0FBCE5A}"/>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968119" y="2189058"/>
            <a:ext cx="296010" cy="301752"/>
          </a:xfrm>
          <a:prstGeom prst="rect">
            <a:avLst/>
          </a:prstGeom>
        </p:spPr>
      </p:pic>
      <p:pic>
        <p:nvPicPr>
          <p:cNvPr id="53" name="Graphic 52" descr="Cursor with solid fill">
            <a:extLst>
              <a:ext uri="{FF2B5EF4-FFF2-40B4-BE49-F238E27FC236}">
                <a16:creationId xmlns:a16="http://schemas.microsoft.com/office/drawing/2014/main" id="{773218A7-44D5-4EBD-92FB-28C414DCF5EE}"/>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968119" y="1043401"/>
            <a:ext cx="296010" cy="301752"/>
          </a:xfrm>
          <a:prstGeom prst="rect">
            <a:avLst/>
          </a:prstGeom>
        </p:spPr>
      </p:pic>
      <p:pic>
        <p:nvPicPr>
          <p:cNvPr id="57" name="Graphic 56" descr="Cursor with solid fill">
            <a:extLst>
              <a:ext uri="{FF2B5EF4-FFF2-40B4-BE49-F238E27FC236}">
                <a16:creationId xmlns:a16="http://schemas.microsoft.com/office/drawing/2014/main" id="{B067E6F9-B290-4013-B31A-2074C84EBEDF}"/>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968119" y="6556248"/>
            <a:ext cx="296010" cy="301752"/>
          </a:xfrm>
          <a:prstGeom prst="rect">
            <a:avLst/>
          </a:prstGeom>
        </p:spPr>
      </p:pic>
      <p:cxnSp>
        <p:nvCxnSpPr>
          <p:cNvPr id="58" name="Connector: Elbow 57">
            <a:extLst>
              <a:ext uri="{FF2B5EF4-FFF2-40B4-BE49-F238E27FC236}">
                <a16:creationId xmlns:a16="http://schemas.microsoft.com/office/drawing/2014/main" id="{1B7F27E8-D6D4-4C3E-A798-8ED1CF9FBA39}"/>
              </a:ext>
            </a:extLst>
          </p:cNvPr>
          <p:cNvCxnSpPr>
            <a:cxnSpLocks/>
          </p:cNvCxnSpPr>
          <p:nvPr/>
        </p:nvCxnSpPr>
        <p:spPr>
          <a:xfrm rot="16200000" flipH="1">
            <a:off x="234378" y="3001830"/>
            <a:ext cx="364384" cy="197922"/>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59" name="Connector: Elbow 58">
            <a:extLst>
              <a:ext uri="{FF2B5EF4-FFF2-40B4-BE49-F238E27FC236}">
                <a16:creationId xmlns:a16="http://schemas.microsoft.com/office/drawing/2014/main" id="{A44700D4-7B06-4577-823D-D41A8C72A9FB}"/>
              </a:ext>
            </a:extLst>
          </p:cNvPr>
          <p:cNvCxnSpPr>
            <a:cxnSpLocks/>
            <a:endCxn id="47" idx="1"/>
          </p:cNvCxnSpPr>
          <p:nvPr/>
        </p:nvCxnSpPr>
        <p:spPr>
          <a:xfrm rot="16200000" flipH="1">
            <a:off x="117063" y="3466334"/>
            <a:ext cx="606928" cy="197924"/>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pic>
        <p:nvPicPr>
          <p:cNvPr id="60" name="Graphic 59" descr="Cursor with solid fill">
            <a:extLst>
              <a:ext uri="{FF2B5EF4-FFF2-40B4-BE49-F238E27FC236}">
                <a16:creationId xmlns:a16="http://schemas.microsoft.com/office/drawing/2014/main" id="{492DC4FF-0980-4D7B-B4DD-936B485683FA}"/>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968119" y="3373112"/>
            <a:ext cx="296010" cy="301752"/>
          </a:xfrm>
          <a:prstGeom prst="rect">
            <a:avLst/>
          </a:prstGeom>
        </p:spPr>
      </p:pic>
      <p:cxnSp>
        <p:nvCxnSpPr>
          <p:cNvPr id="65" name="Straight Connector 64">
            <a:extLst>
              <a:ext uri="{FF2B5EF4-FFF2-40B4-BE49-F238E27FC236}">
                <a16:creationId xmlns:a16="http://schemas.microsoft.com/office/drawing/2014/main" id="{F496A0BA-65EC-410D-92D2-37CA736C1B29}"/>
              </a:ext>
            </a:extLst>
          </p:cNvPr>
          <p:cNvCxnSpPr>
            <a:cxnSpLocks/>
          </p:cNvCxnSpPr>
          <p:nvPr/>
        </p:nvCxnSpPr>
        <p:spPr>
          <a:xfrm>
            <a:off x="7259137" y="265569"/>
            <a:ext cx="0" cy="6460559"/>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66" name="Case 4">
            <a:extLst>
              <a:ext uri="{FF2B5EF4-FFF2-40B4-BE49-F238E27FC236}">
                <a16:creationId xmlns:a16="http://schemas.microsoft.com/office/drawing/2014/main" id="{7084CE54-823E-4EF1-80D4-4433C9F392D1}"/>
              </a:ext>
            </a:extLst>
          </p:cNvPr>
          <p:cNvSpPr/>
          <p:nvPr/>
        </p:nvSpPr>
        <p:spPr>
          <a:xfrm>
            <a:off x="8582655" y="221679"/>
            <a:ext cx="2194560" cy="412786"/>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Case 4</a:t>
            </a:r>
          </a:p>
        </p:txBody>
      </p:sp>
      <p:sp>
        <p:nvSpPr>
          <p:cNvPr id="67" name="Case 4 text">
            <a:extLst>
              <a:ext uri="{FF2B5EF4-FFF2-40B4-BE49-F238E27FC236}">
                <a16:creationId xmlns:a16="http://schemas.microsoft.com/office/drawing/2014/main" id="{19125190-2A0A-4CBE-960F-EB6F4C3A6D4C}"/>
              </a:ext>
            </a:extLst>
          </p:cNvPr>
          <p:cNvSpPr txBox="1"/>
          <p:nvPr/>
        </p:nvSpPr>
        <p:spPr>
          <a:xfrm>
            <a:off x="7422967" y="714579"/>
            <a:ext cx="4607072" cy="954107"/>
          </a:xfrm>
          <a:prstGeom prst="rect">
            <a:avLst/>
          </a:prstGeom>
          <a:noFill/>
        </p:spPr>
        <p:txBody>
          <a:bodyPr wrap="square" lIns="91440" tIns="45720" rIns="91440" bIns="45720" rtlCol="0" anchor="t">
            <a:spAutoFit/>
          </a:bodyPr>
          <a:lstStyle/>
          <a:p>
            <a:pPr lvl="0"/>
            <a:r>
              <a:rPr lang="en-US" sz="1400" dirty="0"/>
              <a:t>Kylee is a 35 year-old </a:t>
            </a:r>
            <a:r>
              <a:rPr lang="en-US" sz="1400"/>
              <a:t>woman who presents </a:t>
            </a:r>
            <a:r>
              <a:rPr lang="en-US" sz="1400" dirty="0"/>
              <a:t>for contraceptive counseling. What options for combined hormonal contraceptives are recommended if she had the following comorbidities? </a:t>
            </a:r>
            <a:endParaRPr lang="en-US" sz="1400" i="1" dirty="0"/>
          </a:p>
        </p:txBody>
      </p:sp>
      <p:sp>
        <p:nvSpPr>
          <p:cNvPr id="68" name="Case 4 - question1">
            <a:extLst>
              <a:ext uri="{FF2B5EF4-FFF2-40B4-BE49-F238E27FC236}">
                <a16:creationId xmlns:a16="http://schemas.microsoft.com/office/drawing/2014/main" id="{C36E76FE-0D27-4ADA-B3C2-F98704D8DC5B}"/>
              </a:ext>
            </a:extLst>
          </p:cNvPr>
          <p:cNvSpPr/>
          <p:nvPr/>
        </p:nvSpPr>
        <p:spPr>
          <a:xfrm>
            <a:off x="7417176" y="1734613"/>
            <a:ext cx="4572000" cy="331114"/>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Compensated cirrhosis from hepatitis B</a:t>
            </a:r>
          </a:p>
        </p:txBody>
      </p:sp>
      <p:sp>
        <p:nvSpPr>
          <p:cNvPr id="69" name="Case 4 - question2">
            <a:extLst>
              <a:ext uri="{FF2B5EF4-FFF2-40B4-BE49-F238E27FC236}">
                <a16:creationId xmlns:a16="http://schemas.microsoft.com/office/drawing/2014/main" id="{6F030FF7-2AB1-4740-AEA3-57C9000B1542}"/>
              </a:ext>
            </a:extLst>
          </p:cNvPr>
          <p:cNvSpPr/>
          <p:nvPr/>
        </p:nvSpPr>
        <p:spPr>
          <a:xfrm>
            <a:off x="7429338" y="2496667"/>
            <a:ext cx="4572000" cy="364414"/>
          </a:xfrm>
          <a:prstGeom prst="roundRect">
            <a:avLst>
              <a:gd name="adj" fmla="val 10321"/>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Decompensated cirrhosis from alcohol </a:t>
            </a:r>
          </a:p>
        </p:txBody>
      </p:sp>
      <p:sp>
        <p:nvSpPr>
          <p:cNvPr id="73" name="Case 4 - question4">
            <a:extLst>
              <a:ext uri="{FF2B5EF4-FFF2-40B4-BE49-F238E27FC236}">
                <a16:creationId xmlns:a16="http://schemas.microsoft.com/office/drawing/2014/main" id="{2BD22225-15E3-4857-A89B-36969C35A1E2}"/>
              </a:ext>
            </a:extLst>
          </p:cNvPr>
          <p:cNvSpPr/>
          <p:nvPr/>
        </p:nvSpPr>
        <p:spPr>
          <a:xfrm>
            <a:off x="7408886" y="3506118"/>
            <a:ext cx="4600344" cy="337492"/>
          </a:xfrm>
          <a:prstGeom prst="roundRect">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Smoking</a:t>
            </a:r>
          </a:p>
        </p:txBody>
      </p:sp>
      <p:sp>
        <p:nvSpPr>
          <p:cNvPr id="74" name="Case 4 - answer1">
            <a:extLst>
              <a:ext uri="{FF2B5EF4-FFF2-40B4-BE49-F238E27FC236}">
                <a16:creationId xmlns:a16="http://schemas.microsoft.com/office/drawing/2014/main" id="{912D0FDC-3E05-4ADF-9CD9-224598B3BAE9}"/>
              </a:ext>
            </a:extLst>
          </p:cNvPr>
          <p:cNvSpPr/>
          <p:nvPr/>
        </p:nvSpPr>
        <p:spPr>
          <a:xfrm>
            <a:off x="7476141" y="2071072"/>
            <a:ext cx="4572000" cy="36441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All methods would be low risk</a:t>
            </a:r>
          </a:p>
        </p:txBody>
      </p:sp>
      <p:sp>
        <p:nvSpPr>
          <p:cNvPr id="77" name="Case 4 - answer2">
            <a:extLst>
              <a:ext uri="{FF2B5EF4-FFF2-40B4-BE49-F238E27FC236}">
                <a16:creationId xmlns:a16="http://schemas.microsoft.com/office/drawing/2014/main" id="{3A839228-7107-49FE-8363-E42B4283E243}"/>
              </a:ext>
            </a:extLst>
          </p:cNvPr>
          <p:cNvSpPr/>
          <p:nvPr/>
        </p:nvSpPr>
        <p:spPr>
          <a:xfrm>
            <a:off x="7442345" y="2929604"/>
            <a:ext cx="4572000" cy="49504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COCPs would be contraindicated. All other methods except copper IUD are category 3. </a:t>
            </a:r>
          </a:p>
        </p:txBody>
      </p:sp>
      <p:sp>
        <p:nvSpPr>
          <p:cNvPr id="80" name="Case 4 - answer 3">
            <a:extLst>
              <a:ext uri="{FF2B5EF4-FFF2-40B4-BE49-F238E27FC236}">
                <a16:creationId xmlns:a16="http://schemas.microsoft.com/office/drawing/2014/main" id="{A7A5B23D-CA31-4D8A-B859-B6FFE7784017}"/>
              </a:ext>
            </a:extLst>
          </p:cNvPr>
          <p:cNvSpPr/>
          <p:nvPr/>
        </p:nvSpPr>
        <p:spPr>
          <a:xfrm>
            <a:off x="7446976" y="3888132"/>
            <a:ext cx="4534560" cy="114202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r>
              <a:rPr lang="en-US" sz="1400" dirty="0"/>
              <a:t>For combined hormonal methods:</a:t>
            </a:r>
          </a:p>
          <a:p>
            <a:pPr marL="119063" indent="-119063">
              <a:buFont typeface="Arial" panose="020B0604020202020204" pitchFamily="34" charset="0"/>
              <a:buChar char="•"/>
            </a:pPr>
            <a:r>
              <a:rPr lang="en-US" sz="1400" dirty="0"/>
              <a:t>&lt; 35 </a:t>
            </a:r>
            <a:r>
              <a:rPr lang="en-US" sz="1400" dirty="0" err="1"/>
              <a:t>yo</a:t>
            </a:r>
            <a:r>
              <a:rPr lang="en-US" sz="1400" dirty="0"/>
              <a:t> – category 2</a:t>
            </a:r>
          </a:p>
          <a:p>
            <a:pPr marL="119063" indent="-119063">
              <a:buFont typeface="Arial" panose="020B0604020202020204" pitchFamily="34" charset="0"/>
              <a:buChar char="•"/>
            </a:pPr>
            <a:r>
              <a:rPr lang="en-US" sz="1400" dirty="0"/>
              <a:t>&gt; 35 </a:t>
            </a:r>
            <a:r>
              <a:rPr lang="en-US" sz="1400" dirty="0" err="1"/>
              <a:t>yo</a:t>
            </a:r>
            <a:r>
              <a:rPr lang="en-US" sz="1400" dirty="0"/>
              <a:t>, smoking &lt;15 cigarettes/day – category 3</a:t>
            </a:r>
          </a:p>
          <a:p>
            <a:pPr marL="119063" indent="-119063">
              <a:buFont typeface="Arial" panose="020B0604020202020204" pitchFamily="34" charset="0"/>
              <a:buChar char="•"/>
            </a:pPr>
            <a:r>
              <a:rPr lang="en-US" sz="1400" dirty="0"/>
              <a:t>&gt; 35 </a:t>
            </a:r>
            <a:r>
              <a:rPr lang="en-US" sz="1400" dirty="0" err="1"/>
              <a:t>yo</a:t>
            </a:r>
            <a:r>
              <a:rPr lang="en-US" sz="1400" dirty="0"/>
              <a:t>, smoking &gt; 15 cigarettes/day – category 4. </a:t>
            </a:r>
          </a:p>
          <a:p>
            <a:r>
              <a:rPr lang="en-US" sz="1400" dirty="0"/>
              <a:t>All other methods are safe. </a:t>
            </a:r>
          </a:p>
        </p:txBody>
      </p:sp>
      <p:pic>
        <p:nvPicPr>
          <p:cNvPr id="90" name="Graphic 89" descr="Cursor with solid fill">
            <a:extLst>
              <a:ext uri="{FF2B5EF4-FFF2-40B4-BE49-F238E27FC236}">
                <a16:creationId xmlns:a16="http://schemas.microsoft.com/office/drawing/2014/main" id="{216615E0-D0FA-4816-B07E-E20D3F01838E}"/>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661760" y="501856"/>
            <a:ext cx="302506" cy="302506"/>
          </a:xfrm>
          <a:prstGeom prst="rect">
            <a:avLst/>
          </a:prstGeom>
        </p:spPr>
      </p:pic>
      <p:pic>
        <p:nvPicPr>
          <p:cNvPr id="81" name="Graphic 80" descr="Cursor with solid fill">
            <a:extLst>
              <a:ext uri="{FF2B5EF4-FFF2-40B4-BE49-F238E27FC236}">
                <a16:creationId xmlns:a16="http://schemas.microsoft.com/office/drawing/2014/main" id="{CF0FE45F-AB66-4E61-9EF9-6C6705DB978F}"/>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845863" y="1943311"/>
            <a:ext cx="302506" cy="302506"/>
          </a:xfrm>
          <a:prstGeom prst="rect">
            <a:avLst/>
          </a:prstGeom>
        </p:spPr>
      </p:pic>
      <p:pic>
        <p:nvPicPr>
          <p:cNvPr id="83" name="Graphic 82" descr="Cursor with solid fill">
            <a:extLst>
              <a:ext uri="{FF2B5EF4-FFF2-40B4-BE49-F238E27FC236}">
                <a16:creationId xmlns:a16="http://schemas.microsoft.com/office/drawing/2014/main" id="{9DDE66B4-0B31-4198-8997-B2A9F619E90B}"/>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845863" y="2727814"/>
            <a:ext cx="302506" cy="302506"/>
          </a:xfrm>
          <a:prstGeom prst="rect">
            <a:avLst/>
          </a:prstGeom>
        </p:spPr>
      </p:pic>
      <p:pic>
        <p:nvPicPr>
          <p:cNvPr id="85" name="Graphic 84" descr="Cursor with solid fill">
            <a:extLst>
              <a:ext uri="{FF2B5EF4-FFF2-40B4-BE49-F238E27FC236}">
                <a16:creationId xmlns:a16="http://schemas.microsoft.com/office/drawing/2014/main" id="{94520116-96F0-47C1-8EBB-A97B3272B37D}"/>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845863" y="3717435"/>
            <a:ext cx="302506" cy="302506"/>
          </a:xfrm>
          <a:prstGeom prst="rect">
            <a:avLst/>
          </a:prstGeom>
        </p:spPr>
      </p:pic>
      <p:sp>
        <p:nvSpPr>
          <p:cNvPr id="91" name="Case 4 - question 4">
            <a:extLst>
              <a:ext uri="{FF2B5EF4-FFF2-40B4-BE49-F238E27FC236}">
                <a16:creationId xmlns:a16="http://schemas.microsoft.com/office/drawing/2014/main" id="{4F950FC6-14CB-4B9F-9C35-8AE48D8C8BDC}"/>
              </a:ext>
            </a:extLst>
          </p:cNvPr>
          <p:cNvSpPr/>
          <p:nvPr/>
        </p:nvSpPr>
        <p:spPr>
          <a:xfrm>
            <a:off x="7421047" y="5633317"/>
            <a:ext cx="4572000" cy="346212"/>
          </a:xfrm>
          <a:prstGeom prst="roundRect">
            <a:avLst>
              <a:gd name="adj" fmla="val 13824"/>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How will you manage her contraception after surgery?</a:t>
            </a:r>
          </a:p>
        </p:txBody>
      </p:sp>
      <p:sp>
        <p:nvSpPr>
          <p:cNvPr id="92" name="Case 4 - answer 4">
            <a:extLst>
              <a:ext uri="{FF2B5EF4-FFF2-40B4-BE49-F238E27FC236}">
                <a16:creationId xmlns:a16="http://schemas.microsoft.com/office/drawing/2014/main" id="{0EAF263C-4C46-4269-BB90-45E003D18AF3}"/>
              </a:ext>
            </a:extLst>
          </p:cNvPr>
          <p:cNvSpPr/>
          <p:nvPr/>
        </p:nvSpPr>
        <p:spPr>
          <a:xfrm>
            <a:off x="7442343" y="6056374"/>
            <a:ext cx="4566886" cy="630889"/>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Consider switching to a progestin only method. Combined hormonal methods are category 4 after major surgery with anticipated immobilization.</a:t>
            </a:r>
          </a:p>
        </p:txBody>
      </p:sp>
      <p:sp>
        <p:nvSpPr>
          <p:cNvPr id="94" name="Case 4b text">
            <a:extLst>
              <a:ext uri="{FF2B5EF4-FFF2-40B4-BE49-F238E27FC236}">
                <a16:creationId xmlns:a16="http://schemas.microsoft.com/office/drawing/2014/main" id="{E02CAA47-3E10-422F-BEA5-A554310BC664}"/>
              </a:ext>
            </a:extLst>
          </p:cNvPr>
          <p:cNvSpPr txBox="1"/>
          <p:nvPr/>
        </p:nvSpPr>
        <p:spPr>
          <a:xfrm>
            <a:off x="7398983" y="5090137"/>
            <a:ext cx="4607072" cy="523220"/>
          </a:xfrm>
          <a:prstGeom prst="rect">
            <a:avLst/>
          </a:prstGeom>
          <a:noFill/>
        </p:spPr>
        <p:txBody>
          <a:bodyPr wrap="square" lIns="91440" tIns="45720" rIns="91440" bIns="45720" rtlCol="0" anchor="t">
            <a:spAutoFit/>
          </a:bodyPr>
          <a:lstStyle/>
          <a:p>
            <a:pPr lvl="0"/>
            <a:r>
              <a:rPr lang="en-US" sz="1400" dirty="0"/>
              <a:t>…You prescribe the patch. She breaks her leg in a skiing accident and requires ORIF.</a:t>
            </a:r>
            <a:endParaRPr lang="en-US" sz="1400" i="1" dirty="0"/>
          </a:p>
        </p:txBody>
      </p:sp>
      <p:pic>
        <p:nvPicPr>
          <p:cNvPr id="93" name="Graphic 92" descr="Cursor with solid fill">
            <a:extLst>
              <a:ext uri="{FF2B5EF4-FFF2-40B4-BE49-F238E27FC236}">
                <a16:creationId xmlns:a16="http://schemas.microsoft.com/office/drawing/2014/main" id="{652C964D-ED9B-44B1-AE4E-CF8D343F8480}"/>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845863" y="5828275"/>
            <a:ext cx="302506" cy="302506"/>
          </a:xfrm>
          <a:prstGeom prst="rect">
            <a:avLst/>
          </a:prstGeom>
        </p:spPr>
      </p:pic>
      <p:sp>
        <p:nvSpPr>
          <p:cNvPr id="52" name="sub-q 1 button">
            <a:hlinkClick r:id="rId11" action="ppaction://hlinksldjump"/>
            <a:extLst>
              <a:ext uri="{FF2B5EF4-FFF2-40B4-BE49-F238E27FC236}">
                <a16:creationId xmlns:a16="http://schemas.microsoft.com/office/drawing/2014/main" id="{6F841DDA-0BBD-4C38-8144-51B38485FA3F}"/>
              </a:ext>
            </a:extLst>
          </p:cNvPr>
          <p:cNvSpPr txBox="1"/>
          <p:nvPr/>
        </p:nvSpPr>
        <p:spPr>
          <a:xfrm>
            <a:off x="188535" y="6289886"/>
            <a:ext cx="1905392"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Bonus Resources</a:t>
            </a:r>
          </a:p>
        </p:txBody>
      </p:sp>
    </p:spTree>
    <p:extLst>
      <p:ext uri="{BB962C8B-B14F-4D97-AF65-F5344CB8AC3E}">
        <p14:creationId xmlns:p14="http://schemas.microsoft.com/office/powerpoint/2010/main" val="299920358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9"/>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7"/>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51"/>
                                        </p:tgtEl>
                                        <p:attrNameLst>
                                          <p:attrName>style.visibility</p:attrName>
                                        </p:attrNameLst>
                                      </p:cBhvr>
                                      <p:to>
                                        <p:strVal val="hidden"/>
                                      </p:to>
                                    </p:set>
                                  </p:childTnLst>
                                </p:cTn>
                              </p:par>
                            </p:childTnLst>
                          </p:cTn>
                        </p:par>
                      </p:childTnLst>
                    </p:cTn>
                  </p:par>
                </p:childTnLst>
              </p:cTn>
              <p:nextCondLst>
                <p:cond evt="onClick" delay="0">
                  <p:tgtEl>
                    <p:spTgt spid="49"/>
                  </p:tgtEl>
                </p:cond>
              </p:nextCondLst>
            </p:seq>
            <p:seq concurrent="1" nextAc="seek">
              <p:cTn id="23" restart="whenNotActive" fill="hold" evtFilter="cancelBubble" nodeType="interactiveSeq">
                <p:stCondLst>
                  <p:cond evt="onClick" delay="0">
                    <p:tgtEl>
                      <p:spTgt spid="87"/>
                    </p:tgtEl>
                  </p:cond>
                </p:stCondLst>
                <p:endSync evt="end" delay="0">
                  <p:rtn val="all"/>
                </p:endSync>
                <p:childTnLst>
                  <p:par>
                    <p:cTn id="24" fill="hold">
                      <p:stCondLst>
                        <p:cond delay="0"/>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89"/>
                                        </p:tgtEl>
                                        <p:attrNameLst>
                                          <p:attrName>style.visibility</p:attrName>
                                        </p:attrNameLst>
                                      </p:cBhvr>
                                      <p:to>
                                        <p:strVal val="visible"/>
                                      </p:to>
                                    </p:set>
                                  </p:childTnLst>
                                </p:cTn>
                              </p:par>
                              <p:par>
                                <p:cTn id="28" presetID="1" presetClass="exit" presetSubtype="0" fill="hold" nodeType="withEffect">
                                  <p:stCondLst>
                                    <p:cond delay="0"/>
                                  </p:stCondLst>
                                  <p:childTnLst>
                                    <p:set>
                                      <p:cBhvr>
                                        <p:cTn id="29" dur="1" fill="hold">
                                          <p:stCondLst>
                                            <p:cond delay="0"/>
                                          </p:stCondLst>
                                        </p:cTn>
                                        <p:tgtEl>
                                          <p:spTgt spid="88"/>
                                        </p:tgtEl>
                                        <p:attrNameLst>
                                          <p:attrName>style.visibility</p:attrName>
                                        </p:attrNameLst>
                                      </p:cBhvr>
                                      <p:to>
                                        <p:strVal val="hidden"/>
                                      </p:to>
                                    </p:set>
                                  </p:childTnLst>
                                </p:cTn>
                              </p:par>
                            </p:childTnLst>
                          </p:cTn>
                        </p:par>
                      </p:childTnLst>
                    </p:cTn>
                  </p:par>
                </p:childTnLst>
              </p:cTn>
              <p:nextCondLst>
                <p:cond evt="onClick" delay="0">
                  <p:tgtEl>
                    <p:spTgt spid="87"/>
                  </p:tgtEl>
                </p:cond>
              </p:nextCondLst>
            </p:seq>
            <p:seq concurrent="1" nextAc="seek">
              <p:cTn id="30" restart="whenNotActive" fill="hold" evtFilter="cancelBubble" nodeType="interactiveSeq">
                <p:stCondLst>
                  <p:cond evt="onClick" delay="0">
                    <p:tgtEl>
                      <p:spTgt spid="66"/>
                    </p:tgtEl>
                  </p:cond>
                </p:stCondLst>
                <p:endSync evt="end" delay="0">
                  <p:rtn val="all"/>
                </p:endSync>
                <p:childTnLst>
                  <p:par>
                    <p:cTn id="31" fill="hold">
                      <p:stCondLst>
                        <p:cond delay="0"/>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8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8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7"/>
                                        </p:tgtEl>
                                        <p:attrNameLst>
                                          <p:attrName>style.visibility</p:attrName>
                                        </p:attrNameLst>
                                      </p:cBhvr>
                                      <p:to>
                                        <p:strVal val="visible"/>
                                      </p:to>
                                    </p:set>
                                  </p:childTnLst>
                                </p:cTn>
                              </p:par>
                              <p:par>
                                <p:cTn id="57" presetID="1" presetClass="exit" presetSubtype="0" fill="hold" nodeType="withEffect">
                                  <p:stCondLst>
                                    <p:cond delay="0"/>
                                  </p:stCondLst>
                                  <p:childTnLst>
                                    <p:set>
                                      <p:cBhvr>
                                        <p:cTn id="58" dur="1" fill="hold">
                                          <p:stCondLst>
                                            <p:cond delay="0"/>
                                          </p:stCondLst>
                                        </p:cTn>
                                        <p:tgtEl>
                                          <p:spTgt spid="90"/>
                                        </p:tgtEl>
                                        <p:attrNameLst>
                                          <p:attrName>style.visibility</p:attrName>
                                        </p:attrNameLst>
                                      </p:cBhvr>
                                      <p:to>
                                        <p:strVal val="hidden"/>
                                      </p:to>
                                    </p:set>
                                  </p:childTnLst>
                                </p:cTn>
                              </p:par>
                            </p:childTnLst>
                          </p:cTn>
                        </p:par>
                      </p:childTnLst>
                    </p:cTn>
                  </p:par>
                </p:childTnLst>
              </p:cTn>
              <p:nextCondLst>
                <p:cond evt="onClick" delay="0">
                  <p:tgtEl>
                    <p:spTgt spid="66"/>
                  </p:tgtEl>
                </p:cond>
              </p:nextCondLst>
            </p:seq>
            <p:seq concurrent="1" nextAc="seek">
              <p:cTn id="59" restart="whenNotActive" fill="hold" evtFilter="cancelBubble" nodeType="interactiveSeq">
                <p:stCondLst>
                  <p:cond evt="onClick" delay="0">
                    <p:tgtEl>
                      <p:spTgt spid="68"/>
                    </p:tgtEl>
                  </p:cond>
                </p:stCondLst>
                <p:endSync evt="end" delay="0">
                  <p:rtn val="all"/>
                </p:endSync>
                <p:childTnLst>
                  <p:par>
                    <p:cTn id="60" fill="hold">
                      <p:stCondLst>
                        <p:cond delay="0"/>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74"/>
                                        </p:tgtEl>
                                        <p:attrNameLst>
                                          <p:attrName>style.visibility</p:attrName>
                                        </p:attrNameLst>
                                      </p:cBhvr>
                                      <p:to>
                                        <p:strVal val="visible"/>
                                      </p:to>
                                    </p:set>
                                  </p:childTnLst>
                                </p:cTn>
                              </p:par>
                              <p:par>
                                <p:cTn id="64" presetID="1" presetClass="exit" presetSubtype="0" fill="hold" nodeType="withEffect">
                                  <p:stCondLst>
                                    <p:cond delay="0"/>
                                  </p:stCondLst>
                                  <p:childTnLst>
                                    <p:set>
                                      <p:cBhvr>
                                        <p:cTn id="65" dur="1" fill="hold">
                                          <p:stCondLst>
                                            <p:cond delay="0"/>
                                          </p:stCondLst>
                                        </p:cTn>
                                        <p:tgtEl>
                                          <p:spTgt spid="81"/>
                                        </p:tgtEl>
                                        <p:attrNameLst>
                                          <p:attrName>style.visibility</p:attrName>
                                        </p:attrNameLst>
                                      </p:cBhvr>
                                      <p:to>
                                        <p:strVal val="hidden"/>
                                      </p:to>
                                    </p:set>
                                  </p:childTnLst>
                                </p:cTn>
                              </p:par>
                            </p:childTnLst>
                          </p:cTn>
                        </p:par>
                      </p:childTnLst>
                    </p:cTn>
                  </p:par>
                </p:childTnLst>
              </p:cTn>
              <p:nextCondLst>
                <p:cond evt="onClick" delay="0">
                  <p:tgtEl>
                    <p:spTgt spid="68"/>
                  </p:tgtEl>
                </p:cond>
              </p:nextCondLst>
            </p:seq>
            <p:seq concurrent="1" nextAc="seek">
              <p:cTn id="66" restart="whenNotActive" fill="hold" evtFilter="cancelBubble" nodeType="interactiveSeq">
                <p:stCondLst>
                  <p:cond evt="onClick" delay="0">
                    <p:tgtEl>
                      <p:spTgt spid="69"/>
                    </p:tgtEl>
                  </p:cond>
                </p:stCondLst>
                <p:endSync evt="end" delay="0">
                  <p:rtn val="all"/>
                </p:endSync>
                <p:childTnLst>
                  <p:par>
                    <p:cTn id="67" fill="hold">
                      <p:stCondLst>
                        <p:cond delay="0"/>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77"/>
                                        </p:tgtEl>
                                        <p:attrNameLst>
                                          <p:attrName>style.visibility</p:attrName>
                                        </p:attrNameLst>
                                      </p:cBhvr>
                                      <p:to>
                                        <p:strVal val="visible"/>
                                      </p:to>
                                    </p:set>
                                  </p:childTnLst>
                                </p:cTn>
                              </p:par>
                              <p:par>
                                <p:cTn id="71" presetID="1" presetClass="exit" presetSubtype="0" fill="hold" nodeType="withEffect">
                                  <p:stCondLst>
                                    <p:cond delay="0"/>
                                  </p:stCondLst>
                                  <p:childTnLst>
                                    <p:set>
                                      <p:cBhvr>
                                        <p:cTn id="72" dur="1" fill="hold">
                                          <p:stCondLst>
                                            <p:cond delay="0"/>
                                          </p:stCondLst>
                                        </p:cTn>
                                        <p:tgtEl>
                                          <p:spTgt spid="83"/>
                                        </p:tgtEl>
                                        <p:attrNameLst>
                                          <p:attrName>style.visibility</p:attrName>
                                        </p:attrNameLst>
                                      </p:cBhvr>
                                      <p:to>
                                        <p:strVal val="hidden"/>
                                      </p:to>
                                    </p:set>
                                  </p:childTnLst>
                                </p:cTn>
                              </p:par>
                            </p:childTnLst>
                          </p:cTn>
                        </p:par>
                      </p:childTnLst>
                    </p:cTn>
                  </p:par>
                </p:childTnLst>
              </p:cTn>
              <p:nextCondLst>
                <p:cond evt="onClick" delay="0">
                  <p:tgtEl>
                    <p:spTgt spid="69"/>
                  </p:tgtEl>
                </p:cond>
              </p:nextCondLst>
            </p:seq>
            <p:seq concurrent="1" nextAc="seek">
              <p:cTn id="73" restart="whenNotActive" fill="hold" evtFilter="cancelBubble" nodeType="interactiveSeq">
                <p:stCondLst>
                  <p:cond evt="onClick" delay="0">
                    <p:tgtEl>
                      <p:spTgt spid="73"/>
                    </p:tgtEl>
                  </p:cond>
                </p:stCondLst>
                <p:endSync evt="end" delay="0">
                  <p:rtn val="all"/>
                </p:endSync>
                <p:childTnLst>
                  <p:par>
                    <p:cTn id="74" fill="hold">
                      <p:stCondLst>
                        <p:cond delay="0"/>
                      </p:stCondLst>
                      <p:childTnLst>
                        <p:par>
                          <p:cTn id="75" fill="hold">
                            <p:stCondLst>
                              <p:cond delay="0"/>
                            </p:stCondLst>
                            <p:childTnLst>
                              <p:par>
                                <p:cTn id="76" presetID="1" presetClass="entr" presetSubtype="0" fill="hold" grpId="1" nodeType="clickEffect">
                                  <p:stCondLst>
                                    <p:cond delay="0"/>
                                  </p:stCondLst>
                                  <p:childTnLst>
                                    <p:set>
                                      <p:cBhvr>
                                        <p:cTn id="77" dur="1" fill="hold">
                                          <p:stCondLst>
                                            <p:cond delay="0"/>
                                          </p:stCondLst>
                                        </p:cTn>
                                        <p:tgtEl>
                                          <p:spTgt spid="80"/>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94"/>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93"/>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91"/>
                                        </p:tgtEl>
                                        <p:attrNameLst>
                                          <p:attrName>style.visibility</p:attrName>
                                        </p:attrNameLst>
                                      </p:cBhvr>
                                      <p:to>
                                        <p:strVal val="visible"/>
                                      </p:to>
                                    </p:set>
                                  </p:childTnLst>
                                </p:cTn>
                              </p:par>
                              <p:par>
                                <p:cTn id="84" presetID="1" presetClass="exit" presetSubtype="0" fill="hold" nodeType="withEffect">
                                  <p:stCondLst>
                                    <p:cond delay="0"/>
                                  </p:stCondLst>
                                  <p:childTnLst>
                                    <p:set>
                                      <p:cBhvr>
                                        <p:cTn id="85" dur="1" fill="hold">
                                          <p:stCondLst>
                                            <p:cond delay="0"/>
                                          </p:stCondLst>
                                        </p:cTn>
                                        <p:tgtEl>
                                          <p:spTgt spid="85"/>
                                        </p:tgtEl>
                                        <p:attrNameLst>
                                          <p:attrName>style.visibility</p:attrName>
                                        </p:attrNameLst>
                                      </p:cBhvr>
                                      <p:to>
                                        <p:strVal val="hidden"/>
                                      </p:to>
                                    </p:set>
                                  </p:childTnLst>
                                </p:cTn>
                              </p:par>
                            </p:childTnLst>
                          </p:cTn>
                        </p:par>
                      </p:childTnLst>
                    </p:cTn>
                  </p:par>
                </p:childTnLst>
              </p:cTn>
              <p:nextCondLst>
                <p:cond evt="onClick" delay="0">
                  <p:tgtEl>
                    <p:spTgt spid="73"/>
                  </p:tgtEl>
                </p:cond>
              </p:nextCondLst>
            </p:seq>
            <p:seq concurrent="1" nextAc="seek">
              <p:cTn id="86" restart="whenNotActive" fill="hold" evtFilter="cancelBubble" nodeType="interactiveSeq">
                <p:stCondLst>
                  <p:cond evt="onClick" delay="0">
                    <p:tgtEl>
                      <p:spTgt spid="91"/>
                    </p:tgtEl>
                  </p:cond>
                </p:stCondLst>
                <p:endSync evt="end" delay="0">
                  <p:rtn val="all"/>
                </p:endSync>
                <p:childTnLst>
                  <p:par>
                    <p:cTn id="87" fill="hold">
                      <p:stCondLst>
                        <p:cond delay="0"/>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92"/>
                                        </p:tgtEl>
                                        <p:attrNameLst>
                                          <p:attrName>style.visibility</p:attrName>
                                        </p:attrNameLst>
                                      </p:cBhvr>
                                      <p:to>
                                        <p:strVal val="visible"/>
                                      </p:to>
                                    </p:set>
                                  </p:childTnLst>
                                </p:cTn>
                              </p:par>
                              <p:par>
                                <p:cTn id="91" presetID="1" presetClass="exit" presetSubtype="0" fill="hold" nodeType="withEffect">
                                  <p:stCondLst>
                                    <p:cond delay="0"/>
                                  </p:stCondLst>
                                  <p:childTnLst>
                                    <p:set>
                                      <p:cBhvr>
                                        <p:cTn id="92" dur="1" fill="hold">
                                          <p:stCondLst>
                                            <p:cond delay="0"/>
                                          </p:stCondLst>
                                        </p:cTn>
                                        <p:tgtEl>
                                          <p:spTgt spid="93"/>
                                        </p:tgtEl>
                                        <p:attrNameLst>
                                          <p:attrName>style.visibility</p:attrName>
                                        </p:attrNameLst>
                                      </p:cBhvr>
                                      <p:to>
                                        <p:strVal val="hidden"/>
                                      </p:to>
                                    </p:set>
                                  </p:childTnLst>
                                </p:cTn>
                              </p:par>
                            </p:childTnLst>
                          </p:cTn>
                        </p:par>
                      </p:childTnLst>
                    </p:cTn>
                  </p:par>
                </p:childTnLst>
              </p:cTn>
              <p:nextCondLst>
                <p:cond evt="onClick" delay="0">
                  <p:tgtEl>
                    <p:spTgt spid="91"/>
                  </p:tgtEl>
                </p:cond>
              </p:nextCondLst>
            </p:seq>
            <p:seq concurrent="1" nextAc="seek">
              <p:cTn id="93" restart="whenNotActive" fill="hold" evtFilter="cancelBubble" nodeType="interactiveSeq">
                <p:stCondLst>
                  <p:cond evt="onClick" delay="0">
                    <p:tgtEl>
                      <p:spTgt spid="72"/>
                    </p:tgtEl>
                  </p:cond>
                </p:stCondLst>
                <p:endSync evt="end" delay="0">
                  <p:rtn val="all"/>
                </p:endSync>
                <p:childTnLst>
                  <p:par>
                    <p:cTn id="94" fill="hold">
                      <p:stCondLst>
                        <p:cond delay="0"/>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76"/>
                                        </p:tgtEl>
                                        <p:attrNameLst>
                                          <p:attrName>style.visibility</p:attrName>
                                        </p:attrNameLst>
                                      </p:cBhvr>
                                      <p:to>
                                        <p:strVal val="visible"/>
                                      </p:to>
                                    </p:set>
                                  </p:childTnLst>
                                </p:cTn>
                              </p:par>
                              <p:par>
                                <p:cTn id="98" presetID="1" presetClass="exit" presetSubtype="0" fill="hold" nodeType="withEffect">
                                  <p:stCondLst>
                                    <p:cond delay="0"/>
                                  </p:stCondLst>
                                  <p:childTnLst>
                                    <p:set>
                                      <p:cBhvr>
                                        <p:cTn id="99" dur="1" fill="hold">
                                          <p:stCondLst>
                                            <p:cond delay="0"/>
                                          </p:stCondLst>
                                        </p:cTn>
                                        <p:tgtEl>
                                          <p:spTgt spid="82"/>
                                        </p:tgtEl>
                                        <p:attrNameLst>
                                          <p:attrName>style.visibility</p:attrName>
                                        </p:attrNameLst>
                                      </p:cBhvr>
                                      <p:to>
                                        <p:strVal val="hidden"/>
                                      </p:to>
                                    </p:set>
                                  </p:childTnLst>
                                </p:cTn>
                              </p:par>
                            </p:childTnLst>
                          </p:cTn>
                        </p:par>
                      </p:childTnLst>
                    </p:cTn>
                  </p:par>
                </p:childTnLst>
              </p:cTn>
              <p:nextCondLst>
                <p:cond evt="onClick" delay="0">
                  <p:tgtEl>
                    <p:spTgt spid="72"/>
                  </p:tgtEl>
                </p:cond>
              </p:nextCondLst>
            </p:seq>
            <p:seq concurrent="1" nextAc="seek">
              <p:cTn id="100" restart="whenNotActive" fill="hold" evtFilter="cancelBubble" nodeType="interactiveSeq">
                <p:stCondLst>
                  <p:cond evt="onClick" delay="0">
                    <p:tgtEl>
                      <p:spTgt spid="75"/>
                    </p:tgtEl>
                  </p:cond>
                </p:stCondLst>
                <p:endSync evt="end" delay="0">
                  <p:rtn val="all"/>
                </p:endSync>
                <p:childTnLst>
                  <p:par>
                    <p:cTn id="101" fill="hold">
                      <p:stCondLst>
                        <p:cond delay="0"/>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79"/>
                                        </p:tgtEl>
                                        <p:attrNameLst>
                                          <p:attrName>style.visibility</p:attrName>
                                        </p:attrNameLst>
                                      </p:cBhvr>
                                      <p:to>
                                        <p:strVal val="visible"/>
                                      </p:to>
                                    </p:set>
                                  </p:childTnLst>
                                </p:cTn>
                              </p:par>
                              <p:par>
                                <p:cTn id="105" presetID="1" presetClass="exit" presetSubtype="0" fill="hold" nodeType="withEffect">
                                  <p:stCondLst>
                                    <p:cond delay="0"/>
                                  </p:stCondLst>
                                  <p:childTnLst>
                                    <p:set>
                                      <p:cBhvr>
                                        <p:cTn id="106" dur="1" fill="hold">
                                          <p:stCondLst>
                                            <p:cond delay="0"/>
                                          </p:stCondLst>
                                        </p:cTn>
                                        <p:tgtEl>
                                          <p:spTgt spid="86"/>
                                        </p:tgtEl>
                                        <p:attrNameLst>
                                          <p:attrName>style.visibility</p:attrName>
                                        </p:attrNameLst>
                                      </p:cBhvr>
                                      <p:to>
                                        <p:strVal val="hidden"/>
                                      </p:to>
                                    </p:set>
                                  </p:childTnLst>
                                </p:cTn>
                              </p:par>
                            </p:childTnLst>
                          </p:cTn>
                        </p:par>
                      </p:childTnLst>
                    </p:cTn>
                  </p:par>
                </p:childTnLst>
              </p:cTn>
              <p:nextCondLst>
                <p:cond evt="onClick" delay="0">
                  <p:tgtEl>
                    <p:spTgt spid="75"/>
                  </p:tgtEl>
                </p:cond>
              </p:nextCondLst>
            </p:seq>
          </p:childTnLst>
        </p:cTn>
      </p:par>
    </p:tnLst>
    <p:bldLst>
      <p:bldP spid="50" grpId="0"/>
      <p:bldP spid="76" grpId="0" animBg="1"/>
      <p:bldP spid="79" grpId="0" animBg="1"/>
      <p:bldP spid="89" grpId="0" animBg="1"/>
      <p:bldP spid="67" grpId="0"/>
      <p:bldP spid="69" grpId="0" animBg="1"/>
      <p:bldP spid="73" grpId="0" animBg="1"/>
      <p:bldP spid="74" grpId="0" animBg="1"/>
      <p:bldP spid="77" grpId="0" animBg="1"/>
      <p:bldP spid="80" grpId="0" animBg="1"/>
      <p:bldP spid="80" grpId="1" animBg="1"/>
      <p:bldP spid="91" grpId="0" animBg="1"/>
      <p:bldP spid="92" grpId="0" animBg="1"/>
      <p:bldP spid="9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303C10-B9B5-8F46-9641-A2498695F57A}"/>
              </a:ext>
            </a:extLst>
          </p:cNvPr>
          <p:cNvSpPr>
            <a:spLocks noGrp="1"/>
          </p:cNvSpPr>
          <p:nvPr>
            <p:ph idx="1"/>
          </p:nvPr>
        </p:nvSpPr>
        <p:spPr>
          <a:xfrm>
            <a:off x="2481942" y="783837"/>
            <a:ext cx="9176658" cy="5873069"/>
          </a:xfrm>
        </p:spPr>
        <p:txBody>
          <a:bodyPr>
            <a:noAutofit/>
          </a:bodyPr>
          <a:lstStyle/>
          <a:p>
            <a:pPr lvl="0"/>
            <a:r>
              <a:rPr lang="en-US" sz="1600" dirty="0">
                <a:hlinkClick r:id="rId2"/>
              </a:rPr>
              <a:t>bedsider.org</a:t>
            </a:r>
            <a:r>
              <a:rPr lang="en-US" sz="1600" dirty="0"/>
              <a:t>: A free website developed by the National Campaign to Prevent Teen and Unplanned Pregnancy, a private nonprofit group</a:t>
            </a:r>
          </a:p>
          <a:p>
            <a:pPr lvl="0"/>
            <a:r>
              <a:rPr lang="en-US" sz="1600" dirty="0">
                <a:hlinkClick r:id="rId3"/>
              </a:rPr>
              <a:t>The Family Planning National Training Center</a:t>
            </a:r>
            <a:r>
              <a:rPr lang="en-US" sz="1600" dirty="0"/>
              <a:t>: The website for federally funded contraceptive resources developed with the support of the Office of Population Affairs</a:t>
            </a:r>
          </a:p>
          <a:p>
            <a:pPr lvl="0"/>
            <a:r>
              <a:rPr lang="en-US" sz="1600" dirty="0">
                <a:hlinkClick r:id="rId4"/>
              </a:rPr>
              <a:t>Center for Young Women's Health</a:t>
            </a:r>
            <a:r>
              <a:rPr lang="en-US" sz="1600" dirty="0"/>
              <a:t>: A free website run by Boston Children's Hospital that addresses reproductive health needs of teens and young adults</a:t>
            </a:r>
          </a:p>
          <a:p>
            <a:pPr lvl="0"/>
            <a:r>
              <a:rPr lang="en-US" sz="1600" dirty="0">
                <a:hlinkClick r:id="rId5"/>
              </a:rPr>
              <a:t>Beyond the Pill</a:t>
            </a:r>
            <a:r>
              <a:rPr lang="en-US" sz="1600" dirty="0"/>
              <a:t>: A free website run by the University of California San Francisco</a:t>
            </a:r>
          </a:p>
          <a:p>
            <a:pPr lvl="0"/>
            <a:r>
              <a:rPr lang="en-US" sz="1600" dirty="0">
                <a:hlinkClick r:id="rId6"/>
              </a:rPr>
              <a:t>ReproductiveAccess.org</a:t>
            </a:r>
            <a:endParaRPr lang="en-US" sz="1600" dirty="0"/>
          </a:p>
          <a:p>
            <a:pPr lvl="0"/>
            <a:r>
              <a:rPr lang="en-US" sz="1600" dirty="0">
                <a:hlinkClick r:id="rId7"/>
              </a:rPr>
              <a:t>SexualityandU.ca</a:t>
            </a:r>
            <a:r>
              <a:rPr lang="en-US" sz="1600" dirty="0"/>
              <a:t>: An educational site run by the Society of Obstetricians and </a:t>
            </a:r>
            <a:r>
              <a:rPr lang="en-US" sz="1600" dirty="0" err="1"/>
              <a:t>Gynaecologists</a:t>
            </a:r>
            <a:r>
              <a:rPr lang="en-US" sz="1600" dirty="0"/>
              <a:t> of Canada that includes descriptions of various methods and a tool to help with selection of birth control</a:t>
            </a:r>
          </a:p>
          <a:p>
            <a:pPr lvl="0"/>
            <a:r>
              <a:rPr lang="en-US" sz="1600" dirty="0">
                <a:hlinkClick r:id="rId8"/>
              </a:rPr>
              <a:t>Planned Parenthood</a:t>
            </a:r>
            <a:r>
              <a:rPr lang="en-US" sz="1600" dirty="0"/>
              <a:t>: A nonprofit organization dedicated to reproductive health with resources for patients and clinicians</a:t>
            </a:r>
          </a:p>
          <a:p>
            <a:pPr lvl="0"/>
            <a:r>
              <a:rPr lang="en-US" sz="1600" dirty="0">
                <a:hlinkClick r:id="rId9"/>
              </a:rPr>
              <a:t>ACOG Contraceptive FAQs</a:t>
            </a:r>
            <a:r>
              <a:rPr lang="en-US" sz="1600" dirty="0"/>
              <a:t>: American College of Obstetricians and Gynecologists addresses frequently asked questions (FAQs) about contraception</a:t>
            </a:r>
          </a:p>
          <a:p>
            <a:pPr lvl="0"/>
            <a:r>
              <a:rPr lang="en-US" sz="1600" dirty="0">
                <a:hlinkClick r:id="rId10"/>
              </a:rPr>
              <a:t>ACOG LARC Program</a:t>
            </a:r>
            <a:r>
              <a:rPr lang="en-US" sz="1600" dirty="0"/>
              <a:t>: American College of Obstetricians and Gynecologists Long-Acting Reversible Contraception Program</a:t>
            </a:r>
          </a:p>
          <a:p>
            <a:pPr lvl="0"/>
            <a:r>
              <a:rPr lang="en-US" sz="1600" dirty="0">
                <a:hlinkClick r:id="rId11"/>
              </a:rPr>
              <a:t>United States Medical Eligibility Criteria for Contraceptive Use</a:t>
            </a:r>
            <a:endParaRPr lang="en-US" sz="1600" dirty="0"/>
          </a:p>
          <a:p>
            <a:pPr lvl="0"/>
            <a:r>
              <a:rPr lang="en-US" sz="1600" dirty="0">
                <a:hlinkClick r:id="rId12"/>
              </a:rPr>
              <a:t>United States Selected Practice Recommendations for Contraceptive Use</a:t>
            </a:r>
            <a:endParaRPr lang="en-US" sz="1600" dirty="0"/>
          </a:p>
          <a:p>
            <a:pPr lvl="0"/>
            <a:r>
              <a:rPr lang="en-US" sz="1600" dirty="0">
                <a:hlinkClick r:id="rId13"/>
              </a:rPr>
              <a:t>World Health Organization Medical Eligibility Criteria for Contraceptive Use</a:t>
            </a:r>
            <a:endParaRPr lang="en-US" sz="1600" dirty="0"/>
          </a:p>
        </p:txBody>
      </p:sp>
      <p:sp>
        <p:nvSpPr>
          <p:cNvPr id="4" name="question 1">
            <a:hlinkClick r:id="rId14" action="ppaction://hlinksldjump"/>
            <a:extLst>
              <a:ext uri="{FF2B5EF4-FFF2-40B4-BE49-F238E27FC236}">
                <a16:creationId xmlns:a16="http://schemas.microsoft.com/office/drawing/2014/main" id="{CF672CDA-5F0A-41D3-8989-39EDEAC0A539}"/>
              </a:ext>
            </a:extLst>
          </p:cNvPr>
          <p:cNvSpPr txBox="1"/>
          <p:nvPr/>
        </p:nvSpPr>
        <p:spPr>
          <a:xfrm>
            <a:off x="188535" y="192736"/>
            <a:ext cx="1905394"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PATH Questions</a:t>
            </a:r>
          </a:p>
        </p:txBody>
      </p:sp>
      <p:sp>
        <p:nvSpPr>
          <p:cNvPr id="5" name="question 4">
            <a:hlinkClick r:id="rId15" action="ppaction://hlinksldjump"/>
            <a:extLst>
              <a:ext uri="{FF2B5EF4-FFF2-40B4-BE49-F238E27FC236}">
                <a16:creationId xmlns:a16="http://schemas.microsoft.com/office/drawing/2014/main" id="{FAF76B65-972A-446F-98E1-66D468DA87DF}"/>
              </a:ext>
            </a:extLst>
          </p:cNvPr>
          <p:cNvSpPr txBox="1"/>
          <p:nvPr/>
        </p:nvSpPr>
        <p:spPr>
          <a:xfrm>
            <a:off x="188535" y="1937569"/>
            <a:ext cx="1905393"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Emergency Use</a:t>
            </a:r>
          </a:p>
        </p:txBody>
      </p:sp>
      <p:sp>
        <p:nvSpPr>
          <p:cNvPr id="6" name="Cases">
            <a:hlinkClick r:id="rId16" action="ppaction://hlinksldjump"/>
            <a:extLst>
              <a:ext uri="{FF2B5EF4-FFF2-40B4-BE49-F238E27FC236}">
                <a16:creationId xmlns:a16="http://schemas.microsoft.com/office/drawing/2014/main" id="{E74D5C7C-360F-4C4D-A7C8-A8CEFCEAFCF9}"/>
              </a:ext>
            </a:extLst>
          </p:cNvPr>
          <p:cNvSpPr txBox="1"/>
          <p:nvPr/>
        </p:nvSpPr>
        <p:spPr>
          <a:xfrm>
            <a:off x="188535" y="2519180"/>
            <a:ext cx="1905392" cy="408623"/>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CASES</a:t>
            </a:r>
          </a:p>
        </p:txBody>
      </p:sp>
      <p:sp>
        <p:nvSpPr>
          <p:cNvPr id="7" name="question 3">
            <a:hlinkClick r:id="rId17" action="ppaction://hlinksldjump"/>
            <a:extLst>
              <a:ext uri="{FF2B5EF4-FFF2-40B4-BE49-F238E27FC236}">
                <a16:creationId xmlns:a16="http://schemas.microsoft.com/office/drawing/2014/main" id="{4DB83D52-BF6F-48F4-A2B1-45CD5FCF3038}"/>
              </a:ext>
            </a:extLst>
          </p:cNvPr>
          <p:cNvSpPr txBox="1"/>
          <p:nvPr/>
        </p:nvSpPr>
        <p:spPr>
          <a:xfrm>
            <a:off x="188535" y="774347"/>
            <a:ext cx="190539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Methods</a:t>
            </a:r>
          </a:p>
        </p:txBody>
      </p:sp>
      <p:sp>
        <p:nvSpPr>
          <p:cNvPr id="8" name="Question 2">
            <a:hlinkClick r:id="rId18" action="ppaction://hlinksldjump"/>
            <a:extLst>
              <a:ext uri="{FF2B5EF4-FFF2-40B4-BE49-F238E27FC236}">
                <a16:creationId xmlns:a16="http://schemas.microsoft.com/office/drawing/2014/main" id="{DDB76B09-71CD-49D3-A331-0C86B9FEF342}"/>
              </a:ext>
            </a:extLst>
          </p:cNvPr>
          <p:cNvSpPr txBox="1"/>
          <p:nvPr/>
        </p:nvSpPr>
        <p:spPr>
          <a:xfrm>
            <a:off x="188535" y="1355958"/>
            <a:ext cx="1905394" cy="408623"/>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ysClr val="windowText" lastClr="000000"/>
                </a:solidFill>
              </a:rPr>
              <a:t>Contraindications</a:t>
            </a:r>
          </a:p>
        </p:txBody>
      </p:sp>
      <p:pic>
        <p:nvPicPr>
          <p:cNvPr id="9" name="Graphic 8" descr="Cursor with solid fill">
            <a:extLst>
              <a:ext uri="{FF2B5EF4-FFF2-40B4-BE49-F238E27FC236}">
                <a16:creationId xmlns:a16="http://schemas.microsoft.com/office/drawing/2014/main" id="{1844D975-4BBF-45B6-BC14-532F27118F8F}"/>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1968119" y="1625692"/>
            <a:ext cx="296010" cy="301752"/>
          </a:xfrm>
          <a:prstGeom prst="rect">
            <a:avLst/>
          </a:prstGeom>
        </p:spPr>
      </p:pic>
      <p:pic>
        <p:nvPicPr>
          <p:cNvPr id="10" name="Graphic 9" descr="Cursor with solid fill">
            <a:extLst>
              <a:ext uri="{FF2B5EF4-FFF2-40B4-BE49-F238E27FC236}">
                <a16:creationId xmlns:a16="http://schemas.microsoft.com/office/drawing/2014/main" id="{BC9AC8EB-6444-4B32-86A9-99DBC6499762}"/>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1968119" y="2189058"/>
            <a:ext cx="296010" cy="301752"/>
          </a:xfrm>
          <a:prstGeom prst="rect">
            <a:avLst/>
          </a:prstGeom>
        </p:spPr>
      </p:pic>
      <p:pic>
        <p:nvPicPr>
          <p:cNvPr id="11" name="Graphic 10" descr="Cursor with solid fill">
            <a:extLst>
              <a:ext uri="{FF2B5EF4-FFF2-40B4-BE49-F238E27FC236}">
                <a16:creationId xmlns:a16="http://schemas.microsoft.com/office/drawing/2014/main" id="{197AE25C-6226-46DD-AE37-E1A1D3A5A9F0}"/>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1968119" y="2781085"/>
            <a:ext cx="296010" cy="301752"/>
          </a:xfrm>
          <a:prstGeom prst="rect">
            <a:avLst/>
          </a:prstGeom>
        </p:spPr>
      </p:pic>
      <p:pic>
        <p:nvPicPr>
          <p:cNvPr id="12" name="Graphic 11" descr="Cursor with solid fill">
            <a:extLst>
              <a:ext uri="{FF2B5EF4-FFF2-40B4-BE49-F238E27FC236}">
                <a16:creationId xmlns:a16="http://schemas.microsoft.com/office/drawing/2014/main" id="{DA76B35F-3CC9-495D-9C7B-60D8E144D22F}"/>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1968119" y="458872"/>
            <a:ext cx="296010" cy="301752"/>
          </a:xfrm>
          <a:prstGeom prst="rect">
            <a:avLst/>
          </a:prstGeom>
        </p:spPr>
      </p:pic>
      <p:pic>
        <p:nvPicPr>
          <p:cNvPr id="13" name="Graphic 12" descr="Cursor with solid fill">
            <a:extLst>
              <a:ext uri="{FF2B5EF4-FFF2-40B4-BE49-F238E27FC236}">
                <a16:creationId xmlns:a16="http://schemas.microsoft.com/office/drawing/2014/main" id="{F2CE5090-E72A-45F7-A1A6-A6E670A39EAC}"/>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1968119" y="1039533"/>
            <a:ext cx="296010" cy="301752"/>
          </a:xfrm>
          <a:prstGeom prst="rect">
            <a:avLst/>
          </a:prstGeom>
        </p:spPr>
      </p:pic>
      <p:sp>
        <p:nvSpPr>
          <p:cNvPr id="14" name="sub-q 1 button">
            <a:hlinkClick r:id="rId21" action="ppaction://hlinksldjump"/>
            <a:extLst>
              <a:ext uri="{FF2B5EF4-FFF2-40B4-BE49-F238E27FC236}">
                <a16:creationId xmlns:a16="http://schemas.microsoft.com/office/drawing/2014/main" id="{CCD66F14-A943-4969-AC2F-106FC1D51BF7}"/>
              </a:ext>
            </a:extLst>
          </p:cNvPr>
          <p:cNvSpPr txBox="1"/>
          <p:nvPr/>
        </p:nvSpPr>
        <p:spPr>
          <a:xfrm>
            <a:off x="188535" y="6289886"/>
            <a:ext cx="1905392" cy="408623"/>
          </a:xfrm>
          <a:prstGeom prst="roundRect">
            <a:avLst/>
          </a:prstGeom>
          <a:solidFill>
            <a:schemeClr val="tx1"/>
          </a:solidFill>
          <a:ln w="38100"/>
          <a:effectLst/>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solidFill>
                  <a:schemeClr val="bg1"/>
                </a:solidFill>
              </a:rPr>
              <a:t>Bonus Resources</a:t>
            </a:r>
          </a:p>
        </p:txBody>
      </p:sp>
      <p:sp>
        <p:nvSpPr>
          <p:cNvPr id="17" name="TextBox 16">
            <a:extLst>
              <a:ext uri="{FF2B5EF4-FFF2-40B4-BE49-F238E27FC236}">
                <a16:creationId xmlns:a16="http://schemas.microsoft.com/office/drawing/2014/main" id="{0E0E326B-CA73-429F-852C-48BC98DE50A5}"/>
              </a:ext>
            </a:extLst>
          </p:cNvPr>
          <p:cNvSpPr txBox="1"/>
          <p:nvPr/>
        </p:nvSpPr>
        <p:spPr>
          <a:xfrm>
            <a:off x="3855325" y="201094"/>
            <a:ext cx="5791595" cy="523220"/>
          </a:xfrm>
          <a:prstGeom prst="rect">
            <a:avLst/>
          </a:prstGeom>
          <a:noFill/>
        </p:spPr>
        <p:txBody>
          <a:bodyPr wrap="square" rtlCol="0">
            <a:spAutoFit/>
          </a:bodyPr>
          <a:lstStyle/>
          <a:p>
            <a:pPr algn="ctr"/>
            <a:r>
              <a:rPr lang="en-US" sz="2800" b="1" dirty="0"/>
              <a:t>Resources for Clinicians and Patients</a:t>
            </a:r>
          </a:p>
        </p:txBody>
      </p:sp>
    </p:spTree>
    <p:extLst>
      <p:ext uri="{BB962C8B-B14F-4D97-AF65-F5344CB8AC3E}">
        <p14:creationId xmlns:p14="http://schemas.microsoft.com/office/powerpoint/2010/main" val="1301579111"/>
      </p:ext>
    </p:extLst>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wrap="square"/>
          <a:lstStyle/>
          <a:p>
            <a:pPr algn="ctr"/>
            <a:r>
              <a:rPr sz="2600" b="1">
                <a:solidFill>
                  <a:srgbClr val="FFFFFF"/>
                </a:solidFill>
                <a:latin typeface="Calibri"/>
              </a:rPr>
              <a:t>2024 Practice Update — CDC US MEC &amp; US SPR (added in optimization)</a:t>
            </a:r>
          </a:p>
        </p:txBody>
      </p:sp>
      <p:sp>
        <p:nvSpPr>
          <p:cNvPr id="3" name="TextBox 2"/>
          <p:cNvSpPr txBox="1"/>
          <p:nvPr/>
        </p:nvSpPr>
        <p:spPr>
          <a:xfrm>
            <a:off x="457200" y="1051560"/>
            <a:ext cx="11277600" cy="5486400"/>
          </a:xfrm>
          <a:prstGeom prst="rect">
            <a:avLst/>
          </a:prstGeom>
          <a:noFill/>
        </p:spPr>
        <p:txBody>
          <a:bodyPr wrap="square">
            <a:spAutoFit/>
          </a:bodyPr>
          <a:lstStyle/>
          <a:p>
            <a:pPr>
              <a:spcAft>
                <a:spcPts val="800"/>
              </a:spcAft>
            </a:pPr>
            <a:r>
              <a:rPr sz="1500" b="1">
                <a:solidFill>
                  <a:srgbClr val="0E6E8C"/>
                </a:solidFill>
                <a:latin typeface="Calibri"/>
              </a:rPr>
              <a:t>CDC released updated US MEC 2024 and US SPR 2024 (MMWR, Aug 2024) — this deck’s framework still holds; key additions below.</a:t>
            </a:r>
          </a:p>
          <a:p>
            <a:pPr>
              <a:spcAft>
                <a:spcPts val="600"/>
              </a:spcAft>
            </a:pPr>
            <a:r>
              <a:rPr sz="1400" b="0">
                <a:solidFill>
                  <a:srgbClr val="222222"/>
                </a:solidFill>
                <a:latin typeface="Calibri"/>
              </a:rPr>
              <a:t>• US MEC 2024: new recommendations for chronic kidney disease; revised guidance across DVT/PE ± anticoagulation, thrombophilia, SLE, cirrhosis/liver tumor, sickle cell, solid-organ transplant, obesity, surgery, and ARV drug interactions; new formulations added (COCs, patch, ring, POPs, LNG-IUDs, vaginal pH modulator).</a:t>
            </a:r>
          </a:p>
          <a:p>
            <a:pPr>
              <a:spcAft>
                <a:spcPts val="600"/>
              </a:spcAft>
            </a:pPr>
            <a:r>
              <a:rPr sz="1400" b="0">
                <a:solidFill>
                  <a:srgbClr val="222222"/>
                </a:solidFill>
                <a:latin typeface="Calibri"/>
              </a:rPr>
              <a:t>• NEW transgender guidance (directly relevant to Case 4/David): testosterone does NOT reliably prevent pregnancy — up to ~36% of users ovulate. Offer contraceptive counseling to testosterone users with a uterus who do not desire pregnancy.</a:t>
            </a:r>
          </a:p>
          <a:p>
            <a:pPr>
              <a:spcAft>
                <a:spcPts val="600"/>
              </a:spcAft>
            </a:pPr>
            <a:r>
              <a:rPr sz="1400" b="0">
                <a:solidFill>
                  <a:srgbClr val="222222"/>
                </a:solidFill>
                <a:latin typeface="Calibri"/>
              </a:rPr>
              <a:t>• US SPR 2024: lidocaine (paracervical block or topical) recommended to reduce pain at IUD placement; new support for self-administration of subcutaneous DMPA (DMPA-SC 104 mg).</a:t>
            </a:r>
          </a:p>
          <a:p>
            <a:pPr>
              <a:spcAft>
                <a:spcPts val="600"/>
              </a:spcAft>
            </a:pPr>
            <a:r>
              <a:rPr sz="1400" b="0">
                <a:solidFill>
                  <a:srgbClr val="222222"/>
                </a:solidFill>
                <a:latin typeface="Calibri"/>
              </a:rPr>
              <a:t>• OTC access: Opill (norgestrel 0.075 mg, progestin-only) — first FDA-approved nonprescription daily oral contraceptive (FDA Jul 2023; on shelves 2024, ~$20/mo). No estrogen; same POP cautions (e.g., current breast cancer).</a:t>
            </a:r>
          </a:p>
          <a:p>
            <a:pPr>
              <a:spcAft>
                <a:spcPts val="600"/>
              </a:spcAft>
            </a:pPr>
            <a:r>
              <a:rPr sz="1400" b="0">
                <a:solidFill>
                  <a:srgbClr val="222222"/>
                </a:solidFill>
                <a:latin typeface="Calibri"/>
              </a:rPr>
              <a:t>• Newer non-hormonal method: vaginal pH modulator gel (Phexxi; lactic/citric acid + potassium bitartrate; FDA 2020) — typical-use efficacy ~86% (per-cycle), used immediately before intercourse.</a:t>
            </a:r>
          </a:p>
          <a:p>
            <a:pPr>
              <a:spcAft>
                <a:spcPts val="200"/>
              </a:spcAft>
            </a:pPr>
            <a:r>
              <a:rPr sz="1100" b="0">
                <a:solidFill>
                  <a:srgbClr val="555555"/>
                </a:solidFill>
                <a:latin typeface="Calibri"/>
              </a:rPr>
              <a:t>Sources: CDC US MEC 2024 (MMWR RR-73/4); CDC US SPR 2024 (MMWR RR-73/3); FDA Opill approval 2023; Phexxi label/AMPOWER (Obstet Gynecol 2020). Educational use — clinician-reviewed.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wrap="square"/>
          <a:lstStyle/>
          <a:p>
            <a:pPr algn="ctr"/>
            <a:r>
              <a:rPr sz="2600" b="1">
                <a:solidFill>
                  <a:srgbClr val="FFFFFF"/>
                </a:solidFill>
                <a:latin typeface="Calibri"/>
              </a:rPr>
              <a:t>Take-Home Points</a:t>
            </a:r>
          </a:p>
        </p:txBody>
      </p:sp>
      <p:sp>
        <p:nvSpPr>
          <p:cNvPr id="3" name="TextBox 2"/>
          <p:cNvSpPr txBox="1"/>
          <p:nvPr/>
        </p:nvSpPr>
        <p:spPr>
          <a:xfrm>
            <a:off x="457200" y="1051560"/>
            <a:ext cx="11277600" cy="5486400"/>
          </a:xfrm>
          <a:prstGeom prst="rect">
            <a:avLst/>
          </a:prstGeom>
          <a:noFill/>
        </p:spPr>
        <p:txBody>
          <a:bodyPr wrap="square">
            <a:spAutoFit/>
          </a:bodyPr>
          <a:lstStyle/>
          <a:p>
            <a:pPr>
              <a:spcAft>
                <a:spcPts val="1000"/>
              </a:spcAft>
            </a:pPr>
            <a:r>
              <a:rPr sz="1600" b="1">
                <a:solidFill>
                  <a:srgbClr val="222222"/>
                </a:solidFill>
                <a:latin typeface="Calibri"/>
              </a:rPr>
              <a:t>• Lead with the patient: use open-ended PATH questions to gauge pregnancy attitudes/timing; avoid efficacy-first or assumption-laden counseling.</a:t>
            </a:r>
          </a:p>
          <a:p>
            <a:pPr>
              <a:spcAft>
                <a:spcPts val="1000"/>
              </a:spcAft>
            </a:pPr>
            <a:r>
              <a:rPr sz="1500" b="0">
                <a:solidFill>
                  <a:srgbClr val="222222"/>
                </a:solidFill>
                <a:latin typeface="Calibri"/>
              </a:rPr>
              <a:t>• Match the method to what matters to the patient — hormone-free vs hormonal, efficacy, maintenance burden, and effect on bleeding all drive the choice.</a:t>
            </a:r>
          </a:p>
          <a:p>
            <a:pPr>
              <a:spcAft>
                <a:spcPts val="1000"/>
              </a:spcAft>
            </a:pPr>
            <a:r>
              <a:rPr sz="1500" b="0">
                <a:solidFill>
                  <a:srgbClr val="222222"/>
                </a:solidFill>
                <a:latin typeface="Calibri"/>
              </a:rPr>
              <a:t>• Take a focused history for estrogen contraindications: smoking at age &gt;35, migraine with aura, VTE/CVD/CVA, breast cancer. When unsure, use the US MEC categories (1–4) in the Contraception app.</a:t>
            </a:r>
          </a:p>
          <a:p>
            <a:pPr>
              <a:spcAft>
                <a:spcPts val="1000"/>
              </a:spcAft>
            </a:pPr>
            <a:r>
              <a:rPr sz="1500" b="0">
                <a:solidFill>
                  <a:srgbClr val="222222"/>
                </a:solidFill>
                <a:latin typeface="Calibri"/>
              </a:rPr>
              <a:t>• A reasonable COC default is ethinyl estradiol ~20 mcg + a progestin; reserve 3rd/4th-gen progestins for anti-androgenic benefit given higher VTE risk. Have 2–3 go-to pills.</a:t>
            </a:r>
          </a:p>
          <a:p>
            <a:pPr>
              <a:spcAft>
                <a:spcPts val="1000"/>
              </a:spcAft>
            </a:pPr>
            <a:r>
              <a:rPr sz="1500" b="0">
                <a:solidFill>
                  <a:srgbClr val="222222"/>
                </a:solidFill>
                <a:latin typeface="Calibri"/>
              </a:rPr>
              <a:t>• Emergency contraception: copper IUD is most effective; ulipristal (Ella) and levonorgestrel (Plan B) balance efficacy and tolerability; combined OCPs (Yuzpe) are the widely-available backup.</a:t>
            </a:r>
          </a:p>
          <a:p>
            <a:pPr>
              <a:spcAft>
                <a:spcPts val="200"/>
              </a:spcAft>
            </a:pPr>
            <a:r>
              <a:rPr sz="1500" b="0">
                <a:solidFill>
                  <a:srgbClr val="222222"/>
                </a:solidFill>
                <a:latin typeface="Calibri"/>
              </a:rPr>
              <a:t>• Know the 2024 updates: testosterone is NOT contraception; lidocaine for IUD-placement pain; self-administered DMPA-SC; and OTC Opill expand access.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22960"/>
          </a:xfrm>
          <a:prstGeom prst="rect">
            <a:avLst/>
          </a:prstGeom>
          <a:solidFill>
            <a:srgbClr val="0E6E8C"/>
          </a:solidFill>
          <a:ln>
            <a:noFill/>
          </a:ln>
        </p:spPr>
        <p:style>
          <a:lnRef idx="1">
            <a:schemeClr val="accent1"/>
          </a:lnRef>
          <a:fillRef idx="3">
            <a:schemeClr val="accent1"/>
          </a:fillRef>
          <a:effectRef idx="2">
            <a:schemeClr val="accent1"/>
          </a:effectRef>
          <a:fontRef idx="minor">
            <a:schemeClr val="lt1"/>
          </a:fontRef>
        </p:style>
        <p:txBody>
          <a:bodyPr rtlCol="0" anchor="ctr" lIns="457200" tIns="91440" wrap="square"/>
          <a:lstStyle/>
          <a:p>
            <a:pPr algn="ctr"/>
            <a:r>
              <a:rPr sz="2600" b="1">
                <a:solidFill>
                  <a:srgbClr val="FFFFFF"/>
                </a:solidFill>
                <a:latin typeface="Calibri"/>
              </a:rPr>
              <a:t>Attribution &amp; Optimization Notes</a:t>
            </a:r>
          </a:p>
        </p:txBody>
      </p:sp>
      <p:sp>
        <p:nvSpPr>
          <p:cNvPr id="3" name="TextBox 2"/>
          <p:cNvSpPr txBox="1"/>
          <p:nvPr/>
        </p:nvSpPr>
        <p:spPr>
          <a:xfrm>
            <a:off x="457200" y="1051560"/>
            <a:ext cx="11277600" cy="5486400"/>
          </a:xfrm>
          <a:prstGeom prst="rect">
            <a:avLst/>
          </a:prstGeom>
          <a:noFill/>
        </p:spPr>
        <p:txBody>
          <a:bodyPr wrap="square">
            <a:spAutoFit/>
          </a:bodyPr>
          <a:lstStyle/>
          <a:p>
            <a:pPr>
              <a:spcAft>
                <a:spcPts val="400"/>
              </a:spcAft>
            </a:pPr>
            <a:r>
              <a:rPr sz="1300" b="1">
                <a:solidFill>
                  <a:srgbClr val="222222"/>
                </a:solidFill>
                <a:latin typeface="Calibri"/>
              </a:rPr>
              <a:t>• Original: “Contraception” — TeachIM.org, published April 2022.</a:t>
            </a:r>
          </a:p>
          <a:p>
            <a:pPr>
              <a:spcAft>
                <a:spcPts val="400"/>
              </a:spcAft>
            </a:pPr>
            <a:r>
              <a:rPr sz="1200" b="0">
                <a:solidFill>
                  <a:srgbClr val="555555"/>
                </a:solidFill>
                <a:latin typeface="Calibri"/>
              </a:rPr>
              <a:t>• Authors: deQuillfeldt, Saxon, Guinn, Ramaswami, Haynes, Cleeves, Soiseth, Fainstad, Do; Section Eds. Brett, McClintock; Exec. Ed. Zhang.</a:t>
            </a:r>
          </a:p>
          <a:p>
            <a:pPr>
              <a:spcAft>
                <a:spcPts val="800"/>
              </a:spcAft>
            </a:pPr>
            <a:r>
              <a:rPr sz="1200" b="0">
                <a:solidFill>
                  <a:srgbClr val="555555"/>
                </a:solidFill>
                <a:latin typeface="Calibri"/>
              </a:rPr>
              <a:t>• Source URL: https://teachim.org/teaching_material/contraception/</a:t>
            </a:r>
          </a:p>
          <a:p>
            <a:pPr>
              <a:spcAft>
                <a:spcPts val="800"/>
              </a:spcAft>
            </a:pPr>
            <a:r>
              <a:rPr sz="1300" b="1">
                <a:solidFill>
                  <a:srgbClr val="222222"/>
                </a:solidFill>
                <a:latin typeface="Calibri"/>
              </a:rPr>
              <a:t>• License: CC BY-NC 4.0 — attribution required, non-commercial use only. Optimized June 2026.</a:t>
            </a:r>
          </a:p>
          <a:p>
            <a:pPr>
              <a:spcAft>
                <a:spcPts val="400"/>
              </a:spcAft>
            </a:pPr>
            <a:r>
              <a:rPr sz="1300" b="1">
                <a:solidFill>
                  <a:srgbClr val="0E6E8C"/>
                </a:solidFill>
                <a:latin typeface="Calibri"/>
              </a:rPr>
              <a:t>Corrections made to this deck (surgical, animations preserved):</a:t>
            </a:r>
          </a:p>
          <a:p>
            <a:pPr>
              <a:spcAft>
                <a:spcPts val="200"/>
              </a:spcAft>
            </a:pPr>
            <a:r>
              <a:rPr sz="1200" b="0">
                <a:solidFill>
                  <a:srgbClr val="222222"/>
                </a:solidFill>
                <a:latin typeface="Calibri"/>
              </a:rPr>
              <a:t>• Slide 7 MEC legend: “Usual not recommended” → “Usually not recommended” (×2).</a:t>
            </a:r>
          </a:p>
          <a:p>
            <a:pPr>
              <a:spcAft>
                <a:spcPts val="800"/>
              </a:spcAft>
            </a:pPr>
            <a:r>
              <a:rPr sz="1200" b="0">
                <a:solidFill>
                  <a:srgbClr val="222222"/>
                </a:solidFill>
                <a:latin typeface="Calibri"/>
              </a:rPr>
              <a:t>• Slide 8 Case 3: “In additional to” → “In addition to”.</a:t>
            </a:r>
          </a:p>
          <a:p>
            <a:pPr>
              <a:spcAft>
                <a:spcPts val="400"/>
              </a:spcAft>
            </a:pPr>
            <a:r>
              <a:rPr sz="1200" b="0">
                <a:solidFill>
                  <a:srgbClr val="555555"/>
                </a:solidFill>
                <a:latin typeface="Calibri"/>
              </a:rPr>
              <a:t>Added: 2024 CDC US MEC/US SPR practice-update slide; take-home slide. No clinical thresholds changed from memory — all updates source-cited.</a:t>
            </a:r>
          </a:p>
          <a:p>
            <a:pPr>
              <a:spcAft>
                <a:spcPts val="200"/>
              </a:spcAft>
            </a:pPr>
            <a:r>
              <a:rPr sz="1200" b="0">
                <a:solidFill>
                  <a:srgbClr val="555555"/>
                </a:solidFill>
                <a:latin typeface="Calibri"/>
              </a:rPr>
              <a:t>Companion files (copied into lesson folder): Facilitator Guide, Learner Handout, Contraception Cases (learner + facilitator/answer key), PATH Questions handout.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17878</TotalTime>
  <Words>2621</Words>
  <Application>Microsoft Office PowerPoint</Application>
  <PresentationFormat>Widescreen</PresentationFormat>
  <Paragraphs>349</Paragraphs>
  <Slides>9</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Brandon Fainstad</dc:creator>
  <cp:lastModifiedBy>Fainstad, Brandon</cp:lastModifiedBy>
  <cp:revision>50</cp:revision>
  <dcterms:created xsi:type="dcterms:W3CDTF">2020-12-09T20:37:45Z</dcterms:created>
  <dcterms:modified xsi:type="dcterms:W3CDTF">2022-10-06T16:17:05Z</dcterms:modified>
</cp:coreProperties>
</file>